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3" r:id="rId3"/>
    <p:sldId id="274" r:id="rId4"/>
    <p:sldId id="271" r:id="rId5"/>
    <p:sldId id="267" r:id="rId6"/>
    <p:sldId id="268" r:id="rId7"/>
    <p:sldId id="269" r:id="rId8"/>
    <p:sldId id="270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7F7F284E-5B01-4CD6-AFD9-BFCFC5215F45}"/>
    <pc:docChg chg="modSld">
      <pc:chgData name="Sarah James" userId="e5e3e68366f0feb3" providerId="LiveId" clId="{7F7F284E-5B01-4CD6-AFD9-BFCFC5215F45}" dt="2021-11-30T03:52:45.641" v="171" actId="20577"/>
      <pc:docMkLst>
        <pc:docMk/>
      </pc:docMkLst>
      <pc:sldChg chg="modSp mod">
        <pc:chgData name="Sarah James" userId="e5e3e68366f0feb3" providerId="LiveId" clId="{7F7F284E-5B01-4CD6-AFD9-BFCFC5215F45}" dt="2021-11-30T03:52:45.641" v="171" actId="20577"/>
        <pc:sldMkLst>
          <pc:docMk/>
          <pc:sldMk cId="424128423" sldId="276"/>
        </pc:sldMkLst>
        <pc:spChg chg="mod">
          <ac:chgData name="Sarah James" userId="e5e3e68366f0feb3" providerId="LiveId" clId="{7F7F284E-5B01-4CD6-AFD9-BFCFC5215F45}" dt="2021-11-30T03:52:45.641" v="171" actId="20577"/>
          <ac:spMkLst>
            <pc:docMk/>
            <pc:sldMk cId="424128423" sldId="276"/>
            <ac:spMk id="7" creationId="{986CFF15-B2D4-4F62-A0E5-E2CFCE1C62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CC0F-B843-4423-A092-DDBCAA357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B4285-6D5C-4240-9C71-A79C6EB44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E5D7-07B2-446C-9D65-A5357A20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04011-6C9D-46C8-AA40-639DD151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4C890-A763-46DD-B9A1-5F06987E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859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E552-3997-46D4-9C82-8BD7EF9D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931B7-A088-433B-BAC4-CA06E657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81FC-F3B7-4CE0-BC5A-E4B49E87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1CE79-AD4A-4819-BFB0-807B1F5E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EB878-DC79-4CA6-A3A2-D67D02D9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17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6CA3-BE8A-4147-9D1C-672448FA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5627C-F850-4EFC-90FF-098F1171B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80C75-DDF9-4BC3-8DE0-BFC69DD9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3BF3F-C15A-47D6-878E-33C85431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7ED0D-0592-48A7-9DE6-65CBC404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45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9E6B-5CF8-4CFE-BD72-223C1E1D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9E11-66A0-403F-AF57-55B554F12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D913F-0C0F-4C54-AEE1-6B0085AF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3BEF8-0DD7-4DDD-9ED1-A27FA62B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A67B5-584E-42DD-91EE-CF58A557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B5DF7-8B61-4DBB-A750-12552BD1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90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DD93-A42C-47C6-B086-C7B422AA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898ED-4112-4AC7-AE93-BFB42F02F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C7B14-CCB1-46FC-95AF-AEE9E21B6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A9182-A17E-46E6-92E6-30DC3F821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08410-9209-4588-B781-28C3ED734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782FB-366F-46C7-8F2D-640A2926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50834-B1E5-4489-B2E2-EC15A797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F0BBE-C2E3-4B3F-8975-DA51912E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4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5380-F678-402A-8039-E29F2B1E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527C6-0BB5-4F68-AEE6-CFE3E818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82503A-079A-4A1F-825A-6E762610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39B14-BCBB-47E1-805B-A3DF69CB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38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9934A-06CF-429C-A31F-F30F6438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C207D-BA95-412D-8C3B-E6CCEC7F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FE9CE-AA7D-41E4-A962-33A7A609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01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467E-EEBD-454E-A944-8E29A0C1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10A8F-1550-4CD2-A07E-0614A6565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8EF53-F699-4C0D-91A3-E7EB20A60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DF7CC-F932-4A99-B16F-97C69473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CFE12-F8AD-453B-BD84-C1B30324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3A67B-3B68-49CF-A43E-7802C55D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672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46B4-B3BA-4778-9BA8-4933E8ED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738AF-E4AD-47D6-B6C2-F5C74397A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D79C2-CC83-4196-8576-15C98EC64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E016A-9907-4D0E-9EAB-7D1F62FC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FF955-B1C7-4071-8CAF-E98684CC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BBC75-ECF9-4C49-AC76-BAD6AB173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86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4F80-08F5-4525-AD85-40972609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71A16-01D7-4D83-B33D-946008F69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4400E-8AA8-4406-82A8-4A8A2D15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85CC-E67A-458F-8BD5-5EAE3286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49DDF-98BE-4BEC-A4C8-6D01ED96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80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ECBBE-B958-42B0-BD01-426ACD9D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7759F-182A-4EB0-8709-AC78674A8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098EF-ECED-4648-89E4-EB716A73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27B27-FC5D-4952-B578-EF84C312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F0947-0987-4657-ACA9-28AA8690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3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58391-0006-4CD9-95C8-25DC41B0E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FFE9-7AAF-4DBB-B7CD-EFE227F1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6443-6304-44AE-9FDC-3AAC9F99A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F569D-8531-41E0-BE89-B1621EB2D12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EBBC2-6BEF-4311-9758-A389E6767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0F891-70A4-4872-91B0-7400296B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5DC3D-B940-41DF-86F9-C61DAE5C0F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78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97578" y="764704"/>
            <a:ext cx="7596844" cy="4644516"/>
          </a:xfrm>
          <a:prstGeom prst="roundRect">
            <a:avLst>
              <a:gd name="adj" fmla="val 15239"/>
            </a:avLst>
          </a:prstGeom>
          <a:gradFill flip="none" rotWithShape="1">
            <a:gsLst>
              <a:gs pos="0">
                <a:srgbClr val="800080">
                  <a:tint val="66000"/>
                  <a:satMod val="160000"/>
                </a:srgbClr>
              </a:gs>
              <a:gs pos="50000">
                <a:srgbClr val="800080">
                  <a:tint val="44500"/>
                  <a:satMod val="160000"/>
                </a:srgbClr>
              </a:gs>
              <a:gs pos="100000">
                <a:srgbClr val="80008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016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87588" y="1271083"/>
            <a:ext cx="7416824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b="1" dirty="0">
                <a:latin typeface="Arial" pitchFamily="34" charset="0"/>
                <a:cs typeface="Arial" pitchFamily="34" charset="0"/>
              </a:rPr>
              <a:t>Topic: Symmetry</a:t>
            </a:r>
          </a:p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EQ: How can I tell how many lines of symmetry a shape has?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10314" y="1175658"/>
            <a:ext cx="8571375" cy="501778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8"/>
            <a:ext cx="872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We can draw all the lines of symmetry on a shape.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Line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983991" y="1188459"/>
            <a:ext cx="8203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1:  </a:t>
            </a:r>
            <a:r>
              <a:rPr lang="en-GB" sz="1600" b="1" dirty="0">
                <a:latin typeface="Arial" pitchFamily="34" charset="0"/>
              </a:rPr>
              <a:t>Draw all the lines of symmetry on each of these shapes.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70215" y="1852553"/>
            <a:ext cx="1151905" cy="1151905"/>
          </a:xfrm>
          <a:prstGeom prst="rect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529127" y="1852552"/>
            <a:ext cx="1747652" cy="975754"/>
          </a:xfrm>
          <a:prstGeom prst="rect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9" name="Parallelogram 78"/>
          <p:cNvSpPr/>
          <p:nvPr/>
        </p:nvSpPr>
        <p:spPr>
          <a:xfrm>
            <a:off x="2226622" y="4160787"/>
            <a:ext cx="1995055" cy="878773"/>
          </a:xfrm>
          <a:prstGeom prst="parallelogram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80" name="Group 151"/>
          <p:cNvGrpSpPr/>
          <p:nvPr/>
        </p:nvGrpSpPr>
        <p:grpSpPr>
          <a:xfrm>
            <a:off x="3673434" y="3114384"/>
            <a:ext cx="2256726" cy="546268"/>
            <a:chOff x="613470" y="2047905"/>
            <a:chExt cx="3244155" cy="660885"/>
          </a:xfrm>
        </p:grpSpPr>
        <p:sp>
          <p:nvSpPr>
            <p:cNvPr id="81" name="Rounded Rectangle 80"/>
            <p:cNvSpPr/>
            <p:nvPr/>
          </p:nvSpPr>
          <p:spPr>
            <a:xfrm>
              <a:off x="613470" y="2047905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09395" y="2099083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Square ALWAYS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4 lines of symmetry</a:t>
              </a:r>
            </a:p>
          </p:txBody>
        </p:sp>
      </p:grpSp>
      <p:grpSp>
        <p:nvGrpSpPr>
          <p:cNvPr id="83" name="Group 151"/>
          <p:cNvGrpSpPr/>
          <p:nvPr/>
        </p:nvGrpSpPr>
        <p:grpSpPr>
          <a:xfrm>
            <a:off x="7910946" y="3114384"/>
            <a:ext cx="2256726" cy="546268"/>
            <a:chOff x="613470" y="2047904"/>
            <a:chExt cx="3244155" cy="660885"/>
          </a:xfrm>
        </p:grpSpPr>
        <p:sp>
          <p:nvSpPr>
            <p:cNvPr id="84" name="Rounded Rectangle 83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Rectangle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2 lines of symmetry</a:t>
              </a:r>
            </a:p>
          </p:txBody>
        </p:sp>
      </p:grpSp>
      <p:grpSp>
        <p:nvGrpSpPr>
          <p:cNvPr id="86" name="Group 151"/>
          <p:cNvGrpSpPr/>
          <p:nvPr/>
        </p:nvGrpSpPr>
        <p:grpSpPr>
          <a:xfrm>
            <a:off x="3673434" y="5451836"/>
            <a:ext cx="2256726" cy="546268"/>
            <a:chOff x="613470" y="2047904"/>
            <a:chExt cx="3244155" cy="660885"/>
          </a:xfrm>
        </p:grpSpPr>
        <p:sp>
          <p:nvSpPr>
            <p:cNvPr id="87" name="Rounded Rectangle 86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Parallelogram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NO lines of symmetry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1953077" y="1599211"/>
            <a:ext cx="8285846" cy="4467094"/>
            <a:chOff x="429077" y="1599211"/>
            <a:chExt cx="8285846" cy="4467094"/>
          </a:xfrm>
        </p:grpSpPr>
        <p:sp>
          <p:nvSpPr>
            <p:cNvPr id="89" name="Rounded Rectangle 88"/>
            <p:cNvSpPr/>
            <p:nvPr/>
          </p:nvSpPr>
          <p:spPr>
            <a:xfrm>
              <a:off x="429077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4666589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429077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4666589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129" name="Group 151"/>
          <p:cNvGrpSpPr/>
          <p:nvPr/>
        </p:nvGrpSpPr>
        <p:grpSpPr>
          <a:xfrm>
            <a:off x="7910946" y="5451836"/>
            <a:ext cx="2256726" cy="546268"/>
            <a:chOff x="613470" y="2047904"/>
            <a:chExt cx="3244155" cy="660885"/>
          </a:xfrm>
        </p:grpSpPr>
        <p:sp>
          <p:nvSpPr>
            <p:cNvPr id="130" name="Rounded Rectangle 129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Rhombus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2 lines of symmetry</a:t>
              </a:r>
            </a:p>
          </p:txBody>
        </p:sp>
      </p:grpSp>
      <p:sp>
        <p:nvSpPr>
          <p:cNvPr id="134" name="Parallelogram 133"/>
          <p:cNvSpPr/>
          <p:nvPr/>
        </p:nvSpPr>
        <p:spPr>
          <a:xfrm>
            <a:off x="6574455" y="4160786"/>
            <a:ext cx="1173728" cy="882502"/>
          </a:xfrm>
          <a:prstGeom prst="parallelogram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139" name="Straight Connector 138"/>
          <p:cNvCxnSpPr/>
          <p:nvPr/>
        </p:nvCxnSpPr>
        <p:spPr>
          <a:xfrm>
            <a:off x="2846166" y="1775637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7402953" y="1704753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5400000">
            <a:off x="2849704" y="1779918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H="1">
            <a:off x="2186735" y="1807536"/>
            <a:ext cx="1294532" cy="129453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5400000" flipH="1">
            <a:off x="2189699" y="1771362"/>
            <a:ext cx="1294532" cy="129453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6398393" y="2340429"/>
            <a:ext cx="206428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H="1">
            <a:off x="6468864" y="4092606"/>
            <a:ext cx="1373079" cy="1035728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H="1" flipV="1">
            <a:off x="6702642" y="4063016"/>
            <a:ext cx="911440" cy="108011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73" grpId="0"/>
      <p:bldP spid="41" grpId="0"/>
      <p:bldP spid="77" grpId="0" animBg="1"/>
      <p:bldP spid="78" grpId="0" animBg="1"/>
      <p:bldP spid="79" grpId="0" animBg="1"/>
      <p:bldP spid="1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10314" y="1175658"/>
            <a:ext cx="8571375" cy="501778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8"/>
            <a:ext cx="872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We can draw all the lines of symmetry on a shape.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Line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983991" y="1188459"/>
            <a:ext cx="8203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2:  </a:t>
            </a:r>
            <a:r>
              <a:rPr lang="en-GB" sz="1600" b="1" dirty="0">
                <a:latin typeface="Arial" pitchFamily="34" charset="0"/>
              </a:rPr>
              <a:t>Draw all the lines of symmetry on each of these shapes.</a:t>
            </a:r>
          </a:p>
        </p:txBody>
      </p:sp>
      <p:grpSp>
        <p:nvGrpSpPr>
          <p:cNvPr id="3" name="Group 151"/>
          <p:cNvGrpSpPr/>
          <p:nvPr/>
        </p:nvGrpSpPr>
        <p:grpSpPr>
          <a:xfrm>
            <a:off x="3067051" y="3114384"/>
            <a:ext cx="2863110" cy="546268"/>
            <a:chOff x="613470" y="2047905"/>
            <a:chExt cx="3244155" cy="660885"/>
          </a:xfrm>
        </p:grpSpPr>
        <p:sp>
          <p:nvSpPr>
            <p:cNvPr id="81" name="Rounded Rectangle 80"/>
            <p:cNvSpPr/>
            <p:nvPr/>
          </p:nvSpPr>
          <p:spPr>
            <a:xfrm>
              <a:off x="613470" y="2047905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09394" y="2099083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An Equilateral Triangle ALWAYS has 3 lines of symmetry</a:t>
              </a:r>
            </a:p>
          </p:txBody>
        </p:sp>
      </p:grpSp>
      <p:grpSp>
        <p:nvGrpSpPr>
          <p:cNvPr id="4" name="Group 151"/>
          <p:cNvGrpSpPr/>
          <p:nvPr/>
        </p:nvGrpSpPr>
        <p:grpSpPr>
          <a:xfrm>
            <a:off x="7910946" y="3114384"/>
            <a:ext cx="2256726" cy="546268"/>
            <a:chOff x="613470" y="2047904"/>
            <a:chExt cx="3244155" cy="660885"/>
          </a:xfrm>
        </p:grpSpPr>
        <p:sp>
          <p:nvSpPr>
            <p:cNvPr id="84" name="Rounded Rectangle 83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This shape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4 lines of symmetry</a:t>
              </a:r>
            </a:p>
          </p:txBody>
        </p:sp>
      </p:grpSp>
      <p:grpSp>
        <p:nvGrpSpPr>
          <p:cNvPr id="6" name="Group 151"/>
          <p:cNvGrpSpPr/>
          <p:nvPr/>
        </p:nvGrpSpPr>
        <p:grpSpPr>
          <a:xfrm>
            <a:off x="3673434" y="5451836"/>
            <a:ext cx="2256726" cy="546268"/>
            <a:chOff x="613470" y="2047904"/>
            <a:chExt cx="3244155" cy="660885"/>
          </a:xfrm>
        </p:grpSpPr>
        <p:sp>
          <p:nvSpPr>
            <p:cNvPr id="87" name="Rounded Rectangle 86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This shape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1 line of symmetry</a:t>
              </a:r>
            </a:p>
          </p:txBody>
        </p:sp>
      </p:grpSp>
      <p:grpSp>
        <p:nvGrpSpPr>
          <p:cNvPr id="7" name="Group 134"/>
          <p:cNvGrpSpPr/>
          <p:nvPr/>
        </p:nvGrpSpPr>
        <p:grpSpPr>
          <a:xfrm>
            <a:off x="1953077" y="1599211"/>
            <a:ext cx="8285846" cy="4467094"/>
            <a:chOff x="429077" y="1599211"/>
            <a:chExt cx="8285846" cy="4467094"/>
          </a:xfrm>
        </p:grpSpPr>
        <p:sp>
          <p:nvSpPr>
            <p:cNvPr id="89" name="Rounded Rectangle 88"/>
            <p:cNvSpPr/>
            <p:nvPr/>
          </p:nvSpPr>
          <p:spPr>
            <a:xfrm>
              <a:off x="429077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4666589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429077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4666589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9" name="Group 151"/>
          <p:cNvGrpSpPr/>
          <p:nvPr/>
        </p:nvGrpSpPr>
        <p:grpSpPr>
          <a:xfrm>
            <a:off x="7910946" y="5451836"/>
            <a:ext cx="2256726" cy="546268"/>
            <a:chOff x="613470" y="2047904"/>
            <a:chExt cx="3244155" cy="660885"/>
          </a:xfrm>
        </p:grpSpPr>
        <p:sp>
          <p:nvSpPr>
            <p:cNvPr id="130" name="Rounded Rectangle 129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This shape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NO lines of symmetry</a:t>
              </a:r>
            </a:p>
          </p:txBody>
        </p:sp>
      </p:grpSp>
      <p:sp>
        <p:nvSpPr>
          <p:cNvPr id="42" name="Isosceles Triangle 41"/>
          <p:cNvSpPr/>
          <p:nvPr/>
        </p:nvSpPr>
        <p:spPr>
          <a:xfrm>
            <a:off x="2209800" y="1762125"/>
            <a:ext cx="1325880" cy="1143000"/>
          </a:xfrm>
          <a:prstGeom prst="triangle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139" name="Straight Connector 138"/>
          <p:cNvCxnSpPr/>
          <p:nvPr/>
        </p:nvCxnSpPr>
        <p:spPr>
          <a:xfrm>
            <a:off x="2872740" y="1670862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2091974" y="2193965"/>
            <a:ext cx="1339961" cy="77362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3600000" flipH="1">
            <a:off x="2291998" y="2184440"/>
            <a:ext cx="1339961" cy="77362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>
            <a:off x="6599623" y="1815178"/>
            <a:ext cx="1076325" cy="1076325"/>
          </a:xfrm>
          <a:prstGeom prst="plus">
            <a:avLst>
              <a:gd name="adj" fmla="val 33850"/>
            </a:avLst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140" name="Straight Connector 139"/>
          <p:cNvCxnSpPr/>
          <p:nvPr/>
        </p:nvCxnSpPr>
        <p:spPr>
          <a:xfrm>
            <a:off x="7137784" y="1704753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6398393" y="2353339"/>
            <a:ext cx="1478782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6578252" y="1793806"/>
            <a:ext cx="1119067" cy="1119066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6608621" y="1824176"/>
            <a:ext cx="1058326" cy="1058326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Moon 54"/>
          <p:cNvSpPr/>
          <p:nvPr/>
        </p:nvSpPr>
        <p:spPr>
          <a:xfrm>
            <a:off x="2400301" y="4162426"/>
            <a:ext cx="1552575" cy="847725"/>
          </a:xfrm>
          <a:prstGeom prst="moon">
            <a:avLst>
              <a:gd name="adj" fmla="val 56749"/>
            </a:avLst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2226444" y="4586287"/>
            <a:ext cx="2021707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Lightning Bolt 58"/>
          <p:cNvSpPr/>
          <p:nvPr/>
        </p:nvSpPr>
        <p:spPr>
          <a:xfrm>
            <a:off x="6581775" y="4114800"/>
            <a:ext cx="1895475" cy="1028701"/>
          </a:xfrm>
          <a:prstGeom prst="lightningBolt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7" grpId="0" animBg="1"/>
      <p:bldP spid="55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00265" y="1547447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9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591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090778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1:  </a:t>
            </a:r>
            <a:r>
              <a:rPr lang="en-GB" sz="1600" b="1" dirty="0">
                <a:latin typeface="Arial" pitchFamily="34" charset="0"/>
              </a:rPr>
              <a:t>Give the order of rotational symmetry of this regular pentagon.</a:t>
            </a:r>
          </a:p>
        </p:txBody>
      </p:sp>
      <p:sp>
        <p:nvSpPr>
          <p:cNvPr id="23" name="Regular Pentagon 22"/>
          <p:cNvSpPr/>
          <p:nvPr/>
        </p:nvSpPr>
        <p:spPr>
          <a:xfrm>
            <a:off x="3816941" y="2937114"/>
            <a:ext cx="1868993" cy="1779994"/>
          </a:xfrm>
          <a:prstGeom prst="pentagon">
            <a:avLst/>
          </a:prstGeom>
          <a:gradFill flip="none" rotWithShape="1">
            <a:gsLst>
              <a:gs pos="0">
                <a:srgbClr val="800080">
                  <a:tint val="66000"/>
                  <a:satMod val="160000"/>
                </a:srgbClr>
              </a:gs>
              <a:gs pos="50000">
                <a:srgbClr val="800080">
                  <a:tint val="44500"/>
                  <a:satMod val="160000"/>
                </a:srgbClr>
              </a:gs>
              <a:gs pos="100000">
                <a:srgbClr val="80008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3" name="Group 85"/>
          <p:cNvGrpSpPr/>
          <p:nvPr/>
        </p:nvGrpSpPr>
        <p:grpSpPr>
          <a:xfrm>
            <a:off x="2129417" y="5403894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</p:grpSp>
      <p:grpSp>
        <p:nvGrpSpPr>
          <p:cNvPr id="4" name="Group 35"/>
          <p:cNvGrpSpPr/>
          <p:nvPr/>
        </p:nvGrpSpPr>
        <p:grpSpPr>
          <a:xfrm>
            <a:off x="3314522" y="2485292"/>
            <a:ext cx="2873828" cy="2873828"/>
            <a:chOff x="2580752" y="2485292"/>
            <a:chExt cx="2873828" cy="2873828"/>
          </a:xfrm>
        </p:grpSpPr>
        <p:grpSp>
          <p:nvGrpSpPr>
            <p:cNvPr id="6" name="Group 44"/>
            <p:cNvGrpSpPr/>
            <p:nvPr/>
          </p:nvGrpSpPr>
          <p:grpSpPr>
            <a:xfrm>
              <a:off x="258075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06481"/>
                <a:ext cx="10995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  <p:sp>
          <p:nvSpPr>
            <p:cNvPr id="48" name="Regular Pentagon 47"/>
            <p:cNvSpPr/>
            <p:nvPr/>
          </p:nvSpPr>
          <p:spPr>
            <a:xfrm>
              <a:off x="3083170" y="2937114"/>
              <a:ext cx="1868993" cy="1779994"/>
            </a:xfrm>
            <a:prstGeom prst="pentagon">
              <a:avLst/>
            </a:prstGeom>
            <a:gradFill flip="none" rotWithShape="1">
              <a:gsLst>
                <a:gs pos="0">
                  <a:srgbClr val="800080">
                    <a:tint val="66000"/>
                    <a:satMod val="160000"/>
                  </a:srgbClr>
                </a:gs>
                <a:gs pos="50000">
                  <a:srgbClr val="800080">
                    <a:tint val="44500"/>
                    <a:satMod val="160000"/>
                  </a:srgbClr>
                </a:gs>
                <a:gs pos="100000">
                  <a:srgbClr val="80008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8073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2644959" y="1987635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8400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5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7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663 L -4.16667E-6 0.19167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8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9167 L -4.16667E-6 0.25487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73" grpId="0"/>
      <p:bldP spid="55" grpId="0" animBg="1"/>
      <p:bldP spid="41" grpId="0"/>
      <p:bldP spid="23" grpId="0" animBg="1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00265" y="1547447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9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591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090778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2:  </a:t>
            </a:r>
            <a:r>
              <a:rPr lang="en-GB" sz="1600" b="1" dirty="0">
                <a:latin typeface="Arial" pitchFamily="34" charset="0"/>
              </a:rPr>
              <a:t>Give the order of rotational symmetry of this rhombus.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2129417" y="5403894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8073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2644959" y="1987635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8400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sp>
        <p:nvSpPr>
          <p:cNvPr id="49" name="Diamond 48"/>
          <p:cNvSpPr/>
          <p:nvPr/>
        </p:nvSpPr>
        <p:spPr>
          <a:xfrm>
            <a:off x="4130547" y="2962652"/>
            <a:ext cx="1241778" cy="1919111"/>
          </a:xfrm>
          <a:prstGeom prst="diamond">
            <a:avLst/>
          </a:prstGeom>
          <a:gradFill flip="none" rotWithShape="1">
            <a:gsLst>
              <a:gs pos="0">
                <a:srgbClr val="800080">
                  <a:shade val="30000"/>
                  <a:satMod val="115000"/>
                </a:srgbClr>
              </a:gs>
              <a:gs pos="50000">
                <a:srgbClr val="800080">
                  <a:shade val="67500"/>
                  <a:satMod val="115000"/>
                </a:srgbClr>
              </a:gs>
              <a:gs pos="100000">
                <a:srgbClr val="80008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3314522" y="2485292"/>
            <a:ext cx="2873828" cy="2873828"/>
            <a:chOff x="1790522" y="2485292"/>
            <a:chExt cx="2873828" cy="2873828"/>
          </a:xfrm>
        </p:grpSpPr>
        <p:sp>
          <p:nvSpPr>
            <p:cNvPr id="27" name="TextBox 26"/>
            <p:cNvSpPr txBox="1"/>
            <p:nvPr/>
          </p:nvSpPr>
          <p:spPr>
            <a:xfrm>
              <a:off x="2677650" y="4829803"/>
              <a:ext cx="109957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C00000"/>
                  </a:solidFill>
                  <a:latin typeface="Arial" pitchFamily="34" charset="0"/>
                </a:rPr>
                <a:t>Base</a:t>
              </a:r>
            </a:p>
          </p:txBody>
        </p:sp>
        <p:sp>
          <p:nvSpPr>
            <p:cNvPr id="50" name="Diamond 49"/>
            <p:cNvSpPr/>
            <p:nvPr/>
          </p:nvSpPr>
          <p:spPr>
            <a:xfrm>
              <a:off x="2606547" y="2962651"/>
              <a:ext cx="1241778" cy="1919111"/>
            </a:xfrm>
            <a:prstGeom prst="diamond">
              <a:avLst/>
            </a:prstGeom>
            <a:gradFill flip="none" rotWithShape="1">
              <a:gsLst>
                <a:gs pos="0">
                  <a:srgbClr val="800080">
                    <a:shade val="30000"/>
                    <a:satMod val="115000"/>
                  </a:srgbClr>
                </a:gs>
                <a:gs pos="50000">
                  <a:srgbClr val="800080">
                    <a:shade val="67500"/>
                    <a:satMod val="115000"/>
                  </a:srgbClr>
                </a:gs>
                <a:gs pos="100000">
                  <a:srgbClr val="80008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1790522" y="2485292"/>
              <a:ext cx="2873828" cy="287382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4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00265" y="1547447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9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591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090778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3:  </a:t>
            </a:r>
            <a:r>
              <a:rPr lang="en-GB" sz="1600" b="1" dirty="0">
                <a:latin typeface="Arial" pitchFamily="34" charset="0"/>
              </a:rPr>
              <a:t>Give the order of rotational symmetry of this square.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2129417" y="5403894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8073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2644959" y="1987635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8400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4007718" y="3178488"/>
            <a:ext cx="1478844" cy="1478844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3314522" y="2485292"/>
            <a:ext cx="2873828" cy="2873828"/>
            <a:chOff x="1790522" y="2485292"/>
            <a:chExt cx="2873828" cy="2873828"/>
          </a:xfrm>
        </p:grpSpPr>
        <p:grpSp>
          <p:nvGrpSpPr>
            <p:cNvPr id="6" name="Group 44"/>
            <p:cNvGrpSpPr/>
            <p:nvPr/>
          </p:nvGrpSpPr>
          <p:grpSpPr>
            <a:xfrm>
              <a:off x="179052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85993"/>
                <a:ext cx="10995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2488014" y="3182784"/>
              <a:ext cx="1478844" cy="1478844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3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5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663 L -4.16667E-6 0.19167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00265" y="1547447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9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591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090778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4:  </a:t>
            </a:r>
            <a:r>
              <a:rPr lang="en-GB" sz="1600" b="1" dirty="0">
                <a:latin typeface="Arial" pitchFamily="34" charset="0"/>
              </a:rPr>
              <a:t>Give the order of rotational symmetry of this star.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2129417" y="5403894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8073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2644959" y="1987635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8400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sp>
        <p:nvSpPr>
          <p:cNvPr id="49" name="8-Point Star 48"/>
          <p:cNvSpPr/>
          <p:nvPr/>
        </p:nvSpPr>
        <p:spPr>
          <a:xfrm>
            <a:off x="3876793" y="3047563"/>
            <a:ext cx="1749286" cy="1749286"/>
          </a:xfrm>
          <a:prstGeom prst="star8">
            <a:avLst>
              <a:gd name="adj" fmla="val 23473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3314522" y="2485292"/>
            <a:ext cx="2873828" cy="2873828"/>
            <a:chOff x="1790522" y="2485292"/>
            <a:chExt cx="2873828" cy="2873828"/>
          </a:xfrm>
        </p:grpSpPr>
        <p:sp>
          <p:nvSpPr>
            <p:cNvPr id="50" name="8-Point Star 49"/>
            <p:cNvSpPr/>
            <p:nvPr/>
          </p:nvSpPr>
          <p:spPr>
            <a:xfrm>
              <a:off x="2352793" y="3047563"/>
              <a:ext cx="1749286" cy="1749286"/>
            </a:xfrm>
            <a:prstGeom prst="star8">
              <a:avLst>
                <a:gd name="adj" fmla="val 23473"/>
              </a:avLst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6" name="Group 44"/>
            <p:cNvGrpSpPr/>
            <p:nvPr/>
          </p:nvGrpSpPr>
          <p:grpSpPr>
            <a:xfrm>
              <a:off x="179052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06481"/>
                <a:ext cx="10995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3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4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5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6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663 L -4.16667E-6 0.19167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6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9167 L -4.16667E-6 0.25487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25487 L -4.16667E-6 0.32061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8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32061 L -4.16667E-6 0.38357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8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38357 L -4.16667E-6 0.44769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00265" y="1547447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5540" y="747539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591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090778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5:  </a:t>
            </a:r>
            <a:r>
              <a:rPr lang="en-GB" sz="1600" b="1" dirty="0">
                <a:latin typeface="Arial" pitchFamily="34" charset="0"/>
              </a:rPr>
              <a:t>Give the order of rotational symmetry of this shape.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2129417" y="5403894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</p:grpSp>
      <p:grpSp>
        <p:nvGrpSpPr>
          <p:cNvPr id="4" name="Group 48"/>
          <p:cNvGrpSpPr/>
          <p:nvPr/>
        </p:nvGrpSpPr>
        <p:grpSpPr>
          <a:xfrm>
            <a:off x="8073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2644959" y="1987635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6" name="Group 53"/>
          <p:cNvGrpSpPr/>
          <p:nvPr/>
        </p:nvGrpSpPr>
        <p:grpSpPr>
          <a:xfrm>
            <a:off x="8400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942230" y="3430291"/>
            <a:ext cx="1513436" cy="1313882"/>
            <a:chOff x="3474921" y="3088228"/>
            <a:chExt cx="1709129" cy="1483772"/>
          </a:xfrm>
          <a:solidFill>
            <a:srgbClr val="FFC000"/>
          </a:solidFill>
        </p:grpSpPr>
        <p:sp>
          <p:nvSpPr>
            <p:cNvPr id="48" name="L-Shape 47"/>
            <p:cNvSpPr/>
            <p:nvPr/>
          </p:nvSpPr>
          <p:spPr>
            <a:xfrm>
              <a:off x="4274288" y="3710763"/>
              <a:ext cx="445889" cy="861237"/>
            </a:xfrm>
            <a:prstGeom prst="corne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0" name="L-Shape 49"/>
            <p:cNvSpPr/>
            <p:nvPr/>
          </p:nvSpPr>
          <p:spPr>
            <a:xfrm rot="7200000">
              <a:off x="3682595" y="3071190"/>
              <a:ext cx="445889" cy="861237"/>
            </a:xfrm>
            <a:prstGeom prst="corne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6" name="L-Shape 55"/>
            <p:cNvSpPr/>
            <p:nvPr/>
          </p:nvSpPr>
          <p:spPr>
            <a:xfrm rot="14400000">
              <a:off x="4530487" y="2880555"/>
              <a:ext cx="445889" cy="861236"/>
            </a:xfrm>
            <a:prstGeom prst="corne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7" name="Isosceles Triangle 56"/>
            <p:cNvSpPr/>
            <p:nvPr/>
          </p:nvSpPr>
          <p:spPr>
            <a:xfrm>
              <a:off x="4272461" y="3520160"/>
              <a:ext cx="226290" cy="19507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314522" y="2485292"/>
            <a:ext cx="2873828" cy="2873828"/>
            <a:chOff x="1790522" y="2485292"/>
            <a:chExt cx="2873828" cy="2873828"/>
          </a:xfrm>
        </p:grpSpPr>
        <p:grpSp>
          <p:nvGrpSpPr>
            <p:cNvPr id="9" name="Group 44"/>
            <p:cNvGrpSpPr/>
            <p:nvPr/>
          </p:nvGrpSpPr>
          <p:grpSpPr>
            <a:xfrm>
              <a:off x="179052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85993"/>
                <a:ext cx="109957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2417493" y="3430270"/>
              <a:ext cx="1513436" cy="1313882"/>
              <a:chOff x="3474921" y="3088228"/>
              <a:chExt cx="1709129" cy="1483772"/>
            </a:xfrm>
          </p:grpSpPr>
          <p:sp>
            <p:nvSpPr>
              <p:cNvPr id="60" name="L-Shape 59"/>
              <p:cNvSpPr/>
              <p:nvPr/>
            </p:nvSpPr>
            <p:spPr>
              <a:xfrm>
                <a:off x="4274288" y="3710763"/>
                <a:ext cx="445889" cy="861237"/>
              </a:xfrm>
              <a:prstGeom prst="corne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1" name="L-Shape 60"/>
              <p:cNvSpPr/>
              <p:nvPr/>
            </p:nvSpPr>
            <p:spPr>
              <a:xfrm rot="7200000">
                <a:off x="3682595" y="3071190"/>
                <a:ext cx="445889" cy="861237"/>
              </a:xfrm>
              <a:prstGeom prst="corne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2" name="L-Shape 61"/>
              <p:cNvSpPr/>
              <p:nvPr/>
            </p:nvSpPr>
            <p:spPr>
              <a:xfrm rot="14400000">
                <a:off x="4530487" y="2880555"/>
                <a:ext cx="445889" cy="861236"/>
              </a:xfrm>
              <a:prstGeom prst="corne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>
                <a:off x="4272461" y="3520160"/>
                <a:ext cx="226290" cy="195077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3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4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54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00265" y="1547447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Symmetry task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86CFF15-B2D4-4F62-A0E5-E2CFCE1C62BA}"/>
              </a:ext>
            </a:extLst>
          </p:cNvPr>
          <p:cNvSpPr txBox="1"/>
          <p:nvPr/>
        </p:nvSpPr>
        <p:spPr>
          <a:xfrm>
            <a:off x="2640454" y="1669124"/>
            <a:ext cx="68909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Collect the small blue Dwyer textbooks (see your teacher)</a:t>
            </a:r>
          </a:p>
          <a:p>
            <a:endParaRPr lang="en-AU" sz="2400" dirty="0"/>
          </a:p>
          <a:p>
            <a:r>
              <a:rPr lang="en-AU" sz="2400" dirty="0"/>
              <a:t>Complete Ex18.8 Q1-7</a:t>
            </a:r>
          </a:p>
          <a:p>
            <a:endParaRPr lang="en-AU" sz="2400" dirty="0"/>
          </a:p>
          <a:p>
            <a:r>
              <a:rPr lang="en-AU" sz="2400" dirty="0"/>
              <a:t>Complete Ex 18.9 Q1-8 (pages 251, 252)</a:t>
            </a:r>
          </a:p>
          <a:p>
            <a:endParaRPr lang="en-AU" sz="2400" dirty="0"/>
          </a:p>
          <a:p>
            <a:r>
              <a:rPr lang="en-AU" sz="2400" dirty="0"/>
              <a:t>Check in with your teacher or shoulder partner if you get stuck</a:t>
            </a:r>
          </a:p>
        </p:txBody>
      </p:sp>
    </p:spTree>
    <p:extLst>
      <p:ext uri="{BB962C8B-B14F-4D97-AF65-F5344CB8AC3E}">
        <p14:creationId xmlns:p14="http://schemas.microsoft.com/office/powerpoint/2010/main" val="42412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534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2021-11-30T03:48:49Z</dcterms:created>
  <dcterms:modified xsi:type="dcterms:W3CDTF">2021-11-30T03:52:55Z</dcterms:modified>
</cp:coreProperties>
</file>
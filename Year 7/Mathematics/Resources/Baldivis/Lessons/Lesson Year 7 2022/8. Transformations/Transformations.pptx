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72" r:id="rId3"/>
    <p:sldId id="273" r:id="rId4"/>
    <p:sldId id="277" r:id="rId5"/>
    <p:sldId id="278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F51E2C7B-9FD8-40A1-9F4E-DC09176C79FD}"/>
    <pc:docChg chg="custSel delSld modSld sldOrd">
      <pc:chgData name="Sarah James" userId="e5e3e68366f0feb3" providerId="LiveId" clId="{F51E2C7B-9FD8-40A1-9F4E-DC09176C79FD}" dt="2021-11-30T04:01:50.617" v="128" actId="47"/>
      <pc:docMkLst>
        <pc:docMk/>
      </pc:docMkLst>
      <pc:sldChg chg="modSp del mod ord">
        <pc:chgData name="Sarah James" userId="e5e3e68366f0feb3" providerId="LiveId" clId="{F51E2C7B-9FD8-40A1-9F4E-DC09176C79FD}" dt="2021-11-30T04:01:50.617" v="128" actId="47"/>
        <pc:sldMkLst>
          <pc:docMk/>
          <pc:sldMk cId="1031691275" sldId="285"/>
        </pc:sldMkLst>
        <pc:spChg chg="mod">
          <ac:chgData name="Sarah James" userId="e5e3e68366f0feb3" providerId="LiveId" clId="{F51E2C7B-9FD8-40A1-9F4E-DC09176C79FD}" dt="2021-11-30T04:00:45.803" v="127" actId="20577"/>
          <ac:spMkLst>
            <pc:docMk/>
            <pc:sldMk cId="1031691275" sldId="285"/>
            <ac:spMk id="8" creationId="{088FA3D3-A219-4110-95B5-53B105ADC0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7489-8EFE-4353-8267-BF68B75F4143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18BCB-272F-4525-B3D5-DFE515F14D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885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 next slide on combination safety and accountability to get summaries written, and </a:t>
            </a:r>
            <a:r>
              <a:rPr lang="en-AU" dirty="0" err="1"/>
              <a:t>wiCor</a:t>
            </a:r>
            <a:r>
              <a:rPr lang="en-AU" dirty="0"/>
              <a:t> Collaboration – working together to improve each </a:t>
            </a:r>
            <a:r>
              <a:rPr lang="en-AU"/>
              <a:t>others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4EB2B8-E17A-4886-8E15-63DD18968D3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023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61F8-D41F-4E3A-A4D5-3B241B7A4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61A65-0165-4B49-A6ED-230E2DCC7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B21D2-48DF-4294-899C-4B8557678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C555D-243D-4F97-952E-B18E2D973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2D9C3-4255-46ED-8908-ACEB5C1ED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190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71220-BA10-4DAC-87E5-26929B577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DA830-0C50-4CB1-8B69-95814314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23CF-D470-4E26-9A8C-630C6FBBE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D09C-A944-4F2D-97A3-01640BF7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E3FD6-D9CB-45EF-9745-753A6B09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442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0554-2DC9-4D3B-A410-3C99D823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49D42-4F45-4AE1-B3B9-8959496BE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11144-9661-415B-95FB-FDDB6C53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A257-734D-47B3-9855-8977613BD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AA38B-4F80-426D-BC1C-49EF2CC34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22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E39F6-AD26-43DC-9F1B-B6240E014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EF80-D7B9-4259-B04C-614AB6D8D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850D1-E35B-4A10-9C1E-C95DF8D05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3E40E-6997-4665-B7AF-BDABF74C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6C2C-053B-4EBE-AAE4-031E5C28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6C6F2-CDC2-4809-BC35-8887A013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709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266C-CE5E-4DCD-9BF3-FA74D5AA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2E06F-C280-444A-A58B-CD2FDC6AC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53698-6B66-4BE0-9548-45EE19A6B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91E1A-BB0D-4823-B02C-D9DE3544F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A4D074-52CC-4E33-AF8D-6ADCF3205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C6927-0293-4D00-9D4B-2C5BA361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0E2EB-6438-4DDA-8B8F-221188DF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0549E-2CDE-4879-ABFC-98F55E28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5363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DD80-13DF-4F91-ADFD-EF367FFFF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E6E82A-AF35-443C-88B2-47E115AE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FBEFD-23EC-4BBE-BE07-51935031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42B65-72F4-46A4-BE1D-257C5ADD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363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C1AA3-DD50-459A-8E42-D4FB89DE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995D9-4932-482F-8DDD-64FF27FF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9685-652C-44C9-8342-F0F5F7FE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128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7B14-D3C4-4576-AAD3-93078D747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5BA7-EA0A-4CD8-B593-D69ADEC6D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C1340-1FB1-4709-85B9-5601EDCB52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D4B87-90A2-44F3-8443-0528D8542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A053B-910A-4BDE-AA6E-74B4B511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B8038-CB58-4EB5-AEF8-E3954CA67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95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D11A-2E6C-4672-AC99-FBCA09BA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025296-53C4-4DA2-BB5A-E41AB428D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D89D6C-7E52-4F69-A955-1A3190D49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C58DD-DC7D-490B-9F3F-2F81098B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52F98-EB6C-4DF3-9FF0-FBF18BD7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E5446-4E6D-4D19-903E-9E4A3632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55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CBA3-96DD-47DE-85FE-4BC05F7A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35D5B-9ED0-4741-8A49-92EE9AE1D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AD12A-415F-44AD-B1F1-3D19258D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0561D-6A6A-4316-BBF6-6888229D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A3098-119A-41F6-912F-688BFF52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71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49B05-5E98-42A1-9A12-9BFA9874B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2F1BF8-5DD0-428D-AD52-CA684D50C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A31CF-8C5D-4E21-BE9B-03D5F140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0D5B2-5020-4356-89E5-3731B2B5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31CEC-3CC1-46C5-A4A7-A27681A4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021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54420F-850D-4C2D-9317-D165AC03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E9DDD-1D55-40BC-970B-843A2D68C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31F78-0B3D-4E7B-9CB1-B0B563594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F8694-9876-459D-88EC-AD4B066C69EE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59754-CC00-41B0-8FB8-6BC7CD203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E76A1-8604-4C70-8F91-6FEAF010D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174B7-1B4F-4FAE-865A-B7BDDC7569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891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09546" y="980728"/>
            <a:ext cx="8172908" cy="4730452"/>
          </a:xfrm>
          <a:prstGeom prst="roundRect">
            <a:avLst>
              <a:gd name="adj" fmla="val 8107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1554" y="260648"/>
            <a:ext cx="8028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latin typeface="Arial" pitchFamily="34" charset="0"/>
              </a:rPr>
              <a:t>Topic: Transformations</a:t>
            </a:r>
          </a:p>
          <a:p>
            <a:pPr algn="ctr"/>
            <a:r>
              <a:rPr lang="en-GB" sz="2000" b="1" dirty="0">
                <a:latin typeface="Arial" pitchFamily="34" charset="0"/>
              </a:rPr>
              <a:t>EQ: What is the difference between a rotation and a reflection?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1554" y="1196753"/>
            <a:ext cx="80288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</a:rPr>
              <a:t>The 3 </a:t>
            </a:r>
            <a:r>
              <a:rPr lang="en-GB" sz="2400" b="1" dirty="0">
                <a:solidFill>
                  <a:srgbClr val="FF0000"/>
                </a:solidFill>
                <a:latin typeface="Arial" pitchFamily="34" charset="0"/>
              </a:rPr>
              <a:t>transformations </a:t>
            </a:r>
            <a:r>
              <a:rPr lang="en-GB" sz="2400" b="1" dirty="0">
                <a:latin typeface="Arial" pitchFamily="34" charset="0"/>
              </a:rPr>
              <a:t>we need to know about are: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3794989" y="1952836"/>
            <a:ext cx="46020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TRANSLATIONS</a:t>
            </a:r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4341239" y="2870744"/>
            <a:ext cx="350952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ROTATIONS</a:t>
            </a: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074528" y="3788652"/>
            <a:ext cx="404294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solidFill>
                  <a:srgbClr val="C00000"/>
                </a:solidFill>
                <a:latin typeface="Arial" pitchFamily="34" charset="0"/>
              </a:rPr>
              <a:t>REFLECTIONS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/>
      <p:bldP spid="9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81554" y="871992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Translation is a movement in a straight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9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this as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HORIZONTAL</a:t>
            </a:r>
            <a:r>
              <a:rPr lang="en-GB" sz="1600" b="1" dirty="0">
                <a:latin typeface="Arial" pitchFamily="34" charset="0"/>
              </a:rPr>
              <a:t> movement followed by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VERTICAL</a:t>
            </a:r>
            <a:r>
              <a:rPr lang="en-GB" sz="1600" b="1" dirty="0">
                <a:latin typeface="Arial" pitchFamily="34" charset="0"/>
              </a:rPr>
              <a:t> movement.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2173451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moved: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5 squares to the right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2211692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7 squares down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2211692" y="2898373"/>
            <a:ext cx="12669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59" name="Group 8"/>
          <p:cNvGrpSpPr>
            <a:grpSpLocks/>
          </p:cNvGrpSpPr>
          <p:nvPr/>
        </p:nvGrpSpPr>
        <p:grpSpPr bwMode="auto">
          <a:xfrm>
            <a:off x="6168008" y="2024845"/>
            <a:ext cx="3887788" cy="3887787"/>
            <a:chOff x="3198" y="1729"/>
            <a:chExt cx="2449" cy="2449"/>
          </a:xfrm>
        </p:grpSpPr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3198" y="1729"/>
              <a:ext cx="2449" cy="2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7" name="Group 10"/>
            <p:cNvGrpSpPr>
              <a:grpSpLocks/>
            </p:cNvGrpSpPr>
            <p:nvPr/>
          </p:nvGrpSpPr>
          <p:grpSpPr bwMode="auto">
            <a:xfrm>
              <a:off x="3243" y="1942"/>
              <a:ext cx="2359" cy="2021"/>
              <a:chOff x="3243" y="1942"/>
              <a:chExt cx="2359" cy="2021"/>
            </a:xfrm>
          </p:grpSpPr>
          <p:sp>
            <p:nvSpPr>
              <p:cNvPr id="80" name="Line 11"/>
              <p:cNvSpPr>
                <a:spLocks noChangeShapeType="1"/>
              </p:cNvSpPr>
              <p:nvPr/>
            </p:nvSpPr>
            <p:spPr bwMode="auto">
              <a:xfrm>
                <a:off x="3243" y="254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Line 12"/>
              <p:cNvSpPr>
                <a:spLocks noChangeShapeType="1"/>
              </p:cNvSpPr>
              <p:nvPr/>
            </p:nvSpPr>
            <p:spPr bwMode="auto">
              <a:xfrm>
                <a:off x="3243" y="275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3243" y="295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3243" y="31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3243" y="335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Line 16"/>
              <p:cNvSpPr>
                <a:spLocks noChangeShapeType="1"/>
              </p:cNvSpPr>
              <p:nvPr/>
            </p:nvSpPr>
            <p:spPr bwMode="auto">
              <a:xfrm>
                <a:off x="3243" y="355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6" name="Line 17"/>
              <p:cNvSpPr>
                <a:spLocks noChangeShapeType="1"/>
              </p:cNvSpPr>
              <p:nvPr/>
            </p:nvSpPr>
            <p:spPr bwMode="auto">
              <a:xfrm>
                <a:off x="3243" y="376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7" name="Line 18"/>
              <p:cNvSpPr>
                <a:spLocks noChangeShapeType="1"/>
              </p:cNvSpPr>
              <p:nvPr/>
            </p:nvSpPr>
            <p:spPr bwMode="auto">
              <a:xfrm>
                <a:off x="3243" y="3963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3243" y="194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3243" y="214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0" name="Line 21"/>
              <p:cNvSpPr>
                <a:spLocks noChangeShapeType="1"/>
              </p:cNvSpPr>
              <p:nvPr/>
            </p:nvSpPr>
            <p:spPr bwMode="auto">
              <a:xfrm>
                <a:off x="3243" y="234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68" name="Group 22"/>
            <p:cNvGrpSpPr>
              <a:grpSpLocks/>
            </p:cNvGrpSpPr>
            <p:nvPr/>
          </p:nvGrpSpPr>
          <p:grpSpPr bwMode="auto">
            <a:xfrm>
              <a:off x="3413" y="1774"/>
              <a:ext cx="2021" cy="2359"/>
              <a:chOff x="3413" y="1774"/>
              <a:chExt cx="2021" cy="2359"/>
            </a:xfrm>
          </p:grpSpPr>
          <p:sp>
            <p:nvSpPr>
              <p:cNvPr id="69" name="Line 23"/>
              <p:cNvSpPr>
                <a:spLocks noChangeShapeType="1"/>
              </p:cNvSpPr>
              <p:nvPr/>
            </p:nvSpPr>
            <p:spPr bwMode="auto">
              <a:xfrm rot="16200000">
                <a:off x="26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 rot="16200000">
                <a:off x="283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rot="16200000">
                <a:off x="304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 rot="16200000">
                <a:off x="32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 rot="16200000">
                <a:off x="344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 rot="16200000">
                <a:off x="364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 rot="16200000">
                <a:off x="384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 rot="16200000">
                <a:off x="405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 rot="16200000">
                <a:off x="4254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 rot="16200000">
                <a:off x="223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9" name="Line 33"/>
              <p:cNvSpPr>
                <a:spLocks noChangeShapeType="1"/>
              </p:cNvSpPr>
              <p:nvPr/>
            </p:nvSpPr>
            <p:spPr bwMode="auto">
              <a:xfrm rot="16200000">
                <a:off x="243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</p:grpSp>
      <p:sp>
        <p:nvSpPr>
          <p:cNvPr id="91" name="AutoShape 34"/>
          <p:cNvSpPr>
            <a:spLocks noChangeArrowheads="1"/>
          </p:cNvSpPr>
          <p:nvPr/>
        </p:nvSpPr>
        <p:spPr bwMode="auto">
          <a:xfrm>
            <a:off x="6514643" y="2364570"/>
            <a:ext cx="636003" cy="960437"/>
          </a:xfrm>
          <a:prstGeom prst="rtTriangle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2" name="AutoShape 35"/>
          <p:cNvSpPr>
            <a:spLocks noChangeArrowheads="1"/>
          </p:cNvSpPr>
          <p:nvPr/>
        </p:nvSpPr>
        <p:spPr bwMode="auto">
          <a:xfrm>
            <a:off x="6519542" y="2366156"/>
            <a:ext cx="656349" cy="960438"/>
          </a:xfrm>
          <a:prstGeom prst="rtTriangle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3" name="Line 44"/>
          <p:cNvSpPr>
            <a:spLocks noChangeShapeType="1"/>
          </p:cNvSpPr>
          <p:nvPr/>
        </p:nvSpPr>
        <p:spPr bwMode="auto">
          <a:xfrm>
            <a:off x="7169722" y="3310719"/>
            <a:ext cx="1595437" cy="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4" name="Line 45"/>
          <p:cNvSpPr>
            <a:spLocks noChangeShapeType="1"/>
          </p:cNvSpPr>
          <p:nvPr/>
        </p:nvSpPr>
        <p:spPr bwMode="auto">
          <a:xfrm>
            <a:off x="8750871" y="3331356"/>
            <a:ext cx="0" cy="223520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grpSp>
        <p:nvGrpSpPr>
          <p:cNvPr id="58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95" name="Rounded Rectangle 9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(1)  Translations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3.64162E-6 L 0.17292 3.64162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292 3.64162E-6 L 0.17292 0.327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65" grpId="0"/>
      <p:bldP spid="66" grpId="0"/>
      <p:bldP spid="91" grpId="0" animBg="1"/>
      <p:bldP spid="92" grpId="0" animBg="1"/>
      <p:bldP spid="92" grpId="1" animBg="1"/>
      <p:bldP spid="92" grpId="2" animBg="1"/>
      <p:bldP spid="93" grpId="0" animBg="1"/>
      <p:bldP spid="9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75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FF9999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Translations</a:t>
            </a:r>
          </a:p>
        </p:txBody>
      </p:sp>
      <p:sp>
        <p:nvSpPr>
          <p:cNvPr id="8" name="Oval 7"/>
          <p:cNvSpPr/>
          <p:nvPr/>
        </p:nvSpPr>
        <p:spPr>
          <a:xfrm>
            <a:off x="1811524" y="6306784"/>
            <a:ext cx="337728" cy="337728"/>
          </a:xfrm>
          <a:prstGeom prst="ellipse">
            <a:avLst/>
          </a:prstGeom>
          <a:solidFill>
            <a:srgbClr val="FF7C80"/>
          </a:solidFill>
          <a:ln w="63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54374" y="6321761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A50021"/>
                </a:solidFill>
                <a:latin typeface="Arial" pitchFamily="34" charset="0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1554" y="871992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Translation is a movement in a straight 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9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this as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HORIZONTAL</a:t>
            </a:r>
            <a:r>
              <a:rPr lang="en-GB" sz="1600" b="1" dirty="0">
                <a:latin typeface="Arial" pitchFamily="34" charset="0"/>
              </a:rPr>
              <a:t> movement followed by a </a:t>
            </a:r>
            <a:r>
              <a:rPr lang="en-GB" sz="1600" b="1" dirty="0">
                <a:solidFill>
                  <a:srgbClr val="A50021"/>
                </a:solidFill>
                <a:latin typeface="Arial" pitchFamily="34" charset="0"/>
              </a:rPr>
              <a:t>VERTICAL</a:t>
            </a:r>
            <a:r>
              <a:rPr lang="en-GB" sz="1600" b="1" dirty="0">
                <a:latin typeface="Arial" pitchFamily="34" charset="0"/>
              </a:rPr>
              <a:t> movement.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2173451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rhombus moved: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8 squares to the left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2211692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3 squares down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2211692" y="2898373"/>
            <a:ext cx="126699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3:</a:t>
            </a:r>
          </a:p>
        </p:txBody>
      </p:sp>
      <p:grpSp>
        <p:nvGrpSpPr>
          <p:cNvPr id="59" name="Group 8"/>
          <p:cNvGrpSpPr>
            <a:grpSpLocks/>
          </p:cNvGrpSpPr>
          <p:nvPr/>
        </p:nvGrpSpPr>
        <p:grpSpPr bwMode="auto">
          <a:xfrm>
            <a:off x="6168008" y="1988841"/>
            <a:ext cx="3887788" cy="3887787"/>
            <a:chOff x="3198" y="1729"/>
            <a:chExt cx="2449" cy="2449"/>
          </a:xfrm>
        </p:grpSpPr>
        <p:sp>
          <p:nvSpPr>
            <p:cNvPr id="62" name="Rectangle 9"/>
            <p:cNvSpPr>
              <a:spLocks noChangeArrowheads="1"/>
            </p:cNvSpPr>
            <p:nvPr/>
          </p:nvSpPr>
          <p:spPr bwMode="auto">
            <a:xfrm>
              <a:off x="3198" y="1729"/>
              <a:ext cx="2449" cy="2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67" name="Group 10"/>
            <p:cNvGrpSpPr>
              <a:grpSpLocks/>
            </p:cNvGrpSpPr>
            <p:nvPr/>
          </p:nvGrpSpPr>
          <p:grpSpPr bwMode="auto">
            <a:xfrm>
              <a:off x="3243" y="1942"/>
              <a:ext cx="2359" cy="2021"/>
              <a:chOff x="3243" y="1942"/>
              <a:chExt cx="2359" cy="2021"/>
            </a:xfrm>
          </p:grpSpPr>
          <p:sp>
            <p:nvSpPr>
              <p:cNvPr id="80" name="Line 11"/>
              <p:cNvSpPr>
                <a:spLocks noChangeShapeType="1"/>
              </p:cNvSpPr>
              <p:nvPr/>
            </p:nvSpPr>
            <p:spPr bwMode="auto">
              <a:xfrm>
                <a:off x="3243" y="254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Line 12"/>
              <p:cNvSpPr>
                <a:spLocks noChangeShapeType="1"/>
              </p:cNvSpPr>
              <p:nvPr/>
            </p:nvSpPr>
            <p:spPr bwMode="auto">
              <a:xfrm>
                <a:off x="3243" y="275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2" name="Line 13"/>
              <p:cNvSpPr>
                <a:spLocks noChangeShapeType="1"/>
              </p:cNvSpPr>
              <p:nvPr/>
            </p:nvSpPr>
            <p:spPr bwMode="auto">
              <a:xfrm>
                <a:off x="3243" y="295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3" name="Line 14"/>
              <p:cNvSpPr>
                <a:spLocks noChangeShapeType="1"/>
              </p:cNvSpPr>
              <p:nvPr/>
            </p:nvSpPr>
            <p:spPr bwMode="auto">
              <a:xfrm>
                <a:off x="3243" y="31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4" name="Line 15"/>
              <p:cNvSpPr>
                <a:spLocks noChangeShapeType="1"/>
              </p:cNvSpPr>
              <p:nvPr/>
            </p:nvSpPr>
            <p:spPr bwMode="auto">
              <a:xfrm>
                <a:off x="3243" y="335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Line 16"/>
              <p:cNvSpPr>
                <a:spLocks noChangeShapeType="1"/>
              </p:cNvSpPr>
              <p:nvPr/>
            </p:nvSpPr>
            <p:spPr bwMode="auto">
              <a:xfrm>
                <a:off x="3243" y="3558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6" name="Line 17"/>
              <p:cNvSpPr>
                <a:spLocks noChangeShapeType="1"/>
              </p:cNvSpPr>
              <p:nvPr/>
            </p:nvSpPr>
            <p:spPr bwMode="auto">
              <a:xfrm>
                <a:off x="3243" y="3760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7" name="Line 18"/>
              <p:cNvSpPr>
                <a:spLocks noChangeShapeType="1"/>
              </p:cNvSpPr>
              <p:nvPr/>
            </p:nvSpPr>
            <p:spPr bwMode="auto">
              <a:xfrm>
                <a:off x="3243" y="3963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8" name="Line 19"/>
              <p:cNvSpPr>
                <a:spLocks noChangeShapeType="1"/>
              </p:cNvSpPr>
              <p:nvPr/>
            </p:nvSpPr>
            <p:spPr bwMode="auto">
              <a:xfrm>
                <a:off x="3243" y="1942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Line 20"/>
              <p:cNvSpPr>
                <a:spLocks noChangeShapeType="1"/>
              </p:cNvSpPr>
              <p:nvPr/>
            </p:nvSpPr>
            <p:spPr bwMode="auto">
              <a:xfrm>
                <a:off x="3243" y="214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0" name="Line 21"/>
              <p:cNvSpPr>
                <a:spLocks noChangeShapeType="1"/>
              </p:cNvSpPr>
              <p:nvPr/>
            </p:nvSpPr>
            <p:spPr bwMode="auto">
              <a:xfrm>
                <a:off x="3243" y="2346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  <p:grpSp>
          <p:nvGrpSpPr>
            <p:cNvPr id="68" name="Group 22"/>
            <p:cNvGrpSpPr>
              <a:grpSpLocks/>
            </p:cNvGrpSpPr>
            <p:nvPr/>
          </p:nvGrpSpPr>
          <p:grpSpPr bwMode="auto">
            <a:xfrm>
              <a:off x="3413" y="1774"/>
              <a:ext cx="2021" cy="2359"/>
              <a:chOff x="3413" y="1774"/>
              <a:chExt cx="2021" cy="2359"/>
            </a:xfrm>
          </p:grpSpPr>
          <p:sp>
            <p:nvSpPr>
              <p:cNvPr id="69" name="Line 23"/>
              <p:cNvSpPr>
                <a:spLocks noChangeShapeType="1"/>
              </p:cNvSpPr>
              <p:nvPr/>
            </p:nvSpPr>
            <p:spPr bwMode="auto">
              <a:xfrm rot="16200000">
                <a:off x="263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 rot="16200000">
                <a:off x="283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1" name="Line 25"/>
              <p:cNvSpPr>
                <a:spLocks noChangeShapeType="1"/>
              </p:cNvSpPr>
              <p:nvPr/>
            </p:nvSpPr>
            <p:spPr bwMode="auto">
              <a:xfrm rot="16200000">
                <a:off x="304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 rot="16200000">
                <a:off x="324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 rot="16200000">
                <a:off x="344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4" name="Line 28"/>
              <p:cNvSpPr>
                <a:spLocks noChangeShapeType="1"/>
              </p:cNvSpPr>
              <p:nvPr/>
            </p:nvSpPr>
            <p:spPr bwMode="auto">
              <a:xfrm rot="16200000">
                <a:off x="3647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 rot="16200000">
                <a:off x="3849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6" name="Line 30"/>
              <p:cNvSpPr>
                <a:spLocks noChangeShapeType="1"/>
              </p:cNvSpPr>
              <p:nvPr/>
            </p:nvSpPr>
            <p:spPr bwMode="auto">
              <a:xfrm rot="16200000">
                <a:off x="4051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 rot="16200000">
                <a:off x="4254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 rot="16200000">
                <a:off x="2233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9" name="Line 33"/>
              <p:cNvSpPr>
                <a:spLocks noChangeShapeType="1"/>
              </p:cNvSpPr>
              <p:nvPr/>
            </p:nvSpPr>
            <p:spPr bwMode="auto">
              <a:xfrm rot="16200000">
                <a:off x="2435" y="2954"/>
                <a:ext cx="235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</p:grpSp>
      </p:grpSp>
      <p:sp>
        <p:nvSpPr>
          <p:cNvPr id="91" name="AutoShape 34"/>
          <p:cNvSpPr>
            <a:spLocks noChangeArrowheads="1"/>
          </p:cNvSpPr>
          <p:nvPr/>
        </p:nvSpPr>
        <p:spPr bwMode="auto">
          <a:xfrm>
            <a:off x="9089009" y="2674641"/>
            <a:ext cx="612775" cy="960437"/>
          </a:xfrm>
          <a:prstGeom prst="diamond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2" name="AutoShape 35"/>
          <p:cNvSpPr>
            <a:spLocks noChangeArrowheads="1"/>
          </p:cNvSpPr>
          <p:nvPr/>
        </p:nvSpPr>
        <p:spPr bwMode="auto">
          <a:xfrm>
            <a:off x="9090597" y="2673052"/>
            <a:ext cx="612775" cy="960438"/>
          </a:xfrm>
          <a:prstGeom prst="diamond">
            <a:avLst/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3" name="Line 44"/>
          <p:cNvSpPr>
            <a:spLocks noChangeShapeType="1"/>
          </p:cNvSpPr>
          <p:nvPr/>
        </p:nvSpPr>
        <p:spPr bwMode="auto">
          <a:xfrm flipH="1">
            <a:off x="6831583" y="2652415"/>
            <a:ext cx="2573338" cy="0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94" name="Line 45"/>
          <p:cNvSpPr>
            <a:spLocks noChangeShapeType="1"/>
          </p:cNvSpPr>
          <p:nvPr/>
        </p:nvSpPr>
        <p:spPr bwMode="auto">
          <a:xfrm>
            <a:off x="6828408" y="2654002"/>
            <a:ext cx="0" cy="973138"/>
          </a:xfrm>
          <a:prstGeom prst="line">
            <a:avLst/>
          </a:prstGeom>
          <a:noFill/>
          <a:ln w="76200">
            <a:solidFill>
              <a:srgbClr val="990099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GB" dirty="0">
              <a:latin typeface="Arial" pitchFamily="34" charset="0"/>
            </a:endParaRPr>
          </a:p>
        </p:txBody>
      </p:sp>
      <p:grpSp>
        <p:nvGrpSpPr>
          <p:cNvPr id="58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95" name="Rounded Rectangle 94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(1)  Translations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59259E-6 L -0.28107 2.59259E-6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08 2.59259E-6 L -0.28108 0.1365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65" grpId="0"/>
      <p:bldP spid="66" grpId="0"/>
      <p:bldP spid="91" grpId="0" animBg="1"/>
      <p:bldP spid="92" grpId="0" animBg="1"/>
      <p:bldP spid="92" grpId="1" animBg="1"/>
      <p:bldP spid="92" grpId="2" animBg="1"/>
      <p:bldP spid="93" grpId="0" animBg="1"/>
      <p:bldP spid="9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67" name="Group 166"/>
          <p:cNvGrpSpPr/>
          <p:nvPr/>
        </p:nvGrpSpPr>
        <p:grpSpPr>
          <a:xfrm>
            <a:off x="6154043" y="1983029"/>
            <a:ext cx="3934768" cy="3929602"/>
            <a:chOff x="4630043" y="1983029"/>
            <a:chExt cx="3934768" cy="3929602"/>
          </a:xfrm>
        </p:grpSpPr>
        <p:grpSp>
          <p:nvGrpSpPr>
            <p:cNvPr id="2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3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4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1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119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2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31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35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139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147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15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159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1829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rotation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ANGLE</a:t>
            </a:r>
            <a:r>
              <a:rPr lang="en-GB" sz="1600" b="1" dirty="0">
                <a:latin typeface="Arial" pitchFamily="34" charset="0"/>
              </a:rPr>
              <a:t>,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DIRECTION</a:t>
            </a:r>
            <a:r>
              <a:rPr lang="en-GB" sz="1600" b="1" dirty="0">
                <a:latin typeface="Arial" pitchFamily="34" charset="0"/>
              </a:rPr>
              <a:t> and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CENTER OF ROTATION</a:t>
            </a:r>
            <a:r>
              <a:rPr lang="en-GB" sz="1600" b="1" dirty="0">
                <a:latin typeface="Arial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Rotation turns a shape through a given angle, about a given point.</a:t>
            </a:r>
          </a:p>
        </p:txBody>
      </p:sp>
      <p:sp>
        <p:nvSpPr>
          <p:cNvPr id="47" name="AutoShape 189"/>
          <p:cNvSpPr>
            <a:spLocks noChangeArrowheads="1"/>
          </p:cNvSpPr>
          <p:nvPr/>
        </p:nvSpPr>
        <p:spPr bwMode="auto">
          <a:xfrm>
            <a:off x="8154194" y="3334085"/>
            <a:ext cx="612775" cy="960438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2173451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was rotated: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90˚ Clockwise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2211692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(5, 4)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2211692" y="2898373"/>
            <a:ext cx="33190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With centre of rotation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1:</a:t>
            </a:r>
          </a:p>
        </p:txBody>
      </p:sp>
      <p:grpSp>
        <p:nvGrpSpPr>
          <p:cNvPr id="169" name="Group 168"/>
          <p:cNvGrpSpPr/>
          <p:nvPr/>
        </p:nvGrpSpPr>
        <p:grpSpPr>
          <a:xfrm>
            <a:off x="7540986" y="3334085"/>
            <a:ext cx="1225982" cy="1921076"/>
            <a:chOff x="6981447" y="3000022"/>
            <a:chExt cx="1225982" cy="1921076"/>
          </a:xfrm>
          <a:solidFill>
            <a:srgbClr val="FF0000"/>
          </a:solidFill>
        </p:grpSpPr>
        <p:sp>
          <p:nvSpPr>
            <p:cNvPr id="48" name="AutoShape 191"/>
            <p:cNvSpPr>
              <a:spLocks noChangeArrowheads="1"/>
            </p:cNvSpPr>
            <p:nvPr/>
          </p:nvSpPr>
          <p:spPr bwMode="auto">
            <a:xfrm>
              <a:off x="7594654" y="3000022"/>
              <a:ext cx="612775" cy="9604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168" name="AutoShape 191"/>
            <p:cNvSpPr>
              <a:spLocks noChangeArrowheads="1"/>
            </p:cNvSpPr>
            <p:nvPr/>
          </p:nvSpPr>
          <p:spPr bwMode="auto">
            <a:xfrm flipV="1">
              <a:off x="6981447" y="3960661"/>
              <a:ext cx="612775" cy="960437"/>
            </a:xfrm>
            <a:prstGeom prst="triangle">
              <a:avLst>
                <a:gd name="adj" fmla="val 50000"/>
              </a:avLst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170" name="Oval 169"/>
          <p:cNvSpPr/>
          <p:nvPr/>
        </p:nvSpPr>
        <p:spPr>
          <a:xfrm>
            <a:off x="8091936" y="4235460"/>
            <a:ext cx="101714" cy="101714"/>
          </a:xfrm>
          <a:prstGeom prst="ellipse">
            <a:avLst/>
          </a:prstGeom>
          <a:solidFill>
            <a:srgbClr val="FF0000"/>
          </a:solidFill>
          <a:ln w="6350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2106989" y="4055728"/>
            <a:ext cx="3301340" cy="1834438"/>
            <a:chOff x="866899" y="4245728"/>
            <a:chExt cx="3301340" cy="1834438"/>
          </a:xfrm>
        </p:grpSpPr>
        <p:sp>
          <p:nvSpPr>
            <p:cNvPr id="171" name="Rounded Rectangle 170"/>
            <p:cNvSpPr/>
            <p:nvPr/>
          </p:nvSpPr>
          <p:spPr>
            <a:xfrm>
              <a:off x="866899" y="4245728"/>
              <a:ext cx="3301340" cy="1834438"/>
            </a:xfrm>
            <a:prstGeom prst="roundRect">
              <a:avLst>
                <a:gd name="adj" fmla="val 16985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2" name="Rectangle 195"/>
            <p:cNvSpPr>
              <a:spLocks noChangeArrowheads="1"/>
            </p:cNvSpPr>
            <p:nvPr/>
          </p:nvSpPr>
          <p:spPr bwMode="auto">
            <a:xfrm>
              <a:off x="1043941" y="4378117"/>
              <a:ext cx="2947256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</a:rPr>
                <a:t>If you imagine the shape to be traced on a sheet of tracing paper, then the</a:t>
              </a:r>
            </a:p>
            <a:p>
              <a:pPr algn="ctr"/>
              <a:r>
                <a:rPr lang="en-GB" sz="1600" b="1" dirty="0">
                  <a:solidFill>
                    <a:srgbClr val="990033"/>
                  </a:solidFill>
                  <a:latin typeface="Arial" pitchFamily="34" charset="0"/>
                </a:rPr>
                <a:t>Centre of Rotation</a:t>
              </a:r>
            </a:p>
            <a:p>
              <a:pPr algn="ctr"/>
              <a:r>
                <a:rPr lang="en-GB" sz="1600" b="1" dirty="0">
                  <a:latin typeface="Arial" pitchFamily="34" charset="0"/>
                </a:rPr>
                <a:t>is the point which remains in the same position.</a:t>
              </a:r>
              <a:endParaRPr lang="en-GB" sz="1600" b="1" i="1" dirty="0">
                <a:solidFill>
                  <a:srgbClr val="A50021"/>
                </a:solidFill>
                <a:latin typeface="Arial" pitchFamily="34" charset="0"/>
              </a:endParaRPr>
            </a:p>
          </p:txBody>
        </p:sp>
      </p:grpSp>
      <p:grpSp>
        <p:nvGrpSpPr>
          <p:cNvPr id="163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64" name="Rounded Rectangle 163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(2)  Rotations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45" dur="2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/>
      <p:bldP spid="9" grpId="0"/>
      <p:bldP spid="47" grpId="0" animBg="1"/>
      <p:bldP spid="49" grpId="0"/>
      <p:bldP spid="50" grpId="0"/>
      <p:bldP spid="51" grpId="0"/>
      <p:bldP spid="65" grpId="0"/>
      <p:bldP spid="66" grpId="0"/>
      <p:bldP spid="17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6154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53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54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5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6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7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8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60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61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63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64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8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7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72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73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1829526" y="1270655"/>
            <a:ext cx="85329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rotation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ANGLE</a:t>
            </a:r>
            <a:r>
              <a:rPr lang="en-GB" sz="1600" b="1" dirty="0">
                <a:latin typeface="Arial" pitchFamily="34" charset="0"/>
              </a:rPr>
              <a:t>,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DIRECTION</a:t>
            </a:r>
            <a:r>
              <a:rPr lang="en-GB" sz="1600" b="1" dirty="0">
                <a:latin typeface="Arial" pitchFamily="34" charset="0"/>
              </a:rPr>
              <a:t> and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CENTER OF ROTATION</a:t>
            </a:r>
            <a:r>
              <a:rPr lang="en-GB" sz="1600" b="1" dirty="0">
                <a:latin typeface="Arial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Rotation turns a shape through a given angle, about a given point.</a:t>
            </a:r>
          </a:p>
        </p:txBody>
      </p:sp>
      <p:sp>
        <p:nvSpPr>
          <p:cNvPr id="47" name="AutoShape 189"/>
          <p:cNvSpPr>
            <a:spLocks noChangeArrowheads="1"/>
          </p:cNvSpPr>
          <p:nvPr/>
        </p:nvSpPr>
        <p:spPr bwMode="auto">
          <a:xfrm>
            <a:off x="7524819" y="2680960"/>
            <a:ext cx="612775" cy="960438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rgbClr val="A50021">
                  <a:shade val="30000"/>
                  <a:satMod val="115000"/>
                </a:srgbClr>
              </a:gs>
              <a:gs pos="50000">
                <a:srgbClr val="A50021">
                  <a:shade val="67500"/>
                  <a:satMod val="115000"/>
                </a:srgbClr>
              </a:gs>
              <a:gs pos="100000">
                <a:srgbClr val="A5002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>
              <a:latin typeface="Arial" pitchFamily="34" charset="0"/>
            </a:endParaRP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2173451"/>
            <a:ext cx="322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The triangle was rotated: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2469266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90˚ Anticlockwise</a:t>
            </a:r>
          </a:p>
        </p:txBody>
      </p:sp>
      <p:sp>
        <p:nvSpPr>
          <p:cNvPr id="51" name="Rectangle 194"/>
          <p:cNvSpPr>
            <a:spLocks noChangeArrowheads="1"/>
          </p:cNvSpPr>
          <p:nvPr/>
        </p:nvSpPr>
        <p:spPr bwMode="auto">
          <a:xfrm>
            <a:off x="2211692" y="3197424"/>
            <a:ext cx="32289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(3, 6)</a:t>
            </a:r>
          </a:p>
        </p:txBody>
      </p:sp>
      <p:sp>
        <p:nvSpPr>
          <p:cNvPr id="65" name="Rectangle 194"/>
          <p:cNvSpPr>
            <a:spLocks noChangeArrowheads="1"/>
          </p:cNvSpPr>
          <p:nvPr/>
        </p:nvSpPr>
        <p:spPr bwMode="auto">
          <a:xfrm>
            <a:off x="2211692" y="2898373"/>
            <a:ext cx="33190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latin typeface="Arial" pitchFamily="34" charset="0"/>
              </a:rPr>
              <a:t>With centre of rotation</a:t>
            </a:r>
            <a:endParaRPr lang="en-GB" sz="2400" b="1" dirty="0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1821194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74" name="Group 168"/>
          <p:cNvGrpSpPr/>
          <p:nvPr/>
        </p:nvGrpSpPr>
        <p:grpSpPr>
          <a:xfrm>
            <a:off x="6911611" y="2680960"/>
            <a:ext cx="1225982" cy="1921076"/>
            <a:chOff x="6981447" y="3000022"/>
            <a:chExt cx="1225982" cy="1921076"/>
          </a:xfrm>
          <a:solidFill>
            <a:srgbClr val="FF0000"/>
          </a:solidFill>
        </p:grpSpPr>
        <p:sp>
          <p:nvSpPr>
            <p:cNvPr id="48" name="AutoShape 191"/>
            <p:cNvSpPr>
              <a:spLocks noChangeArrowheads="1"/>
            </p:cNvSpPr>
            <p:nvPr/>
          </p:nvSpPr>
          <p:spPr bwMode="auto">
            <a:xfrm>
              <a:off x="7594654" y="3000022"/>
              <a:ext cx="612775" cy="9604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168" name="AutoShape 191"/>
            <p:cNvSpPr>
              <a:spLocks noChangeArrowheads="1"/>
            </p:cNvSpPr>
            <p:nvPr/>
          </p:nvSpPr>
          <p:spPr bwMode="auto">
            <a:xfrm flipV="1">
              <a:off x="6981447" y="3960661"/>
              <a:ext cx="612775" cy="960437"/>
            </a:xfrm>
            <a:prstGeom prst="triangle">
              <a:avLst>
                <a:gd name="adj" fmla="val 50000"/>
              </a:avLst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GB" dirty="0">
                <a:latin typeface="Arial" pitchFamily="34" charset="0"/>
              </a:endParaRPr>
            </a:p>
          </p:txBody>
        </p:sp>
      </p:grpSp>
      <p:sp>
        <p:nvSpPr>
          <p:cNvPr id="170" name="Oval 169"/>
          <p:cNvSpPr/>
          <p:nvPr/>
        </p:nvSpPr>
        <p:spPr>
          <a:xfrm>
            <a:off x="7462561" y="3582335"/>
            <a:ext cx="101714" cy="101714"/>
          </a:xfrm>
          <a:prstGeom prst="ellipse">
            <a:avLst/>
          </a:prstGeom>
          <a:solidFill>
            <a:srgbClr val="FF0000"/>
          </a:solidFill>
          <a:ln w="6350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78" name="Group 171"/>
          <p:cNvGrpSpPr/>
          <p:nvPr/>
        </p:nvGrpSpPr>
        <p:grpSpPr>
          <a:xfrm>
            <a:off x="2106989" y="4055728"/>
            <a:ext cx="3301340" cy="1834438"/>
            <a:chOff x="866899" y="4245728"/>
            <a:chExt cx="3301340" cy="1834438"/>
          </a:xfrm>
        </p:grpSpPr>
        <p:sp>
          <p:nvSpPr>
            <p:cNvPr id="171" name="Rounded Rectangle 170"/>
            <p:cNvSpPr/>
            <p:nvPr/>
          </p:nvSpPr>
          <p:spPr>
            <a:xfrm>
              <a:off x="866899" y="4245728"/>
              <a:ext cx="3301340" cy="1834438"/>
            </a:xfrm>
            <a:prstGeom prst="roundRect">
              <a:avLst>
                <a:gd name="adj" fmla="val 16985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52" name="Rectangle 195"/>
            <p:cNvSpPr>
              <a:spLocks noChangeArrowheads="1"/>
            </p:cNvSpPr>
            <p:nvPr/>
          </p:nvSpPr>
          <p:spPr bwMode="auto">
            <a:xfrm>
              <a:off x="1043941" y="4378117"/>
              <a:ext cx="2947256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GB" sz="1600" b="1" dirty="0">
                  <a:latin typeface="Arial" pitchFamily="34" charset="0"/>
                </a:rPr>
                <a:t>If you imagine the shape to be traced on a sheet of tracing paper, then the</a:t>
              </a:r>
            </a:p>
            <a:p>
              <a:pPr algn="ctr"/>
              <a:r>
                <a:rPr lang="en-GB" sz="1600" b="1" dirty="0">
                  <a:solidFill>
                    <a:srgbClr val="990033"/>
                  </a:solidFill>
                  <a:latin typeface="Arial" pitchFamily="34" charset="0"/>
                </a:rPr>
                <a:t>Centre of Rotation</a:t>
              </a:r>
            </a:p>
            <a:p>
              <a:pPr algn="ctr"/>
              <a:r>
                <a:rPr lang="en-GB" sz="1600" b="1" dirty="0">
                  <a:latin typeface="Arial" pitchFamily="34" charset="0"/>
                </a:rPr>
                <a:t>is the point which remains in the same position.</a:t>
              </a:r>
              <a:endParaRPr lang="en-GB" sz="1600" b="1" i="1" dirty="0">
                <a:solidFill>
                  <a:srgbClr val="A50021"/>
                </a:solidFill>
                <a:latin typeface="Arial" pitchFamily="34" charset="0"/>
              </a:endParaRPr>
            </a:p>
          </p:txBody>
        </p:sp>
      </p:grpSp>
      <p:sp>
        <p:nvSpPr>
          <p:cNvPr id="147" name="Rounded Rectangle 146"/>
          <p:cNvSpPr/>
          <p:nvPr/>
        </p:nvSpPr>
        <p:spPr>
          <a:xfrm>
            <a:off x="1924050" y="208911"/>
            <a:ext cx="8343900" cy="5040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00000">
                <a:srgbClr val="A50021">
                  <a:tint val="66000"/>
                  <a:satMod val="160000"/>
                </a:srgbClr>
              </a:gs>
              <a:gs pos="50000">
                <a:srgbClr val="A50021">
                  <a:tint val="44500"/>
                  <a:satMod val="160000"/>
                </a:srgbClr>
              </a:gs>
              <a:gs pos="100000">
                <a:srgbClr val="A50021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2140776" y="230108"/>
            <a:ext cx="791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latin typeface="Arial" pitchFamily="34" charset="0"/>
              </a:rPr>
              <a:t>(2)  Rotations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2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9" grpId="0"/>
      <p:bldP spid="50" grpId="0"/>
      <p:bldP spid="51" grpId="0"/>
      <p:bldP spid="65" grpId="0"/>
      <p:bldP spid="66" grpId="0"/>
      <p:bldP spid="1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6154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53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54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5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6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7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8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60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61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63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64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8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7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72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73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1829526" y="1270656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vertical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x  =  4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1:</a:t>
            </a:r>
          </a:p>
        </p:txBody>
      </p:sp>
      <p:grpSp>
        <p:nvGrpSpPr>
          <p:cNvPr id="155" name="Group 154"/>
          <p:cNvGrpSpPr/>
          <p:nvPr/>
        </p:nvGrpSpPr>
        <p:grpSpPr>
          <a:xfrm>
            <a:off x="1963391" y="2013171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sp>
        <p:nvSpPr>
          <p:cNvPr id="163" name="Half Frame 162"/>
          <p:cNvSpPr/>
          <p:nvPr/>
        </p:nvSpPr>
        <p:spPr>
          <a:xfrm>
            <a:off x="6871764" y="3342095"/>
            <a:ext cx="624672" cy="1251304"/>
          </a:xfrm>
          <a:prstGeom prst="halfFrame">
            <a:avLst>
              <a:gd name="adj1" fmla="val 46868"/>
              <a:gd name="adj2" fmla="val 47369"/>
            </a:avLst>
          </a:prstGeom>
          <a:solidFill>
            <a:srgbClr val="A50021"/>
          </a:solidFill>
          <a:ln w="28575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rial" pitchFamily="34" charset="0"/>
            </a:endParaRPr>
          </a:p>
        </p:txBody>
      </p:sp>
      <p:cxnSp>
        <p:nvCxnSpPr>
          <p:cNvPr id="165" name="Straight Connector 164"/>
          <p:cNvCxnSpPr/>
          <p:nvPr/>
        </p:nvCxnSpPr>
        <p:spPr>
          <a:xfrm>
            <a:off x="7818835" y="2390775"/>
            <a:ext cx="1" cy="320929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7267575" y="1996727"/>
            <a:ext cx="11335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x  =  4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2211692" y="4511272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6870700" y="3320162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sp>
        <p:nvSpPr>
          <p:cNvPr id="174" name="Half Frame 173"/>
          <p:cNvSpPr/>
          <p:nvPr/>
        </p:nvSpPr>
        <p:spPr>
          <a:xfrm flipH="1">
            <a:off x="8148114" y="3342095"/>
            <a:ext cx="624672" cy="1251304"/>
          </a:xfrm>
          <a:prstGeom prst="halfFrame">
            <a:avLst>
              <a:gd name="adj1" fmla="val 46868"/>
              <a:gd name="adj2" fmla="val 47369"/>
            </a:avLst>
          </a:prstGeom>
          <a:solidFill>
            <a:srgbClr val="A50021"/>
          </a:solidFill>
          <a:ln w="28575">
            <a:solidFill>
              <a:srgbClr val="9900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8379086" y="3320162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grpSp>
        <p:nvGrpSpPr>
          <p:cNvPr id="159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64" name="Rounded Rectangle 163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5" grpId="0"/>
      <p:bldP spid="9" grpId="0"/>
      <p:bldP spid="49" grpId="0"/>
      <p:bldP spid="50" grpId="0"/>
      <p:bldP spid="66" grpId="0"/>
      <p:bldP spid="163" grpId="0" animBg="1"/>
      <p:bldP spid="166" grpId="0"/>
      <p:bldP spid="172" grpId="0"/>
      <p:bldP spid="173" grpId="0"/>
      <p:bldP spid="174" grpId="0" animBg="1"/>
      <p:bldP spid="1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3" y="872716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6154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47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48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1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2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4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55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56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57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58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0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6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63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64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1829526" y="1270656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horizontal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y  =  6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2:</a:t>
            </a:r>
          </a:p>
        </p:txBody>
      </p:sp>
      <p:grpSp>
        <p:nvGrpSpPr>
          <p:cNvPr id="65" name="Group 154"/>
          <p:cNvGrpSpPr/>
          <p:nvPr/>
        </p:nvGrpSpPr>
        <p:grpSpPr>
          <a:xfrm>
            <a:off x="1963391" y="2013171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cxnSp>
        <p:nvCxnSpPr>
          <p:cNvPr id="165" name="Straight Connector 164"/>
          <p:cNvCxnSpPr/>
          <p:nvPr/>
        </p:nvCxnSpPr>
        <p:spPr>
          <a:xfrm rot="5400000">
            <a:off x="8119086" y="2049823"/>
            <a:ext cx="1" cy="320929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9606956" y="3445965"/>
            <a:ext cx="9316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y  =  6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2211692" y="446537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64" name="Pentagon 163"/>
          <p:cNvSpPr/>
          <p:nvPr/>
        </p:nvSpPr>
        <p:spPr>
          <a:xfrm rot="16200000">
            <a:off x="7676765" y="3820519"/>
            <a:ext cx="935261" cy="1244697"/>
          </a:xfrm>
          <a:prstGeom prst="homePlate">
            <a:avLst>
              <a:gd name="adj" fmla="val 6852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67" name="Pentagon 166"/>
          <p:cNvSpPr/>
          <p:nvPr/>
        </p:nvSpPr>
        <p:spPr>
          <a:xfrm rot="5400000">
            <a:off x="7676765" y="2221756"/>
            <a:ext cx="935261" cy="1244697"/>
          </a:xfrm>
          <a:prstGeom prst="homePlate">
            <a:avLst>
              <a:gd name="adj" fmla="val 6852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7947544" y="2586925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7947544" y="4286320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grpSp>
        <p:nvGrpSpPr>
          <p:cNvPr id="155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66" grpId="0"/>
      <p:bldP spid="166" grpId="0"/>
      <p:bldP spid="172" grpId="0"/>
      <p:bldP spid="164" grpId="0" animBg="1"/>
      <p:bldP spid="167" grpId="0" animBg="1"/>
      <p:bldP spid="173" grpId="0"/>
      <p:bldP spid="1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2" y="872071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2" name="Group 166"/>
          <p:cNvGrpSpPr/>
          <p:nvPr/>
        </p:nvGrpSpPr>
        <p:grpSpPr>
          <a:xfrm>
            <a:off x="6154043" y="1983029"/>
            <a:ext cx="3934768" cy="3929602"/>
            <a:chOff x="4630043" y="1983029"/>
            <a:chExt cx="3934768" cy="3929602"/>
          </a:xfrm>
        </p:grpSpPr>
        <p:grpSp>
          <p:nvGrpSpPr>
            <p:cNvPr id="3" name="Group 188"/>
            <p:cNvGrpSpPr>
              <a:grpSpLocks/>
            </p:cNvGrpSpPr>
            <p:nvPr/>
          </p:nvGrpSpPr>
          <p:grpSpPr bwMode="auto">
            <a:xfrm>
              <a:off x="4677023" y="2024844"/>
              <a:ext cx="3887788" cy="3887787"/>
              <a:chOff x="3198" y="1729"/>
              <a:chExt cx="2449" cy="2449"/>
            </a:xfrm>
          </p:grpSpPr>
          <p:sp>
            <p:nvSpPr>
              <p:cNvPr id="22" name="Rectangle 184"/>
              <p:cNvSpPr>
                <a:spLocks noChangeArrowheads="1"/>
              </p:cNvSpPr>
              <p:nvPr/>
            </p:nvSpPr>
            <p:spPr bwMode="auto">
              <a:xfrm>
                <a:off x="3198" y="1729"/>
                <a:ext cx="2449" cy="244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GB" dirty="0">
                  <a:latin typeface="Arial" pitchFamily="34" charset="0"/>
                </a:endParaRPr>
              </a:p>
            </p:txBody>
          </p:sp>
          <p:grpSp>
            <p:nvGrpSpPr>
              <p:cNvPr id="4" name="Group 186"/>
              <p:cNvGrpSpPr>
                <a:grpSpLocks/>
              </p:cNvGrpSpPr>
              <p:nvPr/>
            </p:nvGrpSpPr>
            <p:grpSpPr bwMode="auto">
              <a:xfrm>
                <a:off x="3243" y="1942"/>
                <a:ext cx="2359" cy="2021"/>
                <a:chOff x="3243" y="1942"/>
                <a:chExt cx="2359" cy="2021"/>
              </a:xfrm>
            </p:grpSpPr>
            <p:sp>
              <p:nvSpPr>
                <p:cNvPr id="36" name="Line 155"/>
                <p:cNvSpPr>
                  <a:spLocks noChangeShapeType="1"/>
                </p:cNvSpPr>
                <p:nvPr/>
              </p:nvSpPr>
              <p:spPr bwMode="auto">
                <a:xfrm>
                  <a:off x="3243" y="254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7" name="Line 156"/>
                <p:cNvSpPr>
                  <a:spLocks noChangeShapeType="1"/>
                </p:cNvSpPr>
                <p:nvPr/>
              </p:nvSpPr>
              <p:spPr bwMode="auto">
                <a:xfrm>
                  <a:off x="3243" y="275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8" name="Line 157"/>
                <p:cNvSpPr>
                  <a:spLocks noChangeShapeType="1"/>
                </p:cNvSpPr>
                <p:nvPr/>
              </p:nvSpPr>
              <p:spPr bwMode="auto">
                <a:xfrm>
                  <a:off x="3243" y="295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9" name="Line 158"/>
                <p:cNvSpPr>
                  <a:spLocks noChangeShapeType="1"/>
                </p:cNvSpPr>
                <p:nvPr/>
              </p:nvSpPr>
              <p:spPr bwMode="auto">
                <a:xfrm>
                  <a:off x="3243" y="31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0" name="Line 160"/>
                <p:cNvSpPr>
                  <a:spLocks noChangeShapeType="1"/>
                </p:cNvSpPr>
                <p:nvPr/>
              </p:nvSpPr>
              <p:spPr bwMode="auto">
                <a:xfrm>
                  <a:off x="3243" y="335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1" name="Line 161"/>
                <p:cNvSpPr>
                  <a:spLocks noChangeShapeType="1"/>
                </p:cNvSpPr>
                <p:nvPr/>
              </p:nvSpPr>
              <p:spPr bwMode="auto">
                <a:xfrm>
                  <a:off x="3243" y="3558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2" name="Line 162"/>
                <p:cNvSpPr>
                  <a:spLocks noChangeShapeType="1"/>
                </p:cNvSpPr>
                <p:nvPr/>
              </p:nvSpPr>
              <p:spPr bwMode="auto">
                <a:xfrm>
                  <a:off x="3243" y="3760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3" name="Line 164"/>
                <p:cNvSpPr>
                  <a:spLocks noChangeShapeType="1"/>
                </p:cNvSpPr>
                <p:nvPr/>
              </p:nvSpPr>
              <p:spPr bwMode="auto">
                <a:xfrm>
                  <a:off x="3243" y="3963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4" name="Line 165"/>
                <p:cNvSpPr>
                  <a:spLocks noChangeShapeType="1"/>
                </p:cNvSpPr>
                <p:nvPr/>
              </p:nvSpPr>
              <p:spPr bwMode="auto">
                <a:xfrm>
                  <a:off x="3243" y="1942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5" name="Line 166"/>
                <p:cNvSpPr>
                  <a:spLocks noChangeShapeType="1"/>
                </p:cNvSpPr>
                <p:nvPr/>
              </p:nvSpPr>
              <p:spPr bwMode="auto">
                <a:xfrm>
                  <a:off x="3243" y="214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46" name="Line 167"/>
                <p:cNvSpPr>
                  <a:spLocks noChangeShapeType="1"/>
                </p:cNvSpPr>
                <p:nvPr/>
              </p:nvSpPr>
              <p:spPr bwMode="auto">
                <a:xfrm>
                  <a:off x="3243" y="2346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  <p:grpSp>
            <p:nvGrpSpPr>
              <p:cNvPr id="6" name="Group 187"/>
              <p:cNvGrpSpPr>
                <a:grpSpLocks/>
              </p:cNvGrpSpPr>
              <p:nvPr/>
            </p:nvGrpSpPr>
            <p:grpSpPr bwMode="auto">
              <a:xfrm>
                <a:off x="3413" y="1774"/>
                <a:ext cx="2021" cy="2359"/>
                <a:chOff x="3413" y="1774"/>
                <a:chExt cx="2021" cy="2359"/>
              </a:xfrm>
            </p:grpSpPr>
            <p:sp>
              <p:nvSpPr>
                <p:cNvPr id="25" name="Line 171"/>
                <p:cNvSpPr>
                  <a:spLocks noChangeShapeType="1"/>
                </p:cNvSpPr>
                <p:nvPr/>
              </p:nvSpPr>
              <p:spPr bwMode="auto">
                <a:xfrm rot="16200000">
                  <a:off x="263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6" name="Line 172"/>
                <p:cNvSpPr>
                  <a:spLocks noChangeShapeType="1"/>
                </p:cNvSpPr>
                <p:nvPr/>
              </p:nvSpPr>
              <p:spPr bwMode="auto">
                <a:xfrm rot="16200000">
                  <a:off x="283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7" name="Line 173"/>
                <p:cNvSpPr>
                  <a:spLocks noChangeShapeType="1"/>
                </p:cNvSpPr>
                <p:nvPr/>
              </p:nvSpPr>
              <p:spPr bwMode="auto">
                <a:xfrm rot="16200000">
                  <a:off x="304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8" name="Line 174"/>
                <p:cNvSpPr>
                  <a:spLocks noChangeShapeType="1"/>
                </p:cNvSpPr>
                <p:nvPr/>
              </p:nvSpPr>
              <p:spPr bwMode="auto">
                <a:xfrm rot="16200000">
                  <a:off x="324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29" name="Line 175"/>
                <p:cNvSpPr>
                  <a:spLocks noChangeShapeType="1"/>
                </p:cNvSpPr>
                <p:nvPr/>
              </p:nvSpPr>
              <p:spPr bwMode="auto">
                <a:xfrm rot="16200000">
                  <a:off x="344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0" name="Line 176"/>
                <p:cNvSpPr>
                  <a:spLocks noChangeShapeType="1"/>
                </p:cNvSpPr>
                <p:nvPr/>
              </p:nvSpPr>
              <p:spPr bwMode="auto">
                <a:xfrm rot="16200000">
                  <a:off x="3647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1" name="Line 177"/>
                <p:cNvSpPr>
                  <a:spLocks noChangeShapeType="1"/>
                </p:cNvSpPr>
                <p:nvPr/>
              </p:nvSpPr>
              <p:spPr bwMode="auto">
                <a:xfrm rot="16200000">
                  <a:off x="3849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2" name="Line 178"/>
                <p:cNvSpPr>
                  <a:spLocks noChangeShapeType="1"/>
                </p:cNvSpPr>
                <p:nvPr/>
              </p:nvSpPr>
              <p:spPr bwMode="auto">
                <a:xfrm rot="16200000">
                  <a:off x="4051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3" name="Line 179"/>
                <p:cNvSpPr>
                  <a:spLocks noChangeShapeType="1"/>
                </p:cNvSpPr>
                <p:nvPr/>
              </p:nvSpPr>
              <p:spPr bwMode="auto">
                <a:xfrm rot="16200000">
                  <a:off x="4254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4" name="Line 180"/>
                <p:cNvSpPr>
                  <a:spLocks noChangeShapeType="1"/>
                </p:cNvSpPr>
                <p:nvPr/>
              </p:nvSpPr>
              <p:spPr bwMode="auto">
                <a:xfrm rot="16200000">
                  <a:off x="2233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  <p:sp>
              <p:nvSpPr>
                <p:cNvPr id="35" name="Line 182"/>
                <p:cNvSpPr>
                  <a:spLocks noChangeShapeType="1"/>
                </p:cNvSpPr>
                <p:nvPr/>
              </p:nvSpPr>
              <p:spPr bwMode="auto">
                <a:xfrm rot="16200000">
                  <a:off x="2435" y="2954"/>
                  <a:ext cx="235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GB" dirty="0">
                    <a:latin typeface="Arial" pitchFamily="34" charset="0"/>
                  </a:endParaRPr>
                </a:p>
              </p:txBody>
            </p:sp>
          </p:grpSp>
        </p:grp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V="1">
              <a:off x="5020634" y="2156346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sp>
          <p:nvSpPr>
            <p:cNvPr id="62" name="Line 201"/>
            <p:cNvSpPr>
              <a:spLocks noChangeShapeType="1"/>
            </p:cNvSpPr>
            <p:nvPr/>
          </p:nvSpPr>
          <p:spPr bwMode="auto">
            <a:xfrm rot="5400000" flipV="1">
              <a:off x="6699771" y="3864591"/>
              <a:ext cx="0" cy="3411940"/>
            </a:xfrm>
            <a:prstGeom prst="line">
              <a:avLst/>
            </a:prstGeom>
            <a:noFill/>
            <a:ln w="57150">
              <a:solidFill>
                <a:srgbClr val="99003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GB" dirty="0">
                <a:latin typeface="Arial" pitchFamily="34" charset="0"/>
              </a:endParaRPr>
            </a:p>
          </p:txBody>
        </p:sp>
        <p:grpSp>
          <p:nvGrpSpPr>
            <p:cNvPr id="7" name="Group 70"/>
            <p:cNvGrpSpPr/>
            <p:nvPr/>
          </p:nvGrpSpPr>
          <p:grpSpPr>
            <a:xfrm>
              <a:off x="4668143" y="5438875"/>
              <a:ext cx="342945" cy="261610"/>
              <a:chOff x="4398160" y="5470166"/>
              <a:chExt cx="342945" cy="261610"/>
            </a:xfrm>
          </p:grpSpPr>
          <p:cxnSp>
            <p:nvCxnSpPr>
              <p:cNvPr id="69" name="Straight Connector 6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Rectangle 6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6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16" name="Group 73"/>
            <p:cNvGrpSpPr/>
            <p:nvPr/>
          </p:nvGrpSpPr>
          <p:grpSpPr>
            <a:xfrm>
              <a:off x="4668143" y="5118059"/>
              <a:ext cx="342945" cy="261610"/>
              <a:chOff x="4398160" y="5470166"/>
              <a:chExt cx="342945" cy="261610"/>
            </a:xfrm>
          </p:grpSpPr>
          <p:cxnSp>
            <p:nvCxnSpPr>
              <p:cNvPr id="75" name="Straight Connector 7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Rectangle 7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7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7" name="Group 77"/>
            <p:cNvGrpSpPr/>
            <p:nvPr/>
          </p:nvGrpSpPr>
          <p:grpSpPr>
            <a:xfrm>
              <a:off x="4668143" y="4797239"/>
              <a:ext cx="342945" cy="261610"/>
              <a:chOff x="4398160" y="5470166"/>
              <a:chExt cx="342945" cy="26161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Rectangle 7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8" name="Group 81"/>
            <p:cNvGrpSpPr/>
            <p:nvPr/>
          </p:nvGrpSpPr>
          <p:grpSpPr>
            <a:xfrm>
              <a:off x="4668143" y="4476419"/>
              <a:ext cx="342945" cy="261610"/>
              <a:chOff x="4398160" y="5470166"/>
              <a:chExt cx="342945" cy="261610"/>
            </a:xfrm>
          </p:grpSpPr>
          <p:cxnSp>
            <p:nvCxnSpPr>
              <p:cNvPr id="83" name="Straight Connector 8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tangle 8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9" name="Group 85"/>
            <p:cNvGrpSpPr/>
            <p:nvPr/>
          </p:nvGrpSpPr>
          <p:grpSpPr>
            <a:xfrm>
              <a:off x="4668143" y="4155599"/>
              <a:ext cx="342945" cy="261610"/>
              <a:chOff x="4398160" y="5470166"/>
              <a:chExt cx="342945" cy="261610"/>
            </a:xfrm>
          </p:grpSpPr>
          <p:cxnSp>
            <p:nvCxnSpPr>
              <p:cNvPr id="87" name="Straight Connector 8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Rectangle 8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8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21" name="Group 89"/>
            <p:cNvGrpSpPr/>
            <p:nvPr/>
          </p:nvGrpSpPr>
          <p:grpSpPr>
            <a:xfrm>
              <a:off x="4668143" y="3834779"/>
              <a:ext cx="342945" cy="261610"/>
              <a:chOff x="4398160" y="5470166"/>
              <a:chExt cx="342945" cy="261610"/>
            </a:xfrm>
          </p:grpSpPr>
          <p:cxnSp>
            <p:nvCxnSpPr>
              <p:cNvPr id="91" name="Straight Connector 9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Rectangle 9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23" name="Group 93"/>
            <p:cNvGrpSpPr/>
            <p:nvPr/>
          </p:nvGrpSpPr>
          <p:grpSpPr>
            <a:xfrm>
              <a:off x="4668143" y="3513959"/>
              <a:ext cx="342945" cy="261610"/>
              <a:chOff x="4398160" y="5470166"/>
              <a:chExt cx="342945" cy="261610"/>
            </a:xfrm>
          </p:grpSpPr>
          <p:cxnSp>
            <p:nvCxnSpPr>
              <p:cNvPr id="95" name="Straight Connector 94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Rectangle 95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97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24" name="Group 97"/>
            <p:cNvGrpSpPr/>
            <p:nvPr/>
          </p:nvGrpSpPr>
          <p:grpSpPr>
            <a:xfrm>
              <a:off x="4668143" y="3193139"/>
              <a:ext cx="342945" cy="261610"/>
              <a:chOff x="4398160" y="5470166"/>
              <a:chExt cx="342945" cy="261610"/>
            </a:xfrm>
          </p:grpSpPr>
          <p:cxnSp>
            <p:nvCxnSpPr>
              <p:cNvPr id="99" name="Straight Connector 98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Rectangle 99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1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47" name="Group 101"/>
            <p:cNvGrpSpPr/>
            <p:nvPr/>
          </p:nvGrpSpPr>
          <p:grpSpPr>
            <a:xfrm>
              <a:off x="4668143" y="2872319"/>
              <a:ext cx="342945" cy="261610"/>
              <a:chOff x="4398160" y="5470166"/>
              <a:chExt cx="342945" cy="261610"/>
            </a:xfrm>
          </p:grpSpPr>
          <p:cxnSp>
            <p:nvCxnSpPr>
              <p:cNvPr id="103" name="Straight Connector 102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Rectangle 103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5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48" name="Group 105"/>
            <p:cNvGrpSpPr/>
            <p:nvPr/>
          </p:nvGrpSpPr>
          <p:grpSpPr>
            <a:xfrm>
              <a:off x="4668143" y="2551499"/>
              <a:ext cx="342945" cy="261610"/>
              <a:chOff x="4398160" y="5470166"/>
              <a:chExt cx="342945" cy="261610"/>
            </a:xfrm>
          </p:grpSpPr>
          <p:cxnSp>
            <p:nvCxnSpPr>
              <p:cNvPr id="107" name="Straight Connector 106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Rectangle 107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09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51" name="Group 109"/>
            <p:cNvGrpSpPr/>
            <p:nvPr/>
          </p:nvGrpSpPr>
          <p:grpSpPr>
            <a:xfrm>
              <a:off x="4668143" y="2230679"/>
              <a:ext cx="342945" cy="261610"/>
              <a:chOff x="4398160" y="5470166"/>
              <a:chExt cx="342945" cy="261610"/>
            </a:xfrm>
          </p:grpSpPr>
          <p:cxnSp>
            <p:nvCxnSpPr>
              <p:cNvPr id="111" name="Straight Connector 110"/>
              <p:cNvCxnSpPr/>
              <p:nvPr/>
            </p:nvCxnSpPr>
            <p:spPr>
              <a:xfrm>
                <a:off x="4672828" y="5599715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Rectangle 111"/>
              <p:cNvSpPr/>
              <p:nvPr/>
            </p:nvSpPr>
            <p:spPr>
              <a:xfrm>
                <a:off x="4481604" y="5511056"/>
                <a:ext cx="191229" cy="177318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13" name="Rectangle 192"/>
              <p:cNvSpPr>
                <a:spLocks noChangeArrowheads="1"/>
              </p:cNvSpPr>
              <p:nvPr/>
            </p:nvSpPr>
            <p:spPr bwMode="auto">
              <a:xfrm>
                <a:off x="4398160" y="5470166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  <p:sp>
          <p:nvSpPr>
            <p:cNvPr id="117" name="Rectangle 192"/>
            <p:cNvSpPr>
              <a:spLocks noChangeArrowheads="1"/>
            </p:cNvSpPr>
            <p:nvPr/>
          </p:nvSpPr>
          <p:spPr bwMode="auto">
            <a:xfrm>
              <a:off x="4630043" y="19830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y</a:t>
              </a:r>
            </a:p>
          </p:txBody>
        </p:sp>
        <p:sp>
          <p:nvSpPr>
            <p:cNvPr id="118" name="Rectangle 192"/>
            <p:cNvSpPr>
              <a:spLocks noChangeArrowheads="1"/>
            </p:cNvSpPr>
            <p:nvPr/>
          </p:nvSpPr>
          <p:spPr bwMode="auto">
            <a:xfrm>
              <a:off x="8217793" y="5602529"/>
              <a:ext cx="342945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r"/>
              <a:r>
                <a:rPr lang="en-GB" sz="1100" b="1" i="1" dirty="0">
                  <a:latin typeface="Arial" pitchFamily="34" charset="0"/>
                </a:rPr>
                <a:t>x</a:t>
              </a:r>
            </a:p>
          </p:txBody>
        </p:sp>
        <p:grpSp>
          <p:nvGrpSpPr>
            <p:cNvPr id="52" name="Group 118"/>
            <p:cNvGrpSpPr/>
            <p:nvPr/>
          </p:nvGrpSpPr>
          <p:grpSpPr>
            <a:xfrm>
              <a:off x="484460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0" name="Straight Connector 11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ctangle 12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0</a:t>
                </a:r>
              </a:p>
            </p:txBody>
          </p:sp>
        </p:grpSp>
        <p:grpSp>
          <p:nvGrpSpPr>
            <p:cNvPr id="53" name="Group 122"/>
            <p:cNvGrpSpPr/>
            <p:nvPr/>
          </p:nvGrpSpPr>
          <p:grpSpPr>
            <a:xfrm>
              <a:off x="516568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4" name="Straight Connector 12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Rectangle 12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2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</a:t>
                </a:r>
              </a:p>
            </p:txBody>
          </p:sp>
        </p:grpSp>
        <p:grpSp>
          <p:nvGrpSpPr>
            <p:cNvPr id="54" name="Group 126"/>
            <p:cNvGrpSpPr/>
            <p:nvPr/>
          </p:nvGrpSpPr>
          <p:grpSpPr>
            <a:xfrm>
              <a:off x="548675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28" name="Straight Connector 12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Rectangle 12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2</a:t>
                </a:r>
              </a:p>
            </p:txBody>
          </p:sp>
        </p:grpSp>
        <p:grpSp>
          <p:nvGrpSpPr>
            <p:cNvPr id="55" name="Group 130"/>
            <p:cNvGrpSpPr/>
            <p:nvPr/>
          </p:nvGrpSpPr>
          <p:grpSpPr>
            <a:xfrm>
              <a:off x="580783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2" name="Straight Connector 13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angle 13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3</a:t>
                </a:r>
              </a:p>
            </p:txBody>
          </p:sp>
        </p:grpSp>
        <p:grpSp>
          <p:nvGrpSpPr>
            <p:cNvPr id="56" name="Group 134"/>
            <p:cNvGrpSpPr/>
            <p:nvPr/>
          </p:nvGrpSpPr>
          <p:grpSpPr>
            <a:xfrm>
              <a:off x="612890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Rectangle 13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3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4</a:t>
                </a:r>
              </a:p>
            </p:txBody>
          </p:sp>
        </p:grpSp>
        <p:grpSp>
          <p:nvGrpSpPr>
            <p:cNvPr id="57" name="Group 138"/>
            <p:cNvGrpSpPr/>
            <p:nvPr/>
          </p:nvGrpSpPr>
          <p:grpSpPr>
            <a:xfrm>
              <a:off x="6449985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0" name="Straight Connector 13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1" name="Rectangle 14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5</a:t>
                </a:r>
              </a:p>
            </p:txBody>
          </p:sp>
        </p:grpSp>
        <p:grpSp>
          <p:nvGrpSpPr>
            <p:cNvPr id="58" name="Group 142"/>
            <p:cNvGrpSpPr/>
            <p:nvPr/>
          </p:nvGrpSpPr>
          <p:grpSpPr>
            <a:xfrm>
              <a:off x="6771061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4" name="Straight Connector 143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Rectangle 144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46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6</a:t>
                </a:r>
              </a:p>
            </p:txBody>
          </p:sp>
        </p:grpSp>
        <p:grpSp>
          <p:nvGrpSpPr>
            <p:cNvPr id="60" name="Group 146"/>
            <p:cNvGrpSpPr/>
            <p:nvPr/>
          </p:nvGrpSpPr>
          <p:grpSpPr>
            <a:xfrm>
              <a:off x="7092137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48" name="Straight Connector 147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9" name="Rectangle 148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0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7</a:t>
                </a:r>
              </a:p>
            </p:txBody>
          </p:sp>
        </p:grpSp>
        <p:grpSp>
          <p:nvGrpSpPr>
            <p:cNvPr id="61" name="Group 150"/>
            <p:cNvGrpSpPr/>
            <p:nvPr/>
          </p:nvGrpSpPr>
          <p:grpSpPr>
            <a:xfrm>
              <a:off x="7413213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2" name="Straight Connector 151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Rectangle 152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4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8</a:t>
                </a:r>
              </a:p>
            </p:txBody>
          </p:sp>
        </p:grpSp>
        <p:grpSp>
          <p:nvGrpSpPr>
            <p:cNvPr id="63" name="Group 154"/>
            <p:cNvGrpSpPr/>
            <p:nvPr/>
          </p:nvGrpSpPr>
          <p:grpSpPr>
            <a:xfrm>
              <a:off x="7734289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56" name="Straight Connector 155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Rectangle 156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58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9</a:t>
                </a:r>
              </a:p>
            </p:txBody>
          </p:sp>
        </p:grpSp>
        <p:grpSp>
          <p:nvGrpSpPr>
            <p:cNvPr id="64" name="Group 158"/>
            <p:cNvGrpSpPr/>
            <p:nvPr/>
          </p:nvGrpSpPr>
          <p:grpSpPr>
            <a:xfrm>
              <a:off x="8055362" y="5588821"/>
              <a:ext cx="342945" cy="272854"/>
              <a:chOff x="4398160" y="5396803"/>
              <a:chExt cx="342945" cy="272854"/>
            </a:xfrm>
          </p:grpSpPr>
          <p:cxnSp>
            <p:nvCxnSpPr>
              <p:cNvPr id="160" name="Straight Connector 159"/>
              <p:cNvCxnSpPr/>
              <p:nvPr/>
            </p:nvCxnSpPr>
            <p:spPr>
              <a:xfrm rot="5400000">
                <a:off x="4538342" y="5428093"/>
                <a:ext cx="62580" cy="0"/>
              </a:xfrm>
              <a:prstGeom prst="line">
                <a:avLst/>
              </a:prstGeom>
              <a:ln w="28575">
                <a:solidFill>
                  <a:srgbClr val="99003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Rectangle 160"/>
              <p:cNvSpPr/>
              <p:nvPr/>
            </p:nvSpPr>
            <p:spPr>
              <a:xfrm>
                <a:off x="4474018" y="5477854"/>
                <a:ext cx="191229" cy="130206"/>
              </a:xfrm>
              <a:prstGeom prst="rect">
                <a:avLst/>
              </a:prstGeom>
              <a:solidFill>
                <a:schemeClr val="bg1">
                  <a:alpha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Arial" pitchFamily="34" charset="0"/>
                </a:endParaRPr>
              </a:p>
            </p:txBody>
          </p:sp>
          <p:sp>
            <p:nvSpPr>
              <p:cNvPr id="162" name="Rectangle 192"/>
              <p:cNvSpPr>
                <a:spLocks noChangeArrowheads="1"/>
              </p:cNvSpPr>
              <p:nvPr/>
            </p:nvSpPr>
            <p:spPr bwMode="auto">
              <a:xfrm>
                <a:off x="4398160" y="5408047"/>
                <a:ext cx="342945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1100" b="1" dirty="0">
                    <a:latin typeface="Arial" pitchFamily="34" charset="0"/>
                  </a:rPr>
                  <a:t>10</a:t>
                </a:r>
              </a:p>
            </p:txBody>
          </p:sp>
        </p:grpSp>
      </p:grpSp>
      <p:sp>
        <p:nvSpPr>
          <p:cNvPr id="15" name="TextBox 14"/>
          <p:cNvSpPr txBox="1"/>
          <p:nvPr/>
        </p:nvSpPr>
        <p:spPr>
          <a:xfrm>
            <a:off x="1829526" y="1270656"/>
            <a:ext cx="8532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latin typeface="Arial" pitchFamily="34" charset="0"/>
              </a:rPr>
              <a:t>We describe a reflection by giving the </a:t>
            </a:r>
            <a:r>
              <a:rPr lang="en-GB" sz="1600" b="1" dirty="0">
                <a:solidFill>
                  <a:srgbClr val="990033"/>
                </a:solidFill>
                <a:latin typeface="Arial" pitchFamily="34" charset="0"/>
              </a:rPr>
              <a:t>MIRROR LINE.</a:t>
            </a:r>
            <a:endParaRPr lang="en-GB" sz="1600" b="1" dirty="0">
              <a:latin typeface="Arial" pitchFamily="34" charset="0"/>
            </a:endParaRPr>
          </a:p>
          <a:p>
            <a:pPr algn="ctr"/>
            <a:r>
              <a:rPr lang="en-GB" sz="1600" b="1" dirty="0">
                <a:latin typeface="Arial" pitchFamily="34" charset="0"/>
              </a:rPr>
              <a:t>(This could mean giving the equation of the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6609" y="871992"/>
            <a:ext cx="833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Arial" pitchFamily="34" charset="0"/>
              </a:rPr>
              <a:t>A Reflection reflects a shape in a mirror line.</a:t>
            </a:r>
          </a:p>
        </p:txBody>
      </p:sp>
      <p:sp>
        <p:nvSpPr>
          <p:cNvPr id="49" name="Rectangle 192"/>
          <p:cNvSpPr>
            <a:spLocks noChangeArrowheads="1"/>
          </p:cNvSpPr>
          <p:nvPr/>
        </p:nvSpPr>
        <p:spPr bwMode="auto">
          <a:xfrm>
            <a:off x="2211692" y="3491611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The shape A was reflected:</a:t>
            </a:r>
          </a:p>
        </p:txBody>
      </p:sp>
      <p:sp>
        <p:nvSpPr>
          <p:cNvPr id="50" name="Rectangle 193"/>
          <p:cNvSpPr>
            <a:spLocks noChangeArrowheads="1"/>
          </p:cNvSpPr>
          <p:nvPr/>
        </p:nvSpPr>
        <p:spPr bwMode="auto">
          <a:xfrm>
            <a:off x="2211692" y="3787427"/>
            <a:ext cx="32289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A50021"/>
                </a:solidFill>
                <a:latin typeface="Arial" pitchFamily="34" charset="0"/>
              </a:rPr>
              <a:t>In the diagonal mirror line  </a:t>
            </a:r>
            <a:r>
              <a:rPr lang="en-GB" sz="2000" b="1" i="1" dirty="0">
                <a:solidFill>
                  <a:srgbClr val="A50021"/>
                </a:solidFill>
                <a:latin typeface="Arial" pitchFamily="34" charset="0"/>
              </a:rPr>
              <a:t>y  =  x  </a:t>
            </a:r>
          </a:p>
        </p:txBody>
      </p:sp>
      <p:sp>
        <p:nvSpPr>
          <p:cNvPr id="66" name="Rectangle 192"/>
          <p:cNvSpPr>
            <a:spLocks noChangeArrowheads="1"/>
          </p:cNvSpPr>
          <p:nvPr/>
        </p:nvSpPr>
        <p:spPr bwMode="auto">
          <a:xfrm>
            <a:off x="2211691" y="3139355"/>
            <a:ext cx="144016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1600" i="1" dirty="0">
                <a:latin typeface="Arial" pitchFamily="34" charset="0"/>
              </a:rPr>
              <a:t>Example 3:</a:t>
            </a:r>
          </a:p>
        </p:txBody>
      </p:sp>
      <p:grpSp>
        <p:nvGrpSpPr>
          <p:cNvPr id="65" name="Group 154"/>
          <p:cNvGrpSpPr/>
          <p:nvPr/>
        </p:nvGrpSpPr>
        <p:grpSpPr>
          <a:xfrm>
            <a:off x="1963391" y="2013171"/>
            <a:ext cx="3942607" cy="955659"/>
            <a:chOff x="546265" y="1930045"/>
            <a:chExt cx="3942607" cy="955659"/>
          </a:xfrm>
        </p:grpSpPr>
        <p:sp>
          <p:nvSpPr>
            <p:cNvPr id="151" name="Rounded Rectangle 150"/>
            <p:cNvSpPr/>
            <p:nvPr/>
          </p:nvSpPr>
          <p:spPr>
            <a:xfrm>
              <a:off x="546265" y="1930045"/>
              <a:ext cx="3942607" cy="955659"/>
            </a:xfrm>
            <a:prstGeom prst="roundRect">
              <a:avLst>
                <a:gd name="adj" fmla="val 22636"/>
              </a:avLst>
            </a:prstGeom>
            <a:gradFill flip="none" rotWithShape="1">
              <a:gsLst>
                <a:gs pos="0">
                  <a:schemeClr val="bg1"/>
                </a:gs>
                <a:gs pos="50000">
                  <a:schemeClr val="bg1"/>
                </a:gs>
                <a:gs pos="100000">
                  <a:srgbClr val="FFCCCC"/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620848" y="2038542"/>
              <a:ext cx="379344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Arial" pitchFamily="34" charset="0"/>
                </a:rPr>
                <a:t>Each point in the mirror image is the same distance from the mirror as the corresponding point in the original shape.</a:t>
              </a:r>
            </a:p>
          </p:txBody>
        </p:sp>
      </p:grpSp>
      <p:cxnSp>
        <p:nvCxnSpPr>
          <p:cNvPr id="165" name="Straight Connector 164"/>
          <p:cNvCxnSpPr/>
          <p:nvPr/>
        </p:nvCxnSpPr>
        <p:spPr>
          <a:xfrm flipH="1">
            <a:off x="6543399" y="2664663"/>
            <a:ext cx="2900532" cy="2900532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9309634" y="2301562"/>
            <a:ext cx="9316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b="1" i="1" dirty="0">
                <a:solidFill>
                  <a:srgbClr val="A50021"/>
                </a:solidFill>
                <a:latin typeface="Arial" pitchFamily="34" charset="0"/>
              </a:rPr>
              <a:t>y  =  x  </a:t>
            </a:r>
          </a:p>
        </p:txBody>
      </p:sp>
      <p:sp>
        <p:nvSpPr>
          <p:cNvPr id="172" name="Rectangle 192"/>
          <p:cNvSpPr>
            <a:spLocks noChangeArrowheads="1"/>
          </p:cNvSpPr>
          <p:nvPr/>
        </p:nvSpPr>
        <p:spPr bwMode="auto">
          <a:xfrm>
            <a:off x="2198717" y="4638694"/>
            <a:ext cx="32289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b="1" dirty="0">
                <a:latin typeface="Arial" pitchFamily="34" charset="0"/>
              </a:rPr>
              <a:t>To give Shape B</a:t>
            </a:r>
          </a:p>
        </p:txBody>
      </p:sp>
      <p:sp>
        <p:nvSpPr>
          <p:cNvPr id="163" name="L-Shape 162"/>
          <p:cNvSpPr/>
          <p:nvPr/>
        </p:nvSpPr>
        <p:spPr>
          <a:xfrm>
            <a:off x="7198213" y="3020919"/>
            <a:ext cx="938254" cy="609104"/>
          </a:xfrm>
          <a:prstGeom prst="corner">
            <a:avLst>
              <a:gd name="adj1" fmla="val 48025"/>
              <a:gd name="adj2" fmla="val 4736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68" name="L-Shape 167"/>
          <p:cNvSpPr/>
          <p:nvPr/>
        </p:nvSpPr>
        <p:spPr>
          <a:xfrm rot="16200000" flipV="1">
            <a:off x="8319604" y="4135486"/>
            <a:ext cx="938254" cy="609104"/>
          </a:xfrm>
          <a:prstGeom prst="corner">
            <a:avLst>
              <a:gd name="adj1" fmla="val 48025"/>
              <a:gd name="adj2" fmla="val 47366"/>
            </a:avLst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173" name="Rectangle 192"/>
          <p:cNvSpPr>
            <a:spLocks noChangeArrowheads="1"/>
          </p:cNvSpPr>
          <p:nvPr/>
        </p:nvSpPr>
        <p:spPr bwMode="auto">
          <a:xfrm>
            <a:off x="8418391" y="4565851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B</a:t>
            </a:r>
          </a:p>
        </p:txBody>
      </p:sp>
      <p:sp>
        <p:nvSpPr>
          <p:cNvPr id="175" name="Rectangle 192"/>
          <p:cNvSpPr>
            <a:spLocks noChangeArrowheads="1"/>
          </p:cNvSpPr>
          <p:nvPr/>
        </p:nvSpPr>
        <p:spPr bwMode="auto">
          <a:xfrm>
            <a:off x="7149150" y="3269562"/>
            <a:ext cx="393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</a:rPr>
              <a:t>A</a:t>
            </a:r>
          </a:p>
        </p:txBody>
      </p:sp>
      <p:grpSp>
        <p:nvGrpSpPr>
          <p:cNvPr id="155" name="Group 15"/>
          <p:cNvGrpSpPr/>
          <p:nvPr/>
        </p:nvGrpSpPr>
        <p:grpSpPr>
          <a:xfrm>
            <a:off x="1924050" y="208911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(3)  Reflections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66" grpId="0"/>
      <p:bldP spid="166" grpId="0"/>
      <p:bldP spid="172" grpId="0"/>
      <p:bldP spid="163" grpId="0" animBg="1"/>
      <p:bldP spid="168" grpId="0" animBg="1"/>
      <p:bldP spid="173" grpId="0"/>
      <p:bldP spid="1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649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FFCCCC"/>
          </a:solidFill>
          <a:ln w="1270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9022" y="872071"/>
            <a:ext cx="8613957" cy="5292588"/>
          </a:xfrm>
          <a:prstGeom prst="roundRect">
            <a:avLst>
              <a:gd name="adj" fmla="val 5211"/>
            </a:avLst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rial" pitchFamily="34" charset="0"/>
            </a:endParaRPr>
          </a:p>
        </p:txBody>
      </p:sp>
      <p:grpSp>
        <p:nvGrpSpPr>
          <p:cNvPr id="155" name="Group 15"/>
          <p:cNvGrpSpPr/>
          <p:nvPr/>
        </p:nvGrpSpPr>
        <p:grpSpPr>
          <a:xfrm>
            <a:off x="1924050" y="199485"/>
            <a:ext cx="8343900" cy="504056"/>
            <a:chOff x="395536" y="1409582"/>
            <a:chExt cx="5544616" cy="504056"/>
          </a:xfrm>
        </p:grpSpPr>
        <p:sp>
          <p:nvSpPr>
            <p:cNvPr id="159" name="Rounded Rectangle 158"/>
            <p:cNvSpPr/>
            <p:nvPr/>
          </p:nvSpPr>
          <p:spPr>
            <a:xfrm>
              <a:off x="395536" y="1409582"/>
              <a:ext cx="5544616" cy="504056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A50021">
                    <a:tint val="66000"/>
                    <a:satMod val="160000"/>
                  </a:srgbClr>
                </a:gs>
                <a:gs pos="50000">
                  <a:srgbClr val="A50021">
                    <a:tint val="44500"/>
                    <a:satMod val="160000"/>
                  </a:srgbClr>
                </a:gs>
                <a:gs pos="100000">
                  <a:srgbClr val="A50021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539552" y="1430778"/>
              <a:ext cx="52565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 dirty="0">
                  <a:latin typeface="Arial" pitchFamily="34" charset="0"/>
                </a:rPr>
                <a:t>Translations, rotations and reflections task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8FA3D3-A219-4110-95B5-53B105ADC02C}"/>
              </a:ext>
            </a:extLst>
          </p:cNvPr>
          <p:cNvSpPr txBox="1"/>
          <p:nvPr/>
        </p:nvSpPr>
        <p:spPr>
          <a:xfrm>
            <a:off x="2140775" y="1404595"/>
            <a:ext cx="78390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Allow time for summaries before commencing If time in class allows then do Dwyer 18.1, 18.3, 18.5. If these are not done in class they are homework!</a:t>
            </a:r>
          </a:p>
          <a:p>
            <a:endParaRPr lang="en-AU" sz="2400" dirty="0"/>
          </a:p>
          <a:p>
            <a:r>
              <a:rPr lang="en-AU" sz="2400" dirty="0"/>
              <a:t>Extension: 18.2, 18.4, 18.6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14260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724</Words>
  <Application>Microsoft Office PowerPoint</Application>
  <PresentationFormat>Widescreen</PresentationFormat>
  <Paragraphs>208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2021-11-30T03:54:45Z</dcterms:created>
  <dcterms:modified xsi:type="dcterms:W3CDTF">2021-11-30T04:02:21Z</dcterms:modified>
</cp:coreProperties>
</file>
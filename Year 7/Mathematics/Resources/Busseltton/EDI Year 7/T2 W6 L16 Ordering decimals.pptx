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sldIdLst>
    <p:sldId id="256" r:id="rId2"/>
    <p:sldId id="257" r:id="rId3"/>
    <p:sldId id="269" r:id="rId4"/>
    <p:sldId id="270" r:id="rId5"/>
    <p:sldId id="281" r:id="rId6"/>
    <p:sldId id="271" r:id="rId7"/>
    <p:sldId id="272" r:id="rId8"/>
    <p:sldId id="276" r:id="rId9"/>
    <p:sldId id="277" r:id="rId10"/>
    <p:sldId id="278" r:id="rId11"/>
    <p:sldId id="279" r:id="rId12"/>
    <p:sldId id="280" r:id="rId13"/>
    <p:sldId id="282" r:id="rId14"/>
    <p:sldId id="283" r:id="rId15"/>
    <p:sldId id="284" r:id="rId16"/>
    <p:sldId id="286" r:id="rId17"/>
    <p:sldId id="285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6" d="100"/>
          <a:sy n="86" d="100"/>
        </p:scale>
        <p:origin x="1382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4A001-4CDC-4F00-ABF0-04AFA540E6E0}" type="datetimeFigureOut">
              <a:rPr lang="en-GB" smtClean="0"/>
              <a:t>31/05/2023</a:t>
            </a:fld>
            <a:endParaRPr lang="en-GB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C4C2A-2489-450C-B26C-E7B03AADA732}" type="slidenum">
              <a:rPr lang="en-GB" smtClean="0"/>
              <a:t>‹#›</a:t>
            </a:fld>
            <a:endParaRPr lang="en-GB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4A001-4CDC-4F00-ABF0-04AFA540E6E0}" type="datetimeFigureOut">
              <a:rPr lang="en-GB" smtClean="0"/>
              <a:t>31/05/2023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C4C2A-2489-450C-B26C-E7B03AADA73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4A001-4CDC-4F00-ABF0-04AFA540E6E0}" type="datetimeFigureOut">
              <a:rPr lang="en-GB" smtClean="0"/>
              <a:t>31/05/2023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C4C2A-2489-450C-B26C-E7B03AADA732}" type="slidenum">
              <a:rPr lang="en-GB" smtClean="0"/>
              <a:t>‹#›</a:t>
            </a:fld>
            <a:endParaRPr lang="en-GB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4A001-4CDC-4F00-ABF0-04AFA540E6E0}" type="datetimeFigureOut">
              <a:rPr lang="en-GB" smtClean="0"/>
              <a:t>31/05/2023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C4C2A-2489-450C-B26C-E7B03AADA73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4A001-4CDC-4F00-ABF0-04AFA540E6E0}" type="datetimeFigureOut">
              <a:rPr lang="en-GB" smtClean="0"/>
              <a:t>31/05/2023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C4C2A-2489-450C-B26C-E7B03AADA73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4A001-4CDC-4F00-ABF0-04AFA540E6E0}" type="datetimeFigureOut">
              <a:rPr lang="en-GB" smtClean="0"/>
              <a:t>31/05/2023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C4C2A-2489-450C-B26C-E7B03AADA73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4A001-4CDC-4F00-ABF0-04AFA540E6E0}" type="datetimeFigureOut">
              <a:rPr lang="en-GB" smtClean="0"/>
              <a:t>31/05/2023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C4C2A-2489-450C-B26C-E7B03AADA73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4A001-4CDC-4F00-ABF0-04AFA540E6E0}" type="datetimeFigureOut">
              <a:rPr lang="en-GB" smtClean="0"/>
              <a:t>31/05/2023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C4C2A-2489-450C-B26C-E7B03AADA73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4A001-4CDC-4F00-ABF0-04AFA540E6E0}" type="datetimeFigureOut">
              <a:rPr lang="en-GB" smtClean="0"/>
              <a:t>31/05/2023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7E9C4C2A-2489-450C-B26C-E7B03AADA732}" type="slidenum">
              <a:rPr lang="en-GB" smtClean="0"/>
              <a:t>‹#›</a:t>
            </a:fld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4A001-4CDC-4F00-ABF0-04AFA540E6E0}" type="datetimeFigureOut">
              <a:rPr lang="en-GB" smtClean="0"/>
              <a:t>31/05/2023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C4C2A-2489-450C-B26C-E7B03AADA73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4A001-4CDC-4F00-ABF0-04AFA540E6E0}" type="datetimeFigureOut">
              <a:rPr lang="en-GB" smtClean="0"/>
              <a:t>31/05/2023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C4C2A-2489-450C-B26C-E7B03AADA73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A004A001-4CDC-4F00-ABF0-04AFA540E6E0}" type="datetimeFigureOut">
              <a:rPr lang="en-GB" smtClean="0"/>
              <a:t>31/05/2023</a:t>
            </a:fld>
            <a:endParaRPr lang="en-GB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7E9C4C2A-2489-450C-B26C-E7B03AADA732}" type="slidenum">
              <a:rPr lang="en-GB" smtClean="0"/>
              <a:t>‹#›</a:t>
            </a:fld>
            <a:endParaRPr lang="en-GB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GB" dirty="0"/>
              <a:t>Title: </a:t>
            </a:r>
            <a:r>
              <a:rPr lang="en-GB" dirty="0">
                <a:solidFill>
                  <a:srgbClr val="00B0F0"/>
                </a:solidFill>
              </a:rPr>
              <a:t>Place value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3228535"/>
            <a:ext cx="7854696" cy="3243285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en-GB" dirty="0">
                <a:solidFill>
                  <a:srgbClr val="00B0F0"/>
                </a:solidFill>
              </a:rPr>
              <a:t>Aim</a:t>
            </a:r>
          </a:p>
          <a:p>
            <a:pPr marL="457200" indent="-457200" algn="l">
              <a:buFont typeface="Wingdings" panose="05000000000000000000" pitchFamily="2" charset="2"/>
              <a:buChar char="q"/>
            </a:pPr>
            <a:r>
              <a:rPr lang="en-GB" dirty="0">
                <a:solidFill>
                  <a:srgbClr val="00B0F0"/>
                </a:solidFill>
              </a:rPr>
              <a:t>Order decimals using place value.</a:t>
            </a:r>
          </a:p>
          <a:p>
            <a:pPr marL="457200" indent="-457200" algn="l">
              <a:buFont typeface="Wingdings" panose="05000000000000000000" pitchFamily="2" charset="2"/>
              <a:buChar char="q"/>
            </a:pPr>
            <a:r>
              <a:rPr lang="en-GB" dirty="0">
                <a:solidFill>
                  <a:srgbClr val="00B0F0"/>
                </a:solidFill>
              </a:rPr>
              <a:t>Add and subtract numbers with decimals using an algorithm.</a:t>
            </a:r>
          </a:p>
          <a:p>
            <a:pPr algn="l"/>
            <a:r>
              <a:rPr lang="en-GB" dirty="0">
                <a:solidFill>
                  <a:srgbClr val="00B0F0"/>
                </a:solidFill>
              </a:rPr>
              <a:t>Plan: </a:t>
            </a:r>
          </a:p>
          <a:p>
            <a:pPr marL="457200" indent="-457200" algn="l">
              <a:buFontTx/>
              <a:buChar char="-"/>
            </a:pPr>
            <a:r>
              <a:rPr lang="en-GB" dirty="0">
                <a:solidFill>
                  <a:srgbClr val="00B0F0"/>
                </a:solidFill>
              </a:rPr>
              <a:t>Place value </a:t>
            </a:r>
          </a:p>
          <a:p>
            <a:pPr marL="457200" indent="-457200" algn="l">
              <a:buFontTx/>
              <a:buChar char="-"/>
            </a:pPr>
            <a:r>
              <a:rPr lang="en-GB" dirty="0">
                <a:solidFill>
                  <a:srgbClr val="00B0F0"/>
                </a:solidFill>
              </a:rPr>
              <a:t>Ordering </a:t>
            </a:r>
          </a:p>
          <a:p>
            <a:pPr marL="457200" indent="-457200" algn="l">
              <a:buFontTx/>
              <a:buChar char="-"/>
            </a:pPr>
            <a:r>
              <a:rPr lang="en-GB" dirty="0">
                <a:solidFill>
                  <a:srgbClr val="00B0F0"/>
                </a:solidFill>
              </a:rPr>
              <a:t>Add and subtract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C59A61-AA7C-D951-8A66-7F437797A55E}"/>
              </a:ext>
            </a:extLst>
          </p:cNvPr>
          <p:cNvSpPr txBox="1"/>
          <p:nvPr/>
        </p:nvSpPr>
        <p:spPr>
          <a:xfrm>
            <a:off x="5255581" y="1371600"/>
            <a:ext cx="18199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highlight>
                  <a:srgbClr val="FFFF00"/>
                </a:highlight>
              </a:rPr>
              <a:t>Need whiteboards </a:t>
            </a:r>
            <a:endParaRPr lang="en-AU" dirty="0">
              <a:solidFill>
                <a:schemeClr val="bg1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6393101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91690" y="333285"/>
            <a:ext cx="6457950" cy="617220"/>
          </a:xfrm>
        </p:spPr>
        <p:txBody>
          <a:bodyPr>
            <a:normAutofit fontScale="90000"/>
          </a:bodyPr>
          <a:lstStyle/>
          <a:p>
            <a:r>
              <a:rPr lang="en-GB" dirty="0"/>
              <a:t>Place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799" y="1378857"/>
            <a:ext cx="8563430" cy="5196114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The position of a digit in a number gives the value of that digit.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The further left the digit the greater its value.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What is this number?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6735" y="3947877"/>
            <a:ext cx="8716070" cy="2830286"/>
          </a:xfrm>
          <a:prstGeom prst="roundRect">
            <a:avLst>
              <a:gd name="adj" fmla="val 638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16" name="Group 15"/>
          <p:cNvGrpSpPr/>
          <p:nvPr/>
        </p:nvGrpSpPr>
        <p:grpSpPr>
          <a:xfrm>
            <a:off x="522142" y="5695573"/>
            <a:ext cx="8165257" cy="861774"/>
            <a:chOff x="440425" y="4952692"/>
            <a:chExt cx="8165257" cy="861774"/>
          </a:xfrm>
        </p:grpSpPr>
        <p:sp>
          <p:nvSpPr>
            <p:cNvPr id="17" name="TextBox 16"/>
            <p:cNvSpPr txBox="1"/>
            <p:nvPr/>
          </p:nvSpPr>
          <p:spPr>
            <a:xfrm>
              <a:off x="440425" y="4952692"/>
              <a:ext cx="1008375" cy="861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5000" b="1" dirty="0">
                  <a:latin typeface="Arial" pitchFamily="34" charset="0"/>
                  <a:cs typeface="Arial" pitchFamily="34" charset="0"/>
                </a:rPr>
                <a:t>9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156113" y="4952692"/>
              <a:ext cx="1008375" cy="861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5000" b="1" dirty="0">
                  <a:latin typeface="Arial" pitchFamily="34" charset="0"/>
                  <a:cs typeface="Arial" pitchFamily="34" charset="0"/>
                </a:rPr>
                <a:t>8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871801" y="4952692"/>
              <a:ext cx="1008375" cy="861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5000" b="1" dirty="0">
                  <a:latin typeface="Arial" pitchFamily="34" charset="0"/>
                  <a:cs typeface="Arial" pitchFamily="34" charset="0"/>
                </a:rPr>
                <a:t>7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2587489" y="4952692"/>
              <a:ext cx="1008375" cy="861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5000" b="1" dirty="0">
                  <a:latin typeface="Arial" pitchFamily="34" charset="0"/>
                  <a:cs typeface="Arial" pitchFamily="34" charset="0"/>
                </a:rPr>
                <a:t>6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3303177" y="4952692"/>
              <a:ext cx="1008375" cy="861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5000" b="1" dirty="0">
                  <a:latin typeface="Arial" pitchFamily="34" charset="0"/>
                  <a:cs typeface="Arial" pitchFamily="34" charset="0"/>
                </a:rPr>
                <a:t>5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4018865" y="4952692"/>
              <a:ext cx="1008375" cy="861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5000" b="1" dirty="0">
                  <a:latin typeface="Arial" pitchFamily="34" charset="0"/>
                  <a:cs typeface="Arial" pitchFamily="34" charset="0"/>
                </a:rPr>
                <a:t>4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4734553" y="4952692"/>
              <a:ext cx="1008375" cy="861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5000" b="1" dirty="0">
                  <a:latin typeface="Arial" pitchFamily="34" charset="0"/>
                  <a:cs typeface="Arial" pitchFamily="34" charset="0"/>
                </a:rPr>
                <a:t>3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5450241" y="4952692"/>
              <a:ext cx="1008375" cy="861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5000" b="1" dirty="0">
                  <a:latin typeface="Arial" pitchFamily="34" charset="0"/>
                  <a:cs typeface="Arial" pitchFamily="34" charset="0"/>
                </a:rPr>
                <a:t>.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6165929" y="4952692"/>
              <a:ext cx="1008375" cy="861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5000" b="1" dirty="0">
                  <a:latin typeface="Arial" pitchFamily="34" charset="0"/>
                  <a:cs typeface="Arial" pitchFamily="34" charset="0"/>
                </a:rPr>
                <a:t>3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6881617" y="4952692"/>
              <a:ext cx="1008375" cy="861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5000" b="1" dirty="0">
                  <a:latin typeface="Arial" pitchFamily="34" charset="0"/>
                  <a:cs typeface="Arial" pitchFamily="34" charset="0"/>
                </a:rPr>
                <a:t>2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7597307" y="4952692"/>
              <a:ext cx="1008375" cy="861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5000" b="1" dirty="0">
                  <a:latin typeface="Arial" pitchFamily="34" charset="0"/>
                  <a:cs typeface="Arial" pitchFamily="34" charset="0"/>
                </a:rPr>
                <a:t>1</a:t>
              </a:r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4716630" y="4126308"/>
            <a:ext cx="1201388" cy="1733798"/>
            <a:chOff x="4702116" y="2884677"/>
            <a:chExt cx="1201388" cy="1733798"/>
          </a:xfrm>
        </p:grpSpPr>
        <p:sp>
          <p:nvSpPr>
            <p:cNvPr id="29" name="Down Arrow Callout 28"/>
            <p:cNvSpPr/>
            <p:nvPr/>
          </p:nvSpPr>
          <p:spPr>
            <a:xfrm>
              <a:off x="4702116" y="2884677"/>
              <a:ext cx="1201388" cy="1733798"/>
            </a:xfrm>
            <a:prstGeom prst="downArrowCallout">
              <a:avLst>
                <a:gd name="adj1" fmla="val 9270"/>
                <a:gd name="adj2" fmla="val 18258"/>
                <a:gd name="adj3" fmla="val 20506"/>
                <a:gd name="adj4" fmla="val 32214"/>
              </a:avLst>
            </a:prstGeom>
            <a:gradFill flip="none" rotWithShape="1">
              <a:gsLst>
                <a:gs pos="0">
                  <a:srgbClr val="66FF66">
                    <a:tint val="66000"/>
                    <a:satMod val="160000"/>
                  </a:srgbClr>
                </a:gs>
                <a:gs pos="50000">
                  <a:srgbClr val="66FF66">
                    <a:tint val="44500"/>
                    <a:satMod val="160000"/>
                  </a:srgbClr>
                </a:gs>
                <a:gs pos="100000">
                  <a:srgbClr val="66FF66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12700">
              <a:solidFill>
                <a:srgbClr val="008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3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4887540" y="3016388"/>
              <a:ext cx="830540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300" b="1" dirty="0">
                  <a:solidFill>
                    <a:srgbClr val="008000"/>
                  </a:solidFill>
                  <a:latin typeface="Arial" pitchFamily="34" charset="0"/>
                  <a:cs typeface="Arial" pitchFamily="34" charset="0"/>
                </a:rPr>
                <a:t>Units</a:t>
              </a:r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4001143" y="4803202"/>
            <a:ext cx="1201388" cy="1056904"/>
            <a:chOff x="3986629" y="3561571"/>
            <a:chExt cx="1201388" cy="1056904"/>
          </a:xfrm>
        </p:grpSpPr>
        <p:sp>
          <p:nvSpPr>
            <p:cNvPr id="32" name="Down Arrow Callout 31"/>
            <p:cNvSpPr/>
            <p:nvPr/>
          </p:nvSpPr>
          <p:spPr>
            <a:xfrm>
              <a:off x="3986629" y="3561571"/>
              <a:ext cx="1201388" cy="1056904"/>
            </a:xfrm>
            <a:prstGeom prst="downArrowCallout">
              <a:avLst>
                <a:gd name="adj1" fmla="val 9270"/>
                <a:gd name="adj2" fmla="val 18258"/>
                <a:gd name="adj3" fmla="val 20506"/>
                <a:gd name="adj4" fmla="val 52618"/>
              </a:avLst>
            </a:prstGeom>
            <a:gradFill flip="none" rotWithShape="1">
              <a:gsLst>
                <a:gs pos="0">
                  <a:srgbClr val="66FF66">
                    <a:tint val="66000"/>
                    <a:satMod val="160000"/>
                  </a:srgbClr>
                </a:gs>
                <a:gs pos="50000">
                  <a:srgbClr val="66FF66">
                    <a:tint val="44500"/>
                    <a:satMod val="160000"/>
                  </a:srgbClr>
                </a:gs>
                <a:gs pos="100000">
                  <a:srgbClr val="66FF66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12700">
              <a:solidFill>
                <a:srgbClr val="008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3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4190014" y="3682809"/>
              <a:ext cx="794618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300" b="1" dirty="0">
                  <a:solidFill>
                    <a:srgbClr val="008000"/>
                  </a:solidFill>
                  <a:latin typeface="Arial" pitchFamily="34" charset="0"/>
                  <a:cs typeface="Arial" pitchFamily="34" charset="0"/>
                </a:rPr>
                <a:t>Tens</a:t>
              </a:r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3285656" y="4126308"/>
            <a:ext cx="1201388" cy="1733798"/>
            <a:chOff x="3271142" y="2884677"/>
            <a:chExt cx="1201388" cy="1733798"/>
          </a:xfrm>
        </p:grpSpPr>
        <p:sp>
          <p:nvSpPr>
            <p:cNvPr id="35" name="Down Arrow Callout 34"/>
            <p:cNvSpPr/>
            <p:nvPr/>
          </p:nvSpPr>
          <p:spPr>
            <a:xfrm>
              <a:off x="3271142" y="2884677"/>
              <a:ext cx="1201388" cy="1733798"/>
            </a:xfrm>
            <a:prstGeom prst="downArrowCallout">
              <a:avLst>
                <a:gd name="adj1" fmla="val 9270"/>
                <a:gd name="adj2" fmla="val 18258"/>
                <a:gd name="adj3" fmla="val 20506"/>
                <a:gd name="adj4" fmla="val 32214"/>
              </a:avLst>
            </a:prstGeom>
            <a:gradFill flip="none" rotWithShape="1">
              <a:gsLst>
                <a:gs pos="0">
                  <a:srgbClr val="66FF66">
                    <a:tint val="66000"/>
                    <a:satMod val="160000"/>
                  </a:srgbClr>
                </a:gs>
                <a:gs pos="50000">
                  <a:srgbClr val="66FF66">
                    <a:tint val="44500"/>
                    <a:satMod val="160000"/>
                  </a:srgbClr>
                </a:gs>
                <a:gs pos="100000">
                  <a:srgbClr val="66FF66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12700">
              <a:solidFill>
                <a:srgbClr val="008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3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3364204" y="3016388"/>
              <a:ext cx="1015265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300" b="1" dirty="0">
                  <a:solidFill>
                    <a:srgbClr val="008000"/>
                  </a:solidFill>
                  <a:latin typeface="Arial" pitchFamily="34" charset="0"/>
                  <a:cs typeface="Arial" pitchFamily="34" charset="0"/>
                </a:rPr>
                <a:t>Hundreds</a:t>
              </a:r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1854682" y="4126308"/>
            <a:ext cx="1201388" cy="1733798"/>
            <a:chOff x="1840168" y="2884677"/>
            <a:chExt cx="1201388" cy="1733798"/>
          </a:xfrm>
        </p:grpSpPr>
        <p:sp>
          <p:nvSpPr>
            <p:cNvPr id="38" name="Down Arrow Callout 37"/>
            <p:cNvSpPr/>
            <p:nvPr/>
          </p:nvSpPr>
          <p:spPr>
            <a:xfrm>
              <a:off x="1840168" y="2884677"/>
              <a:ext cx="1201388" cy="1733798"/>
            </a:xfrm>
            <a:prstGeom prst="downArrowCallout">
              <a:avLst>
                <a:gd name="adj1" fmla="val 9270"/>
                <a:gd name="adj2" fmla="val 18258"/>
                <a:gd name="adj3" fmla="val 20506"/>
                <a:gd name="adj4" fmla="val 32214"/>
              </a:avLst>
            </a:prstGeom>
            <a:gradFill flip="none" rotWithShape="1">
              <a:gsLst>
                <a:gs pos="0">
                  <a:srgbClr val="66FF66">
                    <a:tint val="66000"/>
                    <a:satMod val="160000"/>
                  </a:srgbClr>
                </a:gs>
                <a:gs pos="50000">
                  <a:srgbClr val="66FF66">
                    <a:tint val="44500"/>
                    <a:satMod val="160000"/>
                  </a:srgbClr>
                </a:gs>
                <a:gs pos="100000">
                  <a:srgbClr val="66FF66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12700">
              <a:solidFill>
                <a:srgbClr val="008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3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1891663" y="2893278"/>
              <a:ext cx="1098398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300" b="1" dirty="0">
                  <a:solidFill>
                    <a:srgbClr val="008000"/>
                  </a:solidFill>
                  <a:latin typeface="Arial" pitchFamily="34" charset="0"/>
                  <a:cs typeface="Arial" pitchFamily="34" charset="0"/>
                </a:rPr>
                <a:t>Tens of</a:t>
              </a:r>
            </a:p>
            <a:p>
              <a:pPr algn="ctr"/>
              <a:r>
                <a:rPr lang="en-GB" sz="1300" b="1" dirty="0">
                  <a:solidFill>
                    <a:srgbClr val="008000"/>
                  </a:solidFill>
                  <a:latin typeface="Arial" pitchFamily="34" charset="0"/>
                  <a:cs typeface="Arial" pitchFamily="34" charset="0"/>
                </a:rPr>
                <a:t>Thousands</a:t>
              </a: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1118537" y="4801330"/>
            <a:ext cx="1251506" cy="1058776"/>
            <a:chOff x="1104023" y="3559699"/>
            <a:chExt cx="1251506" cy="1058776"/>
          </a:xfrm>
        </p:grpSpPr>
        <p:sp>
          <p:nvSpPr>
            <p:cNvPr id="41" name="Down Arrow Callout 40"/>
            <p:cNvSpPr/>
            <p:nvPr/>
          </p:nvSpPr>
          <p:spPr>
            <a:xfrm>
              <a:off x="1124681" y="3561571"/>
              <a:ext cx="1201388" cy="1056904"/>
            </a:xfrm>
            <a:prstGeom prst="downArrowCallout">
              <a:avLst>
                <a:gd name="adj1" fmla="val 9270"/>
                <a:gd name="adj2" fmla="val 18258"/>
                <a:gd name="adj3" fmla="val 20506"/>
                <a:gd name="adj4" fmla="val 52618"/>
              </a:avLst>
            </a:prstGeom>
            <a:gradFill flip="none" rotWithShape="1">
              <a:gsLst>
                <a:gs pos="0">
                  <a:srgbClr val="66FF66">
                    <a:tint val="66000"/>
                    <a:satMod val="160000"/>
                  </a:srgbClr>
                </a:gs>
                <a:gs pos="50000">
                  <a:srgbClr val="66FF66">
                    <a:tint val="44500"/>
                    <a:satMod val="160000"/>
                  </a:srgbClr>
                </a:gs>
                <a:gs pos="100000">
                  <a:srgbClr val="66FF66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12700">
              <a:solidFill>
                <a:srgbClr val="008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3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1104023" y="3559699"/>
              <a:ext cx="1251506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300" b="1" dirty="0">
                  <a:solidFill>
                    <a:srgbClr val="008000"/>
                  </a:solidFill>
                  <a:latin typeface="Arial" pitchFamily="34" charset="0"/>
                  <a:cs typeface="Arial" pitchFamily="34" charset="0"/>
                </a:rPr>
                <a:t>Hundreds of </a:t>
              </a:r>
            </a:p>
            <a:p>
              <a:pPr algn="ctr"/>
              <a:r>
                <a:rPr lang="en-GB" sz="1300" b="1" dirty="0">
                  <a:solidFill>
                    <a:srgbClr val="008000"/>
                  </a:solidFill>
                  <a:latin typeface="Arial" pitchFamily="34" charset="0"/>
                  <a:cs typeface="Arial" pitchFamily="34" charset="0"/>
                </a:rPr>
                <a:t>Thousands</a:t>
              </a:r>
            </a:p>
          </p:txBody>
        </p:sp>
      </p:grpSp>
      <p:grpSp>
        <p:nvGrpSpPr>
          <p:cNvPr id="43" name="Group 42"/>
          <p:cNvGrpSpPr/>
          <p:nvPr/>
        </p:nvGrpSpPr>
        <p:grpSpPr>
          <a:xfrm>
            <a:off x="423708" y="4126308"/>
            <a:ext cx="1201388" cy="1733798"/>
            <a:chOff x="409194" y="2884677"/>
            <a:chExt cx="1201388" cy="1733798"/>
          </a:xfrm>
        </p:grpSpPr>
        <p:sp>
          <p:nvSpPr>
            <p:cNvPr id="44" name="Down Arrow Callout 43"/>
            <p:cNvSpPr/>
            <p:nvPr/>
          </p:nvSpPr>
          <p:spPr>
            <a:xfrm>
              <a:off x="409194" y="2884677"/>
              <a:ext cx="1201388" cy="1733798"/>
            </a:xfrm>
            <a:prstGeom prst="downArrowCallout">
              <a:avLst>
                <a:gd name="adj1" fmla="val 9270"/>
                <a:gd name="adj2" fmla="val 18258"/>
                <a:gd name="adj3" fmla="val 20506"/>
                <a:gd name="adj4" fmla="val 32214"/>
              </a:avLst>
            </a:prstGeom>
            <a:gradFill flip="none" rotWithShape="1">
              <a:gsLst>
                <a:gs pos="0">
                  <a:srgbClr val="66FF66">
                    <a:tint val="66000"/>
                    <a:satMod val="160000"/>
                  </a:srgbClr>
                </a:gs>
                <a:gs pos="50000">
                  <a:srgbClr val="66FF66">
                    <a:tint val="44500"/>
                    <a:satMod val="160000"/>
                  </a:srgbClr>
                </a:gs>
                <a:gs pos="100000">
                  <a:srgbClr val="66FF66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12700">
              <a:solidFill>
                <a:srgbClr val="008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3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504711" y="3016388"/>
              <a:ext cx="1010354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300" b="1" dirty="0">
                  <a:solidFill>
                    <a:srgbClr val="008000"/>
                  </a:solidFill>
                  <a:latin typeface="Arial" pitchFamily="34" charset="0"/>
                  <a:cs typeface="Arial" pitchFamily="34" charset="0"/>
                </a:rPr>
                <a:t>Millions</a:t>
              </a:r>
            </a:p>
          </p:txBody>
        </p:sp>
      </p:grpSp>
      <p:grpSp>
        <p:nvGrpSpPr>
          <p:cNvPr id="46" name="Group 45"/>
          <p:cNvGrpSpPr/>
          <p:nvPr/>
        </p:nvGrpSpPr>
        <p:grpSpPr>
          <a:xfrm>
            <a:off x="6147604" y="4126308"/>
            <a:ext cx="1201388" cy="1733798"/>
            <a:chOff x="6133090" y="2884677"/>
            <a:chExt cx="1201388" cy="1733798"/>
          </a:xfrm>
        </p:grpSpPr>
        <p:sp>
          <p:nvSpPr>
            <p:cNvPr id="47" name="Down Arrow Callout 46"/>
            <p:cNvSpPr/>
            <p:nvPr/>
          </p:nvSpPr>
          <p:spPr>
            <a:xfrm>
              <a:off x="6133090" y="2884677"/>
              <a:ext cx="1201388" cy="1733798"/>
            </a:xfrm>
            <a:prstGeom prst="downArrowCallout">
              <a:avLst>
                <a:gd name="adj1" fmla="val 9270"/>
                <a:gd name="adj2" fmla="val 18258"/>
                <a:gd name="adj3" fmla="val 20506"/>
                <a:gd name="adj4" fmla="val 32214"/>
              </a:avLst>
            </a:prstGeom>
            <a:gradFill flip="none" rotWithShape="1">
              <a:gsLst>
                <a:gs pos="0">
                  <a:srgbClr val="66FF66">
                    <a:tint val="66000"/>
                    <a:satMod val="160000"/>
                  </a:srgbClr>
                </a:gs>
                <a:gs pos="50000">
                  <a:srgbClr val="66FF66">
                    <a:tint val="44500"/>
                    <a:satMod val="160000"/>
                  </a:srgbClr>
                </a:gs>
                <a:gs pos="100000">
                  <a:srgbClr val="66FF66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12700">
              <a:solidFill>
                <a:srgbClr val="008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3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6312137" y="3016388"/>
              <a:ext cx="843295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300" b="1" dirty="0">
                  <a:solidFill>
                    <a:srgbClr val="008000"/>
                  </a:solidFill>
                  <a:latin typeface="Arial" pitchFamily="34" charset="0"/>
                  <a:cs typeface="Arial" pitchFamily="34" charset="0"/>
                </a:rPr>
                <a:t>Ten</a:t>
              </a:r>
              <a:r>
                <a:rPr lang="en-GB" sz="1300" b="1" dirty="0">
                  <a:latin typeface="Arial" pitchFamily="34" charset="0"/>
                  <a:cs typeface="Arial" pitchFamily="34" charset="0"/>
                </a:rPr>
                <a:t>ths</a:t>
              </a:r>
            </a:p>
          </p:txBody>
        </p:sp>
      </p:grpSp>
      <p:grpSp>
        <p:nvGrpSpPr>
          <p:cNvPr id="49" name="Group 48"/>
          <p:cNvGrpSpPr/>
          <p:nvPr/>
        </p:nvGrpSpPr>
        <p:grpSpPr>
          <a:xfrm>
            <a:off x="6861979" y="4803202"/>
            <a:ext cx="1202500" cy="1056904"/>
            <a:chOff x="6847465" y="3561571"/>
            <a:chExt cx="1202500" cy="1056904"/>
          </a:xfrm>
        </p:grpSpPr>
        <p:sp>
          <p:nvSpPr>
            <p:cNvPr id="50" name="Down Arrow Callout 49"/>
            <p:cNvSpPr/>
            <p:nvPr/>
          </p:nvSpPr>
          <p:spPr>
            <a:xfrm>
              <a:off x="6848577" y="3561571"/>
              <a:ext cx="1201388" cy="1056904"/>
            </a:xfrm>
            <a:prstGeom prst="downArrowCallout">
              <a:avLst>
                <a:gd name="adj1" fmla="val 9270"/>
                <a:gd name="adj2" fmla="val 18258"/>
                <a:gd name="adj3" fmla="val 20506"/>
                <a:gd name="adj4" fmla="val 52618"/>
              </a:avLst>
            </a:prstGeom>
            <a:gradFill flip="none" rotWithShape="1">
              <a:gsLst>
                <a:gs pos="0">
                  <a:srgbClr val="66FF66">
                    <a:tint val="66000"/>
                    <a:satMod val="160000"/>
                  </a:srgbClr>
                </a:gs>
                <a:gs pos="50000">
                  <a:srgbClr val="66FF66">
                    <a:tint val="44500"/>
                    <a:satMod val="160000"/>
                  </a:srgbClr>
                </a:gs>
                <a:gs pos="100000">
                  <a:srgbClr val="66FF66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12700">
              <a:solidFill>
                <a:srgbClr val="008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3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6847465" y="3682809"/>
              <a:ext cx="1196727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300" b="1" dirty="0">
                  <a:solidFill>
                    <a:srgbClr val="008000"/>
                  </a:solidFill>
                  <a:latin typeface="Arial" pitchFamily="34" charset="0"/>
                  <a:cs typeface="Arial" pitchFamily="34" charset="0"/>
                </a:rPr>
                <a:t>Hundred</a:t>
              </a:r>
              <a:r>
                <a:rPr lang="en-GB" sz="1300" b="1" dirty="0">
                  <a:latin typeface="Arial" pitchFamily="34" charset="0"/>
                  <a:cs typeface="Arial" pitchFamily="34" charset="0"/>
                </a:rPr>
                <a:t>ths</a:t>
              </a:r>
            </a:p>
          </p:txBody>
        </p:sp>
      </p:grpSp>
      <p:grpSp>
        <p:nvGrpSpPr>
          <p:cNvPr id="52" name="Group 51"/>
          <p:cNvGrpSpPr/>
          <p:nvPr/>
        </p:nvGrpSpPr>
        <p:grpSpPr>
          <a:xfrm>
            <a:off x="7538635" y="4126308"/>
            <a:ext cx="1282772" cy="1733798"/>
            <a:chOff x="7524121" y="2884677"/>
            <a:chExt cx="1282772" cy="1733798"/>
          </a:xfrm>
        </p:grpSpPr>
        <p:sp>
          <p:nvSpPr>
            <p:cNvPr id="53" name="Down Arrow Callout 52"/>
            <p:cNvSpPr/>
            <p:nvPr/>
          </p:nvSpPr>
          <p:spPr>
            <a:xfrm>
              <a:off x="7564066" y="2884677"/>
              <a:ext cx="1201388" cy="1733798"/>
            </a:xfrm>
            <a:prstGeom prst="downArrowCallout">
              <a:avLst>
                <a:gd name="adj1" fmla="val 9270"/>
                <a:gd name="adj2" fmla="val 18258"/>
                <a:gd name="adj3" fmla="val 20506"/>
                <a:gd name="adj4" fmla="val 32214"/>
              </a:avLst>
            </a:prstGeom>
            <a:gradFill flip="none" rotWithShape="1">
              <a:gsLst>
                <a:gs pos="0">
                  <a:srgbClr val="66FF66">
                    <a:tint val="66000"/>
                    <a:satMod val="160000"/>
                  </a:srgbClr>
                </a:gs>
                <a:gs pos="50000">
                  <a:srgbClr val="66FF66">
                    <a:tint val="44500"/>
                    <a:satMod val="160000"/>
                  </a:srgbClr>
                </a:gs>
                <a:gs pos="100000">
                  <a:srgbClr val="66FF66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12700">
              <a:solidFill>
                <a:srgbClr val="008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3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7524121" y="3016388"/>
              <a:ext cx="1282772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300" b="1" dirty="0">
                  <a:solidFill>
                    <a:srgbClr val="008000"/>
                  </a:solidFill>
                  <a:latin typeface="Arial" pitchFamily="34" charset="0"/>
                  <a:cs typeface="Arial" pitchFamily="34" charset="0"/>
                </a:rPr>
                <a:t>Thousand</a:t>
              </a:r>
              <a:r>
                <a:rPr lang="en-GB" sz="1300" b="1" dirty="0">
                  <a:latin typeface="Arial" pitchFamily="34" charset="0"/>
                  <a:cs typeface="Arial" pitchFamily="34" charset="0"/>
                </a:rPr>
                <a:t>ths</a:t>
              </a:r>
            </a:p>
          </p:txBody>
        </p:sp>
      </p:grpSp>
      <p:grpSp>
        <p:nvGrpSpPr>
          <p:cNvPr id="55" name="Group 54"/>
          <p:cNvGrpSpPr/>
          <p:nvPr/>
        </p:nvGrpSpPr>
        <p:grpSpPr>
          <a:xfrm>
            <a:off x="5432117" y="4801330"/>
            <a:ext cx="1201388" cy="1058776"/>
            <a:chOff x="5417603" y="3559699"/>
            <a:chExt cx="1201388" cy="1058776"/>
          </a:xfrm>
        </p:grpSpPr>
        <p:sp>
          <p:nvSpPr>
            <p:cNvPr id="56" name="Down Arrow Callout 55"/>
            <p:cNvSpPr/>
            <p:nvPr/>
          </p:nvSpPr>
          <p:spPr>
            <a:xfrm>
              <a:off x="5417603" y="3561571"/>
              <a:ext cx="1201388" cy="1056904"/>
            </a:xfrm>
            <a:prstGeom prst="downArrowCallout">
              <a:avLst>
                <a:gd name="adj1" fmla="val 9270"/>
                <a:gd name="adj2" fmla="val 18258"/>
                <a:gd name="adj3" fmla="val 20506"/>
                <a:gd name="adj4" fmla="val 52618"/>
              </a:avLst>
            </a:prstGeom>
            <a:solidFill>
              <a:srgbClr val="FFFF00"/>
            </a:solidFill>
            <a:ln w="12700">
              <a:solidFill>
                <a:srgbClr val="008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3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5517078" y="3559699"/>
              <a:ext cx="1002439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300" b="1" dirty="0">
                  <a:latin typeface="Arial" pitchFamily="34" charset="0"/>
                  <a:cs typeface="Arial" pitchFamily="34" charset="0"/>
                </a:rPr>
                <a:t>Decimal Point</a:t>
              </a:r>
            </a:p>
          </p:txBody>
        </p:sp>
      </p:grpSp>
      <p:grpSp>
        <p:nvGrpSpPr>
          <p:cNvPr id="58" name="Group 57"/>
          <p:cNvGrpSpPr/>
          <p:nvPr/>
        </p:nvGrpSpPr>
        <p:grpSpPr>
          <a:xfrm>
            <a:off x="2570169" y="4803202"/>
            <a:ext cx="1201388" cy="1056904"/>
            <a:chOff x="2555655" y="3561571"/>
            <a:chExt cx="1201388" cy="1056904"/>
          </a:xfrm>
        </p:grpSpPr>
        <p:sp>
          <p:nvSpPr>
            <p:cNvPr id="59" name="Down Arrow Callout 58"/>
            <p:cNvSpPr/>
            <p:nvPr/>
          </p:nvSpPr>
          <p:spPr>
            <a:xfrm>
              <a:off x="2555655" y="3561571"/>
              <a:ext cx="1201388" cy="1056904"/>
            </a:xfrm>
            <a:prstGeom prst="downArrowCallout">
              <a:avLst>
                <a:gd name="adj1" fmla="val 9270"/>
                <a:gd name="adj2" fmla="val 18258"/>
                <a:gd name="adj3" fmla="val 20506"/>
                <a:gd name="adj4" fmla="val 52618"/>
              </a:avLst>
            </a:prstGeom>
            <a:gradFill flip="none" rotWithShape="1">
              <a:gsLst>
                <a:gs pos="0">
                  <a:srgbClr val="66FF66">
                    <a:tint val="66000"/>
                    <a:satMod val="160000"/>
                  </a:srgbClr>
                </a:gs>
                <a:gs pos="50000">
                  <a:srgbClr val="66FF66">
                    <a:tint val="44500"/>
                    <a:satMod val="160000"/>
                  </a:srgbClr>
                </a:gs>
                <a:gs pos="100000">
                  <a:srgbClr val="66FF66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12700">
              <a:solidFill>
                <a:srgbClr val="008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3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2581133" y="3682809"/>
              <a:ext cx="1150432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300" b="1" dirty="0">
                  <a:solidFill>
                    <a:srgbClr val="008000"/>
                  </a:solidFill>
                  <a:latin typeface="Arial" pitchFamily="34" charset="0"/>
                  <a:cs typeface="Arial" pitchFamily="34" charset="0"/>
                </a:rPr>
                <a:t>Thousands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06469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91690" y="333285"/>
            <a:ext cx="6457950" cy="617220"/>
          </a:xfrm>
        </p:spPr>
        <p:txBody>
          <a:bodyPr>
            <a:normAutofit fontScale="90000"/>
          </a:bodyPr>
          <a:lstStyle/>
          <a:p>
            <a:r>
              <a:rPr lang="en-GB" dirty="0"/>
              <a:t>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799" y="1233714"/>
            <a:ext cx="8563430" cy="534125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dirty="0"/>
              <a:t>What is the value of the selected digit? Write your answer using both numbers and words. Use only numbers for the last three questions</a:t>
            </a:r>
          </a:p>
          <a:p>
            <a:pPr marL="0" indent="0">
              <a:buNone/>
            </a:pPr>
            <a:endParaRPr lang="en-GB" dirty="0"/>
          </a:p>
          <a:p>
            <a:pPr marL="457200" indent="-457200">
              <a:buAutoNum type="alphaLcParenR"/>
            </a:pPr>
            <a:r>
              <a:rPr lang="en-GB" dirty="0"/>
              <a:t>5</a:t>
            </a:r>
            <a:r>
              <a:rPr lang="en-GB" dirty="0">
                <a:solidFill>
                  <a:srgbClr val="FF0000"/>
                </a:solidFill>
              </a:rPr>
              <a:t>7</a:t>
            </a:r>
            <a:r>
              <a:rPr lang="en-GB" dirty="0"/>
              <a:t>30.92		b) 9</a:t>
            </a:r>
            <a:r>
              <a:rPr lang="en-GB" dirty="0">
                <a:solidFill>
                  <a:srgbClr val="FF0000"/>
                </a:solidFill>
              </a:rPr>
              <a:t>1</a:t>
            </a:r>
            <a:r>
              <a:rPr lang="en-GB" dirty="0"/>
              <a:t>843.48		c) 740</a:t>
            </a:r>
            <a:r>
              <a:rPr lang="en-GB" dirty="0">
                <a:solidFill>
                  <a:srgbClr val="FF0000"/>
                </a:solidFill>
              </a:rPr>
              <a:t>8</a:t>
            </a:r>
            <a:r>
              <a:rPr lang="en-GB" dirty="0"/>
              <a:t>3.96</a:t>
            </a:r>
          </a:p>
          <a:p>
            <a:pPr marL="457200" indent="-457200">
              <a:buAutoNum type="alphaLcParenR"/>
            </a:pPr>
            <a:endParaRPr lang="en-GB" dirty="0"/>
          </a:p>
          <a:p>
            <a:pPr marL="0" indent="0">
              <a:buNone/>
            </a:pPr>
            <a:r>
              <a:rPr lang="en-GB" dirty="0"/>
              <a:t>d) 8521.</a:t>
            </a:r>
            <a:r>
              <a:rPr lang="en-GB" dirty="0">
                <a:solidFill>
                  <a:srgbClr val="FF0000"/>
                </a:solidFill>
              </a:rPr>
              <a:t>6</a:t>
            </a:r>
            <a:r>
              <a:rPr lang="en-GB" dirty="0"/>
              <a:t>3		e) </a:t>
            </a:r>
            <a:r>
              <a:rPr lang="en-GB" dirty="0">
                <a:solidFill>
                  <a:srgbClr val="FF0000"/>
                </a:solidFill>
              </a:rPr>
              <a:t>6</a:t>
            </a:r>
            <a:r>
              <a:rPr lang="en-GB" dirty="0"/>
              <a:t>1293.475		f) 70045.29</a:t>
            </a:r>
            <a:r>
              <a:rPr lang="en-GB" dirty="0">
                <a:solidFill>
                  <a:srgbClr val="FF0000"/>
                </a:solidFill>
              </a:rPr>
              <a:t>3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g) </a:t>
            </a:r>
            <a:r>
              <a:rPr lang="en-GB" dirty="0">
                <a:solidFill>
                  <a:srgbClr val="FF0000"/>
                </a:solidFill>
              </a:rPr>
              <a:t>2</a:t>
            </a:r>
            <a:r>
              <a:rPr lang="en-GB" dirty="0"/>
              <a:t>636897.831	h) 5</a:t>
            </a:r>
            <a:r>
              <a:rPr lang="en-GB" dirty="0">
                <a:solidFill>
                  <a:srgbClr val="FF0000"/>
                </a:solidFill>
              </a:rPr>
              <a:t>7</a:t>
            </a:r>
            <a:r>
              <a:rPr lang="en-GB" dirty="0"/>
              <a:t>166.02		</a:t>
            </a:r>
            <a:r>
              <a:rPr lang="en-GB" dirty="0" err="1"/>
              <a:t>i</a:t>
            </a:r>
            <a:r>
              <a:rPr lang="en-GB" dirty="0"/>
              <a:t>) 4</a:t>
            </a:r>
            <a:r>
              <a:rPr lang="en-GB" dirty="0">
                <a:solidFill>
                  <a:srgbClr val="FF0000"/>
                </a:solidFill>
              </a:rPr>
              <a:t>2</a:t>
            </a:r>
            <a:r>
              <a:rPr lang="en-GB" dirty="0"/>
              <a:t>35.8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j) 295.3</a:t>
            </a:r>
            <a:r>
              <a:rPr lang="en-GB" dirty="0">
                <a:solidFill>
                  <a:srgbClr val="FF0000"/>
                </a:solidFill>
              </a:rPr>
              <a:t>8</a:t>
            </a:r>
            <a:r>
              <a:rPr lang="en-GB" dirty="0"/>
              <a:t>65		k) </a:t>
            </a:r>
            <a:r>
              <a:rPr lang="en-GB" dirty="0">
                <a:solidFill>
                  <a:srgbClr val="FF0000"/>
                </a:solidFill>
              </a:rPr>
              <a:t>4</a:t>
            </a:r>
            <a:r>
              <a:rPr lang="en-GB" dirty="0"/>
              <a:t>8738.2		l) 8274</a:t>
            </a:r>
            <a:r>
              <a:rPr lang="en-GB" dirty="0">
                <a:solidFill>
                  <a:srgbClr val="FF0000"/>
                </a:solidFill>
              </a:rPr>
              <a:t>7</a:t>
            </a:r>
            <a:r>
              <a:rPr lang="en-GB" dirty="0"/>
              <a:t>.1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m) 1.489</a:t>
            </a:r>
            <a:r>
              <a:rPr lang="en-GB" dirty="0">
                <a:solidFill>
                  <a:srgbClr val="FF0000"/>
                </a:solidFill>
              </a:rPr>
              <a:t>3</a:t>
            </a:r>
            <a:r>
              <a:rPr lang="en-GB" dirty="0"/>
              <a:t>5		n) 234.235</a:t>
            </a:r>
            <a:r>
              <a:rPr lang="en-GB" dirty="0">
                <a:solidFill>
                  <a:srgbClr val="FF0000"/>
                </a:solidFill>
              </a:rPr>
              <a:t>5</a:t>
            </a:r>
            <a:r>
              <a:rPr lang="en-GB" dirty="0"/>
              <a:t>8		o) 32453.2445</a:t>
            </a:r>
            <a:r>
              <a:rPr lang="en-GB" dirty="0">
                <a:solidFill>
                  <a:srgbClr val="FF0000"/>
                </a:solidFill>
              </a:rPr>
              <a:t>7</a:t>
            </a:r>
          </a:p>
        </p:txBody>
      </p:sp>
      <p:sp>
        <p:nvSpPr>
          <p:cNvPr id="61" name="Oval 60"/>
          <p:cNvSpPr/>
          <p:nvPr/>
        </p:nvSpPr>
        <p:spPr>
          <a:xfrm>
            <a:off x="41997" y="2736683"/>
            <a:ext cx="295095" cy="26826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2" name="Oval 61"/>
          <p:cNvSpPr/>
          <p:nvPr/>
        </p:nvSpPr>
        <p:spPr>
          <a:xfrm>
            <a:off x="41997" y="4491722"/>
            <a:ext cx="295095" cy="268268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63" name="Group 62"/>
          <p:cNvGrpSpPr/>
          <p:nvPr/>
        </p:nvGrpSpPr>
        <p:grpSpPr>
          <a:xfrm>
            <a:off x="41997" y="6206347"/>
            <a:ext cx="295095" cy="268268"/>
            <a:chOff x="235159" y="5247300"/>
            <a:chExt cx="432048" cy="432048"/>
          </a:xfrm>
        </p:grpSpPr>
        <p:sp>
          <p:nvSpPr>
            <p:cNvPr id="64" name="Oval 63"/>
            <p:cNvSpPr/>
            <p:nvPr/>
          </p:nvSpPr>
          <p:spPr>
            <a:xfrm>
              <a:off x="235159" y="5247300"/>
              <a:ext cx="432048" cy="432048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5" name="5-Point Star 64"/>
            <p:cNvSpPr/>
            <p:nvPr/>
          </p:nvSpPr>
          <p:spPr>
            <a:xfrm>
              <a:off x="307167" y="5319308"/>
              <a:ext cx="288032" cy="288032"/>
            </a:xfrm>
            <a:prstGeom prst="star5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9161764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91690" y="333285"/>
            <a:ext cx="6457950" cy="617220"/>
          </a:xfrm>
        </p:spPr>
        <p:txBody>
          <a:bodyPr>
            <a:normAutofit fontScale="90000"/>
          </a:bodyPr>
          <a:lstStyle/>
          <a:p>
            <a:r>
              <a:rPr lang="en-GB" dirty="0"/>
              <a:t>Answers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799" y="1161144"/>
            <a:ext cx="8563430" cy="550091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dirty="0"/>
              <a:t>What is the value of the selected digit? Write your answer using both numbers and words. Use only numbers for the last three questions.</a:t>
            </a:r>
          </a:p>
          <a:p>
            <a:pPr marL="0" indent="0">
              <a:buNone/>
            </a:pPr>
            <a:endParaRPr lang="en-GB" dirty="0"/>
          </a:p>
          <a:p>
            <a:pPr marL="457200" indent="-457200">
              <a:buAutoNum type="alphaLcParenR"/>
            </a:pPr>
            <a:r>
              <a:rPr lang="en-GB" dirty="0">
                <a:solidFill>
                  <a:srgbClr val="00B050"/>
                </a:solidFill>
              </a:rPr>
              <a:t>700		b) 1000		c) 80</a:t>
            </a:r>
          </a:p>
          <a:p>
            <a:pPr marL="0" indent="0">
              <a:buNone/>
            </a:pPr>
            <a:r>
              <a:rPr lang="en-GB" dirty="0">
                <a:solidFill>
                  <a:srgbClr val="00B050"/>
                </a:solidFill>
              </a:rPr>
              <a:t>     Seven hundred       One thousand            Eighty</a:t>
            </a:r>
          </a:p>
          <a:p>
            <a:pPr marL="0" indent="0">
              <a:buNone/>
            </a:pPr>
            <a:r>
              <a:rPr lang="en-GB" dirty="0">
                <a:solidFill>
                  <a:srgbClr val="00B050"/>
                </a:solidFill>
              </a:rPr>
              <a:t>d) 0.6			e) 60000		f) 0.003</a:t>
            </a:r>
          </a:p>
          <a:p>
            <a:pPr marL="0" indent="0">
              <a:buNone/>
            </a:pPr>
            <a:r>
              <a:rPr lang="en-GB" dirty="0">
                <a:solidFill>
                  <a:srgbClr val="00B050"/>
                </a:solidFill>
              </a:rPr>
              <a:t>     Six tenths                   Sixty thousand          Three thousandths</a:t>
            </a:r>
          </a:p>
          <a:p>
            <a:pPr marL="0" indent="0">
              <a:buNone/>
            </a:pPr>
            <a:r>
              <a:rPr lang="en-GB" dirty="0">
                <a:solidFill>
                  <a:srgbClr val="FF0000"/>
                </a:solidFill>
              </a:rPr>
              <a:t>g) 2000000		h) 7000		</a:t>
            </a:r>
            <a:r>
              <a:rPr lang="en-GB" dirty="0" err="1">
                <a:solidFill>
                  <a:srgbClr val="FF0000"/>
                </a:solidFill>
              </a:rPr>
              <a:t>i</a:t>
            </a:r>
            <a:r>
              <a:rPr lang="en-GB" dirty="0">
                <a:solidFill>
                  <a:srgbClr val="FF0000"/>
                </a:solidFill>
              </a:rPr>
              <a:t>) 200</a:t>
            </a:r>
          </a:p>
          <a:p>
            <a:pPr marL="0" indent="0">
              <a:buNone/>
            </a:pPr>
            <a:r>
              <a:rPr lang="en-GB" dirty="0">
                <a:solidFill>
                  <a:srgbClr val="FF0000"/>
                </a:solidFill>
              </a:rPr>
              <a:t>     Two million                Seven thousand      Two hundred	</a:t>
            </a:r>
          </a:p>
          <a:p>
            <a:pPr marL="0" indent="0">
              <a:buNone/>
            </a:pPr>
            <a:r>
              <a:rPr lang="en-GB" dirty="0">
                <a:solidFill>
                  <a:srgbClr val="FF0000"/>
                </a:solidFill>
              </a:rPr>
              <a:t>j) 0.08			k) 40000		l) 7</a:t>
            </a:r>
          </a:p>
          <a:p>
            <a:pPr marL="0" indent="0">
              <a:buNone/>
            </a:pPr>
            <a:r>
              <a:rPr lang="en-GB" dirty="0">
                <a:solidFill>
                  <a:srgbClr val="FF0000"/>
                </a:solidFill>
              </a:rPr>
              <a:t>   Eight hundredths      Forty thousand          Seven</a:t>
            </a:r>
          </a:p>
          <a:p>
            <a:pPr marL="0" indent="0">
              <a:buNone/>
            </a:pPr>
            <a:r>
              <a:rPr lang="en-GB" dirty="0">
                <a:solidFill>
                  <a:srgbClr val="0070C0"/>
                </a:solidFill>
              </a:rPr>
              <a:t>m) 0.0003		n) 0.0005		o) 0.00007</a:t>
            </a:r>
          </a:p>
        </p:txBody>
      </p:sp>
      <p:sp>
        <p:nvSpPr>
          <p:cNvPr id="61" name="Oval 60"/>
          <p:cNvSpPr/>
          <p:nvPr/>
        </p:nvSpPr>
        <p:spPr>
          <a:xfrm>
            <a:off x="41997" y="2678627"/>
            <a:ext cx="295095" cy="26826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2" name="Oval 61"/>
          <p:cNvSpPr/>
          <p:nvPr/>
        </p:nvSpPr>
        <p:spPr>
          <a:xfrm>
            <a:off x="41997" y="4390121"/>
            <a:ext cx="295095" cy="268268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63" name="Group 62"/>
          <p:cNvGrpSpPr/>
          <p:nvPr/>
        </p:nvGrpSpPr>
        <p:grpSpPr>
          <a:xfrm>
            <a:off x="41997" y="6090229"/>
            <a:ext cx="295095" cy="268268"/>
            <a:chOff x="235159" y="5247300"/>
            <a:chExt cx="432048" cy="432048"/>
          </a:xfrm>
        </p:grpSpPr>
        <p:sp>
          <p:nvSpPr>
            <p:cNvPr id="64" name="Oval 63"/>
            <p:cNvSpPr/>
            <p:nvPr/>
          </p:nvSpPr>
          <p:spPr>
            <a:xfrm>
              <a:off x="235159" y="5247300"/>
              <a:ext cx="432048" cy="432048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5" name="5-Point Star 64"/>
            <p:cNvSpPr/>
            <p:nvPr/>
          </p:nvSpPr>
          <p:spPr>
            <a:xfrm>
              <a:off x="307167" y="5319308"/>
              <a:ext cx="288032" cy="288032"/>
            </a:xfrm>
            <a:prstGeom prst="star5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8736553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D7D91-AEC7-E7E8-DC56-D9CEC9485E8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Individual practice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6E5AF9-EEEB-8384-C22B-6101F51E4E7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“place value decoder” 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“decimal delight” </a:t>
            </a:r>
            <a:endParaRPr lang="en-A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85197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Ordering Decimals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8B13F4-4A8A-4B7F-DAD0-346ADE32300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358065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266034" y="4084961"/>
            <a:ext cx="4409185" cy="830997"/>
            <a:chOff x="266034" y="4084961"/>
            <a:chExt cx="4409185" cy="830997"/>
          </a:xfrm>
          <a:solidFill>
            <a:schemeClr val="bg1"/>
          </a:solidFill>
        </p:grpSpPr>
        <p:sp>
          <p:nvSpPr>
            <p:cNvPr id="24" name="Rounded Rectangle 23"/>
            <p:cNvSpPr/>
            <p:nvPr/>
          </p:nvSpPr>
          <p:spPr>
            <a:xfrm>
              <a:off x="1292006" y="4084961"/>
              <a:ext cx="3383213" cy="830997"/>
            </a:xfrm>
            <a:prstGeom prst="roundRect">
              <a:avLst/>
            </a:prstGeom>
            <a:grpFill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266034" y="4305611"/>
              <a:ext cx="87361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b="1" dirty="0">
                  <a:latin typeface="Arial" pitchFamily="34" charset="0"/>
                  <a:cs typeface="Arial" pitchFamily="34" charset="0"/>
                </a:rPr>
                <a:t>Step 1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292006" y="4084961"/>
              <a:ext cx="3383213" cy="58477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 b="1" dirty="0">
                  <a:solidFill>
                    <a:srgbClr val="00B0F0"/>
                  </a:solidFill>
                  <a:latin typeface="Arial" pitchFamily="34" charset="0"/>
                  <a:cs typeface="Arial" pitchFamily="34" charset="0"/>
                </a:rPr>
                <a:t>Look for the most number of digits after the decimal point</a:t>
              </a:r>
              <a:r>
                <a:rPr lang="en-GB" sz="1600" b="1" dirty="0">
                  <a:latin typeface="Arial" pitchFamily="34" charset="0"/>
                  <a:cs typeface="Arial" pitchFamily="34" charset="0"/>
                </a:rPr>
                <a:t>.</a:t>
              </a:r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266034" y="6162139"/>
            <a:ext cx="4453077" cy="441861"/>
            <a:chOff x="266034" y="6162139"/>
            <a:chExt cx="4453077" cy="441861"/>
          </a:xfrm>
          <a:solidFill>
            <a:schemeClr val="bg1"/>
          </a:solidFill>
        </p:grpSpPr>
        <p:sp>
          <p:nvSpPr>
            <p:cNvPr id="28" name="Rounded Rectangle 27"/>
            <p:cNvSpPr/>
            <p:nvPr/>
          </p:nvSpPr>
          <p:spPr>
            <a:xfrm>
              <a:off x="1276638" y="6192917"/>
              <a:ext cx="3442473" cy="411083"/>
            </a:xfrm>
            <a:prstGeom prst="roundRect">
              <a:avLst/>
            </a:prstGeom>
            <a:grpFill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266034" y="6162139"/>
              <a:ext cx="87361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b="1" dirty="0">
                  <a:latin typeface="Arial" pitchFamily="34" charset="0"/>
                  <a:cs typeface="Arial" pitchFamily="34" charset="0"/>
                </a:rPr>
                <a:t>Step 3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1292006" y="6192917"/>
              <a:ext cx="3383213" cy="338554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 b="1" dirty="0">
                  <a:solidFill>
                    <a:srgbClr val="00B0F0"/>
                  </a:solidFill>
                  <a:latin typeface="Arial" pitchFamily="34" charset="0"/>
                  <a:cs typeface="Arial" pitchFamily="34" charset="0"/>
                </a:rPr>
                <a:t>Put the numbers in order of size</a:t>
              </a:r>
              <a:r>
                <a:rPr lang="en-GB" sz="1600" b="1" dirty="0">
                  <a:latin typeface="Arial" pitchFamily="34" charset="0"/>
                  <a:cs typeface="Arial" pitchFamily="34" charset="0"/>
                </a:rPr>
                <a:t>.</a:t>
              </a:r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266034" y="5097715"/>
            <a:ext cx="4409185" cy="830997"/>
            <a:chOff x="266034" y="5097715"/>
            <a:chExt cx="4409185" cy="830997"/>
          </a:xfrm>
          <a:solidFill>
            <a:schemeClr val="bg1"/>
          </a:solidFill>
        </p:grpSpPr>
        <p:sp>
          <p:nvSpPr>
            <p:cNvPr id="26" name="Rounded Rectangle 25"/>
            <p:cNvSpPr/>
            <p:nvPr/>
          </p:nvSpPr>
          <p:spPr>
            <a:xfrm>
              <a:off x="1292006" y="5097715"/>
              <a:ext cx="3383213" cy="830997"/>
            </a:xfrm>
            <a:prstGeom prst="roundRect">
              <a:avLst/>
            </a:prstGeom>
            <a:grpFill/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266034" y="5318365"/>
              <a:ext cx="87361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b="1" dirty="0">
                  <a:latin typeface="Arial" pitchFamily="34" charset="0"/>
                  <a:cs typeface="Arial" pitchFamily="34" charset="0"/>
                </a:rPr>
                <a:t>Step 2</a:t>
              </a: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1292006" y="5097715"/>
              <a:ext cx="3383213" cy="58477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 b="1" dirty="0">
                  <a:solidFill>
                    <a:srgbClr val="00B0F0"/>
                  </a:solidFill>
                  <a:latin typeface="Arial" pitchFamily="34" charset="0"/>
                  <a:cs typeface="Arial" pitchFamily="34" charset="0"/>
                </a:rPr>
                <a:t>Add zeros so they all have the same number of digits.</a:t>
              </a:r>
            </a:p>
          </p:txBody>
        </p:sp>
      </p:grpSp>
      <p:sp>
        <p:nvSpPr>
          <p:cNvPr id="89" name="Rounded Rectangle 88"/>
          <p:cNvSpPr/>
          <p:nvPr/>
        </p:nvSpPr>
        <p:spPr>
          <a:xfrm>
            <a:off x="5840653" y="4121980"/>
            <a:ext cx="1008112" cy="576064"/>
          </a:xfrm>
          <a:prstGeom prst="roundRect">
            <a:avLst/>
          </a:prstGeom>
          <a:gradFill flip="none" rotWithShape="1">
            <a:gsLst>
              <a:gs pos="0">
                <a:srgbClr val="FFFF00">
                  <a:tint val="66000"/>
                  <a:satMod val="160000"/>
                </a:srgbClr>
              </a:gs>
              <a:gs pos="50000">
                <a:srgbClr val="FFFF00">
                  <a:tint val="44500"/>
                  <a:satMod val="160000"/>
                </a:srgbClr>
              </a:gs>
              <a:gs pos="100000">
                <a:srgbClr val="FFFF00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itchFamily="34" charset="0"/>
              <a:cs typeface="Arial" pitchFamily="34" charset="0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4802538" y="4202930"/>
            <a:ext cx="11161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>
                <a:latin typeface="Arial" pitchFamily="34" charset="0"/>
                <a:cs typeface="Arial" pitchFamily="34" charset="0"/>
              </a:rPr>
              <a:t>0.12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786647" y="4202930"/>
            <a:ext cx="11161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>
                <a:latin typeface="Arial" pitchFamily="34" charset="0"/>
                <a:cs typeface="Arial" pitchFamily="34" charset="0"/>
              </a:rPr>
              <a:t>0.302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770756" y="4202930"/>
            <a:ext cx="11161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>
                <a:latin typeface="Arial" pitchFamily="34" charset="0"/>
                <a:cs typeface="Arial" pitchFamily="34" charset="0"/>
              </a:rPr>
              <a:t>0.5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754866" y="4202930"/>
            <a:ext cx="11161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>
                <a:latin typeface="Arial" pitchFamily="34" charset="0"/>
                <a:cs typeface="Arial" pitchFamily="34" charset="0"/>
              </a:rPr>
              <a:t>0.06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802538" y="5322247"/>
            <a:ext cx="11161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>
                <a:latin typeface="Arial" pitchFamily="34" charset="0"/>
                <a:cs typeface="Arial" pitchFamily="34" charset="0"/>
              </a:rPr>
              <a:t>0.120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786647" y="5322247"/>
            <a:ext cx="11161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>
                <a:latin typeface="Arial" pitchFamily="34" charset="0"/>
                <a:cs typeface="Arial" pitchFamily="34" charset="0"/>
              </a:rPr>
              <a:t>0.302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770756" y="5322247"/>
            <a:ext cx="11161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>
                <a:latin typeface="Arial" pitchFamily="34" charset="0"/>
                <a:cs typeface="Arial" pitchFamily="34" charset="0"/>
              </a:rPr>
              <a:t>0.500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754866" y="5322247"/>
            <a:ext cx="11161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>
                <a:latin typeface="Arial" pitchFamily="34" charset="0"/>
                <a:cs typeface="Arial" pitchFamily="34" charset="0"/>
              </a:rPr>
              <a:t>0.060</a:t>
            </a:r>
          </a:p>
        </p:txBody>
      </p:sp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2171700" y="241860"/>
            <a:ext cx="6377940" cy="524482"/>
          </a:xfrm>
        </p:spPr>
        <p:txBody>
          <a:bodyPr>
            <a:normAutofit fontScale="90000"/>
          </a:bodyPr>
          <a:lstStyle/>
          <a:p>
            <a:r>
              <a:rPr lang="en-GB" dirty="0"/>
              <a:t>Ordering decimals</a:t>
            </a:r>
          </a:p>
        </p:txBody>
      </p:sp>
      <p:sp>
        <p:nvSpPr>
          <p:cNvPr id="23" name="Content Placeholder 22"/>
          <p:cNvSpPr>
            <a:spLocks noGrp="1"/>
          </p:cNvSpPr>
          <p:nvPr>
            <p:ph idx="1"/>
          </p:nvPr>
        </p:nvSpPr>
        <p:spPr>
          <a:xfrm>
            <a:off x="228395" y="1233713"/>
            <a:ext cx="8657963" cy="5370287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It is easier to put decimals in order if we have the </a:t>
            </a:r>
            <a:r>
              <a:rPr lang="en-GB" dirty="0">
                <a:solidFill>
                  <a:srgbClr val="00B0F0"/>
                </a:solidFill>
              </a:rPr>
              <a:t>same number of digits </a:t>
            </a:r>
            <a:r>
              <a:rPr lang="en-GB" dirty="0"/>
              <a:t>after the decimal point.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Example 1: put these decimals in order of size from highest to lowest.</a:t>
            </a:r>
          </a:p>
          <a:p>
            <a:pPr marL="0" indent="0" algn="ctr">
              <a:buNone/>
            </a:pPr>
            <a:r>
              <a:rPr lang="en-GB" dirty="0"/>
              <a:t>0.12	0.302	0.5	0.06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63951" y="6212584"/>
            <a:ext cx="11161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>
                <a:latin typeface="Arial" pitchFamily="34" charset="0"/>
                <a:cs typeface="Arial" pitchFamily="34" charset="0"/>
              </a:rPr>
              <a:t>0.120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810710" y="6212584"/>
            <a:ext cx="11161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>
                <a:latin typeface="Arial" pitchFamily="34" charset="0"/>
                <a:cs typeface="Arial" pitchFamily="34" charset="0"/>
              </a:rPr>
              <a:t>0.302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869765" y="6212584"/>
            <a:ext cx="11161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>
                <a:latin typeface="Arial" pitchFamily="34" charset="0"/>
                <a:cs typeface="Arial" pitchFamily="34" charset="0"/>
              </a:rPr>
              <a:t>0.500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778929" y="6212584"/>
            <a:ext cx="11161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>
                <a:latin typeface="Arial" pitchFamily="34" charset="0"/>
                <a:cs typeface="Arial" pitchFamily="34" charset="0"/>
              </a:rPr>
              <a:t>0.060</a:t>
            </a:r>
          </a:p>
        </p:txBody>
      </p:sp>
    </p:spTree>
    <p:extLst>
      <p:ext uri="{BB962C8B-B14F-4D97-AF65-F5344CB8AC3E}">
        <p14:creationId xmlns:p14="http://schemas.microsoft.com/office/powerpoint/2010/main" val="2968089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" grpId="0" animBg="1"/>
      <p:bldP spid="78" grpId="0"/>
      <p:bldP spid="83" grpId="0"/>
      <p:bldP spid="84" grpId="0"/>
      <p:bldP spid="85" grpId="0"/>
      <p:bldP spid="91" grpId="0"/>
      <p:bldP spid="92" grpId="0"/>
      <p:bldP spid="93" grpId="0"/>
      <p:bldP spid="94" grpId="0"/>
      <p:bldP spid="59" grpId="0"/>
      <p:bldP spid="60" grpId="0"/>
      <p:bldP spid="61" grpId="0"/>
      <p:bldP spid="6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2171700" y="241860"/>
            <a:ext cx="6377940" cy="524482"/>
          </a:xfrm>
        </p:spPr>
        <p:txBody>
          <a:bodyPr>
            <a:normAutofit fontScale="90000"/>
          </a:bodyPr>
          <a:lstStyle/>
          <a:p>
            <a:r>
              <a:rPr lang="en-GB" dirty="0"/>
              <a:t>Questions</a:t>
            </a:r>
            <a:r>
              <a:rPr lang="en-GB"/>
              <a:t>: MWB</a:t>
            </a:r>
            <a:endParaRPr lang="en-GB" dirty="0"/>
          </a:p>
        </p:txBody>
      </p:sp>
      <p:sp>
        <p:nvSpPr>
          <p:cNvPr id="23" name="Content Placeholder 22"/>
          <p:cNvSpPr>
            <a:spLocks noGrp="1"/>
          </p:cNvSpPr>
          <p:nvPr>
            <p:ph idx="1"/>
          </p:nvPr>
        </p:nvSpPr>
        <p:spPr>
          <a:xfrm>
            <a:off x="228395" y="1233713"/>
            <a:ext cx="8657963" cy="56242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Put these decimals in order from lowest to highest: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a) 					b)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c)					d)</a:t>
            </a:r>
          </a:p>
          <a:p>
            <a:pPr marL="0" indent="0">
              <a:buNone/>
            </a:pPr>
            <a:endParaRPr lang="en-GB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626070"/>
              </p:ext>
            </p:extLst>
          </p:nvPr>
        </p:nvGraphicFramePr>
        <p:xfrm>
          <a:off x="5283368" y="1932305"/>
          <a:ext cx="3698240" cy="707390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92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739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 dirty="0">
                          <a:effectLst/>
                        </a:rPr>
                        <a:t>7.28</a:t>
                      </a:r>
                      <a:endParaRPr lang="en-GB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 dirty="0">
                          <a:effectLst/>
                        </a:rPr>
                        <a:t>7.8</a:t>
                      </a:r>
                      <a:endParaRPr lang="en-GB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 dirty="0">
                          <a:effectLst/>
                        </a:rPr>
                        <a:t>7.08</a:t>
                      </a:r>
                      <a:endParaRPr lang="en-GB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 dirty="0">
                          <a:effectLst/>
                        </a:rPr>
                        <a:t>7.18</a:t>
                      </a:r>
                      <a:endParaRPr lang="en-GB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4357067"/>
              </p:ext>
            </p:extLst>
          </p:nvPr>
        </p:nvGraphicFramePr>
        <p:xfrm>
          <a:off x="722630" y="2827655"/>
          <a:ext cx="3698240" cy="707390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92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739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 dirty="0">
                          <a:effectLst/>
                        </a:rPr>
                        <a:t>5.06</a:t>
                      </a:r>
                      <a:endParaRPr lang="en-GB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 dirty="0">
                          <a:effectLst/>
                        </a:rPr>
                        <a:t>5.6</a:t>
                      </a:r>
                      <a:endParaRPr lang="en-GB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</a:rPr>
                        <a:t>5.62</a:t>
                      </a:r>
                      <a:endParaRPr lang="en-GB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 dirty="0">
                          <a:effectLst/>
                        </a:rPr>
                        <a:t>5.26</a:t>
                      </a:r>
                      <a:endParaRPr lang="en-GB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1888894"/>
              </p:ext>
            </p:extLst>
          </p:nvPr>
        </p:nvGraphicFramePr>
        <p:xfrm>
          <a:off x="5294630" y="2827655"/>
          <a:ext cx="3698240" cy="707390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92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739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 dirty="0">
                          <a:effectLst/>
                        </a:rPr>
                        <a:t>10.94</a:t>
                      </a:r>
                      <a:endParaRPr lang="en-GB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</a:rPr>
                        <a:t>10.24</a:t>
                      </a:r>
                      <a:endParaRPr lang="en-GB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</a:rPr>
                        <a:t>10.04</a:t>
                      </a:r>
                      <a:endParaRPr lang="en-GB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 dirty="0">
                          <a:effectLst/>
                        </a:rPr>
                        <a:t>10.4</a:t>
                      </a:r>
                      <a:endParaRPr lang="en-GB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2435168"/>
              </p:ext>
            </p:extLst>
          </p:nvPr>
        </p:nvGraphicFramePr>
        <p:xfrm>
          <a:off x="722630" y="1875155"/>
          <a:ext cx="3698240" cy="707390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92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739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 dirty="0">
                          <a:effectLst/>
                        </a:rPr>
                        <a:t>4.6</a:t>
                      </a:r>
                      <a:endParaRPr lang="en-GB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</a:rPr>
                        <a:t>4.06</a:t>
                      </a:r>
                      <a:endParaRPr lang="en-GB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 dirty="0">
                          <a:effectLst/>
                        </a:rPr>
                        <a:t>4.26</a:t>
                      </a:r>
                      <a:endParaRPr lang="en-GB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 dirty="0">
                          <a:effectLst/>
                        </a:rPr>
                        <a:t>4.16</a:t>
                      </a:r>
                      <a:endParaRPr lang="en-GB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7" name="Oval 36"/>
          <p:cNvSpPr/>
          <p:nvPr/>
        </p:nvSpPr>
        <p:spPr>
          <a:xfrm>
            <a:off x="3897" y="2145227"/>
            <a:ext cx="295095" cy="26826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0841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2171700" y="241860"/>
            <a:ext cx="6377940" cy="524482"/>
          </a:xfrm>
        </p:spPr>
        <p:txBody>
          <a:bodyPr>
            <a:normAutofit fontScale="90000"/>
          </a:bodyPr>
          <a:lstStyle/>
          <a:p>
            <a:r>
              <a:rPr lang="en-GB" dirty="0"/>
              <a:t>Answers</a:t>
            </a:r>
          </a:p>
        </p:txBody>
      </p:sp>
      <p:sp>
        <p:nvSpPr>
          <p:cNvPr id="23" name="Content Placeholder 22"/>
          <p:cNvSpPr>
            <a:spLocks noGrp="1"/>
          </p:cNvSpPr>
          <p:nvPr>
            <p:ph idx="1"/>
          </p:nvPr>
        </p:nvSpPr>
        <p:spPr>
          <a:xfrm>
            <a:off x="228395" y="1233713"/>
            <a:ext cx="8657963" cy="562428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dirty="0"/>
              <a:t>Put these decimals in order from lowest to highest: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a) 					b)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c)					d)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e)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f)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Challenge:</a:t>
            </a:r>
          </a:p>
          <a:p>
            <a:pPr marL="0" indent="0">
              <a:buNone/>
            </a:pPr>
            <a:r>
              <a:rPr lang="en-GB" dirty="0"/>
              <a:t>Use the numbers 1, 2 and 3 to make five decimals numbers. Then order them from smallest to largest. E.g. 1.32, 2.31 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5355653"/>
              </p:ext>
            </p:extLst>
          </p:nvPr>
        </p:nvGraphicFramePr>
        <p:xfrm>
          <a:off x="5283368" y="1932305"/>
          <a:ext cx="3698240" cy="707390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92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739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 dirty="0">
                          <a:effectLst/>
                        </a:rPr>
                        <a:t>7.08</a:t>
                      </a:r>
                      <a:endParaRPr lang="en-GB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 dirty="0">
                          <a:effectLst/>
                        </a:rPr>
                        <a:t>7.18</a:t>
                      </a:r>
                      <a:endParaRPr lang="en-GB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 dirty="0">
                          <a:effectLst/>
                        </a:rPr>
                        <a:t>7.28</a:t>
                      </a:r>
                      <a:endParaRPr lang="en-GB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 dirty="0">
                          <a:effectLst/>
                        </a:rPr>
                        <a:t>7.8</a:t>
                      </a:r>
                      <a:endParaRPr lang="en-GB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5404119"/>
              </p:ext>
            </p:extLst>
          </p:nvPr>
        </p:nvGraphicFramePr>
        <p:xfrm>
          <a:off x="722630" y="2827655"/>
          <a:ext cx="3698240" cy="707390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92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739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 dirty="0">
                          <a:effectLst/>
                        </a:rPr>
                        <a:t>5.06</a:t>
                      </a:r>
                      <a:endParaRPr lang="en-GB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 dirty="0">
                          <a:effectLst/>
                        </a:rPr>
                        <a:t>5.26</a:t>
                      </a:r>
                      <a:endParaRPr lang="en-GB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 dirty="0">
                          <a:effectLst/>
                        </a:rPr>
                        <a:t>5.6</a:t>
                      </a:r>
                      <a:endParaRPr lang="en-GB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 dirty="0">
                          <a:effectLst/>
                        </a:rPr>
                        <a:t>5.62</a:t>
                      </a:r>
                      <a:endParaRPr lang="en-GB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1652240"/>
              </p:ext>
            </p:extLst>
          </p:nvPr>
        </p:nvGraphicFramePr>
        <p:xfrm>
          <a:off x="5294630" y="2827655"/>
          <a:ext cx="3698240" cy="707390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92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739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 dirty="0">
                          <a:effectLst/>
                        </a:rPr>
                        <a:t>10.04</a:t>
                      </a:r>
                      <a:endParaRPr lang="en-GB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 dirty="0">
                          <a:effectLst/>
                        </a:rPr>
                        <a:t>10.24</a:t>
                      </a:r>
                      <a:endParaRPr lang="en-GB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 dirty="0">
                          <a:effectLst/>
                        </a:rPr>
                        <a:t>10.4</a:t>
                      </a:r>
                      <a:endParaRPr lang="en-GB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 dirty="0">
                          <a:effectLst/>
                        </a:rPr>
                        <a:t>10.94</a:t>
                      </a:r>
                      <a:endParaRPr lang="en-GB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8985362"/>
              </p:ext>
            </p:extLst>
          </p:nvPr>
        </p:nvGraphicFramePr>
        <p:xfrm>
          <a:off x="717550" y="3742055"/>
          <a:ext cx="4622800" cy="707390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92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24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0739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 dirty="0">
                          <a:effectLst/>
                        </a:rPr>
                        <a:t>8.13</a:t>
                      </a:r>
                      <a:endParaRPr lang="en-GB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 dirty="0">
                          <a:effectLst/>
                        </a:rPr>
                        <a:t>8.3</a:t>
                      </a:r>
                      <a:endParaRPr lang="en-GB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 dirty="0">
                          <a:effectLst/>
                        </a:rPr>
                        <a:t>8.53</a:t>
                      </a:r>
                      <a:endParaRPr lang="en-GB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 dirty="0">
                          <a:effectLst/>
                        </a:rPr>
                        <a:t>8.9</a:t>
                      </a:r>
                      <a:endParaRPr lang="en-GB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 dirty="0">
                          <a:effectLst/>
                        </a:rPr>
                        <a:t>8.93</a:t>
                      </a:r>
                      <a:endParaRPr lang="en-GB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0262575"/>
              </p:ext>
            </p:extLst>
          </p:nvPr>
        </p:nvGraphicFramePr>
        <p:xfrm>
          <a:off x="722630" y="1875155"/>
          <a:ext cx="3698240" cy="707390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92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739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 dirty="0">
                          <a:effectLst/>
                        </a:rPr>
                        <a:t>4.06</a:t>
                      </a:r>
                      <a:endParaRPr lang="en-GB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 dirty="0">
                          <a:effectLst/>
                        </a:rPr>
                        <a:t>4.16</a:t>
                      </a:r>
                      <a:endParaRPr lang="en-GB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 dirty="0">
                          <a:effectLst/>
                        </a:rPr>
                        <a:t>4.26</a:t>
                      </a:r>
                      <a:endParaRPr lang="en-GB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 dirty="0">
                          <a:effectLst/>
                        </a:rPr>
                        <a:t>4.6</a:t>
                      </a:r>
                      <a:endParaRPr lang="en-GB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759478"/>
              </p:ext>
            </p:extLst>
          </p:nvPr>
        </p:nvGraphicFramePr>
        <p:xfrm>
          <a:off x="717550" y="4618355"/>
          <a:ext cx="4622800" cy="707390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92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24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0739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 dirty="0">
                          <a:effectLst/>
                        </a:rPr>
                        <a:t>0.04</a:t>
                      </a:r>
                      <a:endParaRPr lang="en-GB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 dirty="0">
                          <a:effectLst/>
                        </a:rPr>
                        <a:t>0.2</a:t>
                      </a:r>
                      <a:endParaRPr lang="en-GB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 dirty="0">
                          <a:effectLst/>
                        </a:rPr>
                        <a:t>0.2</a:t>
                      </a:r>
                      <a:endParaRPr lang="en-GB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 dirty="0">
                          <a:effectLst/>
                        </a:rPr>
                        <a:t>0.24</a:t>
                      </a:r>
                      <a:endParaRPr lang="en-GB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 dirty="0">
                          <a:effectLst/>
                        </a:rPr>
                        <a:t>0.42</a:t>
                      </a:r>
                      <a:endParaRPr lang="en-GB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7" name="Oval 36"/>
          <p:cNvSpPr/>
          <p:nvPr/>
        </p:nvSpPr>
        <p:spPr>
          <a:xfrm>
            <a:off x="3897" y="2145227"/>
            <a:ext cx="295095" cy="26826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Oval 37"/>
          <p:cNvSpPr/>
          <p:nvPr/>
        </p:nvSpPr>
        <p:spPr>
          <a:xfrm>
            <a:off x="3897" y="3856721"/>
            <a:ext cx="295095" cy="268268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39" name="Group 38"/>
          <p:cNvGrpSpPr/>
          <p:nvPr/>
        </p:nvGrpSpPr>
        <p:grpSpPr>
          <a:xfrm>
            <a:off x="3897" y="5556829"/>
            <a:ext cx="295095" cy="268268"/>
            <a:chOff x="235159" y="5247300"/>
            <a:chExt cx="432048" cy="432048"/>
          </a:xfrm>
        </p:grpSpPr>
        <p:sp>
          <p:nvSpPr>
            <p:cNvPr id="40" name="Oval 39"/>
            <p:cNvSpPr/>
            <p:nvPr/>
          </p:nvSpPr>
          <p:spPr>
            <a:xfrm>
              <a:off x="235159" y="5247300"/>
              <a:ext cx="432048" cy="432048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1" name="5-Point Star 40"/>
            <p:cNvSpPr/>
            <p:nvPr/>
          </p:nvSpPr>
          <p:spPr>
            <a:xfrm>
              <a:off x="307167" y="5319308"/>
              <a:ext cx="288032" cy="288032"/>
            </a:xfrm>
            <a:prstGeom prst="star5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4995533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2171700" y="241860"/>
            <a:ext cx="6377940" cy="524482"/>
          </a:xfrm>
        </p:spPr>
        <p:txBody>
          <a:bodyPr>
            <a:normAutofit fontScale="90000"/>
          </a:bodyPr>
          <a:lstStyle/>
          <a:p>
            <a:r>
              <a:rPr lang="en-GB" dirty="0"/>
              <a:t>Questions – exercise books</a:t>
            </a:r>
          </a:p>
        </p:txBody>
      </p:sp>
      <p:sp>
        <p:nvSpPr>
          <p:cNvPr id="23" name="Content Placeholder 22"/>
          <p:cNvSpPr>
            <a:spLocks noGrp="1"/>
          </p:cNvSpPr>
          <p:nvPr>
            <p:ph idx="1"/>
          </p:nvPr>
        </p:nvSpPr>
        <p:spPr>
          <a:xfrm>
            <a:off x="228395" y="1233713"/>
            <a:ext cx="8657963" cy="562428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dirty="0"/>
              <a:t>Put these decimals in order from highest to lowest: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a)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b)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c)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d)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Challenge:</a:t>
            </a:r>
          </a:p>
          <a:p>
            <a:pPr marL="0" indent="0">
              <a:buNone/>
            </a:pPr>
            <a:r>
              <a:rPr lang="en-GB" dirty="0"/>
              <a:t>Can you order to following measurements in ascending order.</a:t>
            </a:r>
          </a:p>
          <a:p>
            <a:pPr marL="0" indent="0" algn="ctr">
              <a:buNone/>
            </a:pPr>
            <a:r>
              <a:rPr lang="en-GB" dirty="0"/>
              <a:t>124cm		0.75m		65mm		1.4m		1.1km</a:t>
            </a:r>
          </a:p>
        </p:txBody>
      </p:sp>
      <p:sp>
        <p:nvSpPr>
          <p:cNvPr id="37" name="Oval 36"/>
          <p:cNvSpPr/>
          <p:nvPr/>
        </p:nvSpPr>
        <p:spPr>
          <a:xfrm>
            <a:off x="3897" y="2145227"/>
            <a:ext cx="295095" cy="26826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Oval 37"/>
          <p:cNvSpPr/>
          <p:nvPr/>
        </p:nvSpPr>
        <p:spPr>
          <a:xfrm>
            <a:off x="3897" y="3856721"/>
            <a:ext cx="295095" cy="268268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39" name="Group 38"/>
          <p:cNvGrpSpPr/>
          <p:nvPr/>
        </p:nvGrpSpPr>
        <p:grpSpPr>
          <a:xfrm>
            <a:off x="3897" y="5556829"/>
            <a:ext cx="295095" cy="268268"/>
            <a:chOff x="235159" y="5247300"/>
            <a:chExt cx="432048" cy="432048"/>
          </a:xfrm>
        </p:grpSpPr>
        <p:sp>
          <p:nvSpPr>
            <p:cNvPr id="40" name="Oval 39"/>
            <p:cNvSpPr/>
            <p:nvPr/>
          </p:nvSpPr>
          <p:spPr>
            <a:xfrm>
              <a:off x="235159" y="5247300"/>
              <a:ext cx="432048" cy="432048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1" name="5-Point Star 40"/>
            <p:cNvSpPr/>
            <p:nvPr/>
          </p:nvSpPr>
          <p:spPr>
            <a:xfrm>
              <a:off x="307167" y="5319308"/>
              <a:ext cx="288032" cy="288032"/>
            </a:xfrm>
            <a:prstGeom prst="star5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268084"/>
              </p:ext>
            </p:extLst>
          </p:nvPr>
        </p:nvGraphicFramePr>
        <p:xfrm>
          <a:off x="760095" y="1903730"/>
          <a:ext cx="5909310" cy="688340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11817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17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17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17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23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8834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</a:rPr>
                        <a:t>6.4</a:t>
                      </a:r>
                      <a:endParaRPr lang="en-GB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</a:rPr>
                        <a:t>6.04</a:t>
                      </a:r>
                      <a:endParaRPr lang="en-GB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</a:rPr>
                        <a:t>6.41</a:t>
                      </a:r>
                      <a:endParaRPr lang="en-GB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</a:rPr>
                        <a:t>61.4</a:t>
                      </a:r>
                      <a:endParaRPr lang="en-GB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 dirty="0">
                          <a:effectLst/>
                        </a:rPr>
                        <a:t>6.14</a:t>
                      </a:r>
                      <a:endParaRPr lang="en-GB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5769069"/>
              </p:ext>
            </p:extLst>
          </p:nvPr>
        </p:nvGraphicFramePr>
        <p:xfrm>
          <a:off x="741045" y="2741930"/>
          <a:ext cx="5909310" cy="688340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11817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17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17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17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23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8834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 dirty="0">
                          <a:effectLst/>
                        </a:rPr>
                        <a:t>3.27</a:t>
                      </a:r>
                      <a:endParaRPr lang="en-GB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</a:rPr>
                        <a:t>32.7</a:t>
                      </a:r>
                      <a:endParaRPr lang="en-GB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</a:rPr>
                        <a:t>3.07</a:t>
                      </a:r>
                      <a:endParaRPr lang="en-GB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</a:rPr>
                        <a:t>3.72</a:t>
                      </a:r>
                      <a:endParaRPr lang="en-GB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</a:rPr>
                        <a:t>27.3</a:t>
                      </a:r>
                      <a:endParaRPr lang="en-GB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419979"/>
              </p:ext>
            </p:extLst>
          </p:nvPr>
        </p:nvGraphicFramePr>
        <p:xfrm>
          <a:off x="721995" y="3656330"/>
          <a:ext cx="5909310" cy="688340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11817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17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17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17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23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8834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</a:rPr>
                        <a:t>16.04</a:t>
                      </a:r>
                      <a:endParaRPr lang="en-GB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</a:rPr>
                        <a:t>1.64</a:t>
                      </a:r>
                      <a:endParaRPr lang="en-GB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</a:rPr>
                        <a:t>10.6</a:t>
                      </a:r>
                      <a:endParaRPr lang="en-GB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</a:rPr>
                        <a:t>16.4</a:t>
                      </a:r>
                      <a:endParaRPr lang="en-GB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 dirty="0">
                          <a:effectLst/>
                        </a:rPr>
                        <a:t>1.46</a:t>
                      </a:r>
                      <a:endParaRPr lang="en-GB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5722250"/>
              </p:ext>
            </p:extLst>
          </p:nvPr>
        </p:nvGraphicFramePr>
        <p:xfrm>
          <a:off x="702945" y="4494530"/>
          <a:ext cx="5909310" cy="688340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11817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17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17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17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23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8834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</a:rPr>
                        <a:t>42.32</a:t>
                      </a:r>
                      <a:endParaRPr lang="en-GB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</a:rPr>
                        <a:t>42.04</a:t>
                      </a:r>
                      <a:endParaRPr lang="en-GB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</a:rPr>
                        <a:t>42.3</a:t>
                      </a:r>
                      <a:endParaRPr lang="en-GB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</a:rPr>
                        <a:t>42.23</a:t>
                      </a:r>
                      <a:endParaRPr lang="en-GB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 dirty="0">
                          <a:effectLst/>
                        </a:rPr>
                        <a:t>40.32</a:t>
                      </a:r>
                      <a:endParaRPr lang="en-GB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04832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2171700" y="241860"/>
            <a:ext cx="6377940" cy="524482"/>
          </a:xfrm>
        </p:spPr>
        <p:txBody>
          <a:bodyPr>
            <a:normAutofit fontScale="90000"/>
          </a:bodyPr>
          <a:lstStyle/>
          <a:p>
            <a:r>
              <a:rPr lang="en-GB" dirty="0"/>
              <a:t>Answers</a:t>
            </a:r>
          </a:p>
        </p:txBody>
      </p:sp>
      <p:sp>
        <p:nvSpPr>
          <p:cNvPr id="23" name="Content Placeholder 22"/>
          <p:cNvSpPr>
            <a:spLocks noGrp="1"/>
          </p:cNvSpPr>
          <p:nvPr>
            <p:ph idx="1"/>
          </p:nvPr>
        </p:nvSpPr>
        <p:spPr>
          <a:xfrm>
            <a:off x="228395" y="1233713"/>
            <a:ext cx="8657963" cy="562428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dirty="0"/>
              <a:t>Put these decimals in order from highest to lowest: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a)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b)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c)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d)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Challenge:</a:t>
            </a:r>
          </a:p>
          <a:p>
            <a:pPr marL="0" indent="0">
              <a:buNone/>
            </a:pPr>
            <a:r>
              <a:rPr lang="en-GB" dirty="0"/>
              <a:t>Can you order to following measurements in ascending order.</a:t>
            </a:r>
          </a:p>
          <a:p>
            <a:pPr marL="0" indent="0" algn="ctr">
              <a:buNone/>
            </a:pPr>
            <a:r>
              <a:rPr lang="en-GB" dirty="0"/>
              <a:t>124cm		0.75m		65mm		1.4m		1.1km</a:t>
            </a:r>
          </a:p>
        </p:txBody>
      </p:sp>
      <p:sp>
        <p:nvSpPr>
          <p:cNvPr id="37" name="Oval 36"/>
          <p:cNvSpPr/>
          <p:nvPr/>
        </p:nvSpPr>
        <p:spPr>
          <a:xfrm>
            <a:off x="3897" y="2145227"/>
            <a:ext cx="295095" cy="26826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Oval 37"/>
          <p:cNvSpPr/>
          <p:nvPr/>
        </p:nvSpPr>
        <p:spPr>
          <a:xfrm>
            <a:off x="3897" y="3856721"/>
            <a:ext cx="295095" cy="268268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39" name="Group 38"/>
          <p:cNvGrpSpPr/>
          <p:nvPr/>
        </p:nvGrpSpPr>
        <p:grpSpPr>
          <a:xfrm>
            <a:off x="3897" y="5556829"/>
            <a:ext cx="295095" cy="268268"/>
            <a:chOff x="235159" y="5247300"/>
            <a:chExt cx="432048" cy="432048"/>
          </a:xfrm>
        </p:grpSpPr>
        <p:sp>
          <p:nvSpPr>
            <p:cNvPr id="40" name="Oval 39"/>
            <p:cNvSpPr/>
            <p:nvPr/>
          </p:nvSpPr>
          <p:spPr>
            <a:xfrm>
              <a:off x="235159" y="5247300"/>
              <a:ext cx="432048" cy="432048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1" name="5-Point Star 40"/>
            <p:cNvSpPr/>
            <p:nvPr/>
          </p:nvSpPr>
          <p:spPr>
            <a:xfrm>
              <a:off x="307167" y="5319308"/>
              <a:ext cx="288032" cy="288032"/>
            </a:xfrm>
            <a:prstGeom prst="star5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8032513"/>
              </p:ext>
            </p:extLst>
          </p:nvPr>
        </p:nvGraphicFramePr>
        <p:xfrm>
          <a:off x="760095" y="1903730"/>
          <a:ext cx="5909310" cy="688340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11817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17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17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17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23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8834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 dirty="0">
                          <a:effectLst/>
                        </a:rPr>
                        <a:t>61.4</a:t>
                      </a:r>
                      <a:endParaRPr lang="en-GB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 dirty="0">
                          <a:effectLst/>
                        </a:rPr>
                        <a:t>6.41</a:t>
                      </a:r>
                      <a:endParaRPr lang="en-GB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 dirty="0">
                          <a:effectLst/>
                        </a:rPr>
                        <a:t>6.4</a:t>
                      </a:r>
                      <a:endParaRPr lang="en-GB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 dirty="0">
                          <a:effectLst/>
                        </a:rPr>
                        <a:t>6.14</a:t>
                      </a:r>
                      <a:endParaRPr lang="en-GB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 dirty="0">
                          <a:effectLst/>
                        </a:rPr>
                        <a:t>6.04</a:t>
                      </a:r>
                      <a:endParaRPr lang="en-GB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1235807"/>
              </p:ext>
            </p:extLst>
          </p:nvPr>
        </p:nvGraphicFramePr>
        <p:xfrm>
          <a:off x="741045" y="2741930"/>
          <a:ext cx="5909310" cy="688340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11817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17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17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17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23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8834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 dirty="0">
                          <a:effectLst/>
                          <a:latin typeface="+mn-lt"/>
                          <a:ea typeface="+mn-ea"/>
                        </a:rPr>
                        <a:t>32.7</a:t>
                      </a:r>
                      <a:endParaRPr lang="en-GB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 dirty="0">
                          <a:effectLst/>
                        </a:rPr>
                        <a:t>27.3</a:t>
                      </a:r>
                      <a:endParaRPr lang="en-GB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 dirty="0">
                          <a:effectLst/>
                        </a:rPr>
                        <a:t>3.72</a:t>
                      </a:r>
                      <a:endParaRPr lang="en-GB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 dirty="0">
                          <a:effectLst/>
                        </a:rPr>
                        <a:t>3.27</a:t>
                      </a:r>
                      <a:endParaRPr lang="en-GB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 dirty="0">
                          <a:effectLst/>
                        </a:rPr>
                        <a:t>3.07</a:t>
                      </a:r>
                      <a:endParaRPr lang="en-GB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2060427"/>
              </p:ext>
            </p:extLst>
          </p:nvPr>
        </p:nvGraphicFramePr>
        <p:xfrm>
          <a:off x="721995" y="3656330"/>
          <a:ext cx="5909310" cy="688340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11817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17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17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17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23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8834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 dirty="0">
                          <a:effectLst/>
                        </a:rPr>
                        <a:t>16.4</a:t>
                      </a:r>
                      <a:endParaRPr lang="en-GB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 dirty="0">
                          <a:effectLst/>
                        </a:rPr>
                        <a:t>16.04</a:t>
                      </a:r>
                      <a:endParaRPr lang="en-GB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 dirty="0">
                          <a:effectLst/>
                        </a:rPr>
                        <a:t>10.6</a:t>
                      </a:r>
                      <a:endParaRPr lang="en-GB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 dirty="0">
                          <a:effectLst/>
                        </a:rPr>
                        <a:t>1.64</a:t>
                      </a:r>
                      <a:endParaRPr lang="en-GB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 dirty="0">
                          <a:effectLst/>
                        </a:rPr>
                        <a:t>1.46</a:t>
                      </a:r>
                      <a:endParaRPr lang="en-GB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0655279"/>
              </p:ext>
            </p:extLst>
          </p:nvPr>
        </p:nvGraphicFramePr>
        <p:xfrm>
          <a:off x="702945" y="4494530"/>
          <a:ext cx="5909310" cy="688340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11817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17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17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17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23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8834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 dirty="0">
                          <a:effectLst/>
                        </a:rPr>
                        <a:t>42.32</a:t>
                      </a:r>
                      <a:endParaRPr lang="en-GB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 dirty="0">
                          <a:effectLst/>
                        </a:rPr>
                        <a:t>42.3</a:t>
                      </a:r>
                      <a:endParaRPr lang="en-GB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 dirty="0">
                          <a:effectLst/>
                        </a:rPr>
                        <a:t>42.23</a:t>
                      </a:r>
                      <a:endParaRPr lang="en-GB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 dirty="0">
                          <a:effectLst/>
                        </a:rPr>
                        <a:t>42.04</a:t>
                      </a:r>
                      <a:endParaRPr lang="en-GB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 dirty="0">
                          <a:effectLst/>
                        </a:rPr>
                        <a:t>40.32</a:t>
                      </a:r>
                      <a:endParaRPr lang="en-GB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17774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CCBEC-36BA-EC47-2793-00225C319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/>
              <a:t>Adding decimals algorithm (I do)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6DAABE-796C-CCFB-B9E8-1D4DA6CA80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lphaLcParenR"/>
            </a:pPr>
            <a:r>
              <a:rPr lang="en-US" dirty="0"/>
              <a:t>2</a:t>
            </a:r>
            <a:r>
              <a:rPr lang="en-AU" dirty="0"/>
              <a:t>3.7 + 12.7 = </a:t>
            </a:r>
          </a:p>
          <a:p>
            <a:pPr marL="514350" indent="-514350">
              <a:buAutoNum type="alphaLcParenR"/>
            </a:pPr>
            <a:endParaRPr lang="en-AU" dirty="0"/>
          </a:p>
          <a:p>
            <a:pPr marL="514350" indent="-514350">
              <a:buAutoNum type="alphaLcParenR"/>
            </a:pPr>
            <a:r>
              <a:rPr lang="en-AU" dirty="0"/>
              <a:t>145.98 + 11.7 = </a:t>
            </a:r>
          </a:p>
          <a:p>
            <a:pPr marL="514350" indent="-514350">
              <a:buAutoNum type="alphaLcParenR"/>
            </a:pPr>
            <a:endParaRPr lang="en-AU" dirty="0"/>
          </a:p>
          <a:p>
            <a:pPr marL="514350" indent="-514350">
              <a:buAutoNum type="alphaLcParenR"/>
            </a:pPr>
            <a:r>
              <a:rPr lang="en-AU" dirty="0"/>
              <a:t>21.99 + 32.77 = 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68780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CCBEC-36BA-EC47-2793-00225C319D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659699"/>
            <a:ext cx="8686800" cy="1373287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Subtracting decimals algorithm (I do)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6DAABE-796C-CCFB-B9E8-1D4DA6CA80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lphaLcParenR"/>
            </a:pPr>
            <a:r>
              <a:rPr lang="en-US" dirty="0"/>
              <a:t>2</a:t>
            </a:r>
            <a:r>
              <a:rPr lang="en-AU" dirty="0"/>
              <a:t>3.7 - 12.7 = </a:t>
            </a:r>
          </a:p>
          <a:p>
            <a:pPr marL="514350" indent="-514350">
              <a:buAutoNum type="alphaLcParenR"/>
            </a:pPr>
            <a:endParaRPr lang="en-AU" dirty="0"/>
          </a:p>
          <a:p>
            <a:pPr marL="514350" indent="-514350">
              <a:buAutoNum type="alphaLcParenR"/>
            </a:pPr>
            <a:r>
              <a:rPr lang="en-AU" dirty="0"/>
              <a:t>145.98 - 11.7 = </a:t>
            </a:r>
          </a:p>
          <a:p>
            <a:pPr marL="514350" indent="-514350">
              <a:buAutoNum type="alphaLcParenR"/>
            </a:pPr>
            <a:endParaRPr lang="en-AU" dirty="0"/>
          </a:p>
          <a:p>
            <a:pPr marL="514350" indent="-514350">
              <a:buAutoNum type="alphaLcParenR"/>
            </a:pPr>
            <a:r>
              <a:rPr lang="en-AU" dirty="0"/>
              <a:t>21.99 - 12.76 = 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70364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582FB-714E-B97A-53C4-731838158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 do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61F935-E006-63D6-0BDB-6C2B189860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AutoNum type="alphaLcParenR"/>
            </a:pPr>
            <a:r>
              <a:rPr lang="en-US" sz="2800" dirty="0"/>
              <a:t>34.65 + 11.2 = </a:t>
            </a:r>
          </a:p>
          <a:p>
            <a:pPr marL="514350" indent="-514350">
              <a:buAutoNum type="alphaLcParenR"/>
            </a:pPr>
            <a:endParaRPr lang="en-US" sz="2800" dirty="0"/>
          </a:p>
          <a:p>
            <a:pPr marL="514350" indent="-514350">
              <a:buAutoNum type="alphaLcParenR"/>
            </a:pPr>
            <a:r>
              <a:rPr lang="en-US" sz="2800" dirty="0"/>
              <a:t>43.98 – 12.37 = </a:t>
            </a:r>
          </a:p>
          <a:p>
            <a:pPr marL="514350" indent="-514350">
              <a:buAutoNum type="alphaLcParenR"/>
            </a:pPr>
            <a:endParaRPr lang="en-US" sz="2800" dirty="0"/>
          </a:p>
          <a:p>
            <a:pPr marL="514350" indent="-514350">
              <a:buAutoNum type="alphaLcParenR"/>
            </a:pPr>
            <a:r>
              <a:rPr lang="en-US" sz="2800" dirty="0"/>
              <a:t>11.56 + 11.76 = 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34082973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C1728-4A38-9088-6A16-0C70603B579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Individual practice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8CD110-592A-E475-AC9E-3B563DA264A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“famous Quotations” 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“find the bingo” </a:t>
            </a:r>
            <a:endParaRPr lang="en-A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3648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2CA56-0FC9-3B4A-0E23-36BEEA931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Whiteboards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40DE65-9142-2A6C-173E-BB55F5586B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US" sz="3200" dirty="0"/>
              <a:t>Order these decimals from small to large:</a:t>
            </a:r>
          </a:p>
          <a:p>
            <a:pPr marL="0" indent="0" algn="ctr">
              <a:buNone/>
            </a:pPr>
            <a:r>
              <a:rPr lang="en-US" sz="3200" dirty="0"/>
              <a:t>0.21		0.021		0.201		0.02</a:t>
            </a:r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r>
              <a:rPr lang="en-US" sz="3200" dirty="0"/>
              <a:t>2. Determine an answer: </a:t>
            </a:r>
          </a:p>
          <a:p>
            <a:pPr marL="0" indent="0">
              <a:buNone/>
            </a:pPr>
            <a:endParaRPr lang="en-US" sz="3200" dirty="0"/>
          </a:p>
          <a:p>
            <a:pPr marL="514350" indent="-514350">
              <a:buAutoNum type="alphaLcParenR"/>
            </a:pPr>
            <a:r>
              <a:rPr lang="en-US" sz="3200" dirty="0"/>
              <a:t>23.47 + 11.87 = </a:t>
            </a:r>
          </a:p>
          <a:p>
            <a:pPr marL="514350" indent="-514350">
              <a:buAutoNum type="alphaLcParenR"/>
            </a:pPr>
            <a:r>
              <a:rPr lang="en-US" sz="3200"/>
              <a:t>19.78 – 4.61 = 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22210758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F61C5-60B3-273B-E9D1-6108D9ECA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Reflection – Fist to 5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5ABC3A-24CE-1E7F-6B1A-DAF2314997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GB" dirty="0"/>
              <a:t>Aim</a:t>
            </a:r>
          </a:p>
          <a:p>
            <a:pPr marL="457200" indent="-457200" algn="l">
              <a:buFont typeface="Wingdings" panose="05000000000000000000" pitchFamily="2" charset="2"/>
              <a:buChar char="q"/>
            </a:pPr>
            <a:r>
              <a:rPr lang="en-GB" dirty="0"/>
              <a:t>Order decimals using place value.</a:t>
            </a:r>
          </a:p>
          <a:p>
            <a:pPr marL="457200" indent="-457200" algn="l">
              <a:buFont typeface="Wingdings" panose="05000000000000000000" pitchFamily="2" charset="2"/>
              <a:buChar char="q"/>
            </a:pPr>
            <a:r>
              <a:rPr lang="en-GB" dirty="0"/>
              <a:t>Add and subtract numbers with decimals using an algorithm.</a:t>
            </a: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62433998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208</TotalTime>
  <Words>795</Words>
  <Application>Microsoft Office PowerPoint</Application>
  <PresentationFormat>On-screen Show (4:3)</PresentationFormat>
  <Paragraphs>252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Calibri</vt:lpstr>
      <vt:lpstr>Constantia</vt:lpstr>
      <vt:lpstr>Times New Roman</vt:lpstr>
      <vt:lpstr>Wingdings</vt:lpstr>
      <vt:lpstr>Wingdings 2</vt:lpstr>
      <vt:lpstr>Flow</vt:lpstr>
      <vt:lpstr>Title: Place value</vt:lpstr>
      <vt:lpstr>Place value</vt:lpstr>
      <vt:lpstr>Questions</vt:lpstr>
      <vt:lpstr>Answers</vt:lpstr>
      <vt:lpstr>Individual practice </vt:lpstr>
      <vt:lpstr>Ordering Decimals</vt:lpstr>
      <vt:lpstr>Ordering decimals</vt:lpstr>
      <vt:lpstr>Questions: MWB</vt:lpstr>
      <vt:lpstr>Answers</vt:lpstr>
      <vt:lpstr>Questions – exercise books</vt:lpstr>
      <vt:lpstr>Answers</vt:lpstr>
      <vt:lpstr>Adding decimals algorithm (I do)</vt:lpstr>
      <vt:lpstr>Subtracting decimals algorithm (I do)</vt:lpstr>
      <vt:lpstr>We do</vt:lpstr>
      <vt:lpstr>Individual practice </vt:lpstr>
      <vt:lpstr>Whiteboards </vt:lpstr>
      <vt:lpstr>Reflection – Fist to 5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Place value</dc:title>
  <dc:creator>jodie leefe</dc:creator>
  <cp:lastModifiedBy>DAVIES Rhys [Busselton Senior High School]</cp:lastModifiedBy>
  <cp:revision>37</cp:revision>
  <dcterms:created xsi:type="dcterms:W3CDTF">2014-11-30T16:38:04Z</dcterms:created>
  <dcterms:modified xsi:type="dcterms:W3CDTF">2023-05-31T05:20:45Z</dcterms:modified>
</cp:coreProperties>
</file>
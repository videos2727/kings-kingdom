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64" r:id="rId4"/>
    <p:sldId id="286" r:id="rId5"/>
    <p:sldId id="265" r:id="rId6"/>
    <p:sldId id="288" r:id="rId7"/>
    <p:sldId id="289" r:id="rId8"/>
    <p:sldId id="290" r:id="rId9"/>
    <p:sldId id="262" r:id="rId10"/>
    <p:sldId id="258" r:id="rId11"/>
    <p:sldId id="259" r:id="rId12"/>
    <p:sldId id="260" r:id="rId13"/>
    <p:sldId id="261" r:id="rId14"/>
    <p:sldId id="291" r:id="rId15"/>
    <p:sldId id="292" r:id="rId16"/>
    <p:sldId id="293" r:id="rId17"/>
    <p:sldId id="287" r:id="rId18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72A32D-6354-43C4-B80D-FBD87E4599A5}"/>
              </a:ext>
            </a:extLst>
          </p:cNvPr>
          <p:cNvSpPr txBox="1">
            <a:spLocks/>
          </p:cNvSpPr>
          <p:nvPr/>
        </p:nvSpPr>
        <p:spPr>
          <a:xfrm>
            <a:off x="1638300" y="846623"/>
            <a:ext cx="8915399" cy="87001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Title: </a:t>
            </a:r>
            <a:r>
              <a:rPr lang="en-AU" dirty="0">
                <a:solidFill>
                  <a:srgbClr val="00B0F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Random weights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AE41B-3C57-4A98-9EB6-2408F86959AD}"/>
              </a:ext>
            </a:extLst>
          </p:cNvPr>
          <p:cNvSpPr txBox="1"/>
          <p:nvPr/>
        </p:nvSpPr>
        <p:spPr>
          <a:xfrm>
            <a:off x="2334828" y="2521059"/>
            <a:ext cx="91972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Aim: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B0F0"/>
                </a:solidFill>
              </a:rPr>
              <a:t>Calculate cost per kilo from random weights</a:t>
            </a:r>
          </a:p>
          <a:p>
            <a:r>
              <a:rPr lang="en-US" sz="2800" dirty="0">
                <a:solidFill>
                  <a:srgbClr val="00B0F0"/>
                </a:solidFill>
              </a:rPr>
              <a:t> </a:t>
            </a:r>
          </a:p>
          <a:p>
            <a:r>
              <a:rPr lang="en-US" sz="2800" dirty="0">
                <a:solidFill>
                  <a:srgbClr val="00B0F0"/>
                </a:solidFill>
              </a:rPr>
              <a:t>Plan: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rgbClr val="00B0F0"/>
                </a:solidFill>
              </a:rPr>
              <a:t>Review Probability 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rgbClr val="00B0F0"/>
                </a:solidFill>
              </a:rPr>
              <a:t>Price per kilo </a:t>
            </a:r>
          </a:p>
          <a:p>
            <a:pPr marL="457200" indent="-457200">
              <a:buFontTx/>
              <a:buChar char="-"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7546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EBCC-31B6-4843-B034-B36CE5FD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Choral response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5F62D-E0BB-4E28-9C26-799986B0F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7675" y="1540189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b="1" dirty="0">
                <a:solidFill>
                  <a:srgbClr val="FF0000"/>
                </a:solidFill>
              </a:rPr>
              <a:t>Sample space is the list of ALL possible outcomes of a trial.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Sample space is the list of ___ possible outcomes of a trial.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Sample space is the list of ___ possible ________ of a trial.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What is a sample space? </a:t>
            </a:r>
          </a:p>
        </p:txBody>
      </p:sp>
    </p:spTree>
    <p:extLst>
      <p:ext uri="{BB962C8B-B14F-4D97-AF65-F5344CB8AC3E}">
        <p14:creationId xmlns:p14="http://schemas.microsoft.com/office/powerpoint/2010/main" val="184371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6461-0219-4451-BFBE-34BCCE42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Sample space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BB77D-2E89-452D-B0FA-39B52242A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A normal 6-sided die is rolled.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Which is the correct sample space? 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AutoNum type="alphaLcParenR"/>
            </a:pPr>
            <a:r>
              <a:rPr lang="en-US" sz="2400" b="1" dirty="0"/>
              <a:t>S = 1 – 6 </a:t>
            </a:r>
          </a:p>
          <a:p>
            <a:pPr>
              <a:buAutoNum type="alphaLcParenR"/>
            </a:pPr>
            <a:r>
              <a:rPr lang="en-US" sz="2400" b="1" dirty="0"/>
              <a:t>S = {1 – 6}</a:t>
            </a:r>
          </a:p>
          <a:p>
            <a:pPr>
              <a:buAutoNum type="alphaLcParenR"/>
            </a:pPr>
            <a:r>
              <a:rPr lang="en-US" sz="2400" b="1" dirty="0"/>
              <a:t>S = {1, 2, 3, 4, 5, 6}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55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847850" y="404813"/>
            <a:ext cx="8496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5400">
                <a:solidFill>
                  <a:srgbClr val="000000"/>
                </a:solidFill>
              </a:rPr>
              <a:t>Probability scale</a:t>
            </a:r>
            <a:r>
              <a:rPr lang="en-GB" alt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1954213" y="3213100"/>
            <a:ext cx="8280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3970338" y="3068638"/>
            <a:ext cx="4176712" cy="215900"/>
            <a:chOff x="1519" y="2160"/>
            <a:chExt cx="2631" cy="136"/>
          </a:xfrm>
        </p:grpSpPr>
        <p:sp>
          <p:nvSpPr>
            <p:cNvPr id="8221" name="Line 10"/>
            <p:cNvSpPr>
              <a:spLocks noChangeShapeType="1"/>
            </p:cNvSpPr>
            <p:nvPr/>
          </p:nvSpPr>
          <p:spPr bwMode="auto">
            <a:xfrm flipV="1">
              <a:off x="1519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222" name="Line 11"/>
            <p:cNvSpPr>
              <a:spLocks noChangeShapeType="1"/>
            </p:cNvSpPr>
            <p:nvPr/>
          </p:nvSpPr>
          <p:spPr bwMode="auto">
            <a:xfrm flipV="1">
              <a:off x="4150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668464" y="1898650"/>
            <a:ext cx="790575" cy="1385888"/>
            <a:chOff x="69" y="1423"/>
            <a:chExt cx="498" cy="873"/>
          </a:xfrm>
        </p:grpSpPr>
        <p:sp>
          <p:nvSpPr>
            <p:cNvPr id="8219" name="Line 6"/>
            <p:cNvSpPr>
              <a:spLocks noChangeShapeType="1"/>
            </p:cNvSpPr>
            <p:nvPr/>
          </p:nvSpPr>
          <p:spPr bwMode="auto">
            <a:xfrm flipV="1">
              <a:off x="249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220" name="Text Box 15"/>
            <p:cNvSpPr txBox="1">
              <a:spLocks noChangeArrowheads="1"/>
            </p:cNvSpPr>
            <p:nvPr/>
          </p:nvSpPr>
          <p:spPr bwMode="auto">
            <a:xfrm>
              <a:off x="69" y="1423"/>
              <a:ext cx="498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9877426" y="1898650"/>
            <a:ext cx="790575" cy="1385888"/>
            <a:chOff x="5240" y="1423"/>
            <a:chExt cx="498" cy="873"/>
          </a:xfrm>
        </p:grpSpPr>
        <p:sp>
          <p:nvSpPr>
            <p:cNvPr id="8217" name="Line 7"/>
            <p:cNvSpPr>
              <a:spLocks noChangeShapeType="1"/>
            </p:cNvSpPr>
            <p:nvPr/>
          </p:nvSpPr>
          <p:spPr bwMode="auto">
            <a:xfrm flipV="1">
              <a:off x="5465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218" name="Text Box 16"/>
            <p:cNvSpPr txBox="1">
              <a:spLocks noChangeArrowheads="1"/>
            </p:cNvSpPr>
            <p:nvPr/>
          </p:nvSpPr>
          <p:spPr bwMode="auto">
            <a:xfrm>
              <a:off x="5240" y="1423"/>
              <a:ext cx="498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1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338764" y="1916114"/>
            <a:ext cx="1368425" cy="1368425"/>
            <a:chOff x="2381" y="1434"/>
            <a:chExt cx="862" cy="862"/>
          </a:xfrm>
        </p:grpSpPr>
        <p:sp>
          <p:nvSpPr>
            <p:cNvPr id="8215" name="Line 8"/>
            <p:cNvSpPr>
              <a:spLocks noChangeShapeType="1"/>
            </p:cNvSpPr>
            <p:nvPr/>
          </p:nvSpPr>
          <p:spPr bwMode="auto">
            <a:xfrm flipV="1">
              <a:off x="2835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216" name="Text Box 17"/>
            <p:cNvSpPr txBox="1">
              <a:spLocks noChangeArrowheads="1"/>
            </p:cNvSpPr>
            <p:nvPr/>
          </p:nvSpPr>
          <p:spPr bwMode="auto">
            <a:xfrm>
              <a:off x="2381" y="1434"/>
              <a:ext cx="862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0.5</a:t>
              </a:r>
            </a:p>
          </p:txBody>
        </p:sp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5448300" y="5949951"/>
            <a:ext cx="1943100" cy="576263"/>
            <a:chOff x="2472" y="3793"/>
            <a:chExt cx="1224" cy="363"/>
          </a:xfrm>
        </p:grpSpPr>
        <p:sp>
          <p:nvSpPr>
            <p:cNvPr id="8213" name="Text Box 22"/>
            <p:cNvSpPr txBox="1">
              <a:spLocks noChangeArrowheads="1"/>
            </p:cNvSpPr>
            <p:nvPr/>
          </p:nvSpPr>
          <p:spPr bwMode="auto">
            <a:xfrm>
              <a:off x="2477" y="3838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CERTAIN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8214" name="Oval 27"/>
            <p:cNvSpPr>
              <a:spLocks noChangeArrowheads="1"/>
            </p:cNvSpPr>
            <p:nvPr/>
          </p:nvSpPr>
          <p:spPr bwMode="auto">
            <a:xfrm>
              <a:off x="2472" y="3793"/>
              <a:ext cx="862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1847851" y="5949951"/>
            <a:ext cx="1935163" cy="576263"/>
            <a:chOff x="2699" y="3612"/>
            <a:chExt cx="1219" cy="363"/>
          </a:xfrm>
        </p:grpSpPr>
        <p:sp>
          <p:nvSpPr>
            <p:cNvPr id="8211" name="Text Box 33"/>
            <p:cNvSpPr txBox="1">
              <a:spLocks noChangeArrowheads="1"/>
            </p:cNvSpPr>
            <p:nvPr/>
          </p:nvSpPr>
          <p:spPr bwMode="auto">
            <a:xfrm>
              <a:off x="2699" y="3657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  LIKELY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8212" name="Oval 34"/>
            <p:cNvSpPr>
              <a:spLocks noChangeArrowheads="1"/>
            </p:cNvSpPr>
            <p:nvPr/>
          </p:nvSpPr>
          <p:spPr bwMode="auto">
            <a:xfrm>
              <a:off x="2742" y="3612"/>
              <a:ext cx="771" cy="363"/>
            </a:xfrm>
            <a:prstGeom prst="ellipse">
              <a:avLst/>
            </a:prstGeom>
            <a:solidFill>
              <a:srgbClr val="FFFF99">
                <a:alpha val="0"/>
              </a:srgbClr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7113588" y="5876926"/>
            <a:ext cx="1935162" cy="720725"/>
            <a:chOff x="3696" y="2432"/>
            <a:chExt cx="1219" cy="454"/>
          </a:xfrm>
        </p:grpSpPr>
        <p:sp>
          <p:nvSpPr>
            <p:cNvPr id="8209" name="Text Box 35"/>
            <p:cNvSpPr txBox="1">
              <a:spLocks noChangeArrowheads="1"/>
            </p:cNvSpPr>
            <p:nvPr/>
          </p:nvSpPr>
          <p:spPr bwMode="auto">
            <a:xfrm>
              <a:off x="3696" y="2523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UNLIKELY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8210" name="Oval 36"/>
            <p:cNvSpPr>
              <a:spLocks noChangeArrowheads="1"/>
            </p:cNvSpPr>
            <p:nvPr/>
          </p:nvSpPr>
          <p:spPr bwMode="auto">
            <a:xfrm>
              <a:off x="3696" y="2432"/>
              <a:ext cx="862" cy="454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oup 42"/>
          <p:cNvGrpSpPr>
            <a:grpSpLocks/>
          </p:cNvGrpSpPr>
          <p:nvPr/>
        </p:nvGrpSpPr>
        <p:grpSpPr bwMode="auto">
          <a:xfrm>
            <a:off x="3432176" y="5949951"/>
            <a:ext cx="1935163" cy="576263"/>
            <a:chOff x="793" y="2251"/>
            <a:chExt cx="1219" cy="363"/>
          </a:xfrm>
        </p:grpSpPr>
        <p:sp>
          <p:nvSpPr>
            <p:cNvPr id="8207" name="Text Box 37"/>
            <p:cNvSpPr txBox="1">
              <a:spLocks noChangeArrowheads="1"/>
            </p:cNvSpPr>
            <p:nvPr/>
          </p:nvSpPr>
          <p:spPr bwMode="auto">
            <a:xfrm>
              <a:off x="793" y="2296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IMPOSSIBLE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8208" name="Oval 38"/>
            <p:cNvSpPr>
              <a:spLocks noChangeArrowheads="1"/>
            </p:cNvSpPr>
            <p:nvPr/>
          </p:nvSpPr>
          <p:spPr bwMode="auto">
            <a:xfrm>
              <a:off x="793" y="2251"/>
              <a:ext cx="1089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0" name="Group 44"/>
          <p:cNvGrpSpPr>
            <a:grpSpLocks/>
          </p:cNvGrpSpPr>
          <p:nvPr/>
        </p:nvGrpSpPr>
        <p:grpSpPr bwMode="auto">
          <a:xfrm>
            <a:off x="8732838" y="5949951"/>
            <a:ext cx="1935162" cy="576263"/>
            <a:chOff x="3696" y="3657"/>
            <a:chExt cx="1219" cy="363"/>
          </a:xfrm>
        </p:grpSpPr>
        <p:sp>
          <p:nvSpPr>
            <p:cNvPr id="8205" name="Text Box 39"/>
            <p:cNvSpPr txBox="1">
              <a:spLocks noChangeArrowheads="1"/>
            </p:cNvSpPr>
            <p:nvPr/>
          </p:nvSpPr>
          <p:spPr bwMode="auto">
            <a:xfrm>
              <a:off x="3696" y="3702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   EVEN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8206" name="Oval 40"/>
            <p:cNvSpPr>
              <a:spLocks noChangeArrowheads="1"/>
            </p:cNvSpPr>
            <p:nvPr/>
          </p:nvSpPr>
          <p:spPr bwMode="auto">
            <a:xfrm>
              <a:off x="3739" y="3657"/>
              <a:ext cx="729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55 -0.01042 L -0.19479 -0.3891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74" y="-1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85 -0.05255 L 0.33698 -0.3884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50" y="-1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122 -0.05255 L -0.26979 -0.38912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35" y="-1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7.40741E-7 L 0.46484 -0.3828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42" y="-19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7.40741E-7 L -0.32852 -0.38843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32" y="-1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847850" y="404813"/>
            <a:ext cx="8496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sz="5400">
                <a:solidFill>
                  <a:srgbClr val="000000"/>
                </a:solidFill>
              </a:rPr>
              <a:t>Probability scale</a:t>
            </a:r>
            <a:r>
              <a:rPr lang="en-GB" alt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>
            <a:off x="1954213" y="3213100"/>
            <a:ext cx="8280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9220" name="Group 4"/>
          <p:cNvGrpSpPr>
            <a:grpSpLocks/>
          </p:cNvGrpSpPr>
          <p:nvPr/>
        </p:nvGrpSpPr>
        <p:grpSpPr bwMode="auto">
          <a:xfrm>
            <a:off x="3970338" y="3068638"/>
            <a:ext cx="4176712" cy="215900"/>
            <a:chOff x="1519" y="2160"/>
            <a:chExt cx="2631" cy="136"/>
          </a:xfrm>
        </p:grpSpPr>
        <p:sp>
          <p:nvSpPr>
            <p:cNvPr id="9264" name="Line 5"/>
            <p:cNvSpPr>
              <a:spLocks noChangeShapeType="1"/>
            </p:cNvSpPr>
            <p:nvPr/>
          </p:nvSpPr>
          <p:spPr bwMode="auto">
            <a:xfrm flipV="1">
              <a:off x="1519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265" name="Line 6"/>
            <p:cNvSpPr>
              <a:spLocks noChangeShapeType="1"/>
            </p:cNvSpPr>
            <p:nvPr/>
          </p:nvSpPr>
          <p:spPr bwMode="auto">
            <a:xfrm flipV="1">
              <a:off x="4150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9221" name="Group 7"/>
          <p:cNvGrpSpPr>
            <a:grpSpLocks/>
          </p:cNvGrpSpPr>
          <p:nvPr/>
        </p:nvGrpSpPr>
        <p:grpSpPr bwMode="auto">
          <a:xfrm>
            <a:off x="1668464" y="1898650"/>
            <a:ext cx="790575" cy="1385888"/>
            <a:chOff x="69" y="1423"/>
            <a:chExt cx="498" cy="873"/>
          </a:xfrm>
        </p:grpSpPr>
        <p:sp>
          <p:nvSpPr>
            <p:cNvPr id="9262" name="Line 8"/>
            <p:cNvSpPr>
              <a:spLocks noChangeShapeType="1"/>
            </p:cNvSpPr>
            <p:nvPr/>
          </p:nvSpPr>
          <p:spPr bwMode="auto">
            <a:xfrm flipV="1">
              <a:off x="249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263" name="Text Box 9"/>
            <p:cNvSpPr txBox="1">
              <a:spLocks noChangeArrowheads="1"/>
            </p:cNvSpPr>
            <p:nvPr/>
          </p:nvSpPr>
          <p:spPr bwMode="auto">
            <a:xfrm>
              <a:off x="69" y="1423"/>
              <a:ext cx="498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9222" name="Group 13"/>
          <p:cNvGrpSpPr>
            <a:grpSpLocks/>
          </p:cNvGrpSpPr>
          <p:nvPr/>
        </p:nvGrpSpPr>
        <p:grpSpPr bwMode="auto">
          <a:xfrm>
            <a:off x="5338764" y="1916114"/>
            <a:ext cx="1368425" cy="1368425"/>
            <a:chOff x="2381" y="1434"/>
            <a:chExt cx="862" cy="862"/>
          </a:xfrm>
        </p:grpSpPr>
        <p:sp>
          <p:nvSpPr>
            <p:cNvPr id="9260" name="Line 14"/>
            <p:cNvSpPr>
              <a:spLocks noChangeShapeType="1"/>
            </p:cNvSpPr>
            <p:nvPr/>
          </p:nvSpPr>
          <p:spPr bwMode="auto">
            <a:xfrm flipV="1">
              <a:off x="2835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261" name="Text Box 15"/>
            <p:cNvSpPr txBox="1">
              <a:spLocks noChangeArrowheads="1"/>
            </p:cNvSpPr>
            <p:nvPr/>
          </p:nvSpPr>
          <p:spPr bwMode="auto">
            <a:xfrm>
              <a:off x="2381" y="1434"/>
              <a:ext cx="862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0.5</a:t>
              </a:r>
            </a:p>
          </p:txBody>
        </p:sp>
      </p:grpSp>
      <p:grpSp>
        <p:nvGrpSpPr>
          <p:cNvPr id="9223" name="Group 16"/>
          <p:cNvGrpSpPr>
            <a:grpSpLocks/>
          </p:cNvGrpSpPr>
          <p:nvPr/>
        </p:nvGrpSpPr>
        <p:grpSpPr bwMode="auto">
          <a:xfrm>
            <a:off x="9191625" y="3284538"/>
            <a:ext cx="1943100" cy="576262"/>
            <a:chOff x="2472" y="3793"/>
            <a:chExt cx="1224" cy="363"/>
          </a:xfrm>
        </p:grpSpPr>
        <p:sp>
          <p:nvSpPr>
            <p:cNvPr id="9258" name="Text Box 17"/>
            <p:cNvSpPr txBox="1">
              <a:spLocks noChangeArrowheads="1"/>
            </p:cNvSpPr>
            <p:nvPr/>
          </p:nvSpPr>
          <p:spPr bwMode="auto">
            <a:xfrm>
              <a:off x="2477" y="3838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CERTAIN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59" name="Oval 18"/>
            <p:cNvSpPr>
              <a:spLocks noChangeArrowheads="1"/>
            </p:cNvSpPr>
            <p:nvPr/>
          </p:nvSpPr>
          <p:spPr bwMode="auto">
            <a:xfrm>
              <a:off x="2472" y="3793"/>
              <a:ext cx="862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224" name="Group 19"/>
          <p:cNvGrpSpPr>
            <a:grpSpLocks/>
          </p:cNvGrpSpPr>
          <p:nvPr/>
        </p:nvGrpSpPr>
        <p:grpSpPr bwMode="auto">
          <a:xfrm>
            <a:off x="7464426" y="3284538"/>
            <a:ext cx="1935163" cy="576262"/>
            <a:chOff x="2699" y="3612"/>
            <a:chExt cx="1219" cy="363"/>
          </a:xfrm>
        </p:grpSpPr>
        <p:sp>
          <p:nvSpPr>
            <p:cNvPr id="9256" name="Text Box 20"/>
            <p:cNvSpPr txBox="1">
              <a:spLocks noChangeArrowheads="1"/>
            </p:cNvSpPr>
            <p:nvPr/>
          </p:nvSpPr>
          <p:spPr bwMode="auto">
            <a:xfrm>
              <a:off x="2699" y="3657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  LIKELY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57" name="Oval 21"/>
            <p:cNvSpPr>
              <a:spLocks noChangeArrowheads="1"/>
            </p:cNvSpPr>
            <p:nvPr/>
          </p:nvSpPr>
          <p:spPr bwMode="auto">
            <a:xfrm>
              <a:off x="2742" y="3612"/>
              <a:ext cx="771" cy="363"/>
            </a:xfrm>
            <a:prstGeom prst="ellipse">
              <a:avLst/>
            </a:prstGeom>
            <a:solidFill>
              <a:srgbClr val="FFFF99">
                <a:alpha val="0"/>
              </a:srgbClr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225" name="Group 22"/>
          <p:cNvGrpSpPr>
            <a:grpSpLocks/>
          </p:cNvGrpSpPr>
          <p:nvPr/>
        </p:nvGrpSpPr>
        <p:grpSpPr bwMode="auto">
          <a:xfrm>
            <a:off x="3503613" y="3284539"/>
            <a:ext cx="1935162" cy="720725"/>
            <a:chOff x="3696" y="2432"/>
            <a:chExt cx="1219" cy="454"/>
          </a:xfrm>
        </p:grpSpPr>
        <p:sp>
          <p:nvSpPr>
            <p:cNvPr id="9254" name="Text Box 23"/>
            <p:cNvSpPr txBox="1">
              <a:spLocks noChangeArrowheads="1"/>
            </p:cNvSpPr>
            <p:nvPr/>
          </p:nvSpPr>
          <p:spPr bwMode="auto">
            <a:xfrm>
              <a:off x="3696" y="2523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UNLIKELY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55" name="Oval 24"/>
            <p:cNvSpPr>
              <a:spLocks noChangeArrowheads="1"/>
            </p:cNvSpPr>
            <p:nvPr/>
          </p:nvSpPr>
          <p:spPr bwMode="auto">
            <a:xfrm>
              <a:off x="3696" y="2432"/>
              <a:ext cx="862" cy="454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226" name="Group 25"/>
          <p:cNvGrpSpPr>
            <a:grpSpLocks/>
          </p:cNvGrpSpPr>
          <p:nvPr/>
        </p:nvGrpSpPr>
        <p:grpSpPr bwMode="auto">
          <a:xfrm>
            <a:off x="1568451" y="3284538"/>
            <a:ext cx="1935163" cy="576262"/>
            <a:chOff x="793" y="2251"/>
            <a:chExt cx="1219" cy="363"/>
          </a:xfrm>
        </p:grpSpPr>
        <p:sp>
          <p:nvSpPr>
            <p:cNvPr id="9252" name="Text Box 26"/>
            <p:cNvSpPr txBox="1">
              <a:spLocks noChangeArrowheads="1"/>
            </p:cNvSpPr>
            <p:nvPr/>
          </p:nvSpPr>
          <p:spPr bwMode="auto">
            <a:xfrm>
              <a:off x="793" y="2296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IMPOSSIBLE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53" name="Oval 27"/>
            <p:cNvSpPr>
              <a:spLocks noChangeArrowheads="1"/>
            </p:cNvSpPr>
            <p:nvPr/>
          </p:nvSpPr>
          <p:spPr bwMode="auto">
            <a:xfrm>
              <a:off x="793" y="2251"/>
              <a:ext cx="1089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227" name="Group 28"/>
          <p:cNvGrpSpPr>
            <a:grpSpLocks/>
          </p:cNvGrpSpPr>
          <p:nvPr/>
        </p:nvGrpSpPr>
        <p:grpSpPr bwMode="auto">
          <a:xfrm>
            <a:off x="5448301" y="3284538"/>
            <a:ext cx="1935163" cy="576262"/>
            <a:chOff x="3696" y="3657"/>
            <a:chExt cx="1219" cy="363"/>
          </a:xfrm>
        </p:grpSpPr>
        <p:sp>
          <p:nvSpPr>
            <p:cNvPr id="9250" name="Text Box 29"/>
            <p:cNvSpPr txBox="1">
              <a:spLocks noChangeArrowheads="1"/>
            </p:cNvSpPr>
            <p:nvPr/>
          </p:nvSpPr>
          <p:spPr bwMode="auto">
            <a:xfrm>
              <a:off x="3696" y="3702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000">
                  <a:solidFill>
                    <a:srgbClr val="0033CC"/>
                  </a:solidFill>
                </a:rPr>
                <a:t>   EVEN</a:t>
              </a:r>
              <a:r>
                <a:rPr lang="en-GB" altLang="en-US" sz="20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51" name="Oval 30"/>
            <p:cNvSpPr>
              <a:spLocks noChangeArrowheads="1"/>
            </p:cNvSpPr>
            <p:nvPr/>
          </p:nvSpPr>
          <p:spPr bwMode="auto">
            <a:xfrm>
              <a:off x="3739" y="3657"/>
              <a:ext cx="729" cy="363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233" name="Group 10"/>
          <p:cNvGrpSpPr>
            <a:grpSpLocks/>
          </p:cNvGrpSpPr>
          <p:nvPr/>
        </p:nvGrpSpPr>
        <p:grpSpPr bwMode="auto">
          <a:xfrm>
            <a:off x="9877426" y="1898650"/>
            <a:ext cx="790575" cy="1385888"/>
            <a:chOff x="5240" y="1423"/>
            <a:chExt cx="498" cy="873"/>
          </a:xfrm>
        </p:grpSpPr>
        <p:sp>
          <p:nvSpPr>
            <p:cNvPr id="9244" name="Line 11"/>
            <p:cNvSpPr>
              <a:spLocks noChangeShapeType="1"/>
            </p:cNvSpPr>
            <p:nvPr/>
          </p:nvSpPr>
          <p:spPr bwMode="auto">
            <a:xfrm flipV="1">
              <a:off x="5465" y="2160"/>
              <a:ext cx="0" cy="1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245" name="Text Box 12"/>
            <p:cNvSpPr txBox="1">
              <a:spLocks noChangeArrowheads="1"/>
            </p:cNvSpPr>
            <p:nvPr/>
          </p:nvSpPr>
          <p:spPr bwMode="auto">
            <a:xfrm>
              <a:off x="5240" y="1423"/>
              <a:ext cx="498" cy="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6600" b="1">
                  <a:solidFill>
                    <a:srgbClr val="000000"/>
                  </a:solidFill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E49593C-70F5-4A0C-B169-84E80E8A270E}"/>
              </a:ext>
            </a:extLst>
          </p:cNvPr>
          <p:cNvSpPr txBox="1"/>
          <p:nvPr/>
        </p:nvSpPr>
        <p:spPr>
          <a:xfrm>
            <a:off x="8957569" y="337351"/>
            <a:ext cx="209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</a:t>
            </a:r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24EAD2-4998-40B7-B20D-80B5C2EFE85A}"/>
              </a:ext>
            </a:extLst>
          </p:cNvPr>
          <p:cNvSpPr txBox="1"/>
          <p:nvPr/>
        </p:nvSpPr>
        <p:spPr>
          <a:xfrm>
            <a:off x="2330107" y="4180344"/>
            <a:ext cx="80140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Where would these events sit? </a:t>
            </a:r>
          </a:p>
          <a:p>
            <a:endParaRPr lang="en-US" sz="2400" b="1" dirty="0"/>
          </a:p>
          <a:p>
            <a:pPr marL="342900" indent="-342900">
              <a:buAutoNum type="alphaLcParenR"/>
            </a:pPr>
            <a:r>
              <a:rPr lang="en-US" sz="2400" b="1" dirty="0"/>
              <a:t>Rolling an even number on a normal die</a:t>
            </a:r>
          </a:p>
          <a:p>
            <a:pPr marL="342900" indent="-342900">
              <a:buAutoNum type="alphaLcParenR"/>
            </a:pPr>
            <a:r>
              <a:rPr lang="en-US" sz="2400" b="1" dirty="0"/>
              <a:t>Snowing in Busselton in December </a:t>
            </a:r>
          </a:p>
          <a:p>
            <a:pPr marL="342900" indent="-342900">
              <a:buAutoNum type="alphaLcParenR"/>
            </a:pPr>
            <a:r>
              <a:rPr lang="en-US" sz="2400" b="1" dirty="0"/>
              <a:t>Mr. Davies catching a fish on Sunday </a:t>
            </a:r>
          </a:p>
          <a:p>
            <a:pPr marL="342900" indent="-342900">
              <a:buAutoNum type="alphaLcParenR"/>
            </a:pPr>
            <a:r>
              <a:rPr lang="en-US" sz="2400" b="1" dirty="0"/>
              <a:t>Rolling a 1 on a normal die </a:t>
            </a:r>
          </a:p>
          <a:p>
            <a:pPr marL="342900" indent="-342900">
              <a:buAutoNum type="alphaLcParenR"/>
            </a:pPr>
            <a:r>
              <a:rPr lang="en-US" sz="2400" b="1" dirty="0"/>
              <a:t>Getting a number less than 7 on a normal die</a:t>
            </a:r>
            <a:endParaRPr lang="en-A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1411-51C0-DD4D-39A3-99400383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price per 100g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A909A-C0E5-6CBE-28D4-53B861B84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4513" y="2133600"/>
            <a:ext cx="9800099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IF the price is in Kg (e.g. $14 per Kg) how do we convert it to price per 100g?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Divide by 10!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If the price is per 100g (e.g. $1.20 per 100g) how do we convert to price per Kg?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Times by 10!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20178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B66A-A288-9A6F-2DE1-6B356867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00FF00"/>
                </a:highlight>
              </a:rPr>
              <a:t>I do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</a:rPr>
              <a:t>we do 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DF1F3-6CBD-F48A-EAB2-72C3DC5BA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Price per Kg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CED68E-818D-48A0-BB5B-74E377691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06858" y="2548966"/>
            <a:ext cx="5325247" cy="41803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Convert to 100g price: 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buAutoNum type="alphaLcParenR"/>
            </a:pPr>
            <a:r>
              <a:rPr lang="en-US" sz="2000" b="1" dirty="0">
                <a:highlight>
                  <a:srgbClr val="00FF00"/>
                </a:highlight>
              </a:rPr>
              <a:t>$12.50 per Kg </a:t>
            </a:r>
          </a:p>
          <a:p>
            <a:pPr>
              <a:buAutoNum type="alphaLcParenR"/>
            </a:pPr>
            <a:endParaRPr lang="en-US" sz="2000" b="1" dirty="0">
              <a:highlight>
                <a:srgbClr val="00FF00"/>
              </a:highlight>
            </a:endParaRPr>
          </a:p>
          <a:p>
            <a:pPr>
              <a:buAutoNum type="alphaLcParenR"/>
            </a:pPr>
            <a:r>
              <a:rPr lang="en-US" sz="2000" b="1" dirty="0">
                <a:highlight>
                  <a:srgbClr val="00FF00"/>
                </a:highlight>
              </a:rPr>
              <a:t>$7.50 per Kg </a:t>
            </a:r>
          </a:p>
          <a:p>
            <a:pPr>
              <a:buAutoNum type="alphaLcParenR"/>
            </a:pPr>
            <a:endParaRPr lang="en-US" sz="2000" b="1" dirty="0"/>
          </a:p>
          <a:p>
            <a:pPr>
              <a:buAutoNum type="alphaLcParenR"/>
            </a:pPr>
            <a:r>
              <a:rPr lang="en-US" sz="2000" b="1" dirty="0">
                <a:highlight>
                  <a:srgbClr val="FFFF00"/>
                </a:highlight>
              </a:rPr>
              <a:t>$24 per kg </a:t>
            </a:r>
          </a:p>
          <a:p>
            <a:pPr>
              <a:buAutoNum type="alphaLcParenR"/>
            </a:pPr>
            <a:endParaRPr lang="en-US" sz="2000" b="1" dirty="0">
              <a:highlight>
                <a:srgbClr val="FFFF00"/>
              </a:highlight>
            </a:endParaRPr>
          </a:p>
          <a:p>
            <a:pPr>
              <a:buAutoNum type="alphaLcParenR"/>
            </a:pPr>
            <a:r>
              <a:rPr lang="en-AU" sz="2000" b="1" dirty="0">
                <a:highlight>
                  <a:srgbClr val="FFFF00"/>
                </a:highlight>
              </a:rPr>
              <a:t>$40 per Kg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E38D5D-7826-78E5-29BB-9653E0D2C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Price per 100g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A90853F-51AA-B4E0-2B43-2BA08C081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66956" y="2545737"/>
            <a:ext cx="4835653" cy="3997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Convert to Kg price: 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buAutoNum type="alphaLcParenR"/>
            </a:pPr>
            <a:r>
              <a:rPr lang="en-US" sz="2000" b="1" dirty="0">
                <a:highlight>
                  <a:srgbClr val="00FF00"/>
                </a:highlight>
              </a:rPr>
              <a:t>$0.45 per 100g </a:t>
            </a:r>
          </a:p>
          <a:p>
            <a:pPr>
              <a:buAutoNum type="alphaLcParenR"/>
            </a:pPr>
            <a:endParaRPr lang="en-US" sz="2000" b="1" dirty="0"/>
          </a:p>
          <a:p>
            <a:pPr>
              <a:buAutoNum type="alphaLcParenR"/>
            </a:pPr>
            <a:r>
              <a:rPr lang="en-US" sz="2000" b="1" dirty="0">
                <a:highlight>
                  <a:srgbClr val="00FF00"/>
                </a:highlight>
              </a:rPr>
              <a:t>$1.02 per 100g </a:t>
            </a:r>
          </a:p>
          <a:p>
            <a:pPr>
              <a:buAutoNum type="alphaLcParenR"/>
            </a:pPr>
            <a:endParaRPr lang="en-US" sz="2000" b="1" dirty="0"/>
          </a:p>
          <a:p>
            <a:pPr>
              <a:buAutoNum type="alphaLcParenR"/>
            </a:pPr>
            <a:r>
              <a:rPr lang="en-US" sz="2000" b="1" dirty="0">
                <a:highlight>
                  <a:srgbClr val="FFFF00"/>
                </a:highlight>
              </a:rPr>
              <a:t>$0.65 per 100g </a:t>
            </a:r>
          </a:p>
          <a:p>
            <a:pPr>
              <a:buAutoNum type="alphaLcParenR"/>
            </a:pPr>
            <a:endParaRPr lang="en-US" sz="2000" b="1" dirty="0">
              <a:highlight>
                <a:srgbClr val="FFFF00"/>
              </a:highlight>
            </a:endParaRPr>
          </a:p>
          <a:p>
            <a:pPr>
              <a:buAutoNum type="alphaLcParenR"/>
            </a:pPr>
            <a:r>
              <a:rPr lang="en-AU" sz="2000" b="1" dirty="0">
                <a:highlight>
                  <a:srgbClr val="FFFF00"/>
                </a:highlight>
              </a:rPr>
              <a:t>$3.15 per 100g</a:t>
            </a:r>
          </a:p>
        </p:txBody>
      </p:sp>
    </p:spTree>
    <p:extLst>
      <p:ext uri="{BB962C8B-B14F-4D97-AF65-F5344CB8AC3E}">
        <p14:creationId xmlns:p14="http://schemas.microsoft.com/office/powerpoint/2010/main" val="370725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EB30C-6C04-6EE9-1F88-99A96B7E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do – exercise books 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7FAD6-3E11-D3E6-9795-611B4E6FB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1707" y="1681344"/>
            <a:ext cx="3992732" cy="576262"/>
          </a:xfrm>
        </p:spPr>
        <p:txBody>
          <a:bodyPr/>
          <a:lstStyle/>
          <a:p>
            <a:r>
              <a:rPr lang="en-US" sz="2800" b="1" dirty="0">
                <a:highlight>
                  <a:srgbClr val="FFFF00"/>
                </a:highlight>
              </a:rPr>
              <a:t>Convert to Kg price 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4EEB4-719A-ABE0-7B1B-E9962D55C8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AutoNum type="alphaLcParenR"/>
            </a:pPr>
            <a:r>
              <a:rPr lang="en-US" sz="2400" b="1" dirty="0"/>
              <a:t>$2 per 100g </a:t>
            </a:r>
          </a:p>
          <a:p>
            <a:pPr marL="457200" indent="-457200">
              <a:buAutoNum type="alphaLcParenR"/>
            </a:pPr>
            <a:r>
              <a:rPr lang="en-AU" sz="2400" b="1" dirty="0"/>
              <a:t>$0.54 per 100g</a:t>
            </a:r>
          </a:p>
          <a:p>
            <a:pPr marL="457200" indent="-457200">
              <a:buAutoNum type="alphaLcParenR"/>
            </a:pPr>
            <a:r>
              <a:rPr lang="en-AU" sz="2400" b="1" dirty="0"/>
              <a:t>$0.45 per 100g </a:t>
            </a:r>
          </a:p>
          <a:p>
            <a:pPr marL="457200" indent="-457200">
              <a:buAutoNum type="alphaLcParenR"/>
            </a:pPr>
            <a:r>
              <a:rPr lang="en-AU" sz="2400" b="1" dirty="0"/>
              <a:t>$5.17 per 100g</a:t>
            </a:r>
          </a:p>
          <a:p>
            <a:pPr marL="457200" indent="-457200">
              <a:buAutoNum type="alphaLcParenR"/>
            </a:pPr>
            <a:r>
              <a:rPr lang="en-AU" sz="2400" b="1" dirty="0"/>
              <a:t>$2.10 per 200g </a:t>
            </a:r>
            <a:endParaRPr lang="en-US" sz="24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BC8972-BCAE-FA2E-090A-4F36CDD61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32105" y="1607521"/>
            <a:ext cx="3999001" cy="576262"/>
          </a:xfrm>
        </p:spPr>
        <p:txBody>
          <a:bodyPr/>
          <a:lstStyle/>
          <a:p>
            <a:r>
              <a:rPr lang="en-US" sz="2800" b="1" dirty="0">
                <a:highlight>
                  <a:srgbClr val="FFFF00"/>
                </a:highlight>
              </a:rPr>
              <a:t>Convert to 100g price 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6944A-581B-3BC8-4358-B11CF36922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457200" indent="-457200">
              <a:buAutoNum type="alphaLcParenR"/>
            </a:pPr>
            <a:r>
              <a:rPr lang="en-US" sz="2400" b="1" dirty="0"/>
              <a:t>$13.50 per kilo </a:t>
            </a:r>
          </a:p>
          <a:p>
            <a:pPr marL="457200" indent="-457200">
              <a:buAutoNum type="alphaLcParenR"/>
            </a:pPr>
            <a:r>
              <a:rPr lang="en-US" sz="2400" b="1" dirty="0"/>
              <a:t>$18 per kilo </a:t>
            </a:r>
          </a:p>
          <a:p>
            <a:pPr marL="457200" indent="-457200">
              <a:buAutoNum type="alphaLcParenR"/>
            </a:pPr>
            <a:r>
              <a:rPr lang="en-US" sz="2400" b="1" dirty="0"/>
              <a:t>$22.70 per kilo </a:t>
            </a:r>
          </a:p>
          <a:p>
            <a:pPr marL="457200" indent="-457200">
              <a:buAutoNum type="alphaLcParenR"/>
            </a:pPr>
            <a:r>
              <a:rPr lang="en-US" sz="2400" b="1" dirty="0"/>
              <a:t>$3.50 per kilo </a:t>
            </a:r>
          </a:p>
          <a:p>
            <a:pPr marL="457200" indent="-457200">
              <a:buAutoNum type="alphaLcParenR"/>
            </a:pPr>
            <a:r>
              <a:rPr lang="en-US" sz="2400" b="1" dirty="0"/>
              <a:t>$15 for 2 kilo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91210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33554" y="590386"/>
            <a:ext cx="8915399" cy="705678"/>
          </a:xfrm>
        </p:spPr>
        <p:txBody>
          <a:bodyPr>
            <a:normAutofit/>
          </a:bodyPr>
          <a:lstStyle/>
          <a:p>
            <a:pPr algn="ctr"/>
            <a:r>
              <a:rPr lang="en-AU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Cost per Kilogram from Random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87037" y="1749287"/>
            <a:ext cx="86739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Requirements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Calculator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Best Buys page 4 worksheet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657" y="2960988"/>
            <a:ext cx="5632707" cy="374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64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4001"/>
          </a:xfrm>
        </p:spPr>
        <p:txBody>
          <a:bodyPr/>
          <a:lstStyle/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Cost per Kilogram from Random Weights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9397" y="2014331"/>
            <a:ext cx="8915400" cy="3777622"/>
          </a:xfrm>
        </p:spPr>
        <p:txBody>
          <a:bodyPr>
            <a:normAutofit/>
          </a:bodyPr>
          <a:lstStyle/>
          <a:p>
            <a:r>
              <a:rPr lang="en-AU" sz="1600" dirty="0"/>
              <a:t>This item has a random weight, in grams.</a:t>
            </a:r>
          </a:p>
          <a:p>
            <a:pPr marL="0" indent="0">
              <a:buNone/>
            </a:pPr>
            <a:endParaRPr lang="en-AU" sz="1600" dirty="0"/>
          </a:p>
          <a:p>
            <a:r>
              <a:rPr lang="en-AU" sz="1600" dirty="0"/>
              <a:t>To find the cost per kilogram for Coco Pops</a:t>
            </a:r>
          </a:p>
          <a:p>
            <a:endParaRPr lang="en-AU" sz="1600" dirty="0"/>
          </a:p>
          <a:p>
            <a:pPr>
              <a:buFont typeface="+mj-lt"/>
              <a:buAutoNum type="arabicPeriod"/>
            </a:pPr>
            <a:r>
              <a:rPr lang="en-AU" b="1" dirty="0">
                <a:solidFill>
                  <a:srgbClr val="00B0F0"/>
                </a:solidFill>
              </a:rPr>
              <a:t>Convert the grams to kilograms by dividing by 1000      375 ÷ 1000 = ……  kg</a:t>
            </a:r>
          </a:p>
          <a:p>
            <a:pPr>
              <a:buFont typeface="+mj-lt"/>
              <a:buAutoNum type="arabicPeriod"/>
            </a:pPr>
            <a:endParaRPr lang="en-AU" b="1" dirty="0">
              <a:solidFill>
                <a:srgbClr val="00B0F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b="1" dirty="0">
                <a:solidFill>
                  <a:srgbClr val="00B0F0"/>
                </a:solidFill>
              </a:rPr>
              <a:t>Money ÷ kilograms = price per kilogram                $3.25 ÷ 0.375 = 8.6666666</a:t>
            </a:r>
          </a:p>
          <a:p>
            <a:pPr>
              <a:buFont typeface="+mj-lt"/>
              <a:buAutoNum type="arabicPeriod"/>
            </a:pPr>
            <a:endParaRPr lang="en-AU" b="1" dirty="0">
              <a:solidFill>
                <a:srgbClr val="00B0F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b="1" dirty="0">
                <a:solidFill>
                  <a:srgbClr val="00B0F0"/>
                </a:solidFill>
              </a:rPr>
              <a:t>Round off to dollars and cents	$ ………. per kilogram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318" y="4588194"/>
            <a:ext cx="2127682" cy="226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4001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Cost per Kilogram from Random Weights</a:t>
            </a:r>
            <a:endParaRPr lang="en-AU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4136" y="2277189"/>
            <a:ext cx="10654668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endParaRPr lang="en-AU" sz="1600" dirty="0"/>
          </a:p>
          <a:p>
            <a:r>
              <a:rPr lang="en-AU" b="1" dirty="0"/>
              <a:t>To find the cost per kilogram for </a:t>
            </a:r>
            <a:r>
              <a:rPr lang="en-AU" b="1" dirty="0" err="1"/>
              <a:t>Nutrigrain</a:t>
            </a:r>
            <a:endParaRPr lang="en-AU" b="1" dirty="0"/>
          </a:p>
          <a:p>
            <a:endParaRPr lang="en-AU" b="1" dirty="0"/>
          </a:p>
          <a:p>
            <a:pPr>
              <a:buFont typeface="+mj-lt"/>
              <a:buAutoNum type="arabicPeriod"/>
            </a:pPr>
            <a:r>
              <a:rPr lang="en-AU" b="1" dirty="0"/>
              <a:t>Convert the grams to kilograms by dividing by 1000      </a:t>
            </a:r>
            <a:r>
              <a:rPr lang="en-AU" b="1" dirty="0">
                <a:solidFill>
                  <a:srgbClr val="00B0F0"/>
                </a:solidFill>
              </a:rPr>
              <a:t>……. ÷ 1000 = …… kg</a:t>
            </a:r>
          </a:p>
          <a:p>
            <a:pPr>
              <a:buFont typeface="+mj-lt"/>
              <a:buAutoNum type="arabicPeriod"/>
            </a:pP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b="1" dirty="0"/>
              <a:t>Money ÷ kilograms = price per kilogram                           </a:t>
            </a:r>
            <a:r>
              <a:rPr lang="en-AU" b="1" dirty="0">
                <a:solidFill>
                  <a:srgbClr val="00B0F0"/>
                </a:solidFill>
              </a:rPr>
              <a:t>$......... ÷ 0.290 = ………..</a:t>
            </a:r>
          </a:p>
          <a:p>
            <a:pPr>
              <a:buFont typeface="+mj-lt"/>
              <a:buAutoNum type="arabicPeriod"/>
            </a:pP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b="1" dirty="0"/>
              <a:t>Round off to dollars and cents	</a:t>
            </a:r>
            <a:r>
              <a:rPr lang="en-AU" b="1" dirty="0">
                <a:solidFill>
                  <a:srgbClr val="00B0F0"/>
                </a:solidFill>
              </a:rPr>
              <a:t>$ ………. per kg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0390" y="1582310"/>
            <a:ext cx="2424222" cy="172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236" y="297578"/>
            <a:ext cx="2258568" cy="256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9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4001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Cost per Kilogram from Random Weights</a:t>
            </a:r>
            <a:endParaRPr lang="en-AU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365" y="2094488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endParaRPr lang="en-AU" sz="1600" dirty="0"/>
          </a:p>
          <a:p>
            <a:r>
              <a:rPr lang="en-AU" b="1" dirty="0"/>
              <a:t>To find the cost per kilogram for </a:t>
            </a:r>
            <a:r>
              <a:rPr lang="en-AU" b="1" u="sng" dirty="0"/>
              <a:t>Deli Tuna</a:t>
            </a:r>
          </a:p>
          <a:p>
            <a:endParaRPr lang="en-AU" b="1" u="sng" dirty="0"/>
          </a:p>
          <a:p>
            <a:pPr>
              <a:buFont typeface="+mj-lt"/>
              <a:buAutoNum type="arabicPeriod"/>
            </a:pPr>
            <a:r>
              <a:rPr lang="en-AU" b="1" dirty="0"/>
              <a:t>Convert the grams to kilograms by dividing by 1000      </a:t>
            </a:r>
            <a:r>
              <a:rPr lang="en-AU" b="1" dirty="0">
                <a:solidFill>
                  <a:srgbClr val="00B0F0"/>
                </a:solidFill>
              </a:rPr>
              <a:t>……. ÷  = ……  kg</a:t>
            </a:r>
          </a:p>
          <a:p>
            <a:pPr>
              <a:buFont typeface="+mj-lt"/>
              <a:buAutoNum type="arabicPeriod"/>
            </a:pP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b="1" dirty="0"/>
              <a:t>Money ÷ kilograms = price per kilogram              </a:t>
            </a:r>
            <a:r>
              <a:rPr lang="en-AU" b="1" dirty="0">
                <a:solidFill>
                  <a:srgbClr val="00B0F0"/>
                </a:solidFill>
              </a:rPr>
              <a:t>$2.00 ÷ ……… = ………..</a:t>
            </a:r>
          </a:p>
          <a:p>
            <a:pPr>
              <a:buFont typeface="+mj-lt"/>
              <a:buAutoNum type="arabicPeriod"/>
            </a:pP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b="1" dirty="0"/>
              <a:t>Round off to dollars and cents	</a:t>
            </a:r>
            <a:r>
              <a:rPr lang="en-AU" b="1" dirty="0">
                <a:solidFill>
                  <a:srgbClr val="00B0F0"/>
                </a:solidFill>
              </a:rPr>
              <a:t>$ ………. / 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17711" y="1089329"/>
            <a:ext cx="2266122" cy="2107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933" y="282631"/>
            <a:ext cx="1986901" cy="291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8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4001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Cost per Kilogram from Random Weights</a:t>
            </a:r>
            <a:endParaRPr lang="en-AU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8687" y="2135146"/>
            <a:ext cx="9540493" cy="377762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endParaRPr lang="en-AU" sz="1600" dirty="0"/>
          </a:p>
          <a:p>
            <a:r>
              <a:rPr lang="en-AU" sz="2200" b="1" dirty="0"/>
              <a:t>To find the cost per kilogram for Favourites chocolates</a:t>
            </a:r>
          </a:p>
          <a:p>
            <a:endParaRPr lang="en-AU" sz="2200" b="1" dirty="0"/>
          </a:p>
          <a:p>
            <a:pPr>
              <a:buFont typeface="+mj-lt"/>
              <a:buAutoNum type="arabicPeriod"/>
            </a:pPr>
            <a:r>
              <a:rPr lang="en-AU" sz="2200" b="1" dirty="0"/>
              <a:t>Convert the grams to kilograms by dividing by 1000      </a:t>
            </a:r>
            <a:r>
              <a:rPr lang="en-AU" sz="2200" b="1" dirty="0">
                <a:solidFill>
                  <a:srgbClr val="00B0F0"/>
                </a:solidFill>
              </a:rPr>
              <a:t>……. ÷  = ……  kg</a:t>
            </a:r>
          </a:p>
          <a:p>
            <a:pPr>
              <a:buFont typeface="+mj-lt"/>
              <a:buAutoNum type="arabicPeriod"/>
            </a:pPr>
            <a:endParaRPr lang="en-AU" sz="2200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sz="2200" b="1" dirty="0"/>
              <a:t>Money ÷ kilograms = price per kilogram              </a:t>
            </a:r>
            <a:r>
              <a:rPr lang="en-AU" sz="2200" b="1" dirty="0">
                <a:solidFill>
                  <a:srgbClr val="00B0F0"/>
                </a:solidFill>
              </a:rPr>
              <a:t>$.......... ÷ ……… = ………..</a:t>
            </a:r>
          </a:p>
          <a:p>
            <a:pPr>
              <a:buFont typeface="+mj-lt"/>
              <a:buAutoNum type="arabicPeriod"/>
            </a:pPr>
            <a:endParaRPr lang="en-AU" sz="2200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sz="2200" b="1" dirty="0"/>
              <a:t>Round off to dollars and cents	</a:t>
            </a:r>
            <a:r>
              <a:rPr lang="en-AU" sz="2200" b="1" dirty="0">
                <a:solidFill>
                  <a:srgbClr val="00B0F0"/>
                </a:solidFill>
              </a:rPr>
              <a:t>$ ……. / 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17711" y="1089329"/>
            <a:ext cx="2266122" cy="2107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259" y="280288"/>
            <a:ext cx="1997964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565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4001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Cost per Kilogram from Random Weights</a:t>
            </a:r>
            <a:endParaRPr lang="en-AU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4136" y="2277189"/>
            <a:ext cx="10654668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endParaRPr lang="en-AU" sz="1600" dirty="0"/>
          </a:p>
          <a:p>
            <a:r>
              <a:rPr lang="en-AU" b="1" dirty="0"/>
              <a:t>To find the cost per kilogram for </a:t>
            </a:r>
            <a:r>
              <a:rPr lang="en-AU" b="1" dirty="0" err="1"/>
              <a:t>Nutrigrain</a:t>
            </a:r>
            <a:endParaRPr lang="en-AU" b="1" dirty="0"/>
          </a:p>
          <a:p>
            <a:endParaRPr lang="en-AU" b="1" dirty="0"/>
          </a:p>
          <a:p>
            <a:pPr>
              <a:buFont typeface="+mj-lt"/>
              <a:buAutoNum type="arabicPeriod"/>
            </a:pPr>
            <a:r>
              <a:rPr lang="en-AU" b="1" dirty="0"/>
              <a:t>Convert the grams to kilograms by dividing by 1000     </a:t>
            </a: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b="1" dirty="0"/>
              <a:t>Money ÷ kilograms = price per kilogram                           </a:t>
            </a: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b="1" dirty="0"/>
              <a:t>Round off to dollars and cents	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80390" y="1582310"/>
            <a:ext cx="2424222" cy="172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236" y="297578"/>
            <a:ext cx="2258568" cy="256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07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4001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Cost per Kilogram from Random Weights</a:t>
            </a:r>
            <a:endParaRPr lang="en-AU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365" y="2094488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endParaRPr lang="en-AU" sz="1600" dirty="0"/>
          </a:p>
          <a:p>
            <a:r>
              <a:rPr lang="en-AU" b="1" dirty="0"/>
              <a:t>To find the cost per kilogram for </a:t>
            </a:r>
            <a:r>
              <a:rPr lang="en-AU" b="1" u="sng" dirty="0"/>
              <a:t>Deli Tuna</a:t>
            </a:r>
          </a:p>
          <a:p>
            <a:endParaRPr lang="en-AU" b="1" u="sng" dirty="0"/>
          </a:p>
          <a:p>
            <a:pPr>
              <a:buFont typeface="+mj-lt"/>
              <a:buAutoNum type="arabicPeriod"/>
            </a:pPr>
            <a:r>
              <a:rPr lang="en-AU" b="1" dirty="0"/>
              <a:t>Convert the grams to kilograms by dividing by 1000     </a:t>
            </a: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b="1" dirty="0"/>
              <a:t>Money ÷ kilograms = price per kilogram              </a:t>
            </a: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AU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b="1" dirty="0"/>
              <a:t>Round off to dollars and cents	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17711" y="1089329"/>
            <a:ext cx="2266122" cy="2107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933" y="282631"/>
            <a:ext cx="1986901" cy="291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8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4001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Cost per Kilogram from Random Weights</a:t>
            </a:r>
            <a:endParaRPr lang="en-AU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8687" y="2135146"/>
            <a:ext cx="9540493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endParaRPr lang="en-AU" sz="1600" dirty="0"/>
          </a:p>
          <a:p>
            <a:r>
              <a:rPr lang="en-AU" sz="2200" b="1" dirty="0"/>
              <a:t>To find the cost per kilogram for Favourites chocolates</a:t>
            </a:r>
          </a:p>
          <a:p>
            <a:endParaRPr lang="en-AU" sz="2200" b="1" dirty="0"/>
          </a:p>
          <a:p>
            <a:pPr>
              <a:buFont typeface="+mj-lt"/>
              <a:buAutoNum type="arabicPeriod"/>
            </a:pPr>
            <a:r>
              <a:rPr lang="en-AU" sz="2200" b="1" dirty="0"/>
              <a:t>Convert the grams to kilograms by dividing by 1000     </a:t>
            </a:r>
            <a:endParaRPr lang="en-AU" sz="2200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AU" sz="2200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sz="2200" b="1" dirty="0"/>
              <a:t>Money ÷ kilograms = price per kilogram              </a:t>
            </a:r>
            <a:endParaRPr lang="en-AU" sz="2200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AU" sz="2200" b="1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sz="2200" b="1" dirty="0"/>
              <a:t>Round off to dollars and cents	</a:t>
            </a:r>
            <a:endParaRPr lang="en-AU" sz="22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17711" y="1089329"/>
            <a:ext cx="2266122" cy="2107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259" y="280288"/>
            <a:ext cx="1997964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00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49D5-828D-41D0-8D8A-2306D77D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BBF8D-5C03-4CD1-A152-58D19A147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Complete task sheet with random weights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440050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1821</TotalTime>
  <Words>706</Words>
  <Application>Microsoft Office PowerPoint</Application>
  <PresentationFormat>Widescreen</PresentationFormat>
  <Paragraphs>178</Paragraphs>
  <Slides>17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Cambria Math</vt:lpstr>
      <vt:lpstr>Century Gothic</vt:lpstr>
      <vt:lpstr>Wingdings</vt:lpstr>
      <vt:lpstr>Wingdings 3</vt:lpstr>
      <vt:lpstr>Wisp</vt:lpstr>
      <vt:lpstr>PowerPoint Presentation</vt:lpstr>
      <vt:lpstr>Choral response </vt:lpstr>
      <vt:lpstr>Sample space </vt:lpstr>
      <vt:lpstr>PowerPoint Presentation</vt:lpstr>
      <vt:lpstr>PowerPoint Presentation</vt:lpstr>
      <vt:lpstr>Review: price per 100g</vt:lpstr>
      <vt:lpstr>I do, we do </vt:lpstr>
      <vt:lpstr>You do – exercise books </vt:lpstr>
      <vt:lpstr>Cost per Kilogram from Random Weights</vt:lpstr>
      <vt:lpstr>Cost per Kilogram from Random Weights</vt:lpstr>
      <vt:lpstr>Cost per Kilogram from Random Weights</vt:lpstr>
      <vt:lpstr>Cost per Kilogram from Random Weights</vt:lpstr>
      <vt:lpstr>Cost per Kilogram from Random Weights</vt:lpstr>
      <vt:lpstr>Cost per Kilogram from Random Weights</vt:lpstr>
      <vt:lpstr>Cost per Kilogram from Random Weights</vt:lpstr>
      <vt:lpstr>Cost per Kilogram from Random Weights</vt:lpstr>
      <vt:lpstr>Individual practice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per Kilogram from Random Weights</dc:title>
  <dc:creator>FORREST Cassie [Busselton Senior High School]</dc:creator>
  <cp:lastModifiedBy>DAVIES Rhys [Busselton Senior High School]</cp:lastModifiedBy>
  <cp:revision>23</cp:revision>
  <cp:lastPrinted>2023-05-12T00:07:15Z</cp:lastPrinted>
  <dcterms:created xsi:type="dcterms:W3CDTF">2022-04-30T11:57:31Z</dcterms:created>
  <dcterms:modified xsi:type="dcterms:W3CDTF">2023-05-13T04:09:28Z</dcterms:modified>
</cp:coreProperties>
</file>
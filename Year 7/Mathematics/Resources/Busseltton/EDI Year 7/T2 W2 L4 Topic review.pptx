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2" r:id="rId3"/>
    <p:sldId id="312" r:id="rId4"/>
    <p:sldId id="293" r:id="rId5"/>
    <p:sldId id="295" r:id="rId6"/>
    <p:sldId id="297" r:id="rId7"/>
    <p:sldId id="314" r:id="rId8"/>
    <p:sldId id="315" r:id="rId9"/>
    <p:sldId id="313" r:id="rId10"/>
    <p:sldId id="257" r:id="rId11"/>
    <p:sldId id="260" r:id="rId12"/>
    <p:sldId id="258" r:id="rId13"/>
    <p:sldId id="261" r:id="rId14"/>
    <p:sldId id="275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2" r:id="rId23"/>
    <p:sldId id="271" r:id="rId24"/>
    <p:sldId id="273" r:id="rId25"/>
    <p:sldId id="274" r:id="rId26"/>
    <p:sldId id="27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27T05:29:56.068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0,'4'0,"6"4,5 2,4 3,3 5,3 4,0 0,1-5,-5 1,-1-2,0 0,1 4,1-3,-3 2,-1 3,1-3,-3-3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27T05:29:58.376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332 1,'-7'0,"0"0,-1 1,1 0,0 1,0 0,0 0,0 0,0 1,0 0,1 0,-1 1,1 0,0 0,-10 9,-2 4,1 1,1 0,-15 24,25-33,-3 1,1-1,-1 0,-19 14,19-16,0 0,1 1,0 0,0 0,-8 12,6-6,1-2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28T00:17:24.700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0,'6'2,"-1"0,1 0,-1 1,0-1,0 1,0 0,0 1,-1-1,5 5,-6-6,27 22,7 5,57 57,-78-70,1-1,1 0,19 11,17 15,-39-28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28T00:17:26.789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363 1,'-4'3,"0"0,0 0,0 0,0-1,-1 1,-8 2,-15 10,-57 52,32-23,31-26,1 0,0 2,2 1,0 0,-30 46,41-53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FB2D8-EDDD-495C-AAB1-8423B57D2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9FA3A1-9A3B-4454-A78E-E7032D3B7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2A9E6-2441-47B8-AC26-0403B749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57B-DDD2-472B-8D60-7C1F9F614F7C}" type="datetimeFigureOut">
              <a:rPr lang="en-AU" smtClean="0"/>
              <a:t>1/05/2023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31BE6-0A52-4681-BA9D-2936440CF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7D272-A961-4DFB-B9B3-0180FFF4D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8371-BCF4-4A1A-A467-44D554D6F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2911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D6DE2-B331-4EB5-8C1B-4149263D2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7043E-0C69-444D-9593-593DEA9CC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61F9C-AB05-40C4-B61A-A64EA621F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57B-DDD2-472B-8D60-7C1F9F614F7C}" type="datetimeFigureOut">
              <a:rPr lang="en-AU" smtClean="0"/>
              <a:t>1/05/2023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B36FF-4AF5-4637-A0DB-7182A7C32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ABD89-9E11-411B-B755-DB542721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8371-BCF4-4A1A-A467-44D554D6F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5995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477DD-C87B-45BB-81FD-F8125AB3D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FC4B6-C685-4869-BF4B-5F3062DBD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22677-9AD5-4244-9AAC-B2EFC5007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57B-DDD2-472B-8D60-7C1F9F614F7C}" type="datetimeFigureOut">
              <a:rPr lang="en-AU" smtClean="0"/>
              <a:t>1/05/2023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C67EE-D603-43BE-9279-0638364CF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C0C13-D61D-4E44-BCB3-A77F775B0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8371-BCF4-4A1A-A467-44D554D6F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7998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A7400-3901-42C8-B774-7409F5B92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E65C6-0BE5-4D8E-A909-A81D685DB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57E30-BAA3-4B33-9B2F-C83714ADB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696B7-D25C-4F83-A4CB-9A8351FA9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57B-DDD2-472B-8D60-7C1F9F614F7C}" type="datetimeFigureOut">
              <a:rPr lang="en-AU" smtClean="0"/>
              <a:t>1/05/2023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CB2F6-BDAC-44CD-A262-26AEF303C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B7D2E-9452-4D45-88B0-12374206B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8371-BCF4-4A1A-A467-44D554D6F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1337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32839-1C34-4A0B-86E9-3E0562D5E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222DF-093B-43A3-ABB0-A0D39757A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064F2D-D157-4645-A04E-7B3D7D36F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E24F34-24A2-4482-910C-A8DBACFF4D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138607-9AEA-4614-A71C-3C6C0A4BE1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C07444-F204-44D4-A0F0-7CD4622DA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57B-DDD2-472B-8D60-7C1F9F614F7C}" type="datetimeFigureOut">
              <a:rPr lang="en-AU" smtClean="0"/>
              <a:t>1/05/2023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A3D93-32E8-49BB-8C16-5E92B6693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7F1C35-263F-48F3-B808-74C9E8805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8371-BCF4-4A1A-A467-44D554D6F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9286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3525F-393A-439F-A6AD-21E9FC95B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BD8D84-12FE-49FC-BDEF-B70CB9D5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57B-DDD2-472B-8D60-7C1F9F614F7C}" type="datetimeFigureOut">
              <a:rPr lang="en-AU" smtClean="0"/>
              <a:t>1/05/2023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FFBB52-5296-4967-A6B7-B19C3D4C1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FED712-23D6-47EF-A4A0-141D5D31F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8371-BCF4-4A1A-A467-44D554D6F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042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C70462-5B74-456D-B90C-E6DF9D403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57B-DDD2-472B-8D60-7C1F9F614F7C}" type="datetimeFigureOut">
              <a:rPr lang="en-AU" smtClean="0"/>
              <a:t>1/05/2023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4982DD-1D12-46E2-B80C-2DAC23AD4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B2229-DE37-4572-B0BC-8FC11A662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8371-BCF4-4A1A-A467-44D554D6F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0792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3AC52-4F21-488C-B292-F21F7DDB4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DAC96-1206-4A4D-A488-90D48EF17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D7618-8FC4-4973-B86D-8C16A0E3C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AAD53-4859-4264-866B-5DB5CD7B7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57B-DDD2-472B-8D60-7C1F9F614F7C}" type="datetimeFigureOut">
              <a:rPr lang="en-AU" smtClean="0"/>
              <a:t>1/05/2023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754A2-1751-4F98-A75C-D18ED9F5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324D0-573B-4B27-86DA-75587ED4F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8371-BCF4-4A1A-A467-44D554D6F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2004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5A382-B0CF-43E7-A0E2-F1CA5C641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B98246-EE1E-4749-BE02-F31BEB6D68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F1F528-1F9F-4C6D-AB84-B453C04A3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9680F-4667-4349-9A6F-C8EAC09D1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57B-DDD2-472B-8D60-7C1F9F614F7C}" type="datetimeFigureOut">
              <a:rPr lang="en-AU" smtClean="0"/>
              <a:t>1/05/2023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AB311-DB6E-4756-9B34-0D852759A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D8486-E26C-4E2A-B0EB-AF4F5CB34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8371-BCF4-4A1A-A467-44D554D6F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2391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40911-4DA0-4DCE-9ED5-0890FB32E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0C4B78-4363-4C4E-ACE8-D1EA45CB75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1F8B5-60D3-491A-9EDF-CEFAD62EA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57B-DDD2-472B-8D60-7C1F9F614F7C}" type="datetimeFigureOut">
              <a:rPr lang="en-AU" smtClean="0"/>
              <a:t>1/05/2023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586A5-B737-4652-A408-F7AC677B8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34D42-FA07-443F-9DF9-E883A8B8C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8371-BCF4-4A1A-A467-44D554D6F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4943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6ADCE3-85E6-4A4B-BDF2-EE0B3738DF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6642C-3099-4C01-8F75-BED18746D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BBA6B-168F-436F-9D0E-E1A822865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57B-DDD2-472B-8D60-7C1F9F614F7C}" type="datetimeFigureOut">
              <a:rPr lang="en-AU" smtClean="0"/>
              <a:t>1/05/2023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42691-A772-4565-81D7-3B76E9FC6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CBAB1-F532-427F-BFBF-28F29FBAD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8371-BCF4-4A1A-A467-44D554D6F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7031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6AF243-4DFD-4B3C-8C00-98641960C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F1F9D-A833-462D-8396-730D8440B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4ACC5-C47D-4E64-91D7-39831D11F9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9357B-DDD2-472B-8D60-7C1F9F614F7C}" type="datetimeFigureOut">
              <a:rPr lang="en-AU" smtClean="0"/>
              <a:t>1/05/2023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B7ADD-14C0-4E69-86FE-8ED8C2E3F7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4E8A5-A3BB-4012-AFEA-9979EE7B6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C8371-BCF4-4A1A-A467-44D554D6F6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3733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2.png"/><Relationship Id="rId7" Type="http://schemas.openxmlformats.org/officeDocument/2006/relationships/image" Target="NUL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../media/image6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5.png"/><Relationship Id="rId5" Type="http://schemas.openxmlformats.org/officeDocument/2006/relationships/image" Target="NULL"/><Relationship Id="rId10" Type="http://schemas.openxmlformats.org/officeDocument/2006/relationships/image" Target="../media/image4.pn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customXml" Target="../ink/ink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customXml" Target="../ink/ink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C8DBBE-ED33-4565-9A97-2DF87781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Lesson objective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07CE0C-6661-4D21-B257-4C2E204BA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dirty="0"/>
              <a:t>Title: </a:t>
            </a:r>
            <a:r>
              <a:rPr lang="en-AU" dirty="0">
                <a:solidFill>
                  <a:srgbClr val="00B0F0"/>
                </a:solidFill>
              </a:rPr>
              <a:t>Inverse thinking 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Calculate an unknown length using a given area of a shape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Review P, A and Volume </a:t>
            </a:r>
          </a:p>
          <a:p>
            <a:pPr lvl="1"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Creating limited A and P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Parallelograms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Inverse problems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1CB6D2-22C4-41BC-87F7-B9FABB92759B}"/>
              </a:ext>
            </a:extLst>
          </p:cNvPr>
          <p:cNvSpPr txBox="1"/>
          <p:nvPr/>
        </p:nvSpPr>
        <p:spPr>
          <a:xfrm>
            <a:off x="7466120" y="4900474"/>
            <a:ext cx="2902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and calculators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25611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692696"/>
          </a:xfrm>
        </p:spPr>
        <p:txBody>
          <a:bodyPr>
            <a:normAutofit fontScale="90000"/>
          </a:bodyPr>
          <a:lstStyle/>
          <a:p>
            <a:r>
              <a:rPr lang="en-AU" dirty="0"/>
              <a:t>What is the volume of these shapes?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692697"/>
            <a:ext cx="9144000" cy="4525963"/>
          </a:xfrm>
        </p:spPr>
        <p:txBody>
          <a:bodyPr>
            <a:normAutofit/>
          </a:bodyPr>
          <a:lstStyle/>
          <a:p>
            <a:r>
              <a:rPr lang="en-AU" sz="2000" dirty="0"/>
              <a:t>Count the cubes. Include ones you can’t see but that would form part of the shape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532" y="1256209"/>
            <a:ext cx="5522887" cy="1310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71"/>
          <a:stretch/>
        </p:blipFill>
        <p:spPr bwMode="auto">
          <a:xfrm>
            <a:off x="1903471" y="3205219"/>
            <a:ext cx="7219950" cy="2204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567608" y="1269927"/>
                <a:ext cx="1268232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𝟑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𝒄𝒎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608" y="1269927"/>
                <a:ext cx="1268232" cy="3755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133975" y="1269927"/>
                <a:ext cx="1268232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𝟔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𝒄𝒎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975" y="1269927"/>
                <a:ext cx="1268232" cy="37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672064" y="1250877"/>
                <a:ext cx="1268232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𝟓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𝒄𝒎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064" y="1250877"/>
                <a:ext cx="1268232" cy="3755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596141" y="3131569"/>
                <a:ext cx="1406091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𝟏𝟒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𝒄𝒎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141" y="3131569"/>
                <a:ext cx="1406091" cy="3755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789256" y="3131569"/>
                <a:ext cx="1406091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𝟑𝟔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𝒄𝒎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256" y="3131569"/>
                <a:ext cx="1406091" cy="3755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123544" y="3131569"/>
                <a:ext cx="1406091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𝟐𝟏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𝒄𝒎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44" y="3131569"/>
                <a:ext cx="1406091" cy="3755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575526" y="116633"/>
            <a:ext cx="34015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15705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5" grpId="0"/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0117B-12C0-4059-ADEC-45625A150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for volume of cuboids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EC3D29-EEF9-4A45-8F5A-3EF1A26D0E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cuboid is any prism with a square or rectangular face.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formula is ONLY for cuboids.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00B0F0"/>
                    </a:solidFill>
                  </a:rPr>
                  <a:t>Volume = base x height x length </a:t>
                </a:r>
              </a:p>
              <a:p>
                <a:pPr marL="0" indent="0" algn="ctr">
                  <a:buNone/>
                </a:pPr>
                <a:r>
                  <a:rPr lang="en-US" b="1" dirty="0"/>
                  <a:t>Or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𝒉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EC3D29-EEF9-4A45-8F5A-3EF1A26D0E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258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7996340" cy="836712"/>
          </a:xfrm>
        </p:spPr>
        <p:txBody>
          <a:bodyPr/>
          <a:lstStyle/>
          <a:p>
            <a:r>
              <a:rPr lang="en-AU" dirty="0"/>
              <a:t>Volume of Rectangular Prisms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3999" y="764705"/>
                <a:ext cx="7640328" cy="3312368"/>
              </a:xfrm>
            </p:spPr>
            <p:txBody>
              <a:bodyPr>
                <a:noAutofit/>
              </a:bodyPr>
              <a:lstStyle/>
              <a:p>
                <a:r>
                  <a:rPr lang="en-AU" sz="2400" dirty="0"/>
                  <a:t>Volume is measured in </a:t>
                </a:r>
                <a:r>
                  <a:rPr lang="en-AU" sz="2400" i="1" dirty="0"/>
                  <a:t>cubic</a:t>
                </a:r>
                <a:r>
                  <a:rPr lang="en-AU" sz="2400" dirty="0"/>
                  <a:t> units (e.g. cm</a:t>
                </a:r>
                <a:r>
                  <a:rPr lang="en-AU" sz="2400" baseline="30000" dirty="0"/>
                  <a:t>3</a:t>
                </a:r>
                <a:r>
                  <a:rPr lang="en-AU" sz="2400" dirty="0"/>
                  <a:t>)</a:t>
                </a:r>
              </a:p>
              <a:p>
                <a:pPr lvl="1"/>
                <a:r>
                  <a:rPr lang="en-AU" sz="2000" dirty="0"/>
                  <a:t>Say “cubic centimetres” or “centimetres cubed”</a:t>
                </a:r>
              </a:p>
              <a:p>
                <a:r>
                  <a:rPr lang="en-AU" sz="2400" dirty="0"/>
                  <a:t>Example: this shape’s volume is 12 cubic centimetres</a:t>
                </a:r>
              </a:p>
              <a:p>
                <a:pPr lvl="2"/>
                <a:r>
                  <a:rPr lang="en-AU" sz="1800" dirty="0"/>
                  <a:t>The larger shape is made of 6 shapes like the first one</a:t>
                </a:r>
              </a:p>
              <a:p>
                <a:pPr lvl="2"/>
                <a:r>
                  <a:rPr lang="en-AU" sz="1800" dirty="0"/>
                  <a:t>12 x 6 = 72 cubic centimetres</a:t>
                </a:r>
              </a:p>
              <a:p>
                <a:r>
                  <a:rPr lang="en-AU" sz="2400" dirty="0"/>
                  <a:t>For any rectangular prism</a:t>
                </a:r>
              </a:p>
              <a:p>
                <a:pPr marL="0" indent="0">
                  <a:buNone/>
                  <a:tabLst>
                    <a:tab pos="803275" algn="l"/>
                  </a:tabLst>
                </a:pPr>
                <a:r>
                  <a:rPr lang="en-AU" sz="2400" dirty="0"/>
                  <a:t>	</a:t>
                </a:r>
                <a14:m>
                  <m:oMath xmlns:m="http://schemas.openxmlformats.org/officeDocument/2006/math">
                    <m:r>
                      <a:rPr lang="en-AU" sz="1400" i="1">
                        <a:latin typeface="Cambria Math"/>
                      </a:rPr>
                      <m:t>𝑉𝑜𝑙𝑢𝑚𝑒</m:t>
                    </m:r>
                    <m:r>
                      <a:rPr lang="en-AU" sz="1400" i="1">
                        <a:latin typeface="Cambria Math"/>
                      </a:rPr>
                      <m:t>=</m:t>
                    </m:r>
                    <m:r>
                      <a:rPr lang="en-AU" sz="1400" i="1">
                        <a:latin typeface="Cambria Math"/>
                      </a:rPr>
                      <m:t>𝑏𝑎𝑠𝑒</m:t>
                    </m:r>
                    <m:r>
                      <a:rPr lang="en-AU" sz="1400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sz="1400" i="1">
                        <a:latin typeface="Cambria Math"/>
                        <a:ea typeface="Cambria Math"/>
                      </a:rPr>
                      <m:t>h𝑒𝑖𝑔h𝑡</m:t>
                    </m:r>
                    <m:r>
                      <a:rPr lang="en-AU" sz="1400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sz="1400" i="1">
                        <a:latin typeface="Cambria Math"/>
                        <a:ea typeface="Cambria Math"/>
                      </a:rPr>
                      <m:t>𝑙𝑒𝑛𝑔𝑡h</m:t>
                    </m:r>
                  </m:oMath>
                </a14:m>
                <a:endParaRPr lang="en-AU" sz="1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3999" y="764705"/>
                <a:ext cx="7640328" cy="3312368"/>
              </a:xfrm>
              <a:blipFill>
                <a:blip r:embed="rId2"/>
                <a:stretch>
                  <a:fillRect l="-1038" t="-14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9155227" y="3453786"/>
            <a:ext cx="1548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cube = 1cm</a:t>
            </a:r>
            <a:r>
              <a:rPr kumimoji="0" lang="en-AU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6248" y="4651023"/>
            <a:ext cx="824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Length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0104" y="475454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2715" y="4204729"/>
            <a:ext cx="802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7174826" y="3961620"/>
                <a:ext cx="23022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𝑽𝒐𝒍𝒖𝒎𝒆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𝒃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𝒉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𝒍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826" y="3961620"/>
                <a:ext cx="230223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7880188" y="4330952"/>
                <a:ext cx="1636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𝟑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𝟒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𝟔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0188" y="4330952"/>
                <a:ext cx="163698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7880188" y="4658567"/>
                <a:ext cx="1406091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𝟕𝟐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𝒄𝒎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0188" y="4658567"/>
                <a:ext cx="1406091" cy="37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1524000" y="3228132"/>
            <a:ext cx="5185515" cy="32406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19953" y="3624172"/>
            <a:ext cx="768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Write: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0286" y="5253502"/>
            <a:ext cx="192405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9171886" y="0"/>
            <a:ext cx="149611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DIAGRAM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NUMBERS</a:t>
            </a:r>
            <a:b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4580256" y="5346955"/>
                <a:ext cx="15937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𝒃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𝒉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𝒍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0256" y="5346955"/>
                <a:ext cx="159370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4580257" y="5712844"/>
                <a:ext cx="1636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𝟒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𝟑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𝟐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0257" y="5712844"/>
                <a:ext cx="163698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4580257" y="6043902"/>
                <a:ext cx="1406091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𝟐𝟒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𝒄𝒎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0257" y="6043902"/>
                <a:ext cx="1406091" cy="3755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2005142" y="5437006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1725" y="5303915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1885" y="5669675"/>
            <a:ext cx="386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0141" y="6007082"/>
            <a:ext cx="330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09401" y="6395046"/>
            <a:ext cx="5149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Show 4-step working for each question</a:t>
            </a:r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91"/>
              </a:clrFrom>
              <a:clrTo>
                <a:srgbClr val="FFFF9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309" y="3666095"/>
            <a:ext cx="2174032" cy="1142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4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3253" y="2224998"/>
            <a:ext cx="884543" cy="142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12" cstate="print">
            <a:clrChange>
              <a:clrFrom>
                <a:srgbClr val="FFFF91"/>
              </a:clrFrom>
              <a:clrTo>
                <a:srgbClr val="FFFF9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7461" y="2130436"/>
            <a:ext cx="908125" cy="1447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12" cstate="print">
            <a:clrChange>
              <a:clrFrom>
                <a:srgbClr val="FFFF91"/>
              </a:clrFrom>
              <a:clrTo>
                <a:srgbClr val="FFFF9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427" y="2044304"/>
            <a:ext cx="908125" cy="1447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2"/>
          <p:cNvPicPr>
            <a:picLocks noChangeAspect="1" noChangeArrowheads="1"/>
          </p:cNvPicPr>
          <p:nvPr/>
        </p:nvPicPr>
        <p:blipFill>
          <a:blip r:embed="rId12" cstate="print">
            <a:clrChange>
              <a:clrFrom>
                <a:srgbClr val="FFFF91"/>
              </a:clrFrom>
              <a:clrTo>
                <a:srgbClr val="FFFF9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0326" y="1968332"/>
            <a:ext cx="908125" cy="1447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Picture 2"/>
          <p:cNvPicPr>
            <a:picLocks noChangeAspect="1" noChangeArrowheads="1"/>
          </p:cNvPicPr>
          <p:nvPr/>
        </p:nvPicPr>
        <p:blipFill>
          <a:blip r:embed="rId12" cstate="print">
            <a:clrChange>
              <a:clrFrom>
                <a:srgbClr val="FFFF91"/>
              </a:clrFrom>
              <a:clrTo>
                <a:srgbClr val="FFFF9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9321" y="1892359"/>
            <a:ext cx="908125" cy="1447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2"/>
          <p:cNvPicPr>
            <a:picLocks noChangeAspect="1" noChangeArrowheads="1"/>
          </p:cNvPicPr>
          <p:nvPr/>
        </p:nvPicPr>
        <p:blipFill>
          <a:blip r:embed="rId12" cstate="print">
            <a:clrChange>
              <a:clrFrom>
                <a:srgbClr val="FFFF91"/>
              </a:clrFrom>
              <a:clrTo>
                <a:srgbClr val="FFFF9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8316" y="1813104"/>
            <a:ext cx="908125" cy="1447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TextBox 41"/>
          <p:cNvSpPr txBox="1"/>
          <p:nvPr/>
        </p:nvSpPr>
        <p:spPr>
          <a:xfrm>
            <a:off x="1575526" y="116633"/>
            <a:ext cx="34015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26772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8" grpId="0"/>
      <p:bldP spid="12" grpId="0"/>
      <p:bldP spid="13" grpId="0"/>
      <p:bldP spid="9" grpId="0"/>
      <p:bldP spid="15" grpId="0"/>
      <p:bldP spid="16" grpId="0"/>
      <p:bldP spid="11" grpId="0" animBg="1"/>
      <p:bldP spid="14" grpId="0"/>
      <p:bldP spid="17" grpId="0"/>
      <p:bldP spid="27" grpId="0"/>
      <p:bldP spid="28" grpId="0"/>
      <p:bldP spid="29" grpId="0"/>
      <p:bldP spid="18" grpId="0"/>
      <p:bldP spid="31" grpId="0"/>
      <p:bldP spid="32" grpId="0"/>
      <p:bldP spid="33" grpId="0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764704"/>
          </a:xfrm>
        </p:spPr>
        <p:txBody>
          <a:bodyPr>
            <a:normAutofit/>
          </a:bodyPr>
          <a:lstStyle/>
          <a:p>
            <a:pPr algn="r"/>
            <a:r>
              <a:rPr lang="en-AU" sz="3600" dirty="0"/>
              <a:t>Find the volume of these rectangular prisms?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96"/>
          <a:stretch/>
        </p:blipFill>
        <p:spPr bwMode="auto">
          <a:xfrm>
            <a:off x="2111427" y="1018828"/>
            <a:ext cx="2905125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65" t="-777" r="21597" b="777"/>
          <a:stretch/>
        </p:blipFill>
        <p:spPr bwMode="auto">
          <a:xfrm>
            <a:off x="2294041" y="3128095"/>
            <a:ext cx="2975109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66" t="-596" r="-17070" b="596"/>
          <a:stretch/>
        </p:blipFill>
        <p:spPr bwMode="auto">
          <a:xfrm>
            <a:off x="2213078" y="5190778"/>
            <a:ext cx="2905125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05" t="81367" r="8653" b="-4355"/>
          <a:stretch/>
        </p:blipFill>
        <p:spPr bwMode="auto">
          <a:xfrm>
            <a:off x="3424406" y="6309320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05" t="81367" r="8653" b="-4355"/>
          <a:stretch/>
        </p:blipFill>
        <p:spPr bwMode="auto">
          <a:xfrm>
            <a:off x="3840214" y="5517232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05" t="81367" r="8653" b="-4355"/>
          <a:stretch/>
        </p:blipFill>
        <p:spPr bwMode="auto">
          <a:xfrm>
            <a:off x="3067218" y="4809778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05" t="81367" r="8653" b="-4355"/>
          <a:stretch/>
        </p:blipFill>
        <p:spPr bwMode="auto">
          <a:xfrm>
            <a:off x="2052791" y="5000278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05" t="81367" r="8653" b="-4355"/>
          <a:stretch/>
        </p:blipFill>
        <p:spPr bwMode="auto">
          <a:xfrm>
            <a:off x="1571051" y="5828953"/>
            <a:ext cx="71437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9142492" y="726524"/>
            <a:ext cx="149611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DIAGRAM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NUMBERS</a:t>
            </a:r>
            <a:b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096001" y="912894"/>
                <a:ext cx="16353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𝒃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𝒉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𝒍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912894"/>
                <a:ext cx="163538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096001" y="1278783"/>
                <a:ext cx="17748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𝟒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𝟏𝟏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1278783"/>
                <a:ext cx="177484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6096001" y="1609841"/>
                <a:ext cx="1543949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𝟑𝟗𝟔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𝒄𝒎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1609841"/>
                <a:ext cx="1543949" cy="37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5981354" y="3128095"/>
                <a:ext cx="16353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𝒃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𝒉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𝒍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354" y="3128095"/>
                <a:ext cx="163538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5981354" y="3493984"/>
                <a:ext cx="19127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𝟏𝟎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𝟔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𝟏𝟏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354" y="3493984"/>
                <a:ext cx="191270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5981354" y="3825042"/>
                <a:ext cx="1641731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𝟔𝟔𝟎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𝒎𝒎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354" y="3825042"/>
                <a:ext cx="1641731" cy="3755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5881873" y="5346955"/>
                <a:ext cx="16353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𝒃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𝒉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𝒍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873" y="5346955"/>
                <a:ext cx="163538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5881873" y="5712844"/>
                <a:ext cx="1636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×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Cambria Math"/>
                          <a:cs typeface="+mn-cs"/>
                        </a:rPr>
                        <m:t>𝟗</m:t>
                      </m:r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873" y="5712844"/>
                <a:ext cx="163698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5881873" y="6043902"/>
                <a:ext cx="1641731" cy="3755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3275" algn="l"/>
                  </a:tabLs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𝑽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AU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𝟕𝟐𝟗</m:t>
                      </m:r>
                      <m:sSup>
                        <m:sSupPr>
                          <m:ctrlP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𝒎𝒎</m:t>
                          </m:r>
                        </m:e>
                        <m:sup>
                          <m:r>
                            <a:rPr kumimoji="0" lang="en-AU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kumimoji="0" lang="en-AU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873" y="6043902"/>
                <a:ext cx="1641731" cy="3755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8040217" y="4116356"/>
            <a:ext cx="24587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Don’t times them all, just the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Height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5526" y="116633"/>
            <a:ext cx="340158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3884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616474" y="116633"/>
            <a:ext cx="149611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DIAGRAM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NUMBERS</a:t>
            </a:r>
            <a:b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SOLVE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179"/>
          <a:stretch/>
        </p:blipFill>
        <p:spPr bwMode="auto">
          <a:xfrm>
            <a:off x="1122770" y="2439681"/>
            <a:ext cx="9763643" cy="344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1701" y="1481670"/>
            <a:ext cx="4211960" cy="784830"/>
          </a:xfrm>
        </p:spPr>
        <p:txBody>
          <a:bodyPr>
            <a:normAutofit/>
          </a:bodyPr>
          <a:lstStyle/>
          <a:p>
            <a:r>
              <a:rPr lang="en-AU" dirty="0"/>
              <a:t>Volume Practice  </a:t>
            </a:r>
          </a:p>
        </p:txBody>
      </p:sp>
    </p:spTree>
    <p:extLst>
      <p:ext uri="{BB962C8B-B14F-4D97-AF65-F5344CB8AC3E}">
        <p14:creationId xmlns:p14="http://schemas.microsoft.com/office/powerpoint/2010/main" val="2620872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A0C56-BA42-4216-9794-AA6542462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Volume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8E2472-BF90-4CD6-9216-7EB765CA0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11" y="2454217"/>
            <a:ext cx="4715614" cy="22585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CE9326-81C1-41AD-99A5-241F95C0D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962" y="2171700"/>
            <a:ext cx="4579021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550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3AA7B-4B63-4967-BB56-F471C6E06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Whiteboards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5E616D-D94C-44CA-A1ED-1416F60E1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86" y="2454217"/>
            <a:ext cx="4715614" cy="22585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26B0B8-562F-4587-AED4-086727B47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534" y="2032679"/>
            <a:ext cx="4579021" cy="31337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6DF9B4B-994B-476F-A4D2-08A2A546231A}"/>
              </a:ext>
            </a:extLst>
          </p:cNvPr>
          <p:cNvSpPr/>
          <p:nvPr/>
        </p:nvSpPr>
        <p:spPr>
          <a:xfrm>
            <a:off x="2760955" y="2556769"/>
            <a:ext cx="674703" cy="2929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7F8B09-CFAF-4498-B7E7-2F302D675D21}"/>
              </a:ext>
            </a:extLst>
          </p:cNvPr>
          <p:cNvSpPr/>
          <p:nvPr/>
        </p:nvSpPr>
        <p:spPr>
          <a:xfrm>
            <a:off x="4271639" y="3207474"/>
            <a:ext cx="674703" cy="2929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8B2C56-4CC0-4FD8-ACE3-AE6CC3B25C16}"/>
              </a:ext>
            </a:extLst>
          </p:cNvPr>
          <p:cNvSpPr/>
          <p:nvPr/>
        </p:nvSpPr>
        <p:spPr>
          <a:xfrm>
            <a:off x="4155119" y="3738979"/>
            <a:ext cx="674703" cy="2929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188CFC-72E5-4D05-9BCD-B2724E12585A}"/>
              </a:ext>
            </a:extLst>
          </p:cNvPr>
          <p:cNvSpPr/>
          <p:nvPr/>
        </p:nvSpPr>
        <p:spPr>
          <a:xfrm>
            <a:off x="9499519" y="3912833"/>
            <a:ext cx="860722" cy="4601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3D1CDE-95C1-421A-948C-8577712AE7CE}"/>
              </a:ext>
            </a:extLst>
          </p:cNvPr>
          <p:cNvSpPr txBox="1"/>
          <p:nvPr/>
        </p:nvSpPr>
        <p:spPr>
          <a:xfrm>
            <a:off x="2608555" y="3973612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15m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626A8F-1CF4-4B8E-9B0C-C50F92237DF9}"/>
              </a:ext>
            </a:extLst>
          </p:cNvPr>
          <p:cNvSpPr txBox="1"/>
          <p:nvPr/>
        </p:nvSpPr>
        <p:spPr>
          <a:xfrm>
            <a:off x="9717624" y="3885460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7m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DB8B07-ECB4-4C3A-8FD1-FBADEBF1CA24}"/>
              </a:ext>
            </a:extLst>
          </p:cNvPr>
          <p:cNvSpPr txBox="1"/>
          <p:nvPr/>
        </p:nvSpPr>
        <p:spPr>
          <a:xfrm>
            <a:off x="4005957" y="3644927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2m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431B14-9931-4D07-9B0B-6D4952F6F9AF}"/>
              </a:ext>
            </a:extLst>
          </p:cNvPr>
          <p:cNvSpPr txBox="1"/>
          <p:nvPr/>
        </p:nvSpPr>
        <p:spPr>
          <a:xfrm>
            <a:off x="4127152" y="2989422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3m</a:t>
            </a:r>
          </a:p>
        </p:txBody>
      </p:sp>
    </p:spTree>
    <p:extLst>
      <p:ext uri="{BB962C8B-B14F-4D97-AF65-F5344CB8AC3E}">
        <p14:creationId xmlns:p14="http://schemas.microsoft.com/office/powerpoint/2010/main" val="176748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93EF0-85DB-4A0A-9B77-83CCC8924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Area of L blocks  </a:t>
            </a:r>
            <a:endParaRPr lang="en-AU" dirty="0"/>
          </a:p>
        </p:txBody>
      </p:sp>
      <p:sp>
        <p:nvSpPr>
          <p:cNvPr id="4" name="L-Shape 3">
            <a:extLst>
              <a:ext uri="{FF2B5EF4-FFF2-40B4-BE49-F238E27FC236}">
                <a16:creationId xmlns:a16="http://schemas.microsoft.com/office/drawing/2014/main" id="{6B366D55-E8AB-4C9F-B3AD-21840AC3EEE3}"/>
              </a:ext>
            </a:extLst>
          </p:cNvPr>
          <p:cNvSpPr/>
          <p:nvPr/>
        </p:nvSpPr>
        <p:spPr>
          <a:xfrm>
            <a:off x="2077375" y="2166151"/>
            <a:ext cx="8220722" cy="3648722"/>
          </a:xfrm>
          <a:prstGeom prst="corner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EFCA65-28D4-DE4C-3F54-B0DED38C10D2}"/>
              </a:ext>
            </a:extLst>
          </p:cNvPr>
          <p:cNvSpPr txBox="1"/>
          <p:nvPr/>
        </p:nvSpPr>
        <p:spPr>
          <a:xfrm>
            <a:off x="5530788" y="5965794"/>
            <a:ext cx="740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20m</a:t>
            </a:r>
            <a:endParaRPr lang="en-AU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5068D6-38FD-8B38-D707-290D5BFC8AE3}"/>
              </a:ext>
            </a:extLst>
          </p:cNvPr>
          <p:cNvSpPr txBox="1"/>
          <p:nvPr/>
        </p:nvSpPr>
        <p:spPr>
          <a:xfrm>
            <a:off x="10494885" y="4671133"/>
            <a:ext cx="590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5m</a:t>
            </a:r>
            <a:endParaRPr lang="en-AU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C2D34F-3ABA-F4C8-F58D-4F4EA09CAC52}"/>
              </a:ext>
            </a:extLst>
          </p:cNvPr>
          <p:cNvSpPr txBox="1"/>
          <p:nvPr/>
        </p:nvSpPr>
        <p:spPr>
          <a:xfrm>
            <a:off x="1134870" y="3977195"/>
            <a:ext cx="745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10m</a:t>
            </a:r>
            <a:endParaRPr lang="en-AU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481DD8-9A6E-EA04-BD93-71CAA5C7996C}"/>
              </a:ext>
            </a:extLst>
          </p:cNvPr>
          <p:cNvSpPr txBox="1"/>
          <p:nvPr/>
        </p:nvSpPr>
        <p:spPr>
          <a:xfrm>
            <a:off x="6187736" y="3528847"/>
            <a:ext cx="745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16m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449597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07B3A-C391-421D-8D5A-A29CA1C7A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Perimeter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CE690-7163-4208-A50A-2ECEE5892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/>
              <a:t>The length forming the outside boundary of a shape. 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A46C9AE0-C3D6-45EE-B5AA-3CF699C94D02}"/>
              </a:ext>
            </a:extLst>
          </p:cNvPr>
          <p:cNvSpPr/>
          <p:nvPr/>
        </p:nvSpPr>
        <p:spPr>
          <a:xfrm>
            <a:off x="1411550" y="3195961"/>
            <a:ext cx="1970842" cy="167788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L-Shape 4">
            <a:extLst>
              <a:ext uri="{FF2B5EF4-FFF2-40B4-BE49-F238E27FC236}">
                <a16:creationId xmlns:a16="http://schemas.microsoft.com/office/drawing/2014/main" id="{0DB571F2-BF4E-4214-9D21-14148C333800}"/>
              </a:ext>
            </a:extLst>
          </p:cNvPr>
          <p:cNvSpPr/>
          <p:nvPr/>
        </p:nvSpPr>
        <p:spPr>
          <a:xfrm>
            <a:off x="4802819" y="3391270"/>
            <a:ext cx="2121764" cy="1482571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47D1FD-CE9A-431C-80D4-D56D19828714}"/>
              </a:ext>
            </a:extLst>
          </p:cNvPr>
          <p:cNvSpPr/>
          <p:nvPr/>
        </p:nvSpPr>
        <p:spPr>
          <a:xfrm>
            <a:off x="8194089" y="3657600"/>
            <a:ext cx="3159711" cy="1305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E99FB2-91D2-46D1-B001-D17608F12FB4}"/>
              </a:ext>
            </a:extLst>
          </p:cNvPr>
          <p:cNvSpPr txBox="1"/>
          <p:nvPr/>
        </p:nvSpPr>
        <p:spPr>
          <a:xfrm>
            <a:off x="2032986" y="4832904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10cm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EE297D-F43B-45F2-8037-E10E5BDA0316}"/>
              </a:ext>
            </a:extLst>
          </p:cNvPr>
          <p:cNvSpPr txBox="1"/>
          <p:nvPr/>
        </p:nvSpPr>
        <p:spPr>
          <a:xfrm>
            <a:off x="1100831" y="3573236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12cm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DF8DF65-6243-42FD-B859-C521E8DBC55F}"/>
                  </a:ext>
                </a:extLst>
              </p14:cNvPr>
              <p14:cNvContentPartPr/>
              <p14:nvPr/>
            </p14:nvContentPartPr>
            <p14:xfrm>
              <a:off x="1961553" y="3826108"/>
              <a:ext cx="116280" cy="756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DF8DF65-6243-42FD-B859-C521E8DBC5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25913" y="3790108"/>
                <a:ext cx="18792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25A99CC-BEDF-4539-B655-1759D7FF3E83}"/>
                  </a:ext>
                </a:extLst>
              </p14:cNvPr>
              <p14:cNvContentPartPr/>
              <p14:nvPr/>
            </p14:nvContentPartPr>
            <p14:xfrm>
              <a:off x="2747793" y="3817108"/>
              <a:ext cx="119880" cy="102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25A99CC-BEDF-4539-B655-1759D7FF3E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12153" y="3781468"/>
                <a:ext cx="191520" cy="17388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B05DA76-A4C2-4472-B29C-6E282B27026F}"/>
              </a:ext>
            </a:extLst>
          </p:cNvPr>
          <p:cNvSpPr txBox="1"/>
          <p:nvPr/>
        </p:nvSpPr>
        <p:spPr>
          <a:xfrm>
            <a:off x="5434613" y="4832904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12cm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20C33E-7C74-4551-B6A2-C049CBB18046}"/>
              </a:ext>
            </a:extLst>
          </p:cNvPr>
          <p:cNvSpPr txBox="1"/>
          <p:nvPr/>
        </p:nvSpPr>
        <p:spPr>
          <a:xfrm>
            <a:off x="6045322" y="3719677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9cm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56E407-7999-4EE6-AB2C-6EA23457D8D4}"/>
              </a:ext>
            </a:extLst>
          </p:cNvPr>
          <p:cNvSpPr txBox="1"/>
          <p:nvPr/>
        </p:nvSpPr>
        <p:spPr>
          <a:xfrm>
            <a:off x="4087796" y="3901708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8cm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5DD8A1-976A-4EDF-8431-9AD98D3C6A04}"/>
              </a:ext>
            </a:extLst>
          </p:cNvPr>
          <p:cNvSpPr txBox="1"/>
          <p:nvPr/>
        </p:nvSpPr>
        <p:spPr>
          <a:xfrm>
            <a:off x="6847272" y="4276290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4cm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F46AD0-CCBE-4033-9F02-9A06A9B86DDA}"/>
              </a:ext>
            </a:extLst>
          </p:cNvPr>
          <p:cNvSpPr txBox="1"/>
          <p:nvPr/>
        </p:nvSpPr>
        <p:spPr>
          <a:xfrm>
            <a:off x="9444361" y="4877292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15m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F03E76-49A6-44B2-AE80-F3B6A1E646C1}"/>
              </a:ext>
            </a:extLst>
          </p:cNvPr>
          <p:cNvSpPr txBox="1"/>
          <p:nvPr/>
        </p:nvSpPr>
        <p:spPr>
          <a:xfrm>
            <a:off x="11327167" y="4018760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7m</a:t>
            </a:r>
          </a:p>
        </p:txBody>
      </p:sp>
    </p:spTree>
    <p:extLst>
      <p:ext uri="{BB962C8B-B14F-4D97-AF65-F5344CB8AC3E}">
        <p14:creationId xmlns:p14="http://schemas.microsoft.com/office/powerpoint/2010/main" val="3014577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4044F-328F-4780-88FD-DD40D5FC2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Whiteboards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D9B1E-698D-4939-B01C-2D3392B61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Calculate the perimeter.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FAD29EFC-0FBF-42D3-BBCD-6B19DE705611}"/>
              </a:ext>
            </a:extLst>
          </p:cNvPr>
          <p:cNvSpPr/>
          <p:nvPr/>
        </p:nvSpPr>
        <p:spPr>
          <a:xfrm>
            <a:off x="1411550" y="3195961"/>
            <a:ext cx="1970842" cy="167788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L-Shape 4">
            <a:extLst>
              <a:ext uri="{FF2B5EF4-FFF2-40B4-BE49-F238E27FC236}">
                <a16:creationId xmlns:a16="http://schemas.microsoft.com/office/drawing/2014/main" id="{2216B324-8985-4B44-A223-7B1CC9A0AF00}"/>
              </a:ext>
            </a:extLst>
          </p:cNvPr>
          <p:cNvSpPr/>
          <p:nvPr/>
        </p:nvSpPr>
        <p:spPr>
          <a:xfrm>
            <a:off x="4802819" y="3391270"/>
            <a:ext cx="2121764" cy="1482571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BE1F71-8A1D-45BC-AEB7-C4B4701AC97E}"/>
              </a:ext>
            </a:extLst>
          </p:cNvPr>
          <p:cNvSpPr/>
          <p:nvPr/>
        </p:nvSpPr>
        <p:spPr>
          <a:xfrm>
            <a:off x="8194089" y="3657600"/>
            <a:ext cx="3159711" cy="1305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A7A3D8-CEF9-4BD5-B9CB-DECC4A70098E}"/>
              </a:ext>
            </a:extLst>
          </p:cNvPr>
          <p:cNvSpPr txBox="1"/>
          <p:nvPr/>
        </p:nvSpPr>
        <p:spPr>
          <a:xfrm>
            <a:off x="2032986" y="4832904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7cm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06BD05-032B-46AD-A5C4-6BB159F59001}"/>
              </a:ext>
            </a:extLst>
          </p:cNvPr>
          <p:cNvSpPr txBox="1"/>
          <p:nvPr/>
        </p:nvSpPr>
        <p:spPr>
          <a:xfrm>
            <a:off x="1251009" y="3552767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8cm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FAD855-3591-42BF-9784-849C6EBC0304}"/>
              </a:ext>
            </a:extLst>
          </p:cNvPr>
          <p:cNvSpPr txBox="1"/>
          <p:nvPr/>
        </p:nvSpPr>
        <p:spPr>
          <a:xfrm>
            <a:off x="5434613" y="4832904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15cm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4AF974-6FE2-4302-BFF5-7A00C2CB978E}"/>
              </a:ext>
            </a:extLst>
          </p:cNvPr>
          <p:cNvSpPr txBox="1"/>
          <p:nvPr/>
        </p:nvSpPr>
        <p:spPr>
          <a:xfrm>
            <a:off x="5906236" y="3719677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11cm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B1DDFA-0D61-4ED1-BDA8-86D2ACC20E8F}"/>
              </a:ext>
            </a:extLst>
          </p:cNvPr>
          <p:cNvSpPr txBox="1"/>
          <p:nvPr/>
        </p:nvSpPr>
        <p:spPr>
          <a:xfrm>
            <a:off x="3975344" y="3901722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45E3D6-1AAD-4E7C-A212-05BC80341F92}"/>
              </a:ext>
            </a:extLst>
          </p:cNvPr>
          <p:cNvSpPr txBox="1"/>
          <p:nvPr/>
        </p:nvSpPr>
        <p:spPr>
          <a:xfrm>
            <a:off x="6847272" y="4276290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6cm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FA57B3-EC74-40A3-8CAB-B8A4BAC415DC}"/>
              </a:ext>
            </a:extLst>
          </p:cNvPr>
          <p:cNvSpPr txBox="1"/>
          <p:nvPr/>
        </p:nvSpPr>
        <p:spPr>
          <a:xfrm>
            <a:off x="9444361" y="4877292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10m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738C1D-006E-4097-8096-EC92F24BE478}"/>
              </a:ext>
            </a:extLst>
          </p:cNvPr>
          <p:cNvSpPr txBox="1"/>
          <p:nvPr/>
        </p:nvSpPr>
        <p:spPr>
          <a:xfrm>
            <a:off x="11327167" y="4018760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5m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B6D1A2B-41BF-4C24-BB36-374F8C657892}"/>
                  </a:ext>
                </a:extLst>
              </p14:cNvPr>
              <p14:cNvContentPartPr/>
              <p14:nvPr/>
            </p14:nvContentPartPr>
            <p14:xfrm>
              <a:off x="1988193" y="3683908"/>
              <a:ext cx="135720" cy="108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B6D1A2B-41BF-4C24-BB36-374F8C6578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52193" y="3647908"/>
                <a:ext cx="20736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6F5DC54-7E2B-4B4D-8D25-C96E745633B5}"/>
                  </a:ext>
                </a:extLst>
              </p14:cNvPr>
              <p14:cNvContentPartPr/>
              <p14:nvPr/>
            </p14:nvContentPartPr>
            <p14:xfrm>
              <a:off x="2665353" y="3639268"/>
              <a:ext cx="131040" cy="118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6F5DC54-7E2B-4B4D-8D25-C96E745633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29353" y="3603628"/>
                <a:ext cx="202680" cy="18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6774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C95E7-1C38-44CE-8455-52713DAF6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Area 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2896699-CC53-4BDC-B209-B92172675610}"/>
              </a:ext>
            </a:extLst>
          </p:cNvPr>
          <p:cNvSpPr/>
          <p:nvPr/>
        </p:nvSpPr>
        <p:spPr>
          <a:xfrm>
            <a:off x="1411550" y="3195961"/>
            <a:ext cx="1970842" cy="167788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L-Shape 4">
            <a:extLst>
              <a:ext uri="{FF2B5EF4-FFF2-40B4-BE49-F238E27FC236}">
                <a16:creationId xmlns:a16="http://schemas.microsoft.com/office/drawing/2014/main" id="{103D7C8D-2EFB-4013-B408-59F74260339D}"/>
              </a:ext>
            </a:extLst>
          </p:cNvPr>
          <p:cNvSpPr/>
          <p:nvPr/>
        </p:nvSpPr>
        <p:spPr>
          <a:xfrm>
            <a:off x="4802819" y="3391270"/>
            <a:ext cx="2121764" cy="1482571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729F5F-A11C-4E9E-952D-1E22CD219A0D}"/>
              </a:ext>
            </a:extLst>
          </p:cNvPr>
          <p:cNvSpPr/>
          <p:nvPr/>
        </p:nvSpPr>
        <p:spPr>
          <a:xfrm>
            <a:off x="8194089" y="3657600"/>
            <a:ext cx="3159711" cy="1305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721DA5-47F6-4EA9-BD29-FD40554D8B05}"/>
              </a:ext>
            </a:extLst>
          </p:cNvPr>
          <p:cNvSpPr txBox="1"/>
          <p:nvPr/>
        </p:nvSpPr>
        <p:spPr>
          <a:xfrm>
            <a:off x="2032986" y="4832904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10cm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9926DA-A715-4350-A451-B4D50F515050}"/>
              </a:ext>
            </a:extLst>
          </p:cNvPr>
          <p:cNvSpPr txBox="1"/>
          <p:nvPr/>
        </p:nvSpPr>
        <p:spPr>
          <a:xfrm>
            <a:off x="306651" y="3595404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11cm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09FA38-4759-4848-9676-437AB51D3937}"/>
              </a:ext>
            </a:extLst>
          </p:cNvPr>
          <p:cNvSpPr txBox="1"/>
          <p:nvPr/>
        </p:nvSpPr>
        <p:spPr>
          <a:xfrm>
            <a:off x="5434613" y="4832904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12cm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E41911-6F2C-433D-9D23-C6E71F01D315}"/>
              </a:ext>
            </a:extLst>
          </p:cNvPr>
          <p:cNvSpPr txBox="1"/>
          <p:nvPr/>
        </p:nvSpPr>
        <p:spPr>
          <a:xfrm>
            <a:off x="6045322" y="3719677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9cm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479B8F-B1FA-4343-B5C6-5DF19CC8B5C2}"/>
              </a:ext>
            </a:extLst>
          </p:cNvPr>
          <p:cNvSpPr txBox="1"/>
          <p:nvPr/>
        </p:nvSpPr>
        <p:spPr>
          <a:xfrm>
            <a:off x="4087796" y="3901708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8cm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FA28FA-C0AC-44DC-A46B-AE793C6D1EA7}"/>
              </a:ext>
            </a:extLst>
          </p:cNvPr>
          <p:cNvSpPr txBox="1"/>
          <p:nvPr/>
        </p:nvSpPr>
        <p:spPr>
          <a:xfrm>
            <a:off x="6847272" y="4276290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4cm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29AA01-73A8-4EEE-97BE-24FBE681DAFA}"/>
              </a:ext>
            </a:extLst>
          </p:cNvPr>
          <p:cNvSpPr txBox="1"/>
          <p:nvPr/>
        </p:nvSpPr>
        <p:spPr>
          <a:xfrm>
            <a:off x="9444361" y="4877292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15m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0807E9-BA1C-4A3D-BC3B-E6B3ED865CA5}"/>
              </a:ext>
            </a:extLst>
          </p:cNvPr>
          <p:cNvSpPr txBox="1"/>
          <p:nvPr/>
        </p:nvSpPr>
        <p:spPr>
          <a:xfrm>
            <a:off x="11327167" y="4018760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7m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2705E78-154A-46FC-82DB-F95A4DF39902}"/>
              </a:ext>
            </a:extLst>
          </p:cNvPr>
          <p:cNvCxnSpPr/>
          <p:nvPr/>
        </p:nvCxnSpPr>
        <p:spPr>
          <a:xfrm flipV="1">
            <a:off x="1198485" y="3218129"/>
            <a:ext cx="0" cy="167788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089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701C1-9A24-4997-B166-E44E97FD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Whiteboards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ED4B9-6C8E-4A34-A214-CD457EF60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Calculate the area.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4DB1DE80-8B6C-49F2-AB75-5108806300EA}"/>
              </a:ext>
            </a:extLst>
          </p:cNvPr>
          <p:cNvSpPr/>
          <p:nvPr/>
        </p:nvSpPr>
        <p:spPr>
          <a:xfrm>
            <a:off x="1411550" y="3195961"/>
            <a:ext cx="1970842" cy="167788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L-Shape 4">
            <a:extLst>
              <a:ext uri="{FF2B5EF4-FFF2-40B4-BE49-F238E27FC236}">
                <a16:creationId xmlns:a16="http://schemas.microsoft.com/office/drawing/2014/main" id="{3FB9CD89-DD07-4007-9210-1420DF11FE9F}"/>
              </a:ext>
            </a:extLst>
          </p:cNvPr>
          <p:cNvSpPr/>
          <p:nvPr/>
        </p:nvSpPr>
        <p:spPr>
          <a:xfrm>
            <a:off x="4802819" y="3391270"/>
            <a:ext cx="2121764" cy="1482571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43B403-A537-456C-A3AE-05AFEE905777}"/>
              </a:ext>
            </a:extLst>
          </p:cNvPr>
          <p:cNvSpPr/>
          <p:nvPr/>
        </p:nvSpPr>
        <p:spPr>
          <a:xfrm>
            <a:off x="8194089" y="3657600"/>
            <a:ext cx="3159711" cy="1305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C923A4-6A50-4C09-BEC8-6F4CFB8D032D}"/>
              </a:ext>
            </a:extLst>
          </p:cNvPr>
          <p:cNvSpPr txBox="1"/>
          <p:nvPr/>
        </p:nvSpPr>
        <p:spPr>
          <a:xfrm>
            <a:off x="2059619" y="4832904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8cm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0717789-8B0E-4DA6-841D-5DF9DE18DFA5}"/>
              </a:ext>
            </a:extLst>
          </p:cNvPr>
          <p:cNvCxnSpPr/>
          <p:nvPr/>
        </p:nvCxnSpPr>
        <p:spPr>
          <a:xfrm flipV="1">
            <a:off x="1198485" y="3218129"/>
            <a:ext cx="0" cy="167788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BFA9B7E-AA5F-4DE1-BAAA-720424BEBC2D}"/>
              </a:ext>
            </a:extLst>
          </p:cNvPr>
          <p:cNvSpPr txBox="1"/>
          <p:nvPr/>
        </p:nvSpPr>
        <p:spPr>
          <a:xfrm>
            <a:off x="537098" y="3770461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6cm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10A7B3-2CD4-4714-90D3-665BC3955727}"/>
              </a:ext>
            </a:extLst>
          </p:cNvPr>
          <p:cNvSpPr txBox="1"/>
          <p:nvPr/>
        </p:nvSpPr>
        <p:spPr>
          <a:xfrm>
            <a:off x="5434613" y="4832904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10cm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BE5440-1743-4A37-A8F7-78E0DD744097}"/>
              </a:ext>
            </a:extLst>
          </p:cNvPr>
          <p:cNvSpPr txBox="1"/>
          <p:nvPr/>
        </p:nvSpPr>
        <p:spPr>
          <a:xfrm>
            <a:off x="6045322" y="3719677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7cm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088C9C-383F-4EDD-A9DC-CB11771E2808}"/>
              </a:ext>
            </a:extLst>
          </p:cNvPr>
          <p:cNvSpPr txBox="1"/>
          <p:nvPr/>
        </p:nvSpPr>
        <p:spPr>
          <a:xfrm>
            <a:off x="4087796" y="3901708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6cm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D10590-B6AC-403E-8576-775E15536A9B}"/>
              </a:ext>
            </a:extLst>
          </p:cNvPr>
          <p:cNvSpPr txBox="1"/>
          <p:nvPr/>
        </p:nvSpPr>
        <p:spPr>
          <a:xfrm>
            <a:off x="6847272" y="4276290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2cm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4879A0-44F3-4922-85E6-136807216630}"/>
              </a:ext>
            </a:extLst>
          </p:cNvPr>
          <p:cNvSpPr txBox="1"/>
          <p:nvPr/>
        </p:nvSpPr>
        <p:spPr>
          <a:xfrm>
            <a:off x="9444361" y="4877292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10mm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6FBC0-33E9-4884-959B-8DDAACCD1990}"/>
              </a:ext>
            </a:extLst>
          </p:cNvPr>
          <p:cNvSpPr txBox="1"/>
          <p:nvPr/>
        </p:nvSpPr>
        <p:spPr>
          <a:xfrm>
            <a:off x="11327167" y="4018760"/>
            <a:ext cx="1322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7mm</a:t>
            </a:r>
          </a:p>
        </p:txBody>
      </p:sp>
    </p:spTree>
    <p:extLst>
      <p:ext uri="{BB962C8B-B14F-4D97-AF65-F5344CB8AC3E}">
        <p14:creationId xmlns:p14="http://schemas.microsoft.com/office/powerpoint/2010/main" val="3058861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824F9-DDB9-4FBF-840C-B7E69E289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FC78B-DCF5-48D3-802A-5DD023E25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Calculate volume: </a:t>
            </a:r>
            <a:endParaRPr lang="en-AU" dirty="0"/>
          </a:p>
        </p:txBody>
      </p:sp>
      <p:pic>
        <p:nvPicPr>
          <p:cNvPr id="1026" name="Picture 2" descr="Volume of a Prism">
            <a:extLst>
              <a:ext uri="{FF2B5EF4-FFF2-40B4-BE49-F238E27FC236}">
                <a16:creationId xmlns:a16="http://schemas.microsoft.com/office/drawing/2014/main" id="{F4B90772-257D-4336-9704-303F56149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025" y="2016792"/>
            <a:ext cx="5676900" cy="4160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0205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36A60-AEAE-46E1-8F8C-F621B58EF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Creating Area and perimeter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054BFC-20D9-4331-8050-E1AFFF3C71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/>
                  <a:t>Sometimes we need to design a fence with a limited length of fencing. Or we might want a specific amount of area inside the fence.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E.g. Create a rectangular shape using 20m of fencing 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E.g., 2 Create a rectangle with an area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054BFC-20D9-4331-8050-E1AFFF3C71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2858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DC355-FEFF-43F1-94CB-02D4A583C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Whiteboards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65263-6591-48BF-84C8-9A5D8E4D1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Create a rectangle with a perimeter of:</a:t>
            </a:r>
          </a:p>
          <a:p>
            <a:pPr marL="0" indent="0">
              <a:buNone/>
            </a:pPr>
            <a:endParaRPr lang="en-AU" dirty="0"/>
          </a:p>
          <a:p>
            <a:pPr marL="742950" indent="-742950">
              <a:buAutoNum type="alphaLcParenR"/>
            </a:pPr>
            <a:r>
              <a:rPr lang="en-AU" sz="4000" dirty="0"/>
              <a:t>40m </a:t>
            </a:r>
          </a:p>
          <a:p>
            <a:pPr marL="742950" indent="-742950">
              <a:buAutoNum type="alphaLcParenR"/>
            </a:pPr>
            <a:r>
              <a:rPr lang="en-AU" sz="4000" dirty="0"/>
              <a:t>16m </a:t>
            </a:r>
          </a:p>
          <a:p>
            <a:pPr marL="742950" indent="-742950">
              <a:buAutoNum type="alphaLcParenR"/>
            </a:pPr>
            <a:r>
              <a:rPr lang="en-AU" sz="4000" dirty="0"/>
              <a:t>10m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5632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05FEE-B01D-470E-8371-B741B8D69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Whiteboards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7C22EE-2ACB-4817-AABB-EBA33ED8E0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/>
                  <a:t>Create a rectangle or square with an area of:</a:t>
                </a:r>
              </a:p>
              <a:p>
                <a:endParaRPr lang="en-AU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sz="3600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sz="3600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7C22EE-2ACB-4817-AABB-EBA33ED8E0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313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ED314-2954-4448-9A2D-8BD4FEDE7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Area of parallelograms  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00983D30-57F4-42D6-BA8A-2560A4B70CE2}"/>
              </a:ext>
            </a:extLst>
          </p:cNvPr>
          <p:cNvSpPr/>
          <p:nvPr/>
        </p:nvSpPr>
        <p:spPr>
          <a:xfrm>
            <a:off x="3870664" y="3719744"/>
            <a:ext cx="3746377" cy="188595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6E9F4827-BC91-4D5F-B1F4-43E6C91CB8CC}"/>
              </a:ext>
            </a:extLst>
          </p:cNvPr>
          <p:cNvSpPr/>
          <p:nvPr/>
        </p:nvSpPr>
        <p:spPr>
          <a:xfrm flipH="1">
            <a:off x="3870664" y="3715879"/>
            <a:ext cx="470516" cy="1885950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28C521A6-BD6F-48E9-859B-C15E86A728E4}"/>
              </a:ext>
            </a:extLst>
          </p:cNvPr>
          <p:cNvSpPr/>
          <p:nvPr/>
        </p:nvSpPr>
        <p:spPr>
          <a:xfrm flipH="1">
            <a:off x="3870664" y="3723609"/>
            <a:ext cx="470516" cy="1885950"/>
          </a:xfrm>
          <a:prstGeom prst="rtTriangl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DFE50D-0D8F-4316-ACCB-4886317B4B5A}"/>
              </a:ext>
            </a:extLst>
          </p:cNvPr>
          <p:cNvSpPr txBox="1"/>
          <p:nvPr/>
        </p:nvSpPr>
        <p:spPr>
          <a:xfrm>
            <a:off x="5211192" y="5609559"/>
            <a:ext cx="1535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063FA1-5132-41ED-BC07-E0A3C64D287F}"/>
              </a:ext>
            </a:extLst>
          </p:cNvPr>
          <p:cNvSpPr txBox="1"/>
          <p:nvPr/>
        </p:nvSpPr>
        <p:spPr>
          <a:xfrm>
            <a:off x="2805343" y="4289522"/>
            <a:ext cx="1535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8cm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D3E2747-12D6-4C78-9505-042037454A89}"/>
              </a:ext>
            </a:extLst>
          </p:cNvPr>
          <p:cNvCxnSpPr/>
          <p:nvPr/>
        </p:nvCxnSpPr>
        <p:spPr>
          <a:xfrm flipV="1">
            <a:off x="3573261" y="3723609"/>
            <a:ext cx="0" cy="187822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A796596-6EE7-4AFC-A7CE-0C4A5C5D037B}"/>
              </a:ext>
            </a:extLst>
          </p:cNvPr>
          <p:cNvSpPr txBox="1"/>
          <p:nvPr/>
        </p:nvSpPr>
        <p:spPr>
          <a:xfrm>
            <a:off x="4030462" y="1690688"/>
            <a:ext cx="3453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/>
              <a:t>A = base x height </a:t>
            </a:r>
          </a:p>
        </p:txBody>
      </p:sp>
    </p:spTree>
    <p:extLst>
      <p:ext uri="{BB962C8B-B14F-4D97-AF65-F5344CB8AC3E}">
        <p14:creationId xmlns:p14="http://schemas.microsoft.com/office/powerpoint/2010/main" val="1424550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4.44444E-6 L 0.26979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90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003AB-FF60-46F6-8F9D-F193931AC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 do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2E83AE-B5F2-4017-99EB-2387418EEC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001294"/>
                <a:ext cx="3307672" cy="2491581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 ×4 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2E83AE-B5F2-4017-99EB-2387418EEC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001294"/>
                <a:ext cx="3307672" cy="249158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arallelogram 3">
            <a:extLst>
              <a:ext uri="{FF2B5EF4-FFF2-40B4-BE49-F238E27FC236}">
                <a16:creationId xmlns:a16="http://schemas.microsoft.com/office/drawing/2014/main" id="{526C27E0-DCA6-4306-94C1-0A15F636494F}"/>
              </a:ext>
            </a:extLst>
          </p:cNvPr>
          <p:cNvSpPr/>
          <p:nvPr/>
        </p:nvSpPr>
        <p:spPr>
          <a:xfrm>
            <a:off x="1401932" y="2021574"/>
            <a:ext cx="2432482" cy="1748901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0758AEFB-9E1F-422D-B625-CF96ED06072B}"/>
              </a:ext>
            </a:extLst>
          </p:cNvPr>
          <p:cNvSpPr/>
          <p:nvPr/>
        </p:nvSpPr>
        <p:spPr>
          <a:xfrm>
            <a:off x="6830628" y="2021574"/>
            <a:ext cx="4523172" cy="197972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238353-0892-4FFF-BD03-D87248B36FF7}"/>
              </a:ext>
            </a:extLst>
          </p:cNvPr>
          <p:cNvSpPr txBox="1"/>
          <p:nvPr/>
        </p:nvSpPr>
        <p:spPr>
          <a:xfrm>
            <a:off x="2139518" y="3420122"/>
            <a:ext cx="1083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6cm</a:t>
            </a:r>
            <a:endParaRPr lang="en-AU" sz="24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A520E14-17C4-49FD-B804-5328AE5D3E06}"/>
              </a:ext>
            </a:extLst>
          </p:cNvPr>
          <p:cNvCxnSpPr>
            <a:cxnSpLocks/>
          </p:cNvCxnSpPr>
          <p:nvPr/>
        </p:nvCxnSpPr>
        <p:spPr>
          <a:xfrm flipV="1">
            <a:off x="4012707" y="2021575"/>
            <a:ext cx="0" cy="17489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0F01916-6056-47C1-B993-6D8A710E1B15}"/>
              </a:ext>
            </a:extLst>
          </p:cNvPr>
          <p:cNvSpPr txBox="1"/>
          <p:nvPr/>
        </p:nvSpPr>
        <p:spPr>
          <a:xfrm>
            <a:off x="4012707" y="2780601"/>
            <a:ext cx="1083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4cm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4FE18741-EBDF-4CD7-A5CF-1D070BCD76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51703" y="4118183"/>
                <a:ext cx="3307672" cy="24915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𝑏h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 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=7×5 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4FE18741-EBDF-4CD7-A5CF-1D070BCD7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703" y="4118183"/>
                <a:ext cx="3307672" cy="24915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1A6F254-18EE-4962-93BC-E947BB71B40B}"/>
              </a:ext>
            </a:extLst>
          </p:cNvPr>
          <p:cNvCxnSpPr>
            <a:cxnSpLocks/>
          </p:cNvCxnSpPr>
          <p:nvPr/>
        </p:nvCxnSpPr>
        <p:spPr>
          <a:xfrm flipV="1">
            <a:off x="11755515" y="2021574"/>
            <a:ext cx="0" cy="20951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143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EBB8D-42CC-4033-9E51-34A58DA8C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7097E021-5F43-47AA-AE70-57B5C296A0C8}"/>
              </a:ext>
            </a:extLst>
          </p:cNvPr>
          <p:cNvSpPr/>
          <p:nvPr/>
        </p:nvSpPr>
        <p:spPr>
          <a:xfrm>
            <a:off x="1401932" y="2021574"/>
            <a:ext cx="2432482" cy="1748901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FAD23376-414A-4386-BD3F-3D30F273A9B3}"/>
              </a:ext>
            </a:extLst>
          </p:cNvPr>
          <p:cNvSpPr/>
          <p:nvPr/>
        </p:nvSpPr>
        <p:spPr>
          <a:xfrm>
            <a:off x="6830628" y="2021574"/>
            <a:ext cx="4523172" cy="197972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8779DB7-2519-43A1-A4DC-C502473F7A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001294"/>
                <a:ext cx="3307672" cy="2491581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8779DB7-2519-43A1-A4DC-C502473F7A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001294"/>
                <a:ext cx="3307672" cy="2491581"/>
              </a:xfrm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AE90E31-D6DF-4387-9903-E81C1317E3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55889" y="4091550"/>
                <a:ext cx="3307672" cy="24915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=11,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  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dirty="0"/>
              </a:p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AE90E31-D6DF-4387-9903-E81C1317E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5889" y="4091550"/>
                <a:ext cx="3307672" cy="2491581"/>
              </a:xfrm>
              <a:prstGeom prst="rect">
                <a:avLst/>
              </a:prstGeom>
              <a:blipFill>
                <a:blip r:embed="rId3"/>
                <a:stretch>
                  <a:fillRect l="-11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8B60B7C-2741-4D37-98FB-6B37AE116A48}"/>
              </a:ext>
            </a:extLst>
          </p:cNvPr>
          <p:cNvSpPr txBox="1"/>
          <p:nvPr/>
        </p:nvSpPr>
        <p:spPr>
          <a:xfrm>
            <a:off x="4012707" y="2780601"/>
            <a:ext cx="1083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5cm</a:t>
            </a:r>
            <a:endParaRPr lang="en-AU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DE1C02-6F2A-4F05-8170-E9263328FFBD}"/>
              </a:ext>
            </a:extLst>
          </p:cNvPr>
          <p:cNvSpPr txBox="1"/>
          <p:nvPr/>
        </p:nvSpPr>
        <p:spPr>
          <a:xfrm>
            <a:off x="2076635" y="3369076"/>
            <a:ext cx="1083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10cm</a:t>
            </a:r>
            <a:endParaRPr lang="en-AU" sz="24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5D013F-CFC6-4BB1-AF86-889C10F0DAA4}"/>
              </a:ext>
            </a:extLst>
          </p:cNvPr>
          <p:cNvCxnSpPr>
            <a:cxnSpLocks/>
          </p:cNvCxnSpPr>
          <p:nvPr/>
        </p:nvCxnSpPr>
        <p:spPr>
          <a:xfrm flipV="1">
            <a:off x="4012707" y="2021575"/>
            <a:ext cx="0" cy="17489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797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AEC08-B1BA-4C04-A7E6-B6A1F8191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You do </a:t>
            </a:r>
            <a:endParaRPr lang="en-AU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3FB09C1A-8DC3-4B32-AAEB-8F577CDABBDF}"/>
              </a:ext>
            </a:extLst>
          </p:cNvPr>
          <p:cNvSpPr/>
          <p:nvPr/>
        </p:nvSpPr>
        <p:spPr>
          <a:xfrm>
            <a:off x="1401932" y="2021574"/>
            <a:ext cx="2432482" cy="1748901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B2EBD104-8DA3-4CD5-B25F-26F3682FDF27}"/>
              </a:ext>
            </a:extLst>
          </p:cNvPr>
          <p:cNvSpPr/>
          <p:nvPr/>
        </p:nvSpPr>
        <p:spPr>
          <a:xfrm>
            <a:off x="6830628" y="2021574"/>
            <a:ext cx="4523172" cy="1979720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C4E5B08-2B29-44B2-9473-0090A94B4B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4001294"/>
                <a:ext cx="3307672" cy="24915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dirty="0"/>
              </a:p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C4E5B08-2B29-44B2-9473-0090A94B4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01294"/>
                <a:ext cx="3307672" cy="2491581"/>
              </a:xfrm>
              <a:prstGeom prst="rect">
                <a:avLst/>
              </a:prstGeom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5B403DE-B6D9-4776-95FD-94EBC25B6680}"/>
              </a:ext>
            </a:extLst>
          </p:cNvPr>
          <p:cNvCxnSpPr>
            <a:cxnSpLocks/>
          </p:cNvCxnSpPr>
          <p:nvPr/>
        </p:nvCxnSpPr>
        <p:spPr>
          <a:xfrm flipV="1">
            <a:off x="4012707" y="2021575"/>
            <a:ext cx="0" cy="17489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0B9979-3A2D-4FEC-B64D-C7FC6E2564E1}"/>
              </a:ext>
            </a:extLst>
          </p:cNvPr>
          <p:cNvCxnSpPr>
            <a:cxnSpLocks/>
          </p:cNvCxnSpPr>
          <p:nvPr/>
        </p:nvCxnSpPr>
        <p:spPr>
          <a:xfrm flipV="1">
            <a:off x="11755515" y="2021574"/>
            <a:ext cx="0" cy="20951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0EAF89A-FD7E-4802-BE8D-3F21AD949E32}"/>
              </a:ext>
            </a:extLst>
          </p:cNvPr>
          <p:cNvSpPr txBox="1"/>
          <p:nvPr/>
        </p:nvSpPr>
        <p:spPr>
          <a:xfrm>
            <a:off x="2076635" y="3369076"/>
            <a:ext cx="1083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8cm</a:t>
            </a:r>
            <a:endParaRPr lang="en-AU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97780C-19D2-47A2-9238-43A6CC8DD1B1}"/>
              </a:ext>
            </a:extLst>
          </p:cNvPr>
          <p:cNvSpPr txBox="1"/>
          <p:nvPr/>
        </p:nvSpPr>
        <p:spPr>
          <a:xfrm>
            <a:off x="4047478" y="2780601"/>
            <a:ext cx="1083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3cm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FCCD8B08-5E5A-45C7-8BE8-4657014E7B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55889" y="4091550"/>
                <a:ext cx="3307672" cy="24915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  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dirty="0"/>
              </a:p>
              <a:p>
                <a:pPr marL="0" indent="0" algn="ctr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FCCD8B08-5E5A-45C7-8BE8-4657014E7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5889" y="4091550"/>
                <a:ext cx="3307672" cy="2491581"/>
              </a:xfrm>
              <a:prstGeom prst="rect">
                <a:avLst/>
              </a:prstGeom>
              <a:blipFill>
                <a:blip r:embed="rId3"/>
                <a:stretch>
                  <a:fillRect l="-11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690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83E10-C485-408F-BFEA-7DD8AF4D5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Inverse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572EF-1135-4C13-ACA2-BA53B379E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the missing blanks (on your whiteboards) </a:t>
            </a:r>
          </a:p>
          <a:p>
            <a:pPr marL="0" indent="0">
              <a:buNone/>
            </a:pPr>
            <a:endParaRPr lang="en-US" dirty="0"/>
          </a:p>
          <a:p>
            <a:pPr marL="742950" indent="-742950">
              <a:buAutoNum type="alphaLcParenR"/>
            </a:pPr>
            <a:r>
              <a:rPr lang="en-US" sz="4000" dirty="0"/>
              <a:t>5 x ____ = 25 </a:t>
            </a:r>
          </a:p>
          <a:p>
            <a:pPr marL="742950" indent="-742950">
              <a:buAutoNum type="alphaLcParenR"/>
            </a:pPr>
            <a:r>
              <a:rPr lang="en-US" sz="4000" dirty="0"/>
              <a:t>3 x ____ = 18 </a:t>
            </a:r>
          </a:p>
          <a:p>
            <a:pPr marL="742950" indent="-742950">
              <a:buAutoNum type="alphaLcParenR"/>
            </a:pPr>
            <a:r>
              <a:rPr lang="en-US" sz="4000" dirty="0"/>
              <a:t>10 x ____ = 100 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124485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DF00F-2FCA-42EA-9213-FFECC135D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Inverse problems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16275C-9C5B-4D90-9C6C-82161D453B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Tom knows his lawn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. He also knows it is rectangular is shape and 8m long. How wide is Tom’s lawn? 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16275C-9C5B-4D90-9C6C-82161D453B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AF801E9-91EB-4858-9CDD-8008F7141FBF}"/>
              </a:ext>
            </a:extLst>
          </p:cNvPr>
          <p:cNvSpPr/>
          <p:nvPr/>
        </p:nvSpPr>
        <p:spPr>
          <a:xfrm>
            <a:off x="2183908" y="3366409"/>
            <a:ext cx="5450890" cy="220166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CC8DC-2767-440B-BEC1-891D2E13F3C2}"/>
              </a:ext>
            </a:extLst>
          </p:cNvPr>
          <p:cNvSpPr txBox="1"/>
          <p:nvPr/>
        </p:nvSpPr>
        <p:spPr>
          <a:xfrm>
            <a:off x="1491450" y="4076596"/>
            <a:ext cx="692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? m</a:t>
            </a:r>
            <a:endParaRPr lang="en-AU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6BF58B-0E41-4220-9BE8-7CE37C34F9E0}"/>
              </a:ext>
            </a:extLst>
          </p:cNvPr>
          <p:cNvSpPr txBox="1"/>
          <p:nvPr/>
        </p:nvSpPr>
        <p:spPr>
          <a:xfrm>
            <a:off x="4449192" y="2967335"/>
            <a:ext cx="692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8m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47B0F0-55A3-48D8-B0CE-949D45A4B991}"/>
                  </a:ext>
                </a:extLst>
              </p:cNvPr>
              <p:cNvSpPr txBox="1"/>
              <p:nvPr/>
            </p:nvSpPr>
            <p:spPr>
              <a:xfrm>
                <a:off x="4385569" y="4001294"/>
                <a:ext cx="692458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𝟑𝟐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47B0F0-55A3-48D8-B0CE-949D45A4B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5569" y="4001294"/>
                <a:ext cx="692458" cy="470000"/>
              </a:xfrm>
              <a:prstGeom prst="rect">
                <a:avLst/>
              </a:prstGeom>
              <a:blipFill>
                <a:blip r:embed="rId3"/>
                <a:stretch>
                  <a:fillRect l="-1754" r="-368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8187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73DE9-66FB-4F8E-86B0-A2312194B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Inverse triangles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A5D29-0A46-4FB4-9DA6-71F508EF3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can we find the height of this triangle? </a:t>
            </a:r>
            <a:endParaRPr lang="en-AU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8AB390E3-551A-4A38-9904-7682BEE629F0}"/>
              </a:ext>
            </a:extLst>
          </p:cNvPr>
          <p:cNvSpPr/>
          <p:nvPr/>
        </p:nvSpPr>
        <p:spPr>
          <a:xfrm>
            <a:off x="2032986" y="3176434"/>
            <a:ext cx="3666478" cy="256564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BF11F2-7191-42F9-850F-FC7D8999066D}"/>
                  </a:ext>
                </a:extLst>
              </p:cNvPr>
              <p:cNvSpPr txBox="1"/>
              <p:nvPr/>
            </p:nvSpPr>
            <p:spPr>
              <a:xfrm>
                <a:off x="3519996" y="4459257"/>
                <a:ext cx="692458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𝟓𝟎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BF11F2-7191-42F9-850F-FC7D89990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9996" y="4459257"/>
                <a:ext cx="692458" cy="470000"/>
              </a:xfrm>
              <a:prstGeom prst="rect">
                <a:avLst/>
              </a:prstGeom>
              <a:blipFill>
                <a:blip r:embed="rId2"/>
                <a:stretch>
                  <a:fillRect l="-2632" r="-368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4C59705-511B-4927-8DF2-A91879874ECB}"/>
              </a:ext>
            </a:extLst>
          </p:cNvPr>
          <p:cNvSpPr txBox="1"/>
          <p:nvPr/>
        </p:nvSpPr>
        <p:spPr>
          <a:xfrm>
            <a:off x="3519996" y="5742080"/>
            <a:ext cx="892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20m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B5D04B-F827-4822-9006-3F3D44F840D2}"/>
                  </a:ext>
                </a:extLst>
              </p:cNvPr>
              <p:cNvSpPr txBox="1"/>
              <p:nvPr/>
            </p:nvSpPr>
            <p:spPr>
              <a:xfrm>
                <a:off x="7297446" y="3041497"/>
                <a:ext cx="3586578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Area formula: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÷2</m:t>
                      </m:r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=20 × ? ÷2=50</m:t>
                      </m:r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? 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B5D04B-F827-4822-9006-3F3D44F84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446" y="3041497"/>
                <a:ext cx="3586578" cy="2800767"/>
              </a:xfrm>
              <a:prstGeom prst="rect">
                <a:avLst/>
              </a:prstGeom>
              <a:blipFill>
                <a:blip r:embed="rId3"/>
                <a:stretch>
                  <a:fillRect l="-1361" t="-13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92649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9DDB4-A885-4948-A109-E9966D31E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Inverse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280E1-0071-44B2-BCFD-14FC3CE6B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Sketch these triangles and label, then solve the height of these triangles (exercise books).</a:t>
            </a:r>
            <a:endParaRPr lang="en-AU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AE7275C3-7416-4598-994A-B61375C8580B}"/>
              </a:ext>
            </a:extLst>
          </p:cNvPr>
          <p:cNvSpPr/>
          <p:nvPr/>
        </p:nvSpPr>
        <p:spPr>
          <a:xfrm>
            <a:off x="435005" y="3362865"/>
            <a:ext cx="3666478" cy="2565646"/>
          </a:xfrm>
          <a:prstGeom prst="triangle">
            <a:avLst>
              <a:gd name="adj" fmla="val 289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1C48AF9-E133-4A46-9DCD-5E0046D55830}"/>
              </a:ext>
            </a:extLst>
          </p:cNvPr>
          <p:cNvSpPr/>
          <p:nvPr/>
        </p:nvSpPr>
        <p:spPr>
          <a:xfrm>
            <a:off x="5575177" y="2990003"/>
            <a:ext cx="1837678" cy="2929631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71485993-663D-4FF8-AF64-F1C02F54C8A7}"/>
              </a:ext>
            </a:extLst>
          </p:cNvPr>
          <p:cNvSpPr/>
          <p:nvPr/>
        </p:nvSpPr>
        <p:spPr>
          <a:xfrm>
            <a:off x="8966447" y="3497802"/>
            <a:ext cx="2707689" cy="243070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A82CC5-B7D2-476F-9EE9-73AAECA99CEE}"/>
                  </a:ext>
                </a:extLst>
              </p:cNvPr>
              <p:cNvSpPr txBox="1"/>
              <p:nvPr/>
            </p:nvSpPr>
            <p:spPr>
              <a:xfrm>
                <a:off x="1288003" y="4713156"/>
                <a:ext cx="692458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𝟐𝟎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A82CC5-B7D2-476F-9EE9-73AAECA99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003" y="4713156"/>
                <a:ext cx="692458" cy="470000"/>
              </a:xfrm>
              <a:prstGeom prst="rect">
                <a:avLst/>
              </a:prstGeom>
              <a:blipFill>
                <a:blip r:embed="rId2"/>
                <a:stretch>
                  <a:fillRect l="-1754" r="-368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E34809-92E9-4614-AC35-19B3D704B812}"/>
                  </a:ext>
                </a:extLst>
              </p:cNvPr>
              <p:cNvSpPr txBox="1"/>
              <p:nvPr/>
            </p:nvSpPr>
            <p:spPr>
              <a:xfrm>
                <a:off x="5976153" y="5057096"/>
                <a:ext cx="692458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E34809-92E9-4614-AC35-19B3D704B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153" y="5057096"/>
                <a:ext cx="692458" cy="470000"/>
              </a:xfrm>
              <a:prstGeom prst="rect">
                <a:avLst/>
              </a:prstGeom>
              <a:blipFill>
                <a:blip r:embed="rId3"/>
                <a:stretch>
                  <a:fillRect l="-1754" r="-631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474E735-A419-4C30-81C2-2C14C45B3CF7}"/>
                  </a:ext>
                </a:extLst>
              </p:cNvPr>
              <p:cNvSpPr txBox="1"/>
              <p:nvPr/>
            </p:nvSpPr>
            <p:spPr>
              <a:xfrm>
                <a:off x="9405891" y="4946384"/>
                <a:ext cx="692458" cy="470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474E735-A419-4C30-81C2-2C14C45B3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5891" y="4946384"/>
                <a:ext cx="692458" cy="470000"/>
              </a:xfrm>
              <a:prstGeom prst="rect">
                <a:avLst/>
              </a:prstGeom>
              <a:blipFill>
                <a:blip r:embed="rId4"/>
                <a:stretch>
                  <a:fillRect l="-2632" r="-368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2BA9FAF-44EC-47F4-BC1F-5A83FBEB3D5A}"/>
              </a:ext>
            </a:extLst>
          </p:cNvPr>
          <p:cNvSpPr txBox="1"/>
          <p:nvPr/>
        </p:nvSpPr>
        <p:spPr>
          <a:xfrm>
            <a:off x="6200314" y="5928511"/>
            <a:ext cx="936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8m</a:t>
            </a:r>
            <a:endParaRPr lang="en-AU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D25FB7-1364-49E7-BC4A-B88FEF569DF3}"/>
              </a:ext>
            </a:extLst>
          </p:cNvPr>
          <p:cNvSpPr txBox="1"/>
          <p:nvPr/>
        </p:nvSpPr>
        <p:spPr>
          <a:xfrm>
            <a:off x="1786632" y="6098530"/>
            <a:ext cx="936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10m</a:t>
            </a:r>
            <a:endParaRPr lang="en-AU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B92FAC-C8A0-4C54-ADFB-779C3BB3C2F2}"/>
              </a:ext>
            </a:extLst>
          </p:cNvPr>
          <p:cNvSpPr txBox="1"/>
          <p:nvPr/>
        </p:nvSpPr>
        <p:spPr>
          <a:xfrm>
            <a:off x="9752120" y="6011708"/>
            <a:ext cx="936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5m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5254855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9B411-CDBA-4F0A-B3D0-3F4D04BB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Textbook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39A4D-B6E5-45ED-9372-072D1D28B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Page 469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Questions 1 - 9</a:t>
            </a:r>
          </a:p>
        </p:txBody>
      </p:sp>
    </p:spTree>
    <p:extLst>
      <p:ext uri="{BB962C8B-B14F-4D97-AF65-F5344CB8AC3E}">
        <p14:creationId xmlns:p14="http://schemas.microsoft.com/office/powerpoint/2010/main" val="1717484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903</TotalTime>
  <Words>714</Words>
  <Application>Microsoft Office PowerPoint</Application>
  <PresentationFormat>Widescreen</PresentationFormat>
  <Paragraphs>229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What is the volume of these shapes?</vt:lpstr>
      <vt:lpstr>Rule for volume of cuboids </vt:lpstr>
      <vt:lpstr>Volume of Rectangular Prisms</vt:lpstr>
      <vt:lpstr>Find the volume of these rectangular prisms?</vt:lpstr>
      <vt:lpstr>Volume Practice  </vt:lpstr>
      <vt:lpstr>Volume </vt:lpstr>
      <vt:lpstr>Whiteboards </vt:lpstr>
      <vt:lpstr>Area of L blocks  </vt:lpstr>
      <vt:lpstr>Perimeter </vt:lpstr>
      <vt:lpstr>Whiteboards </vt:lpstr>
      <vt:lpstr>Area </vt:lpstr>
      <vt:lpstr>Whiteboards </vt:lpstr>
      <vt:lpstr>Whiteboards </vt:lpstr>
      <vt:lpstr>Creating Area and perimeter </vt:lpstr>
      <vt:lpstr>Whiteboards </vt:lpstr>
      <vt:lpstr>Whiteboards </vt:lpstr>
      <vt:lpstr>Area of parallelograms  </vt:lpstr>
      <vt:lpstr>I do </vt:lpstr>
      <vt:lpstr>We do </vt:lpstr>
      <vt:lpstr>You do </vt:lpstr>
      <vt:lpstr>Inverse </vt:lpstr>
      <vt:lpstr>Inverse problems </vt:lpstr>
      <vt:lpstr>Inverse triangles </vt:lpstr>
      <vt:lpstr>Inverse </vt:lpstr>
      <vt:lpstr>Textbook 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22</cp:revision>
  <dcterms:created xsi:type="dcterms:W3CDTF">2022-04-27T05:07:55Z</dcterms:created>
  <dcterms:modified xsi:type="dcterms:W3CDTF">2023-05-01T08:16:43Z</dcterms:modified>
</cp:coreProperties>
</file>
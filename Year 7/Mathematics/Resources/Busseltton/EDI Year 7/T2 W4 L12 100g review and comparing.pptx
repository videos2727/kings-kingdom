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92" r:id="rId3"/>
    <p:sldId id="293" r:id="rId4"/>
    <p:sldId id="257" r:id="rId5"/>
    <p:sldId id="288" r:id="rId6"/>
    <p:sldId id="273" r:id="rId7"/>
    <p:sldId id="274" r:id="rId8"/>
    <p:sldId id="276" r:id="rId9"/>
    <p:sldId id="277" r:id="rId10"/>
    <p:sldId id="278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4ABE-90BA-4AD9-8967-3F9E91A164D6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DAE3C-F0A0-4479-9B1E-ECE04AC5F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19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</a:t>
            </a:r>
            <a:r>
              <a:rPr lang="en-US" baseline="0" dirty="0"/>
              <a:t> answering these before </a:t>
            </a:r>
            <a:r>
              <a:rPr lang="en-US" baseline="0" dirty="0" err="1"/>
              <a:t>veiwing</a:t>
            </a:r>
            <a:r>
              <a:rPr lang="en-US" baseline="0" dirty="0"/>
              <a:t> the answers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C2E43B-801A-439A-AF87-0AFFEBAB7F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053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67BB-CAAB-4AB5-B3E2-13E9D3B2A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D006B-19EB-4516-834B-9ED9F39F5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1D96-BBB2-4F7C-8BCE-BACCBB1C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66A1B-DA8E-4EEE-ABD1-A6862EA9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1A17-39CA-4A6E-9FDF-37430EF4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566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2BA-0C96-493B-8F4E-803F2943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FBCB4-35DC-43A7-B7BB-C07057C1A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DB3EA-6569-4A6D-A752-1FED124E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53421-A32E-4EDF-A2CB-36890271D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4738-BCA2-4F42-9ED1-9CF05BC4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9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A0A6-C802-4FDE-B4B0-C19590E8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154A5-5308-466D-8515-761ED597A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3001E-23F6-4565-A092-6EC5FD5A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FD2A4-0965-4CB4-811A-EBDCE1B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E0E13-3FAC-4E83-87B3-3F7671EB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318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011E-8A98-44DC-82B8-FE2B24EF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9C82A-3AEF-4B22-909D-9A96E2951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8D303-15B7-4D91-8982-A590A0660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0CCF1-F1AB-4EAB-A242-D977D90CC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5ED97-C524-45C4-8112-F37EFB85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254DC-D429-40D1-9CD7-4DC1DD79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495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2BEC-F1A8-4A56-A330-8C5982F4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88190-367E-4FEB-B1A5-11F86A0D6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88469-460F-493C-9A48-B276EF28E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03702-66C5-4A8F-90A9-F7C2BF85F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2CBCB-3271-48DD-BB04-F0F6A47E7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C8673-3485-492E-8D09-6E986390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9C29A-203B-4D72-9789-888CE352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19F79-2DEE-4C8F-8E1D-B3672244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409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57C8-80F5-460B-90D3-4A0E0B0B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878EF-65B5-4B2E-B2C5-A45EF64B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DB36A-2EEF-4DB7-AF2C-0F0D02F13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DB84E-4406-428A-87CA-853CDE7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59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21C19-5FC4-4C9C-A56D-5D1D4893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2A693-2874-4FD8-A07E-47A46E2B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8B38A-DE00-4F87-A9BD-70E8A757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108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C68A-3355-4B0B-BF41-D4165B9B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7F4E-1436-4550-BC85-BC7E6CB9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F0E77-1079-4AE4-8ABF-DBA08E77D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B84DD-2BE1-469E-9C8A-446E9C99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D29F0-E786-40A2-98D8-5FF21FE9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CF6E9-B52F-4808-848A-4F55A634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689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A857-7110-4658-8308-675CC4AD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ED0D0-663B-4070-8629-327FDF73A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51ADB-4B71-4785-A87D-A69A206B4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3020F-29C8-4355-8D6F-2AD7BCF5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445E6-BA4C-4774-992E-BE6F9D8C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CD37-D95E-40FA-B04D-7AD574B4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76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A68E-175F-412F-AD2C-C12E073E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DD6D5-2BE5-4F81-9BBC-9DCCE4EA4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7B6AF-C06B-447B-A74E-13169846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C2BFF-9592-496D-8DD8-5A8BC291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29597-5D53-45AE-A063-1C03241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682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01D82-CD76-4445-8A48-0140B5BEB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B1C68-3D57-4EEB-AD79-CCD6DA621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A91EF-32BF-4D4E-B0DD-F3C21733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747E8-777D-407B-A30D-50477ED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DC913-E47A-45BD-9F60-9EFAA947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594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FBDD4-59BA-453D-AD47-CF06EA8A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71F2B-16B5-441C-87E9-55ECF0D1F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CAA80-A4D5-4125-9FA5-4CFADD4E9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D7655-4303-4442-9E28-AE9D5FE85598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81B22-4343-4A6B-A2F1-FF6CEA45B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8970C-7F27-4CE3-9999-CB9BA5D15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56611-B5BE-46B6-BFD9-4F009A7FCB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54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B0C708-2A3F-46DE-9D91-A67B979B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B86F9B-DF6D-4688-9521-2A279633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571"/>
            <a:ext cx="10515600" cy="50103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/>
              <a:t>Title: </a:t>
            </a:r>
            <a:r>
              <a:rPr lang="en-AU" sz="3200" b="1" dirty="0">
                <a:solidFill>
                  <a:srgbClr val="00B0F0"/>
                </a:solidFill>
              </a:rPr>
              <a:t>Comparing best buys</a:t>
            </a:r>
          </a:p>
          <a:p>
            <a:pPr marL="0" indent="0">
              <a:buNone/>
            </a:pPr>
            <a:endParaRPr lang="en-AU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 Attain a price per 100g for best buy items.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Determine a price per kilo from random weight increments</a:t>
            </a: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Review substitution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100g review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Comparing random weights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55758-9947-4BD8-A231-C5A23BBD7F61}"/>
              </a:ext>
            </a:extLst>
          </p:cNvPr>
          <p:cNvSpPr txBox="1"/>
          <p:nvPr/>
        </p:nvSpPr>
        <p:spPr>
          <a:xfrm>
            <a:off x="8859915" y="648070"/>
            <a:ext cx="255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 and calculators.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541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8225" y="400050"/>
            <a:ext cx="5143500" cy="403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 bag contains 7 blue, 5 purple, 12 red, and 6 orange marbles.  Find each probability if you draw one marble at random from the bag.  Write as a fraction in simplest form.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a)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P(purple)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or orange) 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P(not blue)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2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You roll a standard number cube (six sides numbered 1 – 6).  After one roll, answer the following: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P(3 or 4)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      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P(even #)         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P(not 2)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38550" y="0"/>
            <a:ext cx="48577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Probability Questions:</a:t>
            </a:r>
          </a:p>
        </p:txBody>
      </p:sp>
      <p:pic>
        <p:nvPicPr>
          <p:cNvPr id="3074" name="Picture 2" descr="http://t2.gstatic.com/images?q=tbn:ANd9GcTvw2SK78hLsjCLpTGEAGfT5kcXnMadsibAANDPxORb7kM-8TmfhA:www.shmoop.com/images/prealgebra/unit5/pa.5.107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8" r="6812" b="12832"/>
          <a:stretch/>
        </p:blipFill>
        <p:spPr bwMode="auto">
          <a:xfrm>
            <a:off x="7562606" y="1233820"/>
            <a:ext cx="1620028" cy="79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12240" y="4400550"/>
            <a:ext cx="664514" cy="55558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24300" y="2128969"/>
                <a:ext cx="809837" cy="395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300" y="2128969"/>
                <a:ext cx="809837" cy="395493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49383" y="2128969"/>
                <a:ext cx="809837" cy="392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𝟏𝟖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383" y="2128969"/>
                <a:ext cx="809837" cy="3924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859338" y="2128969"/>
                <a:ext cx="513282" cy="482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𝟐𝟑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</m:num>
                        <m:den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𝟑𝟎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338" y="2128969"/>
                <a:ext cx="513282" cy="482633"/>
              </a:xfrm>
              <a:prstGeom prst="rect">
                <a:avLst/>
              </a:prstGeom>
              <a:blipFill>
                <a:blip r:embed="rId7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28691" y="4060979"/>
                <a:ext cx="734496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691" y="4060979"/>
                <a:ext cx="734496" cy="3924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40463" y="4060979"/>
                <a:ext cx="734496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463" y="4060979"/>
                <a:ext cx="734496" cy="3924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409438" y="4111595"/>
                <a:ext cx="409086" cy="486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</m:num>
                        <m:den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438" y="4111595"/>
                <a:ext cx="409086" cy="486865"/>
              </a:xfrm>
              <a:prstGeom prst="rect">
                <a:avLst/>
              </a:prstGeom>
              <a:blipFill>
                <a:blip r:embed="rId10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51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743" y="1"/>
            <a:ext cx="5119007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“Experimental” Probability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5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Mike was practicing basketball shots.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Out of 24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attempts, he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made 21 baskets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Based on this rate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what is the probability that Mike’s next shot will go in the basket?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Jane was throwing darts.  Out of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12 attempts, 3 were bulls-eyes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If Jane were to make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36 attempts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how many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should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be bulls-eyes?   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6146" name="Picture 2" descr="http://t2.gstatic.com/images?q=tbn:ANd9GcSaJ9XDTqBkx-v0FnKzfcCyOcfay0hq7L31N5FSf9Gu9EjsgJq4:clipartpin.com/clipart_file/basketball-hoop-clipart-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433" y="1088059"/>
            <a:ext cx="1535906" cy="167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t3.gstatic.com/images?q=tbn:ANd9GcQNPAF6LJx8pMIwNqz9Rr-YaMQyxMbwBqNtreePt0ZC0W2lPfVn:www.clipartbest.com/cliparts/pT5/7K7/pT57K76TB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569" y="4914900"/>
            <a:ext cx="1450181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04595" y="1731692"/>
                <a:ext cx="766557" cy="391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𝟐𝟒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𝟕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𝟖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95" y="1731692"/>
                <a:ext cx="766557" cy="391517"/>
              </a:xfrm>
              <a:prstGeom prst="rect">
                <a:avLst/>
              </a:prstGeom>
              <a:blipFill>
                <a:blip r:embed="rId4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850058" y="3704859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 pitchFamily="18" charset="0"/>
                <a:ea typeface="+mn-ea"/>
                <a:cs typeface="+mn-c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1660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4903C-4DEF-4ED2-880A-1276C1FE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4000" dirty="0"/>
              <a:t>Daily review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FB83C-5847-4F5D-84EE-0766171A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45268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000" dirty="0"/>
              <a:t>What sample space of this spinner?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What is the probability of green?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After 100 spins, how many would you expect </a:t>
            </a:r>
          </a:p>
          <a:p>
            <a:pPr marL="0" indent="0">
              <a:buNone/>
            </a:pPr>
            <a:r>
              <a:rPr lang="en-AU" sz="2000" dirty="0"/>
              <a:t>to be green?  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Red and yellow are ________ likely.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44146-EAF7-425F-A264-E21AA36500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7" b="-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0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D5238-0F0D-46DF-AE3A-E291D82A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3FE0E-D01C-4CC6-93A6-921E0A829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Whiteboards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a = 5, e = 2 and h = 9, evaluate the following expressions: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a + e + h = </a:t>
            </a: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6e – 2a =</a:t>
            </a:r>
          </a:p>
          <a:p>
            <a:pPr marL="514350" indent="-514350">
              <a:buAutoNum type="alphaLcParenR"/>
            </a:pPr>
            <a:r>
              <a:rPr lang="en-AU" dirty="0"/>
              <a:t>2h + 3e =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04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65E2-D049-4BB4-A211-7676E2A0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Best Buys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A8922-CCA0-40ED-9F9A-588B1D9AF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u="sng" dirty="0"/>
              <a:t>Finding the price per kilo if the weight is in multiples of 100g.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Steps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Divide to get 100g cost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47276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7054-A9AE-4F86-B796-2F7E9C9B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power of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D2E8-1A48-49DD-A9A7-D3D4DDD0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Having an example next to your notes is surprisingly helpful…and not enough students actually write examples…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Horse cubes are $9 per 400g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can I divide 400 by to get 100?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9C2FF-D21F-4D57-8E2D-943A58BB0C58}"/>
              </a:ext>
            </a:extLst>
          </p:cNvPr>
          <p:cNvSpPr txBox="1"/>
          <p:nvPr/>
        </p:nvSpPr>
        <p:spPr>
          <a:xfrm flipH="1">
            <a:off x="9666082" y="2965544"/>
            <a:ext cx="1963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2400" dirty="0">
                <a:solidFill>
                  <a:srgbClr val="00B0F0"/>
                </a:solidFill>
              </a:rPr>
              <a:t>Divide to get 100g cost </a:t>
            </a:r>
          </a:p>
          <a:p>
            <a:pPr marL="514350" indent="-514350">
              <a:buAutoNum type="arabicPeriod"/>
            </a:pPr>
            <a:r>
              <a:rPr lang="en-AU" sz="2400" dirty="0">
                <a:solidFill>
                  <a:srgbClr val="00B0F0"/>
                </a:solidFill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202571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7054-A9AE-4F86-B796-2F7E9C9B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power of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D2E8-1A48-49DD-A9A7-D3D4DDD0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Having an example next to your notes is surprisingly helpful…and not enough students actually write examples…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hair gel is $11 per 300g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can I divide 300 by to get 100?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9C2FF-D21F-4D57-8E2D-943A58BB0C58}"/>
              </a:ext>
            </a:extLst>
          </p:cNvPr>
          <p:cNvSpPr txBox="1"/>
          <p:nvPr/>
        </p:nvSpPr>
        <p:spPr>
          <a:xfrm flipH="1">
            <a:off x="9666082" y="2965544"/>
            <a:ext cx="1963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2400" dirty="0">
                <a:solidFill>
                  <a:srgbClr val="00B0F0"/>
                </a:solidFill>
              </a:rPr>
              <a:t>Divide to get 100g cost </a:t>
            </a:r>
          </a:p>
          <a:p>
            <a:pPr marL="514350" indent="-514350">
              <a:buAutoNum type="arabicPeriod"/>
            </a:pPr>
            <a:r>
              <a:rPr lang="en-AU" sz="2400" dirty="0">
                <a:solidFill>
                  <a:srgbClr val="00B0F0"/>
                </a:solidFill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3939908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7054-A9AE-4F86-B796-2F7E9C9B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power of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D2E8-1A48-49DD-A9A7-D3D4DDD0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Having an example next to your notes is surprisingly helpful…and not enough students actually write examples…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cheese is $15 per 700g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can I divide 700 by to get 100?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9C2FF-D21F-4D57-8E2D-943A58BB0C58}"/>
              </a:ext>
            </a:extLst>
          </p:cNvPr>
          <p:cNvSpPr txBox="1"/>
          <p:nvPr/>
        </p:nvSpPr>
        <p:spPr>
          <a:xfrm flipH="1">
            <a:off x="9666082" y="2965544"/>
            <a:ext cx="1963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42168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7054-A9AE-4F86-B796-2F7E9C9B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power of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D2E8-1A48-49DD-A9A7-D3D4DDD0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Having an example next to your notes is surprisingly helpful…and not enough students actually write examples…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fish food is $20 per 900g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can I divide 900 by to get 100?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9C2FF-D21F-4D57-8E2D-943A58BB0C58}"/>
              </a:ext>
            </a:extLst>
          </p:cNvPr>
          <p:cNvSpPr txBox="1"/>
          <p:nvPr/>
        </p:nvSpPr>
        <p:spPr>
          <a:xfrm flipH="1">
            <a:off x="9666082" y="2965544"/>
            <a:ext cx="1963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249068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paid $11.50 for 400g of ham. How much was it for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100g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3373196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jar of Nutella costs $6.90 for 300g. How much is it per: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100g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2758554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Beans cost $9.25 for 500g. How much are they for: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100g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</p:spTree>
    <p:extLst>
      <p:ext uri="{BB962C8B-B14F-4D97-AF65-F5344CB8AC3E}">
        <p14:creationId xmlns:p14="http://schemas.microsoft.com/office/powerpoint/2010/main" val="251967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B879E1-BC79-4D9B-A5C0-075B5A3A9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2505075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Mr. Davies </a:t>
            </a:r>
            <a:r>
              <a:rPr lang="en-US" dirty="0" err="1"/>
              <a:t>favourite</a:t>
            </a:r>
            <a:r>
              <a:rPr lang="en-US" dirty="0"/>
              <a:t> chocolate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D5CDB2-E0F7-42B2-AB0A-FD5081F9E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429000"/>
            <a:ext cx="5157787" cy="125017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$8 for 200g.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E81A08-2767-4C92-AC9D-2653CE72A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1788" y="2605088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Some other chocolate 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85A245-2573-4B47-99A9-AB922B811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603" y="3510462"/>
            <a:ext cx="5183188" cy="165855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$18 for 500g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 by 10 to get $ per kilo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D2A98-9120-448F-93FD-8C970C8E261C}"/>
              </a:ext>
            </a:extLst>
          </p:cNvPr>
          <p:cNvSpPr txBox="1"/>
          <p:nvPr/>
        </p:nvSpPr>
        <p:spPr>
          <a:xfrm>
            <a:off x="3045041" y="2031862"/>
            <a:ext cx="7182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Which is better value? Compare 100g prices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32669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288712-0223-4CE9-93C3-6DD1AB83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Comparing price: unitary method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CEE057E-4267-4F1A-B887-73C70617B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2258"/>
                <a:ext cx="105156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𝒒𝒖𝒂𝒏𝒕𝒊𝒕𝒚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𝒑𝒓𝒊𝒄𝒆</m:t>
                      </m:r>
                    </m:oMath>
                  </m:oMathPara>
                </a14:m>
                <a:endParaRPr lang="en-US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/>
                  <a:t>450g of cheese costs $5.50, but Coles has a special which is $8 for 600g. Which is better value for money? </a:t>
                </a: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/>
                  <a:t>A bag of 140g chips costs $1.20. Or I can buy a 370g bag for $3.25. which is better value for money? </a:t>
                </a: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/>
                  <a:t>Chocolate costs $5.70 for 225g. How much is it for 100g?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CEE057E-4267-4F1A-B887-73C70617B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2258"/>
                <a:ext cx="10515600" cy="4351338"/>
              </a:xfrm>
              <a:blipFill>
                <a:blip r:embed="rId2"/>
                <a:stretch>
                  <a:fillRect l="-1217" b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40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B6B2-EAEF-401D-9910-B982A937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3AF1-1897-49F6-8053-0498F4D2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410g of bait costs $11.40. 1kg of bait costs $25.50. which is better value?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The movies sell Maltesers at $9.20 for 425g. Woolies sells a 600g bag for $12.50 – which is better value for money?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Vegemite costs $6.70 for 325g. How much is it for 100g?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7D054B-0D3E-4383-A7CE-87C1B8796AB2}"/>
                  </a:ext>
                </a:extLst>
              </p:cNvPr>
              <p:cNvSpPr txBox="1"/>
              <p:nvPr/>
            </p:nvSpPr>
            <p:spPr>
              <a:xfrm>
                <a:off x="8948691" y="365125"/>
                <a:ext cx="2778711" cy="9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𝒒𝒖𝒂𝒏𝒕𝒊𝒕𝒚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𝒑𝒓𝒊𝒄𝒆</m:t>
                      </m:r>
                    </m:oMath>
                  </m:oMathPara>
                </a14:m>
                <a:endParaRPr lang="en-US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7D054B-0D3E-4383-A7CE-87C1B8796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8691" y="365125"/>
                <a:ext cx="2778711" cy="9169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872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4BD4-F63F-4988-8BCD-CCB6284E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Comparing best buys task sheet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20031-325D-4328-AA17-F416BDBA4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552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0854-684F-42E9-B062-B32DEADB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Fist to five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3D89-3E3B-4050-B3D9-A0BFD16A6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8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 Attain a price per 100g for best buy items.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Determine a price per kilo from random weight increments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5910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4188</TotalTime>
  <Words>878</Words>
  <Application>Microsoft Office PowerPoint</Application>
  <PresentationFormat>Widescreen</PresentationFormat>
  <Paragraphs>155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Rockwell</vt:lpstr>
      <vt:lpstr>Showcard Gothic</vt:lpstr>
      <vt:lpstr>Wingdings</vt:lpstr>
      <vt:lpstr>Office Theme</vt:lpstr>
      <vt:lpstr>Lesson objective </vt:lpstr>
      <vt:lpstr>PowerPoint Presentation</vt:lpstr>
      <vt:lpstr>PowerPoint Presentation</vt:lpstr>
      <vt:lpstr>Daily review </vt:lpstr>
      <vt:lpstr>Substitution </vt:lpstr>
      <vt:lpstr>Best Buys</vt:lpstr>
      <vt:lpstr>The power of examples </vt:lpstr>
      <vt:lpstr>The power of examples </vt:lpstr>
      <vt:lpstr>The power of examples </vt:lpstr>
      <vt:lpstr>The power of examples </vt:lpstr>
      <vt:lpstr>Whiteboards </vt:lpstr>
      <vt:lpstr>Whiteboards </vt:lpstr>
      <vt:lpstr>Whiteboards </vt:lpstr>
      <vt:lpstr>Whiteboards </vt:lpstr>
      <vt:lpstr>Comparing price: unitary method </vt:lpstr>
      <vt:lpstr>We do  </vt:lpstr>
      <vt:lpstr>Comparing best buys task sheet </vt:lpstr>
      <vt:lpstr>Fist to five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15</cp:revision>
  <dcterms:created xsi:type="dcterms:W3CDTF">2021-05-13T12:51:29Z</dcterms:created>
  <dcterms:modified xsi:type="dcterms:W3CDTF">2023-05-18T07:27:25Z</dcterms:modified>
</cp:coreProperties>
</file>
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61" r:id="rId5"/>
    <p:sldId id="298" r:id="rId6"/>
    <p:sldId id="257" r:id="rId7"/>
    <p:sldId id="311" r:id="rId8"/>
    <p:sldId id="303" r:id="rId9"/>
    <p:sldId id="258" r:id="rId10"/>
    <p:sldId id="314" r:id="rId11"/>
    <p:sldId id="315" r:id="rId12"/>
    <p:sldId id="316" r:id="rId13"/>
    <p:sldId id="292" r:id="rId14"/>
    <p:sldId id="312" r:id="rId15"/>
    <p:sldId id="293" r:id="rId16"/>
    <p:sldId id="295" r:id="rId17"/>
    <p:sldId id="297" r:id="rId18"/>
    <p:sldId id="31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CF03-9EBE-43B3-B73B-DCB794C23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26E94-C0CE-4BE1-BC92-7113DF60D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3C61-9719-4DC8-8FD2-A55F49C6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5A78D-1789-4DA2-809A-DE5DF37C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CF719-F8D3-47ED-8593-7A66D004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158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E792-C502-48A3-B2CB-1E917F9F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2053-66BC-4FEF-9E2D-EC7D0B06B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B062E-7E07-4A66-9892-59AA55A0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40F63-07A9-49DF-9AD9-4C848F74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0A8A-2359-422B-9A9B-5CE0A926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36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FBAD-9C25-44F9-B084-ECFE06CF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9E882-8480-4C09-AC21-7C8F70EF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2396C-8134-45CF-8DF4-CFA40170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8322-D400-4F81-8736-C7C128D0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1341-5910-4926-9C12-E8865D51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21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834D-C98C-4C5C-85E6-AB958902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AA2A-05FD-40B8-958B-936B6A1C1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D76FC-F36A-4F69-9F17-19F1583A7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DC4E2-E675-4139-A1EA-7317C2C2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1B99-2951-4338-AA8A-BDB861DE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EB83-E853-4C5A-9DBA-BA800118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0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3F31-AA76-451A-8230-B1F04C4E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FC2D8-7573-4091-B41A-F72E6010D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9ABF6-B383-40C6-8ABA-3913F4867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265B6-84A6-4DF0-952A-09BA83D8D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3CAA1-D289-4120-AD5F-B818E758B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3C220-EF27-455B-B0E2-D149BACB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0FFB7-9F4B-451D-A192-6BEE3A43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3AE4A-78E1-4AD2-8069-3056C92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239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2811-3468-4373-86DD-C727AAE7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D98B7-7174-45AB-9C67-027EF9BE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D3280-1801-400B-9F75-7B070208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B3866-8BB6-4EBD-8083-4A20FC8B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2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4F027-F93C-40BF-8F2E-A725C005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0B27E-7380-4EF7-ACCA-ACC81D48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0AEF3-DC0B-4049-B5B7-F7589FD4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21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8615-4167-45B7-ABF2-80A258F4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A440-673D-463F-812C-A2861060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4E9BF-B39C-413A-8AFE-65B60A817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27963-7F7E-4C6F-939C-4270A705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DB9C-DE1F-4FAC-BAF2-9AF86C63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F5F91-B5B1-4A33-B191-DA78894A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9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2DA8-55DA-4B77-A816-38219985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ED18E-64B0-4156-8ECE-B817A4D76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41479-90CB-4085-8395-4B68D3DE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8EF33-9B69-428C-812A-91B10113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59E6E-B818-4D97-92E4-B43E917D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115B-75D1-496E-82A5-D084E73A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784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2DF2-96C8-4852-922D-940EFDE0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46D20-5D06-4007-B69C-2E6E0FAF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21B14-3F7F-4070-B95D-0F717E5F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DACB-07ED-4F40-8E67-38F74F41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EE59-B096-43C8-A4AE-1714C091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830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656A3-75E5-4F45-A7CF-7DF021663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F0937-8923-4CB3-A21B-942E94EDA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4DD3A-6802-4DAF-B757-07E372EF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CF47C-1AA7-411E-9CE8-21146824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21527-75A1-4C35-89F1-6C6083D7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641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661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806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782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988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825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577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58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260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9558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860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48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4087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365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8893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7739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7805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896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9598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278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6365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04981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9322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7134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29684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2067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6939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14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80DEC-9E46-4285-A2FC-E3B9916D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7B059-4EED-4827-9BBC-0D7E758C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5C7CA-018B-4DE4-8C66-55F0AB95D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C2DE-702F-4605-9A48-8110AC3724BD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1878-F310-4340-B1A3-0075E2EA5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4918-2F11-4BBE-A365-C9A867E0F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01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9EB6-6984-45C4-A442-4F73209A5B15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943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28/04/2023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99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9.png"/><Relationship Id="rId7" Type="http://schemas.openxmlformats.org/officeDocument/2006/relationships/image" Target="NUL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NULL"/><Relationship Id="rId10" Type="http://schemas.openxmlformats.org/officeDocument/2006/relationships/image" Target="../media/image11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0D6925-45E2-44B1-AE4B-E02E1E06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64FC7A-AF04-46AF-9552-5488E1BF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57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4600" dirty="0">
                <a:solidFill>
                  <a:srgbClr val="00B0F0"/>
                </a:solidFill>
              </a:rPr>
              <a:t>Volume and substitution </a:t>
            </a:r>
          </a:p>
          <a:p>
            <a:pPr marL="0" indent="0">
              <a:buNone/>
            </a:pPr>
            <a:endParaRPr lang="en-US" sz="46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4600" dirty="0">
                <a:solidFill>
                  <a:srgbClr val="00B0F0"/>
                </a:solidFill>
              </a:rPr>
              <a:t>Aim</a:t>
            </a:r>
          </a:p>
          <a:p>
            <a:pPr marL="0" indent="0">
              <a:buNone/>
            </a:pPr>
            <a:r>
              <a:rPr lang="en-US" sz="4600" dirty="0">
                <a:solidFill>
                  <a:srgbClr val="00B0F0"/>
                </a:solidFill>
              </a:rPr>
              <a:t>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600" dirty="0">
                <a:solidFill>
                  <a:srgbClr val="00B0F0"/>
                </a:solidFill>
              </a:rPr>
              <a:t> Substitute into an expression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600" dirty="0">
                <a:solidFill>
                  <a:srgbClr val="00B0F0"/>
                </a:solidFill>
              </a:rPr>
              <a:t> Calculate volume of cuboids </a:t>
            </a:r>
          </a:p>
          <a:p>
            <a:pPr marL="0" indent="0">
              <a:buNone/>
            </a:pPr>
            <a:r>
              <a:rPr lang="en-US" sz="4600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4600" dirty="0">
                <a:solidFill>
                  <a:srgbClr val="00B0F0"/>
                </a:solidFill>
              </a:rPr>
              <a:t>Review perimeter </a:t>
            </a:r>
          </a:p>
          <a:p>
            <a:pPr>
              <a:buFontTx/>
              <a:buChar char="-"/>
            </a:pPr>
            <a:r>
              <a:rPr lang="en-US" sz="4600" dirty="0">
                <a:solidFill>
                  <a:srgbClr val="00B0F0"/>
                </a:solidFill>
              </a:rPr>
              <a:t>Substitution practice </a:t>
            </a:r>
          </a:p>
          <a:p>
            <a:pPr>
              <a:buFontTx/>
              <a:buChar char="-"/>
            </a:pPr>
            <a:r>
              <a:rPr lang="en-US" sz="4600" dirty="0">
                <a:solidFill>
                  <a:srgbClr val="00B0F0"/>
                </a:solidFill>
              </a:rPr>
              <a:t>Calculating volume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61267-4B29-4EE9-AF3B-8D1F9ACE3DE6}"/>
              </a:ext>
            </a:extLst>
          </p:cNvPr>
          <p:cNvSpPr txBox="1"/>
          <p:nvPr/>
        </p:nvSpPr>
        <p:spPr>
          <a:xfrm>
            <a:off x="7075503" y="1757779"/>
            <a:ext cx="268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4B9E7-A98A-27A8-C0F9-3ED19D98A067}"/>
              </a:ext>
            </a:extLst>
          </p:cNvPr>
          <p:cNvSpPr txBox="1"/>
          <p:nvPr/>
        </p:nvSpPr>
        <p:spPr>
          <a:xfrm>
            <a:off x="7227902" y="3198167"/>
            <a:ext cx="4437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 Achieve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- Prepared to respond</a:t>
            </a:r>
          </a:p>
        </p:txBody>
      </p:sp>
    </p:spTree>
    <p:extLst>
      <p:ext uri="{BB962C8B-B14F-4D97-AF65-F5344CB8AC3E}">
        <p14:creationId xmlns:p14="http://schemas.microsoft.com/office/powerpoint/2010/main" val="368752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6AE6-3F3A-4993-9C02-25662E8C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07" y="129094"/>
            <a:ext cx="10515600" cy="1325563"/>
          </a:xfrm>
        </p:spPr>
        <p:txBody>
          <a:bodyPr/>
          <a:lstStyle/>
          <a:p>
            <a:r>
              <a:rPr lang="en-US" dirty="0"/>
              <a:t>Who is correct?  (think, pair and share)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8CF2-72A0-4D98-8DCA-4DC4F70AC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2" y="1863725"/>
            <a:ext cx="44668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Sally says the perimeter of this garden bed is 12m.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Ben says its 32m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Joe thinks it’s 24m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Who is correct and what did the others do wrong?</a:t>
            </a:r>
            <a:endParaRPr lang="en-A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615F89-EBB8-4318-A8FD-7C2415BB69A9}"/>
              </a:ext>
            </a:extLst>
          </p:cNvPr>
          <p:cNvGrpSpPr/>
          <p:nvPr/>
        </p:nvGrpSpPr>
        <p:grpSpPr>
          <a:xfrm>
            <a:off x="4589462" y="1509713"/>
            <a:ext cx="7706472" cy="3057525"/>
            <a:chOff x="0" y="276177"/>
            <a:chExt cx="8302570" cy="29124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C5A9B8-AE29-4F0B-908F-F371888F57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545" t="46974" r="11545" b="2403"/>
            <a:stretch/>
          </p:blipFill>
          <p:spPr>
            <a:xfrm>
              <a:off x="0" y="276177"/>
              <a:ext cx="8118764" cy="291240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0BE5AAF-129C-4EC3-BE92-6855931F3E7B}"/>
                </a:ext>
              </a:extLst>
            </p:cNvPr>
            <p:cNvCxnSpPr/>
            <p:nvPr/>
          </p:nvCxnSpPr>
          <p:spPr>
            <a:xfrm>
              <a:off x="304800" y="845129"/>
              <a:ext cx="5514109" cy="105294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15EB4E2-FA6A-48F8-BAE1-3F530EB76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600" y="969819"/>
              <a:ext cx="1676400" cy="92825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EC78CF5C-285F-4F83-95AB-B2F102B38FAF}"/>
                </a:ext>
              </a:extLst>
            </p:cNvPr>
            <p:cNvSpPr txBox="1"/>
            <p:nvPr/>
          </p:nvSpPr>
          <p:spPr>
            <a:xfrm>
              <a:off x="2623113" y="1275111"/>
              <a:ext cx="1174546" cy="9145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8m</a:t>
              </a:r>
              <a:endPara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B47EB2F2-EAC0-4E37-AF2A-EE193B5CB37A}"/>
                </a:ext>
              </a:extLst>
            </p:cNvPr>
            <p:cNvSpPr txBox="1"/>
            <p:nvPr/>
          </p:nvSpPr>
          <p:spPr>
            <a:xfrm>
              <a:off x="6781800" y="1370924"/>
              <a:ext cx="1520770" cy="1038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4m</a:t>
              </a:r>
              <a:endPara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1A79995-4F55-4619-AC99-53D997151CDC}"/>
              </a:ext>
            </a:extLst>
          </p:cNvPr>
          <p:cNvSpPr txBox="1"/>
          <p:nvPr/>
        </p:nvSpPr>
        <p:spPr>
          <a:xfrm>
            <a:off x="6324600" y="4677349"/>
            <a:ext cx="48672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Perimeter is the TOTAL distance around a shape. Sally only counted the marked sides.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 confused it with AREA and multiplied.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Joe is correct.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24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B43C5-9E32-4A35-8221-C619C387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Area?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24860-BB37-401E-8771-6F430FCAB088}"/>
              </a:ext>
            </a:extLst>
          </p:cNvPr>
          <p:cNvSpPr/>
          <p:nvPr/>
        </p:nvSpPr>
        <p:spPr>
          <a:xfrm>
            <a:off x="648070" y="2574524"/>
            <a:ext cx="3116062" cy="2032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DE588-17AA-482C-AE53-E2F037DB67EA}"/>
              </a:ext>
            </a:extLst>
          </p:cNvPr>
          <p:cNvSpPr/>
          <p:nvPr/>
        </p:nvSpPr>
        <p:spPr>
          <a:xfrm>
            <a:off x="3764132" y="2574523"/>
            <a:ext cx="3116062" cy="20329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431C0-7186-46E0-860B-AE30938FF356}"/>
              </a:ext>
            </a:extLst>
          </p:cNvPr>
          <p:cNvSpPr txBox="1"/>
          <p:nvPr/>
        </p:nvSpPr>
        <p:spPr>
          <a:xfrm>
            <a:off x="78419" y="3329126"/>
            <a:ext cx="113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5m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F4721-E3CD-407D-BD5C-AA94391BAD37}"/>
              </a:ext>
            </a:extLst>
          </p:cNvPr>
          <p:cNvSpPr txBox="1"/>
          <p:nvPr/>
        </p:nvSpPr>
        <p:spPr>
          <a:xfrm>
            <a:off x="3521476" y="4715522"/>
            <a:ext cx="113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10m</a:t>
            </a:r>
            <a:endParaRPr lang="en-AU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6D5DB2-9D7D-44C0-BC3A-5B45C4466E51}"/>
              </a:ext>
            </a:extLst>
          </p:cNvPr>
          <p:cNvCxnSpPr/>
          <p:nvPr/>
        </p:nvCxnSpPr>
        <p:spPr>
          <a:xfrm>
            <a:off x="532660" y="2574523"/>
            <a:ext cx="0" cy="2032987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4C6765-B306-4662-85CF-69572CA47677}"/>
              </a:ext>
            </a:extLst>
          </p:cNvPr>
          <p:cNvCxnSpPr>
            <a:cxnSpLocks/>
          </p:cNvCxnSpPr>
          <p:nvPr/>
        </p:nvCxnSpPr>
        <p:spPr>
          <a:xfrm flipH="1" flipV="1">
            <a:off x="648069" y="4715521"/>
            <a:ext cx="6232126" cy="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372E10-035B-4A76-93C7-5ED09BFF7421}"/>
              </a:ext>
            </a:extLst>
          </p:cNvPr>
          <p:cNvSpPr txBox="1"/>
          <p:nvPr/>
        </p:nvSpPr>
        <p:spPr>
          <a:xfrm>
            <a:off x="7794595" y="2681056"/>
            <a:ext cx="37493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the total area? </a:t>
            </a:r>
          </a:p>
          <a:p>
            <a:endParaRPr lang="en-US" sz="2400" b="1" dirty="0"/>
          </a:p>
          <a:p>
            <a:r>
              <a:rPr lang="en-US" sz="2400" b="1" dirty="0"/>
              <a:t>What is the area of the blue section?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2115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E3B7-4D21-4D9F-8CB3-EFB54069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(I do/we do)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9C115-BDE9-4DC5-92BA-A7B017AD8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</a:t>
            </a:r>
            <a:r>
              <a:rPr lang="en-US" i="1" dirty="0"/>
              <a:t>evaluate </a:t>
            </a:r>
            <a:r>
              <a:rPr lang="en-US" dirty="0"/>
              <a:t>an expression, we substitute (replace) the pronumeral with a given value.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If d = 7, evaluate 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Whiteboards!</a:t>
            </a:r>
          </a:p>
          <a:p>
            <a:pPr marL="514350" indent="-514350">
              <a:buAutoNum type="alphaLcParenR"/>
            </a:pPr>
            <a:r>
              <a:rPr lang="en-US" dirty="0"/>
              <a:t>4d </a:t>
            </a:r>
          </a:p>
          <a:p>
            <a:pPr marL="514350" indent="-514350">
              <a:buAutoNum type="alphaLcParenR"/>
            </a:pPr>
            <a:r>
              <a:rPr lang="en-US" dirty="0"/>
              <a:t>2d + 9 </a:t>
            </a:r>
          </a:p>
          <a:p>
            <a:pPr marL="514350" indent="-514350">
              <a:buAutoNum type="alphaLcParenR"/>
            </a:pPr>
            <a:r>
              <a:rPr lang="en-US" dirty="0"/>
              <a:t>20 – 3d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A321C-D919-6B10-D4C1-6F1D7A8ECB2B}"/>
              </a:ext>
            </a:extLst>
          </p:cNvPr>
          <p:cNvSpPr txBox="1"/>
          <p:nvPr/>
        </p:nvSpPr>
        <p:spPr>
          <a:xfrm>
            <a:off x="7466120" y="3355758"/>
            <a:ext cx="18376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2d =</a:t>
            </a:r>
          </a:p>
          <a:p>
            <a:endParaRPr lang="en-US" sz="2400" b="1" dirty="0"/>
          </a:p>
          <a:p>
            <a:r>
              <a:rPr lang="en-US" sz="2400" b="1" dirty="0"/>
              <a:t>3d + 2 = </a:t>
            </a:r>
          </a:p>
          <a:p>
            <a:endParaRPr lang="en-US" sz="2400" b="1" dirty="0"/>
          </a:p>
          <a:p>
            <a:r>
              <a:rPr lang="en-US" sz="2400" b="1" dirty="0"/>
              <a:t>5d – 8 = </a:t>
            </a:r>
          </a:p>
          <a:p>
            <a:endParaRPr lang="en-US" sz="2400" b="1" dirty="0"/>
          </a:p>
          <a:p>
            <a:r>
              <a:rPr lang="en-US" sz="2400" b="1" dirty="0"/>
              <a:t>45 – 4d =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17278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47A0-5391-4747-8F9E-34B3084D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signs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C75D1-1A74-40F4-96C7-09F9F7DA8623}"/>
              </a:ext>
            </a:extLst>
          </p:cNvPr>
          <p:cNvSpPr txBox="1"/>
          <p:nvPr/>
        </p:nvSpPr>
        <p:spPr>
          <a:xfrm>
            <a:off x="2525875" y="2290620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Double signs: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Adding a negative number is the same as subtracting.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Subtracting a negative number is the same as adding.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4537A-AE9B-4AC7-9511-2B0F84B4345E}"/>
              </a:ext>
            </a:extLst>
          </p:cNvPr>
          <p:cNvSpPr txBox="1"/>
          <p:nvPr/>
        </p:nvSpPr>
        <p:spPr>
          <a:xfrm>
            <a:off x="2498443" y="4055053"/>
            <a:ext cx="617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 – (-3) can be written as 7 + 3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 + (-4) can be written as 12 –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 + (-2) can be written as -3 – 2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853840-2AAA-4998-8B8E-36F85226EF32}"/>
              </a:ext>
            </a:extLst>
          </p:cNvPr>
          <p:cNvSpPr/>
          <p:nvPr/>
        </p:nvSpPr>
        <p:spPr>
          <a:xfrm>
            <a:off x="8884769" y="2861051"/>
            <a:ext cx="1738713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3492FE-7F79-42C1-8EEC-74F899444227}"/>
              </a:ext>
            </a:extLst>
          </p:cNvPr>
          <p:cNvSpPr/>
          <p:nvPr/>
        </p:nvSpPr>
        <p:spPr>
          <a:xfrm>
            <a:off x="9450136" y="3222858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CCBCD2-BC6B-47F3-865F-D9BB02597C85}"/>
              </a:ext>
            </a:extLst>
          </p:cNvPr>
          <p:cNvSpPr/>
          <p:nvPr/>
        </p:nvSpPr>
        <p:spPr>
          <a:xfrm>
            <a:off x="6409607" y="5605522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5C738A-FB08-47C2-A95C-D0AD8F7952D4}"/>
              </a:ext>
            </a:extLst>
          </p:cNvPr>
          <p:cNvSpPr/>
          <p:nvPr/>
        </p:nvSpPr>
        <p:spPr>
          <a:xfrm>
            <a:off x="6323887" y="4133309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DFC1DD-FA2A-41E2-9F4E-DD22E95569C7}"/>
              </a:ext>
            </a:extLst>
          </p:cNvPr>
          <p:cNvSpPr/>
          <p:nvPr/>
        </p:nvSpPr>
        <p:spPr>
          <a:xfrm>
            <a:off x="6526496" y="4878193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6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411" y="185351"/>
            <a:ext cx="425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 – Directed number.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18555" y="712249"/>
            <a:ext cx="10073445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Rewrite the following expressions, </a:t>
            </a:r>
            <a:r>
              <a:rPr kumimoji="0" lang="en-AU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only simplifying the double signs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630238" marR="0" lvl="0" indent="-630238" algn="l" defTabSz="6937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 – (-2)	= 3 + 2</a:t>
            </a:r>
          </a:p>
          <a:p>
            <a:pPr marL="630238" marR="0" lvl="0" indent="-630238" algn="l" defTabSz="6937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 + (-4)	= 5 – 4 </a:t>
            </a:r>
          </a:p>
          <a:p>
            <a:pPr marL="630238" marR="0" lvl="0" indent="-630238" algn="l" defTabSz="6937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-4 – (-5) 	= -4 + 5</a:t>
            </a:r>
          </a:p>
          <a:p>
            <a:pPr marL="630238" marR="0" lvl="0" indent="-630238" algn="l" defTabSz="6937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-6 + (-2)	= -6 – 2 	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19981" y="1504249"/>
            <a:ext cx="1339320" cy="323166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29762" y="1950529"/>
            <a:ext cx="1023793" cy="300522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43E2F1-2DD6-4B6F-8A2B-CF19869708F4}"/>
              </a:ext>
            </a:extLst>
          </p:cNvPr>
          <p:cNvSpPr/>
          <p:nvPr/>
        </p:nvSpPr>
        <p:spPr>
          <a:xfrm>
            <a:off x="4519982" y="2828125"/>
            <a:ext cx="904276" cy="359314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34845" y="2396952"/>
            <a:ext cx="889412" cy="353448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19135" y="248828"/>
            <a:ext cx="657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Same signs add – different signs subtract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2F1BA-463F-474E-89E6-F6A6E4A1541D}"/>
              </a:ext>
            </a:extLst>
          </p:cNvPr>
          <p:cNvSpPr txBox="1"/>
          <p:nvPr/>
        </p:nvSpPr>
        <p:spPr>
          <a:xfrm>
            <a:off x="2343706" y="3828480"/>
            <a:ext cx="81408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Evaluate if a = 4 and b = -3 </a:t>
            </a:r>
          </a:p>
          <a:p>
            <a:endParaRPr lang="en-US" sz="2400" b="1" dirty="0"/>
          </a:p>
          <a:p>
            <a:r>
              <a:rPr lang="en-US" sz="2400" b="1" dirty="0"/>
              <a:t>2a + b </a:t>
            </a:r>
          </a:p>
          <a:p>
            <a:endParaRPr lang="en-US" sz="2400" b="1" dirty="0"/>
          </a:p>
          <a:p>
            <a:r>
              <a:rPr lang="en-US" sz="2400" b="1" dirty="0"/>
              <a:t>14 – b </a:t>
            </a:r>
          </a:p>
          <a:p>
            <a:endParaRPr lang="en-US" sz="2400" b="1" dirty="0"/>
          </a:p>
          <a:p>
            <a:r>
              <a:rPr lang="en-US" sz="2400" b="1" dirty="0"/>
              <a:t>-7 + b </a:t>
            </a:r>
            <a:endParaRPr lang="en-A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F080C-A2D6-1382-5FA2-ADE40710B0B6}"/>
              </a:ext>
            </a:extLst>
          </p:cNvPr>
          <p:cNvSpPr txBox="1"/>
          <p:nvPr/>
        </p:nvSpPr>
        <p:spPr>
          <a:xfrm>
            <a:off x="2432482" y="3429000"/>
            <a:ext cx="3204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Exercise books!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3752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0" grpId="0" animBg="1"/>
      <p:bldP spid="12" grpId="0"/>
      <p:bldP spid="1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EEBF-F660-4998-BEF7-229220BF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521"/>
            <a:ext cx="10515600" cy="842511"/>
          </a:xfrm>
        </p:spPr>
        <p:txBody>
          <a:bodyPr/>
          <a:lstStyle/>
          <a:p>
            <a:pPr algn="ctr"/>
            <a:r>
              <a:rPr lang="en-US" dirty="0"/>
              <a:t>Your turn – exercise books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55D40E-0F85-423D-BC7D-25C41C29FD0D}"/>
              </a:ext>
            </a:extLst>
          </p:cNvPr>
          <p:cNvSpPr/>
          <p:nvPr/>
        </p:nvSpPr>
        <p:spPr>
          <a:xfrm>
            <a:off x="324091" y="2716567"/>
            <a:ext cx="3553428" cy="4025176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6D6756-4441-42ED-9093-E5F68C001E65}"/>
              </a:ext>
            </a:extLst>
          </p:cNvPr>
          <p:cNvSpPr/>
          <p:nvPr/>
        </p:nvSpPr>
        <p:spPr>
          <a:xfrm>
            <a:off x="4319286" y="2716566"/>
            <a:ext cx="3553428" cy="4025176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/>
              <p:nvPr/>
            </p:nvSpPr>
            <p:spPr>
              <a:xfrm>
                <a:off x="2720266" y="798990"/>
                <a:ext cx="767548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Evaluate the following if: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= 5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 = 3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 =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266" y="798990"/>
                <a:ext cx="7675485" cy="1569660"/>
              </a:xfrm>
              <a:prstGeom prst="rect">
                <a:avLst/>
              </a:prstGeom>
              <a:blipFill>
                <a:blip r:embed="rId2"/>
                <a:stretch>
                  <a:fillRect l="-1191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AF7086-B186-4DF5-93CF-40C9457EC9C3}"/>
              </a:ext>
            </a:extLst>
          </p:cNvPr>
          <p:cNvSpPr txBox="1"/>
          <p:nvPr/>
        </p:nvSpPr>
        <p:spPr>
          <a:xfrm>
            <a:off x="630315" y="3027285"/>
            <a:ext cx="2902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5a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+ b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+ 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+ 3b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+ b + c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88C11-2FF7-4B49-BC43-0E2F1527FDB5}"/>
              </a:ext>
            </a:extLst>
          </p:cNvPr>
          <p:cNvSpPr txBox="1"/>
          <p:nvPr/>
        </p:nvSpPr>
        <p:spPr>
          <a:xfrm>
            <a:off x="4699247" y="3020994"/>
            <a:ext cx="2902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3a + 4b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10b – 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2a + 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 + a – 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9b + 5a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12D0D-8C5F-43B3-B2B7-6C8042F15834}"/>
              </a:ext>
            </a:extLst>
          </p:cNvPr>
          <p:cNvSpPr txBox="1"/>
          <p:nvPr/>
        </p:nvSpPr>
        <p:spPr>
          <a:xfrm>
            <a:off x="2314581" y="3020994"/>
            <a:ext cx="13908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E6527-78E0-45BF-A3D8-1E6D9207FBDB}"/>
              </a:ext>
            </a:extLst>
          </p:cNvPr>
          <p:cNvSpPr txBox="1"/>
          <p:nvPr/>
        </p:nvSpPr>
        <p:spPr>
          <a:xfrm>
            <a:off x="6481879" y="3020994"/>
            <a:ext cx="13908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34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52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B718C79-E52F-4A9B-8B7E-B720F1CB6F46}"/>
              </a:ext>
            </a:extLst>
          </p:cNvPr>
          <p:cNvSpPr/>
          <p:nvPr/>
        </p:nvSpPr>
        <p:spPr>
          <a:xfrm>
            <a:off x="8314481" y="2716566"/>
            <a:ext cx="3553428" cy="4025177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/>
              <p:nvPr/>
            </p:nvSpPr>
            <p:spPr>
              <a:xfrm>
                <a:off x="8535880" y="3016182"/>
                <a:ext cx="290299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−(−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𝟏𝟎𝟎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+(−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𝟗𝟕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</m:t>
                    </m:r>
                    <m:d>
                      <m:d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𝟓</m:t>
                        </m:r>
                      </m:e>
                    </m:d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𝟏𝟎𝟎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𝟏𝟎𝟏</m:t>
                        </m:r>
                      </m:e>
                    </m:d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𝟐𝟕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𝟒𝟏</m:t>
                        </m:r>
                      </m:e>
                    </m:d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880" y="3016182"/>
                <a:ext cx="2902998" cy="3416320"/>
              </a:xfrm>
              <a:prstGeom prst="rect">
                <a:avLst/>
              </a:prstGeom>
              <a:blipFill>
                <a:blip r:embed="rId3"/>
                <a:stretch>
                  <a:fillRect l="-3151" t="-1607" b="-26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43BFD1B-BFE1-4F93-8730-1114EECE1B0D}"/>
              </a:ext>
            </a:extLst>
          </p:cNvPr>
          <p:cNvSpPr txBox="1"/>
          <p:nvPr/>
        </p:nvSpPr>
        <p:spPr>
          <a:xfrm>
            <a:off x="10866267" y="3016182"/>
            <a:ext cx="13908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12.5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-14</a:t>
            </a:r>
          </a:p>
        </p:txBody>
      </p:sp>
    </p:spTree>
    <p:extLst>
      <p:ext uri="{BB962C8B-B14F-4D97-AF65-F5344CB8AC3E}">
        <p14:creationId xmlns:p14="http://schemas.microsoft.com/office/powerpoint/2010/main" val="400590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11D2-A8AF-0825-371B-B4A2815B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volume?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16685A-2D57-D961-76C4-CC2B292F3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FF0000"/>
                    </a:solidFill>
                  </a:rPr>
                  <a:t>Volume is the amount of space that a substance or object occupies. </a:t>
                </a:r>
              </a:p>
              <a:p>
                <a:pPr marL="0" indent="0" algn="ctr">
                  <a:buNone/>
                </a:pPr>
                <a:endParaRPr lang="en-US" sz="36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FF0000"/>
                    </a:solidFill>
                  </a:rPr>
                  <a:t>Volume is measure in cubic units. </a:t>
                </a:r>
              </a:p>
              <a:p>
                <a:pPr marL="0" indent="0" algn="ctr">
                  <a:buNone/>
                </a:pPr>
                <a:endParaRPr lang="en-US" sz="36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FF0000"/>
                    </a:solidFill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sSup>
                      <m:s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p>
                      <m:s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AU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16685A-2D57-D961-76C4-CC2B292F3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42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A7E0-B7BA-00DB-9D9E-FA849002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Make the shapes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1E80D-D084-DE11-5083-A9CB5CD86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524250" cy="4351338"/>
              </a:xfrm>
            </p:spPr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dirty="0"/>
                  <a:t>Make the object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Count the blocks used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This is the </a:t>
                </a:r>
                <a:r>
                  <a:rPr lang="en-US" i="1" dirty="0"/>
                  <a:t>volume</a:t>
                </a:r>
                <a:r>
                  <a:rPr lang="en-US" dirty="0"/>
                  <a:t> of that object (in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1E80D-D084-DE11-5083-A9CB5CD86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524250" cy="4351338"/>
              </a:xfrm>
              <a:blipFill>
                <a:blip r:embed="rId2"/>
                <a:stretch>
                  <a:fillRect l="-3633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Volume | lee's classroom">
            <a:extLst>
              <a:ext uri="{FF2B5EF4-FFF2-40B4-BE49-F238E27FC236}">
                <a16:creationId xmlns:a16="http://schemas.microsoft.com/office/drawing/2014/main" id="{48835845-7087-1362-56F8-634AAC4DB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77" y="1895476"/>
            <a:ext cx="6662055" cy="404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84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C873-846E-5D1B-394C-41A67C96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Create and count </a:t>
            </a:r>
            <a:endParaRPr lang="en-AU" dirty="0"/>
          </a:p>
        </p:txBody>
      </p:sp>
      <p:pic>
        <p:nvPicPr>
          <p:cNvPr id="2050" name="Picture 2" descr="Definition of Cubic Centimeter| Define Cubic Centimeter - Geometry - Free  Math Dictionary Online">
            <a:extLst>
              <a:ext uri="{FF2B5EF4-FFF2-40B4-BE49-F238E27FC236}">
                <a16:creationId xmlns:a16="http://schemas.microsoft.com/office/drawing/2014/main" id="{76633DDA-9D93-E941-76DC-050A43C7A5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7" y="1823844"/>
            <a:ext cx="3655428" cy="405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454443-C294-F170-A529-08BB3E80A063}"/>
              </a:ext>
            </a:extLst>
          </p:cNvPr>
          <p:cNvSpPr/>
          <p:nvPr/>
        </p:nvSpPr>
        <p:spPr>
          <a:xfrm>
            <a:off x="838200" y="4781550"/>
            <a:ext cx="3655428" cy="122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052" name="Picture 4" descr="Divide the composite figure into cuboids and calculate the total volume">
            <a:extLst>
              <a:ext uri="{FF2B5EF4-FFF2-40B4-BE49-F238E27FC236}">
                <a16:creationId xmlns:a16="http://schemas.microsoft.com/office/drawing/2014/main" id="{ECCC488C-DF27-1735-F5FB-708B2A4D7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690688"/>
            <a:ext cx="3492531" cy="466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22C407-BBAE-1DB4-67E2-AC6A31315876}"/>
                  </a:ext>
                </a:extLst>
              </p:cNvPr>
              <p:cNvSpPr txBox="1"/>
              <p:nvPr/>
            </p:nvSpPr>
            <p:spPr>
              <a:xfrm>
                <a:off x="8762260" y="1690688"/>
                <a:ext cx="3000653" cy="1825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3 minutes to create your own (no more than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2800" b="1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22C407-BBAE-1DB4-67E2-AC6A31315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260" y="1690688"/>
                <a:ext cx="3000653" cy="1825628"/>
              </a:xfrm>
              <a:prstGeom prst="rect">
                <a:avLst/>
              </a:prstGeom>
              <a:blipFill>
                <a:blip r:embed="rId4"/>
                <a:stretch>
                  <a:fillRect l="-4057" t="-3000" b="-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03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What is the volume of these shapes?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4525963"/>
          </a:xfrm>
        </p:spPr>
        <p:txBody>
          <a:bodyPr>
            <a:normAutofit/>
          </a:bodyPr>
          <a:lstStyle/>
          <a:p>
            <a:r>
              <a:rPr lang="en-AU" sz="2000" dirty="0"/>
              <a:t>Count the cubes. Include ones you can’t see but that would form part of the shape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32" y="1256209"/>
            <a:ext cx="5522887" cy="131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1"/>
          <a:stretch/>
        </p:blipFill>
        <p:spPr bwMode="auto">
          <a:xfrm>
            <a:off x="1903471" y="3205219"/>
            <a:ext cx="7219950" cy="220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67608" y="126992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1269927"/>
                <a:ext cx="1268232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33975" y="126992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975" y="1269927"/>
                <a:ext cx="1268232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72064" y="125087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𝟓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1250877"/>
                <a:ext cx="1268232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96141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𝟏𝟒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141" y="3131569"/>
                <a:ext cx="1406091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89256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256" y="3131569"/>
                <a:ext cx="140609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123544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𝟐𝟏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44" y="3131569"/>
                <a:ext cx="1406091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57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117B-12C0-4059-ADEC-45625A15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for volume of cuboids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C3D29-EEF9-4A45-8F5A-3EF1A26D0E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cuboid is any prism with a square or rectangular face.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formula is ONLY for cuboids.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Volume = base x height x length 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Or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C3D29-EEF9-4A45-8F5A-3EF1A26D0E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58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7996340" cy="836712"/>
          </a:xfrm>
        </p:spPr>
        <p:txBody>
          <a:bodyPr/>
          <a:lstStyle/>
          <a:p>
            <a:r>
              <a:rPr lang="en-AU" dirty="0"/>
              <a:t>Volume of Rectangular Prisms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3999" y="764705"/>
                <a:ext cx="7640328" cy="3312368"/>
              </a:xfrm>
            </p:spPr>
            <p:txBody>
              <a:bodyPr>
                <a:noAutofit/>
              </a:bodyPr>
              <a:lstStyle/>
              <a:p>
                <a:r>
                  <a:rPr lang="en-AU" sz="2400" dirty="0"/>
                  <a:t>Volume is measured in </a:t>
                </a:r>
                <a:r>
                  <a:rPr lang="en-AU" sz="2400" i="1" dirty="0"/>
                  <a:t>cubic</a:t>
                </a:r>
                <a:r>
                  <a:rPr lang="en-AU" sz="2400" dirty="0"/>
                  <a:t> units (e.g. cm</a:t>
                </a:r>
                <a:r>
                  <a:rPr lang="en-AU" sz="2400" baseline="30000" dirty="0"/>
                  <a:t>3</a:t>
                </a:r>
                <a:r>
                  <a:rPr lang="en-AU" sz="2400" dirty="0"/>
                  <a:t>)</a:t>
                </a:r>
              </a:p>
              <a:p>
                <a:pPr lvl="1"/>
                <a:r>
                  <a:rPr lang="en-AU" sz="2000" dirty="0"/>
                  <a:t>Say “cubic centimetres” or “centimetres cubed”</a:t>
                </a:r>
              </a:p>
              <a:p>
                <a:r>
                  <a:rPr lang="en-AU" sz="2400" dirty="0"/>
                  <a:t>Example: this shape’s volume is 12 cubic centimetres</a:t>
                </a:r>
              </a:p>
              <a:p>
                <a:pPr lvl="2"/>
                <a:r>
                  <a:rPr lang="en-AU" sz="1800" dirty="0"/>
                  <a:t>The larger shape is made of 6 shapes like the first one</a:t>
                </a:r>
              </a:p>
              <a:p>
                <a:pPr lvl="2"/>
                <a:r>
                  <a:rPr lang="en-AU" sz="1800" dirty="0"/>
                  <a:t>12 x 6 = 72 cubic centimetres</a:t>
                </a:r>
              </a:p>
              <a:p>
                <a:r>
                  <a:rPr lang="en-AU" sz="2400" dirty="0"/>
                  <a:t>For any rectangular prism</a:t>
                </a:r>
              </a:p>
              <a:p>
                <a:pPr marL="0" indent="0">
                  <a:buNone/>
                  <a:tabLst>
                    <a:tab pos="803275" algn="l"/>
                  </a:tabLst>
                </a:pPr>
                <a:r>
                  <a:rPr lang="en-AU" sz="2400" dirty="0"/>
                  <a:t>	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/>
                      </a:rPr>
                      <m:t>𝑉𝑜𝑙𝑢𝑚𝑒</m:t>
                    </m:r>
                    <m:r>
                      <a:rPr lang="en-AU" sz="1400" i="1">
                        <a:latin typeface="Cambria Math"/>
                      </a:rPr>
                      <m:t>=</m:t>
                    </m:r>
                    <m:r>
                      <a:rPr lang="en-AU" sz="1400" i="1">
                        <a:latin typeface="Cambria Math"/>
                      </a:rPr>
                      <m:t>𝑏𝑎𝑠𝑒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h𝑒𝑖𝑔h𝑡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𝑙𝑒𝑛𝑔𝑡h</m:t>
                    </m:r>
                  </m:oMath>
                </a14:m>
                <a:endParaRPr lang="en-AU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3999" y="764705"/>
                <a:ext cx="7640328" cy="3312368"/>
              </a:xfrm>
              <a:blipFill>
                <a:blip r:embed="rId2"/>
                <a:stretch>
                  <a:fillRect l="-1038" t="-14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55227" y="3453786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cube = 1cm</a:t>
            </a:r>
            <a:r>
              <a:rPr kumimoji="0" lang="en-AU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6248" y="4651023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0104" y="475454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715" y="4204729"/>
            <a:ext cx="80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174826" y="3961620"/>
                <a:ext cx="2302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𝑽𝒐𝒍𝒖𝒎𝒆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826" y="3961620"/>
                <a:ext cx="23022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880188" y="4330952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𝟔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188" y="4330952"/>
                <a:ext cx="16369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880188" y="4658567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𝟕𝟐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188" y="4658567"/>
                <a:ext cx="1406091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524000" y="3228132"/>
            <a:ext cx="5185515" cy="3240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19953" y="3624172"/>
            <a:ext cx="7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Write: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286" y="5253502"/>
            <a:ext cx="19240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9171886" y="0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580256" y="5346955"/>
                <a:ext cx="15937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6" y="5346955"/>
                <a:ext cx="15937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580257" y="5712844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𝟑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7" y="5712844"/>
                <a:ext cx="16369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580257" y="6043902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𝟐𝟒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7" y="6043902"/>
                <a:ext cx="1406091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005142" y="5437006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1725" y="5303915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1885" y="5669675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41" y="6007082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9401" y="6395046"/>
            <a:ext cx="5149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4-step working for each question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309" y="3666095"/>
            <a:ext cx="2174032" cy="114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253" y="2224998"/>
            <a:ext cx="884543" cy="14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461" y="2130436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427" y="2044304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326" y="1968332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321" y="1892359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316" y="1813104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267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  <p:bldP spid="12" grpId="0"/>
      <p:bldP spid="13" grpId="0"/>
      <p:bldP spid="9" grpId="0"/>
      <p:bldP spid="15" grpId="0"/>
      <p:bldP spid="16" grpId="0"/>
      <p:bldP spid="11" grpId="0" animBg="1"/>
      <p:bldP spid="14" grpId="0"/>
      <p:bldP spid="17" grpId="0"/>
      <p:bldP spid="27" grpId="0"/>
      <p:bldP spid="28" grpId="0"/>
      <p:bldP spid="29" grpId="0"/>
      <p:bldP spid="18" grpId="0"/>
      <p:bldP spid="31" grpId="0"/>
      <p:bldP spid="32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>
            <a:normAutofit/>
          </a:bodyPr>
          <a:lstStyle/>
          <a:p>
            <a:pPr algn="r"/>
            <a:r>
              <a:rPr lang="en-AU" sz="3600" dirty="0"/>
              <a:t>Find the volume of these rectangular prisms?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96"/>
          <a:stretch/>
        </p:blipFill>
        <p:spPr bwMode="auto">
          <a:xfrm>
            <a:off x="2111427" y="101882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5" t="-777" r="21597" b="777"/>
          <a:stretch/>
        </p:blipFill>
        <p:spPr bwMode="auto">
          <a:xfrm>
            <a:off x="2294041" y="3128095"/>
            <a:ext cx="2975109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6" t="-596" r="-17070" b="596"/>
          <a:stretch/>
        </p:blipFill>
        <p:spPr bwMode="auto">
          <a:xfrm>
            <a:off x="2213078" y="519077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424406" y="6309320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840214" y="5517232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067218" y="48097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2052791" y="50002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1571051" y="5828953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9142492" y="726524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𝟑𝟗𝟔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𝟏𝟎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𝟔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𝟔𝟔𝟎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𝟕𝟐𝟗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040217" y="4116356"/>
            <a:ext cx="24587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times them all, just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88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16474" y="116633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79"/>
          <a:stretch/>
        </p:blipFill>
        <p:spPr bwMode="auto">
          <a:xfrm>
            <a:off x="705520" y="255774"/>
            <a:ext cx="9763643" cy="344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14"/>
          <a:stretch/>
        </p:blipFill>
        <p:spPr bwMode="auto">
          <a:xfrm>
            <a:off x="658655" y="3689742"/>
            <a:ext cx="9763640" cy="31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11786" y="255774"/>
            <a:ext cx="6031187" cy="343396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89842" y="0"/>
            <a:ext cx="3793573" cy="5257765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704"/>
          <a:stretch/>
        </p:blipFill>
        <p:spPr bwMode="auto">
          <a:xfrm>
            <a:off x="507010" y="3793857"/>
            <a:ext cx="6089099" cy="1293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9842"/>
          <a:stretch/>
        </p:blipFill>
        <p:spPr bwMode="auto">
          <a:xfrm rot="10800000">
            <a:off x="367489" y="6312354"/>
            <a:ext cx="10101674" cy="61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3" t="2499" b="69760"/>
          <a:stretch/>
        </p:blipFill>
        <p:spPr bwMode="auto">
          <a:xfrm>
            <a:off x="7836442" y="5362847"/>
            <a:ext cx="2737498" cy="725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3" t="2499" b="69760"/>
          <a:stretch/>
        </p:blipFill>
        <p:spPr bwMode="auto">
          <a:xfrm rot="10800000">
            <a:off x="6240368" y="4724902"/>
            <a:ext cx="2737498" cy="725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48" r="96094" b="37704"/>
          <a:stretch/>
        </p:blipFill>
        <p:spPr bwMode="auto">
          <a:xfrm>
            <a:off x="472670" y="5115831"/>
            <a:ext cx="330460" cy="1106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529712" y="688179"/>
            <a:ext cx="34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085" y="5366750"/>
            <a:ext cx="35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701" y="1481670"/>
            <a:ext cx="4211960" cy="784830"/>
          </a:xfrm>
        </p:spPr>
        <p:txBody>
          <a:bodyPr>
            <a:normAutofit/>
          </a:bodyPr>
          <a:lstStyle/>
          <a:p>
            <a:r>
              <a:rPr lang="en-AU" dirty="0"/>
              <a:t>Volume Practice  </a:t>
            </a:r>
          </a:p>
        </p:txBody>
      </p:sp>
    </p:spTree>
    <p:extLst>
      <p:ext uri="{BB962C8B-B14F-4D97-AF65-F5344CB8AC3E}">
        <p14:creationId xmlns:p14="http://schemas.microsoft.com/office/powerpoint/2010/main" val="2620872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3EF0-85DB-4A0A-9B77-83CCC8924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 of L blocks  </a:t>
            </a:r>
            <a:endParaRPr lang="en-AU" dirty="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B366D55-E8AB-4C9F-B3AD-21840AC3EEE3}"/>
              </a:ext>
            </a:extLst>
          </p:cNvPr>
          <p:cNvSpPr/>
          <p:nvPr/>
        </p:nvSpPr>
        <p:spPr>
          <a:xfrm>
            <a:off x="2077375" y="2166151"/>
            <a:ext cx="8220722" cy="3648722"/>
          </a:xfrm>
          <a:prstGeom prst="corne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59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821</Words>
  <Application>Microsoft Office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1_Office Theme</vt:lpstr>
      <vt:lpstr>Wisp</vt:lpstr>
      <vt:lpstr>Lesson objective </vt:lpstr>
      <vt:lpstr>Who is correct?  (think, pair and share)  </vt:lpstr>
      <vt:lpstr>What is the Area? </vt:lpstr>
      <vt:lpstr>Daily review (I do/we do) </vt:lpstr>
      <vt:lpstr>Double signs </vt:lpstr>
      <vt:lpstr>PowerPoint Presentation</vt:lpstr>
      <vt:lpstr>Your turn – exercise books </vt:lpstr>
      <vt:lpstr>What is volume? </vt:lpstr>
      <vt:lpstr>Make the shapes </vt:lpstr>
      <vt:lpstr>Create and count </vt:lpstr>
      <vt:lpstr>What is the volume of these shapes?</vt:lpstr>
      <vt:lpstr>Rule for volume of cuboids </vt:lpstr>
      <vt:lpstr>Volume of Rectangular Prisms</vt:lpstr>
      <vt:lpstr>Find the volume of these rectangular prisms?</vt:lpstr>
      <vt:lpstr>Volume Practice  </vt:lpstr>
      <vt:lpstr>Area of L blocks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16</cp:revision>
  <dcterms:created xsi:type="dcterms:W3CDTF">2022-04-26T07:45:13Z</dcterms:created>
  <dcterms:modified xsi:type="dcterms:W3CDTF">2023-04-28T00:24:00Z</dcterms:modified>
</cp:coreProperties>
</file>
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72" r:id="rId2"/>
    <p:sldId id="268" r:id="rId3"/>
    <p:sldId id="269" r:id="rId4"/>
    <p:sldId id="299" r:id="rId5"/>
    <p:sldId id="300" r:id="rId6"/>
    <p:sldId id="270" r:id="rId7"/>
    <p:sldId id="294" r:id="rId8"/>
    <p:sldId id="271" r:id="rId9"/>
    <p:sldId id="297" r:id="rId10"/>
    <p:sldId id="295" r:id="rId11"/>
    <p:sldId id="296" r:id="rId12"/>
    <p:sldId id="257" r:id="rId13"/>
    <p:sldId id="273" r:id="rId14"/>
    <p:sldId id="298" r:id="rId15"/>
    <p:sldId id="283" r:id="rId16"/>
    <p:sldId id="285" r:id="rId17"/>
    <p:sldId id="261" r:id="rId18"/>
    <p:sldId id="289" r:id="rId19"/>
    <p:sldId id="291" r:id="rId20"/>
    <p:sldId id="292" r:id="rId21"/>
    <p:sldId id="274" r:id="rId22"/>
    <p:sldId id="275" r:id="rId23"/>
    <p:sldId id="276" r:id="rId24"/>
    <p:sldId id="277" r:id="rId25"/>
    <p:sldId id="278" r:id="rId26"/>
    <p:sldId id="260" r:id="rId27"/>
    <p:sldId id="25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608BE0-01B1-4BAA-A9C8-D6C7B006AF43}">
          <p14:sldIdLst/>
        </p14:section>
        <p14:section name="Default Section" id="{1B8F0CC1-AE02-40AA-8F4C-56C04205BC76}">
          <p14:sldIdLst>
            <p14:sldId id="272"/>
          </p14:sldIdLst>
        </p14:section>
        <p14:section name="Untitled Section" id="{FCAADE6A-E0B1-4DA2-B46D-0A38D5B89C05}">
          <p14:sldIdLst>
            <p14:sldId id="268"/>
            <p14:sldId id="269"/>
            <p14:sldId id="299"/>
            <p14:sldId id="300"/>
            <p14:sldId id="270"/>
            <p14:sldId id="294"/>
            <p14:sldId id="271"/>
            <p14:sldId id="297"/>
            <p14:sldId id="295"/>
            <p14:sldId id="296"/>
            <p14:sldId id="257"/>
            <p14:sldId id="273"/>
            <p14:sldId id="298"/>
            <p14:sldId id="283"/>
            <p14:sldId id="285"/>
            <p14:sldId id="261"/>
            <p14:sldId id="289"/>
            <p14:sldId id="291"/>
            <p14:sldId id="292"/>
            <p14:sldId id="274"/>
            <p14:sldId id="275"/>
            <p14:sldId id="276"/>
            <p14:sldId id="277"/>
            <p14:sldId id="278"/>
            <p14:sldId id="260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7T13:09:24.918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1,'4'0,"6"0,5 0,4 0,4 0,1 0,1 0,-3 4,-2 6,0 0,1 0,-3 1,0 0,0 1,2-1,-3 2,-4-1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7T13:09:27.07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279 0,'0'4,"0"6,-4 1,-1 3,-5 3,-4-1,-4 0,-7 3,-4 6,-1 2,0-2,1-2,2-5,5-1,2 1,4-3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7T13:16:00.58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1,'3'1,"0"-1,0 1,0 0,0 1,-1-1,1 1,0-1,-1 1,1 0,-1 0,1 0,-1 0,2 2,11 8,107 82,47 30,-154-115,0 1,-1 0,0 1,0 1,21 23,-26-23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7T13:16:02.348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486 1,'-38'15,"29"-12,0 1,1 0,-1 0,1 0,-10 8,-244 196,244-192,1 2,1 0,-24 35,15-20,16-21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E2497-D81C-41BE-9BE7-6017F63C3A9E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E0976-1AA2-423A-86B0-4AAA40AF59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741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E0976-1AA2-423A-86B0-4AAA40AF5941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478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a dice available at home, roll</a:t>
            </a:r>
            <a:r>
              <a:rPr lang="en-US" baseline="0" dirty="0"/>
              <a:t> it 20 times and record your results. How many odd numbers did you land on out of 20 rolls?</a:t>
            </a:r>
          </a:p>
          <a:p>
            <a:r>
              <a:rPr lang="en-US" baseline="0" dirty="0"/>
              <a:t>Make sure you always amount of </a:t>
            </a:r>
            <a:r>
              <a:rPr lang="en-US" baseline="0" dirty="0" err="1"/>
              <a:t>favourable</a:t>
            </a:r>
            <a:r>
              <a:rPr lang="en-US" baseline="0" dirty="0"/>
              <a:t> outcomes over the number of possible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C2E43B-801A-439A-AF87-0AFFEBAB7F7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915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</a:t>
            </a:r>
            <a:r>
              <a:rPr lang="en-US" baseline="0" dirty="0"/>
              <a:t> answering these before </a:t>
            </a:r>
            <a:r>
              <a:rPr lang="en-US" baseline="0" dirty="0" err="1"/>
              <a:t>veiwing</a:t>
            </a:r>
            <a:r>
              <a:rPr lang="en-US" baseline="0" dirty="0"/>
              <a:t> the answers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C2E43B-801A-439A-AF87-0AFFEBAB7F7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6053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3BDD-F141-4D48-AB64-702A88EDE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5F64C-F73A-4D7E-8E5D-9792DF593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83FA6-266A-432D-A9A4-C3FC84279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C0FFC-1BEC-48C8-92C0-0D952FFA4032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B31C6-B4C1-4606-8E88-F298D2EB6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D5EB6-86D1-48E9-85A0-6164A64B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95B29-1116-4306-B5FE-F40122F19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7895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48A2D-7438-4CB0-81FB-DD6F5950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3C8C2-C579-4425-8A31-6E51E3117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9B9EF-77E9-4925-AC5C-F16CD209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C0FFC-1BEC-48C8-92C0-0D952FFA4032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A62B6-6309-4F97-AF25-34B09861C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71439-8D48-4D0C-83FD-9CC07413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95B29-1116-4306-B5FE-F40122F19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1542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0563-ED57-4755-A65B-3AB81FBFE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2FE76-8BC0-4D73-81FE-83862BAEC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6C794-991C-46E7-95F3-B83EEF8CD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C0FFC-1BEC-48C8-92C0-0D952FFA4032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E0C9F-09F3-4AAB-B6D4-E8D27393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64778-1021-49AE-B999-C31994CB2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95B29-1116-4306-B5FE-F40122F19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111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4024-A357-4A1F-9798-AAB0D672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573F0-72B8-40DF-8CB9-E081F18EAE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4DFCC-F3CE-4F45-95A4-BC5B835C5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D1A7A-D1F0-44B1-90D7-3282A92B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C0FFC-1BEC-48C8-92C0-0D952FFA4032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C3278-63E0-4FCE-ACDF-1C6C0DBB0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44A40-C195-4B1D-B118-2A96F8D9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95B29-1116-4306-B5FE-F40122F19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07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8997E-DD5E-437C-AC09-24339A157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5FAB6-E706-490A-88D1-D6D9BB6E6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BCC7B-1CBA-4499-BFB6-4080FA0F0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A2807-E18A-488E-A7B7-D744D1C4B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83F56-2B55-4E2B-8DEB-3046BA6DA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B09058-712D-4698-8E6F-9DEFA8597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C0FFC-1BEC-48C8-92C0-0D952FFA4032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DF3B8D-78DF-4396-8F60-5108AA6AB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5662C-BD5E-4775-8940-95F155B83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95B29-1116-4306-B5FE-F40122F19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110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4E1B5-1ECE-40C8-9530-9F232B97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4B8E5-F942-4A1F-9223-778F4D410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C0FFC-1BEC-48C8-92C0-0D952FFA4032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35E07-E11A-4AE9-9134-55BD66EF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078ED-A65A-41DE-9277-CB532D73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95B29-1116-4306-B5FE-F40122F19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2711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96724B-437B-40BA-A9C1-5D9E1B20D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C0FFC-1BEC-48C8-92C0-0D952FFA4032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FA8067-CF52-49BB-89DB-540C254E7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4ECA8-BE1E-4A9C-B70D-6F522CFA1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95B29-1116-4306-B5FE-F40122F19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6553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A564-5F7C-44E2-9CD1-5902C6672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2D7C8-C02B-416A-9C44-91384B319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44F68-F3B2-4EB3-A514-A2AB4F4DE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F58A1-F19B-4725-867A-EAE1B1C7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C0FFC-1BEC-48C8-92C0-0D952FFA4032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38B4F-0570-41B7-8891-B52AB49E0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3704C-7CD2-4022-B6C2-935BDB67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95B29-1116-4306-B5FE-F40122F19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207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F6CB-82DA-459D-82F4-0D6EB08D9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FCA22E-0CC9-46E3-8E67-30A221231B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D4906-9993-4EB5-A658-F137429EB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1F780-22F4-4B60-A86F-219EE96FF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C0FFC-1BEC-48C8-92C0-0D952FFA4032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1BD26-61D0-4A22-A15D-37881509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59FBE-B026-49AB-AAB8-B285A3671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95B29-1116-4306-B5FE-F40122F19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404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EFCD7-8660-4013-BCA1-201803F7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D4368-AE83-44C0-9E1B-706F40E57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F5C87-4B85-4B22-B0C6-D19D4D347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C0FFC-1BEC-48C8-92C0-0D952FFA4032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E297A-C45F-4DB9-B06B-DB2D4D3E8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02E03-15BD-4735-AD85-901E0847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95B29-1116-4306-B5FE-F40122F19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3293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2F7F7A-F2CC-4A31-9FC2-F2E124D03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96047-70A1-41A1-BACB-4A6D0636C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EC0C9-825C-431C-B6D8-37CCBE21D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C0FFC-1BEC-48C8-92C0-0D952FFA4032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65646-CDBA-4E38-8A07-E1E771A2C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F6881-E7E3-401D-8915-9C16CEEFD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95B29-1116-4306-B5FE-F40122F19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9158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(Re)T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693990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(Re)Teach</a:t>
            </a:r>
          </a:p>
        </p:txBody>
      </p:sp>
    </p:spTree>
    <p:extLst>
      <p:ext uri="{BB962C8B-B14F-4D97-AF65-F5344CB8AC3E}">
        <p14:creationId xmlns:p14="http://schemas.microsoft.com/office/powerpoint/2010/main" val="3433429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trie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482973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Retrieve</a:t>
            </a:r>
          </a:p>
        </p:txBody>
      </p:sp>
    </p:spTree>
    <p:extLst>
      <p:ext uri="{BB962C8B-B14F-4D97-AF65-F5344CB8AC3E}">
        <p14:creationId xmlns:p14="http://schemas.microsoft.com/office/powerpoint/2010/main" val="1038783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ly (I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764328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(I Do)</a:t>
            </a:r>
          </a:p>
        </p:txBody>
      </p:sp>
    </p:spTree>
    <p:extLst>
      <p:ext uri="{BB962C8B-B14F-4D97-AF65-F5344CB8AC3E}">
        <p14:creationId xmlns:p14="http://schemas.microsoft.com/office/powerpoint/2010/main" val="3961282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ly (We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7" y="141439"/>
            <a:ext cx="2136117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(We Do)</a:t>
            </a:r>
          </a:p>
        </p:txBody>
      </p:sp>
    </p:spTree>
    <p:extLst>
      <p:ext uri="{BB962C8B-B14F-4D97-AF65-F5344CB8AC3E}">
        <p14:creationId xmlns:p14="http://schemas.microsoft.com/office/powerpoint/2010/main" val="1809058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ly (You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7" y="141439"/>
            <a:ext cx="2136117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(You Do)</a:t>
            </a:r>
          </a:p>
        </p:txBody>
      </p:sp>
    </p:spTree>
    <p:extLst>
      <p:ext uri="{BB962C8B-B14F-4D97-AF65-F5344CB8AC3E}">
        <p14:creationId xmlns:p14="http://schemas.microsoft.com/office/powerpoint/2010/main" val="1129946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1D12D9-035E-44B8-B3E1-8E7DC72EB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59C89-B465-40B6-8BB5-6A1405192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A277E-E4E3-4365-A27D-90727E32E5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C0FFC-1BEC-48C8-92C0-0D952FFA4032}" type="datetimeFigureOut">
              <a:rPr lang="en-AU" smtClean="0"/>
              <a:t>18/05/2023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D304D-61CD-48AD-9B39-9880FA553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C9262-2713-4252-BE0C-CB2737AED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95B29-1116-4306-B5FE-F40122F19A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8254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cid:3f38f1bd-2ce2-464b-aabf-196ffba5acd7@ausprd01.prod.outlook.com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image" Target="../media/image1.jpe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cid:78640e03-8920-4c06-b68d-44dc8ac665f4@ausprd01.prod.outlook.com" TargetMode="External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2.jpe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" Type="http://schemas.openxmlformats.org/officeDocument/2006/relationships/image" Target="../media/image17.png"/><Relationship Id="rId21" Type="http://schemas.openxmlformats.org/officeDocument/2006/relationships/image" Target="../media/image37.png"/><Relationship Id="rId34" Type="http://schemas.openxmlformats.org/officeDocument/2006/relationships/image" Target="../media/image30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33" Type="http://schemas.openxmlformats.org/officeDocument/2006/relationships/image" Target="../media/image29.png"/><Relationship Id="rId2" Type="http://schemas.openxmlformats.org/officeDocument/2006/relationships/image" Target="../media/image16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29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40.png"/><Relationship Id="rId32" Type="http://schemas.openxmlformats.org/officeDocument/2006/relationships/image" Target="../media/image48.png"/><Relationship Id="rId5" Type="http://schemas.openxmlformats.org/officeDocument/2006/relationships/image" Target="../media/image19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10" Type="http://schemas.openxmlformats.org/officeDocument/2006/relationships/image" Target="../media/image24.png"/><Relationship Id="rId19" Type="http://schemas.openxmlformats.org/officeDocument/2006/relationships/image" Target="../media/image35.png"/><Relationship Id="rId31" Type="http://schemas.openxmlformats.org/officeDocument/2006/relationships/image" Target="../media/image47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Relationship Id="rId30" Type="http://schemas.openxmlformats.org/officeDocument/2006/relationships/image" Target="../media/image46.png"/><Relationship Id="rId8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10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3.png"/><Relationship Id="rId4" Type="http://schemas.openxmlformats.org/officeDocument/2006/relationships/customXml" Target="../ink/ink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53.jpe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10" Type="http://schemas.openxmlformats.org/officeDocument/2006/relationships/image" Target="../media/image180.png"/><Relationship Id="rId4" Type="http://schemas.openxmlformats.org/officeDocument/2006/relationships/image" Target="../media/image52.png"/><Relationship Id="rId9" Type="http://schemas.openxmlformats.org/officeDocument/2006/relationships/image" Target="../media/image1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4F2A63-1EF2-49A1-96D4-E501B7C96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A9114C-6BA0-41CE-AAB5-DA4384DB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Experimental Vs theoretical probability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Describe the difference between experimental and theoretical probability.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Assign probability after an experiment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Perimeter, Area and Volume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Exp Vs Theoretical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Notes page 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934231-6672-42BC-947C-6B2167B7861C}"/>
              </a:ext>
            </a:extLst>
          </p:cNvPr>
          <p:cNvSpPr txBox="1"/>
          <p:nvPr/>
        </p:nvSpPr>
        <p:spPr>
          <a:xfrm>
            <a:off x="8620217" y="1065320"/>
            <a:ext cx="27335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73187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Comparing prices </a:t>
            </a:r>
            <a:r>
              <a:rPr lang="en-AU" b="1" dirty="0"/>
              <a:t>for the same quantity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Found in shops for value comparisons</a:t>
            </a:r>
          </a:p>
          <a:p>
            <a:r>
              <a:rPr lang="en-AU" dirty="0"/>
              <a:t>This calculation always involves </a:t>
            </a:r>
          </a:p>
          <a:p>
            <a:r>
              <a:rPr lang="en-AU" dirty="0"/>
              <a:t>It is usually given as </a:t>
            </a:r>
            <a:r>
              <a:rPr lang="en-AU" b="1" dirty="0"/>
              <a:t>$ per 100 grams</a:t>
            </a:r>
          </a:p>
          <a:p>
            <a:r>
              <a:rPr lang="en-AU" dirty="0"/>
              <a:t>It is sometimes given as </a:t>
            </a:r>
            <a:r>
              <a:rPr lang="en-AU" b="1" dirty="0"/>
              <a:t>$ per 1 kilogram</a:t>
            </a: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7104063" y="3225708"/>
            <a:ext cx="2936084" cy="1999678"/>
            <a:chOff x="4932039" y="2166591"/>
            <a:chExt cx="2657477" cy="1809927"/>
          </a:xfrm>
        </p:grpSpPr>
        <p:pic>
          <p:nvPicPr>
            <p:cNvPr id="5" name="Picture 4" descr="cid:3f38f1bd-2ce2-464b-aabf-196ffba5acd7@ausprd01.prod.outlook.com"/>
            <p:cNvPicPr/>
            <p:nvPr/>
          </p:nvPicPr>
          <p:blipFill rotWithShape="1">
            <a:blip r:embed="rId2" r:link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87" t="13057" r="50174" b="25199"/>
            <a:stretch>
              <a:fillRect/>
            </a:stretch>
          </p:blipFill>
          <p:spPr bwMode="auto">
            <a:xfrm rot="5400000">
              <a:off x="5758159" y="1340472"/>
              <a:ext cx="1005237" cy="26574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 descr="cid:3f38f1bd-2ce2-464b-aabf-196ffba5acd7@ausprd01.prod.outlook.com"/>
            <p:cNvPicPr/>
            <p:nvPr/>
          </p:nvPicPr>
          <p:blipFill rotWithShape="1">
            <a:blip r:embed="rId2" r:link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143" t="13057" r="29817" b="25199"/>
            <a:stretch>
              <a:fillRect/>
            </a:stretch>
          </p:blipFill>
          <p:spPr bwMode="auto">
            <a:xfrm rot="5400000">
              <a:off x="5858432" y="2245436"/>
              <a:ext cx="804689" cy="26574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2241155" y="3225708"/>
            <a:ext cx="2672418" cy="1999678"/>
            <a:chOff x="539551" y="2204865"/>
            <a:chExt cx="2647952" cy="1981371"/>
          </a:xfrm>
        </p:grpSpPr>
        <p:pic>
          <p:nvPicPr>
            <p:cNvPr id="4" name="Picture 3" descr="cid:78640e03-8920-4c06-b68d-44dc8ac665f4@ausprd01.prod.outlook.com"/>
            <p:cNvPicPr/>
            <p:nvPr/>
          </p:nvPicPr>
          <p:blipFill rotWithShape="1">
            <a:blip r:embed="rId4" r:link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947" t="19914" r="44695" b="18563"/>
            <a:stretch>
              <a:fillRect/>
            </a:stretch>
          </p:blipFill>
          <p:spPr bwMode="auto">
            <a:xfrm rot="5400000">
              <a:off x="1280121" y="1464295"/>
              <a:ext cx="1166812" cy="2647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 7" descr="cid:78640e03-8920-4c06-b68d-44dc8ac665f4@ausprd01.prod.outlook.com"/>
            <p:cNvPicPr/>
            <p:nvPr/>
          </p:nvPicPr>
          <p:blipFill rotWithShape="1">
            <a:blip r:embed="rId4" r:link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256" t="20799" r="23532" b="17678"/>
            <a:stretch>
              <a:fillRect/>
            </a:stretch>
          </p:blipFill>
          <p:spPr bwMode="auto">
            <a:xfrm rot="5400000">
              <a:off x="1456249" y="2454981"/>
              <a:ext cx="814558" cy="2647951"/>
            </a:xfrm>
            <a:prstGeom prst="rect">
              <a:avLst/>
            </a:prstGeom>
            <a:noFill/>
            <a:ln>
              <a:noFill/>
            </a:ln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1007" y="1268910"/>
                <a:ext cx="2965107" cy="52322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>
                          <a:latin typeface="Cambria Math"/>
                        </a:rPr>
                        <m:t>𝒄𝒐𝒔𝒕</m:t>
                      </m:r>
                      <m:r>
                        <a:rPr lang="en-AU" sz="2800" b="1" i="1">
                          <a:latin typeface="Cambria Math"/>
                          <a:ea typeface="Cambria Math"/>
                        </a:rPr>
                        <m:t>÷</m:t>
                      </m:r>
                      <m:r>
                        <a:rPr lang="en-AU" sz="2800" b="1" i="1">
                          <a:latin typeface="Cambria Math"/>
                          <a:ea typeface="Cambria Math"/>
                        </a:rPr>
                        <m:t>𝒒𝒖𝒂𝒏𝒕𝒊𝒕𝒚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007" y="1268910"/>
                <a:ext cx="296510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63552" y="5400458"/>
                <a:ext cx="1288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$8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÷320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𝑔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5400458"/>
                <a:ext cx="1288301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99147" y="5400761"/>
                <a:ext cx="20025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=$0.025</m:t>
                    </m:r>
                  </m:oMath>
                </a14:m>
                <a:r>
                  <a:rPr lang="en-AU" dirty="0"/>
                  <a:t> </a:t>
                </a:r>
                <a:r>
                  <a:rPr lang="en-AU" b="1" dirty="0"/>
                  <a:t>per</a:t>
                </a:r>
                <a:r>
                  <a:rPr lang="en-AU" dirty="0"/>
                  <a:t> </a:t>
                </a:r>
                <a:r>
                  <a:rPr lang="en-AU" b="1" dirty="0"/>
                  <a:t>gram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147" y="5400761"/>
                <a:ext cx="2002536" cy="369332"/>
              </a:xfrm>
              <a:prstGeom prst="rect">
                <a:avLst/>
              </a:prstGeom>
              <a:blipFill>
                <a:blip r:embed="rId8"/>
                <a:stretch>
                  <a:fillRect t="-9836" r="-2736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803266" y="5889701"/>
                <a:ext cx="15680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$0.025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×100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266" y="5889701"/>
                <a:ext cx="156805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99148" y="5890004"/>
                <a:ext cx="23773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=$2.50</m:t>
                    </m:r>
                  </m:oMath>
                </a14:m>
                <a:r>
                  <a:rPr lang="en-AU" dirty="0"/>
                  <a:t> </a:t>
                </a:r>
                <a:r>
                  <a:rPr lang="en-AU" b="1" dirty="0"/>
                  <a:t>per</a:t>
                </a:r>
                <a:r>
                  <a:rPr lang="en-AU" dirty="0"/>
                  <a:t> </a:t>
                </a:r>
                <a:r>
                  <a:rPr lang="en-AU" b="1" dirty="0"/>
                  <a:t>100 grams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148" y="5890004"/>
                <a:ext cx="2377317" cy="369332"/>
              </a:xfrm>
              <a:prstGeom prst="rect">
                <a:avLst/>
              </a:prstGeom>
              <a:blipFill>
                <a:blip r:embed="rId10"/>
                <a:stretch>
                  <a:fillRect t="-8197" r="-2051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739146" y="6393757"/>
                <a:ext cx="169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$0.025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×1000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146" y="6393757"/>
                <a:ext cx="169629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299148" y="6394060"/>
                <a:ext cx="25744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=$25.00</m:t>
                    </m:r>
                  </m:oMath>
                </a14:m>
                <a:r>
                  <a:rPr lang="en-AU" dirty="0"/>
                  <a:t> </a:t>
                </a:r>
                <a:r>
                  <a:rPr lang="en-AU" b="1" dirty="0"/>
                  <a:t>per</a:t>
                </a:r>
                <a:r>
                  <a:rPr lang="en-AU" dirty="0"/>
                  <a:t> </a:t>
                </a:r>
                <a:r>
                  <a:rPr lang="en-AU" b="1" dirty="0"/>
                  <a:t>1 kilogram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148" y="6394060"/>
                <a:ext cx="2574487" cy="369332"/>
              </a:xfrm>
              <a:prstGeom prst="rect">
                <a:avLst/>
              </a:prstGeom>
              <a:blipFill>
                <a:blip r:embed="rId1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586857" y="5400155"/>
                <a:ext cx="1288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÷125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𝑔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857" y="5400155"/>
                <a:ext cx="1288301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822452" y="5400458"/>
                <a:ext cx="18819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=$0.04</m:t>
                    </m:r>
                  </m:oMath>
                </a14:m>
                <a:r>
                  <a:rPr lang="en-AU" dirty="0"/>
                  <a:t> </a:t>
                </a:r>
                <a:r>
                  <a:rPr lang="en-AU" b="1" dirty="0"/>
                  <a:t>per</a:t>
                </a:r>
                <a:r>
                  <a:rPr lang="en-AU" dirty="0"/>
                  <a:t> </a:t>
                </a:r>
                <a:r>
                  <a:rPr lang="en-AU" b="1" dirty="0"/>
                  <a:t>gram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452" y="5400458"/>
                <a:ext cx="1881990" cy="369332"/>
              </a:xfrm>
              <a:prstGeom prst="rect">
                <a:avLst/>
              </a:prstGeom>
              <a:blipFill>
                <a:blip r:embed="rId14"/>
                <a:stretch>
                  <a:fillRect t="-10000" r="-2589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326571" y="5889398"/>
                <a:ext cx="14398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$0.04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×100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571" y="5889398"/>
                <a:ext cx="143981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822453" y="5889701"/>
                <a:ext cx="20727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=$4</m:t>
                    </m:r>
                  </m:oMath>
                </a14:m>
                <a:r>
                  <a:rPr lang="en-AU" dirty="0"/>
                  <a:t> </a:t>
                </a:r>
                <a:r>
                  <a:rPr lang="en-AU" b="1" dirty="0"/>
                  <a:t>per</a:t>
                </a:r>
                <a:r>
                  <a:rPr lang="en-AU" dirty="0"/>
                  <a:t> </a:t>
                </a:r>
                <a:r>
                  <a:rPr lang="en-AU" b="1" dirty="0"/>
                  <a:t>100 grams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453" y="5889701"/>
                <a:ext cx="2072747" cy="369332"/>
              </a:xfrm>
              <a:prstGeom prst="rect">
                <a:avLst/>
              </a:prstGeom>
              <a:blipFill>
                <a:blip r:embed="rId16"/>
                <a:stretch>
                  <a:fillRect t="-8197" r="-2353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262451" y="6393454"/>
                <a:ext cx="15680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$0.04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×1000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451" y="6393454"/>
                <a:ext cx="156805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822453" y="6393757"/>
                <a:ext cx="25263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=$40.00</m:t>
                    </m:r>
                  </m:oMath>
                </a14:m>
                <a:r>
                  <a:rPr lang="en-AU" dirty="0"/>
                  <a:t> </a:t>
                </a:r>
                <a:r>
                  <a:rPr lang="en-AU" b="1" dirty="0"/>
                  <a:t>per</a:t>
                </a:r>
                <a:r>
                  <a:rPr lang="en-AU" dirty="0"/>
                  <a:t> </a:t>
                </a:r>
                <a:r>
                  <a:rPr lang="en-AU" b="1" dirty="0"/>
                  <a:t>1 kilogram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453" y="6393757"/>
                <a:ext cx="2526397" cy="369332"/>
              </a:xfrm>
              <a:prstGeom prst="rect">
                <a:avLst/>
              </a:prstGeom>
              <a:blipFill>
                <a:blip r:embed="rId18"/>
                <a:stretch>
                  <a:fillRect t="-10000" r="-1687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 rot="984475">
            <a:off x="8356030" y="2209188"/>
            <a:ext cx="211878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AU" sz="1600" b="1" dirty="0"/>
              <a:t>‘per’ means ‘for every’</a:t>
            </a:r>
          </a:p>
        </p:txBody>
      </p:sp>
    </p:spTree>
    <p:extLst>
      <p:ext uri="{BB962C8B-B14F-4D97-AF65-F5344CB8AC3E}">
        <p14:creationId xmlns:p14="http://schemas.microsoft.com/office/powerpoint/2010/main" val="108734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7609" y="-7651"/>
            <a:ext cx="8100391" cy="700347"/>
          </a:xfrm>
        </p:spPr>
        <p:txBody>
          <a:bodyPr>
            <a:normAutofit fontScale="90000"/>
          </a:bodyPr>
          <a:lstStyle/>
          <a:p>
            <a:r>
              <a:rPr lang="en-AU" dirty="0"/>
              <a:t>Calculate prices for the same quantity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684563" y="620688"/>
                <a:ext cx="2965107" cy="52322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>
                          <a:latin typeface="Cambria Math"/>
                        </a:rPr>
                        <m:t>𝒄𝒐𝒔𝒕</m:t>
                      </m:r>
                      <m:r>
                        <a:rPr lang="en-AU" sz="2800" b="1" i="1">
                          <a:latin typeface="Cambria Math"/>
                          <a:ea typeface="Cambria Math"/>
                        </a:rPr>
                        <m:t>÷</m:t>
                      </m:r>
                      <m:r>
                        <a:rPr lang="en-AU" sz="2800" b="1" i="1">
                          <a:latin typeface="Cambria Math"/>
                          <a:ea typeface="Cambria Math"/>
                        </a:rPr>
                        <m:t>𝒒𝒖𝒂𝒏𝒕𝒊𝒕𝒚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563" y="620688"/>
                <a:ext cx="296510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1268761"/>
          <a:ext cx="9125668" cy="55892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1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1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1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1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6539">
                <a:tc>
                  <a:txBody>
                    <a:bodyPr/>
                    <a:lstStyle/>
                    <a:p>
                      <a:r>
                        <a:rPr lang="en-AU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Cost per 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  <a:r>
                        <a:rPr lang="en-AU" baseline="0" dirty="0"/>
                        <a:t> per 100g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Cost per</a:t>
                      </a:r>
                      <a:r>
                        <a:rPr lang="en-AU" baseline="0" dirty="0"/>
                        <a:t> kilogram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032"/>
          <a:stretch/>
        </p:blipFill>
        <p:spPr bwMode="auto">
          <a:xfrm>
            <a:off x="1524001" y="1844825"/>
            <a:ext cx="733425" cy="1210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258"/>
          <a:stretch/>
        </p:blipFill>
        <p:spPr bwMode="auto">
          <a:xfrm>
            <a:off x="2257426" y="1844823"/>
            <a:ext cx="1522095" cy="1210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4" y="2341912"/>
            <a:ext cx="648072" cy="51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/>
          <p:cNvGrpSpPr>
            <a:grpSpLocks noChangeAspect="1"/>
          </p:cNvGrpSpPr>
          <p:nvPr/>
        </p:nvGrpSpPr>
        <p:grpSpPr>
          <a:xfrm>
            <a:off x="1541665" y="3106402"/>
            <a:ext cx="2209153" cy="1154703"/>
            <a:chOff x="-468560" y="1324759"/>
            <a:chExt cx="5377342" cy="2810684"/>
          </a:xfrm>
        </p:grpSpPr>
        <p:pic>
          <p:nvPicPr>
            <p:cNvPr id="12" name="Picture 6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6609" b="14219"/>
            <a:stretch/>
          </p:blipFill>
          <p:spPr bwMode="auto">
            <a:xfrm>
              <a:off x="-468560" y="1324759"/>
              <a:ext cx="1929432" cy="28106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6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99" t="-1" r="309" b="-1275"/>
            <a:stretch/>
          </p:blipFill>
          <p:spPr bwMode="auto">
            <a:xfrm>
              <a:off x="1423026" y="1324762"/>
              <a:ext cx="3485756" cy="2810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14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5643" y="2582461"/>
              <a:ext cx="1577485" cy="110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" name="Group 18"/>
          <p:cNvGrpSpPr>
            <a:grpSpLocks noChangeAspect="1"/>
          </p:cNvGrpSpPr>
          <p:nvPr/>
        </p:nvGrpSpPr>
        <p:grpSpPr>
          <a:xfrm>
            <a:off x="1559496" y="5621742"/>
            <a:ext cx="2160240" cy="892629"/>
            <a:chOff x="912738" y="3532196"/>
            <a:chExt cx="4452815" cy="1839939"/>
          </a:xfrm>
        </p:grpSpPr>
        <p:pic>
          <p:nvPicPr>
            <p:cNvPr id="20" name="Picture 19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994" r="66497" b="37357"/>
            <a:stretch/>
          </p:blipFill>
          <p:spPr bwMode="auto">
            <a:xfrm>
              <a:off x="912738" y="3532196"/>
              <a:ext cx="3018838" cy="1839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21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911" t="7531" r="29175" b="41587"/>
            <a:stretch/>
          </p:blipFill>
          <p:spPr bwMode="auto">
            <a:xfrm>
              <a:off x="3931576" y="3532196"/>
              <a:ext cx="1433977" cy="1812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976115" y="1904836"/>
                <a:ext cx="1288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÷400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𝑔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115" y="1904836"/>
                <a:ext cx="1288301" cy="369332"/>
              </a:xfrm>
              <a:prstGeom prst="rect">
                <a:avLst/>
              </a:prstGeom>
              <a:blipFill>
                <a:blip r:embed="rId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863752" y="2564950"/>
                <a:ext cx="2130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=$0.0125</m:t>
                    </m:r>
                  </m:oMath>
                </a14:m>
                <a:r>
                  <a:rPr lang="en-AU" dirty="0"/>
                  <a:t> per gram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52" y="2564950"/>
                <a:ext cx="2130776" cy="369332"/>
              </a:xfrm>
              <a:prstGeom prst="rect">
                <a:avLst/>
              </a:prstGeom>
              <a:blipFill>
                <a:blip r:embed="rId10"/>
                <a:stretch>
                  <a:fillRect t="-10000" r="-1719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424325" y="1915770"/>
                <a:ext cx="169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$0.0125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×100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325" y="1915770"/>
                <a:ext cx="169629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248464" y="2567093"/>
                <a:ext cx="18549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=$1.25</m:t>
                    </m:r>
                  </m:oMath>
                </a14:m>
                <a:r>
                  <a:rPr lang="en-AU" dirty="0"/>
                  <a:t> per 100g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64" y="2567093"/>
                <a:ext cx="1854995" cy="369332"/>
              </a:xfrm>
              <a:prstGeom prst="rect">
                <a:avLst/>
              </a:prstGeom>
              <a:blipFill>
                <a:blip r:embed="rId12"/>
                <a:stretch>
                  <a:fillRect t="-8197" r="-2303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8704235" y="1888949"/>
                <a:ext cx="18245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$0.0125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×1000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235" y="1888949"/>
                <a:ext cx="182453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544273" y="2564950"/>
                <a:ext cx="19062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=$12.50</m:t>
                    </m:r>
                  </m:oMath>
                </a14:m>
                <a:r>
                  <a:rPr lang="en-AU" dirty="0"/>
                  <a:t> per 1 kg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273" y="2564950"/>
                <a:ext cx="1906291" cy="369332"/>
              </a:xfrm>
              <a:prstGeom prst="rect">
                <a:avLst/>
              </a:prstGeom>
              <a:blipFill>
                <a:blip r:embed="rId14"/>
                <a:stretch>
                  <a:fillRect t="-10000" r="-192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1541664" y="882298"/>
            <a:ext cx="250568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AU" b="1" dirty="0"/>
              <a:t>The first is done for you: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D0D6F5A-8C0B-2A47-8ED2-7B5CABB847B1}"/>
              </a:ext>
            </a:extLst>
          </p:cNvPr>
          <p:cNvSpPr/>
          <p:nvPr/>
        </p:nvSpPr>
        <p:spPr>
          <a:xfrm>
            <a:off x="1524000" y="0"/>
            <a:ext cx="1187624" cy="69269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/>
              <a:t>Practice: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C549E61-A86A-4AC5-8742-A415E5B9F2FF}"/>
              </a:ext>
            </a:extLst>
          </p:cNvPr>
          <p:cNvGrpSpPr>
            <a:grpSpLocks noChangeAspect="1"/>
          </p:cNvGrpSpPr>
          <p:nvPr/>
        </p:nvGrpSpPr>
        <p:grpSpPr>
          <a:xfrm>
            <a:off x="1579218" y="4383885"/>
            <a:ext cx="2039826" cy="1096245"/>
            <a:chOff x="647700" y="2260300"/>
            <a:chExt cx="5231954" cy="2811760"/>
          </a:xfrm>
        </p:grpSpPr>
        <p:pic>
          <p:nvPicPr>
            <p:cNvPr id="32" name="Picture 7">
              <a:extLst>
                <a:ext uri="{FF2B5EF4-FFF2-40B4-BE49-F238E27FC236}">
                  <a16:creationId xmlns:a16="http://schemas.microsoft.com/office/drawing/2014/main" id="{7BE983C0-8194-4AD1-BB1E-ED0D80C101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210" r="85249"/>
            <a:stretch/>
          </p:blipFill>
          <p:spPr bwMode="auto">
            <a:xfrm>
              <a:off x="647700" y="2285765"/>
              <a:ext cx="1157771" cy="2786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Picture 7">
              <a:extLst>
                <a:ext uri="{FF2B5EF4-FFF2-40B4-BE49-F238E27FC236}">
                  <a16:creationId xmlns:a16="http://schemas.microsoft.com/office/drawing/2014/main" id="{BBCE4AD2-3090-4858-9AD4-C001F865C6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909" t="5624" r="2179" b="14414"/>
            <a:stretch/>
          </p:blipFill>
          <p:spPr bwMode="auto">
            <a:xfrm>
              <a:off x="1805471" y="2260300"/>
              <a:ext cx="4074183" cy="2788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14">
              <a:extLst>
                <a:ext uri="{FF2B5EF4-FFF2-40B4-BE49-F238E27FC236}">
                  <a16:creationId xmlns:a16="http://schemas.microsoft.com/office/drawing/2014/main" id="{68E7D9A9-FF37-4D84-9EE3-96E7DE6538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1122" y="3506957"/>
              <a:ext cx="1969896" cy="1316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944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Answers are on the following slide…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7917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684563" y="620688"/>
                <a:ext cx="2965107" cy="52322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>
                          <a:latin typeface="Cambria Math"/>
                        </a:rPr>
                        <m:t>𝒄𝒐𝒔𝒕</m:t>
                      </m:r>
                      <m:r>
                        <a:rPr lang="en-AU" sz="2800" b="1" i="1">
                          <a:latin typeface="Cambria Math"/>
                          <a:ea typeface="Cambria Math"/>
                        </a:rPr>
                        <m:t>÷</m:t>
                      </m:r>
                      <m:r>
                        <a:rPr lang="en-AU" sz="2800" b="1" i="1">
                          <a:latin typeface="Cambria Math"/>
                          <a:ea typeface="Cambria Math"/>
                        </a:rPr>
                        <m:t>𝒒𝒖𝒂𝒏𝒕𝒊𝒕𝒚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563" y="620688"/>
                <a:ext cx="296510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1268761"/>
          <a:ext cx="9125668" cy="55892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1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1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1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1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6539">
                <a:tc>
                  <a:txBody>
                    <a:bodyPr/>
                    <a:lstStyle/>
                    <a:p>
                      <a:r>
                        <a:rPr lang="en-AU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Cost per 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  <a:r>
                        <a:rPr lang="en-AU" baseline="0" dirty="0"/>
                        <a:t> per 100g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Cost per</a:t>
                      </a:r>
                      <a:r>
                        <a:rPr lang="en-AU" baseline="0" dirty="0"/>
                        <a:t> kilogram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032"/>
          <a:stretch/>
        </p:blipFill>
        <p:spPr bwMode="auto">
          <a:xfrm>
            <a:off x="1524001" y="1844825"/>
            <a:ext cx="733425" cy="1210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258"/>
          <a:stretch/>
        </p:blipFill>
        <p:spPr bwMode="auto">
          <a:xfrm>
            <a:off x="2257426" y="1844823"/>
            <a:ext cx="1522095" cy="1210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4" y="2341912"/>
            <a:ext cx="648072" cy="51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/>
          <p:cNvGrpSpPr>
            <a:grpSpLocks noChangeAspect="1"/>
          </p:cNvGrpSpPr>
          <p:nvPr/>
        </p:nvGrpSpPr>
        <p:grpSpPr>
          <a:xfrm>
            <a:off x="1541665" y="3106402"/>
            <a:ext cx="2209153" cy="1154703"/>
            <a:chOff x="-468560" y="1324759"/>
            <a:chExt cx="5377342" cy="2810684"/>
          </a:xfrm>
        </p:grpSpPr>
        <p:pic>
          <p:nvPicPr>
            <p:cNvPr id="12" name="Picture 6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6609" b="14219"/>
            <a:stretch/>
          </p:blipFill>
          <p:spPr bwMode="auto">
            <a:xfrm>
              <a:off x="-468560" y="1324759"/>
              <a:ext cx="1929432" cy="28106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6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99" t="-1" r="309" b="-1275"/>
            <a:stretch/>
          </p:blipFill>
          <p:spPr bwMode="auto">
            <a:xfrm>
              <a:off x="1423026" y="1324762"/>
              <a:ext cx="3485756" cy="2810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14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5643" y="2582461"/>
              <a:ext cx="1577485" cy="110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" name="Group 18"/>
          <p:cNvGrpSpPr>
            <a:grpSpLocks noChangeAspect="1"/>
          </p:cNvGrpSpPr>
          <p:nvPr/>
        </p:nvGrpSpPr>
        <p:grpSpPr>
          <a:xfrm>
            <a:off x="1559496" y="5621742"/>
            <a:ext cx="2160240" cy="892629"/>
            <a:chOff x="912738" y="3532196"/>
            <a:chExt cx="4452815" cy="1839939"/>
          </a:xfrm>
        </p:grpSpPr>
        <p:pic>
          <p:nvPicPr>
            <p:cNvPr id="20" name="Picture 19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994" r="66497" b="37357"/>
            <a:stretch/>
          </p:blipFill>
          <p:spPr bwMode="auto">
            <a:xfrm>
              <a:off x="912738" y="3532196"/>
              <a:ext cx="3018838" cy="1839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21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911" t="7531" r="29175" b="41587"/>
            <a:stretch/>
          </p:blipFill>
          <p:spPr bwMode="auto">
            <a:xfrm>
              <a:off x="3931576" y="3532196"/>
              <a:ext cx="1433977" cy="1812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976115" y="1904836"/>
                <a:ext cx="1288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÷400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𝑔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115" y="1904836"/>
                <a:ext cx="1288301" cy="369332"/>
              </a:xfrm>
              <a:prstGeom prst="rect">
                <a:avLst/>
              </a:prstGeom>
              <a:blipFill>
                <a:blip r:embed="rId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863752" y="2564950"/>
                <a:ext cx="2130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=$0.0125</m:t>
                    </m:r>
                  </m:oMath>
                </a14:m>
                <a:r>
                  <a:rPr lang="en-AU" dirty="0"/>
                  <a:t> per gram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52" y="2564950"/>
                <a:ext cx="2130776" cy="369332"/>
              </a:xfrm>
              <a:prstGeom prst="rect">
                <a:avLst/>
              </a:prstGeom>
              <a:blipFill>
                <a:blip r:embed="rId10"/>
                <a:stretch>
                  <a:fillRect t="-10000" r="-1719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424325" y="1915770"/>
                <a:ext cx="169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$0.0125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×100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325" y="1915770"/>
                <a:ext cx="169629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248464" y="2567093"/>
                <a:ext cx="18549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=$1.25</m:t>
                    </m:r>
                  </m:oMath>
                </a14:m>
                <a:r>
                  <a:rPr lang="en-AU" dirty="0"/>
                  <a:t> per 100g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64" y="2567093"/>
                <a:ext cx="1854995" cy="369332"/>
              </a:xfrm>
              <a:prstGeom prst="rect">
                <a:avLst/>
              </a:prstGeom>
              <a:blipFill>
                <a:blip r:embed="rId12"/>
                <a:stretch>
                  <a:fillRect t="-8197" r="-2303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8704235" y="1888949"/>
                <a:ext cx="18245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$0.0125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×1000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235" y="1888949"/>
                <a:ext cx="182453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544273" y="2564950"/>
                <a:ext cx="19062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=$12.50</m:t>
                    </m:r>
                  </m:oMath>
                </a14:m>
                <a:r>
                  <a:rPr lang="en-AU" dirty="0"/>
                  <a:t> per 1 kg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273" y="2564950"/>
                <a:ext cx="1906291" cy="369332"/>
              </a:xfrm>
              <a:prstGeom prst="rect">
                <a:avLst/>
              </a:prstGeom>
              <a:blipFill>
                <a:blip r:embed="rId14"/>
                <a:stretch>
                  <a:fillRect t="-10000" r="-192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1541664" y="882298"/>
            <a:ext cx="250568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AU" b="1" dirty="0"/>
              <a:t>The first is done for you: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982985" y="3189971"/>
                <a:ext cx="15928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</a:rPr>
                        <m:t>$1.95</m:t>
                      </m:r>
                      <m:r>
                        <a:rPr lang="en-A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÷300</m:t>
                      </m:r>
                      <m:r>
                        <a:rPr lang="en-A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𝑔</m:t>
                      </m:r>
                    </m:oMath>
                  </m:oMathPara>
                </a14:m>
                <a:endParaRPr lang="en-AU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985" y="3189971"/>
                <a:ext cx="1592872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870623" y="3850085"/>
                <a:ext cx="2130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</a:rPr>
                      <m:t>=$0.0065</m:t>
                    </m:r>
                  </m:oMath>
                </a14:m>
                <a:r>
                  <a:rPr lang="en-AU" dirty="0">
                    <a:solidFill>
                      <a:schemeClr val="tx2">
                        <a:lumMod val="75000"/>
                      </a:schemeClr>
                    </a:solidFill>
                  </a:rPr>
                  <a:t> per gram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623" y="3850085"/>
                <a:ext cx="2130776" cy="369332"/>
              </a:xfrm>
              <a:prstGeom prst="rect">
                <a:avLst/>
              </a:prstGeom>
              <a:blipFill>
                <a:blip r:embed="rId16"/>
                <a:stretch>
                  <a:fillRect t="-10000" r="-1719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431196" y="3200905"/>
                <a:ext cx="169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</a:rPr>
                        <m:t>$0.0065</m:t>
                      </m:r>
                      <m:r>
                        <a:rPr lang="en-A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×100</m:t>
                      </m:r>
                    </m:oMath>
                  </m:oMathPara>
                </a14:m>
                <a:endParaRPr lang="en-AU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1196" y="3200905"/>
                <a:ext cx="169629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255335" y="3852228"/>
                <a:ext cx="18549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</a:rPr>
                      <m:t>=$0.65</m:t>
                    </m:r>
                  </m:oMath>
                </a14:m>
                <a:r>
                  <a:rPr lang="en-AU" dirty="0">
                    <a:solidFill>
                      <a:schemeClr val="tx2">
                        <a:lumMod val="75000"/>
                      </a:schemeClr>
                    </a:solidFill>
                  </a:rPr>
                  <a:t> per 100g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335" y="3852228"/>
                <a:ext cx="1854995" cy="369332"/>
              </a:xfrm>
              <a:prstGeom prst="rect">
                <a:avLst/>
              </a:prstGeom>
              <a:blipFill>
                <a:blip r:embed="rId18"/>
                <a:stretch>
                  <a:fillRect t="-9836" r="-2303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8711106" y="3174084"/>
                <a:ext cx="18245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</a:rPr>
                        <m:t>$0.0065</m:t>
                      </m:r>
                      <m:r>
                        <a:rPr lang="en-A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×1000</m:t>
                      </m:r>
                    </m:oMath>
                  </m:oMathPara>
                </a14:m>
                <a:endParaRPr lang="en-AU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1106" y="3174084"/>
                <a:ext cx="182453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8551144" y="3850085"/>
                <a:ext cx="17780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</a:rPr>
                      <m:t>=$6.50</m:t>
                    </m:r>
                  </m:oMath>
                </a14:m>
                <a:r>
                  <a:rPr lang="en-AU" dirty="0">
                    <a:solidFill>
                      <a:schemeClr val="tx2">
                        <a:lumMod val="75000"/>
                      </a:schemeClr>
                    </a:solidFill>
                  </a:rPr>
                  <a:t> per 1 kg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144" y="3850085"/>
                <a:ext cx="1778051" cy="369332"/>
              </a:xfrm>
              <a:prstGeom prst="rect">
                <a:avLst/>
              </a:prstGeom>
              <a:blipFill>
                <a:blip r:embed="rId20"/>
                <a:stretch>
                  <a:fillRect t="-10000" r="-2062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951756" y="4438631"/>
                <a:ext cx="15928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$3.50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÷500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𝑔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756" y="4438631"/>
                <a:ext cx="1592872" cy="369332"/>
              </a:xfrm>
              <a:prstGeom prst="rect">
                <a:avLst/>
              </a:prstGeom>
              <a:blipFill>
                <a:blip r:embed="rId2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839394" y="5098745"/>
                <a:ext cx="18053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=$0.007</m:t>
                    </m:r>
                  </m:oMath>
                </a14:m>
                <a:r>
                  <a:rPr lang="en-AU" dirty="0"/>
                  <a:t> per mL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394" y="5098745"/>
                <a:ext cx="1805302" cy="369332"/>
              </a:xfrm>
              <a:prstGeom prst="rect">
                <a:avLst/>
              </a:prstGeom>
              <a:blipFill>
                <a:blip r:embed="rId22"/>
                <a:stretch>
                  <a:fillRect t="-8197" r="-202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6399967" y="4449565"/>
                <a:ext cx="15680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$0.007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×100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967" y="4449565"/>
                <a:ext cx="1568058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224106" y="5100888"/>
                <a:ext cx="20281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=$0.70</m:t>
                    </m:r>
                  </m:oMath>
                </a14:m>
                <a:r>
                  <a:rPr lang="en-AU" dirty="0"/>
                  <a:t> per 100mL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106" y="5100888"/>
                <a:ext cx="2028119" cy="369332"/>
              </a:xfrm>
              <a:prstGeom prst="rect">
                <a:avLst/>
              </a:prstGeom>
              <a:blipFill>
                <a:blip r:embed="rId24"/>
                <a:stretch>
                  <a:fillRect t="-10000" r="-1802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8679877" y="4422744"/>
                <a:ext cx="169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$0.007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×1000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877" y="4422744"/>
                <a:ext cx="1696298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8519915" y="5098745"/>
                <a:ext cx="1662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=$7.00</m:t>
                    </m:r>
                  </m:oMath>
                </a14:m>
                <a:r>
                  <a:rPr lang="en-AU" dirty="0"/>
                  <a:t> per </a:t>
                </a:r>
                <a:r>
                  <a:rPr lang="en-AU"/>
                  <a:t>1 L</a:t>
                </a:r>
                <a:endParaRPr lang="en-AU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915" y="5098745"/>
                <a:ext cx="1662635" cy="369332"/>
              </a:xfrm>
              <a:prstGeom prst="rect">
                <a:avLst/>
              </a:prstGeom>
              <a:blipFill>
                <a:blip r:embed="rId26"/>
                <a:stretch>
                  <a:fillRect t="-8197" r="-2206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982985" y="5721214"/>
                <a:ext cx="14646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</a:rPr>
                        <m:t>$1.50</m:t>
                      </m:r>
                      <m:r>
                        <a:rPr lang="en-A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÷50</m:t>
                      </m:r>
                      <m:r>
                        <a:rPr lang="en-A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𝑔</m:t>
                      </m:r>
                    </m:oMath>
                  </m:oMathPara>
                </a14:m>
                <a:endParaRPr lang="en-AU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985" y="5721214"/>
                <a:ext cx="1464632" cy="369332"/>
              </a:xfrm>
              <a:prstGeom prst="rect">
                <a:avLst/>
              </a:prstGeom>
              <a:blipFill>
                <a:blip r:embed="rId2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870623" y="6381328"/>
                <a:ext cx="18742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</a:rPr>
                      <m:t>=$0.03</m:t>
                    </m:r>
                  </m:oMath>
                </a14:m>
                <a:r>
                  <a:rPr lang="en-AU" dirty="0">
                    <a:solidFill>
                      <a:schemeClr val="tx2">
                        <a:lumMod val="75000"/>
                      </a:schemeClr>
                    </a:solidFill>
                  </a:rPr>
                  <a:t> per gram</a:t>
                </a: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623" y="6381328"/>
                <a:ext cx="1874296" cy="369332"/>
              </a:xfrm>
              <a:prstGeom prst="rect">
                <a:avLst/>
              </a:prstGeom>
              <a:blipFill>
                <a:blip r:embed="rId28"/>
                <a:stretch>
                  <a:fillRect t="-10000" r="-1954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431196" y="5732148"/>
                <a:ext cx="14398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</a:rPr>
                        <m:t>$0.03</m:t>
                      </m:r>
                      <m:r>
                        <a:rPr lang="en-A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×100</m:t>
                      </m:r>
                    </m:oMath>
                  </m:oMathPara>
                </a14:m>
                <a:endParaRPr lang="en-AU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1196" y="5732148"/>
                <a:ext cx="1439818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255335" y="6383471"/>
                <a:ext cx="18549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</a:rPr>
                      <m:t>=$3.00</m:t>
                    </m:r>
                  </m:oMath>
                </a14:m>
                <a:r>
                  <a:rPr lang="en-AU" dirty="0">
                    <a:solidFill>
                      <a:schemeClr val="tx2">
                        <a:lumMod val="75000"/>
                      </a:schemeClr>
                    </a:solidFill>
                  </a:rPr>
                  <a:t> per 100g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335" y="6383471"/>
                <a:ext cx="1854995" cy="369332"/>
              </a:xfrm>
              <a:prstGeom prst="rect">
                <a:avLst/>
              </a:prstGeom>
              <a:blipFill>
                <a:blip r:embed="rId30"/>
                <a:stretch>
                  <a:fillRect t="-8197" r="-2303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8711106" y="5705327"/>
                <a:ext cx="15680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</a:rPr>
                        <m:t>$0.03</m:t>
                      </m:r>
                      <m:r>
                        <a:rPr lang="en-A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×1000</m:t>
                      </m:r>
                    </m:oMath>
                  </m:oMathPara>
                </a14:m>
                <a:endParaRPr lang="en-AU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1106" y="5705327"/>
                <a:ext cx="1568058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8551144" y="6381328"/>
                <a:ext cx="19062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</a:rPr>
                      <m:t>=$30.00</m:t>
                    </m:r>
                  </m:oMath>
                </a14:m>
                <a:r>
                  <a:rPr lang="en-AU" dirty="0">
                    <a:solidFill>
                      <a:schemeClr val="tx2">
                        <a:lumMod val="75000"/>
                      </a:schemeClr>
                    </a:solidFill>
                  </a:rPr>
                  <a:t> per 1 kg</a:t>
                </a: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144" y="6381328"/>
                <a:ext cx="1906291" cy="369332"/>
              </a:xfrm>
              <a:prstGeom prst="rect">
                <a:avLst/>
              </a:prstGeom>
              <a:blipFill>
                <a:blip r:embed="rId32"/>
                <a:stretch>
                  <a:fillRect t="-10000" r="-192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/>
          <p:cNvGrpSpPr>
            <a:grpSpLocks noChangeAspect="1"/>
          </p:cNvGrpSpPr>
          <p:nvPr/>
        </p:nvGrpSpPr>
        <p:grpSpPr>
          <a:xfrm>
            <a:off x="1541664" y="4373976"/>
            <a:ext cx="2039826" cy="1096245"/>
            <a:chOff x="647700" y="2260300"/>
            <a:chExt cx="5231954" cy="2811760"/>
          </a:xfrm>
        </p:grpSpPr>
        <p:pic>
          <p:nvPicPr>
            <p:cNvPr id="49" name="Picture 7"/>
            <p:cNvPicPr>
              <a:picLocks noChangeAspect="1" noChangeArrowheads="1"/>
            </p:cNvPicPr>
            <p:nvPr/>
          </p:nvPicPr>
          <p:blipFill rotWithShape="1"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210" r="85249"/>
            <a:stretch/>
          </p:blipFill>
          <p:spPr bwMode="auto">
            <a:xfrm>
              <a:off x="647700" y="2285765"/>
              <a:ext cx="1157771" cy="2786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" name="Picture 7"/>
            <p:cNvPicPr>
              <a:picLocks noChangeAspect="1" noChangeArrowheads="1"/>
            </p:cNvPicPr>
            <p:nvPr/>
          </p:nvPicPr>
          <p:blipFill rotWithShape="1"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909" t="5624" r="2179" b="14414"/>
            <a:stretch/>
          </p:blipFill>
          <p:spPr bwMode="auto">
            <a:xfrm>
              <a:off x="1805471" y="2260300"/>
              <a:ext cx="4074183" cy="2788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" name="Picture 14"/>
            <p:cNvPicPr>
              <a:picLocks noChangeAspect="1" noChangeArrowheads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1122" y="3506957"/>
              <a:ext cx="1969896" cy="1316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" name="Title 1"/>
          <p:cNvSpPr>
            <a:spLocks noGrp="1"/>
          </p:cNvSpPr>
          <p:nvPr>
            <p:ph type="title"/>
          </p:nvPr>
        </p:nvSpPr>
        <p:spPr>
          <a:xfrm>
            <a:off x="2567609" y="-7651"/>
            <a:ext cx="8100391" cy="700347"/>
          </a:xfrm>
        </p:spPr>
        <p:txBody>
          <a:bodyPr>
            <a:normAutofit fontScale="90000"/>
          </a:bodyPr>
          <a:lstStyle/>
          <a:p>
            <a:r>
              <a:rPr lang="en-AU" dirty="0"/>
              <a:t>Calculate prices for the same quantity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D0D6F5A-8C0B-2A47-8ED2-7B5CABB847B1}"/>
              </a:ext>
            </a:extLst>
          </p:cNvPr>
          <p:cNvSpPr/>
          <p:nvPr/>
        </p:nvSpPr>
        <p:spPr>
          <a:xfrm>
            <a:off x="1524000" y="0"/>
            <a:ext cx="1187624" cy="69269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/>
              <a:t>Practice:</a:t>
            </a:r>
          </a:p>
        </p:txBody>
      </p:sp>
    </p:spTree>
    <p:extLst>
      <p:ext uri="{BB962C8B-B14F-4D97-AF65-F5344CB8AC3E}">
        <p14:creationId xmlns:p14="http://schemas.microsoft.com/office/powerpoint/2010/main" val="333749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CB126-5402-49D0-A7AC-AE7D948B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Perimeter is the </a:t>
            </a:r>
            <a:r>
              <a:rPr lang="en-US" sz="3200" b="1" dirty="0">
                <a:solidFill>
                  <a:srgbClr val="FF0000"/>
                </a:solidFill>
              </a:rPr>
              <a:t>boundary</a:t>
            </a:r>
            <a:r>
              <a:rPr lang="en-US" sz="3200" dirty="0">
                <a:solidFill>
                  <a:srgbClr val="FF0000"/>
                </a:solidFill>
              </a:rPr>
              <a:t> forming the shape </a:t>
            </a:r>
          </a:p>
          <a:p>
            <a:pPr>
              <a:buFontTx/>
              <a:buChar char="-"/>
            </a:pPr>
            <a:r>
              <a:rPr lang="en-US" sz="2400" dirty="0"/>
              <a:t>Calculate by Adding ALL the sides </a:t>
            </a:r>
          </a:p>
          <a:p>
            <a:pPr>
              <a:buFontTx/>
              <a:buChar char="-"/>
            </a:pPr>
            <a:endParaRPr lang="en-US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Area is the space </a:t>
            </a:r>
            <a:r>
              <a:rPr lang="en-US" sz="3200" b="1" i="1" dirty="0">
                <a:solidFill>
                  <a:srgbClr val="FF0000"/>
                </a:solidFill>
              </a:rPr>
              <a:t>inside</a:t>
            </a:r>
            <a:r>
              <a:rPr lang="en-US" sz="3200" dirty="0">
                <a:solidFill>
                  <a:srgbClr val="FF0000"/>
                </a:solidFill>
              </a:rPr>
              <a:t> a 2D shape</a:t>
            </a:r>
          </a:p>
          <a:p>
            <a:pPr>
              <a:buFontTx/>
              <a:buChar char="-"/>
            </a:pPr>
            <a:r>
              <a:rPr lang="en-US" sz="2400" dirty="0"/>
              <a:t>Specific formula for different shapes</a:t>
            </a:r>
          </a:p>
          <a:p>
            <a:pPr>
              <a:buFontTx/>
              <a:buChar char="-"/>
            </a:pPr>
            <a:endParaRPr lang="en-US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Volume is the amount of </a:t>
            </a:r>
            <a:r>
              <a:rPr lang="en-US" sz="3200" b="1" dirty="0">
                <a:solidFill>
                  <a:srgbClr val="FF0000"/>
                </a:solidFill>
              </a:rPr>
              <a:t>space</a:t>
            </a:r>
            <a:r>
              <a:rPr lang="en-US" sz="3200" dirty="0">
                <a:solidFill>
                  <a:srgbClr val="FF0000"/>
                </a:solidFill>
              </a:rPr>
              <a:t> inside a 3D shape 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- </a:t>
            </a:r>
            <a:r>
              <a:rPr lang="en-US" sz="2400" dirty="0"/>
              <a:t>Calculate using specific formula  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66396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E032B-ABC7-4ED6-97AF-38B99FD0D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Perimeter is the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boundary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forming the shape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Calculate by Adding ALL the sides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Area is the space 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inside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a 2D shape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Specific formula for different shapes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Volume is the amount of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space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inside a 3D shape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-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Calculate using specific formula  </a:t>
            </a:r>
            <a:endParaRPr kumimoji="0" lang="en-A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BA8B5F-D317-4EF4-9EB1-8561CB08EDE0}"/>
              </a:ext>
            </a:extLst>
          </p:cNvPr>
          <p:cNvSpPr/>
          <p:nvPr/>
        </p:nvSpPr>
        <p:spPr>
          <a:xfrm>
            <a:off x="3595456" y="766354"/>
            <a:ext cx="2210540" cy="479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E12C5B-BEC7-483B-9DAD-CE6826CD3D77}"/>
              </a:ext>
            </a:extLst>
          </p:cNvPr>
          <p:cNvSpPr/>
          <p:nvPr/>
        </p:nvSpPr>
        <p:spPr>
          <a:xfrm>
            <a:off x="3867119" y="2318094"/>
            <a:ext cx="1459483" cy="479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D1CDC9-A702-4C08-87B2-B2357C9A8AC3}"/>
              </a:ext>
            </a:extLst>
          </p:cNvPr>
          <p:cNvSpPr/>
          <p:nvPr/>
        </p:nvSpPr>
        <p:spPr>
          <a:xfrm>
            <a:off x="5326602" y="3939794"/>
            <a:ext cx="1384916" cy="479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920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01779D-1558-4996-8A05-DAC95B07E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907" y="766354"/>
            <a:ext cx="3786778" cy="590441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Perimeter (add all sides)</a:t>
            </a:r>
            <a:endParaRPr lang="en-AU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53D24F73-02E2-4191-BA73-0852F6185AAA}"/>
              </a:ext>
            </a:extLst>
          </p:cNvPr>
          <p:cNvSpPr txBox="1">
            <a:spLocks/>
          </p:cNvSpPr>
          <p:nvPr/>
        </p:nvSpPr>
        <p:spPr>
          <a:xfrm>
            <a:off x="3941685" y="766354"/>
            <a:ext cx="3786778" cy="5904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Area (use formula)</a:t>
            </a:r>
            <a:endParaRPr lang="en-AU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2457A0BB-D645-4E80-9AC9-CBFBBE7F1F6A}"/>
              </a:ext>
            </a:extLst>
          </p:cNvPr>
          <p:cNvSpPr txBox="1">
            <a:spLocks/>
          </p:cNvSpPr>
          <p:nvPr/>
        </p:nvSpPr>
        <p:spPr>
          <a:xfrm>
            <a:off x="8250315" y="766354"/>
            <a:ext cx="3786778" cy="5904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dirty="0"/>
              <a:t>Volume (Use formula)</a:t>
            </a:r>
            <a:endParaRPr lang="en-AU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0BBFD6B-E61A-46AA-B689-DFC587571938}"/>
              </a:ext>
            </a:extLst>
          </p:cNvPr>
          <p:cNvSpPr/>
          <p:nvPr/>
        </p:nvSpPr>
        <p:spPr>
          <a:xfrm>
            <a:off x="985421" y="1793289"/>
            <a:ext cx="2183907" cy="14115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5969B9-CD13-48E5-A380-609D9120E3EC}"/>
              </a:ext>
            </a:extLst>
          </p:cNvPr>
          <p:cNvSpPr/>
          <p:nvPr/>
        </p:nvSpPr>
        <p:spPr>
          <a:xfrm>
            <a:off x="745724" y="4231774"/>
            <a:ext cx="3018408" cy="1732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E354408-E40B-4E8F-AAFD-2B65FB425DEC}"/>
              </a:ext>
            </a:extLst>
          </p:cNvPr>
          <p:cNvSpPr/>
          <p:nvPr/>
        </p:nvSpPr>
        <p:spPr>
          <a:xfrm>
            <a:off x="5011896" y="1793289"/>
            <a:ext cx="2183907" cy="14115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EEFE35-8BAD-4431-A408-5FDFA04AA64B}"/>
              </a:ext>
            </a:extLst>
          </p:cNvPr>
          <p:cNvSpPr/>
          <p:nvPr/>
        </p:nvSpPr>
        <p:spPr>
          <a:xfrm>
            <a:off x="4772199" y="4231774"/>
            <a:ext cx="3018408" cy="17327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AD3086-6A3E-4402-9B71-01031236E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825" y="2166937"/>
            <a:ext cx="4067175" cy="25241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253CFB-0A54-4CCE-8E27-549D96F025F1}"/>
              </a:ext>
            </a:extLst>
          </p:cNvPr>
          <p:cNvSpPr txBox="1"/>
          <p:nvPr/>
        </p:nvSpPr>
        <p:spPr>
          <a:xfrm>
            <a:off x="836258" y="2103982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5cm</a:t>
            </a:r>
            <a:endParaRPr lang="en-AU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65006F5-88FA-4894-AD30-7756A9884823}"/>
                  </a:ext>
                </a:extLst>
              </p14:cNvPr>
              <p14:cNvContentPartPr/>
              <p14:nvPr/>
            </p14:nvContentPartPr>
            <p14:xfrm>
              <a:off x="1561953" y="2378908"/>
              <a:ext cx="111240" cy="37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65006F5-88FA-4894-AD30-7756A98848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6313" y="2343268"/>
                <a:ext cx="18288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944C0FA-5E7B-46AD-B457-277197293210}"/>
                  </a:ext>
                </a:extLst>
              </p14:cNvPr>
              <p14:cNvContentPartPr/>
              <p14:nvPr/>
            </p14:nvContentPartPr>
            <p14:xfrm>
              <a:off x="2518113" y="2334628"/>
              <a:ext cx="100800" cy="99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944C0FA-5E7B-46AD-B457-2771972932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82113" y="2298628"/>
                <a:ext cx="172440" cy="171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0837FFE-BBCE-4042-8065-23878E01F4E9}"/>
              </a:ext>
            </a:extLst>
          </p:cNvPr>
          <p:cNvSpPr txBox="1"/>
          <p:nvPr/>
        </p:nvSpPr>
        <p:spPr>
          <a:xfrm>
            <a:off x="1754194" y="3167878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7cm</a:t>
            </a:r>
            <a:endParaRPr lang="en-AU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CC1066-65AF-4719-A0B9-B69E270E27D8}"/>
              </a:ext>
            </a:extLst>
          </p:cNvPr>
          <p:cNvSpPr txBox="1"/>
          <p:nvPr/>
        </p:nvSpPr>
        <p:spPr>
          <a:xfrm>
            <a:off x="26633" y="4870966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7cm</a:t>
            </a:r>
            <a:endParaRPr lang="en-AU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515B94-BB46-4ED4-95DC-7B6F25DB0C2D}"/>
              </a:ext>
            </a:extLst>
          </p:cNvPr>
          <p:cNvSpPr txBox="1"/>
          <p:nvPr/>
        </p:nvSpPr>
        <p:spPr>
          <a:xfrm>
            <a:off x="1895810" y="5899408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11cm</a:t>
            </a:r>
            <a:endParaRPr lang="en-AU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FA0E42-775E-4FFF-82CF-909D010898F7}"/>
              </a:ext>
            </a:extLst>
          </p:cNvPr>
          <p:cNvSpPr txBox="1"/>
          <p:nvPr/>
        </p:nvSpPr>
        <p:spPr>
          <a:xfrm>
            <a:off x="5881448" y="3167852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8cm</a:t>
            </a:r>
            <a:endParaRPr lang="en-AU" sz="2400" b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48FE26-555F-47D1-90A7-443A08EAB3B3}"/>
              </a:ext>
            </a:extLst>
          </p:cNvPr>
          <p:cNvCxnSpPr/>
          <p:nvPr/>
        </p:nvCxnSpPr>
        <p:spPr>
          <a:xfrm flipV="1">
            <a:off x="4799687" y="1793289"/>
            <a:ext cx="0" cy="14115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0DE302F-3CF6-4DD2-A0D8-FC90028B67EB}"/>
              </a:ext>
            </a:extLst>
          </p:cNvPr>
          <p:cNvSpPr txBox="1"/>
          <p:nvPr/>
        </p:nvSpPr>
        <p:spPr>
          <a:xfrm>
            <a:off x="4119238" y="2165513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9cm</a:t>
            </a:r>
            <a:endParaRPr lang="en-AU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FFCB41-F1F5-435D-9775-62A3F4BA416F}"/>
              </a:ext>
            </a:extLst>
          </p:cNvPr>
          <p:cNvSpPr txBox="1"/>
          <p:nvPr/>
        </p:nvSpPr>
        <p:spPr>
          <a:xfrm>
            <a:off x="6018261" y="5899408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11cm</a:t>
            </a:r>
            <a:endParaRPr lang="en-AU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B50846-F815-42D8-8843-327BC9137BBE}"/>
              </a:ext>
            </a:extLst>
          </p:cNvPr>
          <p:cNvSpPr txBox="1"/>
          <p:nvPr/>
        </p:nvSpPr>
        <p:spPr>
          <a:xfrm>
            <a:off x="4772199" y="4835486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7cm</a:t>
            </a:r>
            <a:endParaRPr lang="en-AU" sz="2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5D3A30-9233-4C5F-B11E-AD722BD884BC}"/>
              </a:ext>
            </a:extLst>
          </p:cNvPr>
          <p:cNvSpPr txBox="1"/>
          <p:nvPr/>
        </p:nvSpPr>
        <p:spPr>
          <a:xfrm>
            <a:off x="5110222" y="1228400"/>
            <a:ext cx="1987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0.5 x b x h</a:t>
            </a:r>
            <a:endParaRPr lang="en-AU" sz="2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2FD6D9-3CDE-4DE2-B617-029AEA62F497}"/>
              </a:ext>
            </a:extLst>
          </p:cNvPr>
          <p:cNvSpPr txBox="1"/>
          <p:nvPr/>
        </p:nvSpPr>
        <p:spPr>
          <a:xfrm>
            <a:off x="5343015" y="3795504"/>
            <a:ext cx="1987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 b x h</a:t>
            </a:r>
            <a:endParaRPr lang="en-AU" sz="2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7EEB3E-0800-40A0-81C9-35841650C329}"/>
              </a:ext>
            </a:extLst>
          </p:cNvPr>
          <p:cNvSpPr txBox="1"/>
          <p:nvPr/>
        </p:nvSpPr>
        <p:spPr>
          <a:xfrm>
            <a:off x="8937977" y="1703848"/>
            <a:ext cx="1987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l x b x h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156092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F138CD-1144-4A9C-BDD8-C45EB6AE5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Perimeter and area 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AF581D8A-877A-40C7-8D99-6F9D77BF0E31}"/>
              </a:ext>
            </a:extLst>
          </p:cNvPr>
          <p:cNvSpPr/>
          <p:nvPr/>
        </p:nvSpPr>
        <p:spPr>
          <a:xfrm>
            <a:off x="1384916" y="2157274"/>
            <a:ext cx="3000653" cy="312494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D599B5-B315-4BDA-B30C-94526F4D6F45}"/>
              </a:ext>
            </a:extLst>
          </p:cNvPr>
          <p:cNvSpPr/>
          <p:nvPr/>
        </p:nvSpPr>
        <p:spPr>
          <a:xfrm>
            <a:off x="6471821" y="2361460"/>
            <a:ext cx="5015884" cy="3116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E4C48-E56F-4464-813B-3F074A865716}"/>
              </a:ext>
            </a:extLst>
          </p:cNvPr>
          <p:cNvSpPr txBox="1"/>
          <p:nvPr/>
        </p:nvSpPr>
        <p:spPr>
          <a:xfrm>
            <a:off x="191589" y="1899795"/>
            <a:ext cx="1987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0.5 x b x h</a:t>
            </a:r>
            <a:endParaRPr lang="en-AU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579ECE-F085-42B5-A901-3B562B1BC292}"/>
              </a:ext>
            </a:extLst>
          </p:cNvPr>
          <p:cNvSpPr txBox="1"/>
          <p:nvPr/>
        </p:nvSpPr>
        <p:spPr>
          <a:xfrm>
            <a:off x="9595419" y="439744"/>
            <a:ext cx="1987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 b x h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44AFF-9E57-4739-8534-71A5EFDD8018}"/>
              </a:ext>
            </a:extLst>
          </p:cNvPr>
          <p:cNvSpPr txBox="1"/>
          <p:nvPr/>
        </p:nvSpPr>
        <p:spPr>
          <a:xfrm>
            <a:off x="8872316" y="5477522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20m</a:t>
            </a:r>
            <a:endParaRPr lang="en-A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B6DDBB-7C5D-42FE-98DA-08E0D47F5A75}"/>
              </a:ext>
            </a:extLst>
          </p:cNvPr>
          <p:cNvSpPr txBox="1"/>
          <p:nvPr/>
        </p:nvSpPr>
        <p:spPr>
          <a:xfrm>
            <a:off x="5675791" y="3813156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12m</a:t>
            </a:r>
            <a:endParaRPr lang="en-AU" sz="24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84FA24-20F7-408D-8361-AD8AB51CCB62}"/>
              </a:ext>
            </a:extLst>
          </p:cNvPr>
          <p:cNvCxnSpPr>
            <a:cxnSpLocks/>
          </p:cNvCxnSpPr>
          <p:nvPr/>
        </p:nvCxnSpPr>
        <p:spPr>
          <a:xfrm flipV="1">
            <a:off x="2882111" y="2361460"/>
            <a:ext cx="0" cy="29207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308BF15-D4D4-4DDB-BF48-13C5CDB6B48A}"/>
              </a:ext>
            </a:extLst>
          </p:cNvPr>
          <p:cNvSpPr txBox="1"/>
          <p:nvPr/>
        </p:nvSpPr>
        <p:spPr>
          <a:xfrm>
            <a:off x="1948022" y="4057514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15mm</a:t>
            </a:r>
            <a:endParaRPr lang="en-AU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C7CD65-86C6-4599-AB21-0E446A7321FA}"/>
              </a:ext>
            </a:extLst>
          </p:cNvPr>
          <p:cNvSpPr txBox="1"/>
          <p:nvPr/>
        </p:nvSpPr>
        <p:spPr>
          <a:xfrm>
            <a:off x="2507658" y="5377991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22mm</a:t>
            </a:r>
            <a:endParaRPr lang="en-AU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9E17BA-D64C-4E88-9087-E9B0B24BDA9D}"/>
              </a:ext>
            </a:extLst>
          </p:cNvPr>
          <p:cNvSpPr txBox="1"/>
          <p:nvPr/>
        </p:nvSpPr>
        <p:spPr>
          <a:xfrm>
            <a:off x="1180531" y="3398806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25mm</a:t>
            </a:r>
            <a:endParaRPr lang="en-AU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99C0EAA-FAEE-4C7F-85AF-403757FD4598}"/>
                  </a:ext>
                </a:extLst>
              </p14:cNvPr>
              <p14:cNvContentPartPr/>
              <p14:nvPr/>
            </p14:nvContentPartPr>
            <p14:xfrm>
              <a:off x="2156673" y="3355228"/>
              <a:ext cx="166320" cy="127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99C0EAA-FAEE-4C7F-85AF-403757FD45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21033" y="3319588"/>
                <a:ext cx="23796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B1EB020-DD41-454D-A0B5-5CF7F686B5E1}"/>
                  </a:ext>
                </a:extLst>
              </p14:cNvPr>
              <p14:cNvContentPartPr/>
              <p14:nvPr/>
            </p14:nvContentPartPr>
            <p14:xfrm>
              <a:off x="3384993" y="3301948"/>
              <a:ext cx="175320" cy="145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B1EB020-DD41-454D-A0B5-5CF7F686B5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48993" y="3266308"/>
                <a:ext cx="246960" cy="21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8790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F138CD-1144-4A9C-BDD8-C45EB6AE5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pic>
        <p:nvPicPr>
          <p:cNvPr id="3" name="Picture 2" descr="Calculating the Volume of a Pyramid - Mr-Mathematics.com">
            <a:extLst>
              <a:ext uri="{FF2B5EF4-FFF2-40B4-BE49-F238E27FC236}">
                <a16:creationId xmlns:a16="http://schemas.microsoft.com/office/drawing/2014/main" id="{6A50F343-15F4-4EE3-9A97-66900D63C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71" y="1959850"/>
            <a:ext cx="9803253" cy="3192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393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4D52DB-069F-4224-A82B-49140C94E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63" y="766353"/>
            <a:ext cx="11845504" cy="590441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Whiteboards </a:t>
            </a:r>
            <a:endParaRPr lang="en-AU" sz="2800" dirty="0"/>
          </a:p>
        </p:txBody>
      </p:sp>
      <p:pic>
        <p:nvPicPr>
          <p:cNvPr id="2050" name="Picture 2" descr="Volume of a Cuboid - GCSE Maths - Steps, Examples &amp; Worksheet">
            <a:extLst>
              <a:ext uri="{FF2B5EF4-FFF2-40B4-BE49-F238E27FC236}">
                <a16:creationId xmlns:a16="http://schemas.microsoft.com/office/drawing/2014/main" id="{88DF86E7-030C-4D69-B935-368288FBE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71" y="2396971"/>
            <a:ext cx="3649681" cy="2635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3F0893-2EB3-463C-8B00-9D5EC08F0EAA}"/>
              </a:ext>
            </a:extLst>
          </p:cNvPr>
          <p:cNvSpPr txBox="1"/>
          <p:nvPr/>
        </p:nvSpPr>
        <p:spPr>
          <a:xfrm>
            <a:off x="1535837" y="1544100"/>
            <a:ext cx="2290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Volume? </a:t>
            </a:r>
            <a:endParaRPr lang="en-AU" sz="2000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2619048-0020-4FB9-9F4B-06B40D2A9054}"/>
              </a:ext>
            </a:extLst>
          </p:cNvPr>
          <p:cNvSpPr/>
          <p:nvPr/>
        </p:nvSpPr>
        <p:spPr>
          <a:xfrm>
            <a:off x="4704651" y="2077375"/>
            <a:ext cx="3000653" cy="3124940"/>
          </a:xfrm>
          <a:prstGeom prst="triangl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B8DB42-A959-417D-BCFB-4A6257C2786F}"/>
              </a:ext>
            </a:extLst>
          </p:cNvPr>
          <p:cNvSpPr/>
          <p:nvPr/>
        </p:nvSpPr>
        <p:spPr>
          <a:xfrm rot="5400000">
            <a:off x="7633768" y="2237173"/>
            <a:ext cx="5015884" cy="311606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95C00C-7B4E-4443-A43C-5D1D5FD4B525}"/>
              </a:ext>
            </a:extLst>
          </p:cNvPr>
          <p:cNvCxnSpPr>
            <a:cxnSpLocks/>
          </p:cNvCxnSpPr>
          <p:nvPr/>
        </p:nvCxnSpPr>
        <p:spPr>
          <a:xfrm flipV="1">
            <a:off x="6202360" y="2281561"/>
            <a:ext cx="0" cy="292075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01BF5C0-B346-49DD-A3E5-8F5F7A319739}"/>
              </a:ext>
            </a:extLst>
          </p:cNvPr>
          <p:cNvSpPr txBox="1"/>
          <p:nvPr/>
        </p:nvSpPr>
        <p:spPr>
          <a:xfrm>
            <a:off x="5372897" y="3795204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12m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38AEE4-4A46-4D78-9D5B-D914E2B532FF}"/>
              </a:ext>
            </a:extLst>
          </p:cNvPr>
          <p:cNvSpPr txBox="1"/>
          <p:nvPr/>
        </p:nvSpPr>
        <p:spPr>
          <a:xfrm>
            <a:off x="5946814" y="5244041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14m</a:t>
            </a:r>
            <a:endParaRPr lang="en-AU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CD7594-F53C-4618-9ED7-072546C2A588}"/>
              </a:ext>
            </a:extLst>
          </p:cNvPr>
          <p:cNvSpPr txBox="1"/>
          <p:nvPr/>
        </p:nvSpPr>
        <p:spPr>
          <a:xfrm>
            <a:off x="4855460" y="2831963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15m</a:t>
            </a:r>
            <a:endParaRPr lang="en-AU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26792-EE81-4E1E-B8DD-F00C4204D582}"/>
              </a:ext>
            </a:extLst>
          </p:cNvPr>
          <p:cNvSpPr txBox="1"/>
          <p:nvPr/>
        </p:nvSpPr>
        <p:spPr>
          <a:xfrm>
            <a:off x="6769222" y="2849758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15m</a:t>
            </a:r>
            <a:endParaRPr lang="en-AU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2D4B4E-F04D-4AEF-919E-EA14E3689006}"/>
              </a:ext>
            </a:extLst>
          </p:cNvPr>
          <p:cNvSpPr txBox="1"/>
          <p:nvPr/>
        </p:nvSpPr>
        <p:spPr>
          <a:xfrm>
            <a:off x="9861155" y="825597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9m</a:t>
            </a:r>
            <a:endParaRPr lang="en-AU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355822-E76A-4F2C-AE3F-D9D104719A52}"/>
              </a:ext>
            </a:extLst>
          </p:cNvPr>
          <p:cNvSpPr txBox="1"/>
          <p:nvPr/>
        </p:nvSpPr>
        <p:spPr>
          <a:xfrm>
            <a:off x="8630512" y="3333539"/>
            <a:ext cx="144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10m</a:t>
            </a:r>
            <a:endParaRPr lang="en-AU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B52C69-BED6-4635-82EE-504A82D3BC2C}"/>
              </a:ext>
            </a:extLst>
          </p:cNvPr>
          <p:cNvSpPr txBox="1"/>
          <p:nvPr/>
        </p:nvSpPr>
        <p:spPr>
          <a:xfrm>
            <a:off x="5102373" y="5860814"/>
            <a:ext cx="1987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0.5 x b x h</a:t>
            </a:r>
            <a:endParaRPr lang="en-AU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0D0D0A-479F-4ED9-B36D-2DF133F2942A}"/>
              </a:ext>
            </a:extLst>
          </p:cNvPr>
          <p:cNvSpPr txBox="1"/>
          <p:nvPr/>
        </p:nvSpPr>
        <p:spPr>
          <a:xfrm>
            <a:off x="9396575" y="2346424"/>
            <a:ext cx="1987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=  b x h</a:t>
            </a:r>
            <a:endParaRPr lang="en-AU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6D6F5E-D115-42C3-AAEE-1261E03E7529}"/>
              </a:ext>
            </a:extLst>
          </p:cNvPr>
          <p:cNvSpPr/>
          <p:nvPr/>
        </p:nvSpPr>
        <p:spPr>
          <a:xfrm>
            <a:off x="4667203" y="1447805"/>
            <a:ext cx="3116062" cy="515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022883-D1DE-40C4-9B79-8145C34E3CE9}"/>
              </a:ext>
            </a:extLst>
          </p:cNvPr>
          <p:cNvSpPr/>
          <p:nvPr/>
        </p:nvSpPr>
        <p:spPr>
          <a:xfrm>
            <a:off x="8534767" y="919645"/>
            <a:ext cx="3254905" cy="53734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019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0FD9-EF8E-4417-BC6B-D4E564F4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difference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5EA1E-7B1F-4E99-9011-B023F9605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dirty="0">
                <a:solidFill>
                  <a:srgbClr val="FF0000"/>
                </a:solidFill>
              </a:rPr>
              <a:t>Theoretical probability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FF0000"/>
                </a:solidFill>
              </a:rPr>
              <a:t>What is expected to occur as a result of an experiment/trial – as a fraction.</a:t>
            </a:r>
          </a:p>
          <a:p>
            <a:pPr marL="0" indent="0" algn="ctr">
              <a:buNone/>
            </a:pPr>
            <a:r>
              <a:rPr lang="en-AU" dirty="0">
                <a:solidFill>
                  <a:srgbClr val="FF0000"/>
                </a:solidFill>
              </a:rPr>
              <a:t>(What we think should happen)</a:t>
            </a:r>
          </a:p>
          <a:p>
            <a:pPr marL="0" indent="0" algn="ctr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FF0000"/>
                </a:solidFill>
              </a:rPr>
              <a:t>Experimental probability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The number of times that it occurred when the experiment was conducted. 		(What actually happens) </a:t>
            </a:r>
          </a:p>
          <a:p>
            <a:pPr marL="0" indent="0" algn="ctr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7270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0FD9-EF8E-4417-BC6B-D4E564F4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difference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5EA1E-7B1F-4E99-9011-B023F9605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dirty="0">
                <a:solidFill>
                  <a:srgbClr val="FF0000"/>
                </a:solidFill>
              </a:rPr>
              <a:t>Theoretical probability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FF0000"/>
                </a:solidFill>
              </a:rPr>
              <a:t>What is expected to occur as a result of an experiment/trial – as a fraction.</a:t>
            </a:r>
          </a:p>
          <a:p>
            <a:pPr marL="0" indent="0" algn="ctr">
              <a:buNone/>
            </a:pPr>
            <a:r>
              <a:rPr lang="en-AU" dirty="0">
                <a:solidFill>
                  <a:srgbClr val="FF0000"/>
                </a:solidFill>
              </a:rPr>
              <a:t>(What we think should happen)</a:t>
            </a:r>
          </a:p>
          <a:p>
            <a:pPr marL="0" indent="0" algn="ctr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FF0000"/>
                </a:solidFill>
              </a:rPr>
              <a:t>Experimental probability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The number of times that it occurred when the experiment was conducted. 		(What actually happens) </a:t>
            </a:r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14D3EA-C787-46C3-96F4-A41C34852D37}"/>
              </a:ext>
            </a:extLst>
          </p:cNvPr>
          <p:cNvSpPr/>
          <p:nvPr/>
        </p:nvSpPr>
        <p:spPr>
          <a:xfrm>
            <a:off x="3739298" y="3429000"/>
            <a:ext cx="4713403" cy="4083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6290BA-B247-4808-B49C-36691D8CD342}"/>
              </a:ext>
            </a:extLst>
          </p:cNvPr>
          <p:cNvSpPr/>
          <p:nvPr/>
        </p:nvSpPr>
        <p:spPr>
          <a:xfrm>
            <a:off x="3996965" y="5440748"/>
            <a:ext cx="4843363" cy="4083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5067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F4F75-854E-49D9-850F-98A2DB2E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Vocabulary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64E9A-0EC6-4484-8333-357BAD514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Probability</a:t>
            </a:r>
            <a:r>
              <a:rPr lang="en-US" sz="3200" dirty="0"/>
              <a:t> – expressed as a ratio describing the # of ________ outcomes to the # of ________ outcomes. Probability is measured on a scale from 0 – 1.</a:t>
            </a:r>
          </a:p>
          <a:p>
            <a:pPr marL="0" indent="0">
              <a:buNone/>
            </a:pPr>
            <a:r>
              <a:rPr lang="en-US" sz="3200" b="1" dirty="0"/>
              <a:t>Theoretical probability</a:t>
            </a:r>
            <a:r>
              <a:rPr lang="en-US" sz="3200" dirty="0"/>
              <a:t> – the probability, based on ________, that an event will occur. (what should happen) 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Experimental probability </a:t>
            </a:r>
            <a:r>
              <a:rPr lang="en-US" sz="3200" dirty="0"/>
              <a:t>– found using outcomes obtained in an actual __________ or game (what actually happens) </a:t>
            </a:r>
          </a:p>
          <a:p>
            <a:pPr marL="0" indent="0">
              <a:buNone/>
            </a:pPr>
            <a:endParaRPr lang="en-AU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F0EF29-79FC-4738-836F-B6C250445684}"/>
              </a:ext>
            </a:extLst>
          </p:cNvPr>
          <p:cNvSpPr txBox="1"/>
          <p:nvPr/>
        </p:nvSpPr>
        <p:spPr>
          <a:xfrm>
            <a:off x="913615" y="2262433"/>
            <a:ext cx="169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favorable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9FEEB-6BF5-4B9B-8C68-A9EF809B1608}"/>
              </a:ext>
            </a:extLst>
          </p:cNvPr>
          <p:cNvSpPr txBox="1"/>
          <p:nvPr/>
        </p:nvSpPr>
        <p:spPr>
          <a:xfrm>
            <a:off x="6260184" y="2262433"/>
            <a:ext cx="169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total 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4E298-0011-4BF6-A8FA-28AD4D73987E}"/>
              </a:ext>
            </a:extLst>
          </p:cNvPr>
          <p:cNvSpPr txBox="1"/>
          <p:nvPr/>
        </p:nvSpPr>
        <p:spPr>
          <a:xfrm>
            <a:off x="9399309" y="3282099"/>
            <a:ext cx="169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Math</a:t>
            </a:r>
            <a:endParaRPr lang="en-AU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D37B98-5C6A-4E20-ADF1-36A838C6692A}"/>
              </a:ext>
            </a:extLst>
          </p:cNvPr>
          <p:cNvSpPr txBox="1"/>
          <p:nvPr/>
        </p:nvSpPr>
        <p:spPr>
          <a:xfrm>
            <a:off x="2403836" y="4686693"/>
            <a:ext cx="2132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experiment </a:t>
            </a:r>
            <a:endParaRPr lang="en-AU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21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586594" y="228600"/>
          <a:ext cx="5029200" cy="53249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42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6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1580">
                <a:tc gridSpan="2">
                  <a:txBody>
                    <a:bodyPr/>
                    <a:lstStyle/>
                    <a:p>
                      <a:r>
                        <a:rPr lang="en-US" sz="2100" b="1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TRIAL</a:t>
                      </a:r>
                      <a:r>
                        <a:rPr lang="en-US" sz="21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 #2:  Rolling  a Number Cube</a:t>
                      </a:r>
                    </a:p>
                    <a:p>
                      <a:r>
                        <a:rPr lang="en-US" sz="1800" b="0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Out of 20 trials, how many times will an </a:t>
                      </a:r>
                      <a:r>
                        <a:rPr lang="en-US" sz="1800" b="1" i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odd number  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occur– P (odd #)?</a:t>
                      </a:r>
                      <a:endParaRPr lang="en-US" sz="18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endParaRPr lang="en-US" sz="18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 marL="68580" marR="68580" marT="34290" marB="3429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4549">
                <a:tc>
                  <a:txBody>
                    <a:bodyPr/>
                    <a:lstStyle/>
                    <a:p>
                      <a:pPr marL="457200" indent="-457200">
                        <a:buAutoNum type="arabicParenR"/>
                      </a:pP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What do we need to  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       know?</a:t>
                      </a:r>
                    </a:p>
                    <a:p>
                      <a:endParaRPr lang="en-US" sz="18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# of odd #’s: _____</a:t>
                      </a:r>
                    </a:p>
                    <a:p>
                      <a:endParaRPr lang="en-US" sz="18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total # of sides: _____  </a:t>
                      </a:r>
                    </a:p>
                    <a:p>
                      <a:endParaRPr lang="en-US" sz="18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 marL="68580" marR="68580" marT="34290" marB="3429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2)   </a:t>
                      </a:r>
                    </a:p>
                    <a:p>
                      <a:pPr algn="ctr"/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Theoretical Probability:</a:t>
                      </a:r>
                    </a:p>
                  </a:txBody>
                  <a:tcPr marL="68580" marR="68580" marT="34290" marB="3429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8820">
                <a:tc>
                  <a:txBody>
                    <a:bodyPr/>
                    <a:lstStyle/>
                    <a:p>
                      <a:pPr marL="457200" indent="-457200">
                        <a:buAutoNum type="arabicParenR" startAt="3"/>
                      </a:pP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Do the experiment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      (20 trials):</a:t>
                      </a:r>
                    </a:p>
                    <a:p>
                      <a:endParaRPr lang="en-US" sz="18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endParaRPr lang="en-US" sz="18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endParaRPr lang="en-US" sz="18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 marL="68580" marR="68580" marT="34290" marB="3429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4)   </a:t>
                      </a:r>
                    </a:p>
                    <a:p>
                      <a:pPr algn="ctr"/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Arial Rounded MT Bold" pitchFamily="34" charset="0"/>
                          <a:ea typeface="Adobe Gothic Std B" pitchFamily="34" charset="-128"/>
                        </a:rPr>
                        <a:t>Experimental Probability:</a:t>
                      </a:r>
                    </a:p>
                    <a:p>
                      <a:pPr algn="ctr"/>
                      <a:endParaRPr lang="en-US" sz="18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pPr algn="ctr"/>
                      <a:endParaRPr lang="en-US" sz="18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pPr algn="ctr"/>
                      <a:endParaRPr lang="en-US" sz="18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  <a:p>
                      <a:pPr algn="ctr"/>
                      <a:endParaRPr lang="en-US" sz="1800" b="1" baseline="0" dirty="0">
                        <a:solidFill>
                          <a:schemeClr val="tx1"/>
                        </a:solidFill>
                        <a:latin typeface="Arial Rounded MT Bold" pitchFamily="34" charset="0"/>
                        <a:ea typeface="Adobe Gothic Std B" pitchFamily="34" charset="-128"/>
                      </a:endParaRPr>
                    </a:p>
                  </a:txBody>
                  <a:tcPr marL="68580" marR="68580" marT="34290" marB="3429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064" y="4243096"/>
          <a:ext cx="2838980" cy="800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38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8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68580" marR="68580" marT="34290" marB="34290"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77927" y="2204359"/>
            <a:ext cx="207601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(what </a:t>
            </a:r>
            <a:r>
              <a:rPr kumimoji="0" lang="en-US" sz="13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should 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 happen)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887" y="4359730"/>
            <a:ext cx="22250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(what </a:t>
            </a:r>
            <a:r>
              <a:rPr kumimoji="0" lang="en-US" sz="13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actually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 happens)</a:t>
            </a:r>
          </a:p>
        </p:txBody>
      </p:sp>
      <p:pic>
        <p:nvPicPr>
          <p:cNvPr id="7" name="Picture 6" descr="dic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53100" y="5657850"/>
            <a:ext cx="1025323" cy="8572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2558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6EC20D-1F9C-440A-8941-1A42959B6AF5}"/>
                  </a:ext>
                </a:extLst>
              </p:cNvPr>
              <p:cNvSpPr txBox="1"/>
              <p:nvPr/>
            </p:nvSpPr>
            <p:spPr>
              <a:xfrm>
                <a:off x="779701" y="3174791"/>
                <a:ext cx="11522278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Experimental probability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𝑭𝒓𝒆𝒒𝒖𝒆𝒏𝒄𝒚</m:t>
                        </m:r>
                        <m: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𝒐𝒇</m:t>
                        </m:r>
                        <m: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𝒆𝒗𝒆𝒏𝒕</m:t>
                        </m:r>
                        <m: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𝒕𝒐𝒕𝒂𝒍</m:t>
                        </m:r>
                        <m: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𝒏𝒖𝒎𝒃𝒆𝒓</m:t>
                        </m:r>
                        <m: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𝒐𝒇</m:t>
                        </m:r>
                        <m: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AU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𝒕𝒓𝒊𝒂𝒍𝒔</m:t>
                        </m:r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F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</m:den>
                    </m:f>
                  </m:oMath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Frequency: the number of times something has occurred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Total # of trials = Sum of all frequencies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6EC20D-1F9C-440A-8941-1A42959B6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01" y="3174791"/>
                <a:ext cx="11522278" cy="2542234"/>
              </a:xfrm>
              <a:prstGeom prst="rect">
                <a:avLst/>
              </a:prstGeom>
              <a:blipFill>
                <a:blip r:embed="rId2"/>
                <a:stretch>
                  <a:fillRect l="-1111" b="-59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B1C6AB-50D6-4512-974B-50FF376E0137}"/>
                  </a:ext>
                </a:extLst>
              </p:cNvPr>
              <p:cNvSpPr txBox="1"/>
              <p:nvPr/>
            </p:nvSpPr>
            <p:spPr>
              <a:xfrm>
                <a:off x="779701" y="1392973"/>
                <a:ext cx="11013230" cy="11148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𝑷</m:t>
                      </m:r>
                      <m:d>
                        <m:dPr>
                          <m:ctrlP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𝒆𝒗𝒆𝒏𝒕</m:t>
                          </m:r>
                        </m:e>
                      </m:d>
                      <m:r>
                        <a:rPr kumimoji="0" lang="en-AU" sz="32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𝑵𝒖𝒎𝒃𝒆𝒓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𝒐𝒇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𝒇𝒂𝒗𝒐𝒖𝒓𝒂𝒃𝒍𝒆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𝒐𝒖𝒕𝒄𝒐𝒎𝒆𝒔</m:t>
                          </m:r>
                        </m:num>
                        <m:den>
                          <m:r>
                            <a:rPr kumimoji="0" lang="en-US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𝑻𝒐𝒕𝒂𝒍</m:t>
                          </m:r>
                          <m:r>
                            <a:rPr kumimoji="0" lang="en-US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# 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𝒐𝒇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F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𝒐𝒖𝒕𝒄𝒐𝒎𝒆𝒔</m:t>
                          </m:r>
                        </m:den>
                      </m:f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B1C6AB-50D6-4512-974B-50FF376E0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01" y="1392973"/>
                <a:ext cx="11013230" cy="11148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8430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B1B2-403F-47F9-A0B8-7C5CF086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Identifying the frequency and the # of trials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8A8B13-098C-418F-B0DA-3692B50FAF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n-AU" dirty="0"/>
                  <a:t>Joe cast his line in 34 times, he caught 18 fish. </a:t>
                </a:r>
              </a:p>
              <a:p>
                <a:pPr marL="514350" indent="-514350">
                  <a:buAutoNum type="arabicPeriod"/>
                </a:pPr>
                <a:endParaRPr lang="en-AU" dirty="0"/>
              </a:p>
              <a:p>
                <a:pPr marL="514350" indent="-514350">
                  <a:buAutoNum type="arabicPeriod"/>
                </a:pPr>
                <a:endParaRPr lang="en-AU" dirty="0"/>
              </a:p>
              <a:p>
                <a:pPr marL="514350" indent="-514350">
                  <a:buAutoNum type="arabicPeriod"/>
                </a:pPr>
                <a:endParaRPr lang="en-AU" dirty="0"/>
              </a:p>
              <a:p>
                <a:pPr marL="514350" indent="-514350">
                  <a:buAutoNum type="arabicPeriod"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What is the probability of Joe catching a fish on his next cast? </a:t>
                </a:r>
              </a:p>
              <a:p>
                <a:pPr marL="0" indent="0">
                  <a:buNone/>
                </a:pPr>
                <a:r>
                  <a:rPr lang="en-AU" dirty="0"/>
                  <a:t>P(fish)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34 </m:t>
                        </m:r>
                      </m:den>
                    </m:f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8A8B13-098C-418F-B0DA-3692B50FAF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69FABC5-A74A-412E-B8CD-74886D8F5FF1}"/>
              </a:ext>
            </a:extLst>
          </p:cNvPr>
          <p:cNvSpPr txBox="1"/>
          <p:nvPr/>
        </p:nvSpPr>
        <p:spPr>
          <a:xfrm>
            <a:off x="1899822" y="3315354"/>
            <a:ext cx="2343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trials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38E6B-9E6E-442A-8E78-E6D0D664D8B1}"/>
              </a:ext>
            </a:extLst>
          </p:cNvPr>
          <p:cNvSpPr txBox="1"/>
          <p:nvPr/>
        </p:nvSpPr>
        <p:spPr>
          <a:xfrm>
            <a:off x="7165760" y="3429000"/>
            <a:ext cx="1580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Frequency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D135F7-ABBF-48A7-8F9E-895CFB0AF1D8}"/>
              </a:ext>
            </a:extLst>
          </p:cNvPr>
          <p:cNvCxnSpPr>
            <a:stCxn id="6" idx="0"/>
          </p:cNvCxnSpPr>
          <p:nvPr/>
        </p:nvCxnSpPr>
        <p:spPr>
          <a:xfrm flipV="1">
            <a:off x="3071778" y="2246050"/>
            <a:ext cx="1011950" cy="10693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1FAFBF-C95F-4BA2-846C-09FD47D22F7E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7292791" y="2246050"/>
            <a:ext cx="663282" cy="11829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19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53A3-6390-45AC-9440-EE2E75F0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 books: SKETCH TABLE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34E3B-F474-4502-A606-0A25FBE8C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Counting types of cars coming into a parking zone, Tommy counted 10 red cards, 22 white cars, 5 blue cars and 3 black cars. </a:t>
            </a:r>
          </a:p>
          <a:p>
            <a:pPr marL="514350" indent="-514350">
              <a:buAutoNum type="arabicPeriod"/>
            </a:pPr>
            <a:r>
              <a:rPr lang="en-US" dirty="0"/>
              <a:t>What is the experimental probability for each </a:t>
            </a:r>
            <a:r>
              <a:rPr lang="en-US" dirty="0" err="1"/>
              <a:t>coloured</a:t>
            </a:r>
            <a:r>
              <a:rPr lang="en-US" dirty="0"/>
              <a:t> car?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AU" dirty="0"/>
              <a:t>What is </a:t>
            </a:r>
            <a:r>
              <a:rPr lang="en-AU"/>
              <a:t>the probability of the next car being red? </a:t>
            </a: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59C259A-7EFA-462C-957A-89F796D48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160075"/>
              </p:ext>
            </p:extLst>
          </p:nvPr>
        </p:nvGraphicFramePr>
        <p:xfrm>
          <a:off x="1845569" y="3399823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1982060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205113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19138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Car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colour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Frequency 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Experimental probability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179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4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83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0067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85B681-A883-4816-B936-525062783534}"/>
              </a:ext>
            </a:extLst>
          </p:cNvPr>
          <p:cNvSpPr txBox="1"/>
          <p:nvPr/>
        </p:nvSpPr>
        <p:spPr>
          <a:xfrm>
            <a:off x="9346081" y="681037"/>
            <a:ext cx="2733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highlight>
                  <a:srgbClr val="FFFF00"/>
                </a:highlight>
              </a:rPr>
              <a:t> whiteboards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19210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4C1A-21A6-4703-8A3B-08148506B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Continue with activity sheet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1D012-7118-4783-95DB-ED06FFB49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4200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8225" y="400050"/>
            <a:ext cx="5143500" cy="4039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A bag contains 7 blue, 5 purple, 12 red, and 6 orange marbles.  Find each probability if you draw one marble at random from the bag.  Write as a fraction in simplest form.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a)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P(purple)   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b)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P(red or orange)    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c)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P(not blue)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2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You roll a standard number cube (six sides numbered 1 – 6).  After one roll, answer the following: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3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a)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P(3 or 4)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           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b)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P(even #)            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c)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P(not 2)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38550" y="0"/>
            <a:ext cx="485775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owcard Gothic" pitchFamily="82" charset="0"/>
                <a:ea typeface="Cambria Math" pitchFamily="18" charset="0"/>
                <a:cs typeface="Arial" pitchFamily="34" charset="0"/>
              </a:rPr>
              <a:t>SAMPLE Probability Questions:</a:t>
            </a:r>
          </a:p>
        </p:txBody>
      </p:sp>
      <p:pic>
        <p:nvPicPr>
          <p:cNvPr id="3074" name="Picture 2" descr="http://t2.gstatic.com/images?q=tbn:ANd9GcTvw2SK78hLsjCLpTGEAGfT5kcXnMadsibAANDPxORb7kM-8TmfhA:www.shmoop.com/images/prealgebra/unit5/pa.5.107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8" r="6812" b="12832"/>
          <a:stretch/>
        </p:blipFill>
        <p:spPr bwMode="auto">
          <a:xfrm>
            <a:off x="7562606" y="1233820"/>
            <a:ext cx="1620028" cy="795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ic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12240" y="4400550"/>
            <a:ext cx="664514" cy="555587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24300" y="2128969"/>
                <a:ext cx="809837" cy="3954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𝟑𝟎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𝟔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300" y="2128969"/>
                <a:ext cx="809837" cy="395493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49383" y="2128969"/>
                <a:ext cx="809837" cy="392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𝟏𝟖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𝟑𝟎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𝟑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383" y="2128969"/>
                <a:ext cx="809837" cy="3924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859338" y="2128969"/>
                <a:ext cx="513282" cy="482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𝟐𝟑</m:t>
                          </m:r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</m:num>
                        <m:den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𝟑𝟎</m:t>
                          </m:r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338" y="2128969"/>
                <a:ext cx="513282" cy="482633"/>
              </a:xfrm>
              <a:prstGeom prst="rect">
                <a:avLst/>
              </a:prstGeom>
              <a:blipFill>
                <a:blip r:embed="rId7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528691" y="4060979"/>
                <a:ext cx="734496" cy="39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𝟔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𝟑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691" y="4060979"/>
                <a:ext cx="734496" cy="3924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340463" y="4060979"/>
                <a:ext cx="734496" cy="39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𝟑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𝟔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463" y="4060979"/>
                <a:ext cx="734496" cy="39241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409438" y="4111595"/>
                <a:ext cx="409086" cy="4868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</m:t>
                          </m:r>
                        </m:num>
                        <m:den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𝟔</m:t>
                          </m:r>
                          <m:r>
                            <a:rPr kumimoji="0" lang="en-US" sz="135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438" y="4111595"/>
                <a:ext cx="409086" cy="486865"/>
              </a:xfrm>
              <a:prstGeom prst="rect">
                <a:avLst/>
              </a:prstGeom>
              <a:blipFill>
                <a:blip r:embed="rId10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151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24250" y="114300"/>
            <a:ext cx="5143500" cy="5470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3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Fill in the following information about a standard deck of cards: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3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TOTAL # of Cards:	_____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# of Hearts(♥):  	_____		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# of Diamonds(♦):	_____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# of Clubs(♣):	_____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# of Spades(♠):	_____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# of Red Cards:	_____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# of Black Cards:	_____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Cards in Each Suit:  _______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Now, given the above, answer the following: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a)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P(Ace)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b)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P(red card)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c)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P(Red King)   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d)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P(Club)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</p:txBody>
      </p:sp>
      <p:pic>
        <p:nvPicPr>
          <p:cNvPr id="4" name="Picture 3" descr="card suit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96101" y="1035698"/>
            <a:ext cx="1455575" cy="24952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97217" y="3416575"/>
            <a:ext cx="37382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 pitchFamily="18" charset="0"/>
                <a:ea typeface="+mn-ea"/>
                <a:cs typeface="+mn-cs"/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24300" y="4238578"/>
                <a:ext cx="771365" cy="39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𝟒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𝟓𝟐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𝟏𝟑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300" y="4238578"/>
                <a:ext cx="771365" cy="3924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120733" y="4238577"/>
                <a:ext cx="809837" cy="392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𝟐𝟔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𝟓𝟐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733" y="4238577"/>
                <a:ext cx="809837" cy="392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506760" y="4238528"/>
                <a:ext cx="798617" cy="392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𝟓𝟐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𝟐𝟔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760" y="4238528"/>
                <a:ext cx="798617" cy="3924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750750" y="4250736"/>
                <a:ext cx="723275" cy="392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𝟏𝟑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𝟓𝟐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𝟒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750" y="4250736"/>
                <a:ext cx="723275" cy="3924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77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19889" y="171450"/>
            <a:ext cx="5029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4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Given the spinner to the right, answer the following: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4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4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4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4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a)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  P(5)	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b)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P(odd #)	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c)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  P(2 or an odd #)</a:t>
            </a:r>
          </a:p>
        </p:txBody>
      </p:sp>
      <p:pic>
        <p:nvPicPr>
          <p:cNvPr id="3" name="Picture 2" descr="http://www.future-edge.com/blackboard/MathM3E312/images/spinn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53250" y="650470"/>
            <a:ext cx="1543050" cy="1546908"/>
          </a:xfrm>
          <a:prstGeom prst="rect">
            <a:avLst/>
          </a:prstGeom>
          <a:noFill/>
        </p:spPr>
      </p:pic>
      <p:pic>
        <p:nvPicPr>
          <p:cNvPr id="4" name="Picture 2" descr="http://t2.gstatic.com/images?q=tbn:ANd9GcQJdOzJntXyvNSf1Pxu-snpWAHry-bbbydnnRTgVvJMzNeLrL1J:school.discoveryeducation.com/clipart/images/ani_thinkingcap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798" y="4816928"/>
            <a:ext cx="1314450" cy="192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093707" y="2800351"/>
                <a:ext cx="679994" cy="39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𝟒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𝟏𝟐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or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𝟑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707" y="2800351"/>
                <a:ext cx="679994" cy="3924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65307" y="2788192"/>
                <a:ext cx="679994" cy="392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𝟖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𝟏𝟐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or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𝟑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307" y="2788192"/>
                <a:ext cx="679994" cy="3924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124700" y="2788191"/>
                <a:ext cx="679994" cy="3954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𝟏𝟎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𝟏𝟐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or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𝟔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700" y="2788191"/>
                <a:ext cx="679994" cy="395493"/>
              </a:xfrm>
              <a:prstGeom prst="rect">
                <a:avLst/>
              </a:prstGeom>
              <a:blipFill>
                <a:blip r:embed="rId6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11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743" y="1"/>
            <a:ext cx="5119007" cy="385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owcard Gothic" pitchFamily="82" charset="0"/>
                <a:ea typeface="Cambria Math" pitchFamily="18" charset="0"/>
                <a:cs typeface="Arial" pitchFamily="34" charset="0"/>
              </a:rPr>
              <a:t>Sample “Experimental” Probability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5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Mike was practicing basketball shots.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Out of 24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attempts, he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made 21 baskets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. 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Based on this rate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, what is the probability that Mike’s next shot will go in the basket?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Jane was throwing darts.  Out of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12 attempts, 3 were bulls-eyes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.  If Jane were to make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36 attempts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, how many </a:t>
            </a:r>
            <a:r>
              <a:rPr kumimoji="0" lang="en-US" sz="13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should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  be bulls-eyes?   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</p:txBody>
      </p:sp>
      <p:pic>
        <p:nvPicPr>
          <p:cNvPr id="6146" name="Picture 2" descr="http://t2.gstatic.com/images?q=tbn:ANd9GcSaJ9XDTqBkx-v0FnKzfcCyOcfay0hq7L31N5FSf9Gu9EjsgJq4:clipartpin.com/clipart_file/basketball-hoop-clipart-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1433" y="1088059"/>
            <a:ext cx="1535906" cy="1678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t3.gstatic.com/images?q=tbn:ANd9GcQNPAF6LJx8pMIwNqz9Rr-YaMQyxMbwBqNtreePt0ZC0W2lPfVn:www.clipartbest.com/cliparts/pT5/7K7/pT57K76TB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569" y="4914900"/>
            <a:ext cx="1450181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704595" y="1731692"/>
                <a:ext cx="766557" cy="3915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𝟐𝟏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𝟐𝟒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𝟕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𝟖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595" y="1731692"/>
                <a:ext cx="766557" cy="391517"/>
              </a:xfrm>
              <a:prstGeom prst="rect">
                <a:avLst/>
              </a:prstGeom>
              <a:blipFill>
                <a:blip r:embed="rId4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850058" y="3704859"/>
            <a:ext cx="2792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ckwell" panose="02060603020205020403" pitchFamily="18" charset="0"/>
                <a:ea typeface="+mn-ea"/>
                <a:cs typeface="+mn-c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1660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24250" y="3179014"/>
            <a:ext cx="5143500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8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The spinner shown has 5 sections of equal size.  The arrow of this spinner was spun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20 times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and landed on the section labeled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“R” 7 times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.  Compare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the </a:t>
            </a:r>
            <a:r>
              <a:rPr kumimoji="0" lang="en-US" sz="13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theoretical probability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with the </a:t>
            </a:r>
            <a:r>
              <a:rPr kumimoji="0" lang="en-US" sz="13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experimental probability 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of the spinner landing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    on “R.”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8743" y="0"/>
            <a:ext cx="4972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7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A coin was flipped fifty times.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Out of 50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, it landed on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 heads 30 times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.  What is the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experimental probability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that the coin will land on heads on the next toss?  How is this different from the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theoretical probability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06" t="13741" r="34678" b="16583"/>
          <a:stretch/>
        </p:blipFill>
        <p:spPr bwMode="auto">
          <a:xfrm>
            <a:off x="6956752" y="5050194"/>
            <a:ext cx="1543047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 descr="http://t3.gstatic.com/images?q=tbn:ANd9GcSDMWi0rtdWuLRF85zVTlY4xpZQviDK39rtOwO9q31rSLJ8n5fZ2Q:scrabblesense.com/wp-content/uploads/2011/03/coin-fli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707" y="1481862"/>
            <a:ext cx="1493044" cy="1721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81400" y="1485900"/>
                <a:ext cx="3784681" cy="1681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Experimental Probability:</a:t>
                </a:r>
                <a14:m>
                  <m:oMath xmlns:m="http://schemas.openxmlformats.org/officeDocument/2006/math">
                    <m:r>
                      <a:rPr kumimoji="0" lang="en-US" sz="15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/>
                        <a:ea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0" lang="en-US" sz="15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f>
                      <m:fPr>
                        <m:ctrlPr>
                          <a:rPr kumimoji="0" lang="en-US" sz="15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5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𝟑𝟎</m:t>
                        </m:r>
                      </m:num>
                      <m:den>
                        <m:r>
                          <a:rPr kumimoji="0" lang="en-US" sz="15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𝟓𝟎</m:t>
                        </m:r>
                        <m:r>
                          <a:rPr kumimoji="0" lang="en-US" sz="15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5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5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5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Cambria Math" panose="02040503050406030204" pitchFamily="18" charset="0"/>
                            <a:cs typeface="+mn-cs"/>
                          </a:rPr>
                          <m:t>𝟑</m:t>
                        </m:r>
                      </m:num>
                      <m:den>
                        <m:r>
                          <a:rPr kumimoji="0" lang="en-US" sz="15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Cambria Math" panose="02040503050406030204" pitchFamily="18" charset="0"/>
                            <a:cs typeface="+mn-cs"/>
                          </a:rPr>
                          <m:t>𝟓</m:t>
                        </m:r>
                      </m:den>
                    </m:f>
                  </m:oMath>
                </a14:m>
                <a:endParaRPr kumimoji="0" lang="en-US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Theoretical Probability :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5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5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Cambria Math" panose="02040503050406030204" pitchFamily="18" charset="0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5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Cambria Math" panose="02040503050406030204" pitchFamily="18" charset="0"/>
                            <a:cs typeface="+mn-cs"/>
                          </a:rPr>
                          <m:t>𝟐</m:t>
                        </m:r>
                      </m:den>
                    </m:f>
                  </m:oMath>
                </a14:m>
                <a:r>
                  <a:rPr kumimoji="0" lang="en-US" sz="15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 </a:t>
                </a:r>
                <a14:m>
                  <m:oMath xmlns:m="http://schemas.openxmlformats.org/officeDocument/2006/math">
                    <m:r>
                      <a:rPr kumimoji="0" lang="en-US" sz="15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  </m:t>
                    </m:r>
                  </m:oMath>
                </a14:m>
                <a:endParaRPr kumimoji="0" lang="en-US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The experimental probability was greater than the theoretical probability.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1485900"/>
                <a:ext cx="3784681" cy="1681422"/>
              </a:xfrm>
              <a:prstGeom prst="rect">
                <a:avLst/>
              </a:prstGeom>
              <a:blipFill>
                <a:blip r:embed="rId4"/>
                <a:stretch>
                  <a:fillRect l="-645" b="-28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38550" y="5199613"/>
                <a:ext cx="3784681" cy="1681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Experimental Probability:</a:t>
                </a:r>
                <a14:m>
                  <m:oMath xmlns:m="http://schemas.openxmlformats.org/officeDocument/2006/math">
                    <m:r>
                      <a:rPr kumimoji="0" lang="en-US" sz="15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/>
                        <a:ea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0" lang="en-US" sz="15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f>
                      <m:fPr>
                        <m:ctrlPr>
                          <a:rPr kumimoji="0" lang="en-US" sz="15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5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Cambria Math" panose="02040503050406030204" pitchFamily="18" charset="0"/>
                            <a:cs typeface="+mn-cs"/>
                          </a:rPr>
                          <m:t>𝟕</m:t>
                        </m:r>
                      </m:num>
                      <m:den>
                        <m:r>
                          <a:rPr kumimoji="0" lang="en-US" sz="15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Cambria Math" panose="02040503050406030204" pitchFamily="18" charset="0"/>
                            <a:cs typeface="+mn-cs"/>
                          </a:rPr>
                          <m:t>𝟐𝟎</m:t>
                        </m:r>
                        <m:r>
                          <a:rPr kumimoji="0" lang="en-US" sz="15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5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Theoretical Probability :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5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5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Cambria Math" panose="02040503050406030204" pitchFamily="18" charset="0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5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Cambria Math" panose="02040503050406030204" pitchFamily="18" charset="0"/>
                            <a:cs typeface="+mn-cs"/>
                          </a:rPr>
                          <m:t>𝟓</m:t>
                        </m:r>
                      </m:den>
                    </m:f>
                  </m:oMath>
                </a14:m>
                <a:r>
                  <a:rPr kumimoji="0" lang="en-US" sz="15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 </a:t>
                </a:r>
                <a14:m>
                  <m:oMath xmlns:m="http://schemas.openxmlformats.org/officeDocument/2006/math">
                    <m:r>
                      <a:rPr kumimoji="0" lang="en-US" sz="15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  </m:t>
                    </m:r>
                  </m:oMath>
                </a14:m>
                <a:endParaRPr kumimoji="0" lang="en-US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The experimental probability was greater than the theoretical probability.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550" y="5199613"/>
                <a:ext cx="3784681" cy="1681422"/>
              </a:xfrm>
              <a:prstGeom prst="rect">
                <a:avLst/>
              </a:prstGeom>
              <a:blipFill>
                <a:blip r:embed="rId5"/>
                <a:stretch>
                  <a:fillRect l="-644" b="-28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26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9909" y="1"/>
            <a:ext cx="51435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9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The table shown depicts the results of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50 rolls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of a fair number cube numbered 1 – 6.  According the table, what was the </a:t>
            </a:r>
            <a:r>
              <a:rPr kumimoji="0" lang="en-US" sz="13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experimental probability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of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rolling a 3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10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The arrow of this spinner was spun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40 times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       On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25 out of 40 times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, the arrow landed on a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       section labeled with a multiple of 4.  What was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       the </a:t>
            </a:r>
            <a:r>
              <a:rPr kumimoji="0" lang="en-US" sz="13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experimental  probability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of the arrow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       landing on a section labeled with a multiple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       of 4?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7" t="11918" r="62815" b="34204"/>
          <a:stretch/>
        </p:blipFill>
        <p:spPr bwMode="auto">
          <a:xfrm>
            <a:off x="6624617" y="4572001"/>
            <a:ext cx="1955909" cy="1887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23" t="12879" r="31316" b="16074"/>
          <a:stretch/>
        </p:blipFill>
        <p:spPr bwMode="auto">
          <a:xfrm>
            <a:off x="8442398" y="1041213"/>
            <a:ext cx="2024471" cy="1799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dic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122377" y="387971"/>
            <a:ext cx="664514" cy="555587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37901" y="1312603"/>
                <a:ext cx="841897" cy="3955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𝟓𝟎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𝟏𝟎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901" y="1312603"/>
                <a:ext cx="841897" cy="395558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32045" y="5641555"/>
                <a:ext cx="766557" cy="3955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𝟐𝟓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𝟒𝟎</m:t>
                        </m:r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  </m:t>
                        </m:r>
                      </m:den>
                    </m:f>
                  </m:oMath>
                </a14:m>
                <a:r>
                  <a:rPr kumimoji="0" lang="en-US" sz="135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ckwell" panose="02060603020205020403" pitchFamily="18" charset="0"/>
                    <a:ea typeface="+mn-ea"/>
                    <a:cs typeface="+mn-cs"/>
                  </a:rPr>
                  <a:t>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𝟓</m:t>
                        </m:r>
                      </m:num>
                      <m:den>
                        <m:r>
                          <a:rPr kumimoji="0" lang="en-US" sz="135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𝟖</m:t>
                        </m:r>
                      </m:den>
                    </m:f>
                  </m:oMath>
                </a14:m>
                <a:endParaRPr kumimoji="0" lang="en-US" sz="135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ckwell" panose="02060603020205020403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045" y="5641555"/>
                <a:ext cx="766557" cy="395558"/>
              </a:xfrm>
              <a:prstGeom prst="rect">
                <a:avLst/>
              </a:prstGeom>
              <a:blipFill>
                <a:blip r:embed="rId6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108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95700" y="114300"/>
            <a:ext cx="4972050" cy="687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A bag contains 7 blue, 5 purple, 12 red, and 6 orange marbles.  Find 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each probability if you draw one marble at random from the bag.  Write as a fraction in simplest form.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a) 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P(purple)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        b)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P(red or orange)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 	c) 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P(not blue)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2)	You roll a standard number cube (six sides numbered 1 – 6).  After one roll, answer the following: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3"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a) 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P(3 or 4)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       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b) 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P(even #)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	c) 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P(not 2)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3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Fill in the following information about a standard deck of cards: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3"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TOTAL # of Cards:	_____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# of Hearts(♥):  	_____		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# of Diamonds(♦):	_____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# of Clubs(♣):	_____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# of Spades(♠):	_____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# of Red Cards:	_____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# of Black Cards:	_____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Cards in Each Suit:  _______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Now, given the above, answer the following: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a) 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P(Ace)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b) 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P(red card)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c) 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P(Red King)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d) 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P(Club)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4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Given the spinner to the right, answer the following: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a)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  P(5)	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b) 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P(odd #)	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c)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  P(2 or an odd #)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</p:txBody>
      </p:sp>
      <p:pic>
        <p:nvPicPr>
          <p:cNvPr id="7" name="Picture 6" descr="card suit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81900" y="2686050"/>
            <a:ext cx="914400" cy="1567543"/>
          </a:xfrm>
          <a:prstGeom prst="rect">
            <a:avLst/>
          </a:prstGeom>
        </p:spPr>
      </p:pic>
      <p:pic>
        <p:nvPicPr>
          <p:cNvPr id="1026" name="Picture 2" descr="http://www.future-edge.com/blackboard/MathM3E312/images/spinn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53350" y="5829301"/>
            <a:ext cx="800100" cy="8021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3638550" y="1"/>
            <a:ext cx="48577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owcard Gothic" pitchFamily="82" charset="0"/>
                <a:ea typeface="Cambria Math" pitchFamily="18" charset="0"/>
                <a:cs typeface="Arial" pitchFamily="34" charset="0"/>
              </a:rPr>
              <a:t>SAMPLE Probability Questions: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24250" y="2286000"/>
            <a:ext cx="51435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8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The spinner shown has 5 sections of equal size.  The arrow of this spinner was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       spun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20 times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and landed on the section labeled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“R” 7 times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.  Compare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the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       theoretical probability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with the </a:t>
            </a: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experimental probability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of the spinner landing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       on “R.”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9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The table shown depicts the results of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50 rolls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of a fair number cube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       numbered 1 – 6.  According the table, what was the </a:t>
            </a: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experimental probability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of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      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rolling a 3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+mn-cs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10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The arrow of this spinner was spun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40 times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.  On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25 out of 40 times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, the arrow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         landed on a section labeled with a multiple of 4.  What was the </a:t>
            </a: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experimental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         probability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+mn-cs"/>
              </a:rPr>
              <a:t>  of the arrow landing on a section labeled with a multiple of 4?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48743" y="0"/>
            <a:ext cx="497205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howcard Gothic" pitchFamily="82" charset="0"/>
                <a:ea typeface="Cambria Math" pitchFamily="18" charset="0"/>
                <a:cs typeface="Arial" pitchFamily="34" charset="0"/>
              </a:rPr>
              <a:t>Sample “Experimental” Probability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5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Mike was practicing basketball shots. 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Out of 24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attempts, he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made 21 baskets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.    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	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Based on this rate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, what is the probability that Mike’s next shot will go in the basket?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Jane was throwing darts.  Out of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12 attempts, 3 were bulls-eyes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.  If Jane were to make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36 attempts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, how many </a:t>
            </a: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should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  be bulls-eyes?   </a:t>
            </a: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6"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itchFamily="18" charset="0"/>
              <a:ea typeface="Cambria Math" pitchFamily="18" charset="0"/>
              <a:cs typeface="Arial" pitchFamily="34" charset="0"/>
            </a:endParaRPr>
          </a:p>
          <a:p>
            <a:pPr marL="257175" marR="0" lvl="0" indent="-2571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 startAt="7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A coin was flipped fifty times. 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Out of 50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, it landed on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 heads 30 times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.  What is the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experimental probability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that the coin will land on heads on the next toss?  How is this different from the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theoretical probability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itchFamily="18" charset="0"/>
                <a:ea typeface="Cambria Math" pitchFamily="18" charset="0"/>
                <a:cs typeface="Arial" pitchFamily="34" charset="0"/>
              </a:rPr>
              <a:t>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06" t="13741" r="34678" b="16583"/>
          <a:stretch/>
        </p:blipFill>
        <p:spPr bwMode="auto">
          <a:xfrm>
            <a:off x="7467600" y="2971798"/>
            <a:ext cx="857250" cy="857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7" t="11918" r="62815" b="34204"/>
          <a:stretch/>
        </p:blipFill>
        <p:spPr bwMode="auto">
          <a:xfrm>
            <a:off x="4095750" y="5918535"/>
            <a:ext cx="914400" cy="882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23" t="12879" r="29537" b="16074"/>
          <a:stretch/>
        </p:blipFill>
        <p:spPr bwMode="auto">
          <a:xfrm>
            <a:off x="5492968" y="4286250"/>
            <a:ext cx="1117382" cy="93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2031</Words>
  <Application>Microsoft Office PowerPoint</Application>
  <PresentationFormat>Widescreen</PresentationFormat>
  <Paragraphs>378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Arial Rounded MT Bold</vt:lpstr>
      <vt:lpstr>Calibri</vt:lpstr>
      <vt:lpstr>Calibri Light</vt:lpstr>
      <vt:lpstr>Cambria Math</vt:lpstr>
      <vt:lpstr>Rockwell</vt:lpstr>
      <vt:lpstr>Showcard Gothic</vt:lpstr>
      <vt:lpstr>Verdana</vt:lpstr>
      <vt:lpstr>Wingdings</vt:lpstr>
      <vt:lpstr>Office Theme</vt:lpstr>
      <vt:lpstr>Lesson objective </vt:lpstr>
      <vt:lpstr>Comparing prices for the same quantity</vt:lpstr>
      <vt:lpstr>Calculate prices for the same quantity</vt:lpstr>
      <vt:lpstr>Answers are on the following slide…</vt:lpstr>
      <vt:lpstr>Calculate prices for the same quantity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difference </vt:lpstr>
      <vt:lpstr>The difference </vt:lpstr>
      <vt:lpstr>Vocabulary </vt:lpstr>
      <vt:lpstr>PowerPoint Presentation</vt:lpstr>
      <vt:lpstr>PowerPoint Presentation</vt:lpstr>
      <vt:lpstr>Identifying the frequency and the # of trials </vt:lpstr>
      <vt:lpstr>Exercise books: SKETCH TABLE </vt:lpstr>
      <vt:lpstr>Continue with activity sheet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14</cp:revision>
  <dcterms:created xsi:type="dcterms:W3CDTF">2022-05-17T12:47:49Z</dcterms:created>
  <dcterms:modified xsi:type="dcterms:W3CDTF">2023-05-18T03:25:55Z</dcterms:modified>
</cp:coreProperties>
</file>
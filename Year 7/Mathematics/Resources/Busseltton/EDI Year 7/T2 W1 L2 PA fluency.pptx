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7" r:id="rId4"/>
    <p:sldId id="280" r:id="rId5"/>
    <p:sldId id="281" r:id="rId6"/>
    <p:sldId id="282" r:id="rId7"/>
    <p:sldId id="261" r:id="rId8"/>
    <p:sldId id="267" r:id="rId9"/>
    <p:sldId id="283" r:id="rId10"/>
    <p:sldId id="269" r:id="rId11"/>
    <p:sldId id="2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1479A-AEDB-4FE5-8618-57A14772E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BE2A2-7D40-465E-B54C-11767DB66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07991-938D-4995-B88D-20D2B029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5B38-2117-445E-8F3C-8F6234371CC8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92551-F072-4965-9031-DDBB5B18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9AD1E-9C22-4151-903C-CAF3BB94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B9D-B3E4-4AFA-BF5C-AE1323F647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370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78A3-69C5-4205-8062-FF30A46D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94FD0-05EB-402B-AEC1-2848DC686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28212-DF47-4B84-8F80-E4D8772A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5B38-2117-445E-8F3C-8F6234371CC8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7AA59-2C81-43CC-B1F2-77CE2529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44B95-6B17-4B3C-B57C-5423986B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B9D-B3E4-4AFA-BF5C-AE1323F647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54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5DB5-2E30-489B-ACFC-44E82035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EA7DF-84BD-431F-B3CA-6EC896DF1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48DC7-59C9-49C2-9F3D-782D42D8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5B38-2117-445E-8F3C-8F6234371CC8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8B6B5-63F1-4C56-AEFF-90E360C1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F1BC3-114E-4A79-9677-3B09D2E2C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B9D-B3E4-4AFA-BF5C-AE1323F647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57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D4E9D-D7CF-4354-8AEC-E9BCFC9A8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3EEC6-CA98-4A8B-BB31-3C9FF3DE3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82EF7-7D3A-4D8F-AA71-FDC9989AF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DF3D8-F8C4-46BA-97F5-114E96935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5B38-2117-445E-8F3C-8F6234371CC8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C450A-141B-4FAA-885A-4311EDD82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CD5B3-3A68-4A62-88EB-0E2CCA66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B9D-B3E4-4AFA-BF5C-AE1323F647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163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C9135-A75E-48E1-A78D-FEF81F52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4B636-D925-4A74-873E-AB5B3E4DE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11940-FC40-4D43-8E94-AFD7D9DA8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566CF-DA0D-49F7-A3AB-B8688F226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1019F-4D3D-4C45-AE7F-1F316956AB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45C1E4-64F4-46F2-B96E-890C0532E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5B38-2117-445E-8F3C-8F6234371CC8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E81A2-FC08-4E6A-B6BB-753AA604B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B88DD6-4BB8-4582-87C4-85FD4252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B9D-B3E4-4AFA-BF5C-AE1323F647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5231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4A6C-6573-45B9-8AD3-93204216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120D0D-A0F6-4097-A820-4BD2E503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5B38-2117-445E-8F3C-8F6234371CC8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53C857-E68D-46D8-9E35-4E704DB8A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CC646-DEDF-4F36-9496-1260BD03F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B9D-B3E4-4AFA-BF5C-AE1323F647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476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85F831-36B5-4C29-A6F1-1F507BE29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5B38-2117-445E-8F3C-8F6234371CC8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228BD7-CF3A-4585-9110-65E5CDCC1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EBB2E-534A-4D02-81C1-141DFE737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B9D-B3E4-4AFA-BF5C-AE1323F647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6686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AD249-1548-493A-A6D4-FE37D3176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73BCA-635C-4FBD-A1CA-BDA4AF707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6B374-4442-460D-8D8B-6B2D2A426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64B90-77F4-4842-981E-D494AA17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5B38-2117-445E-8F3C-8F6234371CC8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FB52E-965F-4327-82C5-BA68AD75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4B7AA-E03D-477D-81EC-F43F88EEE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B9D-B3E4-4AFA-BF5C-AE1323F647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554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FF388-2820-4F28-9DF2-18AA92156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AADF05-5B94-49BD-9206-00F26E10D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63778-68E5-4EC3-B954-4F8B95CDF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8CCF3-9795-4F09-A231-7BB9CB264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5B38-2117-445E-8F3C-8F6234371CC8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9EB22-4373-403F-ABDA-6964F4E2B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B64DA-7492-477B-A0D8-4BB11ED0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B9D-B3E4-4AFA-BF5C-AE1323F647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184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79C09-2D98-4DAF-AB2F-CA7541448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657F4-1C5D-494A-99E7-19B3298DF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32439-1938-4B85-9618-B967A987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5B38-2117-445E-8F3C-8F6234371CC8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7D83-21AD-475B-9E45-0DF3E8569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FB537-CE92-49BF-8A70-27BB3C47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B9D-B3E4-4AFA-BF5C-AE1323F647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20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D9BE8C-FDF0-4514-B6F7-A94F402D1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961B4-B226-49EF-B208-B555EE797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2B74C-B0D9-497D-906A-2B0451EA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5B38-2117-445E-8F3C-8F6234371CC8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42183-E5D4-481F-B398-A0C5DAE1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89137-92EA-4BAB-919F-04B0E375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B9D-B3E4-4AFA-BF5C-AE1323F647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7304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B643-BD0F-4751-8438-5F45B2D25C60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47BC-6AF6-4036-A810-710F250593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7078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24"/>
            <a:ext cx="12192000" cy="5684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73741"/>
            <a:ext cx="12192000" cy="566569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B643-BD0F-4751-8438-5F45B2D25C60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47BC-6AF6-4036-A810-710F250593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5997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B643-BD0F-4751-8438-5F45B2D25C60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47BC-6AF6-4036-A810-710F250593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3388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B643-BD0F-4751-8438-5F45B2D25C60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47BC-6AF6-4036-A810-710F250593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3985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B643-BD0F-4751-8438-5F45B2D25C60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47BC-6AF6-4036-A810-710F250593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756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B643-BD0F-4751-8438-5F45B2D25C60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47BC-6AF6-4036-A810-710F250593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8195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B643-BD0F-4751-8438-5F45B2D25C60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47BC-6AF6-4036-A810-710F250593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981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B643-BD0F-4751-8438-5F45B2D25C60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47BC-6AF6-4036-A810-710F250593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213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B643-BD0F-4751-8438-5F45B2D25C60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47BC-6AF6-4036-A810-710F250593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59454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B643-BD0F-4751-8438-5F45B2D25C60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47BC-6AF6-4036-A810-710F250593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7018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B643-BD0F-4751-8438-5F45B2D25C60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47BC-6AF6-4036-A810-710F250593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4699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55117-03B9-4D1B-B376-4AC479C80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AC659-8FF3-4EBC-9321-1005EC57D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0F470-B373-4F0D-8380-B340CACF6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05B38-2117-445E-8F3C-8F6234371CC8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ACB18-FBC1-4563-8CBA-9A448CBCD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37A57-FFDD-4693-84BC-5F77C2ECD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EAB9D-B3E4-4AFA-BF5C-AE1323F647D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4873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CB643-BD0F-4751-8438-5F45B2D25C60}" type="datetimeFigureOut">
              <a:rPr lang="en-AU" smtClean="0"/>
              <a:t>26/04/2023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547BC-6AF6-4036-A810-710F250593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445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9FDDD7-3EB0-4ACF-9DA0-3BE1D8F34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437D46-A39C-4D49-94B5-9528A13FF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rgbClr val="00B0F0"/>
                </a:solidFill>
              </a:rPr>
              <a:t>Perimeter and area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Describe the difference between perimeter and area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Calculate Area and perimeter of simple shapes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Formula review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Integers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Solving for area</a:t>
            </a:r>
          </a:p>
          <a:p>
            <a:pPr>
              <a:buFontTx/>
              <a:buChar char="-"/>
            </a:pP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24400-16F2-ACBE-B19D-2E79EEB9CE19}"/>
              </a:ext>
            </a:extLst>
          </p:cNvPr>
          <p:cNvSpPr txBox="1"/>
          <p:nvPr/>
        </p:nvSpPr>
        <p:spPr>
          <a:xfrm>
            <a:off x="8558074" y="1225118"/>
            <a:ext cx="3027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calculators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97890-21C0-4948-F75D-A54DD3E6C9F3}"/>
              </a:ext>
            </a:extLst>
          </p:cNvPr>
          <p:cNvSpPr txBox="1"/>
          <p:nvPr/>
        </p:nvSpPr>
        <p:spPr>
          <a:xfrm>
            <a:off x="8558074" y="2083060"/>
            <a:ext cx="3179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focus: Achieve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Staying on task</a:t>
            </a:r>
          </a:p>
        </p:txBody>
      </p:sp>
    </p:spTree>
    <p:extLst>
      <p:ext uri="{BB962C8B-B14F-4D97-AF65-F5344CB8AC3E}">
        <p14:creationId xmlns:p14="http://schemas.microsoft.com/office/powerpoint/2010/main" val="213185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5A95E5-2F13-4467-B679-9BCDBFD6D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Match the formula to the shape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5DB28C-CC30-496E-8C8C-E8EBD51C477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06389" y="2695636"/>
                <a:ext cx="5882196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𝑏𝑎𝑠𝑒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h𝑒𝑖𝑔h𝑡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𝑏𝑎𝑠𝑒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h𝑒𝑖𝑔h𝑡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𝑤𝑖𝑑𝑡h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5DB28C-CC30-496E-8C8C-E8EBD51C4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06389" y="2695636"/>
                <a:ext cx="5882196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0B68AFF-0660-4E11-A0DA-6F3676DFDE92}"/>
              </a:ext>
            </a:extLst>
          </p:cNvPr>
          <p:cNvSpPr/>
          <p:nvPr/>
        </p:nvSpPr>
        <p:spPr>
          <a:xfrm>
            <a:off x="8953129" y="2384533"/>
            <a:ext cx="1837677" cy="748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2BEF46AA-0942-4CFC-BA1A-FEF7A18C6B72}"/>
              </a:ext>
            </a:extLst>
          </p:cNvPr>
          <p:cNvSpPr/>
          <p:nvPr/>
        </p:nvSpPr>
        <p:spPr>
          <a:xfrm>
            <a:off x="9126242" y="3429000"/>
            <a:ext cx="1491449" cy="119404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E32DF967-65CA-4D0F-88C5-B6D3483FEF79}"/>
              </a:ext>
            </a:extLst>
          </p:cNvPr>
          <p:cNvSpPr/>
          <p:nvPr/>
        </p:nvSpPr>
        <p:spPr>
          <a:xfrm>
            <a:off x="8407150" y="4918615"/>
            <a:ext cx="2432482" cy="1194047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0580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D6FF49-79A0-4F58-99CF-8358F008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Daily review continued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EC9720-B41C-4CB9-B11B-D39059FAA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Describe the </a:t>
            </a:r>
            <a:r>
              <a:rPr lang="en-AU" u="sng" dirty="0"/>
              <a:t>difference</a:t>
            </a:r>
            <a:r>
              <a:rPr lang="en-AU" dirty="0"/>
              <a:t> between </a:t>
            </a:r>
            <a:r>
              <a:rPr lang="en-AU" i="1" dirty="0"/>
              <a:t>Perimeter</a:t>
            </a:r>
            <a:r>
              <a:rPr lang="en-AU" dirty="0"/>
              <a:t> and </a:t>
            </a:r>
            <a:r>
              <a:rPr lang="en-AU" i="1" dirty="0"/>
              <a:t>Area</a:t>
            </a:r>
            <a:r>
              <a:rPr lang="en-AU" dirty="0"/>
              <a:t> to the person next to you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67231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E5FADA-5F56-493C-A91A-4E5C6A8E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formula tells us what to do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6C12CD8-A1EE-4961-9AC0-BBCFB4B56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dirty="0"/>
                  <a:t>Triangle: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𝑏𝑎𝑠𝑒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h𝑒𝑖𝑔h𝑡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r>
                  <a:rPr lang="en-AU" b="0" dirty="0"/>
                  <a:t>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b="0" dirty="0"/>
                  <a:t>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40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6C12CD8-A1EE-4961-9AC0-BBCFB4B567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2BACAA6B-5BE9-41A2-BF3B-6312D55ECB68}"/>
              </a:ext>
            </a:extLst>
          </p:cNvPr>
          <p:cNvSpPr/>
          <p:nvPr/>
        </p:nvSpPr>
        <p:spPr>
          <a:xfrm>
            <a:off x="5115017" y="2601157"/>
            <a:ext cx="1961965" cy="1828800"/>
          </a:xfrm>
          <a:prstGeom prst="triangl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304761-D803-47AA-8E68-431640ECA4B1}"/>
              </a:ext>
            </a:extLst>
          </p:cNvPr>
          <p:cNvCxnSpPr>
            <a:stCxn id="7" idx="3"/>
          </p:cNvCxnSpPr>
          <p:nvPr/>
        </p:nvCxnSpPr>
        <p:spPr>
          <a:xfrm flipH="1" flipV="1">
            <a:off x="6095999" y="2743200"/>
            <a:ext cx="1" cy="16867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493E352-5020-4444-BDD4-2B77EB822429}"/>
              </a:ext>
            </a:extLst>
          </p:cNvPr>
          <p:cNvSpPr txBox="1"/>
          <p:nvPr/>
        </p:nvSpPr>
        <p:spPr>
          <a:xfrm>
            <a:off x="6282430" y="4440606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8EBE31-F947-4F14-80C0-5E8C2E10C5C4}"/>
              </a:ext>
            </a:extLst>
          </p:cNvPr>
          <p:cNvSpPr txBox="1"/>
          <p:nvPr/>
        </p:nvSpPr>
        <p:spPr>
          <a:xfrm>
            <a:off x="6049032" y="3515557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E3ED08-58BD-49D7-8241-3D61407E6ABF}"/>
              </a:ext>
            </a:extLst>
          </p:cNvPr>
          <p:cNvSpPr txBox="1"/>
          <p:nvPr/>
        </p:nvSpPr>
        <p:spPr>
          <a:xfrm>
            <a:off x="6598217" y="3153337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12cm</a:t>
            </a:r>
          </a:p>
        </p:txBody>
      </p:sp>
    </p:spTree>
    <p:extLst>
      <p:ext uri="{BB962C8B-B14F-4D97-AF65-F5344CB8AC3E}">
        <p14:creationId xmlns:p14="http://schemas.microsoft.com/office/powerpoint/2010/main" val="300960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895F-22B0-4C2B-89B1-ACB3BCD05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Formula, it tells us what to do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FE85A-C0A3-42B7-8959-2CABC156F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The area of a parallelogram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𝑏𝑎𝑠𝑒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h𝑒𝑖𝑔h𝑡</m:t>
                      </m:r>
                    </m:oMath>
                  </m:oMathPara>
                </a14:m>
                <a:endParaRPr lang="en-AU" b="0" dirty="0"/>
              </a:p>
              <a:p>
                <a:pPr marL="0" indent="0">
                  <a:buNone/>
                </a:pPr>
                <a:r>
                  <a:rPr lang="en-AU" b="0" dirty="0"/>
                  <a:t>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=16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11</m:t>
                    </m:r>
                  </m:oMath>
                </a14:m>
                <a:endParaRPr lang="en-AU" b="0" dirty="0"/>
              </a:p>
              <a:p>
                <a:pPr marL="0" indent="0">
                  <a:buNone/>
                </a:pPr>
                <a:r>
                  <a:rPr lang="en-AU" b="0" dirty="0"/>
                  <a:t>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=176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b="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FE85A-C0A3-42B7-8959-2CABC156F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arallelogram 3">
            <a:extLst>
              <a:ext uri="{FF2B5EF4-FFF2-40B4-BE49-F238E27FC236}">
                <a16:creationId xmlns:a16="http://schemas.microsoft.com/office/drawing/2014/main" id="{4992033E-20BF-49A9-804F-224F0386F6AB}"/>
              </a:ext>
            </a:extLst>
          </p:cNvPr>
          <p:cNvSpPr/>
          <p:nvPr/>
        </p:nvSpPr>
        <p:spPr>
          <a:xfrm>
            <a:off x="4403325" y="3082323"/>
            <a:ext cx="3116062" cy="1325563"/>
          </a:xfrm>
          <a:prstGeom prst="parallelogram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3595FB-5812-4CF3-A928-1238CA3A6F83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5795661" y="3160450"/>
            <a:ext cx="0" cy="12474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338D7EA-8AC1-4786-B383-B0EE2C2187F6}"/>
              </a:ext>
            </a:extLst>
          </p:cNvPr>
          <p:cNvSpPr txBox="1"/>
          <p:nvPr/>
        </p:nvSpPr>
        <p:spPr>
          <a:xfrm>
            <a:off x="5724639" y="3375772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11m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298A23-62B6-4819-9656-2023C1BD575D}"/>
              </a:ext>
            </a:extLst>
          </p:cNvPr>
          <p:cNvSpPr txBox="1"/>
          <p:nvPr/>
        </p:nvSpPr>
        <p:spPr>
          <a:xfrm>
            <a:off x="4797968" y="4407886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16m</a:t>
            </a:r>
          </a:p>
        </p:txBody>
      </p:sp>
    </p:spTree>
    <p:extLst>
      <p:ext uri="{BB962C8B-B14F-4D97-AF65-F5344CB8AC3E}">
        <p14:creationId xmlns:p14="http://schemas.microsoft.com/office/powerpoint/2010/main" val="192519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Addition and Subtraction with Negative Numbers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946400"/>
            <a:ext cx="12192000" cy="3293034"/>
          </a:xfrm>
        </p:spPr>
        <p:txBody>
          <a:bodyPr/>
          <a:lstStyle/>
          <a:p>
            <a:r>
              <a:rPr lang="en-AU" dirty="0"/>
              <a:t>Adding a negative number is the same as subtracting.</a:t>
            </a:r>
          </a:p>
          <a:p>
            <a:r>
              <a:rPr lang="en-AU" dirty="0"/>
              <a:t>The result is always less than the starting number.</a:t>
            </a:r>
          </a:p>
          <a:p>
            <a:endParaRPr lang="en-AU" dirty="0"/>
          </a:p>
          <a:p>
            <a:r>
              <a:rPr lang="en-AU" dirty="0"/>
              <a:t>Subtracting a negative number is the same as adding.</a:t>
            </a:r>
          </a:p>
          <a:p>
            <a:r>
              <a:rPr lang="en-AU" dirty="0"/>
              <a:t>The result is always greater than the starting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920" y="1463040"/>
            <a:ext cx="1236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+ 3 =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5920" y="2316758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+ (-3) =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2720" y="1468378"/>
            <a:ext cx="1346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-4 + 3 =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2720" y="2322096"/>
            <a:ext cx="167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-4 + (-3) =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8640" y="1463040"/>
            <a:ext cx="12779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-4 - 3 =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8640" y="2316758"/>
            <a:ext cx="167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-4 – (-3) =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0625" y="1463040"/>
            <a:ext cx="116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4 - 3 =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0625" y="2316758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– (-3) =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3657" y="14630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3656" y="231675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8598" y="1463040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8597" y="2316758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0676" y="14630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0675" y="231675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9297" y="1463040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9296" y="2316758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</a:t>
            </a:r>
          </a:p>
        </p:txBody>
      </p:sp>
      <p:grpSp>
        <p:nvGrpSpPr>
          <p:cNvPr id="21" name="Group 278"/>
          <p:cNvGrpSpPr>
            <a:grpSpLocks/>
          </p:cNvGrpSpPr>
          <p:nvPr/>
        </p:nvGrpSpPr>
        <p:grpSpPr bwMode="auto">
          <a:xfrm>
            <a:off x="1161155" y="770768"/>
            <a:ext cx="8990013" cy="492126"/>
            <a:chOff x="0" y="1312"/>
            <a:chExt cx="5663" cy="310"/>
          </a:xfrm>
        </p:grpSpPr>
        <p:grpSp>
          <p:nvGrpSpPr>
            <p:cNvPr id="22" name="Group 279"/>
            <p:cNvGrpSpPr>
              <a:grpSpLocks/>
            </p:cNvGrpSpPr>
            <p:nvPr/>
          </p:nvGrpSpPr>
          <p:grpSpPr bwMode="auto">
            <a:xfrm>
              <a:off x="258" y="1312"/>
              <a:ext cx="5183" cy="50"/>
              <a:chOff x="492" y="2035"/>
              <a:chExt cx="5456" cy="50"/>
            </a:xfrm>
          </p:grpSpPr>
          <p:grpSp>
            <p:nvGrpSpPr>
              <p:cNvPr id="50" name="Group 280"/>
              <p:cNvGrpSpPr>
                <a:grpSpLocks/>
              </p:cNvGrpSpPr>
              <p:nvPr/>
            </p:nvGrpSpPr>
            <p:grpSpPr bwMode="auto">
              <a:xfrm>
                <a:off x="492" y="2035"/>
                <a:ext cx="2728" cy="50"/>
                <a:chOff x="576" y="464"/>
                <a:chExt cx="4730" cy="161"/>
              </a:xfrm>
            </p:grpSpPr>
            <p:sp>
              <p:nvSpPr>
                <p:cNvPr id="62" name="Rectangle 281"/>
                <p:cNvSpPr>
                  <a:spLocks noChangeArrowheads="1"/>
                </p:cNvSpPr>
                <p:nvPr/>
              </p:nvSpPr>
              <p:spPr bwMode="auto">
                <a:xfrm>
                  <a:off x="576" y="464"/>
                  <a:ext cx="473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76078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 282"/>
                <p:cNvSpPr>
                  <a:spLocks noChangeArrowheads="1"/>
                </p:cNvSpPr>
                <p:nvPr/>
              </p:nvSpPr>
              <p:spPr bwMode="auto">
                <a:xfrm>
                  <a:off x="1049" y="464"/>
                  <a:ext cx="474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EAEAEA">
                        <a:gamma/>
                        <a:shade val="76078"/>
                        <a:invGamma/>
                      </a:srgbClr>
                    </a:gs>
                    <a:gs pos="50000">
                      <a:srgbClr val="EAEAEA"/>
                    </a:gs>
                    <a:gs pos="100000">
                      <a:srgbClr val="EAEAEA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Rectangle 283"/>
                <p:cNvSpPr>
                  <a:spLocks noChangeArrowheads="1"/>
                </p:cNvSpPr>
                <p:nvPr/>
              </p:nvSpPr>
              <p:spPr bwMode="auto">
                <a:xfrm>
                  <a:off x="1523" y="464"/>
                  <a:ext cx="471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76078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Rectangle 284"/>
                <p:cNvSpPr>
                  <a:spLocks noChangeArrowheads="1"/>
                </p:cNvSpPr>
                <p:nvPr/>
              </p:nvSpPr>
              <p:spPr bwMode="auto">
                <a:xfrm>
                  <a:off x="1994" y="464"/>
                  <a:ext cx="474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EAEAEA">
                        <a:gamma/>
                        <a:shade val="76078"/>
                        <a:invGamma/>
                      </a:srgbClr>
                    </a:gs>
                    <a:gs pos="50000">
                      <a:srgbClr val="EAEAEA"/>
                    </a:gs>
                    <a:gs pos="100000">
                      <a:srgbClr val="EAEAEA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 285"/>
                <p:cNvSpPr>
                  <a:spLocks noChangeArrowheads="1"/>
                </p:cNvSpPr>
                <p:nvPr/>
              </p:nvSpPr>
              <p:spPr bwMode="auto">
                <a:xfrm>
                  <a:off x="2468" y="464"/>
                  <a:ext cx="473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76078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 286"/>
                <p:cNvSpPr>
                  <a:spLocks noChangeArrowheads="1"/>
                </p:cNvSpPr>
                <p:nvPr/>
              </p:nvSpPr>
              <p:spPr bwMode="auto">
                <a:xfrm>
                  <a:off x="2941" y="464"/>
                  <a:ext cx="473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EAEAEA">
                        <a:gamma/>
                        <a:shade val="76078"/>
                        <a:invGamma/>
                      </a:srgbClr>
                    </a:gs>
                    <a:gs pos="50000">
                      <a:srgbClr val="EAEAEA"/>
                    </a:gs>
                    <a:gs pos="100000">
                      <a:srgbClr val="EAEAEA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 287"/>
                <p:cNvSpPr>
                  <a:spLocks noChangeArrowheads="1"/>
                </p:cNvSpPr>
                <p:nvPr/>
              </p:nvSpPr>
              <p:spPr bwMode="auto">
                <a:xfrm>
                  <a:off x="3414" y="464"/>
                  <a:ext cx="474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76078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 288"/>
                <p:cNvSpPr>
                  <a:spLocks noChangeArrowheads="1"/>
                </p:cNvSpPr>
                <p:nvPr/>
              </p:nvSpPr>
              <p:spPr bwMode="auto">
                <a:xfrm>
                  <a:off x="3888" y="464"/>
                  <a:ext cx="471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EAEAEA">
                        <a:gamma/>
                        <a:shade val="76078"/>
                        <a:invGamma/>
                      </a:srgbClr>
                    </a:gs>
                    <a:gs pos="50000">
                      <a:srgbClr val="EAEAEA"/>
                    </a:gs>
                    <a:gs pos="100000">
                      <a:srgbClr val="EAEAEA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Rectangle 289"/>
                <p:cNvSpPr>
                  <a:spLocks noChangeArrowheads="1"/>
                </p:cNvSpPr>
                <p:nvPr/>
              </p:nvSpPr>
              <p:spPr bwMode="auto">
                <a:xfrm>
                  <a:off x="4359" y="464"/>
                  <a:ext cx="474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76078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Rectangle 290"/>
                <p:cNvSpPr>
                  <a:spLocks noChangeArrowheads="1"/>
                </p:cNvSpPr>
                <p:nvPr/>
              </p:nvSpPr>
              <p:spPr bwMode="auto">
                <a:xfrm>
                  <a:off x="4833" y="464"/>
                  <a:ext cx="473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EAEAEA">
                        <a:gamma/>
                        <a:shade val="76078"/>
                        <a:invGamma/>
                      </a:srgbClr>
                    </a:gs>
                    <a:gs pos="50000">
                      <a:srgbClr val="EAEAEA"/>
                    </a:gs>
                    <a:gs pos="100000">
                      <a:srgbClr val="EAEAEA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1" name="Group 291"/>
              <p:cNvGrpSpPr>
                <a:grpSpLocks/>
              </p:cNvGrpSpPr>
              <p:nvPr/>
            </p:nvGrpSpPr>
            <p:grpSpPr bwMode="auto">
              <a:xfrm>
                <a:off x="3220" y="2035"/>
                <a:ext cx="2728" cy="50"/>
                <a:chOff x="576" y="464"/>
                <a:chExt cx="4730" cy="161"/>
              </a:xfrm>
            </p:grpSpPr>
            <p:sp>
              <p:nvSpPr>
                <p:cNvPr id="52" name="Rectangle 292"/>
                <p:cNvSpPr>
                  <a:spLocks noChangeArrowheads="1"/>
                </p:cNvSpPr>
                <p:nvPr/>
              </p:nvSpPr>
              <p:spPr bwMode="auto">
                <a:xfrm>
                  <a:off x="576" y="464"/>
                  <a:ext cx="473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76078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Rectangle 293"/>
                <p:cNvSpPr>
                  <a:spLocks noChangeArrowheads="1"/>
                </p:cNvSpPr>
                <p:nvPr/>
              </p:nvSpPr>
              <p:spPr bwMode="auto">
                <a:xfrm>
                  <a:off x="1049" y="464"/>
                  <a:ext cx="474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EAEAEA">
                        <a:gamma/>
                        <a:shade val="76078"/>
                        <a:invGamma/>
                      </a:srgbClr>
                    </a:gs>
                    <a:gs pos="50000">
                      <a:srgbClr val="EAEAEA"/>
                    </a:gs>
                    <a:gs pos="100000">
                      <a:srgbClr val="EAEAEA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Rectangle 294"/>
                <p:cNvSpPr>
                  <a:spLocks noChangeArrowheads="1"/>
                </p:cNvSpPr>
                <p:nvPr/>
              </p:nvSpPr>
              <p:spPr bwMode="auto">
                <a:xfrm>
                  <a:off x="1523" y="464"/>
                  <a:ext cx="471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76078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Rectangle 295"/>
                <p:cNvSpPr>
                  <a:spLocks noChangeArrowheads="1"/>
                </p:cNvSpPr>
                <p:nvPr/>
              </p:nvSpPr>
              <p:spPr bwMode="auto">
                <a:xfrm>
                  <a:off x="1994" y="464"/>
                  <a:ext cx="474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EAEAEA">
                        <a:gamma/>
                        <a:shade val="76078"/>
                        <a:invGamma/>
                      </a:srgbClr>
                    </a:gs>
                    <a:gs pos="50000">
                      <a:srgbClr val="EAEAEA"/>
                    </a:gs>
                    <a:gs pos="100000">
                      <a:srgbClr val="EAEAEA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Rectangle 296"/>
                <p:cNvSpPr>
                  <a:spLocks noChangeArrowheads="1"/>
                </p:cNvSpPr>
                <p:nvPr/>
              </p:nvSpPr>
              <p:spPr bwMode="auto">
                <a:xfrm>
                  <a:off x="2468" y="464"/>
                  <a:ext cx="473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76078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Rectangle 297"/>
                <p:cNvSpPr>
                  <a:spLocks noChangeArrowheads="1"/>
                </p:cNvSpPr>
                <p:nvPr/>
              </p:nvSpPr>
              <p:spPr bwMode="auto">
                <a:xfrm>
                  <a:off x="2941" y="464"/>
                  <a:ext cx="473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EAEAEA">
                        <a:gamma/>
                        <a:shade val="76078"/>
                        <a:invGamma/>
                      </a:srgbClr>
                    </a:gs>
                    <a:gs pos="50000">
                      <a:srgbClr val="EAEAEA"/>
                    </a:gs>
                    <a:gs pos="100000">
                      <a:srgbClr val="EAEAEA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Rectangle 298"/>
                <p:cNvSpPr>
                  <a:spLocks noChangeArrowheads="1"/>
                </p:cNvSpPr>
                <p:nvPr/>
              </p:nvSpPr>
              <p:spPr bwMode="auto">
                <a:xfrm>
                  <a:off x="3414" y="464"/>
                  <a:ext cx="474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76078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Rectangle 299"/>
                <p:cNvSpPr>
                  <a:spLocks noChangeArrowheads="1"/>
                </p:cNvSpPr>
                <p:nvPr/>
              </p:nvSpPr>
              <p:spPr bwMode="auto">
                <a:xfrm>
                  <a:off x="3888" y="464"/>
                  <a:ext cx="471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EAEAEA">
                        <a:gamma/>
                        <a:shade val="76078"/>
                        <a:invGamma/>
                      </a:srgbClr>
                    </a:gs>
                    <a:gs pos="50000">
                      <a:srgbClr val="EAEAEA"/>
                    </a:gs>
                    <a:gs pos="100000">
                      <a:srgbClr val="EAEAEA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 300"/>
                <p:cNvSpPr>
                  <a:spLocks noChangeArrowheads="1"/>
                </p:cNvSpPr>
                <p:nvPr/>
              </p:nvSpPr>
              <p:spPr bwMode="auto">
                <a:xfrm>
                  <a:off x="4359" y="464"/>
                  <a:ext cx="474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76078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Rectangle 301"/>
                <p:cNvSpPr>
                  <a:spLocks noChangeArrowheads="1"/>
                </p:cNvSpPr>
                <p:nvPr/>
              </p:nvSpPr>
              <p:spPr bwMode="auto">
                <a:xfrm>
                  <a:off x="4833" y="464"/>
                  <a:ext cx="473" cy="161"/>
                </a:xfrm>
                <a:prstGeom prst="rect">
                  <a:avLst/>
                </a:prstGeom>
                <a:gradFill rotWithShape="0">
                  <a:gsLst>
                    <a:gs pos="0">
                      <a:srgbClr val="EAEAEA">
                        <a:gamma/>
                        <a:shade val="76078"/>
                        <a:invGamma/>
                      </a:srgbClr>
                    </a:gs>
                    <a:gs pos="50000">
                      <a:srgbClr val="EAEAEA"/>
                    </a:gs>
                    <a:gs pos="100000">
                      <a:srgbClr val="EAEAEA">
                        <a:gamma/>
                        <a:shade val="76078"/>
                        <a:invGamma/>
                      </a:srgbClr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3" name="Text Box 302"/>
            <p:cNvSpPr txBox="1">
              <a:spLocks noChangeArrowheads="1"/>
            </p:cNvSpPr>
            <p:nvPr/>
          </p:nvSpPr>
          <p:spPr bwMode="auto">
            <a:xfrm>
              <a:off x="2633" y="1366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6666FF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 Box 303"/>
            <p:cNvSpPr txBox="1">
              <a:spLocks noChangeArrowheads="1"/>
            </p:cNvSpPr>
            <p:nvPr/>
          </p:nvSpPr>
          <p:spPr bwMode="auto">
            <a:xfrm>
              <a:off x="2889" y="1366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 Box 304"/>
            <p:cNvSpPr txBox="1">
              <a:spLocks noChangeArrowheads="1"/>
            </p:cNvSpPr>
            <p:nvPr/>
          </p:nvSpPr>
          <p:spPr bwMode="auto">
            <a:xfrm>
              <a:off x="3145" y="1370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 Box 305"/>
            <p:cNvSpPr txBox="1">
              <a:spLocks noChangeArrowheads="1"/>
            </p:cNvSpPr>
            <p:nvPr/>
          </p:nvSpPr>
          <p:spPr bwMode="auto">
            <a:xfrm>
              <a:off x="3413" y="1370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 Box 306"/>
            <p:cNvSpPr txBox="1">
              <a:spLocks noChangeArrowheads="1"/>
            </p:cNvSpPr>
            <p:nvPr/>
          </p:nvSpPr>
          <p:spPr bwMode="auto">
            <a:xfrm>
              <a:off x="3665" y="1370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 Box 307"/>
            <p:cNvSpPr txBox="1">
              <a:spLocks noChangeArrowheads="1"/>
            </p:cNvSpPr>
            <p:nvPr/>
          </p:nvSpPr>
          <p:spPr bwMode="auto">
            <a:xfrm>
              <a:off x="3925" y="1366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 Box 308"/>
            <p:cNvSpPr txBox="1">
              <a:spLocks noChangeArrowheads="1"/>
            </p:cNvSpPr>
            <p:nvPr/>
          </p:nvSpPr>
          <p:spPr bwMode="auto">
            <a:xfrm>
              <a:off x="4201" y="1362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 Box 309"/>
            <p:cNvSpPr txBox="1">
              <a:spLocks noChangeArrowheads="1"/>
            </p:cNvSpPr>
            <p:nvPr/>
          </p:nvSpPr>
          <p:spPr bwMode="auto">
            <a:xfrm>
              <a:off x="4461" y="1370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Text Box 310"/>
            <p:cNvSpPr txBox="1">
              <a:spLocks noChangeArrowheads="1"/>
            </p:cNvSpPr>
            <p:nvPr/>
          </p:nvSpPr>
          <p:spPr bwMode="auto">
            <a:xfrm>
              <a:off x="4713" y="1366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2" name="Text Box 311"/>
            <p:cNvSpPr txBox="1">
              <a:spLocks noChangeArrowheads="1"/>
            </p:cNvSpPr>
            <p:nvPr/>
          </p:nvSpPr>
          <p:spPr bwMode="auto">
            <a:xfrm>
              <a:off x="4969" y="1362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3" name="Text Box 312"/>
            <p:cNvSpPr txBox="1">
              <a:spLocks noChangeArrowheads="1"/>
            </p:cNvSpPr>
            <p:nvPr/>
          </p:nvSpPr>
          <p:spPr bwMode="auto">
            <a:xfrm>
              <a:off x="5221" y="1366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4" name="Text Box 313"/>
            <p:cNvSpPr txBox="1">
              <a:spLocks noChangeArrowheads="1"/>
            </p:cNvSpPr>
            <p:nvPr/>
          </p:nvSpPr>
          <p:spPr bwMode="auto">
            <a:xfrm>
              <a:off x="2364" y="1368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-1</a:t>
              </a:r>
            </a:p>
          </p:txBody>
        </p:sp>
        <p:sp>
          <p:nvSpPr>
            <p:cNvPr id="35" name="Text Box 314"/>
            <p:cNvSpPr txBox="1">
              <a:spLocks noChangeArrowheads="1"/>
            </p:cNvSpPr>
            <p:nvPr/>
          </p:nvSpPr>
          <p:spPr bwMode="auto">
            <a:xfrm>
              <a:off x="2101" y="1363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36" name="Text Box 315"/>
            <p:cNvSpPr txBox="1">
              <a:spLocks noChangeArrowheads="1"/>
            </p:cNvSpPr>
            <p:nvPr/>
          </p:nvSpPr>
          <p:spPr bwMode="auto">
            <a:xfrm>
              <a:off x="1829" y="1364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-3</a:t>
              </a:r>
            </a:p>
          </p:txBody>
        </p:sp>
        <p:sp>
          <p:nvSpPr>
            <p:cNvPr id="37" name="Text Box 316"/>
            <p:cNvSpPr txBox="1">
              <a:spLocks noChangeArrowheads="1"/>
            </p:cNvSpPr>
            <p:nvPr/>
          </p:nvSpPr>
          <p:spPr bwMode="auto">
            <a:xfrm>
              <a:off x="1569" y="1362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-4</a:t>
              </a:r>
            </a:p>
          </p:txBody>
        </p:sp>
        <p:sp>
          <p:nvSpPr>
            <p:cNvPr id="38" name="Text Box 317"/>
            <p:cNvSpPr txBox="1">
              <a:spLocks noChangeArrowheads="1"/>
            </p:cNvSpPr>
            <p:nvPr/>
          </p:nvSpPr>
          <p:spPr bwMode="auto">
            <a:xfrm>
              <a:off x="1309" y="1363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-5</a:t>
              </a:r>
            </a:p>
          </p:txBody>
        </p:sp>
        <p:sp>
          <p:nvSpPr>
            <p:cNvPr id="39" name="Text Box 318"/>
            <p:cNvSpPr txBox="1">
              <a:spLocks noChangeArrowheads="1"/>
            </p:cNvSpPr>
            <p:nvPr/>
          </p:nvSpPr>
          <p:spPr bwMode="auto">
            <a:xfrm>
              <a:off x="1058" y="1361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-6</a:t>
              </a:r>
            </a:p>
          </p:txBody>
        </p:sp>
        <p:sp>
          <p:nvSpPr>
            <p:cNvPr id="40" name="Text Box 319"/>
            <p:cNvSpPr txBox="1">
              <a:spLocks noChangeArrowheads="1"/>
            </p:cNvSpPr>
            <p:nvPr/>
          </p:nvSpPr>
          <p:spPr bwMode="auto">
            <a:xfrm>
              <a:off x="789" y="1362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-7</a:t>
              </a:r>
            </a:p>
          </p:txBody>
        </p:sp>
        <p:sp>
          <p:nvSpPr>
            <p:cNvPr id="41" name="Text Box 320"/>
            <p:cNvSpPr txBox="1">
              <a:spLocks noChangeArrowheads="1"/>
            </p:cNvSpPr>
            <p:nvPr/>
          </p:nvSpPr>
          <p:spPr bwMode="auto">
            <a:xfrm>
              <a:off x="538" y="1360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-8</a:t>
              </a:r>
            </a:p>
          </p:txBody>
        </p:sp>
        <p:sp>
          <p:nvSpPr>
            <p:cNvPr id="42" name="Text Box 321"/>
            <p:cNvSpPr txBox="1">
              <a:spLocks noChangeArrowheads="1"/>
            </p:cNvSpPr>
            <p:nvPr/>
          </p:nvSpPr>
          <p:spPr bwMode="auto">
            <a:xfrm>
              <a:off x="281" y="1364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-9</a:t>
              </a:r>
            </a:p>
          </p:txBody>
        </p:sp>
        <p:sp>
          <p:nvSpPr>
            <p:cNvPr id="43" name="Text Box 322"/>
            <p:cNvSpPr txBox="1">
              <a:spLocks noChangeArrowheads="1"/>
            </p:cNvSpPr>
            <p:nvPr/>
          </p:nvSpPr>
          <p:spPr bwMode="auto">
            <a:xfrm>
              <a:off x="0" y="1362"/>
              <a:ext cx="42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-10</a:t>
              </a:r>
            </a:p>
          </p:txBody>
        </p:sp>
        <p:sp>
          <p:nvSpPr>
            <p:cNvPr id="44" name="Oval 323"/>
            <p:cNvSpPr>
              <a:spLocks noChangeArrowheads="1"/>
            </p:cNvSpPr>
            <p:nvPr/>
          </p:nvSpPr>
          <p:spPr bwMode="auto">
            <a:xfrm>
              <a:off x="199" y="1328"/>
              <a:ext cx="30" cy="3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Oval 324"/>
            <p:cNvSpPr>
              <a:spLocks noChangeArrowheads="1"/>
            </p:cNvSpPr>
            <p:nvPr/>
          </p:nvSpPr>
          <p:spPr bwMode="auto">
            <a:xfrm>
              <a:off x="127" y="1327"/>
              <a:ext cx="30" cy="3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Oval 325"/>
            <p:cNvSpPr>
              <a:spLocks noChangeArrowheads="1"/>
            </p:cNvSpPr>
            <p:nvPr/>
          </p:nvSpPr>
          <p:spPr bwMode="auto">
            <a:xfrm>
              <a:off x="59" y="1327"/>
              <a:ext cx="30" cy="3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Oval 326"/>
            <p:cNvSpPr>
              <a:spLocks noChangeArrowheads="1"/>
            </p:cNvSpPr>
            <p:nvPr/>
          </p:nvSpPr>
          <p:spPr bwMode="auto">
            <a:xfrm>
              <a:off x="5633" y="1327"/>
              <a:ext cx="30" cy="3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Oval 327"/>
            <p:cNvSpPr>
              <a:spLocks noChangeArrowheads="1"/>
            </p:cNvSpPr>
            <p:nvPr/>
          </p:nvSpPr>
          <p:spPr bwMode="auto">
            <a:xfrm>
              <a:off x="5561" y="1326"/>
              <a:ext cx="30" cy="3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Oval 328"/>
            <p:cNvSpPr>
              <a:spLocks noChangeArrowheads="1"/>
            </p:cNvSpPr>
            <p:nvPr/>
          </p:nvSpPr>
          <p:spPr bwMode="auto">
            <a:xfrm>
              <a:off x="5493" y="1326"/>
              <a:ext cx="30" cy="3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2" name="Rectangle 71"/>
          <p:cNvSpPr/>
          <p:nvPr/>
        </p:nvSpPr>
        <p:spPr>
          <a:xfrm>
            <a:off x="6302273" y="2996832"/>
            <a:ext cx="1769270" cy="347287"/>
          </a:xfrm>
          <a:prstGeom prst="rect">
            <a:avLst/>
          </a:prstGeom>
          <a:solidFill>
            <a:srgbClr val="DEEB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880625" y="4529834"/>
            <a:ext cx="1190918" cy="347287"/>
          </a:xfrm>
          <a:prstGeom prst="rect">
            <a:avLst/>
          </a:prstGeom>
          <a:solidFill>
            <a:srgbClr val="DEEB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31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72" grpId="0" animBg="1"/>
      <p:bldP spid="7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Evaluate these expressions: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5195" y="573742"/>
            <a:ext cx="3553428" cy="6168002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73534" y="0"/>
            <a:ext cx="718466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002" y="726661"/>
            <a:ext cx="1744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 + (-5)</a:t>
            </a:r>
            <a:endParaRPr kumimoji="0" lang="en-AU" sz="36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57583" y="788216"/>
            <a:ext cx="752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7</a:t>
            </a:r>
            <a:endParaRPr kumimoji="0" lang="en-AU" sz="3600" b="0" i="0" u="none" strike="noStrike" kern="1200" cap="none" spc="0" normalizeH="0" baseline="3000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9998" y="1756095"/>
            <a:ext cx="1744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29 + (-6)</a:t>
            </a:r>
            <a:endParaRPr kumimoji="0" lang="en-AU" sz="36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9998" y="2763751"/>
            <a:ext cx="2119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-17 + (-11)</a:t>
            </a:r>
            <a:endParaRPr kumimoji="0" lang="en-AU" sz="36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9998" y="3777487"/>
            <a:ext cx="1885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-8 – (-12)</a:t>
            </a:r>
            <a:endParaRPr kumimoji="0" lang="en-AU" sz="36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9999" y="4753361"/>
            <a:ext cx="1885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-11 – (-7)</a:t>
            </a:r>
            <a:endParaRPr kumimoji="0" lang="en-AU" sz="36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0000" y="5737277"/>
            <a:ext cx="2119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-15 + (-13)</a:t>
            </a:r>
            <a:endParaRPr kumimoji="0" lang="en-AU" sz="36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373119" y="1817650"/>
            <a:ext cx="986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  <a:r>
              <a:rPr lang="en-AU" sz="3600" dirty="0">
                <a:solidFill>
                  <a:srgbClr val="7030A0"/>
                </a:solidFill>
                <a:latin typeface="Calibri" panose="020F0502020204030204"/>
              </a:rPr>
              <a:t>23</a:t>
            </a:r>
            <a:endParaRPr kumimoji="0" lang="en-AU" sz="3600" b="0" i="0" u="none" strike="noStrike" kern="1200" cap="none" spc="0" normalizeH="0" baseline="3000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373119" y="2792882"/>
            <a:ext cx="1127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-28</a:t>
            </a:r>
            <a:endParaRPr kumimoji="0" lang="en-AU" sz="3600" b="0" i="0" u="none" strike="noStrike" kern="1200" cap="none" spc="0" normalizeH="0" baseline="3000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346021" y="3829196"/>
            <a:ext cx="752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  <a:r>
              <a:rPr lang="en-AU" sz="3600" dirty="0">
                <a:solidFill>
                  <a:srgbClr val="7030A0"/>
                </a:solidFill>
                <a:latin typeface="Calibri" panose="020F0502020204030204"/>
              </a:rPr>
              <a:t>4</a:t>
            </a:r>
            <a:endParaRPr kumimoji="0" lang="en-AU" sz="3600" b="0" i="0" u="none" strike="noStrike" kern="1200" cap="none" spc="0" normalizeH="0" baseline="3000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346021" y="4804428"/>
            <a:ext cx="893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-4</a:t>
            </a:r>
            <a:endParaRPr kumimoji="0" lang="en-AU" sz="3600" b="0" i="0" u="none" strike="noStrike" kern="1200" cap="none" spc="0" normalizeH="0" baseline="3000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427796" y="5776029"/>
            <a:ext cx="1127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-28</a:t>
            </a:r>
            <a:endParaRPr kumimoji="0" lang="en-AU" sz="3600" b="0" i="0" u="none" strike="noStrike" kern="1200" cap="none" spc="0" normalizeH="0" baseline="3000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546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47" grpId="0"/>
      <p:bldP spid="48" grpId="0"/>
      <p:bldP spid="49" grpId="0"/>
      <p:bldP spid="50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8BF58B-86CF-499E-BE6C-41588BBB3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Steps to finding area (notes to copy)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71963CC-7F23-4D70-8C48-E27600E85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AutoNum type="arabicPeriod"/>
                </a:pPr>
                <a:r>
                  <a:rPr lang="en-AU" dirty="0">
                    <a:solidFill>
                      <a:srgbClr val="00B0F0"/>
                    </a:solidFill>
                  </a:rPr>
                  <a:t>ID shape and formula</a:t>
                </a:r>
              </a:p>
              <a:p>
                <a:pPr marL="514350" indent="-514350">
                  <a:buAutoNum type="arabicPeriod"/>
                </a:pPr>
                <a:r>
                  <a:rPr lang="en-AU" dirty="0">
                    <a:solidFill>
                      <a:srgbClr val="00B0F0"/>
                    </a:solidFill>
                  </a:rPr>
                  <a:t>Same unit (e.g. all edges in cm, or m) </a:t>
                </a:r>
              </a:p>
              <a:p>
                <a:pPr marL="514350" indent="-514350">
                  <a:buAutoNum type="arabicPeriod"/>
                </a:pPr>
                <a:r>
                  <a:rPr lang="en-AU" dirty="0">
                    <a:solidFill>
                      <a:srgbClr val="00B0F0"/>
                    </a:solidFill>
                  </a:rPr>
                  <a:t>Write rule and substitute into formula </a:t>
                </a:r>
              </a:p>
              <a:p>
                <a:pPr marL="514350" indent="-514350">
                  <a:buAutoNum type="arabicPeriod"/>
                </a:pPr>
                <a:r>
                  <a:rPr lang="en-AU" dirty="0">
                    <a:solidFill>
                      <a:srgbClr val="00B0F0"/>
                    </a:solidFill>
                  </a:rPr>
                  <a:t>Solve, answer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𝑢𝑛𝑖𝑡𝑠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71963CC-7F23-4D70-8C48-E27600E85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674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8003-60FC-49B6-B94E-7CEDB6A3F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Text book work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56C66-2E8C-416A-9523-8EEEF4D08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>
                <a:highlight>
                  <a:srgbClr val="FFFF00"/>
                </a:highlight>
              </a:rPr>
              <a:t>Start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2533B-30F5-4958-A42F-E05263CC82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Page 452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Exercise 11B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Questions 2, and 4 – 13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Make sure you read through the examples   </a:t>
            </a:r>
          </a:p>
        </p:txBody>
      </p:sp>
    </p:spTree>
    <p:extLst>
      <p:ext uri="{BB962C8B-B14F-4D97-AF65-F5344CB8AC3E}">
        <p14:creationId xmlns:p14="http://schemas.microsoft.com/office/powerpoint/2010/main" val="1965823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5E04-87A8-4746-8FE1-7B7C0BFE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Reflection – fist to 5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9484D-E124-4C16-816D-9CE765D9E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Char char="q"/>
            </a:pPr>
            <a:endParaRPr lang="en-AU" dirty="0">
              <a:solidFill>
                <a:srgbClr val="00B0F0"/>
              </a:solidFill>
            </a:endParaRPr>
          </a:p>
          <a:p>
            <a:pPr algn="ctr">
              <a:buFont typeface="Wingdings" panose="05000000000000000000" pitchFamily="2" charset="2"/>
              <a:buChar char="q"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Describe the difference between perimeter and area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Calculate Area and perimeter of simple shapes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92112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426</Words>
  <Application>Microsoft Office PowerPoint</Application>
  <PresentationFormat>Widescreen</PresentationFormat>
  <Paragraphs>116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Comic Sans MS</vt:lpstr>
      <vt:lpstr>Wingdings</vt:lpstr>
      <vt:lpstr>Office Theme</vt:lpstr>
      <vt:lpstr>1_Office Theme</vt:lpstr>
      <vt:lpstr>Lesson objective </vt:lpstr>
      <vt:lpstr>Match the formula to the shape </vt:lpstr>
      <vt:lpstr>Daily review continued </vt:lpstr>
      <vt:lpstr>The formula tells us what to do </vt:lpstr>
      <vt:lpstr>Formula, it tells us what to do </vt:lpstr>
      <vt:lpstr>Addition and Subtraction with Negative Numbers </vt:lpstr>
      <vt:lpstr>Evaluate these expressions:</vt:lpstr>
      <vt:lpstr>Steps to finding area (notes to copy)</vt:lpstr>
      <vt:lpstr>Text book work </vt:lpstr>
      <vt:lpstr>Reflection – fist to 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17</cp:revision>
  <dcterms:created xsi:type="dcterms:W3CDTF">2021-03-22T12:09:32Z</dcterms:created>
  <dcterms:modified xsi:type="dcterms:W3CDTF">2023-04-26T08:56:17Z</dcterms:modified>
</cp:coreProperties>
</file>
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63" r:id="rId3"/>
    <p:sldId id="256" r:id="rId4"/>
    <p:sldId id="266" r:id="rId5"/>
    <p:sldId id="283" r:id="rId6"/>
    <p:sldId id="284" r:id="rId7"/>
    <p:sldId id="285" r:id="rId8"/>
    <p:sldId id="286" r:id="rId9"/>
    <p:sldId id="265" r:id="rId10"/>
    <p:sldId id="287" r:id="rId11"/>
    <p:sldId id="264" r:id="rId12"/>
    <p:sldId id="257" r:id="rId13"/>
    <p:sldId id="259" r:id="rId14"/>
    <p:sldId id="262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159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76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22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33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89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785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929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5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80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38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025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565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3338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591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373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184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7E68F-3D9E-4346-A89B-241BE1D5E6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67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AF24B-DB96-43A8-BE26-C64B082468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614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4E4A5-FF6F-4339-80F9-047CC8F9BB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669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A29CF-0060-415F-AB33-DC04395782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482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C24E5-5C9E-4622-8312-7358A35B8A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234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1055F-7626-4571-847C-6203FA8E84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0291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10941-F666-40F8-8B2D-F64A2CEB29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987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4D0D7-123C-41B2-8A43-A440FCE44D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704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836A9-7FA8-4A26-A015-327F628D0F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8804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01920-BB78-4358-B23B-965701C701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25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53EDB-5187-4585-8561-E298DDC497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77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5ADBD-A7EC-4964-9504-83A2E6C70120}" type="datetimeFigureOut">
              <a:rPr lang="en-AU" smtClean="0"/>
              <a:t>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BAD3C21-8662-4B18-B55E-4DBF883FEF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44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8581759-B0D0-4F41-8F3A-2EAA0C9047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87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docid=wfQ0vc5p0fXr1M&amp;tbnid=8Y0f-9mv7hXYzM:&amp;ved=0CAUQjRw&amp;url=http://www.decalsplanet.com/item-8642-division-sign.html&amp;ei=5S1iUs7wAqep0QXC0oCIDA&amp;bvm=bv.54934254,d.d2k&amp;psig=AFQjCNHhYgYPhiACK0XnrQt1db4BB-phow&amp;ust=138225237102861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84902"/>
            <a:ext cx="8596668" cy="5270091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Year 7 Lesson 1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for Rhys and Patrick</a:t>
            </a:r>
            <a:br>
              <a:rPr lang="en-AU" sz="2000" dirty="0">
                <a:solidFill>
                  <a:schemeClr val="tx1"/>
                </a:solidFill>
              </a:rPr>
            </a:b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The concurrent topics are </a:t>
            </a:r>
            <a:r>
              <a:rPr lang="en-AU" sz="2000" u="sng" dirty="0">
                <a:solidFill>
                  <a:schemeClr val="tx1"/>
                </a:solidFill>
              </a:rPr>
              <a:t>Describing Chance </a:t>
            </a:r>
            <a:r>
              <a:rPr lang="en-AU" sz="2000" dirty="0">
                <a:solidFill>
                  <a:schemeClr val="tx1"/>
                </a:solidFill>
              </a:rPr>
              <a:t>and </a:t>
            </a:r>
            <a:r>
              <a:rPr lang="en-AU" sz="2000" u="sng" dirty="0">
                <a:solidFill>
                  <a:schemeClr val="tx1"/>
                </a:solidFill>
              </a:rPr>
              <a:t>Best Buys</a:t>
            </a:r>
            <a:r>
              <a:rPr lang="en-AU" sz="2000" dirty="0">
                <a:solidFill>
                  <a:schemeClr val="tx1"/>
                </a:solidFill>
              </a:rPr>
              <a:t>.</a:t>
            </a:r>
            <a:br>
              <a:rPr lang="en-AU" sz="2000" dirty="0">
                <a:solidFill>
                  <a:schemeClr val="tx1"/>
                </a:solidFill>
              </a:rPr>
            </a:b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Describing Chance is Exercises 8G, 8H, and 8I of Cambridge Second Edition.</a:t>
            </a: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Patrick, if you can’t find a set of Cambridge texts then take the set from Room 6.</a:t>
            </a:r>
            <a:br>
              <a:rPr lang="en-AU" sz="2000" dirty="0">
                <a:solidFill>
                  <a:schemeClr val="tx1"/>
                </a:solidFill>
              </a:rPr>
            </a:b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There are almost no resources that Will and I could find for Best Buys so I have put together exercises for our students. I have just written this </a:t>
            </a:r>
            <a:r>
              <a:rPr lang="en-AU" sz="2000" dirty="0" err="1">
                <a:solidFill>
                  <a:schemeClr val="tx1"/>
                </a:solidFill>
              </a:rPr>
              <a:t>Powerpoint</a:t>
            </a:r>
            <a:r>
              <a:rPr lang="en-AU" sz="2000" dirty="0">
                <a:solidFill>
                  <a:schemeClr val="tx1"/>
                </a:solidFill>
              </a:rPr>
              <a:t> to make the activities more user-friendly. I will continue writing </a:t>
            </a:r>
            <a:r>
              <a:rPr lang="en-AU" sz="2000" dirty="0" err="1">
                <a:solidFill>
                  <a:schemeClr val="tx1"/>
                </a:solidFill>
              </a:rPr>
              <a:t>Powerpoints</a:t>
            </a:r>
            <a:r>
              <a:rPr lang="en-AU" sz="2000" dirty="0">
                <a:solidFill>
                  <a:schemeClr val="tx1"/>
                </a:solidFill>
              </a:rPr>
              <a:t> for the  rest of the activities.</a:t>
            </a:r>
            <a:br>
              <a:rPr lang="en-AU" sz="2000" dirty="0">
                <a:solidFill>
                  <a:schemeClr val="tx1"/>
                </a:solidFill>
              </a:rPr>
            </a:b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Delete this slide before using the </a:t>
            </a:r>
            <a:r>
              <a:rPr lang="en-AU" sz="2000" dirty="0" err="1">
                <a:solidFill>
                  <a:schemeClr val="tx1"/>
                </a:solidFill>
              </a:rPr>
              <a:t>Powerpoint</a:t>
            </a:r>
            <a:r>
              <a:rPr lang="en-AU" sz="2000" dirty="0">
                <a:solidFill>
                  <a:schemeClr val="tx1"/>
                </a:solidFill>
              </a:rPr>
              <a:t> in class.</a:t>
            </a: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chemeClr val="tx1"/>
                </a:solidFill>
              </a:rPr>
              <a:t>Limit the Probability exercise to less than half of the lesson.</a:t>
            </a:r>
            <a:br>
              <a:rPr lang="en-AU" sz="2000" dirty="0">
                <a:solidFill>
                  <a:schemeClr val="tx1"/>
                </a:solidFill>
              </a:rPr>
            </a:br>
            <a:r>
              <a:rPr lang="en-AU" sz="2000" dirty="0">
                <a:solidFill>
                  <a:srgbClr val="FF0000"/>
                </a:solidFill>
              </a:rPr>
              <a:t>I have class sets of shopping brochures for </a:t>
            </a:r>
            <a:r>
              <a:rPr lang="en-AU" sz="2000" u="sng" dirty="0">
                <a:solidFill>
                  <a:srgbClr val="FF0000"/>
                </a:solidFill>
              </a:rPr>
              <a:t>all</a:t>
            </a:r>
            <a:r>
              <a:rPr lang="en-AU" sz="2000" dirty="0">
                <a:solidFill>
                  <a:srgbClr val="FF0000"/>
                </a:solidFill>
              </a:rPr>
              <a:t> the students. </a:t>
            </a:r>
            <a:br>
              <a:rPr lang="en-AU" sz="2000" dirty="0">
                <a:solidFill>
                  <a:srgbClr val="FF0000"/>
                </a:solidFill>
              </a:rPr>
            </a:br>
            <a:r>
              <a:rPr lang="en-AU" sz="2000" dirty="0">
                <a:solidFill>
                  <a:srgbClr val="FF0000"/>
                </a:solidFill>
              </a:rPr>
              <a:t>You will get a copy of the worksheet on Tuesday.</a:t>
            </a:r>
            <a:br>
              <a:rPr lang="en-AU" sz="2000" dirty="0">
                <a:solidFill>
                  <a:srgbClr val="FF0000"/>
                </a:solidFill>
              </a:rPr>
            </a:br>
            <a:br>
              <a:rPr lang="en-AU" sz="2000" dirty="0">
                <a:solidFill>
                  <a:schemeClr val="tx1"/>
                </a:solidFill>
              </a:rPr>
            </a:br>
            <a:endParaRPr lang="en-A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62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8576" y="516741"/>
            <a:ext cx="7766936" cy="1253065"/>
          </a:xfrm>
        </p:spPr>
        <p:txBody>
          <a:bodyPr>
            <a:noAutofit/>
          </a:bodyPr>
          <a:lstStyle/>
          <a:p>
            <a:pPr algn="ctr"/>
            <a:r>
              <a:rPr lang="en-AU" sz="3600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Title: </a:t>
            </a:r>
            <a:r>
              <a:rPr lang="en-AU" sz="3600" b="1" dirty="0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PROBABILITY and BEST BUYS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8576" y="2015613"/>
            <a:ext cx="84754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>
                <a:solidFill>
                  <a:srgbClr val="00B0F0"/>
                </a:solidFill>
              </a:rPr>
              <a:t>AIMS</a:t>
            </a:r>
          </a:p>
          <a:p>
            <a:r>
              <a:rPr lang="en-AU" sz="2400" b="1" dirty="0">
                <a:solidFill>
                  <a:srgbClr val="00B0F0"/>
                </a:solidFill>
              </a:rPr>
              <a:t>To be able to;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B0F0"/>
                </a:solidFill>
              </a:rPr>
              <a:t>Describe how likely it is that an event will occur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B0F0"/>
                </a:solidFill>
              </a:rPr>
              <a:t>Compare the price of similar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>
              <a:solidFill>
                <a:srgbClr val="00B0F0"/>
              </a:solidFill>
            </a:endParaRPr>
          </a:p>
          <a:p>
            <a:r>
              <a:rPr lang="en-AU" sz="2400" b="1" u="sng" dirty="0">
                <a:solidFill>
                  <a:srgbClr val="00B0F0"/>
                </a:solidFill>
              </a:rPr>
              <a:t>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B0F0"/>
                </a:solidFill>
              </a:rPr>
              <a:t>Describing Chance Exercise 8G, Q1-5 Cambridge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B0F0"/>
                </a:solidFill>
              </a:rPr>
              <a:t>Best Buys and Unit Pricing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6172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495551" y="3716339"/>
            <a:ext cx="7993063" cy="1728787"/>
          </a:xfrm>
          <a:prstGeom prst="rect">
            <a:avLst/>
          </a:prstGeom>
          <a:solidFill>
            <a:srgbClr val="ADF1E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640014" y="1268414"/>
            <a:ext cx="7164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6000">
                <a:solidFill>
                  <a:srgbClr val="000000"/>
                </a:solidFill>
              </a:rPr>
              <a:t>What is </a:t>
            </a:r>
            <a:r>
              <a:rPr lang="en-GB" altLang="en-US" sz="6000">
                <a:solidFill>
                  <a:srgbClr val="0033CC"/>
                </a:solidFill>
              </a:rPr>
              <a:t>probability?</a:t>
            </a:r>
          </a:p>
        </p:txBody>
      </p:sp>
      <p:pic>
        <p:nvPicPr>
          <p:cNvPr id="4100" name="Picture 3" descr="MCj0431512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88914"/>
            <a:ext cx="1296987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424114" y="2420939"/>
            <a:ext cx="71643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3600" dirty="0">
                <a:solidFill>
                  <a:srgbClr val="000000"/>
                </a:solidFill>
              </a:rPr>
              <a:t> </a:t>
            </a:r>
            <a:r>
              <a:rPr lang="en-GB" altLang="en-US" sz="3600" b="1" dirty="0">
                <a:solidFill>
                  <a:srgbClr val="000000"/>
                </a:solidFill>
              </a:rPr>
              <a:t>likelihood</a:t>
            </a:r>
            <a:r>
              <a:rPr lang="en-GB" altLang="en-US" sz="3600" dirty="0">
                <a:solidFill>
                  <a:srgbClr val="000000"/>
                </a:solidFill>
              </a:rPr>
              <a:t> or </a:t>
            </a:r>
            <a:r>
              <a:rPr lang="en-GB" altLang="en-US" sz="3600" b="1" dirty="0">
                <a:solidFill>
                  <a:srgbClr val="000000"/>
                </a:solidFill>
              </a:rPr>
              <a:t>chance</a:t>
            </a:r>
            <a:r>
              <a:rPr lang="en-GB" altLang="en-US" sz="3600" dirty="0">
                <a:solidFill>
                  <a:srgbClr val="000000"/>
                </a:solidFill>
              </a:rPr>
              <a:t> of </a:t>
            </a:r>
          </a:p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3600" dirty="0">
                <a:solidFill>
                  <a:srgbClr val="000000"/>
                </a:solidFill>
              </a:rPr>
              <a:t>  something happening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424113" y="3860801"/>
            <a:ext cx="8064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>
                <a:solidFill>
                  <a:srgbClr val="000000"/>
                </a:solidFill>
              </a:rPr>
              <a:t>   number of ways of getting what you want</a:t>
            </a: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2927350" y="4508500"/>
            <a:ext cx="734511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503613" y="4508501"/>
            <a:ext cx="65532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3200">
                <a:solidFill>
                  <a:srgbClr val="000000"/>
                </a:solidFill>
              </a:rPr>
              <a:t>number of possible outcomes</a:t>
            </a:r>
          </a:p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3600">
                <a:solidFill>
                  <a:srgbClr val="000000"/>
                </a:solidFill>
              </a:rPr>
              <a:t>  </a:t>
            </a:r>
            <a:endParaRPr lang="en-GB" altLang="en-US" sz="3200">
              <a:solidFill>
                <a:srgbClr val="000000"/>
              </a:solidFill>
            </a:endParaRPr>
          </a:p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altLang="en-US" sz="3200">
              <a:solidFill>
                <a:srgbClr val="000000"/>
              </a:solidFill>
            </a:endParaRPr>
          </a:p>
        </p:txBody>
      </p:sp>
      <p:pic>
        <p:nvPicPr>
          <p:cNvPr id="4106" name="Picture 10" descr="http://www.decalsplanet.com/img_b/vinyl-decal-sticker-8642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426" y="4180010"/>
            <a:ext cx="905175" cy="9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1"/>
          <p:cNvSpPr/>
          <p:nvPr/>
        </p:nvSpPr>
        <p:spPr bwMode="auto">
          <a:xfrm>
            <a:off x="2010041" y="3836466"/>
            <a:ext cx="828145" cy="392635"/>
          </a:xfrm>
          <a:custGeom>
            <a:avLst/>
            <a:gdLst>
              <a:gd name="connsiteX0" fmla="*/ 463863 w 463863"/>
              <a:gd name="connsiteY0" fmla="*/ 78310 h 392635"/>
              <a:gd name="connsiteX1" fmla="*/ 54288 w 463863"/>
              <a:gd name="connsiteY1" fmla="*/ 21160 h 392635"/>
              <a:gd name="connsiteX2" fmla="*/ 16188 w 463863"/>
              <a:gd name="connsiteY2" fmla="*/ 392635 h 39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863" h="392635">
                <a:moveTo>
                  <a:pt x="463863" y="78310"/>
                </a:moveTo>
                <a:cubicBezTo>
                  <a:pt x="296381" y="23541"/>
                  <a:pt x="128900" y="-31227"/>
                  <a:pt x="54288" y="21160"/>
                </a:cubicBezTo>
                <a:cubicBezTo>
                  <a:pt x="-20324" y="73547"/>
                  <a:pt x="-2068" y="233091"/>
                  <a:pt x="16188" y="392635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Freeform 2"/>
          <p:cNvSpPr/>
          <p:nvPr/>
        </p:nvSpPr>
        <p:spPr bwMode="auto">
          <a:xfrm>
            <a:off x="1949542" y="5038725"/>
            <a:ext cx="1536608" cy="295396"/>
          </a:xfrm>
          <a:custGeom>
            <a:avLst/>
            <a:gdLst>
              <a:gd name="connsiteX0" fmla="*/ 12608 w 1536608"/>
              <a:gd name="connsiteY0" fmla="*/ 28575 h 295396"/>
              <a:gd name="connsiteX1" fmla="*/ 222158 w 1536608"/>
              <a:gd name="connsiteY1" fmla="*/ 295275 h 295396"/>
              <a:gd name="connsiteX2" fmla="*/ 1536608 w 1536608"/>
              <a:gd name="connsiteY2" fmla="*/ 0 h 29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6608" h="295396">
                <a:moveTo>
                  <a:pt x="12608" y="28575"/>
                </a:moveTo>
                <a:cubicBezTo>
                  <a:pt x="-9617" y="164306"/>
                  <a:pt x="-31842" y="300038"/>
                  <a:pt x="222158" y="295275"/>
                </a:cubicBezTo>
                <a:cubicBezTo>
                  <a:pt x="476158" y="290512"/>
                  <a:pt x="1006383" y="145256"/>
                  <a:pt x="1536608" y="0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animBg="1" autoUpdateAnimBg="0"/>
      <p:bldP spid="12292" grpId="0" autoUpdateAnimBg="0"/>
      <p:bldP spid="12293" grpId="0" autoUpdateAnimBg="0"/>
      <p:bldP spid="12294" grpId="0" animBg="1" autoUpdateAnimBg="0"/>
      <p:bldP spid="12296" grpId="0" autoUpdateAnimBg="0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9"/>
          <p:cNvGrpSpPr>
            <a:grpSpLocks/>
          </p:cNvGrpSpPr>
          <p:nvPr/>
        </p:nvGrpSpPr>
        <p:grpSpPr bwMode="auto">
          <a:xfrm>
            <a:off x="1919289" y="333376"/>
            <a:ext cx="8135937" cy="1649413"/>
            <a:chOff x="431" y="482"/>
            <a:chExt cx="5125" cy="1039"/>
          </a:xfrm>
        </p:grpSpPr>
        <p:sp>
          <p:nvSpPr>
            <p:cNvPr id="5143" name="Text Box 7"/>
            <p:cNvSpPr txBox="1">
              <a:spLocks noChangeArrowheads="1"/>
            </p:cNvSpPr>
            <p:nvPr/>
          </p:nvSpPr>
          <p:spPr bwMode="auto">
            <a:xfrm>
              <a:off x="431" y="482"/>
              <a:ext cx="508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Example 1: 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Tony tosses a coin. What is the</a:t>
              </a:r>
            </a:p>
          </p:txBody>
        </p:sp>
        <p:sp>
          <p:nvSpPr>
            <p:cNvPr id="5144" name="Text Box 8"/>
            <p:cNvSpPr txBox="1">
              <a:spLocks noChangeArrowheads="1"/>
            </p:cNvSpPr>
            <p:nvPr/>
          </p:nvSpPr>
          <p:spPr bwMode="auto">
            <a:xfrm>
              <a:off x="476" y="1117"/>
              <a:ext cx="50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probability of getting a head?</a:t>
              </a:r>
            </a:p>
          </p:txBody>
        </p:sp>
      </p:grpSp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005263"/>
            <a:ext cx="1296988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2997200" y="5229225"/>
            <a:ext cx="21605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925763" y="5300663"/>
            <a:ext cx="2449512" cy="1274762"/>
            <a:chOff x="883" y="3339"/>
            <a:chExt cx="1543" cy="803"/>
          </a:xfrm>
        </p:grpSpPr>
        <p:pic>
          <p:nvPicPr>
            <p:cNvPr id="514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" y="3341"/>
              <a:ext cx="726" cy="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42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" y="3339"/>
              <a:ext cx="817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847851" y="5013325"/>
            <a:ext cx="576263" cy="215900"/>
            <a:chOff x="204" y="3158"/>
            <a:chExt cx="363" cy="136"/>
          </a:xfrm>
        </p:grpSpPr>
        <p:sp>
          <p:nvSpPr>
            <p:cNvPr id="5139" name="Line 16"/>
            <p:cNvSpPr>
              <a:spLocks noChangeShapeType="1"/>
            </p:cNvSpPr>
            <p:nvPr/>
          </p:nvSpPr>
          <p:spPr bwMode="auto">
            <a:xfrm>
              <a:off x="204" y="3158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40" name="Line 17"/>
            <p:cNvSpPr>
              <a:spLocks noChangeShapeType="1"/>
            </p:cNvSpPr>
            <p:nvPr/>
          </p:nvSpPr>
          <p:spPr bwMode="auto">
            <a:xfrm>
              <a:off x="204" y="3294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024563" y="5013325"/>
            <a:ext cx="576262" cy="215900"/>
            <a:chOff x="204" y="3158"/>
            <a:chExt cx="363" cy="136"/>
          </a:xfrm>
        </p:grpSpPr>
        <p:sp>
          <p:nvSpPr>
            <p:cNvPr id="5137" name="Line 21"/>
            <p:cNvSpPr>
              <a:spLocks noChangeShapeType="1"/>
            </p:cNvSpPr>
            <p:nvPr/>
          </p:nvSpPr>
          <p:spPr bwMode="auto">
            <a:xfrm>
              <a:off x="204" y="3158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38" name="Line 22"/>
            <p:cNvSpPr>
              <a:spLocks noChangeShapeType="1"/>
            </p:cNvSpPr>
            <p:nvPr/>
          </p:nvSpPr>
          <p:spPr bwMode="auto">
            <a:xfrm>
              <a:off x="204" y="3294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6816725" y="4333875"/>
            <a:ext cx="1150938" cy="1758950"/>
            <a:chOff x="3334" y="2730"/>
            <a:chExt cx="725" cy="1108"/>
          </a:xfrm>
        </p:grpSpPr>
        <p:sp>
          <p:nvSpPr>
            <p:cNvPr id="5134" name="Line 23"/>
            <p:cNvSpPr>
              <a:spLocks noChangeShapeType="1"/>
            </p:cNvSpPr>
            <p:nvPr/>
          </p:nvSpPr>
          <p:spPr bwMode="auto">
            <a:xfrm>
              <a:off x="3334" y="3294"/>
              <a:ext cx="7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35" name="Text Box 24"/>
            <p:cNvSpPr txBox="1">
              <a:spLocks noChangeArrowheads="1"/>
            </p:cNvSpPr>
            <p:nvPr/>
          </p:nvSpPr>
          <p:spPr bwMode="auto">
            <a:xfrm>
              <a:off x="3503" y="2730"/>
              <a:ext cx="33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4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136" name="Text Box 25"/>
            <p:cNvSpPr txBox="1">
              <a:spLocks noChangeArrowheads="1"/>
            </p:cNvSpPr>
            <p:nvPr/>
          </p:nvSpPr>
          <p:spPr bwMode="auto">
            <a:xfrm>
              <a:off x="3515" y="3319"/>
              <a:ext cx="33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480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2010117" y="2293939"/>
            <a:ext cx="8262938" cy="2408237"/>
            <a:chOff x="340" y="1389"/>
            <a:chExt cx="5205" cy="1517"/>
          </a:xfrm>
        </p:grpSpPr>
        <p:sp>
          <p:nvSpPr>
            <p:cNvPr id="5130" name="Rectangle 35"/>
            <p:cNvSpPr>
              <a:spLocks noChangeArrowheads="1"/>
            </p:cNvSpPr>
            <p:nvPr/>
          </p:nvSpPr>
          <p:spPr bwMode="auto">
            <a:xfrm>
              <a:off x="385" y="1389"/>
              <a:ext cx="5160" cy="1089"/>
            </a:xfrm>
            <a:prstGeom prst="rect">
              <a:avLst/>
            </a:prstGeom>
            <a:solidFill>
              <a:srgbClr val="ADF1E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5131" name="Text Box 36"/>
            <p:cNvSpPr txBox="1">
              <a:spLocks noChangeArrowheads="1"/>
            </p:cNvSpPr>
            <p:nvPr/>
          </p:nvSpPr>
          <p:spPr bwMode="auto">
            <a:xfrm>
              <a:off x="340" y="1480"/>
              <a:ext cx="5080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 dirty="0">
                  <a:solidFill>
                    <a:srgbClr val="000000"/>
                  </a:solidFill>
                </a:rPr>
                <a:t>   number of ways of getting what you want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GB" alt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5132" name="Line 37"/>
            <p:cNvSpPr>
              <a:spLocks noChangeShapeType="1"/>
            </p:cNvSpPr>
            <p:nvPr/>
          </p:nvSpPr>
          <p:spPr bwMode="auto">
            <a:xfrm>
              <a:off x="657" y="1888"/>
              <a:ext cx="46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33" name="Text Box 38"/>
            <p:cNvSpPr txBox="1">
              <a:spLocks noChangeArrowheads="1"/>
            </p:cNvSpPr>
            <p:nvPr/>
          </p:nvSpPr>
          <p:spPr bwMode="auto">
            <a:xfrm>
              <a:off x="1020" y="1888"/>
              <a:ext cx="412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>
                  <a:solidFill>
                    <a:srgbClr val="000000"/>
                  </a:solidFill>
                </a:rPr>
                <a:t>number of possible outcomes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  </a:t>
              </a:r>
              <a:endParaRPr lang="en-GB" altLang="en-US" sz="3200">
                <a:solidFill>
                  <a:srgbClr val="000000"/>
                </a:solidFill>
              </a:endParaRP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GB" altLang="en-US" sz="32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919289" y="333376"/>
            <a:ext cx="8135937" cy="1649413"/>
            <a:chOff x="431" y="482"/>
            <a:chExt cx="5125" cy="1039"/>
          </a:xfrm>
        </p:grpSpPr>
        <p:sp>
          <p:nvSpPr>
            <p:cNvPr id="6171" name="Text Box 3"/>
            <p:cNvSpPr txBox="1">
              <a:spLocks noChangeArrowheads="1"/>
            </p:cNvSpPr>
            <p:nvPr/>
          </p:nvSpPr>
          <p:spPr bwMode="auto">
            <a:xfrm>
              <a:off x="431" y="482"/>
              <a:ext cx="508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Example 2: 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 Amy roll a fair dice, what is the</a:t>
              </a:r>
            </a:p>
          </p:txBody>
        </p:sp>
        <p:sp>
          <p:nvSpPr>
            <p:cNvPr id="6172" name="Text Box 4"/>
            <p:cNvSpPr txBox="1">
              <a:spLocks noChangeArrowheads="1"/>
            </p:cNvSpPr>
            <p:nvPr/>
          </p:nvSpPr>
          <p:spPr bwMode="auto">
            <a:xfrm>
              <a:off x="476" y="1117"/>
              <a:ext cx="50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probability of getting a four?</a:t>
              </a:r>
            </a:p>
          </p:txBody>
        </p:sp>
      </p:grp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2640013" y="5229225"/>
            <a:ext cx="4679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847851" y="5013325"/>
            <a:ext cx="576263" cy="215900"/>
            <a:chOff x="204" y="3158"/>
            <a:chExt cx="363" cy="136"/>
          </a:xfrm>
        </p:grpSpPr>
        <p:sp>
          <p:nvSpPr>
            <p:cNvPr id="6169" name="Line 11"/>
            <p:cNvSpPr>
              <a:spLocks noChangeShapeType="1"/>
            </p:cNvSpPr>
            <p:nvPr/>
          </p:nvSpPr>
          <p:spPr bwMode="auto">
            <a:xfrm>
              <a:off x="204" y="3158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170" name="Line 12"/>
            <p:cNvSpPr>
              <a:spLocks noChangeShapeType="1"/>
            </p:cNvSpPr>
            <p:nvPr/>
          </p:nvSpPr>
          <p:spPr bwMode="auto">
            <a:xfrm>
              <a:off x="204" y="3294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824788" y="5013325"/>
            <a:ext cx="576262" cy="215900"/>
            <a:chOff x="204" y="3158"/>
            <a:chExt cx="363" cy="136"/>
          </a:xfrm>
        </p:grpSpPr>
        <p:sp>
          <p:nvSpPr>
            <p:cNvPr id="6167" name="Line 14"/>
            <p:cNvSpPr>
              <a:spLocks noChangeShapeType="1"/>
            </p:cNvSpPr>
            <p:nvPr/>
          </p:nvSpPr>
          <p:spPr bwMode="auto">
            <a:xfrm>
              <a:off x="204" y="3158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168" name="Line 15"/>
            <p:cNvSpPr>
              <a:spLocks noChangeShapeType="1"/>
            </p:cNvSpPr>
            <p:nvPr/>
          </p:nvSpPr>
          <p:spPr bwMode="auto">
            <a:xfrm>
              <a:off x="204" y="3294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616950" y="4333875"/>
            <a:ext cx="1150938" cy="1758950"/>
            <a:chOff x="3334" y="2730"/>
            <a:chExt cx="725" cy="1108"/>
          </a:xfrm>
        </p:grpSpPr>
        <p:sp>
          <p:nvSpPr>
            <p:cNvPr id="6164" name="Line 17"/>
            <p:cNvSpPr>
              <a:spLocks noChangeShapeType="1"/>
            </p:cNvSpPr>
            <p:nvPr/>
          </p:nvSpPr>
          <p:spPr bwMode="auto">
            <a:xfrm>
              <a:off x="3334" y="3294"/>
              <a:ext cx="7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3503" y="2730"/>
              <a:ext cx="33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4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166" name="Text Box 19"/>
            <p:cNvSpPr txBox="1">
              <a:spLocks noChangeArrowheads="1"/>
            </p:cNvSpPr>
            <p:nvPr/>
          </p:nvSpPr>
          <p:spPr bwMode="auto">
            <a:xfrm>
              <a:off x="3515" y="3319"/>
              <a:ext cx="33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48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2063750" y="2205039"/>
            <a:ext cx="8064500" cy="2408237"/>
            <a:chOff x="340" y="1389"/>
            <a:chExt cx="5080" cy="1517"/>
          </a:xfrm>
        </p:grpSpPr>
        <p:sp>
          <p:nvSpPr>
            <p:cNvPr id="6160" name="Rectangle 21"/>
            <p:cNvSpPr>
              <a:spLocks noChangeArrowheads="1"/>
            </p:cNvSpPr>
            <p:nvPr/>
          </p:nvSpPr>
          <p:spPr bwMode="auto">
            <a:xfrm>
              <a:off x="385" y="1389"/>
              <a:ext cx="5035" cy="1089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161" name="Text Box 22"/>
            <p:cNvSpPr txBox="1">
              <a:spLocks noChangeArrowheads="1"/>
            </p:cNvSpPr>
            <p:nvPr/>
          </p:nvSpPr>
          <p:spPr bwMode="auto">
            <a:xfrm>
              <a:off x="340" y="1480"/>
              <a:ext cx="5080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 dirty="0">
                  <a:solidFill>
                    <a:srgbClr val="000000"/>
                  </a:solidFill>
                </a:rPr>
                <a:t>   number of ways of getting what you want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GB" alt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6162" name="Line 23"/>
            <p:cNvSpPr>
              <a:spLocks noChangeShapeType="1"/>
            </p:cNvSpPr>
            <p:nvPr/>
          </p:nvSpPr>
          <p:spPr bwMode="auto">
            <a:xfrm flipV="1">
              <a:off x="657" y="1884"/>
              <a:ext cx="4627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163" name="Text Box 24"/>
            <p:cNvSpPr txBox="1">
              <a:spLocks noChangeArrowheads="1"/>
            </p:cNvSpPr>
            <p:nvPr/>
          </p:nvSpPr>
          <p:spPr bwMode="auto">
            <a:xfrm>
              <a:off x="1020" y="1888"/>
              <a:ext cx="412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>
                  <a:solidFill>
                    <a:srgbClr val="000000"/>
                  </a:solidFill>
                </a:rPr>
                <a:t>number of possible outcomes</a:t>
              </a: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>
                  <a:solidFill>
                    <a:srgbClr val="000000"/>
                  </a:solidFill>
                </a:rPr>
                <a:t>  </a:t>
              </a:r>
              <a:endParaRPr lang="en-GB" altLang="en-US" sz="3200">
                <a:solidFill>
                  <a:srgbClr val="000000"/>
                </a:solidFill>
              </a:endParaRPr>
            </a:p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GB" altLang="en-US" sz="320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2711451" y="5445125"/>
            <a:ext cx="4505325" cy="615950"/>
            <a:chOff x="1187450" y="5445125"/>
            <a:chExt cx="4505325" cy="615950"/>
          </a:xfrm>
        </p:grpSpPr>
        <p:pic>
          <p:nvPicPr>
            <p:cNvPr id="6154" name="Picture 25" descr="Dice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450" y="5445125"/>
              <a:ext cx="611188" cy="611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5" name="Picture 26" descr="Dic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613" y="5445125"/>
              <a:ext cx="615950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6" name="Picture 27" descr="Dic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5113" y="5445125"/>
              <a:ext cx="615950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7" name="Picture 28" descr="Dic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938" y="5445125"/>
              <a:ext cx="615950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8" name="Picture 29" descr="Dic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5445125"/>
              <a:ext cx="615950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9" name="Picture 30" descr="Dic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825" y="5445125"/>
              <a:ext cx="615950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9" name="Picture 28" descr="Dic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4429125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992314" y="2205039"/>
            <a:ext cx="8675687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6000" i="1">
                <a:solidFill>
                  <a:srgbClr val="000000"/>
                </a:solidFill>
              </a:rPr>
              <a:t>How do we measure probability?</a:t>
            </a:r>
          </a:p>
        </p:txBody>
      </p:sp>
      <p:pic>
        <p:nvPicPr>
          <p:cNvPr id="10243" name="Picture 3" descr="MCj0431512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88914"/>
            <a:ext cx="190817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47850" y="404813"/>
            <a:ext cx="8496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5400">
                <a:solidFill>
                  <a:srgbClr val="000000"/>
                </a:solidFill>
              </a:rPr>
              <a:t>Probability scale</a:t>
            </a:r>
            <a:r>
              <a:rPr lang="en-GB" alt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1954213" y="3213100"/>
            <a:ext cx="828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970338" y="3068638"/>
            <a:ext cx="4176712" cy="215900"/>
            <a:chOff x="1519" y="2160"/>
            <a:chExt cx="2631" cy="136"/>
          </a:xfrm>
        </p:grpSpPr>
        <p:sp>
          <p:nvSpPr>
            <p:cNvPr id="8221" name="Line 10"/>
            <p:cNvSpPr>
              <a:spLocks noChangeShapeType="1"/>
            </p:cNvSpPr>
            <p:nvPr/>
          </p:nvSpPr>
          <p:spPr bwMode="auto">
            <a:xfrm flipV="1">
              <a:off x="151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22" name="Line 11"/>
            <p:cNvSpPr>
              <a:spLocks noChangeShapeType="1"/>
            </p:cNvSpPr>
            <p:nvPr/>
          </p:nvSpPr>
          <p:spPr bwMode="auto">
            <a:xfrm flipV="1">
              <a:off x="4150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668464" y="1898650"/>
            <a:ext cx="790575" cy="1385888"/>
            <a:chOff x="69" y="1423"/>
            <a:chExt cx="498" cy="873"/>
          </a:xfrm>
        </p:grpSpPr>
        <p:sp>
          <p:nvSpPr>
            <p:cNvPr id="8219" name="Line 6"/>
            <p:cNvSpPr>
              <a:spLocks noChangeShapeType="1"/>
            </p:cNvSpPr>
            <p:nvPr/>
          </p:nvSpPr>
          <p:spPr bwMode="auto">
            <a:xfrm flipV="1">
              <a:off x="24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20" name="Text Box 15"/>
            <p:cNvSpPr txBox="1">
              <a:spLocks noChangeArrowheads="1"/>
            </p:cNvSpPr>
            <p:nvPr/>
          </p:nvSpPr>
          <p:spPr bwMode="auto">
            <a:xfrm>
              <a:off x="69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9877426" y="1898650"/>
            <a:ext cx="790575" cy="1385888"/>
            <a:chOff x="5240" y="1423"/>
            <a:chExt cx="498" cy="873"/>
          </a:xfrm>
        </p:grpSpPr>
        <p:sp>
          <p:nvSpPr>
            <p:cNvPr id="8217" name="Line 7"/>
            <p:cNvSpPr>
              <a:spLocks noChangeShapeType="1"/>
            </p:cNvSpPr>
            <p:nvPr/>
          </p:nvSpPr>
          <p:spPr bwMode="auto">
            <a:xfrm flipV="1">
              <a:off x="546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18" name="Text Box 16"/>
            <p:cNvSpPr txBox="1">
              <a:spLocks noChangeArrowheads="1"/>
            </p:cNvSpPr>
            <p:nvPr/>
          </p:nvSpPr>
          <p:spPr bwMode="auto">
            <a:xfrm>
              <a:off x="5240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338764" y="1916114"/>
            <a:ext cx="1368425" cy="1368425"/>
            <a:chOff x="2381" y="1434"/>
            <a:chExt cx="862" cy="862"/>
          </a:xfrm>
        </p:grpSpPr>
        <p:sp>
          <p:nvSpPr>
            <p:cNvPr id="8215" name="Line 8"/>
            <p:cNvSpPr>
              <a:spLocks noChangeShapeType="1"/>
            </p:cNvSpPr>
            <p:nvPr/>
          </p:nvSpPr>
          <p:spPr bwMode="auto">
            <a:xfrm flipV="1">
              <a:off x="283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16" name="Text Box 17"/>
            <p:cNvSpPr txBox="1">
              <a:spLocks noChangeArrowheads="1"/>
            </p:cNvSpPr>
            <p:nvPr/>
          </p:nvSpPr>
          <p:spPr bwMode="auto">
            <a:xfrm>
              <a:off x="2381" y="1434"/>
              <a:ext cx="862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0.5</a:t>
              </a: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5448300" y="5949951"/>
            <a:ext cx="1943100" cy="576263"/>
            <a:chOff x="2472" y="3793"/>
            <a:chExt cx="1224" cy="363"/>
          </a:xfrm>
        </p:grpSpPr>
        <p:sp>
          <p:nvSpPr>
            <p:cNvPr id="8213" name="Text Box 22"/>
            <p:cNvSpPr txBox="1">
              <a:spLocks noChangeArrowheads="1"/>
            </p:cNvSpPr>
            <p:nvPr/>
          </p:nvSpPr>
          <p:spPr bwMode="auto">
            <a:xfrm>
              <a:off x="2477" y="3838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CERTAIN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4" name="Oval 27"/>
            <p:cNvSpPr>
              <a:spLocks noChangeArrowheads="1"/>
            </p:cNvSpPr>
            <p:nvPr/>
          </p:nvSpPr>
          <p:spPr bwMode="auto">
            <a:xfrm>
              <a:off x="2472" y="3793"/>
              <a:ext cx="862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1847851" y="5949951"/>
            <a:ext cx="1935163" cy="576263"/>
            <a:chOff x="2699" y="3612"/>
            <a:chExt cx="1219" cy="363"/>
          </a:xfrm>
        </p:grpSpPr>
        <p:sp>
          <p:nvSpPr>
            <p:cNvPr id="8211" name="Text Box 33"/>
            <p:cNvSpPr txBox="1">
              <a:spLocks noChangeArrowheads="1"/>
            </p:cNvSpPr>
            <p:nvPr/>
          </p:nvSpPr>
          <p:spPr bwMode="auto">
            <a:xfrm>
              <a:off x="2699" y="3657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2" name="Oval 34"/>
            <p:cNvSpPr>
              <a:spLocks noChangeArrowheads="1"/>
            </p:cNvSpPr>
            <p:nvPr/>
          </p:nvSpPr>
          <p:spPr bwMode="auto">
            <a:xfrm>
              <a:off x="2742" y="3612"/>
              <a:ext cx="771" cy="363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7113588" y="5876926"/>
            <a:ext cx="1935162" cy="720725"/>
            <a:chOff x="3696" y="2432"/>
            <a:chExt cx="1219" cy="454"/>
          </a:xfrm>
        </p:grpSpPr>
        <p:sp>
          <p:nvSpPr>
            <p:cNvPr id="8209" name="Text Box 35"/>
            <p:cNvSpPr txBox="1">
              <a:spLocks noChangeArrowheads="1"/>
            </p:cNvSpPr>
            <p:nvPr/>
          </p:nvSpPr>
          <p:spPr bwMode="auto">
            <a:xfrm>
              <a:off x="3696" y="2523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UNLIKELY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0" name="Oval 36"/>
            <p:cNvSpPr>
              <a:spLocks noChangeArrowheads="1"/>
            </p:cNvSpPr>
            <p:nvPr/>
          </p:nvSpPr>
          <p:spPr bwMode="auto">
            <a:xfrm>
              <a:off x="3696" y="2432"/>
              <a:ext cx="862" cy="454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3432176" y="5949951"/>
            <a:ext cx="1935163" cy="576263"/>
            <a:chOff x="793" y="2251"/>
            <a:chExt cx="1219" cy="363"/>
          </a:xfrm>
        </p:grpSpPr>
        <p:sp>
          <p:nvSpPr>
            <p:cNvPr id="8207" name="Text Box 37"/>
            <p:cNvSpPr txBox="1">
              <a:spLocks noChangeArrowheads="1"/>
            </p:cNvSpPr>
            <p:nvPr/>
          </p:nvSpPr>
          <p:spPr bwMode="auto">
            <a:xfrm>
              <a:off x="793" y="2296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IMPOSSIBLE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08" name="Oval 38"/>
            <p:cNvSpPr>
              <a:spLocks noChangeArrowheads="1"/>
            </p:cNvSpPr>
            <p:nvPr/>
          </p:nvSpPr>
          <p:spPr bwMode="auto">
            <a:xfrm>
              <a:off x="793" y="2251"/>
              <a:ext cx="108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8732838" y="5949951"/>
            <a:ext cx="1935162" cy="576263"/>
            <a:chOff x="3696" y="3657"/>
            <a:chExt cx="1219" cy="363"/>
          </a:xfrm>
        </p:grpSpPr>
        <p:sp>
          <p:nvSpPr>
            <p:cNvPr id="8205" name="Text Box 39"/>
            <p:cNvSpPr txBox="1">
              <a:spLocks noChangeArrowheads="1"/>
            </p:cNvSpPr>
            <p:nvPr/>
          </p:nvSpPr>
          <p:spPr bwMode="auto">
            <a:xfrm>
              <a:off x="3696" y="3702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 EVEN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06" name="Oval 40"/>
            <p:cNvSpPr>
              <a:spLocks noChangeArrowheads="1"/>
            </p:cNvSpPr>
            <p:nvPr/>
          </p:nvSpPr>
          <p:spPr bwMode="auto">
            <a:xfrm>
              <a:off x="3739" y="3657"/>
              <a:ext cx="72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5 -0.01042 L -0.19479 -0.3891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74" y="-1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85 -0.05255 L 0.33698 -0.3884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50" y="-1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22 -0.05255 L -0.26979 -0.3891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35" y="-1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46484 -0.3828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42" y="-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7.40741E-7 L -0.32852 -0.3884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32" y="-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47850" y="404813"/>
            <a:ext cx="8496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5400">
                <a:solidFill>
                  <a:srgbClr val="000000"/>
                </a:solidFill>
              </a:rPr>
              <a:t>Probability scale</a:t>
            </a:r>
            <a:r>
              <a:rPr lang="en-GB" alt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1954213" y="3213100"/>
            <a:ext cx="828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3970338" y="3068638"/>
            <a:ext cx="4176712" cy="215900"/>
            <a:chOff x="1519" y="2160"/>
            <a:chExt cx="2631" cy="136"/>
          </a:xfrm>
        </p:grpSpPr>
        <p:sp>
          <p:nvSpPr>
            <p:cNvPr id="9264" name="Line 5"/>
            <p:cNvSpPr>
              <a:spLocks noChangeShapeType="1"/>
            </p:cNvSpPr>
            <p:nvPr/>
          </p:nvSpPr>
          <p:spPr bwMode="auto">
            <a:xfrm flipV="1">
              <a:off x="151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5" name="Line 6"/>
            <p:cNvSpPr>
              <a:spLocks noChangeShapeType="1"/>
            </p:cNvSpPr>
            <p:nvPr/>
          </p:nvSpPr>
          <p:spPr bwMode="auto">
            <a:xfrm flipV="1">
              <a:off x="4150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9221" name="Group 7"/>
          <p:cNvGrpSpPr>
            <a:grpSpLocks/>
          </p:cNvGrpSpPr>
          <p:nvPr/>
        </p:nvGrpSpPr>
        <p:grpSpPr bwMode="auto">
          <a:xfrm>
            <a:off x="1668464" y="1898650"/>
            <a:ext cx="790575" cy="1385888"/>
            <a:chOff x="69" y="1423"/>
            <a:chExt cx="498" cy="873"/>
          </a:xfrm>
        </p:grpSpPr>
        <p:sp>
          <p:nvSpPr>
            <p:cNvPr id="9262" name="Line 8"/>
            <p:cNvSpPr>
              <a:spLocks noChangeShapeType="1"/>
            </p:cNvSpPr>
            <p:nvPr/>
          </p:nvSpPr>
          <p:spPr bwMode="auto">
            <a:xfrm flipV="1">
              <a:off x="24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3" name="Text Box 9"/>
            <p:cNvSpPr txBox="1">
              <a:spLocks noChangeArrowheads="1"/>
            </p:cNvSpPr>
            <p:nvPr/>
          </p:nvSpPr>
          <p:spPr bwMode="auto">
            <a:xfrm>
              <a:off x="69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9222" name="Group 13"/>
          <p:cNvGrpSpPr>
            <a:grpSpLocks/>
          </p:cNvGrpSpPr>
          <p:nvPr/>
        </p:nvGrpSpPr>
        <p:grpSpPr bwMode="auto">
          <a:xfrm>
            <a:off x="5338764" y="1916114"/>
            <a:ext cx="1368425" cy="1368425"/>
            <a:chOff x="2381" y="1434"/>
            <a:chExt cx="862" cy="862"/>
          </a:xfrm>
        </p:grpSpPr>
        <p:sp>
          <p:nvSpPr>
            <p:cNvPr id="9260" name="Line 14"/>
            <p:cNvSpPr>
              <a:spLocks noChangeShapeType="1"/>
            </p:cNvSpPr>
            <p:nvPr/>
          </p:nvSpPr>
          <p:spPr bwMode="auto">
            <a:xfrm flipV="1">
              <a:off x="283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1" name="Text Box 15"/>
            <p:cNvSpPr txBox="1">
              <a:spLocks noChangeArrowheads="1"/>
            </p:cNvSpPr>
            <p:nvPr/>
          </p:nvSpPr>
          <p:spPr bwMode="auto">
            <a:xfrm>
              <a:off x="2381" y="1434"/>
              <a:ext cx="862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0.5</a:t>
              </a:r>
            </a:p>
          </p:txBody>
        </p:sp>
      </p:grpSp>
      <p:grpSp>
        <p:nvGrpSpPr>
          <p:cNvPr id="9223" name="Group 16"/>
          <p:cNvGrpSpPr>
            <a:grpSpLocks/>
          </p:cNvGrpSpPr>
          <p:nvPr/>
        </p:nvGrpSpPr>
        <p:grpSpPr bwMode="auto">
          <a:xfrm>
            <a:off x="9191625" y="3284538"/>
            <a:ext cx="1943100" cy="576262"/>
            <a:chOff x="2472" y="3793"/>
            <a:chExt cx="1224" cy="363"/>
          </a:xfrm>
        </p:grpSpPr>
        <p:sp>
          <p:nvSpPr>
            <p:cNvPr id="9258" name="Text Box 17"/>
            <p:cNvSpPr txBox="1">
              <a:spLocks noChangeArrowheads="1"/>
            </p:cNvSpPr>
            <p:nvPr/>
          </p:nvSpPr>
          <p:spPr bwMode="auto">
            <a:xfrm>
              <a:off x="2477" y="3838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CERTAIN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9" name="Oval 18"/>
            <p:cNvSpPr>
              <a:spLocks noChangeArrowheads="1"/>
            </p:cNvSpPr>
            <p:nvPr/>
          </p:nvSpPr>
          <p:spPr bwMode="auto">
            <a:xfrm>
              <a:off x="2472" y="3793"/>
              <a:ext cx="862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4" name="Group 19"/>
          <p:cNvGrpSpPr>
            <a:grpSpLocks/>
          </p:cNvGrpSpPr>
          <p:nvPr/>
        </p:nvGrpSpPr>
        <p:grpSpPr bwMode="auto">
          <a:xfrm>
            <a:off x="7464426" y="3284538"/>
            <a:ext cx="1935163" cy="576262"/>
            <a:chOff x="2699" y="3612"/>
            <a:chExt cx="1219" cy="363"/>
          </a:xfrm>
        </p:grpSpPr>
        <p:sp>
          <p:nvSpPr>
            <p:cNvPr id="9256" name="Text Box 20"/>
            <p:cNvSpPr txBox="1">
              <a:spLocks noChangeArrowheads="1"/>
            </p:cNvSpPr>
            <p:nvPr/>
          </p:nvSpPr>
          <p:spPr bwMode="auto">
            <a:xfrm>
              <a:off x="2699" y="3657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7" name="Oval 21"/>
            <p:cNvSpPr>
              <a:spLocks noChangeArrowheads="1"/>
            </p:cNvSpPr>
            <p:nvPr/>
          </p:nvSpPr>
          <p:spPr bwMode="auto">
            <a:xfrm>
              <a:off x="2742" y="3612"/>
              <a:ext cx="771" cy="363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5" name="Group 22"/>
          <p:cNvGrpSpPr>
            <a:grpSpLocks/>
          </p:cNvGrpSpPr>
          <p:nvPr/>
        </p:nvGrpSpPr>
        <p:grpSpPr bwMode="auto">
          <a:xfrm>
            <a:off x="3503613" y="3284539"/>
            <a:ext cx="1935162" cy="720725"/>
            <a:chOff x="3696" y="2432"/>
            <a:chExt cx="1219" cy="454"/>
          </a:xfrm>
        </p:grpSpPr>
        <p:sp>
          <p:nvSpPr>
            <p:cNvPr id="9254" name="Text Box 23"/>
            <p:cNvSpPr txBox="1">
              <a:spLocks noChangeArrowheads="1"/>
            </p:cNvSpPr>
            <p:nvPr/>
          </p:nvSpPr>
          <p:spPr bwMode="auto">
            <a:xfrm>
              <a:off x="3696" y="2523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UNLIKELY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5" name="Oval 24"/>
            <p:cNvSpPr>
              <a:spLocks noChangeArrowheads="1"/>
            </p:cNvSpPr>
            <p:nvPr/>
          </p:nvSpPr>
          <p:spPr bwMode="auto">
            <a:xfrm>
              <a:off x="3696" y="2432"/>
              <a:ext cx="862" cy="454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6" name="Group 25"/>
          <p:cNvGrpSpPr>
            <a:grpSpLocks/>
          </p:cNvGrpSpPr>
          <p:nvPr/>
        </p:nvGrpSpPr>
        <p:grpSpPr bwMode="auto">
          <a:xfrm>
            <a:off x="1568451" y="3284538"/>
            <a:ext cx="1935163" cy="576262"/>
            <a:chOff x="793" y="2251"/>
            <a:chExt cx="1219" cy="363"/>
          </a:xfrm>
        </p:grpSpPr>
        <p:sp>
          <p:nvSpPr>
            <p:cNvPr id="9252" name="Text Box 26"/>
            <p:cNvSpPr txBox="1">
              <a:spLocks noChangeArrowheads="1"/>
            </p:cNvSpPr>
            <p:nvPr/>
          </p:nvSpPr>
          <p:spPr bwMode="auto">
            <a:xfrm>
              <a:off x="793" y="2296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IMPOSSIBLE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3" name="Oval 27"/>
            <p:cNvSpPr>
              <a:spLocks noChangeArrowheads="1"/>
            </p:cNvSpPr>
            <p:nvPr/>
          </p:nvSpPr>
          <p:spPr bwMode="auto">
            <a:xfrm>
              <a:off x="793" y="2251"/>
              <a:ext cx="108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7" name="Group 28"/>
          <p:cNvGrpSpPr>
            <a:grpSpLocks/>
          </p:cNvGrpSpPr>
          <p:nvPr/>
        </p:nvGrpSpPr>
        <p:grpSpPr bwMode="auto">
          <a:xfrm>
            <a:off x="5448301" y="3284538"/>
            <a:ext cx="1935163" cy="576262"/>
            <a:chOff x="3696" y="3657"/>
            <a:chExt cx="1219" cy="363"/>
          </a:xfrm>
        </p:grpSpPr>
        <p:sp>
          <p:nvSpPr>
            <p:cNvPr id="9250" name="Text Box 29"/>
            <p:cNvSpPr txBox="1">
              <a:spLocks noChangeArrowheads="1"/>
            </p:cNvSpPr>
            <p:nvPr/>
          </p:nvSpPr>
          <p:spPr bwMode="auto">
            <a:xfrm>
              <a:off x="3696" y="3702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 EVEN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1" name="Oval 30"/>
            <p:cNvSpPr>
              <a:spLocks noChangeArrowheads="1"/>
            </p:cNvSpPr>
            <p:nvPr/>
          </p:nvSpPr>
          <p:spPr bwMode="auto">
            <a:xfrm>
              <a:off x="3739" y="3657"/>
              <a:ext cx="72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33" name="Group 10"/>
          <p:cNvGrpSpPr>
            <a:grpSpLocks/>
          </p:cNvGrpSpPr>
          <p:nvPr/>
        </p:nvGrpSpPr>
        <p:grpSpPr bwMode="auto">
          <a:xfrm>
            <a:off x="9877426" y="1898650"/>
            <a:ext cx="790575" cy="1385888"/>
            <a:chOff x="5240" y="1423"/>
            <a:chExt cx="498" cy="873"/>
          </a:xfrm>
        </p:grpSpPr>
        <p:sp>
          <p:nvSpPr>
            <p:cNvPr id="9244" name="Line 11"/>
            <p:cNvSpPr>
              <a:spLocks noChangeShapeType="1"/>
            </p:cNvSpPr>
            <p:nvPr/>
          </p:nvSpPr>
          <p:spPr bwMode="auto">
            <a:xfrm flipV="1">
              <a:off x="546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45" name="Text Box 12"/>
            <p:cNvSpPr txBox="1">
              <a:spLocks noChangeArrowheads="1"/>
            </p:cNvSpPr>
            <p:nvPr/>
          </p:nvSpPr>
          <p:spPr bwMode="auto">
            <a:xfrm>
              <a:off x="5240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E49593C-70F5-4A0C-B169-84E80E8A270E}"/>
              </a:ext>
            </a:extLst>
          </p:cNvPr>
          <p:cNvSpPr txBox="1"/>
          <p:nvPr/>
        </p:nvSpPr>
        <p:spPr>
          <a:xfrm>
            <a:off x="8957569" y="337351"/>
            <a:ext cx="209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</a:t>
            </a:r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16C4-FFA9-587C-465B-81968F94B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F9B39-344A-6708-4E3E-6F260DE6C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200" b="1" dirty="0"/>
              <a:t>Exercise 8G, Q1-5 Cambridge text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116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BEST BUYS </a:t>
            </a:r>
            <a:br>
              <a:rPr lang="en-AU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AU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br>
              <a:rPr lang="en-AU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AU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UNIT PRICING</a:t>
            </a:r>
            <a:endParaRPr lang="en-AU" sz="5400" dirty="0">
              <a:solidFill>
                <a:schemeClr val="accent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66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20114" y="397767"/>
            <a:ext cx="3516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BEST BUYS and UNIT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104" y="1089328"/>
            <a:ext cx="104162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Requirements for this task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57673" y="1245428"/>
            <a:ext cx="3333551" cy="46395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916" y="1693628"/>
            <a:ext cx="2840141" cy="39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78942" y="-815908"/>
            <a:ext cx="1923960" cy="780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104" y="922179"/>
            <a:ext cx="1041620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Instructions</a:t>
            </a:r>
          </a:p>
          <a:p>
            <a:endParaRPr lang="en-AU" dirty="0"/>
          </a:p>
          <a:p>
            <a:r>
              <a:rPr lang="en-AU" dirty="0"/>
              <a:t>1. Find a similar item to the one in the table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soft drink</a:t>
            </a:r>
          </a:p>
          <a:p>
            <a:r>
              <a:rPr lang="en-AU" dirty="0"/>
              <a:t>            Coke, Fanta, Sprite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 Copy the details from the brochure onto the table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Compare the cost of the items. Which is cheaper?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220114" y="397767"/>
            <a:ext cx="3175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BEST BUYS and UNIT PRICING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62588" y="2439247"/>
            <a:ext cx="2154636" cy="20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4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78942" y="-815908"/>
            <a:ext cx="1923960" cy="780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104" y="922179"/>
            <a:ext cx="104162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Instructions</a:t>
            </a:r>
          </a:p>
          <a:p>
            <a:endParaRPr lang="en-AU" dirty="0"/>
          </a:p>
          <a:p>
            <a:r>
              <a:rPr lang="en-AU" dirty="0"/>
              <a:t>1. Find a similar item to the one in the table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soft drink</a:t>
            </a:r>
          </a:p>
          <a:p>
            <a:r>
              <a:rPr lang="en-AU" dirty="0"/>
              <a:t>            Coke, Fanta, Sprite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 Copy the details from the brochure onto the table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Compare the cost of the items. Which is cheaper?</a:t>
            </a:r>
          </a:p>
          <a:p>
            <a:r>
              <a:rPr lang="en-AU" dirty="0"/>
              <a:t>	</a:t>
            </a:r>
          </a:p>
          <a:p>
            <a:r>
              <a:rPr lang="en-AU" sz="1600" dirty="0">
                <a:solidFill>
                  <a:schemeClr val="accent5">
                    <a:lumMod val="75000"/>
                  </a:schemeClr>
                </a:solidFill>
              </a:rPr>
              <a:t>Pepsi Max and Solo, at 73 cents per can, compared to 77 cents per can for Coke, Fanta, Sprite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220114" y="397767"/>
            <a:ext cx="3175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BEST BUYS and UNIT PRICING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62588" y="2439247"/>
            <a:ext cx="2154636" cy="20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4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78942" y="-815908"/>
            <a:ext cx="1923960" cy="780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104" y="922179"/>
            <a:ext cx="1041620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Another example</a:t>
            </a:r>
          </a:p>
          <a:p>
            <a:endParaRPr lang="en-AU" dirty="0"/>
          </a:p>
          <a:p>
            <a:r>
              <a:rPr lang="en-AU" dirty="0"/>
              <a:t>1. Find a similar item to the one in the table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Vanilla </a:t>
            </a:r>
            <a:r>
              <a:rPr lang="en-AU" dirty="0" err="1"/>
              <a:t>icecream</a:t>
            </a:r>
            <a:r>
              <a:rPr lang="en-AU" dirty="0"/>
              <a:t> </a:t>
            </a:r>
            <a:r>
              <a:rPr lang="en-AU" dirty="0" err="1"/>
              <a:t>Connisseur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 Copy the details from the brochure onto the table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Compare the cost of the items. Which is cheaper; </a:t>
            </a:r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the 2021 or 2022 price for the same item?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220114" y="397767"/>
            <a:ext cx="3175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BEST BUYS and UNIT PRICING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817" y="1468169"/>
            <a:ext cx="2235708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78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78942" y="-815908"/>
            <a:ext cx="1923960" cy="7809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104" y="922179"/>
            <a:ext cx="10416209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 third example - cheese</a:t>
            </a:r>
          </a:p>
          <a:p>
            <a:endParaRPr lang="en-AU" dirty="0"/>
          </a:p>
          <a:p>
            <a:r>
              <a:rPr lang="en-AU" dirty="0"/>
              <a:t>1. What do you look for in the brochure?</a:t>
            </a:r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 Where do you copy the details?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How do the prices compare?</a:t>
            </a:r>
          </a:p>
          <a:p>
            <a:endParaRPr lang="en-AU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AU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AU" sz="2800">
                <a:solidFill>
                  <a:schemeClr val="accent5">
                    <a:lumMod val="75000"/>
                  </a:schemeClr>
                </a:solidFill>
              </a:rPr>
              <a:t>NOW CONTINUE </a:t>
            </a:r>
            <a:r>
              <a:rPr lang="en-AU" sz="2800" dirty="0">
                <a:solidFill>
                  <a:schemeClr val="accent5">
                    <a:lumMod val="75000"/>
                  </a:schemeClr>
                </a:solidFill>
              </a:rPr>
              <a:t>THE EXERCISE</a:t>
            </a:r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220114" y="397767"/>
            <a:ext cx="3516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BEST BUYS and UNIT PRICING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21555" y="2252102"/>
            <a:ext cx="2827283" cy="252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553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</TotalTime>
  <Words>589</Words>
  <Application>Microsoft Office PowerPoint</Application>
  <PresentationFormat>Widescreen</PresentationFormat>
  <Paragraphs>137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Cambria Math</vt:lpstr>
      <vt:lpstr>Trebuchet MS</vt:lpstr>
      <vt:lpstr>Wingdings</vt:lpstr>
      <vt:lpstr>Wingdings 3</vt:lpstr>
      <vt:lpstr>Facet</vt:lpstr>
      <vt:lpstr>Default Design</vt:lpstr>
      <vt:lpstr>Year 7 Lesson 1 for Rhys and Patrick  The concurrent topics are Describing Chance and Best Buys.  Describing Chance is Exercises 8G, 8H, and 8I of Cambridge Second Edition. Patrick, if you can’t find a set of Cambridge texts then take the set from Room 6.  There are almost no resources that Will and I could find for Best Buys so I have put together exercises for our students. I have just written this Powerpoint to make the activities more user-friendly. I will continue writing Powerpoints for the  rest of the activities.  Delete this slide before using the Powerpoint in class. Limit the Probability exercise to less than half of the lesson. I have class sets of shopping brochures for all the students.  You will get a copy of the worksheet on Tuesday.  </vt:lpstr>
      <vt:lpstr> Title: PROBABILITY and BEST BUYS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  <vt:lpstr>BEST BUYS  and  UNIT PRICING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BUYS  and  UNIT PRICING</dc:title>
  <dc:creator>FORREST Cassie [Busselton Senior High School]</dc:creator>
  <cp:lastModifiedBy>DAVIES Rhys [Busselton Senior High School]</cp:lastModifiedBy>
  <cp:revision>32</cp:revision>
  <dcterms:created xsi:type="dcterms:W3CDTF">2022-04-24T01:56:44Z</dcterms:created>
  <dcterms:modified xsi:type="dcterms:W3CDTF">2023-05-09T03:29:38Z</dcterms:modified>
</cp:coreProperties>
</file>
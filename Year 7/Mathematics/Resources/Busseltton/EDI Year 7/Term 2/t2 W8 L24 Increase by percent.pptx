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3" r:id="rId1"/>
  </p:sldMasterIdLst>
  <p:notesMasterIdLst>
    <p:notesMasterId r:id="rId22"/>
  </p:notesMasterIdLst>
  <p:sldIdLst>
    <p:sldId id="256" r:id="rId2"/>
    <p:sldId id="273" r:id="rId3"/>
    <p:sldId id="277" r:id="rId4"/>
    <p:sldId id="285" r:id="rId5"/>
    <p:sldId id="286" r:id="rId6"/>
    <p:sldId id="287" r:id="rId7"/>
    <p:sldId id="288" r:id="rId8"/>
    <p:sldId id="289" r:id="rId9"/>
    <p:sldId id="278" r:id="rId10"/>
    <p:sldId id="279" r:id="rId11"/>
    <p:sldId id="280" r:id="rId12"/>
    <p:sldId id="261" r:id="rId13"/>
    <p:sldId id="262" r:id="rId14"/>
    <p:sldId id="263" r:id="rId15"/>
    <p:sldId id="281" r:id="rId16"/>
    <p:sldId id="282" r:id="rId17"/>
    <p:sldId id="283" r:id="rId18"/>
    <p:sldId id="274" r:id="rId19"/>
    <p:sldId id="276" r:id="rId20"/>
    <p:sldId id="284" r:id="rId21"/>
  </p:sldIdLst>
  <p:sldSz cx="9144000" cy="6858000" type="screen4x3"/>
  <p:notesSz cx="6645275" cy="9174163"/>
  <p:defaultTextStyle>
    <a:defPPr>
      <a:defRPr lang="en-US"/>
    </a:defPPr>
    <a:lvl1pPr algn="l" rtl="0" fontAlgn="base">
      <a:spcBef>
        <a:spcPct val="20000"/>
      </a:spcBef>
      <a:spcAft>
        <a:spcPct val="0"/>
      </a:spcAft>
      <a:buClr>
        <a:schemeClr val="tx2"/>
      </a:buClr>
      <a:buChar char="•"/>
      <a:defRPr sz="3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20000"/>
      </a:spcBef>
      <a:spcAft>
        <a:spcPct val="0"/>
      </a:spcAft>
      <a:buClr>
        <a:schemeClr val="tx2"/>
      </a:buClr>
      <a:buChar char="•"/>
      <a:defRPr sz="3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20000"/>
      </a:spcBef>
      <a:spcAft>
        <a:spcPct val="0"/>
      </a:spcAft>
      <a:buClr>
        <a:schemeClr val="tx2"/>
      </a:buClr>
      <a:buChar char="•"/>
      <a:defRPr sz="3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20000"/>
      </a:spcBef>
      <a:spcAft>
        <a:spcPct val="0"/>
      </a:spcAft>
      <a:buClr>
        <a:schemeClr val="tx2"/>
      </a:buClr>
      <a:buChar char="•"/>
      <a:defRPr sz="3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20000"/>
      </a:spcBef>
      <a:spcAft>
        <a:spcPct val="0"/>
      </a:spcAft>
      <a:buClr>
        <a:schemeClr val="tx2"/>
      </a:buClr>
      <a:buChar char="•"/>
      <a:defRPr sz="3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32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32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32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3200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1" d="100"/>
          <a:sy n="81" d="100"/>
        </p:scale>
        <p:origin x="1498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79725" cy="458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buClrTx/>
              <a:buFontTx/>
              <a:buNone/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763963" y="0"/>
            <a:ext cx="2879725" cy="458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buClrTx/>
              <a:buFontTx/>
              <a:buNone/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17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027113" y="687388"/>
            <a:ext cx="4591050" cy="34417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24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65163" y="4357688"/>
            <a:ext cx="5314950" cy="4129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024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713788"/>
            <a:ext cx="2879725" cy="458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buClrTx/>
              <a:buFontTx/>
              <a:buNone/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4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763963" y="8713788"/>
            <a:ext cx="2879725" cy="458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buClrTx/>
              <a:buFontTx/>
              <a:buNone/>
              <a:defRPr sz="1200"/>
            </a:lvl1pPr>
          </a:lstStyle>
          <a:p>
            <a:pPr>
              <a:defRPr/>
            </a:pPr>
            <a:fld id="{E8B0DEE2-DDC1-4DEB-BA56-F1EB45B65C1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892089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CE3261-4F50-471A-8035-018620427D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7923555-871D-4BA4-A5C5-89713B874B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1FA2AC-8017-4BDA-A841-BB9806E271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108FD3-D213-4E3C-B5FD-2ED61DD53376}" type="datetimeFigureOut">
              <a:rPr lang="en-AU" smtClean="0"/>
              <a:t>14/06/2023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EA8C8D-D56D-4716-810F-DD7DC973E9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35E3E8-23F0-43DD-85DE-A2FA9FF679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1406B-0190-45D5-BA0C-84425F658BB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889470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20FA33-4AE6-4305-8700-A7EDD202E6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4AC46B-7753-4B3B-AF4C-0121CB200E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816428-9F59-4CD1-BE5D-096F5E6F7D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108FD3-D213-4E3C-B5FD-2ED61DD53376}" type="datetimeFigureOut">
              <a:rPr lang="en-AU" smtClean="0"/>
              <a:t>14/06/2023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28C0C2-EA24-4428-971A-7580EC09FB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F518BD-6270-4BD4-BD25-F787758BD0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1406B-0190-45D5-BA0C-84425F658BB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084411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6F94D9-3AA2-4EE3-A081-A6812AE104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E88EA5-8350-4720-93E6-779F956AE6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A8471C-9D35-4349-8223-12EE390F3D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108FD3-D213-4E3C-B5FD-2ED61DD53376}" type="datetimeFigureOut">
              <a:rPr lang="en-AU" smtClean="0"/>
              <a:t>14/06/2023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91DA11-662C-4ADD-92A9-D4CDDDBCA7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96ECB3-6962-4A4E-870E-D56D9514B7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1406B-0190-45D5-BA0C-84425F658BB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74420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C7D04C-E15F-408A-A9B7-24B2521BDC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B3B729-3BE6-40E5-B976-B7B19592C7D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63E58A-675F-40F1-A430-2B7D6126EB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4B9D36-0A2F-4355-BBE7-B94F29092B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108FD3-D213-4E3C-B5FD-2ED61DD53376}" type="datetimeFigureOut">
              <a:rPr lang="en-AU" smtClean="0"/>
              <a:t>14/06/2023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ABD8D8-6124-4C5F-9073-1D9FF9DA30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7C26DD-EA50-4208-9C6F-61B9524BDB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1406B-0190-45D5-BA0C-84425F658BB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578267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7E6CE9-B553-4294-B73B-E88F4EF96C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320B63-E6CE-4D0F-9F71-0BEFB30E22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36971A-4E49-4249-AAF2-A9AECD6291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0C05230-F54D-4495-83E2-0138C590A29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29AEB9E-8588-4AF3-A8D7-BB5C7FB4C4F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ACBA6F8-1BED-4D81-A52B-0905DA4555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108FD3-D213-4E3C-B5FD-2ED61DD53376}" type="datetimeFigureOut">
              <a:rPr lang="en-AU" smtClean="0"/>
              <a:t>14/06/2023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72A562C-E599-40B2-A9FB-A5FC80AAE0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DE3B571-8013-4F1D-92E4-29395EC273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1406B-0190-45D5-BA0C-84425F658BB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970284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F00FF8-41CA-4280-8628-A4CD50BB49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F6E3968-63A5-446E-8E06-F48027F87F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108FD3-D213-4E3C-B5FD-2ED61DD53376}" type="datetimeFigureOut">
              <a:rPr lang="en-AU" smtClean="0"/>
              <a:t>14/06/2023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31E3996-736E-42B4-8F85-352D148D91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055CDD-B5FB-4311-8CDA-53EDABA3AE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1406B-0190-45D5-BA0C-84425F658BB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593915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39B6046-3470-47A6-B75C-20D9F179E3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108FD3-D213-4E3C-B5FD-2ED61DD53376}" type="datetimeFigureOut">
              <a:rPr lang="en-AU" smtClean="0"/>
              <a:t>14/06/2023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4103D1B-D98C-4B11-873A-3A41DBE7F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FDCB1B-0D7D-4622-A51A-C4D5D3062E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1406B-0190-45D5-BA0C-84425F658BB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230251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0DE2DF-2C47-48FD-B986-E8AD6622B1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2FB74A-4733-4AD7-AE33-67CFB15DCF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19E084-4373-4B79-B4D7-AF61B313CB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AB51FA-93D2-4598-87B9-73457CD1DB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108FD3-D213-4E3C-B5FD-2ED61DD53376}" type="datetimeFigureOut">
              <a:rPr lang="en-AU" smtClean="0"/>
              <a:t>14/06/2023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D31C29-4314-4970-8346-61B6E604CC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731F96-788F-4D7A-AC9B-1C109770BA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1406B-0190-45D5-BA0C-84425F658BB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907670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790EDB-65B5-46CA-8653-F5462FE08C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E71B9D0-F227-4FB1-9310-0F1352906B3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917F3F-D2C1-45BF-BAA3-9DD1DD3D0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022990-ABAF-4DE8-B2C1-B493A9D687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108FD3-D213-4E3C-B5FD-2ED61DD53376}" type="datetimeFigureOut">
              <a:rPr lang="en-AU" smtClean="0"/>
              <a:t>14/06/2023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0E8E70-28B9-4B6C-83DE-B90526E58F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4EA63B-544F-4D71-85E6-368B0A6E1F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1406B-0190-45D5-BA0C-84425F658BB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368811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71C063-97B3-407C-8EEE-181C9338B9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08C976C-D76B-4440-94F9-928A52EC63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2863C2-A6A0-4ADD-879C-5BBF957A56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108FD3-D213-4E3C-B5FD-2ED61DD53376}" type="datetimeFigureOut">
              <a:rPr lang="en-AU" smtClean="0"/>
              <a:t>14/06/2023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EE3558-2306-43C4-B24E-DFE2FD4FC3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FBD6D9-09D2-4382-8E8B-1BF884ED5D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1406B-0190-45D5-BA0C-84425F658BB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052413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6F95246-E8ED-4CE6-8046-DDCAB5E76D1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662BFD-2BE6-4A95-8877-91168BF79D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A4DDE7-6AD9-4ADD-B225-FCC0B5A793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108FD3-D213-4E3C-B5FD-2ED61DD53376}" type="datetimeFigureOut">
              <a:rPr lang="en-AU" smtClean="0"/>
              <a:t>14/06/2023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DCC2C8-84EB-4406-920D-2D3FA5F212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994750-4C38-480B-B6C0-9433284CA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1406B-0190-45D5-BA0C-84425F658BB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799263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2E6768D-532E-4EF6-8F8E-F377CFC8BF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217F47-8212-41F1-847A-EBD57D681C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74039B-5ACA-4BC6-93D9-6393D0CBF09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108FD3-D213-4E3C-B5FD-2ED61DD53376}" type="datetimeFigureOut">
              <a:rPr lang="en-AU" smtClean="0"/>
              <a:t>14/06/2023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C8CE78-D4B8-481D-AA77-552B5F38C16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CDB94F-997E-48FA-9B6C-D5CB1291BB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61406B-0190-45D5-BA0C-84425F658BB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499674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4" r:id="rId1"/>
    <p:sldLayoutId id="2147483735" r:id="rId2"/>
    <p:sldLayoutId id="2147483736" r:id="rId3"/>
    <p:sldLayoutId id="2147483737" r:id="rId4"/>
    <p:sldLayoutId id="2147483738" r:id="rId5"/>
    <p:sldLayoutId id="2147483739" r:id="rId6"/>
    <p:sldLayoutId id="2147483740" r:id="rId7"/>
    <p:sldLayoutId id="2147483741" r:id="rId8"/>
    <p:sldLayoutId id="2147483742" r:id="rId9"/>
    <p:sldLayoutId id="2147483743" r:id="rId10"/>
    <p:sldLayoutId id="2147483744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7AE00A8-168A-4915-8D1F-0D2BBFC0F9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Lesson objective 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58CBC49-32ED-4C10-90C6-9FFE1EF984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AU" sz="2800" b="1" dirty="0"/>
              <a:t>Title: </a:t>
            </a:r>
            <a:r>
              <a:rPr lang="en-AU" sz="2800" b="1" dirty="0">
                <a:solidFill>
                  <a:srgbClr val="00B0F0"/>
                </a:solidFill>
              </a:rPr>
              <a:t>Increase and decrease percentages</a:t>
            </a:r>
          </a:p>
          <a:p>
            <a:pPr marL="0" indent="0">
              <a:buNone/>
            </a:pPr>
            <a:endParaRPr lang="en-AU" sz="2800" b="1" dirty="0">
              <a:solidFill>
                <a:srgbClr val="00B0F0"/>
              </a:solidFill>
            </a:endParaRPr>
          </a:p>
          <a:p>
            <a:pPr marL="0" indent="0">
              <a:buNone/>
            </a:pPr>
            <a:r>
              <a:rPr lang="en-AU" sz="2800" b="1" dirty="0">
                <a:solidFill>
                  <a:srgbClr val="00B0F0"/>
                </a:solidFill>
              </a:rPr>
              <a:t>Aim – be able to: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AU" sz="2800" b="1" dirty="0">
                <a:solidFill>
                  <a:srgbClr val="00B0F0"/>
                </a:solidFill>
              </a:rPr>
              <a:t> Calculate the percent of an amount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AU" sz="2800" b="1" dirty="0">
                <a:solidFill>
                  <a:srgbClr val="00B0F0"/>
                </a:solidFill>
              </a:rPr>
              <a:t> Increase by a percent</a:t>
            </a:r>
          </a:p>
          <a:p>
            <a:pPr marL="0" indent="0">
              <a:buNone/>
            </a:pPr>
            <a:r>
              <a:rPr lang="en-AU" sz="2800" b="1" dirty="0">
                <a:solidFill>
                  <a:srgbClr val="00B0F0"/>
                </a:solidFill>
              </a:rPr>
              <a:t>Plan: </a:t>
            </a:r>
          </a:p>
          <a:p>
            <a:pPr>
              <a:buFontTx/>
              <a:buChar char="-"/>
            </a:pPr>
            <a:r>
              <a:rPr lang="en-AU" sz="2800" b="1" dirty="0">
                <a:solidFill>
                  <a:srgbClr val="00B0F0"/>
                </a:solidFill>
              </a:rPr>
              <a:t>Daily review – best buys </a:t>
            </a:r>
          </a:p>
          <a:p>
            <a:pPr>
              <a:buFontTx/>
              <a:buChar char="-"/>
            </a:pPr>
            <a:r>
              <a:rPr lang="en-AU" sz="2800" b="1" dirty="0">
                <a:solidFill>
                  <a:srgbClr val="00B0F0"/>
                </a:solidFill>
              </a:rPr>
              <a:t>Review percent of amounts </a:t>
            </a:r>
          </a:p>
          <a:p>
            <a:pPr>
              <a:buFontTx/>
              <a:buChar char="-"/>
            </a:pPr>
            <a:r>
              <a:rPr lang="en-AU" sz="2800" b="1" dirty="0">
                <a:solidFill>
                  <a:srgbClr val="00B0F0"/>
                </a:solidFill>
              </a:rPr>
              <a:t>Increasing with percentages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3FA6699-624B-4639-40A2-5BFFBB3E9D87}"/>
              </a:ext>
            </a:extLst>
          </p:cNvPr>
          <p:cNvSpPr txBox="1"/>
          <p:nvPr/>
        </p:nvSpPr>
        <p:spPr>
          <a:xfrm>
            <a:off x="4788024" y="365126"/>
            <a:ext cx="3600400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sz="2000" b="1" dirty="0" err="1">
                <a:highlight>
                  <a:srgbClr val="00FF00"/>
                </a:highlight>
              </a:rPr>
              <a:t>PBiS</a:t>
            </a:r>
            <a:r>
              <a:rPr lang="en-US" sz="2000" b="1" dirty="0">
                <a:highlight>
                  <a:srgbClr val="00FF00"/>
                </a:highlight>
              </a:rPr>
              <a:t> focus:</a:t>
            </a:r>
          </a:p>
          <a:p>
            <a:pPr>
              <a:buNone/>
            </a:pPr>
            <a:r>
              <a:rPr lang="en-US" sz="2000" b="1" dirty="0">
                <a:highlight>
                  <a:srgbClr val="00FF00"/>
                </a:highlight>
              </a:rPr>
              <a:t>Respect (hand up)</a:t>
            </a:r>
          </a:p>
          <a:p>
            <a:pPr>
              <a:buNone/>
            </a:pPr>
            <a:r>
              <a:rPr lang="en-US" sz="2000" b="1" dirty="0">
                <a:highlight>
                  <a:srgbClr val="00FF00"/>
                </a:highlight>
              </a:rPr>
              <a:t>Learn (pride in our work)</a:t>
            </a:r>
            <a:endParaRPr lang="en-AU" sz="2000" b="1" dirty="0">
              <a:highlight>
                <a:srgbClr val="00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7988836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E565E2-D049-4BB4-A211-7676E2A0F5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AU" dirty="0"/>
              <a:t>Best Buys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0A8922-CCA0-40ED-9F9A-588B1D9AFA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AU" u="sng" dirty="0"/>
              <a:t>Finding the price per kilo if the weight is in multiples of 100g. 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/>
              <a:t>Steps </a:t>
            </a:r>
          </a:p>
          <a:p>
            <a:pPr marL="385763" indent="-385763">
              <a:buAutoNum type="arabicPeriod"/>
            </a:pPr>
            <a:r>
              <a:rPr lang="en-AU" dirty="0">
                <a:solidFill>
                  <a:srgbClr val="00B0F0"/>
                </a:solidFill>
              </a:rPr>
              <a:t>Divide by the number of HUNDEREDS </a:t>
            </a:r>
          </a:p>
        </p:txBody>
      </p:sp>
    </p:spTree>
    <p:extLst>
      <p:ext uri="{BB962C8B-B14F-4D97-AF65-F5344CB8AC3E}">
        <p14:creationId xmlns:p14="http://schemas.microsoft.com/office/powerpoint/2010/main" val="4727682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2B7054-A9AE-4F86-B796-2F7E9C9BA0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AU" dirty="0"/>
              <a:t>The power of examples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64D2E8-1A48-49DD-A9A7-D3D4DDD0EC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dirty="0"/>
              <a:t>Having an example next to your notes is surprisingly helpful…and not enough students actually write examples… 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/>
              <a:t>e.g. cheese is $15 per 700g 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/>
              <a:t>What can I divide 700 by to get 100?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2A9C2FF-D21F-4D57-8E2D-943A58BB0C58}"/>
              </a:ext>
            </a:extLst>
          </p:cNvPr>
          <p:cNvSpPr txBox="1"/>
          <p:nvPr/>
        </p:nvSpPr>
        <p:spPr>
          <a:xfrm flipH="1">
            <a:off x="6458505" y="3081409"/>
            <a:ext cx="226380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85763" indent="-385763">
              <a:buAutoNum type="arabicPeriod"/>
            </a:pPr>
            <a:r>
              <a:rPr lang="en-AU" sz="1800" dirty="0">
                <a:solidFill>
                  <a:srgbClr val="00B0F0"/>
                </a:solidFill>
              </a:rPr>
              <a:t>Divide by the number of HUNDEREDS </a:t>
            </a:r>
          </a:p>
        </p:txBody>
      </p:sp>
    </p:spTree>
    <p:extLst>
      <p:ext uri="{BB962C8B-B14F-4D97-AF65-F5344CB8AC3E}">
        <p14:creationId xmlns:p14="http://schemas.microsoft.com/office/powerpoint/2010/main" val="4216888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2B7054-A9AE-4F86-B796-2F7E9C9BA0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AU" dirty="0"/>
              <a:t>The power of examples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64D2E8-1A48-49DD-A9A7-D3D4DDD0EC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dirty="0"/>
              <a:t>Having an example next to your notes is surprisingly helpful…and not enough students actually write examples… 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/>
              <a:t>e.g. fish food is $20 per 900g 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/>
              <a:t>What can I divide 900 by to get 100? </a:t>
            </a:r>
          </a:p>
        </p:txBody>
      </p:sp>
    </p:spTree>
    <p:extLst>
      <p:ext uri="{BB962C8B-B14F-4D97-AF65-F5344CB8AC3E}">
        <p14:creationId xmlns:p14="http://schemas.microsoft.com/office/powerpoint/2010/main" val="24906804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AC1E1E-3FC1-4873-A78D-C9608B4415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Whiteboards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344517-B77B-4120-8D6E-0E3EDCB5B8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Sally paid $11.50 for 400g of ham. How much was it for</a:t>
            </a:r>
          </a:p>
          <a:p>
            <a:pPr marL="0" indent="0">
              <a:buNone/>
            </a:pPr>
            <a:endParaRPr lang="en-US" dirty="0"/>
          </a:p>
          <a:p>
            <a:pPr marL="385763" indent="-385763">
              <a:buAutoNum type="alphaLcParenR"/>
            </a:pPr>
            <a:r>
              <a:rPr lang="en-US" dirty="0"/>
              <a:t>100g</a:t>
            </a:r>
          </a:p>
          <a:p>
            <a:pPr marL="385763" indent="-385763">
              <a:buAutoNum type="alphaLcParenR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31960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AC1E1E-3FC1-4873-A78D-C9608B4415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Whiteboards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344517-B77B-4120-8D6E-0E3EDCB5B8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A jar of Nutella costs $6.90 for 300g. How much is it per: </a:t>
            </a:r>
          </a:p>
          <a:p>
            <a:pPr marL="0" indent="0">
              <a:buNone/>
            </a:pPr>
            <a:endParaRPr lang="en-US" dirty="0"/>
          </a:p>
          <a:p>
            <a:pPr marL="385763" indent="-385763">
              <a:buAutoNum type="alphaLcParenR"/>
            </a:pPr>
            <a:r>
              <a:rPr lang="en-US" dirty="0"/>
              <a:t>100g</a:t>
            </a:r>
          </a:p>
          <a:p>
            <a:pPr marL="385763" indent="-385763">
              <a:buAutoNum type="alphaLcParenR"/>
            </a:pPr>
            <a:endParaRPr lang="en-US" dirty="0"/>
          </a:p>
          <a:p>
            <a:pPr marL="385763" indent="-385763">
              <a:buAutoNum type="alphaLcParenR"/>
            </a:pPr>
            <a:r>
              <a:rPr lang="en-US" dirty="0"/>
              <a:t>1kg </a:t>
            </a:r>
            <a:endParaRPr lang="en-A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00AABC9-DCEF-CDFC-0A5F-B9EA2E3C8755}"/>
              </a:ext>
            </a:extLst>
          </p:cNvPr>
          <p:cNvSpPr txBox="1"/>
          <p:nvPr/>
        </p:nvSpPr>
        <p:spPr>
          <a:xfrm flipH="1">
            <a:off x="6764785" y="2908294"/>
            <a:ext cx="226380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85763" indent="-385763">
              <a:buAutoNum type="arabicPeriod"/>
            </a:pPr>
            <a:r>
              <a:rPr lang="en-AU" sz="1800" dirty="0">
                <a:solidFill>
                  <a:srgbClr val="00B0F0"/>
                </a:solidFill>
              </a:rPr>
              <a:t>Divide by the number of HUNDEREDS </a:t>
            </a:r>
          </a:p>
        </p:txBody>
      </p:sp>
    </p:spTree>
    <p:extLst>
      <p:ext uri="{BB962C8B-B14F-4D97-AF65-F5344CB8AC3E}">
        <p14:creationId xmlns:p14="http://schemas.microsoft.com/office/powerpoint/2010/main" val="27585549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AC1E1E-3FC1-4873-A78D-C9608B4415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Whiteboards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344517-B77B-4120-8D6E-0E3EDCB5B8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Beans cost $9.25 for 500g. How much are they for: </a:t>
            </a:r>
          </a:p>
          <a:p>
            <a:pPr marL="0" indent="0">
              <a:buNone/>
            </a:pPr>
            <a:endParaRPr lang="en-US" dirty="0"/>
          </a:p>
          <a:p>
            <a:pPr marL="385763" indent="-385763">
              <a:buAutoNum type="alphaLcParenR"/>
            </a:pPr>
            <a:r>
              <a:rPr lang="en-US" dirty="0"/>
              <a:t>100g</a:t>
            </a:r>
          </a:p>
          <a:p>
            <a:pPr marL="385763" indent="-385763">
              <a:buAutoNum type="alphaLcParenR"/>
            </a:pPr>
            <a:endParaRPr lang="en-US" dirty="0"/>
          </a:p>
          <a:p>
            <a:pPr marL="385763" indent="-385763">
              <a:buAutoNum type="alphaLcParenR"/>
            </a:pPr>
            <a:r>
              <a:rPr lang="en-US" dirty="0"/>
              <a:t>1kg </a:t>
            </a:r>
            <a:endParaRPr lang="en-A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CF8DB99-9D68-50D1-9274-6EEE08051ADF}"/>
              </a:ext>
            </a:extLst>
          </p:cNvPr>
          <p:cNvSpPr txBox="1"/>
          <p:nvPr/>
        </p:nvSpPr>
        <p:spPr>
          <a:xfrm flipH="1">
            <a:off x="6458505" y="2788445"/>
            <a:ext cx="226380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85763" indent="-385763">
              <a:buAutoNum type="arabicPeriod"/>
            </a:pPr>
            <a:r>
              <a:rPr lang="en-AU" sz="1800" dirty="0">
                <a:solidFill>
                  <a:srgbClr val="00B0F0"/>
                </a:solidFill>
              </a:rPr>
              <a:t>Divide by the number of HUNDEREDS </a:t>
            </a:r>
          </a:p>
        </p:txBody>
      </p:sp>
    </p:spTree>
    <p:extLst>
      <p:ext uri="{BB962C8B-B14F-4D97-AF65-F5344CB8AC3E}">
        <p14:creationId xmlns:p14="http://schemas.microsoft.com/office/powerpoint/2010/main" val="25196736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E1415C-55AE-72F6-D08B-A117559131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Quick 5 – exercise books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E8CE05-9D5B-27FC-4700-170DB1294D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Calculate the value of 100g for the following: </a:t>
            </a:r>
          </a:p>
          <a:p>
            <a:pPr marL="0" indent="0">
              <a:buNone/>
            </a:pPr>
            <a:endParaRPr lang="en-US" dirty="0"/>
          </a:p>
          <a:p>
            <a:pPr marL="385763" indent="-385763">
              <a:buAutoNum type="alphaLcParenR"/>
            </a:pPr>
            <a:r>
              <a:rPr lang="en-US" dirty="0"/>
              <a:t>900g cost $27 </a:t>
            </a:r>
          </a:p>
          <a:p>
            <a:pPr marL="385763" indent="-385763">
              <a:buAutoNum type="alphaLcParenR"/>
            </a:pPr>
            <a:endParaRPr lang="en-US" dirty="0"/>
          </a:p>
          <a:p>
            <a:pPr marL="385763" indent="-385763">
              <a:buAutoNum type="alphaLcParenR"/>
            </a:pPr>
            <a:r>
              <a:rPr lang="en-US" dirty="0"/>
              <a:t>300g costs $63</a:t>
            </a:r>
          </a:p>
          <a:p>
            <a:pPr marL="385763" indent="-385763">
              <a:buAutoNum type="alphaLcParenR"/>
            </a:pPr>
            <a:endParaRPr lang="en-US" dirty="0"/>
          </a:p>
          <a:p>
            <a:pPr marL="385763" indent="-385763">
              <a:buAutoNum type="alphaLcParenR"/>
            </a:pPr>
            <a:r>
              <a:rPr lang="en-US" dirty="0"/>
              <a:t>400g costs $160</a:t>
            </a:r>
          </a:p>
          <a:p>
            <a:pPr marL="385763" indent="-385763">
              <a:buAutoNum type="alphaLcParenR"/>
            </a:pPr>
            <a:endParaRPr lang="en-US" dirty="0"/>
          </a:p>
          <a:p>
            <a:pPr marL="385763" indent="-385763">
              <a:buAutoNum type="alphaLcParenR"/>
            </a:pPr>
            <a:r>
              <a:rPr lang="en-US" dirty="0"/>
              <a:t>1100g costs $44 </a:t>
            </a:r>
          </a:p>
          <a:p>
            <a:pPr marL="385763" indent="-385763">
              <a:buAutoNum type="alphaLcParenR"/>
            </a:pPr>
            <a:endParaRPr lang="en-US" dirty="0"/>
          </a:p>
          <a:p>
            <a:pPr marL="385763" indent="-385763">
              <a:buAutoNum type="alphaLcParenR"/>
            </a:pPr>
            <a:r>
              <a:rPr lang="en-US" dirty="0"/>
              <a:t>950g costs $86</a:t>
            </a:r>
          </a:p>
        </p:txBody>
      </p:sp>
    </p:spTree>
    <p:extLst>
      <p:ext uri="{BB962C8B-B14F-4D97-AF65-F5344CB8AC3E}">
        <p14:creationId xmlns:p14="http://schemas.microsoft.com/office/powerpoint/2010/main" val="12302499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D11CAF-B3BA-1825-498F-B515166A24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Re-teach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275E8C-A0F6-8EBF-A813-99C1EC5E64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/>
              <a:t>Finding 10%, 5% and 20% </a:t>
            </a:r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endParaRPr lang="en-AU" sz="2800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AE22776A-EB6D-826C-62CD-EADAB82C4D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5388077"/>
              </p:ext>
            </p:extLst>
          </p:nvPr>
        </p:nvGraphicFramePr>
        <p:xfrm>
          <a:off x="1177405" y="3506116"/>
          <a:ext cx="6624740" cy="13681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2474">
                  <a:extLst>
                    <a:ext uri="{9D8B030D-6E8A-4147-A177-3AD203B41FA5}">
                      <a16:colId xmlns:a16="http://schemas.microsoft.com/office/drawing/2014/main" val="2984929165"/>
                    </a:ext>
                  </a:extLst>
                </a:gridCol>
                <a:gridCol w="662474">
                  <a:extLst>
                    <a:ext uri="{9D8B030D-6E8A-4147-A177-3AD203B41FA5}">
                      <a16:colId xmlns:a16="http://schemas.microsoft.com/office/drawing/2014/main" val="2868558422"/>
                    </a:ext>
                  </a:extLst>
                </a:gridCol>
                <a:gridCol w="662474">
                  <a:extLst>
                    <a:ext uri="{9D8B030D-6E8A-4147-A177-3AD203B41FA5}">
                      <a16:colId xmlns:a16="http://schemas.microsoft.com/office/drawing/2014/main" val="2307799455"/>
                    </a:ext>
                  </a:extLst>
                </a:gridCol>
                <a:gridCol w="662474">
                  <a:extLst>
                    <a:ext uri="{9D8B030D-6E8A-4147-A177-3AD203B41FA5}">
                      <a16:colId xmlns:a16="http://schemas.microsoft.com/office/drawing/2014/main" val="1085689559"/>
                    </a:ext>
                  </a:extLst>
                </a:gridCol>
                <a:gridCol w="662474">
                  <a:extLst>
                    <a:ext uri="{9D8B030D-6E8A-4147-A177-3AD203B41FA5}">
                      <a16:colId xmlns:a16="http://schemas.microsoft.com/office/drawing/2014/main" val="742070415"/>
                    </a:ext>
                  </a:extLst>
                </a:gridCol>
                <a:gridCol w="662474">
                  <a:extLst>
                    <a:ext uri="{9D8B030D-6E8A-4147-A177-3AD203B41FA5}">
                      <a16:colId xmlns:a16="http://schemas.microsoft.com/office/drawing/2014/main" val="2777999894"/>
                    </a:ext>
                  </a:extLst>
                </a:gridCol>
                <a:gridCol w="662474">
                  <a:extLst>
                    <a:ext uri="{9D8B030D-6E8A-4147-A177-3AD203B41FA5}">
                      <a16:colId xmlns:a16="http://schemas.microsoft.com/office/drawing/2014/main" val="2311985996"/>
                    </a:ext>
                  </a:extLst>
                </a:gridCol>
                <a:gridCol w="662474">
                  <a:extLst>
                    <a:ext uri="{9D8B030D-6E8A-4147-A177-3AD203B41FA5}">
                      <a16:colId xmlns:a16="http://schemas.microsoft.com/office/drawing/2014/main" val="2678894477"/>
                    </a:ext>
                  </a:extLst>
                </a:gridCol>
                <a:gridCol w="662474">
                  <a:extLst>
                    <a:ext uri="{9D8B030D-6E8A-4147-A177-3AD203B41FA5}">
                      <a16:colId xmlns:a16="http://schemas.microsoft.com/office/drawing/2014/main" val="3444613430"/>
                    </a:ext>
                  </a:extLst>
                </a:gridCol>
                <a:gridCol w="662474">
                  <a:extLst>
                    <a:ext uri="{9D8B030D-6E8A-4147-A177-3AD203B41FA5}">
                      <a16:colId xmlns:a16="http://schemas.microsoft.com/office/drawing/2014/main" val="4236061612"/>
                    </a:ext>
                  </a:extLst>
                </a:gridCol>
              </a:tblGrid>
              <a:tr h="1368152">
                <a:tc>
                  <a:txBody>
                    <a:bodyPr/>
                    <a:lstStyle/>
                    <a:p>
                      <a:pPr algn="ctr"/>
                      <a:endParaRPr lang="en-AU" sz="16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sz="16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sz="16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sz="16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sz="16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sz="16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sz="16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sz="16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sz="16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sz="16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5482499"/>
                  </a:ext>
                </a:extLst>
              </a:tr>
            </a:tbl>
          </a:graphicData>
        </a:graphic>
      </p:graphicFrame>
      <p:sp>
        <p:nvSpPr>
          <p:cNvPr id="5" name="Right Brace 4">
            <a:extLst>
              <a:ext uri="{FF2B5EF4-FFF2-40B4-BE49-F238E27FC236}">
                <a16:creationId xmlns:a16="http://schemas.microsoft.com/office/drawing/2014/main" id="{74BA62DE-8DD2-6AD8-F60D-5666CBAF5EBA}"/>
              </a:ext>
            </a:extLst>
          </p:cNvPr>
          <p:cNvSpPr/>
          <p:nvPr/>
        </p:nvSpPr>
        <p:spPr>
          <a:xfrm rot="5400000">
            <a:off x="3995936" y="1772815"/>
            <a:ext cx="936104" cy="6984776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7" name="Right Brace 6">
            <a:extLst>
              <a:ext uri="{FF2B5EF4-FFF2-40B4-BE49-F238E27FC236}">
                <a16:creationId xmlns:a16="http://schemas.microsoft.com/office/drawing/2014/main" id="{1223D4F1-DF2C-6EA0-00E9-DBA7EC7249D2}"/>
              </a:ext>
            </a:extLst>
          </p:cNvPr>
          <p:cNvSpPr/>
          <p:nvPr/>
        </p:nvSpPr>
        <p:spPr>
          <a:xfrm rot="16200000">
            <a:off x="3995936" y="-243408"/>
            <a:ext cx="936104" cy="6984776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66E71A4-BDAD-3723-BF96-86CFB25ACF87}"/>
              </a:ext>
            </a:extLst>
          </p:cNvPr>
          <p:cNvSpPr txBox="1"/>
          <p:nvPr/>
        </p:nvSpPr>
        <p:spPr>
          <a:xfrm>
            <a:off x="3887924" y="2281592"/>
            <a:ext cx="13681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dirty="0"/>
              <a:t>$250</a:t>
            </a:r>
            <a:endParaRPr lang="en-AU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5C5D38C-EB07-6961-FC85-2857355F4811}"/>
              </a:ext>
            </a:extLst>
          </p:cNvPr>
          <p:cNvSpPr txBox="1"/>
          <p:nvPr/>
        </p:nvSpPr>
        <p:spPr>
          <a:xfrm>
            <a:off x="3888953" y="5727124"/>
            <a:ext cx="13681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dirty="0"/>
              <a:t>100%</a:t>
            </a:r>
            <a:endParaRPr lang="en-AU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8724999-CBE1-D704-F889-0C7C85058E87}"/>
              </a:ext>
            </a:extLst>
          </p:cNvPr>
          <p:cNvSpPr txBox="1"/>
          <p:nvPr/>
        </p:nvSpPr>
        <p:spPr>
          <a:xfrm>
            <a:off x="1187624" y="3651583"/>
            <a:ext cx="57606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$25</a:t>
            </a:r>
          </a:p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10%</a:t>
            </a:r>
            <a:endParaRPr kumimoji="0" lang="en-AU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954212B-A01A-A0FF-29E9-D3C40BF298FE}"/>
              </a:ext>
            </a:extLst>
          </p:cNvPr>
          <p:cNvSpPr txBox="1"/>
          <p:nvPr/>
        </p:nvSpPr>
        <p:spPr>
          <a:xfrm>
            <a:off x="1907704" y="3645024"/>
            <a:ext cx="57606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$25</a:t>
            </a:r>
          </a:p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10%</a:t>
            </a:r>
            <a:endParaRPr kumimoji="0" lang="en-AU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5FB3292-1CAF-E0BE-103B-C726BCE8598F}"/>
              </a:ext>
            </a:extLst>
          </p:cNvPr>
          <p:cNvSpPr txBox="1"/>
          <p:nvPr/>
        </p:nvSpPr>
        <p:spPr>
          <a:xfrm>
            <a:off x="2555776" y="3645024"/>
            <a:ext cx="57606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$25</a:t>
            </a:r>
          </a:p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10%</a:t>
            </a:r>
            <a:endParaRPr kumimoji="0" lang="en-AU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2772A9B-04A9-EC7F-1EE7-44D9EEB3A022}"/>
              </a:ext>
            </a:extLst>
          </p:cNvPr>
          <p:cNvSpPr txBox="1"/>
          <p:nvPr/>
        </p:nvSpPr>
        <p:spPr>
          <a:xfrm>
            <a:off x="3203848" y="3647926"/>
            <a:ext cx="57606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$25</a:t>
            </a:r>
          </a:p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10%</a:t>
            </a:r>
            <a:endParaRPr kumimoji="0" lang="en-AU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BC22EDC-5849-7F44-F063-4E718C36B682}"/>
              </a:ext>
            </a:extLst>
          </p:cNvPr>
          <p:cNvSpPr txBox="1"/>
          <p:nvPr/>
        </p:nvSpPr>
        <p:spPr>
          <a:xfrm>
            <a:off x="3851920" y="3647926"/>
            <a:ext cx="57606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$25</a:t>
            </a:r>
          </a:p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10%</a:t>
            </a:r>
            <a:endParaRPr kumimoji="0" lang="en-AU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F33029E-0AFE-C21B-EB13-3E781EB685F4}"/>
              </a:ext>
            </a:extLst>
          </p:cNvPr>
          <p:cNvSpPr txBox="1"/>
          <p:nvPr/>
        </p:nvSpPr>
        <p:spPr>
          <a:xfrm>
            <a:off x="4499992" y="3645024"/>
            <a:ext cx="57606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$25</a:t>
            </a:r>
          </a:p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10%</a:t>
            </a:r>
            <a:endParaRPr kumimoji="0" lang="en-AU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5A1FAB8-0729-9AF2-40E0-1F0F7B507663}"/>
              </a:ext>
            </a:extLst>
          </p:cNvPr>
          <p:cNvSpPr txBox="1"/>
          <p:nvPr/>
        </p:nvSpPr>
        <p:spPr>
          <a:xfrm>
            <a:off x="5148064" y="3645024"/>
            <a:ext cx="57606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$25</a:t>
            </a:r>
          </a:p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10%</a:t>
            </a:r>
            <a:endParaRPr kumimoji="0" lang="en-AU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189A508-56E6-1C3C-29D7-B82F030B4957}"/>
              </a:ext>
            </a:extLst>
          </p:cNvPr>
          <p:cNvSpPr txBox="1"/>
          <p:nvPr/>
        </p:nvSpPr>
        <p:spPr>
          <a:xfrm>
            <a:off x="5868144" y="3645024"/>
            <a:ext cx="57606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$25</a:t>
            </a:r>
          </a:p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10%</a:t>
            </a:r>
            <a:endParaRPr kumimoji="0" lang="en-AU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38B6730-1767-A38F-1DFB-82ED41A67D47}"/>
              </a:ext>
            </a:extLst>
          </p:cNvPr>
          <p:cNvSpPr txBox="1"/>
          <p:nvPr/>
        </p:nvSpPr>
        <p:spPr>
          <a:xfrm>
            <a:off x="6516216" y="3645024"/>
            <a:ext cx="57606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$25</a:t>
            </a:r>
          </a:p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10%</a:t>
            </a:r>
            <a:endParaRPr kumimoji="0" lang="en-AU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B9A7234-F60D-B058-1B48-F60A7C1DDEEB}"/>
              </a:ext>
            </a:extLst>
          </p:cNvPr>
          <p:cNvSpPr txBox="1"/>
          <p:nvPr/>
        </p:nvSpPr>
        <p:spPr>
          <a:xfrm>
            <a:off x="7164288" y="3645024"/>
            <a:ext cx="57606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$25</a:t>
            </a:r>
          </a:p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10%</a:t>
            </a:r>
            <a:endParaRPr kumimoji="0" lang="en-AU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609800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8168AA-B990-A9B0-CFAF-A5A354D503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Mental math percentages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B1207F-78D6-C07A-014B-84C7759169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/>
              <a:t>To find 10% - divide by 10 (move 1 </a:t>
            </a:r>
            <a:r>
              <a:rPr lang="en-US" sz="2800" dirty="0" err="1"/>
              <a:t>dp</a:t>
            </a:r>
            <a:r>
              <a:rPr lang="en-US" sz="2800" dirty="0"/>
              <a:t> left) </a:t>
            </a:r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r>
              <a:rPr lang="en-US" sz="2800" dirty="0"/>
              <a:t>To find 5% - half the 10% </a:t>
            </a:r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r>
              <a:rPr lang="en-US" sz="2800" dirty="0"/>
              <a:t>To find 20% - double the 10% </a:t>
            </a:r>
            <a:endParaRPr lang="en-AU" sz="2800" dirty="0"/>
          </a:p>
        </p:txBody>
      </p:sp>
    </p:spTree>
    <p:extLst>
      <p:ext uri="{BB962C8B-B14F-4D97-AF65-F5344CB8AC3E}">
        <p14:creationId xmlns:p14="http://schemas.microsoft.com/office/powerpoint/2010/main" val="374058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352416-DABF-7A63-EFF7-0CE87B2C02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I do – you do </a:t>
            </a:r>
            <a:endParaRPr lang="en-A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9A67F58-10E2-6BF1-D6B3-046FA3B992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2400" dirty="0"/>
              <a:t>I do (5, 10 and 20) </a:t>
            </a:r>
            <a:endParaRPr lang="en-AU" sz="240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7AB6BAE-5458-F222-BCE3-EC3D9BAA1FF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514350" indent="-514350">
              <a:buAutoNum type="alphaLcParenR"/>
            </a:pPr>
            <a:r>
              <a:rPr lang="en-US" sz="2800" b="1" dirty="0"/>
              <a:t>600L</a:t>
            </a:r>
          </a:p>
          <a:p>
            <a:pPr marL="514350" indent="-514350">
              <a:buAutoNum type="alphaLcParenR"/>
            </a:pPr>
            <a:endParaRPr lang="en-US" sz="2800" b="1" dirty="0"/>
          </a:p>
          <a:p>
            <a:pPr marL="514350" indent="-514350">
              <a:buAutoNum type="alphaLcParenR"/>
            </a:pPr>
            <a:endParaRPr lang="en-US" sz="2800" b="1" dirty="0"/>
          </a:p>
          <a:p>
            <a:pPr marL="514350" indent="-514350">
              <a:buAutoNum type="alphaLcParenR"/>
            </a:pPr>
            <a:r>
              <a:rPr lang="en-US" sz="2800" b="1" dirty="0"/>
              <a:t>56cm</a:t>
            </a:r>
          </a:p>
          <a:p>
            <a:pPr marL="514350" indent="-514350">
              <a:buAutoNum type="alphaLcParenR"/>
            </a:pPr>
            <a:endParaRPr lang="en-US" sz="2800" b="1" dirty="0"/>
          </a:p>
          <a:p>
            <a:pPr marL="514350" indent="-514350">
              <a:buAutoNum type="alphaLcParenR"/>
            </a:pPr>
            <a:endParaRPr lang="en-US" sz="2800" b="1" dirty="0"/>
          </a:p>
          <a:p>
            <a:pPr marL="514350" indent="-514350">
              <a:buAutoNum type="alphaLcParenR"/>
            </a:pPr>
            <a:r>
              <a:rPr lang="en-US" sz="2800" b="1" dirty="0"/>
              <a:t>$90</a:t>
            </a:r>
            <a:endParaRPr lang="en-AU" sz="2800" b="1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B14B8EC-CCED-AD9C-45C2-3E51C63192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2000" dirty="0"/>
              <a:t>You do (5, 10 and 20) </a:t>
            </a:r>
            <a:endParaRPr lang="en-AU" sz="2000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80ECF7F-3BCD-7399-BB73-0CA2B33091FB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/>
          </a:bodyPr>
          <a:lstStyle/>
          <a:p>
            <a:pPr marL="514350" indent="-514350">
              <a:buAutoNum type="alphaLcParenR"/>
            </a:pPr>
            <a:r>
              <a:rPr lang="en-US" sz="2800" b="1" dirty="0"/>
              <a:t>500L </a:t>
            </a:r>
          </a:p>
          <a:p>
            <a:pPr marL="514350" indent="-514350">
              <a:buAutoNum type="alphaLcParenR"/>
            </a:pPr>
            <a:endParaRPr lang="en-US" sz="2800" b="1" dirty="0"/>
          </a:p>
          <a:p>
            <a:pPr marL="514350" indent="-514350">
              <a:buAutoNum type="alphaLcParenR"/>
            </a:pPr>
            <a:endParaRPr lang="en-US" sz="2800" b="1" dirty="0"/>
          </a:p>
          <a:p>
            <a:pPr marL="514350" indent="-514350">
              <a:buAutoNum type="alphaLcParenR"/>
            </a:pPr>
            <a:r>
              <a:rPr lang="en-US" sz="2800" b="1" dirty="0"/>
              <a:t>48cm </a:t>
            </a:r>
          </a:p>
          <a:p>
            <a:pPr marL="514350" indent="-514350">
              <a:buAutoNum type="alphaLcParenR"/>
            </a:pPr>
            <a:endParaRPr lang="en-US" sz="2800" b="1" dirty="0"/>
          </a:p>
          <a:p>
            <a:pPr marL="514350" indent="-514350">
              <a:buAutoNum type="alphaLcParenR"/>
            </a:pPr>
            <a:endParaRPr lang="en-US" sz="2800" b="1" dirty="0"/>
          </a:p>
          <a:p>
            <a:pPr marL="514350" indent="-514350">
              <a:buAutoNum type="alphaLcParenR"/>
            </a:pPr>
            <a:r>
              <a:rPr lang="en-US" sz="2800" b="1" dirty="0"/>
              <a:t>$240</a:t>
            </a:r>
            <a:endParaRPr lang="en-AU" sz="2800" b="1" dirty="0"/>
          </a:p>
        </p:txBody>
      </p:sp>
    </p:spTree>
    <p:extLst>
      <p:ext uri="{BB962C8B-B14F-4D97-AF65-F5344CB8AC3E}">
        <p14:creationId xmlns:p14="http://schemas.microsoft.com/office/powerpoint/2010/main" val="5821939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3A5E4F-80F4-687C-3063-1815A23B88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I do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BE8E71-184C-6B10-0B17-7ED5A4A957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marL="385763" indent="-385763">
              <a:buAutoNum type="alphaLcParenR"/>
            </a:pPr>
            <a:r>
              <a:rPr lang="en-AU" dirty="0"/>
              <a:t>25% of 5400L  </a:t>
            </a:r>
          </a:p>
          <a:p>
            <a:pPr marL="385763" indent="-385763">
              <a:buAutoNum type="alphaLcParenR"/>
            </a:pPr>
            <a:endParaRPr lang="en-AU" dirty="0"/>
          </a:p>
          <a:p>
            <a:pPr marL="385763" indent="-385763">
              <a:buAutoNum type="alphaLcParenR"/>
            </a:pPr>
            <a:endParaRPr lang="en-AU" dirty="0"/>
          </a:p>
          <a:p>
            <a:pPr marL="385763" indent="-385763">
              <a:buAutoNum type="alphaLcParenR"/>
            </a:pPr>
            <a:r>
              <a:rPr lang="en-AU" dirty="0"/>
              <a:t>87% of $876 </a:t>
            </a:r>
          </a:p>
          <a:p>
            <a:pPr marL="385763" indent="-385763">
              <a:buAutoNum type="alphaLcParenR"/>
            </a:pPr>
            <a:endParaRPr lang="en-AU" dirty="0"/>
          </a:p>
          <a:p>
            <a:pPr marL="385763" indent="-385763">
              <a:buAutoNum type="alphaLcParenR"/>
            </a:pPr>
            <a:endParaRPr lang="en-AU" dirty="0"/>
          </a:p>
          <a:p>
            <a:pPr marL="385763" indent="-385763">
              <a:buAutoNum type="alphaLcParenR"/>
            </a:pPr>
            <a:r>
              <a:rPr lang="en-AU" dirty="0"/>
              <a:t>45% of 98m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0D07490-D177-1BF7-85A7-25A2B4C1E704}"/>
              </a:ext>
            </a:extLst>
          </p:cNvPr>
          <p:cNvSpPr txBox="1"/>
          <p:nvPr/>
        </p:nvSpPr>
        <p:spPr>
          <a:xfrm>
            <a:off x="6451846" y="1363277"/>
            <a:ext cx="2383655" cy="14219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85763" indent="-385763">
              <a:buAutoNum type="arabicPeriod"/>
            </a:pPr>
            <a:r>
              <a:rPr lang="en-AU" sz="1350" b="1" dirty="0">
                <a:solidFill>
                  <a:srgbClr val="00B0F0"/>
                </a:solidFill>
              </a:rPr>
              <a:t>Convert percent to decimal </a:t>
            </a:r>
          </a:p>
          <a:p>
            <a:pPr marL="385763" indent="-385763">
              <a:buAutoNum type="arabicPeriod"/>
            </a:pPr>
            <a:r>
              <a:rPr lang="en-AU" sz="1350" b="1" dirty="0">
                <a:solidFill>
                  <a:srgbClr val="00B0F0"/>
                </a:solidFill>
              </a:rPr>
              <a:t>Change OF to multiplication </a:t>
            </a:r>
          </a:p>
          <a:p>
            <a:pPr marL="385763" indent="-385763">
              <a:buAutoNum type="arabicPeriod"/>
            </a:pPr>
            <a:r>
              <a:rPr lang="en-AU" sz="1350" b="1" dirty="0">
                <a:solidFill>
                  <a:srgbClr val="00B0F0"/>
                </a:solidFill>
              </a:rPr>
              <a:t>Multiply decimal to amount </a:t>
            </a:r>
            <a:endParaRPr lang="en-US" sz="135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851152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34033A-C6FC-5B15-6253-C485FA3488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We do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68A6AF-1B2A-CD0F-1F6B-7EF36B5097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57213" indent="-557213">
              <a:buAutoNum type="alphaLcParenR"/>
            </a:pPr>
            <a:r>
              <a:rPr lang="en-US" sz="2700" dirty="0"/>
              <a:t>43% of 560L</a:t>
            </a:r>
          </a:p>
          <a:p>
            <a:pPr marL="557213" indent="-557213">
              <a:buAutoNum type="alphaLcParenR"/>
            </a:pPr>
            <a:endParaRPr lang="en-US" sz="2700" dirty="0"/>
          </a:p>
          <a:p>
            <a:pPr marL="557213" indent="-557213">
              <a:buAutoNum type="alphaLcParenR"/>
            </a:pPr>
            <a:r>
              <a:rPr lang="en-US" sz="2700" dirty="0"/>
              <a:t>95% of 350m</a:t>
            </a:r>
          </a:p>
          <a:p>
            <a:pPr marL="557213" indent="-557213">
              <a:buAutoNum type="alphaLcParenR"/>
            </a:pPr>
            <a:endParaRPr lang="en-US" sz="2700" dirty="0"/>
          </a:p>
          <a:p>
            <a:pPr marL="557213" indent="-557213">
              <a:buAutoNum type="alphaLcParenR"/>
            </a:pPr>
            <a:r>
              <a:rPr lang="en-US" sz="2700" dirty="0"/>
              <a:t>32% of $76.40</a:t>
            </a:r>
          </a:p>
          <a:p>
            <a:pPr marL="557213" indent="-557213">
              <a:buAutoNum type="alphaLcParenR"/>
            </a:pPr>
            <a:endParaRPr lang="en-US" sz="2700" dirty="0"/>
          </a:p>
          <a:p>
            <a:pPr marL="557213" indent="-557213">
              <a:buAutoNum type="alphaLcParenR"/>
            </a:pPr>
            <a:r>
              <a:rPr lang="en-US" sz="2700" dirty="0"/>
              <a:t>150% of 230 </a:t>
            </a:r>
            <a:endParaRPr lang="en-AU" sz="27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E06BE56-316C-9BAA-E960-E4391F374C60}"/>
              </a:ext>
            </a:extLst>
          </p:cNvPr>
          <p:cNvSpPr txBox="1"/>
          <p:nvPr/>
        </p:nvSpPr>
        <p:spPr>
          <a:xfrm>
            <a:off x="6431872" y="1230113"/>
            <a:ext cx="2383655" cy="14219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85763" indent="-385763">
              <a:buAutoNum type="arabicPeriod"/>
            </a:pPr>
            <a:r>
              <a:rPr lang="en-AU" sz="1350" b="1" dirty="0">
                <a:solidFill>
                  <a:srgbClr val="00B0F0"/>
                </a:solidFill>
              </a:rPr>
              <a:t>Convert percent to decimal </a:t>
            </a:r>
          </a:p>
          <a:p>
            <a:pPr marL="385763" indent="-385763">
              <a:buAutoNum type="arabicPeriod"/>
            </a:pPr>
            <a:r>
              <a:rPr lang="en-AU" sz="1350" b="1" dirty="0">
                <a:solidFill>
                  <a:srgbClr val="00B0F0"/>
                </a:solidFill>
              </a:rPr>
              <a:t>Change OF to multiplication </a:t>
            </a:r>
          </a:p>
          <a:p>
            <a:pPr marL="385763" indent="-385763">
              <a:buAutoNum type="arabicPeriod"/>
            </a:pPr>
            <a:r>
              <a:rPr lang="en-AU" sz="1350" b="1" dirty="0">
                <a:solidFill>
                  <a:srgbClr val="00B0F0"/>
                </a:solidFill>
              </a:rPr>
              <a:t>Multiply decimal to amount </a:t>
            </a:r>
            <a:endParaRPr lang="en-US" sz="135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29560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8AA83D-401A-3598-80C3-0B48C1DB73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Whiteboards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518F55-3A4E-29A7-D212-5E96C36AC4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57213" indent="-557213">
              <a:buAutoNum type="alphaLcParenR"/>
            </a:pPr>
            <a:r>
              <a:rPr lang="en-US" sz="2700" b="1" dirty="0"/>
              <a:t>30 % of 560L</a:t>
            </a:r>
          </a:p>
          <a:p>
            <a:pPr marL="557213" indent="-557213">
              <a:buAutoNum type="alphaLcParenR"/>
            </a:pPr>
            <a:endParaRPr lang="en-US" sz="2700" b="1" dirty="0"/>
          </a:p>
          <a:p>
            <a:pPr marL="557213" indent="-557213">
              <a:buAutoNum type="alphaLcParenR"/>
            </a:pPr>
            <a:r>
              <a:rPr lang="en-US" sz="2700" b="1" dirty="0"/>
              <a:t>21% of 87m</a:t>
            </a:r>
          </a:p>
          <a:p>
            <a:pPr marL="557213" indent="-557213">
              <a:buAutoNum type="alphaLcParenR"/>
            </a:pPr>
            <a:endParaRPr lang="en-US" sz="2700" b="1" dirty="0"/>
          </a:p>
          <a:p>
            <a:pPr marL="557213" indent="-557213">
              <a:buAutoNum type="alphaLcParenR"/>
            </a:pPr>
            <a:r>
              <a:rPr lang="en-US" sz="2700" b="1" dirty="0"/>
              <a:t>92% of $70 </a:t>
            </a:r>
          </a:p>
          <a:p>
            <a:pPr marL="557213" indent="-557213">
              <a:buAutoNum type="alphaLcParenR"/>
            </a:pPr>
            <a:endParaRPr lang="en-US" sz="2700" b="1" dirty="0"/>
          </a:p>
          <a:p>
            <a:pPr marL="557213" indent="-557213">
              <a:buAutoNum type="alphaLcParenR"/>
            </a:pPr>
            <a:r>
              <a:rPr lang="en-US" sz="2700" b="1" dirty="0"/>
              <a:t>400% of 58cm </a:t>
            </a:r>
          </a:p>
          <a:p>
            <a:pPr marL="557213" indent="-557213">
              <a:buAutoNum type="alphaLcParenR"/>
            </a:pPr>
            <a:endParaRPr lang="en-US" sz="2700" b="1" dirty="0"/>
          </a:p>
          <a:p>
            <a:pPr marL="557213" indent="-557213">
              <a:buAutoNum type="alphaLcParenR"/>
            </a:pPr>
            <a:r>
              <a:rPr lang="en-US" sz="2700" b="1" dirty="0"/>
              <a:t>2.5% of 320mm </a:t>
            </a:r>
            <a:endParaRPr lang="en-AU" sz="27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EC7F21D-A259-2A06-890D-D5EFC7D711BC}"/>
              </a:ext>
            </a:extLst>
          </p:cNvPr>
          <p:cNvSpPr txBox="1"/>
          <p:nvPr/>
        </p:nvSpPr>
        <p:spPr>
          <a:xfrm>
            <a:off x="6431872" y="1230113"/>
            <a:ext cx="2383655" cy="14219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85763" indent="-385763">
              <a:buAutoNum type="arabicPeriod"/>
            </a:pPr>
            <a:r>
              <a:rPr lang="en-AU" sz="1350" b="1" dirty="0">
                <a:solidFill>
                  <a:srgbClr val="00B0F0"/>
                </a:solidFill>
              </a:rPr>
              <a:t>Convert percent to decimal </a:t>
            </a:r>
          </a:p>
          <a:p>
            <a:pPr marL="385763" indent="-385763">
              <a:buAutoNum type="arabicPeriod"/>
            </a:pPr>
            <a:r>
              <a:rPr lang="en-AU" sz="1350" b="1" dirty="0">
                <a:solidFill>
                  <a:srgbClr val="00B0F0"/>
                </a:solidFill>
              </a:rPr>
              <a:t>Change OF to multiplication </a:t>
            </a:r>
          </a:p>
          <a:p>
            <a:pPr marL="385763" indent="-385763">
              <a:buAutoNum type="arabicPeriod"/>
            </a:pPr>
            <a:r>
              <a:rPr lang="en-AU" sz="1350" b="1" dirty="0">
                <a:solidFill>
                  <a:srgbClr val="00B0F0"/>
                </a:solidFill>
              </a:rPr>
              <a:t>Multiply decimal to amount </a:t>
            </a:r>
            <a:endParaRPr lang="en-US" sz="135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718001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EF99AB-1C8A-6F2A-11B7-5A2B9F405E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Increasing by an amount – I do 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05961D-C2AA-60A9-4736-6518247B64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/>
              <a:t>As a business owner, you often increase the price of items so your business can make money. </a:t>
            </a:r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r>
              <a:rPr lang="en-US" sz="2800" dirty="0"/>
              <a:t>E.g. A fishing rod may cost a store $150. If the store wants to make a profit, they will need to sell it for more. </a:t>
            </a:r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r>
              <a:rPr lang="en-US" sz="2800" dirty="0"/>
              <a:t>What is the selling price of the rod if we want to increase the cost by 10%? </a:t>
            </a:r>
            <a:endParaRPr lang="en-AU" sz="2800" dirty="0"/>
          </a:p>
        </p:txBody>
      </p:sp>
    </p:spTree>
    <p:extLst>
      <p:ext uri="{BB962C8B-B14F-4D97-AF65-F5344CB8AC3E}">
        <p14:creationId xmlns:p14="http://schemas.microsoft.com/office/powerpoint/2010/main" val="39689780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A4C866-D5D2-C450-26D1-F038708D8B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Increase by percent – I do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8DF6B8-372E-0814-5610-149A77D7E4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Increase the following amounts by 10% </a:t>
            </a:r>
          </a:p>
          <a:p>
            <a:pPr marL="0" indent="0">
              <a:buNone/>
            </a:pPr>
            <a:endParaRPr lang="en-US" dirty="0"/>
          </a:p>
          <a:p>
            <a:pPr marL="457200" indent="-457200">
              <a:buAutoNum type="alphaLcParenR"/>
            </a:pPr>
            <a:r>
              <a:rPr lang="en-US" dirty="0"/>
              <a:t>$210 </a:t>
            </a:r>
          </a:p>
          <a:p>
            <a:pPr marL="457200" indent="-457200">
              <a:buAutoNum type="alphaLcParenR"/>
            </a:pPr>
            <a:endParaRPr lang="en-US" dirty="0"/>
          </a:p>
          <a:p>
            <a:pPr marL="457200" indent="-457200">
              <a:buAutoNum type="alphaLcParenR"/>
            </a:pPr>
            <a:endParaRPr lang="en-US" dirty="0"/>
          </a:p>
          <a:p>
            <a:pPr marL="457200" indent="-457200">
              <a:buAutoNum type="alphaLcParenR"/>
            </a:pPr>
            <a:r>
              <a:rPr lang="en-US" dirty="0"/>
              <a:t>450L </a:t>
            </a:r>
          </a:p>
          <a:p>
            <a:pPr marL="457200" indent="-457200">
              <a:buAutoNum type="alphaLcParenR"/>
            </a:pPr>
            <a:endParaRPr lang="en-US" dirty="0"/>
          </a:p>
          <a:p>
            <a:pPr marL="457200" indent="-457200">
              <a:buAutoNum type="alphaLcParenR"/>
            </a:pPr>
            <a:endParaRPr lang="en-US" dirty="0"/>
          </a:p>
          <a:p>
            <a:pPr marL="457200" indent="-457200">
              <a:buAutoNum type="alphaLcParenR"/>
            </a:pPr>
            <a:r>
              <a:rPr lang="en-US" dirty="0"/>
              <a:t>$21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47784477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7BB8AA-D121-9829-3A72-8D75649956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Increasing by percent – we do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3E60E9-8866-EFEF-C9E3-DF548CF494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dirty="0"/>
              <a:t>Increase the following by 10% </a:t>
            </a:r>
          </a:p>
          <a:p>
            <a:pPr marL="0" indent="0">
              <a:buNone/>
            </a:pPr>
            <a:endParaRPr lang="en-US" sz="3200" dirty="0"/>
          </a:p>
          <a:p>
            <a:pPr marL="514350" indent="-514350">
              <a:buAutoNum type="alphaLcParenR"/>
            </a:pPr>
            <a:r>
              <a:rPr lang="en-US" sz="3200" dirty="0"/>
              <a:t>245L </a:t>
            </a:r>
          </a:p>
          <a:p>
            <a:pPr marL="514350" indent="-514350">
              <a:buAutoNum type="alphaLcParenR"/>
            </a:pPr>
            <a:endParaRPr lang="en-US" sz="3200" dirty="0"/>
          </a:p>
          <a:p>
            <a:pPr marL="514350" indent="-514350">
              <a:buAutoNum type="alphaLcParenR"/>
            </a:pPr>
            <a:endParaRPr lang="en-AU" sz="3200" dirty="0"/>
          </a:p>
          <a:p>
            <a:pPr marL="514350" indent="-514350">
              <a:buAutoNum type="alphaLcParenR"/>
            </a:pPr>
            <a:r>
              <a:rPr lang="en-AU" sz="3200" dirty="0"/>
              <a:t>$430 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53132741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4D1320-8FD0-4FD3-8BB6-CD099FAE49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AU" dirty="0"/>
              <a:t>White boards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76AA72-3D07-48D4-A6ED-1262D025D9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dirty="0"/>
              <a:t>Increase 240 by 10% 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/>
              <a:t>Increase 180 by 10%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/>
              <a:t>Increase 95 by 90% </a:t>
            </a:r>
          </a:p>
          <a:p>
            <a:pPr marL="0" indent="0">
              <a:buNone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465629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6D6375-B7A5-49DD-BA8F-2A3187AFA1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AU" dirty="0"/>
              <a:t>Individual practice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D4805C-8387-4D81-B132-D43B9F80AB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endParaRPr lang="en-AU" dirty="0"/>
          </a:p>
          <a:p>
            <a:pPr marL="0" indent="0" algn="ctr">
              <a:buNone/>
            </a:pPr>
            <a:endParaRPr lang="en-AU" dirty="0"/>
          </a:p>
          <a:p>
            <a:pPr marL="0" indent="0" algn="ctr">
              <a:buNone/>
            </a:pPr>
            <a:endParaRPr lang="en-AU" dirty="0"/>
          </a:p>
          <a:p>
            <a:pPr marL="0" indent="0" algn="ctr">
              <a:buNone/>
            </a:pPr>
            <a:r>
              <a:rPr lang="en-AU" dirty="0"/>
              <a:t>Complete “percentage increase” task sheet. </a:t>
            </a:r>
          </a:p>
        </p:txBody>
      </p:sp>
    </p:spTree>
    <p:extLst>
      <p:ext uri="{BB962C8B-B14F-4D97-AF65-F5344CB8AC3E}">
        <p14:creationId xmlns:p14="http://schemas.microsoft.com/office/powerpoint/2010/main" val="97061560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5297C0-82AB-055E-4AAB-82BE051C5F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Decrease by a percent </a:t>
            </a:r>
            <a:endParaRPr lang="en-A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E1F8AF9-A48A-987D-469F-BB05DB7B65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970246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Mountain Top</Template>
  <TotalTime>619</TotalTime>
  <Words>619</Words>
  <Application>Microsoft Office PowerPoint</Application>
  <PresentationFormat>On-screen Show (4:3)</PresentationFormat>
  <Paragraphs>199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Arial</vt:lpstr>
      <vt:lpstr>Calibri</vt:lpstr>
      <vt:lpstr>Calibri Light</vt:lpstr>
      <vt:lpstr>Wingdings</vt:lpstr>
      <vt:lpstr>Office Theme</vt:lpstr>
      <vt:lpstr>Lesson objective </vt:lpstr>
      <vt:lpstr>Best Buys</vt:lpstr>
      <vt:lpstr>The power of examples </vt:lpstr>
      <vt:lpstr>The power of examples </vt:lpstr>
      <vt:lpstr>Whiteboards </vt:lpstr>
      <vt:lpstr>Whiteboards </vt:lpstr>
      <vt:lpstr>Whiteboards </vt:lpstr>
      <vt:lpstr>Quick 5 – exercise books </vt:lpstr>
      <vt:lpstr>Re-teach </vt:lpstr>
      <vt:lpstr>Mental math percentages </vt:lpstr>
      <vt:lpstr>I do – you do </vt:lpstr>
      <vt:lpstr>I do </vt:lpstr>
      <vt:lpstr>We do </vt:lpstr>
      <vt:lpstr>Whiteboards </vt:lpstr>
      <vt:lpstr>Increasing by an amount – I do  </vt:lpstr>
      <vt:lpstr>Increase by percent – I do </vt:lpstr>
      <vt:lpstr>Increasing by percent – we do </vt:lpstr>
      <vt:lpstr>White boards</vt:lpstr>
      <vt:lpstr>Individual practice </vt:lpstr>
      <vt:lpstr>Decrease by a percent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tu cang</dc:creator>
  <cp:lastModifiedBy>DAVIES Rhys [Busselton Senior High School]</cp:lastModifiedBy>
  <cp:revision>85</cp:revision>
  <dcterms:created xsi:type="dcterms:W3CDTF">2005-06-21T10:20:30Z</dcterms:created>
  <dcterms:modified xsi:type="dcterms:W3CDTF">2023-06-14T09:38:30Z</dcterms:modified>
</cp:coreProperties>
</file>
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470" r:id="rId3"/>
    <p:sldId id="270" r:id="rId4"/>
    <p:sldId id="274" r:id="rId5"/>
    <p:sldId id="271" r:id="rId6"/>
    <p:sldId id="272" r:id="rId7"/>
    <p:sldId id="273" r:id="rId8"/>
    <p:sldId id="259" r:id="rId9"/>
    <p:sldId id="258" r:id="rId10"/>
    <p:sldId id="256" r:id="rId11"/>
    <p:sldId id="471" r:id="rId12"/>
    <p:sldId id="472" r:id="rId13"/>
  </p:sldIdLst>
  <p:sldSz cx="12192000" cy="6858000"/>
  <p:notesSz cx="6794500" cy="9931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86" d="100"/>
          <a:sy n="86" d="100"/>
        </p:scale>
        <p:origin x="4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(Lis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F10B6-5EB8-4594-B011-3C2F53241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03" y="321993"/>
            <a:ext cx="11031747" cy="51476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3E589-DAEB-4941-BC27-7CE5EAC50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604" y="945730"/>
            <a:ext cx="11601090" cy="565347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44235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(Re)Tea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A4C0-DFEB-416B-9F49-DC26B90F42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7" y="766354"/>
            <a:ext cx="11845504" cy="590441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AU" sz="2000" dirty="0">
                <a:latin typeface="Verdana" panose="020B0604030504040204" pitchFamily="34" charset="0"/>
                <a:ea typeface="Verdana" panose="020B0604030504040204" pitchFamily="34" charset="0"/>
              </a:rPr>
              <a:t>Click to add text</a:t>
            </a:r>
            <a:endParaRPr lang="en-AU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709EF-28B9-4448-A51E-A59C1741C364}"/>
              </a:ext>
            </a:extLst>
          </p:cNvPr>
          <p:cNvSpPr txBox="1"/>
          <p:nvPr userDrawn="1"/>
        </p:nvSpPr>
        <p:spPr>
          <a:xfrm>
            <a:off x="154908" y="141439"/>
            <a:ext cx="1693990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(Re)Teach</a:t>
            </a:r>
          </a:p>
        </p:txBody>
      </p:sp>
    </p:spTree>
    <p:extLst>
      <p:ext uri="{BB962C8B-B14F-4D97-AF65-F5344CB8AC3E}">
        <p14:creationId xmlns:p14="http://schemas.microsoft.com/office/powerpoint/2010/main" val="5367808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trie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A4C0-DFEB-416B-9F49-DC26B90F42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7" y="766354"/>
            <a:ext cx="11845504" cy="590441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AU" sz="2000" dirty="0">
                <a:latin typeface="Verdana" panose="020B0604030504040204" pitchFamily="34" charset="0"/>
                <a:ea typeface="Verdana" panose="020B0604030504040204" pitchFamily="34" charset="0"/>
              </a:rPr>
              <a:t>Click to add text</a:t>
            </a:r>
            <a:endParaRPr lang="en-AU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709EF-28B9-4448-A51E-A59C1741C364}"/>
              </a:ext>
            </a:extLst>
          </p:cNvPr>
          <p:cNvSpPr txBox="1"/>
          <p:nvPr userDrawn="1"/>
        </p:nvSpPr>
        <p:spPr>
          <a:xfrm>
            <a:off x="154908" y="141439"/>
            <a:ext cx="1482973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Retrieve</a:t>
            </a:r>
          </a:p>
        </p:txBody>
      </p:sp>
    </p:spTree>
    <p:extLst>
      <p:ext uri="{BB962C8B-B14F-4D97-AF65-F5344CB8AC3E}">
        <p14:creationId xmlns:p14="http://schemas.microsoft.com/office/powerpoint/2010/main" val="31476036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ly (I D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A4C0-DFEB-416B-9F49-DC26B90F42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7" y="766354"/>
            <a:ext cx="11845504" cy="590441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AU" sz="2000" dirty="0">
                <a:latin typeface="Verdana" panose="020B0604030504040204" pitchFamily="34" charset="0"/>
                <a:ea typeface="Verdana" panose="020B0604030504040204" pitchFamily="34" charset="0"/>
              </a:rPr>
              <a:t>Click to add text</a:t>
            </a:r>
            <a:endParaRPr lang="en-AU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709EF-28B9-4448-A51E-A59C1741C364}"/>
              </a:ext>
            </a:extLst>
          </p:cNvPr>
          <p:cNvSpPr txBox="1"/>
          <p:nvPr userDrawn="1"/>
        </p:nvSpPr>
        <p:spPr>
          <a:xfrm>
            <a:off x="154908" y="141439"/>
            <a:ext cx="1764328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Apply (I Do)</a:t>
            </a:r>
          </a:p>
        </p:txBody>
      </p:sp>
    </p:spTree>
    <p:extLst>
      <p:ext uri="{BB962C8B-B14F-4D97-AF65-F5344CB8AC3E}">
        <p14:creationId xmlns:p14="http://schemas.microsoft.com/office/powerpoint/2010/main" val="570470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ly (We D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A4C0-DFEB-416B-9F49-DC26B90F42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7" y="766354"/>
            <a:ext cx="11845504" cy="590441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AU" sz="2000" dirty="0">
                <a:latin typeface="Verdana" panose="020B0604030504040204" pitchFamily="34" charset="0"/>
                <a:ea typeface="Verdana" panose="020B0604030504040204" pitchFamily="34" charset="0"/>
              </a:rPr>
              <a:t>Click to add text</a:t>
            </a:r>
            <a:endParaRPr lang="en-AU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709EF-28B9-4448-A51E-A59C1741C364}"/>
              </a:ext>
            </a:extLst>
          </p:cNvPr>
          <p:cNvSpPr txBox="1"/>
          <p:nvPr userDrawn="1"/>
        </p:nvSpPr>
        <p:spPr>
          <a:xfrm>
            <a:off x="154907" y="141439"/>
            <a:ext cx="2136117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Apply (We Do)</a:t>
            </a:r>
          </a:p>
        </p:txBody>
      </p:sp>
    </p:spTree>
    <p:extLst>
      <p:ext uri="{BB962C8B-B14F-4D97-AF65-F5344CB8AC3E}">
        <p14:creationId xmlns:p14="http://schemas.microsoft.com/office/powerpoint/2010/main" val="10863326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ly (You D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A4C0-DFEB-416B-9F49-DC26B90F42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7" y="766354"/>
            <a:ext cx="11845504" cy="590441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AU" sz="2000" dirty="0">
                <a:latin typeface="Verdana" panose="020B0604030504040204" pitchFamily="34" charset="0"/>
                <a:ea typeface="Verdana" panose="020B0604030504040204" pitchFamily="34" charset="0"/>
              </a:rPr>
              <a:t>Click to add text</a:t>
            </a:r>
            <a:endParaRPr lang="en-AU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709EF-28B9-4448-A51E-A59C1741C364}"/>
              </a:ext>
            </a:extLst>
          </p:cNvPr>
          <p:cNvSpPr txBox="1"/>
          <p:nvPr userDrawn="1"/>
        </p:nvSpPr>
        <p:spPr>
          <a:xfrm>
            <a:off x="154907" y="141439"/>
            <a:ext cx="2136117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Apply (You Do)</a:t>
            </a:r>
          </a:p>
        </p:txBody>
      </p:sp>
    </p:spTree>
    <p:extLst>
      <p:ext uri="{BB962C8B-B14F-4D97-AF65-F5344CB8AC3E}">
        <p14:creationId xmlns:p14="http://schemas.microsoft.com/office/powerpoint/2010/main" val="665695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8300" y="1474839"/>
            <a:ext cx="8915399" cy="1022555"/>
          </a:xfrm>
        </p:spPr>
        <p:txBody>
          <a:bodyPr>
            <a:normAutofit/>
          </a:bodyPr>
          <a:lstStyle/>
          <a:p>
            <a:r>
              <a:rPr lang="en-AU" sz="3200" dirty="0">
                <a:latin typeface="Arial Rounded MT Bold" panose="020F0704030504030204" pitchFamily="34" charset="0"/>
                <a:ea typeface="Cambria Math" panose="02040503050406030204" pitchFamily="18" charset="0"/>
              </a:rPr>
              <a:t>Title: </a:t>
            </a:r>
            <a:r>
              <a:rPr lang="en-AU" sz="3200" dirty="0">
                <a:solidFill>
                  <a:srgbClr val="00B0F0"/>
                </a:solidFill>
                <a:latin typeface="Arial Rounded MT Bold" panose="020F0704030504030204" pitchFamily="34" charset="0"/>
                <a:ea typeface="Cambria Math" panose="02040503050406030204" pitchFamily="18" charset="0"/>
              </a:rPr>
              <a:t>WEIGHTS IN MULTIPLES OF 100 GRAMS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17CFD8-9C64-4CD6-A174-27119C539E36}"/>
              </a:ext>
            </a:extLst>
          </p:cNvPr>
          <p:cNvSpPr txBox="1"/>
          <p:nvPr/>
        </p:nvSpPr>
        <p:spPr>
          <a:xfrm>
            <a:off x="2654710" y="2635045"/>
            <a:ext cx="824926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Aim: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00B0F0"/>
                </a:solidFill>
              </a:rPr>
              <a:t>Calculate and compare best buys using multiples of 100 grams</a:t>
            </a:r>
          </a:p>
          <a:p>
            <a:r>
              <a:rPr lang="en-US" sz="2800" b="1" dirty="0">
                <a:solidFill>
                  <a:srgbClr val="00B0F0"/>
                </a:solidFill>
              </a:rPr>
              <a:t>Plan:</a:t>
            </a:r>
          </a:p>
          <a:p>
            <a:pPr marL="285750" indent="-285750">
              <a:buFontTx/>
              <a:buChar char="-"/>
            </a:pPr>
            <a:r>
              <a:rPr lang="en-US" sz="2800" b="1" dirty="0">
                <a:solidFill>
                  <a:srgbClr val="00B0F0"/>
                </a:solidFill>
              </a:rPr>
              <a:t>Daily review </a:t>
            </a:r>
          </a:p>
          <a:p>
            <a:pPr marL="742950" lvl="1" indent="-285750">
              <a:buFontTx/>
              <a:buChar char="-"/>
            </a:pPr>
            <a:r>
              <a:rPr lang="en-US" sz="2800" b="1" dirty="0">
                <a:solidFill>
                  <a:srgbClr val="00B0F0"/>
                </a:solidFill>
              </a:rPr>
              <a:t>Integers</a:t>
            </a:r>
          </a:p>
          <a:p>
            <a:pPr marL="285750" indent="-285750">
              <a:buFontTx/>
              <a:buChar char="-"/>
            </a:pPr>
            <a:r>
              <a:rPr lang="en-AU" sz="2800" b="1" dirty="0">
                <a:solidFill>
                  <a:srgbClr val="00B0F0"/>
                </a:solidFill>
              </a:rPr>
              <a:t>Probability </a:t>
            </a:r>
          </a:p>
          <a:p>
            <a:pPr marL="285750" indent="-285750">
              <a:buFontTx/>
              <a:buChar char="-"/>
            </a:pPr>
            <a:r>
              <a:rPr lang="en-AU" sz="2800" b="1" dirty="0">
                <a:solidFill>
                  <a:srgbClr val="00B0F0"/>
                </a:solidFill>
              </a:rPr>
              <a:t>Best buys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5B3E4B-7EEF-4194-8574-97095A4A73EA}"/>
              </a:ext>
            </a:extLst>
          </p:cNvPr>
          <p:cNvSpPr txBox="1"/>
          <p:nvPr/>
        </p:nvSpPr>
        <p:spPr>
          <a:xfrm>
            <a:off x="8362765" y="248575"/>
            <a:ext cx="2645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highlight>
                  <a:srgbClr val="FFFF00"/>
                </a:highlight>
              </a:rPr>
              <a:t>Need calculators</a:t>
            </a:r>
            <a:r>
              <a:rPr lang="en-US" sz="2400" b="1" dirty="0">
                <a:highlight>
                  <a:srgbClr val="FFFF00"/>
                </a:highlight>
              </a:rPr>
              <a:t>.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27711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104F3-D24E-4D1D-A6C1-3B4E41AA1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Automaticity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B80D8-EA5E-4AE7-8C82-80DBE179F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454" y="882530"/>
            <a:ext cx="11601090" cy="5653477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/>
              <a:t>Complete in exercise books.</a:t>
            </a:r>
            <a:endParaRPr lang="en-AU" sz="36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B0C3AF-80EC-48E9-B915-44E789188933}"/>
              </a:ext>
            </a:extLst>
          </p:cNvPr>
          <p:cNvSpPr/>
          <p:nvPr/>
        </p:nvSpPr>
        <p:spPr>
          <a:xfrm>
            <a:off x="399495" y="1748901"/>
            <a:ext cx="3568823" cy="4787106"/>
          </a:xfrm>
          <a:prstGeom prst="round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A695391-F4C2-4851-A19B-ED4C0C3BC39D}"/>
              </a:ext>
            </a:extLst>
          </p:cNvPr>
          <p:cNvSpPr/>
          <p:nvPr/>
        </p:nvSpPr>
        <p:spPr>
          <a:xfrm>
            <a:off x="4311588" y="1748901"/>
            <a:ext cx="3568823" cy="4787106"/>
          </a:xfrm>
          <a:prstGeom prst="round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2D198E9-4E78-4D4A-B2C3-A3D2035303DC}"/>
              </a:ext>
            </a:extLst>
          </p:cNvPr>
          <p:cNvSpPr/>
          <p:nvPr/>
        </p:nvSpPr>
        <p:spPr>
          <a:xfrm>
            <a:off x="8160058" y="1748901"/>
            <a:ext cx="3568823" cy="4787106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600C7F-F873-499C-8F15-B626EFDD17BC}"/>
              </a:ext>
            </a:extLst>
          </p:cNvPr>
          <p:cNvSpPr txBox="1"/>
          <p:nvPr/>
        </p:nvSpPr>
        <p:spPr>
          <a:xfrm>
            <a:off x="630314" y="2057460"/>
            <a:ext cx="308055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US" sz="2800" b="1" dirty="0"/>
              <a:t>4 + 9 = </a:t>
            </a:r>
          </a:p>
          <a:p>
            <a:pPr marL="514350" indent="-514350">
              <a:buFont typeface="+mj-lt"/>
              <a:buAutoNum type="alphaLcParenR"/>
            </a:pPr>
            <a:endParaRPr lang="en-US" sz="2800" b="1" dirty="0"/>
          </a:p>
          <a:p>
            <a:pPr marL="514350" indent="-514350">
              <a:buFont typeface="+mj-lt"/>
              <a:buAutoNum type="alphaLcParenR"/>
            </a:pPr>
            <a:r>
              <a:rPr lang="en-US" sz="2800" b="1" dirty="0"/>
              <a:t>10 + 8 = </a:t>
            </a:r>
          </a:p>
          <a:p>
            <a:pPr marL="514350" indent="-514350">
              <a:buFont typeface="+mj-lt"/>
              <a:buAutoNum type="alphaLcParenR"/>
            </a:pPr>
            <a:endParaRPr lang="en-US" sz="2800" b="1" dirty="0"/>
          </a:p>
          <a:p>
            <a:pPr marL="514350" indent="-514350">
              <a:buFont typeface="+mj-lt"/>
              <a:buAutoNum type="alphaLcParenR"/>
            </a:pPr>
            <a:r>
              <a:rPr lang="en-US" sz="2800" b="1" dirty="0"/>
              <a:t>12 – 4 = </a:t>
            </a:r>
          </a:p>
          <a:p>
            <a:pPr marL="514350" indent="-514350">
              <a:buFont typeface="+mj-lt"/>
              <a:buAutoNum type="alphaLcParenR"/>
            </a:pPr>
            <a:endParaRPr lang="en-US" sz="2800" b="1" dirty="0"/>
          </a:p>
          <a:p>
            <a:pPr marL="514350" indent="-514350">
              <a:buFont typeface="+mj-lt"/>
              <a:buAutoNum type="alphaLcParenR"/>
            </a:pPr>
            <a:r>
              <a:rPr lang="en-US" sz="2800" b="1" dirty="0"/>
              <a:t>9 + 7 = </a:t>
            </a:r>
          </a:p>
          <a:p>
            <a:pPr marL="514350" indent="-514350">
              <a:buFont typeface="+mj-lt"/>
              <a:buAutoNum type="alphaLcParenR"/>
            </a:pPr>
            <a:endParaRPr lang="en-US" sz="2800" b="1" dirty="0"/>
          </a:p>
          <a:p>
            <a:pPr marL="514350" indent="-514350">
              <a:buFont typeface="+mj-lt"/>
              <a:buAutoNum type="alphaLcParenR"/>
            </a:pPr>
            <a:r>
              <a:rPr lang="en-US" sz="2800" b="1" dirty="0"/>
              <a:t>7 + 5 = </a:t>
            </a:r>
          </a:p>
          <a:p>
            <a:pPr marL="342900" indent="-342900">
              <a:buAutoNum type="alphaLcParenR"/>
            </a:pPr>
            <a:endParaRPr lang="en-US" dirty="0"/>
          </a:p>
          <a:p>
            <a:pPr marL="342900" indent="-342900">
              <a:buAutoNum type="alphaLcParenR"/>
            </a:pP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5BD469-F324-4E19-A165-4B590AF24F59}"/>
              </a:ext>
            </a:extLst>
          </p:cNvPr>
          <p:cNvSpPr txBox="1"/>
          <p:nvPr/>
        </p:nvSpPr>
        <p:spPr>
          <a:xfrm>
            <a:off x="4723153" y="2034576"/>
            <a:ext cx="308055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US" sz="2800" b="1" dirty="0"/>
              <a:t>14 + 8 = </a:t>
            </a:r>
          </a:p>
          <a:p>
            <a:pPr marL="514350" indent="-514350">
              <a:buFont typeface="+mj-lt"/>
              <a:buAutoNum type="alphaLcParenR"/>
            </a:pPr>
            <a:endParaRPr lang="en-US" sz="2800" b="1" dirty="0"/>
          </a:p>
          <a:p>
            <a:pPr marL="514350" indent="-514350">
              <a:buFont typeface="+mj-lt"/>
              <a:buAutoNum type="alphaLcParenR"/>
            </a:pPr>
            <a:r>
              <a:rPr lang="en-US" sz="2800" b="1" dirty="0"/>
              <a:t>12 + 11 = </a:t>
            </a:r>
          </a:p>
          <a:p>
            <a:pPr marL="514350" indent="-514350">
              <a:buFont typeface="+mj-lt"/>
              <a:buAutoNum type="alphaLcParenR"/>
            </a:pPr>
            <a:endParaRPr lang="en-US" sz="2800" b="1" dirty="0"/>
          </a:p>
          <a:p>
            <a:pPr marL="514350" indent="-514350">
              <a:buFont typeface="+mj-lt"/>
              <a:buAutoNum type="alphaLcParenR"/>
            </a:pPr>
            <a:r>
              <a:rPr lang="en-US" sz="2800" b="1" dirty="0"/>
              <a:t>18 – 9 = </a:t>
            </a:r>
          </a:p>
          <a:p>
            <a:pPr marL="514350" indent="-514350">
              <a:buFont typeface="+mj-lt"/>
              <a:buAutoNum type="alphaLcParenR"/>
            </a:pPr>
            <a:endParaRPr lang="en-US" sz="2800" b="1" dirty="0"/>
          </a:p>
          <a:p>
            <a:pPr marL="514350" indent="-514350">
              <a:buFont typeface="+mj-lt"/>
              <a:buAutoNum type="alphaLcParenR"/>
            </a:pPr>
            <a:r>
              <a:rPr lang="en-US" sz="2800" b="1" dirty="0"/>
              <a:t>22 – 16 = </a:t>
            </a:r>
          </a:p>
          <a:p>
            <a:pPr marL="514350" indent="-514350">
              <a:buFont typeface="+mj-lt"/>
              <a:buAutoNum type="alphaLcParenR"/>
            </a:pPr>
            <a:endParaRPr lang="en-US" sz="2800" b="1" dirty="0"/>
          </a:p>
          <a:p>
            <a:pPr marL="514350" indent="-514350">
              <a:buFont typeface="+mj-lt"/>
              <a:buAutoNum type="alphaLcParenR"/>
            </a:pPr>
            <a:r>
              <a:rPr lang="en-US" sz="2800" b="1" dirty="0"/>
              <a:t>10 – 12 = </a:t>
            </a:r>
            <a:endParaRPr lang="en-US" dirty="0"/>
          </a:p>
          <a:p>
            <a:pPr marL="342900" indent="-342900">
              <a:buAutoNum type="alphaLcParenR"/>
            </a:pP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4672EC-5740-4CD5-BF20-984E48821552}"/>
              </a:ext>
            </a:extLst>
          </p:cNvPr>
          <p:cNvSpPr txBox="1"/>
          <p:nvPr/>
        </p:nvSpPr>
        <p:spPr>
          <a:xfrm>
            <a:off x="8291976" y="2057460"/>
            <a:ext cx="308055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US" sz="2800" b="1" dirty="0"/>
              <a:t>-9 + 6 = </a:t>
            </a:r>
          </a:p>
          <a:p>
            <a:pPr marL="514350" indent="-514350">
              <a:buFont typeface="+mj-lt"/>
              <a:buAutoNum type="alphaLcParenR"/>
            </a:pPr>
            <a:endParaRPr lang="en-US" sz="2800" b="1" dirty="0"/>
          </a:p>
          <a:p>
            <a:pPr marL="514350" indent="-514350">
              <a:buFont typeface="+mj-lt"/>
              <a:buAutoNum type="alphaLcParenR"/>
            </a:pPr>
            <a:r>
              <a:rPr lang="en-US" sz="2800" b="1" dirty="0"/>
              <a:t>10 – 15 = </a:t>
            </a:r>
          </a:p>
          <a:p>
            <a:pPr marL="514350" indent="-514350">
              <a:buFont typeface="+mj-lt"/>
              <a:buAutoNum type="alphaLcParenR"/>
            </a:pPr>
            <a:endParaRPr lang="en-US" sz="2800" b="1" dirty="0"/>
          </a:p>
          <a:p>
            <a:pPr marL="514350" indent="-514350">
              <a:buFont typeface="+mj-lt"/>
              <a:buAutoNum type="alphaLcParenR"/>
            </a:pPr>
            <a:r>
              <a:rPr lang="en-US" sz="2800" b="1" dirty="0"/>
              <a:t>17 + 16 = </a:t>
            </a:r>
          </a:p>
          <a:p>
            <a:pPr marL="514350" indent="-514350">
              <a:buFont typeface="+mj-lt"/>
              <a:buAutoNum type="alphaLcParenR"/>
            </a:pPr>
            <a:endParaRPr lang="en-US" sz="2800" b="1" dirty="0"/>
          </a:p>
          <a:p>
            <a:pPr marL="514350" indent="-514350">
              <a:buFont typeface="+mj-lt"/>
              <a:buAutoNum type="alphaLcParenR"/>
            </a:pPr>
            <a:r>
              <a:rPr lang="en-US" sz="2800" b="1" dirty="0"/>
              <a:t>32 – 40 = </a:t>
            </a:r>
          </a:p>
          <a:p>
            <a:pPr marL="514350" indent="-514350">
              <a:buFont typeface="+mj-lt"/>
              <a:buAutoNum type="alphaLcParenR"/>
            </a:pPr>
            <a:endParaRPr lang="en-US" sz="2800" b="1" dirty="0"/>
          </a:p>
          <a:p>
            <a:pPr marL="514350" indent="-514350">
              <a:buFont typeface="+mj-lt"/>
              <a:buAutoNum type="alphaLcParenR"/>
            </a:pPr>
            <a:r>
              <a:rPr lang="en-US" sz="2800" b="1" dirty="0"/>
              <a:t>81 – 91 = </a:t>
            </a:r>
            <a:endParaRPr lang="en-US" dirty="0"/>
          </a:p>
          <a:p>
            <a:pPr marL="342900" indent="-342900">
              <a:buAutoNum type="alphaLcParenR"/>
            </a:pP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7735D0-12DC-4BFF-8F4F-2EE4AE6701CD}"/>
              </a:ext>
            </a:extLst>
          </p:cNvPr>
          <p:cNvSpPr txBox="1"/>
          <p:nvPr/>
        </p:nvSpPr>
        <p:spPr>
          <a:xfrm>
            <a:off x="2606220" y="2034576"/>
            <a:ext cx="91821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</a:t>
            </a:r>
            <a:r>
              <a:rPr lang="en-AU" sz="2800" b="1" dirty="0">
                <a:solidFill>
                  <a:srgbClr val="FF0000"/>
                </a:solidFill>
              </a:rPr>
              <a:t>3 </a:t>
            </a:r>
          </a:p>
          <a:p>
            <a:endParaRPr lang="en-AU" sz="2800" b="1" dirty="0">
              <a:solidFill>
                <a:srgbClr val="FF0000"/>
              </a:solidFill>
            </a:endParaRPr>
          </a:p>
          <a:p>
            <a:r>
              <a:rPr lang="en-AU" sz="2800" b="1" dirty="0">
                <a:solidFill>
                  <a:srgbClr val="FF0000"/>
                </a:solidFill>
              </a:rPr>
              <a:t>18</a:t>
            </a:r>
          </a:p>
          <a:p>
            <a:endParaRPr lang="en-AU" sz="2800" b="1" dirty="0">
              <a:solidFill>
                <a:srgbClr val="FF0000"/>
              </a:solidFill>
            </a:endParaRPr>
          </a:p>
          <a:p>
            <a:r>
              <a:rPr lang="en-AU" sz="2800" b="1" dirty="0">
                <a:solidFill>
                  <a:srgbClr val="FF0000"/>
                </a:solidFill>
              </a:rPr>
              <a:t>8</a:t>
            </a:r>
          </a:p>
          <a:p>
            <a:endParaRPr lang="en-AU" sz="2800" b="1" dirty="0">
              <a:solidFill>
                <a:srgbClr val="FF0000"/>
              </a:solidFill>
            </a:endParaRPr>
          </a:p>
          <a:p>
            <a:r>
              <a:rPr lang="en-AU" sz="2800" b="1" dirty="0">
                <a:solidFill>
                  <a:srgbClr val="FF0000"/>
                </a:solidFill>
              </a:rPr>
              <a:t>16</a:t>
            </a:r>
          </a:p>
          <a:p>
            <a:endParaRPr lang="en-AU" sz="2800" b="1" dirty="0">
              <a:solidFill>
                <a:srgbClr val="FF0000"/>
              </a:solidFill>
            </a:endParaRPr>
          </a:p>
          <a:p>
            <a:r>
              <a:rPr lang="en-AU" sz="2800" b="1" dirty="0">
                <a:solidFill>
                  <a:srgbClr val="FF0000"/>
                </a:solidFill>
              </a:rPr>
              <a:t>12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E5DAD3-69BE-4192-AC65-F939EB944CB5}"/>
              </a:ext>
            </a:extLst>
          </p:cNvPr>
          <p:cNvSpPr txBox="1"/>
          <p:nvPr/>
        </p:nvSpPr>
        <p:spPr>
          <a:xfrm>
            <a:off x="6611062" y="2005152"/>
            <a:ext cx="91821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22</a:t>
            </a:r>
          </a:p>
          <a:p>
            <a:endParaRPr lang="en-US" sz="2800" b="1" dirty="0">
              <a:solidFill>
                <a:srgbClr val="FF0000"/>
              </a:solidFill>
            </a:endParaRPr>
          </a:p>
          <a:p>
            <a:r>
              <a:rPr lang="en-US" sz="2800" b="1" dirty="0">
                <a:solidFill>
                  <a:srgbClr val="FF0000"/>
                </a:solidFill>
              </a:rPr>
              <a:t>23</a:t>
            </a:r>
          </a:p>
          <a:p>
            <a:endParaRPr lang="en-US" sz="2800" b="1" dirty="0">
              <a:solidFill>
                <a:srgbClr val="FF0000"/>
              </a:solidFill>
            </a:endParaRPr>
          </a:p>
          <a:p>
            <a:r>
              <a:rPr lang="en-US" sz="2800" b="1" dirty="0">
                <a:solidFill>
                  <a:srgbClr val="FF0000"/>
                </a:solidFill>
              </a:rPr>
              <a:t>9</a:t>
            </a:r>
          </a:p>
          <a:p>
            <a:endParaRPr lang="en-US" sz="2800" b="1" dirty="0">
              <a:solidFill>
                <a:srgbClr val="FF0000"/>
              </a:solidFill>
            </a:endParaRPr>
          </a:p>
          <a:p>
            <a:r>
              <a:rPr lang="en-US" sz="2800" b="1" dirty="0">
                <a:solidFill>
                  <a:srgbClr val="FF0000"/>
                </a:solidFill>
              </a:rPr>
              <a:t>6</a:t>
            </a:r>
          </a:p>
          <a:p>
            <a:endParaRPr lang="en-US" sz="2800" b="1" dirty="0">
              <a:solidFill>
                <a:srgbClr val="FF0000"/>
              </a:solidFill>
            </a:endParaRPr>
          </a:p>
          <a:p>
            <a:r>
              <a:rPr lang="en-US" sz="2800" b="1" dirty="0">
                <a:solidFill>
                  <a:srgbClr val="FF0000"/>
                </a:solidFill>
              </a:rPr>
              <a:t>-2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3786A7-4C68-4E19-B429-FE653DED2475}"/>
              </a:ext>
            </a:extLst>
          </p:cNvPr>
          <p:cNvSpPr txBox="1"/>
          <p:nvPr/>
        </p:nvSpPr>
        <p:spPr>
          <a:xfrm>
            <a:off x="10201028" y="2034576"/>
            <a:ext cx="91821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-3 </a:t>
            </a:r>
          </a:p>
          <a:p>
            <a:endParaRPr lang="en-US" sz="2800" b="1" dirty="0">
              <a:solidFill>
                <a:srgbClr val="FF0000"/>
              </a:solidFill>
            </a:endParaRPr>
          </a:p>
          <a:p>
            <a:r>
              <a:rPr lang="en-US" sz="2800" b="1" dirty="0">
                <a:solidFill>
                  <a:srgbClr val="FF0000"/>
                </a:solidFill>
              </a:rPr>
              <a:t>-5 </a:t>
            </a:r>
          </a:p>
          <a:p>
            <a:endParaRPr lang="en-US" sz="2800" b="1" dirty="0">
              <a:solidFill>
                <a:srgbClr val="FF0000"/>
              </a:solidFill>
            </a:endParaRPr>
          </a:p>
          <a:p>
            <a:r>
              <a:rPr lang="en-US" sz="2800" b="1" dirty="0">
                <a:solidFill>
                  <a:srgbClr val="FF0000"/>
                </a:solidFill>
              </a:rPr>
              <a:t>33</a:t>
            </a:r>
          </a:p>
          <a:p>
            <a:endParaRPr lang="en-US" sz="2800" b="1" dirty="0">
              <a:solidFill>
                <a:srgbClr val="FF0000"/>
              </a:solidFill>
            </a:endParaRPr>
          </a:p>
          <a:p>
            <a:r>
              <a:rPr lang="en-US" sz="2800" b="1" dirty="0">
                <a:solidFill>
                  <a:srgbClr val="FF0000"/>
                </a:solidFill>
              </a:rPr>
              <a:t>-8 </a:t>
            </a:r>
          </a:p>
          <a:p>
            <a:endParaRPr lang="en-US" sz="2800" b="1" dirty="0">
              <a:solidFill>
                <a:srgbClr val="FF0000"/>
              </a:solidFill>
            </a:endParaRPr>
          </a:p>
          <a:p>
            <a:r>
              <a:rPr lang="en-US" sz="2800" b="1" dirty="0">
                <a:solidFill>
                  <a:srgbClr val="FF0000"/>
                </a:solidFill>
              </a:rPr>
              <a:t>-10 </a:t>
            </a:r>
          </a:p>
        </p:txBody>
      </p:sp>
    </p:spTree>
    <p:extLst>
      <p:ext uri="{BB962C8B-B14F-4D97-AF65-F5344CB8AC3E}">
        <p14:creationId xmlns:p14="http://schemas.microsoft.com/office/powerpoint/2010/main" val="351043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177384EB-EB0D-43AB-8224-C9097FFF6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AU" sz="2800" dirty="0">
                <a:solidFill>
                  <a:srgbClr val="FF0000"/>
                </a:solidFill>
              </a:rPr>
              <a:t>Adding a negative is the same as subtraction </a:t>
            </a:r>
          </a:p>
          <a:p>
            <a:endParaRPr lang="en-AU" sz="2800" dirty="0">
              <a:solidFill>
                <a:srgbClr val="FF0000"/>
              </a:solidFill>
            </a:endParaRPr>
          </a:p>
          <a:p>
            <a:r>
              <a:rPr lang="en-AU" sz="2800" dirty="0">
                <a:solidFill>
                  <a:srgbClr val="FF0000"/>
                </a:solidFill>
              </a:rPr>
              <a:t>Subtracting a negative is the same as addition</a:t>
            </a:r>
          </a:p>
          <a:p>
            <a:pPr marL="0" indent="0">
              <a:buNone/>
            </a:pPr>
            <a:endParaRPr lang="en-AU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396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6AB6049-B245-4C91-9024-43EACD8BBF1C}"/>
              </a:ext>
            </a:extLst>
          </p:cNvPr>
          <p:cNvSpPr txBox="1"/>
          <p:nvPr/>
        </p:nvSpPr>
        <p:spPr>
          <a:xfrm>
            <a:off x="1005395" y="1284548"/>
            <a:ext cx="956790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Adding a negative is the same as subtraction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3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Subtracting a negative is the same as addition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3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0F299A-2ADF-47A0-BDB4-889D95BDF195}"/>
              </a:ext>
            </a:extLst>
          </p:cNvPr>
          <p:cNvSpPr/>
          <p:nvPr/>
        </p:nvSpPr>
        <p:spPr>
          <a:xfrm>
            <a:off x="7190913" y="1284548"/>
            <a:ext cx="2281561" cy="6419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96F49A-5803-4255-9086-88BD30A94FC8}"/>
              </a:ext>
            </a:extLst>
          </p:cNvPr>
          <p:cNvSpPr/>
          <p:nvPr/>
        </p:nvSpPr>
        <p:spPr>
          <a:xfrm>
            <a:off x="7973628" y="2369103"/>
            <a:ext cx="2281561" cy="6419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9201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C0E4FD-21AC-42C7-A350-B0F71DF99DE4}"/>
              </a:ext>
            </a:extLst>
          </p:cNvPr>
          <p:cNvSpPr txBox="1"/>
          <p:nvPr/>
        </p:nvSpPr>
        <p:spPr>
          <a:xfrm>
            <a:off x="2228494" y="2074783"/>
            <a:ext cx="147045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2 – (-4)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2 + 4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852226-2A1D-4D34-8967-FBDDB0F910BC}"/>
              </a:ext>
            </a:extLst>
          </p:cNvPr>
          <p:cNvSpPr txBox="1"/>
          <p:nvPr/>
        </p:nvSpPr>
        <p:spPr>
          <a:xfrm>
            <a:off x="4242644" y="2074783"/>
            <a:ext cx="229835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5 + (-4)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5 – 4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180EAB-A0EA-43A7-8784-F647837FDAD6}"/>
              </a:ext>
            </a:extLst>
          </p:cNvPr>
          <p:cNvSpPr txBox="1"/>
          <p:nvPr/>
        </p:nvSpPr>
        <p:spPr>
          <a:xfrm>
            <a:off x="6063207" y="2074783"/>
            <a:ext cx="229835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-5 – (-4)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-5 + 4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-1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308E61-0094-44E5-BFCE-54D41D21A49E}"/>
              </a:ext>
            </a:extLst>
          </p:cNvPr>
          <p:cNvSpPr txBox="1"/>
          <p:nvPr/>
        </p:nvSpPr>
        <p:spPr>
          <a:xfrm>
            <a:off x="8242116" y="2074783"/>
            <a:ext cx="229835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-5 + (-4)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-5 – 4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-9</a:t>
            </a:r>
          </a:p>
        </p:txBody>
      </p:sp>
      <p:sp>
        <p:nvSpPr>
          <p:cNvPr id="9" name="Rounded Rectangle 17">
            <a:extLst>
              <a:ext uri="{FF2B5EF4-FFF2-40B4-BE49-F238E27FC236}">
                <a16:creationId xmlns:a16="http://schemas.microsoft.com/office/drawing/2014/main" id="{FD1ECB2B-77BB-47BA-AD16-50CFDAE20766}"/>
              </a:ext>
            </a:extLst>
          </p:cNvPr>
          <p:cNvSpPr/>
          <p:nvPr/>
        </p:nvSpPr>
        <p:spPr>
          <a:xfrm>
            <a:off x="2511198" y="3030957"/>
            <a:ext cx="957144" cy="39129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ounded Rectangle 18">
            <a:extLst>
              <a:ext uri="{FF2B5EF4-FFF2-40B4-BE49-F238E27FC236}">
                <a16:creationId xmlns:a16="http://schemas.microsoft.com/office/drawing/2014/main" id="{56B0981B-D3B4-42E2-8827-E9453F341A23}"/>
              </a:ext>
            </a:extLst>
          </p:cNvPr>
          <p:cNvSpPr/>
          <p:nvPr/>
        </p:nvSpPr>
        <p:spPr>
          <a:xfrm>
            <a:off x="2499570" y="2590128"/>
            <a:ext cx="957144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ounded Rectangle 21">
            <a:extLst>
              <a:ext uri="{FF2B5EF4-FFF2-40B4-BE49-F238E27FC236}">
                <a16:creationId xmlns:a16="http://schemas.microsoft.com/office/drawing/2014/main" id="{0A4C164B-65A6-4500-B988-356FE9E795D5}"/>
              </a:ext>
            </a:extLst>
          </p:cNvPr>
          <p:cNvSpPr/>
          <p:nvPr/>
        </p:nvSpPr>
        <p:spPr>
          <a:xfrm>
            <a:off x="6329679" y="2575901"/>
            <a:ext cx="863667" cy="39129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ounded Rectangle 22">
            <a:extLst>
              <a:ext uri="{FF2B5EF4-FFF2-40B4-BE49-F238E27FC236}">
                <a16:creationId xmlns:a16="http://schemas.microsoft.com/office/drawing/2014/main" id="{E40CFBD9-FC56-4316-8EB8-86BCF7ED6BB0}"/>
              </a:ext>
            </a:extLst>
          </p:cNvPr>
          <p:cNvSpPr/>
          <p:nvPr/>
        </p:nvSpPr>
        <p:spPr>
          <a:xfrm>
            <a:off x="4518666" y="3021298"/>
            <a:ext cx="782590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ounded Rectangle 23">
            <a:extLst>
              <a:ext uri="{FF2B5EF4-FFF2-40B4-BE49-F238E27FC236}">
                <a16:creationId xmlns:a16="http://schemas.microsoft.com/office/drawing/2014/main" id="{F59EBA7C-060A-4C5B-8C1E-98E4E0301350}"/>
              </a:ext>
            </a:extLst>
          </p:cNvPr>
          <p:cNvSpPr/>
          <p:nvPr/>
        </p:nvSpPr>
        <p:spPr>
          <a:xfrm>
            <a:off x="4507038" y="2602854"/>
            <a:ext cx="765000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Rounded Rectangle 24">
            <a:extLst>
              <a:ext uri="{FF2B5EF4-FFF2-40B4-BE49-F238E27FC236}">
                <a16:creationId xmlns:a16="http://schemas.microsoft.com/office/drawing/2014/main" id="{B3475D8F-F746-495F-8E52-1BE05918C4AD}"/>
              </a:ext>
            </a:extLst>
          </p:cNvPr>
          <p:cNvSpPr/>
          <p:nvPr/>
        </p:nvSpPr>
        <p:spPr>
          <a:xfrm>
            <a:off x="8544420" y="2590128"/>
            <a:ext cx="957144" cy="39129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5" name="Rounded Rectangle 25">
            <a:extLst>
              <a:ext uri="{FF2B5EF4-FFF2-40B4-BE49-F238E27FC236}">
                <a16:creationId xmlns:a16="http://schemas.microsoft.com/office/drawing/2014/main" id="{63D6BB4E-05E9-4D7B-89D8-8E060DEFCE18}"/>
              </a:ext>
            </a:extLst>
          </p:cNvPr>
          <p:cNvSpPr/>
          <p:nvPr/>
        </p:nvSpPr>
        <p:spPr>
          <a:xfrm>
            <a:off x="6370847" y="3053115"/>
            <a:ext cx="785435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8" name="Rounded Rectangle 28">
            <a:extLst>
              <a:ext uri="{FF2B5EF4-FFF2-40B4-BE49-F238E27FC236}">
                <a16:creationId xmlns:a16="http://schemas.microsoft.com/office/drawing/2014/main" id="{7C005774-4958-4D5C-93FB-00984487D5A5}"/>
              </a:ext>
            </a:extLst>
          </p:cNvPr>
          <p:cNvSpPr/>
          <p:nvPr/>
        </p:nvSpPr>
        <p:spPr>
          <a:xfrm>
            <a:off x="8522599" y="3051566"/>
            <a:ext cx="765000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3D9EABC-7F32-4CAE-9254-7C0B8289F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699" y="4613004"/>
            <a:ext cx="10515595" cy="199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092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E8CE48-4BF3-4BD2-95E5-1C048B6F3CAC}"/>
              </a:ext>
            </a:extLst>
          </p:cNvPr>
          <p:cNvSpPr txBox="1"/>
          <p:nvPr/>
        </p:nvSpPr>
        <p:spPr>
          <a:xfrm>
            <a:off x="2192984" y="2074783"/>
            <a:ext cx="147045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4 – (-4)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C7E062-46C6-4875-8A95-2261B72B1596}"/>
              </a:ext>
            </a:extLst>
          </p:cNvPr>
          <p:cNvSpPr txBox="1"/>
          <p:nvPr/>
        </p:nvSpPr>
        <p:spPr>
          <a:xfrm>
            <a:off x="4207134" y="2074783"/>
            <a:ext cx="229835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9 + (-4)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28EC31-E15C-413F-8E6D-A2527762A031}"/>
              </a:ext>
            </a:extLst>
          </p:cNvPr>
          <p:cNvSpPr txBox="1"/>
          <p:nvPr/>
        </p:nvSpPr>
        <p:spPr>
          <a:xfrm>
            <a:off x="6027697" y="2074783"/>
            <a:ext cx="229835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-4 – (-4)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53991C-1C07-4C6A-AB23-20B9FE08DF84}"/>
              </a:ext>
            </a:extLst>
          </p:cNvPr>
          <p:cNvSpPr txBox="1"/>
          <p:nvPr/>
        </p:nvSpPr>
        <p:spPr>
          <a:xfrm>
            <a:off x="8206606" y="2074783"/>
            <a:ext cx="229835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-7 + (-4)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CC02EF-7F7B-4639-85D6-9BC0BF282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699" y="4613004"/>
            <a:ext cx="10515595" cy="199796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6585647-FB23-4F5C-B0A8-7456156F575C}"/>
              </a:ext>
            </a:extLst>
          </p:cNvPr>
          <p:cNvSpPr txBox="1"/>
          <p:nvPr/>
        </p:nvSpPr>
        <p:spPr>
          <a:xfrm>
            <a:off x="2618672" y="697951"/>
            <a:ext cx="6818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Write the question without the double signs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0C0C0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6393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15C21-BE25-464C-ADDB-03B6D327D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31733" y="615843"/>
            <a:ext cx="11844338" cy="5355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0" indent="0" algn="ctr" defTabSz="457200">
              <a:spcAft>
                <a:spcPts val="600"/>
              </a:spcAft>
              <a:buClr>
                <a:srgbClr val="FF0000"/>
              </a:buClr>
              <a:buNone/>
              <a:defRPr/>
            </a:pPr>
            <a:r>
              <a:rPr lang="en-US" sz="3200" dirty="0">
                <a:solidFill>
                  <a:prstClr val="black"/>
                </a:solidFill>
              </a:rPr>
              <a:t>WHITEBOARDS</a:t>
            </a:r>
            <a:endParaRPr lang="en-AU" sz="3200" dirty="0">
              <a:solidFill>
                <a:prstClr val="black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F3BBEE-9FA5-495E-8480-DBB7B5197136}"/>
              </a:ext>
            </a:extLst>
          </p:cNvPr>
          <p:cNvSpPr txBox="1"/>
          <p:nvPr/>
        </p:nvSpPr>
        <p:spPr>
          <a:xfrm>
            <a:off x="1651007" y="1365525"/>
            <a:ext cx="8611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Write the question without the double signs and solve. 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0C0C0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7D85EE-F795-4ADF-A7CA-A471CF532DD2}"/>
              </a:ext>
            </a:extLst>
          </p:cNvPr>
          <p:cNvSpPr txBox="1"/>
          <p:nvPr/>
        </p:nvSpPr>
        <p:spPr>
          <a:xfrm>
            <a:off x="2157473" y="2300174"/>
            <a:ext cx="147045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10 – (-6)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6763C6-25FA-4212-96D8-87334AB597F2}"/>
              </a:ext>
            </a:extLst>
          </p:cNvPr>
          <p:cNvSpPr txBox="1"/>
          <p:nvPr/>
        </p:nvSpPr>
        <p:spPr>
          <a:xfrm>
            <a:off x="4171623" y="2300174"/>
            <a:ext cx="229835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8 + (-2)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FF559D-48E0-41AB-9879-D5501E3E266C}"/>
              </a:ext>
            </a:extLst>
          </p:cNvPr>
          <p:cNvSpPr txBox="1"/>
          <p:nvPr/>
        </p:nvSpPr>
        <p:spPr>
          <a:xfrm>
            <a:off x="5992186" y="2300174"/>
            <a:ext cx="229835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-9 – (-5)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9AED36-0FA9-4F83-AF4F-0FD55F8427A9}"/>
              </a:ext>
            </a:extLst>
          </p:cNvPr>
          <p:cNvSpPr txBox="1"/>
          <p:nvPr/>
        </p:nvSpPr>
        <p:spPr>
          <a:xfrm>
            <a:off x="8171095" y="2300174"/>
            <a:ext cx="229835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-9 + (-5)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219C74-0562-4359-A8D2-7D2463D58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042" y="4803192"/>
            <a:ext cx="10515595" cy="199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19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5169" y="1115171"/>
            <a:ext cx="8915399" cy="570506"/>
          </a:xfrm>
        </p:spPr>
        <p:txBody>
          <a:bodyPr>
            <a:normAutofit/>
          </a:bodyPr>
          <a:lstStyle/>
          <a:p>
            <a:r>
              <a:rPr lang="en-AU" sz="3200" dirty="0">
                <a:latin typeface="Arial Rounded MT Bold" panose="020F0704030504030204" pitchFamily="34" charset="0"/>
                <a:ea typeface="Cambria Math" panose="02040503050406030204" pitchFamily="18" charset="0"/>
              </a:rPr>
              <a:t>WEIGHTS IN MULTIPLES OF 100 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63972" y="2838615"/>
            <a:ext cx="5677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</a:rPr>
              <a:t>Page 2 worksheet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47861" y="1685678"/>
            <a:ext cx="5849226" cy="415498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/>
              <a:t>These items are in multiples of 100 g or 100 ml   </a:t>
            </a:r>
            <a:r>
              <a:rPr lang="en-AU" sz="2400" dirty="0" err="1"/>
              <a:t>eg</a:t>
            </a:r>
            <a:r>
              <a:rPr lang="en-AU" sz="2400" dirty="0"/>
              <a:t>: 300 g</a:t>
            </a:r>
          </a:p>
          <a:p>
            <a:pPr lvl="0"/>
            <a:r>
              <a:rPr lang="en-AU" sz="2400" dirty="0"/>
              <a:t>Find the cost for 100 grams or 100 ml      </a:t>
            </a:r>
            <a:r>
              <a:rPr lang="en-AU" sz="2400" dirty="0" err="1"/>
              <a:t>eg</a:t>
            </a:r>
            <a:r>
              <a:rPr lang="en-AU" sz="2400" dirty="0"/>
              <a:t>: 300 g ÷ 3</a:t>
            </a:r>
          </a:p>
          <a:p>
            <a:pPr lvl="0"/>
            <a:r>
              <a:rPr lang="en-AU" sz="2400" dirty="0"/>
              <a:t>Now find the cost for 1 kg or 1 L      (x 10)</a:t>
            </a:r>
          </a:p>
          <a:p>
            <a:pPr lvl="0"/>
            <a:r>
              <a:rPr lang="en-AU" sz="3600" dirty="0"/>
              <a:t>							</a:t>
            </a:r>
            <a:r>
              <a:rPr lang="en-AU" sz="2400" b="1" dirty="0"/>
              <a:t>Page 2</a:t>
            </a:r>
          </a:p>
          <a:p>
            <a:pPr lvl="0"/>
            <a:endParaRPr lang="en-AU" dirty="0"/>
          </a:p>
          <a:p>
            <a:pPr lvl="0"/>
            <a:endParaRPr lang="en-AU" dirty="0"/>
          </a:p>
          <a:p>
            <a:pPr lvl="0"/>
            <a:endParaRPr lang="en-AU" dirty="0"/>
          </a:p>
          <a:p>
            <a:pPr lvl="0"/>
            <a:endParaRPr lang="en-AU" dirty="0"/>
          </a:p>
          <a:p>
            <a:pPr lvl="0"/>
            <a:endParaRPr lang="en-AU" dirty="0"/>
          </a:p>
          <a:p>
            <a:pPr lvl="0"/>
            <a:endParaRPr lang="en-AU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925" y="3561944"/>
            <a:ext cx="1594276" cy="239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196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1742" y="1215320"/>
            <a:ext cx="8689976" cy="655244"/>
          </a:xfrm>
        </p:spPr>
        <p:txBody>
          <a:bodyPr>
            <a:normAutofit fontScale="90000"/>
          </a:bodyPr>
          <a:lstStyle/>
          <a:p>
            <a:r>
              <a:rPr lang="en-AU" sz="2400" dirty="0">
                <a:latin typeface="Arial Rounded MT Bold" panose="020F0704030504030204" pitchFamily="34" charset="0"/>
                <a:ea typeface="Cambria Math" panose="02040503050406030204" pitchFamily="18" charset="0"/>
              </a:rPr>
              <a:t>WEIGHTS IN MULTIPLES OF 100 GRAMS</a:t>
            </a:r>
            <a:br>
              <a:rPr lang="en-AU" sz="2400" dirty="0">
                <a:latin typeface="Arial Rounded MT Bold" panose="020F0704030504030204" pitchFamily="34" charset="0"/>
                <a:ea typeface="Cambria Math" panose="02040503050406030204" pitchFamily="18" charset="0"/>
              </a:rPr>
            </a:b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200646" y="2870421"/>
            <a:ext cx="985961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/>
              <a:t>Find the cost of 100 grams of the item</a:t>
            </a:r>
          </a:p>
          <a:p>
            <a:pPr lvl="1"/>
            <a:r>
              <a:rPr lang="en-AU" sz="2400" dirty="0"/>
              <a:t>    200 g costs $3.60</a:t>
            </a:r>
          </a:p>
          <a:p>
            <a:pPr lvl="1"/>
            <a:r>
              <a:rPr lang="en-AU" sz="2400" dirty="0"/>
              <a:t>so 100 g costs  $ </a:t>
            </a:r>
            <a:r>
              <a:rPr lang="en-AU" sz="2400" dirty="0">
                <a:solidFill>
                  <a:srgbClr val="FF0000"/>
                </a:solidFill>
              </a:rPr>
              <a:t>..........     </a:t>
            </a:r>
            <a:r>
              <a:rPr lang="en-AU" sz="2400" dirty="0">
                <a:solidFill>
                  <a:srgbClr val="00B0F0"/>
                </a:solidFill>
              </a:rPr>
              <a:t>($3.60 ÷ 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/>
              <a:t>Now find the cost of one kilogram</a:t>
            </a:r>
          </a:p>
          <a:p>
            <a:pPr lvl="1"/>
            <a:r>
              <a:rPr lang="en-AU" sz="2400" dirty="0"/>
              <a:t>    100 g costs $1.80</a:t>
            </a:r>
          </a:p>
          <a:p>
            <a:pPr lvl="1"/>
            <a:r>
              <a:rPr lang="en-AU" sz="2400" dirty="0"/>
              <a:t>so 1 kg costs $ </a:t>
            </a:r>
            <a:r>
              <a:rPr lang="en-AU" sz="2400" dirty="0">
                <a:solidFill>
                  <a:srgbClr val="FF0000"/>
                </a:solidFill>
              </a:rPr>
              <a:t>…….       </a:t>
            </a:r>
            <a:r>
              <a:rPr lang="en-AU" sz="2400" dirty="0">
                <a:solidFill>
                  <a:srgbClr val="00B0F0"/>
                </a:solidFill>
              </a:rPr>
              <a:t>($1.80 x 10)</a:t>
            </a:r>
          </a:p>
          <a:p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64668" y="2500436"/>
            <a:ext cx="3538720" cy="28157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0824" y="1542942"/>
            <a:ext cx="5876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South Cape cream cheese</a:t>
            </a:r>
          </a:p>
        </p:txBody>
      </p:sp>
    </p:spTree>
    <p:extLst>
      <p:ext uri="{BB962C8B-B14F-4D97-AF65-F5344CB8AC3E}">
        <p14:creationId xmlns:p14="http://schemas.microsoft.com/office/powerpoint/2010/main" val="2801241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5596" y="421420"/>
            <a:ext cx="8689976" cy="659957"/>
          </a:xfrm>
        </p:spPr>
        <p:txBody>
          <a:bodyPr>
            <a:normAutofit/>
          </a:bodyPr>
          <a:lstStyle/>
          <a:p>
            <a:r>
              <a:rPr lang="en-AU" sz="2400" dirty="0">
                <a:latin typeface="Arial Rounded MT Bold" panose="020F0704030504030204" pitchFamily="34" charset="0"/>
                <a:ea typeface="Cambria Math" panose="02040503050406030204" pitchFamily="18" charset="0"/>
              </a:rPr>
              <a:t>WEIGHTS IN MULTIPLES OF 100 GRAMS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109207" y="1982610"/>
            <a:ext cx="932688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dirty="0"/>
              <a:t>Find the cost of 100 grams of the item</a:t>
            </a:r>
          </a:p>
          <a:p>
            <a:pPr lvl="1"/>
            <a:r>
              <a:rPr lang="en-AU" sz="2000" dirty="0"/>
              <a:t>    500 g costs $4.80</a:t>
            </a:r>
          </a:p>
          <a:p>
            <a:pPr lvl="1"/>
            <a:r>
              <a:rPr lang="en-AU" sz="2000" dirty="0"/>
              <a:t>so 100 g costs  $ </a:t>
            </a:r>
            <a:r>
              <a:rPr lang="en-AU" sz="2000" dirty="0">
                <a:solidFill>
                  <a:srgbClr val="FF0000"/>
                </a:solidFill>
              </a:rPr>
              <a:t>..........     </a:t>
            </a:r>
            <a:r>
              <a:rPr lang="en-AU" sz="2000" dirty="0">
                <a:solidFill>
                  <a:srgbClr val="00B0F0"/>
                </a:solidFill>
              </a:rPr>
              <a:t>($4.80 ÷ 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dirty="0"/>
              <a:t>Now find the cost of one kilogram</a:t>
            </a:r>
          </a:p>
          <a:p>
            <a:pPr lvl="1"/>
            <a:r>
              <a:rPr lang="en-AU" sz="2000" dirty="0"/>
              <a:t>    100 g costs $0.96</a:t>
            </a:r>
          </a:p>
          <a:p>
            <a:pPr lvl="1"/>
            <a:r>
              <a:rPr lang="en-AU" sz="2000" dirty="0"/>
              <a:t>so 1 kg costs $ </a:t>
            </a:r>
            <a:r>
              <a:rPr lang="en-AU" sz="2000" dirty="0">
                <a:solidFill>
                  <a:srgbClr val="FF0000"/>
                </a:solidFill>
              </a:rPr>
              <a:t>…….       </a:t>
            </a:r>
            <a:r>
              <a:rPr lang="en-AU" sz="2000" dirty="0">
                <a:solidFill>
                  <a:srgbClr val="00B0F0"/>
                </a:solidFill>
              </a:rPr>
              <a:t>($0.96 x 10)</a:t>
            </a:r>
          </a:p>
          <a:p>
            <a:endParaRPr lang="en-AU" dirty="0"/>
          </a:p>
          <a:p>
            <a:endParaRPr lang="en-AU" dirty="0"/>
          </a:p>
          <a:p>
            <a:r>
              <a:rPr lang="en-AU" sz="2000" dirty="0"/>
              <a:t>What is an easier method to get the one kilogram price when you have the cost of 500 g?</a:t>
            </a:r>
          </a:p>
          <a:p>
            <a:endParaRPr lang="en-AU" sz="2000" dirty="0"/>
          </a:p>
          <a:p>
            <a:r>
              <a:rPr lang="en-AU" sz="2000" dirty="0">
                <a:solidFill>
                  <a:srgbClr val="FF0000"/>
                </a:solidFill>
              </a:rPr>
              <a:t>     You just …………………………………………………..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3717" y="1481487"/>
            <a:ext cx="3183768" cy="27210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015409" y="1081377"/>
            <a:ext cx="35144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Western Star spreadable butter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0208" y="5430740"/>
            <a:ext cx="318376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Now do  Page 2 and Page 3</a:t>
            </a:r>
          </a:p>
        </p:txBody>
      </p:sp>
    </p:spTree>
    <p:extLst>
      <p:ext uri="{BB962C8B-B14F-4D97-AF65-F5344CB8AC3E}">
        <p14:creationId xmlns:p14="http://schemas.microsoft.com/office/powerpoint/2010/main" val="686747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1742" y="1215320"/>
            <a:ext cx="8689976" cy="655244"/>
          </a:xfrm>
        </p:spPr>
        <p:txBody>
          <a:bodyPr>
            <a:normAutofit fontScale="90000"/>
          </a:bodyPr>
          <a:lstStyle/>
          <a:p>
            <a:r>
              <a:rPr lang="en-AU" sz="2400" dirty="0">
                <a:latin typeface="Arial Rounded MT Bold" panose="020F0704030504030204" pitchFamily="34" charset="0"/>
                <a:ea typeface="Cambria Math" panose="02040503050406030204" pitchFamily="18" charset="0"/>
              </a:rPr>
              <a:t>WEIGHTS IN MULTIPLES OF 100 GRAMS</a:t>
            </a:r>
            <a:br>
              <a:rPr lang="en-AU" sz="2400" dirty="0">
                <a:latin typeface="Arial Rounded MT Bold" panose="020F0704030504030204" pitchFamily="34" charset="0"/>
                <a:ea typeface="Cambria Math" panose="02040503050406030204" pitchFamily="18" charset="0"/>
              </a:rPr>
            </a:b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200646" y="2870421"/>
            <a:ext cx="985961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/>
              <a:t>Find the cost of 100 grams of the item</a:t>
            </a:r>
          </a:p>
          <a:p>
            <a:pPr lvl="1"/>
            <a:r>
              <a:rPr lang="en-AU" sz="2400" dirty="0"/>
              <a:t>    200 g costs $3.60</a:t>
            </a:r>
          </a:p>
          <a:p>
            <a:pPr lvl="1"/>
            <a:r>
              <a:rPr lang="en-AU" sz="2400" dirty="0"/>
              <a:t>so 100 g costs  $ </a:t>
            </a:r>
            <a:r>
              <a:rPr lang="en-AU" sz="2400" dirty="0">
                <a:solidFill>
                  <a:srgbClr val="FF0000"/>
                </a:solidFill>
              </a:rPr>
              <a:t>..........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/>
              <a:t>Now find the cost of one kilogram</a:t>
            </a:r>
          </a:p>
          <a:p>
            <a:pPr lvl="1"/>
            <a:r>
              <a:rPr lang="en-AU" sz="2400" dirty="0"/>
              <a:t>    100 g costs $1.80</a:t>
            </a:r>
          </a:p>
          <a:p>
            <a:pPr lvl="1"/>
            <a:r>
              <a:rPr lang="en-AU" sz="2400" dirty="0"/>
              <a:t>so 1 kg costs $ </a:t>
            </a:r>
            <a:r>
              <a:rPr lang="en-AU" sz="2400" dirty="0">
                <a:solidFill>
                  <a:srgbClr val="FF0000"/>
                </a:solidFill>
              </a:rPr>
              <a:t>…….       </a:t>
            </a:r>
          </a:p>
          <a:p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64668" y="2500436"/>
            <a:ext cx="3538720" cy="28157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0824" y="1542942"/>
            <a:ext cx="5876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South Cape cream cheese</a:t>
            </a:r>
          </a:p>
        </p:txBody>
      </p:sp>
    </p:spTree>
    <p:extLst>
      <p:ext uri="{BB962C8B-B14F-4D97-AF65-F5344CB8AC3E}">
        <p14:creationId xmlns:p14="http://schemas.microsoft.com/office/powerpoint/2010/main" val="902015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5596" y="421420"/>
            <a:ext cx="8689976" cy="659957"/>
          </a:xfrm>
        </p:spPr>
        <p:txBody>
          <a:bodyPr>
            <a:normAutofit/>
          </a:bodyPr>
          <a:lstStyle/>
          <a:p>
            <a:r>
              <a:rPr lang="en-AU" sz="2400" dirty="0">
                <a:latin typeface="Arial Rounded MT Bold" panose="020F0704030504030204" pitchFamily="34" charset="0"/>
                <a:ea typeface="Cambria Math" panose="02040503050406030204" pitchFamily="18" charset="0"/>
              </a:rPr>
              <a:t>WEIGHTS IN MULTIPLES OF 100 GRAMS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109207" y="1982610"/>
            <a:ext cx="932688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dirty="0"/>
              <a:t>Find the cost of 100 grams of the item</a:t>
            </a:r>
          </a:p>
          <a:p>
            <a:pPr lvl="1"/>
            <a:r>
              <a:rPr lang="en-AU" sz="2000" dirty="0"/>
              <a:t>    500 g costs $4.80</a:t>
            </a:r>
          </a:p>
          <a:p>
            <a:pPr lvl="1"/>
            <a:r>
              <a:rPr lang="en-AU" sz="2000" dirty="0"/>
              <a:t>so 100 g costs  $ </a:t>
            </a:r>
            <a:r>
              <a:rPr lang="en-AU" sz="2000" dirty="0">
                <a:solidFill>
                  <a:srgbClr val="FF0000"/>
                </a:solidFill>
              </a:rPr>
              <a:t>..........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dirty="0"/>
              <a:t>Now find the cost of one kilogram</a:t>
            </a:r>
          </a:p>
          <a:p>
            <a:pPr lvl="1"/>
            <a:r>
              <a:rPr lang="en-AU" sz="2000" dirty="0"/>
              <a:t>    100 g costs $0.96</a:t>
            </a:r>
          </a:p>
          <a:p>
            <a:pPr lvl="1"/>
            <a:r>
              <a:rPr lang="en-AU" sz="2000" dirty="0"/>
              <a:t>so 1 kg costs $ </a:t>
            </a:r>
            <a:r>
              <a:rPr lang="en-AU" sz="2000" dirty="0">
                <a:solidFill>
                  <a:srgbClr val="FF0000"/>
                </a:solidFill>
              </a:rPr>
              <a:t>…….       </a:t>
            </a:r>
          </a:p>
          <a:p>
            <a:endParaRPr lang="en-AU" dirty="0"/>
          </a:p>
          <a:p>
            <a:endParaRPr lang="en-AU" dirty="0"/>
          </a:p>
          <a:p>
            <a:r>
              <a:rPr lang="en-AU" sz="2000" dirty="0"/>
              <a:t>What is an easier method to get the one kilogram price when you have the cost of 500 g?</a:t>
            </a:r>
          </a:p>
          <a:p>
            <a:endParaRPr lang="en-AU" sz="2000" dirty="0"/>
          </a:p>
          <a:p>
            <a:r>
              <a:rPr lang="en-AU" sz="2000" dirty="0">
                <a:solidFill>
                  <a:srgbClr val="FF0000"/>
                </a:solidFill>
              </a:rPr>
              <a:t>     You just …………………………………………………..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3717" y="1481487"/>
            <a:ext cx="3183768" cy="27210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015409" y="1081377"/>
            <a:ext cx="35144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Western Star spreadable butter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0208" y="5430740"/>
            <a:ext cx="318376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Now do  Page 2 and Page 3</a:t>
            </a:r>
          </a:p>
        </p:txBody>
      </p:sp>
    </p:spTree>
    <p:extLst>
      <p:ext uri="{BB962C8B-B14F-4D97-AF65-F5344CB8AC3E}">
        <p14:creationId xmlns:p14="http://schemas.microsoft.com/office/powerpoint/2010/main" val="958595608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359</TotalTime>
  <Words>639</Words>
  <Application>Microsoft Office PowerPoint</Application>
  <PresentationFormat>Widescreen</PresentationFormat>
  <Paragraphs>169</Paragraphs>
  <Slides>12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Arial Rounded MT Bold</vt:lpstr>
      <vt:lpstr>Calibri</vt:lpstr>
      <vt:lpstr>Cambria Math</vt:lpstr>
      <vt:lpstr>Century Gothic</vt:lpstr>
      <vt:lpstr>Tw Cen MT</vt:lpstr>
      <vt:lpstr>Verdana</vt:lpstr>
      <vt:lpstr>Wingdings</vt:lpstr>
      <vt:lpstr>Droplet</vt:lpstr>
      <vt:lpstr>Title: WEIGHTS IN MULTIPLES OF 100 GRAMS</vt:lpstr>
      <vt:lpstr>Automaticity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WEIGHTS IN MULTIPLES OF 100 GRAMS</vt:lpstr>
      <vt:lpstr>WEIGHTS IN MULTIPLES OF 100 GRAMS </vt:lpstr>
      <vt:lpstr>WEIGHTS IN MULTIPLES OF 100 GRAMS</vt:lpstr>
      <vt:lpstr>WEIGHTS IN MULTIPLES OF 100 GRAMS </vt:lpstr>
      <vt:lpstr>WEIGHTS IN MULTIPLES OF 100 GRAMS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WEIGHTS IN MULTIPLES OF 100 GRAMS</dc:title>
  <dc:creator>FORREST Cassie [Busselton Senior High School]</dc:creator>
  <cp:lastModifiedBy>DAVIES Rhys [Busselton Senior High School]</cp:lastModifiedBy>
  <cp:revision>18</cp:revision>
  <cp:lastPrinted>2023-05-10T23:55:58Z</cp:lastPrinted>
  <dcterms:created xsi:type="dcterms:W3CDTF">2022-04-24T12:31:00Z</dcterms:created>
  <dcterms:modified xsi:type="dcterms:W3CDTF">2023-05-11T02:00:51Z</dcterms:modified>
</cp:coreProperties>
</file>
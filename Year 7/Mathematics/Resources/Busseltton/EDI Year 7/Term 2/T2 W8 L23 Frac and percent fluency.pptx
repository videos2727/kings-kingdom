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4" r:id="rId3"/>
    <p:sldId id="265" r:id="rId4"/>
    <p:sldId id="262" r:id="rId5"/>
    <p:sldId id="263" r:id="rId6"/>
    <p:sldId id="266" r:id="rId7"/>
    <p:sldId id="267" r:id="rId8"/>
    <p:sldId id="269" r:id="rId9"/>
    <p:sldId id="271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A164A2-8448-4575-AAF9-24ABFF9793AF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947400-DD47-4C87-80D8-521FA17317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683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319785-B2B2-4D26-A156-002371276590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394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6634-EBAF-C2DF-7968-1B45FB6CEF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19DCEB-1441-70CF-DC55-23F1157C21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62AC3-1ED9-9180-BCCB-CB52A83F9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E721B-0243-46E4-BDAD-8098B467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41B18-B7ED-6380-A759-7D192373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738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A903-7602-F4D1-806B-751F6F58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92D3B-7B62-903D-11AD-AB2BDBB23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447D2-2282-328C-E04F-5ECBDC6C8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648D2-C9D9-A7EA-7CC1-352C2DED3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9C86B-B90F-84D7-EB03-0C8F0D02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2191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0068-089C-B71F-85F7-7466B019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9FD2C-8737-FB75-528A-444FD94D7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42E60-2176-04DD-601D-A4D50C68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B4D8C-5C28-2526-F9DD-E57F11EC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75A7F-3A7A-674C-9ADD-2B0B3C2E1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131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96CE9-E119-E156-5F8C-86BCEBDC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8D4CE-742C-07C5-4710-DE6501F1F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E8E4C-F9E1-BE77-E810-569F49AE7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E749B2-04F1-6FBB-39FF-C7166625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0007B-9F48-6926-48F4-21C9F13A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729B90-7BA0-7CB2-FB58-2092B5D9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5843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381E-483C-1005-8286-33A38B620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2C7AD-BEBF-4D71-5FA6-9A757F14A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72219-CAE5-1CA3-25EB-3FF7E9D32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CA190-5F3B-D984-9529-F40A10AD2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FE9D7-1EC9-C993-08F3-72657729DC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563B9D-D694-239A-E023-0F810114B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76A664-DA47-E6EA-3B3B-9AD52BF5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33000-4175-5FEE-FF86-0017AF187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23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8A12C-EEF5-16BF-B56E-AB7D6467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D65881-A464-553C-6BD5-BC66BDA45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E748D9-BB18-5850-16B6-DDBBD33F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E75D8-B029-83C8-E3F9-C7B7231D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7889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CA8DA-315C-D211-AB34-3E79D4F9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39C53E-A848-EB34-9ED4-98855C3D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B9A90-C79B-7EB4-61D8-90611B8D2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715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AB17-B560-866D-038E-5548F049B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C22C-CB62-4142-FAF1-DC1CD69EB2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B6A86-3F9C-F369-198F-7372CCCF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5BBA3-E47D-4A59-472E-7818A705C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5F0E5-BBBE-13DA-B4D7-9EBFA510A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035A2-1C6D-989F-46BD-770125B4B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376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09A80-1BCF-499A-94AD-FA061F75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F5DF4-C51E-8606-996D-603324B469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8CAA3-7DC8-67D1-92A7-D67E0ABBF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F5B5A6-E068-B914-EE7E-2B3592F0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D89-E15B-4460-202E-FE282878D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9EB22-CCD9-2579-2EC0-5204E55DF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042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91E20-1F07-2B1A-7866-649A66B16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8310D1-2655-3BF3-6BDC-BC943D3A1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F600F-241E-1CB8-894F-7B8A96FDC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AADD1-B6B4-0B67-38BF-5418DEBF0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D2690-F9AA-BE2A-FB49-22B19CB2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306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1E523E-C578-79AF-995A-2F854E3BF6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D413F-2D7F-D056-A854-F331537B6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FB783-7FFB-1EC9-6E85-8DB639A40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02E4E-07D0-F2E6-50E2-11B82CFEA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CC411-7C75-829A-ECE4-CA08AB2A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855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1AEEB-88A4-D4BA-26EA-4B3E0FD5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B7154-B190-F4B9-40B7-79F045FEB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F911-03AE-4089-FB4B-40DB0A098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3B9E2-3CE1-40EF-A53F-CCDB5DF72AF9}" type="datetimeFigureOut">
              <a:rPr lang="en-AU" smtClean="0"/>
              <a:t>15/06/2023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A954A-2F6D-7590-BC1F-D034CC13A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1EF10-BA00-12A4-40C1-74EE9D58EB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95A04-4693-4BCB-80D1-5537E27E164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66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FDP%20millionnaire.pp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83B92C-D85A-53A7-51BF-6390F48D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329CD8-7A44-ECFE-E791-15A1D1FDF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b="1" dirty="0">
                <a:solidFill>
                  <a:srgbClr val="00B0F0"/>
                </a:solidFill>
              </a:rPr>
              <a:t>Fractions and percentages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Move between fraction and percentages when solving problems. 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converting FDP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Review percent of amount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Working with fractions and percent 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45772-18A4-2C76-6903-3E1E0E800D6D}"/>
              </a:ext>
            </a:extLst>
          </p:cNvPr>
          <p:cNvSpPr txBox="1"/>
          <p:nvPr/>
        </p:nvSpPr>
        <p:spPr>
          <a:xfrm>
            <a:off x="8868791" y="1658786"/>
            <a:ext cx="2068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 </a:t>
            </a:r>
            <a:endParaRPr lang="en-AU" sz="20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1AB15-82CB-78CE-5016-A166A37CBE22}"/>
              </a:ext>
            </a:extLst>
          </p:cNvPr>
          <p:cNvSpPr txBox="1"/>
          <p:nvPr/>
        </p:nvSpPr>
        <p:spPr>
          <a:xfrm>
            <a:off x="8959048" y="227013"/>
            <a:ext cx="23947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Respect (hands up)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(on task)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7982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785600" y="404665"/>
            <a:ext cx="8882400" cy="5509329"/>
            <a:chOff x="1080" y="340"/>
            <a:chExt cx="11650" cy="4651"/>
          </a:xfrm>
        </p:grpSpPr>
        <p:sp>
          <p:nvSpPr>
            <p:cNvPr id="1027" name="WordArt 3"/>
            <p:cNvSpPr>
              <a:spLocks noChangeArrowheads="1" noChangeShapeType="1" noTextEdit="1"/>
            </p:cNvSpPr>
            <p:nvPr/>
          </p:nvSpPr>
          <p:spPr bwMode="auto">
            <a:xfrm>
              <a:off x="1161" y="765"/>
              <a:ext cx="3684" cy="72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Fractions</a:t>
              </a:r>
            </a:p>
          </p:txBody>
        </p:sp>
        <p:sp>
          <p:nvSpPr>
            <p:cNvPr id="1028" name="WordArt 4"/>
            <p:cNvSpPr>
              <a:spLocks noChangeArrowheads="1" noChangeShapeType="1" noTextEdit="1"/>
            </p:cNvSpPr>
            <p:nvPr/>
          </p:nvSpPr>
          <p:spPr bwMode="auto">
            <a:xfrm>
              <a:off x="8528" y="766"/>
              <a:ext cx="3683" cy="729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Decimals</a:t>
              </a:r>
            </a:p>
          </p:txBody>
        </p:sp>
        <p:sp>
          <p:nvSpPr>
            <p:cNvPr id="1029" name="WordArt 5"/>
            <p:cNvSpPr>
              <a:spLocks noChangeArrowheads="1" noChangeShapeType="1" noTextEdit="1"/>
            </p:cNvSpPr>
            <p:nvPr/>
          </p:nvSpPr>
          <p:spPr bwMode="auto">
            <a:xfrm>
              <a:off x="6733" y="4169"/>
              <a:ext cx="5478" cy="822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GB" sz="3600" kern="10" dirty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CCFF"/>
                  </a:solidFill>
                  <a:latin typeface="Arial Black"/>
                </a:rPr>
                <a:t>Percentages</a:t>
              </a:r>
            </a:p>
          </p:txBody>
        </p:sp>
        <p:sp>
          <p:nvSpPr>
            <p:cNvPr id="1030" name="AutoShape 6"/>
            <p:cNvSpPr>
              <a:spLocks noChangeArrowheads="1"/>
            </p:cNvSpPr>
            <p:nvPr/>
          </p:nvSpPr>
          <p:spPr bwMode="auto">
            <a:xfrm>
              <a:off x="4939" y="340"/>
              <a:ext cx="3400" cy="1699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2" name="AutoShape 8"/>
            <p:cNvSpPr>
              <a:spLocks noChangeArrowheads="1"/>
            </p:cNvSpPr>
            <p:nvPr/>
          </p:nvSpPr>
          <p:spPr bwMode="auto">
            <a:xfrm>
              <a:off x="9991" y="1738"/>
              <a:ext cx="2739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4" name="AutoShape 10"/>
            <p:cNvSpPr>
              <a:spLocks noChangeArrowheads="1"/>
            </p:cNvSpPr>
            <p:nvPr/>
          </p:nvSpPr>
          <p:spPr bwMode="auto">
            <a:xfrm rot="10800000">
              <a:off x="7678" y="1616"/>
              <a:ext cx="2739" cy="2400"/>
            </a:xfrm>
            <a:prstGeom prst="downArrow">
              <a:avLst>
                <a:gd name="adj1" fmla="val 50000"/>
                <a:gd name="adj2" fmla="val 26786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6" name="AutoShape 12"/>
            <p:cNvSpPr>
              <a:spLocks noChangeArrowheads="1"/>
            </p:cNvSpPr>
            <p:nvPr/>
          </p:nvSpPr>
          <p:spPr bwMode="auto">
            <a:xfrm flipH="1">
              <a:off x="1080" y="1860"/>
              <a:ext cx="5340" cy="3100"/>
            </a:xfrm>
            <a:custGeom>
              <a:avLst/>
              <a:gdLst>
                <a:gd name="G0" fmla="+- 9257 0 0"/>
                <a:gd name="G1" fmla="+- 18514 0 0"/>
                <a:gd name="G2" fmla="+- 7200 0 0"/>
                <a:gd name="G3" fmla="*/ 9257 1 2"/>
                <a:gd name="G4" fmla="+- G3 10800 0"/>
                <a:gd name="G5" fmla="+- 21600 9257 18514"/>
                <a:gd name="G6" fmla="+- 18514 7200 0"/>
                <a:gd name="G7" fmla="*/ G6 1 2"/>
                <a:gd name="G8" fmla="*/ 18514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8514 1 2"/>
                <a:gd name="G15" fmla="+- G5 0 G4"/>
                <a:gd name="G16" fmla="+- G0 0 G4"/>
                <a:gd name="G17" fmla="*/ G2 G15 G16"/>
                <a:gd name="T0" fmla="*/ 15429 w 21600"/>
                <a:gd name="T1" fmla="*/ 0 h 21600"/>
                <a:gd name="T2" fmla="*/ 9257 w 21600"/>
                <a:gd name="T3" fmla="*/ 7200 h 21600"/>
                <a:gd name="T4" fmla="*/ 0 w 21600"/>
                <a:gd name="T5" fmla="*/ 18001 h 21600"/>
                <a:gd name="T6" fmla="*/ 9257 w 21600"/>
                <a:gd name="T7" fmla="*/ 21600 h 21600"/>
                <a:gd name="T8" fmla="*/ 18514 w 21600"/>
                <a:gd name="T9" fmla="*/ 15000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37" name="Text Box 13"/>
            <p:cNvSpPr txBox="1">
              <a:spLocks noChangeArrowheads="1"/>
            </p:cNvSpPr>
            <p:nvPr/>
          </p:nvSpPr>
          <p:spPr bwMode="auto">
            <a:xfrm>
              <a:off x="1539" y="3987"/>
              <a:ext cx="5180" cy="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  <a:ea typeface="Tahoma" pitchFamily="34" charset="0"/>
                <a:cs typeface="Tahoma" pitchFamily="34" charset="0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871864" y="1052737"/>
            <a:ext cx="20882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Numerator ÷ Denominator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64152" y="2852937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÷ 100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2344" y="2780929"/>
            <a:ext cx="8640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ln>
                  <a:solidFill>
                    <a:srgbClr val="00B050"/>
                  </a:solidFill>
                </a:ln>
                <a:solidFill>
                  <a:prstClr val="black"/>
                </a:solidFill>
                <a:latin typeface="Calibri"/>
              </a:rPr>
              <a:t>x 100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03512" y="188640"/>
            <a:ext cx="8784976" cy="6480720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1543" y="6317456"/>
            <a:ext cx="273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prstClr val="black"/>
                </a:solidFill>
                <a:latin typeface="Calibri"/>
                <a:hlinkClick r:id="rId3" action="ppaction://hlinkpres?slideindex=1&amp;slidetitle="/>
              </a:rPr>
              <a:t>FDP millionnaire.ppt</a:t>
            </a:r>
            <a:endParaRPr lang="en-GB" sz="11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F2DCA-4E00-4C66-9FE2-06B1B273F354}"/>
              </a:ext>
            </a:extLst>
          </p:cNvPr>
          <p:cNvSpPr txBox="1"/>
          <p:nvPr/>
        </p:nvSpPr>
        <p:spPr>
          <a:xfrm>
            <a:off x="4367808" y="6055846"/>
            <a:ext cx="36956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  <a:latin typeface="Calibri"/>
              </a:rPr>
              <a:t>Draw diagram for notes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0C6C66-005B-C96D-7B0B-E1CA2846398C}"/>
              </a:ext>
            </a:extLst>
          </p:cNvPr>
          <p:cNvSpPr txBox="1"/>
          <p:nvPr/>
        </p:nvSpPr>
        <p:spPr>
          <a:xfrm>
            <a:off x="3788926" y="4677573"/>
            <a:ext cx="18778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Calibri"/>
              </a:rPr>
              <a:t>Number over 100, simplify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E53F5-5980-ADA4-F7C3-C6835E89CEA2}"/>
              </a:ext>
            </a:extLst>
          </p:cNvPr>
          <p:cNvSpPr/>
          <p:nvPr/>
        </p:nvSpPr>
        <p:spPr>
          <a:xfrm>
            <a:off x="5015883" y="1052737"/>
            <a:ext cx="1864311" cy="773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000465-39D4-3711-F9E5-A6A2076CC049}"/>
              </a:ext>
            </a:extLst>
          </p:cNvPr>
          <p:cNvSpPr/>
          <p:nvPr/>
        </p:nvSpPr>
        <p:spPr>
          <a:xfrm rot="5400000">
            <a:off x="6928166" y="2932644"/>
            <a:ext cx="1864311" cy="773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9DD205-6120-135B-97DC-7BF51656B12B}"/>
              </a:ext>
            </a:extLst>
          </p:cNvPr>
          <p:cNvSpPr/>
          <p:nvPr/>
        </p:nvSpPr>
        <p:spPr>
          <a:xfrm rot="5400000">
            <a:off x="8716843" y="2944067"/>
            <a:ext cx="1864311" cy="773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484BFB-F896-B9E7-9ACB-778B96A76D49}"/>
              </a:ext>
            </a:extLst>
          </p:cNvPr>
          <p:cNvSpPr/>
          <p:nvPr/>
        </p:nvSpPr>
        <p:spPr>
          <a:xfrm>
            <a:off x="3768094" y="4790894"/>
            <a:ext cx="1864311" cy="7731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0334-FE6E-4E49-F377-DA8647B24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830EA33-4009-343D-0AB1-743AC7BDC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136" y="2141537"/>
            <a:ext cx="2055920" cy="435133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Decimal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0.16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0.76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?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2EC809E-8B33-E863-6DFF-609DBF47C851}"/>
              </a:ext>
            </a:extLst>
          </p:cNvPr>
          <p:cNvSpPr txBox="1">
            <a:spLocks/>
          </p:cNvSpPr>
          <p:nvPr/>
        </p:nvSpPr>
        <p:spPr>
          <a:xfrm>
            <a:off x="4317135" y="2141537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Percent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55%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21%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CDE217-2B4F-6DD3-993E-EF0E5F8FA519}"/>
              </a:ext>
            </a:extLst>
          </p:cNvPr>
          <p:cNvCxnSpPr/>
          <p:nvPr/>
        </p:nvCxnSpPr>
        <p:spPr>
          <a:xfrm>
            <a:off x="2192785" y="3248087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9D0DF5-4485-18A0-79A1-3254FBFC296E}"/>
              </a:ext>
            </a:extLst>
          </p:cNvPr>
          <p:cNvCxnSpPr>
            <a:cxnSpLocks/>
          </p:cNvCxnSpPr>
          <p:nvPr/>
        </p:nvCxnSpPr>
        <p:spPr>
          <a:xfrm flipH="1">
            <a:off x="2192785" y="4171364"/>
            <a:ext cx="220166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AF423B2-01D4-9DE3-02EE-C58A27CB79B4}"/>
              </a:ext>
            </a:extLst>
          </p:cNvPr>
          <p:cNvCxnSpPr/>
          <p:nvPr/>
        </p:nvCxnSpPr>
        <p:spPr>
          <a:xfrm>
            <a:off x="2192785" y="5131633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49F46C4-D1CC-605F-DD24-C66D230CCFC5}"/>
              </a:ext>
            </a:extLst>
          </p:cNvPr>
          <p:cNvCxnSpPr>
            <a:cxnSpLocks/>
          </p:cNvCxnSpPr>
          <p:nvPr/>
        </p:nvCxnSpPr>
        <p:spPr>
          <a:xfrm flipH="1">
            <a:off x="2192785" y="6028277"/>
            <a:ext cx="2201662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4073A12-6264-1A55-F4D1-ACA6C7E1F977}"/>
              </a:ext>
            </a:extLst>
          </p:cNvPr>
          <p:cNvSpPr txBox="1">
            <a:spLocks/>
          </p:cNvSpPr>
          <p:nvPr/>
        </p:nvSpPr>
        <p:spPr>
          <a:xfrm>
            <a:off x="8469297" y="2143556"/>
            <a:ext cx="205592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Fraction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264901-A571-DFFD-EDD2-84E93E03B3A1}"/>
              </a:ext>
            </a:extLst>
          </p:cNvPr>
          <p:cNvCxnSpPr/>
          <p:nvPr/>
        </p:nvCxnSpPr>
        <p:spPr>
          <a:xfrm>
            <a:off x="6295748" y="3250106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BD4064-EF65-3637-1F48-48FC1B2F776E}"/>
              </a:ext>
            </a:extLst>
          </p:cNvPr>
          <p:cNvCxnSpPr/>
          <p:nvPr/>
        </p:nvCxnSpPr>
        <p:spPr>
          <a:xfrm>
            <a:off x="6295747" y="4173722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9098936-C855-51DB-64D4-991F90DF6B05}"/>
              </a:ext>
            </a:extLst>
          </p:cNvPr>
          <p:cNvCxnSpPr/>
          <p:nvPr/>
        </p:nvCxnSpPr>
        <p:spPr>
          <a:xfrm>
            <a:off x="6295746" y="5133652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6E212C0-B65E-4844-F216-3C55DBA1020F}"/>
              </a:ext>
            </a:extLst>
          </p:cNvPr>
          <p:cNvCxnSpPr/>
          <p:nvPr/>
        </p:nvCxnSpPr>
        <p:spPr>
          <a:xfrm>
            <a:off x="6295745" y="6101317"/>
            <a:ext cx="2459115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A36D7CE-7E1F-7958-7843-1FBF8A71DF4F}"/>
              </a:ext>
            </a:extLst>
          </p:cNvPr>
          <p:cNvSpPr/>
          <p:nvPr/>
        </p:nvSpPr>
        <p:spPr>
          <a:xfrm>
            <a:off x="1198485" y="3968318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C294F7-3DB1-328E-CFEE-0F8C78284AC1}"/>
              </a:ext>
            </a:extLst>
          </p:cNvPr>
          <p:cNvSpPr/>
          <p:nvPr/>
        </p:nvSpPr>
        <p:spPr>
          <a:xfrm>
            <a:off x="1017232" y="4971065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189A5F-0D25-E8C1-BAFB-0E824EF94D0B}"/>
              </a:ext>
            </a:extLst>
          </p:cNvPr>
          <p:cNvSpPr/>
          <p:nvPr/>
        </p:nvSpPr>
        <p:spPr>
          <a:xfrm>
            <a:off x="821184" y="5861621"/>
            <a:ext cx="9507985" cy="479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984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43% of 560L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95% of 350m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32.6% of $76.40</a:t>
            </a:r>
          </a:p>
          <a:p>
            <a:pPr marL="0" indent="0">
              <a:buNone/>
            </a:pP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25%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21.9%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76%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Convert percent to decimal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Change OF to multiplication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Multiply decimal to amount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8E29-5BAF-EA31-AE2D-334E6F54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Math test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24E81-9A1A-D839-80BE-7C40BC10E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Garry score 34 of out of 72 on his math test. </a:t>
            </a:r>
          </a:p>
          <a:p>
            <a:pPr marL="0" indent="0">
              <a:buNone/>
            </a:pPr>
            <a:r>
              <a:rPr lang="en-US" sz="4000" dirty="0"/>
              <a:t>What is this as a percentage?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If Sally got 87% on the same test, what did she score?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4191584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B8292-397E-9C0C-0720-47FD34EF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Quick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171E6-EAD9-1627-DB5E-F7F96818D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highlight>
                  <a:srgbClr val="00FF00"/>
                </a:highlight>
              </a:rPr>
              <a:t>Page 185</a:t>
            </a:r>
          </a:p>
          <a:p>
            <a:pPr marL="0" indent="0">
              <a:buNone/>
            </a:pPr>
            <a:r>
              <a:rPr lang="en-US" sz="2800" b="1" dirty="0">
                <a:highlight>
                  <a:srgbClr val="00FF00"/>
                </a:highlight>
              </a:rPr>
              <a:t>Questions 1 - 13</a:t>
            </a:r>
            <a:endParaRPr lang="en-AU" sz="28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78700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30BF79-D7E1-5DF9-563F-AEB288F29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Challenge questions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29BD1F-65F2-D1B1-CF56-B17D194A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we earn money, a percentage of that is given to the government as Tax. Tax goes towards several public services, like hospitals, schools roads, fire fighters and etc. </a:t>
            </a:r>
          </a:p>
          <a:p>
            <a:pPr marL="0" indent="0">
              <a:buNone/>
            </a:pPr>
            <a:r>
              <a:rPr lang="en-AU" dirty="0"/>
              <a:t>The tax percent depends on how much you earn.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33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A19FD0-F903-3B6E-5FE5-2714A48B9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Dream job? </a:t>
            </a:r>
            <a:endParaRPr lang="en-AU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CE70073-8260-3BF2-3278-EAB585D8B4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Write down how much you’re going to earn.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012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94B7-5B7D-BFE1-7C38-673F29CA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5B5A-EF48-9C65-AFBA-AAB639EA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5056531"/>
            <a:ext cx="6648450" cy="1436344"/>
          </a:xfrm>
        </p:spPr>
        <p:txBody>
          <a:bodyPr>
            <a:normAutofit/>
          </a:bodyPr>
          <a:lstStyle/>
          <a:p>
            <a:r>
              <a:rPr lang="en-US" sz="3600" b="1" dirty="0"/>
              <a:t>Calculate how much you would pay in tax</a:t>
            </a:r>
            <a:endParaRPr lang="en-AU" sz="3600" b="1" dirty="0"/>
          </a:p>
        </p:txBody>
      </p:sp>
      <p:pic>
        <p:nvPicPr>
          <p:cNvPr id="1026" name="Picture 2" descr="2020/21 individual and business tax rate changes | Walsh Accountants | Gold  Coast Accountants">
            <a:extLst>
              <a:ext uri="{FF2B5EF4-FFF2-40B4-BE49-F238E27FC236}">
                <a16:creationId xmlns:a16="http://schemas.microsoft.com/office/drawing/2014/main" id="{86929E63-B59F-85CC-CAB9-09C9B0547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0"/>
            <a:ext cx="9815512" cy="4740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17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261</Words>
  <Application>Microsoft Office PowerPoint</Application>
  <PresentationFormat>Widescreen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Office Theme</vt:lpstr>
      <vt:lpstr>Lesson objective </vt:lpstr>
      <vt:lpstr>PowerPoint Presentation</vt:lpstr>
      <vt:lpstr>Whiteboards </vt:lpstr>
      <vt:lpstr>We do </vt:lpstr>
      <vt:lpstr>Whiteboards </vt:lpstr>
      <vt:lpstr>Math test </vt:lpstr>
      <vt:lpstr>Quick practice </vt:lpstr>
      <vt:lpstr>Challenge questions </vt:lpstr>
      <vt:lpstr>Dream job?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12</cp:revision>
  <dcterms:created xsi:type="dcterms:W3CDTF">2022-07-26T23:35:42Z</dcterms:created>
  <dcterms:modified xsi:type="dcterms:W3CDTF">2023-06-14T23:57:00Z</dcterms:modified>
</cp:coreProperties>
</file>
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82" r:id="rId4"/>
    <p:sldId id="381" r:id="rId5"/>
    <p:sldId id="383" r:id="rId6"/>
    <p:sldId id="306" r:id="rId7"/>
    <p:sldId id="309" r:id="rId8"/>
    <p:sldId id="310" r:id="rId9"/>
    <p:sldId id="384" r:id="rId10"/>
    <p:sldId id="385" r:id="rId11"/>
    <p:sldId id="380" r:id="rId12"/>
    <p:sldId id="386" r:id="rId13"/>
    <p:sldId id="315" r:id="rId14"/>
    <p:sldId id="316" r:id="rId15"/>
    <p:sldId id="38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BFB1-C85B-7075-5C0B-8F6BC2A2D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37113-6B97-EC30-1553-C8721D46F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F9DA5-401D-0F12-F873-47DE8431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D7C8F-93F8-4020-97DD-FBB2C4150D3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40D28-B8FA-A1AB-4895-05357F14F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A7A0D-6913-258F-B2A9-13F57EB1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496C-5470-485D-AD28-4B60F1023E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91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2C3D-38A6-5C5D-30DF-9C4DE68AE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856F-32AD-CCB3-984E-DD7B4FDCB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D96B5-74BA-5601-00E8-419665F4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D7C8F-93F8-4020-97DD-FBB2C4150D3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3497B-0206-0906-FCDB-63DD5E77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0A763-230A-F9AF-1A05-B17E6FC42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496C-5470-485D-AD28-4B60F1023E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6222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C0AF6-FDDC-782D-8046-86EFA57E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C422E-06F6-54EF-B174-E7BA5CCC8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65ED4-6AED-DCC9-BDB9-06D62CED8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D7C8F-93F8-4020-97DD-FBB2C4150D3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24695-B5B4-A407-18B1-27013EBD9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6D992-A9AB-CB0A-6D19-2C5375BB9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496C-5470-485D-AD28-4B60F1023E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9663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60A9-B5A4-3A18-2373-F34E873C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CD66C-C60A-63A9-61E1-DD5620208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93793-5992-5E9F-E7C6-0DAB8D0A4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30B74-960C-C43E-B3DA-6A40DE572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D7C8F-93F8-4020-97DD-FBB2C4150D3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FE786-7C0E-12E4-76E3-E4232373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FFC61-3C0B-1E97-90A3-8052F467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496C-5470-485D-AD28-4B60F1023E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63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B66C-D090-6346-BC54-9A4B460D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C1AEA-7153-1063-34C4-5EC8FB272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66E30-6BB3-F685-0D23-EEB09FBA3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B6A20-5AF2-7589-5669-4E92CC46C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57C0BA-6799-069E-9F6B-93C819F526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61F03-702D-0040-ACCB-213D87ED3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D7C8F-93F8-4020-97DD-FBB2C4150D3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79F26-F84B-DECD-EABD-9D9087BB5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41A45B-C58E-CF59-0E27-96ED272C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496C-5470-485D-AD28-4B60F1023E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74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1376A-D2D2-BE0B-D94A-7B555983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237F4-1A80-57E4-718C-C4400CF5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D7C8F-93F8-4020-97DD-FBB2C4150D3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03814-1350-BF43-089D-1FD375C4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FA351-72F0-4531-8DAC-B7F57E49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496C-5470-485D-AD28-4B60F1023E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91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D83108-B83E-FB34-981E-FBA388F8F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D7C8F-93F8-4020-97DD-FBB2C4150D3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4C1-E3BA-A888-DD7B-890F026F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F2836-32B4-9378-3A32-BC96586C9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496C-5470-485D-AD28-4B60F1023E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5546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BCA67-C797-3C5A-8EE9-8BEA27F6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5DB8-7C1D-1027-4B50-AC26B6F2F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247C0-B6B3-91B3-B934-6AC36524D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FCA7A-2F1B-158B-3885-81F80FB46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D7C8F-93F8-4020-97DD-FBB2C4150D3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81D87-0DFC-E418-4FA1-312DA289F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4590D-55C6-81D4-6B8B-5BACD7FA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496C-5470-485D-AD28-4B60F1023E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72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489B-5453-831A-261F-92A96AC3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BEE74-929E-3B68-5AF8-2A0D82F5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D37FC-03C8-C477-B2F8-9A8D4062A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82D8A-F1F7-6E05-CD51-5A3B96F2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D7C8F-93F8-4020-97DD-FBB2C4150D3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4B893-6347-B406-37E6-881BA275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E793D-00D2-7BC9-BC7C-DAF7FBD8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496C-5470-485D-AD28-4B60F1023E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2049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97E0-F8EC-0F6D-88C4-203DEC13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11819-2CD3-456F-0C37-E36568218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27397-917D-F675-AF0D-DC6D338E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D7C8F-93F8-4020-97DD-FBB2C4150D3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22DE1-6A3B-8929-90A9-296FDB62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9C94-D063-4834-31CD-5A82A05F0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496C-5470-485D-AD28-4B60F1023E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2537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57EF14-0723-A611-0ECE-36B155FB9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1A118-60BF-E654-A701-C63BE7D80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308C9-B5A2-0118-A6F5-53C97F5D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D7C8F-93F8-4020-97DD-FBB2C4150D3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DF74A-CCCE-C32F-B0C5-68238946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781CA-2B0C-E345-F2A8-4B1FD815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496C-5470-485D-AD28-4B60F1023E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5566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094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5" y="0"/>
            <a:ext cx="12180165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5" y="692696"/>
            <a:ext cx="12180165" cy="518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2147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816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694916"/>
            <a:ext cx="60960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1" y="703051"/>
            <a:ext cx="610290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7553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12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0972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08507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55393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549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91824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6457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D541F-C1B4-6214-4DDF-ED1AAE316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1F44D-B35C-D52B-5871-C0DBF1F86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02D2C-F6FC-5BB3-CBC5-1119FACD8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D7C8F-93F8-4020-97DD-FBB2C4150D3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964B9-48F6-B071-C189-E0B28490A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F039A-3DB5-CDF2-698D-16A2F4690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9496C-5470-485D-AD28-4B60F1023E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200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A9EB6-6984-45C4-A442-4F73209A5B15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138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D9AB5F-7B98-1E48-0371-E4A61A8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2DF245-5A8C-8FBA-D0D8-103642C72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Decimal operations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Use the four operations to solve problems involving decimals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Review rounding and converting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Conduct 4 operations 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388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EC33-9972-80E6-1082-18ADD7756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FDP re-teach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132F2-9A3A-A0AA-F526-717489BFD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Fraction 				Decimal 				Percent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D47F89-F37B-5EE6-B84F-7D4BAD088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37" y="78697"/>
            <a:ext cx="3911797" cy="29338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D76911-39AD-D650-11CD-CA558E15665A}"/>
                  </a:ext>
                </a:extLst>
              </p:cNvPr>
              <p:cNvSpPr txBox="1"/>
              <p:nvPr/>
            </p:nvSpPr>
            <p:spPr>
              <a:xfrm>
                <a:off x="838200" y="4001294"/>
                <a:ext cx="1358283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D76911-39AD-D650-11CD-CA558E156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01294"/>
                <a:ext cx="1358283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5F357C7-ECE0-846A-5A96-E89690BA3AE3}"/>
              </a:ext>
            </a:extLst>
          </p:cNvPr>
          <p:cNvSpPr txBox="1"/>
          <p:nvPr/>
        </p:nvSpPr>
        <p:spPr>
          <a:xfrm>
            <a:off x="5416858" y="4947271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0.45</a:t>
            </a:r>
            <a:endParaRPr lang="en-AU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4D3C7-6FA0-F214-9F27-A5C423E4A682}"/>
              </a:ext>
            </a:extLst>
          </p:cNvPr>
          <p:cNvSpPr txBox="1"/>
          <p:nvPr/>
        </p:nvSpPr>
        <p:spPr>
          <a:xfrm>
            <a:off x="9995517" y="5706698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70%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EB52EA-F59B-E217-9D32-E8B39815A80B}"/>
              </a:ext>
            </a:extLst>
          </p:cNvPr>
          <p:cNvSpPr txBox="1"/>
          <p:nvPr/>
        </p:nvSpPr>
        <p:spPr>
          <a:xfrm>
            <a:off x="5416858" y="4363724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______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2D2DD2-501E-ABCA-6F64-43CA6DD482CB}"/>
              </a:ext>
            </a:extLst>
          </p:cNvPr>
          <p:cNvSpPr txBox="1"/>
          <p:nvPr/>
        </p:nvSpPr>
        <p:spPr>
          <a:xfrm>
            <a:off x="9954826" y="4494484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______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42CD2-223D-EBA6-1E9A-931FCF3416DB}"/>
              </a:ext>
            </a:extLst>
          </p:cNvPr>
          <p:cNvSpPr txBox="1"/>
          <p:nvPr/>
        </p:nvSpPr>
        <p:spPr>
          <a:xfrm>
            <a:off x="9954826" y="5071528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______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9AEB8E-920C-D837-9D75-39A1072075F1}"/>
              </a:ext>
            </a:extLst>
          </p:cNvPr>
          <p:cNvSpPr txBox="1"/>
          <p:nvPr/>
        </p:nvSpPr>
        <p:spPr>
          <a:xfrm>
            <a:off x="5416858" y="5704895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______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15E025-8AAF-5D9D-FA37-4859AA14E4D5}"/>
              </a:ext>
            </a:extLst>
          </p:cNvPr>
          <p:cNvSpPr txBox="1"/>
          <p:nvPr/>
        </p:nvSpPr>
        <p:spPr>
          <a:xfrm>
            <a:off x="838199" y="5071528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______</a:t>
            </a:r>
            <a:endParaRPr lang="en-AU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494A53-7506-56E2-D717-D7942CA4F3C4}"/>
              </a:ext>
            </a:extLst>
          </p:cNvPr>
          <p:cNvSpPr txBox="1"/>
          <p:nvPr/>
        </p:nvSpPr>
        <p:spPr>
          <a:xfrm>
            <a:off x="838199" y="5715298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______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49704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68DB-5A94-FEB1-3975-16F9552B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Converting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5E76-D646-5C7A-7212-8B096327E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 calculators, convert the following in your exercise book: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Fraction 				Decimal 				Percent</a:t>
            </a:r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3FEB37-9DBB-566F-7C71-0BAF5084C001}"/>
                  </a:ext>
                </a:extLst>
              </p:cNvPr>
              <p:cNvSpPr txBox="1"/>
              <p:nvPr/>
            </p:nvSpPr>
            <p:spPr>
              <a:xfrm>
                <a:off x="838200" y="3429000"/>
                <a:ext cx="1358283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3FEB37-9DBB-566F-7C71-0BAF5084C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1358283" cy="7861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AA61E0-EADE-4302-A96A-53D3CA669E94}"/>
                  </a:ext>
                </a:extLst>
              </p:cNvPr>
              <p:cNvSpPr txBox="1"/>
              <p:nvPr/>
            </p:nvSpPr>
            <p:spPr>
              <a:xfrm>
                <a:off x="5416858" y="4699986"/>
                <a:ext cx="13582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AA61E0-EADE-4302-A96A-53D3CA669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858" y="4699986"/>
                <a:ext cx="135828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06E1EC-D283-DCCA-FD55-EC706A879999}"/>
                  </a:ext>
                </a:extLst>
              </p:cNvPr>
              <p:cNvSpPr txBox="1"/>
              <p:nvPr/>
            </p:nvSpPr>
            <p:spPr>
              <a:xfrm>
                <a:off x="9995517" y="5703039"/>
                <a:ext cx="13582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𝟑𝟓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06E1EC-D283-DCCA-FD55-EC706A879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517" y="5703039"/>
                <a:ext cx="1358283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CB4F8F6-291F-0AF3-6706-CCD73DF10377}"/>
              </a:ext>
            </a:extLst>
          </p:cNvPr>
          <p:cNvSpPr txBox="1"/>
          <p:nvPr/>
        </p:nvSpPr>
        <p:spPr>
          <a:xfrm>
            <a:off x="5416858" y="3591255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______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D5133-866D-363B-DA39-06587209280A}"/>
              </a:ext>
            </a:extLst>
          </p:cNvPr>
          <p:cNvSpPr txBox="1"/>
          <p:nvPr/>
        </p:nvSpPr>
        <p:spPr>
          <a:xfrm>
            <a:off x="9995517" y="3753512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______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33591E-36FD-D2C6-97E2-FAE270E1EE4F}"/>
              </a:ext>
            </a:extLst>
          </p:cNvPr>
          <p:cNvSpPr txBox="1"/>
          <p:nvPr/>
        </p:nvSpPr>
        <p:spPr>
          <a:xfrm>
            <a:off x="9995517" y="4699986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______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CC3E22-1E15-CF6B-618D-CB91915559F9}"/>
              </a:ext>
            </a:extLst>
          </p:cNvPr>
          <p:cNvSpPr txBox="1"/>
          <p:nvPr/>
        </p:nvSpPr>
        <p:spPr>
          <a:xfrm>
            <a:off x="838199" y="4734404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______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63F78D-8A95-F469-FA8B-49867B13604A}"/>
              </a:ext>
            </a:extLst>
          </p:cNvPr>
          <p:cNvSpPr txBox="1"/>
          <p:nvPr/>
        </p:nvSpPr>
        <p:spPr>
          <a:xfrm>
            <a:off x="838199" y="5715296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______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4E568A-E8A7-7A17-7CF8-5CB8443EBE5E}"/>
              </a:ext>
            </a:extLst>
          </p:cNvPr>
          <p:cNvSpPr txBox="1"/>
          <p:nvPr/>
        </p:nvSpPr>
        <p:spPr>
          <a:xfrm>
            <a:off x="5560381" y="5715296"/>
            <a:ext cx="135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______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055062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F6C30-3106-A954-CA5C-736C61767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Rounding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3F17A-BC30-28EF-11E3-848A3A3F6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AU" sz="4000" b="1" dirty="0">
                <a:solidFill>
                  <a:srgbClr val="FF0000"/>
                </a:solidFill>
              </a:rPr>
              <a:t>5 or more </a:t>
            </a:r>
            <a:r>
              <a:rPr lang="en-AU" sz="4000" b="1" dirty="0">
                <a:solidFill>
                  <a:srgbClr val="FF0000"/>
                </a:solidFill>
                <a:sym typeface="Wingdings" panose="05000000000000000000" pitchFamily="2" charset="2"/>
              </a:rPr>
              <a:t> raise the score </a:t>
            </a:r>
          </a:p>
          <a:p>
            <a:pPr marL="0" indent="0" algn="ctr">
              <a:buNone/>
            </a:pPr>
            <a:endParaRPr lang="en-AU" sz="40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AU" sz="4000" b="1" dirty="0">
                <a:solidFill>
                  <a:srgbClr val="FF0000"/>
                </a:solidFill>
                <a:sym typeface="Wingdings" panose="05000000000000000000" pitchFamily="2" charset="2"/>
              </a:rPr>
              <a:t>4 or less  let it rest</a:t>
            </a:r>
            <a:endParaRPr lang="en-AU" sz="4000" b="1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D22218-4C7F-E3AE-C6ED-D0D34F9E34F6}"/>
              </a:ext>
            </a:extLst>
          </p:cNvPr>
          <p:cNvSpPr/>
          <p:nvPr/>
        </p:nvSpPr>
        <p:spPr>
          <a:xfrm>
            <a:off x="5921405" y="2450236"/>
            <a:ext cx="3178206" cy="550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6A5F94-59A2-28CA-4A30-2FE73900DA4C}"/>
              </a:ext>
            </a:extLst>
          </p:cNvPr>
          <p:cNvSpPr/>
          <p:nvPr/>
        </p:nvSpPr>
        <p:spPr>
          <a:xfrm>
            <a:off x="6322380" y="3857350"/>
            <a:ext cx="2049263" cy="550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A89DA8-1A6D-D841-ADCB-6484E3186D1B}"/>
              </a:ext>
            </a:extLst>
          </p:cNvPr>
          <p:cNvSpPr/>
          <p:nvPr/>
        </p:nvSpPr>
        <p:spPr>
          <a:xfrm>
            <a:off x="5921405" y="2450236"/>
            <a:ext cx="3178206" cy="550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269783-5925-0B4F-DEC8-F7C4F352A2BB}"/>
              </a:ext>
            </a:extLst>
          </p:cNvPr>
          <p:cNvSpPr/>
          <p:nvPr/>
        </p:nvSpPr>
        <p:spPr>
          <a:xfrm>
            <a:off x="6322380" y="3857350"/>
            <a:ext cx="2049263" cy="550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807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885" y="0"/>
            <a:ext cx="9161115" cy="764704"/>
          </a:xfrm>
        </p:spPr>
        <p:txBody>
          <a:bodyPr>
            <a:normAutofit/>
          </a:bodyPr>
          <a:lstStyle/>
          <a:p>
            <a:r>
              <a:rPr lang="en-AU" dirty="0"/>
              <a:t>Rounding Decimals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5538" y="692697"/>
            <a:ext cx="9142462" cy="1512168"/>
          </a:xfrm>
        </p:spPr>
        <p:txBody>
          <a:bodyPr/>
          <a:lstStyle/>
          <a:p>
            <a:r>
              <a:rPr lang="en-AU" b="1" dirty="0"/>
              <a:t>Chop it and check it</a:t>
            </a:r>
          </a:p>
          <a:p>
            <a:pPr lvl="2"/>
            <a:r>
              <a:rPr lang="en-AU" dirty="0"/>
              <a:t>Chop off the number after the </a:t>
            </a:r>
            <a:r>
              <a:rPr lang="en-AU" dirty="0" err="1"/>
              <a:t>d.p.</a:t>
            </a:r>
            <a:r>
              <a:rPr lang="en-AU" dirty="0"/>
              <a:t> you want</a:t>
            </a:r>
          </a:p>
          <a:p>
            <a:pPr lvl="2"/>
            <a:r>
              <a:rPr lang="en-AU" dirty="0"/>
              <a:t>Check the next digit and change if it’s 5 or more</a:t>
            </a:r>
          </a:p>
          <a:p>
            <a:endParaRPr lang="en-AU" dirty="0"/>
          </a:p>
        </p:txBody>
      </p:sp>
      <p:sp>
        <p:nvSpPr>
          <p:cNvPr id="62" name="Text Box 3"/>
          <p:cNvSpPr txBox="1">
            <a:spLocks noChangeArrowheads="1"/>
          </p:cNvSpPr>
          <p:nvPr/>
        </p:nvSpPr>
        <p:spPr bwMode="auto">
          <a:xfrm>
            <a:off x="1870075" y="2492896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u="sng" dirty="0">
                <a:solidFill>
                  <a:prstClr val="black"/>
                </a:solidFill>
                <a:latin typeface="Comic Sans MS" pitchFamily="66" charset="0"/>
              </a:rPr>
              <a:t>Rounding to </a:t>
            </a:r>
            <a:r>
              <a:rPr lang="en-GB" altLang="en-US" sz="2400" u="sng" dirty="0">
                <a:solidFill>
                  <a:srgbClr val="FF0000"/>
                </a:solidFill>
                <a:latin typeface="Comic Sans MS" pitchFamily="66" charset="0"/>
              </a:rPr>
              <a:t>1 </a:t>
            </a:r>
            <a:r>
              <a:rPr lang="en-GB" altLang="en-US" sz="2400" u="sng" dirty="0" err="1">
                <a:solidFill>
                  <a:srgbClr val="FF0000"/>
                </a:solidFill>
                <a:latin typeface="Comic Sans MS" pitchFamily="66" charset="0"/>
              </a:rPr>
              <a:t>d.p</a:t>
            </a:r>
            <a:endParaRPr lang="en-GB" altLang="en-US" sz="2400" u="sng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63" name="Text Box 4"/>
          <p:cNvSpPr txBox="1">
            <a:spLocks noChangeArrowheads="1"/>
          </p:cNvSpPr>
          <p:nvPr/>
        </p:nvSpPr>
        <p:spPr bwMode="auto">
          <a:xfrm>
            <a:off x="2060575" y="3273947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dirty="0">
                <a:solidFill>
                  <a:prstClr val="black"/>
                </a:solidFill>
                <a:latin typeface="Comic Sans MS" pitchFamily="66" charset="0"/>
              </a:rPr>
              <a:t>4 . 8 3 2 5 </a:t>
            </a:r>
          </a:p>
        </p:txBody>
      </p:sp>
      <p:sp>
        <p:nvSpPr>
          <p:cNvPr id="64" name="Line 5"/>
          <p:cNvSpPr>
            <a:spLocks noChangeShapeType="1"/>
          </p:cNvSpPr>
          <p:nvPr/>
        </p:nvSpPr>
        <p:spPr bwMode="auto">
          <a:xfrm>
            <a:off x="2946400" y="3112021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5" name="Group 6"/>
          <p:cNvGrpSpPr>
            <a:grpSpLocks/>
          </p:cNvGrpSpPr>
          <p:nvPr/>
        </p:nvGrpSpPr>
        <p:grpSpPr bwMode="auto">
          <a:xfrm>
            <a:off x="2165350" y="3726384"/>
            <a:ext cx="2209800" cy="1092200"/>
            <a:chOff x="480" y="2064"/>
            <a:chExt cx="1392" cy="688"/>
          </a:xfrm>
        </p:grpSpPr>
        <p:sp>
          <p:nvSpPr>
            <p:cNvPr id="85" name="Text Box 7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 ?</a:t>
              </a:r>
            </a:p>
          </p:txBody>
        </p:sp>
        <p:sp>
          <p:nvSpPr>
            <p:cNvPr id="86" name="Line 8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6" name="Group 9"/>
          <p:cNvGrpSpPr>
            <a:grpSpLocks/>
          </p:cNvGrpSpPr>
          <p:nvPr/>
        </p:nvGrpSpPr>
        <p:grpSpPr bwMode="auto">
          <a:xfrm>
            <a:off x="2746375" y="4950347"/>
            <a:ext cx="762000" cy="1052513"/>
            <a:chOff x="816" y="2832"/>
            <a:chExt cx="480" cy="663"/>
          </a:xfrm>
        </p:grpSpPr>
        <p:sp>
          <p:nvSpPr>
            <p:cNvPr id="83" name="Line 10"/>
            <p:cNvSpPr>
              <a:spLocks noChangeShapeType="1"/>
            </p:cNvSpPr>
            <p:nvPr/>
          </p:nvSpPr>
          <p:spPr bwMode="auto">
            <a:xfrm>
              <a:off x="1008" y="283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Text Box 11"/>
            <p:cNvSpPr txBox="1">
              <a:spLocks noChangeArrowheads="1"/>
            </p:cNvSpPr>
            <p:nvPr/>
          </p:nvSpPr>
          <p:spPr bwMode="auto">
            <a:xfrm>
              <a:off x="816" y="3168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 dirty="0">
                  <a:solidFill>
                    <a:srgbClr val="3366FF"/>
                  </a:solidFill>
                  <a:latin typeface="Comic Sans MS" pitchFamily="66" charset="0"/>
                </a:rPr>
                <a:t>4.8</a:t>
              </a:r>
            </a:p>
          </p:txBody>
        </p:sp>
      </p:grpSp>
      <p:sp>
        <p:nvSpPr>
          <p:cNvPr id="67" name="Text Box 12"/>
          <p:cNvSpPr txBox="1">
            <a:spLocks noChangeArrowheads="1"/>
          </p:cNvSpPr>
          <p:nvPr/>
        </p:nvSpPr>
        <p:spPr bwMode="auto">
          <a:xfrm>
            <a:off x="4833938" y="3288235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4. 8 4 2 5</a:t>
            </a:r>
          </a:p>
        </p:txBody>
      </p:sp>
      <p:grpSp>
        <p:nvGrpSpPr>
          <p:cNvPr id="68" name="Group 13"/>
          <p:cNvGrpSpPr>
            <a:grpSpLocks/>
          </p:cNvGrpSpPr>
          <p:nvPr/>
        </p:nvGrpSpPr>
        <p:grpSpPr bwMode="auto">
          <a:xfrm>
            <a:off x="4833938" y="3745434"/>
            <a:ext cx="2209800" cy="1092200"/>
            <a:chOff x="480" y="2064"/>
            <a:chExt cx="1392" cy="688"/>
          </a:xfrm>
        </p:grpSpPr>
        <p:sp>
          <p:nvSpPr>
            <p:cNvPr id="81" name="Text Box 14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 ?</a:t>
              </a:r>
            </a:p>
          </p:txBody>
        </p:sp>
        <p:sp>
          <p:nvSpPr>
            <p:cNvPr id="82" name="Line 15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9" name="Line 16"/>
          <p:cNvSpPr>
            <a:spLocks noChangeShapeType="1"/>
          </p:cNvSpPr>
          <p:nvPr/>
        </p:nvSpPr>
        <p:spPr bwMode="auto">
          <a:xfrm>
            <a:off x="5595938" y="321203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0" name="Group 17"/>
          <p:cNvGrpSpPr>
            <a:grpSpLocks/>
          </p:cNvGrpSpPr>
          <p:nvPr/>
        </p:nvGrpSpPr>
        <p:grpSpPr bwMode="auto">
          <a:xfrm>
            <a:off x="5443538" y="4964635"/>
            <a:ext cx="762000" cy="1052513"/>
            <a:chOff x="816" y="2832"/>
            <a:chExt cx="480" cy="663"/>
          </a:xfrm>
        </p:grpSpPr>
        <p:sp>
          <p:nvSpPr>
            <p:cNvPr id="79" name="Line 18"/>
            <p:cNvSpPr>
              <a:spLocks noChangeShapeType="1"/>
            </p:cNvSpPr>
            <p:nvPr/>
          </p:nvSpPr>
          <p:spPr bwMode="auto">
            <a:xfrm>
              <a:off x="1008" y="283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Text Box 19"/>
            <p:cNvSpPr txBox="1">
              <a:spLocks noChangeArrowheads="1"/>
            </p:cNvSpPr>
            <p:nvPr/>
          </p:nvSpPr>
          <p:spPr bwMode="auto">
            <a:xfrm>
              <a:off x="816" y="3168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4.8</a:t>
              </a:r>
            </a:p>
          </p:txBody>
        </p:sp>
      </p:grpSp>
      <p:sp>
        <p:nvSpPr>
          <p:cNvPr id="71" name="Text Box 20"/>
          <p:cNvSpPr txBox="1">
            <a:spLocks noChangeArrowheads="1"/>
          </p:cNvSpPr>
          <p:nvPr/>
        </p:nvSpPr>
        <p:spPr bwMode="auto">
          <a:xfrm>
            <a:off x="7599363" y="3281885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dirty="0">
                <a:solidFill>
                  <a:prstClr val="black"/>
                </a:solidFill>
                <a:latin typeface="Comic Sans MS" pitchFamily="66" charset="0"/>
              </a:rPr>
              <a:t>4. 8 5 2 5</a:t>
            </a:r>
          </a:p>
        </p:txBody>
      </p:sp>
      <p:grpSp>
        <p:nvGrpSpPr>
          <p:cNvPr id="72" name="Group 21"/>
          <p:cNvGrpSpPr>
            <a:grpSpLocks/>
          </p:cNvGrpSpPr>
          <p:nvPr/>
        </p:nvGrpSpPr>
        <p:grpSpPr bwMode="auto">
          <a:xfrm>
            <a:off x="7599363" y="3739084"/>
            <a:ext cx="2209800" cy="1092200"/>
            <a:chOff x="480" y="2064"/>
            <a:chExt cx="1392" cy="688"/>
          </a:xfrm>
        </p:grpSpPr>
        <p:sp>
          <p:nvSpPr>
            <p:cNvPr id="77" name="Text Box 22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 ?</a:t>
              </a:r>
            </a:p>
          </p:txBody>
        </p:sp>
        <p:sp>
          <p:nvSpPr>
            <p:cNvPr id="78" name="Line 23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3" name="Line 24"/>
          <p:cNvSpPr>
            <a:spLocks noChangeShapeType="1"/>
          </p:cNvSpPr>
          <p:nvPr/>
        </p:nvSpPr>
        <p:spPr bwMode="auto">
          <a:xfrm>
            <a:off x="8361363" y="320568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4" name="Group 25"/>
          <p:cNvGrpSpPr>
            <a:grpSpLocks/>
          </p:cNvGrpSpPr>
          <p:nvPr/>
        </p:nvGrpSpPr>
        <p:grpSpPr bwMode="auto">
          <a:xfrm>
            <a:off x="8208963" y="4958285"/>
            <a:ext cx="762000" cy="1052513"/>
            <a:chOff x="816" y="2832"/>
            <a:chExt cx="480" cy="663"/>
          </a:xfrm>
        </p:grpSpPr>
        <p:sp>
          <p:nvSpPr>
            <p:cNvPr id="75" name="Line 26"/>
            <p:cNvSpPr>
              <a:spLocks noChangeShapeType="1"/>
            </p:cNvSpPr>
            <p:nvPr/>
          </p:nvSpPr>
          <p:spPr bwMode="auto">
            <a:xfrm>
              <a:off x="1008" y="283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Text Box 27"/>
            <p:cNvSpPr txBox="1">
              <a:spLocks noChangeArrowheads="1"/>
            </p:cNvSpPr>
            <p:nvPr/>
          </p:nvSpPr>
          <p:spPr bwMode="auto">
            <a:xfrm>
              <a:off x="816" y="3168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4.9</a:t>
              </a:r>
            </a:p>
          </p:txBody>
        </p:sp>
      </p:grpSp>
      <p:sp>
        <p:nvSpPr>
          <p:cNvPr id="88" name="Text Box 53"/>
          <p:cNvSpPr txBox="1">
            <a:spLocks noChangeArrowheads="1"/>
          </p:cNvSpPr>
          <p:nvPr/>
        </p:nvSpPr>
        <p:spPr bwMode="auto">
          <a:xfrm>
            <a:off x="3397250" y="489160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 dirty="0">
                <a:solidFill>
                  <a:prstClr val="black"/>
                </a:solidFill>
                <a:latin typeface="Comic Sans MS" pitchFamily="66" charset="0"/>
              </a:rPr>
              <a:t>No</a:t>
            </a: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6148388" y="4913833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No</a:t>
            </a:r>
          </a:p>
        </p:txBody>
      </p:sp>
      <p:sp>
        <p:nvSpPr>
          <p:cNvPr id="90" name="Text Box 55"/>
          <p:cNvSpPr txBox="1">
            <a:spLocks noChangeArrowheads="1"/>
          </p:cNvSpPr>
          <p:nvPr/>
        </p:nvSpPr>
        <p:spPr bwMode="auto">
          <a:xfrm>
            <a:off x="8899525" y="493605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81434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2" grpId="0"/>
      <p:bldP spid="63" grpId="0"/>
      <p:bldP spid="64" grpId="0" animBg="1"/>
      <p:bldP spid="67" grpId="0"/>
      <p:bldP spid="69" grpId="0" animBg="1"/>
      <p:bldP spid="71" grpId="0"/>
      <p:bldP spid="73" grpId="0" animBg="1"/>
      <p:bldP spid="88" grpId="0" animBg="1"/>
      <p:bldP spid="89" grpId="0" animBg="1"/>
      <p:bldP spid="9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955800" y="158750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u="sng">
                <a:solidFill>
                  <a:prstClr val="black"/>
                </a:solidFill>
                <a:latin typeface="Comic Sans MS" pitchFamily="66" charset="0"/>
              </a:rPr>
              <a:t>Rounding to </a:t>
            </a:r>
            <a:r>
              <a:rPr lang="en-GB" altLang="en-US" sz="2400" u="sng">
                <a:solidFill>
                  <a:srgbClr val="FF0000"/>
                </a:solidFill>
                <a:latin typeface="Comic Sans MS" pitchFamily="66" charset="0"/>
              </a:rPr>
              <a:t>2 d.p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966913" y="730251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5. 8 4 2 5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2309813" y="1147764"/>
            <a:ext cx="2209800" cy="1252537"/>
            <a:chOff x="480" y="2064"/>
            <a:chExt cx="1392" cy="639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0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more?</a:t>
              </a: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3076575" y="554039"/>
            <a:ext cx="1588" cy="9413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2728913" y="2451101"/>
            <a:ext cx="1200150" cy="1179513"/>
            <a:chOff x="816" y="1644"/>
            <a:chExt cx="756" cy="601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092" y="164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816" y="1980"/>
              <a:ext cx="756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5.84</a:t>
              </a:r>
            </a:p>
          </p:txBody>
        </p:sp>
      </p:grp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732338" y="723901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1. 4 2 6 1</a:t>
            </a:r>
          </a:p>
        </p:txBody>
      </p:sp>
      <p:grpSp>
        <p:nvGrpSpPr>
          <p:cNvPr id="14" name="Group 12"/>
          <p:cNvGrpSpPr>
            <a:grpSpLocks/>
          </p:cNvGrpSpPr>
          <p:nvPr/>
        </p:nvGrpSpPr>
        <p:grpSpPr bwMode="auto">
          <a:xfrm>
            <a:off x="5021263" y="1116014"/>
            <a:ext cx="2209800" cy="1252537"/>
            <a:chOff x="480" y="2064"/>
            <a:chExt cx="1392" cy="639"/>
          </a:xfrm>
        </p:grpSpPr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0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more?</a:t>
              </a: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5780089" y="552450"/>
            <a:ext cx="1587" cy="941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8" name="Group 16"/>
          <p:cNvGrpSpPr>
            <a:grpSpLocks/>
          </p:cNvGrpSpPr>
          <p:nvPr/>
        </p:nvGrpSpPr>
        <p:grpSpPr bwMode="auto">
          <a:xfrm>
            <a:off x="5459413" y="2416175"/>
            <a:ext cx="1009650" cy="1201738"/>
            <a:chOff x="2536" y="1624"/>
            <a:chExt cx="636" cy="613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1.43</a:t>
              </a:r>
            </a:p>
          </p:txBody>
        </p:sp>
      </p:grp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7704138" y="762001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0. 6 0 8 3</a:t>
            </a:r>
          </a:p>
        </p:txBody>
      </p: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8043863" y="1154114"/>
            <a:ext cx="2209800" cy="1252537"/>
            <a:chOff x="480" y="2064"/>
            <a:chExt cx="1392" cy="639"/>
          </a:xfrm>
        </p:grpSpPr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0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more?</a:t>
              </a: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8809039" y="590550"/>
            <a:ext cx="1587" cy="941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26" name="Group 24"/>
          <p:cNvGrpSpPr>
            <a:grpSpLocks/>
          </p:cNvGrpSpPr>
          <p:nvPr/>
        </p:nvGrpSpPr>
        <p:grpSpPr bwMode="auto">
          <a:xfrm>
            <a:off x="8450263" y="2473325"/>
            <a:ext cx="1009650" cy="1201738"/>
            <a:chOff x="2536" y="1624"/>
            <a:chExt cx="636" cy="613"/>
          </a:xfrm>
        </p:grpSpPr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0.61</a:t>
              </a:r>
            </a:p>
          </p:txBody>
        </p:sp>
      </p:grp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2027238" y="393223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0. 2 9 4 3</a:t>
            </a:r>
          </a:p>
        </p:txBody>
      </p:sp>
      <p:grpSp>
        <p:nvGrpSpPr>
          <p:cNvPr id="30" name="Group 28"/>
          <p:cNvGrpSpPr>
            <a:grpSpLocks/>
          </p:cNvGrpSpPr>
          <p:nvPr/>
        </p:nvGrpSpPr>
        <p:grpSpPr bwMode="auto">
          <a:xfrm>
            <a:off x="2366963" y="4286250"/>
            <a:ext cx="2209800" cy="1252538"/>
            <a:chOff x="480" y="2064"/>
            <a:chExt cx="1392" cy="639"/>
          </a:xfrm>
        </p:grpSpPr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0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more?</a:t>
              </a:r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3132139" y="3760789"/>
            <a:ext cx="1587" cy="9413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34" name="Group 32"/>
          <p:cNvGrpSpPr>
            <a:grpSpLocks/>
          </p:cNvGrpSpPr>
          <p:nvPr/>
        </p:nvGrpSpPr>
        <p:grpSpPr bwMode="auto">
          <a:xfrm>
            <a:off x="2849563" y="5594350"/>
            <a:ext cx="1009650" cy="1201738"/>
            <a:chOff x="2536" y="1624"/>
            <a:chExt cx="636" cy="613"/>
          </a:xfrm>
        </p:grpSpPr>
        <p:sp>
          <p:nvSpPr>
            <p:cNvPr id="35" name="Line 33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0.29</a:t>
              </a:r>
            </a:p>
          </p:txBody>
        </p:sp>
      </p:grp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4789488" y="393223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0. 5 5 5 0</a:t>
            </a:r>
          </a:p>
        </p:txBody>
      </p:sp>
      <p:grpSp>
        <p:nvGrpSpPr>
          <p:cNvPr id="38" name="Group 36"/>
          <p:cNvGrpSpPr>
            <a:grpSpLocks/>
          </p:cNvGrpSpPr>
          <p:nvPr/>
        </p:nvGrpSpPr>
        <p:grpSpPr bwMode="auto">
          <a:xfrm>
            <a:off x="5110163" y="4343400"/>
            <a:ext cx="2209800" cy="1252538"/>
            <a:chOff x="480" y="2064"/>
            <a:chExt cx="1392" cy="639"/>
          </a:xfrm>
        </p:grpSpPr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0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more?</a:t>
              </a:r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5894389" y="3760789"/>
            <a:ext cx="1587" cy="9413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42" name="Group 40"/>
          <p:cNvGrpSpPr>
            <a:grpSpLocks/>
          </p:cNvGrpSpPr>
          <p:nvPr/>
        </p:nvGrpSpPr>
        <p:grpSpPr bwMode="auto">
          <a:xfrm>
            <a:off x="5592763" y="5656264"/>
            <a:ext cx="1009650" cy="1201737"/>
            <a:chOff x="2536" y="1624"/>
            <a:chExt cx="636" cy="613"/>
          </a:xfrm>
        </p:grpSpPr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Text Box 42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0.56</a:t>
              </a:r>
            </a:p>
          </p:txBody>
        </p:sp>
      </p:grpSp>
      <p:sp>
        <p:nvSpPr>
          <p:cNvPr id="45" name="Text Box 43"/>
          <p:cNvSpPr txBox="1">
            <a:spLocks noChangeArrowheads="1"/>
          </p:cNvSpPr>
          <p:nvPr/>
        </p:nvSpPr>
        <p:spPr bwMode="auto">
          <a:xfrm>
            <a:off x="7818438" y="393223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0. 3 9 7 0</a:t>
            </a:r>
          </a:p>
        </p:txBody>
      </p:sp>
      <p:grpSp>
        <p:nvGrpSpPr>
          <p:cNvPr id="46" name="Group 44"/>
          <p:cNvGrpSpPr>
            <a:grpSpLocks/>
          </p:cNvGrpSpPr>
          <p:nvPr/>
        </p:nvGrpSpPr>
        <p:grpSpPr bwMode="auto">
          <a:xfrm>
            <a:off x="8139113" y="4305300"/>
            <a:ext cx="2209800" cy="1252538"/>
            <a:chOff x="480" y="2064"/>
            <a:chExt cx="1392" cy="639"/>
          </a:xfrm>
        </p:grpSpPr>
        <p:sp>
          <p:nvSpPr>
            <p:cNvPr id="47" name="Text Box 45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0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more?</a:t>
              </a:r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9" name="Line 47"/>
          <p:cNvSpPr>
            <a:spLocks noChangeShapeType="1"/>
          </p:cNvSpPr>
          <p:nvPr/>
        </p:nvSpPr>
        <p:spPr bwMode="auto">
          <a:xfrm>
            <a:off x="8923339" y="3760789"/>
            <a:ext cx="1587" cy="9413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50" name="Group 48"/>
          <p:cNvGrpSpPr>
            <a:grpSpLocks/>
          </p:cNvGrpSpPr>
          <p:nvPr/>
        </p:nvGrpSpPr>
        <p:grpSpPr bwMode="auto">
          <a:xfrm>
            <a:off x="8640763" y="5594350"/>
            <a:ext cx="1009650" cy="1201738"/>
            <a:chOff x="2536" y="1624"/>
            <a:chExt cx="636" cy="613"/>
          </a:xfrm>
        </p:grpSpPr>
        <p:sp>
          <p:nvSpPr>
            <p:cNvPr id="51" name="Line 49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Text Box 50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0.40</a:t>
              </a:r>
            </a:p>
          </p:txBody>
        </p:sp>
      </p:grpSp>
      <p:sp>
        <p:nvSpPr>
          <p:cNvPr id="53" name="Text Box 51"/>
          <p:cNvSpPr txBox="1">
            <a:spLocks noChangeArrowheads="1"/>
          </p:cNvSpPr>
          <p:nvPr/>
        </p:nvSpPr>
        <p:spPr bwMode="auto">
          <a:xfrm>
            <a:off x="3551238" y="2584450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No</a:t>
            </a:r>
          </a:p>
        </p:txBody>
      </p:sp>
      <p:sp>
        <p:nvSpPr>
          <p:cNvPr id="54" name="Text Box 52"/>
          <p:cNvSpPr txBox="1">
            <a:spLocks noChangeArrowheads="1"/>
          </p:cNvSpPr>
          <p:nvPr/>
        </p:nvSpPr>
        <p:spPr bwMode="auto">
          <a:xfrm>
            <a:off x="6302375" y="2606675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55" name="Text Box 53"/>
          <p:cNvSpPr txBox="1">
            <a:spLocks noChangeArrowheads="1"/>
          </p:cNvSpPr>
          <p:nvPr/>
        </p:nvSpPr>
        <p:spPr bwMode="auto">
          <a:xfrm>
            <a:off x="9053513" y="2628900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56" name="Text Box 54"/>
          <p:cNvSpPr txBox="1">
            <a:spLocks noChangeArrowheads="1"/>
          </p:cNvSpPr>
          <p:nvPr/>
        </p:nvSpPr>
        <p:spPr bwMode="auto">
          <a:xfrm>
            <a:off x="3578225" y="5670550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No</a:t>
            </a:r>
          </a:p>
        </p:txBody>
      </p:sp>
      <p:sp>
        <p:nvSpPr>
          <p:cNvPr id="57" name="Text Box 55"/>
          <p:cNvSpPr txBox="1">
            <a:spLocks noChangeArrowheads="1"/>
          </p:cNvSpPr>
          <p:nvPr/>
        </p:nvSpPr>
        <p:spPr bwMode="auto">
          <a:xfrm>
            <a:off x="6299200" y="5654675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58" name="Text Box 56"/>
          <p:cNvSpPr txBox="1">
            <a:spLocks noChangeArrowheads="1"/>
          </p:cNvSpPr>
          <p:nvPr/>
        </p:nvSpPr>
        <p:spPr bwMode="auto">
          <a:xfrm>
            <a:off x="9402763" y="570388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780089" y="64439"/>
            <a:ext cx="31165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b="1" dirty="0">
                <a:solidFill>
                  <a:prstClr val="black"/>
                </a:solidFill>
                <a:latin typeface="Calibri"/>
              </a:rPr>
              <a:t>Chop it and check it</a:t>
            </a:r>
          </a:p>
        </p:txBody>
      </p:sp>
    </p:spTree>
    <p:extLst>
      <p:ext uri="{BB962C8B-B14F-4D97-AF65-F5344CB8AC3E}">
        <p14:creationId xmlns:p14="http://schemas.microsoft.com/office/powerpoint/2010/main" val="324422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9" grpId="0" animBg="1"/>
      <p:bldP spid="13" grpId="0" autoUpdateAnimBg="0"/>
      <p:bldP spid="17" grpId="0" animBg="1"/>
      <p:bldP spid="21" grpId="0" autoUpdateAnimBg="0"/>
      <p:bldP spid="25" grpId="0" animBg="1"/>
      <p:bldP spid="29" grpId="0" autoUpdateAnimBg="0"/>
      <p:bldP spid="33" grpId="0" animBg="1"/>
      <p:bldP spid="37" grpId="0" autoUpdateAnimBg="0"/>
      <p:bldP spid="41" grpId="0" animBg="1"/>
      <p:bldP spid="45" grpId="0" autoUpdateAnimBg="0"/>
      <p:bldP spid="49" grpId="0" animBg="1"/>
      <p:bldP spid="53" grpId="0" animBg="1" autoUpdateAnimBg="0"/>
      <p:bldP spid="54" grpId="0" animBg="1" autoUpdateAnimBg="0"/>
      <p:bldP spid="55" grpId="0" animBg="1" autoUpdateAnimBg="0"/>
      <p:bldP spid="56" grpId="0" animBg="1" autoUpdateAnimBg="0"/>
      <p:bldP spid="57" grpId="0" animBg="1" autoUpdateAnimBg="0"/>
      <p:bldP spid="58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628775" y="153988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u="sng">
                <a:solidFill>
                  <a:prstClr val="black"/>
                </a:solidFill>
                <a:latin typeface="Comic Sans MS" pitchFamily="66" charset="0"/>
              </a:rPr>
              <a:t>Rounding to </a:t>
            </a:r>
            <a:r>
              <a:rPr lang="en-GB" altLang="en-US" sz="2400" u="sng">
                <a:solidFill>
                  <a:srgbClr val="FF0000"/>
                </a:solidFill>
                <a:latin typeface="Comic Sans MS" pitchFamily="66" charset="0"/>
              </a:rPr>
              <a:t>3 d.p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639888" y="739776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5. 8 4 2 5 4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2320925" y="1216025"/>
            <a:ext cx="2209800" cy="1092200"/>
            <a:chOff x="480" y="2064"/>
            <a:chExt cx="1392" cy="688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more?</a:t>
              </a: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3044825" y="611188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2797175" y="2435225"/>
            <a:ext cx="1200150" cy="990600"/>
            <a:chOff x="816" y="1644"/>
            <a:chExt cx="756" cy="624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092" y="164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816" y="1980"/>
              <a:ext cx="7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400">
                  <a:solidFill>
                    <a:srgbClr val="3366FF"/>
                  </a:solidFill>
                  <a:latin typeface="Comic Sans MS" pitchFamily="66" charset="0"/>
                </a:rPr>
                <a:t>5.843</a:t>
              </a:r>
            </a:p>
          </p:txBody>
        </p:sp>
      </p:grp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405313" y="733426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1. 4 2 6 1 8</a:t>
            </a:r>
          </a:p>
        </p:txBody>
      </p:sp>
      <p:grpSp>
        <p:nvGrpSpPr>
          <p:cNvPr id="14" name="Group 12"/>
          <p:cNvGrpSpPr>
            <a:grpSpLocks/>
          </p:cNvGrpSpPr>
          <p:nvPr/>
        </p:nvGrpSpPr>
        <p:grpSpPr bwMode="auto">
          <a:xfrm>
            <a:off x="5032375" y="1184275"/>
            <a:ext cx="2209800" cy="1092200"/>
            <a:chOff x="480" y="2064"/>
            <a:chExt cx="1392" cy="688"/>
          </a:xfrm>
        </p:grpSpPr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more?</a:t>
              </a: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5748338" y="6096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8" name="Group 16"/>
          <p:cNvGrpSpPr>
            <a:grpSpLocks/>
          </p:cNvGrpSpPr>
          <p:nvPr/>
        </p:nvGrpSpPr>
        <p:grpSpPr bwMode="auto">
          <a:xfrm>
            <a:off x="5527675" y="2403475"/>
            <a:ext cx="1009650" cy="1009650"/>
            <a:chOff x="2536" y="1624"/>
            <a:chExt cx="636" cy="636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400">
                  <a:solidFill>
                    <a:srgbClr val="3366FF"/>
                  </a:solidFill>
                  <a:latin typeface="Comic Sans MS" pitchFamily="66" charset="0"/>
                </a:rPr>
                <a:t>1.426</a:t>
              </a:r>
            </a:p>
          </p:txBody>
        </p:sp>
      </p:grp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7377113" y="771526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0. 6 0 8 3 4</a:t>
            </a:r>
          </a:p>
        </p:txBody>
      </p: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8054975" y="1222375"/>
            <a:ext cx="2209800" cy="1092200"/>
            <a:chOff x="480" y="2064"/>
            <a:chExt cx="1392" cy="688"/>
          </a:xfrm>
        </p:grpSpPr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more?</a:t>
              </a: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8777288" y="6477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26" name="Group 24"/>
          <p:cNvGrpSpPr>
            <a:grpSpLocks/>
          </p:cNvGrpSpPr>
          <p:nvPr/>
        </p:nvGrpSpPr>
        <p:grpSpPr bwMode="auto">
          <a:xfrm>
            <a:off x="8499475" y="2441575"/>
            <a:ext cx="1009650" cy="1009650"/>
            <a:chOff x="2536" y="1624"/>
            <a:chExt cx="636" cy="636"/>
          </a:xfrm>
        </p:grpSpPr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400">
                  <a:solidFill>
                    <a:srgbClr val="3366FF"/>
                  </a:solidFill>
                  <a:latin typeface="Comic Sans MS" pitchFamily="66" charset="0"/>
                </a:rPr>
                <a:t>0.608</a:t>
              </a:r>
            </a:p>
          </p:txBody>
        </p:sp>
      </p:grp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1700213" y="3941763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6. 2 9 4 7 1</a:t>
            </a:r>
          </a:p>
        </p:txBody>
      </p:sp>
      <p:grpSp>
        <p:nvGrpSpPr>
          <p:cNvPr id="30" name="Group 28"/>
          <p:cNvGrpSpPr>
            <a:grpSpLocks/>
          </p:cNvGrpSpPr>
          <p:nvPr/>
        </p:nvGrpSpPr>
        <p:grpSpPr bwMode="auto">
          <a:xfrm>
            <a:off x="2378075" y="4392613"/>
            <a:ext cx="2209800" cy="1092200"/>
            <a:chOff x="480" y="2064"/>
            <a:chExt cx="1392" cy="688"/>
          </a:xfrm>
        </p:grpSpPr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more?</a:t>
              </a:r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3100388" y="3817938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34" name="Group 32"/>
          <p:cNvGrpSpPr>
            <a:grpSpLocks/>
          </p:cNvGrpSpPr>
          <p:nvPr/>
        </p:nvGrpSpPr>
        <p:grpSpPr bwMode="auto">
          <a:xfrm>
            <a:off x="2822575" y="5611813"/>
            <a:ext cx="1009650" cy="1009650"/>
            <a:chOff x="2536" y="1624"/>
            <a:chExt cx="636" cy="636"/>
          </a:xfrm>
        </p:grpSpPr>
        <p:sp>
          <p:nvSpPr>
            <p:cNvPr id="35" name="Line 33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400">
                  <a:solidFill>
                    <a:srgbClr val="3366FF"/>
                  </a:solidFill>
                  <a:latin typeface="Comic Sans MS" pitchFamily="66" charset="0"/>
                </a:rPr>
                <a:t>6.295</a:t>
              </a:r>
            </a:p>
          </p:txBody>
        </p:sp>
      </p:grp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4462463" y="3941763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5. 4 0 0 9 7</a:t>
            </a:r>
          </a:p>
        </p:txBody>
      </p:sp>
      <p:grpSp>
        <p:nvGrpSpPr>
          <p:cNvPr id="38" name="Group 36"/>
          <p:cNvGrpSpPr>
            <a:grpSpLocks/>
          </p:cNvGrpSpPr>
          <p:nvPr/>
        </p:nvGrpSpPr>
        <p:grpSpPr bwMode="auto">
          <a:xfrm>
            <a:off x="5140325" y="4392613"/>
            <a:ext cx="2209800" cy="1092200"/>
            <a:chOff x="480" y="2064"/>
            <a:chExt cx="1392" cy="688"/>
          </a:xfrm>
        </p:grpSpPr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more?</a:t>
              </a:r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5862638" y="3817938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42" name="Group 40"/>
          <p:cNvGrpSpPr>
            <a:grpSpLocks/>
          </p:cNvGrpSpPr>
          <p:nvPr/>
        </p:nvGrpSpPr>
        <p:grpSpPr bwMode="auto">
          <a:xfrm>
            <a:off x="5584825" y="5611813"/>
            <a:ext cx="1009650" cy="1009650"/>
            <a:chOff x="2536" y="1624"/>
            <a:chExt cx="636" cy="636"/>
          </a:xfrm>
        </p:grpSpPr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Text Box 42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400">
                  <a:solidFill>
                    <a:srgbClr val="3366FF"/>
                  </a:solidFill>
                  <a:latin typeface="Comic Sans MS" pitchFamily="66" charset="0"/>
                </a:rPr>
                <a:t>5.401</a:t>
              </a:r>
            </a:p>
          </p:txBody>
        </p:sp>
      </p:grpSp>
      <p:sp>
        <p:nvSpPr>
          <p:cNvPr id="45" name="Text Box 43"/>
          <p:cNvSpPr txBox="1">
            <a:spLocks noChangeArrowheads="1"/>
          </p:cNvSpPr>
          <p:nvPr/>
        </p:nvSpPr>
        <p:spPr bwMode="auto">
          <a:xfrm>
            <a:off x="7491413" y="3941763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0. 3 9 9 7 7</a:t>
            </a:r>
          </a:p>
        </p:txBody>
      </p:sp>
      <p:grpSp>
        <p:nvGrpSpPr>
          <p:cNvPr id="46" name="Group 44"/>
          <p:cNvGrpSpPr>
            <a:grpSpLocks/>
          </p:cNvGrpSpPr>
          <p:nvPr/>
        </p:nvGrpSpPr>
        <p:grpSpPr bwMode="auto">
          <a:xfrm>
            <a:off x="8169275" y="4392613"/>
            <a:ext cx="2209800" cy="1092200"/>
            <a:chOff x="480" y="2064"/>
            <a:chExt cx="1392" cy="688"/>
          </a:xfrm>
        </p:grpSpPr>
        <p:sp>
          <p:nvSpPr>
            <p:cNvPr id="47" name="Text Box 45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 dirty="0">
                  <a:solidFill>
                    <a:prstClr val="black"/>
                  </a:solidFill>
                  <a:latin typeface="Comic Sans MS" pitchFamily="66" charset="0"/>
                </a:rPr>
                <a:t>5 or more?</a:t>
              </a:r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9" name="Line 47"/>
          <p:cNvSpPr>
            <a:spLocks noChangeShapeType="1"/>
          </p:cNvSpPr>
          <p:nvPr/>
        </p:nvSpPr>
        <p:spPr bwMode="auto">
          <a:xfrm>
            <a:off x="8891588" y="3817938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50" name="Group 48"/>
          <p:cNvGrpSpPr>
            <a:grpSpLocks/>
          </p:cNvGrpSpPr>
          <p:nvPr/>
        </p:nvGrpSpPr>
        <p:grpSpPr bwMode="auto">
          <a:xfrm>
            <a:off x="8613775" y="5611813"/>
            <a:ext cx="1009650" cy="1009650"/>
            <a:chOff x="2536" y="1624"/>
            <a:chExt cx="636" cy="636"/>
          </a:xfrm>
        </p:grpSpPr>
        <p:sp>
          <p:nvSpPr>
            <p:cNvPr id="51" name="Line 49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Text Box 50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400">
                  <a:solidFill>
                    <a:srgbClr val="3366FF"/>
                  </a:solidFill>
                  <a:latin typeface="Comic Sans MS" pitchFamily="66" charset="0"/>
                </a:rPr>
                <a:t>0.400</a:t>
              </a:r>
            </a:p>
          </p:txBody>
        </p:sp>
      </p:grpSp>
      <p:sp>
        <p:nvSpPr>
          <p:cNvPr id="53" name="Text Box 51"/>
          <p:cNvSpPr txBox="1">
            <a:spLocks noChangeArrowheads="1"/>
          </p:cNvSpPr>
          <p:nvPr/>
        </p:nvSpPr>
        <p:spPr bwMode="auto">
          <a:xfrm>
            <a:off x="3613150" y="241458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54" name="Text Box 52"/>
          <p:cNvSpPr txBox="1">
            <a:spLocks noChangeArrowheads="1"/>
          </p:cNvSpPr>
          <p:nvPr/>
        </p:nvSpPr>
        <p:spPr bwMode="auto">
          <a:xfrm>
            <a:off x="6364288" y="2436813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No</a:t>
            </a:r>
          </a:p>
        </p:txBody>
      </p:sp>
      <p:sp>
        <p:nvSpPr>
          <p:cNvPr id="55" name="Text Box 53"/>
          <p:cNvSpPr txBox="1">
            <a:spLocks noChangeArrowheads="1"/>
          </p:cNvSpPr>
          <p:nvPr/>
        </p:nvSpPr>
        <p:spPr bwMode="auto">
          <a:xfrm>
            <a:off x="9115425" y="245903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No</a:t>
            </a:r>
          </a:p>
        </p:txBody>
      </p:sp>
      <p:sp>
        <p:nvSpPr>
          <p:cNvPr id="56" name="Text Box 54"/>
          <p:cNvSpPr txBox="1">
            <a:spLocks noChangeArrowheads="1"/>
          </p:cNvSpPr>
          <p:nvPr/>
        </p:nvSpPr>
        <p:spPr bwMode="auto">
          <a:xfrm>
            <a:off x="3563938" y="555783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57" name="Text Box 55"/>
          <p:cNvSpPr txBox="1">
            <a:spLocks noChangeArrowheads="1"/>
          </p:cNvSpPr>
          <p:nvPr/>
        </p:nvSpPr>
        <p:spPr bwMode="auto">
          <a:xfrm>
            <a:off x="6284913" y="5580063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58" name="Text Box 56"/>
          <p:cNvSpPr txBox="1">
            <a:spLocks noChangeArrowheads="1"/>
          </p:cNvSpPr>
          <p:nvPr/>
        </p:nvSpPr>
        <p:spPr bwMode="auto">
          <a:xfrm>
            <a:off x="9369425" y="5572125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80089" y="64439"/>
            <a:ext cx="31165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b="1" dirty="0">
                <a:solidFill>
                  <a:prstClr val="black"/>
                </a:solidFill>
                <a:latin typeface="Calibri"/>
              </a:rPr>
              <a:t>Chop it and check it</a:t>
            </a:r>
          </a:p>
        </p:txBody>
      </p:sp>
    </p:spTree>
    <p:extLst>
      <p:ext uri="{BB962C8B-B14F-4D97-AF65-F5344CB8AC3E}">
        <p14:creationId xmlns:p14="http://schemas.microsoft.com/office/powerpoint/2010/main" val="84889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9" grpId="0" animBg="1"/>
      <p:bldP spid="13" grpId="0" autoUpdateAnimBg="0"/>
      <p:bldP spid="17" grpId="0" animBg="1"/>
      <p:bldP spid="21" grpId="0" autoUpdateAnimBg="0"/>
      <p:bldP spid="25" grpId="0" animBg="1"/>
      <p:bldP spid="29" grpId="0" autoUpdateAnimBg="0"/>
      <p:bldP spid="33" grpId="0" animBg="1"/>
      <p:bldP spid="37" grpId="0" autoUpdateAnimBg="0"/>
      <p:bldP spid="41" grpId="0" animBg="1"/>
      <p:bldP spid="45" grpId="0" autoUpdateAnimBg="0"/>
      <p:bldP spid="49" grpId="0" animBg="1"/>
      <p:bldP spid="53" grpId="0" animBg="1" autoUpdateAnimBg="0"/>
      <p:bldP spid="54" grpId="0" animBg="1" autoUpdateAnimBg="0"/>
      <p:bldP spid="55" grpId="0" animBg="1" autoUpdateAnimBg="0"/>
      <p:bldP spid="56" grpId="0" animBg="1" autoUpdateAnimBg="0"/>
      <p:bldP spid="57" grpId="0" animBg="1" autoUpdateAnimBg="0"/>
      <p:bldP spid="58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DFC5C-17FD-7C92-9943-E20FC49F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books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B45F36-30A8-82F9-D751-4E5CAF2E1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8915" y="1825625"/>
            <a:ext cx="9974170" cy="4351338"/>
          </a:xfrm>
        </p:spPr>
      </p:pic>
    </p:spTree>
    <p:extLst>
      <p:ext uri="{BB962C8B-B14F-4D97-AF65-F5344CB8AC3E}">
        <p14:creationId xmlns:p14="http://schemas.microsoft.com/office/powerpoint/2010/main" val="1695680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6083-6A08-4E0C-BDD0-9CBF7581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Answers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76F8D0-3C75-97D7-1849-FA089D4AD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6181" y="1384917"/>
            <a:ext cx="7679637" cy="4703270"/>
          </a:xfrm>
        </p:spPr>
      </p:pic>
    </p:spTree>
    <p:extLst>
      <p:ext uri="{BB962C8B-B14F-4D97-AF65-F5344CB8AC3E}">
        <p14:creationId xmlns:p14="http://schemas.microsoft.com/office/powerpoint/2010/main" val="3987179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764704"/>
          </a:xfrm>
        </p:spPr>
        <p:txBody>
          <a:bodyPr/>
          <a:lstStyle/>
          <a:p>
            <a:r>
              <a:rPr lang="en-AU" dirty="0"/>
              <a:t>Adding and Subtracting Decimals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764705"/>
            <a:ext cx="9144000" cy="4525963"/>
          </a:xfrm>
        </p:spPr>
        <p:txBody>
          <a:bodyPr>
            <a:normAutofit/>
          </a:bodyPr>
          <a:lstStyle/>
          <a:p>
            <a:r>
              <a:rPr lang="en-AU" sz="2800" dirty="0"/>
              <a:t>Line up the decimal point (NOT the right hand side!)</a:t>
            </a:r>
          </a:p>
          <a:p>
            <a:r>
              <a:rPr lang="en-AU" sz="2800" dirty="0"/>
              <a:t>Put a zero in all blank decimal places when subtracting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283" b="28351"/>
          <a:stretch/>
        </p:blipFill>
        <p:spPr bwMode="auto">
          <a:xfrm>
            <a:off x="1514764" y="1932087"/>
            <a:ext cx="3998590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09816" y="3088441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12.45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6073" y="3478867"/>
            <a:ext cx="1463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3.61 +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38936" y="4111187"/>
            <a:ext cx="1224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35760" y="312492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312.5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3793" y="3600427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31.25 +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064880" y="4195385"/>
            <a:ext cx="14484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93559" y="3929469"/>
            <a:ext cx="314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3076" y="3954370"/>
            <a:ext cx="314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535" b="35983"/>
          <a:stretch/>
        </p:blipFill>
        <p:spPr bwMode="auto">
          <a:xfrm>
            <a:off x="7175992" y="1942748"/>
            <a:ext cx="2557237" cy="1130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6691340" y="3084215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14.8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1204" y="3489528"/>
            <a:ext cx="1106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2.5 -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6672034" y="4110919"/>
            <a:ext cx="14484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36076" y="3852103"/>
            <a:ext cx="314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6592" y="3084215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25.9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455" y="3489528"/>
            <a:ext cx="1366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3.67 -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8937286" y="4110919"/>
            <a:ext cx="14484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501328" y="3852103"/>
            <a:ext cx="314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80895" y="308421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27945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1" grpId="0"/>
      <p:bldP spid="13" grpId="0"/>
      <p:bldP spid="14" grpId="0"/>
      <p:bldP spid="24" grpId="0"/>
      <p:bldP spid="25" grpId="0"/>
      <p:bldP spid="27" grpId="0"/>
      <p:bldP spid="34" grpId="0"/>
      <p:bldP spid="35" grpId="0"/>
      <p:bldP spid="37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3B8B-2F92-85D1-7602-D531A75B3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books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740D32-608D-8EFB-16EC-39439FDDD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859" y="1851611"/>
            <a:ext cx="3278405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656F89-FA8A-ACF4-9C12-76037141C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851611"/>
            <a:ext cx="1372639" cy="4194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9C83FB-4D5D-404B-6482-AADDD6D18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288" y="1756252"/>
            <a:ext cx="2838450" cy="4943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8DED19-A7E7-2154-DF85-A0C552628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7900" y="1784826"/>
            <a:ext cx="14859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5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052736"/>
          </a:xfrm>
        </p:spPr>
        <p:txBody>
          <a:bodyPr/>
          <a:lstStyle/>
          <a:p>
            <a:r>
              <a:rPr lang="en-AU" dirty="0"/>
              <a:t>Multiply Decimals – Lattice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729" y="980729"/>
            <a:ext cx="9122271" cy="295232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Draw the grid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Multiply the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Add up the diagonals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Count the decimal places in the question and ensure the same number of places is in the answer</a:t>
            </a:r>
          </a:p>
          <a:p>
            <a:endParaRPr lang="en-AU" dirty="0"/>
          </a:p>
        </p:txBody>
      </p:sp>
      <p:sp>
        <p:nvSpPr>
          <p:cNvPr id="4" name="Rounded Rectangle 3"/>
          <p:cNvSpPr/>
          <p:nvPr/>
        </p:nvSpPr>
        <p:spPr>
          <a:xfrm>
            <a:off x="7784909" y="5533538"/>
            <a:ext cx="2883092" cy="2722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prstClr val="black"/>
                </a:solidFill>
                <a:latin typeface="Calibri"/>
              </a:rPr>
              <a:t>Page 318 Ex 6E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84908" y="5808206"/>
            <a:ext cx="915134" cy="104001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1600" b="1" dirty="0">
                <a:solidFill>
                  <a:prstClr val="black"/>
                </a:solidFill>
                <a:latin typeface="Calibri"/>
              </a:rPr>
              <a:t>Q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3228" y="5822385"/>
            <a:ext cx="944124" cy="10400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>
                <a:solidFill>
                  <a:prstClr val="white"/>
                </a:solidFill>
                <a:latin typeface="Calibri"/>
              </a:rPr>
              <a:t>Q</a:t>
            </a:r>
          </a:p>
          <a:p>
            <a:pPr algn="ctr"/>
            <a:r>
              <a:rPr lang="en-AU" sz="1600" b="1" dirty="0">
                <a:solidFill>
                  <a:prstClr val="white"/>
                </a:solidFill>
                <a:latin typeface="Calibri"/>
              </a:rPr>
              <a:t>9-17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59929" y="5822385"/>
            <a:ext cx="933052" cy="104001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>
                <a:solidFill>
                  <a:prstClr val="white"/>
                </a:solidFill>
                <a:latin typeface="Calibri"/>
              </a:rPr>
              <a:t>Q 6</a:t>
            </a:r>
            <a:r>
              <a:rPr lang="en-AU" sz="1600" b="1" i="1" dirty="0">
                <a:solidFill>
                  <a:prstClr val="white"/>
                </a:solidFill>
                <a:latin typeface="Calibri"/>
              </a:rPr>
              <a:t>jkl</a:t>
            </a:r>
          </a:p>
          <a:p>
            <a:pPr algn="ctr"/>
            <a:r>
              <a:rPr lang="en-AU" sz="1600" b="1" dirty="0">
                <a:solidFill>
                  <a:prstClr val="white"/>
                </a:solidFill>
                <a:latin typeface="Calibri"/>
              </a:rPr>
              <a:t>9-12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3553" y="3789041"/>
            <a:ext cx="20072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prstClr val="black"/>
                </a:solidFill>
                <a:latin typeface="Calibri"/>
              </a:rPr>
              <a:t>8.71 x 11.2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3793" y="3789040"/>
            <a:ext cx="18966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prstClr val="black"/>
                </a:solidFill>
                <a:latin typeface="Calibri"/>
              </a:rPr>
              <a:t>= 9 7 5 5 2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2447834" y="4293096"/>
            <a:ext cx="1800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693622" y="4294403"/>
            <a:ext cx="1800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791744" y="4290593"/>
            <a:ext cx="1800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519936" y="4286820"/>
            <a:ext cx="1800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807968" y="4271314"/>
            <a:ext cx="1800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231904" y="4294403"/>
            <a:ext cx="1800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15880" y="3765792"/>
            <a:ext cx="293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689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2602"/>
            <a:ext cx="9144000" cy="824111"/>
          </a:xfrm>
        </p:spPr>
        <p:txBody>
          <a:bodyPr>
            <a:normAutofit/>
          </a:bodyPr>
          <a:lstStyle/>
          <a:p>
            <a:r>
              <a:rPr lang="en-AU" dirty="0"/>
              <a:t>Divide Decimals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4525963"/>
          </a:xfrm>
        </p:spPr>
        <p:txBody>
          <a:bodyPr/>
          <a:lstStyle/>
          <a:p>
            <a:r>
              <a:rPr lang="en-AU" dirty="0"/>
              <a:t>Find out ‘how many’ are in each digit </a:t>
            </a:r>
          </a:p>
          <a:p>
            <a:r>
              <a:rPr lang="en-AU" dirty="0"/>
              <a:t>Carry any remainder to the next digit</a:t>
            </a:r>
          </a:p>
          <a:p>
            <a:r>
              <a:rPr lang="en-AU" dirty="0"/>
              <a:t>If there is a remainder, write a zero and carry the remainder to this digit</a:t>
            </a:r>
          </a:p>
          <a:p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351583" y="2952970"/>
            <a:ext cx="1324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>
                <a:solidFill>
                  <a:prstClr val="black"/>
                </a:solidFill>
                <a:latin typeface="Calibri"/>
              </a:rPr>
              <a:t>79 ÷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7459" y="2952969"/>
            <a:ext cx="16754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dirty="0">
                <a:solidFill>
                  <a:prstClr val="black"/>
                </a:solidFill>
                <a:latin typeface="Calibri"/>
              </a:rPr>
              <a:t> = 19.75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84909" y="5533538"/>
            <a:ext cx="2883092" cy="2722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prstClr val="black"/>
                </a:solidFill>
                <a:latin typeface="Calibri"/>
              </a:rPr>
              <a:t>Page 323 Ex 6F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84908" y="5808206"/>
            <a:ext cx="915134" cy="104001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1600" b="1" dirty="0">
                <a:solidFill>
                  <a:prstClr val="black"/>
                </a:solidFill>
                <a:latin typeface="Calibri"/>
              </a:rPr>
              <a:t>Q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3228" y="5822385"/>
            <a:ext cx="944124" cy="10400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>
                <a:solidFill>
                  <a:prstClr val="white"/>
                </a:solidFill>
                <a:latin typeface="Calibri"/>
              </a:rPr>
              <a:t>Q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9929" y="5822385"/>
            <a:ext cx="933052" cy="104001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>
                <a:solidFill>
                  <a:prstClr val="white"/>
                </a:solidFill>
                <a:latin typeface="Calibri"/>
              </a:rPr>
              <a:t>Q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19537" y="4437113"/>
            <a:ext cx="1909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>
                <a:solidFill>
                  <a:prstClr val="black"/>
                </a:solidFill>
                <a:latin typeface="Calibri"/>
              </a:rPr>
              <a:t>3.027 ÷ 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29033" y="4440556"/>
            <a:ext cx="18053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dirty="0">
                <a:solidFill>
                  <a:prstClr val="black"/>
                </a:solidFill>
                <a:latin typeface="Calibri"/>
              </a:rPr>
              <a:t>= 0.5045</a:t>
            </a:r>
          </a:p>
        </p:txBody>
      </p:sp>
    </p:spTree>
    <p:extLst>
      <p:ext uri="{BB962C8B-B14F-4D97-AF65-F5344CB8AC3E}">
        <p14:creationId xmlns:p14="http://schemas.microsoft.com/office/powerpoint/2010/main" val="115748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/>
      <p:bldP spid="28" grpId="0" animBg="1"/>
      <p:bldP spid="29" grpId="0" animBg="1"/>
      <p:bldP spid="30" grpId="0" animBg="1"/>
      <p:bldP spid="31" grpId="0" animBg="1"/>
      <p:bldP spid="36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699A7-6704-AF88-8BB7-A46026EC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books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EB80F2-47BD-18AF-3A0F-999DB1B53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6545"/>
            <a:ext cx="176638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9C0FBC-1896-638F-7B85-3D2E1E3E0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12" y="1690688"/>
            <a:ext cx="1247775" cy="4924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D03F25-CFB2-6C8D-1347-E03CC4404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443" y="1700213"/>
            <a:ext cx="1752600" cy="4914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96E570-08EF-8A07-CCBE-D6CA4DB88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925" y="1700213"/>
            <a:ext cx="120015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2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505</Words>
  <Application>Microsoft Office PowerPoint</Application>
  <PresentationFormat>Widescreen</PresentationFormat>
  <Paragraphs>155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Comic Sans MS</vt:lpstr>
      <vt:lpstr>Wingdings</vt:lpstr>
      <vt:lpstr>Office Theme</vt:lpstr>
      <vt:lpstr>1_Office Theme</vt:lpstr>
      <vt:lpstr>Lesson objective </vt:lpstr>
      <vt:lpstr>Converting FDP re-teach </vt:lpstr>
      <vt:lpstr>Converting </vt:lpstr>
      <vt:lpstr>Rounding </vt:lpstr>
      <vt:lpstr>Rounding Decimals</vt:lpstr>
      <vt:lpstr>PowerPoint Presentation</vt:lpstr>
      <vt:lpstr>PowerPoint Presentation</vt:lpstr>
      <vt:lpstr>Exercise books </vt:lpstr>
      <vt:lpstr>Answers </vt:lpstr>
      <vt:lpstr>Adding and Subtracting Decimals</vt:lpstr>
      <vt:lpstr>Exercise books </vt:lpstr>
      <vt:lpstr>Multiply Decimals – Lattice Method</vt:lpstr>
      <vt:lpstr>Divide Decimals</vt:lpstr>
      <vt:lpstr>Exercise books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14</cp:revision>
  <dcterms:created xsi:type="dcterms:W3CDTF">2022-08-05T00:04:39Z</dcterms:created>
  <dcterms:modified xsi:type="dcterms:W3CDTF">2023-06-20T06:29:16Z</dcterms:modified>
</cp:coreProperties>
</file>
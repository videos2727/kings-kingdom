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72" r:id="rId13"/>
    <p:sldId id="273" r:id="rId14"/>
    <p:sldId id="269" r:id="rId15"/>
    <p:sldId id="270" r:id="rId16"/>
    <p:sldId id="267" r:id="rId17"/>
    <p:sldId id="268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7T03:23:45.608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1,'7'0,"0"-1,0 1,0 0,0 1,0 0,-1 0,1 0,0 1,0 0,-1 1,1-1,-1 1,0 0,11 8,0 2,0 1,-1 0,-1 1,0 1,-1 0,12 19,-17-23,1-1,0 0,1 0,0-2,22 17,-22-19,-1 1,1 0,-2 1,1 0,-1 0,-1 1,0 0,8 12,-8-4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7T03:23:48.06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271 0,'0'8,"0"0,-1 0,0-1,0 1,-1 0,0-1,0 1,-1-1,0 0,-1 0,1 0,-7 9,1-4,-1-1,0 0,-1 0,0-1,-19 13,15-11,1 1,1 0,0 1,0 0,2 1,0 1,0 0,2 0,0 1,1 0,0 0,2 1,-5 19,6-16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6T23:56:44.14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261 1,'-1'2,"1"0,-1 1,0-1,0 0,1 0,-1 0,-1 0,1 0,0 0,0 0,-1 0,1 0,-1 0,0-1,-2 3,-27 21,9-12,2 2,0 0,1 1,0 1,1 1,-26 35,8-13,25-29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6T23:56:49.64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0,'0'470,"0"-449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6T23:56:57.06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1,'4'0,"1"4,5 6,4 4,4 2,-1 0,1 3,-3 2,1-2,1-1,6 2,4 0,-3 2,-1 1,-1 1,1-3,-5-6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6T23:58:47.75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432 1,'-6'0,"0"0,1 1,-1 0,1 1,-1-1,1 1,-1 0,1 0,0 1,0-1,0 1,-5 4,-6 6,0 0,-14 17,0-2,-204 199,217-209,3-2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6T23:58:49.35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0,'19'2,"1"1,-1 0,0 1,0 1,35 15,-24-9,20 10,-2 2,65 41,-25-13,-49-30,-4-3,56 40,-70-42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313C-A8D4-4530-8F4A-ED1F4043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94130-240D-479C-963C-A9D58ECA9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49483-B904-493C-985F-41466F432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3A949-9A68-41CB-90D3-6FCF0CC7D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786D8-E486-410F-AB71-96A702C1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014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BCD45-46D2-4FBF-AD19-4F912976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EE28E-34D5-46E8-8185-AC783A3C5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3D988-E3D6-46BE-BCD9-31ED8811E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24027-BC51-4FB2-8B9F-55283844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0116C-37BD-4B08-BE01-E8C0375D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183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365EE-C2C6-4A0B-84E1-35E0C7CA2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BD25D-92BE-4973-8CFD-07DAE48DB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EA38C-96EB-4E08-A0ED-D2D7D3C9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7F65D-33C5-4DEB-8FCF-6AE425E8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78EE0-CC20-417F-8866-D2C7214C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264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6AD11-D7CC-4191-857C-B14CA391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7D06A-6150-4398-B2A9-F51779D9C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F45DB-1BF9-49B0-9105-2C54D1475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46ED7-EEE8-4A62-B378-7A595D14A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A3528-5C4F-4D74-A92D-1EEE4E9A6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49E41-1906-40F9-8C05-6BD74E84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381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BD34-AEE5-4237-B654-AEE49476F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AC7A7-8BE9-4FC6-8D34-736D47D04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243D0-B3E3-47F6-84AD-711356569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4D664-C74E-4DFD-8321-72455617A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F51D5-6C81-4116-B8B8-A25F986D1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575A18-C081-4B2E-984C-0517A5E0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0AE58-851E-4898-BAC9-2E1A8D73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49B462-98A2-4EAD-99E6-238D3D72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4453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15E93-675C-4D6E-A2D6-73E14B99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99D26-A2DE-44EC-A969-2E81B1DC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B24258-6BCD-4341-9F01-040FC5588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4CA9B-9E5D-42F8-8167-20353484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099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09120-56E2-40E1-B3C6-316E0D78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A67859-0C3F-425D-9B23-87A73148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52FFC-7896-4516-80F4-C34314CB6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964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C67D-BF14-4AD8-A68E-9B8ED1EB1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CB90F-669F-46B6-A478-61B1E6DE2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7D27-4083-4CFC-BD0A-074F545A1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90ADB-DE95-4859-820A-B725D9AEB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2BBB2-4387-4223-97D9-1DEAEE0EE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D7DAA-11F0-4623-B9E1-1A5EC6B6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64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B754-7652-4DD1-B572-EDDA1E68C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B6B755-B18F-4C51-A8B8-95A3532FCF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15B23-806B-4CA5-BEA1-A180FD64A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1FC16-5CAF-4B8B-85A9-3EEE0125F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9ECC7-ECCA-4F9D-9E95-45B33EF3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BE93D-9594-4FE7-B59E-77A6BE2C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93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C017-88A5-4429-BD9D-C098245F4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51549-ECD8-4C82-A7A3-1D51493F1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334AC-CCCB-49CF-B0AB-4F15C5FCE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546B-4587-47DD-AEBE-36007062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30DB-FECF-4B72-8E71-9B6DC3DD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18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E28296-9D63-4615-AAE5-F758EF51A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B5AB4-BC12-4940-9300-D68C97817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86274-24ED-4D90-B251-0BF53041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EAF04-4A6C-480C-B02C-3F691F5E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1F676-039F-4C70-9C74-F640EC34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505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57E519-65C4-4F60-9848-396CA9E90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D1BE4-6F64-4674-9335-49AF99039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F97C5-B78B-4733-8CF6-3BA4D017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CFB5A-74F9-43BE-B8EF-740B1F79B6A2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ED4D8-13E8-4599-A3ED-BF4545A6E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257FD-1030-4EBE-8D87-B7F4C08DB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515F2-537D-4247-AB12-8198E2216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477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5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0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04B8CD-0092-41D0-AC25-400E457B5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BBCC53-2F1F-463C-BC1F-3A1055645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3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Title: </a:t>
            </a:r>
            <a:r>
              <a:rPr lang="en-US" sz="3200" b="1" dirty="0">
                <a:solidFill>
                  <a:srgbClr val="00B0F0"/>
                </a:solidFill>
              </a:rPr>
              <a:t>Experimental probability </a:t>
            </a:r>
          </a:p>
          <a:p>
            <a:pPr marL="0" indent="0">
              <a:buNone/>
            </a:pPr>
            <a:endParaRPr lang="en-US" sz="3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F0"/>
                </a:solidFill>
              </a:rPr>
              <a:t> Assign probability based on experiments 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Review perimeter and volume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Unitary method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Assigning probability </a:t>
            </a:r>
            <a:endParaRPr lang="en-AU" sz="32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D3B75-C171-4BFD-8BC7-1E494021F317}"/>
              </a:ext>
            </a:extLst>
          </p:cNvPr>
          <p:cNvSpPr txBox="1"/>
          <p:nvPr/>
        </p:nvSpPr>
        <p:spPr>
          <a:xfrm>
            <a:off x="8052046" y="1739007"/>
            <a:ext cx="2982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Calculators and whiteboards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55647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BA3C-E4AB-4366-8888-33EA6E2A2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Perimeter and volume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F2C84-72D7-4F53-B824-B2C3960312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Measurement </a:t>
            </a:r>
          </a:p>
          <a:p>
            <a:pPr marL="0" indent="0">
              <a:buNone/>
            </a:pPr>
            <a:r>
              <a:rPr lang="en-AU" sz="3600" dirty="0"/>
              <a:t>Perimeter 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dirty="0"/>
              <a:t>Volume 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dirty="0"/>
              <a:t>Area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D1A948-DD28-4C2E-AFEF-3DC4354F0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874" y="1825625"/>
            <a:ext cx="5538926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Description</a:t>
            </a:r>
          </a:p>
          <a:p>
            <a:pPr marL="0" indent="0" algn="r">
              <a:buNone/>
            </a:pPr>
            <a:r>
              <a:rPr lang="en-AU" sz="3600" dirty="0"/>
              <a:t>The space inside a 3D shape</a:t>
            </a:r>
          </a:p>
          <a:p>
            <a:pPr marL="0" indent="0" algn="r">
              <a:buNone/>
            </a:pPr>
            <a:endParaRPr lang="en-AU" sz="3600" dirty="0"/>
          </a:p>
          <a:p>
            <a:pPr marL="0" indent="0" algn="r">
              <a:buNone/>
            </a:pPr>
            <a:r>
              <a:rPr lang="en-AU" sz="3600" dirty="0"/>
              <a:t>The space inside a 2D shape </a:t>
            </a:r>
          </a:p>
          <a:p>
            <a:pPr marL="0" indent="0" algn="r">
              <a:buNone/>
            </a:pPr>
            <a:endParaRPr lang="en-AU" sz="3600" dirty="0"/>
          </a:p>
          <a:p>
            <a:pPr marL="0" indent="0" algn="r">
              <a:buNone/>
            </a:pPr>
            <a:r>
              <a:rPr lang="en-AU" sz="3600" dirty="0"/>
              <a:t>The length of the boundary </a:t>
            </a:r>
          </a:p>
        </p:txBody>
      </p:sp>
    </p:spTree>
    <p:extLst>
      <p:ext uri="{BB962C8B-B14F-4D97-AF65-F5344CB8AC3E}">
        <p14:creationId xmlns:p14="http://schemas.microsoft.com/office/powerpoint/2010/main" val="2532348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6B5400B-9903-4352-8DBA-739F779C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BB196EE-E32A-4C96-B45A-0350B0EA1A5C}"/>
              </a:ext>
            </a:extLst>
          </p:cNvPr>
          <p:cNvSpPr/>
          <p:nvPr/>
        </p:nvSpPr>
        <p:spPr>
          <a:xfrm>
            <a:off x="985421" y="1793289"/>
            <a:ext cx="2183907" cy="141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7D4A31-FF9B-49F9-A0A6-88F18F45972F}"/>
              </a:ext>
            </a:extLst>
          </p:cNvPr>
          <p:cNvSpPr/>
          <p:nvPr/>
        </p:nvSpPr>
        <p:spPr>
          <a:xfrm>
            <a:off x="745724" y="4231774"/>
            <a:ext cx="3018408" cy="1732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5371E5-6195-4646-B269-2DE40CA25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825" y="2166937"/>
            <a:ext cx="4067175" cy="25241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4016FF-37B5-47A9-9522-F6B449C38323}"/>
              </a:ext>
            </a:extLst>
          </p:cNvPr>
          <p:cNvSpPr txBox="1"/>
          <p:nvPr/>
        </p:nvSpPr>
        <p:spPr>
          <a:xfrm>
            <a:off x="836258" y="2103982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5cm</a:t>
            </a:r>
            <a:endParaRPr lang="en-AU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B4EFF8-F182-4C1C-AE8E-D6D415427A08}"/>
              </a:ext>
            </a:extLst>
          </p:cNvPr>
          <p:cNvSpPr txBox="1"/>
          <p:nvPr/>
        </p:nvSpPr>
        <p:spPr>
          <a:xfrm>
            <a:off x="1754194" y="3167878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7cm</a:t>
            </a:r>
            <a:endParaRPr lang="en-AU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5F8AE2-D51A-4202-828C-C96891936880}"/>
              </a:ext>
            </a:extLst>
          </p:cNvPr>
          <p:cNvSpPr txBox="1"/>
          <p:nvPr/>
        </p:nvSpPr>
        <p:spPr>
          <a:xfrm>
            <a:off x="26633" y="4870966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7cm</a:t>
            </a:r>
            <a:endParaRPr lang="en-AU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DDF4E4-E750-4D02-B486-25CA18A2D9EA}"/>
              </a:ext>
            </a:extLst>
          </p:cNvPr>
          <p:cNvSpPr txBox="1"/>
          <p:nvPr/>
        </p:nvSpPr>
        <p:spPr>
          <a:xfrm>
            <a:off x="1895810" y="5899408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11cm</a:t>
            </a:r>
            <a:endParaRPr lang="en-AU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1CC8A3-DB19-49F5-91DD-DEE3DF914E76}"/>
              </a:ext>
            </a:extLst>
          </p:cNvPr>
          <p:cNvSpPr txBox="1"/>
          <p:nvPr/>
        </p:nvSpPr>
        <p:spPr>
          <a:xfrm>
            <a:off x="8937977" y="1703848"/>
            <a:ext cx="1987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l x b x h</a:t>
            </a:r>
            <a:endParaRPr lang="en-AU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1A375A5-1C6C-4442-9F30-7F77FAD83191}"/>
                  </a:ext>
                </a:extLst>
              </p14:cNvPr>
              <p14:cNvContentPartPr/>
              <p14:nvPr/>
            </p14:nvContentPartPr>
            <p14:xfrm>
              <a:off x="1517673" y="2316628"/>
              <a:ext cx="149760" cy="123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1A375A5-1C6C-4442-9F30-7F77FAD831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1673" y="2280628"/>
                <a:ext cx="2214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26F7C9F-2BCD-4AB0-8CC3-A27FE85C797A}"/>
                  </a:ext>
                </a:extLst>
              </p14:cNvPr>
              <p14:cNvContentPartPr/>
              <p14:nvPr/>
            </p14:nvContentPartPr>
            <p14:xfrm>
              <a:off x="2503353" y="2298988"/>
              <a:ext cx="97920" cy="158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26F7C9F-2BCD-4AB0-8CC3-A27FE85C79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67713" y="2262988"/>
                <a:ext cx="169560" cy="23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5524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B732-74DF-462A-9E1D-F94081C2A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C1DC0D53-D8E3-4763-9787-7B9CC29A9358}"/>
              </a:ext>
            </a:extLst>
          </p:cNvPr>
          <p:cNvSpPr/>
          <p:nvPr/>
        </p:nvSpPr>
        <p:spPr>
          <a:xfrm>
            <a:off x="1691647" y="1825625"/>
            <a:ext cx="2183907" cy="141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5BF3E-0338-4CC4-A62E-7EA3B8E04905}"/>
              </a:ext>
            </a:extLst>
          </p:cNvPr>
          <p:cNvSpPr/>
          <p:nvPr/>
        </p:nvSpPr>
        <p:spPr>
          <a:xfrm>
            <a:off x="1451950" y="4264110"/>
            <a:ext cx="3018408" cy="1732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07F4A-88B6-4889-84B6-DF1E137BCD97}"/>
              </a:ext>
            </a:extLst>
          </p:cNvPr>
          <p:cNvSpPr txBox="1"/>
          <p:nvPr/>
        </p:nvSpPr>
        <p:spPr>
          <a:xfrm>
            <a:off x="2561199" y="3200188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8cm</a:t>
            </a:r>
            <a:endParaRPr lang="en-AU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85CF9-33B7-4B4B-965B-D64F31AC8A82}"/>
              </a:ext>
            </a:extLst>
          </p:cNvPr>
          <p:cNvSpPr txBox="1"/>
          <p:nvPr/>
        </p:nvSpPr>
        <p:spPr>
          <a:xfrm>
            <a:off x="2698012" y="5931744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11cm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7E6CE-AE98-4162-BB2C-D452243B324E}"/>
              </a:ext>
            </a:extLst>
          </p:cNvPr>
          <p:cNvSpPr txBox="1"/>
          <p:nvPr/>
        </p:nvSpPr>
        <p:spPr>
          <a:xfrm>
            <a:off x="1451950" y="4867822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7cm</a:t>
            </a:r>
            <a:endParaRPr lang="en-AU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D7C25AD-C3C5-4D7A-930E-9691B4165F67}"/>
                  </a:ext>
                </a:extLst>
              </p14:cNvPr>
              <p14:cNvContentPartPr/>
              <p14:nvPr/>
            </p14:nvContentPartPr>
            <p14:xfrm>
              <a:off x="3190953" y="2343268"/>
              <a:ext cx="93960" cy="92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D7C25AD-C3C5-4D7A-930E-9691B4165F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4953" y="2307628"/>
                <a:ext cx="1656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E0AEA90-7BBD-464E-A488-303005D5B158}"/>
                  </a:ext>
                </a:extLst>
              </p14:cNvPr>
              <p14:cNvContentPartPr/>
              <p14:nvPr/>
            </p14:nvContentPartPr>
            <p14:xfrm>
              <a:off x="2787033" y="3142468"/>
              <a:ext cx="360" cy="1771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E0AEA90-7BBD-464E-A488-303005D5B1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1393" y="3106468"/>
                <a:ext cx="720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B4E5AB0-ED73-46EE-BD77-798543F8DE61}"/>
                  </a:ext>
                </a:extLst>
              </p14:cNvPr>
              <p14:cNvContentPartPr/>
              <p14:nvPr/>
            </p14:nvContentPartPr>
            <p14:xfrm>
              <a:off x="2227953" y="2378908"/>
              <a:ext cx="106560" cy="101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B4E5AB0-ED73-46EE-BD77-798543F8DE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92313" y="2343268"/>
                <a:ext cx="178200" cy="17352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1BBC3888-4AEA-476E-9946-B793BB260D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7385" y="2009636"/>
            <a:ext cx="28860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3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00DD3-B800-468D-87C6-AC6626563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4D23B-DE44-4EA1-AEE7-D68EDC4F0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Calculate the perimeter: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35D057-644B-436C-A6C1-714B9D77AD49}"/>
              </a:ext>
            </a:extLst>
          </p:cNvPr>
          <p:cNvSpPr/>
          <p:nvPr/>
        </p:nvSpPr>
        <p:spPr>
          <a:xfrm>
            <a:off x="2894120" y="2599236"/>
            <a:ext cx="5015884" cy="3116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05882-197C-4AC4-A35C-BD6EBB1CA181}"/>
              </a:ext>
            </a:extLst>
          </p:cNvPr>
          <p:cNvSpPr txBox="1"/>
          <p:nvPr/>
        </p:nvSpPr>
        <p:spPr>
          <a:xfrm>
            <a:off x="5294615" y="5715298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20m</a:t>
            </a:r>
            <a:endParaRPr lang="en-A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5AC83-91BF-40FB-B698-CECA2811BC26}"/>
              </a:ext>
            </a:extLst>
          </p:cNvPr>
          <p:cNvSpPr txBox="1"/>
          <p:nvPr/>
        </p:nvSpPr>
        <p:spPr>
          <a:xfrm>
            <a:off x="2098090" y="4050932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12m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35200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8C17-D641-41FB-A521-18F522FB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4264A-ADF1-4A80-9F90-73204B045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Calculate the perimeter: 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536765-FEF0-4CC8-A7B3-7797E76AA87C}"/>
              </a:ext>
            </a:extLst>
          </p:cNvPr>
          <p:cNvSpPr/>
          <p:nvPr/>
        </p:nvSpPr>
        <p:spPr>
          <a:xfrm>
            <a:off x="4914242" y="2379215"/>
            <a:ext cx="3617199" cy="329931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F55D8-B9E2-49F1-8260-5A52F686EED2}"/>
              </a:ext>
            </a:extLst>
          </p:cNvPr>
          <p:cNvSpPr txBox="1"/>
          <p:nvPr/>
        </p:nvSpPr>
        <p:spPr>
          <a:xfrm>
            <a:off x="6426634" y="5696915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11cm</a:t>
            </a:r>
            <a:endParaRPr lang="en-A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1E2A2-6931-4E95-AD86-1EB1EA1CD85E}"/>
              </a:ext>
            </a:extLst>
          </p:cNvPr>
          <p:cNvSpPr txBox="1"/>
          <p:nvPr/>
        </p:nvSpPr>
        <p:spPr>
          <a:xfrm>
            <a:off x="7598485" y="3567209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12cm</a:t>
            </a:r>
            <a:endParaRPr lang="en-AU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BA6A8C7-8A75-410A-B8AE-DE1714716C61}"/>
                  </a:ext>
                </a:extLst>
              </p14:cNvPr>
              <p14:cNvContentPartPr/>
              <p14:nvPr/>
            </p14:nvContentPartPr>
            <p14:xfrm>
              <a:off x="7452633" y="3692548"/>
              <a:ext cx="155520" cy="134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BA6A8C7-8A75-410A-B8AE-DE1714716C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16633" y="3656908"/>
                <a:ext cx="2271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9E417C3-5AFC-4A94-B1EC-EDC7237DB097}"/>
                  </a:ext>
                </a:extLst>
              </p14:cNvPr>
              <p14:cNvContentPartPr/>
              <p14:nvPr/>
            </p14:nvContentPartPr>
            <p14:xfrm>
              <a:off x="5903553" y="3612988"/>
              <a:ext cx="239760" cy="115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9E417C3-5AFC-4A94-B1EC-EDC7237DB0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67553" y="3576988"/>
                <a:ext cx="311400" cy="18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0424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CF6E-8C92-4900-B5F7-572A0D9D8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2B225-5E81-40F8-A592-4815D49DF6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Calculate the Volume: </a:t>
                </a:r>
                <a:r>
                  <a:rPr lang="en-AU" dirty="0"/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2B225-5E81-40F8-A592-4815D49DF6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24AC44D-9D5F-4665-B33C-EDFBC27B1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626" y="2873082"/>
            <a:ext cx="376237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35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52AA-0239-4877-A72D-096B4E4B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TPS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325CC-A420-43F0-A4D7-28A61ADB6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Compare: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100g of Vegemite costs $2.40. </a:t>
            </a:r>
          </a:p>
          <a:p>
            <a:pPr marL="0" indent="0">
              <a:buNone/>
            </a:pPr>
            <a:r>
              <a:rPr lang="en-US" dirty="0"/>
              <a:t>600g of Vegemite costs $15. </a:t>
            </a:r>
          </a:p>
          <a:p>
            <a:pPr marL="0" indent="0">
              <a:buNone/>
            </a:pPr>
            <a:r>
              <a:rPr lang="en-US" dirty="0"/>
              <a:t>Which is cheaper and by how much?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7349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52AA-0239-4877-A72D-096B4E4B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325CC-A420-43F0-A4D7-28A61ADB6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Compare: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100g of cheese costs $1.55 </a:t>
            </a:r>
          </a:p>
          <a:p>
            <a:pPr marL="0" indent="0">
              <a:buNone/>
            </a:pPr>
            <a:r>
              <a:rPr lang="en-US" dirty="0"/>
              <a:t>400g of cheese costs $6</a:t>
            </a:r>
          </a:p>
          <a:p>
            <a:pPr marL="0" indent="0">
              <a:buNone/>
            </a:pPr>
            <a:r>
              <a:rPr lang="en-US" dirty="0"/>
              <a:t>Which is cheaper and by how much?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8740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908FC-EBA8-4F7D-8BDC-7EAF843D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Unitary method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B9F949-969D-4A19-83DB-77A471F61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are the steps?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742950" indent="-742950">
                  <a:buAutoNum type="arabicPeriod"/>
                </a:pPr>
                <a:r>
                  <a:rPr lang="en-US" b="1" dirty="0">
                    <a:solidFill>
                      <a:srgbClr val="00B0F0"/>
                    </a:solidFill>
                  </a:rPr>
                  <a:t>Find and write the groups (__ and Q_______)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_____</m:t>
                    </m:r>
                    <m:r>
                      <a:rPr lang="en-US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___________</m:t>
                    </m:r>
                    <m:r>
                      <a:rPr lang="en-US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b="1" dirty="0">
                    <a:solidFill>
                      <a:srgbClr val="00B0F0"/>
                    </a:solidFill>
                  </a:rPr>
                  <a:t>Answer as a ____________ per unit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What is the unit cost for a 240g bag of chips that cost $1.50? 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B9F949-969D-4A19-83DB-77A471F61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3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7A920-876E-4949-AB1E-81A07AA4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C2362-AFD6-4128-A4A5-CBB59AE73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is better value?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Option 1: 450g of cat food for $9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Option 2: 740g of cat food for $13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60906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3A0266-05FC-45AD-8CB2-D891607D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A9E3AF-4F11-4B28-A802-EA7AF7DE2B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Chips 400g for $5.60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3A0DD-4ACA-4786-8D44-99F0A1D8A9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Chips 850g for $11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7D3C31-EADC-45A2-B877-DC4A63216644}"/>
                  </a:ext>
                </a:extLst>
              </p:cNvPr>
              <p:cNvSpPr txBox="1"/>
              <p:nvPr/>
            </p:nvSpPr>
            <p:spPr>
              <a:xfrm>
                <a:off x="8185212" y="159798"/>
                <a:ext cx="363096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1800" dirty="0">
                    <a:solidFill>
                      <a:srgbClr val="00B0F0"/>
                    </a:solidFill>
                  </a:rPr>
                  <a:t>Find unit price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𝑞𝑢𝑎𝑛𝑡𝑖𝑡𝑦</m:t>
                    </m:r>
                    <m:r>
                      <a:rPr 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0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 of each </a:t>
                </a:r>
              </a:p>
              <a:p>
                <a:pPr marL="514350" indent="-514350">
                  <a:buAutoNum type="arabicPeriod"/>
                </a:pPr>
                <a:r>
                  <a:rPr lang="en-US" sz="1800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Compare (smallest number is best buy) </a:t>
                </a:r>
                <a:endParaRPr lang="en-US" sz="1800" b="0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7D3C31-EADC-45A2-B877-DC4A63216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212" y="159798"/>
                <a:ext cx="3630967" cy="1477328"/>
              </a:xfrm>
              <a:prstGeom prst="rect">
                <a:avLst/>
              </a:prstGeom>
              <a:blipFill>
                <a:blip r:embed="rId2"/>
                <a:stretch>
                  <a:fillRect l="-1513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529E7A-6EB8-C8E1-D6C8-5D75F69FF4DA}"/>
                  </a:ext>
                </a:extLst>
              </p:cNvPr>
              <p:cNvSpPr txBox="1"/>
              <p:nvPr/>
            </p:nvSpPr>
            <p:spPr>
              <a:xfrm>
                <a:off x="1455938" y="2565647"/>
                <a:ext cx="371974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.60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÷400=0.014</m:t>
                      </m:r>
                    </m:oMath>
                  </m:oMathPara>
                </a14:m>
                <a:endParaRPr lang="en-US" sz="24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=$0.014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𝑔𝑟𝑎𝑚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529E7A-6EB8-C8E1-D6C8-5D75F69FF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938" y="2565647"/>
                <a:ext cx="3719744" cy="830997"/>
              </a:xfrm>
              <a:prstGeom prst="rect">
                <a:avLst/>
              </a:prstGeom>
              <a:blipFill>
                <a:blip r:embed="rId3"/>
                <a:stretch>
                  <a:fillRect b="-51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929D4D-E6C8-05C6-8345-5080300C8796}"/>
                  </a:ext>
                </a:extLst>
              </p:cNvPr>
              <p:cNvSpPr txBox="1"/>
              <p:nvPr/>
            </p:nvSpPr>
            <p:spPr>
              <a:xfrm>
                <a:off x="7016318" y="2598003"/>
                <a:ext cx="371974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11÷850=0.0129</m:t>
                      </m:r>
                    </m:oMath>
                  </m:oMathPara>
                </a14:m>
                <a:endParaRPr lang="en-US" sz="24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=$0.0129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𝑔𝑟𝑎𝑚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929D4D-E6C8-05C6-8345-5080300C8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318" y="2598003"/>
                <a:ext cx="3719744" cy="830997"/>
              </a:xfrm>
              <a:prstGeom prst="rect">
                <a:avLst/>
              </a:prstGeom>
              <a:blipFill>
                <a:blip r:embed="rId4"/>
                <a:stretch>
                  <a:fillRect b="-51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9B03DD-CE34-427F-83BA-0E838AB81EC5}"/>
                  </a:ext>
                </a:extLst>
              </p:cNvPr>
              <p:cNvSpPr txBox="1"/>
              <p:nvPr/>
            </p:nvSpPr>
            <p:spPr>
              <a:xfrm>
                <a:off x="4031942" y="4136666"/>
                <a:ext cx="37197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850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𝑐h𝑖𝑝𝑠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𝑏𝑒𝑡𝑡𝑒𝑟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9B03DD-CE34-427F-83BA-0E838AB81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942" y="4136666"/>
                <a:ext cx="3719744" cy="461665"/>
              </a:xfrm>
              <a:prstGeom prst="rect">
                <a:avLst/>
              </a:prstGeom>
              <a:blipFill>
                <a:blip r:embed="rId5"/>
                <a:stretch>
                  <a:fillRect l="-7365" r="-1637" b="-1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45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uild="p"/>
      <p:bldP spid="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3A0266-05FC-45AD-8CB2-D891607D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A9E3AF-4F11-4B28-A802-EA7AF7DE2B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Chocolate 120g for $3.40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3A0DD-4ACA-4786-8D44-99F0A1D8A9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Chocolate 780g for $19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7D3C31-EADC-45A2-B877-DC4A63216644}"/>
                  </a:ext>
                </a:extLst>
              </p:cNvPr>
              <p:cNvSpPr txBox="1"/>
              <p:nvPr/>
            </p:nvSpPr>
            <p:spPr>
              <a:xfrm>
                <a:off x="8185212" y="159798"/>
                <a:ext cx="363096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1800" dirty="0">
                    <a:solidFill>
                      <a:srgbClr val="00B0F0"/>
                    </a:solidFill>
                  </a:rPr>
                  <a:t>Find unit price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𝑞𝑢𝑎𝑛𝑡𝑖𝑡𝑦</m:t>
                    </m:r>
                    <m:r>
                      <a:rPr 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0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 of each </a:t>
                </a:r>
              </a:p>
              <a:p>
                <a:pPr marL="514350" indent="-514350">
                  <a:buAutoNum type="arabicPeriod"/>
                </a:pPr>
                <a:r>
                  <a:rPr lang="en-US" sz="1800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Compare (smallest number is best buy) </a:t>
                </a:r>
                <a:endParaRPr lang="en-US" sz="1800" b="0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7D3C31-EADC-45A2-B877-DC4A63216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212" y="159798"/>
                <a:ext cx="3630967" cy="1477328"/>
              </a:xfrm>
              <a:prstGeom prst="rect">
                <a:avLst/>
              </a:prstGeom>
              <a:blipFill>
                <a:blip r:embed="rId2"/>
                <a:stretch>
                  <a:fillRect l="-1513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D7A0E9-BCFB-7E2E-66F2-50A10FC2FCA3}"/>
                  </a:ext>
                </a:extLst>
              </p:cNvPr>
              <p:cNvSpPr txBox="1"/>
              <p:nvPr/>
            </p:nvSpPr>
            <p:spPr>
              <a:xfrm>
                <a:off x="1455938" y="2565647"/>
                <a:ext cx="371974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3.40 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÷120=0.0283</m:t>
                      </m:r>
                    </m:oMath>
                  </m:oMathPara>
                </a14:m>
                <a:endParaRPr lang="en-US" sz="24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=$0.0283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𝑔𝑟𝑎𝑚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D7A0E9-BCFB-7E2E-66F2-50A10FC2F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938" y="2565647"/>
                <a:ext cx="3719744" cy="830997"/>
              </a:xfrm>
              <a:prstGeom prst="rect">
                <a:avLst/>
              </a:prstGeom>
              <a:blipFill>
                <a:blip r:embed="rId3"/>
                <a:stretch>
                  <a:fillRect b="-51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B46FC2-9890-0889-35D4-7D520CFBEE63}"/>
                  </a:ext>
                </a:extLst>
              </p:cNvPr>
              <p:cNvSpPr txBox="1"/>
              <p:nvPr/>
            </p:nvSpPr>
            <p:spPr>
              <a:xfrm>
                <a:off x="7016318" y="2598003"/>
                <a:ext cx="371974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19÷780=0.0243</m:t>
                      </m:r>
                    </m:oMath>
                  </m:oMathPara>
                </a14:m>
                <a:endParaRPr lang="en-US" sz="24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=$0.0243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𝑔𝑟𝑎𝑚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B46FC2-9890-0889-35D4-7D520CFBE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318" y="2598003"/>
                <a:ext cx="3719744" cy="830997"/>
              </a:xfrm>
              <a:prstGeom prst="rect">
                <a:avLst/>
              </a:prstGeom>
              <a:blipFill>
                <a:blip r:embed="rId4"/>
                <a:stretch>
                  <a:fillRect b="-51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84B105-82F2-8281-74F2-7142E73EF6CE}"/>
                  </a:ext>
                </a:extLst>
              </p:cNvPr>
              <p:cNvSpPr txBox="1"/>
              <p:nvPr/>
            </p:nvSpPr>
            <p:spPr>
              <a:xfrm>
                <a:off x="4031942" y="4136666"/>
                <a:ext cx="37197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780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𝑐h𝑜𝑐𝑜𝑙𝑎𝑡𝑒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𝑏𝑒𝑡𝑡𝑒𝑟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84B105-82F2-8281-74F2-7142E73EF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942" y="4136666"/>
                <a:ext cx="3719744" cy="461665"/>
              </a:xfrm>
              <a:prstGeom prst="rect">
                <a:avLst/>
              </a:prstGeom>
              <a:blipFill>
                <a:blip r:embed="rId5"/>
                <a:stretch>
                  <a:fillRect l="-12111" r="-6710" b="-17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89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  <p:bldP spid="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3A8D-D373-4D4C-AF68-6B1AFE6A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Probability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81833-A277-45DF-A2CE-33E78A2F8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Theoretical </a:t>
            </a:r>
          </a:p>
          <a:p>
            <a:pPr>
              <a:buFontTx/>
              <a:buChar char="-"/>
            </a:pPr>
            <a:r>
              <a:rPr lang="en-US" sz="2400" dirty="0"/>
              <a:t>What we </a:t>
            </a:r>
            <a:r>
              <a:rPr lang="en-US" sz="2400" i="1" dirty="0"/>
              <a:t>think</a:t>
            </a:r>
            <a:r>
              <a:rPr lang="en-US" sz="2400" dirty="0"/>
              <a:t> should happen </a:t>
            </a:r>
          </a:p>
          <a:p>
            <a:pPr>
              <a:buFontTx/>
              <a:buChar char="-"/>
            </a:pPr>
            <a:endParaRPr lang="en-US" sz="2400" dirty="0"/>
          </a:p>
          <a:p>
            <a:pPr marL="0" indent="0">
              <a:buNone/>
            </a:pPr>
            <a:r>
              <a:rPr lang="en-US" sz="4000" dirty="0"/>
              <a:t>Experimental </a:t>
            </a:r>
          </a:p>
          <a:p>
            <a:pPr marL="0" indent="0">
              <a:buNone/>
            </a:pPr>
            <a:r>
              <a:rPr lang="en-US" sz="2400" dirty="0"/>
              <a:t>- What </a:t>
            </a:r>
            <a:r>
              <a:rPr lang="en-US" sz="2400" i="1" dirty="0"/>
              <a:t>actually</a:t>
            </a:r>
            <a:r>
              <a:rPr lang="en-US" sz="2400" dirty="0"/>
              <a:t> happens after an experiment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522878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64E7A-8D42-403E-9FD7-3E064A81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8E9E8-4F4B-432D-98EF-88D4885A5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John flipped a coin 100 times. These are his results: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Using these numbers, what is the probability that the next coin flip will be heads?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was the theoretical probability? – how many would we expect?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DEC1084-04B3-43B6-952E-27272087C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79309"/>
              </p:ext>
            </p:extLst>
          </p:nvPr>
        </p:nvGraphicFramePr>
        <p:xfrm>
          <a:off x="2032000" y="2939083"/>
          <a:ext cx="812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662224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170701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199578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86111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HEADS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TAILS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TOTAL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221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57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100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31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2691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80A2-C6DE-4061-A91F-566E1D2AC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Draw a table: whiteboards and pair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1960C-12AC-45C8-B117-A5849FEAF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We are rolling a normal 6-sided die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Roll the die 36 times and tally your results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D91B42-8CDB-4B07-86D3-8FDFFE1AF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725847"/>
              </p:ext>
            </p:extLst>
          </p:nvPr>
        </p:nvGraphicFramePr>
        <p:xfrm>
          <a:off x="1634476" y="2512954"/>
          <a:ext cx="8923047" cy="2774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721">
                  <a:extLst>
                    <a:ext uri="{9D8B030D-6E8A-4147-A177-3AD203B41FA5}">
                      <a16:colId xmlns:a16="http://schemas.microsoft.com/office/drawing/2014/main" val="30112710"/>
                    </a:ext>
                  </a:extLst>
                </a:gridCol>
                <a:gridCol w="1227797">
                  <a:extLst>
                    <a:ext uri="{9D8B030D-6E8A-4147-A177-3AD203B41FA5}">
                      <a16:colId xmlns:a16="http://schemas.microsoft.com/office/drawing/2014/main" val="179171096"/>
                    </a:ext>
                  </a:extLst>
                </a:gridCol>
                <a:gridCol w="1321645">
                  <a:extLst>
                    <a:ext uri="{9D8B030D-6E8A-4147-A177-3AD203B41FA5}">
                      <a16:colId xmlns:a16="http://schemas.microsoft.com/office/drawing/2014/main" val="1788185388"/>
                    </a:ext>
                  </a:extLst>
                </a:gridCol>
                <a:gridCol w="1274721">
                  <a:extLst>
                    <a:ext uri="{9D8B030D-6E8A-4147-A177-3AD203B41FA5}">
                      <a16:colId xmlns:a16="http://schemas.microsoft.com/office/drawing/2014/main" val="966022787"/>
                    </a:ext>
                  </a:extLst>
                </a:gridCol>
                <a:gridCol w="1274721">
                  <a:extLst>
                    <a:ext uri="{9D8B030D-6E8A-4147-A177-3AD203B41FA5}">
                      <a16:colId xmlns:a16="http://schemas.microsoft.com/office/drawing/2014/main" val="1324711979"/>
                    </a:ext>
                  </a:extLst>
                </a:gridCol>
                <a:gridCol w="1274721">
                  <a:extLst>
                    <a:ext uri="{9D8B030D-6E8A-4147-A177-3AD203B41FA5}">
                      <a16:colId xmlns:a16="http://schemas.microsoft.com/office/drawing/2014/main" val="145341180"/>
                    </a:ext>
                  </a:extLst>
                </a:gridCol>
                <a:gridCol w="1274721">
                  <a:extLst>
                    <a:ext uri="{9D8B030D-6E8A-4147-A177-3AD203B41FA5}">
                      <a16:colId xmlns:a16="http://schemas.microsoft.com/office/drawing/2014/main" val="97595565"/>
                    </a:ext>
                  </a:extLst>
                </a:gridCol>
              </a:tblGrid>
              <a:tr h="804717"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5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933057"/>
                  </a:ext>
                </a:extLst>
              </a:tr>
              <a:tr h="116555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Tally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917323"/>
                  </a:ext>
                </a:extLst>
              </a:tr>
              <a:tr h="80471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Total 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313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827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98F31-856C-4261-A098-0802169F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Observations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3D04B-C755-4AF0-A117-4913259B2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If we did the same experiment, would be get the same results? Why?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What is your experimental probability of getting a 4? 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What do we notice when we compare theoretical with experimental?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4751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260D-47AD-4754-954F-8EE91C7D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task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E67B4-9A4E-442E-9612-1D60DDBF8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Compete the unitary task sheet.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81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460</Words>
  <Application>Microsoft Office PowerPoint</Application>
  <PresentationFormat>Widescreen</PresentationFormat>
  <Paragraphs>136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Perimeter and volume </vt:lpstr>
      <vt:lpstr>I do </vt:lpstr>
      <vt:lpstr>We do </vt:lpstr>
      <vt:lpstr>Whiteboards </vt:lpstr>
      <vt:lpstr>Whiteboards </vt:lpstr>
      <vt:lpstr>Whiteboards </vt:lpstr>
      <vt:lpstr>TPS</vt:lpstr>
      <vt:lpstr>Whiteboards </vt:lpstr>
      <vt:lpstr>Unitary method </vt:lpstr>
      <vt:lpstr>Whiteboards </vt:lpstr>
      <vt:lpstr>Compare </vt:lpstr>
      <vt:lpstr>Compare </vt:lpstr>
      <vt:lpstr>Probability </vt:lpstr>
      <vt:lpstr>Example </vt:lpstr>
      <vt:lpstr>Draw a table: whiteboards and pair</vt:lpstr>
      <vt:lpstr>Observations </vt:lpstr>
      <vt:lpstr>Individual task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7</cp:revision>
  <dcterms:created xsi:type="dcterms:W3CDTF">2022-05-26T23:44:33Z</dcterms:created>
  <dcterms:modified xsi:type="dcterms:W3CDTF">2023-05-29T08:25:30Z</dcterms:modified>
</cp:coreProperties>
</file>
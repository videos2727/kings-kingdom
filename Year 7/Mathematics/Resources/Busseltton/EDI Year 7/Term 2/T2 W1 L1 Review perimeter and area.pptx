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31" r:id="rId3"/>
    <p:sldId id="285" r:id="rId4"/>
    <p:sldId id="259" r:id="rId5"/>
    <p:sldId id="279" r:id="rId6"/>
    <p:sldId id="280" r:id="rId7"/>
    <p:sldId id="281" r:id="rId8"/>
    <p:sldId id="262" r:id="rId9"/>
    <p:sldId id="320" r:id="rId10"/>
    <p:sldId id="330" r:id="rId11"/>
    <p:sldId id="321" r:id="rId12"/>
    <p:sldId id="323" r:id="rId13"/>
    <p:sldId id="326" r:id="rId14"/>
    <p:sldId id="327" r:id="rId15"/>
    <p:sldId id="328" r:id="rId16"/>
    <p:sldId id="329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03E7-93A3-953E-52FB-55638969C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87DBB-D7B8-B314-7308-0FBD60DF3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709A3-CF9A-1236-3A92-632D437B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67966-EEF0-9BDF-CBBF-73B47AF5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CC49-0ACE-A02A-85B0-FC6E3340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69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65E4-91B7-A58F-27E8-185A4D61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5C5EF-F7CF-D1FC-11C4-A1809FAD7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5EFAC-8D7D-FA4F-7309-2F009903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1054-455E-C4C2-A98F-5674B37F1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64CD-EEB6-23BA-C0B2-8516A4D8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774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8E38-91E2-75D7-05AB-3FE454AD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F6C17-51F5-2B39-B4BF-1308D4573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2D88-68FA-C9CA-38D6-3AFADE70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25EDC-EA5A-2079-B9AA-BAC4A8AC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401A-71A1-4CF6-F5FC-04EFACFE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78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820A-C7FB-1027-968C-CC1E17A5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B3C4-A2A1-1FC9-4332-CA70853E0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AD0AD-F53A-40F9-5AA1-8B542223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8083A-4A6E-7A7A-E068-43C33F7F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00B78-453C-0A10-985E-D2EA3607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407E9-F34E-6C2F-BEAD-F1D20C95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62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5AF1-2D03-5771-4861-37AFE13D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3BA83-9662-AD64-3482-2F6635173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0D95-495E-08A7-7CA7-F2F07B9D2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AB251-104F-5CEE-F791-884461548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E820C-55F7-484D-34C6-716CA0A47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D4BD1-EDCF-D60E-12D3-87C9FAD6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DAE44-6289-3F8C-287D-FB287723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F2603-251F-11EA-3AB4-6B9DE484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10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CBF3-C35E-51A4-A795-92FC55F0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308B3-9636-BB64-835A-33D44B94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42305-4F7D-ECA6-F569-045D3321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8C655-C51F-50F2-BD2F-23A0CC34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38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D8FB4-E8B7-A0AB-94C8-0CF44881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C4936-DB9F-8150-866A-456396C98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8981B-F7D1-2F6A-51FF-FF5A4AF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34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173E-C899-3D93-31A8-E2709E05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8A80-6F21-7AC3-F2E5-5649D7DC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6B778-E165-3E0F-839E-185AF1969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CFBD2-501E-0069-1293-7EFB898D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624F6-8D16-C397-8925-9DDF8402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6A9E1-407D-2DD8-E73A-9986D587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7651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D41B-C60C-0E86-E434-3A75CDD2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7BC7C-CF49-7E2D-0843-1E3CEC2C5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D9393-CA23-3A26-17F7-3E901AB6F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6BF1A-70F5-8CFB-2018-12B28F06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C7106-179F-2B77-2C64-C1CE1783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D9760-F789-86FF-AF3C-86B231E7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272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47FA-C9B3-D7AA-357D-384B5A09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C63F7-6CBB-CB59-6686-3C388C541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67221-5203-D4E0-A193-157D6139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5822D-4ED9-BEAD-599A-46AB8BD3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D11E-7DBC-76DC-9AB9-D8637B53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6C5CB-7EA8-4FD0-D2D0-5F283E29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8C544-DF70-6A44-F37B-B7E961F0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FADB6-45D2-6E26-EAD7-8DD48A8D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41A-9FC5-FE23-53AE-1E505F3A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69755-9AC1-7578-55DF-F014D328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44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9103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2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94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9168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0233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6295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015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4701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396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4711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940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1147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2125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027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752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86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A519C-5DA5-72A9-7385-C83BC03F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E7AAB-AB35-9881-C114-C4B09E31B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E8A2-6939-3B43-B85F-B575B4DA9A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F1E51-4C82-4BD9-823D-B672818E74F8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1AA1-07AB-EA46-23AD-E19001604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EBB9F-1553-2924-B244-44697C7C2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3398C-59E6-4808-86F5-342193023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232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25/04/2023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091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0BAFD-3DF8-4B91-8811-4A149C06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1D2B94-452F-494C-A8B2-0F149E35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59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b="1" dirty="0">
                <a:solidFill>
                  <a:srgbClr val="00B0F0"/>
                </a:solidFill>
              </a:rPr>
              <a:t>Area of basic shapes </a:t>
            </a:r>
          </a:p>
          <a:p>
            <a:pPr marL="0" indent="0">
              <a:buNone/>
            </a:pPr>
            <a:endParaRPr lang="en-AU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B0F0"/>
                </a:solidFill>
              </a:rPr>
              <a:t> Convert units of measurement using written strategies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B0F0"/>
                </a:solidFill>
              </a:rPr>
              <a:t> Substitute into formula to calculate area of triangles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Converting </a:t>
            </a:r>
          </a:p>
          <a:p>
            <a:pPr>
              <a:buFontTx/>
              <a:buChar char="-"/>
            </a:pPr>
            <a:r>
              <a:rPr lang="en-AU" b="1" dirty="0">
                <a:solidFill>
                  <a:srgbClr val="00B0F0"/>
                </a:solidFill>
              </a:rPr>
              <a:t>Exploring formula </a:t>
            </a:r>
          </a:p>
          <a:p>
            <a:pPr>
              <a:buFontTx/>
              <a:buChar char="-"/>
            </a:pPr>
            <a:endParaRPr lang="en-AU" dirty="0">
              <a:solidFill>
                <a:schemeClr val="accent1"/>
              </a:solidFill>
            </a:endParaRPr>
          </a:p>
          <a:p>
            <a:pPr algn="ctr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794BA-F248-43D3-922A-4463B0A3FB43}"/>
              </a:ext>
            </a:extLst>
          </p:cNvPr>
          <p:cNvSpPr txBox="1"/>
          <p:nvPr/>
        </p:nvSpPr>
        <p:spPr>
          <a:xfrm>
            <a:off x="7963270" y="4847208"/>
            <a:ext cx="2228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 and calculators.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0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90E25-EA01-47D3-9AC8-2B2B4418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length units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7F666-7FA5-4B8D-94D5-BAB4E7204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4" y="1690688"/>
            <a:ext cx="4856363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many zeros you got?</a:t>
            </a:r>
          </a:p>
          <a:p>
            <a:pPr marL="0" indent="0">
              <a:buNone/>
            </a:pPr>
            <a:r>
              <a:rPr lang="en-US" dirty="0"/>
              <a:t>Move that spot!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4m </a:t>
            </a:r>
            <a:r>
              <a:rPr lang="en-US" dirty="0">
                <a:sym typeface="Wingdings" panose="05000000000000000000" pitchFamily="2" charset="2"/>
              </a:rPr>
              <a:t>= _______cm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3000m = _______ km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5m = _________mm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 1 000 000mm = _______ km</a:t>
            </a:r>
            <a:endParaRPr lang="en-AU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168CF3-079D-4C6E-A8B2-B540844B1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30" y="1585913"/>
            <a:ext cx="6479494" cy="2574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79B5E0-AF28-44BE-8A78-BA28C9CBD240}"/>
              </a:ext>
            </a:extLst>
          </p:cNvPr>
          <p:cNvSpPr txBox="1"/>
          <p:nvPr/>
        </p:nvSpPr>
        <p:spPr>
          <a:xfrm>
            <a:off x="257175" y="365125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Reteach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433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36EF82-6F60-47C9-BDEC-985F0F79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Converting units WITHOUT a calculator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683AB5-ECFE-4A33-B4EE-9119D971D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Multiplication (big unit to small)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34B7CB-613B-4D35-A443-5946F7338B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1km </a:t>
            </a:r>
            <a:r>
              <a:rPr lang="en-AU" dirty="0">
                <a:sym typeface="Wingdings" panose="05000000000000000000" pitchFamily="2" charset="2"/>
              </a:rPr>
              <a:t>(x 1000) = 1000m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4m (x 100) = 400cm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8cm (x 10) = 80mm 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42F989-59A8-47F0-B966-FBBD1504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Division (small unit to big)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7B646A-2BDA-4871-A44D-7984AF640A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2000m (÷ 1000) = 2km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300cm (÷ 100) = 3m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40mm (÷ 10) = 4cm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FBCA6-A9D5-4BAC-9088-6D7D1801101F}"/>
              </a:ext>
            </a:extLst>
          </p:cNvPr>
          <p:cNvSpPr txBox="1"/>
          <p:nvPr/>
        </p:nvSpPr>
        <p:spPr>
          <a:xfrm>
            <a:off x="1417889" y="5668933"/>
            <a:ext cx="9934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Notice the decimal point changes position with every zero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B961E-63EE-4C21-8742-595E41CEF292}"/>
              </a:ext>
            </a:extLst>
          </p:cNvPr>
          <p:cNvSpPr/>
          <p:nvPr/>
        </p:nvSpPr>
        <p:spPr>
          <a:xfrm>
            <a:off x="3124940" y="2505074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91370-90B7-4646-8DCF-0BD8049BDF19}"/>
              </a:ext>
            </a:extLst>
          </p:cNvPr>
          <p:cNvSpPr/>
          <p:nvPr/>
        </p:nvSpPr>
        <p:spPr>
          <a:xfrm>
            <a:off x="2771313" y="3441617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CA8039-8768-400F-BDAB-39211961DC9F}"/>
              </a:ext>
            </a:extLst>
          </p:cNvPr>
          <p:cNvSpPr/>
          <p:nvPr/>
        </p:nvSpPr>
        <p:spPr>
          <a:xfrm>
            <a:off x="2771313" y="4506830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08629-1431-4B51-8F06-CF58B7E9CD50}"/>
              </a:ext>
            </a:extLst>
          </p:cNvPr>
          <p:cNvSpPr/>
          <p:nvPr/>
        </p:nvSpPr>
        <p:spPr>
          <a:xfrm>
            <a:off x="8914660" y="2505074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A118E2-5238-413F-9090-1C58CADB9CE8}"/>
              </a:ext>
            </a:extLst>
          </p:cNvPr>
          <p:cNvSpPr/>
          <p:nvPr/>
        </p:nvSpPr>
        <p:spPr>
          <a:xfrm>
            <a:off x="8648330" y="3500854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2D58F-EE80-4788-B086-879B5AD4E21D}"/>
              </a:ext>
            </a:extLst>
          </p:cNvPr>
          <p:cNvSpPr/>
          <p:nvPr/>
        </p:nvSpPr>
        <p:spPr>
          <a:xfrm>
            <a:off x="8390877" y="4541040"/>
            <a:ext cx="1047565" cy="501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70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F6A7-BFFE-4CCD-BAE5-B8CBCA2E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Converting units (</a:t>
            </a:r>
            <a:r>
              <a:rPr lang="en-AU" b="1" i="1" u="sng" dirty="0"/>
              <a:t>look at your notes</a:t>
            </a:r>
            <a:r>
              <a:rPr lang="en-AU" dirty="0"/>
              <a:t>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F38E06-9471-48AB-B7CA-211EEF769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When we divide or multiply by 10, 100 or 1000 we can use this trick to make it easy.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We simply move the decimal point a place value for every zero….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But what does that mean?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Change 8cm to mm</a:t>
            </a:r>
          </a:p>
          <a:p>
            <a:pPr marL="0" indent="0">
              <a:buNone/>
            </a:pPr>
            <a:r>
              <a:rPr lang="en-AU" dirty="0"/>
              <a:t>E.g. Change 1345m to km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77817-49E3-453D-9C0A-80EE834DE34A}"/>
              </a:ext>
            </a:extLst>
          </p:cNvPr>
          <p:cNvSpPr txBox="1"/>
          <p:nvPr/>
        </p:nvSpPr>
        <p:spPr>
          <a:xfrm>
            <a:off x="5646198" y="4589755"/>
            <a:ext cx="6024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Step 1: identify if its divide or multiply </a:t>
            </a:r>
          </a:p>
          <a:p>
            <a:r>
              <a:rPr lang="en-AU" sz="2400" dirty="0"/>
              <a:t>Step 2: identify by how much (10, 100 or 1000)</a:t>
            </a:r>
          </a:p>
          <a:p>
            <a:r>
              <a:rPr lang="en-AU" sz="2400" dirty="0"/>
              <a:t>Step 3: move the decimal (left or right) </a:t>
            </a:r>
          </a:p>
        </p:txBody>
      </p:sp>
    </p:spTree>
    <p:extLst>
      <p:ext uri="{BB962C8B-B14F-4D97-AF65-F5344CB8AC3E}">
        <p14:creationId xmlns:p14="http://schemas.microsoft.com/office/powerpoint/2010/main" val="2517575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27D14E-F60A-4527-AF6D-01FB6E7A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Converting measurements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C4165-4E28-48A0-B0E9-31F9E8D06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I do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47D3C-737F-406E-BA3C-3799FB75CF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125cm to m: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43cm to mm: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8cm to mm: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800mm to cm: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7AE077-7792-4FA9-B3D9-E9CB360D5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You do (whiteboards)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DE5D0E-8DAD-4339-8F8C-951AE34B14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3m to cm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90mm to cm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1350m to km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85mm to cm </a:t>
            </a:r>
          </a:p>
        </p:txBody>
      </p:sp>
    </p:spTree>
    <p:extLst>
      <p:ext uri="{BB962C8B-B14F-4D97-AF65-F5344CB8AC3E}">
        <p14:creationId xmlns:p14="http://schemas.microsoft.com/office/powerpoint/2010/main" val="359864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3BBCD0-4D41-4C2F-940F-8F548E1C2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Area: start with formulas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BF793EC-5388-4F1B-A331-F25A40BA97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AU" b="1" u="sng" dirty="0">
                    <a:solidFill>
                      <a:srgbClr val="FF0000"/>
                    </a:solidFill>
                  </a:rPr>
                  <a:t>Copy these formulas into your exercise book:</a:t>
                </a:r>
              </a:p>
              <a:p>
                <a:pPr marL="0" indent="0" algn="ctr">
                  <a:buNone/>
                </a:pPr>
                <a:endParaRPr lang="en-AU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AU" b="1" dirty="0">
                    <a:solidFill>
                      <a:srgbClr val="00B0F0"/>
                    </a:solidFill>
                  </a:rPr>
                  <a:t>A = Area</a:t>
                </a:r>
              </a:p>
              <a:p>
                <a:pPr marL="0" indent="0" algn="ctr">
                  <a:buNone/>
                </a:pPr>
                <a:endParaRPr lang="en-AU" b="1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:r>
                  <a:rPr lang="en-AU" b="1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𝒓𝒆𝒄𝒕𝒂𝒏𝒈𝒍𝒆</m:t>
                        </m:r>
                      </m:sub>
                    </m:sSub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𝒍𝒆𝒏𝒈𝒕𝒉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𝒘𝒊𝒅𝒕𝒉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1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:endParaRPr lang="en-AU" b="1" dirty="0">
                  <a:solidFill>
                    <a:srgbClr val="00B0F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𝑻𝒓𝒊𝒂𝒏𝒈𝒍𝒆</m:t>
                          </m:r>
                        </m:sub>
                      </m:sSub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𝒃𝒂𝒔𝒆</m:t>
                      </m:r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AU" b="1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𝒑𝒂𝒓𝒐𝒍𝒍𝒆𝒍𝒐𝒈𝒓𝒂𝒎</m:t>
                        </m:r>
                      </m:sub>
                    </m:sSub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𝒃𝒂𝒔𝒆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𝒉𝒆𝒊𝒈𝒉𝒕</m:t>
                    </m:r>
                  </m:oMath>
                </a14:m>
                <a:endParaRPr lang="en-AU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BF793EC-5388-4F1B-A331-F25A40BA97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712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F5F5-4EF1-4DAC-B57C-D3A3AA17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perimeter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AA3E-2A64-4A7C-A4E4-04908429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length forming the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boundary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boundary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________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What is the line forming a boundary of a shape called?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92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F5A0-8710-4A97-A15B-8ADEBE65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 of triangles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27D3-A740-4D17-92DE-2CF96B22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581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Area is the total space within the perimeter.</a:t>
            </a:r>
            <a:endParaRPr lang="en-AU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D9CA3-B220-4366-83D8-C5D4817195C1}"/>
              </a:ext>
            </a:extLst>
          </p:cNvPr>
          <p:cNvSpPr txBox="1"/>
          <p:nvPr/>
        </p:nvSpPr>
        <p:spPr>
          <a:xfrm>
            <a:off x="6557168" y="3288090"/>
            <a:ext cx="2324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04DC2F9-5FE9-494D-BA46-D6341C8B1A54}"/>
              </a:ext>
            </a:extLst>
          </p:cNvPr>
          <p:cNvSpPr/>
          <p:nvPr/>
        </p:nvSpPr>
        <p:spPr>
          <a:xfrm>
            <a:off x="2828925" y="3600450"/>
            <a:ext cx="3038475" cy="2514600"/>
          </a:xfrm>
          <a:prstGeom prst="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7E572F-84D5-4B14-8C22-44F7B6F24ABE}"/>
              </a:ext>
            </a:extLst>
          </p:cNvPr>
          <p:cNvCxnSpPr>
            <a:stCxn id="5" idx="3"/>
          </p:cNvCxnSpPr>
          <p:nvPr/>
        </p:nvCxnSpPr>
        <p:spPr>
          <a:xfrm flipH="1" flipV="1">
            <a:off x="4348162" y="3743325"/>
            <a:ext cx="1" cy="2371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CDFFD2-168B-4ECC-B400-FD0DA4E28616}"/>
              </a:ext>
            </a:extLst>
          </p:cNvPr>
          <p:cNvSpPr txBox="1"/>
          <p:nvPr/>
        </p:nvSpPr>
        <p:spPr>
          <a:xfrm>
            <a:off x="3871118" y="6233890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12cm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C83E1-E11A-4D59-A86D-5FA478291204}"/>
              </a:ext>
            </a:extLst>
          </p:cNvPr>
          <p:cNvSpPr txBox="1"/>
          <p:nvPr/>
        </p:nvSpPr>
        <p:spPr>
          <a:xfrm>
            <a:off x="3518693" y="4857750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8cm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2716D-7115-4B94-8282-568BBA671973}"/>
                  </a:ext>
                </a:extLst>
              </p:cNvPr>
              <p:cNvSpPr txBox="1"/>
              <p:nvPr/>
            </p:nvSpPr>
            <p:spPr>
              <a:xfrm>
                <a:off x="8795543" y="3912543"/>
                <a:ext cx="2882107" cy="194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×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𝒃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𝒉</m:t>
                      </m:r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   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𝟏𝟐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×</m:t>
                    </m:r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𝟖</m:t>
                    </m:r>
                  </m:oMath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𝟒𝟐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2716D-7115-4B94-8282-568BBA671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543" y="3912543"/>
                <a:ext cx="2882107" cy="194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10EA72-E2A1-4E56-A17F-CF1732791623}"/>
              </a:ext>
            </a:extLst>
          </p:cNvPr>
          <p:cNvCxnSpPr/>
          <p:nvPr/>
        </p:nvCxnSpPr>
        <p:spPr>
          <a:xfrm flipH="1">
            <a:off x="5353050" y="3912543"/>
            <a:ext cx="1204118" cy="65945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C3C124-2E79-4C67-A116-E3D52FA1BE3F}"/>
              </a:ext>
            </a:extLst>
          </p:cNvPr>
          <p:cNvCxnSpPr/>
          <p:nvPr/>
        </p:nvCxnSpPr>
        <p:spPr>
          <a:xfrm flipV="1">
            <a:off x="7386637" y="4143376"/>
            <a:ext cx="1494631" cy="1603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A00FC8-5F16-4B94-89CD-9C0B470CE92C}"/>
              </a:ext>
            </a:extLst>
          </p:cNvPr>
          <p:cNvCxnSpPr/>
          <p:nvPr/>
        </p:nvCxnSpPr>
        <p:spPr>
          <a:xfrm>
            <a:off x="7719218" y="4572000"/>
            <a:ext cx="1300957" cy="28575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C57C4B-101C-4750-9654-5D6B829E9A93}"/>
              </a:ext>
            </a:extLst>
          </p:cNvPr>
          <p:cNvCxnSpPr/>
          <p:nvPr/>
        </p:nvCxnSpPr>
        <p:spPr>
          <a:xfrm>
            <a:off x="7246936" y="4857750"/>
            <a:ext cx="1954214" cy="69249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79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F74C-6C60-5EE1-91FE-9AFD5E08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shapes.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B38-52B7-44C2-0BC0-DEE23BD08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Height and base must always be perpendicular. </a:t>
                </a:r>
              </a:p>
              <a:p>
                <a:pPr marL="0" indent="0" algn="ctr">
                  <a:buNone/>
                </a:pPr>
                <a:endParaRPr lang="en-US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Perpendicular means lines meet 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B38-52B7-44C2-0BC0-DEE23BD08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33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7741-E6C0-44F5-A6C5-EF46818F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09372ED-9E09-4234-9EDB-0F810E404A6B}"/>
              </a:ext>
            </a:extLst>
          </p:cNvPr>
          <p:cNvSpPr/>
          <p:nvPr/>
        </p:nvSpPr>
        <p:spPr>
          <a:xfrm>
            <a:off x="2038350" y="3695701"/>
            <a:ext cx="3038475" cy="2514600"/>
          </a:xfrm>
          <a:prstGeom prst="triangle">
            <a:avLst>
              <a:gd name="adj" fmla="val 1269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0A4132-D234-4D04-90B8-A53D3AA24843}"/>
              </a:ext>
            </a:extLst>
          </p:cNvPr>
          <p:cNvCxnSpPr>
            <a:cxnSpLocks/>
          </p:cNvCxnSpPr>
          <p:nvPr/>
        </p:nvCxnSpPr>
        <p:spPr>
          <a:xfrm flipV="1">
            <a:off x="1776415" y="3619500"/>
            <a:ext cx="0" cy="25908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982C19-B204-4C47-B32D-7C151F397F75}"/>
              </a:ext>
            </a:extLst>
          </p:cNvPr>
          <p:cNvSpPr txBox="1"/>
          <p:nvPr/>
        </p:nvSpPr>
        <p:spPr>
          <a:xfrm>
            <a:off x="2985293" y="623389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4km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49F37-1FB2-4FC9-909C-84BE7C26479D}"/>
              </a:ext>
            </a:extLst>
          </p:cNvPr>
          <p:cNvSpPr txBox="1"/>
          <p:nvPr/>
        </p:nvSpPr>
        <p:spPr>
          <a:xfrm>
            <a:off x="861218" y="451991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3km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2DB02-3F29-45BD-BE10-2B4A487174E3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/>
              <p:nvPr/>
            </p:nvSpPr>
            <p:spPr>
              <a:xfrm>
                <a:off x="8509793" y="3362325"/>
                <a:ext cx="329168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𝟎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×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𝒃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𝒉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793" y="3362325"/>
                <a:ext cx="3291682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01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7741-E6C0-44F5-A6C5-EF46818F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82C19-B204-4C47-B32D-7C151F397F75}"/>
              </a:ext>
            </a:extLst>
          </p:cNvPr>
          <p:cNvSpPr txBox="1"/>
          <p:nvPr/>
        </p:nvSpPr>
        <p:spPr>
          <a:xfrm>
            <a:off x="3517503" y="6071965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10m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49F37-1FB2-4FC9-909C-84BE7C26479D}"/>
              </a:ext>
            </a:extLst>
          </p:cNvPr>
          <p:cNvSpPr txBox="1"/>
          <p:nvPr/>
        </p:nvSpPr>
        <p:spPr>
          <a:xfrm>
            <a:off x="1620045" y="4669779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2DB02-3F29-45BD-BE10-2B4A487174E3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/>
              <p:nvPr/>
            </p:nvSpPr>
            <p:spPr>
              <a:xfrm>
                <a:off x="8391525" y="3429000"/>
                <a:ext cx="1162050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𝑨</m:t>
                      </m:r>
                      <m:r>
                        <a:rPr kumimoji="0" lang="en-US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F71454-D230-4025-AE8F-435511DA1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525" y="3429000"/>
                <a:ext cx="1162050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Triangle 2">
            <a:extLst>
              <a:ext uri="{FF2B5EF4-FFF2-40B4-BE49-F238E27FC236}">
                <a16:creationId xmlns:a16="http://schemas.microsoft.com/office/drawing/2014/main" id="{43CAA369-C383-45E3-A225-90C1C9A2C98F}"/>
              </a:ext>
            </a:extLst>
          </p:cNvPr>
          <p:cNvSpPr/>
          <p:nvPr/>
        </p:nvSpPr>
        <p:spPr>
          <a:xfrm>
            <a:off x="2390775" y="3733800"/>
            <a:ext cx="3615532" cy="233362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B856B-EE75-9CC0-2345-F21D30A43EC1}"/>
              </a:ext>
            </a:extLst>
          </p:cNvPr>
          <p:cNvSpPr txBox="1"/>
          <p:nvPr/>
        </p:nvSpPr>
        <p:spPr>
          <a:xfrm>
            <a:off x="3968319" y="4193218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72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5428BFF-9501-910D-1897-E1CB69ECB789}"/>
              </a:ext>
            </a:extLst>
          </p:cNvPr>
          <p:cNvSpPr/>
          <p:nvPr/>
        </p:nvSpPr>
        <p:spPr>
          <a:xfrm>
            <a:off x="2038350" y="3695701"/>
            <a:ext cx="3038475" cy="2514600"/>
          </a:xfrm>
          <a:prstGeom prst="triangle">
            <a:avLst>
              <a:gd name="adj" fmla="val 12696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C253CF-C4DB-971F-835D-4A7B57192A41}"/>
              </a:ext>
            </a:extLst>
          </p:cNvPr>
          <p:cNvCxnSpPr>
            <a:cxnSpLocks/>
          </p:cNvCxnSpPr>
          <p:nvPr/>
        </p:nvCxnSpPr>
        <p:spPr>
          <a:xfrm flipV="1">
            <a:off x="1776415" y="3619500"/>
            <a:ext cx="0" cy="25908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C2EEDB-7063-A5A1-B61B-FDF7204605D3}"/>
              </a:ext>
            </a:extLst>
          </p:cNvPr>
          <p:cNvSpPr txBox="1"/>
          <p:nvPr/>
        </p:nvSpPr>
        <p:spPr>
          <a:xfrm>
            <a:off x="2985293" y="623389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11m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2F714-DEEE-EC26-6F6F-D1A8EBB40106}"/>
              </a:ext>
            </a:extLst>
          </p:cNvPr>
          <p:cNvSpPr txBox="1"/>
          <p:nvPr/>
        </p:nvSpPr>
        <p:spPr>
          <a:xfrm>
            <a:off x="861218" y="4519911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7m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63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24E85-6FCB-3CE2-A63E-D42B1804C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83" y="1901756"/>
            <a:ext cx="4261787" cy="22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2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0D157-FF9C-FB13-3065-88A29A67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345" y="2488586"/>
            <a:ext cx="4463363" cy="264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81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41E7-F7B0-8E7C-6434-B4D9B842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C93A9-2300-B619-DC02-27E81D3AA7ED}"/>
              </a:ext>
            </a:extLst>
          </p:cNvPr>
          <p:cNvSpPr txBox="1"/>
          <p:nvPr/>
        </p:nvSpPr>
        <p:spPr>
          <a:xfrm>
            <a:off x="6185693" y="2488586"/>
            <a:ext cx="2324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Always remember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Diagram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Rule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Numbers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Solve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55A2A-729B-0065-C848-4D8911C6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64" y="2411832"/>
            <a:ext cx="4137826" cy="272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72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3943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206" y="77081"/>
            <a:ext cx="9144000" cy="6871607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93694" y="94320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5702" y="958416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85982" y="310344"/>
            <a:ext cx="7920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42166" y="265720"/>
            <a:ext cx="180020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62446" y="1057808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237710" y="2686608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2541966" y="2425960"/>
            <a:ext cx="1944216" cy="1152128"/>
          </a:xfrm>
          <a:prstGeom prst="parallelogram">
            <a:avLst>
              <a:gd name="adj" fmla="val 459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Parallelogram 8"/>
          <p:cNvSpPr/>
          <p:nvPr/>
        </p:nvSpPr>
        <p:spPr>
          <a:xfrm>
            <a:off x="4774214" y="2641984"/>
            <a:ext cx="2376264" cy="792088"/>
          </a:xfrm>
          <a:prstGeom prst="parallelogram">
            <a:avLst>
              <a:gd name="adj" fmla="val 8971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81726" y="4126768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3478070" y="4126768"/>
            <a:ext cx="1296144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5998350" y="4198776"/>
            <a:ext cx="1944216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1766" y="59837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7870" y="103042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982" y="18225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8070" y="8144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8230" y="18498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0358" y="40973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454" y="18498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4294" y="336206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414" y="300202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4294" y="28580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3934" y="2641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6022" y="350608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6062" y="27139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766" y="340668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06" y="297464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06" y="50628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49878" y="42707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38" y="463082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9998" y="42707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22086" y="506287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286" y="44868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8390" y="513488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20cm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1447991" y="4112913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</p:cNvCxnSpPr>
          <p:nvPr/>
        </p:nvCxnSpPr>
        <p:spPr>
          <a:xfrm flipH="1" flipV="1">
            <a:off x="1162975" y="2624971"/>
            <a:ext cx="10839" cy="853725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3406062" y="2425960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6214374" y="2569976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81726" y="38235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25942" y="238336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10118" y="19371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02406" y="91379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710" y="2470584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13974" y="235395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18230" y="249796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5742" y="412676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57990" y="398275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78270" y="4126768"/>
            <a:ext cx="504056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42566" y="77081"/>
            <a:ext cx="1331640" cy="347787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140cm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56cm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330cm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72cm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180cm</a:t>
            </a:r>
            <a:r>
              <a:rPr kumimoji="0" lang="en-GB" sz="2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484A7-C589-4137-9FD4-D93B0D7D1B0B}"/>
              </a:ext>
            </a:extLst>
          </p:cNvPr>
          <p:cNvSpPr txBox="1"/>
          <p:nvPr/>
        </p:nvSpPr>
        <p:spPr>
          <a:xfrm>
            <a:off x="9756559" y="607668"/>
            <a:ext cx="2290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Draw the shape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Write the rule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Put the numbers in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Solve </a:t>
            </a:r>
            <a:endParaRPr lang="en-A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544</Words>
  <Application>Microsoft Office PowerPoint</Application>
  <PresentationFormat>Widescreen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Converting length units </vt:lpstr>
      <vt:lpstr>Converting units WITHOUT a calculator </vt:lpstr>
      <vt:lpstr>Converting units (look at your notes)</vt:lpstr>
      <vt:lpstr>Converting measurements </vt:lpstr>
      <vt:lpstr>Area: start with formulas </vt:lpstr>
      <vt:lpstr>The perimeter is:</vt:lpstr>
      <vt:lpstr>Area of triangles </vt:lpstr>
      <vt:lpstr>Area of shapes.</vt:lpstr>
      <vt:lpstr>We do </vt:lpstr>
      <vt:lpstr>We do </vt:lpstr>
      <vt:lpstr>Whiteboards </vt:lpstr>
      <vt:lpstr>Whiteboards </vt:lpstr>
      <vt:lpstr>Whiteboards </vt:lpstr>
      <vt:lpstr>Whiteboards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</cp:revision>
  <dcterms:created xsi:type="dcterms:W3CDTF">2023-04-25T12:29:10Z</dcterms:created>
  <dcterms:modified xsi:type="dcterms:W3CDTF">2023-04-25T12:35:54Z</dcterms:modified>
</cp:coreProperties>
</file>
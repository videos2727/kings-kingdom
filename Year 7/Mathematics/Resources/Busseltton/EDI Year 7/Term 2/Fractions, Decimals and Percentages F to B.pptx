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295" r:id="rId4"/>
    <p:sldId id="257" r:id="rId5"/>
    <p:sldId id="282" r:id="rId6"/>
    <p:sldId id="281" r:id="rId7"/>
    <p:sldId id="294" r:id="rId8"/>
    <p:sldId id="299" r:id="rId9"/>
    <p:sldId id="296" r:id="rId10"/>
    <p:sldId id="297" r:id="rId11"/>
    <p:sldId id="298" r:id="rId12"/>
    <p:sldId id="280" r:id="rId13"/>
    <p:sldId id="284" r:id="rId14"/>
    <p:sldId id="277" r:id="rId15"/>
    <p:sldId id="300" r:id="rId16"/>
    <p:sldId id="301" r:id="rId17"/>
    <p:sldId id="302" r:id="rId18"/>
    <p:sldId id="276" r:id="rId19"/>
    <p:sldId id="285" r:id="rId20"/>
    <p:sldId id="275" r:id="rId21"/>
    <p:sldId id="303" r:id="rId22"/>
    <p:sldId id="304" r:id="rId23"/>
    <p:sldId id="305" r:id="rId24"/>
    <p:sldId id="306" r:id="rId25"/>
    <p:sldId id="273" r:id="rId26"/>
    <p:sldId id="286" r:id="rId27"/>
    <p:sldId id="274" r:id="rId28"/>
    <p:sldId id="307" r:id="rId29"/>
    <p:sldId id="308" r:id="rId30"/>
    <p:sldId id="311" r:id="rId31"/>
    <p:sldId id="312" r:id="rId32"/>
    <p:sldId id="313" r:id="rId33"/>
    <p:sldId id="309" r:id="rId34"/>
    <p:sldId id="310" r:id="rId35"/>
    <p:sldId id="314" r:id="rId36"/>
    <p:sldId id="315" r:id="rId37"/>
    <p:sldId id="316" r:id="rId38"/>
    <p:sldId id="317" r:id="rId39"/>
    <p:sldId id="318" r:id="rId40"/>
    <p:sldId id="319" r:id="rId41"/>
    <p:sldId id="272" r:id="rId42"/>
    <p:sldId id="287" r:id="rId43"/>
    <p:sldId id="271" r:id="rId44"/>
    <p:sldId id="320" r:id="rId45"/>
    <p:sldId id="321" r:id="rId46"/>
    <p:sldId id="322" r:id="rId47"/>
    <p:sldId id="323" r:id="rId48"/>
    <p:sldId id="324" r:id="rId49"/>
    <p:sldId id="325" r:id="rId50"/>
    <p:sldId id="270" r:id="rId51"/>
    <p:sldId id="288" r:id="rId52"/>
    <p:sldId id="269" r:id="rId53"/>
    <p:sldId id="326" r:id="rId54"/>
    <p:sldId id="327" r:id="rId55"/>
    <p:sldId id="328" r:id="rId56"/>
    <p:sldId id="329" r:id="rId57"/>
    <p:sldId id="330" r:id="rId58"/>
    <p:sldId id="331" r:id="rId59"/>
    <p:sldId id="268" r:id="rId60"/>
    <p:sldId id="289" r:id="rId61"/>
    <p:sldId id="267" r:id="rId62"/>
    <p:sldId id="332" r:id="rId63"/>
    <p:sldId id="333" r:id="rId64"/>
    <p:sldId id="334" r:id="rId65"/>
    <p:sldId id="335" r:id="rId66"/>
    <p:sldId id="336" r:id="rId67"/>
    <p:sldId id="337" r:id="rId68"/>
    <p:sldId id="266" r:id="rId69"/>
    <p:sldId id="290" r:id="rId70"/>
    <p:sldId id="265" r:id="rId71"/>
    <p:sldId id="338" r:id="rId72"/>
    <p:sldId id="339" r:id="rId73"/>
    <p:sldId id="340" r:id="rId74"/>
    <p:sldId id="341" r:id="rId75"/>
    <p:sldId id="342" r:id="rId76"/>
    <p:sldId id="264" r:id="rId77"/>
    <p:sldId id="291" r:id="rId78"/>
    <p:sldId id="263" r:id="rId79"/>
    <p:sldId id="343" r:id="rId80"/>
    <p:sldId id="344" r:id="rId81"/>
    <p:sldId id="345" r:id="rId82"/>
    <p:sldId id="346" r:id="rId83"/>
    <p:sldId id="347" r:id="rId84"/>
    <p:sldId id="348" r:id="rId85"/>
    <p:sldId id="262" r:id="rId86"/>
    <p:sldId id="292" r:id="rId87"/>
    <p:sldId id="261" r:id="rId88"/>
    <p:sldId id="364" r:id="rId89"/>
    <p:sldId id="365" r:id="rId90"/>
    <p:sldId id="366" r:id="rId91"/>
    <p:sldId id="363" r:id="rId92"/>
    <p:sldId id="361" r:id="rId93"/>
    <p:sldId id="362" r:id="rId94"/>
    <p:sldId id="349" r:id="rId95"/>
    <p:sldId id="350" r:id="rId96"/>
    <p:sldId id="351" r:id="rId97"/>
    <p:sldId id="260" r:id="rId98"/>
    <p:sldId id="293" r:id="rId99"/>
    <p:sldId id="258" r:id="rId100"/>
    <p:sldId id="352" r:id="rId101"/>
    <p:sldId id="353" r:id="rId102"/>
    <p:sldId id="354" r:id="rId103"/>
    <p:sldId id="355" r:id="rId104"/>
    <p:sldId id="356" r:id="rId105"/>
    <p:sldId id="357" r:id="rId106"/>
    <p:sldId id="359" r:id="rId107"/>
    <p:sldId id="360" r:id="rId108"/>
    <p:sldId id="259" r:id="rId10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F98A50-7104-4185-B35F-64EC7E9B93D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DF2AE3D-F1C6-48EA-A420-BE5D547BCD37}">
      <dgm:prSet phldrT="[Text]"/>
      <dgm:spPr/>
      <dgm:t>
        <a:bodyPr/>
        <a:lstStyle/>
        <a:p>
          <a:r>
            <a:rPr lang="en-GB" b="1" dirty="0"/>
            <a:t>Fraction</a:t>
          </a:r>
        </a:p>
      </dgm:t>
    </dgm:pt>
    <dgm:pt modelId="{3C0679FB-619B-4EB6-831F-FFD8F4E3B809}" type="parTrans" cxnId="{8C8AF36A-DCF1-4E54-8C9E-E3C806AF3F60}">
      <dgm:prSet/>
      <dgm:spPr/>
      <dgm:t>
        <a:bodyPr/>
        <a:lstStyle/>
        <a:p>
          <a:endParaRPr lang="en-GB"/>
        </a:p>
      </dgm:t>
    </dgm:pt>
    <dgm:pt modelId="{FE4CDEC8-2DB4-4C1D-92A4-0C1062ACA6F3}" type="sibTrans" cxnId="{8C8AF36A-DCF1-4E54-8C9E-E3C806AF3F60}">
      <dgm:prSet/>
      <dgm:spPr>
        <a:solidFill>
          <a:srgbClr val="FF0000"/>
        </a:solidFill>
      </dgm:spPr>
      <dgm:t>
        <a:bodyPr/>
        <a:lstStyle/>
        <a:p>
          <a:endParaRPr lang="en-GB"/>
        </a:p>
      </dgm:t>
    </dgm:pt>
    <dgm:pt modelId="{29ED0468-0C94-4F91-B1AC-B06EF711A230}">
      <dgm:prSet phldrT="[Text]"/>
      <dgm:spPr/>
      <dgm:t>
        <a:bodyPr/>
        <a:lstStyle/>
        <a:p>
          <a:r>
            <a:rPr lang="en-GB" b="1" dirty="0"/>
            <a:t>Decimal</a:t>
          </a:r>
        </a:p>
      </dgm:t>
    </dgm:pt>
    <dgm:pt modelId="{7C1D2BE1-35E0-4172-87AB-1DFC81397EF7}" type="parTrans" cxnId="{7DB65EF1-2C64-4E04-9FC0-93692C0C4DAD}">
      <dgm:prSet/>
      <dgm:spPr/>
      <dgm:t>
        <a:bodyPr/>
        <a:lstStyle/>
        <a:p>
          <a:endParaRPr lang="en-GB"/>
        </a:p>
      </dgm:t>
    </dgm:pt>
    <dgm:pt modelId="{0BA094A1-4038-4136-A1C5-0C5C73709751}" type="sibTrans" cxnId="{7DB65EF1-2C64-4E04-9FC0-93692C0C4DAD}">
      <dgm:prSet/>
      <dgm:spPr>
        <a:solidFill>
          <a:srgbClr val="FF0000"/>
        </a:solidFill>
      </dgm:spPr>
      <dgm:t>
        <a:bodyPr/>
        <a:lstStyle/>
        <a:p>
          <a:endParaRPr lang="en-GB"/>
        </a:p>
      </dgm:t>
    </dgm:pt>
    <dgm:pt modelId="{C046AE17-A161-4E00-887C-5B0D492CB19B}">
      <dgm:prSet phldrT="[Text]"/>
      <dgm:spPr/>
      <dgm:t>
        <a:bodyPr/>
        <a:lstStyle/>
        <a:p>
          <a:r>
            <a:rPr lang="en-GB" b="1" dirty="0"/>
            <a:t>Percentage</a:t>
          </a:r>
        </a:p>
      </dgm:t>
    </dgm:pt>
    <dgm:pt modelId="{5463325B-ECDE-4677-B16F-38826F67E881}" type="parTrans" cxnId="{E20E6942-8BCE-4C4B-B88E-1C68E9E83796}">
      <dgm:prSet/>
      <dgm:spPr/>
      <dgm:t>
        <a:bodyPr/>
        <a:lstStyle/>
        <a:p>
          <a:endParaRPr lang="en-GB"/>
        </a:p>
      </dgm:t>
    </dgm:pt>
    <dgm:pt modelId="{DC747C88-565E-4947-BB91-973F86FA3225}" type="sibTrans" cxnId="{E20E6942-8BCE-4C4B-B88E-1C68E9E83796}">
      <dgm:prSet/>
      <dgm:spPr>
        <a:solidFill>
          <a:srgbClr val="FF0000"/>
        </a:solidFill>
      </dgm:spPr>
      <dgm:t>
        <a:bodyPr/>
        <a:lstStyle/>
        <a:p>
          <a:endParaRPr lang="en-GB"/>
        </a:p>
      </dgm:t>
    </dgm:pt>
    <dgm:pt modelId="{5CC934D2-2950-427F-80C4-499FD45CBF2F}" type="pres">
      <dgm:prSet presAssocID="{0DF98A50-7104-4185-B35F-64EC7E9B93DA}" presName="cycle" presStyleCnt="0">
        <dgm:presLayoutVars>
          <dgm:dir/>
          <dgm:resizeHandles val="exact"/>
        </dgm:presLayoutVars>
      </dgm:prSet>
      <dgm:spPr/>
    </dgm:pt>
    <dgm:pt modelId="{9E9A1662-43C0-40CF-9241-2DA98987A088}" type="pres">
      <dgm:prSet presAssocID="{BDF2AE3D-F1C6-48EA-A420-BE5D547BCD37}" presName="dummy" presStyleCnt="0"/>
      <dgm:spPr/>
    </dgm:pt>
    <dgm:pt modelId="{D3E654E6-BA3E-40AE-8942-C32FF756E319}" type="pres">
      <dgm:prSet presAssocID="{BDF2AE3D-F1C6-48EA-A420-BE5D547BCD37}" presName="node" presStyleLbl="revTx" presStyleIdx="0" presStyleCnt="3">
        <dgm:presLayoutVars>
          <dgm:bulletEnabled val="1"/>
        </dgm:presLayoutVars>
      </dgm:prSet>
      <dgm:spPr/>
    </dgm:pt>
    <dgm:pt modelId="{1533FA03-CF9C-47BA-B079-A42FD6B3C0E8}" type="pres">
      <dgm:prSet presAssocID="{FE4CDEC8-2DB4-4C1D-92A4-0C1062ACA6F3}" presName="sibTrans" presStyleLbl="node1" presStyleIdx="0" presStyleCnt="3"/>
      <dgm:spPr/>
    </dgm:pt>
    <dgm:pt modelId="{85C8906D-34F2-4ABC-AC2C-761F9DAB8AF3}" type="pres">
      <dgm:prSet presAssocID="{29ED0468-0C94-4F91-B1AC-B06EF711A230}" presName="dummy" presStyleCnt="0"/>
      <dgm:spPr/>
    </dgm:pt>
    <dgm:pt modelId="{1DF8D049-71B0-40D1-B7F1-397164A5E635}" type="pres">
      <dgm:prSet presAssocID="{29ED0468-0C94-4F91-B1AC-B06EF711A230}" presName="node" presStyleLbl="revTx" presStyleIdx="1" presStyleCnt="3">
        <dgm:presLayoutVars>
          <dgm:bulletEnabled val="1"/>
        </dgm:presLayoutVars>
      </dgm:prSet>
      <dgm:spPr/>
    </dgm:pt>
    <dgm:pt modelId="{5639B1F7-DFC0-4D8E-BF48-C7D3AFD97D7F}" type="pres">
      <dgm:prSet presAssocID="{0BA094A1-4038-4136-A1C5-0C5C73709751}" presName="sibTrans" presStyleLbl="node1" presStyleIdx="1" presStyleCnt="3"/>
      <dgm:spPr/>
    </dgm:pt>
    <dgm:pt modelId="{5E78B4A0-E584-44E9-9C4E-9676D3FC759A}" type="pres">
      <dgm:prSet presAssocID="{C046AE17-A161-4E00-887C-5B0D492CB19B}" presName="dummy" presStyleCnt="0"/>
      <dgm:spPr/>
    </dgm:pt>
    <dgm:pt modelId="{AFEAA8DA-218C-43DA-B4A7-19363400A17A}" type="pres">
      <dgm:prSet presAssocID="{C046AE17-A161-4E00-887C-5B0D492CB19B}" presName="node" presStyleLbl="revTx" presStyleIdx="2" presStyleCnt="3">
        <dgm:presLayoutVars>
          <dgm:bulletEnabled val="1"/>
        </dgm:presLayoutVars>
      </dgm:prSet>
      <dgm:spPr/>
    </dgm:pt>
    <dgm:pt modelId="{76AAF6F4-C50B-4DA9-82EB-8C16DACCEAF1}" type="pres">
      <dgm:prSet presAssocID="{DC747C88-565E-4947-BB91-973F86FA3225}" presName="sibTrans" presStyleLbl="node1" presStyleIdx="2" presStyleCnt="3"/>
      <dgm:spPr/>
    </dgm:pt>
  </dgm:ptLst>
  <dgm:cxnLst>
    <dgm:cxn modelId="{C1A67A07-5CA0-473B-A1C6-21C1D81D02BC}" type="presOf" srcId="{BDF2AE3D-F1C6-48EA-A420-BE5D547BCD37}" destId="{D3E654E6-BA3E-40AE-8942-C32FF756E319}" srcOrd="0" destOrd="0" presId="urn:microsoft.com/office/officeart/2005/8/layout/cycle1"/>
    <dgm:cxn modelId="{E20E6942-8BCE-4C4B-B88E-1C68E9E83796}" srcId="{0DF98A50-7104-4185-B35F-64EC7E9B93DA}" destId="{C046AE17-A161-4E00-887C-5B0D492CB19B}" srcOrd="2" destOrd="0" parTransId="{5463325B-ECDE-4677-B16F-38826F67E881}" sibTransId="{DC747C88-565E-4947-BB91-973F86FA3225}"/>
    <dgm:cxn modelId="{8C8AF36A-DCF1-4E54-8C9E-E3C806AF3F60}" srcId="{0DF98A50-7104-4185-B35F-64EC7E9B93DA}" destId="{BDF2AE3D-F1C6-48EA-A420-BE5D547BCD37}" srcOrd="0" destOrd="0" parTransId="{3C0679FB-619B-4EB6-831F-FFD8F4E3B809}" sibTransId="{FE4CDEC8-2DB4-4C1D-92A4-0C1062ACA6F3}"/>
    <dgm:cxn modelId="{66F96D4D-3074-40E3-99B6-2CF69D6D8E0A}" type="presOf" srcId="{C046AE17-A161-4E00-887C-5B0D492CB19B}" destId="{AFEAA8DA-218C-43DA-B4A7-19363400A17A}" srcOrd="0" destOrd="0" presId="urn:microsoft.com/office/officeart/2005/8/layout/cycle1"/>
    <dgm:cxn modelId="{B89BAA70-F529-44CD-A385-BBACC28A14ED}" type="presOf" srcId="{0BA094A1-4038-4136-A1C5-0C5C73709751}" destId="{5639B1F7-DFC0-4D8E-BF48-C7D3AFD97D7F}" srcOrd="0" destOrd="0" presId="urn:microsoft.com/office/officeart/2005/8/layout/cycle1"/>
    <dgm:cxn modelId="{3E9E387C-2B94-4595-A65E-37F63B48C04D}" type="presOf" srcId="{0DF98A50-7104-4185-B35F-64EC7E9B93DA}" destId="{5CC934D2-2950-427F-80C4-499FD45CBF2F}" srcOrd="0" destOrd="0" presId="urn:microsoft.com/office/officeart/2005/8/layout/cycle1"/>
    <dgm:cxn modelId="{82E3E88B-16F2-457C-8570-D6A32BA51E44}" type="presOf" srcId="{29ED0468-0C94-4F91-B1AC-B06EF711A230}" destId="{1DF8D049-71B0-40D1-B7F1-397164A5E635}" srcOrd="0" destOrd="0" presId="urn:microsoft.com/office/officeart/2005/8/layout/cycle1"/>
    <dgm:cxn modelId="{A0A2FEAA-A8BF-48F8-AF37-B2CE6C5C78BD}" type="presOf" srcId="{DC747C88-565E-4947-BB91-973F86FA3225}" destId="{76AAF6F4-C50B-4DA9-82EB-8C16DACCEAF1}" srcOrd="0" destOrd="0" presId="urn:microsoft.com/office/officeart/2005/8/layout/cycle1"/>
    <dgm:cxn modelId="{6BBA5CE2-4EF0-4A28-A2C7-35C5EC4FB02D}" type="presOf" srcId="{FE4CDEC8-2DB4-4C1D-92A4-0C1062ACA6F3}" destId="{1533FA03-CF9C-47BA-B079-A42FD6B3C0E8}" srcOrd="0" destOrd="0" presId="urn:microsoft.com/office/officeart/2005/8/layout/cycle1"/>
    <dgm:cxn modelId="{7DB65EF1-2C64-4E04-9FC0-93692C0C4DAD}" srcId="{0DF98A50-7104-4185-B35F-64EC7E9B93DA}" destId="{29ED0468-0C94-4F91-B1AC-B06EF711A230}" srcOrd="1" destOrd="0" parTransId="{7C1D2BE1-35E0-4172-87AB-1DFC81397EF7}" sibTransId="{0BA094A1-4038-4136-A1C5-0C5C73709751}"/>
    <dgm:cxn modelId="{F9AEC39F-3EC1-4CDD-A037-1105E34A7BB6}" type="presParOf" srcId="{5CC934D2-2950-427F-80C4-499FD45CBF2F}" destId="{9E9A1662-43C0-40CF-9241-2DA98987A088}" srcOrd="0" destOrd="0" presId="urn:microsoft.com/office/officeart/2005/8/layout/cycle1"/>
    <dgm:cxn modelId="{29676A74-D339-49DD-AB14-3B1C9A3410BF}" type="presParOf" srcId="{5CC934D2-2950-427F-80C4-499FD45CBF2F}" destId="{D3E654E6-BA3E-40AE-8942-C32FF756E319}" srcOrd="1" destOrd="0" presId="urn:microsoft.com/office/officeart/2005/8/layout/cycle1"/>
    <dgm:cxn modelId="{B6F33D6D-248F-4513-BD0C-E92FD70C9855}" type="presParOf" srcId="{5CC934D2-2950-427F-80C4-499FD45CBF2F}" destId="{1533FA03-CF9C-47BA-B079-A42FD6B3C0E8}" srcOrd="2" destOrd="0" presId="urn:microsoft.com/office/officeart/2005/8/layout/cycle1"/>
    <dgm:cxn modelId="{866A13A6-4A2C-4498-B06C-58E186DE8F4E}" type="presParOf" srcId="{5CC934D2-2950-427F-80C4-499FD45CBF2F}" destId="{85C8906D-34F2-4ABC-AC2C-761F9DAB8AF3}" srcOrd="3" destOrd="0" presId="urn:microsoft.com/office/officeart/2005/8/layout/cycle1"/>
    <dgm:cxn modelId="{00816D1D-78A3-49A9-976D-6A46D17CD4E5}" type="presParOf" srcId="{5CC934D2-2950-427F-80C4-499FD45CBF2F}" destId="{1DF8D049-71B0-40D1-B7F1-397164A5E635}" srcOrd="4" destOrd="0" presId="urn:microsoft.com/office/officeart/2005/8/layout/cycle1"/>
    <dgm:cxn modelId="{BBB706AB-9980-4DE2-B23A-F5A24CC77DE8}" type="presParOf" srcId="{5CC934D2-2950-427F-80C4-499FD45CBF2F}" destId="{5639B1F7-DFC0-4D8E-BF48-C7D3AFD97D7F}" srcOrd="5" destOrd="0" presId="urn:microsoft.com/office/officeart/2005/8/layout/cycle1"/>
    <dgm:cxn modelId="{AA644ACD-2EE6-4A6E-AAA1-5906A782CA1D}" type="presParOf" srcId="{5CC934D2-2950-427F-80C4-499FD45CBF2F}" destId="{5E78B4A0-E584-44E9-9C4E-9676D3FC759A}" srcOrd="6" destOrd="0" presId="urn:microsoft.com/office/officeart/2005/8/layout/cycle1"/>
    <dgm:cxn modelId="{4F888290-AD12-46E8-9454-7672B750C040}" type="presParOf" srcId="{5CC934D2-2950-427F-80C4-499FD45CBF2F}" destId="{AFEAA8DA-218C-43DA-B4A7-19363400A17A}" srcOrd="7" destOrd="0" presId="urn:microsoft.com/office/officeart/2005/8/layout/cycle1"/>
    <dgm:cxn modelId="{A4CF1EE0-87B3-4C6C-B7A9-50D0949E1D4B}" type="presParOf" srcId="{5CC934D2-2950-427F-80C4-499FD45CBF2F}" destId="{76AAF6F4-C50B-4DA9-82EB-8C16DACCEAF1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F98A50-7104-4185-B35F-64EC7E9B93D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DF2AE3D-F1C6-48EA-A420-BE5D547BCD37}">
      <dgm:prSet phldrT="[Text]"/>
      <dgm:spPr/>
      <dgm:t>
        <a:bodyPr/>
        <a:lstStyle/>
        <a:p>
          <a:r>
            <a:rPr lang="en-GB" b="1" dirty="0"/>
            <a:t>Fraction</a:t>
          </a:r>
        </a:p>
      </dgm:t>
    </dgm:pt>
    <dgm:pt modelId="{3C0679FB-619B-4EB6-831F-FFD8F4E3B809}" type="parTrans" cxnId="{8C8AF36A-DCF1-4E54-8C9E-E3C806AF3F60}">
      <dgm:prSet/>
      <dgm:spPr/>
      <dgm:t>
        <a:bodyPr/>
        <a:lstStyle/>
        <a:p>
          <a:endParaRPr lang="en-GB"/>
        </a:p>
      </dgm:t>
    </dgm:pt>
    <dgm:pt modelId="{FE4CDEC8-2DB4-4C1D-92A4-0C1062ACA6F3}" type="sibTrans" cxnId="{8C8AF36A-DCF1-4E54-8C9E-E3C806AF3F60}">
      <dgm:prSet/>
      <dgm:spPr>
        <a:solidFill>
          <a:srgbClr val="FF0000"/>
        </a:solidFill>
      </dgm:spPr>
      <dgm:t>
        <a:bodyPr/>
        <a:lstStyle/>
        <a:p>
          <a:endParaRPr lang="en-GB"/>
        </a:p>
      </dgm:t>
    </dgm:pt>
    <dgm:pt modelId="{29ED0468-0C94-4F91-B1AC-B06EF711A230}">
      <dgm:prSet phldrT="[Text]"/>
      <dgm:spPr/>
      <dgm:t>
        <a:bodyPr/>
        <a:lstStyle/>
        <a:p>
          <a:r>
            <a:rPr lang="en-GB" b="1" dirty="0"/>
            <a:t>Decimal</a:t>
          </a:r>
        </a:p>
      </dgm:t>
    </dgm:pt>
    <dgm:pt modelId="{7C1D2BE1-35E0-4172-87AB-1DFC81397EF7}" type="parTrans" cxnId="{7DB65EF1-2C64-4E04-9FC0-93692C0C4DAD}">
      <dgm:prSet/>
      <dgm:spPr/>
      <dgm:t>
        <a:bodyPr/>
        <a:lstStyle/>
        <a:p>
          <a:endParaRPr lang="en-GB"/>
        </a:p>
      </dgm:t>
    </dgm:pt>
    <dgm:pt modelId="{0BA094A1-4038-4136-A1C5-0C5C73709751}" type="sibTrans" cxnId="{7DB65EF1-2C64-4E04-9FC0-93692C0C4DAD}">
      <dgm:prSet/>
      <dgm:spPr>
        <a:solidFill>
          <a:srgbClr val="FF0000"/>
        </a:solidFill>
      </dgm:spPr>
      <dgm:t>
        <a:bodyPr/>
        <a:lstStyle/>
        <a:p>
          <a:endParaRPr lang="en-GB"/>
        </a:p>
      </dgm:t>
    </dgm:pt>
    <dgm:pt modelId="{C046AE17-A161-4E00-887C-5B0D492CB19B}">
      <dgm:prSet phldrT="[Text]"/>
      <dgm:spPr/>
      <dgm:t>
        <a:bodyPr/>
        <a:lstStyle/>
        <a:p>
          <a:r>
            <a:rPr lang="en-GB" b="1" dirty="0"/>
            <a:t>Percentage</a:t>
          </a:r>
        </a:p>
      </dgm:t>
    </dgm:pt>
    <dgm:pt modelId="{5463325B-ECDE-4677-B16F-38826F67E881}" type="parTrans" cxnId="{E20E6942-8BCE-4C4B-B88E-1C68E9E83796}">
      <dgm:prSet/>
      <dgm:spPr/>
      <dgm:t>
        <a:bodyPr/>
        <a:lstStyle/>
        <a:p>
          <a:endParaRPr lang="en-GB"/>
        </a:p>
      </dgm:t>
    </dgm:pt>
    <dgm:pt modelId="{DC747C88-565E-4947-BB91-973F86FA3225}" type="sibTrans" cxnId="{E20E6942-8BCE-4C4B-B88E-1C68E9E83796}">
      <dgm:prSet/>
      <dgm:spPr>
        <a:solidFill>
          <a:srgbClr val="FF0000"/>
        </a:solidFill>
      </dgm:spPr>
      <dgm:t>
        <a:bodyPr/>
        <a:lstStyle/>
        <a:p>
          <a:endParaRPr lang="en-GB"/>
        </a:p>
      </dgm:t>
    </dgm:pt>
    <dgm:pt modelId="{5CC934D2-2950-427F-80C4-499FD45CBF2F}" type="pres">
      <dgm:prSet presAssocID="{0DF98A50-7104-4185-B35F-64EC7E9B93DA}" presName="cycle" presStyleCnt="0">
        <dgm:presLayoutVars>
          <dgm:dir/>
          <dgm:resizeHandles val="exact"/>
        </dgm:presLayoutVars>
      </dgm:prSet>
      <dgm:spPr/>
    </dgm:pt>
    <dgm:pt modelId="{9E9A1662-43C0-40CF-9241-2DA98987A088}" type="pres">
      <dgm:prSet presAssocID="{BDF2AE3D-F1C6-48EA-A420-BE5D547BCD37}" presName="dummy" presStyleCnt="0"/>
      <dgm:spPr/>
    </dgm:pt>
    <dgm:pt modelId="{D3E654E6-BA3E-40AE-8942-C32FF756E319}" type="pres">
      <dgm:prSet presAssocID="{BDF2AE3D-F1C6-48EA-A420-BE5D547BCD37}" presName="node" presStyleLbl="revTx" presStyleIdx="0" presStyleCnt="3">
        <dgm:presLayoutVars>
          <dgm:bulletEnabled val="1"/>
        </dgm:presLayoutVars>
      </dgm:prSet>
      <dgm:spPr/>
    </dgm:pt>
    <dgm:pt modelId="{1533FA03-CF9C-47BA-B079-A42FD6B3C0E8}" type="pres">
      <dgm:prSet presAssocID="{FE4CDEC8-2DB4-4C1D-92A4-0C1062ACA6F3}" presName="sibTrans" presStyleLbl="node1" presStyleIdx="0" presStyleCnt="3"/>
      <dgm:spPr/>
    </dgm:pt>
    <dgm:pt modelId="{85C8906D-34F2-4ABC-AC2C-761F9DAB8AF3}" type="pres">
      <dgm:prSet presAssocID="{29ED0468-0C94-4F91-B1AC-B06EF711A230}" presName="dummy" presStyleCnt="0"/>
      <dgm:spPr/>
    </dgm:pt>
    <dgm:pt modelId="{1DF8D049-71B0-40D1-B7F1-397164A5E635}" type="pres">
      <dgm:prSet presAssocID="{29ED0468-0C94-4F91-B1AC-B06EF711A230}" presName="node" presStyleLbl="revTx" presStyleIdx="1" presStyleCnt="3">
        <dgm:presLayoutVars>
          <dgm:bulletEnabled val="1"/>
        </dgm:presLayoutVars>
      </dgm:prSet>
      <dgm:spPr/>
    </dgm:pt>
    <dgm:pt modelId="{5639B1F7-DFC0-4D8E-BF48-C7D3AFD97D7F}" type="pres">
      <dgm:prSet presAssocID="{0BA094A1-4038-4136-A1C5-0C5C73709751}" presName="sibTrans" presStyleLbl="node1" presStyleIdx="1" presStyleCnt="3"/>
      <dgm:spPr/>
    </dgm:pt>
    <dgm:pt modelId="{5E78B4A0-E584-44E9-9C4E-9676D3FC759A}" type="pres">
      <dgm:prSet presAssocID="{C046AE17-A161-4E00-887C-5B0D492CB19B}" presName="dummy" presStyleCnt="0"/>
      <dgm:spPr/>
    </dgm:pt>
    <dgm:pt modelId="{AFEAA8DA-218C-43DA-B4A7-19363400A17A}" type="pres">
      <dgm:prSet presAssocID="{C046AE17-A161-4E00-887C-5B0D492CB19B}" presName="node" presStyleLbl="revTx" presStyleIdx="2" presStyleCnt="3">
        <dgm:presLayoutVars>
          <dgm:bulletEnabled val="1"/>
        </dgm:presLayoutVars>
      </dgm:prSet>
      <dgm:spPr/>
    </dgm:pt>
    <dgm:pt modelId="{76AAF6F4-C50B-4DA9-82EB-8C16DACCEAF1}" type="pres">
      <dgm:prSet presAssocID="{DC747C88-565E-4947-BB91-973F86FA3225}" presName="sibTrans" presStyleLbl="node1" presStyleIdx="2" presStyleCnt="3"/>
      <dgm:spPr/>
    </dgm:pt>
  </dgm:ptLst>
  <dgm:cxnLst>
    <dgm:cxn modelId="{61C1FC5B-7A2C-42FE-8392-4F9805A5C34D}" type="presOf" srcId="{29ED0468-0C94-4F91-B1AC-B06EF711A230}" destId="{1DF8D049-71B0-40D1-B7F1-397164A5E635}" srcOrd="0" destOrd="0" presId="urn:microsoft.com/office/officeart/2005/8/layout/cycle1"/>
    <dgm:cxn modelId="{429B6262-AEF8-4428-B44B-9545ACDB6704}" type="presOf" srcId="{BDF2AE3D-F1C6-48EA-A420-BE5D547BCD37}" destId="{D3E654E6-BA3E-40AE-8942-C32FF756E319}" srcOrd="0" destOrd="0" presId="urn:microsoft.com/office/officeart/2005/8/layout/cycle1"/>
    <dgm:cxn modelId="{E20E6942-8BCE-4C4B-B88E-1C68E9E83796}" srcId="{0DF98A50-7104-4185-B35F-64EC7E9B93DA}" destId="{C046AE17-A161-4E00-887C-5B0D492CB19B}" srcOrd="2" destOrd="0" parTransId="{5463325B-ECDE-4677-B16F-38826F67E881}" sibTransId="{DC747C88-565E-4947-BB91-973F86FA3225}"/>
    <dgm:cxn modelId="{8C8AF36A-DCF1-4E54-8C9E-E3C806AF3F60}" srcId="{0DF98A50-7104-4185-B35F-64EC7E9B93DA}" destId="{BDF2AE3D-F1C6-48EA-A420-BE5D547BCD37}" srcOrd="0" destOrd="0" parTransId="{3C0679FB-619B-4EB6-831F-FFD8F4E3B809}" sibTransId="{FE4CDEC8-2DB4-4C1D-92A4-0C1062ACA6F3}"/>
    <dgm:cxn modelId="{1BFC7972-9675-4AE9-BAC5-34F77A694576}" type="presOf" srcId="{0BA094A1-4038-4136-A1C5-0C5C73709751}" destId="{5639B1F7-DFC0-4D8E-BF48-C7D3AFD97D7F}" srcOrd="0" destOrd="0" presId="urn:microsoft.com/office/officeart/2005/8/layout/cycle1"/>
    <dgm:cxn modelId="{E6FAFD82-D52D-4100-8355-A89AFCFA3AC7}" type="presOf" srcId="{FE4CDEC8-2DB4-4C1D-92A4-0C1062ACA6F3}" destId="{1533FA03-CF9C-47BA-B079-A42FD6B3C0E8}" srcOrd="0" destOrd="0" presId="urn:microsoft.com/office/officeart/2005/8/layout/cycle1"/>
    <dgm:cxn modelId="{432A1EAD-337B-467E-A57B-83A8A4465812}" type="presOf" srcId="{DC747C88-565E-4947-BB91-973F86FA3225}" destId="{76AAF6F4-C50B-4DA9-82EB-8C16DACCEAF1}" srcOrd="0" destOrd="0" presId="urn:microsoft.com/office/officeart/2005/8/layout/cycle1"/>
    <dgm:cxn modelId="{9A4CAACF-1B73-4F86-8D13-A816E0AB62AD}" type="presOf" srcId="{0DF98A50-7104-4185-B35F-64EC7E9B93DA}" destId="{5CC934D2-2950-427F-80C4-499FD45CBF2F}" srcOrd="0" destOrd="0" presId="urn:microsoft.com/office/officeart/2005/8/layout/cycle1"/>
    <dgm:cxn modelId="{85370FE6-63F2-4E5D-8EFF-1EBFA9B42A4E}" type="presOf" srcId="{C046AE17-A161-4E00-887C-5B0D492CB19B}" destId="{AFEAA8DA-218C-43DA-B4A7-19363400A17A}" srcOrd="0" destOrd="0" presId="urn:microsoft.com/office/officeart/2005/8/layout/cycle1"/>
    <dgm:cxn modelId="{7DB65EF1-2C64-4E04-9FC0-93692C0C4DAD}" srcId="{0DF98A50-7104-4185-B35F-64EC7E9B93DA}" destId="{29ED0468-0C94-4F91-B1AC-B06EF711A230}" srcOrd="1" destOrd="0" parTransId="{7C1D2BE1-35E0-4172-87AB-1DFC81397EF7}" sibTransId="{0BA094A1-4038-4136-A1C5-0C5C73709751}"/>
    <dgm:cxn modelId="{F9590A11-4974-4BF0-9FD8-C56835C2B7A2}" type="presParOf" srcId="{5CC934D2-2950-427F-80C4-499FD45CBF2F}" destId="{9E9A1662-43C0-40CF-9241-2DA98987A088}" srcOrd="0" destOrd="0" presId="urn:microsoft.com/office/officeart/2005/8/layout/cycle1"/>
    <dgm:cxn modelId="{B19F7531-31FA-48B0-8A39-11F5C0323690}" type="presParOf" srcId="{5CC934D2-2950-427F-80C4-499FD45CBF2F}" destId="{D3E654E6-BA3E-40AE-8942-C32FF756E319}" srcOrd="1" destOrd="0" presId="urn:microsoft.com/office/officeart/2005/8/layout/cycle1"/>
    <dgm:cxn modelId="{C42816B0-AEDD-492D-BB95-CF978FC8ECF2}" type="presParOf" srcId="{5CC934D2-2950-427F-80C4-499FD45CBF2F}" destId="{1533FA03-CF9C-47BA-B079-A42FD6B3C0E8}" srcOrd="2" destOrd="0" presId="urn:microsoft.com/office/officeart/2005/8/layout/cycle1"/>
    <dgm:cxn modelId="{F37E0079-AE76-49EB-9DEB-D0C699CF6C36}" type="presParOf" srcId="{5CC934D2-2950-427F-80C4-499FD45CBF2F}" destId="{85C8906D-34F2-4ABC-AC2C-761F9DAB8AF3}" srcOrd="3" destOrd="0" presId="urn:microsoft.com/office/officeart/2005/8/layout/cycle1"/>
    <dgm:cxn modelId="{FEEA1FC5-45F1-4958-9E7B-69470486414E}" type="presParOf" srcId="{5CC934D2-2950-427F-80C4-499FD45CBF2F}" destId="{1DF8D049-71B0-40D1-B7F1-397164A5E635}" srcOrd="4" destOrd="0" presId="urn:microsoft.com/office/officeart/2005/8/layout/cycle1"/>
    <dgm:cxn modelId="{E2E7C5B9-73CD-4B34-A283-2CC143BF2B3E}" type="presParOf" srcId="{5CC934D2-2950-427F-80C4-499FD45CBF2F}" destId="{5639B1F7-DFC0-4D8E-BF48-C7D3AFD97D7F}" srcOrd="5" destOrd="0" presId="urn:microsoft.com/office/officeart/2005/8/layout/cycle1"/>
    <dgm:cxn modelId="{E117455A-AD34-490A-B1C7-96A59B47901D}" type="presParOf" srcId="{5CC934D2-2950-427F-80C4-499FD45CBF2F}" destId="{5E78B4A0-E584-44E9-9C4E-9676D3FC759A}" srcOrd="6" destOrd="0" presId="urn:microsoft.com/office/officeart/2005/8/layout/cycle1"/>
    <dgm:cxn modelId="{FB275156-383C-4A0D-9AAD-9097828E07AB}" type="presParOf" srcId="{5CC934D2-2950-427F-80C4-499FD45CBF2F}" destId="{AFEAA8DA-218C-43DA-B4A7-19363400A17A}" srcOrd="7" destOrd="0" presId="urn:microsoft.com/office/officeart/2005/8/layout/cycle1"/>
    <dgm:cxn modelId="{933D9D43-5DEB-4F80-875F-57CDFCBCFA84}" type="presParOf" srcId="{5CC934D2-2950-427F-80C4-499FD45CBF2F}" destId="{76AAF6F4-C50B-4DA9-82EB-8C16DACCEAF1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654E6-BA3E-40AE-8942-C32FF756E319}">
      <dsp:nvSpPr>
        <dsp:cNvPr id="0" name=""/>
        <dsp:cNvSpPr/>
      </dsp:nvSpPr>
      <dsp:spPr>
        <a:xfrm>
          <a:off x="4695402" y="333237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 dirty="0"/>
            <a:t>Fraction</a:t>
          </a:r>
        </a:p>
      </dsp:txBody>
      <dsp:txXfrm>
        <a:off x="4695402" y="333237"/>
        <a:ext cx="1707802" cy="1707802"/>
      </dsp:txXfrm>
    </dsp:sp>
    <dsp:sp modelId="{1533FA03-CF9C-47BA-B079-A42FD6B3C0E8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2961472"/>
            <a:gd name="adj4" fmla="val 53319"/>
            <a:gd name="adj5" fmla="val 963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8D049-71B0-40D1-B7F1-397164A5E635}">
      <dsp:nvSpPr>
        <dsp:cNvPr id="0" name=""/>
        <dsp:cNvSpPr/>
      </dsp:nvSpPr>
      <dsp:spPr>
        <a:xfrm>
          <a:off x="3260898" y="2817871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 dirty="0"/>
            <a:t>Decimal</a:t>
          </a:r>
        </a:p>
      </dsp:txBody>
      <dsp:txXfrm>
        <a:off x="3260898" y="2817871"/>
        <a:ext cx="1707802" cy="1707802"/>
      </dsp:txXfrm>
    </dsp:sp>
    <dsp:sp modelId="{5639B1F7-DFC0-4D8E-BF48-C7D3AFD97D7F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10170043"/>
            <a:gd name="adj4" fmla="val 7261890"/>
            <a:gd name="adj5" fmla="val 963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AA8DA-218C-43DA-B4A7-19363400A17A}">
      <dsp:nvSpPr>
        <dsp:cNvPr id="0" name=""/>
        <dsp:cNvSpPr/>
      </dsp:nvSpPr>
      <dsp:spPr>
        <a:xfrm>
          <a:off x="1826394" y="333237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 dirty="0"/>
            <a:t>Percentage</a:t>
          </a:r>
        </a:p>
      </dsp:txBody>
      <dsp:txXfrm>
        <a:off x="1826394" y="333237"/>
        <a:ext cx="1707802" cy="1707802"/>
      </dsp:txXfrm>
    </dsp:sp>
    <dsp:sp modelId="{76AAF6F4-C50B-4DA9-82EB-8C16DACCEAF1}">
      <dsp:nvSpPr>
        <dsp:cNvPr id="0" name=""/>
        <dsp:cNvSpPr/>
      </dsp:nvSpPr>
      <dsp:spPr>
        <a:xfrm>
          <a:off x="2097603" y="-1846"/>
          <a:ext cx="4034392" cy="4034392"/>
        </a:xfrm>
        <a:prstGeom prst="circularArrow">
          <a:avLst>
            <a:gd name="adj1" fmla="val 8255"/>
            <a:gd name="adj2" fmla="val 576638"/>
            <a:gd name="adj3" fmla="val 16854496"/>
            <a:gd name="adj4" fmla="val 14968867"/>
            <a:gd name="adj5" fmla="val 963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654E6-BA3E-40AE-8942-C32FF756E319}">
      <dsp:nvSpPr>
        <dsp:cNvPr id="0" name=""/>
        <dsp:cNvSpPr/>
      </dsp:nvSpPr>
      <dsp:spPr>
        <a:xfrm>
          <a:off x="3237434" y="222875"/>
          <a:ext cx="1135342" cy="113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Fraction</a:t>
          </a:r>
        </a:p>
      </dsp:txBody>
      <dsp:txXfrm>
        <a:off x="3237434" y="222875"/>
        <a:ext cx="1135342" cy="1135342"/>
      </dsp:txXfrm>
    </dsp:sp>
    <dsp:sp modelId="{1533FA03-CF9C-47BA-B079-A42FD6B3C0E8}">
      <dsp:nvSpPr>
        <dsp:cNvPr id="0" name=""/>
        <dsp:cNvSpPr/>
      </dsp:nvSpPr>
      <dsp:spPr>
        <a:xfrm>
          <a:off x="1506194" y="-1020"/>
          <a:ext cx="2686587" cy="2686587"/>
        </a:xfrm>
        <a:prstGeom prst="circularArrow">
          <a:avLst>
            <a:gd name="adj1" fmla="val 8241"/>
            <a:gd name="adj2" fmla="val 575450"/>
            <a:gd name="adj3" fmla="val 2966907"/>
            <a:gd name="adj4" fmla="val 49678"/>
            <a:gd name="adj5" fmla="val 9614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8D049-71B0-40D1-B7F1-397164A5E635}">
      <dsp:nvSpPr>
        <dsp:cNvPr id="0" name=""/>
        <dsp:cNvSpPr/>
      </dsp:nvSpPr>
      <dsp:spPr>
        <a:xfrm>
          <a:off x="2281816" y="1878053"/>
          <a:ext cx="1135342" cy="113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Decimal</a:t>
          </a:r>
        </a:p>
      </dsp:txBody>
      <dsp:txXfrm>
        <a:off x="2281816" y="1878053"/>
        <a:ext cx="1135342" cy="1135342"/>
      </dsp:txXfrm>
    </dsp:sp>
    <dsp:sp modelId="{5639B1F7-DFC0-4D8E-BF48-C7D3AFD97D7F}">
      <dsp:nvSpPr>
        <dsp:cNvPr id="0" name=""/>
        <dsp:cNvSpPr/>
      </dsp:nvSpPr>
      <dsp:spPr>
        <a:xfrm>
          <a:off x="1506194" y="-1020"/>
          <a:ext cx="2686587" cy="2686587"/>
        </a:xfrm>
        <a:prstGeom prst="circularArrow">
          <a:avLst>
            <a:gd name="adj1" fmla="val 8241"/>
            <a:gd name="adj2" fmla="val 575450"/>
            <a:gd name="adj3" fmla="val 10174872"/>
            <a:gd name="adj4" fmla="val 7257643"/>
            <a:gd name="adj5" fmla="val 9614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AA8DA-218C-43DA-B4A7-19363400A17A}">
      <dsp:nvSpPr>
        <dsp:cNvPr id="0" name=""/>
        <dsp:cNvSpPr/>
      </dsp:nvSpPr>
      <dsp:spPr>
        <a:xfrm>
          <a:off x="1326198" y="222875"/>
          <a:ext cx="1135342" cy="113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Percentage</a:t>
          </a:r>
        </a:p>
      </dsp:txBody>
      <dsp:txXfrm>
        <a:off x="1326198" y="222875"/>
        <a:ext cx="1135342" cy="1135342"/>
      </dsp:txXfrm>
    </dsp:sp>
    <dsp:sp modelId="{76AAF6F4-C50B-4DA9-82EB-8C16DACCEAF1}">
      <dsp:nvSpPr>
        <dsp:cNvPr id="0" name=""/>
        <dsp:cNvSpPr/>
      </dsp:nvSpPr>
      <dsp:spPr>
        <a:xfrm>
          <a:off x="1506194" y="-1020"/>
          <a:ext cx="2686587" cy="2686587"/>
        </a:xfrm>
        <a:prstGeom prst="circularArrow">
          <a:avLst>
            <a:gd name="adj1" fmla="val 8241"/>
            <a:gd name="adj2" fmla="val 575450"/>
            <a:gd name="adj3" fmla="val 16859571"/>
            <a:gd name="adj4" fmla="val 14964979"/>
            <a:gd name="adj5" fmla="val 9614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69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30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407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29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6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74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32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6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98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87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00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74CEC-90CC-46C6-9973-06C39FC4C068}" type="datetimeFigureOut">
              <a:rPr lang="en-GB" smtClean="0"/>
              <a:t>31/05/2023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26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1.xml"/><Relationship Id="rId13" Type="http://schemas.openxmlformats.org/officeDocument/2006/relationships/slide" Target="slide92.xml"/><Relationship Id="rId3" Type="http://schemas.openxmlformats.org/officeDocument/2006/relationships/slide" Target="slide5.xml"/><Relationship Id="rId7" Type="http://schemas.openxmlformats.org/officeDocument/2006/relationships/slide" Target="slide19.xml"/><Relationship Id="rId12" Type="http://schemas.openxmlformats.org/officeDocument/2006/relationships/slide" Target="slide8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42.xml"/><Relationship Id="rId11" Type="http://schemas.openxmlformats.org/officeDocument/2006/relationships/slide" Target="slide60.xml"/><Relationship Id="rId5" Type="http://schemas.openxmlformats.org/officeDocument/2006/relationships/slide" Target="slide26.xml"/><Relationship Id="rId10" Type="http://schemas.openxmlformats.org/officeDocument/2006/relationships/slide" Target="slide69.xml"/><Relationship Id="rId4" Type="http://schemas.openxmlformats.org/officeDocument/2006/relationships/slide" Target="slide13.xml"/><Relationship Id="rId9" Type="http://schemas.openxmlformats.org/officeDocument/2006/relationships/slide" Target="slide77.xml"/><Relationship Id="rId14" Type="http://schemas.openxmlformats.org/officeDocument/2006/relationships/slide" Target="slide9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3.GIF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Fractions, Decimals and Percentages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Grades F to 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56" y="4756909"/>
            <a:ext cx="1523032" cy="140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1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/>
          <a:lstStyle/>
          <a:p>
            <a:r>
              <a:rPr lang="en-GB" b="1" dirty="0"/>
              <a:t>Hyperlinks!</a:t>
            </a:r>
          </a:p>
        </p:txBody>
      </p:sp>
      <p:sp>
        <p:nvSpPr>
          <p:cNvPr id="3" name="Oval 2">
            <a:hlinkClick r:id="rId2" action="ppaction://hlinksldjump"/>
          </p:cNvPr>
          <p:cNvSpPr/>
          <p:nvPr/>
        </p:nvSpPr>
        <p:spPr>
          <a:xfrm>
            <a:off x="323528" y="260648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What is a fraction?</a:t>
            </a:r>
          </a:p>
        </p:txBody>
      </p:sp>
      <p:sp>
        <p:nvSpPr>
          <p:cNvPr id="4" name="Oval 3">
            <a:hlinkClick r:id="rId3" action="ppaction://hlinksldjump"/>
          </p:cNvPr>
          <p:cNvSpPr/>
          <p:nvPr/>
        </p:nvSpPr>
        <p:spPr>
          <a:xfrm>
            <a:off x="2505549" y="116632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Simplifying fractions</a:t>
            </a:r>
          </a:p>
        </p:txBody>
      </p:sp>
      <p:sp>
        <p:nvSpPr>
          <p:cNvPr id="5" name="Oval 4">
            <a:hlinkClick r:id="rId4" action="ppaction://hlinksldjump"/>
          </p:cNvPr>
          <p:cNvSpPr/>
          <p:nvPr/>
        </p:nvSpPr>
        <p:spPr>
          <a:xfrm>
            <a:off x="4644008" y="116632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Using equivalent fractions</a:t>
            </a:r>
          </a:p>
        </p:txBody>
      </p:sp>
      <p:sp>
        <p:nvSpPr>
          <p:cNvPr id="6" name="Oval 5">
            <a:hlinkClick r:id="rId5" action="ppaction://hlinksldjump"/>
          </p:cNvPr>
          <p:cNvSpPr/>
          <p:nvPr/>
        </p:nvSpPr>
        <p:spPr>
          <a:xfrm>
            <a:off x="323528" y="1844824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The four rules and decimals</a:t>
            </a:r>
          </a:p>
        </p:txBody>
      </p:sp>
      <p:sp>
        <p:nvSpPr>
          <p:cNvPr id="7" name="Oval 6">
            <a:hlinkClick r:id="rId6" action="ppaction://hlinksldjump"/>
          </p:cNvPr>
          <p:cNvSpPr/>
          <p:nvPr/>
        </p:nvSpPr>
        <p:spPr>
          <a:xfrm>
            <a:off x="3558952" y="1548288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Fraction and percentage of an amount</a:t>
            </a:r>
          </a:p>
        </p:txBody>
      </p:sp>
      <p:sp>
        <p:nvSpPr>
          <p:cNvPr id="8" name="Oval 7">
            <a:hlinkClick r:id="rId7" action="ppaction://hlinksldjump"/>
          </p:cNvPr>
          <p:cNvSpPr/>
          <p:nvPr/>
        </p:nvSpPr>
        <p:spPr>
          <a:xfrm>
            <a:off x="6732240" y="186172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Equivalent fractions, decimals, percentages</a:t>
            </a:r>
          </a:p>
        </p:txBody>
      </p:sp>
      <p:sp>
        <p:nvSpPr>
          <p:cNvPr id="9" name="Oval 8">
            <a:hlinkClick r:id="rId8" action="ppaction://hlinksldjump"/>
          </p:cNvPr>
          <p:cNvSpPr/>
          <p:nvPr/>
        </p:nvSpPr>
        <p:spPr>
          <a:xfrm>
            <a:off x="6732240" y="1844824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Adding and subtracting fractions</a:t>
            </a:r>
          </a:p>
        </p:txBody>
      </p:sp>
      <p:sp>
        <p:nvSpPr>
          <p:cNvPr id="10" name="Oval 9">
            <a:hlinkClick r:id="rId9" action="ppaction://hlinksldjump"/>
          </p:cNvPr>
          <p:cNvSpPr/>
          <p:nvPr/>
        </p:nvSpPr>
        <p:spPr>
          <a:xfrm>
            <a:off x="6732240" y="3501008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Calculating percentages using multipliers</a:t>
            </a:r>
          </a:p>
        </p:txBody>
      </p:sp>
      <p:sp>
        <p:nvSpPr>
          <p:cNvPr id="11" name="Oval 10">
            <a:hlinkClick r:id="rId10" action="ppaction://hlinksldjump"/>
          </p:cNvPr>
          <p:cNvSpPr/>
          <p:nvPr/>
        </p:nvSpPr>
        <p:spPr>
          <a:xfrm>
            <a:off x="3558952" y="3501008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The four rules with mixed numbers</a:t>
            </a:r>
          </a:p>
        </p:txBody>
      </p:sp>
      <p:sp>
        <p:nvSpPr>
          <p:cNvPr id="12" name="Oval 11">
            <a:hlinkClick r:id="rId11" action="ppaction://hlinksldjump"/>
          </p:cNvPr>
          <p:cNvSpPr/>
          <p:nvPr/>
        </p:nvSpPr>
        <p:spPr>
          <a:xfrm>
            <a:off x="323528" y="3501008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Multiplying and dividing fractions</a:t>
            </a:r>
          </a:p>
        </p:txBody>
      </p:sp>
      <p:sp>
        <p:nvSpPr>
          <p:cNvPr id="13" name="Oval 12">
            <a:hlinkClick r:id="rId12" action="ppaction://hlinksldjump"/>
          </p:cNvPr>
          <p:cNvSpPr/>
          <p:nvPr/>
        </p:nvSpPr>
        <p:spPr>
          <a:xfrm>
            <a:off x="382216" y="5085184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Percentage change</a:t>
            </a:r>
          </a:p>
        </p:txBody>
      </p:sp>
      <p:sp>
        <p:nvSpPr>
          <p:cNvPr id="14" name="Oval 13">
            <a:hlinkClick r:id="rId13" action="ppaction://hlinksldjump"/>
          </p:cNvPr>
          <p:cNvSpPr/>
          <p:nvPr/>
        </p:nvSpPr>
        <p:spPr>
          <a:xfrm>
            <a:off x="3558952" y="5085184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Repeated percentage change</a:t>
            </a:r>
          </a:p>
        </p:txBody>
      </p:sp>
      <p:sp>
        <p:nvSpPr>
          <p:cNvPr id="15" name="Oval 14">
            <a:hlinkClick r:id="rId14" action="ppaction://hlinksldjump"/>
          </p:cNvPr>
          <p:cNvSpPr/>
          <p:nvPr/>
        </p:nvSpPr>
        <p:spPr>
          <a:xfrm>
            <a:off x="6732240" y="5085184"/>
            <a:ext cx="2016224" cy="136815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Recurring decimals</a:t>
            </a:r>
          </a:p>
        </p:txBody>
      </p:sp>
    </p:spTree>
    <p:extLst>
      <p:ext uri="{BB962C8B-B14F-4D97-AF65-F5344CB8AC3E}">
        <p14:creationId xmlns:p14="http://schemas.microsoft.com/office/powerpoint/2010/main" val="400574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GB" b="1" dirty="0"/>
              <a:t>What is a fraction?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322636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𝑊h𝑎𝑡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𝑦𝑜𝑢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𝑤𝑎𝑛𝑡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𝑇𝑜𝑡𝑎𝑙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  <a:p>
                <a:pPr marL="0" indent="0" algn="ctr">
                  <a:buNone/>
                </a:pPr>
                <a:endParaRPr lang="en-GB" b="1" dirty="0"/>
              </a:p>
              <a:p>
                <a:pPr marL="0" indent="0" algn="ctr">
                  <a:buNone/>
                </a:pPr>
                <a:r>
                  <a:rPr lang="en-GB" b="1" dirty="0"/>
                  <a:t>For example:</a:t>
                </a:r>
              </a:p>
              <a:p>
                <a:pPr marL="0" indent="0" algn="ctr">
                  <a:buNone/>
                </a:pPr>
                <a:r>
                  <a:rPr lang="en-GB" dirty="0"/>
                  <a:t>Shade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of this shape: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3226369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203848" y="4207098"/>
            <a:ext cx="86409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067944" y="4207098"/>
            <a:ext cx="86409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932040" y="4207098"/>
            <a:ext cx="86409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339752" y="4207098"/>
            <a:ext cx="86409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796136" y="4207098"/>
            <a:ext cx="86409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339752" y="4221088"/>
            <a:ext cx="864096" cy="864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203848" y="4221088"/>
            <a:ext cx="864096" cy="864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067944" y="4221088"/>
            <a:ext cx="864096" cy="864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555776" y="5411435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What you want (shaded)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856" y="5805264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Total = 5</a:t>
            </a:r>
          </a:p>
        </p:txBody>
      </p:sp>
    </p:spTree>
    <p:extLst>
      <p:ext uri="{BB962C8B-B14F-4D97-AF65-F5344CB8AC3E}">
        <p14:creationId xmlns:p14="http://schemas.microsoft.com/office/powerpoint/2010/main" val="412056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45736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0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Simplifying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57" y="4742629"/>
            <a:ext cx="1763439" cy="16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1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47682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08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to simplify a fraction: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Find a times table that both top (numerator) and bottom (denominator) are in.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Divide both top and bottom by that number.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Keep going until the only times table that goes into both is the 1 times table.</a:t>
            </a:r>
          </a:p>
        </p:txBody>
      </p:sp>
    </p:spTree>
    <p:extLst>
      <p:ext uri="{BB962C8B-B14F-4D97-AF65-F5344CB8AC3E}">
        <p14:creationId xmlns:p14="http://schemas.microsoft.com/office/powerpoint/2010/main" val="66468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Simplifying using pictures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25144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 of this shape is shaded. Simplify the fraction.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I could make the two rows into one.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25144"/>
              </a:xfrm>
              <a:blipFill rotWithShape="1">
                <a:blip r:embed="rId2"/>
                <a:stretch>
                  <a:fillRect t="-4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627784" y="2420888"/>
            <a:ext cx="936104" cy="17281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563888" y="2420888"/>
            <a:ext cx="936104" cy="17281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499992" y="2420888"/>
            <a:ext cx="936104" cy="17281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5436096" y="2420888"/>
            <a:ext cx="936104" cy="1728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>
            <a:stCxn id="4" idx="1"/>
            <a:endCxn id="7" idx="3"/>
          </p:cNvCxnSpPr>
          <p:nvPr/>
        </p:nvCxnSpPr>
        <p:spPr>
          <a:xfrm>
            <a:off x="2627784" y="3284984"/>
            <a:ext cx="37444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2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b="1" dirty="0"/>
              <a:t>Without a picture, an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229600" cy="4853136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25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45</m:t>
                        </m:r>
                      </m:den>
                    </m:f>
                  </m:oMath>
                </a14:m>
                <a:r>
                  <a:rPr lang="en-GB" dirty="0"/>
                  <a:t> to its lowest terms.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What times table are 25 and 45 in?</a:t>
                </a:r>
              </a:p>
              <a:p>
                <a:pPr marL="0" indent="0" algn="ctr">
                  <a:buNone/>
                </a:pPr>
                <a:r>
                  <a:rPr lang="en-GB" dirty="0"/>
                  <a:t>The 5 times table!</a:t>
                </a:r>
              </a:p>
              <a:p>
                <a:pPr marL="0" indent="0" algn="ctr">
                  <a:buNone/>
                </a:pPr>
                <a:r>
                  <a:rPr lang="en-GB" dirty="0"/>
                  <a:t>So divide them both by 5.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smtClean="0">
                            <a:latin typeface="Cambria Math"/>
                          </a:rPr>
                          <m:t>25</m:t>
                        </m:r>
                      </m:num>
                      <m:den>
                        <m:r>
                          <a:rPr lang="en-GB" sz="4400" b="0" i="1" smtClean="0">
                            <a:latin typeface="Cambria Math"/>
                          </a:rPr>
                          <m:t>45</m:t>
                        </m:r>
                      </m:den>
                    </m:f>
                  </m:oMath>
                </a14:m>
                <a:r>
                  <a:rPr lang="en-GB" sz="4400" dirty="0"/>
                  <a:t>     =       </a:t>
                </a:r>
                <a:r>
                  <a:rPr lang="en-GB" sz="4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229600" cy="4853136"/>
              </a:xfrm>
              <a:blipFill rotWithShape="1">
                <a:blip r:embed="rId2"/>
                <a:stretch>
                  <a:fillRect t="-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rved Down Arrow 3"/>
          <p:cNvSpPr/>
          <p:nvPr/>
        </p:nvSpPr>
        <p:spPr>
          <a:xfrm>
            <a:off x="3563888" y="4437112"/>
            <a:ext cx="2016224" cy="4320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3563888" y="6021288"/>
            <a:ext cx="2016224" cy="432048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65966" y="4454053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÷5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7964" y="5919663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÷5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76056" y="4921755"/>
                <a:ext cx="936104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4921755"/>
                <a:ext cx="936104" cy="10275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80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b="1" dirty="0"/>
              <a:t>Another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229600" cy="485313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48</m:t>
                        </m:r>
                      </m:den>
                    </m:f>
                  </m:oMath>
                </a14:m>
                <a:r>
                  <a:rPr lang="en-GB" dirty="0"/>
                  <a:t> to its lowest terms.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What times table are 36 and 48 in?</a:t>
                </a:r>
              </a:p>
              <a:p>
                <a:pPr marL="0" indent="0" algn="ctr">
                  <a:buNone/>
                </a:pPr>
                <a:r>
                  <a:rPr lang="en-GB" dirty="0"/>
                  <a:t>They are in lots of tables, so try one and keep going until you can’t do any more!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b="0" i="1" smtClean="0">
                            <a:latin typeface="Cambria Math"/>
                          </a:rPr>
                          <m:t>36</m:t>
                        </m:r>
                      </m:num>
                      <m:den>
                        <m:r>
                          <a:rPr lang="en-GB" sz="4400" b="0" i="1" smtClean="0">
                            <a:latin typeface="Cambria Math"/>
                          </a:rPr>
                          <m:t>48</m:t>
                        </m:r>
                      </m:den>
                    </m:f>
                  </m:oMath>
                </a14:m>
                <a:r>
                  <a:rPr lang="en-GB" sz="4400" dirty="0"/>
                  <a:t>     =                      </a:t>
                </a:r>
                <a:r>
                  <a:rPr lang="en-GB" sz="4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229600" cy="4853136"/>
              </a:xfrm>
              <a:blipFill rotWithShape="1">
                <a:blip r:embed="rId2"/>
                <a:stretch>
                  <a:fillRect b="-11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rved Down Arrow 3"/>
          <p:cNvSpPr/>
          <p:nvPr/>
        </p:nvSpPr>
        <p:spPr>
          <a:xfrm>
            <a:off x="2483768" y="4678586"/>
            <a:ext cx="1944216" cy="4320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2483768" y="6237312"/>
            <a:ext cx="1944216" cy="432048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85846" y="4695527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÷4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7844" y="6135687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÷4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5936" y="5170086"/>
                <a:ext cx="93610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5170086"/>
                <a:ext cx="936104" cy="101752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940152" y="5209787"/>
                <a:ext cx="93610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5209787"/>
                <a:ext cx="936104" cy="101752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rved Down Arrow 9"/>
          <p:cNvSpPr/>
          <p:nvPr/>
        </p:nvSpPr>
        <p:spPr>
          <a:xfrm>
            <a:off x="4427984" y="4678586"/>
            <a:ext cx="2016224" cy="4320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>
            <a:off x="4427984" y="6237312"/>
            <a:ext cx="2016224" cy="432048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30062" y="4695527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÷3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2060" y="6135687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÷3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038" y="530120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51070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Simplify these, giving your answers in their simplest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30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35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49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42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48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42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84168" y="1628800"/>
                <a:ext cx="72008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1628800"/>
                <a:ext cx="720080" cy="7848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84168" y="2428146"/>
                <a:ext cx="720080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2428146"/>
                <a:ext cx="720080" cy="81804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84168" y="3212976"/>
                <a:ext cx="72008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3212976"/>
                <a:ext cx="720080" cy="7861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84168" y="4084330"/>
                <a:ext cx="72008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4084330"/>
                <a:ext cx="720080" cy="7861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84168" y="4948426"/>
                <a:ext cx="720080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4948426"/>
                <a:ext cx="720080" cy="81567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1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919964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0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Using equivalent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493772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05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607840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When would you use equivalent fractions?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The main use for them at this stage is to put fractions in order.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If all the fractions you are ordering are over different denominators, it’s difficult.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If they are all over the same denominator, it’s easy because you just compare the numerators.</a:t>
            </a:r>
          </a:p>
        </p:txBody>
      </p:sp>
    </p:spTree>
    <p:extLst>
      <p:ext uri="{BB962C8B-B14F-4D97-AF65-F5344CB8AC3E}">
        <p14:creationId xmlns:p14="http://schemas.microsoft.com/office/powerpoint/2010/main" val="354290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pPr marL="0" indent="0"/>
            <a:r>
              <a:rPr lang="en-GB" sz="3600" b="1" dirty="0"/>
              <a:t>Put these fractions in ascending order: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518457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11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What number appears in all the times tables of the denominators?</a:t>
                </a:r>
              </a:p>
              <a:p>
                <a:pPr marL="0" indent="0" algn="ctr">
                  <a:buNone/>
                </a:pPr>
                <a:r>
                  <a:rPr lang="en-GB" b="1" dirty="0"/>
                  <a:t>Answer: </a:t>
                </a:r>
                <a:r>
                  <a:rPr lang="en-GB" dirty="0"/>
                  <a:t>40, so put them all “over” 40.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Answer: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5184576"/>
              </a:xfrm>
              <a:blipFill rotWithShape="1">
                <a:blip r:embed="rId2"/>
                <a:stretch>
                  <a:fillRect l="-74" r="-1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39752" y="2469311"/>
                <a:ext cx="936104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?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2469311"/>
                <a:ext cx="936104" cy="81567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91880" y="2469311"/>
                <a:ext cx="936104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?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469311"/>
                <a:ext cx="936104" cy="81567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6016" y="2469311"/>
                <a:ext cx="936104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?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469311"/>
                <a:ext cx="936104" cy="81567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40152" y="2469311"/>
                <a:ext cx="936104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?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469311"/>
                <a:ext cx="936104" cy="81567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>
            <a:off x="2987824" y="1772816"/>
            <a:ext cx="504056" cy="6480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995936" y="2060848"/>
            <a:ext cx="72008" cy="36004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76056" y="2060848"/>
            <a:ext cx="72008" cy="360040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652120" y="1772816"/>
            <a:ext cx="504056" cy="648072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83768" y="2420888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5896" y="2420888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0070C0"/>
                </a:solidFill>
              </a:rP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0032" y="2420888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3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4168" y="2420888"/>
            <a:ext cx="57606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7030A0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51348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29" grpId="0" animBg="1"/>
      <p:bldP spid="35" grpId="0" animBg="1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Put these fractions in descending order: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46876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4800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b="0" i="1" dirty="0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sz="4800" b="0" i="1" dirty="0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b="0" i="1" dirty="0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4800" b="0" i="1" dirty="0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4800" b="0" i="1" dirty="0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800" b="0" i="1" dirty="0" smtClean="0">
                            <a:latin typeface="Cambria Math"/>
                          </a:rPr>
                          <m:t>7</m:t>
                        </m:r>
                      </m:num>
                      <m:den>
                        <m:r>
                          <a:rPr lang="en-GB" sz="4800" b="0" i="1" dirty="0" smtClean="0">
                            <a:latin typeface="Cambria Math"/>
                          </a:rPr>
                          <m:t>20</m:t>
                        </m:r>
                      </m:den>
                    </m:f>
                  </m:oMath>
                </a14:m>
                <a:endParaRPr lang="en-GB" sz="4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46876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87624" y="4581128"/>
                <a:ext cx="6984776" cy="1017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0" b="1" dirty="0">
                    <a:solidFill>
                      <a:srgbClr val="FF0000"/>
                    </a:solidFill>
                  </a:rPr>
                  <a:t>Answer: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4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sz="4000" b="1" dirty="0">
                    <a:solidFill>
                      <a:srgbClr val="FF0000"/>
                    </a:solidFill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4000" b="1" dirty="0">
                    <a:solidFill>
                      <a:srgbClr val="FF0000"/>
                    </a:solidFill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num>
                      <m:den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GB" sz="4000" b="1" dirty="0">
                    <a:solidFill>
                      <a:srgbClr val="FF0000"/>
                    </a:solidFill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GB" sz="4000" b="1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4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endParaRPr lang="en-GB" sz="4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581128"/>
                <a:ext cx="6984776" cy="1017330"/>
              </a:xfrm>
              <a:prstGeom prst="rect">
                <a:avLst/>
              </a:prstGeom>
              <a:blipFill rotWithShape="1">
                <a:blip r:embed="rId3"/>
                <a:stretch>
                  <a:fillRect b="-89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74428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283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Equivalent fractions, decimals and percentages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26" y="4864582"/>
            <a:ext cx="1264146" cy="144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66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70283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256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b="1" dirty="0"/>
              <a:t>The cycle!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28959"/>
              </p:ext>
            </p:extLst>
          </p:nvPr>
        </p:nvGraphicFramePr>
        <p:xfrm>
          <a:off x="457200" y="199938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0152" y="4470211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Top ÷ Bottom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672" y="467723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×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3888" y="1301859"/>
            <a:ext cx="194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Put over 100 and simplify</a:t>
            </a:r>
          </a:p>
        </p:txBody>
      </p:sp>
    </p:spTree>
    <p:extLst>
      <p:ext uri="{BB962C8B-B14F-4D97-AF65-F5344CB8AC3E}">
        <p14:creationId xmlns:p14="http://schemas.microsoft.com/office/powerpoint/2010/main" val="80296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b="1" dirty="0"/>
              <a:t>How does the cycle work?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594989"/>
              </p:ext>
            </p:extLst>
          </p:nvPr>
        </p:nvGraphicFramePr>
        <p:xfrm>
          <a:off x="1465312" y="1495325"/>
          <a:ext cx="5698976" cy="3013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48064" y="3242913"/>
            <a:ext cx="1179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Top ÷ Bottom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4403" y="3366023"/>
            <a:ext cx="1179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×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3888" y="980728"/>
            <a:ext cx="1516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Put over 100 and simplify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31640" y="4149080"/>
                <a:ext cx="6408712" cy="704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800" dirty="0"/>
                  <a:t> as a percentage and decimal.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4149080"/>
                <a:ext cx="6408712" cy="704552"/>
              </a:xfrm>
              <a:prstGeom prst="rect">
                <a:avLst/>
              </a:prstGeom>
              <a:blipFill rotWithShape="1">
                <a:blip r:embed="rId7"/>
                <a:stretch>
                  <a:fillRect b="-1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331640" y="4797152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As a decimal: 3 ÷ 8 = 0.375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1640" y="5301208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As a percentage: 0.375 × 100 = 37.5%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31640" y="5877272"/>
                <a:ext cx="6408712" cy="71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Back to a fraction: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37.5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375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1000</m:t>
                        </m:r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75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200</m:t>
                        </m:r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877272"/>
                <a:ext cx="6408712" cy="710707"/>
              </a:xfrm>
              <a:prstGeom prst="rect">
                <a:avLst/>
              </a:prstGeom>
              <a:blipFill rotWithShape="1"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8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en-GB" b="1" dirty="0"/>
              <a:t>How it’s used in exams: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229600" cy="504056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This is a typical exam style question: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Put these in </a:t>
                </a:r>
                <a:r>
                  <a:rPr lang="en-GB" dirty="0">
                    <a:solidFill>
                      <a:srgbClr val="FF0000"/>
                    </a:solidFill>
                  </a:rPr>
                  <a:t>ascending</a:t>
                </a:r>
                <a:r>
                  <a:rPr lang="en-GB" dirty="0"/>
                  <a:t> order: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   </a:t>
                </a:r>
                <a:r>
                  <a:rPr lang="en-GB" dirty="0">
                    <a:solidFill>
                      <a:schemeClr val="accent6">
                        <a:lumMod val="75000"/>
                      </a:schemeClr>
                    </a:solidFill>
                  </a:rPr>
                  <a:t>0.2</a:t>
                </a:r>
                <a:r>
                  <a:rPr lang="en-GB" dirty="0"/>
                  <a:t>    </a:t>
                </a:r>
                <a:r>
                  <a:rPr lang="en-GB" dirty="0">
                    <a:solidFill>
                      <a:srgbClr val="7030A0"/>
                    </a:solidFill>
                  </a:rPr>
                  <a:t>40%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   </a:t>
                </a:r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0.5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Convert them all to the same thing – decimals.</a:t>
                </a:r>
              </a:p>
              <a:p>
                <a:pPr marL="0" indent="0" algn="ctr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Answer:    0.2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b="1" dirty="0">
                    <a:solidFill>
                      <a:srgbClr val="FF0000"/>
                    </a:solidFill>
                  </a:rPr>
                  <a:t>    40%    0.5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229600" cy="5040560"/>
              </a:xfrm>
              <a:blipFill rotWithShape="1">
                <a:blip r:embed="rId2"/>
                <a:stretch>
                  <a:fillRect t="-25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115616" y="3985900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70C0"/>
                </a:solidFill>
              </a:rPr>
              <a:t>0.25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5776" y="3985900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3959478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7030A0"/>
                </a:solidFill>
              </a:rPr>
              <a:t>0.4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112" y="3959478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accent3">
                    <a:lumMod val="50000"/>
                  </a:schemeClr>
                </a:solidFill>
              </a:rPr>
              <a:t>0.6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2280" y="3959478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0.5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763688" y="3501008"/>
            <a:ext cx="792088" cy="484892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275856" y="3653408"/>
            <a:ext cx="216024" cy="33249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499992" y="3653408"/>
            <a:ext cx="0" cy="30607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580112" y="3653408"/>
            <a:ext cx="288032" cy="332492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444208" y="3501008"/>
            <a:ext cx="936104" cy="48489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36296" y="2348880"/>
            <a:ext cx="180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Ascending mean “from smallest to biggest</a:t>
            </a:r>
          </a:p>
        </p:txBody>
      </p:sp>
    </p:spTree>
    <p:extLst>
      <p:ext uri="{BB962C8B-B14F-4D97-AF65-F5344CB8AC3E}">
        <p14:creationId xmlns:p14="http://schemas.microsoft.com/office/powerpoint/2010/main" val="23683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this 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68478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Put these is order, smallest first: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    0.72    67%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   0.82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684784"/>
              </a:xfrm>
              <a:blipFill rotWithShape="1">
                <a:blip r:embed="rId2"/>
                <a:stretch>
                  <a:fillRect t="-4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7544" y="4930857"/>
                <a:ext cx="8208912" cy="802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Answer: 67%    0.72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3200" b="1" dirty="0">
                    <a:solidFill>
                      <a:srgbClr val="FF0000"/>
                    </a:solidFill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num>
                      <m:den>
                        <m:r>
                          <a:rPr lang="en-GB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3200" b="1" dirty="0">
                    <a:solidFill>
                      <a:srgbClr val="FF0000"/>
                    </a:solidFill>
                  </a:rPr>
                  <a:t>    0.82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930857"/>
                <a:ext cx="8208912" cy="802399"/>
              </a:xfrm>
              <a:prstGeom prst="rect">
                <a:avLst/>
              </a:prstGeom>
              <a:blipFill rotWithShape="1">
                <a:blip r:embed="rId3"/>
                <a:stretch>
                  <a:fillRect b="-12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5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544090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07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The four rules and decimals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262" y="4754463"/>
            <a:ext cx="11334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06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38851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55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Adding and Subtracting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The key to this is to make sure that the decimal points are all in a column before you start.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So 1.45 + 12.2 would look like this:</a:t>
            </a:r>
          </a:p>
          <a:p>
            <a:pPr marL="0" indent="0" algn="ctr">
              <a:buNone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963912"/>
              </p:ext>
            </p:extLst>
          </p:nvPr>
        </p:nvGraphicFramePr>
        <p:xfrm>
          <a:off x="1637665" y="3789040"/>
          <a:ext cx="5868670" cy="2313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 dirty="0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4400" b="1" dirty="0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4400" b="1" dirty="0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4400" b="1" dirty="0">
                        <a:solidFill>
                          <a:schemeClr val="tx1"/>
                        </a:solidFill>
                        <a:effectLst/>
                        <a:latin typeface="Trebuchet MS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691680" y="5229200"/>
            <a:ext cx="56886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52120" y="5157192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6016" y="5157192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7904" y="5157192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1800" y="5157192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688" y="5157192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6105490"/>
            <a:ext cx="2069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Decimal points in a column</a:t>
            </a:r>
          </a:p>
        </p:txBody>
      </p:sp>
    </p:spTree>
    <p:extLst>
      <p:ext uri="{BB962C8B-B14F-4D97-AF65-F5344CB8AC3E}">
        <p14:creationId xmlns:p14="http://schemas.microsoft.com/office/powerpoint/2010/main" val="337368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6872"/>
          </a:xfrm>
        </p:spPr>
        <p:txBody>
          <a:bodyPr/>
          <a:lstStyle/>
          <a:p>
            <a:pPr marL="514350" indent="-514350" algn="ctr">
              <a:buFont typeface="+mj-lt"/>
              <a:buAutoNum type="arabicPeriod"/>
            </a:pPr>
            <a:r>
              <a:rPr lang="en-GB" dirty="0"/>
              <a:t>16.4 + 3.25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22.74 + 1.89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14.76 – 2.23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8.23 – 3.57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168" y="155679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19.65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219615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24.83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4168" y="2772217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12.53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168" y="3348281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4.66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157192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8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Multiplying “easy” decimals: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Count how many decimal places are in the question.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Forget the decimal points and multiply the numbers as if they were whole.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The answer needs the same number of decimal places as in the question.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4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b="1" dirty="0"/>
              <a:t>An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0160"/>
            <a:ext cx="8229600" cy="478112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Calculate 0.6 × 0.4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There are 2 decimal places in the question.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Multiply: 6 × 4 = 24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There should be 2 decimal places in the answer:</a:t>
            </a:r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0.24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5076056" y="1700808"/>
            <a:ext cx="216024" cy="43204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652120" y="1700808"/>
            <a:ext cx="216024" cy="43204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34544" y="2059418"/>
            <a:ext cx="241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7030A0"/>
                </a:solidFill>
              </a:rPr>
              <a:t>2 decimal places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593432" y="5805264"/>
            <a:ext cx="0" cy="496194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860032" y="5805264"/>
            <a:ext cx="0" cy="504056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35896" y="6228020"/>
            <a:ext cx="241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7030A0"/>
                </a:solidFill>
              </a:rPr>
              <a:t>2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186881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/>
            </a:pPr>
            <a:r>
              <a:rPr lang="en-GB" dirty="0"/>
              <a:t>0.3 × 0.4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0.5 × 0.8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0.2 × 0.3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1.2 × 0.7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0.06 × 0.3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0.04 × 0.006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168" y="155679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219615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4168" y="2772217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168" y="3348281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168" y="3924345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168" y="4500409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0.00024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2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1"/>
      <p:bldP spid="6" grpId="1"/>
      <p:bldP spid="7" grpId="1"/>
      <p:bldP spid="8" grpId="1"/>
      <p:bldP spid="9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Multiplying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Possibly the best way of doing this with more difficult decimals is using the “Chinese” method.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You use a grid, forgetting about the decimal points before replacing them at the end.</a:t>
            </a:r>
          </a:p>
        </p:txBody>
      </p:sp>
    </p:spTree>
    <p:extLst>
      <p:ext uri="{BB962C8B-B14F-4D97-AF65-F5344CB8AC3E}">
        <p14:creationId xmlns:p14="http://schemas.microsoft.com/office/powerpoint/2010/main" val="6015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5328286" y="290298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68144" y="314096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3768" y="290578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3848" y="312180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3928" y="292494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12180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3768" y="362586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3848" y="384188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3928" y="362586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86104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4088" y="364502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8144" y="386104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808" y="2412177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1880" y="242088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3968" y="242088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2120" y="242088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5790" y="2996952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8224" y="327627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8224" y="3708321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66" name="Bent Arrow 65"/>
          <p:cNvSpPr/>
          <p:nvPr/>
        </p:nvSpPr>
        <p:spPr>
          <a:xfrm rot="10800000" flipH="1">
            <a:off x="1266274" y="3229609"/>
            <a:ext cx="5302206" cy="2587737"/>
          </a:xfrm>
          <a:prstGeom prst="bentArrow">
            <a:avLst>
              <a:gd name="adj1" fmla="val 25000"/>
              <a:gd name="adj2" fmla="val 25420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An example of multiplying decimals: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Calculate 3.62 × 7.4.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Answer: 26.788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483768" y="2924944"/>
            <a:ext cx="4104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483768" y="3645024"/>
            <a:ext cx="4104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83768" y="4365104"/>
            <a:ext cx="4104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483768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851920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292080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588224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763688" y="2924944"/>
            <a:ext cx="2088232" cy="108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916088" y="2924944"/>
            <a:ext cx="3375992" cy="17281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987824" y="2924944"/>
            <a:ext cx="3600400" cy="18722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535996" y="3645024"/>
            <a:ext cx="2052228" cy="11521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64088" y="435639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7904" y="435639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9752" y="435639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63688" y="3204265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3688" y="3875856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5652120" y="3875856"/>
            <a:ext cx="936104" cy="5847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4283968" y="3204265"/>
            <a:ext cx="2304256" cy="12563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2987824" y="2924944"/>
            <a:ext cx="2880320" cy="15356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2411760" y="2924944"/>
            <a:ext cx="2124236" cy="108012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2339752" y="2924944"/>
            <a:ext cx="864096" cy="45847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475656" y="4365104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.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3815916" y="2905780"/>
            <a:ext cx="108012" cy="675947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Left Arrow 68"/>
          <p:cNvSpPr/>
          <p:nvPr/>
        </p:nvSpPr>
        <p:spPr>
          <a:xfrm>
            <a:off x="3869922" y="3568660"/>
            <a:ext cx="2718302" cy="139661"/>
          </a:xfrm>
          <a:prstGeom prst="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Left Arrow 69"/>
          <p:cNvSpPr/>
          <p:nvPr/>
        </p:nvSpPr>
        <p:spPr>
          <a:xfrm rot="19931278">
            <a:off x="1822503" y="4074214"/>
            <a:ext cx="2141004" cy="128927"/>
          </a:xfrm>
          <a:prstGeom prst="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7092280" y="4511799"/>
            <a:ext cx="1910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Add up along the diagonals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1204" y="5661248"/>
            <a:ext cx="1910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Read around the bottom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6211" y="1996678"/>
            <a:ext cx="1910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7030A0"/>
                </a:solidFill>
              </a:rPr>
              <a:t>Work out where the decimal point should be</a:t>
            </a:r>
          </a:p>
        </p:txBody>
      </p:sp>
    </p:spTree>
    <p:extLst>
      <p:ext uri="{BB962C8B-B14F-4D97-AF65-F5344CB8AC3E}">
        <p14:creationId xmlns:p14="http://schemas.microsoft.com/office/powerpoint/2010/main" val="222943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66" grpId="0" animBg="1"/>
      <p:bldP spid="3" grpId="0" uiExpand="1" build="p"/>
      <p:bldP spid="45" grpId="0"/>
      <p:bldP spid="46" grpId="0"/>
      <p:bldP spid="47" grpId="0"/>
      <p:bldP spid="48" grpId="0"/>
      <p:bldP spid="49" grpId="0"/>
      <p:bldP spid="67" grpId="0"/>
      <p:bldP spid="68" grpId="0" animBg="1"/>
      <p:bldP spid="69" grpId="0" animBg="1"/>
      <p:bldP spid="70" grpId="0" animBg="1"/>
      <p:bldP spid="4" grpId="0"/>
      <p:bldP spid="50" grpId="0"/>
      <p:bldP spid="5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Calculate 14.3 × 9.2.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Answer: 131.56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8286" y="290298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68144" y="314096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3768" y="290578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3848" y="312180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3928" y="292494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12180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3768" y="362586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3848" y="384188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3928" y="362586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86104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4088" y="3645024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8144" y="386104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808" y="2412177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0" y="242088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3968" y="242088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2120" y="242088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5790" y="2996952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8224" y="327627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8224" y="3708321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6" name="Bent Arrow 65"/>
          <p:cNvSpPr/>
          <p:nvPr/>
        </p:nvSpPr>
        <p:spPr>
          <a:xfrm rot="10800000" flipH="1">
            <a:off x="1266274" y="3229609"/>
            <a:ext cx="5302206" cy="2587737"/>
          </a:xfrm>
          <a:prstGeom prst="bentArrow">
            <a:avLst>
              <a:gd name="adj1" fmla="val 25000"/>
              <a:gd name="adj2" fmla="val 25420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Another example: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483768" y="2924944"/>
            <a:ext cx="4104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483768" y="3645024"/>
            <a:ext cx="4104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83768" y="4365104"/>
            <a:ext cx="4104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483768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851920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292080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588224" y="2924944"/>
            <a:ext cx="0" cy="1440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763688" y="2924944"/>
            <a:ext cx="2088232" cy="108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916088" y="2924944"/>
            <a:ext cx="3375992" cy="17281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987824" y="2924944"/>
            <a:ext cx="3600400" cy="18722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535996" y="3645024"/>
            <a:ext cx="2052228" cy="11521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64088" y="435639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7904" y="435639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9752" y="4356393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63688" y="3204265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3688" y="3875856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5652120" y="3875856"/>
            <a:ext cx="936104" cy="5847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4283968" y="3204265"/>
            <a:ext cx="2304256" cy="12563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2987824" y="2924944"/>
            <a:ext cx="2880320" cy="15356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2411760" y="2924944"/>
            <a:ext cx="2124236" cy="108012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2339752" y="2924944"/>
            <a:ext cx="864096" cy="45847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555776" y="4509120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.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5256076" y="2905780"/>
            <a:ext cx="108012" cy="675947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Left Arrow 68"/>
          <p:cNvSpPr/>
          <p:nvPr/>
        </p:nvSpPr>
        <p:spPr>
          <a:xfrm>
            <a:off x="5328286" y="3568660"/>
            <a:ext cx="1259938" cy="139661"/>
          </a:xfrm>
          <a:prstGeom prst="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Left Arrow 69"/>
          <p:cNvSpPr/>
          <p:nvPr/>
        </p:nvSpPr>
        <p:spPr>
          <a:xfrm rot="19931278">
            <a:off x="2818006" y="4179848"/>
            <a:ext cx="2583738" cy="88240"/>
          </a:xfrm>
          <a:prstGeom prst="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7092280" y="4511799"/>
            <a:ext cx="1910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Add up along the diagonals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1204" y="5661248"/>
            <a:ext cx="1910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</a:rPr>
              <a:t>Read around the bottom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6211" y="1996678"/>
            <a:ext cx="1910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7030A0"/>
                </a:solidFill>
              </a:rPr>
              <a:t>Work out where the decimal point should be</a:t>
            </a:r>
          </a:p>
        </p:txBody>
      </p:sp>
    </p:spTree>
    <p:extLst>
      <p:ext uri="{BB962C8B-B14F-4D97-AF65-F5344CB8AC3E}">
        <p14:creationId xmlns:p14="http://schemas.microsoft.com/office/powerpoint/2010/main" val="410631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/>
      <p:bldP spid="34" grpId="0"/>
      <p:bldP spid="35" grpId="0" uiExpand="1"/>
      <p:bldP spid="36" grpId="0" uiExpand="1"/>
      <p:bldP spid="37" grpId="0" uiExpand="1"/>
      <p:bldP spid="38" grpId="0" uiExpand="1"/>
      <p:bldP spid="39" grpId="0"/>
      <p:bldP spid="40" grpId="0"/>
      <p:bldP spid="41" grpId="0"/>
      <p:bldP spid="42" grpId="0"/>
      <p:bldP spid="43" grpId="0"/>
      <p:bldP spid="44" grpId="0"/>
      <p:bldP spid="26" grpId="0" uiExpand="1"/>
      <p:bldP spid="27" grpId="0" uiExpand="1"/>
      <p:bldP spid="28" grpId="0" uiExpand="1"/>
      <p:bldP spid="29" grpId="0" uiExpand="1"/>
      <p:bldP spid="30" grpId="0" uiExpand="1"/>
      <p:bldP spid="31" grpId="0" uiExpand="1"/>
      <p:bldP spid="32" grpId="0" uiExpand="1"/>
      <p:bldP spid="66" grpId="0" animBg="1"/>
      <p:bldP spid="45" grpId="0"/>
      <p:bldP spid="46" grpId="0"/>
      <p:bldP spid="47" grpId="0"/>
      <p:bldP spid="48" grpId="0"/>
      <p:bldP spid="49" grpId="0"/>
      <p:bldP spid="67" grpId="0"/>
      <p:bldP spid="68" grpId="0" animBg="1"/>
      <p:bldP spid="69" grpId="0" animBg="1"/>
      <p:bldP spid="70" grpId="0" animBg="1"/>
      <p:bldP spid="4" grpId="0"/>
      <p:bldP spid="50" grpId="0"/>
      <p:bldP spid="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Try these: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72816"/>
          </a:xfrm>
        </p:spPr>
        <p:txBody>
          <a:bodyPr/>
          <a:lstStyle/>
          <a:p>
            <a:pPr marL="514350" indent="-514350" algn="ctr">
              <a:buFont typeface="+mj-lt"/>
              <a:buAutoNum type="arabicPeriod"/>
            </a:pPr>
            <a:r>
              <a:rPr lang="en-GB" dirty="0"/>
              <a:t>34.7 × 2.6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9.42 × 1.7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341 × 0.46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168" y="155679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90.22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0152" y="2196153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16.014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2160" y="2772217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156.86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880" y="5157192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5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Dividing Decimals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Dividing by a decimal is difficult!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But we can keep multiplying by 10 until the divisor (the number you are dividing by) becomes a whole number.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This makes it much easier!</a:t>
            </a:r>
          </a:p>
        </p:txBody>
      </p:sp>
    </p:spTree>
    <p:extLst>
      <p:ext uri="{BB962C8B-B14F-4D97-AF65-F5344CB8AC3E}">
        <p14:creationId xmlns:p14="http://schemas.microsoft.com/office/powerpoint/2010/main" val="74947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do we do that?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0405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If I show you a simple example it should become clear.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20 ÷ 5 = 4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But…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200 ÷ 50 = 4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0070C0"/>
                </a:solidFill>
              </a:rPr>
              <a:t>2000 ÷ 500 = 4</a:t>
            </a:r>
          </a:p>
          <a:p>
            <a:pPr marL="0" indent="0" algn="ctr">
              <a:buNone/>
            </a:pPr>
            <a:r>
              <a:rPr lang="en-GB" dirty="0"/>
              <a:t>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168" y="2636912"/>
            <a:ext cx="1440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7030A0"/>
                </a:solidFill>
              </a:rPr>
              <a:t>That’s easy!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4131077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accent3">
                    <a:lumMod val="50000"/>
                  </a:schemeClr>
                </a:solidFill>
              </a:rPr>
              <a:t>Multiply the question by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512" y="4995173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70C0"/>
                </a:solidFill>
              </a:rPr>
              <a:t>Multiply the question by 100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699792" y="5301208"/>
            <a:ext cx="648072" cy="1710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652120" y="4608130"/>
            <a:ext cx="720080" cy="189022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84168" y="5643245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</a:rPr>
              <a:t>We keep getting the answer 4</a:t>
            </a:r>
          </a:p>
        </p:txBody>
      </p:sp>
    </p:spTree>
    <p:extLst>
      <p:ext uri="{BB962C8B-B14F-4D97-AF65-F5344CB8AC3E}">
        <p14:creationId xmlns:p14="http://schemas.microsoft.com/office/powerpoint/2010/main" val="54544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Dividing by a decimal: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i="1" dirty="0"/>
              <a:t>Calculate 24 ÷ 0.06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Multiply by 10:</a:t>
            </a:r>
          </a:p>
          <a:p>
            <a:pPr marL="0" indent="0" algn="ctr">
              <a:buNone/>
            </a:pPr>
            <a:r>
              <a:rPr lang="en-GB" dirty="0"/>
              <a:t>240 ÷ 0.6</a:t>
            </a:r>
          </a:p>
          <a:p>
            <a:pPr marL="0" indent="0" algn="ctr">
              <a:buNone/>
            </a:pPr>
            <a:r>
              <a:rPr lang="en-GB" dirty="0"/>
              <a:t>Multiply by 10 again:</a:t>
            </a:r>
          </a:p>
          <a:p>
            <a:pPr marL="0" indent="0" algn="ctr">
              <a:buNone/>
            </a:pPr>
            <a:r>
              <a:rPr lang="en-GB" dirty="0"/>
              <a:t>2400 ÷ 6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The divisor is now a whole number!</a:t>
            </a:r>
          </a:p>
          <a:p>
            <a:pPr marL="0" indent="0" algn="ctr">
              <a:buNone/>
            </a:pPr>
            <a:r>
              <a:rPr lang="en-GB" b="1" dirty="0"/>
              <a:t>2400 ÷ 6 = </a:t>
            </a:r>
            <a:r>
              <a:rPr lang="en-GB" b="1" dirty="0">
                <a:solidFill>
                  <a:srgbClr val="FF0000"/>
                </a:solidFill>
              </a:rPr>
              <a:t>400</a:t>
            </a:r>
          </a:p>
        </p:txBody>
      </p:sp>
    </p:spTree>
    <p:extLst>
      <p:ext uri="{BB962C8B-B14F-4D97-AF65-F5344CB8AC3E}">
        <p14:creationId xmlns:p14="http://schemas.microsoft.com/office/powerpoint/2010/main" val="6753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/>
            </a:pPr>
            <a:r>
              <a:rPr lang="en-GB" dirty="0"/>
              <a:t>18 ÷ 0.3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3 ÷ 0.06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0.14 ÷ 0.7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320 ÷ 0.008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168" y="155679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219615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4168" y="2772217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168" y="3348281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40,000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2292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3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56745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098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Fraction and percentage of an amount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4661296"/>
            <a:ext cx="1169467" cy="1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56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428542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2123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Fraction of an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i="1" dirty="0"/>
              <a:t>Remember this: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Divide by the bottom</a:t>
            </a:r>
          </a:p>
          <a:p>
            <a:pPr marL="0" indent="0" algn="ctr">
              <a:buNone/>
            </a:pPr>
            <a:r>
              <a:rPr lang="en-GB" b="1" dirty="0"/>
              <a:t>Multiply by the top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If you do each calculation that way around you will be working with smaller numbers, but it does work either way.</a:t>
            </a:r>
          </a:p>
        </p:txBody>
      </p:sp>
    </p:spTree>
    <p:extLst>
      <p:ext uri="{BB962C8B-B14F-4D97-AF65-F5344CB8AC3E}">
        <p14:creationId xmlns:p14="http://schemas.microsoft.com/office/powerpoint/2010/main" val="44622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Some fraction of a number examples: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sz="3200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sz="3200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r>
                  <a:rPr lang="en-GB" sz="3200" dirty="0"/>
                  <a:t> of £28.</a:t>
                </a:r>
              </a:p>
              <a:p>
                <a:pPr marL="0" indent="0" algn="ctr">
                  <a:buNone/>
                </a:pPr>
                <a:endParaRPr lang="en-GB" sz="3200" dirty="0"/>
              </a:p>
              <a:p>
                <a:pPr marL="0" indent="0" algn="ctr">
                  <a:buNone/>
                </a:pPr>
                <a:r>
                  <a:rPr lang="en-GB" sz="3200" dirty="0"/>
                  <a:t>£28 ÷ 7 = £4</a:t>
                </a:r>
              </a:p>
              <a:p>
                <a:pPr marL="0" indent="0" algn="ctr">
                  <a:buNone/>
                </a:pPr>
                <a:r>
                  <a:rPr lang="en-GB" sz="3200" dirty="0"/>
                  <a:t>£4 × 3 = £12</a:t>
                </a:r>
              </a:p>
              <a:p>
                <a:pPr marL="0" indent="0" algn="ctr">
                  <a:buNone/>
                </a:pPr>
                <a:endParaRPr lang="en-GB" sz="3200" dirty="0"/>
              </a:p>
              <a:p>
                <a:pPr marL="0" indent="0" algn="ctr">
                  <a:buNone/>
                </a:pPr>
                <a:r>
                  <a:rPr lang="en-GB" sz="3200" b="1" dirty="0">
                    <a:solidFill>
                      <a:srgbClr val="FF0000"/>
                    </a:solidFill>
                  </a:rPr>
                  <a:t>Answer: £12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sz="3200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GB" sz="3200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r>
                  <a:rPr lang="en-GB" sz="3200" dirty="0"/>
                  <a:t> of £45.</a:t>
                </a:r>
              </a:p>
              <a:p>
                <a:pPr marL="0" indent="0" algn="ctr">
                  <a:buNone/>
                </a:pPr>
                <a:endParaRPr lang="en-GB" sz="3200" dirty="0"/>
              </a:p>
              <a:p>
                <a:pPr marL="0" indent="0" algn="ctr">
                  <a:buNone/>
                </a:pPr>
                <a:r>
                  <a:rPr lang="en-GB" sz="3200" dirty="0"/>
                  <a:t>£45 ÷ 6 = £7.50</a:t>
                </a:r>
              </a:p>
              <a:p>
                <a:pPr marL="0" indent="0" algn="ctr">
                  <a:buNone/>
                </a:pPr>
                <a:r>
                  <a:rPr lang="en-GB" sz="3200" dirty="0"/>
                  <a:t>£7.50 × 5 = £37.50</a:t>
                </a:r>
              </a:p>
              <a:p>
                <a:pPr marL="0" indent="0" algn="ctr">
                  <a:buNone/>
                </a:pPr>
                <a:endParaRPr lang="en-GB" sz="3200" dirty="0"/>
              </a:p>
              <a:p>
                <a:pPr marL="0" indent="0" algn="ctr">
                  <a:buNone/>
                </a:pPr>
                <a:r>
                  <a:rPr lang="en-GB" sz="3200" b="1" dirty="0">
                    <a:solidFill>
                      <a:srgbClr val="FF0000"/>
                    </a:solidFill>
                  </a:rPr>
                  <a:t>Answer: £37.50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>
                    <a:latin typeface="Calibri" pitchFamily="34" charset="0"/>
                    <a:cs typeface="Calibri" pitchFamily="34" charset="0"/>
                  </a:rPr>
                  <a:t>Find:</a:t>
                </a: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r>
                  <a:rPr lang="en-GB" dirty="0"/>
                  <a:t> of £30.</a:t>
                </a:r>
                <a:endParaRPr lang="en-GB" i="1" dirty="0">
                  <a:latin typeface="Cambria Math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 of £24.</a:t>
                </a: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of £45.</a:t>
                </a: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r>
                  <a:rPr lang="en-GB" dirty="0"/>
                  <a:t> of £140.</a:t>
                </a:r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 of £36.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724128" y="2204864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4128" y="2988241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24128" y="5292497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£13.50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4128" y="4509120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4128" y="371703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£18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Percentage of an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A percentage is a fraction with a denominator of 100.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Divide by the 100</a:t>
            </a:r>
          </a:p>
          <a:p>
            <a:pPr marL="0" indent="0" algn="ctr">
              <a:buNone/>
            </a:pPr>
            <a:r>
              <a:rPr lang="en-GB" b="1" dirty="0"/>
              <a:t>Multiply by the percentage you want</a:t>
            </a:r>
          </a:p>
        </p:txBody>
      </p:sp>
    </p:spTree>
    <p:extLst>
      <p:ext uri="{BB962C8B-B14F-4D97-AF65-F5344CB8AC3E}">
        <p14:creationId xmlns:p14="http://schemas.microsoft.com/office/powerpoint/2010/main" val="61269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Some percentage of a number examples: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/>
              <a:t>Find 30% of £150.</a:t>
            </a:r>
          </a:p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dirty="0"/>
              <a:t>£150 ÷ 100 = £1.50</a:t>
            </a:r>
          </a:p>
          <a:p>
            <a:pPr marL="0" indent="0" algn="ctr">
              <a:buNone/>
            </a:pPr>
            <a:r>
              <a:rPr lang="en-GB" sz="3200" dirty="0"/>
              <a:t>£1.50 × 30 = £45</a:t>
            </a:r>
          </a:p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b="1" dirty="0">
                <a:solidFill>
                  <a:srgbClr val="FF0000"/>
                </a:solidFill>
              </a:rPr>
              <a:t>Answer: £45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/>
              <a:t>Find 15% of £23.</a:t>
            </a:r>
          </a:p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dirty="0"/>
              <a:t>£23 ÷ 100 = £0.23</a:t>
            </a:r>
          </a:p>
          <a:p>
            <a:pPr marL="0" indent="0" algn="ctr">
              <a:buNone/>
            </a:pPr>
            <a:r>
              <a:rPr lang="en-GB" sz="3200" dirty="0"/>
              <a:t>£0.23 × 15 = £3.45</a:t>
            </a:r>
          </a:p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b="1" dirty="0">
                <a:solidFill>
                  <a:srgbClr val="FF0000"/>
                </a:solidFill>
              </a:rPr>
              <a:t>Answer: £3.45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594928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/>
              <a:t>Could you do this without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64623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Calibri" pitchFamily="34" charset="0"/>
                <a:cs typeface="Calibri" pitchFamily="34" charset="0"/>
              </a:rPr>
              <a:t>Find: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40% of £30.</a:t>
            </a:r>
            <a:endParaRPr lang="en-GB" i="1" dirty="0">
              <a:latin typeface="Cambria Math"/>
            </a:endParaRP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25% of £24.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80% of £45.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62% of £140.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7% of £36.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4128" y="2204864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4128" y="2780928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24128" y="4509120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£2.52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8144" y="3933056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£86.80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4128" y="335699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= £36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8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665811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1012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Adding and subtracting fractions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4814862"/>
            <a:ext cx="1494458" cy="149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49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586873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3413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Important!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You may have heard the phrase “common denominator” when people talk about adding and subtracting fractions.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What that means is that you can’t add or subtract unless the bottom numbers of </a:t>
            </a:r>
            <a:r>
              <a:rPr lang="en-GB" u="sng" dirty="0"/>
              <a:t>all</a:t>
            </a:r>
            <a:r>
              <a:rPr lang="en-GB" dirty="0"/>
              <a:t> the fractions are the same.</a:t>
            </a:r>
          </a:p>
        </p:txBody>
      </p:sp>
    </p:spTree>
    <p:extLst>
      <p:ext uri="{BB962C8B-B14F-4D97-AF65-F5344CB8AC3E}">
        <p14:creationId xmlns:p14="http://schemas.microsoft.com/office/powerpoint/2010/main" val="113338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Common Denominators – Eh?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If we look at it in diagrams, it might make more sense.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If I wanted to 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, it would look like this: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 parts are different sizes.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185" t="-1633" r="-1407" b="-3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151" y="3933056"/>
            <a:ext cx="4937121" cy="2035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57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How common denominators work: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Let’s look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 again: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 parts in each are now the same size.</a:t>
                </a:r>
              </a:p>
              <a:p>
                <a:pPr marL="0" indent="0" algn="ctr">
                  <a:buNone/>
                </a:pPr>
                <a:r>
                  <a:rPr lang="en-GB" dirty="0"/>
                  <a:t>Each shape is now divided into </a:t>
                </a:r>
                <a:r>
                  <a:rPr lang="en-GB" b="1" dirty="0"/>
                  <a:t>12 parts</a:t>
                </a:r>
                <a:r>
                  <a:rPr lang="en-GB" dirty="0"/>
                  <a:t>, of which a total of </a:t>
                </a:r>
                <a:r>
                  <a:rPr lang="en-GB" b="1" dirty="0"/>
                  <a:t>7</a:t>
                </a:r>
                <a:r>
                  <a:rPr lang="en-GB" dirty="0"/>
                  <a:t> are shaded.</a:t>
                </a:r>
              </a:p>
              <a:p>
                <a:pPr marL="0" indent="0" algn="ctr">
                  <a:buNone/>
                </a:pPr>
                <a:r>
                  <a:rPr lang="en-GB" dirty="0"/>
                  <a:t>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num>
                      <m:den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𝟏𝟐</m:t>
                        </m:r>
                      </m:den>
                    </m:f>
                  </m:oMath>
                </a14:m>
                <a:endParaRPr lang="en-GB" b="1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t="-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335493"/>
            <a:ext cx="417959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990" y="2388584"/>
            <a:ext cx="4062234" cy="1675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654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Another example, without diagrams: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Common denominator: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3=15</m:t>
                    </m:r>
                  </m:oMath>
                </a14:m>
                <a:endParaRPr lang="en-GB" b="0" dirty="0"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     </m:t>
                      </m:r>
                      <m:r>
                        <a:rPr lang="en-GB" i="1">
                          <a:latin typeface="Cambria Math"/>
                        </a:rPr>
                        <m:t>−</m:t>
                      </m:r>
                      <m:r>
                        <a:rPr lang="en-GB" b="0" i="1" smtClean="0">
                          <a:latin typeface="Cambria Math"/>
                        </a:rPr>
                        <m:t>     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GB" i="1">
                          <a:latin typeface="Cambria Math"/>
                        </a:rPr>
                        <m:t>−</m:t>
                      </m:r>
                      <m:r>
                        <a:rPr lang="en-GB" b="0" i="1" smtClean="0">
                          <a:latin typeface="Cambria Math"/>
                        </a:rPr>
                        <m:t>      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      </m:t>
                      </m:r>
                      <m:r>
                        <a:rPr lang="en-GB" b="0" i="1" smtClean="0">
                          <a:latin typeface="Cambria Math"/>
                        </a:rPr>
                        <m:t>=       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2627784" y="4005064"/>
            <a:ext cx="936104" cy="936104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4572000" y="4157464"/>
            <a:ext cx="576064" cy="93610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11760" y="4005064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1960" y="4157464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accent6">
                    <a:lumMod val="75000"/>
                  </a:schemeClr>
                </a:solidFill>
              </a:rPr>
              <a:t>×5</a:t>
            </a:r>
          </a:p>
        </p:txBody>
      </p:sp>
    </p:spTree>
    <p:extLst>
      <p:ext uri="{BB962C8B-B14F-4D97-AF65-F5344CB8AC3E}">
        <p14:creationId xmlns:p14="http://schemas.microsoft.com/office/powerpoint/2010/main" val="356835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Yet another example, without diagrams: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Common denominator: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3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7=21</m:t>
                    </m:r>
                  </m:oMath>
                </a14:m>
                <a:endParaRPr lang="en-GB" b="0" dirty="0"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    +     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21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+</m:t>
                      </m:r>
                      <m:r>
                        <a:rPr lang="en-GB" b="0" i="1" smtClean="0">
                          <a:latin typeface="Cambria Math"/>
                        </a:rPr>
                        <m:t>      </m:t>
                      </m:r>
                      <m:f>
                        <m:fPr>
                          <m:ctrlPr>
                            <a:rPr lang="en-GB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21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      </m:t>
                      </m:r>
                      <m:r>
                        <a:rPr lang="en-GB" b="0" i="1" smtClean="0">
                          <a:latin typeface="Cambria Math"/>
                        </a:rPr>
                        <m:t>=       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𝟐𝟔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𝟐𝟏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𝟐𝟏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>
            <a:off x="1835696" y="4005064"/>
            <a:ext cx="1728192" cy="1088504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707904" y="4297451"/>
            <a:ext cx="1584176" cy="79611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23728" y="4068361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×7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5636" y="4648780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accent6">
                    <a:lumMod val="75000"/>
                  </a:schemeClr>
                </a:solidFill>
              </a:rPr>
              <a:t>×3</a:t>
            </a:r>
          </a:p>
        </p:txBody>
      </p:sp>
    </p:spTree>
    <p:extLst>
      <p:ext uri="{BB962C8B-B14F-4D97-AF65-F5344CB8AC3E}">
        <p14:creationId xmlns:p14="http://schemas.microsoft.com/office/powerpoint/2010/main" val="417582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52120" y="1556792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𝟐𝟎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556792"/>
                <a:ext cx="1440160" cy="832344"/>
              </a:xfrm>
              <a:prstGeom prst="rect">
                <a:avLst/>
              </a:prstGeom>
              <a:blipFill rotWithShape="1">
                <a:blip r:embed="rId3"/>
                <a:stretch>
                  <a:fillRect b="-8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4088" y="2380632"/>
                <a:ext cx="1800200" cy="834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380632"/>
                <a:ext cx="1800200" cy="834844"/>
              </a:xfrm>
              <a:prstGeom prst="rect">
                <a:avLst/>
              </a:prstGeom>
              <a:blipFill rotWithShape="1">
                <a:blip r:embed="rId4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24128" y="3244728"/>
                <a:ext cx="2088232" cy="803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𝟐𝟐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𝟑𝟎</m:t>
                        </m:r>
                      </m:den>
                    </m:f>
                  </m:oMath>
                </a14:m>
                <a:r>
                  <a:rPr lang="en-GB" sz="3200" b="1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244728"/>
                <a:ext cx="2088232" cy="803682"/>
              </a:xfrm>
              <a:prstGeom prst="rect">
                <a:avLst/>
              </a:prstGeom>
              <a:blipFill rotWithShape="1"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96136" y="4077072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𝟒𝟎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077072"/>
                <a:ext cx="1440160" cy="832344"/>
              </a:xfrm>
              <a:prstGeom prst="rect">
                <a:avLst/>
              </a:prstGeom>
              <a:blipFill rotWithShape="1"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652120" y="4900912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𝟏𝟑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900912"/>
                <a:ext cx="1440160" cy="832344"/>
              </a:xfrm>
              <a:prstGeom prst="rect">
                <a:avLst/>
              </a:prstGeom>
              <a:blipFill rotWithShape="1">
                <a:blip r:embed="rId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8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259910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867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Multiplying and dividing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918" y="4699992"/>
            <a:ext cx="1408162" cy="160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846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7938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6645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Multiplying fractions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This is really easy!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Multiply the top.</a:t>
            </a:r>
          </a:p>
          <a:p>
            <a:pPr marL="0" indent="0" algn="ctr">
              <a:buNone/>
            </a:pPr>
            <a:r>
              <a:rPr lang="en-GB" b="1" dirty="0"/>
              <a:t>Multiply the bottom.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That’s really it!</a:t>
            </a: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178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Two examples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4040188" cy="639762"/>
          </a:xfrm>
        </p:spPr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836514"/>
                <a:ext cx="4040188" cy="395128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7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When you have a whole number, “put it over 1”.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𝟕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𝟐𝟏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836514"/>
                <a:ext cx="4040188" cy="3951288"/>
              </a:xfrm>
              <a:blipFill rotWithShape="1">
                <a:blip r:embed="rId2"/>
                <a:stretch>
                  <a:fillRect t="-3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5025" y="1196752"/>
            <a:ext cx="4041775" cy="639762"/>
          </a:xfrm>
        </p:spPr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1836514"/>
                <a:ext cx="4041775" cy="395128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9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GB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Multiply top, multiply bottom.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𝟖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𝟏𝟐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𝟕𝟐</m:t>
                          </m:r>
                        </m:den>
                      </m:f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1836514"/>
                <a:ext cx="4041775" cy="3951288"/>
              </a:xfrm>
              <a:blipFill rotWithShape="1">
                <a:blip r:embed="rId3"/>
                <a:stretch>
                  <a:fillRect l="-1056" r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51520" y="6021288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/>
              <a:t>Could you have simplified the second example before multiplying?</a:t>
            </a:r>
          </a:p>
        </p:txBody>
      </p:sp>
    </p:spTree>
    <p:extLst>
      <p:ext uri="{BB962C8B-B14F-4D97-AF65-F5344CB8AC3E}">
        <p14:creationId xmlns:p14="http://schemas.microsoft.com/office/powerpoint/2010/main" val="198504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Try these: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9</m:t>
                    </m:r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15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19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52120" y="1556792"/>
                <a:ext cx="2232248" cy="801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𝟑𝟔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den>
                    </m:f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556792"/>
                <a:ext cx="2232248" cy="801758"/>
              </a:xfrm>
              <a:prstGeom prst="rect">
                <a:avLst/>
              </a:prstGeom>
              <a:blipFill rotWithShape="1"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80112" y="2420888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𝟏𝟏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2420888"/>
                <a:ext cx="1440160" cy="832344"/>
              </a:xfrm>
              <a:prstGeom prst="rect">
                <a:avLst/>
              </a:prstGeom>
              <a:blipFill rotWithShape="1">
                <a:blip r:embed="rId4"/>
                <a:stretch>
                  <a:fillRect b="-8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80112" y="3212976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𝟏𝟐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212976"/>
                <a:ext cx="1440160" cy="832344"/>
              </a:xfrm>
              <a:prstGeom prst="rect">
                <a:avLst/>
              </a:prstGeom>
              <a:blipFill rotWithShape="1">
                <a:blip r:embed="rId5"/>
                <a:stretch>
                  <a:fillRect b="-8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80112" y="4077072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077072"/>
                <a:ext cx="1440160" cy="832344"/>
              </a:xfrm>
              <a:prstGeom prst="rect">
                <a:avLst/>
              </a:prstGeom>
              <a:blipFill rotWithShape="1"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80112" y="4900912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900912"/>
                <a:ext cx="1440160" cy="832344"/>
              </a:xfrm>
              <a:prstGeom prst="rect">
                <a:avLst/>
              </a:prstGeom>
              <a:blipFill rotWithShape="1">
                <a:blip r:embed="rId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3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Dividing fractions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This is as easy as multiplying!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First you turn the right hand fraction over.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Then multiply.</a:t>
            </a:r>
          </a:p>
        </p:txBody>
      </p:sp>
    </p:spTree>
    <p:extLst>
      <p:ext uri="{BB962C8B-B14F-4D97-AF65-F5344CB8AC3E}">
        <p14:creationId xmlns:p14="http://schemas.microsoft.com/office/powerpoint/2010/main" val="2292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b="1" dirty="0"/>
              <a:t>Two examples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57200" y="966738"/>
            <a:ext cx="4040188" cy="639762"/>
          </a:xfrm>
        </p:spPr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628800"/>
                <a:ext cx="4040188" cy="504056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7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r>
                  <a:rPr lang="en-GB" dirty="0"/>
                  <a:t>Put the whole number over 1.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/>
                          <a:ea typeface="Cambria Math"/>
                        </a:rPr>
                        <m:t>÷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Turn the right hand fraction over and multiply: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dirty="0">
                  <a:ea typeface="Cambria Math"/>
                </a:endParaRPr>
              </a:p>
              <a:p>
                <a:pPr marL="0" indent="0" algn="ctr">
                  <a:buNone/>
                </a:pPr>
                <a:endParaRPr lang="en-GB" dirty="0">
                  <a:ea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𝟑𝟓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628800"/>
                <a:ext cx="4040188" cy="5040560"/>
              </a:xfrm>
              <a:blipFill rotWithShape="1">
                <a:blip r:embed="rId2"/>
                <a:stretch>
                  <a:fillRect l="-302" r="-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5025" y="966738"/>
            <a:ext cx="4041775" cy="639762"/>
          </a:xfrm>
        </p:spPr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1628800"/>
                <a:ext cx="4041775" cy="504056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9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Turn the right hand fraction over and multiply:</a:t>
                </a:r>
              </a:p>
              <a:p>
                <a:pPr marL="0" indent="0" algn="ctr">
                  <a:buNone/>
                </a:pPr>
                <a:endParaRPr lang="en-GB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GB" i="1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𝟑𝟐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𝟐𝟕</m:t>
                          </m:r>
                        </m:den>
                      </m:f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𝟐𝟕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1628800"/>
                <a:ext cx="4041775" cy="504056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21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9</m:t>
                    </m:r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5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15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32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36096" y="1556792"/>
                <a:ext cx="1728192" cy="802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𝟔𝟑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556792"/>
                <a:ext cx="1728192" cy="802399"/>
              </a:xfrm>
              <a:prstGeom prst="rect">
                <a:avLst/>
              </a:prstGeom>
              <a:blipFill rotWithShape="1">
                <a:blip r:embed="rId3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96136" y="2420888"/>
                <a:ext cx="2232248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𝟓𝟓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𝟐𝟕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420888"/>
                <a:ext cx="2232248" cy="832344"/>
              </a:xfrm>
              <a:prstGeom prst="rect">
                <a:avLst/>
              </a:prstGeom>
              <a:blipFill rotWithShape="1">
                <a:blip r:embed="rId4"/>
                <a:stretch>
                  <a:fillRect l="-4098" b="-87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24128" y="3212976"/>
                <a:ext cx="2232248" cy="834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𝟐𝟖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𝟏𝟓</m:t>
                        </m:r>
                      </m:den>
                    </m:f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𝟏𝟑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212976"/>
                <a:ext cx="2232248" cy="834716"/>
              </a:xfrm>
              <a:prstGeom prst="rect">
                <a:avLst/>
              </a:prstGeom>
              <a:blipFill rotWithShape="1">
                <a:blip r:embed="rId5"/>
                <a:stretch>
                  <a:fillRect l="-2186" b="-8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80112" y="4077072"/>
                <a:ext cx="14401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𝟑𝟐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077072"/>
                <a:ext cx="1440160" cy="832344"/>
              </a:xfrm>
              <a:prstGeom prst="rect">
                <a:avLst/>
              </a:prstGeom>
              <a:blipFill rotWithShape="1"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24128" y="4900912"/>
                <a:ext cx="1944216" cy="803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4900912"/>
                <a:ext cx="1944216" cy="803682"/>
              </a:xfrm>
              <a:prstGeom prst="rect">
                <a:avLst/>
              </a:prstGeom>
              <a:blipFill rotWithShape="1">
                <a:blip r:embed="rId7"/>
                <a:stretch>
                  <a:fillRect l="-940"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3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0864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611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The four rules with mixed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4500038"/>
            <a:ext cx="1844402" cy="188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755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905812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3146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are mixed numbers?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They are whole numbers and fractions.</a:t>
                </a:r>
              </a:p>
              <a:p>
                <a:pPr marL="0" indent="0" algn="ctr">
                  <a:buNone/>
                </a:pPr>
                <a:r>
                  <a:rPr lang="en-GB" dirty="0" err="1"/>
                  <a:t>Eg</a:t>
                </a:r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 is a mixed number.</a:t>
                </a:r>
              </a:p>
              <a:p>
                <a:pPr marL="0" indent="0" algn="ctr">
                  <a:buNone/>
                </a:pPr>
                <a:r>
                  <a:rPr lang="en-GB" dirty="0"/>
                  <a:t>It is easier to convert mixed numbers to improper or top-heavy fractions – you </a:t>
                </a:r>
                <a:r>
                  <a:rPr lang="en-GB" u="sng" dirty="0"/>
                  <a:t>must</a:t>
                </a:r>
                <a:r>
                  <a:rPr lang="en-GB" dirty="0"/>
                  <a:t> convert in order to multiply and divide.</a:t>
                </a:r>
              </a:p>
              <a:p>
                <a:pPr marL="0" indent="0" algn="ctr">
                  <a:buNone/>
                </a:pPr>
                <a:r>
                  <a:rPr lang="en-GB" dirty="0" err="1"/>
                  <a:t>Eg</a:t>
                </a:r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×3+1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Then you add, subtract, multiply and divide as you have done before.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t="-1587" r="-296" b="-1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37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Adding and subtracting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2174874"/>
                <a:ext cx="4040188" cy="4278461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+1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r>
                  <a:rPr lang="en-GB" i="1" dirty="0"/>
                  <a:t>Convert to improper: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pPr marL="0" indent="0" algn="ctr">
                  <a:buNone/>
                </a:pPr>
                <a:r>
                  <a:rPr lang="en-GB" i="1" dirty="0"/>
                  <a:t>Common denominator: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16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i="1" dirty="0"/>
                  <a:t>Add up: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𝟒𝟗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𝟏𝟐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2174874"/>
                <a:ext cx="4040188" cy="4278461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2174874"/>
                <a:ext cx="4041775" cy="4278461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−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r>
                  <a:rPr lang="en-GB" i="1" dirty="0"/>
                  <a:t>Convert to improper: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i="1" dirty="0"/>
                  <a:t>Common denominator: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91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35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65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i="1" dirty="0"/>
                  <a:t>Subtract: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𝟐𝟔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𝟑𝟓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2174874"/>
                <a:ext cx="4041775" cy="4278461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90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+1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−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</a:rPr>
                      <m:t>5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+1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</a:rPr>
                      <m:t>3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−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</m:den>
                    </m:f>
                    <m:r>
                      <a:rPr lang="en-GB" i="1">
                        <a:latin typeface="Cambria Math"/>
                      </a:rPr>
                      <m:t>+</m:t>
                    </m:r>
                    <m:r>
                      <a:rPr lang="en-GB" b="0" i="1" smtClean="0">
                        <a:latin typeface="Cambria Math"/>
                      </a:rPr>
                      <m:t>3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36096" y="1556792"/>
                <a:ext cx="1728192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556792"/>
                <a:ext cx="1728192" cy="801310"/>
              </a:xfrm>
              <a:prstGeom prst="rect">
                <a:avLst/>
              </a:prstGeom>
              <a:blipFill rotWithShape="1"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08104" y="2410577"/>
                <a:ext cx="1728192" cy="801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𝟐𝟎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410577"/>
                <a:ext cx="1728192" cy="801373"/>
              </a:xfrm>
              <a:prstGeom prst="rect">
                <a:avLst/>
              </a:prstGeom>
              <a:blipFill rotWithShape="1">
                <a:blip r:embed="rId4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4088" y="3202665"/>
                <a:ext cx="1728192" cy="802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202665"/>
                <a:ext cx="1728192" cy="802399"/>
              </a:xfrm>
              <a:prstGeom prst="rect">
                <a:avLst/>
              </a:prstGeom>
              <a:blipFill rotWithShape="1">
                <a:blip r:embed="rId5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64088" y="4066761"/>
                <a:ext cx="1728192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𝟐𝟑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𝟐𝟖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066761"/>
                <a:ext cx="1728192" cy="801310"/>
              </a:xfrm>
              <a:prstGeom prst="rect">
                <a:avLst/>
              </a:prstGeom>
              <a:blipFill rotWithShape="1"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64088" y="4869160"/>
                <a:ext cx="1728192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𝟗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𝟕𝟕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869160"/>
                <a:ext cx="1728192" cy="801310"/>
              </a:xfrm>
              <a:prstGeom prst="rect">
                <a:avLst/>
              </a:prstGeom>
              <a:blipFill rotWithShape="1">
                <a:blip r:embed="rId7"/>
                <a:stretch>
                  <a:fillRect b="-12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0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Multiplying and dividing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4040188" cy="639762"/>
          </a:xfrm>
        </p:spPr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836514"/>
                <a:ext cx="4040188" cy="395128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r>
                  <a:rPr lang="en-GB" i="1" dirty="0"/>
                  <a:t>Convert to improper: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i="1" dirty="0"/>
              </a:p>
              <a:p>
                <a:pPr marL="0" indent="0" algn="ctr">
                  <a:buNone/>
                </a:pPr>
                <a:r>
                  <a:rPr lang="en-GB" i="1" dirty="0"/>
                  <a:t>Multiply: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𝟏𝟐</m:t>
                          </m:r>
                        </m:den>
                      </m:f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𝟖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𝟏𝟐</m:t>
                          </m:r>
                        </m:den>
                      </m:f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836514"/>
                <a:ext cx="4040188" cy="3951288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645025" y="1196752"/>
            <a:ext cx="4041775" cy="639762"/>
          </a:xfrm>
        </p:spPr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1836514"/>
                <a:ext cx="4041775" cy="395128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÷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r>
                  <a:rPr lang="en-GB" i="1" dirty="0"/>
                  <a:t>Convert to improper: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i="1" smtClean="0">
                          <a:latin typeface="Cambria Math"/>
                          <a:ea typeface="Cambria Math"/>
                        </a:rPr>
                        <m:t>÷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i="1" dirty="0"/>
                  <a:t>Turn the right hand fraction: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  <a:p>
                <a:pPr marL="0" indent="0" algn="ctr">
                  <a:buNone/>
                </a:pPr>
                <a:r>
                  <a:rPr lang="en-GB" i="1" dirty="0"/>
                  <a:t>Multiply: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𝟑𝟑</m:t>
                          </m:r>
                        </m:num>
                        <m:den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1836514"/>
                <a:ext cx="4041775" cy="3951288"/>
              </a:xfrm>
              <a:blipFill rotWithShape="1">
                <a:blip r:embed="rId3"/>
                <a:stretch>
                  <a:fillRect t="-3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51520" y="6021288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/>
              <a:t>Could you have simplified before multiplying?</a:t>
            </a:r>
          </a:p>
        </p:txBody>
      </p:sp>
    </p:spTree>
    <p:extLst>
      <p:ext uri="{BB962C8B-B14F-4D97-AF65-F5344CB8AC3E}">
        <p14:creationId xmlns:p14="http://schemas.microsoft.com/office/powerpoint/2010/main" val="323336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these: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b="0" i="1" smtClean="0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</a:rPr>
                      <m:t>5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</a:rPr>
                      <m:t>3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GB" i="1">
                        <a:latin typeface="Cambria Math"/>
                      </a:rPr>
                      <m:t>1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</m:den>
                    </m:f>
                    <m:r>
                      <a:rPr lang="en-GB" i="1" smtClean="0">
                        <a:latin typeface="Cambria Math"/>
                        <a:ea typeface="Cambria Math"/>
                      </a:rPr>
                      <m:t>÷</m:t>
                    </m:r>
                    <m:r>
                      <a:rPr lang="en-GB" b="0" i="1" smtClean="0">
                        <a:latin typeface="Cambria Math"/>
                      </a:rPr>
                      <m:t>3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36096" y="1556792"/>
                <a:ext cx="1728192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556792"/>
                <a:ext cx="1728192" cy="801310"/>
              </a:xfrm>
              <a:prstGeom prst="rect">
                <a:avLst/>
              </a:prstGeom>
              <a:blipFill rotWithShape="1"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08104" y="2410577"/>
                <a:ext cx="1728192" cy="801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GB" sz="3200" b="1" i="0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𝟐𝟕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𝟐𝟖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410577"/>
                <a:ext cx="1728192" cy="801373"/>
              </a:xfrm>
              <a:prstGeom prst="rect">
                <a:avLst/>
              </a:prstGeom>
              <a:blipFill rotWithShape="1"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4088" y="3202665"/>
                <a:ext cx="1728192" cy="834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9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202665"/>
                <a:ext cx="1728192" cy="834716"/>
              </a:xfrm>
              <a:prstGeom prst="rect">
                <a:avLst/>
              </a:prstGeom>
              <a:blipFill rotWithShape="1">
                <a:blip r:embed="rId5"/>
                <a:stretch>
                  <a:fillRect b="-8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64088" y="4066761"/>
                <a:ext cx="1728192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𝟏𝟏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𝟒𝟎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066761"/>
                <a:ext cx="1728192" cy="801310"/>
              </a:xfrm>
              <a:prstGeom prst="rect">
                <a:avLst/>
              </a:prstGeom>
              <a:blipFill rotWithShape="1"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64088" y="4869160"/>
                <a:ext cx="1728192" cy="832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b="1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𝟏𝟗𝟔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𝟐𝟕𝟓</m:t>
                        </m:r>
                      </m:den>
                    </m:f>
                  </m:oMath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869160"/>
                <a:ext cx="1728192" cy="832792"/>
              </a:xfrm>
              <a:prstGeom prst="rect">
                <a:avLst/>
              </a:prstGeom>
              <a:blipFill rotWithShape="1">
                <a:blip r:embed="rId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5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9590434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827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Calculating percentage change using a multiplier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260" y="4560168"/>
            <a:ext cx="1274812" cy="18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369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518997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7365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How we calculate percentage increase and decrease: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You could find the percentage and add or subtract it to the original amount.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Or you could find the “multiplier”.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An increase of 10% means that you have 110% of the original amount.</a:t>
            </a:r>
          </a:p>
          <a:p>
            <a:pPr marL="0" indent="0" algn="ctr">
              <a:buNone/>
            </a:pPr>
            <a:r>
              <a:rPr lang="en-GB" dirty="0"/>
              <a:t>A decrease of 15% means that you have 85% of the original amount.</a:t>
            </a:r>
          </a:p>
        </p:txBody>
      </p:sp>
    </p:spTree>
    <p:extLst>
      <p:ext uri="{BB962C8B-B14F-4D97-AF65-F5344CB8AC3E}">
        <p14:creationId xmlns:p14="http://schemas.microsoft.com/office/powerpoint/2010/main" val="118075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do you use multipliers?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Increase £270 by 20%.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An increase of 20% means that I have 120% of the original amount.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120% as a multiplier is 1.2.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£270 × 1.2 = </a:t>
            </a:r>
            <a:r>
              <a:rPr lang="en-GB" b="1" dirty="0">
                <a:solidFill>
                  <a:srgbClr val="FF0000"/>
                </a:solidFill>
              </a:rPr>
              <a:t>£324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Decrease £135 by 7%.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 decrease of 7% means that I have 93% of the original amount.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93% as a multiplier is 0.93.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£135 × 0.93 = </a:t>
            </a:r>
            <a:r>
              <a:rPr lang="en-GB" b="1" dirty="0">
                <a:solidFill>
                  <a:srgbClr val="FF0000"/>
                </a:solidFill>
              </a:rPr>
              <a:t>£125.55</a:t>
            </a: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88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Some questions for you: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Font typeface="+mj-lt"/>
              <a:buAutoNum type="arabicPeriod"/>
            </a:pPr>
            <a:r>
              <a:rPr lang="en-GB" dirty="0"/>
              <a:t>Increase £230 by 30%.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Decrease £65 by 45%.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Increase £32 by 4%.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Decrease £768 by 17%.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GB" dirty="0"/>
              <a:t>Andy has been offered a pay rise. He is currently paid £7.80 per hour. He must choose between a rise of 20p per hour or an increase of 3%. Which should he choose?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232" y="1556792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£299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0232" y="2196153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£42.25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0232" y="2772217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£33.28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232" y="3348281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£637.44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0" y="594928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An increase of 3% would be £8.03 per hour.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69" y="2129081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1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Working backwards – finding the original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Whereas before we multiplied…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When finding an original amount, you </a:t>
            </a:r>
            <a:r>
              <a:rPr lang="en-GB" u="sng" dirty="0"/>
              <a:t>always</a:t>
            </a:r>
            <a:r>
              <a:rPr lang="en-GB" dirty="0"/>
              <a:t> divide!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Original amount × multiplier = New amount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Original amount = New amount ÷ multiplier</a:t>
            </a:r>
          </a:p>
        </p:txBody>
      </p:sp>
    </p:spTree>
    <p:extLst>
      <p:ext uri="{BB962C8B-B14F-4D97-AF65-F5344CB8AC3E}">
        <p14:creationId xmlns:p14="http://schemas.microsoft.com/office/powerpoint/2010/main" val="426126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Finding the original: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The population of a town has increased by 15% to 207,000 in the last 10 years. How many people lived in the town 10 years ago?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207,000 ÷ 1.15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180,000 people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 shirt was reduced in a sale by 20%. It was £71.20 in the sale. How much is the shirt normally?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£71.20 ÷ 0.8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£89</a:t>
            </a:r>
          </a:p>
        </p:txBody>
      </p:sp>
    </p:spTree>
    <p:extLst>
      <p:ext uri="{BB962C8B-B14F-4D97-AF65-F5344CB8AC3E}">
        <p14:creationId xmlns:p14="http://schemas.microsoft.com/office/powerpoint/2010/main" val="16263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Find the original prices for these sale items: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2195"/>
            <a:ext cx="8229600" cy="190080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A pair of trousers reduced by 30% to £77.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pair of shoes reduced by 25% to £63.75.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jacket reduced by 42% to £84.10.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7544" y="344298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Find the original amounts following increases: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4768552"/>
            <a:ext cx="8229600" cy="19008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dirty="0"/>
              <a:t>A wage increased by 4% to £540.80 per week.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population increased by 11% to 59,940.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picture increased by 71% to 307.8cm.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0793" y="1412776"/>
            <a:ext cx="124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£110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2360" y="2052137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632" y="2564904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£145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7992" y="4725144"/>
            <a:ext cx="1160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£520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5790" y="5292497"/>
            <a:ext cx="165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54,000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4794" y="5805264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180cm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66965"/>
            <a:ext cx="792088" cy="7920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780" y="620688"/>
            <a:ext cx="79208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538578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893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Calculating percentage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50" y="4962872"/>
            <a:ext cx="800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67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6899032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0028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do we do that?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Remember this: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𝐷𝑖𝑓𝑓𝑒𝑟𝑒𝑛𝑐𝑒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𝑂𝑟𝑖𝑔𝑖𝑛𝑎𝑙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𝑎𝑚𝑜𝑢𝑛𝑡</m:t>
                          </m:r>
                        </m:den>
                      </m:f>
                      <m:r>
                        <a:rPr lang="en-GB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100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This will work for all percentage change questions.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9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Two examples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4040188" cy="639762"/>
          </a:xfrm>
        </p:spPr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908521"/>
                <a:ext cx="4040188" cy="4350469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The population of a town went up from 50,000 to 63,000 in 10 years. What percentage increase is this?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Change = £13,000</a:t>
                </a:r>
              </a:p>
              <a:p>
                <a:pPr marL="0" indent="0" algn="ctr">
                  <a:buNone/>
                </a:pPr>
                <a:r>
                  <a:rPr lang="en-GB" dirty="0"/>
                  <a:t>Original amount = £50,000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13000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50000</m:t>
                          </m:r>
                        </m:den>
                      </m:f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100=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𝟐𝟔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908521"/>
                <a:ext cx="4040188" cy="4350469"/>
              </a:xfrm>
              <a:blipFill rotWithShape="1">
                <a:blip r:embed="rId2"/>
                <a:stretch>
                  <a:fillRect l="-1810" t="-1120" r="-36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041775" cy="639762"/>
          </a:xfrm>
        </p:spPr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1908521"/>
                <a:ext cx="4041775" cy="4350469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The value of a car went down from £12,500 to £9,000 in 1 year. What percentage decrease is this?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Change = £3,500</a:t>
                </a:r>
              </a:p>
              <a:p>
                <a:pPr marL="0" indent="0" algn="ctr">
                  <a:buNone/>
                </a:pPr>
                <a:r>
                  <a:rPr lang="en-GB" dirty="0"/>
                  <a:t>Original amount = £12,500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35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00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125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00</m:t>
                          </m:r>
                        </m:den>
                      </m:f>
                      <m:r>
                        <a:rPr lang="en-GB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×100=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𝟐𝟖</m:t>
                      </m:r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1908521"/>
                <a:ext cx="4041775" cy="4350469"/>
              </a:xfrm>
              <a:blipFill rotWithShape="1">
                <a:blip r:embed="rId3"/>
                <a:stretch>
                  <a:fillRect t="-1120" r="-1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82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Have a go at this: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2896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A property developer bought a house for £162,000. They spent £7000 renovating the house and then sold it for £185,000.</a:t>
            </a:r>
          </a:p>
          <a:p>
            <a:pPr marL="0" indent="0" algn="ctr">
              <a:buNone/>
            </a:pPr>
            <a:r>
              <a:rPr lang="en-GB" dirty="0"/>
              <a:t>By what percentage had they increased the value of the property?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4869160"/>
            <a:ext cx="806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Answer: 9.88% (to 2 decimal places)</a:t>
            </a:r>
          </a:p>
        </p:txBody>
      </p:sp>
    </p:spTree>
    <p:extLst>
      <p:ext uri="{BB962C8B-B14F-4D97-AF65-F5344CB8AC3E}">
        <p14:creationId xmlns:p14="http://schemas.microsoft.com/office/powerpoint/2010/main" val="69958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36563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882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Repeated percentage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762" y="4781525"/>
            <a:ext cx="1987342" cy="138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290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022530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3841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Repeated percentage change: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dirty="0"/>
              <a:t>I invest £500 at a rate 4% per annum (means “per year”). How much would be in my account after 3 years?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500 </a:t>
            </a:r>
            <a:r>
              <a:rPr lang="en-GB" dirty="0">
                <a:solidFill>
                  <a:srgbClr val="0070C0"/>
                </a:solidFill>
              </a:rPr>
              <a:t>× 1.04 </a:t>
            </a:r>
            <a:r>
              <a:rPr lang="en-GB" dirty="0"/>
              <a:t>= £520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520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× 1.04 </a:t>
            </a:r>
            <a:r>
              <a:rPr lang="en-GB" dirty="0"/>
              <a:t>= £540.80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540.80 </a:t>
            </a:r>
            <a:r>
              <a:rPr lang="en-GB" dirty="0">
                <a:solidFill>
                  <a:srgbClr val="7030A0"/>
                </a:solidFill>
              </a:rPr>
              <a:t>× 1.04 </a:t>
            </a:r>
            <a:r>
              <a:rPr lang="en-GB" dirty="0"/>
              <a:t>= </a:t>
            </a:r>
            <a:r>
              <a:rPr lang="en-GB" b="1" dirty="0">
                <a:solidFill>
                  <a:srgbClr val="FF0000"/>
                </a:solidFill>
              </a:rPr>
              <a:t>£562.43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dirty="0"/>
              <a:t>There is a quicker way!</a:t>
            </a:r>
          </a:p>
          <a:p>
            <a:pPr marL="0" indent="0" algn="ctr">
              <a:buNone/>
            </a:pPr>
            <a:r>
              <a:rPr lang="en-GB" dirty="0"/>
              <a:t>The calculation on the left is this: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£500 </a:t>
            </a:r>
            <a:r>
              <a:rPr lang="en-GB" dirty="0">
                <a:solidFill>
                  <a:srgbClr val="0070C0"/>
                </a:solidFill>
              </a:rPr>
              <a:t>× 1.04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× 1.04 </a:t>
            </a:r>
            <a:r>
              <a:rPr lang="en-GB" dirty="0">
                <a:solidFill>
                  <a:srgbClr val="7030A0"/>
                </a:solidFill>
              </a:rPr>
              <a:t>× 1.04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We can write that like this: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£500 × 1.04³ = </a:t>
            </a:r>
            <a:r>
              <a:rPr lang="en-GB" b="1" dirty="0">
                <a:solidFill>
                  <a:srgbClr val="FF0000"/>
                </a:solidFill>
              </a:rPr>
              <a:t>£562.43</a:t>
            </a: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273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couple of examples: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I invest £850 at a rate 2% per annum. How much would be in my account after 6 years?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>
                    <a:ea typeface="Cambria Math"/>
                  </a:rPr>
                  <a:t>£850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1.02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Answer: £957.24</a:t>
                </a: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2262" t="-1235" r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The value of a car reduces by 15% per year. If the car cost £18,000 when new, what would if be worth after 5 years?</a:t>
                </a:r>
              </a:p>
              <a:p>
                <a:pPr marL="0" indent="0" algn="ctr">
                  <a:buNone/>
                </a:pPr>
                <a:endParaRPr lang="en-GB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GB" dirty="0"/>
                  <a:t>£18,000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0.85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GB" b="1" dirty="0">
                    <a:solidFill>
                      <a:srgbClr val="FF0000"/>
                    </a:solidFill>
                  </a:rPr>
                  <a:t>Answer: £7986.70</a:t>
                </a:r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3"/>
                <a:stretch>
                  <a:fillRect t="-1235" r="-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98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Two questions for you: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Question 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40625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The profit of a company has been projected to increase by 7% per year. This year’s profit was £230,000. How much profit do they expect to get in 4 years time?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/>
              <a:t>Question 2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240625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Dave is reducing his credit card bill by 15% per month having built up a debt of £12,000. How many months will it take him to get his debt under £5000?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536" y="5390766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</a:rPr>
              <a:t>Answer: £301,483.08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6056" y="5368889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</a:rPr>
              <a:t>Answer: 6 months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5445224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4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515403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27113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Writing fractions as recurring decimals and vice versa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>
                <a:solidFill>
                  <a:schemeClr val="tx1"/>
                </a:solidFill>
              </a:rPr>
              <a:t>Grade 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560168"/>
            <a:ext cx="1730102" cy="18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365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883627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16998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a recurring decimal?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2514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A recurring decimal never ends and repeats a number or sequence of numbers.</a:t>
                </a:r>
              </a:p>
              <a:p>
                <a:pPr marL="0" indent="0" algn="ctr">
                  <a:buNone/>
                </a:pPr>
                <a:r>
                  <a:rPr lang="en-GB" dirty="0"/>
                  <a:t>We use the recurring notation like this: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6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=0.6666666666…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=0.7272727272…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0.3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=0.3444444444444…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87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=0.587258725872…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25144"/>
              </a:xfrm>
              <a:blipFill rotWithShape="1">
                <a:blip r:embed="rId2"/>
                <a:stretch>
                  <a:fillRect t="-24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80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91880" y="47971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2475" y="47971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971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2555" y="47971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2080" y="47971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808" y="4798893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Fractions to recurring decimals: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62088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GB" dirty="0"/>
                  <a:t>As with all fractions, to convert a fraction to a decimal you just divide the top (numerator) by the bottom (denominator).</a:t>
                </a:r>
              </a:p>
              <a:p>
                <a:pPr marL="0" indent="0" algn="ctr">
                  <a:buNone/>
                </a:pPr>
                <a:r>
                  <a:rPr lang="en-GB" dirty="0"/>
                  <a:t>So, to 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9</m:t>
                        </m:r>
                      </m:den>
                    </m:f>
                  </m:oMath>
                </a14:m>
                <a:r>
                  <a:rPr lang="en-GB" dirty="0"/>
                  <a:t> to a decimal I would do this: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620888"/>
              </a:xfrm>
              <a:blipFill rotWithShape="1">
                <a:blip r:embed="rId2"/>
                <a:stretch>
                  <a:fillRect t="-3030" r="-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 flipV="1">
            <a:off x="3491880" y="4725144"/>
            <a:ext cx="0" cy="720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491880" y="4725144"/>
            <a:ext cx="25922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51920" y="47971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880" y="4150821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1920" y="4149080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1960" y="4149080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49080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2040" y="4149080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2080" y="4149080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6259" y="4797152"/>
            <a:ext cx="24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6299" y="4797152"/>
            <a:ext cx="24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6339" y="4797152"/>
            <a:ext cx="24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6379" y="4797152"/>
            <a:ext cx="24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67544" y="5661248"/>
                <a:ext cx="8280920" cy="665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600" i="1" dirty="0"/>
                  <a:t>It will continue forever, so write it as </a:t>
                </a:r>
                <a14:m>
                  <m:oMath xmlns:m="http://schemas.openxmlformats.org/officeDocument/2006/math">
                    <m:r>
                      <a:rPr lang="en-GB" sz="3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  <m:r>
                      <a:rPr lang="en-GB" sz="3600" b="1" i="1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e>
                    </m:acc>
                  </m:oMath>
                </a14:m>
                <a:endParaRPr lang="en-GB" sz="3600" b="1" i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661248"/>
                <a:ext cx="8280920" cy="665375"/>
              </a:xfrm>
              <a:prstGeom prst="rect">
                <a:avLst/>
              </a:prstGeom>
              <a:blipFill rotWithShape="1">
                <a:blip r:embed="rId3"/>
                <a:stretch>
                  <a:fillRect t="-10092" b="-34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27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9" grpId="0"/>
      <p:bldP spid="3" grpId="0" build="p"/>
      <p:bldP spid="11" grpId="0"/>
      <p:bldP spid="16" grpId="0"/>
      <p:bldP spid="17" grpId="0"/>
      <p:bldP spid="18" grpId="0"/>
      <p:bldP spid="19" grpId="0"/>
      <p:bldP spid="20" grpId="0"/>
      <p:bldP spid="21" grpId="0"/>
      <p:bldP spid="26" grpId="0"/>
      <p:bldP spid="27" grpId="0"/>
      <p:bldP spid="28" grpId="0"/>
      <p:bldP spid="29" grpId="0"/>
      <p:bldP spid="3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Convert these to decimals without a calculator using dot 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16832"/>
                <a:ext cx="8229600" cy="4209331"/>
              </a:xfrm>
            </p:spPr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11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16832"/>
                <a:ext cx="8229600" cy="4209331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64088" y="1988840"/>
                <a:ext cx="1728192" cy="603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</m:e>
                      </m:acc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988840"/>
                <a:ext cx="1728192" cy="6035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4088" y="2852936"/>
                <a:ext cx="1728192" cy="603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acc>
                        <m:accPr>
                          <m:chr m:val="̇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</m:e>
                      </m:acc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852936"/>
                <a:ext cx="1728192" cy="6035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4088" y="3689533"/>
                <a:ext cx="1728192" cy="603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</m:e>
                      </m:acc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689533"/>
                <a:ext cx="1728192" cy="60356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80112" y="4509120"/>
                <a:ext cx="2016224" cy="603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acc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𝟖𝟓𝟕𝟏</m:t>
                      </m:r>
                      <m:acc>
                        <m:accPr>
                          <m:chr m:val="̇"/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</m:t>
                          </m:r>
                        </m:e>
                      </m:acc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509120"/>
                <a:ext cx="2016224" cy="60356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Recurring decimals to fractions: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The key is to get rid of the recurring part.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We do this by multiplying by powers of 10 then subtracting.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The power of 10 we multiply by depends on how many numbers recur.</a:t>
            </a:r>
          </a:p>
        </p:txBody>
      </p:sp>
    </p:spTree>
    <p:extLst>
      <p:ext uri="{BB962C8B-B14F-4D97-AF65-F5344CB8AC3E}">
        <p14:creationId xmlns:p14="http://schemas.microsoft.com/office/powerpoint/2010/main" val="34762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Converting from decimals to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751"/>
            <a:ext cx="4040188" cy="642589"/>
          </a:xfrm>
        </p:spPr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836514"/>
                <a:ext cx="4040188" cy="454481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e>
                    </m:acc>
                  </m:oMath>
                </a14:m>
                <a:r>
                  <a:rPr lang="en-GB" dirty="0"/>
                  <a:t> as a fraction.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=0.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10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=2.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 recurring parts are the same so subtract: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9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𝒏</m:t>
                      </m:r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836514"/>
                <a:ext cx="4040188" cy="4544814"/>
              </a:xfrm>
              <a:blipFill rotWithShape="1">
                <a:blip r:embed="rId2"/>
                <a:stretch>
                  <a:fillRect t="-6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96751"/>
            <a:ext cx="4041775" cy="642589"/>
          </a:xfrm>
        </p:spPr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1836514"/>
                <a:ext cx="4041775" cy="454481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e>
                    </m:acc>
                  </m:oMath>
                </a14:m>
                <a:r>
                  <a:rPr lang="en-GB" dirty="0"/>
                  <a:t> as a fraction.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=0.</m:t>
                      </m:r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10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=37.</m:t>
                      </m:r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 recurring parts are the same so subtract: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9</m:t>
                      </m:r>
                      <m:r>
                        <a:rPr lang="en-GB" b="0" i="1" smtClean="0">
                          <a:latin typeface="Cambria Math"/>
                        </a:rPr>
                        <m:t>9</m:t>
                      </m:r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=37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𝒏</m:t>
                      </m:r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𝟑𝟕</m:t>
                          </m:r>
                        </m:num>
                        <m:den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1836514"/>
                <a:ext cx="4041775" cy="4544814"/>
              </a:xfrm>
              <a:blipFill rotWithShape="1">
                <a:blip r:embed="rId3"/>
                <a:stretch>
                  <a:fillRect t="-6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51520" y="2782669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One number is recurring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9952" y="2780928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Two numbers are recurring</a:t>
            </a:r>
          </a:p>
        </p:txBody>
      </p:sp>
    </p:spTree>
    <p:extLst>
      <p:ext uri="{BB962C8B-B14F-4D97-AF65-F5344CB8AC3E}">
        <p14:creationId xmlns:p14="http://schemas.microsoft.com/office/powerpoint/2010/main" val="213266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7" grpId="0"/>
      <p:bldP spid="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Try converting these to fractions: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e>
                    </m:acc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514350" indent="-514350" algn="ctr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e>
                    </m:acc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514350" indent="-514350" algn="ctr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e>
                    </m:acc>
                    <m:r>
                      <a:rPr lang="en-GB" b="0" i="1" smtClean="0">
                        <a:latin typeface="Cambria Math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64088" y="1478579"/>
                <a:ext cx="1728192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𝟕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478579"/>
                <a:ext cx="1728192" cy="101431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4088" y="3205361"/>
                <a:ext cx="1728192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𝟒𝟑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𝟗𝟗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205361"/>
                <a:ext cx="1728192" cy="101572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4088" y="5003765"/>
                <a:ext cx="1728192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𝟔𝟒𝟏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𝟗𝟗𝟗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5003765"/>
                <a:ext cx="1728192" cy="101752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 little trickier, but the same process: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4040188" cy="639762"/>
          </a:xfrm>
        </p:spPr>
        <p:txBody>
          <a:bodyPr/>
          <a:lstStyle/>
          <a:p>
            <a:pPr algn="ctr"/>
            <a:r>
              <a:rPr lang="en-GB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908521"/>
                <a:ext cx="4040188" cy="4422477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r>
                      <a:rPr lang="en-GB" b="0" i="1" smtClean="0">
                        <a:latin typeface="Cambria Math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e>
                    </m:acc>
                  </m:oMath>
                </a14:m>
                <a:r>
                  <a:rPr lang="en-GB" dirty="0"/>
                  <a:t> as a fraction.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=0.4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10</m:t>
                      </m:r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=4.</m:t>
                      </m:r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100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=47.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 recurring parts are the same so subtract: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9</m:t>
                      </m:r>
                      <m:r>
                        <a:rPr lang="en-GB" b="0" i="1" smtClean="0">
                          <a:latin typeface="Cambria Math"/>
                        </a:rPr>
                        <m:t>0</m:t>
                      </m:r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=43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𝒏</m:t>
                      </m:r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𝟒𝟑</m:t>
                          </m:r>
                        </m:num>
                        <m:den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908521"/>
                <a:ext cx="4040188" cy="4422477"/>
              </a:xfrm>
              <a:blipFill rotWithShape="1">
                <a:blip r:embed="rId2"/>
                <a:stretch>
                  <a:fillRect t="-551" r="-1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041775" cy="639762"/>
          </a:xfrm>
        </p:spPr>
        <p:txBody>
          <a:bodyPr/>
          <a:lstStyle/>
          <a:p>
            <a:pPr algn="ctr"/>
            <a:r>
              <a:rPr lang="en-GB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5" y="1908521"/>
                <a:ext cx="4041775" cy="4422477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r>
                      <a:rPr lang="en-GB" b="0" i="1" smtClean="0">
                        <a:latin typeface="Cambria Math"/>
                      </a:rPr>
                      <m:t>5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/>
                          </a:rPr>
                          <m:t>2</m:t>
                        </m:r>
                      </m:e>
                    </m:acc>
                    <m:r>
                      <a:rPr lang="en-GB" b="0" i="1" smtClean="0">
                        <a:latin typeface="Cambria Math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e>
                    </m:acc>
                  </m:oMath>
                </a14:m>
                <a:r>
                  <a:rPr lang="en-GB" dirty="0"/>
                  <a:t> as a fraction.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=0.5</m:t>
                      </m:r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2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10</m:t>
                      </m:r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=5.</m:t>
                      </m:r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/>
                            </a:rPr>
                            <m:t>2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10000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=5243.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acc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The recurring parts are the same so subtract: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9</m:t>
                      </m:r>
                      <m:r>
                        <a:rPr lang="en-GB" b="0" i="1" smtClean="0">
                          <a:latin typeface="Cambria Math"/>
                        </a:rPr>
                        <m:t>990</m:t>
                      </m:r>
                      <m:r>
                        <a:rPr lang="en-GB" i="1">
                          <a:latin typeface="Cambria Math"/>
                        </a:rPr>
                        <m:t>𝑛</m:t>
                      </m:r>
                      <m:r>
                        <a:rPr lang="en-GB" i="1">
                          <a:latin typeface="Cambria Math"/>
                        </a:rPr>
                        <m:t>=5238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𝒏</m:t>
                      </m:r>
                      <m:r>
                        <a:rPr lang="en-GB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𝟑𝟖</m:t>
                          </m:r>
                        </m:num>
                        <m:den>
                          <m:r>
                            <a:rPr lang="en-GB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𝟗𝟗𝟎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5" y="1908521"/>
                <a:ext cx="4041775" cy="4422477"/>
              </a:xfrm>
              <a:blipFill rotWithShape="1">
                <a:blip r:embed="rId3"/>
                <a:stretch>
                  <a:fillRect l="-151" t="-551" r="-1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1835696" y="2708920"/>
            <a:ext cx="1368152" cy="3600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940152" y="2816932"/>
            <a:ext cx="1440160" cy="1800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6024" y="2361654"/>
            <a:ext cx="1403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Don’t need this one anymore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403648" y="2721694"/>
            <a:ext cx="504056" cy="10801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96336" y="2348880"/>
            <a:ext cx="1403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Don’t need this one anymore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80312" y="2762926"/>
            <a:ext cx="504056" cy="1260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7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14" grpId="0"/>
      <p:bldP spid="17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Have a go at converting these to fractions: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</a:rPr>
                      <m:t>0.</m:t>
                    </m:r>
                    <m:r>
                      <a:rPr lang="en-GB" b="0" i="1" smtClean="0">
                        <a:latin typeface="Cambria Math"/>
                      </a:rPr>
                      <m:t>6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/>
                          </a:rPr>
                          <m:t>7</m:t>
                        </m:r>
                      </m:e>
                    </m:acc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514350" indent="-514350" algn="ctr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r>
                      <a:rPr lang="en-GB" b="0" i="1" smtClean="0">
                        <a:latin typeface="Cambria Math"/>
                      </a:rPr>
                      <m:t>5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7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e>
                    </m:acc>
                  </m:oMath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514350" indent="-514350" algn="ctr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0.</m:t>
                    </m:r>
                    <m:r>
                      <a:rPr lang="en-GB" b="0" i="1" smtClean="0">
                        <a:latin typeface="Cambria Math"/>
                      </a:rPr>
                      <m:t>59</m:t>
                    </m:r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/>
                          </a:rPr>
                          <m:t>1</m:t>
                        </m:r>
                      </m:e>
                    </m:ac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64088" y="1478579"/>
                <a:ext cx="1728192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𝟔𝟏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𝟗𝟎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478579"/>
                <a:ext cx="1728192" cy="101752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4088" y="3205361"/>
                <a:ext cx="2952328" cy="1059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𝟓𝟔𝟔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𝟗𝟗𝟎</m:t>
                          </m:r>
                        </m:den>
                      </m:f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𝟐𝟖𝟑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𝟒𝟗𝟓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205361"/>
                <a:ext cx="2952328" cy="1059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80112" y="5003765"/>
                <a:ext cx="2808312" cy="1059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𝟓𝟖𝟕𝟐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𝟗𝟗𝟎𝟎</m:t>
                          </m:r>
                        </m:den>
                      </m:f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𝟏𝟒𝟔𝟖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𝟐𝟒𝟕𝟓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5003765"/>
                <a:ext cx="2808312" cy="1059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9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3600" b="1" dirty="0"/>
              <a:t>SUCCESS CRITERIA – WHERE ARE WE NOW?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933346"/>
              </p:ext>
            </p:extLst>
          </p:nvPr>
        </p:nvGraphicFramePr>
        <p:xfrm>
          <a:off x="457200" y="1171154"/>
          <a:ext cx="8229600" cy="4977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Level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 dirty="0">
                          <a:effectLst/>
                        </a:rPr>
                        <a:t>Learning outcomes: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R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A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3600">
                          <a:effectLst/>
                        </a:rPr>
                        <a:t>G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F1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I can simplify fractions to their lowest terms.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order fractions by using equivalence.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use fraction, decimal and percentage equivalents.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E3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use</a:t>
                      </a:r>
                      <a:r>
                        <a:rPr lang="en-GB" sz="1800" baseline="0" dirty="0">
                          <a:effectLst/>
                        </a:rPr>
                        <a:t> the four rules with </a:t>
                      </a:r>
                      <a:r>
                        <a:rPr lang="en-GB" sz="1800" dirty="0">
                          <a:effectLst/>
                        </a:rPr>
                        <a:t>decimals.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E3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I can find a fraction and percentage of a number.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D2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 and subtract fractions.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multiply and divide</a:t>
                      </a:r>
                      <a:r>
                        <a:rPr lang="en-GB" sz="1600" baseline="0" dirty="0">
                          <a:effectLst/>
                        </a:rPr>
                        <a:t> fractions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add, subtract, multiply and divide mixed numbers.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increase or decrease a value by a given percentage using a multiplier.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C3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find the percentage change.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C1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I can perform repeated percentage changes using just one calculation.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B2</a:t>
                      </a:r>
                      <a:endParaRPr lang="en-GB" sz="1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600" dirty="0">
                          <a:effectLst/>
                        </a:rPr>
                        <a:t>I can write fractions as recurring decimals and vice versa.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92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7911</Words>
  <Application>Microsoft Office PowerPoint</Application>
  <PresentationFormat>On-screen Show (4:3)</PresentationFormat>
  <Paragraphs>2422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3" baseType="lpstr">
      <vt:lpstr>Arial</vt:lpstr>
      <vt:lpstr>Calibri</vt:lpstr>
      <vt:lpstr>Cambria Math</vt:lpstr>
      <vt:lpstr>Trebuchet MS</vt:lpstr>
      <vt:lpstr>Office Theme</vt:lpstr>
      <vt:lpstr>Fractions, Decimals and Percentages</vt:lpstr>
      <vt:lpstr>Hyperlinks!</vt:lpstr>
      <vt:lpstr>What is a fraction?</vt:lpstr>
      <vt:lpstr>SUCCESS CRITERIA – WHERE ARE WE NOW?</vt:lpstr>
      <vt:lpstr>Simplifying fractions</vt:lpstr>
      <vt:lpstr>SUCCESS CRITERIA – WHERE ARE WE NOW?</vt:lpstr>
      <vt:lpstr>How to simplify a fraction:</vt:lpstr>
      <vt:lpstr>Simplifying using pictures</vt:lpstr>
      <vt:lpstr>Without a picture, an example:</vt:lpstr>
      <vt:lpstr>Another example:</vt:lpstr>
      <vt:lpstr>Simplify these, giving your answers in their simplest form:</vt:lpstr>
      <vt:lpstr>SUCCESS CRITERIA – WHERE ARE WE NOW?</vt:lpstr>
      <vt:lpstr>Using equivalent fractions</vt:lpstr>
      <vt:lpstr>SUCCESS CRITERIA – WHERE ARE WE NOW?</vt:lpstr>
      <vt:lpstr>When would you use equivalent fractions?</vt:lpstr>
      <vt:lpstr>Put these fractions in ascending order:</vt:lpstr>
      <vt:lpstr>Put these fractions in descending order:</vt:lpstr>
      <vt:lpstr>SUCCESS CRITERIA – WHERE ARE WE NOW?</vt:lpstr>
      <vt:lpstr>Equivalent fractions, decimals and percentages</vt:lpstr>
      <vt:lpstr>SUCCESS CRITERIA – WHERE ARE WE NOW?</vt:lpstr>
      <vt:lpstr>The cycle!</vt:lpstr>
      <vt:lpstr>How does the cycle work?</vt:lpstr>
      <vt:lpstr>How it’s used in exams:</vt:lpstr>
      <vt:lpstr>Have a go at this question:</vt:lpstr>
      <vt:lpstr>SUCCESS CRITERIA – WHERE ARE WE NOW?</vt:lpstr>
      <vt:lpstr>The four rules and decimals</vt:lpstr>
      <vt:lpstr>SUCCESS CRITERIA – WHERE ARE WE NOW?</vt:lpstr>
      <vt:lpstr>Adding and Subtracting Decimals</vt:lpstr>
      <vt:lpstr>Have a go at these:</vt:lpstr>
      <vt:lpstr>Multiplying “easy” decimals:</vt:lpstr>
      <vt:lpstr>An example:</vt:lpstr>
      <vt:lpstr>Have a go at these:</vt:lpstr>
      <vt:lpstr>Multiplying decimals</vt:lpstr>
      <vt:lpstr>An example of multiplying decimals:</vt:lpstr>
      <vt:lpstr>Another example:</vt:lpstr>
      <vt:lpstr>Try these:</vt:lpstr>
      <vt:lpstr>Dividing Decimals</vt:lpstr>
      <vt:lpstr>How do we do that?</vt:lpstr>
      <vt:lpstr>Dividing by a decimal:</vt:lpstr>
      <vt:lpstr>Have a go at these:</vt:lpstr>
      <vt:lpstr>SUCCESS CRITERIA – WHERE ARE WE NOW?</vt:lpstr>
      <vt:lpstr>Fraction and percentage of an amount</vt:lpstr>
      <vt:lpstr>SUCCESS CRITERIA – WHERE ARE WE NOW?</vt:lpstr>
      <vt:lpstr>Fraction of an amount</vt:lpstr>
      <vt:lpstr>Some fraction of a number examples:</vt:lpstr>
      <vt:lpstr>Have a go at these:</vt:lpstr>
      <vt:lpstr>Percentage of an amount</vt:lpstr>
      <vt:lpstr>Some percentage of a number examples:</vt:lpstr>
      <vt:lpstr>Have a go at these:</vt:lpstr>
      <vt:lpstr>SUCCESS CRITERIA – WHERE ARE WE NOW?</vt:lpstr>
      <vt:lpstr>Adding and subtracting fractions</vt:lpstr>
      <vt:lpstr>SUCCESS CRITERIA – WHERE ARE WE NOW?</vt:lpstr>
      <vt:lpstr>Important!</vt:lpstr>
      <vt:lpstr>Common Denominators – Eh?</vt:lpstr>
      <vt:lpstr>How common denominators work:</vt:lpstr>
      <vt:lpstr>Another example, without diagrams:</vt:lpstr>
      <vt:lpstr>Yet another example, without diagrams:</vt:lpstr>
      <vt:lpstr>Have a go at these:</vt:lpstr>
      <vt:lpstr>SUCCESS CRITERIA – WHERE ARE WE NOW?</vt:lpstr>
      <vt:lpstr>Multiplying and dividing fractions</vt:lpstr>
      <vt:lpstr>SUCCESS CRITERIA – WHERE ARE WE NOW?</vt:lpstr>
      <vt:lpstr>Multiplying fractions</vt:lpstr>
      <vt:lpstr>Two examples</vt:lpstr>
      <vt:lpstr>Try these:</vt:lpstr>
      <vt:lpstr>Dividing fractions</vt:lpstr>
      <vt:lpstr>Two examples</vt:lpstr>
      <vt:lpstr>Have a go at these:</vt:lpstr>
      <vt:lpstr>SUCCESS CRITERIA – WHERE ARE WE NOW?</vt:lpstr>
      <vt:lpstr>The four rules with mixed numbers</vt:lpstr>
      <vt:lpstr>SUCCESS CRITERIA – WHERE ARE WE NOW?</vt:lpstr>
      <vt:lpstr>What are mixed numbers?</vt:lpstr>
      <vt:lpstr>Adding and subtracting</vt:lpstr>
      <vt:lpstr>Have a go at these:</vt:lpstr>
      <vt:lpstr>Multiplying and dividing</vt:lpstr>
      <vt:lpstr>Have a go at these:</vt:lpstr>
      <vt:lpstr>SUCCESS CRITERIA – WHERE ARE WE NOW?</vt:lpstr>
      <vt:lpstr>Calculating percentage change using a multiplier</vt:lpstr>
      <vt:lpstr>SUCCESS CRITERIA – WHERE ARE WE NOW?</vt:lpstr>
      <vt:lpstr>How we calculate percentage increase and decrease:</vt:lpstr>
      <vt:lpstr>How do you use multipliers?</vt:lpstr>
      <vt:lpstr>Some questions for you:</vt:lpstr>
      <vt:lpstr>Working backwards – finding the original amount</vt:lpstr>
      <vt:lpstr>Finding the original:</vt:lpstr>
      <vt:lpstr>Find the original prices for these sale items:</vt:lpstr>
      <vt:lpstr>SUCCESS CRITERIA – WHERE ARE WE NOW?</vt:lpstr>
      <vt:lpstr>Calculating percentage change</vt:lpstr>
      <vt:lpstr>SUCCESS CRITERIA – WHERE ARE WE NOW?</vt:lpstr>
      <vt:lpstr>How do we do that?</vt:lpstr>
      <vt:lpstr>Two examples</vt:lpstr>
      <vt:lpstr>Have a go at this:</vt:lpstr>
      <vt:lpstr>SUCCESS CRITERIA – WHERE ARE WE NOW?</vt:lpstr>
      <vt:lpstr>Repeated percentage change</vt:lpstr>
      <vt:lpstr>SUCCESS CRITERIA – WHERE ARE WE NOW?</vt:lpstr>
      <vt:lpstr>Repeated percentage change:</vt:lpstr>
      <vt:lpstr>A couple of examples:</vt:lpstr>
      <vt:lpstr>Two questions for you:</vt:lpstr>
      <vt:lpstr>SUCCESS CRITERIA – WHERE ARE WE NOW?</vt:lpstr>
      <vt:lpstr>Writing fractions as recurring decimals and vice versa</vt:lpstr>
      <vt:lpstr>SUCCESS CRITERIA – WHERE ARE WE NOW?</vt:lpstr>
      <vt:lpstr>What is a recurring decimal?</vt:lpstr>
      <vt:lpstr>Fractions to recurring decimals:</vt:lpstr>
      <vt:lpstr>Convert these to decimals without a calculator using dot notation:</vt:lpstr>
      <vt:lpstr>Recurring decimals to fractions:</vt:lpstr>
      <vt:lpstr>Converting from decimals to fractions</vt:lpstr>
      <vt:lpstr>Try converting these to fractions:</vt:lpstr>
      <vt:lpstr>A little trickier, but the same process:</vt:lpstr>
      <vt:lpstr>Have a go at converting these to fractions:</vt:lpstr>
      <vt:lpstr>SUCCESS CRITERIA – WHERE ARE WE NOW?</vt:lpstr>
    </vt:vector>
  </TitlesOfParts>
  <Company>Worthing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Fractions, Decimals and Percentages</dc:title>
  <dc:creator>A Lutwyche</dc:creator>
  <cp:lastModifiedBy>DAVIES Rhys [Busselton Senior High School]</cp:lastModifiedBy>
  <cp:revision>112</cp:revision>
  <dcterms:created xsi:type="dcterms:W3CDTF">2013-05-17T10:33:41Z</dcterms:created>
  <dcterms:modified xsi:type="dcterms:W3CDTF">2023-05-31T05:21:05Z</dcterms:modified>
</cp:coreProperties>
</file>
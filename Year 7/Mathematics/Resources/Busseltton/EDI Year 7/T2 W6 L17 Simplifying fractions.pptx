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sldIdLst>
    <p:sldId id="256" r:id="rId4"/>
    <p:sldId id="276" r:id="rId5"/>
    <p:sldId id="280" r:id="rId6"/>
    <p:sldId id="282" r:id="rId7"/>
    <p:sldId id="283" r:id="rId8"/>
    <p:sldId id="284" r:id="rId9"/>
    <p:sldId id="286" r:id="rId10"/>
    <p:sldId id="294" r:id="rId11"/>
    <p:sldId id="299" r:id="rId12"/>
    <p:sldId id="296" r:id="rId13"/>
    <p:sldId id="297" r:id="rId14"/>
    <p:sldId id="298" r:id="rId15"/>
    <p:sldId id="300" r:id="rId16"/>
    <p:sldId id="301" r:id="rId17"/>
    <p:sldId id="28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51811-2BCF-37B0-A2EF-50293FCA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A0A17E-DC8C-E448-21DC-62E6352A39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1AD00F-C308-FFB0-74CB-560CB7765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EF75C-3C1D-46FC-BEE2-A336FC0CC140}" type="datetimeFigureOut">
              <a:rPr lang="en-AU" smtClean="0"/>
              <a:t>6/06/2023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C1B73B-593C-632A-931A-3ABF8F39F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F80B6-316A-BB0F-04D7-0FF7242A3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DB799-F617-4CE5-ACD3-1B3274D2F0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7529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EE276-3504-8C4A-75B8-6603C82C3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52C78-37C5-2D61-052F-EF6000F43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08709B-3356-E552-0F09-5159BCA3B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EF75C-3C1D-46FC-BEE2-A336FC0CC140}" type="datetimeFigureOut">
              <a:rPr lang="en-AU" smtClean="0"/>
              <a:t>6/06/2023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58548-DB32-0D0E-377A-C0CF41A5A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F2B30A-69DE-1B93-AE63-F75DC1547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DB799-F617-4CE5-ACD3-1B3274D2F0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7417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1DFB1-3202-E9FD-448A-E4BD3A89E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908D53-C5E2-A385-0FD2-573424327D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F1C123-AE69-6A47-93D4-31005C523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EF75C-3C1D-46FC-BEE2-A336FC0CC140}" type="datetimeFigureOut">
              <a:rPr lang="en-AU" smtClean="0"/>
              <a:t>6/06/2023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59219-C228-D0D4-C366-230D80A3F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945F2-316C-61BD-92EF-6ECF20BB4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DB799-F617-4CE5-ACD3-1B3274D2F0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4457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FF9BA-BA2A-EEB3-312A-28A7C50CD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C6599-17AE-B381-4DF9-C9D02275B5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A1AD77-47B1-3084-8B10-83F76B533F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826FA3-1EB9-286B-D385-A91A7BF59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EF75C-3C1D-46FC-BEE2-A336FC0CC140}" type="datetimeFigureOut">
              <a:rPr lang="en-AU" smtClean="0"/>
              <a:t>6/06/2023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063B84-AB52-D241-B751-4C1AB0078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CF1496-5B59-3087-4658-D400D5854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DB799-F617-4CE5-ACD3-1B3274D2F0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259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D944C-7A19-1873-7F83-E520F1540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DCEB1-9D9D-90F0-4308-D97977ABE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D455F2-6FDB-7FCC-D8F0-1916B7E47D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5C2694-3DE9-7954-6DF5-421FBD27C1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51655C-0149-8E13-3DD0-632A2064E4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259D9D-4FBF-AFDC-2507-FDC083FC0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EF75C-3C1D-46FC-BEE2-A336FC0CC140}" type="datetimeFigureOut">
              <a:rPr lang="en-AU" smtClean="0"/>
              <a:t>6/06/2023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1F0FE6-2C83-4413-8DB8-75D0ACF4A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6D3EE6-53E0-0B72-EDB6-7154B291A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DB799-F617-4CE5-ACD3-1B3274D2F0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1676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9843B-0BF6-CB1C-9346-BC8730609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E72FBB-D825-6689-A1D4-6D89E19E9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EF75C-3C1D-46FC-BEE2-A336FC0CC140}" type="datetimeFigureOut">
              <a:rPr lang="en-AU" smtClean="0"/>
              <a:t>6/06/2023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593802-DADD-6FE3-7FBE-B5A29E0C6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2CD080-C997-14D7-738D-83F676F0B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DB799-F617-4CE5-ACD3-1B3274D2F0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4577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F7A7D6-A60D-E653-BAF4-318352AF8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EF75C-3C1D-46FC-BEE2-A336FC0CC140}" type="datetimeFigureOut">
              <a:rPr lang="en-AU" smtClean="0"/>
              <a:t>6/06/2023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87778F-A280-B732-1B22-63EB301D1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E1CAA6-AD06-EAE8-723D-6B7DEEEC3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DB799-F617-4CE5-ACD3-1B3274D2F0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8158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2F642-F03C-E3F4-3F2D-1AE234FDD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44A45-968B-755C-2B08-DD60FD8B2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9EF7EA-B468-217D-E62E-6CDE81085B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D3EEDC-CD3A-5CFE-F5AC-384486D67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EF75C-3C1D-46FC-BEE2-A336FC0CC140}" type="datetimeFigureOut">
              <a:rPr lang="en-AU" smtClean="0"/>
              <a:t>6/06/2023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174F5C-9813-184C-0BDC-6E1AC5350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63A167-066A-46E7-F763-3336E837F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DB799-F617-4CE5-ACD3-1B3274D2F0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1830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E1EF5-54B9-9DE5-638A-B735A9F5C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EE4DEA-556A-3C55-BBF1-232F07E088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2278D6-3EED-B079-71AD-88A8C9C7C0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E335AE-142E-42C6-0EFC-383B37A52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EF75C-3C1D-46FC-BEE2-A336FC0CC140}" type="datetimeFigureOut">
              <a:rPr lang="en-AU" smtClean="0"/>
              <a:t>6/06/2023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4446BC-EF6A-5742-56C8-66D6673AF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977660-B18B-3D1F-6E30-18D82B58A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DB799-F617-4CE5-ACD3-1B3274D2F0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6987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4D4B6-5F2A-9534-303C-BF05D1244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B47554-2DBA-89B1-38C8-E9DFE58B18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BCE98-8DCA-D814-C56C-9055430AA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EF75C-3C1D-46FC-BEE2-A336FC0CC140}" type="datetimeFigureOut">
              <a:rPr lang="en-AU" smtClean="0"/>
              <a:t>6/06/2023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AE6BA-8E51-9ACD-07A6-9B75032CB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898432-2887-1A12-884A-CFC0DC55C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DB799-F617-4CE5-ACD3-1B3274D2F0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2286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41B21D-D0F1-53F7-E5EE-E7A2A5BF39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90D530-C08F-BC74-59B8-297FBDDC03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630A04-C190-E0DB-716E-2F8810938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EF75C-3C1D-46FC-BEE2-A336FC0CC140}" type="datetimeFigureOut">
              <a:rPr lang="en-AU" smtClean="0"/>
              <a:t>6/06/2023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0B775-6303-FC00-8F8F-46347AC18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D254E-5501-67B2-F60B-E1F98D4BA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DB799-F617-4CE5-ACD3-1B3274D2F0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74119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A001-4CDC-4F00-ABF0-04AFA540E6E0}" type="datetimeFigureOut">
              <a:rPr lang="en-GB" smtClean="0"/>
              <a:t>06/06/2023</a:t>
            </a:fld>
            <a:endParaRPr lang="en-GB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C4C2A-2489-450C-B26C-E7B03AADA7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60718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A001-4CDC-4F00-ABF0-04AFA540E6E0}" type="datetimeFigureOut">
              <a:rPr lang="en-GB" smtClean="0"/>
              <a:t>06/06/2023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C4C2A-2489-450C-B26C-E7B03AADA7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50787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A001-4CDC-4F00-ABF0-04AFA540E6E0}" type="datetimeFigureOut">
              <a:rPr lang="en-GB" smtClean="0"/>
              <a:t>06/06/2023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C4C2A-2489-450C-B26C-E7B03AADA7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5499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A001-4CDC-4F00-ABF0-04AFA540E6E0}" type="datetimeFigureOut">
              <a:rPr lang="en-GB" smtClean="0"/>
              <a:t>06/06/2023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C4C2A-2489-450C-B26C-E7B03AADA7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34540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A001-4CDC-4F00-ABF0-04AFA540E6E0}" type="datetimeFigureOut">
              <a:rPr lang="en-GB" smtClean="0"/>
              <a:t>06/06/2023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C4C2A-2489-450C-B26C-E7B03AADA7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29456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A001-4CDC-4F00-ABF0-04AFA540E6E0}" type="datetimeFigureOut">
              <a:rPr lang="en-GB" smtClean="0"/>
              <a:t>06/06/2023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C4C2A-2489-450C-B26C-E7B03AADA7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04975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A001-4CDC-4F00-ABF0-04AFA540E6E0}" type="datetimeFigureOut">
              <a:rPr lang="en-GB" smtClean="0"/>
              <a:t>06/06/2023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C4C2A-2489-450C-B26C-E7B03AADA7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96155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A001-4CDC-4F00-ABF0-04AFA540E6E0}" type="datetimeFigureOut">
              <a:rPr lang="en-GB" smtClean="0"/>
              <a:t>06/06/2023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C4C2A-2489-450C-B26C-E7B03AADA7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01208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4221004" y="1108077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10672179" y="5359769"/>
            <a:ext cx="207264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A001-4CDC-4F00-ABF0-04AFA540E6E0}" type="datetimeFigureOut">
              <a:rPr lang="en-GB" smtClean="0"/>
              <a:t>06/06/2023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69600" y="6356351"/>
            <a:ext cx="812800" cy="365125"/>
          </a:xfrm>
        </p:spPr>
        <p:txBody>
          <a:bodyPr/>
          <a:lstStyle/>
          <a:p>
            <a:fld id="{7E9C4C2A-2489-450C-B26C-E7B03AADA732}" type="slidenum">
              <a:rPr lang="en-GB" smtClean="0"/>
              <a:t>‹#›</a:t>
            </a:fld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5842000" y="6219826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50634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A001-4CDC-4F00-ABF0-04AFA540E6E0}" type="datetimeFigureOut">
              <a:rPr lang="en-GB" smtClean="0"/>
              <a:t>06/06/2023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C4C2A-2489-450C-B26C-E7B03AADA7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00897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914402"/>
            <a:ext cx="80264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A001-4CDC-4F00-ABF0-04AFA540E6E0}" type="datetimeFigureOut">
              <a:rPr lang="en-GB" smtClean="0"/>
              <a:t>06/06/2023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C4C2A-2489-450C-B26C-E7B03AADA7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68265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74CEC-90CC-46C6-9973-06C39FC4C068}" type="datetimeFigureOut">
              <a:rPr lang="en-GB" smtClean="0"/>
              <a:t>06/06/2023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A34C7-BD86-4814-BE05-063AB2AFFD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657205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74CEC-90CC-46C6-9973-06C39FC4C068}" type="datetimeFigureOut">
              <a:rPr lang="en-GB" smtClean="0"/>
              <a:t>06/06/2023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A34C7-BD86-4814-BE05-063AB2AFFD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74318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74CEC-90CC-46C6-9973-06C39FC4C068}" type="datetimeFigureOut">
              <a:rPr lang="en-GB" smtClean="0"/>
              <a:t>06/06/2023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A34C7-BD86-4814-BE05-063AB2AFFD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69483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74CEC-90CC-46C6-9973-06C39FC4C068}" type="datetimeFigureOut">
              <a:rPr lang="en-GB" smtClean="0"/>
              <a:t>06/06/2023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A34C7-BD86-4814-BE05-063AB2AFFD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123973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74CEC-90CC-46C6-9973-06C39FC4C068}" type="datetimeFigureOut">
              <a:rPr lang="en-GB" smtClean="0"/>
              <a:t>06/06/2023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A34C7-BD86-4814-BE05-063AB2AFFD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210539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74CEC-90CC-46C6-9973-06C39FC4C068}" type="datetimeFigureOut">
              <a:rPr lang="en-GB" smtClean="0"/>
              <a:t>06/06/2023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A34C7-BD86-4814-BE05-063AB2AFFD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36880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74CEC-90CC-46C6-9973-06C39FC4C068}" type="datetimeFigureOut">
              <a:rPr lang="en-GB" smtClean="0"/>
              <a:t>06/06/2023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A34C7-BD86-4814-BE05-063AB2AFFD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553101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74CEC-90CC-46C6-9973-06C39FC4C068}" type="datetimeFigureOut">
              <a:rPr lang="en-GB" smtClean="0"/>
              <a:t>06/06/2023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A34C7-BD86-4814-BE05-063AB2AFFD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234500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74CEC-90CC-46C6-9973-06C39FC4C068}" type="datetimeFigureOut">
              <a:rPr lang="en-GB" smtClean="0"/>
              <a:t>06/06/2023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A34C7-BD86-4814-BE05-063AB2AFFD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634931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74CEC-90CC-46C6-9973-06C39FC4C068}" type="datetimeFigureOut">
              <a:rPr lang="en-GB" smtClean="0"/>
              <a:t>06/06/2023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A34C7-BD86-4814-BE05-063AB2AFFD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915294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74CEC-90CC-46C6-9973-06C39FC4C068}" type="datetimeFigureOut">
              <a:rPr lang="en-GB" smtClean="0"/>
              <a:t>06/06/2023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A34C7-BD86-4814-BE05-063AB2AFFD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5365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1725C6-8298-65DD-07FF-4C59D3C77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2AE0A9-1B12-53EE-5699-E8D35174A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C94425-4E71-D6F7-DBE3-5F5C44F73D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5EF75C-3C1D-46FC-BEE2-A336FC0CC140}" type="datetimeFigureOut">
              <a:rPr lang="en-AU" smtClean="0"/>
              <a:t>6/06/2023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EC9A-41CD-BBAF-166E-E42974452E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63A86A-80F0-EB1A-6CD2-E9CAB93BB8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CDB799-F617-4CE5-ACD3-1B3274D2F0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4452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12700" y="-7144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5842000" y="-7144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609600" y="1935480"/>
            <a:ext cx="109728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A004A001-4CDC-4F00-ABF0-04AFA540E6E0}" type="datetimeFigureOut">
              <a:rPr lang="en-GB" smtClean="0"/>
              <a:t>06/06/2023</a:t>
            </a:fld>
            <a:endParaRPr lang="en-GB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556000" y="6356351"/>
            <a:ext cx="44704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0566400" y="6356351"/>
            <a:ext cx="1016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7E9C4C2A-2489-450C-B26C-E7B03AADA732}" type="slidenum">
              <a:rPr lang="en-GB" smtClean="0"/>
              <a:t>‹#›</a:t>
            </a:fld>
            <a:endParaRPr lang="en-GB"/>
          </a:p>
        </p:txBody>
      </p:sp>
      <p:grpSp>
        <p:nvGrpSpPr>
          <p:cNvPr id="2" name="Group 1"/>
          <p:cNvGrpSpPr/>
          <p:nvPr/>
        </p:nvGrpSpPr>
        <p:grpSpPr>
          <a:xfrm>
            <a:off x="-25356" y="202408"/>
            <a:ext cx="12240731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sz="1800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990260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974CEC-90CC-46C6-9973-06C39FC4C068}" type="datetimeFigureOut">
              <a:rPr lang="en-GB" smtClean="0"/>
              <a:t>06/06/2023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BA34C7-BD86-4814-BE05-063AB2AFFD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9156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GIF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NUL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14DDE7C-FDAA-8174-85A7-499E32266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816A0A1-F47B-A8A2-24C4-A75602689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4715"/>
            <a:ext cx="10515600" cy="46322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dirty="0">
                <a:solidFill>
                  <a:srgbClr val="00B0F0"/>
                </a:solidFill>
              </a:rPr>
              <a:t>Fractions and decimals 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Aim – be able to: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Use algorithms to add and subtract numbers with decimals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Simplify fractions using common factors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Review ordering decimals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Add and take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Simplifying </a:t>
            </a:r>
            <a:endParaRPr lang="en-AU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A59FA2-B45E-13F8-A9E7-89244C38F158}"/>
              </a:ext>
            </a:extLst>
          </p:cNvPr>
          <p:cNvSpPr txBox="1"/>
          <p:nvPr/>
        </p:nvSpPr>
        <p:spPr>
          <a:xfrm>
            <a:off x="6791417" y="1029810"/>
            <a:ext cx="28319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highlight>
                  <a:srgbClr val="FFFF00"/>
                </a:highlight>
              </a:rPr>
              <a:t>Need whiteboards.</a:t>
            </a:r>
            <a:endParaRPr lang="en-AU" sz="20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B55DCA-54BE-0E1D-DCFE-90ADBD37A9A8}"/>
              </a:ext>
            </a:extLst>
          </p:cNvPr>
          <p:cNvSpPr txBox="1"/>
          <p:nvPr/>
        </p:nvSpPr>
        <p:spPr>
          <a:xfrm>
            <a:off x="6277992" y="4913175"/>
            <a:ext cx="45438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highlight>
                  <a:srgbClr val="00FF00"/>
                </a:highlight>
              </a:rPr>
              <a:t>PBiS</a:t>
            </a:r>
            <a:r>
              <a:rPr lang="en-US" sz="2000" b="1" dirty="0">
                <a:highlight>
                  <a:srgbClr val="00FF00"/>
                </a:highlight>
              </a:rPr>
              <a:t> focus: Respect </a:t>
            </a:r>
          </a:p>
          <a:p>
            <a:r>
              <a:rPr lang="en-US" sz="2000" b="1" dirty="0">
                <a:highlight>
                  <a:srgbClr val="00FF00"/>
                </a:highlight>
              </a:rPr>
              <a:t>- Communicating using appropriate language. </a:t>
            </a:r>
            <a:endParaRPr lang="en-AU" sz="2000" b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174022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3695700" y="241860"/>
            <a:ext cx="6377940" cy="524482"/>
          </a:xfrm>
        </p:spPr>
        <p:txBody>
          <a:bodyPr>
            <a:normAutofit fontScale="90000"/>
          </a:bodyPr>
          <a:lstStyle/>
          <a:p>
            <a:r>
              <a:rPr lang="en-GB" dirty="0"/>
              <a:t>Questions</a:t>
            </a:r>
            <a:r>
              <a:rPr lang="en-GB"/>
              <a:t>: MWB</a:t>
            </a:r>
            <a:endParaRPr lang="en-GB" dirty="0"/>
          </a:p>
        </p:txBody>
      </p:sp>
      <p:sp>
        <p:nvSpPr>
          <p:cNvPr id="23" name="Content Placeholder 22"/>
          <p:cNvSpPr>
            <a:spLocks noGrp="1"/>
          </p:cNvSpPr>
          <p:nvPr>
            <p:ph idx="1"/>
          </p:nvPr>
        </p:nvSpPr>
        <p:spPr>
          <a:xfrm>
            <a:off x="1752396" y="1233714"/>
            <a:ext cx="8657963" cy="56242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Put these decimals in order from lowest to highest: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a) 					b)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c)					d)</a:t>
            </a:r>
          </a:p>
          <a:p>
            <a:pPr marL="0" indent="0">
              <a:buNone/>
            </a:pPr>
            <a:endParaRPr lang="en-GB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07368" y="1932305"/>
          <a:ext cx="3698240" cy="70739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92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739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7.28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7.8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7.08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7.18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46630" y="2827655"/>
          <a:ext cx="3698240" cy="70739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92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739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5.06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5.6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5.62</a:t>
                      </a:r>
                      <a:endParaRPr lang="en-GB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5.26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18630" y="2827655"/>
          <a:ext cx="3698240" cy="70739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92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739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10.94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10.24</a:t>
                      </a:r>
                      <a:endParaRPr lang="en-GB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10.04</a:t>
                      </a:r>
                      <a:endParaRPr lang="en-GB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10.4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246630" y="1875155"/>
          <a:ext cx="3698240" cy="70739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92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739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4.6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4.06</a:t>
                      </a:r>
                      <a:endParaRPr lang="en-GB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4.26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4.16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7" name="Oval 36"/>
          <p:cNvSpPr/>
          <p:nvPr/>
        </p:nvSpPr>
        <p:spPr>
          <a:xfrm>
            <a:off x="1527898" y="2145227"/>
            <a:ext cx="295095" cy="26826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0841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CCBEC-36BA-EC47-2793-00225C319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Adding decimals algorithm (copy MWB)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DAABE-796C-CCFB-B9E8-1D4DA6CA8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lphaLcParenR"/>
            </a:pPr>
            <a:r>
              <a:rPr lang="en-US" dirty="0"/>
              <a:t>2</a:t>
            </a:r>
            <a:r>
              <a:rPr lang="en-AU" dirty="0"/>
              <a:t>3.7 + 12.7 = </a:t>
            </a:r>
          </a:p>
          <a:p>
            <a:pPr marL="514350" indent="-514350">
              <a:buAutoNum type="alphaLcParenR"/>
            </a:pPr>
            <a:endParaRPr lang="en-AU" dirty="0"/>
          </a:p>
          <a:p>
            <a:pPr marL="514350" indent="-514350">
              <a:buAutoNum type="alphaLcParenR"/>
            </a:pPr>
            <a:r>
              <a:rPr lang="en-AU" dirty="0"/>
              <a:t>145.98 + 11.7 = </a:t>
            </a:r>
          </a:p>
          <a:p>
            <a:pPr marL="514350" indent="-514350">
              <a:buAutoNum type="alphaLcParenR"/>
            </a:pPr>
            <a:endParaRPr lang="en-AU" dirty="0"/>
          </a:p>
          <a:p>
            <a:pPr marL="514350" indent="-514350">
              <a:buAutoNum type="alphaLcParenR"/>
            </a:pPr>
            <a:r>
              <a:rPr lang="en-AU" dirty="0"/>
              <a:t>21.99 + 32.77 =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878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CCBEC-36BA-EC47-2793-00225C319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703" y="659701"/>
            <a:ext cx="11168109" cy="58317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Subtracting decimals algorithm (Copy MWB)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DAABE-796C-CCFB-B9E8-1D4DA6CA8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lphaLcParenR"/>
            </a:pPr>
            <a:r>
              <a:rPr lang="en-US" dirty="0"/>
              <a:t>2</a:t>
            </a:r>
            <a:r>
              <a:rPr lang="en-AU" dirty="0"/>
              <a:t>3.7 - 12.7 = </a:t>
            </a:r>
          </a:p>
          <a:p>
            <a:pPr marL="514350" indent="-514350">
              <a:buAutoNum type="alphaLcParenR"/>
            </a:pPr>
            <a:endParaRPr lang="en-AU" dirty="0"/>
          </a:p>
          <a:p>
            <a:pPr marL="514350" indent="-514350">
              <a:buAutoNum type="alphaLcParenR"/>
            </a:pPr>
            <a:r>
              <a:rPr lang="en-AU" dirty="0"/>
              <a:t>145.98 - 11.7 = </a:t>
            </a:r>
          </a:p>
          <a:p>
            <a:pPr marL="514350" indent="-514350">
              <a:buAutoNum type="alphaLcParenR"/>
            </a:pPr>
            <a:endParaRPr lang="en-AU" dirty="0"/>
          </a:p>
          <a:p>
            <a:pPr marL="514350" indent="-514350">
              <a:buAutoNum type="alphaLcParenR"/>
            </a:pPr>
            <a:r>
              <a:rPr lang="en-AU" dirty="0"/>
              <a:t>21.99 - 12.76 =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036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582FB-714E-B97A-53C4-731838158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do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1F935-E006-63D6-0BDB-6C2B18986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lphaLcParenR"/>
            </a:pPr>
            <a:r>
              <a:rPr lang="en-US" sz="2800" dirty="0"/>
              <a:t>34.65 + 11.2 = </a:t>
            </a:r>
          </a:p>
          <a:p>
            <a:pPr marL="514350" indent="-514350">
              <a:buAutoNum type="alphaLcParenR"/>
            </a:pPr>
            <a:endParaRPr lang="en-US" sz="2800" dirty="0"/>
          </a:p>
          <a:p>
            <a:pPr marL="514350" indent="-514350">
              <a:buAutoNum type="alphaLcParenR"/>
            </a:pPr>
            <a:r>
              <a:rPr lang="en-US" sz="2800" dirty="0"/>
              <a:t>43.98 – 12.37 = </a:t>
            </a:r>
          </a:p>
          <a:p>
            <a:pPr marL="514350" indent="-514350">
              <a:buAutoNum type="alphaLcParenR"/>
            </a:pPr>
            <a:endParaRPr lang="en-US" sz="2800" dirty="0"/>
          </a:p>
          <a:p>
            <a:pPr marL="514350" indent="-514350">
              <a:buAutoNum type="alphaLcParenR"/>
            </a:pPr>
            <a:r>
              <a:rPr lang="en-US" sz="2800" dirty="0"/>
              <a:t>11.56 + 11.76 = 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408297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C1728-4A38-9088-6A16-0C70603B57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Individual practice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CD110-592A-E475-AC9E-3B563DA264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Sum Fun 51 &amp; 52</a:t>
            </a:r>
            <a:endParaRPr lang="en-A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364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2CA56-0FC9-3B4A-0E23-36BEEA931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0DE65-9142-2A6C-173E-BB55F5586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3200" dirty="0"/>
              <a:t>Order these decimals from small to large:</a:t>
            </a:r>
          </a:p>
          <a:p>
            <a:pPr marL="0" indent="0" algn="ctr">
              <a:buNone/>
            </a:pPr>
            <a:r>
              <a:rPr lang="en-US" sz="3200" dirty="0"/>
              <a:t>0.21		0.021		0.201		0.02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2. Determine an answer: </a:t>
            </a:r>
          </a:p>
          <a:p>
            <a:pPr marL="0" indent="0">
              <a:buNone/>
            </a:pPr>
            <a:endParaRPr lang="en-US" sz="3200" dirty="0"/>
          </a:p>
          <a:p>
            <a:pPr marL="514350" indent="-514350">
              <a:buAutoNum type="alphaLcParenR"/>
            </a:pPr>
            <a:r>
              <a:rPr lang="en-US" sz="3200" dirty="0"/>
              <a:t>23.47 + 11.87 = </a:t>
            </a:r>
          </a:p>
          <a:p>
            <a:pPr marL="514350" indent="-514350">
              <a:buAutoNum type="alphaLcParenR"/>
            </a:pPr>
            <a:r>
              <a:rPr lang="en-US" sz="3200" dirty="0"/>
              <a:t>19.78 – 4.61 = 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2221075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How to simplify a fraction: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b="1" dirty="0">
                <a:solidFill>
                  <a:srgbClr val="00B0F0"/>
                </a:solidFill>
              </a:rPr>
              <a:t>Find a times table that both top (numerator) and bottom (denominator) are in.</a:t>
            </a:r>
          </a:p>
          <a:p>
            <a:pPr marL="514350" indent="-514350">
              <a:buFont typeface="+mj-lt"/>
              <a:buAutoNum type="arabicPeriod"/>
            </a:pPr>
            <a:endParaRPr lang="en-GB" b="1" dirty="0">
              <a:solidFill>
                <a:srgbClr val="00B0F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GB" b="1" dirty="0">
                <a:solidFill>
                  <a:srgbClr val="00B0F0"/>
                </a:solidFill>
              </a:rPr>
              <a:t>Divide both top and bottom by that number.</a:t>
            </a:r>
          </a:p>
          <a:p>
            <a:pPr marL="514350" indent="-514350">
              <a:buFont typeface="+mj-lt"/>
              <a:buAutoNum type="arabicPeriod"/>
            </a:pPr>
            <a:endParaRPr lang="en-GB" b="1" dirty="0">
              <a:solidFill>
                <a:srgbClr val="00B0F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GB" b="1" dirty="0">
                <a:solidFill>
                  <a:srgbClr val="00B0F0"/>
                </a:solidFill>
              </a:rPr>
              <a:t>Keep going until the only times table that goes into both is the 1 times table.</a:t>
            </a:r>
          </a:p>
        </p:txBody>
      </p:sp>
    </p:spTree>
    <p:extLst>
      <p:ext uri="{BB962C8B-B14F-4D97-AF65-F5344CB8AC3E}">
        <p14:creationId xmlns:p14="http://schemas.microsoft.com/office/powerpoint/2010/main" val="664683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Simplifying using pictures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81200" y="1600200"/>
                <a:ext cx="8229600" cy="4925144"/>
              </a:xfrm>
            </p:spPr>
            <p:txBody>
              <a:bodyPr>
                <a:normAutofit lnSpcReduction="10000"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6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8</m:t>
                        </m:r>
                      </m:den>
                    </m:f>
                  </m:oMath>
                </a14:m>
                <a:r>
                  <a:rPr lang="en-GB" dirty="0"/>
                  <a:t> of this shape is shaded. Simplify the fraction.</a:t>
                </a:r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r>
                  <a:rPr lang="en-GB" dirty="0"/>
                  <a:t>I could make the two rows into one.</a:t>
                </a:r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6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8</m:t>
                          </m:r>
                        </m:den>
                      </m:f>
                      <m:r>
                        <a:rPr lang="en-GB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1600200"/>
                <a:ext cx="8229600" cy="4925144"/>
              </a:xfrm>
              <a:blipFill>
                <a:blip r:embed="rId2"/>
                <a:stretch>
                  <a:fillRect t="-49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4151784" y="2420888"/>
            <a:ext cx="936104" cy="1728192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87888" y="2420888"/>
            <a:ext cx="936104" cy="1728192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23992" y="2420888"/>
            <a:ext cx="936104" cy="1728192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960096" y="2420888"/>
            <a:ext cx="936104" cy="17281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13" name="Straight Connector 12"/>
          <p:cNvCxnSpPr>
            <a:stCxn id="4" idx="1"/>
            <a:endCxn id="7" idx="3"/>
          </p:cNvCxnSpPr>
          <p:nvPr/>
        </p:nvCxnSpPr>
        <p:spPr>
          <a:xfrm>
            <a:off x="4151784" y="3284984"/>
            <a:ext cx="374441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8217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  <p:bldP spid="6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16632"/>
            <a:ext cx="8229600" cy="1143000"/>
          </a:xfrm>
        </p:spPr>
        <p:txBody>
          <a:bodyPr/>
          <a:lstStyle/>
          <a:p>
            <a:r>
              <a:rPr lang="en-GB" b="1" dirty="0"/>
              <a:t>Without a picture, an example: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81200" y="1412776"/>
                <a:ext cx="8229600" cy="4853136"/>
              </a:xfrm>
            </p:spPr>
            <p:txBody>
              <a:bodyPr>
                <a:normAutofit lnSpcReduction="10000"/>
              </a:bodyPr>
              <a:lstStyle/>
              <a:p>
                <a:pPr marL="0" indent="0" algn="ctr">
                  <a:buNone/>
                </a:pPr>
                <a:r>
                  <a:rPr lang="en-GB" dirty="0"/>
                  <a:t>Simplify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25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45</m:t>
                        </m:r>
                      </m:den>
                    </m:f>
                  </m:oMath>
                </a14:m>
                <a:r>
                  <a:rPr lang="en-GB" dirty="0"/>
                  <a:t> to its lowest terms.</a:t>
                </a:r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r>
                  <a:rPr lang="en-GB" dirty="0"/>
                  <a:t>What times table are 25 and 45 in?</a:t>
                </a:r>
              </a:p>
              <a:p>
                <a:pPr marL="0" indent="0" algn="ctr">
                  <a:buNone/>
                </a:pPr>
                <a:r>
                  <a:rPr lang="en-GB" dirty="0"/>
                  <a:t>The 5 times table!</a:t>
                </a:r>
              </a:p>
              <a:p>
                <a:pPr marL="0" indent="0" algn="ctr">
                  <a:buNone/>
                </a:pPr>
                <a:r>
                  <a:rPr lang="en-GB" dirty="0"/>
                  <a:t>So divide them both by 5.</a:t>
                </a:r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sz="4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4400" i="1">
                            <a:latin typeface="Cambria Math"/>
                          </a:rPr>
                          <m:t>25</m:t>
                        </m:r>
                      </m:num>
                      <m:den>
                        <m:r>
                          <a:rPr lang="en-GB" sz="4400" i="1">
                            <a:latin typeface="Cambria Math"/>
                          </a:rPr>
                          <m:t>45</m:t>
                        </m:r>
                      </m:den>
                    </m:f>
                  </m:oMath>
                </a14:m>
                <a:r>
                  <a:rPr lang="en-GB" sz="4400" dirty="0"/>
                  <a:t>     =       </a:t>
                </a:r>
                <a:r>
                  <a:rPr lang="en-GB" sz="4400" dirty="0">
                    <a:solidFill>
                      <a:schemeClr val="bg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1412776"/>
                <a:ext cx="8229600" cy="4853136"/>
              </a:xfrm>
              <a:blipFill>
                <a:blip r:embed="rId2"/>
                <a:stretch>
                  <a:fillRect t="-37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rved Down Arrow 3"/>
          <p:cNvSpPr/>
          <p:nvPr/>
        </p:nvSpPr>
        <p:spPr>
          <a:xfrm>
            <a:off x="5087888" y="4437112"/>
            <a:ext cx="2016224" cy="432048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5" name="Curved Up Arrow 4"/>
          <p:cNvSpPr/>
          <p:nvPr/>
        </p:nvSpPr>
        <p:spPr>
          <a:xfrm>
            <a:off x="5087888" y="6021288"/>
            <a:ext cx="2016224" cy="432048"/>
          </a:xfrm>
          <a:prstGeom prst="curved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89966" y="4454054"/>
            <a:ext cx="612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rgbClr val="FF0000"/>
                </a:solidFill>
                <a:latin typeface="Calibri"/>
              </a:rPr>
              <a:t>÷5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71964" y="5919664"/>
            <a:ext cx="612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rgbClr val="FF0000"/>
                </a:solidFill>
                <a:latin typeface="Calibri"/>
              </a:rPr>
              <a:t>÷5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00056" y="4921756"/>
                <a:ext cx="936104" cy="10275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5</m:t>
                          </m:r>
                        </m:num>
                        <m:den>
                          <m:r>
                            <a:rPr lang="en-GB" sz="32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3200" dirty="0">
                  <a:solidFill>
                    <a:prstClr val="black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056" y="4921756"/>
                <a:ext cx="936104" cy="10275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8807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  <p:bldP spid="6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16632"/>
            <a:ext cx="8229600" cy="1143000"/>
          </a:xfrm>
        </p:spPr>
        <p:txBody>
          <a:bodyPr/>
          <a:lstStyle/>
          <a:p>
            <a:r>
              <a:rPr lang="en-GB" b="1" dirty="0"/>
              <a:t>Another example: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81200" y="1412776"/>
                <a:ext cx="8229600" cy="4853136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GB" dirty="0"/>
                  <a:t>Simplify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36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48</m:t>
                        </m:r>
                      </m:den>
                    </m:f>
                  </m:oMath>
                </a14:m>
                <a:r>
                  <a:rPr lang="en-GB" dirty="0"/>
                  <a:t> to its lowest terms.</a:t>
                </a:r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r>
                  <a:rPr lang="en-GB" dirty="0"/>
                  <a:t>What times table are 36 and 48 in?</a:t>
                </a:r>
              </a:p>
              <a:p>
                <a:pPr marL="0" indent="0" algn="ctr">
                  <a:buNone/>
                </a:pPr>
                <a:r>
                  <a:rPr lang="en-GB" dirty="0"/>
                  <a:t>They are in lots of tables, so try one and keep going until you can’t do any more!</a:t>
                </a:r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sz="4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4400" i="1">
                            <a:latin typeface="Cambria Math"/>
                          </a:rPr>
                          <m:t>36</m:t>
                        </m:r>
                      </m:num>
                      <m:den>
                        <m:r>
                          <a:rPr lang="en-GB" sz="4400" i="1">
                            <a:latin typeface="Cambria Math"/>
                          </a:rPr>
                          <m:t>48</m:t>
                        </m:r>
                      </m:den>
                    </m:f>
                  </m:oMath>
                </a14:m>
                <a:r>
                  <a:rPr lang="en-GB" sz="4400" dirty="0"/>
                  <a:t>     =                      </a:t>
                </a:r>
                <a:r>
                  <a:rPr lang="en-GB" sz="4400" dirty="0">
                    <a:solidFill>
                      <a:schemeClr val="bg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1412776"/>
                <a:ext cx="8229600" cy="4853136"/>
              </a:xfrm>
              <a:blipFill>
                <a:blip r:embed="rId2"/>
                <a:stretch>
                  <a:fillRect b="-113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rved Down Arrow 3"/>
          <p:cNvSpPr/>
          <p:nvPr/>
        </p:nvSpPr>
        <p:spPr>
          <a:xfrm>
            <a:off x="4007768" y="4678586"/>
            <a:ext cx="1944216" cy="432048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5" name="Curved Up Arrow 4"/>
          <p:cNvSpPr/>
          <p:nvPr/>
        </p:nvSpPr>
        <p:spPr>
          <a:xfrm>
            <a:off x="4007768" y="6237312"/>
            <a:ext cx="1944216" cy="432048"/>
          </a:xfrm>
          <a:prstGeom prst="curved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709846" y="4695528"/>
            <a:ext cx="612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rgbClr val="FF0000"/>
                </a:solidFill>
                <a:latin typeface="Calibri"/>
              </a:rPr>
              <a:t>÷4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1844" y="6135688"/>
            <a:ext cx="612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rgbClr val="FF0000"/>
                </a:solidFill>
                <a:latin typeface="Calibri"/>
              </a:rPr>
              <a:t>÷4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519936" y="5170087"/>
                <a:ext cx="936104" cy="10175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9</m:t>
                          </m:r>
                        </m:num>
                        <m:den>
                          <m:r>
                            <a:rPr lang="en-GB" sz="32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en-GB" sz="3200" dirty="0">
                  <a:solidFill>
                    <a:prstClr val="black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9936" y="5170087"/>
                <a:ext cx="936104" cy="101752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464152" y="5209788"/>
                <a:ext cx="936104" cy="10175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GB" sz="32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3200" dirty="0">
                  <a:solidFill>
                    <a:prstClr val="black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4152" y="5209788"/>
                <a:ext cx="936104" cy="101752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urved Down Arrow 9"/>
          <p:cNvSpPr/>
          <p:nvPr/>
        </p:nvSpPr>
        <p:spPr>
          <a:xfrm>
            <a:off x="5951984" y="4678586"/>
            <a:ext cx="2016224" cy="432048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11" name="Curved Up Arrow 10"/>
          <p:cNvSpPr/>
          <p:nvPr/>
        </p:nvSpPr>
        <p:spPr>
          <a:xfrm>
            <a:off x="5951984" y="6237312"/>
            <a:ext cx="2016224" cy="432048"/>
          </a:xfrm>
          <a:prstGeom prst="curved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54062" y="4695528"/>
            <a:ext cx="612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rgbClr val="FF0000"/>
                </a:solidFill>
                <a:latin typeface="Calibri"/>
              </a:rPr>
              <a:t>÷3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36060" y="6135688"/>
            <a:ext cx="612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rgbClr val="FF0000"/>
                </a:solidFill>
                <a:latin typeface="Calibri"/>
              </a:rPr>
              <a:t>÷3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8038" y="5301208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solidFill>
                  <a:prstClr val="black"/>
                </a:solidFill>
                <a:latin typeface="Calibri"/>
              </a:rPr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3510703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/>
      <p:bldP spid="7" grpId="0"/>
      <p:bldP spid="8" grpId="0"/>
      <p:bldP spid="9" grpId="0"/>
      <p:bldP spid="10" grpId="0" animBg="1"/>
      <p:bldP spid="11" grpId="0" animBg="1"/>
      <p:bldP spid="12" grpId="0"/>
      <p:bldP spid="13" grpId="0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Simplify these, giving your answers in their simplest form: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24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30</m:t>
                        </m:r>
                      </m:den>
                    </m:f>
                  </m:oMath>
                </a14:m>
                <a:endParaRPr lang="en-GB" dirty="0"/>
              </a:p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35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49</m:t>
                        </m:r>
                      </m:den>
                    </m:f>
                  </m:oMath>
                </a14:m>
                <a:endParaRPr lang="en-GB" dirty="0"/>
              </a:p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28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42</m:t>
                        </m:r>
                      </m:den>
                    </m:f>
                  </m:oMath>
                </a14:m>
                <a:endParaRPr lang="en-GB" dirty="0"/>
              </a:p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16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48</m:t>
                        </m:r>
                      </m:den>
                    </m:f>
                  </m:oMath>
                </a14:m>
                <a:endParaRPr lang="en-GB" dirty="0"/>
              </a:p>
              <a:p>
                <a:pPr marL="514350" indent="-51435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18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42</m:t>
                        </m:r>
                      </m:den>
                    </m:f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608168" y="1628800"/>
                <a:ext cx="720080" cy="7848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en-GB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2400" dirty="0">
                  <a:solidFill>
                    <a:srgbClr val="FF0000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8168" y="1628800"/>
                <a:ext cx="720080" cy="7848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608168" y="2428146"/>
                <a:ext cx="720080" cy="818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</m:num>
                        <m:den>
                          <m:r>
                            <a:rPr lang="en-GB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7</m:t>
                          </m:r>
                        </m:den>
                      </m:f>
                    </m:oMath>
                  </m:oMathPara>
                </a14:m>
                <a:endParaRPr lang="en-GB" sz="2400" dirty="0">
                  <a:solidFill>
                    <a:srgbClr val="FF0000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8168" y="2428146"/>
                <a:ext cx="720080" cy="8180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608168" y="3212977"/>
                <a:ext cx="720080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</m:num>
                        <m:den>
                          <m:r>
                            <a:rPr lang="en-GB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2400" dirty="0">
                  <a:solidFill>
                    <a:srgbClr val="FF0000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8168" y="3212977"/>
                <a:ext cx="720080" cy="7861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608168" y="4084331"/>
                <a:ext cx="720080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GB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2400" dirty="0">
                  <a:solidFill>
                    <a:srgbClr val="FF0000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8168" y="4084331"/>
                <a:ext cx="720080" cy="7861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608168" y="4948427"/>
                <a:ext cx="720080" cy="8156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GB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7</m:t>
                          </m:r>
                        </m:den>
                      </m:f>
                    </m:oMath>
                  </m:oMathPara>
                </a14:m>
                <a:endParaRPr lang="en-GB" sz="2400" dirty="0">
                  <a:solidFill>
                    <a:srgbClr val="FF0000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8168" y="4948427"/>
                <a:ext cx="720080" cy="81567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528" y="5373216"/>
            <a:ext cx="12192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719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6B23439-F093-95C2-DB22-6B7D9BA60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47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4511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CE16C-D8B2-F7DC-A9B5-C78D445AF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6834C2-3518-CA11-6BC4-715448F065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114963"/>
            <a:ext cx="10972800" cy="4429387"/>
          </a:xfrm>
        </p:spPr>
      </p:pic>
    </p:spTree>
    <p:extLst>
      <p:ext uri="{BB962C8B-B14F-4D97-AF65-F5344CB8AC3E}">
        <p14:creationId xmlns:p14="http://schemas.microsoft.com/office/powerpoint/2010/main" val="21174137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F61C5-60B3-273B-E9D1-6108D9ECA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Reflection – Fist to 5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ABC3A-24CE-1E7F-6B1A-DAF231499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GB" dirty="0"/>
              <a:t>Aim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GB" dirty="0"/>
              <a:t>Order decimals using place value.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GB" dirty="0"/>
              <a:t>Add and subtract numbers with decimals using an algorithm.</a:t>
            </a:r>
            <a:endParaRPr lang="en-AU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AU" dirty="0"/>
              <a:t>Simplify fractions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24339988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891</TotalTime>
  <Words>407</Words>
  <Application>Microsoft Office PowerPoint</Application>
  <PresentationFormat>Widescreen</PresentationFormat>
  <Paragraphs>119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15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Constantia</vt:lpstr>
      <vt:lpstr>Times New Roman</vt:lpstr>
      <vt:lpstr>Wingdings</vt:lpstr>
      <vt:lpstr>Wingdings 2</vt:lpstr>
      <vt:lpstr>Office Theme</vt:lpstr>
      <vt:lpstr>Flow</vt:lpstr>
      <vt:lpstr>1_Office Theme</vt:lpstr>
      <vt:lpstr>Lesson objective </vt:lpstr>
      <vt:lpstr>Questions: MWB</vt:lpstr>
      <vt:lpstr>Adding decimals algorithm (copy MWB)</vt:lpstr>
      <vt:lpstr>Subtracting decimals algorithm (Copy MWB)</vt:lpstr>
      <vt:lpstr>We do</vt:lpstr>
      <vt:lpstr>Individual practice </vt:lpstr>
      <vt:lpstr>Whiteboards </vt:lpstr>
      <vt:lpstr>How to simplify a fraction:</vt:lpstr>
      <vt:lpstr>Simplifying using pictures</vt:lpstr>
      <vt:lpstr>Without a picture, an example:</vt:lpstr>
      <vt:lpstr>Another example:</vt:lpstr>
      <vt:lpstr>Simplify these, giving your answers in their simplest form:</vt:lpstr>
      <vt:lpstr>PowerPoint Presentation</vt:lpstr>
      <vt:lpstr>PowerPoint Presentation</vt:lpstr>
      <vt:lpstr>Reflection – Fist to 5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 </dc:title>
  <dc:creator>DAVIES Rhys [Busselton Senior High School]</dc:creator>
  <cp:lastModifiedBy>DAVIES Rhys [Busselton Senior High School]</cp:lastModifiedBy>
  <cp:revision>7</cp:revision>
  <dcterms:created xsi:type="dcterms:W3CDTF">2023-06-01T09:20:13Z</dcterms:created>
  <dcterms:modified xsi:type="dcterms:W3CDTF">2023-06-06T06:11:40Z</dcterms:modified>
</cp:coreProperties>
</file>
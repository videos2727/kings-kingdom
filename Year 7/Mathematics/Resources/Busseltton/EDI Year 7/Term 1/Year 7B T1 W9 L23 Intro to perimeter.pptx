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0" r:id="rId4"/>
    <p:sldId id="303" r:id="rId5"/>
    <p:sldId id="318" r:id="rId6"/>
    <p:sldId id="265" r:id="rId7"/>
    <p:sldId id="262" r:id="rId8"/>
    <p:sldId id="264" r:id="rId9"/>
    <p:sldId id="319" r:id="rId10"/>
    <p:sldId id="259" r:id="rId11"/>
    <p:sldId id="25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1166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9DB19-6C52-43EA-9855-8D6425CFCB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6D2F5F-ECA2-4357-97C7-A5D72D3D8F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45A51-DA17-4BF7-B332-477997D77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5A5E-0785-45BD-AB7E-FDE25212F1BE}" type="datetimeFigureOut">
              <a:rPr lang="en-AU" smtClean="0"/>
              <a:t>28/03/2023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C6DA2-7722-4B81-B845-F5D1BAD87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5D2B7-0966-402D-BD9A-819D2F49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7026D-E1E9-4F73-B536-5F5622646B1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5460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6587D-501C-4884-9391-D415947B8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E039E-DDAF-4FF8-9794-B344AED40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949F5-0F7D-4CCC-9DB6-EA1894AA3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5A5E-0785-45BD-AB7E-FDE25212F1BE}" type="datetimeFigureOut">
              <a:rPr lang="en-AU" smtClean="0"/>
              <a:t>28/03/2023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896F0-2691-413C-B0CF-E9DA590F7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F0EF3-7B1D-4F63-A13C-645950CE0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7026D-E1E9-4F73-B536-5F5622646B1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5485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1159A-38AA-4E0C-8045-83ADBE3F7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FA472-9638-4BB3-9B54-13340B97A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6A3E5-E12F-44D4-9682-0F6F10B80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5A5E-0785-45BD-AB7E-FDE25212F1BE}" type="datetimeFigureOut">
              <a:rPr lang="en-AU" smtClean="0"/>
              <a:t>28/03/2023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0A1E3-2BF7-41AC-AAF1-6F1D76655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9BF28-C51B-4C38-8655-5483ABE02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7026D-E1E9-4F73-B536-5F5622646B1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0799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50471-1526-47D7-88F7-D17F10E99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02A48-A28B-4F64-B185-EF4E67A516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686D2-6456-4839-89B2-F6D0CF6B0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E3D0DF-CE34-40FF-B758-62FB09486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5A5E-0785-45BD-AB7E-FDE25212F1BE}" type="datetimeFigureOut">
              <a:rPr lang="en-AU" smtClean="0"/>
              <a:t>28/03/2023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237BA9-D926-4AAD-B366-134EA855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26B04-A09E-4A90-B1F9-85A81BF14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7026D-E1E9-4F73-B536-5F5622646B1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2774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60EC0-7F58-45CC-8FC4-37AAC5DFA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82C9E-F0B2-453B-84A4-102698917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0AD53-4072-4996-864C-8BA114F25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BCD792-4793-4B29-85E8-29347AE01A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DB8FFF-CF9E-43E9-8E08-538207BC9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3242C8-61F3-4779-8CF5-EB93E389C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5A5E-0785-45BD-AB7E-FDE25212F1BE}" type="datetimeFigureOut">
              <a:rPr lang="en-AU" smtClean="0"/>
              <a:t>28/03/2023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BDC5D2-CE6C-4194-9629-5E0AD3A5F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381CC6-51A4-4C56-8349-344C48CEE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7026D-E1E9-4F73-B536-5F5622646B1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4583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ABB63-676A-46EF-B3DC-799F99EB4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AFD799-62E9-4022-82B5-09665C67A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5A5E-0785-45BD-AB7E-FDE25212F1BE}" type="datetimeFigureOut">
              <a:rPr lang="en-AU" smtClean="0"/>
              <a:t>28/03/2023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FA86C2-37E8-4F09-96AE-BE952747A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64AE3-9EB4-49F1-BA05-B017D3D9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7026D-E1E9-4F73-B536-5F5622646B1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8225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D2DE71-B5FD-4271-A75F-4B162DBCF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5A5E-0785-45BD-AB7E-FDE25212F1BE}" type="datetimeFigureOut">
              <a:rPr lang="en-AU" smtClean="0"/>
              <a:t>28/03/2023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B69E35-45B6-4F38-8FF5-D1E91D093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AB88F-0D00-48B4-AA41-6AD667897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7026D-E1E9-4F73-B536-5F5622646B1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829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39455-A193-40BE-8915-74664D66F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1C902-0C0B-4179-90CD-0CAEAFF9A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3D8ACC-06FA-4C8A-8A9A-B36D736083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EEAB55-2EE4-433A-9A1A-ABA882081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5A5E-0785-45BD-AB7E-FDE25212F1BE}" type="datetimeFigureOut">
              <a:rPr lang="en-AU" smtClean="0"/>
              <a:t>28/03/2023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07B31B-4AA2-469B-A19C-3D9BD1316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65DD71-1A9F-4C6A-A52C-A6107E1A3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7026D-E1E9-4F73-B536-5F5622646B1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0103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C0160-27DF-4221-A130-A20091BEB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CD9EA8-A76D-46C7-B1C1-7A4071D1E6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16150A-C59B-47B0-9C72-F7F632827A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7C556-42D3-4550-82B6-2126EC180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5A5E-0785-45BD-AB7E-FDE25212F1BE}" type="datetimeFigureOut">
              <a:rPr lang="en-AU" smtClean="0"/>
              <a:t>28/03/2023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4E05D3-D7C9-48B6-83FE-67380782D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D08E0-5B29-4F18-889D-916C0401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7026D-E1E9-4F73-B536-5F5622646B1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2891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11D3C-E1D7-43CB-A3BC-DFF73515B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26C96C-9E82-4BB4-9268-7EFBF4CD9A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C3298-C49A-415C-9598-9E7CAD0C1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5A5E-0785-45BD-AB7E-FDE25212F1BE}" type="datetimeFigureOut">
              <a:rPr lang="en-AU" smtClean="0"/>
              <a:t>28/03/2023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95020-61B2-4BAA-A573-BD34FB384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F96F9-5FE1-4171-9149-9D82D056C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7026D-E1E9-4F73-B536-5F5622646B1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8753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798185-33D5-4ED6-8C26-9A1CE975BB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333C45-8F0F-4809-A02E-21D9C0021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8F999-5E75-4BF6-A566-45D099391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5A5E-0785-45BD-AB7E-FDE25212F1BE}" type="datetimeFigureOut">
              <a:rPr lang="en-AU" smtClean="0"/>
              <a:t>28/03/2023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97547-5C03-4613-82F5-CD7FB704E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AA115-7687-49F7-9C05-E45B4BBC9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7026D-E1E9-4F73-B536-5F5622646B1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2732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5C03-B4A6-4F45-B65A-8C30769D83C7}" type="datetimeFigureOut">
              <a:rPr lang="en-AU" smtClean="0"/>
              <a:t>28/03/2023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07FB-AF85-4152-8507-AE98A953AE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7605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486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62128"/>
            <a:ext cx="12192000" cy="57942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5C03-B4A6-4F45-B65A-8C30769D83C7}" type="datetimeFigureOut">
              <a:rPr lang="en-AU" smtClean="0"/>
              <a:t>28/03/2023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07FB-AF85-4152-8507-AE98A953AE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87399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5C03-B4A6-4F45-B65A-8C30769D83C7}" type="datetimeFigureOut">
              <a:rPr lang="en-AU" smtClean="0"/>
              <a:t>28/03/2023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07FB-AF85-4152-8507-AE98A953AE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5227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5C03-B4A6-4F45-B65A-8C30769D83C7}" type="datetimeFigureOut">
              <a:rPr lang="en-AU" smtClean="0"/>
              <a:t>28/03/2023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07FB-AF85-4152-8507-AE98A953AE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63203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5C03-B4A6-4F45-B65A-8C30769D83C7}" type="datetimeFigureOut">
              <a:rPr lang="en-AU" smtClean="0"/>
              <a:t>28/03/2023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07FB-AF85-4152-8507-AE98A953AE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4272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5C03-B4A6-4F45-B65A-8C30769D83C7}" type="datetimeFigureOut">
              <a:rPr lang="en-AU" smtClean="0"/>
              <a:t>28/03/2023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07FB-AF85-4152-8507-AE98A953AE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26852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5C03-B4A6-4F45-B65A-8C30769D83C7}" type="datetimeFigureOut">
              <a:rPr lang="en-AU" smtClean="0"/>
              <a:t>28/03/2023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07FB-AF85-4152-8507-AE98A953AE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8763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5C03-B4A6-4F45-B65A-8C30769D83C7}" type="datetimeFigureOut">
              <a:rPr lang="en-AU" smtClean="0"/>
              <a:t>28/03/2023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07FB-AF85-4152-8507-AE98A953AE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9180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5C03-B4A6-4F45-B65A-8C30769D83C7}" type="datetimeFigureOut">
              <a:rPr lang="en-AU" smtClean="0"/>
              <a:t>28/03/2023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07FB-AF85-4152-8507-AE98A953AE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4293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5C03-B4A6-4F45-B65A-8C30769D83C7}" type="datetimeFigureOut">
              <a:rPr lang="en-AU" smtClean="0"/>
              <a:t>28/03/2023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07FB-AF85-4152-8507-AE98A953AE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76063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5C03-B4A6-4F45-B65A-8C30769D83C7}" type="datetimeFigureOut">
              <a:rPr lang="en-AU" smtClean="0"/>
              <a:t>28/03/2023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07FB-AF85-4152-8507-AE98A953AE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7369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1FE59F-E2F6-474A-8791-CC735BC9C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8A1C5-A484-4EBC-980F-64893BE90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92871-0A50-46CE-B6FC-37D0748119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D15A5E-0785-45BD-AB7E-FDE25212F1BE}" type="datetimeFigureOut">
              <a:rPr lang="en-AU" smtClean="0"/>
              <a:t>28/03/2023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D8C12-C2B7-49B3-899F-B07222362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F73D5-91C4-4A7E-82AA-DA24E4084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7026D-E1E9-4F73-B536-5F5622646B1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7931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55C03-B4A6-4F45-B65A-8C30769D83C7}" type="datetimeFigureOut">
              <a:rPr lang="en-AU" smtClean="0"/>
              <a:t>28/03/2023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A07FB-AF85-4152-8507-AE98A953AE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0872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40B943-0F31-41BD-BB2C-AF9B146C2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Lesson objective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1FF46F-70CF-48E1-A582-AF48FC828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/>
              <a:t>Title: </a:t>
            </a:r>
            <a:r>
              <a:rPr lang="en-AU" dirty="0">
                <a:solidFill>
                  <a:schemeClr val="accent1"/>
                </a:solidFill>
              </a:rPr>
              <a:t>Measurement and perimeter </a:t>
            </a:r>
          </a:p>
          <a:p>
            <a:pPr marL="0" indent="0">
              <a:buNone/>
            </a:pPr>
            <a:endParaRPr lang="en-AU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chemeClr val="accent1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accent1"/>
                </a:solidFill>
              </a:rPr>
              <a:t> Be able to define perimeter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accent1"/>
                </a:solidFill>
              </a:rPr>
              <a:t> calculate the perimeter of common shapes</a:t>
            </a:r>
          </a:p>
          <a:p>
            <a:pPr marL="0" indent="0">
              <a:buNone/>
            </a:pPr>
            <a:r>
              <a:rPr lang="en-AU" dirty="0">
                <a:solidFill>
                  <a:schemeClr val="accent1"/>
                </a:solidFill>
              </a:rPr>
              <a:t>Plan: </a:t>
            </a:r>
          </a:p>
          <a:p>
            <a:pPr marL="0" indent="0">
              <a:buNone/>
            </a:pPr>
            <a:r>
              <a:rPr lang="en-AU" dirty="0">
                <a:solidFill>
                  <a:schemeClr val="accent1"/>
                </a:solidFill>
              </a:rPr>
              <a:t>- Converting units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9A13C9-293A-46B8-A9DA-F7F05E0D1E66}"/>
              </a:ext>
            </a:extLst>
          </p:cNvPr>
          <p:cNvSpPr txBox="1"/>
          <p:nvPr/>
        </p:nvSpPr>
        <p:spPr>
          <a:xfrm>
            <a:off x="8357586" y="2635294"/>
            <a:ext cx="27698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calculators, whiteboards and rulers.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1355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C854C-0E8F-4AA1-8C30-384E5EADA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Converting measurement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2AF19-5C19-4B25-9FCF-8669D2776B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How many mm in a cm?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How many cm in a m?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How many m in a km?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FE0C4C-A258-43D5-8505-1F2E5675C28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/>
              <a:t>10 </a:t>
            </a:r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100</a:t>
            </a:r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1000</a:t>
            </a:r>
          </a:p>
        </p:txBody>
      </p:sp>
    </p:spTree>
    <p:extLst>
      <p:ext uri="{BB962C8B-B14F-4D97-AF65-F5344CB8AC3E}">
        <p14:creationId xmlns:p14="http://schemas.microsoft.com/office/powerpoint/2010/main" val="2547545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018" y="0"/>
            <a:ext cx="9144982" cy="692696"/>
          </a:xfrm>
        </p:spPr>
        <p:txBody>
          <a:bodyPr>
            <a:normAutofit fontScale="90000"/>
          </a:bodyPr>
          <a:lstStyle/>
          <a:p>
            <a:r>
              <a:rPr lang="en-AU" dirty="0"/>
              <a:t>Unit Conversions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692697"/>
            <a:ext cx="9144000" cy="1080120"/>
          </a:xfrm>
        </p:spPr>
        <p:txBody>
          <a:bodyPr>
            <a:normAutofit/>
          </a:bodyPr>
          <a:lstStyle/>
          <a:p>
            <a:r>
              <a:rPr lang="en-AU" sz="2400" dirty="0"/>
              <a:t>Find the start and end units</a:t>
            </a:r>
          </a:p>
          <a:p>
            <a:r>
              <a:rPr lang="en-AU" sz="2400" dirty="0"/>
              <a:t>Carry out the sum(s) on the arrows between the two units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0459" y="1747393"/>
            <a:ext cx="6479494" cy="2574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892413" y="2834801"/>
            <a:ext cx="944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LENGTH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EC3F97-210C-82F3-433A-78F7BAD479EF}"/>
              </a:ext>
            </a:extLst>
          </p:cNvPr>
          <p:cNvSpPr/>
          <p:nvPr/>
        </p:nvSpPr>
        <p:spPr>
          <a:xfrm>
            <a:off x="3040459" y="1704979"/>
            <a:ext cx="6479494" cy="2627424"/>
          </a:xfrm>
          <a:custGeom>
            <a:avLst/>
            <a:gdLst>
              <a:gd name="connsiteX0" fmla="*/ 0 w 6479494"/>
              <a:gd name="connsiteY0" fmla="*/ 0 h 2627424"/>
              <a:gd name="connsiteX1" fmla="*/ 394660 w 6479494"/>
              <a:gd name="connsiteY1" fmla="*/ 0 h 2627424"/>
              <a:gd name="connsiteX2" fmla="*/ 1113295 w 6479494"/>
              <a:gd name="connsiteY2" fmla="*/ 0 h 2627424"/>
              <a:gd name="connsiteX3" fmla="*/ 1572750 w 6479494"/>
              <a:gd name="connsiteY3" fmla="*/ 0 h 2627424"/>
              <a:gd name="connsiteX4" fmla="*/ 2291385 w 6479494"/>
              <a:gd name="connsiteY4" fmla="*/ 0 h 2627424"/>
              <a:gd name="connsiteX5" fmla="*/ 2686045 w 6479494"/>
              <a:gd name="connsiteY5" fmla="*/ 0 h 2627424"/>
              <a:gd name="connsiteX6" fmla="*/ 3339885 w 6479494"/>
              <a:gd name="connsiteY6" fmla="*/ 0 h 2627424"/>
              <a:gd name="connsiteX7" fmla="*/ 3734545 w 6479494"/>
              <a:gd name="connsiteY7" fmla="*/ 0 h 2627424"/>
              <a:gd name="connsiteX8" fmla="*/ 4388385 w 6479494"/>
              <a:gd name="connsiteY8" fmla="*/ 0 h 2627424"/>
              <a:gd name="connsiteX9" fmla="*/ 4912635 w 6479494"/>
              <a:gd name="connsiteY9" fmla="*/ 0 h 2627424"/>
              <a:gd name="connsiteX10" fmla="*/ 5631269 w 6479494"/>
              <a:gd name="connsiteY10" fmla="*/ 0 h 2627424"/>
              <a:gd name="connsiteX11" fmla="*/ 6479494 w 6479494"/>
              <a:gd name="connsiteY11" fmla="*/ 0 h 2627424"/>
              <a:gd name="connsiteX12" fmla="*/ 6479494 w 6479494"/>
              <a:gd name="connsiteY12" fmla="*/ 446662 h 2627424"/>
              <a:gd name="connsiteX13" fmla="*/ 6479494 w 6479494"/>
              <a:gd name="connsiteY13" fmla="*/ 998421 h 2627424"/>
              <a:gd name="connsiteX14" fmla="*/ 6479494 w 6479494"/>
              <a:gd name="connsiteY14" fmla="*/ 1445083 h 2627424"/>
              <a:gd name="connsiteX15" fmla="*/ 6479494 w 6479494"/>
              <a:gd name="connsiteY15" fmla="*/ 1944294 h 2627424"/>
              <a:gd name="connsiteX16" fmla="*/ 6479494 w 6479494"/>
              <a:gd name="connsiteY16" fmla="*/ 2627424 h 2627424"/>
              <a:gd name="connsiteX17" fmla="*/ 5825654 w 6479494"/>
              <a:gd name="connsiteY17" fmla="*/ 2627424 h 2627424"/>
              <a:gd name="connsiteX18" fmla="*/ 5107019 w 6479494"/>
              <a:gd name="connsiteY18" fmla="*/ 2627424 h 2627424"/>
              <a:gd name="connsiteX19" fmla="*/ 4712359 w 6479494"/>
              <a:gd name="connsiteY19" fmla="*/ 2627424 h 2627424"/>
              <a:gd name="connsiteX20" fmla="*/ 4188109 w 6479494"/>
              <a:gd name="connsiteY20" fmla="*/ 2627424 h 2627424"/>
              <a:gd name="connsiteX21" fmla="*/ 3534269 w 6479494"/>
              <a:gd name="connsiteY21" fmla="*/ 2627424 h 2627424"/>
              <a:gd name="connsiteX22" fmla="*/ 3074814 w 6479494"/>
              <a:gd name="connsiteY22" fmla="*/ 2627424 h 2627424"/>
              <a:gd name="connsiteX23" fmla="*/ 2485770 w 6479494"/>
              <a:gd name="connsiteY23" fmla="*/ 2627424 h 2627424"/>
              <a:gd name="connsiteX24" fmla="*/ 2091109 w 6479494"/>
              <a:gd name="connsiteY24" fmla="*/ 2627424 h 2627424"/>
              <a:gd name="connsiteX25" fmla="*/ 1502065 w 6479494"/>
              <a:gd name="connsiteY25" fmla="*/ 2627424 h 2627424"/>
              <a:gd name="connsiteX26" fmla="*/ 848225 w 6479494"/>
              <a:gd name="connsiteY26" fmla="*/ 2627424 h 2627424"/>
              <a:gd name="connsiteX27" fmla="*/ 0 w 6479494"/>
              <a:gd name="connsiteY27" fmla="*/ 2627424 h 2627424"/>
              <a:gd name="connsiteX28" fmla="*/ 0 w 6479494"/>
              <a:gd name="connsiteY28" fmla="*/ 2075665 h 2627424"/>
              <a:gd name="connsiteX29" fmla="*/ 0 w 6479494"/>
              <a:gd name="connsiteY29" fmla="*/ 1602729 h 2627424"/>
              <a:gd name="connsiteX30" fmla="*/ 0 w 6479494"/>
              <a:gd name="connsiteY30" fmla="*/ 1050970 h 2627424"/>
              <a:gd name="connsiteX31" fmla="*/ 0 w 6479494"/>
              <a:gd name="connsiteY31" fmla="*/ 499211 h 2627424"/>
              <a:gd name="connsiteX32" fmla="*/ 0 w 6479494"/>
              <a:gd name="connsiteY32" fmla="*/ 0 h 2627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479494" h="2627424" extrusionOk="0">
                <a:moveTo>
                  <a:pt x="0" y="0"/>
                </a:moveTo>
                <a:cubicBezTo>
                  <a:pt x="181852" y="-38141"/>
                  <a:pt x="227836" y="33578"/>
                  <a:pt x="394660" y="0"/>
                </a:cubicBezTo>
                <a:cubicBezTo>
                  <a:pt x="561484" y="-33578"/>
                  <a:pt x="812622" y="70569"/>
                  <a:pt x="1113295" y="0"/>
                </a:cubicBezTo>
                <a:cubicBezTo>
                  <a:pt x="1413968" y="-70569"/>
                  <a:pt x="1382141" y="40270"/>
                  <a:pt x="1572750" y="0"/>
                </a:cubicBezTo>
                <a:cubicBezTo>
                  <a:pt x="1763360" y="-40270"/>
                  <a:pt x="2143963" y="9550"/>
                  <a:pt x="2291385" y="0"/>
                </a:cubicBezTo>
                <a:cubicBezTo>
                  <a:pt x="2438808" y="-9550"/>
                  <a:pt x="2553504" y="37530"/>
                  <a:pt x="2686045" y="0"/>
                </a:cubicBezTo>
                <a:cubicBezTo>
                  <a:pt x="2818586" y="-37530"/>
                  <a:pt x="3127055" y="3414"/>
                  <a:pt x="3339885" y="0"/>
                </a:cubicBezTo>
                <a:cubicBezTo>
                  <a:pt x="3552715" y="-3414"/>
                  <a:pt x="3579245" y="37501"/>
                  <a:pt x="3734545" y="0"/>
                </a:cubicBezTo>
                <a:cubicBezTo>
                  <a:pt x="3889845" y="-37501"/>
                  <a:pt x="4244856" y="50578"/>
                  <a:pt x="4388385" y="0"/>
                </a:cubicBezTo>
                <a:cubicBezTo>
                  <a:pt x="4531914" y="-50578"/>
                  <a:pt x="4662841" y="60650"/>
                  <a:pt x="4912635" y="0"/>
                </a:cubicBezTo>
                <a:cubicBezTo>
                  <a:pt x="5162429" y="-60650"/>
                  <a:pt x="5455974" y="63586"/>
                  <a:pt x="5631269" y="0"/>
                </a:cubicBezTo>
                <a:cubicBezTo>
                  <a:pt x="5806564" y="-63586"/>
                  <a:pt x="6195135" y="62784"/>
                  <a:pt x="6479494" y="0"/>
                </a:cubicBezTo>
                <a:cubicBezTo>
                  <a:pt x="6479553" y="124529"/>
                  <a:pt x="6461396" y="337885"/>
                  <a:pt x="6479494" y="446662"/>
                </a:cubicBezTo>
                <a:cubicBezTo>
                  <a:pt x="6497592" y="555439"/>
                  <a:pt x="6455242" y="782595"/>
                  <a:pt x="6479494" y="998421"/>
                </a:cubicBezTo>
                <a:cubicBezTo>
                  <a:pt x="6503746" y="1214247"/>
                  <a:pt x="6438479" y="1293992"/>
                  <a:pt x="6479494" y="1445083"/>
                </a:cubicBezTo>
                <a:cubicBezTo>
                  <a:pt x="6520509" y="1596174"/>
                  <a:pt x="6423370" y="1731132"/>
                  <a:pt x="6479494" y="1944294"/>
                </a:cubicBezTo>
                <a:cubicBezTo>
                  <a:pt x="6535618" y="2157456"/>
                  <a:pt x="6462001" y="2369233"/>
                  <a:pt x="6479494" y="2627424"/>
                </a:cubicBezTo>
                <a:cubicBezTo>
                  <a:pt x="6206291" y="2699073"/>
                  <a:pt x="6133781" y="2558898"/>
                  <a:pt x="5825654" y="2627424"/>
                </a:cubicBezTo>
                <a:cubicBezTo>
                  <a:pt x="5517527" y="2695950"/>
                  <a:pt x="5319332" y="2573920"/>
                  <a:pt x="5107019" y="2627424"/>
                </a:cubicBezTo>
                <a:cubicBezTo>
                  <a:pt x="4894706" y="2680928"/>
                  <a:pt x="4821910" y="2605898"/>
                  <a:pt x="4712359" y="2627424"/>
                </a:cubicBezTo>
                <a:cubicBezTo>
                  <a:pt x="4602808" y="2648950"/>
                  <a:pt x="4315281" y="2619453"/>
                  <a:pt x="4188109" y="2627424"/>
                </a:cubicBezTo>
                <a:cubicBezTo>
                  <a:pt x="4060937" y="2635395"/>
                  <a:pt x="3846544" y="2618520"/>
                  <a:pt x="3534269" y="2627424"/>
                </a:cubicBezTo>
                <a:cubicBezTo>
                  <a:pt x="3221994" y="2636328"/>
                  <a:pt x="3247753" y="2606615"/>
                  <a:pt x="3074814" y="2627424"/>
                </a:cubicBezTo>
                <a:cubicBezTo>
                  <a:pt x="2901876" y="2648233"/>
                  <a:pt x="2616594" y="2627175"/>
                  <a:pt x="2485770" y="2627424"/>
                </a:cubicBezTo>
                <a:cubicBezTo>
                  <a:pt x="2354946" y="2627673"/>
                  <a:pt x="2238920" y="2587366"/>
                  <a:pt x="2091109" y="2627424"/>
                </a:cubicBezTo>
                <a:cubicBezTo>
                  <a:pt x="1943298" y="2667482"/>
                  <a:pt x="1791349" y="2580689"/>
                  <a:pt x="1502065" y="2627424"/>
                </a:cubicBezTo>
                <a:cubicBezTo>
                  <a:pt x="1212781" y="2674159"/>
                  <a:pt x="1000934" y="2566391"/>
                  <a:pt x="848225" y="2627424"/>
                </a:cubicBezTo>
                <a:cubicBezTo>
                  <a:pt x="695516" y="2688457"/>
                  <a:pt x="218755" y="2627003"/>
                  <a:pt x="0" y="2627424"/>
                </a:cubicBezTo>
                <a:cubicBezTo>
                  <a:pt x="-39170" y="2372094"/>
                  <a:pt x="51477" y="2212628"/>
                  <a:pt x="0" y="2075665"/>
                </a:cubicBezTo>
                <a:cubicBezTo>
                  <a:pt x="-51477" y="1938702"/>
                  <a:pt x="12025" y="1769603"/>
                  <a:pt x="0" y="1602729"/>
                </a:cubicBezTo>
                <a:cubicBezTo>
                  <a:pt x="-12025" y="1435855"/>
                  <a:pt x="42824" y="1285758"/>
                  <a:pt x="0" y="1050970"/>
                </a:cubicBezTo>
                <a:cubicBezTo>
                  <a:pt x="-42824" y="816182"/>
                  <a:pt x="12934" y="649077"/>
                  <a:pt x="0" y="499211"/>
                </a:cubicBezTo>
                <a:cubicBezTo>
                  <a:pt x="-12934" y="349345"/>
                  <a:pt x="45764" y="171630"/>
                  <a:pt x="0" y="0"/>
                </a:cubicBezTo>
                <a:close/>
              </a:path>
            </a:pathLst>
          </a:custGeom>
          <a:noFill/>
          <a:ln w="76200">
            <a:solidFill>
              <a:srgbClr val="00B0F0"/>
            </a:solidFill>
            <a:extLst>
              <a:ext uri="{C807C97D-BFC1-408E-A445-0C87EB9F89A2}">
                <ask:lineSketchStyleProps xmlns:ask="http://schemas.microsoft.com/office/drawing/2018/sketchyshapes" sd="36755713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F692B1-8CEB-2FAF-950B-3A498405259F}"/>
                  </a:ext>
                </a:extLst>
              </p:cNvPr>
              <p:cNvSpPr txBox="1"/>
              <p:nvPr/>
            </p:nvSpPr>
            <p:spPr>
              <a:xfrm>
                <a:off x="3787140" y="4739640"/>
                <a:ext cx="456438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………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F692B1-8CEB-2FAF-950B-3A4984052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7140" y="4739640"/>
                <a:ext cx="456438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88ACEC4-5CA1-CBF0-17D5-4D5B4B5D9D2A}"/>
                  </a:ext>
                </a:extLst>
              </p:cNvPr>
              <p:cNvSpPr txBox="1"/>
              <p:nvPr/>
            </p:nvSpPr>
            <p:spPr>
              <a:xfrm>
                <a:off x="3813319" y="5408487"/>
                <a:ext cx="456438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600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………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88ACEC4-5CA1-CBF0-17D5-4D5B4B5D9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319" y="5408487"/>
                <a:ext cx="456438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72473F-A7AD-9187-855A-F613D8FDC18E}"/>
                  </a:ext>
                </a:extLst>
              </p:cNvPr>
              <p:cNvSpPr txBox="1"/>
              <p:nvPr/>
            </p:nvSpPr>
            <p:spPr>
              <a:xfrm>
                <a:off x="3828559" y="6075621"/>
                <a:ext cx="456438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2500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………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72473F-A7AD-9187-855A-F613D8FDC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8559" y="6075621"/>
                <a:ext cx="456438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26E07E2-796E-4ADE-7A27-6BE7D9C393AB}"/>
              </a:ext>
            </a:extLst>
          </p:cNvPr>
          <p:cNvSpPr txBox="1"/>
          <p:nvPr/>
        </p:nvSpPr>
        <p:spPr>
          <a:xfrm>
            <a:off x="5913759" y="4594013"/>
            <a:ext cx="7328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500</a:t>
            </a:r>
            <a:endParaRPr lang="en-AU" sz="2800" b="1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2F15C5-63FB-6A2C-99DE-B95DFFA16675}"/>
              </a:ext>
            </a:extLst>
          </p:cNvPr>
          <p:cNvSpPr txBox="1"/>
          <p:nvPr/>
        </p:nvSpPr>
        <p:spPr>
          <a:xfrm>
            <a:off x="6416679" y="534468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6</a:t>
            </a:r>
            <a:endParaRPr lang="en-AU" sz="2800" b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223018-AF41-2ECA-198B-741BA4CE0C84}"/>
              </a:ext>
            </a:extLst>
          </p:cNvPr>
          <p:cNvSpPr txBox="1"/>
          <p:nvPr/>
        </p:nvSpPr>
        <p:spPr>
          <a:xfrm>
            <a:off x="6579535" y="5931707"/>
            <a:ext cx="646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2.5</a:t>
            </a:r>
            <a:endParaRPr lang="en-AU" sz="2800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8F4243-A5F7-7BE8-70DC-B23D31E968E5}"/>
              </a:ext>
            </a:extLst>
          </p:cNvPr>
          <p:cNvSpPr txBox="1"/>
          <p:nvPr/>
        </p:nvSpPr>
        <p:spPr>
          <a:xfrm>
            <a:off x="8351520" y="340999"/>
            <a:ext cx="41801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Sketch conversion chart into exercise books</a:t>
            </a:r>
            <a:endParaRPr lang="en-AU" sz="2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B3CB8E-DCEF-BE12-BADF-AB551FDC7B35}"/>
              </a:ext>
            </a:extLst>
          </p:cNvPr>
          <p:cNvSpPr txBox="1"/>
          <p:nvPr/>
        </p:nvSpPr>
        <p:spPr>
          <a:xfrm>
            <a:off x="8218714" y="4739639"/>
            <a:ext cx="35596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Start with units you have, follow arrows to get to the unit you want</a:t>
            </a:r>
            <a:endParaRPr lang="en-AU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5340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b="1" dirty="0"/>
              <a:t>Convert these to metres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51084" y="711580"/>
            <a:ext cx="2859537" cy="6146420"/>
          </a:xfrm>
          <a:prstGeom prst="roundRect">
            <a:avLst/>
          </a:prstGeom>
          <a:ln w="762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763466" y="711581"/>
            <a:ext cx="2665071" cy="6146419"/>
          </a:xfrm>
          <a:prstGeom prst="roundRect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811948" y="711581"/>
            <a:ext cx="2665071" cy="6101796"/>
          </a:xfrm>
          <a:prstGeom prst="roundRect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82476" y="43090"/>
            <a:ext cx="585417" cy="300082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AU" sz="1350" dirty="0">
                <a:solidFill>
                  <a:srgbClr val="FFFF00"/>
                </a:solidFill>
                <a:latin typeface="Calibri"/>
              </a:rPr>
              <a:t>Apply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05680" y="1242881"/>
            <a:ext cx="9637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7030A0"/>
                </a:solidFill>
                <a:latin typeface="Calibri"/>
              </a:rPr>
              <a:t>= 73m</a:t>
            </a:r>
            <a:endParaRPr lang="en-AU" sz="2400" baseline="3000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35351" y="1252299"/>
            <a:ext cx="1026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300cm</a:t>
            </a:r>
            <a:endParaRPr lang="en-AU" sz="2400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71660" y="1183250"/>
            <a:ext cx="8082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7030A0"/>
                </a:solidFill>
                <a:latin typeface="Calibri"/>
              </a:rPr>
              <a:t>= 3m</a:t>
            </a:r>
            <a:endParaRPr lang="en-AU" sz="2400" baseline="3000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48365" y="2170255"/>
            <a:ext cx="1026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700cm</a:t>
            </a:r>
            <a:endParaRPr lang="en-AU" sz="2400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34587" y="2203321"/>
            <a:ext cx="8082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7030A0"/>
                </a:solidFill>
                <a:latin typeface="Calibri"/>
              </a:rPr>
              <a:t>= 7m</a:t>
            </a:r>
            <a:endParaRPr lang="en-AU" sz="2400" baseline="3000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12153" y="3430466"/>
            <a:ext cx="1026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800cm</a:t>
            </a:r>
            <a:endParaRPr lang="en-AU" sz="2400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48462" y="3361416"/>
            <a:ext cx="8082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7030A0"/>
                </a:solidFill>
                <a:latin typeface="Calibri"/>
              </a:rPr>
              <a:t>= 8m</a:t>
            </a:r>
            <a:endParaRPr lang="en-AU" sz="2400" baseline="3000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065187" y="4656726"/>
            <a:ext cx="1040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7030A0"/>
                </a:solidFill>
                <a:latin typeface="Calibri"/>
              </a:rPr>
              <a:t>= 2.5m</a:t>
            </a:r>
            <a:endParaRPr lang="en-AU" sz="2400" baseline="3000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69501" y="1183251"/>
            <a:ext cx="957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0.6km</a:t>
            </a:r>
            <a:endParaRPr lang="en-AU" sz="2400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40226" y="1183250"/>
            <a:ext cx="11192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7030A0"/>
                </a:solidFill>
                <a:latin typeface="Calibri"/>
              </a:rPr>
              <a:t>= 600m</a:t>
            </a:r>
            <a:endParaRPr lang="en-AU" sz="2400" baseline="3000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40589" y="2173016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0.33km</a:t>
            </a:r>
            <a:endParaRPr lang="en-AU" sz="2400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83699" y="2175197"/>
            <a:ext cx="11192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7030A0"/>
                </a:solidFill>
                <a:latin typeface="Calibri"/>
              </a:rPr>
              <a:t>= 330m</a:t>
            </a:r>
            <a:endParaRPr lang="en-AU" sz="2400" baseline="3000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36033" y="3361488"/>
            <a:ext cx="1026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153cm</a:t>
            </a:r>
            <a:endParaRPr lang="en-AU" sz="2400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45985" y="3412649"/>
            <a:ext cx="1196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7030A0"/>
                </a:solidFill>
                <a:latin typeface="Calibri"/>
              </a:rPr>
              <a:t>= 1.53m</a:t>
            </a:r>
            <a:endParaRPr lang="en-AU" sz="2400" baseline="3000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088984" y="5891268"/>
            <a:ext cx="1040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7030A0"/>
                </a:solidFill>
                <a:latin typeface="Calibri"/>
              </a:rPr>
              <a:t>= 1.8m</a:t>
            </a:r>
            <a:endParaRPr lang="en-AU" sz="2400" baseline="3000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26752" y="4645374"/>
            <a:ext cx="8082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7030A0"/>
                </a:solidFill>
                <a:latin typeface="Calibri"/>
              </a:rPr>
              <a:t>= 1m</a:t>
            </a:r>
            <a:endParaRPr lang="en-AU" sz="2400" baseline="3000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27129" y="5826163"/>
            <a:ext cx="1040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7030A0"/>
                </a:solidFill>
                <a:latin typeface="Calibri"/>
              </a:rPr>
              <a:t>= 2.2m</a:t>
            </a:r>
            <a:endParaRPr lang="en-AU" sz="2400" baseline="3000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882937" y="1281195"/>
            <a:ext cx="12682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0.073km</a:t>
            </a:r>
            <a:endParaRPr lang="en-AU" sz="2400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882790" y="2203321"/>
            <a:ext cx="1026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654cm</a:t>
            </a:r>
            <a:endParaRPr lang="en-AU" sz="2400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098892" y="2217325"/>
            <a:ext cx="1196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7030A0"/>
                </a:solidFill>
                <a:latin typeface="Calibri"/>
              </a:rPr>
              <a:t>= 6.54m</a:t>
            </a:r>
            <a:endParaRPr lang="en-AU" sz="2400" baseline="3000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248483" y="3368579"/>
            <a:ext cx="1196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7030A0"/>
                </a:solidFill>
                <a:latin typeface="Calibri"/>
              </a:rPr>
              <a:t>= 3.25m</a:t>
            </a:r>
            <a:endParaRPr lang="en-AU" sz="2400" baseline="3000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209208" y="4694258"/>
            <a:ext cx="12747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7030A0"/>
                </a:solidFill>
                <a:latin typeface="Calibri"/>
              </a:rPr>
              <a:t>= 2040m</a:t>
            </a:r>
            <a:endParaRPr lang="en-AU" sz="2400" baseline="3000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954147" y="5872830"/>
            <a:ext cx="1026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180cm</a:t>
            </a:r>
            <a:endParaRPr lang="en-AU" sz="2400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912153" y="4656725"/>
            <a:ext cx="1026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250cm</a:t>
            </a:r>
            <a:endParaRPr lang="en-AU" sz="2400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900578" y="4643193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1000mm</a:t>
            </a:r>
            <a:endParaRPr lang="en-AU" sz="2400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948415" y="5880416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2200mm</a:t>
            </a:r>
            <a:endParaRPr lang="en-AU" sz="2400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877950" y="3332250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3250mm</a:t>
            </a:r>
            <a:endParaRPr lang="en-AU" sz="2400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002199" y="4716965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2.04km</a:t>
            </a:r>
            <a:endParaRPr lang="en-AU" sz="2400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921127" y="5753575"/>
            <a:ext cx="14526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50300mm</a:t>
            </a:r>
            <a:endParaRPr lang="en-AU" sz="2400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002005" y="6076760"/>
            <a:ext cx="1196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7030A0"/>
                </a:solidFill>
                <a:latin typeface="Calibri"/>
              </a:rPr>
              <a:t>= 50.3m</a:t>
            </a:r>
            <a:endParaRPr lang="en-AU" sz="2400" baseline="30000" dirty="0">
              <a:solidFill>
                <a:srgbClr val="7030A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1181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6" grpId="0"/>
      <p:bldP spid="28" grpId="0"/>
      <p:bldP spid="30" grpId="0"/>
      <p:bldP spid="31" grpId="0"/>
      <p:bldP spid="32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5286D-C44D-45B6-8392-3959DE9A3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do I need to do to….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70542-A0FD-4E20-9CD0-BCC83B7A61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Convert 5m into cm?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Convert 7km into m?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Convert 145cm into m?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Convert 80mm to cm?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36F65-E9B1-4873-A26D-26366CFC77E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Times 5 by 100	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Times 7 by 1000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Divide 145 by 100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Divide 80 by 10 </a:t>
            </a:r>
          </a:p>
        </p:txBody>
      </p:sp>
    </p:spTree>
    <p:extLst>
      <p:ext uri="{BB962C8B-B14F-4D97-AF65-F5344CB8AC3E}">
        <p14:creationId xmlns:p14="http://schemas.microsoft.com/office/powerpoint/2010/main" val="20669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3F5F5-4EF1-4DAC-B57C-D3A3AA170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perimeter 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5AA3E-2A64-4A7C-A4E4-04908429E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  <a:latin typeface="arial" panose="020B0604020202020204" pitchFamily="34" charset="0"/>
              </a:rPr>
              <a:t>T</a:t>
            </a:r>
            <a:r>
              <a:rPr lang="en-AU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he </a:t>
            </a:r>
            <a:r>
              <a:rPr lang="en-AU" b="1" i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total</a:t>
            </a:r>
            <a:r>
              <a:rPr lang="en-AU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length forming the </a:t>
            </a:r>
            <a:r>
              <a:rPr lang="en-AU" b="1" i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boundary</a:t>
            </a:r>
            <a:r>
              <a:rPr lang="en-AU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of a closed geometrical figure.</a:t>
            </a:r>
          </a:p>
          <a:p>
            <a:pPr marL="0" indent="0">
              <a:buNone/>
            </a:pPr>
            <a:endParaRPr lang="en-AU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AU" dirty="0">
                <a:latin typeface="arial" panose="020B0604020202020204" pitchFamily="34" charset="0"/>
              </a:rPr>
              <a:t>The ____ length forming the </a:t>
            </a:r>
            <a:r>
              <a:rPr lang="en-AU" b="1" i="1" dirty="0">
                <a:latin typeface="arial" panose="020B0604020202020204" pitchFamily="34" charset="0"/>
              </a:rPr>
              <a:t>boundary</a:t>
            </a:r>
            <a:r>
              <a:rPr lang="en-AU" dirty="0">
                <a:latin typeface="arial" panose="020B0604020202020204" pitchFamily="34" charset="0"/>
              </a:rPr>
              <a:t> of a closed geometrical figure.</a:t>
            </a:r>
          </a:p>
          <a:p>
            <a:pPr marL="0" indent="0">
              <a:buNone/>
            </a:pPr>
            <a:endParaRPr lang="en-AU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AU" dirty="0">
                <a:latin typeface="arial" panose="020B0604020202020204" pitchFamily="34" charset="0"/>
              </a:rPr>
              <a:t>The ____ length forming the </a:t>
            </a:r>
            <a:r>
              <a:rPr lang="en-AU" b="1" i="1" dirty="0">
                <a:latin typeface="arial" panose="020B0604020202020204" pitchFamily="34" charset="0"/>
              </a:rPr>
              <a:t>________</a:t>
            </a:r>
            <a:r>
              <a:rPr lang="en-AU" dirty="0">
                <a:latin typeface="arial" panose="020B0604020202020204" pitchFamily="34" charset="0"/>
              </a:rPr>
              <a:t> of a closed geometrical figure.</a:t>
            </a:r>
          </a:p>
          <a:p>
            <a:pPr marL="0" indent="0">
              <a:buNone/>
            </a:pPr>
            <a:endParaRPr lang="en-AU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AU" dirty="0">
                <a:latin typeface="arial" panose="020B0604020202020204" pitchFamily="34" charset="0"/>
              </a:rPr>
              <a:t>What is the line forming a boundary of a shape called?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128B3D-F52B-9AB6-B6F1-22071171D33F}"/>
              </a:ext>
            </a:extLst>
          </p:cNvPr>
          <p:cNvSpPr txBox="1"/>
          <p:nvPr/>
        </p:nvSpPr>
        <p:spPr>
          <a:xfrm>
            <a:off x="5388429" y="239486"/>
            <a:ext cx="5061578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000" b="1" dirty="0">
                <a:highlight>
                  <a:srgbClr val="FFFF00"/>
                </a:highlight>
              </a:rPr>
              <a:t>Teacher read aloud in red</a:t>
            </a:r>
          </a:p>
          <a:p>
            <a:pPr marL="342900" indent="-342900">
              <a:buAutoNum type="arabicPeriod"/>
            </a:pPr>
            <a:r>
              <a:rPr lang="en-US" sz="2000" b="1" dirty="0">
                <a:highlight>
                  <a:srgbClr val="FFFF00"/>
                </a:highlight>
              </a:rPr>
              <a:t>Students read aloud after counted in. </a:t>
            </a:r>
          </a:p>
          <a:p>
            <a:pPr marL="342900" indent="-342900">
              <a:buAutoNum type="arabicPeriod"/>
            </a:pPr>
            <a:r>
              <a:rPr lang="en-US" sz="2000" b="1" dirty="0">
                <a:highlight>
                  <a:srgbClr val="FFFF00"/>
                </a:highlight>
              </a:rPr>
              <a:t>Random draw to read next and fill in blank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8929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559EA-12A8-4AD5-A4E3-33E15EA09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White boards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30E73-C8A4-48CB-8370-B60883133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What is the perimeter of the following shapes: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293FFA-D703-41E8-8302-36B5400C07E7}"/>
              </a:ext>
            </a:extLst>
          </p:cNvPr>
          <p:cNvSpPr/>
          <p:nvPr/>
        </p:nvSpPr>
        <p:spPr>
          <a:xfrm>
            <a:off x="1185910" y="3197865"/>
            <a:ext cx="2849732" cy="16068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0DABA76E-4BA8-4BFE-92A5-89EF6762DC89}"/>
              </a:ext>
            </a:extLst>
          </p:cNvPr>
          <p:cNvSpPr/>
          <p:nvPr/>
        </p:nvSpPr>
        <p:spPr>
          <a:xfrm>
            <a:off x="5814873" y="3132046"/>
            <a:ext cx="1624614" cy="174002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83614FEA-D0F0-42E9-B900-8F7ECC0722B0}"/>
              </a:ext>
            </a:extLst>
          </p:cNvPr>
          <p:cNvSpPr/>
          <p:nvPr/>
        </p:nvSpPr>
        <p:spPr>
          <a:xfrm>
            <a:off x="9099612" y="3116062"/>
            <a:ext cx="1906478" cy="1917577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B85CF-FC0A-4E3F-89B1-044D0E64D549}"/>
              </a:ext>
            </a:extLst>
          </p:cNvPr>
          <p:cNvSpPr txBox="1"/>
          <p:nvPr/>
        </p:nvSpPr>
        <p:spPr>
          <a:xfrm>
            <a:off x="2367761" y="4778090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20A92B-B197-4065-AA2D-25925782C14F}"/>
              </a:ext>
            </a:extLst>
          </p:cNvPr>
          <p:cNvSpPr txBox="1"/>
          <p:nvPr/>
        </p:nvSpPr>
        <p:spPr>
          <a:xfrm>
            <a:off x="699880" y="3723274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3m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743253-97FA-42A9-A733-007F80AE3C19}"/>
              </a:ext>
            </a:extLst>
          </p:cNvPr>
          <p:cNvSpPr txBox="1"/>
          <p:nvPr/>
        </p:nvSpPr>
        <p:spPr>
          <a:xfrm>
            <a:off x="6341065" y="4804723"/>
            <a:ext cx="725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8cm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DF5D49-EF28-4917-A6B7-6D377A708949}"/>
              </a:ext>
            </a:extLst>
          </p:cNvPr>
          <p:cNvSpPr txBox="1"/>
          <p:nvPr/>
        </p:nvSpPr>
        <p:spPr>
          <a:xfrm>
            <a:off x="5616984" y="3687763"/>
            <a:ext cx="725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6cm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1CE7A2-4129-479D-A96C-71359121BC22}"/>
              </a:ext>
            </a:extLst>
          </p:cNvPr>
          <p:cNvSpPr txBox="1"/>
          <p:nvPr/>
        </p:nvSpPr>
        <p:spPr>
          <a:xfrm>
            <a:off x="7056922" y="3687763"/>
            <a:ext cx="725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28BCDD-7AA0-4A58-AB4D-ECCE2055A65D}"/>
              </a:ext>
            </a:extLst>
          </p:cNvPr>
          <p:cNvSpPr txBox="1"/>
          <p:nvPr/>
        </p:nvSpPr>
        <p:spPr>
          <a:xfrm>
            <a:off x="9514725" y="5033639"/>
            <a:ext cx="845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12mm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FE549D-1604-4F1B-B54B-BF77AE6B429D}"/>
              </a:ext>
            </a:extLst>
          </p:cNvPr>
          <p:cNvSpPr txBox="1"/>
          <p:nvPr/>
        </p:nvSpPr>
        <p:spPr>
          <a:xfrm>
            <a:off x="9907949" y="2782288"/>
            <a:ext cx="845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12mm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29C0CA-5132-4804-B0A9-CC69DB87A362}"/>
              </a:ext>
            </a:extLst>
          </p:cNvPr>
          <p:cNvSpPr txBox="1"/>
          <p:nvPr/>
        </p:nvSpPr>
        <p:spPr>
          <a:xfrm>
            <a:off x="10706173" y="4028605"/>
            <a:ext cx="845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20mm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920474-9FF8-47DE-8E88-A2AFA882F02D}"/>
              </a:ext>
            </a:extLst>
          </p:cNvPr>
          <p:cNvSpPr txBox="1"/>
          <p:nvPr/>
        </p:nvSpPr>
        <p:spPr>
          <a:xfrm>
            <a:off x="8589557" y="3723274"/>
            <a:ext cx="845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20mm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24048E-13F4-4F34-A4F5-E5FD7454B3C3}"/>
              </a:ext>
            </a:extLst>
          </p:cNvPr>
          <p:cNvSpPr txBox="1"/>
          <p:nvPr/>
        </p:nvSpPr>
        <p:spPr>
          <a:xfrm>
            <a:off x="2376975" y="2809151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8E65DC-49B3-4044-A06D-7FD4014365BC}"/>
              </a:ext>
            </a:extLst>
          </p:cNvPr>
          <p:cNvSpPr txBox="1"/>
          <p:nvPr/>
        </p:nvSpPr>
        <p:spPr>
          <a:xfrm>
            <a:off x="4029364" y="3708234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3m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A2BF4F-2CC7-4AF3-80A9-F06D9CB4A07C}"/>
              </a:ext>
            </a:extLst>
          </p:cNvPr>
          <p:cNvSpPr txBox="1"/>
          <p:nvPr/>
        </p:nvSpPr>
        <p:spPr>
          <a:xfrm>
            <a:off x="1476479" y="5759422"/>
            <a:ext cx="90065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 get the perimeter we must ADD all the sides together of the shape</a:t>
            </a:r>
          </a:p>
        </p:txBody>
      </p:sp>
    </p:spTree>
    <p:extLst>
      <p:ext uri="{BB962C8B-B14F-4D97-AF65-F5344CB8AC3E}">
        <p14:creationId xmlns:p14="http://schemas.microsoft.com/office/powerpoint/2010/main" val="3178855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64BF8-A729-5116-B178-FF08E8926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714766-6A1A-5D45-5FEE-AD1022946E49}"/>
              </a:ext>
            </a:extLst>
          </p:cNvPr>
          <p:cNvSpPr/>
          <p:nvPr/>
        </p:nvSpPr>
        <p:spPr>
          <a:xfrm>
            <a:off x="1458686" y="2547257"/>
            <a:ext cx="3156857" cy="18396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D2A30-973C-5CEC-A100-67D907C2FF12}"/>
              </a:ext>
            </a:extLst>
          </p:cNvPr>
          <p:cNvSpPr txBox="1"/>
          <p:nvPr/>
        </p:nvSpPr>
        <p:spPr>
          <a:xfrm>
            <a:off x="2714432" y="2177925"/>
            <a:ext cx="585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8m</a:t>
            </a:r>
            <a:endParaRPr lang="en-AU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1F7E44-5E11-2179-9F64-26F903C1D131}"/>
              </a:ext>
            </a:extLst>
          </p:cNvPr>
          <p:cNvSpPr txBox="1"/>
          <p:nvPr/>
        </p:nvSpPr>
        <p:spPr>
          <a:xfrm>
            <a:off x="838200" y="3320925"/>
            <a:ext cx="590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5m</a:t>
            </a:r>
            <a:endParaRPr lang="en-AU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B7E733-9A26-8772-A55F-33B0B873D73B}"/>
              </a:ext>
            </a:extLst>
          </p:cNvPr>
          <p:cNvSpPr txBox="1"/>
          <p:nvPr/>
        </p:nvSpPr>
        <p:spPr>
          <a:xfrm>
            <a:off x="6770914" y="2721429"/>
            <a:ext cx="470262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Answer = 26m</a:t>
            </a:r>
          </a:p>
          <a:p>
            <a:r>
              <a:rPr lang="en-US" sz="2800" b="1" dirty="0"/>
              <a:t>Perimeter is the </a:t>
            </a:r>
            <a:r>
              <a:rPr lang="en-US" sz="2800" b="1" i="1" dirty="0"/>
              <a:t>total</a:t>
            </a:r>
            <a:r>
              <a:rPr lang="en-US" sz="2800" b="1" dirty="0"/>
              <a:t> length forming the boundary of the shape. 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2909308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96EC7-689D-4362-8B4A-BFE509525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Perimeter activity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6E25C-8680-4886-98A4-99A4CA53F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AU" dirty="0"/>
              <a:t>Copy the table in your exercise book </a:t>
            </a:r>
          </a:p>
          <a:p>
            <a:pPr marL="514350" indent="-514350">
              <a:buAutoNum type="arabicPeriod"/>
            </a:pPr>
            <a:r>
              <a:rPr lang="en-AU" dirty="0"/>
              <a:t>Measure each object’s perimeter </a:t>
            </a:r>
          </a:p>
          <a:p>
            <a:pPr marL="514350" indent="-514350">
              <a:buAutoNum type="arabicPeriod"/>
            </a:pPr>
            <a:r>
              <a:rPr lang="en-AU" dirty="0"/>
              <a:t>Find 3 more objects and work out their perimeter </a:t>
            </a:r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E1FD227-B6AD-45E7-8956-322D794C6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40207"/>
              </p:ext>
            </p:extLst>
          </p:nvPr>
        </p:nvGraphicFramePr>
        <p:xfrm>
          <a:off x="1960979" y="3429000"/>
          <a:ext cx="8128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46732313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682052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Perimeter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078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Your desk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8527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Your exercise book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940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Teachers desk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822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A white board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411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AU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905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AU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813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AU" dirty="0"/>
                        <a:t>3.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854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4723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2E99C-5398-47EC-9921-168402B1D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Reflection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DF598-57ED-4C8C-8379-62BEBEE39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What is perimeter? </a:t>
            </a:r>
          </a:p>
          <a:p>
            <a:endParaRPr lang="en-AU" dirty="0"/>
          </a:p>
          <a:p>
            <a:r>
              <a:rPr lang="en-AU" dirty="0"/>
              <a:t>Can you work out the perimeter of this classroom? </a:t>
            </a:r>
          </a:p>
          <a:p>
            <a:endParaRPr lang="en-AU" dirty="0"/>
          </a:p>
          <a:p>
            <a:r>
              <a:rPr lang="en-AU" dirty="0"/>
              <a:t>Lets do it! </a:t>
            </a:r>
          </a:p>
        </p:txBody>
      </p:sp>
    </p:spTree>
    <p:extLst>
      <p:ext uri="{BB962C8B-B14F-4D97-AF65-F5344CB8AC3E}">
        <p14:creationId xmlns:p14="http://schemas.microsoft.com/office/powerpoint/2010/main" val="2092415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1164</TotalTime>
  <Words>403</Words>
  <Application>Microsoft Office PowerPoint</Application>
  <PresentationFormat>Widescreen</PresentationFormat>
  <Paragraphs>128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</vt:lpstr>
      <vt:lpstr>Calibri</vt:lpstr>
      <vt:lpstr>Calibri Light</vt:lpstr>
      <vt:lpstr>Cambria Math</vt:lpstr>
      <vt:lpstr>Wingdings</vt:lpstr>
      <vt:lpstr>Office Theme</vt:lpstr>
      <vt:lpstr>1_Office Theme</vt:lpstr>
      <vt:lpstr>Lesson objective </vt:lpstr>
      <vt:lpstr>Converting measurement </vt:lpstr>
      <vt:lpstr>Unit Conversions</vt:lpstr>
      <vt:lpstr>Convert these to metres</vt:lpstr>
      <vt:lpstr>What do I need to do to….</vt:lpstr>
      <vt:lpstr>The perimeter is:</vt:lpstr>
      <vt:lpstr>White boards </vt:lpstr>
      <vt:lpstr>Challenge</vt:lpstr>
      <vt:lpstr>Perimeter activity </vt:lpstr>
      <vt:lpstr>Reflection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DAVIES Rhys [Busselton Senior High School]</dc:creator>
  <cp:lastModifiedBy>DAVIES Rhys [Busselton Senior High School]</cp:lastModifiedBy>
  <cp:revision>18</cp:revision>
  <dcterms:created xsi:type="dcterms:W3CDTF">2021-03-16T08:38:11Z</dcterms:created>
  <dcterms:modified xsi:type="dcterms:W3CDTF">2023-03-28T00:28:34Z</dcterms:modified>
</cp:coreProperties>
</file>
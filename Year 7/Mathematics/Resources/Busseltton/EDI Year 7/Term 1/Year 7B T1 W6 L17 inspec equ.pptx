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72" r:id="rId9"/>
    <p:sldId id="273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0720-611D-4CAC-8732-1947F5E1B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E57E0-CA9D-442A-8A3E-8A77B2486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1E7A-DA7A-419C-9AC4-6FE09C20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B6C6A-FB40-4C31-89CA-39BC57AA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5C541-54FB-466C-8AF4-256D51E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978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8C7E-60C5-40DC-9A24-4D3A4DCC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8C778-A256-4192-A1A9-84B7E02F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EB01-23C0-4CB0-983D-86EF2706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C25FC-3F9A-4AC9-B2A6-E29BD8D8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5A6E-C830-4BDB-92BA-F6C81C71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01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D8D3-238D-4240-A6E9-668E74FD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DBDD8-081B-48AF-A682-348DDFD2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FD000-6D81-4E87-AF47-53B9E859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AD6D1-6317-47A0-84E2-0A9327CD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9C13B-ADC9-4BAA-BB22-DCFB6615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6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61AB-956C-4A56-8D8D-AE478ECB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1A693-1882-4129-A495-1033FCED8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5E705-AA87-4247-8594-2B8EB066A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672B5-E591-4884-84E4-E65166F9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E6D93-1164-47E6-A0CD-653E45E4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20DCC-4375-47C3-96CB-DBCEEFB5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05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C191-E24B-4066-BB45-17FFCF4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1E79E-AF17-40BF-BC08-F110756F5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D6AC7-E1FE-4E44-8CDE-F8C771674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DE55F-C16A-4C9A-95D5-38875D1FD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E05F4-0279-4261-AED3-DD443E4C8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3C344-5C2D-4C73-BB2F-2A77CC96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5D7AF-7C4D-4DEF-88B6-7E757D18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A836D-23BD-4CBB-8A54-2A1AC27D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80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851E-CB65-4894-9A31-B91FBA06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399D4-A54D-49F6-B40C-1B9424D16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7F13D-EDDA-4E94-9CA1-A1A3BA92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655F5-838C-495D-AD98-2E283B1F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04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07AE0-1211-4FFD-B09E-67C0E768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BCBBE-6FB2-4B58-8167-B7998EA3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618D1-1437-4D12-8CC0-B58D98BF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88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9C14-FD7F-47F3-BA72-A054D1BB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BF67-37D9-42B1-BE65-7F9A6B4AE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72A9B-AB2B-4E6B-B14F-F34FD6E66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0B277-3DC7-4BEE-A76D-AB5F7BBC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D15F-93C1-4AFC-9DB2-89FB56B6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8B8CB-79BF-45FF-8B85-71929041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96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3E40-D1C4-42E9-88CA-DB02ED3F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595FA-D23B-456F-95CD-93553AE0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3F0D9-1FF7-4104-9791-86AA44F71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50AFC-626E-49C2-A8DB-803F37DF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1BD51-4C49-4835-B5D9-F50EF4D6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74447-FB3C-421A-BC15-5AE1AC33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99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B6ED-DF4A-4D7D-9E3A-5F60D352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E020B-9A66-47A7-B206-E13C7D750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F03A-0ACD-46C7-940F-D682F130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200F-CF0A-48BB-971D-5E593DF7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986C-91F3-4D29-AC7F-F661724E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6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1D20F-21F5-4F02-9686-1FB247AD2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0C312-903F-4C3E-9098-01160E503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E164-DC02-4D3D-86D8-C1D52DC5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7C387-E4CB-43B9-B4DA-E82DE7F6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0068D-6FB7-4B59-99BD-1FD881A4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075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060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42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963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653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570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271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935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551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828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10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47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E7523-AEB5-486C-A0E9-03250A48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F16D-FE76-4589-A77F-13E82EE4D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610DF-BB56-447F-BBF8-FC68EFD2A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BC6EE-CF9A-4ED8-AF10-ED938D1C96D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5A9D6-2236-4693-910C-83BDA82F4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C9C4A-124D-4CC7-B4C3-9B014BC02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F5689-14D8-4718-92B7-B68AF0A38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99AF-E7D0-4DFF-830F-6CAFB8E73662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7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E9143B-9D4E-4B85-9E7D-637B3B60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B3B6A8-9D2F-46AB-BA1B-1A3AC8ED2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Equations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true and false equations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Use the inspection method to solve equations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Indices practice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Inspecting equations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9D5DB4-9E11-6084-88E2-1C8EBDAB1741}"/>
              </a:ext>
            </a:extLst>
          </p:cNvPr>
          <p:cNvSpPr txBox="1"/>
          <p:nvPr/>
        </p:nvSpPr>
        <p:spPr>
          <a:xfrm>
            <a:off x="7128769" y="1908699"/>
            <a:ext cx="4110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7764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A37E-461D-4AB6-819B-CAD0DB01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review: exercise books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C87DBE-AD36-4419-8460-FE637910D19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Evaluate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1C87DBE-AD36-4419-8460-FE637910D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9FBA5A-8A3D-4117-AD30-53A0AC782A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Evaluate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11 + (-9) =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13 – (-4) =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-8 – (-20)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826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0724F5-01A6-46E7-AE4E-9FC96352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3DBAE-4B7C-40B2-90A9-053DF296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FINISH task sheet NA 17 Index notation. Both sides. 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370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6FF0-0395-427E-B9BD-613ED126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9E03-A7F3-46ED-B11A-BC294F239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FF0000"/>
                </a:solidFill>
              </a:rPr>
              <a:t>Equation</a:t>
            </a:r>
            <a:endParaRPr lang="en-US" sz="4800" dirty="0"/>
          </a:p>
          <a:p>
            <a:pPr marL="0" indent="0">
              <a:buNone/>
            </a:pPr>
            <a:r>
              <a:rPr lang="en-US" dirty="0"/>
              <a:t>- A mathematical statement that two things are equal.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09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AFF6-8631-4855-9D7B-8D4562E1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of these is an equation?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352D-BE9A-4E0A-8ACF-A395D758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 + 8 = 10 </a:t>
            </a:r>
          </a:p>
          <a:p>
            <a:pPr marL="514350" indent="-514350">
              <a:buAutoNum type="alphaLcParenR"/>
            </a:pPr>
            <a:r>
              <a:rPr lang="en-AU" dirty="0"/>
              <a:t>9 – x = 6 </a:t>
            </a:r>
          </a:p>
          <a:p>
            <a:pPr marL="514350" indent="-514350">
              <a:buAutoNum type="alphaLcParenR"/>
            </a:pPr>
            <a:r>
              <a:rPr lang="en-AU" dirty="0"/>
              <a:t>4a </a:t>
            </a:r>
          </a:p>
          <a:p>
            <a:pPr marL="514350" indent="-514350">
              <a:buAutoNum type="alphaLcParenR"/>
            </a:pPr>
            <a:r>
              <a:rPr lang="en-AU" dirty="0"/>
              <a:t>4a + 7y </a:t>
            </a:r>
          </a:p>
          <a:p>
            <a:pPr marL="514350" indent="-514350">
              <a:buAutoNum type="alphaLcParenR"/>
            </a:pPr>
            <a:r>
              <a:rPr lang="en-AU" dirty="0"/>
              <a:t>10x – 2y = 20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9A20D-567A-4244-BB2F-CA744FBD95DB}"/>
              </a:ext>
            </a:extLst>
          </p:cNvPr>
          <p:cNvSpPr txBox="1"/>
          <p:nvPr/>
        </p:nvSpPr>
        <p:spPr>
          <a:xfrm>
            <a:off x="7350711" y="1997476"/>
            <a:ext cx="44033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DO NOT need to know the value of these pronumerals. An equation states that what is on one side of the equal side is the same as the other side.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29166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6CFE-0AFC-4309-9227-FC827D24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LHS and RHS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DA368-C92D-4212-A7BC-25C809315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There are 2 sides in an equation: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+3=11 </m:t>
                      </m:r>
                    </m:oMath>
                  </m:oMathPara>
                </a14:m>
                <a:endParaRPr lang="en-US" sz="4800" b="0" dirty="0"/>
              </a:p>
              <a:p>
                <a:pPr marL="0" indent="0">
                  <a:buNone/>
                </a:pPr>
                <a:endParaRPr lang="en-US" sz="4800" dirty="0"/>
              </a:p>
              <a:p>
                <a:pPr marL="0" indent="0">
                  <a:buNone/>
                </a:pPr>
                <a:endParaRPr lang="en-US" sz="4800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DA368-C92D-4212-A7BC-25C809315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022C1E4A-E019-4973-94DE-C19F27F00FB8}"/>
              </a:ext>
            </a:extLst>
          </p:cNvPr>
          <p:cNvSpPr/>
          <p:nvPr/>
        </p:nvSpPr>
        <p:spPr>
          <a:xfrm rot="16200000">
            <a:off x="4582357" y="3613211"/>
            <a:ext cx="1296140" cy="17311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D4EE623A-DB21-4FCA-AA30-A03D4C3B4CE4}"/>
              </a:ext>
            </a:extLst>
          </p:cNvPr>
          <p:cNvSpPr/>
          <p:nvPr/>
        </p:nvSpPr>
        <p:spPr>
          <a:xfrm rot="16200000">
            <a:off x="6683961" y="4140506"/>
            <a:ext cx="1296140" cy="6765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DD45-7D98-483D-A9B9-6BDB6BF77776}"/>
              </a:ext>
            </a:extLst>
          </p:cNvPr>
          <p:cNvSpPr txBox="1"/>
          <p:nvPr/>
        </p:nvSpPr>
        <p:spPr>
          <a:xfrm>
            <a:off x="4048218" y="5246703"/>
            <a:ext cx="173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</a:t>
            </a:r>
            <a:r>
              <a:rPr lang="en-US" dirty="0"/>
              <a:t>eft </a:t>
            </a:r>
            <a:r>
              <a:rPr lang="en-US" b="1" u="sng" dirty="0"/>
              <a:t>H</a:t>
            </a:r>
            <a:r>
              <a:rPr lang="en-US" dirty="0"/>
              <a:t>and </a:t>
            </a:r>
            <a:r>
              <a:rPr lang="en-US" b="1" u="sng" dirty="0"/>
              <a:t>S</a:t>
            </a:r>
            <a:r>
              <a:rPr lang="en-US" dirty="0"/>
              <a:t>ide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41E11-D5D4-492F-9F04-F88A91784710}"/>
              </a:ext>
            </a:extLst>
          </p:cNvPr>
          <p:cNvSpPr txBox="1"/>
          <p:nvPr/>
        </p:nvSpPr>
        <p:spPr>
          <a:xfrm>
            <a:off x="6872797" y="5307082"/>
            <a:ext cx="173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</a:t>
            </a:r>
            <a:r>
              <a:rPr lang="en-US" dirty="0"/>
              <a:t>ight </a:t>
            </a:r>
            <a:r>
              <a:rPr lang="en-US" b="1" u="sng" dirty="0"/>
              <a:t>H</a:t>
            </a:r>
            <a:r>
              <a:rPr lang="en-US" dirty="0"/>
              <a:t>and </a:t>
            </a:r>
            <a:r>
              <a:rPr lang="en-US" b="1" u="sng" dirty="0"/>
              <a:t>S</a:t>
            </a:r>
            <a:r>
              <a:rPr lang="en-US" dirty="0"/>
              <a:t>ide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EF1A1-430C-481C-B236-8123748E570F}"/>
              </a:ext>
            </a:extLst>
          </p:cNvPr>
          <p:cNvSpPr txBox="1"/>
          <p:nvPr/>
        </p:nvSpPr>
        <p:spPr>
          <a:xfrm>
            <a:off x="8930936" y="1825624"/>
            <a:ext cx="2938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If the LHS = RHS it is a TRUE equation.</a:t>
            </a:r>
          </a:p>
          <a:p>
            <a:r>
              <a:rPr lang="en-US" sz="2000" b="1" dirty="0"/>
              <a:t>If they DO NOT equal, it is a FALSE equation.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427556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6449"/>
            <a:ext cx="9144000" cy="699145"/>
          </a:xfrm>
        </p:spPr>
        <p:txBody>
          <a:bodyPr>
            <a:normAutofit fontScale="90000"/>
          </a:bodyPr>
          <a:lstStyle/>
          <a:p>
            <a:r>
              <a:rPr lang="en-AU" dirty="0"/>
              <a:t>Solving Equations by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889326"/>
            <a:ext cx="9144000" cy="2611683"/>
          </a:xfrm>
        </p:spPr>
        <p:txBody>
          <a:bodyPr>
            <a:normAutofit lnSpcReduction="10000"/>
          </a:bodyPr>
          <a:lstStyle/>
          <a:p>
            <a:r>
              <a:rPr lang="en-AU" i="1" dirty="0"/>
              <a:t>Solving equations </a:t>
            </a:r>
            <a:r>
              <a:rPr lang="en-AU" dirty="0"/>
              <a:t>means ‘finding the unknown value’</a:t>
            </a:r>
          </a:p>
          <a:p>
            <a:r>
              <a:rPr lang="en-AU" dirty="0"/>
              <a:t>The unknown value is called the </a:t>
            </a:r>
            <a:r>
              <a:rPr lang="en-AU" i="1" dirty="0"/>
              <a:t>solution</a:t>
            </a:r>
          </a:p>
          <a:p>
            <a:r>
              <a:rPr lang="en-AU" dirty="0"/>
              <a:t>Doing this just by looking is called </a:t>
            </a:r>
            <a:r>
              <a:rPr lang="en-AU" i="1" dirty="0"/>
              <a:t>inspection</a:t>
            </a:r>
            <a:endParaRPr lang="en-AU" dirty="0"/>
          </a:p>
          <a:p>
            <a:r>
              <a:rPr lang="en-AU" dirty="0"/>
              <a:t>We check our answers by rewriting the equation</a:t>
            </a:r>
          </a:p>
        </p:txBody>
      </p:sp>
      <p:sp>
        <p:nvSpPr>
          <p:cNvPr id="4" name="AutoShape 2" descr="Image result for eyes emoji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1"/>
            <a:ext cx="899592" cy="89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579" y="10059"/>
            <a:ext cx="899592" cy="89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2" r="27186" b="87131"/>
          <a:stretch/>
        </p:blipFill>
        <p:spPr bwMode="auto">
          <a:xfrm>
            <a:off x="1679575" y="5260666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28670" r="79536" b="58461"/>
          <a:stretch/>
        </p:blipFill>
        <p:spPr bwMode="auto">
          <a:xfrm>
            <a:off x="3913412" y="5260666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2" t="59162" r="54726" b="27969"/>
          <a:stretch/>
        </p:blipFill>
        <p:spPr bwMode="auto">
          <a:xfrm>
            <a:off x="6147249" y="5275289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6" r="2062" b="87131"/>
          <a:stretch/>
        </p:blipFill>
        <p:spPr bwMode="auto">
          <a:xfrm>
            <a:off x="8419447" y="5260665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FA6A9D-D3BC-4C39-8FFC-E7B44D2ADC75}"/>
              </a:ext>
            </a:extLst>
          </p:cNvPr>
          <p:cNvSpPr/>
          <p:nvPr/>
        </p:nvSpPr>
        <p:spPr>
          <a:xfrm>
            <a:off x="1831975" y="3633124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+ __ = 8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E026B-92AD-4869-94FA-4D4B326C1302}"/>
              </a:ext>
            </a:extLst>
          </p:cNvPr>
          <p:cNvSpPr/>
          <p:nvPr/>
        </p:nvSpPr>
        <p:spPr>
          <a:xfrm>
            <a:off x="4049374" y="3661011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 – f = 9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31E25-9DE7-45B9-A01A-24E8963657A9}"/>
              </a:ext>
            </a:extLst>
          </p:cNvPr>
          <p:cNvSpPr/>
          <p:nvPr/>
        </p:nvSpPr>
        <p:spPr>
          <a:xfrm>
            <a:off x="6266773" y="3626679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5y = 15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B7495B-4D79-4EB4-AF96-B351D968D915}"/>
              </a:ext>
            </a:extLst>
          </p:cNvPr>
          <p:cNvSpPr/>
          <p:nvPr/>
        </p:nvSpPr>
        <p:spPr>
          <a:xfrm>
            <a:off x="8419447" y="3625113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÷ 2 = x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264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AD94-EEA8-428C-8538-488CE4E2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3BF1-8CC5-4F56-8B5A-D266928A4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Try solving these equations: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 + x = 7 </a:t>
            </a:r>
          </a:p>
          <a:p>
            <a:pPr marL="514350" indent="-514350">
              <a:buAutoNum type="alphaLcParenR"/>
            </a:pPr>
            <a:r>
              <a:rPr lang="en-US" dirty="0"/>
              <a:t>a + 11 = 15 </a:t>
            </a:r>
          </a:p>
          <a:p>
            <a:pPr marL="514350" indent="-514350">
              <a:buAutoNum type="alphaLcParenR"/>
            </a:pPr>
            <a:r>
              <a:rPr lang="en-US" dirty="0"/>
              <a:t>20 ÷ t = 5 </a:t>
            </a:r>
          </a:p>
          <a:p>
            <a:pPr marL="514350" indent="-514350">
              <a:buAutoNum type="alphaLcParenR"/>
            </a:pPr>
            <a:r>
              <a:rPr lang="en-US" dirty="0"/>
              <a:t>10 – a = 3 </a:t>
            </a:r>
          </a:p>
          <a:p>
            <a:pPr marL="514350" indent="-514350">
              <a:buAutoNum type="alphaLcParenR"/>
            </a:pPr>
            <a:r>
              <a:rPr lang="en-US" dirty="0"/>
              <a:t>4f = 12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742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AE5A-657D-4539-8783-9EBACD1F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2D2DD-1CE2-4E31-9024-4C6E3BE9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411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(Bottom of the page) Questions 1 </a:t>
            </a:r>
            <a:r>
              <a:rPr lang="en-US" dirty="0">
                <a:sym typeface="Wingdings" panose="05000000000000000000" pitchFamily="2" charset="2"/>
              </a:rPr>
              <a:t> 10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699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42E0-9A5E-4BAC-92FB-1F66D1D2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five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F8F6-D805-4D67-8725-51263A56D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 Identify true and false equations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Use the inspection method to solve equations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724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306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Daily review: exercise books  </vt:lpstr>
      <vt:lpstr>Practice </vt:lpstr>
      <vt:lpstr>The word is </vt:lpstr>
      <vt:lpstr>Which of these is an equation? </vt:lpstr>
      <vt:lpstr>LHS and RHS </vt:lpstr>
      <vt:lpstr>Solving Equations by Inspection</vt:lpstr>
      <vt:lpstr>Whiteboards</vt:lpstr>
      <vt:lpstr>Individual practice </vt:lpstr>
      <vt:lpstr>Fist to five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dcterms:created xsi:type="dcterms:W3CDTF">2022-03-08T08:04:56Z</dcterms:created>
  <dcterms:modified xsi:type="dcterms:W3CDTF">2023-03-08T04:57:58Z</dcterms:modified>
</cp:coreProperties>
</file>
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04" r:id="rId4"/>
    <p:sldId id="299" r:id="rId5"/>
    <p:sldId id="301" r:id="rId6"/>
    <p:sldId id="257" r:id="rId7"/>
    <p:sldId id="258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2B59-53CB-4B2E-ABAA-4FF264F53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D6DE6-5843-4DE0-938D-007BD8301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6CF0B-26C2-44E9-B31C-B6F55C48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3CE7-20B6-4ED0-8373-984A358E161D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97C62-6C23-4F69-BE5D-DF6DB8F0A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0D0EE-9646-40E4-BE72-B0F69149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D687-49C3-4B82-805B-E7DA14E01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36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E38F1-3D4C-44A5-A2E3-3A66DAEC2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382F4-4BED-40E9-B350-124376775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CC118-0D2B-48C8-AE7C-33C673A0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3CE7-20B6-4ED0-8373-984A358E161D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A1A08-2BB3-46CB-97A9-9A856E5A3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206AC-DC47-4BB5-909B-F4AD6041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D687-49C3-4B82-805B-E7DA14E01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748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A261B-B127-4B66-960C-54B7A88E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8AA40-505D-4C9F-8A1C-8C7521708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EC261-91A3-4873-A84B-AED428C1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3CE7-20B6-4ED0-8373-984A358E161D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AA9C-024F-409A-8D64-1914443F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DBF94-A9AB-4378-8C04-89AD2414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D687-49C3-4B82-805B-E7DA14E01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6641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5DB06-1E41-4991-8EA3-604372AD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A4616-5342-4753-9125-CF68255F4C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7EFA0-3C99-4343-89D9-4E36D1C48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4D80C-67C9-4BF8-B017-F2FBD0722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3CE7-20B6-4ED0-8373-984A358E161D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AD765-200F-433E-A0DB-D01071E5C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16AF7-9BBD-41AA-82A3-0CA44ADD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D687-49C3-4B82-805B-E7DA14E01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5910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9E405-D26E-45A9-8735-18D3FC57B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6052D-1EEB-4E14-B405-47A8CD492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0A83B-6889-45B5-85BA-EA5401C66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24A93-6771-404D-94DA-B92AB725D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A23605-13E6-440F-B38C-294CDE888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E103B9-3072-4785-B9D7-8DDC50FE6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3CE7-20B6-4ED0-8373-984A358E161D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92D673-3440-4D3C-A91C-CB0C18F2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87E1B-693D-4CBA-AC35-B53715C7B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D687-49C3-4B82-805B-E7DA14E01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772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2A3D-6A0A-461B-ABAC-AFC2483B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2392AA-66D2-478B-A9EA-2B8E053F8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3CE7-20B6-4ED0-8373-984A358E161D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8824E-BD49-4243-BD47-54EE2F804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B59EB-D426-4F89-9145-B9116728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D687-49C3-4B82-805B-E7DA14E01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6652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F2226-BC97-4B03-B72D-8E9DD1EE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3CE7-20B6-4ED0-8373-984A358E161D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0C76B1-2B9B-4101-A6A8-8F0252A2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6974C-8A26-4EA8-9F52-FBF7E2F0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D687-49C3-4B82-805B-E7DA14E01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9164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726E3-77DE-4A08-B0AF-598F052D7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F93FE-94E7-4D02-9625-635BFB158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DC150-A1DD-41C8-92BF-2C9647FF7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E1C34-9972-409D-B65E-A714E138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3CE7-20B6-4ED0-8373-984A358E161D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7B13-3A0F-4337-943C-088E75C6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296F1-2B84-474A-ABEE-A8A94135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D687-49C3-4B82-805B-E7DA14E01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90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FD9D9-FA7F-403F-A244-0787D9F81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3B1FF9-E855-461D-8CA0-EAF8FAF33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70F88-E1A1-4341-9F17-541ADC02D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7F32F-0B8E-4CA5-9C77-89C8200BD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3CE7-20B6-4ED0-8373-984A358E161D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2076B-165D-4E8C-B792-BEBF344F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55210-0731-4B74-A26F-0D898E22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D687-49C3-4B82-805B-E7DA14E01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5855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5EBF-8278-4AC2-AE8C-B2761E4F3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9E2A1-A71E-4655-B86B-4DC3DA447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7B37D-C025-428E-8218-5886A11B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3CE7-20B6-4ED0-8373-984A358E161D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F6A32-08A5-4031-8A0E-E381B4D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69591-DF37-4A0F-8539-459F24A8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D687-49C3-4B82-805B-E7DA14E01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509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BE2A98-F9CD-45B8-BA16-7BAAF46CD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EF567-7250-4544-AC6E-897C11F90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98158-B341-4610-81B9-714087073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3CE7-20B6-4ED0-8373-984A358E161D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1CFFF-EC4D-4B71-8B86-55AFA2B0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19191-90B8-4A3E-B3CD-A50409B8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D687-49C3-4B82-805B-E7DA14E01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063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8467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7179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0962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709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876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86179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3781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6116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83153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34274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6061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829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00668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55631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77186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668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0C7D74-68E7-44AC-9612-CFBB92F7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A8EDC-774E-4BE8-838C-857320148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E65FA-8FA8-4054-A4FC-788505270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B3CE7-20B6-4ED0-8373-984A358E161D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355E1-101E-47E9-BB04-799ED4F1F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91C8-7F60-45C7-A983-04E2C9B61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DD687-49C3-4B82-805B-E7DA14E01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1236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931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0B3FE7-2B60-4A4C-A070-40B62C51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CF01AF-A5E4-4D26-A182-A3F607C22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Expressions </a:t>
            </a: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Write expressions for the perimeter of rectangles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Identify and collect like terms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Daily review</a:t>
            </a:r>
          </a:p>
          <a:p>
            <a:pPr lvl="1"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BIMDAS</a:t>
            </a:r>
          </a:p>
          <a:p>
            <a:pPr lvl="1"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Indices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 Perimeter and algebra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1C3361-8ACC-8816-358C-1D990799DAE1}"/>
              </a:ext>
            </a:extLst>
          </p:cNvPr>
          <p:cNvSpPr txBox="1"/>
          <p:nvPr/>
        </p:nvSpPr>
        <p:spPr>
          <a:xfrm>
            <a:off x="7288567" y="834501"/>
            <a:ext cx="3329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8833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1D84FA-A396-4DC8-862B-E624C051B710}"/>
                  </a:ext>
                </a:extLst>
              </p:cNvPr>
              <p:cNvSpPr txBox="1"/>
              <p:nvPr/>
            </p:nvSpPr>
            <p:spPr>
              <a:xfrm>
                <a:off x="4816135" y="1213009"/>
                <a:ext cx="3045041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13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3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</m:t>
                          </m:r>
                        </m:e>
                        <m:sup>
                          <m:r>
                            <a:rPr kumimoji="0" lang="en-US" sz="13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1D84FA-A396-4DC8-862B-E624C051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135" y="1213009"/>
                <a:ext cx="3045041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D12ED93-C9CF-4FEA-ACF4-E94DD58F3541}"/>
              </a:ext>
            </a:extLst>
          </p:cNvPr>
          <p:cNvSpPr txBox="1"/>
          <p:nvPr/>
        </p:nvSpPr>
        <p:spPr>
          <a:xfrm>
            <a:off x="5439051" y="4525859"/>
            <a:ext cx="304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  8 x 8 x 8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0AEAE-66DF-49C9-88FE-E4AC1724A448}"/>
              </a:ext>
            </a:extLst>
          </p:cNvPr>
          <p:cNvSpPr txBox="1"/>
          <p:nvPr/>
        </p:nvSpPr>
        <p:spPr>
          <a:xfrm>
            <a:off x="2068497" y="958788"/>
            <a:ext cx="19086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BASE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number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(BIG IS BASE)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It is the number that is repeated in the multiplication.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EE7BE-57B4-4A62-9286-F00B443398FD}"/>
              </a:ext>
            </a:extLst>
          </p:cNvPr>
          <p:cNvSpPr txBox="1"/>
          <p:nvPr/>
        </p:nvSpPr>
        <p:spPr>
          <a:xfrm>
            <a:off x="8611340" y="506027"/>
            <a:ext cx="32581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index number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(or exponent, indices or power)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How many of the Base number we need in the multiplication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AB458C-F61E-4AAE-A25D-60435A4ADFCA}"/>
              </a:ext>
            </a:extLst>
          </p:cNvPr>
          <p:cNvCxnSpPr/>
          <p:nvPr/>
        </p:nvCxnSpPr>
        <p:spPr>
          <a:xfrm>
            <a:off x="3861786" y="1438183"/>
            <a:ext cx="1577265" cy="10991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C0F867-5A06-4C7E-9783-B9D833D6E613}"/>
              </a:ext>
            </a:extLst>
          </p:cNvPr>
          <p:cNvCxnSpPr/>
          <p:nvPr/>
        </p:nvCxnSpPr>
        <p:spPr>
          <a:xfrm flipH="1">
            <a:off x="7137647" y="861134"/>
            <a:ext cx="1562468" cy="8966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5BE3AAB9-E619-4BE8-99C2-B2459203DBEC}"/>
              </a:ext>
            </a:extLst>
          </p:cNvPr>
          <p:cNvSpPr/>
          <p:nvPr/>
        </p:nvSpPr>
        <p:spPr>
          <a:xfrm>
            <a:off x="2572472" y="958788"/>
            <a:ext cx="1275312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F8FE98-1B47-40BD-AB3B-173BAB41CEC6}"/>
              </a:ext>
            </a:extLst>
          </p:cNvPr>
          <p:cNvSpPr/>
          <p:nvPr/>
        </p:nvSpPr>
        <p:spPr>
          <a:xfrm>
            <a:off x="2163189" y="1807701"/>
            <a:ext cx="1673168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22A851AE-F08C-4CF3-B1BD-40A89D9C7662}"/>
              </a:ext>
            </a:extLst>
          </p:cNvPr>
          <p:cNvSpPr/>
          <p:nvPr/>
        </p:nvSpPr>
        <p:spPr>
          <a:xfrm>
            <a:off x="9102682" y="506027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DFB8B925-7A98-4BFD-8440-E96D0FE90D52}"/>
              </a:ext>
            </a:extLst>
          </p:cNvPr>
          <p:cNvSpPr/>
          <p:nvPr/>
        </p:nvSpPr>
        <p:spPr>
          <a:xfrm>
            <a:off x="5339588" y="4627392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74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F290-8B55-494E-B4C7-446D7624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EF67AF-32DC-4575-B300-80A4B1917B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Expand the following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EF67AF-32DC-4575-B300-80A4B1917B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09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4F38-DB69-4884-A142-52C255B1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Your turn – 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09BF4-62F9-41EF-B81A-C486EA2A9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Simply (put into index notation)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sz="3600" b="1" dirty="0"/>
              <a:t>7 x 7 x 7 </a:t>
            </a:r>
          </a:p>
          <a:p>
            <a:pPr marL="514350" indent="-514350">
              <a:buAutoNum type="alphaLcParenR"/>
            </a:pPr>
            <a:endParaRPr lang="en-US" sz="3600" b="1" dirty="0"/>
          </a:p>
          <a:p>
            <a:pPr marL="514350" indent="-514350">
              <a:buAutoNum type="alphaLcParenR"/>
            </a:pPr>
            <a:r>
              <a:rPr lang="en-US" sz="3600" b="1" dirty="0"/>
              <a:t>2 x 2 x 2 x 2 x 2 x 2 </a:t>
            </a:r>
          </a:p>
          <a:p>
            <a:pPr marL="514350" indent="-514350">
              <a:buAutoNum type="alphaLcParenR"/>
            </a:pPr>
            <a:endParaRPr lang="en-US" sz="3600" b="1" dirty="0"/>
          </a:p>
          <a:p>
            <a:pPr marL="514350" indent="-514350">
              <a:buAutoNum type="alphaLcParenR"/>
            </a:pPr>
            <a:r>
              <a:rPr lang="en-US" sz="3600" b="1" dirty="0"/>
              <a:t>4 x 4 x 4 x 4 x 4 x 4 x 4 x 4  </a:t>
            </a:r>
            <a:endParaRPr lang="en-AU" sz="3600" b="1" dirty="0"/>
          </a:p>
        </p:txBody>
      </p:sp>
    </p:spTree>
    <p:extLst>
      <p:ext uri="{BB962C8B-B14F-4D97-AF65-F5344CB8AC3E}">
        <p14:creationId xmlns:p14="http://schemas.microsoft.com/office/powerpoint/2010/main" val="60326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1374-5064-482C-B6DA-09416D20F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review: BIMDAS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8A310-EABA-4BA4-90EC-9467DCF40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0D9496-312D-4E61-8F18-926934CA69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15 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÷3+4 ×2=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17 −9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−(−24)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0D9496-312D-4E61-8F18-926934CA6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4BEE4B-21FC-4B27-BE3B-25566BBDE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CE3B4E4-BA57-4521-A11B-F0BE8B520BBF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÷2+4 ×5=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 ÷4 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7 −5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CE3B4E4-BA57-4521-A11B-F0BE8B520B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23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0350A3C-F567-4BD6-AA50-F3445449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 do (exercise books)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9521B40-D4C0-44D4-8421-1B66D9476C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57909" cy="4351338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18 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÷2+3 ×4= </m:t>
                    </m:r>
                  </m:oMath>
                </a14:m>
                <a:endParaRPr lang="en-US" sz="4000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17 −</m:t>
                    </m:r>
                    <m:d>
                      <m:d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3+7</m:t>
                        </m:r>
                      </m:e>
                    </m:d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4000" b="0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2+8</m:t>
                        </m:r>
                      </m:e>
                    </m:d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÷5= </m:t>
                    </m:r>
                  </m:oMath>
                </a14:m>
                <a:endParaRPr lang="en-US" sz="4000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14 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e>
                    </m:d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÷ </m:t>
                    </m:r>
                    <m:sSup>
                      <m:sSupPr>
                        <m:ctrl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4000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14 −4</m:t>
                        </m:r>
                      </m:e>
                    </m:d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−27 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sSup>
                      <m:sSupPr>
                        <m:ctrl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4000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9521B40-D4C0-44D4-8421-1B66D9476C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57909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D1EF02E-EC5C-4E6F-9BF0-DBF0F725494B}"/>
              </a:ext>
            </a:extLst>
          </p:cNvPr>
          <p:cNvSpPr txBox="1"/>
          <p:nvPr/>
        </p:nvSpPr>
        <p:spPr>
          <a:xfrm>
            <a:off x="9357064" y="1473693"/>
            <a:ext cx="1996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 the question</a:t>
            </a:r>
          </a:p>
          <a:p>
            <a:r>
              <a:rPr lang="en-US" dirty="0"/>
              <a:t>Underline the first operation and replace.</a:t>
            </a:r>
          </a:p>
          <a:p>
            <a:r>
              <a:rPr lang="en-US" dirty="0"/>
              <a:t>Continue – show all working.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4013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3CE7-2DA6-4BC3-BEC1-230FA659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Terminology</a:t>
            </a:r>
            <a:endParaRPr lang="en-AU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u="sng" dirty="0"/>
                  <a:t>Like terms</a:t>
                </a:r>
              </a:p>
              <a:p>
                <a:pPr>
                  <a:buFontTx/>
                  <a:buChar char="-"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Same pronumeral AND same power (can be collected) </a:t>
                </a:r>
                <a:endParaRPr lang="en-US" sz="2400" b="1" dirty="0"/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  <a:blipFill>
                <a:blip r:embed="rId2"/>
                <a:stretch>
                  <a:fillRect l="-1346" t="-1961" r="-1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/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NON-examples </a:t>
                </a:r>
              </a:p>
              <a:p>
                <a:endParaRPr lang="en-US" sz="2800" dirty="0"/>
              </a:p>
              <a:p>
                <a:pPr algn="ctr"/>
                <a:r>
                  <a:rPr lang="en-US" sz="2800" dirty="0"/>
                  <a:t>3g + 3h </a:t>
                </a:r>
              </a:p>
              <a:p>
                <a:pPr algn="ctr"/>
                <a:endParaRPr lang="en-US" sz="2800" dirty="0"/>
              </a:p>
              <a:p>
                <a:pPr algn="ctr"/>
                <a:r>
                  <a:rPr lang="en-US" sz="2800" dirty="0"/>
                  <a:t>5 + h </a:t>
                </a:r>
              </a:p>
              <a:p>
                <a:pPr algn="ctr"/>
                <a:endParaRPr lang="en-US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blipFill>
                <a:blip r:embed="rId3"/>
                <a:stretch>
                  <a:fillRect l="-3663" t="-19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33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DD9B-06CD-4878-AADB-DE5989DF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9BA47-8B62-4586-83B4-8D51875AE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7" y="365125"/>
            <a:ext cx="1208654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86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AB93F85C-4C51-444D-9EF1-09AD6ECBC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570"/>
          <a:stretch/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925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0710-4962-4CFD-8D26-144167839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Collect like terms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92F90-FDCE-49A6-B978-B1DF4DFAD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Simplify by collecting like terms: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4g + 5g </a:t>
            </a:r>
          </a:p>
          <a:p>
            <a:pPr marL="514350" indent="-514350">
              <a:buAutoNum type="alphaLcParenR"/>
            </a:pPr>
            <a:r>
              <a:rPr lang="en-US" dirty="0"/>
              <a:t>2f + f + 2f</a:t>
            </a:r>
          </a:p>
          <a:p>
            <a:pPr marL="514350" indent="-514350">
              <a:buAutoNum type="alphaLcParenR"/>
            </a:pPr>
            <a:r>
              <a:rPr lang="en-US" dirty="0"/>
              <a:t>9h + 2h + 5 </a:t>
            </a:r>
          </a:p>
          <a:p>
            <a:pPr marL="514350" indent="-514350">
              <a:buAutoNum type="alphaLcParenR"/>
            </a:pPr>
            <a:r>
              <a:rPr lang="en-US" dirty="0"/>
              <a:t>3e + 3e + 5d + d </a:t>
            </a:r>
          </a:p>
          <a:p>
            <a:pPr marL="514350" indent="-514350">
              <a:buAutoNum type="alphaLcParenR"/>
            </a:pPr>
            <a:r>
              <a:rPr lang="en-US" dirty="0"/>
              <a:t>2d + 3h + 4d – h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547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254E-75CD-49E6-9876-82887477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Writing expression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41BBE-3034-4B0C-AA7B-9CE181EFD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perimeter of a shape is the total length of the boarder forming the shape.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E.g., the perimeter of this square is….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EEBB03-3E3C-41AF-8594-F2E9CB4A15EF}"/>
              </a:ext>
            </a:extLst>
          </p:cNvPr>
          <p:cNvSpPr/>
          <p:nvPr/>
        </p:nvSpPr>
        <p:spPr>
          <a:xfrm>
            <a:off x="7608164" y="3169328"/>
            <a:ext cx="3133817" cy="2787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20325-DBC4-44EA-A8EB-DCA840EA42F6}"/>
              </a:ext>
            </a:extLst>
          </p:cNvPr>
          <p:cNvSpPr txBox="1"/>
          <p:nvPr/>
        </p:nvSpPr>
        <p:spPr>
          <a:xfrm>
            <a:off x="8797771" y="2687672"/>
            <a:ext cx="158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5cm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340462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254E-75CD-49E6-9876-82887477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Writing expression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41BBE-3034-4B0C-AA7B-9CE181EFD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Expressions are used when we don’t know the value of something.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E.g., the perimeter of this square is….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EEBB03-3E3C-41AF-8594-F2E9CB4A15EF}"/>
              </a:ext>
            </a:extLst>
          </p:cNvPr>
          <p:cNvSpPr/>
          <p:nvPr/>
        </p:nvSpPr>
        <p:spPr>
          <a:xfrm>
            <a:off x="7608164" y="3169328"/>
            <a:ext cx="3133817" cy="2787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20325-DBC4-44EA-A8EB-DCA840EA42F6}"/>
              </a:ext>
            </a:extLst>
          </p:cNvPr>
          <p:cNvSpPr txBox="1"/>
          <p:nvPr/>
        </p:nvSpPr>
        <p:spPr>
          <a:xfrm>
            <a:off x="8797771" y="2687672"/>
            <a:ext cx="158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2g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660853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6E74-1F1A-45B0-9F56-8A9EC6D6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Perimeter of rectangles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BD03BA-0524-4A2E-B89D-D3E18BCD619F}"/>
              </a:ext>
            </a:extLst>
          </p:cNvPr>
          <p:cNvSpPr/>
          <p:nvPr/>
        </p:nvSpPr>
        <p:spPr>
          <a:xfrm>
            <a:off x="921799" y="1690688"/>
            <a:ext cx="3595456" cy="1047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AB4BDC-4C53-47F7-A0F5-A7C091952E74}"/>
              </a:ext>
            </a:extLst>
          </p:cNvPr>
          <p:cNvSpPr/>
          <p:nvPr/>
        </p:nvSpPr>
        <p:spPr>
          <a:xfrm>
            <a:off x="8605422" y="2214470"/>
            <a:ext cx="2601157" cy="3808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46A964-35B4-41AE-806A-E2093F85731B}"/>
              </a:ext>
            </a:extLst>
          </p:cNvPr>
          <p:cNvSpPr/>
          <p:nvPr/>
        </p:nvSpPr>
        <p:spPr>
          <a:xfrm>
            <a:off x="838200" y="5208350"/>
            <a:ext cx="4625266" cy="85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FDC39-2DD5-435F-8259-367D97B1CE98}"/>
              </a:ext>
            </a:extLst>
          </p:cNvPr>
          <p:cNvSpPr txBox="1"/>
          <p:nvPr/>
        </p:nvSpPr>
        <p:spPr>
          <a:xfrm>
            <a:off x="4600854" y="1952860"/>
            <a:ext cx="813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2f  </a:t>
            </a:r>
            <a:endParaRPr lang="en-A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01499B-41AB-4481-803D-E017920F1FA8}"/>
              </a:ext>
            </a:extLst>
          </p:cNvPr>
          <p:cNvSpPr txBox="1"/>
          <p:nvPr/>
        </p:nvSpPr>
        <p:spPr>
          <a:xfrm>
            <a:off x="2569346" y="2781501"/>
            <a:ext cx="123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3f +1 </a:t>
            </a:r>
            <a:endParaRPr lang="en-AU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F8A00-0B20-46B5-A56E-4607F72A1277}"/>
              </a:ext>
            </a:extLst>
          </p:cNvPr>
          <p:cNvSpPr txBox="1"/>
          <p:nvPr/>
        </p:nvSpPr>
        <p:spPr>
          <a:xfrm>
            <a:off x="2719527" y="4688428"/>
            <a:ext cx="123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5g +2  </a:t>
            </a:r>
            <a:endParaRPr lang="en-AU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3D24F3-3FC7-4F0A-A5AB-C74DC5900120}"/>
              </a:ext>
            </a:extLst>
          </p:cNvPr>
          <p:cNvSpPr txBox="1"/>
          <p:nvPr/>
        </p:nvSpPr>
        <p:spPr>
          <a:xfrm>
            <a:off x="5510814" y="5372868"/>
            <a:ext cx="813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2g </a:t>
            </a:r>
            <a:endParaRPr lang="en-AU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FA45F-93FF-429C-B17A-ACC14B1E8B6D}"/>
              </a:ext>
            </a:extLst>
          </p:cNvPr>
          <p:cNvSpPr txBox="1"/>
          <p:nvPr/>
        </p:nvSpPr>
        <p:spPr>
          <a:xfrm>
            <a:off x="9339678" y="1691250"/>
            <a:ext cx="1132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2g + f </a:t>
            </a:r>
            <a:endParaRPr lang="en-AU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335008-0450-41A2-B610-A8878B6CE7FC}"/>
              </a:ext>
            </a:extLst>
          </p:cNvPr>
          <p:cNvSpPr txBox="1"/>
          <p:nvPr/>
        </p:nvSpPr>
        <p:spPr>
          <a:xfrm>
            <a:off x="7410636" y="3857120"/>
            <a:ext cx="1194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5g + 2f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400051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2E49-E4A3-4486-A5B1-1BEE6AF8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DB42-10D1-43CB-9C0E-32CF72547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expression for the perimeter of this shape: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5FE28C-1B89-48DC-A6D2-89556701CDD3}"/>
              </a:ext>
            </a:extLst>
          </p:cNvPr>
          <p:cNvSpPr/>
          <p:nvPr/>
        </p:nvSpPr>
        <p:spPr>
          <a:xfrm>
            <a:off x="4524652" y="3036163"/>
            <a:ext cx="3142695" cy="2876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8718E-F05B-482D-9B14-0CE606022866}"/>
              </a:ext>
            </a:extLst>
          </p:cNvPr>
          <p:cNvSpPr txBox="1"/>
          <p:nvPr/>
        </p:nvSpPr>
        <p:spPr>
          <a:xfrm>
            <a:off x="3881763" y="4212735"/>
            <a:ext cx="813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3d  </a:t>
            </a:r>
            <a:endParaRPr lang="en-AU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C15861-D6B7-4782-8C6A-18D99BCAFB58}"/>
              </a:ext>
            </a:extLst>
          </p:cNvPr>
          <p:cNvSpPr txBox="1"/>
          <p:nvPr/>
        </p:nvSpPr>
        <p:spPr>
          <a:xfrm>
            <a:off x="5854085" y="2512943"/>
            <a:ext cx="813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3d  </a:t>
            </a:r>
            <a:endParaRPr lang="en-AU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80E740-4B29-4E7C-89C2-93F48BEA15F8}"/>
              </a:ext>
            </a:extLst>
          </p:cNvPr>
          <p:cNvSpPr txBox="1"/>
          <p:nvPr/>
        </p:nvSpPr>
        <p:spPr>
          <a:xfrm>
            <a:off x="5870363" y="5874069"/>
            <a:ext cx="813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3d  </a:t>
            </a:r>
            <a:endParaRPr lang="en-A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45FA02-9764-4E59-B8A9-3F129FFDE3B4}"/>
              </a:ext>
            </a:extLst>
          </p:cNvPr>
          <p:cNvSpPr txBox="1"/>
          <p:nvPr/>
        </p:nvSpPr>
        <p:spPr>
          <a:xfrm>
            <a:off x="7738373" y="4001294"/>
            <a:ext cx="813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3d 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641870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2E49-E4A3-4486-A5B1-1BEE6AF8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DB42-10D1-43CB-9C0E-32CF72547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expression for the perimeter of this shape: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85DBB-0505-46F0-B19E-C8BE7519BA6E}"/>
              </a:ext>
            </a:extLst>
          </p:cNvPr>
          <p:cNvSpPr/>
          <p:nvPr/>
        </p:nvSpPr>
        <p:spPr>
          <a:xfrm>
            <a:off x="3246268" y="3515558"/>
            <a:ext cx="5699464" cy="2263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3E442-634B-4555-8FB4-F8550B8963D9}"/>
              </a:ext>
            </a:extLst>
          </p:cNvPr>
          <p:cNvSpPr txBox="1"/>
          <p:nvPr/>
        </p:nvSpPr>
        <p:spPr>
          <a:xfrm>
            <a:off x="5556311" y="2992338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5h + 4   </a:t>
            </a:r>
            <a:endParaRPr lang="en-AU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40C116-01ED-4403-86CF-903ED1F70873}"/>
              </a:ext>
            </a:extLst>
          </p:cNvPr>
          <p:cNvSpPr txBox="1"/>
          <p:nvPr/>
        </p:nvSpPr>
        <p:spPr>
          <a:xfrm>
            <a:off x="5682078" y="5852543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5h + 4   </a:t>
            </a:r>
            <a:endParaRPr lang="en-AU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0EDF5-C81E-4C67-8263-7119184E8181}"/>
              </a:ext>
            </a:extLst>
          </p:cNvPr>
          <p:cNvSpPr txBox="1"/>
          <p:nvPr/>
        </p:nvSpPr>
        <p:spPr>
          <a:xfrm>
            <a:off x="2606520" y="4385850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3h   </a:t>
            </a:r>
            <a:endParaRPr lang="en-AU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593C1-977A-4CB0-B432-6523F776741A}"/>
              </a:ext>
            </a:extLst>
          </p:cNvPr>
          <p:cNvSpPr txBox="1"/>
          <p:nvPr/>
        </p:nvSpPr>
        <p:spPr>
          <a:xfrm>
            <a:off x="9035432" y="4236409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3h  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932557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2E49-E4A3-4486-A5B1-1BEE6AF8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DB42-10D1-43CB-9C0E-32CF72547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expression for the perimeter of this shape: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7A57D1-6EDA-43F6-BE53-74433908B906}"/>
              </a:ext>
            </a:extLst>
          </p:cNvPr>
          <p:cNvSpPr/>
          <p:nvPr/>
        </p:nvSpPr>
        <p:spPr>
          <a:xfrm>
            <a:off x="3284738" y="3242121"/>
            <a:ext cx="4785064" cy="2450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4CB905-B4A9-425A-97A2-C24CD1564C5A}"/>
              </a:ext>
            </a:extLst>
          </p:cNvPr>
          <p:cNvSpPr txBox="1"/>
          <p:nvPr/>
        </p:nvSpPr>
        <p:spPr>
          <a:xfrm>
            <a:off x="2180392" y="4205629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2g + 2   </a:t>
            </a:r>
            <a:endParaRPr lang="en-AU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9DDAAF-D880-4A87-A0F2-F5C0F3189EC7}"/>
              </a:ext>
            </a:extLst>
          </p:cNvPr>
          <p:cNvSpPr txBox="1"/>
          <p:nvPr/>
        </p:nvSpPr>
        <p:spPr>
          <a:xfrm>
            <a:off x="8069802" y="4205629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2g + 2   </a:t>
            </a:r>
            <a:endParaRPr lang="en-AU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BB6149-1090-4A19-AF10-081387978010}"/>
              </a:ext>
            </a:extLst>
          </p:cNvPr>
          <p:cNvSpPr txBox="1"/>
          <p:nvPr/>
        </p:nvSpPr>
        <p:spPr>
          <a:xfrm>
            <a:off x="5226913" y="2718901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5g   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2715951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2E49-E4A3-4486-A5B1-1BEE6AF8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DB42-10D1-43CB-9C0E-32CF72547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expression for the perimeter of this shape: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163409-229A-45F7-8331-481618F77BBB}"/>
              </a:ext>
            </a:extLst>
          </p:cNvPr>
          <p:cNvSpPr/>
          <p:nvPr/>
        </p:nvSpPr>
        <p:spPr>
          <a:xfrm>
            <a:off x="3808521" y="3613212"/>
            <a:ext cx="5166804" cy="2024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D7C47-7604-4785-BCA5-C86F2C564E4A}"/>
              </a:ext>
            </a:extLst>
          </p:cNvPr>
          <p:cNvSpPr txBox="1"/>
          <p:nvPr/>
        </p:nvSpPr>
        <p:spPr>
          <a:xfrm>
            <a:off x="2529026" y="4363656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3f + g</a:t>
            </a:r>
            <a:endParaRPr lang="en-AU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4C84D-FE6B-40AF-A420-BBBE33D20F89}"/>
              </a:ext>
            </a:extLst>
          </p:cNvPr>
          <p:cNvSpPr txBox="1"/>
          <p:nvPr/>
        </p:nvSpPr>
        <p:spPr>
          <a:xfrm>
            <a:off x="9023226" y="4342952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3f + g</a:t>
            </a:r>
            <a:endParaRPr lang="en-AU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D01BCE-DB4C-4373-B19E-B384BCEC1E9B}"/>
              </a:ext>
            </a:extLst>
          </p:cNvPr>
          <p:cNvSpPr txBox="1"/>
          <p:nvPr/>
        </p:nvSpPr>
        <p:spPr>
          <a:xfrm>
            <a:off x="5921775" y="5661954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2f + 3g</a:t>
            </a:r>
            <a:endParaRPr lang="en-A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3DC1D-BCD9-4C14-A113-08C558D1E137}"/>
              </a:ext>
            </a:extLst>
          </p:cNvPr>
          <p:cNvSpPr txBox="1"/>
          <p:nvPr/>
        </p:nvSpPr>
        <p:spPr>
          <a:xfrm>
            <a:off x="5921774" y="3089992"/>
            <a:ext cx="12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2f + 3g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191674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88A89-CA90-4CDC-9F73-2B8232CF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4C95E-437D-496E-8FCE-8CFCEA1EA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Page 215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Questions:</a:t>
            </a:r>
          </a:p>
          <a:p>
            <a:pPr marL="0" indent="0" algn="ctr">
              <a:buNone/>
            </a:pPr>
            <a:r>
              <a:rPr lang="en-US" dirty="0"/>
              <a:t>1 – 3 and 7 – 10 and 12 </a:t>
            </a:r>
          </a:p>
          <a:p>
            <a:pPr marL="0" indent="0" algn="ctr">
              <a:buNone/>
            </a:pPr>
            <a:r>
              <a:rPr lang="en-US" dirty="0"/>
              <a:t>Challenge question 14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445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7C68-FE9F-4DCB-AC12-5D140B01C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EF881-2244-44A7-A40E-831D50EAD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3600" dirty="0"/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3600" dirty="0"/>
              <a:t> Write expressions for the perimeter of rectangles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3600" dirty="0"/>
              <a:t> Identify and collect like terms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32194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482</Words>
  <Application>Microsoft Office PowerPoint</Application>
  <PresentationFormat>Widescreen</PresentationFormat>
  <Paragraphs>135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Century Gothic</vt:lpstr>
      <vt:lpstr>Wingdings</vt:lpstr>
      <vt:lpstr>Wingdings 3</vt:lpstr>
      <vt:lpstr>Office Theme</vt:lpstr>
      <vt:lpstr>Wisp</vt:lpstr>
      <vt:lpstr>Lesson objective </vt:lpstr>
      <vt:lpstr>PowerPoint Presentation</vt:lpstr>
      <vt:lpstr>Whiteboards</vt:lpstr>
      <vt:lpstr>Your turn – whiteboards </vt:lpstr>
      <vt:lpstr>Daily review: BIMDAS </vt:lpstr>
      <vt:lpstr>You do (exercise books) </vt:lpstr>
      <vt:lpstr>Terminology</vt:lpstr>
      <vt:lpstr>PowerPoint Presentation</vt:lpstr>
      <vt:lpstr>PowerPoint Presentation</vt:lpstr>
      <vt:lpstr>Collect like terms </vt:lpstr>
      <vt:lpstr>Writing expression </vt:lpstr>
      <vt:lpstr>Writing expression </vt:lpstr>
      <vt:lpstr>Perimeter of rectangles </vt:lpstr>
      <vt:lpstr>Whiteboards</vt:lpstr>
      <vt:lpstr>Whiteboards</vt:lpstr>
      <vt:lpstr>Whiteboards</vt:lpstr>
      <vt:lpstr>Whiteboards</vt:lpstr>
      <vt:lpstr>Individual practice 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12</cp:revision>
  <dcterms:created xsi:type="dcterms:W3CDTF">2022-03-10T09:16:06Z</dcterms:created>
  <dcterms:modified xsi:type="dcterms:W3CDTF">2023-03-15T23:21:37Z</dcterms:modified>
</cp:coreProperties>
</file>
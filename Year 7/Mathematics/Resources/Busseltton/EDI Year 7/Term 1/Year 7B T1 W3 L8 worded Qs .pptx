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79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9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E078-4389-4729-9627-B0A9FDBB3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5C0D8-9679-48C6-88CC-E06CD9916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E9E8C-454D-4BF3-9042-796620CA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7C834-BD4F-4C31-B620-2133AECD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3654E-C96D-4B58-AA36-F326FD3B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9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79C5-6C2E-47DB-807B-8D8C7E3F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6EA2-EB1A-4AE9-882A-F23FA2B08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5052-27AD-4D07-91CD-4C0C9A08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E9EEB-8ED1-426F-BC38-CBC4001D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090C4-076A-4640-BF6C-72330D0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09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9ABC-DD75-4EF3-B04A-3DEB4296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2BAE6-0334-40B8-BC18-4E49BAF2F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0C9C5-F4EE-4FA9-A4BB-D5C59987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58AB3-CA19-41CB-948F-A2333E7D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1341-1561-4ED8-9A7E-7AED5F23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97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7DDD-4184-4B4C-8270-535CE795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A819C-8D3D-401A-B8BE-D40B5A161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8548C-3BC8-4AAB-BE21-FA66E8AD4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E0576-0661-4EC1-B667-9A0D583F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39D12-7C23-452A-8FC5-774A99D3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5A749-47B6-4455-BACD-48075FDD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36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1514-30C3-485D-8E57-D3BB30D2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E3290-160D-4BDA-A398-4A259EBE2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A6016-244D-4DF2-B8AA-CC4A2451D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E885D2-FF60-4F2A-9A9A-E8A48A310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C2C5E-F484-422E-B66C-E67BB7F03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0B353-9AA5-4996-B70C-F768A7B8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DBE4B-F234-4B05-8BAD-6C814F6E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8A403-693C-479F-80A6-5DDDC249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55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1475-2A45-4B1D-ADDB-66B04EA7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3020E-B0DE-430C-83DA-283ECE99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F1CE3-6DEB-48E4-83AE-6BD6F749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92B80-04CA-417F-B4CD-E9DB7592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44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50863-5C9E-49EB-A164-711DCB5E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8F923-6B13-4F2F-B416-340E0A95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3981-F821-4BEE-86B5-484D3C2F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69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178B-FDEA-4544-8E03-5A92267A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5640B-D353-456B-8196-F46B5FE5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F09C4-9A65-4FB4-9BB7-338792BEE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8CCD9-CE76-41B2-B8E7-A3870AEC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AA60E-B888-4BF9-BD8A-7E0ED542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5FD25-B129-4BEE-A650-FF8CCB0D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78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03B5-B27A-47FF-869A-35254B86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3E537-AAEE-49FE-B89F-E5492C6C1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D9E17-206C-4C14-AC93-0C1116704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1F57-52AB-4701-B0B6-728A1BF9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E285C-CBA9-435C-B4AB-89B02540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394E0-ADFA-4F19-9207-F4A1FBAC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34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E44-1954-4D30-BB54-1B84F6AA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13B79-F929-497A-BEC1-C48C59EDD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9C960-F95B-4B4A-B7BE-C6BC5FA5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06816-32C8-4586-B90B-FA81446E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8B90B-D263-4D9C-B285-765BFBCF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729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AF2DE-7826-416C-9EA5-A6DD81667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F7714-9C94-42F1-A8AA-1BBB7F282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50A63-A05A-458D-A82B-0BC4ABC3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30AC2-B821-4E2A-84D6-5EF82A0D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FEDA7-69F1-49E5-BF7A-FB5F4E1B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6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D058C-0EB8-4087-B2F7-C00590BB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1C412-7427-432E-9F2A-6539084EB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28B73-5C76-4870-A955-8D4DA1395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C2DAD-4732-48BF-A211-ED7F276399F7}" type="datetimeFigureOut">
              <a:rPr lang="en-AU" smtClean="0"/>
              <a:t>14/02/2023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44435-1330-48FC-966A-9C42412BA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5C423-4136-4C65-9975-080F18F28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4234F-6C89-4510-A3BF-D6044F223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828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3F69-AE8B-4135-A025-1C058336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E252-B2BB-4D0E-ADAF-F756A297B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Question break down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Identify key information to solve worded questions.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Develop written strategies to add and subtract negative numbers.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Key details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Alternative negatives 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6D38D-0E28-9888-F679-48866535AB62}"/>
              </a:ext>
            </a:extLst>
          </p:cNvPr>
          <p:cNvSpPr txBox="1"/>
          <p:nvPr/>
        </p:nvSpPr>
        <p:spPr>
          <a:xfrm>
            <a:off x="7723573" y="1615736"/>
            <a:ext cx="3222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Need whiteboards.</a:t>
            </a:r>
            <a:endParaRPr lang="en-AU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36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CB0EF-5742-4053-A164-E21074AD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9E0D-3143-414C-994D-1634165F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Rounding</a:t>
            </a:r>
          </a:p>
          <a:p>
            <a:pPr marL="0" indent="0">
              <a:buNone/>
            </a:pPr>
            <a:r>
              <a:rPr lang="en-US" dirty="0"/>
              <a:t>Identify place value, look to the right. If the number is 5 or more round up. 4 or less, leave it the same.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Round 1798 to the nearest hundred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2. </a:t>
            </a:r>
            <a:r>
              <a:rPr lang="en-US" dirty="0" err="1"/>
              <a:t>Roung</a:t>
            </a:r>
            <a:r>
              <a:rPr lang="en-US" dirty="0"/>
              <a:t> 12.564 to the nearest hundredths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052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09E8-96D7-4367-AD53-23B23E49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8088F-B7F1-4DA6-B64E-26058DF18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these to the nearest 100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955633-E881-4DD0-B50E-47C97DE129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456 </a:t>
            </a:r>
          </a:p>
          <a:p>
            <a:pPr marL="514350" indent="-514350">
              <a:buAutoNum type="alphaLcParenR"/>
            </a:pPr>
            <a:r>
              <a:rPr lang="en-US" dirty="0"/>
              <a:t>12 450 </a:t>
            </a:r>
          </a:p>
          <a:p>
            <a:pPr marL="514350" indent="-514350">
              <a:buAutoNum type="alphaLcParenR"/>
            </a:pPr>
            <a:r>
              <a:rPr lang="en-US" dirty="0"/>
              <a:t>1991</a:t>
            </a:r>
          </a:p>
          <a:p>
            <a:pPr marL="514350" indent="-514350">
              <a:buAutoNum type="alphaLcParenR"/>
            </a:pPr>
            <a:r>
              <a:rPr lang="en-US" dirty="0"/>
              <a:t>89 </a:t>
            </a:r>
          </a:p>
          <a:p>
            <a:pPr marL="514350" indent="-514350">
              <a:buAutoNum type="alphaLcParenR"/>
            </a:pP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EFB768-C13A-4C18-B4EE-BE358E601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Round to the nearest TENTHS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FA353D-7163-4A20-B7AA-316BF59833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2.432 </a:t>
            </a:r>
          </a:p>
          <a:p>
            <a:pPr marL="514350" indent="-514350">
              <a:buAutoNum type="alphaLcParenR"/>
            </a:pPr>
            <a:r>
              <a:rPr lang="en-US" dirty="0"/>
              <a:t>4.689 </a:t>
            </a:r>
          </a:p>
          <a:p>
            <a:pPr marL="514350" indent="-514350">
              <a:buAutoNum type="alphaLcParenR"/>
            </a:pPr>
            <a:r>
              <a:rPr lang="en-US" dirty="0"/>
              <a:t>11. 123 </a:t>
            </a:r>
          </a:p>
          <a:p>
            <a:pPr marL="514350" indent="-514350">
              <a:buAutoNum type="alphaLcParenR"/>
            </a:pPr>
            <a:r>
              <a:rPr lang="en-US" dirty="0"/>
              <a:t>150.187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385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E865-E810-45B5-9AAB-8B350359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Breaking down a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E017F-5DC3-4359-AF8F-FB72DE7A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u="sng" dirty="0">
                <a:solidFill>
                  <a:schemeClr val="accent5"/>
                </a:solidFill>
              </a:rPr>
              <a:t>Underline</a:t>
            </a:r>
            <a:r>
              <a:rPr lang="en-AU" sz="4000" dirty="0">
                <a:solidFill>
                  <a:schemeClr val="accent5"/>
                </a:solidFill>
              </a:rPr>
              <a:t> the important information </a:t>
            </a:r>
          </a:p>
          <a:p>
            <a:pPr marL="0" indent="0">
              <a:buNone/>
            </a:pPr>
            <a:r>
              <a:rPr lang="en-AU" sz="4000" dirty="0">
                <a:solidFill>
                  <a:schemeClr val="accent5"/>
                </a:solidFill>
              </a:rPr>
              <a:t>Understand what the question is asking of me</a:t>
            </a:r>
          </a:p>
          <a:p>
            <a:pPr marL="0" indent="0">
              <a:buNone/>
            </a:pPr>
            <a:r>
              <a:rPr lang="en-AU" sz="4000" dirty="0">
                <a:solidFill>
                  <a:schemeClr val="accent5"/>
                </a:solidFill>
              </a:rPr>
              <a:t>Identify what mathematical process I will use </a:t>
            </a:r>
          </a:p>
          <a:p>
            <a:pPr marL="0" indent="0">
              <a:buNone/>
            </a:pPr>
            <a:r>
              <a:rPr lang="en-AU" sz="4000" dirty="0">
                <a:solidFill>
                  <a:schemeClr val="accent5"/>
                </a:solidFill>
              </a:rPr>
              <a:t>Write my answer and statement if required </a:t>
            </a:r>
          </a:p>
          <a:p>
            <a:pPr marL="0" indent="0">
              <a:buNone/>
            </a:pPr>
            <a:r>
              <a:rPr lang="en-AU" sz="4000" dirty="0">
                <a:solidFill>
                  <a:schemeClr val="accent5"/>
                </a:solidFill>
              </a:rPr>
              <a:t>Check my answer makes sense </a:t>
            </a:r>
          </a:p>
        </p:txBody>
      </p:sp>
    </p:spTree>
    <p:extLst>
      <p:ext uri="{BB962C8B-B14F-4D97-AF65-F5344CB8AC3E}">
        <p14:creationId xmlns:p14="http://schemas.microsoft.com/office/powerpoint/2010/main" val="326705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BF48-3854-4C4E-84E9-58449232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Numbers and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A6A1-1543-48CF-83B2-522E3A05E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Mr. Davies just bought some chicken from the shop and wants to freeze it when he gets home. The chicken comes out of the fridge at 8°C and, after 4 hours it is now frozen at -4°C. How many degrees per hour does the temperature of the chicken drop?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FDB9DB-5851-449E-82E6-F767288A4E09}"/>
              </a:ext>
            </a:extLst>
          </p:cNvPr>
          <p:cNvCxnSpPr/>
          <p:nvPr/>
        </p:nvCxnSpPr>
        <p:spPr>
          <a:xfrm>
            <a:off x="9179511" y="2627790"/>
            <a:ext cx="15092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EAB146-300C-4F3B-992C-85BA312D13A1}"/>
              </a:ext>
            </a:extLst>
          </p:cNvPr>
          <p:cNvCxnSpPr/>
          <p:nvPr/>
        </p:nvCxnSpPr>
        <p:spPr>
          <a:xfrm>
            <a:off x="1368641" y="2993254"/>
            <a:ext cx="15092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55BD1A-7327-47A4-AF42-695A599FC14A}"/>
              </a:ext>
            </a:extLst>
          </p:cNvPr>
          <p:cNvCxnSpPr/>
          <p:nvPr/>
        </p:nvCxnSpPr>
        <p:spPr>
          <a:xfrm>
            <a:off x="4697767" y="2993254"/>
            <a:ext cx="15092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4AAA16-6364-41F5-8ACD-E9784FB1513A}"/>
              </a:ext>
            </a:extLst>
          </p:cNvPr>
          <p:cNvCxnSpPr/>
          <p:nvPr/>
        </p:nvCxnSpPr>
        <p:spPr>
          <a:xfrm>
            <a:off x="8950171" y="3047999"/>
            <a:ext cx="15092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5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0431-3CA6-4AD5-A9A4-BF452B73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Worded questions continued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17F37-A4DD-42AF-BA55-61C90164D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John works in a very tall building that is 22 stories tall. It also has 5 levels below ground which are under ground parking </a:t>
            </a:r>
          </a:p>
          <a:p>
            <a:pPr marL="0" indent="0">
              <a:buNone/>
            </a:pPr>
            <a:r>
              <a:rPr lang="en-US" dirty="0"/>
              <a:t>John parks his car on 2</a:t>
            </a:r>
            <a:r>
              <a:rPr lang="en-US" baseline="30000" dirty="0"/>
              <a:t>nd</a:t>
            </a:r>
            <a:r>
              <a:rPr lang="en-US" dirty="0"/>
              <a:t> story below ground floor. He then goes up 5 levels, down 2 levels, up 11 levels and then down 10 levels. Which floor is John on?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088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B4E5-74B3-459E-8E1E-7B331D17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Try on your own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81536-2348-4DFB-9D4B-FA1095ABE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Sally is recording temperatures during the day. When she started, the temperature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. It then got warmer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22℃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. Later it increase again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3℃.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The last time Sally checked; the temperature had dropped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30℃.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What was the temperature on Sally’s last recording? </a:t>
                </a:r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81536-2348-4DFB-9D4B-FA1095ABE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6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26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5C08-7CBF-45A3-A185-521E2DD4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Ticks and crosses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49EB-322E-4A68-8344-54353A3C7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We can look at numbers represented as </a:t>
                </a:r>
                <a:r>
                  <a:rPr lang="en-AU" dirty="0">
                    <a:sym typeface="Wingdings" panose="05000000000000000000" pitchFamily="2" charset="2"/>
                  </a:rPr>
                  <a:t> for positive numbers</a:t>
                </a:r>
              </a:p>
              <a:p>
                <a:pPr marL="0" indent="0">
                  <a:buNone/>
                </a:pPr>
                <a:r>
                  <a:rPr lang="en-AU" dirty="0">
                    <a:sym typeface="Wingdings" panose="05000000000000000000" pitchFamily="2" charset="2"/>
                  </a:rPr>
                  <a:t>AND</a:t>
                </a:r>
              </a:p>
              <a:p>
                <a:pPr>
                  <a:buFont typeface="Wingdings" panose="05000000000000000000" pitchFamily="2" charset="2"/>
                  <a:buChar char="û"/>
                </a:pPr>
                <a:r>
                  <a:rPr lang="en-AU" dirty="0">
                    <a:sym typeface="Wingdings" panose="05000000000000000000" pitchFamily="2" charset="2"/>
                  </a:rPr>
                  <a:t> As negative numbers </a:t>
                </a:r>
              </a:p>
              <a:p>
                <a:pPr marL="0" indent="0">
                  <a:buNone/>
                </a:pPr>
                <a:endParaRPr lang="en-AU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AU" dirty="0">
                    <a:sym typeface="Wingdings" panose="05000000000000000000" pitchFamily="2" charset="2"/>
                  </a:rPr>
                  <a:t>For example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5+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AU" b="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     + </a:t>
                </a:r>
              </a:p>
              <a:p>
                <a:pPr marL="0" indent="0">
                  <a:buNone/>
                </a:pPr>
                <a:r>
                  <a:rPr lang="en-AU" b="0" dirty="0">
                    <a:sym typeface="Wingdings" panose="05000000000000000000" pitchFamily="2" charset="2"/>
                  </a:rPr>
                  <a:t>If </a:t>
                </a:r>
                <a:r>
                  <a:rPr lang="en-AU" dirty="0">
                    <a:sym typeface="Wingdings" panose="05000000000000000000" pitchFamily="2" charset="2"/>
                  </a:rPr>
                  <a:t> cancel  we are left with the answer which is:</a:t>
                </a:r>
              </a:p>
              <a:p>
                <a:pPr marL="0" indent="0">
                  <a:buNone/>
                </a:pPr>
                <a:r>
                  <a:rPr lang="en-AU" dirty="0">
                    <a:sym typeface="Wingdings" panose="05000000000000000000" pitchFamily="2" charset="2"/>
                  </a:rPr>
                  <a:t> = -2 (remember  means -1) </a:t>
                </a:r>
              </a:p>
              <a:p>
                <a:pPr marL="0" indent="0">
                  <a:buNone/>
                </a:pPr>
                <a:endParaRPr lang="en-AU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AU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49EB-322E-4A68-8344-54353A3C7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7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B984-C632-4476-A4EB-58A0F89C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20CEF-94B2-40ED-921A-5AA1A9F4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7 + (-5) =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-5 + - 6 =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-3 + 8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908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0A97-1689-428D-96AC-35702CA3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D289-1C07-453E-ACDA-9AD5D1D9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Convert the question to ticks and crosses, then change to numbers for your answer.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15 + -7 = </a:t>
            </a:r>
          </a:p>
          <a:p>
            <a:pPr marL="514350" indent="-514350">
              <a:buAutoNum type="alphaLcParenR"/>
            </a:pPr>
            <a:r>
              <a:rPr lang="en-US" dirty="0"/>
              <a:t>8 + - 11 = </a:t>
            </a:r>
          </a:p>
          <a:p>
            <a:pPr marL="514350" indent="-514350">
              <a:buAutoNum type="alphaLcParenR"/>
            </a:pPr>
            <a:r>
              <a:rPr lang="en-US" dirty="0"/>
              <a:t>-8 + - 6 = </a:t>
            </a:r>
          </a:p>
          <a:p>
            <a:pPr marL="514350" indent="-514350">
              <a:buAutoNum type="alphaLcParenR"/>
            </a:pPr>
            <a:r>
              <a:rPr lang="en-US" dirty="0"/>
              <a:t>12 + 5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876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274C-7098-492E-AFBE-E2BB68E6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0EA3-C10E-40D7-87F8-13FE12938E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ticks and crosses as working out solve: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 + (-5) = </a:t>
            </a:r>
          </a:p>
          <a:p>
            <a:pPr marL="514350" indent="-514350">
              <a:buAutoNum type="alphaLcParenR"/>
            </a:pPr>
            <a:r>
              <a:rPr lang="en-US" dirty="0"/>
              <a:t>12 + (-8) = </a:t>
            </a:r>
          </a:p>
          <a:p>
            <a:pPr marL="514350" indent="-514350">
              <a:buAutoNum type="alphaLcParenR"/>
            </a:pPr>
            <a:r>
              <a:rPr lang="en-US" dirty="0"/>
              <a:t>(-9) + (-5) = </a:t>
            </a:r>
          </a:p>
          <a:p>
            <a:pPr marL="514350" indent="-514350">
              <a:buAutoNum type="alphaLcParenR"/>
            </a:pPr>
            <a:r>
              <a:rPr lang="en-US" dirty="0"/>
              <a:t>(-3) + (-7) = </a:t>
            </a:r>
          </a:p>
          <a:p>
            <a:pPr marL="514350" indent="-514350">
              <a:buAutoNum type="alphaLcParenR"/>
            </a:pPr>
            <a:r>
              <a:rPr lang="en-US" dirty="0"/>
              <a:t>(-15) + 12 = </a:t>
            </a:r>
          </a:p>
          <a:p>
            <a:pPr marL="514350" indent="-514350">
              <a:buAutoNum type="alphaLcParenR"/>
            </a:pPr>
            <a:r>
              <a:rPr lang="en-US" dirty="0"/>
              <a:t>9 + (-20) =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36B0C-3951-478A-B009-8AA4D0075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Use your understanding to answer these: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130 + (-20) = </a:t>
            </a:r>
          </a:p>
          <a:p>
            <a:pPr marL="514350" indent="-514350">
              <a:buAutoNum type="alphaLcParenR"/>
            </a:pPr>
            <a:r>
              <a:rPr lang="en-US" dirty="0"/>
              <a:t>(-200) + (-21) = </a:t>
            </a:r>
          </a:p>
          <a:p>
            <a:pPr marL="514350" indent="-514350">
              <a:buAutoNum type="alphaLcParenR"/>
            </a:pPr>
            <a:r>
              <a:rPr lang="en-US" dirty="0"/>
              <a:t>90 + (-22) = </a:t>
            </a:r>
          </a:p>
          <a:p>
            <a:pPr marL="514350" indent="-514350">
              <a:buAutoNum type="alphaLcParenR"/>
            </a:pPr>
            <a:r>
              <a:rPr lang="en-US" dirty="0"/>
              <a:t>145 + (-200) = </a:t>
            </a:r>
          </a:p>
          <a:p>
            <a:pPr marL="514350" indent="-51435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855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1BF854-465F-4137-B0B7-40EF026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85DD-EAD6-4409-91A8-8F3465856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adding integers with the same sign, we can add the numbers together and keep the same sign.</a:t>
            </a:r>
          </a:p>
          <a:p>
            <a:r>
              <a:rPr lang="en-US" dirty="0"/>
              <a:t>When adding integers with different signs, we take the numbers and keep the sign for the “big” number.</a:t>
            </a:r>
          </a:p>
          <a:p>
            <a:pPr marL="0" indent="0">
              <a:buNone/>
            </a:pPr>
            <a:r>
              <a:rPr lang="en-US" dirty="0"/>
              <a:t>E.g., </a:t>
            </a:r>
          </a:p>
          <a:p>
            <a:pPr marL="514350" indent="-514350">
              <a:buAutoNum type="alphaLcParenR"/>
            </a:pPr>
            <a:r>
              <a:rPr lang="en-US" dirty="0"/>
              <a:t>18 + (-9) = </a:t>
            </a:r>
          </a:p>
          <a:p>
            <a:pPr marL="514350" indent="-514350">
              <a:buAutoNum type="alphaLcParenR"/>
            </a:pPr>
            <a:r>
              <a:rPr lang="en-US" dirty="0"/>
              <a:t>9 + (-18) =</a:t>
            </a:r>
          </a:p>
          <a:p>
            <a:pPr marL="514350" indent="-514350">
              <a:buAutoNum type="alphaLcParenR"/>
            </a:pPr>
            <a:r>
              <a:rPr lang="en-US" dirty="0"/>
              <a:t>(-10) + (-5) = </a:t>
            </a: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(-200) + (-45) =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71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1DFB-8DD4-4B03-8635-22889435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D635A-B83D-449A-98A1-0DD07CB0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Identify key information to solve worded questions.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Develop written strategies to add and subtract negative numbers.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033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630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Exercise books </vt:lpstr>
      <vt:lpstr>Breaking down a question </vt:lpstr>
      <vt:lpstr>Numbers and time </vt:lpstr>
      <vt:lpstr>Worded questions continued</vt:lpstr>
      <vt:lpstr>Try on your own </vt:lpstr>
      <vt:lpstr>Ticks and crosses </vt:lpstr>
      <vt:lpstr>Examples </vt:lpstr>
      <vt:lpstr>Whiteboards </vt:lpstr>
      <vt:lpstr>Individual practice </vt:lpstr>
      <vt:lpstr>Conclusion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14</cp:revision>
  <dcterms:created xsi:type="dcterms:W3CDTF">2022-02-14T12:58:52Z</dcterms:created>
  <dcterms:modified xsi:type="dcterms:W3CDTF">2023-02-14T05:42:16Z</dcterms:modified>
</cp:coreProperties>
</file>
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1" r:id="rId4"/>
    <p:sldId id="266" r:id="rId5"/>
    <p:sldId id="267" r:id="rId6"/>
    <p:sldId id="269" r:id="rId7"/>
    <p:sldId id="268" r:id="rId8"/>
    <p:sldId id="270" r:id="rId9"/>
    <p:sldId id="271" r:id="rId10"/>
    <p:sldId id="262" r:id="rId11"/>
    <p:sldId id="272" r:id="rId12"/>
    <p:sldId id="260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01T08:25:55.633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71 0,'-4'0,"-6"0,-6 0,-5 0,1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01T08:25:58.548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1 6,'0'-4,"0"2,0 7,0 6,0 7,0-1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01T08:26:01.856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01T08:26:03.925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D95EB-4F53-4A24-9770-9AF694AFBAA6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E6A1B-3036-4388-A065-230CAB960C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244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What would be the difference between -4 and -10?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E6A1B-3036-4388-A065-230CAB960C18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021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2B100-E4D2-4B55-9376-7AFE87792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9F74C-2B36-4DAE-8D71-34A6BDE39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97789-A60F-4DCD-9FC7-6BBC87024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062E-122C-47DC-8569-3A617E445677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56C0A-5736-459F-9EBF-7D838E477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5A695-AEA3-4037-A19B-DA46A404D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2476-146F-4586-9F58-5193070AF8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1264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A3294-3A78-484F-9828-1E0A1F03E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6A013-8EA5-48D6-B611-B50540106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F5A59-4D56-489D-AA40-AA07DD2A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062E-122C-47DC-8569-3A617E445677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00A94-8ECB-42E4-AC52-1DBE2346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129AB-D16E-4755-BC88-03D581E09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2476-146F-4586-9F58-5193070AF8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68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1B79D-0094-4534-AF92-FD1A1AB5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D313E-243B-42DB-B252-77664767F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E980B-864A-4922-85C8-5370EC894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062E-122C-47DC-8569-3A617E445677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497B8-6EBF-4346-B8C0-AE8111DA5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51121-C5F0-49A5-99DB-76741DF66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2476-146F-4586-9F58-5193070AF8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3627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92EAB-6987-4CFD-92B2-96BE3115A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AD3F9-5121-4907-9D41-49393EDE3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50CCC-3BB6-4339-AC46-8789419C8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345D8-6FD0-4855-ABF9-6F34E724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062E-122C-47DC-8569-3A617E445677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EC8F9-B349-4896-864B-4573A44D5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D0532-2B01-4B80-BD89-365E372DC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2476-146F-4586-9F58-5193070AF8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72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ADD9-C9CD-431D-81F5-850667703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0EEBA-1F1D-42E3-997B-EA9C6C3E5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90225-41A4-4E9E-945C-330C5FF2B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E21B5B-53D9-4A5E-ADAE-30D2F31DE7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0D53CE-FBCD-444B-BEAE-D9F856E266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FD691F-BEB3-4D8F-AC0E-92D92A642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062E-122C-47DC-8569-3A617E445677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50CC4A-22C8-4FC1-B486-EE302FF96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9D243A-D63A-40F2-B51B-180782AEC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2476-146F-4586-9F58-5193070AF8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2911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D8193-3DC8-4A35-A4A8-F7BA0437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25AE0-E70D-4A37-B79D-09577DB88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062E-122C-47DC-8569-3A617E445677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6E6216-12DD-4113-A43B-1A59FA84D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3A519-E213-478A-A045-36A8734C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2476-146F-4586-9F58-5193070AF8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2932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204898-7C0D-4C5E-944D-538482901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062E-122C-47DC-8569-3A617E445677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138291-7170-47B9-B84E-318E927E2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42FA9-B912-4490-912E-96AB89751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2476-146F-4586-9F58-5193070AF8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64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BE300-0B6A-4B1F-9DAE-60DC385B8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2F876-D214-4305-AD31-F1826EFB0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0ADE7-7F3A-4231-BBBA-D1F5EF601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55346-3E54-4914-B5EF-10546D547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062E-122C-47DC-8569-3A617E445677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1C3A1-7E40-4465-A21A-E2B767AC5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621E4-952F-4324-8D8E-E0D4304A1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2476-146F-4586-9F58-5193070AF8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9024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663B-69AE-443D-9332-873120795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78C4A1-97C9-4475-82BB-90F56A5B1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F0C90-1370-409B-AF7C-F6B0CDF6E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707CE-1024-4616-8EB7-9A4A3B7DF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062E-122C-47DC-8569-3A617E445677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FD028-5B8D-4AC2-B7B0-0578C216B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243B2-B465-4938-8F7D-6E1EC36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2476-146F-4586-9F58-5193070AF8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245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79D92-10E3-46B6-A40F-470C3036D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504FE4-3822-46B7-93A8-F720DE478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1E471-0C74-41AE-85AC-C4292B5E9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062E-122C-47DC-8569-3A617E445677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9879C-2E7A-4EFC-87DA-755FCE14B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B244C-BBEB-442B-A57A-8041DAAA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2476-146F-4586-9F58-5193070AF8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6418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B3ED92-2543-452E-A81C-747F097D3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EBF1B-2DA6-4C1A-A6FF-50EA9808E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C61CA-582E-4D32-ABFF-72FF84933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062E-122C-47DC-8569-3A617E445677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809B6-9144-4A6A-8801-0E29C3411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9F362-75BB-49E4-B919-AF75720C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2476-146F-4586-9F58-5193070AF8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4058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387078-57BA-47CA-9FFE-1A15E0136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815F5-BA34-47FF-A173-665BA4856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FC1B0-8E73-43BC-A619-0900AA2B3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5062E-122C-47DC-8569-3A617E445677}" type="datetimeFigureOut">
              <a:rPr lang="en-AU" smtClean="0"/>
              <a:t>2/02/2022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F7487-DA77-4037-A2CC-4C6BD5FBB7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DD1A3-4C4B-4FB7-9778-EC0A1ED23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82476-146F-4586-9F58-5193070AF8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5646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4" Type="http://schemas.openxmlformats.org/officeDocument/2006/relationships/image" Target="../media/image6.png"/><Relationship Id="rId9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3AA911-CCB6-4BB5-A0F5-FC237A35F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DB2279-39CB-416C-92A9-434033D2A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/>
              <a:t>Title: </a:t>
            </a:r>
            <a:r>
              <a:rPr lang="en-AU" u="sng" dirty="0">
                <a:solidFill>
                  <a:srgbClr val="00B0F0"/>
                </a:solidFill>
              </a:rPr>
              <a:t>Introducing negative numbers </a:t>
            </a:r>
          </a:p>
          <a:p>
            <a:pPr marL="0" indent="0" algn="ctr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Compare and order integers using a number line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Daily review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Walking the (number) line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Comparing integers </a:t>
            </a:r>
          </a:p>
          <a:p>
            <a:pPr>
              <a:buFontTx/>
              <a:buChar char="-"/>
            </a:pP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623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65B694-E757-4725-A099-65D1A1071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0080"/>
            <a:ext cx="3096427" cy="5613236"/>
          </a:xfrm>
        </p:spPr>
        <p:txBody>
          <a:bodyPr anchor="ctr"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Daily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B1AA3-9D1C-42DB-BA6D-8A5E0EA9A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818" y="640081"/>
            <a:ext cx="6848715" cy="438440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1600" dirty="0"/>
              <a:t>The opposite of a number is going to be the opposite ____ of that ______.</a:t>
            </a:r>
          </a:p>
          <a:p>
            <a:pPr marL="0" indent="0">
              <a:buNone/>
            </a:pPr>
            <a:endParaRPr lang="en-AU" sz="1600" dirty="0"/>
          </a:p>
          <a:p>
            <a:pPr marL="0" indent="0">
              <a:buNone/>
            </a:pPr>
            <a:r>
              <a:rPr lang="en-AU" sz="1600" dirty="0"/>
              <a:t>What is the opposite of: </a:t>
            </a:r>
          </a:p>
          <a:p>
            <a:r>
              <a:rPr lang="en-AU" sz="1600" dirty="0"/>
              <a:t>3</a:t>
            </a:r>
          </a:p>
          <a:p>
            <a:r>
              <a:rPr lang="en-AU" sz="1600" dirty="0"/>
              <a:t>-5</a:t>
            </a:r>
          </a:p>
          <a:p>
            <a:r>
              <a:rPr lang="en-AU" sz="1600" dirty="0"/>
              <a:t>43</a:t>
            </a:r>
          </a:p>
          <a:p>
            <a:pPr marL="0" indent="0">
              <a:buNone/>
            </a:pPr>
            <a:r>
              <a:rPr lang="en-AU" sz="1600" dirty="0"/>
              <a:t>What numbers are missing from these number lines?</a:t>
            </a:r>
          </a:p>
          <a:p>
            <a:pPr marL="0" indent="0">
              <a:buNone/>
            </a:pPr>
            <a:endParaRPr lang="en-AU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CF71AC-9E2D-4BD4-A9ED-B68C5FE44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7" y="4156563"/>
            <a:ext cx="6894236" cy="10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228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CD929-4E69-4519-81D4-DCD4519A1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The difference between integers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A1F4D-32E5-4417-9D3C-32AD90759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The difference between integers is the value that “connects” the numbers on the number line. E.g. </a:t>
            </a:r>
          </a:p>
          <a:p>
            <a:pPr marL="0" indent="0">
              <a:buNone/>
            </a:pPr>
            <a:r>
              <a:rPr lang="en-AU" dirty="0"/>
              <a:t>The difference between 9 and 4 is 5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The difference between -1 and 6 is 7 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3B6BA4-D0C3-457A-8E79-048B7A911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39" y="3862193"/>
            <a:ext cx="11249025" cy="12668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CC437C-FEA2-4AD9-8B28-EE2694380A22}"/>
              </a:ext>
            </a:extLst>
          </p:cNvPr>
          <p:cNvSpPr/>
          <p:nvPr/>
        </p:nvSpPr>
        <p:spPr>
          <a:xfrm>
            <a:off x="5934269" y="5327780"/>
            <a:ext cx="335902" cy="345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652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FF98F-D89D-4530-8EDB-397F78182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en-AU" sz="4000"/>
              <a:t>Number line and opposite numbers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62CA6-0D9F-4D76-B5DB-4A4813557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endParaRPr lang="en-AU" sz="2000" dirty="0"/>
          </a:p>
          <a:p>
            <a:pPr marL="0" indent="0" algn="ctr">
              <a:buNone/>
            </a:pPr>
            <a:endParaRPr lang="en-AU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176AB4-4EBA-48CF-8DD1-2682C8E97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8" y="1585719"/>
            <a:ext cx="10515595" cy="1997962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71A0930C-01AB-4CCB-A626-4EAA60AA8CFC}"/>
              </a:ext>
            </a:extLst>
          </p:cNvPr>
          <p:cNvSpPr/>
          <p:nvPr/>
        </p:nvSpPr>
        <p:spPr>
          <a:xfrm>
            <a:off x="2005515" y="3540577"/>
            <a:ext cx="8858485" cy="665826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01AD62D-E7C1-4E77-8B3A-204056BD0DE9}"/>
              </a:ext>
            </a:extLst>
          </p:cNvPr>
          <p:cNvSpPr/>
          <p:nvPr/>
        </p:nvSpPr>
        <p:spPr>
          <a:xfrm rot="10800000">
            <a:off x="545680" y="4599991"/>
            <a:ext cx="9880468" cy="665826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187D6B-F4FA-48D6-8B7E-C148E075175A}"/>
              </a:ext>
            </a:extLst>
          </p:cNvPr>
          <p:cNvSpPr txBox="1"/>
          <p:nvPr/>
        </p:nvSpPr>
        <p:spPr>
          <a:xfrm>
            <a:off x="4902385" y="3682223"/>
            <a:ext cx="2384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NUMBERS GET BIGGER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DEC886-7171-4C1D-9776-40BBE60AFE97}"/>
              </a:ext>
            </a:extLst>
          </p:cNvPr>
          <p:cNvSpPr txBox="1"/>
          <p:nvPr/>
        </p:nvSpPr>
        <p:spPr>
          <a:xfrm>
            <a:off x="4797388" y="4748238"/>
            <a:ext cx="2594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NUMBERS GET SMALLER 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D52CEB-CA2E-42DE-8202-E02D4DAF48FE}"/>
              </a:ext>
            </a:extLst>
          </p:cNvPr>
          <p:cNvSpPr txBox="1"/>
          <p:nvPr/>
        </p:nvSpPr>
        <p:spPr>
          <a:xfrm>
            <a:off x="1008184" y="5921406"/>
            <a:ext cx="4162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lines do not always go up by 1***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F18DCE-D00C-4C79-B819-88D3CB063816}"/>
              </a:ext>
            </a:extLst>
          </p:cNvPr>
          <p:cNvSpPr txBox="1"/>
          <p:nvPr/>
        </p:nvSpPr>
        <p:spPr>
          <a:xfrm>
            <a:off x="4601116" y="5317081"/>
            <a:ext cx="2986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highlight>
                  <a:srgbClr val="FFFF00"/>
                </a:highlight>
              </a:rPr>
              <a:t>So -6 is smaller than 0 </a:t>
            </a:r>
          </a:p>
        </p:txBody>
      </p:sp>
    </p:spTree>
    <p:extLst>
      <p:ext uri="{BB962C8B-B14F-4D97-AF65-F5344CB8AC3E}">
        <p14:creationId xmlns:p14="http://schemas.microsoft.com/office/powerpoint/2010/main" val="1974803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8E10-6DFC-4069-8EBC-A737232EA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Inequalities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F71E8-8533-4759-8916-E4BDF8AC4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Inequality: a mathematical sentence that compares two numbers. 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E4310-8D67-4950-9AA8-56928D314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60" y="2539099"/>
            <a:ext cx="3400425" cy="1647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68ADDC-2840-40BD-BA39-AB1D2A9D5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02297"/>
            <a:ext cx="10515595" cy="19979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9D798F-1EE6-4BEC-ACEE-7AD4C0D7A666}"/>
              </a:ext>
            </a:extLst>
          </p:cNvPr>
          <p:cNvSpPr txBox="1"/>
          <p:nvPr/>
        </p:nvSpPr>
        <p:spPr>
          <a:xfrm>
            <a:off x="6721311" y="2922309"/>
            <a:ext cx="3487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-3 ? 0</a:t>
            </a:r>
          </a:p>
          <a:p>
            <a:pPr algn="ctr"/>
            <a:r>
              <a:rPr lang="en-US" sz="3600" b="1" dirty="0"/>
              <a:t>-3 &lt; 0  </a:t>
            </a:r>
            <a:endParaRPr lang="en-AU" sz="3600" b="1" dirty="0"/>
          </a:p>
        </p:txBody>
      </p:sp>
    </p:spTree>
    <p:extLst>
      <p:ext uri="{BB962C8B-B14F-4D97-AF65-F5344CB8AC3E}">
        <p14:creationId xmlns:p14="http://schemas.microsoft.com/office/powerpoint/2010/main" val="248571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8E10-6DFC-4069-8EBC-A737232EA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Inequalities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F71E8-8533-4759-8916-E4BDF8AC4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Inequality: a mathematical sentence that compares two numbers. 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E4310-8D67-4950-9AA8-56928D314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60" y="2539099"/>
            <a:ext cx="3400425" cy="1647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68ADDC-2840-40BD-BA39-AB1D2A9D5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02297"/>
            <a:ext cx="10515595" cy="19979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9D798F-1EE6-4BEC-ACEE-7AD4C0D7A666}"/>
              </a:ext>
            </a:extLst>
          </p:cNvPr>
          <p:cNvSpPr txBox="1"/>
          <p:nvPr/>
        </p:nvSpPr>
        <p:spPr>
          <a:xfrm>
            <a:off x="6721311" y="2922309"/>
            <a:ext cx="3487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-6 ? 2 </a:t>
            </a:r>
          </a:p>
          <a:p>
            <a:pPr algn="ctr"/>
            <a:r>
              <a:rPr lang="en-US" sz="3600" b="1" dirty="0"/>
              <a:t>-6 &lt; 2</a:t>
            </a:r>
            <a:endParaRPr lang="en-AU" sz="3600" b="1" dirty="0"/>
          </a:p>
        </p:txBody>
      </p:sp>
    </p:spTree>
    <p:extLst>
      <p:ext uri="{BB962C8B-B14F-4D97-AF65-F5344CB8AC3E}">
        <p14:creationId xmlns:p14="http://schemas.microsoft.com/office/powerpoint/2010/main" val="398296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7B8A6-CFE9-4711-84C3-B5E29DC3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98310-ADD0-4CE4-A18A-3329E0237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Using the &gt; or &lt;  symbols, compare the following numbers. </a:t>
            </a:r>
          </a:p>
          <a:p>
            <a:pPr marL="0" indent="0">
              <a:buNone/>
            </a:pPr>
            <a:r>
              <a:rPr lang="en-US" dirty="0"/>
              <a:t>(remember the “crocodile” eats the</a:t>
            </a:r>
            <a:r>
              <a:rPr lang="en-US" b="1" u="sng" dirty="0"/>
              <a:t> </a:t>
            </a:r>
            <a:r>
              <a:rPr lang="en-US" b="1" i="1" u="sng" dirty="0"/>
              <a:t>larger</a:t>
            </a:r>
            <a:r>
              <a:rPr lang="en-US" b="1" u="sng" dirty="0"/>
              <a:t> </a:t>
            </a:r>
            <a:r>
              <a:rPr lang="en-US" dirty="0"/>
              <a:t>number)</a:t>
            </a:r>
          </a:p>
          <a:p>
            <a:pPr marL="0" indent="0">
              <a:buNone/>
            </a:pPr>
            <a:endParaRPr lang="en-US" dirty="0"/>
          </a:p>
          <a:p>
            <a:pPr marL="742950" indent="-742950">
              <a:buAutoNum type="alphaLcParenR"/>
            </a:pPr>
            <a:r>
              <a:rPr lang="en-US" sz="3600" dirty="0"/>
              <a:t>4 ? 10 </a:t>
            </a:r>
          </a:p>
          <a:p>
            <a:pPr marL="742950" indent="-742950">
              <a:buAutoNum type="alphaLcParenR"/>
            </a:pPr>
            <a:r>
              <a:rPr lang="en-US" sz="3600" dirty="0"/>
              <a:t>0 ? -1 </a:t>
            </a:r>
          </a:p>
          <a:p>
            <a:pPr marL="742950" indent="-742950">
              <a:buAutoNum type="alphaLcParenR"/>
            </a:pPr>
            <a:r>
              <a:rPr lang="en-US" sz="3600" dirty="0"/>
              <a:t>-12 ? 11 </a:t>
            </a:r>
          </a:p>
          <a:p>
            <a:pPr marL="742950" indent="-742950">
              <a:buAutoNum type="alphaLcParenR"/>
            </a:pPr>
            <a:r>
              <a:rPr lang="en-US" sz="3600" dirty="0"/>
              <a:t>-1 ? -4 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412313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1FC2-371B-4ED8-A18D-3D55EB415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Ordering integers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04E56-6165-4DB3-91A5-7667FF414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Ascending – means going from small to large.</a:t>
            </a:r>
          </a:p>
          <a:p>
            <a:pPr marL="0" indent="0">
              <a:buNone/>
            </a:pPr>
            <a:r>
              <a:rPr lang="en-US" dirty="0"/>
              <a:t>Descending – means going from large to small.</a:t>
            </a:r>
          </a:p>
          <a:p>
            <a:pPr marL="0" indent="0" algn="ctr">
              <a:buNone/>
            </a:pPr>
            <a:r>
              <a:rPr lang="en-US" b="1" dirty="0">
                <a:highlight>
                  <a:srgbClr val="FFFF00"/>
                </a:highlight>
              </a:rPr>
              <a:t>Put the numbers -1, 5, -4 and 2 in ascending order</a:t>
            </a:r>
          </a:p>
          <a:p>
            <a:pPr marL="0" indent="0">
              <a:buNone/>
            </a:pPr>
            <a:r>
              <a:rPr lang="en-AU" dirty="0"/>
              <a:t>The smallest number is the number further to the left.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BC0DCE-2633-4DAA-B2EA-B397AD838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10" y="4762552"/>
            <a:ext cx="10515595" cy="19979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AA90114-A189-4BD6-A357-F3238335B9A9}"/>
                  </a:ext>
                </a:extLst>
              </p14:cNvPr>
              <p14:cNvContentPartPr/>
              <p14:nvPr/>
            </p14:nvContentPartPr>
            <p14:xfrm>
              <a:off x="2821019" y="4732052"/>
              <a:ext cx="2592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AA90114-A189-4BD6-A357-F3238335B9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58019" y="4669052"/>
                <a:ext cx="1515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E208D6A-FA82-4479-88D6-17C0E4AA2740}"/>
                  </a:ext>
                </a:extLst>
              </p14:cNvPr>
              <p14:cNvContentPartPr/>
              <p14:nvPr/>
            </p14:nvContentPartPr>
            <p14:xfrm>
              <a:off x="4892099" y="4720532"/>
              <a:ext cx="360" cy="18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E208D6A-FA82-4479-88D6-17C0E4AA274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29459" y="4657532"/>
                <a:ext cx="126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F30B0EE-9F5E-47F8-BF66-8AE31EEC7558}"/>
                  </a:ext>
                </a:extLst>
              </p14:cNvPr>
              <p14:cNvContentPartPr/>
              <p14:nvPr/>
            </p14:nvContentPartPr>
            <p14:xfrm>
              <a:off x="6937619" y="470325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F30B0EE-9F5E-47F8-BF66-8AE31EEC755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74979" y="4640612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5F15246-BB20-48C0-BD6E-6094A62045BA}"/>
                  </a:ext>
                </a:extLst>
              </p14:cNvPr>
              <p14:cNvContentPartPr/>
              <p14:nvPr/>
            </p14:nvContentPartPr>
            <p14:xfrm>
              <a:off x="9011579" y="471333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5F15246-BB20-48C0-BD6E-6094A62045B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48939" y="4650332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Arrow: Right 9">
            <a:extLst>
              <a:ext uri="{FF2B5EF4-FFF2-40B4-BE49-F238E27FC236}">
                <a16:creationId xmlns:a16="http://schemas.microsoft.com/office/drawing/2014/main" id="{A1DB3B3E-B0C9-4A2E-BD47-A2A2C0B8EDA0}"/>
              </a:ext>
            </a:extLst>
          </p:cNvPr>
          <p:cNvSpPr/>
          <p:nvPr/>
        </p:nvSpPr>
        <p:spPr>
          <a:xfrm>
            <a:off x="3333515" y="3699523"/>
            <a:ext cx="8858485" cy="665826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F65FF5-1595-4B22-A774-2CC9323E8E6F}"/>
              </a:ext>
            </a:extLst>
          </p:cNvPr>
          <p:cNvSpPr txBox="1"/>
          <p:nvPr/>
        </p:nvSpPr>
        <p:spPr>
          <a:xfrm>
            <a:off x="6230385" y="3841169"/>
            <a:ext cx="2384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NUMBERS GET BIGGER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AFF3DE3-D9ED-4925-8BF4-97923F0BC898}"/>
              </a:ext>
            </a:extLst>
          </p:cNvPr>
          <p:cNvSpPr/>
          <p:nvPr/>
        </p:nvSpPr>
        <p:spPr>
          <a:xfrm rot="10800000">
            <a:off x="-48135" y="4062576"/>
            <a:ext cx="9880468" cy="665826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480B40-9319-447B-B450-B4E922923B35}"/>
              </a:ext>
            </a:extLst>
          </p:cNvPr>
          <p:cNvSpPr txBox="1"/>
          <p:nvPr/>
        </p:nvSpPr>
        <p:spPr>
          <a:xfrm>
            <a:off x="4203573" y="4210823"/>
            <a:ext cx="2594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NUMBERS GET SMALLER 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3985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6BD38-D365-4220-833E-C1633955C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Ordering integers: ascending 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0BF3D-431B-4554-94CF-B0D73F272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17CDC-A11E-4CD1-AA95-3394558C1B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7, -2, 6, 0, -5, -7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3, 0, -1, - 4, 8, -5 </a:t>
            </a:r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3A6F3C-AB8F-438D-B34E-1D06FDD723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19ECC6-7647-43BD-A02B-F9E9D4E4E10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1, 0, -2, 5, 3, -7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8, 0, -4, 11, -2, 9, 1, -8 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BDF3EB-0F65-4736-8215-3A9AE8709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602297"/>
            <a:ext cx="10515595" cy="199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341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2BC4B-F9D9-49CC-91AF-0AB753B4D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AU" dirty="0"/>
              <a:t>In your exercise book, evaluate the following: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0DCDDB83-BC45-412D-882E-1985EBF781DF}"/>
              </a:ext>
            </a:extLst>
          </p:cNvPr>
          <p:cNvSpPr/>
          <p:nvPr/>
        </p:nvSpPr>
        <p:spPr>
          <a:xfrm>
            <a:off x="185195" y="1282044"/>
            <a:ext cx="3553428" cy="5459699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074E8574-2B03-4517-9F53-4E5D069D1965}"/>
              </a:ext>
            </a:extLst>
          </p:cNvPr>
          <p:cNvSpPr/>
          <p:nvPr/>
        </p:nvSpPr>
        <p:spPr>
          <a:xfrm>
            <a:off x="4249838" y="1282044"/>
            <a:ext cx="3553428" cy="5459700"/>
          </a:xfrm>
          <a:prstGeom prst="round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32A1EC25-7937-4866-BFB4-47BF3A15ACA8}"/>
              </a:ext>
            </a:extLst>
          </p:cNvPr>
          <p:cNvSpPr/>
          <p:nvPr/>
        </p:nvSpPr>
        <p:spPr>
          <a:xfrm>
            <a:off x="8314481" y="1282042"/>
            <a:ext cx="3553428" cy="5459701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6235E7-093C-499A-87D6-F1FCF6AF33A0}"/>
              </a:ext>
            </a:extLst>
          </p:cNvPr>
          <p:cNvSpPr txBox="1"/>
          <p:nvPr/>
        </p:nvSpPr>
        <p:spPr>
          <a:xfrm>
            <a:off x="324092" y="1659835"/>
            <a:ext cx="308503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Draw &gt; or &lt; to indicate the larger number </a:t>
            </a:r>
          </a:p>
          <a:p>
            <a:endParaRPr lang="en-AU" sz="2400" dirty="0"/>
          </a:p>
          <a:p>
            <a:pPr algn="ctr"/>
            <a:r>
              <a:rPr lang="en-AU" sz="2400" dirty="0"/>
              <a:t>12 	15</a:t>
            </a:r>
          </a:p>
          <a:p>
            <a:pPr algn="ctr"/>
            <a:endParaRPr lang="en-AU" sz="2400" dirty="0"/>
          </a:p>
          <a:p>
            <a:pPr algn="ctr"/>
            <a:r>
              <a:rPr lang="en-AU" sz="2400" dirty="0"/>
              <a:t>18	3</a:t>
            </a:r>
          </a:p>
          <a:p>
            <a:pPr algn="ctr"/>
            <a:endParaRPr lang="en-AU" sz="2400" dirty="0"/>
          </a:p>
          <a:p>
            <a:pPr algn="ctr"/>
            <a:r>
              <a:rPr lang="en-AU" sz="2400" dirty="0"/>
              <a:t>-4 	0</a:t>
            </a:r>
          </a:p>
          <a:p>
            <a:pPr algn="ctr"/>
            <a:endParaRPr lang="en-AU" sz="2400" dirty="0"/>
          </a:p>
          <a:p>
            <a:pPr algn="ctr"/>
            <a:r>
              <a:rPr lang="en-AU" sz="2400" dirty="0"/>
              <a:t>-12 	-8</a:t>
            </a:r>
          </a:p>
          <a:p>
            <a:pPr algn="ctr"/>
            <a:endParaRPr lang="en-AU" sz="2400" dirty="0"/>
          </a:p>
          <a:p>
            <a:pPr algn="ctr"/>
            <a:r>
              <a:rPr lang="en-AU" sz="2400" dirty="0"/>
              <a:t>0 	-4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FD13C0-041D-43D4-A6CF-29E346CE4238}"/>
              </a:ext>
            </a:extLst>
          </p:cNvPr>
          <p:cNvSpPr txBox="1"/>
          <p:nvPr/>
        </p:nvSpPr>
        <p:spPr>
          <a:xfrm>
            <a:off x="4363277" y="1759226"/>
            <a:ext cx="336936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Order these sets of numbers in </a:t>
            </a:r>
            <a:r>
              <a:rPr lang="en-AU" i="1" dirty="0"/>
              <a:t>ascending </a:t>
            </a:r>
            <a:r>
              <a:rPr lang="en-AU" dirty="0"/>
              <a:t>order</a:t>
            </a:r>
          </a:p>
          <a:p>
            <a:r>
              <a:rPr lang="en-AU" dirty="0">
                <a:highlight>
                  <a:srgbClr val="FFFF00"/>
                </a:highlight>
              </a:rPr>
              <a:t>(you can draw a number line on your whiteboard)</a:t>
            </a:r>
          </a:p>
          <a:p>
            <a:endParaRPr lang="en-AU" dirty="0"/>
          </a:p>
          <a:p>
            <a:r>
              <a:rPr lang="en-AU" sz="2400" dirty="0"/>
              <a:t>8, 2, 4, 12, -2, 0 </a:t>
            </a:r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14, -5, 12, 0, -2, -1 </a:t>
            </a:r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-1, -4, 0, -9, -7, -10 </a:t>
            </a:r>
          </a:p>
          <a:p>
            <a:endParaRPr lang="en-AU" sz="2400" dirty="0"/>
          </a:p>
          <a:p>
            <a:r>
              <a:rPr lang="en-AU" sz="2400" dirty="0"/>
              <a:t>3, -1, 0, 4, 8, -5, -9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80C3FE-3C63-4A34-9DEA-E8C52A1C41D9}"/>
              </a:ext>
            </a:extLst>
          </p:cNvPr>
          <p:cNvSpPr txBox="1"/>
          <p:nvPr/>
        </p:nvSpPr>
        <p:spPr>
          <a:xfrm>
            <a:off x="8418443" y="1659835"/>
            <a:ext cx="329979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Complete these simple patterns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sz="2400" dirty="0"/>
              <a:t>8, 9, 10, ___, ___, ___</a:t>
            </a:r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2, 4, 6, 8, ___, ___, ___</a:t>
            </a:r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-3, -2, ___, 0, ___, 2, 3 </a:t>
            </a:r>
          </a:p>
          <a:p>
            <a:endParaRPr lang="en-AU" sz="2400" dirty="0"/>
          </a:p>
          <a:p>
            <a:r>
              <a:rPr lang="en-AU" sz="2400"/>
              <a:t>-10, -5, ___, ___, 10 </a:t>
            </a:r>
            <a:endParaRPr lang="en-AU" sz="2400" dirty="0"/>
          </a:p>
          <a:p>
            <a:endParaRPr lang="en-AU" dirty="0"/>
          </a:p>
          <a:p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1185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1656-434E-4375-B83E-A6C1FDCD9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Puzzle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92D10-BD63-445F-BDFF-B101CC26F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Start on “MR and MRS Larger had a baby. Who was the Largest?”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6738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12EBB-BF01-4762-BA38-605EAF79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True or false?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E92FF-D663-4AD5-97FC-79FFC6ADF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/>
              <a:t>5 &gt; 4</a:t>
            </a:r>
          </a:p>
          <a:p>
            <a:pPr marL="0" indent="0">
              <a:buNone/>
            </a:pPr>
            <a:endParaRPr lang="en-AU" sz="3200" dirty="0"/>
          </a:p>
          <a:p>
            <a:pPr marL="0" indent="0">
              <a:buNone/>
            </a:pPr>
            <a:r>
              <a:rPr lang="en-AU" sz="3200" dirty="0"/>
              <a:t>17 &gt; 24 </a:t>
            </a:r>
          </a:p>
          <a:p>
            <a:pPr marL="0" indent="0">
              <a:buNone/>
            </a:pPr>
            <a:endParaRPr lang="en-AU" sz="3200" dirty="0"/>
          </a:p>
          <a:p>
            <a:pPr marL="0" indent="0">
              <a:buNone/>
            </a:pPr>
            <a:r>
              <a:rPr lang="en-AU" sz="3200" dirty="0"/>
              <a:t>-1 &gt; 0  </a:t>
            </a:r>
          </a:p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endParaRPr lang="en-AU" sz="2000" dirty="0"/>
          </a:p>
        </p:txBody>
      </p:sp>
      <p:cxnSp>
        <p:nvCxnSpPr>
          <p:cNvPr id="20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1CAA48-7CBE-44CF-B11B-E4CF79179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/>
              <a:t>-15 &lt; -5</a:t>
            </a:r>
          </a:p>
          <a:p>
            <a:pPr marL="0" indent="0">
              <a:buNone/>
            </a:pPr>
            <a:endParaRPr lang="en-AU" sz="3200" dirty="0"/>
          </a:p>
          <a:p>
            <a:pPr marL="0" indent="0">
              <a:buNone/>
            </a:pPr>
            <a:r>
              <a:rPr lang="en-AU" sz="3200" dirty="0"/>
              <a:t>-120 &gt; 100</a:t>
            </a:r>
          </a:p>
          <a:p>
            <a:pPr marL="0" indent="0">
              <a:buNone/>
            </a:pPr>
            <a:endParaRPr lang="en-AU" sz="3200" dirty="0"/>
          </a:p>
          <a:p>
            <a:pPr marL="0" indent="0">
              <a:buNone/>
            </a:pPr>
            <a:r>
              <a:rPr lang="en-AU" sz="3200" dirty="0"/>
              <a:t>- 3 &gt; -4  </a:t>
            </a:r>
          </a:p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905771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711E525-D4CE-4A10-B138-56E16CCF7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21753-DA56-4648-8219-5E7852CA4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1596"/>
            <a:ext cx="7052035" cy="60711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000" dirty="0">
                <a:solidFill>
                  <a:schemeClr val="tx1">
                    <a:alpha val="80000"/>
                  </a:schemeClr>
                </a:solidFill>
              </a:rPr>
              <a:t>How did we do?</a:t>
            </a:r>
          </a:p>
          <a:p>
            <a:pPr marL="0" indent="0">
              <a:buNone/>
            </a:pPr>
            <a:r>
              <a:rPr lang="en-AU" b="1" dirty="0"/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b="1" dirty="0"/>
              <a:t> Compare and order integers using a number line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r>
              <a:rPr lang="en-AU" b="1" dirty="0"/>
              <a:t>Example, can you put these in ascending order?</a:t>
            </a:r>
            <a:endParaRPr lang="en-AU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AU" sz="3200" b="1" dirty="0">
                <a:solidFill>
                  <a:schemeClr val="tx1">
                    <a:alpha val="80000"/>
                  </a:schemeClr>
                </a:solidFill>
              </a:rPr>
              <a:t>10, -5, 0, 11, 4, - </a:t>
            </a:r>
            <a:r>
              <a:rPr lang="en-AU" sz="3200" b="1">
                <a:solidFill>
                  <a:schemeClr val="tx1">
                    <a:alpha val="80000"/>
                  </a:schemeClr>
                </a:solidFill>
              </a:rPr>
              <a:t>2 </a:t>
            </a:r>
            <a:endParaRPr lang="en-AU" sz="3200" b="1" dirty="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15" name="Picture 2" descr="Fist-to-Five or Thumb-O-Meter | Questioning Techniques for the Classroom">
            <a:extLst>
              <a:ext uri="{FF2B5EF4-FFF2-40B4-BE49-F238E27FC236}">
                <a16:creationId xmlns:a16="http://schemas.microsoft.com/office/drawing/2014/main" id="{EC658065-3B32-4795-9275-8CCBD6957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2529" y="421677"/>
            <a:ext cx="3916902" cy="6071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8577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594</Words>
  <Application>Microsoft Office PowerPoint</Application>
  <PresentationFormat>Widescreen</PresentationFormat>
  <Paragraphs>124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Lesson objective </vt:lpstr>
      <vt:lpstr>Daily review</vt:lpstr>
      <vt:lpstr>The difference between integers  </vt:lpstr>
      <vt:lpstr>Number line and opposite numbers </vt:lpstr>
      <vt:lpstr>Inequalities </vt:lpstr>
      <vt:lpstr>Inequalities </vt:lpstr>
      <vt:lpstr>Whiteboards </vt:lpstr>
      <vt:lpstr>Ordering integers </vt:lpstr>
      <vt:lpstr>Ordering integers: ascending  </vt:lpstr>
      <vt:lpstr>In your exercise book, evaluate the following:</vt:lpstr>
      <vt:lpstr>Puzzle practice </vt:lpstr>
      <vt:lpstr>True or false?</vt:lpstr>
      <vt:lpstr>Reflection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Rhys DAVIES</dc:creator>
  <cp:lastModifiedBy>DAVIES Rhys [Busselton Senior High School]</cp:lastModifiedBy>
  <cp:revision>31</cp:revision>
  <dcterms:created xsi:type="dcterms:W3CDTF">2021-02-08T11:17:59Z</dcterms:created>
  <dcterms:modified xsi:type="dcterms:W3CDTF">2022-02-02T00:41:57Z</dcterms:modified>
</cp:coreProperties>
</file>
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14" r:id="rId2"/>
    <p:sldId id="359" r:id="rId3"/>
    <p:sldId id="356" r:id="rId4"/>
    <p:sldId id="362" r:id="rId5"/>
    <p:sldId id="257" r:id="rId6"/>
    <p:sldId id="336" r:id="rId7"/>
    <p:sldId id="354" r:id="rId8"/>
    <p:sldId id="355" r:id="rId9"/>
    <p:sldId id="357" r:id="rId10"/>
    <p:sldId id="351" r:id="rId11"/>
    <p:sldId id="358" r:id="rId12"/>
    <p:sldId id="338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360" r:id="rId22"/>
    <p:sldId id="361" r:id="rId23"/>
    <p:sldId id="363" r:id="rId24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5" autoAdjust="0"/>
    <p:restoredTop sz="94732"/>
  </p:normalViewPr>
  <p:slideViewPr>
    <p:cSldViewPr>
      <p:cViewPr varScale="1">
        <p:scale>
          <a:sx n="81" d="100"/>
          <a:sy n="81" d="100"/>
        </p:scale>
        <p:origin x="1493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9AD16-1A4E-4451-987C-DCA1FABDAB95}" type="datetimeFigureOut">
              <a:rPr lang="en-GB" smtClean="0"/>
              <a:t>13/03/2023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22E32-FF0D-4444-9799-8E2C95D419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322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E22E32-FF0D-4444-9799-8E2C95D4193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2284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22E32-FF0D-4444-9799-8E2C95D4193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0672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worksheet 1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22E32-FF0D-4444-9799-8E2C95D4193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0525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34C6-9B54-4E9C-818D-8BDB72CE86EC}" type="datetimeFigureOut">
              <a:rPr lang="en-GB" smtClean="0"/>
              <a:t>13/03/2023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36554-3A9A-4160-9838-17B4C9543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846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34C6-9B54-4E9C-818D-8BDB72CE86EC}" type="datetimeFigureOut">
              <a:rPr lang="en-GB" smtClean="0"/>
              <a:t>13/03/2023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36554-3A9A-4160-9838-17B4C9543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5876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34C6-9B54-4E9C-818D-8BDB72CE86EC}" type="datetimeFigureOut">
              <a:rPr lang="en-GB" smtClean="0"/>
              <a:t>13/03/2023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36554-3A9A-4160-9838-17B4C9543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511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34C6-9B54-4E9C-818D-8BDB72CE86EC}" type="datetimeFigureOut">
              <a:rPr lang="en-GB" smtClean="0"/>
              <a:t>13/03/2023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36554-3A9A-4160-9838-17B4C9543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34C6-9B54-4E9C-818D-8BDB72CE86EC}" type="datetimeFigureOut">
              <a:rPr lang="en-GB" smtClean="0"/>
              <a:t>13/03/2023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36554-3A9A-4160-9838-17B4C9543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7381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34C6-9B54-4E9C-818D-8BDB72CE86EC}" type="datetimeFigureOut">
              <a:rPr lang="en-GB" smtClean="0"/>
              <a:t>13/03/2023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36554-3A9A-4160-9838-17B4C9543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2620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34C6-9B54-4E9C-818D-8BDB72CE86EC}" type="datetimeFigureOut">
              <a:rPr lang="en-GB" smtClean="0"/>
              <a:t>13/03/2023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36554-3A9A-4160-9838-17B4C9543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2774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3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34C6-9B54-4E9C-818D-8BDB72CE86EC}" type="datetimeFigureOut">
              <a:rPr lang="en-GB" smtClean="0"/>
              <a:t>13/03/2023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36554-3A9A-4160-9838-17B4C9543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788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34C6-9B54-4E9C-818D-8BDB72CE86EC}" type="datetimeFigureOut">
              <a:rPr lang="en-GB" smtClean="0"/>
              <a:t>13/03/2023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36554-3A9A-4160-9838-17B4C9543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0615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34C6-9B54-4E9C-818D-8BDB72CE86EC}" type="datetimeFigureOut">
              <a:rPr lang="en-GB" smtClean="0"/>
              <a:t>13/03/2023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36554-3A9A-4160-9838-17B4C9543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8439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34C6-9B54-4E9C-818D-8BDB72CE86EC}" type="datetimeFigureOut">
              <a:rPr lang="en-GB" smtClean="0"/>
              <a:t>13/03/2023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36554-3A9A-4160-9838-17B4C9543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694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3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D834C6-9B54-4E9C-818D-8BDB72CE86EC}" type="datetimeFigureOut">
              <a:rPr lang="en-GB" smtClean="0"/>
              <a:t>13/03/2023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36554-3A9A-4160-9838-17B4C9543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425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60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60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24.png"/><Relationship Id="rId7" Type="http://schemas.openxmlformats.org/officeDocument/2006/relationships/image" Target="../media/image100.png"/><Relationship Id="rId12" Type="http://schemas.openxmlformats.org/officeDocument/2006/relationships/image" Target="../media/image150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tags" Target="../tags/tag8.xml"/><Relationship Id="rId6" Type="http://schemas.openxmlformats.org/officeDocument/2006/relationships/image" Target="../media/image141.png"/><Relationship Id="rId11" Type="http://schemas.openxmlformats.org/officeDocument/2006/relationships/image" Target="../media/image140.png"/><Relationship Id="rId24" Type="http://schemas.openxmlformats.org/officeDocument/2006/relationships/image" Target="../media/image27.png"/><Relationship Id="rId5" Type="http://schemas.openxmlformats.org/officeDocument/2006/relationships/image" Target="../media/image610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0.png"/><Relationship Id="rId19" Type="http://schemas.openxmlformats.org/officeDocument/2006/relationships/image" Target="../media/image22.png"/><Relationship Id="rId4" Type="http://schemas.openxmlformats.org/officeDocument/2006/relationships/image" Target="../media/image90.png"/><Relationship Id="rId9" Type="http://schemas.openxmlformats.org/officeDocument/2006/relationships/image" Target="../media/image120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90.png"/><Relationship Id="rId21" Type="http://schemas.openxmlformats.org/officeDocument/2006/relationships/image" Target="../media/image25.png"/><Relationship Id="rId7" Type="http://schemas.openxmlformats.org/officeDocument/2006/relationships/image" Target="../media/image110.png"/><Relationship Id="rId12" Type="http://schemas.openxmlformats.org/officeDocument/2006/relationships/image" Target="../media/image160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tags" Target="../tags/tag9.xml"/><Relationship Id="rId6" Type="http://schemas.openxmlformats.org/officeDocument/2006/relationships/image" Target="../media/image100.png"/><Relationship Id="rId11" Type="http://schemas.openxmlformats.org/officeDocument/2006/relationships/image" Target="../media/image150.png"/><Relationship Id="rId24" Type="http://schemas.openxmlformats.org/officeDocument/2006/relationships/image" Target="../media/image28.png"/><Relationship Id="rId5" Type="http://schemas.openxmlformats.org/officeDocument/2006/relationships/image" Target="../media/image141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10" Type="http://schemas.openxmlformats.org/officeDocument/2006/relationships/image" Target="../media/image140.png"/><Relationship Id="rId19" Type="http://schemas.openxmlformats.org/officeDocument/2006/relationships/image" Target="../media/image23.png"/><Relationship Id="rId4" Type="http://schemas.openxmlformats.org/officeDocument/2006/relationships/image" Target="../media/image610.png"/><Relationship Id="rId9" Type="http://schemas.openxmlformats.org/officeDocument/2006/relationships/image" Target="../media/image130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26" Type="http://schemas.openxmlformats.org/officeDocument/2006/relationships/image" Target="../media/image51.png"/><Relationship Id="rId3" Type="http://schemas.openxmlformats.org/officeDocument/2006/relationships/image" Target="../media/image90.png"/><Relationship Id="rId21" Type="http://schemas.openxmlformats.org/officeDocument/2006/relationships/image" Target="../media/image46.png"/><Relationship Id="rId7" Type="http://schemas.openxmlformats.org/officeDocument/2006/relationships/image" Target="../media/image120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tags" Target="../tags/tag10.xml"/><Relationship Id="rId6" Type="http://schemas.openxmlformats.org/officeDocument/2006/relationships/image" Target="../media/image33.png"/><Relationship Id="rId11" Type="http://schemas.openxmlformats.org/officeDocument/2006/relationships/image" Target="../media/image36.png"/><Relationship Id="rId24" Type="http://schemas.openxmlformats.org/officeDocument/2006/relationships/image" Target="../media/image49.png"/><Relationship Id="rId5" Type="http://schemas.openxmlformats.org/officeDocument/2006/relationships/image" Target="../media/image32.png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31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8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2" descr="https://static.pexels.com/photos/42498/pexels-photo-42498.jpe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8B13AE-CAC4-4053-A087-72AE73280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E554A-8354-4BBD-A205-E76ACE84A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3"/>
            <a:ext cx="8229600" cy="50691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Writing expressions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Be able to write algebraic expressions from authentic situations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Daily review 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Substitution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Writing expressions </a:t>
            </a:r>
          </a:p>
          <a:p>
            <a:pPr marL="0" indent="0">
              <a:buNone/>
            </a:pP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4CD446-30B0-4080-9AE1-C3CFD1E33B98}"/>
                  </a:ext>
                </a:extLst>
              </p:cNvPr>
              <p:cNvSpPr txBox="1"/>
              <p:nvPr/>
            </p:nvSpPr>
            <p:spPr>
              <a:xfrm>
                <a:off x="5796136" y="4293096"/>
                <a:ext cx="2736304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Challenge question:</a:t>
                </a:r>
              </a:p>
              <a:p>
                <a:endParaRPr lang="en-US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𝟑𝟐</m:t>
                      </m:r>
                    </m:oMath>
                  </m:oMathPara>
                </a14:m>
                <a:endParaRPr lang="en-US" sz="2400" b="1" dirty="0"/>
              </a:p>
              <a:p>
                <a:endParaRPr lang="en-AU" sz="2400" b="1" dirty="0"/>
              </a:p>
              <a:p>
                <a:pPr algn="ctr"/>
                <a:r>
                  <a:rPr lang="en-AU" sz="2400" b="1" dirty="0"/>
                  <a:t>r  = ?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4CD446-30B0-4080-9AE1-C3CFD1E33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4293096"/>
                <a:ext cx="2736304" cy="1938992"/>
              </a:xfrm>
              <a:prstGeom prst="rect">
                <a:avLst/>
              </a:prstGeom>
              <a:blipFill>
                <a:blip r:embed="rId4"/>
                <a:stretch>
                  <a:fillRect l="-3563" t="-2516" r="-1114" b="-6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BC605C8-A513-4E2E-AD72-1902ED1384A0}"/>
              </a:ext>
            </a:extLst>
          </p:cNvPr>
          <p:cNvSpPr txBox="1"/>
          <p:nvPr/>
        </p:nvSpPr>
        <p:spPr>
          <a:xfrm>
            <a:off x="6084168" y="2132856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Need whiteboards </a:t>
            </a:r>
            <a:endParaRPr lang="en-AU" sz="2000" b="1" dirty="0">
              <a:highlight>
                <a:srgbClr val="FFFF00"/>
              </a:highlight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3670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1EB30-32CF-4A6C-94DB-67E807EC3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Daily review 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4C8D1CA-1E03-4EBE-B233-ADFBC412FE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54812" y="1427837"/>
            <a:ext cx="9653623" cy="54301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F8EE9AF-F2B7-40AF-9D24-64E3186F682B}"/>
              </a:ext>
            </a:extLst>
          </p:cNvPr>
          <p:cNvSpPr/>
          <p:nvPr/>
        </p:nvSpPr>
        <p:spPr>
          <a:xfrm>
            <a:off x="395536" y="2876266"/>
            <a:ext cx="223224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874ED4-9FB8-4EAE-A125-126A796352D2}"/>
              </a:ext>
            </a:extLst>
          </p:cNvPr>
          <p:cNvSpPr/>
          <p:nvPr/>
        </p:nvSpPr>
        <p:spPr>
          <a:xfrm>
            <a:off x="395536" y="3466688"/>
            <a:ext cx="63367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806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 rot="21126256">
            <a:off x="-3893" y="723882"/>
            <a:ext cx="335111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Expression </a:t>
            </a:r>
          </a:p>
        </p:txBody>
      </p:sp>
      <p:sp>
        <p:nvSpPr>
          <p:cNvPr id="17" name="Rectangle 16"/>
          <p:cNvSpPr/>
          <p:nvPr/>
        </p:nvSpPr>
        <p:spPr>
          <a:xfrm rot="769946">
            <a:off x="6422814" y="748985"/>
            <a:ext cx="23631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Identity</a:t>
            </a:r>
          </a:p>
        </p:txBody>
      </p:sp>
      <p:sp>
        <p:nvSpPr>
          <p:cNvPr id="18" name="Rectangle 17"/>
          <p:cNvSpPr/>
          <p:nvPr/>
        </p:nvSpPr>
        <p:spPr>
          <a:xfrm rot="309913">
            <a:off x="1034883" y="1706281"/>
            <a:ext cx="25075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Formula</a:t>
            </a:r>
          </a:p>
        </p:txBody>
      </p:sp>
      <p:sp>
        <p:nvSpPr>
          <p:cNvPr id="21" name="Rectangle 20"/>
          <p:cNvSpPr/>
          <p:nvPr/>
        </p:nvSpPr>
        <p:spPr>
          <a:xfrm rot="20978274">
            <a:off x="5572626" y="1610704"/>
            <a:ext cx="26864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Equation</a:t>
            </a:r>
          </a:p>
        </p:txBody>
      </p:sp>
      <p:sp>
        <p:nvSpPr>
          <p:cNvPr id="22" name="Rectangle 21"/>
          <p:cNvSpPr/>
          <p:nvPr/>
        </p:nvSpPr>
        <p:spPr>
          <a:xfrm rot="303112">
            <a:off x="4161529" y="927541"/>
            <a:ext cx="80342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2674764" y="3386609"/>
                <a:ext cx="2895344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𝟒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𝒖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+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𝟑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 lang="en-US" sz="5400" b="1" spc="50" dirty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4764" y="3386609"/>
                <a:ext cx="2895344" cy="9233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5577428" y="2924944"/>
                <a:ext cx="3740063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4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𝑢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+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𝟐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𝟕</m:t>
                      </m:r>
                    </m:oMath>
                  </m:oMathPara>
                </a14:m>
                <a:endParaRPr lang="en-US" sz="5400" b="1" spc="50" dirty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428" y="2924944"/>
                <a:ext cx="3740063" cy="92333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4605136" y="5011340"/>
                <a:ext cx="4522392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9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𝒛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+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𝟐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𝟏𝟗𝟎</m:t>
                      </m:r>
                    </m:oMath>
                  </m:oMathPara>
                </a14:m>
                <a:endParaRPr lang="en-US" sz="5400" b="1" spc="50" dirty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136" y="5011340"/>
                <a:ext cx="4522392" cy="92333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0" y="5934670"/>
                <a:ext cx="6550191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9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𝒛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+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𝟐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𝟗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𝒛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+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𝟏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+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5400" b="1" spc="50" dirty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934670"/>
                <a:ext cx="6550191" cy="92333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-28591" y="2818652"/>
                <a:ext cx="2993127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𝟐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𝒘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+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𝟑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 lang="en-US" sz="5400" b="1" spc="50" dirty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591" y="2818652"/>
                <a:ext cx="2993127" cy="92333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-51428" y="4263892"/>
                <a:ext cx="2063385" cy="1670778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𝒔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5400" b="1" i="1" spc="50" smtClean="0">
                              <a:ln w="11430"/>
                              <a:gradFill>
                                <a:gsLst>
                                  <a:gs pos="25000">
                                    <a:schemeClr val="accent2">
                                      <a:satMod val="155000"/>
                                    </a:schemeClr>
                                  </a:gs>
                                  <a:gs pos="100000">
                                    <a:schemeClr val="accent2">
                                      <a:shade val="45000"/>
                                      <a:satMod val="165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outerShdw blurRad="76200" dist="50800" dir="5400000" algn="tl" rotWithShape="0">
                                  <a:srgbClr val="000000">
                                    <a:alpha val="65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1" i="1" spc="50" smtClean="0">
                              <a:ln w="11430"/>
                              <a:gradFill>
                                <a:gsLst>
                                  <a:gs pos="25000">
                                    <a:schemeClr val="accent2">
                                      <a:satMod val="155000"/>
                                    </a:schemeClr>
                                  </a:gs>
                                  <a:gs pos="100000">
                                    <a:schemeClr val="accent2">
                                      <a:shade val="45000"/>
                                      <a:satMod val="165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outerShdw blurRad="76200" dist="50800" dir="5400000" algn="tl" rotWithShape="0">
                                  <a:srgbClr val="000000">
                                    <a:alpha val="65000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𝒅</m:t>
                          </m:r>
                        </m:num>
                        <m:den>
                          <m:r>
                            <a:rPr lang="en-GB" sz="5400" b="1" i="1" spc="50" smtClean="0">
                              <a:ln w="11430"/>
                              <a:gradFill>
                                <a:gsLst>
                                  <a:gs pos="25000">
                                    <a:schemeClr val="accent2">
                                      <a:satMod val="155000"/>
                                    </a:schemeClr>
                                  </a:gs>
                                  <a:gs pos="100000">
                                    <a:schemeClr val="accent2">
                                      <a:shade val="45000"/>
                                      <a:satMod val="165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outerShdw blurRad="76200" dist="50800" dir="5400000" algn="tl" rotWithShape="0">
                                  <a:srgbClr val="000000">
                                    <a:alpha val="65000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𝒕</m:t>
                          </m:r>
                        </m:den>
                      </m:f>
                    </m:oMath>
                  </m:oMathPara>
                </a14:m>
                <a:endParaRPr lang="en-US" sz="5400" b="1" spc="50" dirty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1428" y="4263892"/>
                <a:ext cx="2063385" cy="1670778"/>
              </a:xfrm>
              <a:prstGeom prst="rect">
                <a:avLst/>
              </a:prstGeom>
              <a:blipFill rotWithShape="1">
                <a:blip r:embed="rId8"/>
                <a:stretch>
                  <a:fillRect l="-1183" b="-87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6188941" y="3645024"/>
                <a:ext cx="2517036" cy="160659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1" i="1" spc="50" smtClean="0">
                              <a:ln w="11430"/>
                              <a:gradFill>
                                <a:gsLst>
                                  <a:gs pos="25000">
                                    <a:schemeClr val="accent2">
                                      <a:satMod val="155000"/>
                                    </a:schemeClr>
                                  </a:gs>
                                  <a:gs pos="100000">
                                    <a:schemeClr val="accent2">
                                      <a:shade val="45000"/>
                                      <a:satMod val="165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outerShdw blurRad="76200" dist="50800" dir="5400000" algn="tl" rotWithShape="0">
                                  <a:srgbClr val="000000">
                                    <a:alpha val="65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1" i="1" spc="50" smtClean="0">
                              <a:ln w="11430"/>
                              <a:gradFill>
                                <a:gsLst>
                                  <a:gs pos="25000">
                                    <a:schemeClr val="accent2">
                                      <a:satMod val="155000"/>
                                    </a:schemeClr>
                                  </a:gs>
                                  <a:gs pos="100000">
                                    <a:schemeClr val="accent2">
                                      <a:shade val="45000"/>
                                      <a:satMod val="165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outerShdw blurRad="76200" dist="50800" dir="5400000" algn="tl" rotWithShape="0">
                                  <a:srgbClr val="000000">
                                    <a:alpha val="65000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𝒕</m:t>
                          </m:r>
                        </m:num>
                        <m:den>
                          <m:r>
                            <a:rPr lang="en-GB" sz="5400" b="1" i="1" spc="50" smtClean="0">
                              <a:ln w="11430"/>
                              <a:gradFill>
                                <a:gsLst>
                                  <a:gs pos="25000">
                                    <a:schemeClr val="accent2">
                                      <a:satMod val="155000"/>
                                    </a:schemeClr>
                                  </a:gs>
                                  <a:gs pos="100000">
                                    <a:schemeClr val="accent2">
                                      <a:shade val="45000"/>
                                      <a:satMod val="165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outerShdw blurRad="76200" dist="50800" dir="5400000" algn="tl" rotWithShape="0">
                                  <a:srgbClr val="000000">
                                    <a:alpha val="65000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𝟓</m:t>
                          </m:r>
                        </m:den>
                      </m:f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𝟑𝟓</m:t>
                      </m:r>
                    </m:oMath>
                  </m:oMathPara>
                </a14:m>
                <a:endParaRPr lang="en-US" sz="5400" b="1" spc="50" dirty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941" y="3645024"/>
                <a:ext cx="2517036" cy="1606594"/>
              </a:xfrm>
              <a:prstGeom prst="rect">
                <a:avLst/>
              </a:prstGeom>
              <a:blipFill rotWithShape="1">
                <a:blip r:embed="rId9"/>
                <a:stretch>
                  <a:fillRect l="-1211" b="-95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663834" y="4448321"/>
                <a:ext cx="5591595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𝟕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.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𝟕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+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𝟑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𝒖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𝟏𝟖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.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n-US" sz="5400" b="1" spc="50" dirty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34" y="4448321"/>
                <a:ext cx="5591595" cy="92333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-83093" y="3802227"/>
                <a:ext cx="3004349" cy="1645066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5400" b="1" i="1" spc="50" smtClean="0">
                              <a:ln w="11430"/>
                              <a:gradFill>
                                <a:gsLst>
                                  <a:gs pos="25000">
                                    <a:schemeClr val="accent2">
                                      <a:satMod val="155000"/>
                                    </a:schemeClr>
                                  </a:gs>
                                  <a:gs pos="100000">
                                    <a:schemeClr val="accent2">
                                      <a:shade val="45000"/>
                                      <a:satMod val="165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outerShdw blurRad="76200" dist="50800" dir="5400000" algn="tl" rotWithShape="0">
                                  <a:srgbClr val="000000">
                                    <a:alpha val="65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1" i="1" spc="50" smtClean="0">
                              <a:ln w="11430"/>
                              <a:gradFill>
                                <a:gsLst>
                                  <a:gs pos="25000">
                                    <a:schemeClr val="accent2">
                                      <a:satMod val="155000"/>
                                    </a:schemeClr>
                                  </a:gs>
                                  <a:gs pos="100000">
                                    <a:schemeClr val="accent2">
                                      <a:shade val="45000"/>
                                      <a:satMod val="165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outerShdw blurRad="76200" dist="50800" dir="5400000" algn="tl" rotWithShape="0">
                                  <a:srgbClr val="000000">
                                    <a:alpha val="65000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𝟒</m:t>
                          </m:r>
                          <m:r>
                            <a:rPr lang="en-GB" sz="5400" b="1" i="1" spc="50" smtClean="0">
                              <a:ln w="11430"/>
                              <a:gradFill>
                                <a:gsLst>
                                  <a:gs pos="25000">
                                    <a:schemeClr val="accent2">
                                      <a:satMod val="155000"/>
                                    </a:schemeClr>
                                  </a:gs>
                                  <a:gs pos="100000">
                                    <a:schemeClr val="accent2">
                                      <a:shade val="45000"/>
                                      <a:satMod val="165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outerShdw blurRad="76200" dist="50800" dir="5400000" algn="tl" rotWithShape="0">
                                  <a:srgbClr val="000000">
                                    <a:alpha val="65000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𝒖</m:t>
                          </m:r>
                        </m:num>
                        <m:den>
                          <m:r>
                            <a:rPr lang="en-GB" sz="5400" b="1" i="1" spc="50" smtClean="0">
                              <a:ln w="11430"/>
                              <a:gradFill>
                                <a:gsLst>
                                  <a:gs pos="25000">
                                    <a:schemeClr val="accent2">
                                      <a:satMod val="155000"/>
                                    </a:schemeClr>
                                  </a:gs>
                                  <a:gs pos="100000">
                                    <a:schemeClr val="accent2">
                                      <a:shade val="45000"/>
                                      <a:satMod val="165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outerShdw blurRad="76200" dist="50800" dir="5400000" algn="tl" rotWithShape="0">
                                  <a:srgbClr val="000000">
                                    <a:alpha val="65000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en-US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𝟐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  <a:ea typeface="Cambria Math"/>
                        </a:rPr>
                        <m:t>𝒖</m:t>
                      </m:r>
                    </m:oMath>
                  </m:oMathPara>
                </a14:m>
                <a:endParaRPr lang="en-US" sz="5400" b="1" spc="50" dirty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3093" y="3802227"/>
                <a:ext cx="3004349" cy="1645066"/>
              </a:xfrm>
              <a:prstGeom prst="rect">
                <a:avLst/>
              </a:prstGeom>
              <a:blipFill rotWithShape="1">
                <a:blip r:embed="rId11"/>
                <a:stretch>
                  <a:fillRect l="-811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325633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  <p:bldP spid="18" grpId="0"/>
      <p:bldP spid="21" grpId="0"/>
      <p:bldP spid="23" grpId="0"/>
      <p:bldP spid="23" grpId="1"/>
      <p:bldP spid="24" grpId="0"/>
      <p:bldP spid="24" grpId="1"/>
      <p:bldP spid="27" grpId="0"/>
      <p:bldP spid="27" grpId="1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86968-7560-4C08-8A01-B25E79294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Substitution: Exercise book 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013E3-82B8-4B93-955B-95EC7581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a = 4, b = 2 and c = -3 </a:t>
            </a:r>
          </a:p>
          <a:p>
            <a:pPr marL="0" indent="0">
              <a:buNone/>
            </a:pPr>
            <a:r>
              <a:rPr lang="en-US" dirty="0"/>
              <a:t>Substitute and solve: 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a + b + c = </a:t>
            </a: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2a + 2b = </a:t>
            </a:r>
          </a:p>
          <a:p>
            <a:pPr marL="514350" indent="-514350">
              <a:buAutoNum type="alphaLcParenR"/>
            </a:pPr>
            <a:r>
              <a:rPr lang="en-AU" dirty="0"/>
              <a:t>a – c = </a:t>
            </a:r>
          </a:p>
          <a:p>
            <a:pPr marL="514350" indent="-514350">
              <a:buAutoNum type="alphaLcParenR"/>
            </a:pPr>
            <a:r>
              <a:rPr lang="en-AU" dirty="0"/>
              <a:t>9b – c =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335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4" r="20381" b="-1"/>
          <a:stretch/>
        </p:blipFill>
        <p:spPr>
          <a:xfrm>
            <a:off x="0" y="534418"/>
            <a:ext cx="9144000" cy="6376026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980728"/>
            <a:ext cx="91440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rebuchet MS" panose="020B0603020202020204" pitchFamily="34" charset="0"/>
              </a:rPr>
              <a:t>Algebra is a form of maths ‘code’.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818926"/>
            <a:ext cx="9144000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rebuchet MS" panose="020B0603020202020204" pitchFamily="34" charset="0"/>
              </a:rPr>
              <a:t>Sometimes rather than doing a calculation, we want to set a rule.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3068960"/>
            <a:ext cx="9144000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rebuchet MS" panose="020B0603020202020204" pitchFamily="34" charset="0"/>
              </a:rPr>
              <a:t>For instance, adding to a user’s score when they achieve something in a videogame.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9386" y="4365104"/>
            <a:ext cx="9144000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rebuchet MS" pitchFamily="34" charset="0"/>
              </a:rPr>
              <a:t>Think of algebra as the ‘language’ of maths. The word algebra comes from the Arabic, </a:t>
            </a:r>
            <a:r>
              <a:rPr lang="en-GB" sz="2800" i="1" dirty="0">
                <a:latin typeface="Trebuchet MS" pitchFamily="34" charset="0"/>
              </a:rPr>
              <a:t>al-</a:t>
            </a:r>
            <a:r>
              <a:rPr lang="en-GB" sz="2800" i="1" dirty="0" err="1">
                <a:latin typeface="Trebuchet MS" pitchFamily="34" charset="0"/>
              </a:rPr>
              <a:t>jabr</a:t>
            </a:r>
            <a:r>
              <a:rPr lang="en-GB" sz="2800" i="1" dirty="0">
                <a:latin typeface="Trebuchet MS" pitchFamily="34" charset="0"/>
              </a:rPr>
              <a:t>, </a:t>
            </a:r>
            <a:r>
              <a:rPr lang="en-GB" sz="2800" dirty="0">
                <a:latin typeface="Trebuchet MS" pitchFamily="34" charset="0"/>
              </a:rPr>
              <a:t>meaning “the  reunion of broken parts”.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9904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62068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rebuchet MS" panose="020B0603020202020204" pitchFamily="34" charset="0"/>
              </a:rPr>
              <a:t>‘Four more than a number’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0" y="1556792"/>
                <a:ext cx="9144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r>
                        <a:rPr lang="en-GB" sz="2800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+4</m:t>
                      </m:r>
                    </m:oMath>
                  </m:oMathPara>
                </a14:m>
                <a:endParaRPr lang="en-GB" sz="2800" dirty="0">
                  <a:solidFill>
                    <a:srgbClr val="FF0000"/>
                  </a:solidFill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56792"/>
                <a:ext cx="9144000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Up Arrow 1"/>
          <p:cNvSpPr/>
          <p:nvPr/>
        </p:nvSpPr>
        <p:spPr>
          <a:xfrm rot="3400635">
            <a:off x="3310858" y="1759432"/>
            <a:ext cx="432048" cy="117855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564904"/>
            <a:ext cx="1893807" cy="20608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ular Callout 7"/>
              <p:cNvSpPr/>
              <p:nvPr/>
            </p:nvSpPr>
            <p:spPr>
              <a:xfrm>
                <a:off x="2555776" y="2783131"/>
                <a:ext cx="6120680" cy="1437957"/>
              </a:xfrm>
              <a:prstGeom prst="wedgeRectCallout">
                <a:avLst>
                  <a:gd name="adj1" fmla="val -61280"/>
                  <a:gd name="adj2" fmla="val -16712"/>
                </a:avLst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GB" sz="2000" dirty="0">
                    <a:latin typeface="Trebuchet MS" pitchFamily="34" charset="0"/>
                  </a:rPr>
                  <a:t>This letter doesn’t have to be n. It could be any letter or symbol. People often use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.We could write   </a:t>
                </a:r>
              </a:p>
              <a:p>
                <a:r>
                  <a:rPr lang="en-GB" sz="2000" dirty="0">
                    <a:latin typeface="Trebuchet MS" pitchFamily="34" charset="0"/>
                    <a:sym typeface="Wingdings"/>
                  </a:rPr>
                  <a:t></a:t>
                </a:r>
                <a:r>
                  <a:rPr lang="en-GB" sz="2000" dirty="0">
                    <a:latin typeface="Trebuchet MS" pitchFamily="34" charset="0"/>
                  </a:rPr>
                  <a:t>+4 . We’re not going to, though. </a:t>
                </a:r>
              </a:p>
            </p:txBody>
          </p:sp>
        </mc:Choice>
        <mc:Fallback xmlns="">
          <p:sp>
            <p:nvSpPr>
              <p:cNvPr id="8" name="Rectangular Callou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2783131"/>
                <a:ext cx="6120680" cy="1437957"/>
              </a:xfrm>
              <a:prstGeom prst="wedgeRectCallout">
                <a:avLst>
                  <a:gd name="adj1" fmla="val -61280"/>
                  <a:gd name="adj2" fmla="val -16712"/>
                </a:avLst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0" y="472514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4"/>
                </a:solidFill>
                <a:latin typeface="Trebuchet MS" panose="020B0603020202020204" pitchFamily="34" charset="0"/>
              </a:rPr>
              <a:t>Write the following sentences algebraically.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0" y="5392380"/>
                <a:ext cx="413794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latin typeface="Trebuchet MS" panose="020B0603020202020204" pitchFamily="34" charset="0"/>
                  </a:rPr>
                  <a:t>A number add 6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𝑛</m:t>
                    </m:r>
                    <m:r>
                      <a:rPr lang="en-GB" sz="2800" b="0" i="1" smtClean="0">
                        <a:latin typeface="Cambria Math"/>
                      </a:rPr>
                      <m:t>+6</m:t>
                    </m:r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  <a:p>
                <a:r>
                  <a:rPr lang="en-GB" sz="2800" dirty="0">
                    <a:latin typeface="Trebuchet MS" panose="020B0603020202020204" pitchFamily="34" charset="0"/>
                  </a:rPr>
                  <a:t>A number add 10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/>
                      </a:rPr>
                      <m:t>𝑛</m:t>
                    </m:r>
                    <m:r>
                      <a:rPr lang="en-GB" sz="2800" i="1">
                        <a:latin typeface="Cambria Math"/>
                      </a:rPr>
                      <m:t>+10</m:t>
                    </m:r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92380"/>
                <a:ext cx="4137948" cy="954107"/>
              </a:xfrm>
              <a:prstGeom prst="rect">
                <a:avLst/>
              </a:prstGeom>
              <a:blipFill rotWithShape="1">
                <a:blip r:embed="rId6"/>
                <a:stretch>
                  <a:fillRect l="-2946" t="-5769" b="-179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222196" y="5392379"/>
                <a:ext cx="492180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latin typeface="Trebuchet MS" panose="020B0603020202020204" pitchFamily="34" charset="0"/>
                  </a:rPr>
                  <a:t>A number subtract 10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𝑛</m:t>
                    </m:r>
                    <m:r>
                      <a:rPr lang="en-GB" sz="2800" b="0" i="1" smtClean="0">
                        <a:latin typeface="Cambria Math"/>
                      </a:rPr>
                      <m:t>−10</m:t>
                    </m:r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  <a:p>
                <a:r>
                  <a:rPr lang="en-GB" sz="2800" dirty="0">
                    <a:latin typeface="Trebuchet MS" panose="020B0603020202020204" pitchFamily="34" charset="0"/>
                  </a:rPr>
                  <a:t>8 subtract a number </a:t>
                </a:r>
                <a14:m>
                  <m:oMath xmlns:m="http://schemas.openxmlformats.org/officeDocument/2006/math">
                    <m:r>
                      <a:rPr lang="en-GB" sz="2800" dirty="0">
                        <a:latin typeface="Cambria Math"/>
                      </a:rPr>
                      <m:t>8</m:t>
                    </m:r>
                    <m:r>
                      <a:rPr lang="en-GB" sz="2800" b="0" i="0" dirty="0" smtClean="0">
                        <a:latin typeface="Cambria Math"/>
                      </a:rPr>
                      <m:t>−</m:t>
                    </m:r>
                    <m:r>
                      <a:rPr lang="en-GB" sz="2800" i="1">
                        <a:latin typeface="Cambria Math"/>
                      </a:rPr>
                      <m:t>𝑛</m:t>
                    </m:r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196" y="5392379"/>
                <a:ext cx="4921803" cy="954107"/>
              </a:xfrm>
              <a:prstGeom prst="rect">
                <a:avLst/>
              </a:prstGeom>
              <a:blipFill rotWithShape="1">
                <a:blip r:embed="rId7"/>
                <a:stretch>
                  <a:fillRect l="-2602" t="-5769" b="-179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2660037" y="5492406"/>
            <a:ext cx="1263891" cy="37702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74057" y="5875439"/>
            <a:ext cx="1263891" cy="37702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80109" y="5428334"/>
            <a:ext cx="1084380" cy="44109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92076" y="5905389"/>
            <a:ext cx="1084380" cy="44109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6151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7" grpId="0"/>
      <p:bldP spid="2" grpId="0" animBg="1"/>
      <p:bldP spid="8" grpId="0" animBg="1"/>
      <p:bldP spid="10" grpId="0"/>
      <p:bldP spid="11" grpId="0"/>
      <p:bldP spid="12" grpId="0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62068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rebuchet MS" panose="020B0603020202020204" pitchFamily="34" charset="0"/>
              </a:rPr>
              <a:t>‘Four lots of a number’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0" y="1268760"/>
                <a:ext cx="9144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4</m:t>
                      </m:r>
                      <m:r>
                        <a:rPr lang="en-GB" sz="2800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GB" sz="2800" dirty="0">
                  <a:solidFill>
                    <a:srgbClr val="FF0000"/>
                  </a:solidFill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268760"/>
                <a:ext cx="9144000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08" y="1844824"/>
            <a:ext cx="1893807" cy="20608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ular Callout 7"/>
              <p:cNvSpPr/>
              <p:nvPr/>
            </p:nvSpPr>
            <p:spPr>
              <a:xfrm>
                <a:off x="2555776" y="1939144"/>
                <a:ext cx="6120680" cy="1201824"/>
              </a:xfrm>
              <a:prstGeom prst="wedgeRectCallout">
                <a:avLst>
                  <a:gd name="adj1" fmla="val -61280"/>
                  <a:gd name="adj2" fmla="val -16712"/>
                </a:avLst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GB" sz="2000" dirty="0">
                    <a:latin typeface="Trebuchet MS" pitchFamily="34" charset="0"/>
                  </a:rPr>
                  <a:t>We don’t tend to use the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symbol in algebra. Instead we write things next to each other to show multiplication. </a:t>
                </a:r>
              </a:p>
            </p:txBody>
          </p:sp>
        </mc:Choice>
        <mc:Fallback xmlns="">
          <p:sp>
            <p:nvSpPr>
              <p:cNvPr id="8" name="Rectangular Callou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1939144"/>
                <a:ext cx="6120680" cy="1201824"/>
              </a:xfrm>
              <a:prstGeom prst="wedgeRectCallout">
                <a:avLst>
                  <a:gd name="adj1" fmla="val -61280"/>
                  <a:gd name="adj2" fmla="val -16712"/>
                </a:avLst>
              </a:prstGeom>
              <a:blipFill rotWithShape="1">
                <a:blip r:embed="rId5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0" y="400506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4"/>
                </a:solidFill>
                <a:latin typeface="Trebuchet MS" panose="020B0603020202020204" pitchFamily="34" charset="0"/>
              </a:rPr>
              <a:t>Write the following sentences algebraically.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-15523" y="4509120"/>
                <a:ext cx="5163588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latin typeface="Trebuchet MS" panose="020B0603020202020204" pitchFamily="34" charset="0"/>
                  </a:rPr>
                  <a:t>A number multiplied by 6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6</m:t>
                    </m:r>
                    <m:r>
                      <a:rPr lang="en-GB" sz="2800" b="0" i="1" smtClean="0">
                        <a:latin typeface="Cambria Math"/>
                      </a:rPr>
                      <m:t>𝑛</m:t>
                    </m:r>
                  </m:oMath>
                </a14:m>
                <a:endParaRPr lang="en-GB" sz="2800" b="0" dirty="0">
                  <a:latin typeface="Trebuchet MS" panose="020B0603020202020204" pitchFamily="34" charset="0"/>
                </a:endParaRPr>
              </a:p>
              <a:p>
                <a:r>
                  <a:rPr lang="en-GB" sz="2800" dirty="0">
                    <a:latin typeface="Trebuchet MS" panose="020B0603020202020204" pitchFamily="34" charset="0"/>
                  </a:rPr>
                  <a:t>A number multiplied by 10 </a:t>
                </a:r>
                <a14:m>
                  <m:oMath xmlns:m="http://schemas.openxmlformats.org/officeDocument/2006/math">
                    <m:r>
                      <a:rPr lang="en-GB" sz="2800" b="0" i="0" smtClean="0">
                        <a:latin typeface="Cambria Math"/>
                      </a:rPr>
                      <m:t>10</m:t>
                    </m:r>
                    <m:r>
                      <a:rPr lang="en-GB" sz="2800" i="1">
                        <a:latin typeface="Cambria Math"/>
                      </a:rPr>
                      <m:t>𝑛</m:t>
                    </m:r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 multiplied by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b="0" i="1" dirty="0" smtClean="0">
                        <a:latin typeface="Cambria Math"/>
                      </a:rPr>
                      <m:t>𝑎𝑏</m:t>
                    </m:r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4</m:t>
                    </m:r>
                    <m:r>
                      <a:rPr lang="en-GB" sz="2800" b="0" i="1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 multiplied by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/>
                      </a:rPr>
                      <m:t>𝑏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b="0" i="0" dirty="0" smtClean="0">
                        <a:latin typeface="Cambria Math"/>
                      </a:rPr>
                      <m:t>4</m:t>
                    </m:r>
                    <m:r>
                      <a:rPr lang="en-GB" sz="2800" i="1" dirty="0">
                        <a:latin typeface="Cambria Math"/>
                      </a:rPr>
                      <m:t>𝑎𝑏</m:t>
                    </m:r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GB" sz="2800" i="1" smtClean="0">
                        <a:latin typeface="Cambria Math"/>
                      </a:rPr>
                      <m:t>2</m:t>
                    </m:r>
                    <m:r>
                      <a:rPr lang="en-GB" sz="2800" i="1">
                        <a:latin typeface="Cambria Math"/>
                      </a:rPr>
                      <m:t>𝑎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 multiplied by </a:t>
                </a:r>
                <a14:m>
                  <m:oMath xmlns:m="http://schemas.openxmlformats.org/officeDocument/2006/math">
                    <m:r>
                      <a:rPr lang="en-GB" sz="2800" b="0" i="0" smtClean="0">
                        <a:latin typeface="Cambria Math"/>
                      </a:rPr>
                      <m:t>2</m:t>
                    </m:r>
                    <m:r>
                      <a:rPr lang="en-GB" sz="2800" i="1">
                        <a:latin typeface="Cambria Math"/>
                      </a:rPr>
                      <m:t>𝑏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dirty="0">
                        <a:latin typeface="Cambria Math"/>
                      </a:rPr>
                      <m:t>4</m:t>
                    </m:r>
                    <m:r>
                      <a:rPr lang="en-GB" sz="2800" i="1" dirty="0">
                        <a:latin typeface="Cambria Math"/>
                      </a:rPr>
                      <m:t>𝑎𝑏</m:t>
                    </m:r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523" y="4509120"/>
                <a:ext cx="5163588" cy="2246769"/>
              </a:xfrm>
              <a:prstGeom prst="rect">
                <a:avLst/>
              </a:prstGeom>
              <a:blipFill rotWithShape="1">
                <a:blip r:embed="rId6"/>
                <a:stretch>
                  <a:fillRect l="-2361" t="-2446" b="-70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4172205" y="4581128"/>
            <a:ext cx="1263891" cy="37702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6221" y="4996190"/>
            <a:ext cx="1263891" cy="37702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08314" y="5443991"/>
            <a:ext cx="1263891" cy="37702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71103" y="5877272"/>
            <a:ext cx="1263891" cy="37702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08109" y="6309320"/>
            <a:ext cx="1263891" cy="37702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061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17" grpId="0"/>
      <p:bldP spid="8" grpId="0" animBg="1"/>
      <p:bldP spid="10" grpId="0"/>
      <p:bldP spid="11" grpId="0"/>
      <p:bldP spid="14" grpId="0" animBg="1"/>
      <p:bldP spid="1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62068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rebuchet MS" panose="020B0603020202020204" pitchFamily="34" charset="0"/>
              </a:rPr>
              <a:t>‘A number divided by 5’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0" y="1268760"/>
                <a:ext cx="9144000" cy="827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GB" sz="28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800" dirty="0">
                  <a:solidFill>
                    <a:srgbClr val="FF0000"/>
                  </a:solidFill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268760"/>
                <a:ext cx="9144000" cy="82747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01" y="2276872"/>
            <a:ext cx="1485787" cy="1616839"/>
          </a:xfrm>
          <a:prstGeom prst="rect">
            <a:avLst/>
          </a:prstGeom>
        </p:spPr>
      </p:pic>
      <p:sp>
        <p:nvSpPr>
          <p:cNvPr id="8" name="Rectangular Callout 7"/>
          <p:cNvSpPr/>
          <p:nvPr/>
        </p:nvSpPr>
        <p:spPr>
          <a:xfrm>
            <a:off x="2411760" y="2540056"/>
            <a:ext cx="6120680" cy="767240"/>
          </a:xfrm>
          <a:prstGeom prst="wedgeRectCallout">
            <a:avLst>
              <a:gd name="adj1" fmla="val -61280"/>
              <a:gd name="adj2" fmla="val -16712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GB" sz="2000" dirty="0">
                <a:latin typeface="Trebuchet MS" pitchFamily="34" charset="0"/>
              </a:rPr>
              <a:t>We tend not to use ÷ in expressions. We use fraction notation (writing a division as a fraction).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4109" y="400506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4"/>
                </a:solidFill>
                <a:latin typeface="Trebuchet MS" panose="020B0603020202020204" pitchFamily="34" charset="0"/>
              </a:rPr>
              <a:t>Write the following sentences algebraically.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-36710" y="4545000"/>
                <a:ext cx="5163588" cy="1747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latin typeface="Trebuchet MS" panose="020B0603020202020204" pitchFamily="34" charset="0"/>
                  </a:rPr>
                  <a:t>A number divided by 6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/>
                          </a:rPr>
                          <m:t>𝑛</m:t>
                        </m:r>
                      </m:num>
                      <m:den>
                        <m:r>
                          <a:rPr lang="en-GB" sz="2800" b="0" i="1" smtClean="0">
                            <a:latin typeface="Cambria Math"/>
                          </a:rPr>
                          <m:t>6</m:t>
                        </m:r>
                      </m:den>
                    </m:f>
                  </m:oMath>
                </a14:m>
                <a:endParaRPr lang="en-GB" sz="2800" b="0" dirty="0">
                  <a:latin typeface="Trebuchet MS" panose="020B0603020202020204" pitchFamily="34" charset="0"/>
                </a:endParaRPr>
              </a:p>
              <a:p>
                <a:br>
                  <a:rPr lang="en-GB" sz="2800" dirty="0">
                    <a:latin typeface="Trebuchet MS" panose="020B0603020202020204" pitchFamily="34" charset="0"/>
                  </a:rPr>
                </a:br>
                <a:r>
                  <a:rPr lang="en-GB" sz="2800" dirty="0">
                    <a:latin typeface="Trebuchet MS" panose="020B0603020202020204" pitchFamily="34" charset="0"/>
                  </a:rPr>
                  <a:t>6 divided by a number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/>
                          </a:rPr>
                          <m:t>6</m:t>
                        </m:r>
                      </m:num>
                      <m:den>
                        <m:r>
                          <a:rPr lang="en-GB" sz="2800" b="0" i="1" smtClean="0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710" y="4545000"/>
                <a:ext cx="5163588" cy="1747530"/>
              </a:xfrm>
              <a:prstGeom prst="rect">
                <a:avLst/>
              </a:prstGeom>
              <a:blipFill rotWithShape="1">
                <a:blip r:embed="rId5"/>
                <a:stretch>
                  <a:fillRect l="-2479" t="-699" b="-13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3717290" y="4559557"/>
            <a:ext cx="432048" cy="68452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17290" y="5607744"/>
            <a:ext cx="432048" cy="68452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6815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7" grpId="0"/>
      <p:bldP spid="8" grpId="0" animBg="1"/>
      <p:bldP spid="10" grpId="0"/>
      <p:bldP spid="11" grpId="0"/>
      <p:bldP spid="14" grpId="0" animBg="1"/>
      <p:bldP spid="14" grpId="1" animBg="1"/>
      <p:bldP spid="15" grpId="0" animBg="1"/>
      <p:bldP spid="15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ular Callout 1"/>
          <p:cNvSpPr/>
          <p:nvPr/>
        </p:nvSpPr>
        <p:spPr>
          <a:xfrm>
            <a:off x="2619240" y="651566"/>
            <a:ext cx="5985208" cy="1872208"/>
          </a:xfrm>
          <a:prstGeom prst="wedgeRoundRectCallout">
            <a:avLst>
              <a:gd name="adj1" fmla="val -55146"/>
              <a:gd name="adj2" fmla="val 27335"/>
              <a:gd name="adj3" fmla="val 16667"/>
            </a:avLst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rebuchet MS" charset="0"/>
                <a:ea typeface="Trebuchet MS" charset="0"/>
                <a:cs typeface="Trebuchet MS" charset="0"/>
              </a:rPr>
              <a:t>There are names for different parts of an equation. It’s a good idea to learn them.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620688"/>
            <a:ext cx="2439728" cy="21328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586080" y="3284984"/>
                <a:ext cx="4564455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latin typeface="Cambria Math" charset="0"/>
                        </a:rPr>
                        <m:t>7</m:t>
                      </m:r>
                      <m:r>
                        <a:rPr lang="en-GB" sz="7200" b="0" i="1" smtClean="0">
                          <a:latin typeface="Cambria Math" charset="0"/>
                        </a:rPr>
                        <m:t>𝑥</m:t>
                      </m:r>
                      <m:r>
                        <a:rPr lang="en-GB" sz="7200" b="0" i="1" smtClean="0">
                          <a:latin typeface="Cambria Math" charset="0"/>
                        </a:rPr>
                        <m:t>−4=7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080" y="3284984"/>
                <a:ext cx="4564455" cy="110799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79512" y="4725144"/>
            <a:ext cx="3600400" cy="707886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latin typeface="Trebuchet MS" charset="0"/>
                <a:ea typeface="Trebuchet MS" charset="0"/>
                <a:cs typeface="Trebuchet MS" charset="0"/>
              </a:rPr>
              <a:t>Coefficient (the number used to multiply a variable) </a:t>
            </a:r>
          </a:p>
        </p:txBody>
      </p:sp>
      <p:cxnSp>
        <p:nvCxnSpPr>
          <p:cNvPr id="16" name="Straight Arrow Connector 15"/>
          <p:cNvCxnSpPr>
            <a:stCxn id="12" idx="0"/>
            <a:endCxn id="9" idx="1"/>
          </p:cNvCxnSpPr>
          <p:nvPr/>
        </p:nvCxnSpPr>
        <p:spPr>
          <a:xfrm flipV="1">
            <a:off x="1979712" y="3838982"/>
            <a:ext cx="606368" cy="886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59632" y="5681081"/>
            <a:ext cx="5976664" cy="707886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latin typeface="Trebuchet MS" charset="0"/>
                <a:ea typeface="Trebuchet MS" charset="0"/>
                <a:cs typeface="Trebuchet MS" charset="0"/>
              </a:rPr>
              <a:t>Pronumeral : a symbol for something we don’t know or something that can change. 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3696197" y="4282063"/>
            <a:ext cx="947811" cy="1399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995936" y="2640018"/>
                <a:ext cx="2808312" cy="415195"/>
              </a:xfrm>
              <a:prstGeom prst="rect">
                <a:avLst/>
              </a:prstGeom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rebuchet MS" charset="0"/>
                    <a:ea typeface="Trebuchet MS" charset="0"/>
                    <a:cs typeface="Trebuchet MS" charset="0"/>
                  </a:rPr>
                  <a:t>Operator (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×÷</m:t>
                    </m:r>
                    <m:r>
                      <a:rPr lang="en-GB" sz="20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r>
                      <a:rPr lang="en-GB" sz="20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𝑜𝑟</m:t>
                    </m:r>
                    <m:r>
                      <a:rPr lang="en-GB" sz="20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−</m:t>
                    </m:r>
                  </m:oMath>
                </a14:m>
                <a:r>
                  <a:rPr lang="en-US" sz="2000" dirty="0">
                    <a:latin typeface="Trebuchet MS" charset="0"/>
                    <a:ea typeface="Trebuchet MS" charset="0"/>
                    <a:cs typeface="Trebuchet MS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2640018"/>
                <a:ext cx="2808312" cy="415195"/>
              </a:xfrm>
              <a:prstGeom prst="rect">
                <a:avLst/>
              </a:prstGeom>
              <a:blipFill rotWithShape="0">
                <a:blip r:embed="rId6"/>
                <a:stretch>
                  <a:fillRect l="-204"/>
                </a:stretch>
              </a:blipFill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>
            <a:stCxn id="22" idx="2"/>
          </p:cNvCxnSpPr>
          <p:nvPr/>
        </p:nvCxnSpPr>
        <p:spPr>
          <a:xfrm flipH="1">
            <a:off x="4142527" y="3055213"/>
            <a:ext cx="1257565" cy="659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982580" y="4653136"/>
            <a:ext cx="3981907" cy="707886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000" dirty="0">
                <a:latin typeface="Trebuchet MS" charset="0"/>
                <a:ea typeface="Trebuchet MS" charset="0"/>
                <a:cs typeface="Trebuchet MS" charset="0"/>
              </a:rPr>
              <a:t>A constant (something that doesn’t change). </a:t>
            </a:r>
            <a:endParaRPr lang="en-US" sz="20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 flipH="1" flipV="1">
            <a:off x="6850986" y="4282063"/>
            <a:ext cx="169286" cy="371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 flipV="1">
            <a:off x="5022645" y="4302804"/>
            <a:ext cx="2035531" cy="350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610833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620688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Trebuchet MS" panose="020B0603020202020204" pitchFamily="34" charset="0"/>
              </a:rPr>
              <a:t>Match the words to the algebra. Which piece of algebra code didn’t get matched? Write that code in English.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26277" y="1450519"/>
                <a:ext cx="2573515" cy="3477875"/>
              </a:xfrm>
              <a:prstGeom prst="rect">
                <a:avLst/>
              </a:prstGeom>
              <a:ln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Multiply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by 4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Divide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  <m:r>
                      <a:rPr lang="en-GB" sz="2000" i="1">
                        <a:latin typeface="Cambria Math"/>
                      </a:rPr>
                      <m:t> 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by 4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Add 7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endParaRPr lang="en-GB" sz="2000" dirty="0">
                  <a:latin typeface="Trebuchet MS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Subtract 8 from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endParaRPr lang="en-GB" sz="2000" b="0" dirty="0">
                  <a:latin typeface="Trebuchet MS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Subtract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from 8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Multiply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by 8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Divide 4 by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/>
                      </a:rPr>
                      <m:t>𝑛</m:t>
                    </m:r>
                  </m:oMath>
                </a14:m>
                <a:endParaRPr lang="en-GB" sz="2000" dirty="0">
                  <a:latin typeface="Trebuchet MS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Multiply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by 2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Square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endParaRPr lang="en-GB" sz="2000" dirty="0">
                  <a:latin typeface="Trebuchet MS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 Share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into 5 sections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77" y="1450519"/>
                <a:ext cx="2573515" cy="3477875"/>
              </a:xfrm>
              <a:prstGeom prst="rect">
                <a:avLst/>
              </a:prstGeom>
              <a:blipFill rotWithShape="1">
                <a:blip r:embed="rId4"/>
                <a:stretch>
                  <a:fillRect l="-1878" t="-697" r="-469" b="-1742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258280" y="6228957"/>
                <a:ext cx="843349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4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8280" y="6228957"/>
                <a:ext cx="843349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412425" y="5800241"/>
                <a:ext cx="843349" cy="56489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2425" y="5800241"/>
                <a:ext cx="843349" cy="564898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1305022" y="6228957"/>
                <a:ext cx="845323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+7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022" y="6228957"/>
                <a:ext cx="845323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375540" y="6228957"/>
                <a:ext cx="956486" cy="56489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+3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540" y="6228957"/>
                <a:ext cx="956486" cy="564898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2843808" y="1450518"/>
                <a:ext cx="2949068" cy="3477875"/>
              </a:xfrm>
              <a:prstGeom prst="rect">
                <a:avLst/>
              </a:prstGeom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Divide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  <m:r>
                      <a:rPr lang="en-GB" sz="2000" i="1">
                        <a:latin typeface="Cambria Math"/>
                      </a:rPr>
                      <m:t> 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by 4 then add 3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Add 4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then divide by 3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Add 4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, then multiply by 3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Add 3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, then multiply by 4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Add 3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then divide by 4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GB" sz="2000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808" y="1450518"/>
                <a:ext cx="2949068" cy="3477875"/>
              </a:xfrm>
              <a:prstGeom prst="rect">
                <a:avLst/>
              </a:prstGeom>
              <a:blipFill rotWithShape="1">
                <a:blip r:embed="rId9"/>
                <a:stretch>
                  <a:fillRect l="-1643" t="-697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911262" y="1450519"/>
                <a:ext cx="3125234" cy="3477875"/>
              </a:xfrm>
              <a:prstGeom prst="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Multiply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by 2, add 3 and then multiply the whole lot by 5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Divide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by 5, then multiply by 2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Subtract 5 from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, then divide by 3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Subtract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5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, then divide by 3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Square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, add 4, then divide by 3</a:t>
                </a: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262" y="1450519"/>
                <a:ext cx="3125234" cy="3477875"/>
              </a:xfrm>
              <a:prstGeom prst="rect">
                <a:avLst/>
              </a:prstGeom>
              <a:blipFill rotWithShape="1">
                <a:blip r:embed="rId10"/>
                <a:stretch>
                  <a:fillRect l="-1550" t="-697" r="-388" b="-1742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116738" y="6228957"/>
                <a:ext cx="1080120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8−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38" y="6228957"/>
                <a:ext cx="1080120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3101629" y="5544645"/>
                <a:ext cx="843349" cy="60991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629" y="5544645"/>
                <a:ext cx="843349" cy="609911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4947726" y="5071037"/>
                <a:ext cx="899918" cy="36850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8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726" y="5071037"/>
                <a:ext cx="899918" cy="36850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3707904" y="5071037"/>
                <a:ext cx="1080120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8−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5071037"/>
                <a:ext cx="1080120" cy="369332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126277" y="5071037"/>
                <a:ext cx="843349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/>
                        </a:rPr>
                        <m:t>2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77" y="5071037"/>
                <a:ext cx="843349" cy="369332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3183683" y="6228957"/>
                <a:ext cx="843349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683" y="6228957"/>
                <a:ext cx="843349" cy="369332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4050862" y="5566253"/>
                <a:ext cx="843349" cy="566694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862" y="5566253"/>
                <a:ext cx="843349" cy="566694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967945" y="5052730"/>
                <a:ext cx="843349" cy="60991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+4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7945" y="5052730"/>
                <a:ext cx="843349" cy="609911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483768" y="5071037"/>
                <a:ext cx="1080120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3(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+4)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5071037"/>
                <a:ext cx="1080120" cy="369332"/>
              </a:xfrm>
              <a:prstGeom prst="rect">
                <a:avLst/>
              </a:prstGeom>
              <a:blipFill rotWithShape="1">
                <a:blip r:embed="rId19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139952" y="6225444"/>
                <a:ext cx="1080120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/>
                        </a:rPr>
                        <m:t>4</m:t>
                      </m:r>
                      <m:r>
                        <a:rPr lang="en-GB" b="0" i="1" smtClean="0">
                          <a:latin typeface="Cambria Math"/>
                        </a:rPr>
                        <m:t>(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+3)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6225444"/>
                <a:ext cx="1080120" cy="369332"/>
              </a:xfrm>
              <a:prstGeom prst="rect">
                <a:avLst/>
              </a:prstGeom>
              <a:blipFill rotWithShape="1">
                <a:blip r:embed="rId20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5004295" y="5544645"/>
                <a:ext cx="843349" cy="60991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+3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295" y="5544645"/>
                <a:ext cx="843349" cy="609911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115616" y="5071037"/>
                <a:ext cx="1224136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5</m:t>
                      </m:r>
                      <m:r>
                        <a:rPr lang="en-GB" b="0" i="1" smtClean="0">
                          <a:latin typeface="Cambria Math"/>
                        </a:rPr>
                        <m:t>(2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+3)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5071037"/>
                <a:ext cx="1224136" cy="369332"/>
              </a:xfrm>
              <a:prstGeom prst="rect">
                <a:avLst/>
              </a:prstGeom>
              <a:blipFill rotWithShape="1">
                <a:blip r:embed="rId22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196858" y="5544645"/>
                <a:ext cx="843349" cy="56489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2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858" y="5544645"/>
                <a:ext cx="843349" cy="564898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464955" y="5800387"/>
                <a:ext cx="843349" cy="63658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5−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955" y="5800387"/>
                <a:ext cx="843349" cy="636585"/>
              </a:xfrm>
              <a:prstGeom prst="rect">
                <a:avLst/>
              </a:prstGeom>
              <a:blipFill rotWithShape="1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887661" y="5071037"/>
                <a:ext cx="843349" cy="61831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−5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661" y="5071037"/>
                <a:ext cx="843349" cy="618311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126277" y="5513289"/>
                <a:ext cx="843349" cy="67262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/>
                            </a:rPr>
                            <m:t>+4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77" y="5513289"/>
                <a:ext cx="843349" cy="672620"/>
              </a:xfrm>
              <a:prstGeom prst="rect">
                <a:avLst/>
              </a:prstGeom>
              <a:blipFill rotWithShape="1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150345" y="5523036"/>
                <a:ext cx="843349" cy="61831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+5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345" y="5523036"/>
                <a:ext cx="843349" cy="618311"/>
              </a:xfrm>
              <a:prstGeom prst="rect">
                <a:avLst/>
              </a:prstGeom>
              <a:blipFill rotWithShape="1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84257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620688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Trebuchet MS" panose="020B0603020202020204" pitchFamily="34" charset="0"/>
              </a:rPr>
              <a:t>Match the words to the algebra. Which piece of algebra code didn’t get matched? Write that code in English.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26277" y="1450519"/>
                <a:ext cx="2573515" cy="3477875"/>
              </a:xfrm>
              <a:prstGeom prst="rect">
                <a:avLst/>
              </a:prstGeom>
              <a:ln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Multiply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by 4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Divide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  <m:r>
                      <a:rPr lang="en-GB" sz="2000" i="1">
                        <a:latin typeface="Cambria Math"/>
                      </a:rPr>
                      <m:t> 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by 4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Add 7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endParaRPr lang="en-GB" sz="2000" dirty="0">
                  <a:latin typeface="Trebuchet MS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Subtract 8 from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endParaRPr lang="en-GB" sz="2000" b="0" dirty="0">
                  <a:latin typeface="Trebuchet MS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Subtract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from 8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Multiply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by 8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Divide 4 by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/>
                      </a:rPr>
                      <m:t>𝑛</m:t>
                    </m:r>
                  </m:oMath>
                </a14:m>
                <a:endParaRPr lang="en-GB" sz="2000" dirty="0">
                  <a:latin typeface="Trebuchet MS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Multiply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by 2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Square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endParaRPr lang="en-GB" sz="2000" dirty="0">
                  <a:latin typeface="Trebuchet MS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 Share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into 5 sections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77" y="1450519"/>
                <a:ext cx="2573515" cy="3477875"/>
              </a:xfrm>
              <a:prstGeom prst="rect">
                <a:avLst/>
              </a:prstGeom>
              <a:blipFill rotWithShape="1">
                <a:blip r:embed="rId3"/>
                <a:stretch>
                  <a:fillRect l="-1878" t="-697" r="-469" b="-1742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258280" y="6228957"/>
                <a:ext cx="843349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4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8280" y="6228957"/>
                <a:ext cx="843349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412425" y="5800241"/>
                <a:ext cx="843349" cy="56489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2425" y="5800241"/>
                <a:ext cx="843349" cy="56489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1305022" y="6228957"/>
                <a:ext cx="845323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+7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022" y="6228957"/>
                <a:ext cx="845323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375540" y="6228957"/>
                <a:ext cx="956486" cy="56489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+3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540" y="6228957"/>
                <a:ext cx="956486" cy="564898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2843808" y="1450518"/>
                <a:ext cx="2949068" cy="3477875"/>
              </a:xfrm>
              <a:prstGeom prst="rect">
                <a:avLst/>
              </a:prstGeom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Divide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  <m:r>
                      <a:rPr lang="en-GB" sz="2000" i="1">
                        <a:latin typeface="Cambria Math"/>
                      </a:rPr>
                      <m:t> 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by 4 then add 3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Add 4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then divide by 3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Add 4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, then multiply by 3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Add 3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, then multiply by 4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Add 3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then divide by 4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GB" sz="2000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808" y="1450518"/>
                <a:ext cx="2949068" cy="3477875"/>
              </a:xfrm>
              <a:prstGeom prst="rect">
                <a:avLst/>
              </a:prstGeom>
              <a:blipFill rotWithShape="1">
                <a:blip r:embed="rId8"/>
                <a:stretch>
                  <a:fillRect l="-1643" t="-697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911262" y="1450519"/>
                <a:ext cx="3125234" cy="3477875"/>
              </a:xfrm>
              <a:prstGeom prst="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Multiply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by 2, add 3 and then multiply the whole lot by 5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Divide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by 5, then multiply by 2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Subtract 5 from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, then divide by 3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Subtract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5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, then divide by 3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Square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, add 4, then divide by 3</a:t>
                </a: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262" y="1450519"/>
                <a:ext cx="3125234" cy="3477875"/>
              </a:xfrm>
              <a:prstGeom prst="rect">
                <a:avLst/>
              </a:prstGeom>
              <a:blipFill rotWithShape="1">
                <a:blip r:embed="rId9"/>
                <a:stretch>
                  <a:fillRect l="-1550" t="-697" r="-388" b="-1742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116738" y="6228957"/>
                <a:ext cx="1080120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8−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38" y="6228957"/>
                <a:ext cx="1080120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3101629" y="5544645"/>
                <a:ext cx="843349" cy="60991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629" y="5544645"/>
                <a:ext cx="843349" cy="609911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4947726" y="5071037"/>
                <a:ext cx="899918" cy="36850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8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726" y="5071037"/>
                <a:ext cx="899918" cy="36850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3707904" y="5071037"/>
                <a:ext cx="1080120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8−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5071037"/>
                <a:ext cx="1080120" cy="369332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126277" y="5071037"/>
                <a:ext cx="843349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/>
                        </a:rPr>
                        <m:t>2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77" y="5071037"/>
                <a:ext cx="843349" cy="369332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3183683" y="6228957"/>
                <a:ext cx="843349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683" y="6228957"/>
                <a:ext cx="843349" cy="369332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4050862" y="5566253"/>
                <a:ext cx="843349" cy="566694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862" y="5566253"/>
                <a:ext cx="843349" cy="566694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967945" y="5052730"/>
                <a:ext cx="843349" cy="60991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+4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7945" y="5052730"/>
                <a:ext cx="843349" cy="609911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483768" y="5071037"/>
                <a:ext cx="1080120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3(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+4)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5071037"/>
                <a:ext cx="1080120" cy="369332"/>
              </a:xfrm>
              <a:prstGeom prst="rect">
                <a:avLst/>
              </a:prstGeom>
              <a:blipFill rotWithShape="1">
                <a:blip r:embed="rId18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139952" y="6225444"/>
                <a:ext cx="1080120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/>
                        </a:rPr>
                        <m:t>4</m:t>
                      </m:r>
                      <m:r>
                        <a:rPr lang="en-GB" b="0" i="1" smtClean="0">
                          <a:latin typeface="Cambria Math"/>
                        </a:rPr>
                        <m:t>(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+3)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6225444"/>
                <a:ext cx="1080120" cy="369332"/>
              </a:xfrm>
              <a:prstGeom prst="rect">
                <a:avLst/>
              </a:prstGeom>
              <a:blipFill rotWithShape="1">
                <a:blip r:embed="rId19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5004295" y="5544645"/>
                <a:ext cx="843349" cy="60991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+3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295" y="5544645"/>
                <a:ext cx="843349" cy="609911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115616" y="5071037"/>
                <a:ext cx="1224136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5</m:t>
                      </m:r>
                      <m:r>
                        <a:rPr lang="en-GB" b="0" i="1" smtClean="0">
                          <a:latin typeface="Cambria Math"/>
                        </a:rPr>
                        <m:t>(2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+3)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5071037"/>
                <a:ext cx="1224136" cy="369332"/>
              </a:xfrm>
              <a:prstGeom prst="rect">
                <a:avLst/>
              </a:prstGeom>
              <a:blipFill rotWithShape="1">
                <a:blip r:embed="rId21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196858" y="5544645"/>
                <a:ext cx="843349" cy="56489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2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858" y="5544645"/>
                <a:ext cx="843349" cy="564898"/>
              </a:xfrm>
              <a:prstGeom prst="rect">
                <a:avLst/>
              </a:prstGeom>
              <a:blipFill rotWithShape="1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464955" y="5800387"/>
                <a:ext cx="843349" cy="63658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5−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955" y="5800387"/>
                <a:ext cx="843349" cy="636585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887661" y="5071037"/>
                <a:ext cx="843349" cy="61831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−5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661" y="5071037"/>
                <a:ext cx="843349" cy="618311"/>
              </a:xfrm>
              <a:prstGeom prst="rect">
                <a:avLst/>
              </a:prstGeom>
              <a:blipFill rotWithShape="1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126277" y="5513289"/>
                <a:ext cx="843349" cy="67262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/>
                            </a:rPr>
                            <m:t>+4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77" y="5513289"/>
                <a:ext cx="843349" cy="672620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150345" y="5523036"/>
                <a:ext cx="843349" cy="61831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+5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345" y="5523036"/>
                <a:ext cx="843349" cy="618311"/>
              </a:xfrm>
              <a:prstGeom prst="rect">
                <a:avLst/>
              </a:prstGeom>
              <a:blipFill rotWithShape="1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77584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620688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Trebuchet MS" panose="020B0603020202020204" pitchFamily="34" charset="0"/>
              </a:rPr>
              <a:t>Match the words to the algebra. Which piece of algebra code didn’t get matched?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26277" y="1450519"/>
                <a:ext cx="2573515" cy="3477875"/>
              </a:xfrm>
              <a:prstGeom prst="rect">
                <a:avLst/>
              </a:prstGeom>
              <a:ln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Multiply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by 4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Divide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  <m:r>
                      <a:rPr lang="en-GB" sz="2000" i="1">
                        <a:latin typeface="Cambria Math"/>
                      </a:rPr>
                      <m:t> 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by 4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Add 7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endParaRPr lang="en-GB" sz="2000" dirty="0">
                  <a:latin typeface="Trebuchet MS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Subtract 8 from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endParaRPr lang="en-GB" sz="2000" b="0" dirty="0">
                  <a:latin typeface="Trebuchet MS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Subtract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from 8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Multiply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by 8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Divide 4 by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/>
                      </a:rPr>
                      <m:t>𝑛</m:t>
                    </m:r>
                  </m:oMath>
                </a14:m>
                <a:endParaRPr lang="en-GB" sz="2000" dirty="0">
                  <a:latin typeface="Trebuchet MS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Multiply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by 2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Square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endParaRPr lang="en-GB" sz="2000" dirty="0">
                  <a:latin typeface="Trebuchet MS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 Share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into 5 sections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77" y="1450519"/>
                <a:ext cx="2573515" cy="3477875"/>
              </a:xfrm>
              <a:prstGeom prst="rect">
                <a:avLst/>
              </a:prstGeom>
              <a:blipFill rotWithShape="1">
                <a:blip r:embed="rId3"/>
                <a:stretch>
                  <a:fillRect l="-1878" t="-697" r="-469" b="-1742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93045" y="1434733"/>
                <a:ext cx="843349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4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045" y="1434733"/>
                <a:ext cx="843349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896191" y="1789565"/>
                <a:ext cx="843349" cy="56489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191" y="1789565"/>
                <a:ext cx="843349" cy="56489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970383" y="2092569"/>
                <a:ext cx="845323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+7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383" y="2092569"/>
                <a:ext cx="845323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2843808" y="1450518"/>
                <a:ext cx="2949068" cy="3477875"/>
              </a:xfrm>
              <a:prstGeom prst="rect">
                <a:avLst/>
              </a:prstGeom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Divide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  <m:r>
                      <a:rPr lang="en-GB" sz="2000" i="1">
                        <a:latin typeface="Cambria Math"/>
                      </a:rPr>
                      <m:t> 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by 4 then add 3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Add 4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then divide by 3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Add 4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, then multiply by 3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Add 3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, then multiply by 4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Add 3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then divide by 4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GB" sz="2000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808" y="1450518"/>
                <a:ext cx="2949068" cy="3477875"/>
              </a:xfrm>
              <a:prstGeom prst="rect">
                <a:avLst/>
              </a:prstGeom>
              <a:blipFill rotWithShape="1">
                <a:blip r:embed="rId7"/>
                <a:stretch>
                  <a:fillRect l="-1643" t="-697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911262" y="1450519"/>
                <a:ext cx="3125234" cy="3477875"/>
              </a:xfrm>
              <a:prstGeom prst="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Multiply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by 2, add 3 and then multiply the whole lot by 5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Divide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by 5, then multiply by 2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Subtract 5 from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, then divide by 3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Subtract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5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, then divide by 3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Square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, add 4, then divide by 3</a:t>
                </a: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262" y="1450519"/>
                <a:ext cx="3125234" cy="3477875"/>
              </a:xfrm>
              <a:prstGeom prst="rect">
                <a:avLst/>
              </a:prstGeom>
              <a:blipFill rotWithShape="1">
                <a:blip r:embed="rId8"/>
                <a:stretch>
                  <a:fillRect l="-1550" t="-697" r="-388" b="-1742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1659420" y="2461901"/>
                <a:ext cx="1080120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−8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9420" y="2461901"/>
                <a:ext cx="1080120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1978573" y="3255803"/>
                <a:ext cx="843349" cy="60991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573" y="3255803"/>
                <a:ext cx="843349" cy="609911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1667888" y="2831233"/>
                <a:ext cx="1080120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8−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888" y="2831233"/>
                <a:ext cx="1080120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865504" y="3681048"/>
                <a:ext cx="843349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/>
                        </a:rPr>
                        <m:t>2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504" y="3681048"/>
                <a:ext cx="843349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1618533" y="4050380"/>
                <a:ext cx="843349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533" y="4050380"/>
                <a:ext cx="843349" cy="369332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1618532" y="4446482"/>
                <a:ext cx="843349" cy="566694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532" y="4446482"/>
                <a:ext cx="843349" cy="566694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318342" y="1507116"/>
                <a:ext cx="956486" cy="56489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+3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342" y="1507116"/>
                <a:ext cx="956486" cy="564898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342839" y="2156945"/>
                <a:ext cx="843349" cy="60991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+4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2839" y="2156945"/>
                <a:ext cx="843349" cy="609911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259647" y="3376092"/>
                <a:ext cx="1080120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/>
                        </a:rPr>
                        <m:t>4</m:t>
                      </m:r>
                      <m:r>
                        <a:rPr lang="en-GB" b="0" i="1" smtClean="0">
                          <a:latin typeface="Cambria Math"/>
                        </a:rPr>
                        <m:t>(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+3)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647" y="3376092"/>
                <a:ext cx="1080120" cy="369332"/>
              </a:xfrm>
              <a:prstGeom prst="rect">
                <a:avLst/>
              </a:prstGeom>
              <a:blipFill rotWithShape="1">
                <a:blip r:embed="rId17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7382846" y="2451001"/>
                <a:ext cx="843349" cy="56489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2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846" y="2451001"/>
                <a:ext cx="843349" cy="564898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309335" y="3607822"/>
                <a:ext cx="843349" cy="63658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5−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9335" y="3607822"/>
                <a:ext cx="843349" cy="636585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7382845" y="3075229"/>
                <a:ext cx="843349" cy="61831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−5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845" y="3075229"/>
                <a:ext cx="843349" cy="618311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7036272" y="4235046"/>
                <a:ext cx="843349" cy="67262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/>
                            </a:rPr>
                            <m:t>+4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6272" y="4235046"/>
                <a:ext cx="843349" cy="672620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21014" y="5499376"/>
                <a:ext cx="1557559" cy="102752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GB" sz="32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sz="3200" b="0" i="1" smtClean="0">
                              <a:latin typeface="Cambria Math"/>
                            </a:rPr>
                            <m:t>+5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14" y="5499376"/>
                <a:ext cx="1557559" cy="1027525"/>
              </a:xfrm>
              <a:prstGeom prst="rect">
                <a:avLst/>
              </a:prstGeom>
              <a:blipFill rotWithShape="1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259647" y="2890563"/>
                <a:ext cx="1080120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3(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+4)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647" y="2890563"/>
                <a:ext cx="1080120" cy="369332"/>
              </a:xfrm>
              <a:prstGeom prst="rect">
                <a:avLst/>
              </a:prstGeom>
              <a:blipFill rotWithShape="1">
                <a:blip r:embed="rId23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7118942" y="1723237"/>
                <a:ext cx="1224136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5</m:t>
                      </m:r>
                      <m:r>
                        <a:rPr lang="en-GB" b="0" i="1" smtClean="0">
                          <a:latin typeface="Cambria Math"/>
                        </a:rPr>
                        <m:t>(2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+3)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8942" y="1723237"/>
                <a:ext cx="1224136" cy="369332"/>
              </a:xfrm>
              <a:prstGeom prst="rect">
                <a:avLst/>
              </a:prstGeom>
              <a:blipFill rotWithShape="1">
                <a:blip r:embed="rId24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4266273" y="3939452"/>
                <a:ext cx="843349" cy="60991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+3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6273" y="3939452"/>
                <a:ext cx="843349" cy="609911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317865" y="5499376"/>
                <a:ext cx="391031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Multiply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𝑛</m:t>
                    </m:r>
                  </m:oMath>
                </a14:m>
                <a:r>
                  <a:rPr lang="en-GB" dirty="0"/>
                  <a:t> by 4, add 5 and then divide the whole lot by 3.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865" y="5499376"/>
                <a:ext cx="3910319" cy="646331"/>
              </a:xfrm>
              <a:prstGeom prst="rect">
                <a:avLst/>
              </a:prstGeom>
              <a:blipFill rotWithShape="1">
                <a:blip r:embed="rId26"/>
                <a:stretch>
                  <a:fillRect l="-1246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85402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0" y="620691"/>
            <a:ext cx="9144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Trebuchet MS" panose="020B0603020202020204" pitchFamily="34" charset="0"/>
              </a:rPr>
              <a:t>5 QUICK QUESTIONS CHECK</a:t>
            </a:r>
          </a:p>
          <a:p>
            <a:pPr algn="ctr"/>
            <a:endParaRPr lang="en-GB" sz="2800" dirty="0">
              <a:latin typeface="Trebuchet MS" panose="020B0603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GB" sz="2800" dirty="0">
                <a:latin typeface="Trebuchet MS" panose="020B0603020202020204" pitchFamily="34" charset="0"/>
              </a:rPr>
              <a:t>Now it’s time to check your learning. </a:t>
            </a:r>
          </a:p>
          <a:p>
            <a:pPr>
              <a:lnSpc>
                <a:spcPct val="200000"/>
              </a:lnSpc>
            </a:pPr>
            <a:r>
              <a:rPr lang="en-GB" sz="2800" dirty="0">
                <a:latin typeface="Trebuchet MS" panose="020B0603020202020204" pitchFamily="34" charset="0"/>
              </a:rPr>
              <a:t>You’ll see five questions.</a:t>
            </a:r>
          </a:p>
          <a:p>
            <a:pPr>
              <a:lnSpc>
                <a:spcPct val="200000"/>
              </a:lnSpc>
            </a:pPr>
            <a:r>
              <a:rPr lang="en-GB" sz="2800" dirty="0">
                <a:latin typeface="Trebuchet MS" panose="020B0603020202020204" pitchFamily="34" charset="0"/>
              </a:rPr>
              <a:t>The questions have a 30 second timer</a:t>
            </a:r>
          </a:p>
          <a:p>
            <a:pPr>
              <a:lnSpc>
                <a:spcPct val="200000"/>
              </a:lnSpc>
            </a:pPr>
            <a:r>
              <a:rPr lang="en-GB" sz="2800" dirty="0">
                <a:latin typeface="Trebuchet MS" panose="020B0603020202020204" pitchFamily="34" charset="0"/>
              </a:rPr>
              <a:t>How many can you get right? 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0614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5280" y="6320055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Helvetica" pitchFamily="34" charset="0"/>
              </a:rPr>
              <a:t>Timer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505" y="764705"/>
            <a:ext cx="2736304" cy="4680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atin typeface="Trebuchet MS" panose="020B0603020202020204" pitchFamily="34" charset="0"/>
              </a:rPr>
              <a:t>Question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33772" y="2132856"/>
                <a:ext cx="867645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latin typeface="Cambria Math"/>
                        </a:rPr>
                        <m:t>5</m:t>
                      </m:r>
                      <m:r>
                        <a:rPr lang="en-GB" sz="7200" b="0" i="1" smtClean="0">
                          <a:latin typeface="Cambria Math"/>
                        </a:rPr>
                        <m:t>𝑣</m:t>
                      </m:r>
                      <m:r>
                        <a:rPr lang="en-GB" sz="7200" b="0" i="1" smtClean="0">
                          <a:latin typeface="Cambria Math"/>
                        </a:rPr>
                        <m:t>+2</m:t>
                      </m:r>
                      <m:r>
                        <a:rPr lang="en-GB" sz="7200" b="0" i="1" smtClean="0">
                          <a:latin typeface="Cambria Math"/>
                        </a:rPr>
                        <m:t>𝑢</m:t>
                      </m:r>
                    </m:oMath>
                  </m:oMathPara>
                </a14:m>
                <a:endParaRPr lang="en-GB" sz="7200" dirty="0"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72" y="2132856"/>
                <a:ext cx="8676456" cy="120032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-4412" y="1556792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Trebuchet MS" panose="020B0603020202020204" pitchFamily="34" charset="0"/>
              </a:rPr>
              <a:t>Write in words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9206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3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3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5280" y="6320055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Helvetica" pitchFamily="34" charset="0"/>
              </a:rPr>
              <a:t>Timer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505" y="764705"/>
            <a:ext cx="2736304" cy="4680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atin typeface="Trebuchet MS" panose="020B0603020202020204" pitchFamily="34" charset="0"/>
              </a:rPr>
              <a:t>Question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4412" y="1556792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Trebuchet MS" panose="020B0603020202020204" pitchFamily="34" charset="0"/>
              </a:rPr>
              <a:t>Write an expression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-4412" y="2708920"/>
                <a:ext cx="9144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dirty="0">
                    <a:latin typeface="Trebuchet MS" panose="020B0603020202020204" pitchFamily="34" charset="0"/>
                  </a:rPr>
                  <a:t>5 lots of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, plus 7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412" y="2708920"/>
                <a:ext cx="9144000" cy="523220"/>
              </a:xfrm>
              <a:prstGeom prst="rect">
                <a:avLst/>
              </a:prstGeom>
              <a:blipFill rotWithShape="1">
                <a:blip r:embed="rId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165201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3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3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5280" y="6320055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Helvetica" pitchFamily="34" charset="0"/>
              </a:rPr>
              <a:t>Timer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505" y="764705"/>
            <a:ext cx="2736304" cy="4680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atin typeface="Trebuchet MS" panose="020B0603020202020204" pitchFamily="34" charset="0"/>
              </a:rPr>
              <a:t>Question 3</a:t>
            </a:r>
          </a:p>
        </p:txBody>
      </p:sp>
      <p:sp>
        <p:nvSpPr>
          <p:cNvPr id="2" name="AutoShape 2" descr="Image result for inequality number li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" name="AutoShape 4" descr="Image result for inequality number lin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-4412" y="1556792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Trebuchet MS" panose="020B0603020202020204" pitchFamily="34" charset="0"/>
              </a:rPr>
              <a:t>Write an expression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-4412" y="2708920"/>
                <a:ext cx="9144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dirty="0">
                    <a:latin typeface="Trebuchet MS" panose="020B0603020202020204" pitchFamily="34" charset="0"/>
                  </a:rPr>
                  <a:t>9 added to</a:t>
                </a:r>
                <a14:m>
                  <m:oMath xmlns:m="http://schemas.openxmlformats.org/officeDocument/2006/math">
                    <m:r>
                      <a:rPr lang="en-GB" sz="2800" b="0" i="0" smtClean="0">
                        <a:latin typeface="Cambria Math"/>
                      </a:rPr>
                      <m:t> </m:t>
                    </m:r>
                    <m:r>
                      <a:rPr lang="en-GB" sz="28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, divided by 5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412" y="2708920"/>
                <a:ext cx="9144000" cy="523220"/>
              </a:xfrm>
              <a:prstGeom prst="rect">
                <a:avLst/>
              </a:prstGeom>
              <a:blipFill rotWithShape="1">
                <a:blip r:embed="rId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202695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3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3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5280" y="6320055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Helvetica" pitchFamily="34" charset="0"/>
              </a:rPr>
              <a:t>Timer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505" y="764705"/>
            <a:ext cx="2736304" cy="4680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atin typeface="Trebuchet MS" panose="020B0603020202020204" pitchFamily="34" charset="0"/>
              </a:rPr>
              <a:t>Question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4412" y="1556792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Trebuchet MS" panose="020B0603020202020204" pitchFamily="34" charset="0"/>
              </a:rPr>
              <a:t>Write an expression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-4412" y="2708920"/>
                <a:ext cx="9144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 multiplied by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, then divided by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𝑐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412" y="2708920"/>
                <a:ext cx="9144000" cy="523220"/>
              </a:xfrm>
              <a:prstGeom prst="rect">
                <a:avLst/>
              </a:prstGeom>
              <a:blipFill rotWithShape="1">
                <a:blip r:embed="rId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107836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3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3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5280" y="6320055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Helvetica" pitchFamily="34" charset="0"/>
              </a:rPr>
              <a:t>Timer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505" y="764705"/>
            <a:ext cx="2736304" cy="4680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atin typeface="Trebuchet MS" panose="020B0603020202020204" pitchFamily="34" charset="0"/>
              </a:rPr>
              <a:t>Question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4412" y="1556792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Trebuchet MS" panose="020B0603020202020204" pitchFamily="34" charset="0"/>
              </a:rPr>
              <a:t>Write an expression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-4412" y="2708920"/>
                <a:ext cx="9144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 divided by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, then add 6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412" y="2708920"/>
                <a:ext cx="9144000" cy="523220"/>
              </a:xfrm>
              <a:prstGeom prst="rect">
                <a:avLst/>
              </a:prstGeom>
              <a:blipFill rotWithShape="1">
                <a:blip r:embed="rId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6496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3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3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0" y="620688"/>
                <a:ext cx="9144000" cy="6147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dirty="0">
                    <a:latin typeface="Trebuchet MS" panose="020B0603020202020204" pitchFamily="34" charset="0"/>
                  </a:rPr>
                  <a:t>Your answers:</a:t>
                </a:r>
              </a:p>
              <a:p>
                <a:pPr algn="ctr"/>
                <a:endParaRPr lang="en-GB" sz="2800" dirty="0">
                  <a:latin typeface="Trebuchet MS" panose="020B0603020202020204" pitchFamily="34" charset="0"/>
                </a:endParaRPr>
              </a:p>
              <a:p>
                <a:pPr marL="514350" indent="-514350">
                  <a:lnSpc>
                    <a:spcPct val="200000"/>
                  </a:lnSpc>
                  <a:buAutoNum type="arabicParenR"/>
                </a:pPr>
                <a:r>
                  <a:rPr lang="en-GB" sz="2800" dirty="0">
                    <a:latin typeface="Trebuchet MS" panose="020B0603020202020204" pitchFamily="34" charset="0"/>
                  </a:rPr>
                  <a:t>5 lots of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𝑣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, added to 2 lots of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𝑢</m:t>
                    </m:r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  <a:p>
                <a:pPr marL="514350" indent="-514350">
                  <a:lnSpc>
                    <a:spcPct val="200000"/>
                  </a:lnSpc>
                  <a:buAutoNum type="arabicParenR"/>
                </a:pP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5</m:t>
                    </m:r>
                    <m:r>
                      <a:rPr lang="en-GB" sz="2800" b="0" i="1" smtClean="0">
                        <a:latin typeface="Cambria Math"/>
                      </a:rPr>
                      <m:t>𝑥</m:t>
                    </m:r>
                    <m:r>
                      <a:rPr lang="en-GB" sz="2800" b="0" i="1" smtClean="0">
                        <a:latin typeface="Cambria Math"/>
                      </a:rPr>
                      <m:t>+7</m:t>
                    </m:r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  <a:p>
                <a:pPr marL="514350" indent="-514350">
                  <a:lnSpc>
                    <a:spcPct val="200000"/>
                  </a:lnSpc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/>
                          </a:rPr>
                          <m:t>9+</m:t>
                        </m:r>
                        <m:r>
                          <a:rPr lang="en-GB" sz="2800" b="0" i="1" smtClean="0">
                            <a:latin typeface="Cambria Math"/>
                          </a:rPr>
                          <m:t>𝑥</m:t>
                        </m:r>
                      </m:num>
                      <m:den>
                        <m:r>
                          <a:rPr lang="en-GB" sz="2800" b="0" i="1" smtClean="0"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  <a:p>
                <a:pPr marL="514350" indent="-514350">
                  <a:lnSpc>
                    <a:spcPct val="200000"/>
                  </a:lnSpc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/>
                          </a:rPr>
                          <m:t>𝑎𝑏</m:t>
                        </m:r>
                      </m:num>
                      <m:den>
                        <m:r>
                          <a:rPr lang="en-GB" sz="2800" b="0" i="1" smtClean="0">
                            <a:latin typeface="Cambria Math"/>
                          </a:rPr>
                          <m:t>𝑐</m:t>
                        </m:r>
                      </m:den>
                    </m:f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  <a:p>
                <a:pPr marL="514350" indent="-514350">
                  <a:lnSpc>
                    <a:spcPct val="200000"/>
                  </a:lnSpc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/>
                          </a:rPr>
                          <m:t>𝑎</m:t>
                        </m:r>
                      </m:num>
                      <m:den>
                        <m:r>
                          <a:rPr lang="en-GB" sz="2800" b="0" i="1" smtClean="0">
                            <a:latin typeface="Cambria Math"/>
                          </a:rPr>
                          <m:t>𝑏</m:t>
                        </m:r>
                      </m:den>
                    </m:f>
                    <m:r>
                      <a:rPr lang="en-GB" sz="2800" b="0" i="1" smtClean="0">
                        <a:latin typeface="Cambria Math"/>
                      </a:rPr>
                      <m:t>+6</m:t>
                    </m:r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20688"/>
                <a:ext cx="9144000" cy="6147580"/>
              </a:xfrm>
              <a:prstGeom prst="rect">
                <a:avLst/>
              </a:prstGeom>
              <a:blipFill rotWithShape="1">
                <a:blip r:embed="rId3"/>
                <a:stretch>
                  <a:fillRect l="-1200" t="-8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847463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Helvetica" pitchFamily="34" charset="0"/>
              </a:rPr>
              <a:t>Problem Solving Question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549275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002911" y="1735545"/>
            <a:ext cx="648072" cy="194421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 rot="5400000">
            <a:off x="4443071" y="943457"/>
            <a:ext cx="648072" cy="22322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 rot="5400000">
            <a:off x="4443071" y="1591529"/>
            <a:ext cx="648072" cy="22322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 rot="5400000">
            <a:off x="4433462" y="2239602"/>
            <a:ext cx="648072" cy="22322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5883231" y="1735545"/>
            <a:ext cx="648072" cy="194421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142954" y="1196752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954" y="1196752"/>
                <a:ext cx="367986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339752" y="2522987"/>
                <a:ext cx="4962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5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2522987"/>
                <a:ext cx="496226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002911" y="1566084"/>
            <a:ext cx="648072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2843808" y="1735545"/>
            <a:ext cx="0" cy="194421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0" y="67908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Trebuchet MS" panose="020B0603020202020204" pitchFamily="34" charset="0"/>
              </a:rPr>
              <a:t>Work out an expression for the perimeter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6455FE4-DBAA-45FD-BD12-C34796D6914A}"/>
              </a:ext>
            </a:extLst>
          </p:cNvPr>
          <p:cNvCxnSpPr>
            <a:cxnSpLocks/>
          </p:cNvCxnSpPr>
          <p:nvPr/>
        </p:nvCxnSpPr>
        <p:spPr>
          <a:xfrm flipV="1">
            <a:off x="3650983" y="1566083"/>
            <a:ext cx="2222639" cy="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B0D516-AA63-4096-80A6-E3D2781AAC6F}"/>
                  </a:ext>
                </a:extLst>
              </p:cNvPr>
              <p:cNvSpPr txBox="1"/>
              <p:nvPr/>
            </p:nvSpPr>
            <p:spPr>
              <a:xfrm>
                <a:off x="4481402" y="1226843"/>
                <a:ext cx="4962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5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B0D516-AA63-4096-80A6-E3D2781AA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402" y="1226843"/>
                <a:ext cx="49622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BDB8ECB-721C-4F5D-AA1A-4637A763DD0C}"/>
                  </a:ext>
                </a:extLst>
              </p:cNvPr>
              <p:cNvSpPr txBox="1"/>
              <p:nvPr/>
            </p:nvSpPr>
            <p:spPr>
              <a:xfrm>
                <a:off x="6012160" y="1184814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BDB8ECB-721C-4F5D-AA1A-4637A763D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160" y="1184814"/>
                <a:ext cx="36798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4A85D0-7675-43F8-9623-CD02359DE415}"/>
              </a:ext>
            </a:extLst>
          </p:cNvPr>
          <p:cNvCxnSpPr/>
          <p:nvPr/>
        </p:nvCxnSpPr>
        <p:spPr>
          <a:xfrm>
            <a:off x="5872117" y="1554146"/>
            <a:ext cx="648072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7911488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3319C-8B2C-4283-A4FE-5986F3B50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an equation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ACC67-E7FB-4A10-AF98-7E57FEF76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Perimeter is the TOTAL length around the outside of the shape.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Write an expression for the perimeter: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5" name="Flowchart: Manual Operation 4">
            <a:extLst>
              <a:ext uri="{FF2B5EF4-FFF2-40B4-BE49-F238E27FC236}">
                <a16:creationId xmlns:a16="http://schemas.microsoft.com/office/drawing/2014/main" id="{16C36CD9-5113-4F86-9427-9953B6F23709}"/>
              </a:ext>
            </a:extLst>
          </p:cNvPr>
          <p:cNvSpPr/>
          <p:nvPr/>
        </p:nvSpPr>
        <p:spPr>
          <a:xfrm rot="10800000">
            <a:off x="2483768" y="4466003"/>
            <a:ext cx="4320480" cy="1583587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FBCE46-82F3-428F-BE53-94B8108C844D}"/>
              </a:ext>
            </a:extLst>
          </p:cNvPr>
          <p:cNvSpPr txBox="1"/>
          <p:nvPr/>
        </p:nvSpPr>
        <p:spPr>
          <a:xfrm>
            <a:off x="4031939" y="4021828"/>
            <a:ext cx="1224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4x + 2</a:t>
            </a:r>
            <a:endParaRPr lang="en-AU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0ED316-23E9-4E7F-AAB3-1437FA17DBED}"/>
              </a:ext>
            </a:extLst>
          </p:cNvPr>
          <p:cNvSpPr txBox="1"/>
          <p:nvPr/>
        </p:nvSpPr>
        <p:spPr>
          <a:xfrm>
            <a:off x="4031939" y="6100910"/>
            <a:ext cx="1224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6x + 4</a:t>
            </a:r>
            <a:endParaRPr lang="en-AU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239AA0-5DC8-43C6-BE9D-4DC65A66023C}"/>
              </a:ext>
            </a:extLst>
          </p:cNvPr>
          <p:cNvSpPr txBox="1"/>
          <p:nvPr/>
        </p:nvSpPr>
        <p:spPr>
          <a:xfrm>
            <a:off x="6300192" y="4734577"/>
            <a:ext cx="1224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2x </a:t>
            </a:r>
            <a:endParaRPr lang="en-A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3D0AC-1269-4265-B197-B067AD04DCCA}"/>
              </a:ext>
            </a:extLst>
          </p:cNvPr>
          <p:cNvSpPr txBox="1"/>
          <p:nvPr/>
        </p:nvSpPr>
        <p:spPr>
          <a:xfrm>
            <a:off x="2231741" y="4869160"/>
            <a:ext cx="1224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2x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034093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95DA4-C4A3-4C20-9FAA-5A5ED1136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question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52364-FA3E-410F-BC29-12DA45A17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base of this rectangle is 4 times its height. Use algebra to write an expression that could be used to calculate the perimeter of the rectangle. 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3349C5-F41B-4EA3-83E2-3078958975BB}"/>
              </a:ext>
            </a:extLst>
          </p:cNvPr>
          <p:cNvSpPr/>
          <p:nvPr/>
        </p:nvSpPr>
        <p:spPr>
          <a:xfrm>
            <a:off x="1763688" y="3717032"/>
            <a:ext cx="5904656" cy="22322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F42BD4-5447-4296-84C3-58F3818345D3}"/>
              </a:ext>
            </a:extLst>
          </p:cNvPr>
          <p:cNvSpPr txBox="1"/>
          <p:nvPr/>
        </p:nvSpPr>
        <p:spPr>
          <a:xfrm>
            <a:off x="1146448" y="4527296"/>
            <a:ext cx="1234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H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36350472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B67AA-F42D-4BC1-9DA5-CD75AB66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49DC6-7C2C-4397-B341-BC03AA7C5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400" dirty="0"/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4400" dirty="0"/>
              <a:t>Be able to write algebraic expressions from authentic situations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2465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18548</TotalTime>
  <Words>1329</Words>
  <Application>Microsoft Office PowerPoint</Application>
  <PresentationFormat>On-screen Show (4:3)</PresentationFormat>
  <Paragraphs>282</Paragraphs>
  <Slides>23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Cambria Math</vt:lpstr>
      <vt:lpstr>Trebuchet MS</vt:lpstr>
      <vt:lpstr>Wingdings</vt:lpstr>
      <vt:lpstr>Office Theme</vt:lpstr>
      <vt:lpstr>Lesson objective </vt:lpstr>
      <vt:lpstr>Daily review </vt:lpstr>
      <vt:lpstr>PowerPoint Presentation</vt:lpstr>
      <vt:lpstr>Substitution: Exercise book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Write an equation </vt:lpstr>
      <vt:lpstr>Challenge question </vt:lpstr>
      <vt:lpstr>Reflection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 Machines</dc:title>
  <dc:creator>Richard Tock</dc:creator>
  <cp:lastModifiedBy>DAVIES Rhys [Busselton Senior High School]</cp:lastModifiedBy>
  <cp:revision>150</cp:revision>
  <cp:lastPrinted>2017-01-18T10:16:52Z</cp:lastPrinted>
  <dcterms:created xsi:type="dcterms:W3CDTF">2015-10-02T09:03:04Z</dcterms:created>
  <dcterms:modified xsi:type="dcterms:W3CDTF">2023-03-13T12:13:01Z</dcterms:modified>
</cp:coreProperties>
</file>
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257" r:id="rId3"/>
    <p:sldId id="306" r:id="rId4"/>
    <p:sldId id="260" r:id="rId5"/>
    <p:sldId id="261" r:id="rId6"/>
    <p:sldId id="274" r:id="rId7"/>
    <p:sldId id="275" r:id="rId8"/>
    <p:sldId id="304" r:id="rId9"/>
    <p:sldId id="259" r:id="rId10"/>
    <p:sldId id="307" r:id="rId11"/>
    <p:sldId id="308" r:id="rId12"/>
    <p:sldId id="309" r:id="rId13"/>
    <p:sldId id="312" r:id="rId14"/>
    <p:sldId id="313" r:id="rId15"/>
    <p:sldId id="310" r:id="rId16"/>
    <p:sldId id="31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01299E-AB01-4B31-9E6C-78421890F87C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4BDCC8-3341-42E3-84BC-F118B6E5FF3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87737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Student worksheet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8AB65-6270-4CF6-8170-70BAAF2482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8047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8AB65-6270-4CF6-8170-70BAAF2482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852532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Could use Choral reading and reversal on integer definition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C8AB65-6270-4CF6-8170-70BAAF2482F3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42615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61B20-E92A-43A1-8016-B2EFAB886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D08547-91AB-460C-BDFF-EBE7BB797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B5F443-5910-404A-A761-F059FDA418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41144-F96D-4834-8F46-EAEFEBD1F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FE8F66-8CF4-4B6E-B55C-88D681E86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634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8AF89-507E-4199-8626-396A4830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D0B2C-1A00-45B4-9C39-21A1CADB0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B57114-FB54-48DA-AC93-1F6D31E89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9B7B47-84CF-4112-AC36-01AA661E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FF085-37D8-4A5C-9A35-B370F8097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319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20AB4-2291-4D60-8129-98BC73B5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8CC272-FA81-414E-A2E5-A39586C594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0C043-6B52-4CA9-AE13-BFE814B4E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1FFCC-2F76-47E5-9B0E-41792E78A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D335-5D59-4BE4-8F15-9923E44E4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9209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2A0E6-C745-4C0C-BD1F-A06ED48B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BF625-67A7-4893-873A-ECA698DE0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7ACCA5-381E-4933-A345-7D81D98B2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7EAF01-1AD3-4022-A1D3-473C49E76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151683-25B6-4563-BB2C-12870A57F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56C346-1579-4562-A36C-C532F49E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6231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AD44-D8CA-4376-81A6-42CCCA17A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545C4-4318-4022-8E16-BDB172E129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59ABE7-D816-4E32-B13D-3D27255C2E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039628-66D1-46CD-B3A5-9BD09F799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3C5B61-1461-49EB-9B74-BAFDD00BFE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C678F-291D-4F42-BAE8-DB468BF90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351DA3-CFDA-4953-94C1-66C6C63AC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8C529F-D05B-4082-8C8B-2EF748C46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4757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F0E3-2349-467E-94E9-D82AC57CF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3C2F57-8CE8-4D75-9641-FE2E576CE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73570-DFE2-4147-89E5-EF19819F0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684CE3-DDC1-4CE1-A9EE-8E1057EF3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989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618AF3-8C63-4F40-9965-88DD50928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AC5A3A-3A4A-4662-B12E-51495B30F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B8A0F6-4141-40AB-BF68-24D08764F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1204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7E459-17D3-41C2-8766-E2CC970D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58014-134A-42CF-A10F-0D9328D8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9728F-3DE2-404D-A497-04715E8858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F55ACA-73ED-4584-83AB-4735D13FE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9E8B8-A007-40C9-AA88-B69B7A49A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83B320-F0AD-4112-B51E-BB5CADFBB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8258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73FC8-B250-439E-B107-FBA257388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F42931-5DA9-4B8A-AD72-ABB7F987E1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15D6F-9A63-4698-885C-2E601E1E0B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EE69D-E629-4470-BCE5-43B1BA858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C9C7CD-2805-403A-91D6-344A95BA2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F3BAB2-7FDE-44B2-812E-36F7845EE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4495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04CC-24F2-4341-A5EC-35BEB7C7B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17B56F-FE2B-4E40-88B4-6AD69633F3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0F6FC9-04AE-4714-A5D3-1F67C3BB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34C871-75D5-4912-BD53-F7C977699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DDB1-DD48-4C95-8501-DFBEF5BEA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0127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8A9BC1-9325-40A6-A114-CE1CDBBD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253D8B-6B0B-4866-87D4-FD638B18C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BCC080-C783-43E9-8098-C71A2DE5E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0CB453-A7B5-4393-87AB-4A3F78FE2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15EDD-7BF9-4AB0-B427-C7C526232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791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00702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43353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8829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764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83804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575738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91501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29340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33592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490219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257878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18802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272424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7881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3659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8157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4A673A-B59A-4ADE-8D84-ECA819110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44DEC-352A-4351-8971-D56DE0377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32DA9-C92E-42D8-9E6D-3CEE6E475E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2422C-880F-4E89-834C-08462E882C8A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11FDA3-18F1-4F24-ACE1-DB53EF0ECD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6DC9C-BF02-40D5-AE18-ACD9940534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E61A5C-90E4-4F1C-9C15-E3CA2DF3AE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6294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B0986-CC5D-441D-9150-EFAE06F4444F}" type="datetimeFigureOut">
              <a:rPr lang="en-AU" smtClean="0"/>
              <a:t>8/03/2023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594C192-4104-47D8-8EA5-F75B722309E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8709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1EFE0-35A8-4112-8965-145F02141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4FE4-C3D0-44DB-A36F-B6DCCC7CA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Evaluating indices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Evaluate indices with positive powers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Integers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Square numbers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Evaluating indices </a:t>
            </a:r>
            <a:endParaRPr lang="en-AU" dirty="0">
              <a:solidFill>
                <a:srgbClr val="00B0F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1AA23E-8AE2-7B6F-A840-505036ACBDC3}"/>
              </a:ext>
            </a:extLst>
          </p:cNvPr>
          <p:cNvSpPr txBox="1"/>
          <p:nvPr/>
        </p:nvSpPr>
        <p:spPr>
          <a:xfrm>
            <a:off x="7821227" y="1825625"/>
            <a:ext cx="3897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Need calculators and whiteboards</a:t>
            </a:r>
            <a:endParaRPr lang="en-AU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954122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00263" y="744394"/>
            <a:ext cx="85979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09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 and Subtraction: A number-line approach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661" y="1456589"/>
            <a:ext cx="11022172" cy="38209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515D0A9-AE5E-46C1-859D-576DF6FB3C00}"/>
              </a:ext>
            </a:extLst>
          </p:cNvPr>
          <p:cNvSpPr txBox="1"/>
          <p:nvPr/>
        </p:nvSpPr>
        <p:spPr>
          <a:xfrm>
            <a:off x="4288536" y="3314832"/>
            <a:ext cx="5843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Example:		-3 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C38420-D709-42A7-ACD5-ACFF39D7C395}"/>
              </a:ext>
            </a:extLst>
          </p:cNvPr>
          <p:cNvSpPr txBox="1"/>
          <p:nvPr/>
        </p:nvSpPr>
        <p:spPr>
          <a:xfrm>
            <a:off x="2694007" y="2161260"/>
            <a:ext cx="8810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To use the number line you need a starting point, a direction and a number of places to move.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1D99D0-C4BB-4D60-83DA-98B22BF85C07}"/>
              </a:ext>
            </a:extLst>
          </p:cNvPr>
          <p:cNvSpPr/>
          <p:nvPr/>
        </p:nvSpPr>
        <p:spPr>
          <a:xfrm>
            <a:off x="6893203" y="338268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F8C0C97-7CCF-49C6-84D3-7546F5AE8037}"/>
              </a:ext>
            </a:extLst>
          </p:cNvPr>
          <p:cNvSpPr/>
          <p:nvPr/>
        </p:nvSpPr>
        <p:spPr>
          <a:xfrm>
            <a:off x="6531095" y="3363504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4C5FA2-B8C4-42D2-8EA8-AA8BB4B17D85}"/>
              </a:ext>
            </a:extLst>
          </p:cNvPr>
          <p:cNvSpPr/>
          <p:nvPr/>
        </p:nvSpPr>
        <p:spPr>
          <a:xfrm>
            <a:off x="6156000" y="3354616"/>
            <a:ext cx="395391" cy="38209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A5BF45-50F9-49DE-9563-35B7CCC639E3}"/>
              </a:ext>
            </a:extLst>
          </p:cNvPr>
          <p:cNvSpPr txBox="1"/>
          <p:nvPr/>
        </p:nvSpPr>
        <p:spPr>
          <a:xfrm>
            <a:off x="-158524" y="4201082"/>
            <a:ext cx="4194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Starting point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D7290AC-DCE2-4A19-8404-D631A9F4D9AB}"/>
              </a:ext>
            </a:extLst>
          </p:cNvPr>
          <p:cNvCxnSpPr/>
          <p:nvPr/>
        </p:nvCxnSpPr>
        <p:spPr>
          <a:xfrm flipV="1">
            <a:off x="4035789" y="3716976"/>
            <a:ext cx="2176168" cy="73575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B58AB16-5062-4469-B08C-B8ACEF7C16D9}"/>
              </a:ext>
            </a:extLst>
          </p:cNvPr>
          <p:cNvCxnSpPr>
            <a:cxnSpLocks/>
          </p:cNvCxnSpPr>
          <p:nvPr/>
        </p:nvCxnSpPr>
        <p:spPr>
          <a:xfrm flipV="1">
            <a:off x="6211957" y="3825170"/>
            <a:ext cx="417443" cy="102512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60C09BF-D8B9-4FB1-AE4E-CB9DC4C21023}"/>
              </a:ext>
            </a:extLst>
          </p:cNvPr>
          <p:cNvCxnSpPr>
            <a:cxnSpLocks/>
          </p:cNvCxnSpPr>
          <p:nvPr/>
        </p:nvCxnSpPr>
        <p:spPr>
          <a:xfrm flipH="1" flipV="1">
            <a:off x="7310646" y="3707054"/>
            <a:ext cx="1456862" cy="4616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41902D05-5513-4202-B6F0-E3D20487470B}"/>
              </a:ext>
            </a:extLst>
          </p:cNvPr>
          <p:cNvSpPr txBox="1"/>
          <p:nvPr/>
        </p:nvSpPr>
        <p:spPr>
          <a:xfrm>
            <a:off x="4573504" y="4461431"/>
            <a:ext cx="24260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Direction: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+ move right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– move left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D372B9-7600-40DF-9452-CD2F918FA473}"/>
              </a:ext>
            </a:extLst>
          </p:cNvPr>
          <p:cNvSpPr txBox="1"/>
          <p:nvPr/>
        </p:nvSpPr>
        <p:spPr>
          <a:xfrm>
            <a:off x="4060636" y="4135162"/>
            <a:ext cx="61771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Number of places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D745EBD-FD68-4E6E-84D9-F387854DE2BA}"/>
              </a:ext>
            </a:extLst>
          </p:cNvPr>
          <p:cNvSpPr/>
          <p:nvPr/>
        </p:nvSpPr>
        <p:spPr>
          <a:xfrm>
            <a:off x="7958363" y="2256871"/>
            <a:ext cx="2090098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FF48BF3-7A68-4B7B-BFAF-4ECF14441DE3}"/>
              </a:ext>
            </a:extLst>
          </p:cNvPr>
          <p:cNvSpPr/>
          <p:nvPr/>
        </p:nvSpPr>
        <p:spPr>
          <a:xfrm>
            <a:off x="2694007" y="2626959"/>
            <a:ext cx="1449762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55B73EE-D5D4-472A-A489-D0CE1AADB94A}"/>
              </a:ext>
            </a:extLst>
          </p:cNvPr>
          <p:cNvSpPr/>
          <p:nvPr/>
        </p:nvSpPr>
        <p:spPr>
          <a:xfrm>
            <a:off x="5110950" y="2629107"/>
            <a:ext cx="2681327" cy="308113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9851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1" grpId="0" animBg="1"/>
      <p:bldP spid="30" grpId="0" animBg="1"/>
      <p:bldP spid="31" grpId="0" animBg="1"/>
      <p:bldP spid="3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1876840" y="1511618"/>
            <a:ext cx="7782339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exercise books.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-2 – 6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 + 8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– 7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 – 5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 – 8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3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3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 – 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7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-5 – 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6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-4 – 8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10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– 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19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6423991" y="2488850"/>
            <a:ext cx="493477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 the question and use correct setting out to present your answer.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0E0A17-5836-4F2D-8CC6-7718C646F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871" y="1129522"/>
            <a:ext cx="11022172" cy="38209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6EF2C7F-0479-4D5D-A865-B5778DFFE4D9}"/>
              </a:ext>
            </a:extLst>
          </p:cNvPr>
          <p:cNvSpPr txBox="1"/>
          <p:nvPr/>
        </p:nvSpPr>
        <p:spPr>
          <a:xfrm>
            <a:off x="4231649" y="2405996"/>
            <a:ext cx="160685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-8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5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-3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-6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-11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-12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b="1" dirty="0">
                <a:solidFill>
                  <a:srgbClr val="FF0000"/>
                </a:solidFill>
              </a:rPr>
              <a:t> -9</a:t>
            </a:r>
          </a:p>
          <a:p>
            <a:endParaRPr lang="en-AU" sz="2000" b="1" dirty="0"/>
          </a:p>
        </p:txBody>
      </p:sp>
    </p:spTree>
    <p:extLst>
      <p:ext uri="{BB962C8B-B14F-4D97-AF65-F5344CB8AC3E}">
        <p14:creationId xmlns:p14="http://schemas.microsoft.com/office/powerpoint/2010/main" val="95055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09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 and Subtraction: Double signs.</a:t>
            </a:r>
          </a:p>
          <a:p>
            <a:pPr marL="0" marR="0" lvl="0" indent="0" algn="l" defTabSz="1009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Example: 	-3 – (-5)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848678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616017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3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2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1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0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(-1)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(-2)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– (-3)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739949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Subtracting a negative number is the same as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A6BFA4-97AC-43E4-9B86-550D409E11A8}"/>
              </a:ext>
            </a:extLst>
          </p:cNvPr>
          <p:cNvSpPr txBox="1"/>
          <p:nvPr/>
        </p:nvSpPr>
        <p:spPr>
          <a:xfrm>
            <a:off x="4726209" y="2616017"/>
            <a:ext cx="16068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3</a:t>
            </a:r>
          </a:p>
          <a:p>
            <a:r>
              <a:rPr lang="en-US" sz="2800" b="1" dirty="0"/>
              <a:t>4</a:t>
            </a:r>
          </a:p>
          <a:p>
            <a:r>
              <a:rPr lang="en-US" sz="2800" b="1" dirty="0"/>
              <a:t>5</a:t>
            </a:r>
          </a:p>
          <a:p>
            <a:r>
              <a:rPr lang="en-US" sz="2800" b="1" dirty="0"/>
              <a:t>6</a:t>
            </a:r>
          </a:p>
          <a:p>
            <a:r>
              <a:rPr lang="en-US" sz="2800" b="1" dirty="0"/>
              <a:t>7</a:t>
            </a:r>
          </a:p>
          <a:p>
            <a:r>
              <a:rPr lang="en-US" sz="2800" b="1" dirty="0"/>
              <a:t>8</a:t>
            </a:r>
          </a:p>
          <a:p>
            <a:r>
              <a:rPr lang="en-US" sz="2800" b="1" dirty="0"/>
              <a:t>9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506948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956D41F-A7F2-402D-AD08-D923BCE2F7B0}"/>
              </a:ext>
            </a:extLst>
          </p:cNvPr>
          <p:cNvSpPr txBox="1"/>
          <p:nvPr/>
        </p:nvSpPr>
        <p:spPr>
          <a:xfrm>
            <a:off x="2720750" y="635063"/>
            <a:ext cx="8597901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009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Addition and Subtraction: Double signs.</a:t>
            </a:r>
          </a:p>
          <a:p>
            <a:pPr marL="0" marR="0" lvl="0" indent="0" algn="l" defTabSz="10096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	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5670E8-9AFA-4811-B9C7-955B767F1FCB}"/>
              </a:ext>
            </a:extLst>
          </p:cNvPr>
          <p:cNvSpPr txBox="1"/>
          <p:nvPr/>
        </p:nvSpPr>
        <p:spPr>
          <a:xfrm>
            <a:off x="2720750" y="1387013"/>
            <a:ext cx="68381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Using patterns to develop understanding.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720750" y="2154352"/>
            <a:ext cx="3612317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+ 3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+ 2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+ 1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+ 0	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(-1)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(-2)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6 + (-3)	=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7633" y="5509116"/>
            <a:ext cx="9364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Adding a negative number is the same as subtracting.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D3F7C5-170B-4CE8-8154-3A28A320C554}"/>
              </a:ext>
            </a:extLst>
          </p:cNvPr>
          <p:cNvSpPr txBox="1"/>
          <p:nvPr/>
        </p:nvSpPr>
        <p:spPr>
          <a:xfrm>
            <a:off x="4547749" y="2154352"/>
            <a:ext cx="16068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9</a:t>
            </a:r>
          </a:p>
          <a:p>
            <a:r>
              <a:rPr lang="en-US" sz="2800" b="1" dirty="0"/>
              <a:t>8</a:t>
            </a:r>
          </a:p>
          <a:p>
            <a:r>
              <a:rPr lang="en-US" sz="2800" b="1" dirty="0"/>
              <a:t>7</a:t>
            </a:r>
          </a:p>
          <a:p>
            <a:r>
              <a:rPr lang="en-US" sz="2800" b="1" dirty="0"/>
              <a:t>6</a:t>
            </a:r>
          </a:p>
          <a:p>
            <a:r>
              <a:rPr lang="en-US" sz="2800" b="1" dirty="0"/>
              <a:t>5</a:t>
            </a:r>
          </a:p>
          <a:p>
            <a:r>
              <a:rPr lang="en-US" sz="2800" b="1" dirty="0"/>
              <a:t>4</a:t>
            </a:r>
          </a:p>
          <a:p>
            <a:r>
              <a:rPr lang="en-US" sz="2800" b="1" dirty="0"/>
              <a:t>3</a:t>
            </a:r>
          </a:p>
          <a:p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447529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059F2E4-84EA-4F8C-9AA1-5193A1A7B805}"/>
              </a:ext>
            </a:extLst>
          </p:cNvPr>
          <p:cNvSpPr txBox="1"/>
          <p:nvPr/>
        </p:nvSpPr>
        <p:spPr>
          <a:xfrm>
            <a:off x="2792896" y="526775"/>
            <a:ext cx="7782339" cy="5124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Independent practice: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exercise books.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-2 + (– 6)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-3 – (- 8)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4 + (– 7)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8 – (-5)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-5 – 8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-2 + (– 3)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5 – (-11)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-5 + (– 13)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 – (-4.6)</a:t>
            </a:r>
          </a:p>
          <a:p>
            <a:pPr marL="715963" marR="0" lvl="0" indent="-715963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0000"/>
              </a:buClr>
              <a:buSzTx/>
              <a:buFontTx/>
              <a:buAutoNum type="arabicPeriod"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-20 – (-</a:t>
            </a:r>
            <a:r>
              <a:rPr lang="en-AU" sz="2400" dirty="0">
                <a:solidFill>
                  <a:prstClr val="black"/>
                </a:solidFill>
                <a:latin typeface="Century Gothic" panose="020B0502020202020204"/>
              </a:rPr>
              <a:t>35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F3205-C4F7-4210-A4B8-826436764DEA}"/>
              </a:ext>
            </a:extLst>
          </p:cNvPr>
          <p:cNvSpPr txBox="1"/>
          <p:nvPr/>
        </p:nvSpPr>
        <p:spPr>
          <a:xfrm>
            <a:off x="7480433" y="1432408"/>
            <a:ext cx="49347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Copy the question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AU" sz="2400" b="1" dirty="0">
                <a:solidFill>
                  <a:srgbClr val="002060"/>
                </a:solidFill>
                <a:latin typeface="Century Gothic" panose="020B0502020202020204"/>
              </a:rPr>
              <a:t>Replace double sings</a:t>
            </a:r>
          </a:p>
          <a:p>
            <a:pPr marL="457200" marR="0" lvl="0" indent="-4572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Present your answer.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3 lines of working!</a:t>
            </a:r>
          </a:p>
        </p:txBody>
      </p:sp>
    </p:spTree>
    <p:extLst>
      <p:ext uri="{BB962C8B-B14F-4D97-AF65-F5344CB8AC3E}">
        <p14:creationId xmlns:p14="http://schemas.microsoft.com/office/powerpoint/2010/main" val="34138352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/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13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sz="138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C1D84FA-A396-4DC8-862B-E624C051B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6135" y="1213009"/>
                <a:ext cx="3045041" cy="221599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D12ED93-C9CF-4FEA-ACF4-E94DD58F3541}"/>
              </a:ext>
            </a:extLst>
          </p:cNvPr>
          <p:cNvSpPr txBox="1"/>
          <p:nvPr/>
        </p:nvSpPr>
        <p:spPr>
          <a:xfrm>
            <a:off x="5439051" y="4525859"/>
            <a:ext cx="30450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=  8 x 8 x 8 </a:t>
            </a:r>
            <a:endParaRPr lang="en-AU" sz="24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70AEAE-66DF-49C9-88FE-E4AC1724A448}"/>
              </a:ext>
            </a:extLst>
          </p:cNvPr>
          <p:cNvSpPr txBox="1"/>
          <p:nvPr/>
        </p:nvSpPr>
        <p:spPr>
          <a:xfrm>
            <a:off x="2068497" y="958788"/>
            <a:ext cx="19086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BASE</a:t>
            </a:r>
            <a:r>
              <a:rPr lang="en-US" dirty="0"/>
              <a:t> number </a:t>
            </a:r>
          </a:p>
          <a:p>
            <a:endParaRPr lang="en-US" dirty="0"/>
          </a:p>
          <a:p>
            <a:r>
              <a:rPr lang="en-US" b="1" dirty="0"/>
              <a:t>(BIG IS BASE) </a:t>
            </a:r>
          </a:p>
          <a:p>
            <a:endParaRPr lang="en-US" b="1" dirty="0"/>
          </a:p>
          <a:p>
            <a:r>
              <a:rPr lang="en-US" dirty="0"/>
              <a:t>It is the number that is repeated in the multiplication. 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4EE7BE-57B4-4A62-9286-F00B443398FD}"/>
              </a:ext>
            </a:extLst>
          </p:cNvPr>
          <p:cNvSpPr txBox="1"/>
          <p:nvPr/>
        </p:nvSpPr>
        <p:spPr>
          <a:xfrm>
            <a:off x="8611340" y="506027"/>
            <a:ext cx="325810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b="1" u="sng" dirty="0"/>
              <a:t>index number </a:t>
            </a:r>
          </a:p>
          <a:p>
            <a:r>
              <a:rPr lang="en-US" dirty="0"/>
              <a:t>(or exponent, indices or power)</a:t>
            </a:r>
          </a:p>
          <a:p>
            <a:endParaRPr lang="en-US" dirty="0"/>
          </a:p>
          <a:p>
            <a:r>
              <a:rPr lang="en-US" dirty="0"/>
              <a:t>How many of the Base number we need in the multiplication </a:t>
            </a:r>
            <a:endParaRPr lang="en-AU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BAB458C-F61E-4AAE-A25D-60435A4ADFCA}"/>
              </a:ext>
            </a:extLst>
          </p:cNvPr>
          <p:cNvCxnSpPr/>
          <p:nvPr/>
        </p:nvCxnSpPr>
        <p:spPr>
          <a:xfrm>
            <a:off x="3861786" y="1438183"/>
            <a:ext cx="1577265" cy="109916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9C0F867-5A06-4C7E-9783-B9D833D6E613}"/>
              </a:ext>
            </a:extLst>
          </p:cNvPr>
          <p:cNvCxnSpPr/>
          <p:nvPr/>
        </p:nvCxnSpPr>
        <p:spPr>
          <a:xfrm flipH="1">
            <a:off x="7137647" y="861134"/>
            <a:ext cx="1562468" cy="89664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11">
            <a:extLst>
              <a:ext uri="{FF2B5EF4-FFF2-40B4-BE49-F238E27FC236}">
                <a16:creationId xmlns:a16="http://schemas.microsoft.com/office/drawing/2014/main" id="{5BE3AAB9-E619-4BE8-99C2-B2459203DBEC}"/>
              </a:ext>
            </a:extLst>
          </p:cNvPr>
          <p:cNvSpPr/>
          <p:nvPr/>
        </p:nvSpPr>
        <p:spPr>
          <a:xfrm>
            <a:off x="2572472" y="958788"/>
            <a:ext cx="1275312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CF8FE98-1B47-40BD-AB3B-173BAB41CEC6}"/>
              </a:ext>
            </a:extLst>
          </p:cNvPr>
          <p:cNvSpPr/>
          <p:nvPr/>
        </p:nvSpPr>
        <p:spPr>
          <a:xfrm>
            <a:off x="2163189" y="1807701"/>
            <a:ext cx="1673168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3" name="Rounded Rectangle 11">
            <a:extLst>
              <a:ext uri="{FF2B5EF4-FFF2-40B4-BE49-F238E27FC236}">
                <a16:creationId xmlns:a16="http://schemas.microsoft.com/office/drawing/2014/main" id="{22A851AE-F08C-4CF3-B1BD-40A89D9C7662}"/>
              </a:ext>
            </a:extLst>
          </p:cNvPr>
          <p:cNvSpPr/>
          <p:nvPr/>
        </p:nvSpPr>
        <p:spPr>
          <a:xfrm>
            <a:off x="9102682" y="506027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4" name="Rounded Rectangle 11">
            <a:extLst>
              <a:ext uri="{FF2B5EF4-FFF2-40B4-BE49-F238E27FC236}">
                <a16:creationId xmlns:a16="http://schemas.microsoft.com/office/drawing/2014/main" id="{DFB8B925-7A98-4BFD-8440-E96D0FE90D52}"/>
              </a:ext>
            </a:extLst>
          </p:cNvPr>
          <p:cNvSpPr/>
          <p:nvPr/>
        </p:nvSpPr>
        <p:spPr>
          <a:xfrm>
            <a:off x="5339588" y="4627392"/>
            <a:ext cx="1998133" cy="360132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5748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0ECC-312D-4892-8FD8-5425F9615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Match the expanded form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81E02E-436F-4481-847A-40E80A56CF2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3600" dirty="0"/>
              <a:t>7 x 7 x 7 x 7 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7 x 7 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7 x 7 x 7 x 7 x 7 x  7</a:t>
            </a:r>
          </a:p>
          <a:p>
            <a:pPr marL="0" indent="0" algn="ctr">
              <a:buNone/>
            </a:pPr>
            <a:endParaRPr lang="en-US" sz="3600" dirty="0"/>
          </a:p>
          <a:p>
            <a:pPr marL="0" indent="0" algn="ctr">
              <a:buNone/>
            </a:pPr>
            <a:r>
              <a:rPr lang="en-US" sz="3600" dirty="0"/>
              <a:t>7 x 7 x 7 </a:t>
            </a:r>
            <a:endParaRPr lang="en-AU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2DE39B-4878-4FCA-A67C-1A17F0A52DDE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 algn="ctr">
                  <a:buNone/>
                </a:pPr>
                <a:endParaRPr lang="en-AU" sz="3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 algn="ctr">
                  <a:buNone/>
                </a:pPr>
                <a:endParaRPr lang="en-AU" sz="3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6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3600" dirty="0"/>
              </a:p>
              <a:p>
                <a:pPr marL="0" indent="0" algn="ctr">
                  <a:buNone/>
                </a:pPr>
                <a:endParaRPr lang="en-AU" sz="360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 7 </m:t>
                      </m:r>
                      <m:r>
                        <a:rPr lang="en-US" sz="3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</m:t>
                      </m:r>
                    </m:oMath>
                  </m:oMathPara>
                </a14:m>
                <a:endParaRPr lang="en-US" sz="3600" b="0" dirty="0">
                  <a:ea typeface="Cambria Math" panose="02040503050406030204" pitchFamily="18" charset="0"/>
                </a:endParaRPr>
              </a:p>
              <a:p>
                <a:pPr marL="0" indent="0" algn="ctr">
                  <a:buNone/>
                </a:pPr>
                <a:endParaRPr lang="en-US" sz="3600" b="0" dirty="0"/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e>
                        <m:sup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</m:oMath>
                  </m:oMathPara>
                </a14:m>
                <a:endParaRPr lang="en-US" sz="3600" b="0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C12DE39B-4878-4FCA-A67C-1A17F0A52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57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05A5AC-C8F5-4B42-AC46-977B16FA8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The word is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A6BA0-2E3D-413B-94FE-B443D41FAF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rgbClr val="FF0000"/>
                </a:solidFill>
              </a:rPr>
              <a:t>Evaluate </a:t>
            </a:r>
          </a:p>
          <a:p>
            <a:endParaRPr lang="en-US" sz="3600" dirty="0"/>
          </a:p>
          <a:p>
            <a:pPr>
              <a:buFontTx/>
              <a:buChar char="-"/>
            </a:pPr>
            <a:r>
              <a:rPr lang="en-US" sz="3600" dirty="0"/>
              <a:t>Find a numerical expression </a:t>
            </a:r>
          </a:p>
          <a:p>
            <a:pPr>
              <a:buFontTx/>
              <a:buChar char="-"/>
            </a:pPr>
            <a:endParaRPr lang="en-US" sz="3600" dirty="0"/>
          </a:p>
          <a:p>
            <a:pPr>
              <a:buFontTx/>
              <a:buChar char="-"/>
            </a:pPr>
            <a:r>
              <a:rPr lang="en-US" sz="3600" dirty="0"/>
              <a:t>Provide an answer as a number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286967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02BC4-5AA4-4D28-8796-BD1299227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Evaluating indices: I do 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0819F-B9D7-4234-BFBC-2BF2B760615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  2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endParaRPr lang="en-US" sz="4400" dirty="0"/>
              </a:p>
              <a:p>
                <a:pPr marL="514350" indent="-514350">
                  <a:buAutoNum type="alphaLcParenR"/>
                </a:pPr>
                <a:endParaRPr lang="en-AU" sz="44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  3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sz="4400" dirty="0"/>
              </a:p>
              <a:p>
                <a:pPr marL="514350" indent="-514350">
                  <a:buAutoNum type="alphaLcParenR"/>
                </a:pPr>
                <a:endParaRPr lang="en-AU" sz="4400" dirty="0"/>
              </a:p>
              <a:p>
                <a:pPr marL="514350" indent="-514350">
                  <a:buAutoNum type="alphaLcParenR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sz="4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   5</m:t>
                        </m:r>
                      </m:e>
                      <m:sup>
                        <m:r>
                          <a:rPr lang="en-US" sz="4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AU" sz="4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AA0819F-B9D7-4234-BFBC-2BF2B76061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895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12EF4-7E22-4FA9-8179-30F280539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024194-42FF-490C-8C82-B6CD82F7A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Evaluate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4BFC30-B21B-4025-BD7E-6F2F0151C8D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  <a:p>
                <a:pPr marL="0" indent="0">
                  <a:buNone/>
                </a:pPr>
                <a:endParaRPr lang="en-AU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3200" b="1" dirty="0"/>
              </a:p>
              <a:p>
                <a:pPr marL="0" indent="0">
                  <a:buNone/>
                </a:pPr>
                <a:endParaRPr lang="en-AU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</m:sup>
                      </m:sSup>
                    </m:oMath>
                  </m:oMathPara>
                </a14:m>
                <a:endParaRPr lang="en-US" sz="3200" b="1" dirty="0"/>
              </a:p>
              <a:p>
                <a:pPr marL="0" indent="0">
                  <a:buNone/>
                </a:pPr>
                <a:endParaRPr lang="en-AU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3200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</m:e>
                        <m:sup>
                          <m:r>
                            <a:rPr lang="en-US" sz="32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054BFC30-B21B-4025-BD7E-6F2F0151C8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BCEBEF-53C9-45D5-B3F4-37BF9A88A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Simplify </a:t>
            </a:r>
            <a:endParaRPr lang="en-AU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B844449-E2CF-49FE-9D46-4E8146330DC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1" dirty="0"/>
              <a:t>9 x 9 x 9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11 x 11 x 11 x 11 x 11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2 x 2 x 2 x 2 </a:t>
            </a:r>
          </a:p>
          <a:p>
            <a:pPr marL="0" indent="0" algn="ctr">
              <a:buNone/>
            </a:pPr>
            <a:endParaRPr lang="en-US" b="1" dirty="0"/>
          </a:p>
          <a:p>
            <a:pPr marL="0" indent="0" algn="ctr">
              <a:buNone/>
            </a:pPr>
            <a:r>
              <a:rPr lang="en-US" b="1" dirty="0"/>
              <a:t>3 x 3 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543098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0F3C2FF-AB61-490E-B0A4-4C068C119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Multiple base numbers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6894043-102B-4614-99C2-85FF29CEA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Simplify: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3 x 3 x 4 x 3 x 4 x 5 x 5 x 4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2 x 3 x 4 x 3 x 2 x 2 x 4 x 3 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1EF59-1EB0-4F93-96A4-32B0B04BAE23}"/>
              </a:ext>
            </a:extLst>
          </p:cNvPr>
          <p:cNvSpPr txBox="1"/>
          <p:nvPr/>
        </p:nvSpPr>
        <p:spPr>
          <a:xfrm>
            <a:off x="8291744" y="2290439"/>
            <a:ext cx="2823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Write the base numbers 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Count repeats for indices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071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EA4D1-8DE4-4AE0-AA28-D5180E438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5FD60-8E28-493C-9CC4-41A6D58F6E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2 x 7 x 7 x 7 x 2 x 2 x 7 </a:t>
            </a:r>
          </a:p>
          <a:p>
            <a:pPr marL="514350" indent="-514350">
              <a:buAutoNum type="alphaLcParenR"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9 x 11 x 8 x 8 x 9 x 11 x 11 x 11 x 9 x 8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66A6C0-C72A-4B51-A62D-AD165F8CB8A2}"/>
              </a:ext>
            </a:extLst>
          </p:cNvPr>
          <p:cNvSpPr txBox="1"/>
          <p:nvPr/>
        </p:nvSpPr>
        <p:spPr>
          <a:xfrm>
            <a:off x="8637973" y="1535837"/>
            <a:ext cx="28230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Write the base numbers </a:t>
            </a:r>
          </a:p>
          <a:p>
            <a:pPr marL="342900" indent="-342900">
              <a:buAutoNum type="arabicPeriod"/>
            </a:pPr>
            <a:r>
              <a:rPr lang="en-US" sz="2400" b="1" dirty="0">
                <a:solidFill>
                  <a:srgbClr val="FF0000"/>
                </a:solidFill>
              </a:rPr>
              <a:t>Count repeats for indices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6960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C1EB488-4301-40F4-BF9D-C4A9C454A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2F5182A-46E9-4D87-9564-201987EEDD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Complete task sheet NA 17 Index notation.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19745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38232-0ADD-4F2B-8853-417DE0F02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Reflection: 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15667-AEE2-437C-BB74-D0DF42CEB9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3600" dirty="0"/>
              <a:t>Evaluate indices with positive powers </a:t>
            </a:r>
          </a:p>
          <a:p>
            <a:pPr marL="0" indent="0">
              <a:buNone/>
            </a:pP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322830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</TotalTime>
  <Words>655</Words>
  <Application>Microsoft Office PowerPoint</Application>
  <PresentationFormat>Widescreen</PresentationFormat>
  <Paragraphs>179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Century Gothic</vt:lpstr>
      <vt:lpstr>Wingdings</vt:lpstr>
      <vt:lpstr>Wingdings 3</vt:lpstr>
      <vt:lpstr>Office Theme</vt:lpstr>
      <vt:lpstr>Wisp</vt:lpstr>
      <vt:lpstr>Lesson objective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Match the expanded form </vt:lpstr>
      <vt:lpstr>The word is </vt:lpstr>
      <vt:lpstr>Evaluating indices: I do  </vt:lpstr>
      <vt:lpstr>Whiteboards </vt:lpstr>
      <vt:lpstr>Multiple base numbers </vt:lpstr>
      <vt:lpstr>Whiteboards </vt:lpstr>
      <vt:lpstr>Individual practice </vt:lpstr>
      <vt:lpstr>Reflection: fist to 5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18</cp:revision>
  <dcterms:created xsi:type="dcterms:W3CDTF">2022-03-07T23:50:56Z</dcterms:created>
  <dcterms:modified xsi:type="dcterms:W3CDTF">2023-03-08T01:33:49Z</dcterms:modified>
</cp:coreProperties>
</file>
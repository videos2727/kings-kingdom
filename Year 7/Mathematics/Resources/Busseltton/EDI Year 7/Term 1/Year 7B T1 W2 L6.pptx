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5" r:id="rId4"/>
    <p:sldId id="276" r:id="rId5"/>
    <p:sldId id="277" r:id="rId6"/>
    <p:sldId id="270" r:id="rId7"/>
    <p:sldId id="283" r:id="rId8"/>
    <p:sldId id="284" r:id="rId9"/>
    <p:sldId id="286" r:id="rId10"/>
    <p:sldId id="287" r:id="rId11"/>
    <p:sldId id="288" r:id="rId12"/>
    <p:sldId id="289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7F3F-A1F1-4600-B823-2C6DDED3E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65C15-9323-4353-905A-711BBD357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296-7A33-4D21-BE26-7B8A468F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5766C-BBD7-456D-A129-8A3728FD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7F925-CCF8-49E5-B021-78150E3B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74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5E9D-2F11-4129-92FB-9C41E212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F240F-CBF5-46E4-B5E3-C0C4BCAD1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84186-E096-46C9-AB55-FD4A9D4F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0D98-00DD-4304-B31C-9FACAAE3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F72C4-ACEA-440C-B1D1-12DF2086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57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1EC7-5BD2-4CBE-B3C7-1D87DFD8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66B7F-BC16-463E-9FF9-743700098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F93F7-EBEF-45D5-B056-2901BF8C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61DB7-FDF2-40D2-B379-6AAF5714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01DC2-2F3E-4285-A2F6-43978B37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96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1294-87D1-482C-9630-56ABBB33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428AE-58A5-4442-8DA5-C0F3AD8DD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AF212-ADCF-441D-8902-2A96D25DF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DD32-079F-4D42-80F5-871F590B2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99372-570A-4D0E-A869-8A5F250D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51F5C-4F4A-454C-98D4-BDCD05C2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605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AC57-8919-4206-83A4-E30D130F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E4F6C-631D-4950-88B4-7E83E7EBE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BA207-A668-4588-9241-F5A0E4652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F9001-78BB-4E3F-83F5-2F28F1C9F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14C18-E7C9-489B-ADED-692FC73A0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4E2D2A-4627-4888-8BF6-B3C2B92AE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FD4D7-9A72-4BF2-B79F-CE05C6FB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B8596-3757-43A8-9E12-92411782B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764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9778-7A5B-4AA4-A875-109A9746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CF4EE-FE5D-476C-990B-3E3F30A5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F515D-6D0B-44B4-B05A-DD5DBF98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7D096-E3D9-442F-95C4-1BAE953C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470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F1683-E6C5-4EF5-834F-04630552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8F8E4-14CB-4F71-8DA7-F9671164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61166-59D7-4EFB-BF49-BD2806DA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32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3F68-13E6-462F-A78B-42A6F021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0DB6C-D760-4DB7-90DF-910E42C93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20DC0-3548-464E-ADBA-C525C5E4E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15E6B-EEC7-43A9-A46E-993A5EC0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2A85-8147-4AF7-BF01-F23E4AF8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A3F60-D373-404A-9B8C-984BAB9A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520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8B10-19D9-4E53-93E1-2F644B4B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0F60F-D68D-45BF-A390-07860DE19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9A720-7F4B-445B-BA64-E799BB4A4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0AE44-15E5-4D12-A03F-96D23A51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39A2B-0A36-405D-8226-F6E59932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D13AE-1A12-4283-BF46-141638CC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46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0EE5-96B8-4DD6-8BE9-6BB861BA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0FB75-2BE1-437B-8B86-9CFD6057D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C806F-9A94-44C9-B332-3B335FF8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8ED01-6DDB-4A81-98D8-ED3402E3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A5606-79E1-4533-8229-A20506F7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1650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12FBD-2474-4AF3-A763-08C5CE161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58DD1-C8EE-46FF-8672-4934E01F2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26E8C-CCFD-49E0-ACAB-E746DE4A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DB0FA-0839-44B8-9E61-46404AAE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B9BC-7283-4FD1-956F-E8E97E9A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815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F483F-48FE-44CD-8419-B6FD1317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F84D-FEFE-4F44-A2C9-4A3498BAD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4176C-1923-43AA-A39A-092384DBF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0523C-CB38-4E61-87B9-47A57BB874D5}" type="datetimeFigureOut">
              <a:rPr lang="en-AU" smtClean="0"/>
              <a:t>9/02/2023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DE560-BFE5-413A-82AA-44018573E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504B3-979F-470C-BED4-B9A6F8902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D3DFB-F7CA-4E16-8BCF-1BD54425F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90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6052DE-BB6D-43A9-A265-7DBAD1D9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ED5A83-B3F8-443F-87C0-1F80BBFAB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Negative integers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Efficiently add and subtract </a:t>
            </a:r>
            <a:r>
              <a:rPr lang="en-AU">
                <a:solidFill>
                  <a:srgbClr val="00B0F0"/>
                </a:solidFill>
              </a:rPr>
              <a:t>negative numbers </a:t>
            </a:r>
            <a:endParaRPr lang="en-AU" dirty="0">
              <a:solidFill>
                <a:srgbClr val="00B0F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Demonstrate partitioning strategies for addition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review: rounding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Negative integers practice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Partitioning strategies </a:t>
            </a:r>
          </a:p>
          <a:p>
            <a:pPr>
              <a:buFontTx/>
              <a:buChar char="-"/>
            </a:pPr>
            <a:endParaRPr lang="en-AU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18240-C62C-40B9-8500-629D798798F9}"/>
              </a:ext>
            </a:extLst>
          </p:cNvPr>
          <p:cNvSpPr txBox="1"/>
          <p:nvPr/>
        </p:nvSpPr>
        <p:spPr>
          <a:xfrm>
            <a:off x="10413507" y="365125"/>
            <a:ext cx="140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09/02/22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BA779-6E36-48D4-8882-9F018E14A874}"/>
              </a:ext>
            </a:extLst>
          </p:cNvPr>
          <p:cNvSpPr txBox="1"/>
          <p:nvPr/>
        </p:nvSpPr>
        <p:spPr>
          <a:xfrm>
            <a:off x="8717871" y="4001294"/>
            <a:ext cx="2112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a ruler and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58781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A29A-2833-4078-A75A-D1982853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95C77-C477-4DE7-A442-EA60822D3C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place value of 2 in these numbers?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u="sng" dirty="0"/>
              <a:t>2</a:t>
            </a:r>
            <a:r>
              <a:rPr lang="en-US" dirty="0"/>
              <a:t>10 </a:t>
            </a:r>
          </a:p>
          <a:p>
            <a:pPr marL="514350" indent="-514350">
              <a:buAutoNum type="alphaLcParenR"/>
            </a:pPr>
            <a:r>
              <a:rPr lang="en-US" dirty="0"/>
              <a:t>3</a:t>
            </a:r>
            <a:r>
              <a:rPr lang="en-US" u="sng" dirty="0"/>
              <a:t>2</a:t>
            </a:r>
            <a:r>
              <a:rPr lang="en-US" dirty="0"/>
              <a:t>.34 </a:t>
            </a:r>
          </a:p>
          <a:p>
            <a:pPr marL="514350" indent="-514350">
              <a:buAutoNum type="alphaLcParenR"/>
            </a:pPr>
            <a:r>
              <a:rPr lang="en-US" dirty="0"/>
              <a:t>10</a:t>
            </a:r>
            <a:r>
              <a:rPr lang="en-US" u="sng" dirty="0"/>
              <a:t>2</a:t>
            </a:r>
            <a:r>
              <a:rPr lang="en-US" dirty="0"/>
              <a:t> 350</a:t>
            </a:r>
          </a:p>
          <a:p>
            <a:pPr marL="514350" indent="-514350">
              <a:buAutoNum type="alphaLcParenR"/>
            </a:pPr>
            <a:r>
              <a:rPr lang="en-US" dirty="0"/>
              <a:t>10.</a:t>
            </a:r>
            <a:r>
              <a:rPr lang="en-US" u="sng" dirty="0"/>
              <a:t>2</a:t>
            </a:r>
            <a:r>
              <a:rPr lang="en-US" dirty="0"/>
              <a:t> </a:t>
            </a:r>
          </a:p>
          <a:p>
            <a:pPr marL="514350" indent="-514350">
              <a:buAutoNum type="alphaLcParenR"/>
            </a:pPr>
            <a:r>
              <a:rPr lang="en-US" dirty="0"/>
              <a:t>45.00</a:t>
            </a:r>
            <a:r>
              <a:rPr lang="en-US" u="sng" dirty="0"/>
              <a:t>2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84DB8-F6D3-4D6C-8393-5E697F1C60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Whiteboards</a:t>
            </a:r>
          </a:p>
          <a:p>
            <a:pPr marL="0" indent="0">
              <a:buNone/>
            </a:pPr>
            <a:r>
              <a:rPr lang="en-US" dirty="0"/>
              <a:t>Round these numbers to the nearest TEN.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34 788 </a:t>
            </a:r>
          </a:p>
          <a:p>
            <a:pPr marL="514350" indent="-514350">
              <a:buAutoNum type="alphaLcParenR"/>
            </a:pPr>
            <a:r>
              <a:rPr lang="en-US" dirty="0"/>
              <a:t>214 </a:t>
            </a:r>
          </a:p>
          <a:p>
            <a:pPr marL="514350" indent="-514350">
              <a:buAutoNum type="alphaLcParenR"/>
            </a:pPr>
            <a:r>
              <a:rPr lang="en-US" dirty="0"/>
              <a:t>398 </a:t>
            </a:r>
          </a:p>
          <a:p>
            <a:pPr marL="514350" indent="-514350">
              <a:buAutoNum type="alphaLcParenR"/>
            </a:pPr>
            <a:r>
              <a:rPr lang="en-US" dirty="0"/>
              <a:t>201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1539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300B35-F5D6-4BAF-9112-36662F54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Review: negative numbers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61E7E-92A2-4C32-81DC-1E5A4F4F5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Adding a negative number is the same as _________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Subtracting a negative number is the same as ________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043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0CBD1-900A-4369-B790-1AB1E47C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D34BB-E152-446C-A447-7502ECB2E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12 + -5 =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18 + - 9 = 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-3 + -7 = 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-10 + -5 =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5CED5-26A7-478A-81CF-DA2667CB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200" dirty="0"/>
              <a:t>7 - -8 = 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12 - -4 = 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34 - -12 = 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-9 - -11 </a:t>
            </a:r>
          </a:p>
          <a:p>
            <a:endParaRPr lang="en-AU" sz="3200" dirty="0"/>
          </a:p>
          <a:p>
            <a:pPr marL="0" indent="0">
              <a:buNone/>
            </a:pPr>
            <a:r>
              <a:rPr lang="en-AU" sz="3200" dirty="0"/>
              <a:t>-11 - -14 = </a:t>
            </a:r>
          </a:p>
        </p:txBody>
      </p:sp>
    </p:spTree>
    <p:extLst>
      <p:ext uri="{BB962C8B-B14F-4D97-AF65-F5344CB8AC3E}">
        <p14:creationId xmlns:p14="http://schemas.microsoft.com/office/powerpoint/2010/main" val="66314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1CCE822-665C-46DE-9A28-1DDEB42DC064}"/>
              </a:ext>
            </a:extLst>
          </p:cNvPr>
          <p:cNvSpPr/>
          <p:nvPr/>
        </p:nvSpPr>
        <p:spPr>
          <a:xfrm>
            <a:off x="300605" y="1259087"/>
            <a:ext cx="3553428" cy="5189694"/>
          </a:xfrm>
          <a:prstGeom prst="round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1AA489C2-FBA9-4D55-8B18-2DBC0E3D6184}"/>
              </a:ext>
            </a:extLst>
          </p:cNvPr>
          <p:cNvSpPr/>
          <p:nvPr/>
        </p:nvSpPr>
        <p:spPr>
          <a:xfrm>
            <a:off x="4319286" y="1259086"/>
            <a:ext cx="3553428" cy="5189694"/>
          </a:xfrm>
          <a:prstGeom prst="roundRect">
            <a:avLst/>
          </a:prstGeom>
          <a:noFill/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910A53C1-3DEE-496E-B4AE-52E2732A21F1}"/>
              </a:ext>
            </a:extLst>
          </p:cNvPr>
          <p:cNvSpPr/>
          <p:nvPr/>
        </p:nvSpPr>
        <p:spPr>
          <a:xfrm>
            <a:off x="8447646" y="408374"/>
            <a:ext cx="3553428" cy="6040408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6A2E6F-A234-4B3E-AB73-E88EC512028E}"/>
                  </a:ext>
                </a:extLst>
              </p:cNvPr>
              <p:cNvSpPr txBox="1"/>
              <p:nvPr/>
            </p:nvSpPr>
            <p:spPr>
              <a:xfrm>
                <a:off x="390617" y="1376040"/>
                <a:ext cx="2636668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8+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12+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−19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25+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−30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−32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+12=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−17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−17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6A2E6F-A234-4B3E-AB73-E88EC5120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17" y="1376040"/>
                <a:ext cx="2636668" cy="4893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8286A8-0391-4C57-A2B6-F8D619531155}"/>
                  </a:ext>
                </a:extLst>
              </p:cNvPr>
              <p:cNvSpPr txBox="1"/>
              <p:nvPr/>
            </p:nvSpPr>
            <p:spPr>
              <a:xfrm>
                <a:off x="4319286" y="1287261"/>
                <a:ext cx="2352583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12 −−4=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25 −−5=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−15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−5=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−17=</m:t>
                      </m:r>
                    </m:oMath>
                  </m:oMathPara>
                </a14:m>
                <a:endParaRPr lang="en-AU" sz="240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26 −−21=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−34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−31=</m:t>
                      </m:r>
                    </m:oMath>
                  </m:oMathPara>
                </a14:m>
                <a:endParaRPr lang="en-AU" sz="2400" b="0" dirty="0"/>
              </a:p>
              <a:p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−21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−−21=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8286A8-0391-4C57-A2B6-F8D619531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286" y="1287261"/>
                <a:ext cx="2352583" cy="4893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6493FC1-7CF0-4788-AD18-A234F1706E8C}"/>
              </a:ext>
            </a:extLst>
          </p:cNvPr>
          <p:cNvSpPr txBox="1"/>
          <p:nvPr/>
        </p:nvSpPr>
        <p:spPr>
          <a:xfrm>
            <a:off x="8558075" y="612420"/>
            <a:ext cx="33333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Billy G. owns a plane and a submarine. His plane is flying 1200m above sea level and his submarine is 340m below sea level. How far below the airplane is the submarine? 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If the submarine dives to 740m below sea level, what is the difference between its two positions?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496FF-5F97-4B3F-B894-3C72DCFA58F4}"/>
              </a:ext>
            </a:extLst>
          </p:cNvPr>
          <p:cNvSpPr txBox="1"/>
          <p:nvPr/>
        </p:nvSpPr>
        <p:spPr>
          <a:xfrm>
            <a:off x="2924367" y="1376040"/>
            <a:ext cx="71697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5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7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-10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-29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-5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-20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-34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42394-B783-413B-A113-E14C3F6C8B93}"/>
              </a:ext>
            </a:extLst>
          </p:cNvPr>
          <p:cNvSpPr txBox="1"/>
          <p:nvPr/>
        </p:nvSpPr>
        <p:spPr>
          <a:xfrm>
            <a:off x="6578353" y="1259087"/>
            <a:ext cx="12073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16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30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-20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-25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47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-65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r>
              <a:rPr lang="en-AU" sz="2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9E6E1-9671-47CA-AB17-E2F3F5A4AD58}"/>
              </a:ext>
            </a:extLst>
          </p:cNvPr>
          <p:cNvSpPr txBox="1"/>
          <p:nvPr/>
        </p:nvSpPr>
        <p:spPr>
          <a:xfrm>
            <a:off x="10315852" y="3428575"/>
            <a:ext cx="1227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= 1540m apart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E214D-4DBD-4F55-8F4E-F40B080AEC6B}"/>
              </a:ext>
            </a:extLst>
          </p:cNvPr>
          <p:cNvSpPr txBox="1"/>
          <p:nvPr/>
        </p:nvSpPr>
        <p:spPr>
          <a:xfrm>
            <a:off x="10313677" y="5802445"/>
            <a:ext cx="155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= difference is 400m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67B73-E0F4-439F-807E-5384F1A82F81}"/>
              </a:ext>
            </a:extLst>
          </p:cNvPr>
          <p:cNvSpPr txBox="1"/>
          <p:nvPr/>
        </p:nvSpPr>
        <p:spPr>
          <a:xfrm>
            <a:off x="390617" y="150920"/>
            <a:ext cx="6995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highlight>
                  <a:srgbClr val="FFFF00"/>
                </a:highlight>
              </a:rPr>
              <a:t>Exercise books</a:t>
            </a:r>
            <a:endParaRPr lang="en-AU" sz="2800" b="1" u="sng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7530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5BC1-3048-4D74-9D56-079ABB65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should you do when you can’t sleep?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320A-0BB4-475F-9C64-30FC9CF24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BEFORE WE START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Look over all the questions and any time you “ - - ” (minus a negative number) turn it into a + (plus)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Use your notes to complete the worksheet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EAE3F-9743-4BB4-BDA7-D77D61898A87}"/>
              </a:ext>
            </a:extLst>
          </p:cNvPr>
          <p:cNvSpPr/>
          <p:nvPr/>
        </p:nvSpPr>
        <p:spPr>
          <a:xfrm>
            <a:off x="2907905" y="5044413"/>
            <a:ext cx="651277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Finish the worksheet </a:t>
            </a:r>
          </a:p>
        </p:txBody>
      </p:sp>
    </p:spTree>
    <p:extLst>
      <p:ext uri="{BB962C8B-B14F-4D97-AF65-F5344CB8AC3E}">
        <p14:creationId xmlns:p14="http://schemas.microsoft.com/office/powerpoint/2010/main" val="97749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18A6-0844-4C8F-AFC7-12C6BEFC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Partitioning strategies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8FC9E-09FD-499E-AE9B-DE198DD8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i="1" u="sng" dirty="0"/>
              <a:t>Part</a:t>
            </a:r>
            <a:r>
              <a:rPr lang="en-AU" dirty="0"/>
              <a:t>itioning is a mental strategy where you break up a number into </a:t>
            </a:r>
            <a:r>
              <a:rPr lang="en-AU" i="1" u="sng" dirty="0"/>
              <a:t>part</a:t>
            </a:r>
            <a:r>
              <a:rPr lang="en-AU" dirty="0"/>
              <a:t>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Looks like: 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456 </a:t>
            </a:r>
          </a:p>
          <a:p>
            <a:pPr marL="514350" indent="-514350">
              <a:buAutoNum type="alphaLcParenR"/>
            </a:pPr>
            <a:r>
              <a:rPr lang="en-AU" dirty="0"/>
              <a:t>250</a:t>
            </a:r>
          </a:p>
          <a:p>
            <a:pPr marL="514350" indent="-514350">
              <a:buAutoNum type="alphaLcParenR"/>
            </a:pPr>
            <a:r>
              <a:rPr lang="en-AU" dirty="0"/>
              <a:t>1398 </a:t>
            </a:r>
          </a:p>
        </p:txBody>
      </p:sp>
    </p:spTree>
    <p:extLst>
      <p:ext uri="{BB962C8B-B14F-4D97-AF65-F5344CB8AC3E}">
        <p14:creationId xmlns:p14="http://schemas.microsoft.com/office/powerpoint/2010/main" val="4008367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12BF-7169-4183-92F2-61AC94E8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6BDF8-49F7-4B93-A3C1-9320597A9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Partition these numbers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430 </a:t>
            </a:r>
          </a:p>
          <a:p>
            <a:pPr marL="514350" indent="-514350">
              <a:buAutoNum type="alphaLcParenR"/>
            </a:pPr>
            <a:r>
              <a:rPr lang="en-US" dirty="0"/>
              <a:t>568 </a:t>
            </a:r>
          </a:p>
          <a:p>
            <a:pPr marL="514350" indent="-514350">
              <a:buAutoNum type="alphaLcParenR"/>
            </a:pPr>
            <a:r>
              <a:rPr lang="en-US" dirty="0"/>
              <a:t>12521 </a:t>
            </a:r>
          </a:p>
        </p:txBody>
      </p:sp>
    </p:spTree>
    <p:extLst>
      <p:ext uri="{BB962C8B-B14F-4D97-AF65-F5344CB8AC3E}">
        <p14:creationId xmlns:p14="http://schemas.microsoft.com/office/powerpoint/2010/main" val="341463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E0DB-429C-469E-935D-E84FD0FD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Partition and addition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6B703-E0C2-48D4-BD3E-10527977D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Sometime partitioning a numbers during addition can help mental calculations.</a:t>
            </a:r>
          </a:p>
          <a:p>
            <a:pPr marL="0" indent="0">
              <a:buNone/>
            </a:pPr>
            <a:r>
              <a:rPr lang="en-AU" dirty="0"/>
              <a:t>Looks like: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341 + 236 = </a:t>
            </a:r>
          </a:p>
          <a:p>
            <a:pPr marL="0" indent="0" algn="ctr">
              <a:buNone/>
            </a:pPr>
            <a:r>
              <a:rPr lang="en-AU" dirty="0"/>
              <a:t>   300 + 40 + 1</a:t>
            </a:r>
          </a:p>
          <a:p>
            <a:pPr marL="0" indent="0" algn="ctr">
              <a:buNone/>
            </a:pPr>
            <a:r>
              <a:rPr lang="en-AU" u="sng" dirty="0"/>
              <a:t>+ 200 + 30 + 6 </a:t>
            </a:r>
          </a:p>
          <a:p>
            <a:pPr marL="0" indent="0" algn="ctr">
              <a:buNone/>
            </a:pPr>
            <a:r>
              <a:rPr lang="en-AU" dirty="0"/>
              <a:t>577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88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2622-6182-4BF2-98CE-65E74745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you try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87704-E432-493E-A426-0E6532EA3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Partition the numbers, then add them together. Show your working out.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512 + 257 =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756 + 123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705 + 291 =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620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3EE9-C51C-4559-ADFD-E68541A5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Exercise books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D53C2C-7C05-43DC-9696-C45859F7F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6779" y="2105025"/>
            <a:ext cx="12325557" cy="4016375"/>
          </a:xfrm>
        </p:spPr>
      </p:pic>
    </p:spTree>
    <p:extLst>
      <p:ext uri="{BB962C8B-B14F-4D97-AF65-F5344CB8AC3E}">
        <p14:creationId xmlns:p14="http://schemas.microsoft.com/office/powerpoint/2010/main" val="31349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B5956-3099-43DF-96DC-0620A5BC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Answers 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922EA728-3C7E-413B-A248-1C504CCEC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41258"/>
            <a:ext cx="10905066" cy="406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8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F26C73-C99A-4A67-868A-5F656EB0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000000"/>
                </a:solidFill>
              </a:rPr>
              <a:t>How did we do?</a:t>
            </a:r>
          </a:p>
        </p:txBody>
      </p:sp>
      <p:sp>
        <p:nvSpPr>
          <p:cNvPr id="18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Graphic 6" descr="Checkmark">
            <a:extLst>
              <a:ext uri="{FF2B5EF4-FFF2-40B4-BE49-F238E27FC236}">
                <a16:creationId xmlns:a16="http://schemas.microsoft.com/office/drawing/2014/main" id="{131CCE3F-CC55-467C-BB71-BFB5F0FF4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B49FF-8556-4F57-9444-31D2C7242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000" dirty="0"/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000" dirty="0"/>
              <a:t> I feel confident when using negative numbers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000" dirty="0"/>
              <a:t> Demonstrate partitioning strategies for addition</a:t>
            </a:r>
          </a:p>
          <a:p>
            <a:pPr marL="0" indent="0">
              <a:buNone/>
            </a:pPr>
            <a:endParaRPr lang="en-AU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77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447</Words>
  <Application>Microsoft Office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Review: negative numbers </vt:lpstr>
      <vt:lpstr>Whiteboards </vt:lpstr>
      <vt:lpstr>PowerPoint Presentation</vt:lpstr>
      <vt:lpstr>What should you do when you can’t sleep? </vt:lpstr>
      <vt:lpstr>Partitioning strategies </vt:lpstr>
      <vt:lpstr>Whiteboards </vt:lpstr>
      <vt:lpstr>Partition and addition </vt:lpstr>
      <vt:lpstr>Whiteboards: you try </vt:lpstr>
      <vt:lpstr>Exercise books </vt:lpstr>
      <vt:lpstr>Answers </vt:lpstr>
      <vt:lpstr>How did we do?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21</cp:revision>
  <dcterms:created xsi:type="dcterms:W3CDTF">2021-02-16T07:20:43Z</dcterms:created>
  <dcterms:modified xsi:type="dcterms:W3CDTF">2023-02-08T23:44:49Z</dcterms:modified>
</cp:coreProperties>
</file>
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2" r:id="rId4"/>
    <p:sldId id="264" r:id="rId5"/>
    <p:sldId id="265" r:id="rId6"/>
    <p:sldId id="266" r:id="rId7"/>
    <p:sldId id="267" r:id="rId8"/>
    <p:sldId id="268" r:id="rId9"/>
    <p:sldId id="271" r:id="rId10"/>
    <p:sldId id="269" r:id="rId11"/>
    <p:sldId id="270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090" autoAdjust="0"/>
  </p:normalViewPr>
  <p:slideViewPr>
    <p:cSldViewPr snapToGrid="0">
      <p:cViewPr varScale="1">
        <p:scale>
          <a:sx n="80" d="100"/>
          <a:sy n="80" d="100"/>
        </p:scale>
        <p:origin x="782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30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219 1,'-4'0,"-5"0,-6 0,-5 0,-2 0,-3 0,0 0,-1 0,1 0,-1 0,5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32.4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295 1,'-4'0,"-6"0,-5 0,-9 0,-4 0,-2 0,1 0,0 0,1 0,2 0,0 0,1 0,5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34.1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0,'0'420,"0"-398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35.7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318 0,'-4'0,"-6"0,-5 0,-4 0,-4 0,-1 0,-1 0,-1 0,0 0,1 0,-1 0,1 0,0 0,1 0,3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37.2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0,'5'0,"5"0,5 0,4 0,4 0,1 0,1 0,1 0,0 0,0 0,-1 0,-4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38.7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0,'0'396,"0"-375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41.1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0,'0'4,"0"6,0 5,0 4,0 4,0 5,0 7,0 2,0-2,0-2,0-2,0-3,0-2,0-1,0-1,0 1,0-5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42.5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1,'0'4,"0"6,0 5,0 4,0 3,0 2,0 2,0-1,0 1,0 0,0-1,0 0,0 0,0 0,0 0,0-5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44.7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1,'0'4,"0"6,0 5,0 5,0 2,0 2,0 1,0 1,0 0,0 0,0-1,0 0,0-4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50.0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1,'0'4,"0"6,0 5,0 5,0 2,0 2,0 1,0 1,0 0,0 0,0-1,0 0,0 0,0 0,0-1,0 1,0-5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54.9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1,'0'4,"0"6,0 5,0 4,0 4,0 1,0 1,0 1,0 0,0-1,0 1,0-1,0 0,0-1,0-3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56.4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0,'0'4,"0"10,0 7,0 3,0 7,0 2,0 4,0-1,0-1,0-3,0-3,0-6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58.6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1,'4'0,"6"0,5 0,4 0,4 0,1 0,1 0,1 0,-4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6:59.8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0,'4'0,"6"0,5 0,5 0,2 0,2 0,2 0,-1 0,1 0,-4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7:01.4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1,'4'0,"6"0,5 0,5 0,2 0,2 0,2 0,-1 0,1 0,0 0,-1 0,-4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7:03.7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1,'4'0,"6"0,5 0,4 0,3 0,3 0,0 0,1 0,-1 0,-3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7:05.2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1,'4'0,"6"0,5 0,4 0,3 0,3 0,0 0,1 0,0 0,-1 0,-4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1T08:57:06.4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1,'4'0,"6"0,9 0,6 0,3 0,1 0,-1 0,-1 0,0 0,-1 0,-4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4D05F-8C86-4A4F-B57F-6C728CFE8F3C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65022-40DE-4ADA-9FDA-0678559C53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627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= 15cm</a:t>
            </a:r>
          </a:p>
          <a:p>
            <a:r>
              <a:rPr lang="en-US" dirty="0"/>
              <a:t>B = 37m</a:t>
            </a:r>
          </a:p>
          <a:p>
            <a:r>
              <a:rPr lang="en-US" dirty="0"/>
              <a:t>C = 30km</a:t>
            </a:r>
          </a:p>
          <a:p>
            <a:r>
              <a:rPr lang="en-US" dirty="0"/>
              <a:t>D= 2.4m</a:t>
            </a:r>
          </a:p>
          <a:p>
            <a:r>
              <a:rPr lang="en-US" dirty="0"/>
              <a:t>E = 26cm </a:t>
            </a:r>
          </a:p>
          <a:p>
            <a:r>
              <a:rPr lang="en-US" dirty="0"/>
              <a:t>F= 10cm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65022-40DE-4ADA-9FDA-0678559C532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1811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65022-40DE-4ADA-9FDA-0678559C532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258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2D36A-9503-4BAC-B686-8E2AF6E15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673AB-246E-4887-941A-6B189C2E5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638F0-AE6E-433F-8E36-2115E8F29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2D9F5-4A23-4E30-BD84-521213E5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01DEA-9C0A-4840-B967-DE8179603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8014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390F-D05E-4777-9B01-3DCCD700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5C6A6-BECC-439D-B6D2-6826D6E9D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5CBC1-35E7-4D3C-9157-C58D961B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400CF-5849-40B1-BC9F-957F7849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D6849-0EEE-4E7C-A666-1AE2F165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264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E269-06A3-4B1E-B738-057C70BA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867A9-D91E-4855-8FD5-27CAFA8EA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C6DD0-8113-4C26-82CF-FD6EB362C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0F17-4C7F-4B62-919C-CBE63E78B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B216A-B8D7-4A4B-B90C-11218ED3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710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23D6-9C81-49FF-A475-3EC6A331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81968-4B0D-4098-BBD0-8F2E05565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9A654-E105-4539-97EC-CB7D7A3A1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5F1F6-7D9B-4989-A58F-0D4FB763C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D57C4-DC12-4A82-9934-A829DF0D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9AA16-8E4E-4060-A937-4F7EAFF8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580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B7FC1-9316-4C3B-B5F8-573FCB19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E4892-5D7A-4EE8-8AC7-E0786A150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A8631-B9C4-497C-8EE0-08E9F7431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43D98-6121-4B67-B07F-BE32883DA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1C1B32-1CD8-4B7D-840F-C3422F96C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3350BB-ACBF-44FC-A2B2-E32FF486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055B9-585B-4716-B8B6-499098745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28367F-8C84-49A5-BD55-E74FB79B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60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EFC7-29E6-4C46-9F7C-FEE65E0B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43C4F-BED9-4A85-BDF1-A4CC36B76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D2004-0D49-4ABC-9BEC-3542850A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36764-89CB-4733-B771-717A746F9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037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EFFD5E-8577-4326-A3AD-2A42687F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27513-28D2-4BE4-A691-890ED808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761C9-3A64-4304-B1A5-A43128DD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787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308B0-0C29-47EE-9176-FF3511EC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60429-B15A-43A3-8995-2C7FC1E72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DFB2B-D5E8-4E5E-8225-E21BFDB70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968A8-C977-4598-BDBC-641929937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CA8E6-6CB5-4E6D-AD75-A557E2D0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208B1-331F-43E5-A273-0F097DD6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487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713A8-A3C5-4143-A79B-10D48316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9FC431-EDB9-4AE9-B42E-3487AC84A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0DDB7-D531-4A73-8521-7A0D44F56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3380-98C4-4E6D-8B8C-37B71C7E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CD837-DC96-40E7-88FD-793E976B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3940E-19F5-4856-932A-4D33223D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67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28326-6919-4CBF-9B40-B24627FE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A7C11-A43C-4918-97C7-0015EC5A9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D8B57-6261-4547-85D3-005FDC3C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D5106-73DC-4772-8454-D674BF1D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A11B2-472D-45CE-932B-90630298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655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2B78C-79AC-4BFB-86FF-01B732864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888B4-0DC9-4575-B493-F82EFB27E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31556-CE6D-4DE0-A6F3-C5B60BA1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7033F-53D3-4950-8D13-BB9E236A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5534-CDA6-4087-B7F0-B516D890C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77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4512B-A2CE-41F7-B177-7D2D02C8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1F64A-BDCC-49D7-ADDE-3A46CE4E2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0771F-218F-4988-851E-3D93D5F5B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A919E-FDA8-412C-81D9-0D52F1903207}" type="datetimeFigureOut">
              <a:rPr lang="en-AU" smtClean="0"/>
              <a:t>30/03/2023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77D6-4ADF-4890-9EC7-F16E2CC08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525F6-16C7-4C50-BFA1-84BE00AD1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D71B2-4FE3-456C-BE1C-DDBCA9835D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881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image" Target="../media/image9.png"/><Relationship Id="rId26" Type="http://schemas.openxmlformats.org/officeDocument/2006/relationships/customXml" Target="../ink/ink14.xml"/><Relationship Id="rId3" Type="http://schemas.openxmlformats.org/officeDocument/2006/relationships/image" Target="../media/image2.png"/><Relationship Id="rId21" Type="http://schemas.openxmlformats.org/officeDocument/2006/relationships/customXml" Target="../ink/ink11.xml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customXml" Target="../ink/ink9.xml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6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customXml" Target="../ink/ink13.xml"/><Relationship Id="rId5" Type="http://schemas.openxmlformats.org/officeDocument/2006/relationships/image" Target="../media/image3.png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customXml" Target="../ink/ink15.xml"/><Relationship Id="rId10" Type="http://schemas.openxmlformats.org/officeDocument/2006/relationships/customXml" Target="../ink/ink5.xml"/><Relationship Id="rId19" Type="http://schemas.openxmlformats.org/officeDocument/2006/relationships/customXml" Target="../ink/ink10.xml"/><Relationship Id="rId31" Type="http://schemas.openxmlformats.org/officeDocument/2006/relationships/customXml" Target="../ink/ink18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image" Target="../media/image11.png"/><Relationship Id="rId27" Type="http://schemas.openxmlformats.org/officeDocument/2006/relationships/image" Target="../media/image13.png"/><Relationship Id="rId30" Type="http://schemas.openxmlformats.org/officeDocument/2006/relationships/customXml" Target="../ink/ink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hyperlink" Target="https://www.youtube.com/watch?v=CgqgY7a630Q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CA594D-76B7-4F83-91C8-04427A6B6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51D799-91D5-42AD-B8B6-5F4CAC0F0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986"/>
            <a:ext cx="10515600" cy="498354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Calculating Perimeter and Area </a:t>
            </a:r>
          </a:p>
          <a:p>
            <a:pPr marL="0" indent="0" algn="ctr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calculate perimeter of common shapes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Determine the area for calculate area of simple shapes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Substitution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Perimeter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Area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CF50CB-689A-3A34-E3B2-D3D152146C91}"/>
              </a:ext>
            </a:extLst>
          </p:cNvPr>
          <p:cNvSpPr txBox="1"/>
          <p:nvPr/>
        </p:nvSpPr>
        <p:spPr>
          <a:xfrm>
            <a:off x="7781925" y="2514600"/>
            <a:ext cx="2600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whiteboards.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49634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6E9D-F1DA-42DF-8FD5-8DF21B9A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Substituting values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BBDFF-7BCF-45A8-B25D-F3CDEEFF18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If a = 4, e = 7 and g = 3, substitute the values and evaluate:</a:t>
            </a:r>
          </a:p>
          <a:p>
            <a:pPr marL="0" indent="0">
              <a:buNone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2a </a:t>
            </a:r>
          </a:p>
          <a:p>
            <a:pPr marL="514350" indent="-514350">
              <a:buAutoNum type="alphaLcParenR"/>
            </a:pPr>
            <a:r>
              <a:rPr lang="en-AU" dirty="0" err="1"/>
              <a:t>ge</a:t>
            </a:r>
            <a:r>
              <a:rPr lang="en-AU" dirty="0"/>
              <a:t> </a:t>
            </a:r>
          </a:p>
          <a:p>
            <a:pPr marL="514350" indent="-514350">
              <a:buAutoNum type="alphaLcParenR"/>
            </a:pPr>
            <a:r>
              <a:rPr lang="en-AU" dirty="0"/>
              <a:t>3e – 3g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4CAEC-53B3-499C-97F4-9328B31C84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Answers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2 x 4 = 8</a:t>
            </a:r>
          </a:p>
          <a:p>
            <a:pPr marL="0" indent="0" algn="ctr">
              <a:buNone/>
            </a:pPr>
            <a:r>
              <a:rPr lang="en-AU" dirty="0"/>
              <a:t>3 x 7 = 21 </a:t>
            </a:r>
          </a:p>
          <a:p>
            <a:pPr marL="0" indent="0" algn="ctr">
              <a:buNone/>
            </a:pPr>
            <a:r>
              <a:rPr lang="en-AU" dirty="0"/>
              <a:t>(3 x 7) – (3 x 3)</a:t>
            </a:r>
          </a:p>
          <a:p>
            <a:pPr marL="0" indent="0" algn="ctr">
              <a:buNone/>
            </a:pPr>
            <a:r>
              <a:rPr lang="en-AU" dirty="0"/>
              <a:t>= 21 – 9</a:t>
            </a:r>
          </a:p>
          <a:p>
            <a:pPr marL="0" indent="0" algn="ctr">
              <a:buNone/>
            </a:pPr>
            <a:r>
              <a:rPr lang="en-AU" dirty="0"/>
              <a:t>= 12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191F5F-7C25-4019-8858-2D4C97503FE5}"/>
              </a:ext>
            </a:extLst>
          </p:cNvPr>
          <p:cNvSpPr txBox="1"/>
          <p:nvPr/>
        </p:nvSpPr>
        <p:spPr>
          <a:xfrm>
            <a:off x="372862" y="177553"/>
            <a:ext cx="2752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Students complete in exercise book.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1688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F5F5-4EF1-4DAC-B57C-D3A3AA17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perimeter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5AA3E-2A64-4A7C-A4E4-04908429E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AU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he </a:t>
            </a:r>
            <a:r>
              <a:rPr lang="en-AU" b="1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total</a:t>
            </a:r>
            <a:r>
              <a:rPr lang="en-AU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length forming the </a:t>
            </a:r>
            <a:r>
              <a:rPr lang="en-AU" b="1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boundary</a:t>
            </a:r>
            <a:r>
              <a:rPr lang="en-AU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of a closed geometrical figure.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</a:rPr>
              <a:t>The ____ length forming the </a:t>
            </a:r>
            <a:r>
              <a:rPr lang="en-AU" b="1" i="1" dirty="0">
                <a:latin typeface="arial" panose="020B0604020202020204" pitchFamily="34" charset="0"/>
              </a:rPr>
              <a:t>boundary</a:t>
            </a:r>
            <a:r>
              <a:rPr lang="en-AU" dirty="0">
                <a:latin typeface="arial" panose="020B0604020202020204" pitchFamily="34" charset="0"/>
              </a:rPr>
              <a:t> of a closed geometrical figure.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</a:rPr>
              <a:t>The ____ length forming the </a:t>
            </a:r>
            <a:r>
              <a:rPr lang="en-AU" b="1" i="1" dirty="0">
                <a:latin typeface="arial" panose="020B0604020202020204" pitchFamily="34" charset="0"/>
              </a:rPr>
              <a:t>________</a:t>
            </a:r>
            <a:r>
              <a:rPr lang="en-AU" dirty="0">
                <a:latin typeface="arial" panose="020B0604020202020204" pitchFamily="34" charset="0"/>
              </a:rPr>
              <a:t> of a closed geometrical figure.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</a:rPr>
              <a:t>What is the line forming a boundary of a shape called?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92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59EA-12A8-4AD5-A4E3-33E15EA0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</a:t>
            </a:r>
            <a:r>
              <a:rPr lang="en-AU" dirty="0" err="1"/>
              <a:t>hiteboards</a:t>
            </a:r>
            <a:r>
              <a:rPr lang="en-AU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30E73-C8A4-48CB-8370-B6088313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What is the perimeter of the following shapes: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93FFA-D703-41E8-8302-36B5400C07E7}"/>
              </a:ext>
            </a:extLst>
          </p:cNvPr>
          <p:cNvSpPr/>
          <p:nvPr/>
        </p:nvSpPr>
        <p:spPr>
          <a:xfrm>
            <a:off x="1185910" y="3197865"/>
            <a:ext cx="2849732" cy="16068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DABA76E-4BA8-4BFE-92A5-89EF6762DC89}"/>
              </a:ext>
            </a:extLst>
          </p:cNvPr>
          <p:cNvSpPr/>
          <p:nvPr/>
        </p:nvSpPr>
        <p:spPr>
          <a:xfrm>
            <a:off x="5814873" y="3132046"/>
            <a:ext cx="1624614" cy="174002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3614FEA-D0F0-42E9-B900-8F7ECC0722B0}"/>
              </a:ext>
            </a:extLst>
          </p:cNvPr>
          <p:cNvSpPr/>
          <p:nvPr/>
        </p:nvSpPr>
        <p:spPr>
          <a:xfrm>
            <a:off x="9099612" y="3116062"/>
            <a:ext cx="1906478" cy="1917577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B85CF-FC0A-4E3F-89B1-044D0E64D549}"/>
              </a:ext>
            </a:extLst>
          </p:cNvPr>
          <p:cNvSpPr txBox="1"/>
          <p:nvPr/>
        </p:nvSpPr>
        <p:spPr>
          <a:xfrm>
            <a:off x="2367761" y="477809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0A92B-B197-4065-AA2D-25925782C14F}"/>
              </a:ext>
            </a:extLst>
          </p:cNvPr>
          <p:cNvSpPr txBox="1"/>
          <p:nvPr/>
        </p:nvSpPr>
        <p:spPr>
          <a:xfrm>
            <a:off x="699880" y="3723274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743253-97FA-42A9-A733-007F80AE3C19}"/>
              </a:ext>
            </a:extLst>
          </p:cNvPr>
          <p:cNvSpPr txBox="1"/>
          <p:nvPr/>
        </p:nvSpPr>
        <p:spPr>
          <a:xfrm>
            <a:off x="6341065" y="4804723"/>
            <a:ext cx="72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DF5D49-EF28-4917-A6B7-6D377A708949}"/>
              </a:ext>
            </a:extLst>
          </p:cNvPr>
          <p:cNvSpPr txBox="1"/>
          <p:nvPr/>
        </p:nvSpPr>
        <p:spPr>
          <a:xfrm>
            <a:off x="5616984" y="3687763"/>
            <a:ext cx="72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1CE7A2-4129-479D-A96C-71359121BC22}"/>
              </a:ext>
            </a:extLst>
          </p:cNvPr>
          <p:cNvSpPr txBox="1"/>
          <p:nvPr/>
        </p:nvSpPr>
        <p:spPr>
          <a:xfrm>
            <a:off x="7056922" y="3687763"/>
            <a:ext cx="72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8BCDD-7AA0-4A58-AB4D-ECCE2055A65D}"/>
              </a:ext>
            </a:extLst>
          </p:cNvPr>
          <p:cNvSpPr txBox="1"/>
          <p:nvPr/>
        </p:nvSpPr>
        <p:spPr>
          <a:xfrm>
            <a:off x="9514725" y="5033639"/>
            <a:ext cx="8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12mm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E549D-1604-4F1B-B54B-BF77AE6B429D}"/>
              </a:ext>
            </a:extLst>
          </p:cNvPr>
          <p:cNvSpPr txBox="1"/>
          <p:nvPr/>
        </p:nvSpPr>
        <p:spPr>
          <a:xfrm>
            <a:off x="9907949" y="2782288"/>
            <a:ext cx="8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12mm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29C0CA-5132-4804-B0A9-CC69DB87A362}"/>
              </a:ext>
            </a:extLst>
          </p:cNvPr>
          <p:cNvSpPr txBox="1"/>
          <p:nvPr/>
        </p:nvSpPr>
        <p:spPr>
          <a:xfrm>
            <a:off x="10706173" y="4028605"/>
            <a:ext cx="8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20mm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920474-9FF8-47DE-8E88-A2AFA882F02D}"/>
              </a:ext>
            </a:extLst>
          </p:cNvPr>
          <p:cNvSpPr txBox="1"/>
          <p:nvPr/>
        </p:nvSpPr>
        <p:spPr>
          <a:xfrm>
            <a:off x="8589557" y="3723274"/>
            <a:ext cx="8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20mm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24048E-13F4-4F34-A4F5-E5FD7454B3C3}"/>
              </a:ext>
            </a:extLst>
          </p:cNvPr>
          <p:cNvSpPr txBox="1"/>
          <p:nvPr/>
        </p:nvSpPr>
        <p:spPr>
          <a:xfrm>
            <a:off x="2376975" y="2809151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8E65DC-49B3-4044-A06D-7FD4014365BC}"/>
              </a:ext>
            </a:extLst>
          </p:cNvPr>
          <p:cNvSpPr txBox="1"/>
          <p:nvPr/>
        </p:nvSpPr>
        <p:spPr>
          <a:xfrm>
            <a:off x="4029364" y="3708234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8D6CB2-BD45-4911-A414-94438D1E5632}"/>
              </a:ext>
            </a:extLst>
          </p:cNvPr>
          <p:cNvSpPr txBox="1"/>
          <p:nvPr/>
        </p:nvSpPr>
        <p:spPr>
          <a:xfrm>
            <a:off x="230819" y="168676"/>
            <a:ext cx="2485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Perimeter is plus </a:t>
            </a:r>
          </a:p>
          <a:p>
            <a:r>
              <a:rPr lang="en-US" b="1" dirty="0">
                <a:solidFill>
                  <a:srgbClr val="FF0000"/>
                </a:solidFill>
              </a:rPr>
              <a:t>Perimeter is plus </a:t>
            </a:r>
          </a:p>
          <a:p>
            <a:r>
              <a:rPr lang="en-US" b="1" dirty="0">
                <a:solidFill>
                  <a:srgbClr val="FF0000"/>
                </a:solidFill>
              </a:rPr>
              <a:t>Perimeter is plus all the sides together. 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85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70BC93A6-CF0A-4237-8ACB-9A6D233FC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18" y="456986"/>
            <a:ext cx="9396997" cy="5943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F3E6A3-84AE-48AD-A19C-D91A634161F6}"/>
              </a:ext>
            </a:extLst>
          </p:cNvPr>
          <p:cNvSpPr txBox="1"/>
          <p:nvPr/>
        </p:nvSpPr>
        <p:spPr>
          <a:xfrm>
            <a:off x="7421733" y="4948792"/>
            <a:ext cx="75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4m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05452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7CB416-369D-4D6E-AAF8-072DED63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Finding perimeter: I do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BA69B7-DFEB-4470-BD8D-2BD9ADB7C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Example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5133BF-4733-46D6-B810-348826E08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Example 2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DA0D62-C19E-47FD-83A2-6F26AF272EE8}"/>
              </a:ext>
            </a:extLst>
          </p:cNvPr>
          <p:cNvSpPr/>
          <p:nvPr/>
        </p:nvSpPr>
        <p:spPr>
          <a:xfrm>
            <a:off x="1629830" y="3385120"/>
            <a:ext cx="3577701" cy="17478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80A898-9A65-4C11-9447-95BED150A4DC}"/>
              </a:ext>
            </a:extLst>
          </p:cNvPr>
          <p:cNvSpPr txBox="1"/>
          <p:nvPr/>
        </p:nvSpPr>
        <p:spPr>
          <a:xfrm>
            <a:off x="3250004" y="3006726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8cm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C444CC-C455-48C1-9842-D3F55B529EA5}"/>
              </a:ext>
            </a:extLst>
          </p:cNvPr>
          <p:cNvSpPr txBox="1"/>
          <p:nvPr/>
        </p:nvSpPr>
        <p:spPr>
          <a:xfrm>
            <a:off x="993117" y="3983594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089C78-7AAB-4E5A-8BC4-B26D4FA96F66}"/>
              </a:ext>
            </a:extLst>
          </p:cNvPr>
          <p:cNvCxnSpPr/>
          <p:nvPr/>
        </p:nvCxnSpPr>
        <p:spPr>
          <a:xfrm>
            <a:off x="1554370" y="4156903"/>
            <a:ext cx="15092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77ACB0-379A-4C3B-B860-DC7D675ACBA2}"/>
              </a:ext>
            </a:extLst>
          </p:cNvPr>
          <p:cNvCxnSpPr/>
          <p:nvPr/>
        </p:nvCxnSpPr>
        <p:spPr>
          <a:xfrm>
            <a:off x="5132071" y="4249160"/>
            <a:ext cx="15092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4CECA3-F5D1-4204-A9F7-0A23A8CDB874}"/>
              </a:ext>
            </a:extLst>
          </p:cNvPr>
          <p:cNvCxnSpPr>
            <a:cxnSpLocks/>
          </p:cNvCxnSpPr>
          <p:nvPr/>
        </p:nvCxnSpPr>
        <p:spPr>
          <a:xfrm>
            <a:off x="2974019" y="3297615"/>
            <a:ext cx="0" cy="17501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E714AC-2E07-4B5A-824B-70D32EAF5B81}"/>
              </a:ext>
            </a:extLst>
          </p:cNvPr>
          <p:cNvCxnSpPr>
            <a:cxnSpLocks/>
          </p:cNvCxnSpPr>
          <p:nvPr/>
        </p:nvCxnSpPr>
        <p:spPr>
          <a:xfrm>
            <a:off x="3099786" y="3283883"/>
            <a:ext cx="0" cy="17501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A6A37B-CB8F-452E-B80A-92AEC4102507}"/>
              </a:ext>
            </a:extLst>
          </p:cNvPr>
          <p:cNvCxnSpPr>
            <a:cxnSpLocks/>
          </p:cNvCxnSpPr>
          <p:nvPr/>
        </p:nvCxnSpPr>
        <p:spPr>
          <a:xfrm>
            <a:off x="3418680" y="5042445"/>
            <a:ext cx="0" cy="17501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702328-3F7A-4726-946B-5379A1A73BCD}"/>
              </a:ext>
            </a:extLst>
          </p:cNvPr>
          <p:cNvCxnSpPr>
            <a:cxnSpLocks/>
          </p:cNvCxnSpPr>
          <p:nvPr/>
        </p:nvCxnSpPr>
        <p:spPr>
          <a:xfrm>
            <a:off x="3568360" y="5045452"/>
            <a:ext cx="0" cy="17501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Pentagon 22">
            <a:extLst>
              <a:ext uri="{FF2B5EF4-FFF2-40B4-BE49-F238E27FC236}">
                <a16:creationId xmlns:a16="http://schemas.microsoft.com/office/drawing/2014/main" id="{F694538B-2432-4F0A-AB19-63735F4FB09B}"/>
              </a:ext>
            </a:extLst>
          </p:cNvPr>
          <p:cNvSpPr/>
          <p:nvPr/>
        </p:nvSpPr>
        <p:spPr>
          <a:xfrm>
            <a:off x="7584140" y="2990690"/>
            <a:ext cx="3016150" cy="2516940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739B48-EC3A-44A3-8313-BC6420CA92B9}"/>
              </a:ext>
            </a:extLst>
          </p:cNvPr>
          <p:cNvCxnSpPr>
            <a:cxnSpLocks/>
          </p:cNvCxnSpPr>
          <p:nvPr/>
        </p:nvCxnSpPr>
        <p:spPr>
          <a:xfrm>
            <a:off x="8303748" y="3378254"/>
            <a:ext cx="134644" cy="161278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428D6A-4D7E-4B7C-B30B-372B3E8A0884}"/>
              </a:ext>
            </a:extLst>
          </p:cNvPr>
          <p:cNvCxnSpPr>
            <a:cxnSpLocks/>
          </p:cNvCxnSpPr>
          <p:nvPr/>
        </p:nvCxnSpPr>
        <p:spPr>
          <a:xfrm flipH="1">
            <a:off x="7742808" y="4651899"/>
            <a:ext cx="220462" cy="73957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8DF9FFD-81A1-4C46-B1A6-998540A4F4F6}"/>
              </a:ext>
            </a:extLst>
          </p:cNvPr>
          <p:cNvCxnSpPr>
            <a:cxnSpLocks/>
          </p:cNvCxnSpPr>
          <p:nvPr/>
        </p:nvCxnSpPr>
        <p:spPr>
          <a:xfrm>
            <a:off x="9084817" y="5406577"/>
            <a:ext cx="0" cy="17501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B570A2-BB6C-421D-ACC3-AFE6EBC63EBD}"/>
              </a:ext>
            </a:extLst>
          </p:cNvPr>
          <p:cNvCxnSpPr>
            <a:cxnSpLocks/>
          </p:cNvCxnSpPr>
          <p:nvPr/>
        </p:nvCxnSpPr>
        <p:spPr>
          <a:xfrm flipH="1">
            <a:off x="9758039" y="3371388"/>
            <a:ext cx="131685" cy="131569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76C2C4-FEBE-44CB-9C1C-CBA5AD0F52BB}"/>
              </a:ext>
            </a:extLst>
          </p:cNvPr>
          <p:cNvCxnSpPr>
            <a:cxnSpLocks/>
          </p:cNvCxnSpPr>
          <p:nvPr/>
        </p:nvCxnSpPr>
        <p:spPr>
          <a:xfrm flipH="1" flipV="1">
            <a:off x="10237433" y="4762834"/>
            <a:ext cx="140563" cy="66618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B38B5AC-0579-403D-BA98-68D3638CEB0F}"/>
              </a:ext>
            </a:extLst>
          </p:cNvPr>
          <p:cNvSpPr txBox="1"/>
          <p:nvPr/>
        </p:nvSpPr>
        <p:spPr>
          <a:xfrm>
            <a:off x="9691884" y="3008922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10m </a:t>
            </a:r>
          </a:p>
        </p:txBody>
      </p:sp>
    </p:spTree>
    <p:extLst>
      <p:ext uri="{BB962C8B-B14F-4D97-AF65-F5344CB8AC3E}">
        <p14:creationId xmlns:p14="http://schemas.microsoft.com/office/powerpoint/2010/main" val="1420289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2597-4651-40B0-B1EB-CF2B74E6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Finding Perimeter: we do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565F2-8FEA-4CDB-BFD6-D4285D9CB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Example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BD1CA-CCC8-47CC-8AAC-6B3762AFD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Example 4 </a:t>
            </a:r>
          </a:p>
        </p:txBody>
      </p:sp>
      <p:sp>
        <p:nvSpPr>
          <p:cNvPr id="8" name="Flowchart: Manual Operation 7">
            <a:extLst>
              <a:ext uri="{FF2B5EF4-FFF2-40B4-BE49-F238E27FC236}">
                <a16:creationId xmlns:a16="http://schemas.microsoft.com/office/drawing/2014/main" id="{5CE15267-E49E-4E9F-A70D-0EB75F893987}"/>
              </a:ext>
            </a:extLst>
          </p:cNvPr>
          <p:cNvSpPr/>
          <p:nvPr/>
        </p:nvSpPr>
        <p:spPr>
          <a:xfrm>
            <a:off x="1624614" y="3355759"/>
            <a:ext cx="2840854" cy="2254928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B1116-E3B0-4FBB-845F-257238210336}"/>
              </a:ext>
            </a:extLst>
          </p:cNvPr>
          <p:cNvSpPr txBox="1"/>
          <p:nvPr/>
        </p:nvSpPr>
        <p:spPr>
          <a:xfrm>
            <a:off x="2859387" y="2986427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10cm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23F85E-FA52-4CBE-AEFE-CE8E526AC746}"/>
              </a:ext>
            </a:extLst>
          </p:cNvPr>
          <p:cNvSpPr txBox="1"/>
          <p:nvPr/>
        </p:nvSpPr>
        <p:spPr>
          <a:xfrm>
            <a:off x="4217670" y="4298557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8cm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EE320A-0926-42D9-83B4-5CF3787C3705}"/>
              </a:ext>
            </a:extLst>
          </p:cNvPr>
          <p:cNvSpPr txBox="1"/>
          <p:nvPr/>
        </p:nvSpPr>
        <p:spPr>
          <a:xfrm>
            <a:off x="2726684" y="5610687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7cm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8EF990-E3AE-45B3-860F-E73D44D941E4}"/>
              </a:ext>
            </a:extLst>
          </p:cNvPr>
          <p:cNvCxnSpPr>
            <a:cxnSpLocks/>
          </p:cNvCxnSpPr>
          <p:nvPr/>
        </p:nvCxnSpPr>
        <p:spPr>
          <a:xfrm flipH="1" flipV="1">
            <a:off x="3997208" y="4566704"/>
            <a:ext cx="220462" cy="63909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34B683-7EF2-4326-A48F-56E5C8F85D38}"/>
              </a:ext>
            </a:extLst>
          </p:cNvPr>
          <p:cNvCxnSpPr>
            <a:cxnSpLocks/>
          </p:cNvCxnSpPr>
          <p:nvPr/>
        </p:nvCxnSpPr>
        <p:spPr>
          <a:xfrm flipH="1">
            <a:off x="1779270" y="4483223"/>
            <a:ext cx="262594" cy="35588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ross 17">
            <a:extLst>
              <a:ext uri="{FF2B5EF4-FFF2-40B4-BE49-F238E27FC236}">
                <a16:creationId xmlns:a16="http://schemas.microsoft.com/office/drawing/2014/main" id="{B1D99F64-F65B-41E7-8AC2-5CF59BD7CC1F}"/>
              </a:ext>
            </a:extLst>
          </p:cNvPr>
          <p:cNvSpPr/>
          <p:nvPr/>
        </p:nvSpPr>
        <p:spPr>
          <a:xfrm>
            <a:off x="7867318" y="3114491"/>
            <a:ext cx="2023332" cy="2476870"/>
          </a:xfrm>
          <a:prstGeom prst="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609539-F05C-4D74-BFEE-CED894C1C036}"/>
              </a:ext>
            </a:extLst>
          </p:cNvPr>
          <p:cNvSpPr txBox="1"/>
          <p:nvPr/>
        </p:nvSpPr>
        <p:spPr>
          <a:xfrm>
            <a:off x="8502118" y="274515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5m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C5C19-E2EC-45D6-8BF5-10AE35BFA3C6}"/>
              </a:ext>
            </a:extLst>
          </p:cNvPr>
          <p:cNvSpPr txBox="1"/>
          <p:nvPr/>
        </p:nvSpPr>
        <p:spPr>
          <a:xfrm>
            <a:off x="9351720" y="3114491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1m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922DF9-60A7-435A-9DF6-6C05098626C0}"/>
              </a:ext>
            </a:extLst>
          </p:cNvPr>
          <p:cNvSpPr txBox="1"/>
          <p:nvPr/>
        </p:nvSpPr>
        <p:spPr>
          <a:xfrm>
            <a:off x="9890650" y="4015768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6m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1497920-6B94-4882-B442-D2ED8DB1E460}"/>
                  </a:ext>
                </a:extLst>
              </p14:cNvPr>
              <p14:cNvContentPartPr/>
              <p14:nvPr/>
            </p14:nvContentPartPr>
            <p14:xfrm>
              <a:off x="9357753" y="3337588"/>
              <a:ext cx="7920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1497920-6B94-4882-B442-D2ED8DB1E4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40113" y="3319948"/>
                <a:ext cx="114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72E29B-C78F-4FA4-8EC3-1A934DB84D7E}"/>
                  </a:ext>
                </a:extLst>
              </p14:cNvPr>
              <p14:cNvContentPartPr/>
              <p14:nvPr/>
            </p14:nvContentPartPr>
            <p14:xfrm>
              <a:off x="8309793" y="3355228"/>
              <a:ext cx="1062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72E29B-C78F-4FA4-8EC3-1A934DB84D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92153" y="3337588"/>
                <a:ext cx="141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762EEA3-0497-4329-A14A-F98CF89801B6}"/>
                  </a:ext>
                </a:extLst>
              </p14:cNvPr>
              <p14:cNvContentPartPr/>
              <p14:nvPr/>
            </p14:nvContentPartPr>
            <p14:xfrm>
              <a:off x="8131593" y="4997908"/>
              <a:ext cx="360" cy="159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762EEA3-0497-4329-A14A-F98CF89801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13953" y="4979908"/>
                <a:ext cx="3600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439F76C-24AC-45E8-AD60-FD99F17A2A6F}"/>
                  </a:ext>
                </a:extLst>
              </p14:cNvPr>
              <p14:cNvContentPartPr/>
              <p14:nvPr/>
            </p14:nvContentPartPr>
            <p14:xfrm>
              <a:off x="8310153" y="5326228"/>
              <a:ext cx="11484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439F76C-24AC-45E8-AD60-FD99F17A2A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92153" y="5308228"/>
                <a:ext cx="150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3893E6A-DECC-4D55-BF16-2B77738CF17D}"/>
                  </a:ext>
                </a:extLst>
              </p14:cNvPr>
              <p14:cNvContentPartPr/>
              <p14:nvPr/>
            </p14:nvContentPartPr>
            <p14:xfrm>
              <a:off x="9347673" y="5361868"/>
              <a:ext cx="8820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3893E6A-DECC-4D55-BF16-2B77738CF17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29673" y="5343868"/>
                <a:ext cx="123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BF3FFB-5E1A-430D-89CA-8B14837691C8}"/>
                  </a:ext>
                </a:extLst>
              </p14:cNvPr>
              <p14:cNvContentPartPr/>
              <p14:nvPr/>
            </p14:nvContentPartPr>
            <p14:xfrm>
              <a:off x="9667353" y="5015548"/>
              <a:ext cx="360" cy="150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BF3FFB-5E1A-430D-89CA-8B14837691C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49353" y="4997548"/>
                <a:ext cx="36000" cy="1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DD50C34-7B21-4EF6-BE07-4A0FCFDEE39C}"/>
              </a:ext>
            </a:extLst>
          </p:cNvPr>
          <p:cNvGrpSpPr/>
          <p:nvPr/>
        </p:nvGrpSpPr>
        <p:grpSpPr>
          <a:xfrm>
            <a:off x="8859513" y="3018268"/>
            <a:ext cx="71640" cy="167760"/>
            <a:chOff x="8859513" y="3018268"/>
            <a:chExt cx="71640" cy="1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E69E7C8-A5C4-440E-A057-A189DE4C89BF}"/>
                    </a:ext>
                  </a:extLst>
                </p14:cNvPr>
                <p14:cNvContentPartPr/>
                <p14:nvPr/>
              </p14:nvContentPartPr>
              <p14:xfrm>
                <a:off x="8859513" y="3018268"/>
                <a:ext cx="360" cy="150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E69E7C8-A5C4-440E-A057-A189DE4C89B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41513" y="3000268"/>
                  <a:ext cx="36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23C7726-FF84-449E-AD8E-74EA5C1CBECC}"/>
                    </a:ext>
                  </a:extLst>
                </p14:cNvPr>
                <p14:cNvContentPartPr/>
                <p14:nvPr/>
              </p14:nvContentPartPr>
              <p14:xfrm>
                <a:off x="8930793" y="3062548"/>
                <a:ext cx="360" cy="123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23C7726-FF84-449E-AD8E-74EA5C1CBEC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12793" y="3044908"/>
                  <a:ext cx="3600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629FEEF-ABA7-4399-BD3D-32620B44ABE9}"/>
                  </a:ext>
                </a:extLst>
              </p14:cNvPr>
              <p14:cNvContentPartPr/>
              <p14:nvPr/>
            </p14:nvContentPartPr>
            <p14:xfrm>
              <a:off x="8806233" y="5547988"/>
              <a:ext cx="360" cy="97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629FEEF-ABA7-4399-BD3D-32620B44ABE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88233" y="5530348"/>
                <a:ext cx="360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77B5D69-6626-4163-BD34-3F24F8EC40D8}"/>
                  </a:ext>
                </a:extLst>
              </p14:cNvPr>
              <p14:cNvContentPartPr/>
              <p14:nvPr/>
            </p14:nvContentPartPr>
            <p14:xfrm>
              <a:off x="8859513" y="5547988"/>
              <a:ext cx="360" cy="132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77B5D69-6626-4163-BD34-3F24F8EC40D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841513" y="5530348"/>
                <a:ext cx="360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80A76A2-3504-4922-A55C-5EE2FCBF54CF}"/>
                  </a:ext>
                </a:extLst>
              </p14:cNvPr>
              <p14:cNvContentPartPr/>
              <p14:nvPr/>
            </p14:nvContentPartPr>
            <p14:xfrm>
              <a:off x="9632073" y="3568348"/>
              <a:ext cx="360" cy="114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80A76A2-3504-4922-A55C-5EE2FCBF54C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614073" y="3550708"/>
                <a:ext cx="360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01BFEBB-BAA8-40AA-BB7D-9D7F00CBC0C3}"/>
                  </a:ext>
                </a:extLst>
              </p14:cNvPr>
              <p14:cNvContentPartPr/>
              <p14:nvPr/>
            </p14:nvContentPartPr>
            <p14:xfrm>
              <a:off x="8113593" y="3542068"/>
              <a:ext cx="360" cy="1152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01BFEBB-BAA8-40AA-BB7D-9D7F00CBC0C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095953" y="3524068"/>
                <a:ext cx="3600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0E2B73C9-E4B7-4E4B-B656-9AEEE8F409C6}"/>
              </a:ext>
            </a:extLst>
          </p:cNvPr>
          <p:cNvGrpSpPr/>
          <p:nvPr/>
        </p:nvGrpSpPr>
        <p:grpSpPr>
          <a:xfrm>
            <a:off x="9862833" y="4305268"/>
            <a:ext cx="88200" cy="89280"/>
            <a:chOff x="9862833" y="4305268"/>
            <a:chExt cx="88200" cy="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6C22864-9077-4684-A211-5DC6E3FECB03}"/>
                    </a:ext>
                  </a:extLst>
                </p14:cNvPr>
                <p14:cNvContentPartPr/>
                <p14:nvPr/>
              </p14:nvContentPartPr>
              <p14:xfrm>
                <a:off x="9871473" y="4394188"/>
                <a:ext cx="6084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6C22864-9077-4684-A211-5DC6E3FECB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53833" y="4376548"/>
                  <a:ext cx="96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8FC5C69-B3F9-488C-9B31-9BC927202D0C}"/>
                    </a:ext>
                  </a:extLst>
                </p14:cNvPr>
                <p14:cNvContentPartPr/>
                <p14:nvPr/>
              </p14:nvContentPartPr>
              <p14:xfrm>
                <a:off x="9862833" y="4349908"/>
                <a:ext cx="6984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8FC5C69-B3F9-488C-9B31-9BC927202D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44833" y="4331908"/>
                  <a:ext cx="105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834DBD-E715-4200-A16C-E8140D136C3C}"/>
                    </a:ext>
                  </a:extLst>
                </p14:cNvPr>
                <p14:cNvContentPartPr/>
                <p14:nvPr/>
              </p14:nvContentPartPr>
              <p14:xfrm>
                <a:off x="9862833" y="4305268"/>
                <a:ext cx="8820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834DBD-E715-4200-A16C-E8140D136C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44833" y="4287628"/>
                  <a:ext cx="12384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6E628D7-4B1E-420C-80D9-7F80FB2BDFDE}"/>
                  </a:ext>
                </a:extLst>
              </p14:cNvPr>
              <p14:cNvContentPartPr/>
              <p14:nvPr/>
            </p14:nvContentPartPr>
            <p14:xfrm>
              <a:off x="7820913" y="4376188"/>
              <a:ext cx="6984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6E628D7-4B1E-420C-80D9-7F80FB2BDFD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803273" y="4358548"/>
                <a:ext cx="105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5AB4AF9-910F-42A8-92AC-85E2809D6FB7}"/>
                  </a:ext>
                </a:extLst>
              </p14:cNvPr>
              <p14:cNvContentPartPr/>
              <p14:nvPr/>
            </p14:nvContentPartPr>
            <p14:xfrm>
              <a:off x="7812273" y="4305268"/>
              <a:ext cx="7884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5AB4AF9-910F-42A8-92AC-85E2809D6F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94273" y="4287628"/>
                <a:ext cx="114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1B8DD5C-C84A-4FF7-8DDD-7356170B3FBF}"/>
                  </a:ext>
                </a:extLst>
              </p14:cNvPr>
              <p14:cNvContentPartPr/>
              <p14:nvPr/>
            </p14:nvContentPartPr>
            <p14:xfrm>
              <a:off x="7829913" y="4234348"/>
              <a:ext cx="8820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1B8DD5C-C84A-4FF7-8DDD-7356170B3FB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11913" y="4216708"/>
                <a:ext cx="12384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6799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AC31D37-20C7-455A-AF8F-7B30E811F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98426"/>
            <a:ext cx="6038850" cy="7135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Finding perimeter: you do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76DF33-AB6A-4092-BF0E-BE531270D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138" y="672639"/>
            <a:ext cx="10401762" cy="57757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57519E-D067-46DB-92FD-CCA15AAAAA04}"/>
              </a:ext>
            </a:extLst>
          </p:cNvPr>
          <p:cNvSpPr txBox="1"/>
          <p:nvPr/>
        </p:nvSpPr>
        <p:spPr>
          <a:xfrm>
            <a:off x="4872084" y="2474188"/>
            <a:ext cx="23525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In your exercise books.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7796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6CED1-EBC7-463D-B363-DC70C8B1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Drawing perimeter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3BC19-1FBF-4901-A77A-F65447ACD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99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Work with the person next to you and try and draw a rectangle with a perimeter:</a:t>
            </a:r>
          </a:p>
          <a:p>
            <a:pPr marL="514350" indent="-514350">
              <a:buAutoNum type="alphaLcParenR"/>
            </a:pPr>
            <a:r>
              <a:rPr lang="en-AU" dirty="0"/>
              <a:t>16cm</a:t>
            </a:r>
          </a:p>
          <a:p>
            <a:pPr marL="514350" indent="-514350">
              <a:buAutoNum type="alphaLcParenR"/>
            </a:pPr>
            <a:r>
              <a:rPr lang="en-AU" dirty="0"/>
              <a:t>20cm </a:t>
            </a:r>
          </a:p>
          <a:p>
            <a:pPr marL="0" indent="0">
              <a:buNone/>
            </a:pPr>
            <a:r>
              <a:rPr lang="en-AU" dirty="0"/>
              <a:t>They do not have to be exactly measured out</a:t>
            </a:r>
          </a:p>
          <a:p>
            <a:pPr marL="0" indent="0">
              <a:buNone/>
            </a:pPr>
            <a:r>
              <a:rPr lang="en-AU" dirty="0"/>
              <a:t>Start by drawing a small rectangle and experimenting</a:t>
            </a:r>
          </a:p>
          <a:p>
            <a:pPr marL="0" indent="0">
              <a:buNone/>
            </a:pPr>
            <a:r>
              <a:rPr lang="en-AU" dirty="0"/>
              <a:t>with sides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271AB-0F58-4E6F-927A-509036ACBD37}"/>
              </a:ext>
            </a:extLst>
          </p:cNvPr>
          <p:cNvSpPr/>
          <p:nvPr/>
        </p:nvSpPr>
        <p:spPr>
          <a:xfrm>
            <a:off x="8673483" y="2672179"/>
            <a:ext cx="1624614" cy="2574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516A-2E20-45E0-85F3-A69FD52F1571}"/>
              </a:ext>
            </a:extLst>
          </p:cNvPr>
          <p:cNvSpPr txBox="1"/>
          <p:nvPr/>
        </p:nvSpPr>
        <p:spPr>
          <a:xfrm>
            <a:off x="9077665" y="5354884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Width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CFA54E-3908-4410-8A26-1512B8BBE611}"/>
              </a:ext>
            </a:extLst>
          </p:cNvPr>
          <p:cNvSpPr txBox="1"/>
          <p:nvPr/>
        </p:nvSpPr>
        <p:spPr>
          <a:xfrm>
            <a:off x="9081855" y="2302847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Width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CD5F4A-DC0E-4D02-952F-7387F63BF8E4}"/>
              </a:ext>
            </a:extLst>
          </p:cNvPr>
          <p:cNvSpPr txBox="1"/>
          <p:nvPr/>
        </p:nvSpPr>
        <p:spPr>
          <a:xfrm>
            <a:off x="10298097" y="3608681"/>
            <a:ext cx="779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length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6F471A-5920-41DA-BB92-DF1FE56A7141}"/>
              </a:ext>
            </a:extLst>
          </p:cNvPr>
          <p:cNvSpPr txBox="1"/>
          <p:nvPr/>
        </p:nvSpPr>
        <p:spPr>
          <a:xfrm>
            <a:off x="7894359" y="3608681"/>
            <a:ext cx="779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length</a:t>
            </a:r>
          </a:p>
        </p:txBody>
      </p:sp>
    </p:spTree>
    <p:extLst>
      <p:ext uri="{BB962C8B-B14F-4D97-AF65-F5344CB8AC3E}">
        <p14:creationId xmlns:p14="http://schemas.microsoft.com/office/powerpoint/2010/main" val="245430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34DC2-46A9-4309-9243-BCC06B09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Area of a shape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84A32-EFE7-42B2-9B4B-FEE1C65ED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>
                <a:solidFill>
                  <a:srgbClr val="FF0000"/>
                </a:solidFill>
              </a:rPr>
              <a:t>Area is the </a:t>
            </a:r>
            <a:r>
              <a:rPr lang="en-AU" b="1" i="1" u="sng" dirty="0">
                <a:solidFill>
                  <a:srgbClr val="FF0000"/>
                </a:solidFill>
              </a:rPr>
              <a:t>amount</a:t>
            </a:r>
            <a:r>
              <a:rPr lang="en-AU" dirty="0">
                <a:solidFill>
                  <a:srgbClr val="FF0000"/>
                </a:solidFill>
              </a:rPr>
              <a:t> of </a:t>
            </a:r>
            <a:r>
              <a:rPr lang="en-AU" b="1" i="1" u="sng" dirty="0">
                <a:solidFill>
                  <a:srgbClr val="FF0000"/>
                </a:solidFill>
              </a:rPr>
              <a:t>space</a:t>
            </a:r>
            <a:r>
              <a:rPr lang="en-AU" dirty="0">
                <a:solidFill>
                  <a:srgbClr val="FF0000"/>
                </a:solidFill>
              </a:rPr>
              <a:t> taken up by a 2D shape or surface.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Area is the ______ of </a:t>
            </a:r>
            <a:r>
              <a:rPr lang="en-AU" b="1" i="1" u="sng" dirty="0"/>
              <a:t>space</a:t>
            </a:r>
            <a:r>
              <a:rPr lang="en-AU" dirty="0"/>
              <a:t> taken up by a 2D shape or surface.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Area is the ______ of _____ taken up by a 2D shape or surface.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What is Area? </a:t>
            </a:r>
          </a:p>
        </p:txBody>
      </p:sp>
    </p:spTree>
    <p:extLst>
      <p:ext uri="{BB962C8B-B14F-4D97-AF65-F5344CB8AC3E}">
        <p14:creationId xmlns:p14="http://schemas.microsoft.com/office/powerpoint/2010/main" val="274558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C9279-E68A-4396-AC46-7EA13E76C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Area of a rectangle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738EE1-2DC1-42B3-9661-E3B5F2A0C0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>
                    <a:hlinkClick r:id="rId2"/>
                  </a:rPr>
                  <a:t>https://www.youtube.com/watch?v=CgqgY7a630Q</a:t>
                </a: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The Area of a rectangle can be calculated by: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r>
                  <a:rPr lang="en-AU" dirty="0"/>
                  <a:t>ALWAYS write capitol A for Area in your working out (now and always till you leave school) </a:t>
                </a:r>
              </a:p>
              <a:p>
                <a:pPr marL="0" indent="0">
                  <a:buNone/>
                </a:pPr>
                <a:r>
                  <a:rPr lang="en-AU" dirty="0"/>
                  <a:t>Since a square has all equal sides the Area of a square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738EE1-2DC1-42B3-9661-E3B5F2A0C0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466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3ABAD-D69A-475C-AB8D-ED143AB82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Calculate the area of these rectangles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A528-C91C-4596-AA94-9FABA63B8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Page 453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Question 4a </a:t>
            </a:r>
            <a:r>
              <a:rPr lang="en-AU" dirty="0">
                <a:sym typeface="Wingdings" panose="05000000000000000000" pitchFamily="2" charset="2"/>
              </a:rPr>
              <a:t> 4f </a:t>
            </a:r>
          </a:p>
          <a:p>
            <a:pPr marL="0" indent="0">
              <a:buNone/>
            </a:pP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Page 461 </a:t>
            </a:r>
          </a:p>
          <a:p>
            <a:pPr marL="0" indent="0">
              <a:buNone/>
            </a:pP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Question 6a  6i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2035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88DE-24B1-49EA-8FBD-B82165CE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– 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7E7D4-2427-4B09-B222-F5A78E85A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Aim</a:t>
            </a:r>
          </a:p>
          <a:p>
            <a:pPr marL="0" indent="0">
              <a:buNone/>
            </a:pPr>
            <a:r>
              <a:rPr lang="en-AU" dirty="0"/>
              <a:t>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 calculate perimeter of common shapes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 Determine the area for calculate area of simple shapes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Rate yourself on our </a:t>
            </a:r>
            <a:r>
              <a:rPr lang="en-AU"/>
              <a:t>lesson objective.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67265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465</Words>
  <Application>Microsoft Office PowerPoint</Application>
  <PresentationFormat>Widescreen</PresentationFormat>
  <Paragraphs>121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Substituting values </vt:lpstr>
      <vt:lpstr>The perimeter is:</vt:lpstr>
      <vt:lpstr>Whiteboards </vt:lpstr>
      <vt:lpstr>PowerPoint Presentation</vt:lpstr>
      <vt:lpstr>Finding perimeter: I do </vt:lpstr>
      <vt:lpstr>Finding Perimeter: we do </vt:lpstr>
      <vt:lpstr>Finding perimeter: you do </vt:lpstr>
      <vt:lpstr>Drawing perimeter </vt:lpstr>
      <vt:lpstr>Area of a shape </vt:lpstr>
      <vt:lpstr>Area of a rectangle </vt:lpstr>
      <vt:lpstr>Calculate the area of these rectangles </vt:lpstr>
      <vt:lpstr>Reflection – fist to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27</cp:revision>
  <dcterms:created xsi:type="dcterms:W3CDTF">2021-03-17T12:55:21Z</dcterms:created>
  <dcterms:modified xsi:type="dcterms:W3CDTF">2023-03-29T23:46:10Z</dcterms:modified>
</cp:coreProperties>
</file>
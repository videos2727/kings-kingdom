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8" r:id="rId4"/>
    <p:sldId id="304" r:id="rId5"/>
    <p:sldId id="305" r:id="rId6"/>
    <p:sldId id="306" r:id="rId7"/>
    <p:sldId id="297" r:id="rId8"/>
    <p:sldId id="301" r:id="rId9"/>
    <p:sldId id="302" r:id="rId10"/>
    <p:sldId id="265" r:id="rId11"/>
    <p:sldId id="307" r:id="rId12"/>
    <p:sldId id="308" r:id="rId13"/>
    <p:sldId id="309" r:id="rId14"/>
    <p:sldId id="310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D90D-84C2-4875-878E-FEAD880B0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6900F-4DFC-4DB4-B256-63CA9CD19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DDE3F-A6B8-43BB-A9D9-0103F9C3C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38B22-D552-4EED-AD51-1EC31441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9FB4-A7B6-4F33-B7C8-D6312702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65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E79E-7000-4933-920C-E63B32897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A45AF-03F4-4CE2-866E-479B7DEDB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8D16C-F7C0-44C3-8689-102914F3B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AF257-798E-4CA7-998F-35E8C1C2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747C0-B5EE-4685-84DC-683810085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998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3591-3A04-4853-980C-65469609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71837-542B-4889-BAAA-1CBC831B8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546D-8A79-46DF-9A43-CAC99EFC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EF25A-AE2E-44A0-A6DC-0C209B67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1FE55-1C14-4B65-97C4-55B445F9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403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84F53-4369-45E1-ACD6-CB292841F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B5A31-ECC4-4E23-A4B2-889731B7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8F316-EFFC-4924-A875-D1BF4A3AD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43C3-D27C-42AE-95B6-A6A2F93C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AC6FF-AF87-4048-A2E4-E0EFD460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DD980-82CF-4581-94C0-A7465AC7A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44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6614-70E7-46A0-862C-BBBFD616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CAA1A-1CE5-4E2B-A96A-76E28186F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39B40-46A4-4DCC-8825-183B79ECC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59CDC-8E3F-4E5E-B4B5-10E95A034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209D74-5781-466F-B7A3-087A5B1A9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FC5EC-A123-4157-AAA9-2346DACC0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DE0C44-560F-484E-9FF6-7EFCA0B3B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7795FD-F18E-4632-9CE8-A605B0C3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0415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C72B-94FD-4286-83AB-34BF8E2E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D769FD-FE50-46F7-834D-81B65119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F427C-1014-40F5-B690-96D2C9F9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27A2D-6A49-49E6-913D-D8ECE91B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675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4A8301-23C2-4119-BDCB-32076F95A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2719DC-442C-4273-96F8-D98DE9FF1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AA084-C768-4CEF-BB5D-A46FBB16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755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C574-4170-4809-B7DA-5B86E0F0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8939-40E5-47E7-935B-DFC4529CA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AEA02-CAD4-4AD4-98DE-F0528FCE0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BEC94-EF28-4839-918E-DA0984225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CD020-B7A8-4CBA-A7FD-3F9D5BD4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10D24-DF61-4FB2-93EF-EBDC284D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064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EA91-2810-43D2-81E9-EBF95E6A2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BB62E-EA10-4855-9065-B0A9C492B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77FE0-5979-452E-B8EA-AF5ECA79C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C6802-5D21-40EB-962F-8E3840E78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B1D53-C145-412A-B9A5-1E8AE106F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86A3C-1182-4CF1-BC3A-FCBD1BE5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198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E20DE-FCC1-4B24-B8D3-5CADF0F8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958D04-11C6-46A2-A822-7AB8EC509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C7EB5-49FD-4276-AF71-DCAB6171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01EB2-B136-460D-9650-98240E87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1E1F7-7BAD-4D07-AC9B-0015723A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06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1B8875-B577-45F3-A02E-56F4E8370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35F93-5CCF-4792-89CA-E31FF425D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4DF99-3157-4817-9573-05E79424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1ABA3-BF30-48F8-ACA2-48715A48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C6CB1-C62E-4B96-B49E-FFE8FDFF1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443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23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57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71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4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019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272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13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32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485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5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31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473188-BBCA-4A1D-BD14-6EB6DFE1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13B93-F77A-435F-98CE-80136734C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17467-9CAF-4B95-B5CF-9EDFB50AC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5404C-5D48-415E-9AD0-066065B94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75A06-6B72-4D1F-96D4-B2D0E93C6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96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5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57E1EB-C4DE-48BF-88E3-1B1A1FEF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37CE9B-3B56-42E0-9204-16E6C030E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Squared numbers and similar expressions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Estimate the value of square roots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Prove similar expressions through substitution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Daily review </a:t>
            </a:r>
          </a:p>
          <a:p>
            <a:pPr lvl="1"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Words to expressions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Square roots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Substitution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E6826-FE28-4F35-A8F1-D1D4F7235158}"/>
              </a:ext>
            </a:extLst>
          </p:cNvPr>
          <p:cNvSpPr txBox="1"/>
          <p:nvPr/>
        </p:nvSpPr>
        <p:spPr>
          <a:xfrm>
            <a:off x="9179511" y="142043"/>
            <a:ext cx="19442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Need whiteboard markers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47275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ABA1-5B16-4029-98E4-9E0A39E3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D7DB00-9CE6-4472-A928-2C2405666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818" y="1768043"/>
            <a:ext cx="11734363" cy="446478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6C496F-8F20-4A20-A758-E2991BD70094}"/>
              </a:ext>
            </a:extLst>
          </p:cNvPr>
          <p:cNvSpPr/>
          <p:nvPr/>
        </p:nvSpPr>
        <p:spPr>
          <a:xfrm>
            <a:off x="665825" y="2707689"/>
            <a:ext cx="2894121" cy="3462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C20C97-7AE4-445C-A4FD-B76CB65E7D2D}"/>
              </a:ext>
            </a:extLst>
          </p:cNvPr>
          <p:cNvSpPr/>
          <p:nvPr/>
        </p:nvSpPr>
        <p:spPr>
          <a:xfrm>
            <a:off x="665824" y="3373929"/>
            <a:ext cx="2894121" cy="3462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FA340E-88F7-481F-A77B-1ED2DBFC23E0}"/>
              </a:ext>
            </a:extLst>
          </p:cNvPr>
          <p:cNvSpPr/>
          <p:nvPr/>
        </p:nvSpPr>
        <p:spPr>
          <a:xfrm>
            <a:off x="665824" y="3964022"/>
            <a:ext cx="2894121" cy="3462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EA2E1-48A4-4A4E-887F-E303EE4FAE1B}"/>
              </a:ext>
            </a:extLst>
          </p:cNvPr>
          <p:cNvSpPr/>
          <p:nvPr/>
        </p:nvSpPr>
        <p:spPr>
          <a:xfrm>
            <a:off x="665824" y="4449477"/>
            <a:ext cx="2894121" cy="3462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362DD4-7FC4-4746-B827-D5BA953A1C85}"/>
              </a:ext>
            </a:extLst>
          </p:cNvPr>
          <p:cNvSpPr/>
          <p:nvPr/>
        </p:nvSpPr>
        <p:spPr>
          <a:xfrm>
            <a:off x="665824" y="5004214"/>
            <a:ext cx="4607512" cy="3462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EEA71A-0D5E-4F06-B2DE-EF00A44E6094}"/>
              </a:ext>
            </a:extLst>
          </p:cNvPr>
          <p:cNvSpPr/>
          <p:nvPr/>
        </p:nvSpPr>
        <p:spPr>
          <a:xfrm>
            <a:off x="665824" y="5497339"/>
            <a:ext cx="2894121" cy="3462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494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5330D6-8D2E-3F0B-982F-02B886966458}"/>
                  </a:ext>
                </a:extLst>
              </p:cNvPr>
              <p:cNvSpPr txBox="1"/>
              <p:nvPr/>
            </p:nvSpPr>
            <p:spPr>
              <a:xfrm>
                <a:off x="2574524" y="2981890"/>
                <a:ext cx="1104661" cy="894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/>
                      </m:sSup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5330D6-8D2E-3F0B-982F-02B886966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524" y="2981890"/>
                <a:ext cx="1104661" cy="8942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AFC87-CB3F-F866-FE1C-CBE375D47A5E}"/>
                  </a:ext>
                </a:extLst>
              </p:cNvPr>
              <p:cNvSpPr txBox="1"/>
              <p:nvPr/>
            </p:nvSpPr>
            <p:spPr>
              <a:xfrm>
                <a:off x="5508403" y="873712"/>
                <a:ext cx="95077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AFC87-CB3F-F866-FE1C-CBE375D47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403" y="873712"/>
                <a:ext cx="950773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966065-E8FB-22B4-9C58-C679F892D1CC}"/>
                  </a:ext>
                </a:extLst>
              </p:cNvPr>
              <p:cNvSpPr txBox="1"/>
              <p:nvPr/>
            </p:nvSpPr>
            <p:spPr>
              <a:xfrm>
                <a:off x="8080158" y="2869706"/>
                <a:ext cx="100700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49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966065-E8FB-22B4-9C58-C679F892D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158" y="2869706"/>
                <a:ext cx="100700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D3C334-D2D0-F2A4-3C58-9606CCB727B9}"/>
                  </a:ext>
                </a:extLst>
              </p:cNvPr>
              <p:cNvSpPr txBox="1"/>
              <p:nvPr/>
            </p:nvSpPr>
            <p:spPr>
              <a:xfrm>
                <a:off x="5223827" y="5143871"/>
                <a:ext cx="1411284" cy="9178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e>
                      </m:rad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D3C334-D2D0-F2A4-3C58-9606CCB72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827" y="5143871"/>
                <a:ext cx="1411284" cy="9178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45E6B-4150-832F-CB6F-CC95740E7804}"/>
              </a:ext>
            </a:extLst>
          </p:cNvPr>
          <p:cNvCxnSpPr>
            <a:stCxn id="4" idx="0"/>
          </p:cNvCxnSpPr>
          <p:nvPr/>
        </p:nvCxnSpPr>
        <p:spPr>
          <a:xfrm flipV="1">
            <a:off x="3126855" y="1438183"/>
            <a:ext cx="2474955" cy="15437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EA93A5-C0BA-27CA-90B0-88576645BA61}"/>
              </a:ext>
            </a:extLst>
          </p:cNvPr>
          <p:cNvCxnSpPr/>
          <p:nvPr/>
        </p:nvCxnSpPr>
        <p:spPr>
          <a:xfrm>
            <a:off x="6570991" y="1509204"/>
            <a:ext cx="1631976" cy="13605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BE7950-2B13-6B98-A6B6-4D43798A15EE}"/>
              </a:ext>
            </a:extLst>
          </p:cNvPr>
          <p:cNvCxnSpPr/>
          <p:nvPr/>
        </p:nvCxnSpPr>
        <p:spPr>
          <a:xfrm flipH="1">
            <a:off x="6590192" y="3773010"/>
            <a:ext cx="1692674" cy="16334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562137-A404-8CBD-AE2F-A2C0BD0EA2FC}"/>
              </a:ext>
            </a:extLst>
          </p:cNvPr>
          <p:cNvCxnSpPr/>
          <p:nvPr/>
        </p:nvCxnSpPr>
        <p:spPr>
          <a:xfrm flipH="1" flipV="1">
            <a:off x="3400148" y="3764132"/>
            <a:ext cx="1823679" cy="17666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17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369D-F6C6-1F8A-0830-7E0F246E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Calculators (exercise books)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8B7BF-0EDA-292E-447A-5224C483D1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2482049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4000" b="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4000" b="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4000" b="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8B7BF-0EDA-292E-447A-5224C483D1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2482049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0D3B121-EEB6-6BDB-BF95-75E236A1E2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49358" y="1825625"/>
                <a:ext cx="248204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36 </m:t>
                        </m:r>
                      </m:e>
                    </m:ra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3200" b="0" dirty="0"/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3200" b="0" dirty="0"/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ra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3200" b="0" dirty="0"/>
              </a:p>
              <a:p>
                <a:pPr marL="514350" indent="-5143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0D3B121-EEB6-6BDB-BF95-75E236A1E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358" y="1825625"/>
                <a:ext cx="2482049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FC987-F9F1-7DB9-AFF1-058893C3916C}"/>
                  </a:ext>
                </a:extLst>
              </p:cNvPr>
              <p:cNvSpPr txBox="1"/>
              <p:nvPr/>
            </p:nvSpPr>
            <p:spPr>
              <a:xfrm>
                <a:off x="2598198" y="5308846"/>
                <a:ext cx="7557856" cy="724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Without a calculator estimate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e>
                    </m:rad>
                    <m:r>
                      <a:rPr lang="en-US" sz="3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FC987-F9F1-7DB9-AFF1-058893C3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198" y="5308846"/>
                <a:ext cx="7557856" cy="724237"/>
              </a:xfrm>
              <a:prstGeom prst="rect">
                <a:avLst/>
              </a:prstGeom>
              <a:blipFill>
                <a:blip r:embed="rId4"/>
                <a:stretch>
                  <a:fillRect l="-2419" t="-5882" b="-277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09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C923-1D07-7840-C140-4E7F49332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– estimate the value…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861564-D3D6-654D-D091-3C33AD2862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4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50 </m:t>
                        </m:r>
                      </m:e>
                    </m:rad>
                  </m:oMath>
                </a14:m>
                <a:endParaRPr lang="en-US" sz="4400" dirty="0"/>
              </a:p>
              <a:p>
                <a:pPr marL="742950" indent="-742950">
                  <a:buAutoNum type="alphaLcParenR"/>
                </a:pPr>
                <a:endParaRPr lang="en-AU" sz="44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4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e>
                    </m:rad>
                  </m:oMath>
                </a14:m>
                <a:endParaRPr lang="en-US" sz="4400" dirty="0"/>
              </a:p>
              <a:p>
                <a:pPr marL="742950" indent="-742950">
                  <a:buAutoNum type="alphaLcParenR"/>
                </a:pPr>
                <a:endParaRPr lang="en-AU" sz="44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4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e>
                    </m:rad>
                  </m:oMath>
                </a14:m>
                <a:endParaRPr lang="en-AU" sz="4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861564-D3D6-654D-D091-3C33AD2862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51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B3E06-EF86-42C6-99A1-A2D32853D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28A2-D9A0-4548-AF7D-D39A22E22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/>
              <a:t>Equivalent</a:t>
            </a:r>
          </a:p>
          <a:p>
            <a:pPr marL="0" indent="0">
              <a:buNone/>
            </a:pPr>
            <a:endParaRPr lang="en-US" sz="4800" b="1" dirty="0"/>
          </a:p>
          <a:p>
            <a:pPr>
              <a:buFontTx/>
              <a:buChar char="-"/>
            </a:pPr>
            <a:r>
              <a:rPr lang="en-US" sz="3200" dirty="0"/>
              <a:t>Equal in value, amount or meaning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Therefore, Equivalent expressions would mean…… </a:t>
            </a:r>
          </a:p>
          <a:p>
            <a:pPr marL="0" indent="0">
              <a:buNone/>
            </a:pPr>
            <a:r>
              <a:rPr lang="en-AU" dirty="0"/>
              <a:t>2 (or more) Expressions that are equal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98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268AD-C69E-46F5-A152-9FFBA0A2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test if they are equivalent?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D12E8-FC8B-4A92-9CDC-0BF780B2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Substitution</a:t>
            </a:r>
            <a:r>
              <a:rPr lang="en-US" sz="4000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Replace a pronumeral with a value and solve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Are these expression equivalent?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 algn="ctr">
              <a:buNone/>
            </a:pPr>
            <a:r>
              <a:rPr lang="en-US" sz="3600" dirty="0"/>
              <a:t>3x + 6y 					3(x + 2y)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45205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BD6FC-EF5D-4508-88B1-61AC662C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Determine if these are equivalent expressions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63FAD-E117-4CA8-8407-230D6388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u="sng" dirty="0">
                <a:highlight>
                  <a:srgbClr val="FFFF00"/>
                </a:highlight>
              </a:rPr>
              <a:t>Exercise books</a:t>
            </a:r>
          </a:p>
          <a:p>
            <a:pPr marL="0" indent="0" algn="ctr">
              <a:buNone/>
            </a:pPr>
            <a:endParaRPr lang="en-US" b="1" u="sng" dirty="0">
              <a:highlight>
                <a:srgbClr val="FFFF00"/>
              </a:highlight>
            </a:endParaRPr>
          </a:p>
          <a:p>
            <a:pPr marL="514350" indent="-514350" algn="ctr">
              <a:buAutoNum type="alphaLcParenR"/>
            </a:pPr>
            <a:r>
              <a:rPr lang="en-AU" dirty="0"/>
              <a:t>2x + 3 		AND 		x + 2 </a:t>
            </a:r>
          </a:p>
          <a:p>
            <a:pPr marL="514350" indent="-514350" algn="ctr">
              <a:buAutoNum type="alphaLcParenR"/>
            </a:pPr>
            <a:endParaRPr lang="en-AU" dirty="0"/>
          </a:p>
          <a:p>
            <a:pPr marL="514350" indent="-514350" algn="ctr">
              <a:buAutoNum type="alphaLcParenR"/>
            </a:pPr>
            <a:r>
              <a:rPr lang="en-AU" dirty="0"/>
              <a:t>3e – 4 		AND 		2e – 1 </a:t>
            </a:r>
          </a:p>
          <a:p>
            <a:pPr marL="514350" indent="-514350" algn="ctr">
              <a:buAutoNum type="alphaLcParenR"/>
            </a:pPr>
            <a:endParaRPr lang="en-AU" dirty="0"/>
          </a:p>
          <a:p>
            <a:pPr marL="514350" indent="-514350" algn="ctr">
              <a:buAutoNum type="alphaLcParenR"/>
            </a:pPr>
            <a:r>
              <a:rPr lang="en-AU" dirty="0"/>
              <a:t>4r + 16 		AND 		2(2r + 8) </a:t>
            </a:r>
          </a:p>
        </p:txBody>
      </p:sp>
    </p:spTree>
    <p:extLst>
      <p:ext uri="{BB962C8B-B14F-4D97-AF65-F5344CB8AC3E}">
        <p14:creationId xmlns:p14="http://schemas.microsoft.com/office/powerpoint/2010/main" val="3305190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3C66-FE3E-419A-8174-580610555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 with indices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FB949-73F4-4F9B-BB34-9B4E4C30A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B and A grade level questions: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THINK: how could I write this in numbers?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Sam started with 4 hats, every year the number of hats doubles. So, after 2 years Sam has 8 hats, after 3 year = 16 hats. How many hats will Sam have after 7 years?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does this look like just using numbers?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97041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FC36-B8CC-4C99-9AAC-B074EDF8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THINK: what do the numbers represent?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74057D-5217-4FC9-9D4E-F9C161AB58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John starts with 10 bees. Every month they double. After 2 months there are 20 bees, after 3 months there are 40.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Explain how the expression: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can be used to calculate the number of bees each month.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74057D-5217-4FC9-9D4E-F9C161AB5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6517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3122-DC9E-4581-BAD3-52D6B8B4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Powers of 10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FA7D3-69A7-4CFC-9340-3ED232CC2A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=10 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×10=100 </m:t>
                      </m:r>
                    </m:oMath>
                  </m:oMathPara>
                </a14:m>
                <a:endParaRPr lang="en-US" sz="36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 ×10=1000</m:t>
                      </m:r>
                    </m:oMath>
                  </m:oMathPara>
                </a14:m>
                <a:endParaRPr lang="en-US" sz="36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 ×10 ×10=10000</m:t>
                      </m:r>
                    </m:oMath>
                  </m:oMathPara>
                </a14:m>
                <a:endParaRPr lang="en-US" sz="36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600" b="0" dirty="0"/>
              </a:p>
              <a:p>
                <a:pPr marL="0" indent="0">
                  <a:buNone/>
                </a:pPr>
                <a:r>
                  <a:rPr lang="en-US" sz="3600" dirty="0"/>
                  <a:t>What do you think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 ? </m:t>
                    </m:r>
                  </m:oMath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:r>
                  <a:rPr lang="en-AU" sz="3600" dirty="0"/>
                  <a:t>Evaluate: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FA7D3-69A7-4CFC-9340-3ED232CC2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0" b="-45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80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BCFEA-8BD6-48B7-8541-46C14A83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Substitution practice 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891AF0-ACA2-ADAC-B9A3-D641E14CA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85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25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8565-62C2-B7D7-D596-E8109ECE3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4198D-020C-B780-348F-D4FB4F023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4D8CA-8781-B6A3-3BCA-E9CAEAF01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4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71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88A89-CA90-4CDC-9F73-2B8232CF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4C95E-437D-496E-8FCE-8CFCEA1EA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 215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Questions:</a:t>
            </a:r>
          </a:p>
          <a:p>
            <a:pPr marL="0" indent="0" algn="ctr">
              <a:buNone/>
            </a:pPr>
            <a:r>
              <a:rPr lang="en-US" dirty="0"/>
              <a:t>1 – 3 and 7 – 10 and 12 </a:t>
            </a:r>
          </a:p>
          <a:p>
            <a:pPr marL="0" indent="0" algn="ctr">
              <a:buNone/>
            </a:pPr>
            <a:r>
              <a:rPr lang="en-US" dirty="0"/>
              <a:t>Challenge question 14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4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370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Review </vt:lpstr>
      <vt:lpstr>PowerPoint Presentation</vt:lpstr>
      <vt:lpstr>Calculators (exercise books)  </vt:lpstr>
      <vt:lpstr>Whiteboards – estimate the value…</vt:lpstr>
      <vt:lpstr>The word is </vt:lpstr>
      <vt:lpstr>How can we test if they are equivalent? </vt:lpstr>
      <vt:lpstr>Determine if these are equivalent expressions</vt:lpstr>
      <vt:lpstr>Expressions with indices </vt:lpstr>
      <vt:lpstr>THINK: what do the numbers represent?</vt:lpstr>
      <vt:lpstr>Powers of 10 </vt:lpstr>
      <vt:lpstr>Substitution practice </vt:lpstr>
      <vt:lpstr>PowerPoint Presentation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11</cp:revision>
  <dcterms:created xsi:type="dcterms:W3CDTF">2022-03-15T23:27:45Z</dcterms:created>
  <dcterms:modified xsi:type="dcterms:W3CDTF">2023-03-22T00:24:48Z</dcterms:modified>
</cp:coreProperties>
</file>
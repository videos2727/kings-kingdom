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99" r:id="rId4"/>
    <p:sldId id="294" r:id="rId5"/>
    <p:sldId id="295" r:id="rId6"/>
    <p:sldId id="296" r:id="rId7"/>
    <p:sldId id="297" r:id="rId8"/>
    <p:sldId id="298" r:id="rId9"/>
    <p:sldId id="300" r:id="rId10"/>
    <p:sldId id="301" r:id="rId11"/>
    <p:sldId id="302" r:id="rId12"/>
    <p:sldId id="3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728F-EB0A-48BA-A580-6FCADC55E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C80AA-5A67-443C-BB87-12937DA6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FB608-F645-451C-91C3-ABED449B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D1114-236F-466B-BC84-D40320D8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3EDF-3D32-4670-BA14-C050468F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174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979F-5BF6-41A1-B950-8500417D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9D11C-AC47-4078-B59D-80668AF8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BB1ED-B741-4D22-9E2A-0B0B9DF65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0D459-BC5D-41B7-9AE5-422765E4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FEFF-FE55-411B-849E-A1E270C2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446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A7DA-E87F-4497-A54C-89C811BF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C89FD-ED0C-4B3E-BBDF-B14D1070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2231D-1221-4B27-B19F-3C425334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4BDAE-44FF-4BCE-B0BA-38A692AD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07EB8-4CED-4F0A-A807-4290055E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78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A4DB-6D92-40C4-A83A-35B78322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4F470-5CC8-46CB-8217-FAC9451FC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CEBE0-79EE-4C21-BC92-7794D8330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33E11-E910-493C-8C5A-71D510CD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6A535-5BC5-4399-A19B-5BF45AAE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F294C-87FE-4ADE-B4E8-B7E0C44D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110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1992-657D-472E-ADEC-54DEE669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DA564-AE09-4BDF-B361-DE825E5B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D2E35-8BE5-4D53-9E65-8BF791E72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C857A-29E4-4FF4-AAE6-27D95B6C4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706E1-7101-4C9E-8B10-F10FC89D9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50A04-5CD6-474D-9184-2872BDA0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F6167-497A-40D9-8A42-D2AF6C27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DC169E-9179-4C8B-84DA-A0C769BD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01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0549-80B6-458F-891D-0CBB5B1B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F1C4F-54B3-4041-A7DE-0B4BDD8B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A51D0-0403-44E9-ACE3-92D570A7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C2D11-AEA7-4153-9D83-99B010FD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410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AA2ED-8998-4E44-A1FC-6780677A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0D78D-97A7-47BF-A723-55A9734B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E3280-0D5C-4E7C-97A2-5F1118DA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83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9B4F-7D34-4545-A920-0841B4E6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A6AD-5AE1-45E7-979D-D49F26DB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039B-95C2-4395-A8E8-B59D8434A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39CCB-DD63-47AE-BDB3-ECC83069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03DBA-0D43-48A8-8FC8-49E17E6B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F0760-A963-492B-88C7-2E05C9DE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86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0FC3-0535-4A41-9730-6F0BF9E75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137F8-42F9-4DC3-9DD6-F9815D59A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68821-E6B2-4860-8B59-B27F9D535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EDBD5-25DA-4E45-BE85-FAEF8A30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52ECD-9EC9-4067-83CD-B6F334DDD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9D641-864E-4764-A4B4-018A082C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25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DC13-CBF0-431A-9442-7E779203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9158A-D54D-4E18-B4AF-996ABFE80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3901D-552B-4FEA-8C9D-1393EE74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8B84-1A5A-4F14-9EF4-AFAAC590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DD79-AD03-4BC4-8636-74A5FACE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08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C9ADE-11CA-4112-9D6C-82549AA7B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80192-826F-431F-A6E6-0A0F34DDB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B025A-5887-45E4-B3F7-ED51B54A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AB13F-EA18-485E-BBF7-CDA52CCD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1959E-C548-4DE5-A26D-66ED8A83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9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FA6C6-4FD3-4E42-B455-20D0CD1F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DCEEE-15F4-44B1-AD99-F8C3EE0F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E29B8-B248-4BFB-A1EF-0CDE191E9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FBF9F-A5DB-494E-A5CF-BBF350221609}" type="datetimeFigureOut">
              <a:rPr lang="en-AU" smtClean="0"/>
              <a:t>23/02/2023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6938D-94C1-4367-9F19-90113BFDA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C523-9D03-427D-82F1-2606DFBB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0669B-1A09-43EA-B259-AA162FCD50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59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PHKaqXlki6w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463C26-8736-441D-B5F4-76BA7E8A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E74522-826F-4289-B97E-7C1A900F7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Multiple pronumerals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substitute into expressions with more than 1 pronumeral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describe and identify a coefficient 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Review: BIMDAS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Area of triangles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E8D92A-A2C1-A7A7-F66E-49FB600AAB84}"/>
              </a:ext>
            </a:extLst>
          </p:cNvPr>
          <p:cNvSpPr txBox="1"/>
          <p:nvPr/>
        </p:nvSpPr>
        <p:spPr>
          <a:xfrm>
            <a:off x="6276513" y="1917577"/>
            <a:ext cx="3630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Need whiteboards</a:t>
            </a:r>
            <a:r>
              <a:rPr lang="en-US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3161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9713-D4D4-42E8-A7F1-25549084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6571"/>
          </a:xfrm>
        </p:spPr>
        <p:txBody>
          <a:bodyPr/>
          <a:lstStyle/>
          <a:p>
            <a:pPr algn="ctr"/>
            <a:r>
              <a:rPr lang="en-US" dirty="0"/>
              <a:t>BIMDAS practice: exercise books 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C755BE-450C-4956-8AEA-F91001EB6500}"/>
              </a:ext>
            </a:extLst>
          </p:cNvPr>
          <p:cNvSpPr/>
          <p:nvPr/>
        </p:nvSpPr>
        <p:spPr>
          <a:xfrm>
            <a:off x="185195" y="1282044"/>
            <a:ext cx="3553428" cy="545969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1F6841-05E1-491D-A15A-B1EE6F9D8B2F}"/>
              </a:ext>
            </a:extLst>
          </p:cNvPr>
          <p:cNvSpPr/>
          <p:nvPr/>
        </p:nvSpPr>
        <p:spPr>
          <a:xfrm>
            <a:off x="4249838" y="1351192"/>
            <a:ext cx="3553428" cy="5459700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712D4F-9ED1-4AF6-87EE-401FD3ACCC9D}"/>
              </a:ext>
            </a:extLst>
          </p:cNvPr>
          <p:cNvSpPr/>
          <p:nvPr/>
        </p:nvSpPr>
        <p:spPr>
          <a:xfrm>
            <a:off x="8314481" y="1282042"/>
            <a:ext cx="3553428" cy="5459701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C37D26-FCBB-4F23-B7C0-545F964883CD}"/>
                  </a:ext>
                </a:extLst>
              </p:cNvPr>
              <p:cNvSpPr txBox="1"/>
              <p:nvPr/>
            </p:nvSpPr>
            <p:spPr>
              <a:xfrm>
                <a:off x="257452" y="1580225"/>
                <a:ext cx="3553428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:r>
                  <a:rPr lang="en-US" sz="2800" dirty="0"/>
                  <a:t>2 x 5 + 2 = </a:t>
                </a:r>
              </a:p>
              <a:p>
                <a:pPr marL="342900" indent="-342900">
                  <a:buAutoNum type="alphaLcParenR"/>
                </a:pPr>
                <a:endParaRPr lang="en-US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÷2 −5= 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AU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0 −10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÷10=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7 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6+12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÷6= </m:t>
                    </m:r>
                  </m:oMath>
                </a14:m>
                <a:endParaRPr lang="en-US" sz="2800" b="0" dirty="0"/>
              </a:p>
              <a:p>
                <a:pPr marL="342900" indent="-342900">
                  <a:buAutoNum type="alphaLcParenR"/>
                </a:pPr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C37D26-FCBB-4F23-B7C0-545F96488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52" y="1580225"/>
                <a:ext cx="3553428" cy="5386090"/>
              </a:xfrm>
              <a:prstGeom prst="rect">
                <a:avLst/>
              </a:prstGeom>
              <a:blipFill>
                <a:blip r:embed="rId2"/>
                <a:stretch>
                  <a:fillRect l="-3602" t="-12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2A717-B64B-4DE5-BFBA-BC78A074495A}"/>
                  </a:ext>
                </a:extLst>
              </p:cNvPr>
              <p:cNvSpPr txBox="1"/>
              <p:nvPr/>
            </p:nvSpPr>
            <p:spPr>
              <a:xfrm>
                <a:off x="4429957" y="1563949"/>
                <a:ext cx="3215197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8 −8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2=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5 ÷5= 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AU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20 −6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3=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21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2+5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20 −13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5= 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4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</m:t>
                    </m:r>
                  </m:oMath>
                </a14:m>
                <a:endParaRPr lang="en-US" sz="2800" b="0" dirty="0"/>
              </a:p>
              <a:p>
                <a:pPr marL="342900" indent="-342900">
                  <a:buAutoNum type="alphaLcParenR"/>
                </a:pPr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2A717-B64B-4DE5-BFBA-BC78A0744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957" y="1563949"/>
                <a:ext cx="3215197" cy="5386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4581F-212A-44C2-8E3A-A38F589FD326}"/>
                  </a:ext>
                </a:extLst>
              </p:cNvPr>
              <p:cNvSpPr txBox="1"/>
              <p:nvPr/>
            </p:nvSpPr>
            <p:spPr>
              <a:xfrm>
                <a:off x="8314481" y="1563949"/>
                <a:ext cx="3553428" cy="4798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15 −9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(14 ÷2)</m:t>
                    </m:r>
                  </m:oMath>
                </a14:m>
                <a:r>
                  <a:rPr lang="en-US" sz="2400" dirty="0"/>
                  <a:t>= </a:t>
                </a:r>
              </a:p>
              <a:p>
                <a:pPr marL="342900" indent="-342900">
                  <a:buAutoNum type="alphaLcParenR"/>
                </a:pPr>
                <a:endParaRPr lang="en-US" sz="24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 ÷5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3=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AU" sz="24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11 −3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4=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US" sz="24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5+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27 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÷9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8=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4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−17=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4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6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400" b="0" dirty="0"/>
              </a:p>
              <a:p>
                <a:pPr marL="342900" indent="-342900">
                  <a:buAutoNum type="alphaLcParenR"/>
                </a:pPr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4581F-212A-44C2-8E3A-A38F589FD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481" y="1563949"/>
                <a:ext cx="3553428" cy="4798173"/>
              </a:xfrm>
              <a:prstGeom prst="rect">
                <a:avLst/>
              </a:prstGeom>
              <a:blipFill>
                <a:blip r:embed="rId4"/>
                <a:stretch>
                  <a:fillRect l="-2573" t="-11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4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09A8-012B-4BA6-BC5A-E3F6EC3B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BIMDAS with pronumerals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90D2F-0224-4487-B0CD-3BA0EE830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0114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Whiteboards: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x = 4, evaluate: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X + 9 x 2 = 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3x + 7 = </a:t>
                </a: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r>
                  <a:rPr lang="en-AU" dirty="0"/>
                  <a:t>(x – 3) x 12 =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90D2F-0224-4487-B0CD-3BA0EE830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0114"/>
                <a:ext cx="10515600" cy="4351338"/>
              </a:xfrm>
              <a:blipFill>
                <a:blip r:embed="rId2"/>
                <a:stretch>
                  <a:fillRect l="-1217" t="-2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22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E3F-7C17-438B-9756-32100B3B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6412-2303-4862-BF17-BB225539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Pronumeral</a:t>
            </a:r>
            <a:r>
              <a:rPr lang="en-US" sz="4000" dirty="0"/>
              <a:t>: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/>
              <a:t>A letter or symbol used to represent a number.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4FFD5C-BD33-4ED6-8E42-F2D6171C1F96}"/>
              </a:ext>
            </a:extLst>
          </p:cNvPr>
          <p:cNvSpPr/>
          <p:nvPr/>
        </p:nvSpPr>
        <p:spPr>
          <a:xfrm>
            <a:off x="710214" y="1690688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17A2E-078D-4140-8D84-5AE2AACAC15A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90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4CB8-0704-4770-B9CE-27E6E1B3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CDF-5A05-426F-8862-CA57CA9B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Evaluate</a:t>
            </a:r>
            <a:r>
              <a:rPr lang="en-US" sz="4000" dirty="0"/>
              <a:t>: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Means to replace each pronumeral with a number to obtain a final value.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4460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4CB8-0704-4770-B9CE-27E6E1B3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CDF-5A05-426F-8862-CA57CA9B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Coefficient</a:t>
            </a:r>
            <a:r>
              <a:rPr lang="en-US" sz="4000" dirty="0"/>
              <a:t>: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A number placed before a pronumeral. </a:t>
            </a:r>
          </a:p>
        </p:txBody>
      </p:sp>
    </p:spTree>
    <p:extLst>
      <p:ext uri="{BB962C8B-B14F-4D97-AF65-F5344CB8AC3E}">
        <p14:creationId xmlns:p14="http://schemas.microsoft.com/office/powerpoint/2010/main" val="380364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3EB3-5883-4B99-B3E3-0FA463E4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Identify coefficients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31E65-A8B9-49F1-B041-A1F0C90282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2x + 5y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3h – 9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11d + 9g – 12e x 10r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75CA8-A5A9-468D-8AB3-686CB8DAD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But what does the coefficient mean?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206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B2318F-48FF-405B-A5B7-B06B56BC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Multiple substitutions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D44A0-F320-4234-A691-973CDB56DF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x = 3 and y = 4, evaluate: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X + y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3x + 2y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5x – 2y=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A34B0DC-8D1A-4510-8637-719BBEB32B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You do - whiteboards: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2x + 2y = </a:t>
                </a: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A34B0DC-8D1A-4510-8637-719BBEB32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271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1A8697-19F5-432C-99FF-6BB04415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Formula for area of triangle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F59ED67-31B5-4AF5-A141-B356DBDAB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>
                    <a:hlinkClick r:id="rId2"/>
                  </a:rPr>
                  <a:t>https://www.youtube.com/watch?v=PHKaqXlki6w</a:t>
                </a:r>
                <a:r>
                  <a:rPr lang="en-AU" dirty="0"/>
                  <a:t>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An easier way is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h𝑒𝑖𝑔h𝑡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E.g., b = 12, h = 3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F59ED67-31B5-4AF5-A141-B356DBDAB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703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7F63-1826-45BB-8436-EFBF1D5D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CB592-F9E4-41EE-9343-CFC180D4B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the area of rectangle puzzle sheet.</a:t>
            </a: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Then move onto the other side with area of triangles.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331D-D37B-4B79-8975-28BFCD69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17ED7-988B-48E8-AA3F-5813B3DCC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Pronumeral is _____________________________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Evaluate means to _________________________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___________ is a number placed before a pronumeral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4r + 11w – 7h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97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0BC3-0DDA-423D-89C8-C97E339E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five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2559-A468-46D4-B149-D072782C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 Be able to substitute into expressions with more than 1 pronumeral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 describe and identify a coefficient 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215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399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BIMDAS practice: exercise books </vt:lpstr>
      <vt:lpstr>BIMDAS with pronumerals </vt:lpstr>
      <vt:lpstr>The word is </vt:lpstr>
      <vt:lpstr>The word is </vt:lpstr>
      <vt:lpstr>The word is </vt:lpstr>
      <vt:lpstr>Identify coefficients </vt:lpstr>
      <vt:lpstr>Multiple substitutions </vt:lpstr>
      <vt:lpstr>Formula for area of triangle </vt:lpstr>
      <vt:lpstr>Individual practice </vt:lpstr>
      <vt:lpstr>Reflection </vt:lpstr>
      <vt:lpstr>Fist to five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15</cp:revision>
  <dcterms:created xsi:type="dcterms:W3CDTF">2022-02-22T10:35:00Z</dcterms:created>
  <dcterms:modified xsi:type="dcterms:W3CDTF">2023-02-22T23:49:46Z</dcterms:modified>
</cp:coreProperties>
</file>
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94" r:id="rId4"/>
    <p:sldId id="295" r:id="rId5"/>
    <p:sldId id="296" r:id="rId6"/>
    <p:sldId id="257" r:id="rId7"/>
    <p:sldId id="306" r:id="rId8"/>
    <p:sldId id="258" r:id="rId9"/>
    <p:sldId id="259" r:id="rId10"/>
    <p:sldId id="297" r:id="rId11"/>
    <p:sldId id="273" r:id="rId12"/>
    <p:sldId id="292" r:id="rId13"/>
    <p:sldId id="304" r:id="rId14"/>
    <p:sldId id="260" r:id="rId15"/>
    <p:sldId id="298" r:id="rId16"/>
    <p:sldId id="299" r:id="rId17"/>
    <p:sldId id="300" r:id="rId18"/>
    <p:sldId id="301" r:id="rId19"/>
    <p:sldId id="302" r:id="rId20"/>
    <p:sldId id="303" r:id="rId21"/>
    <p:sldId id="305" r:id="rId2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15381-8D72-4E46-89A7-5F856ED392A2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BB0EA-5FA5-4D0B-A642-F3A0FAC429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65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guided notes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8AB65-6270-4CF6-8170-70BAAF2482F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04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8AB65-6270-4CF6-8170-70BAAF2482F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520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guided notes 2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BB0EA-5FA5-4D0B-A642-F3A0FAC4299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212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F51D-3EB3-418C-B910-A8253D079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D186A-AE3D-44AD-A0DE-6EC4C62B3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88EB4-1A53-49A4-89CC-05217BA7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EB758-F94B-4914-88C0-B91FF5A8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0D854-47F2-455F-BA0D-C9F1877D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77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8CED-E778-402A-8E94-5EADAED7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90024-9152-4B42-A8C9-DF5C2779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8311-45AC-4C3E-96D1-6C040E18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A3A4A-BA8F-4160-9906-860FD4EA8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85229-92EB-431F-AF08-FA02DDBA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29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0AC0-30F5-410C-9B30-FFC4C7E5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E9B72-D592-4CA5-B8B4-6F4A50795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74014-DFD2-422E-9436-8B740D70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7F21-11C6-4C54-9B94-80D70343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6B241-FBBA-4DC7-B7C4-E0FB1B03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51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1164-B31D-4A55-A4F6-A6F2F76A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FEF5-D67D-4D74-9A45-58FE5B3E2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5CCF6-8E30-46FC-B9D1-86BA01334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031DC-2D03-4B75-9516-AFB88911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6481D-BE84-4FEA-BE8D-8CD61BB4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7F81F-969E-4B20-8C40-A5647765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979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D674-248F-48A7-9502-AAAA787E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4F1F-FB51-461D-A205-D207DDC64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4C2F5-333D-48D6-A88C-CEBC39AF6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D312E-89AE-4B03-8C17-F34C46436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A3EB5-BFFD-4C81-B79A-108952DC3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E5F18-7A46-4A84-B6EC-0B0F1775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BFCC4-808C-4D82-9001-309AC311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F4038-08A5-4B68-A766-EB0086A6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11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F4EC-C80E-4D1F-B07C-3B8951AF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F08E5-D02D-4862-A72F-B1583A8D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584FA-FC53-4D0A-BE71-FDA10482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A6ECE-136C-4401-9408-81D952C4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441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84B38-7BC6-4316-A024-5169BFE7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D814B-566A-48E5-8415-53CD54FB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7262B-91C8-40DE-B260-66856BA0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31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47E40-2FB1-4287-825B-DB2F3E59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92FA-FF95-4C4E-8E5E-65F88A7BC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4D8B7-37AF-4574-B81A-E52D43830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A0EFC-5E9F-434E-A26D-5AE0245F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73314-158A-4334-8365-190678D88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BF10B-31AD-4A8B-ADEF-2C49BFF7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1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13FF-2C3E-49FB-B63B-16F34C904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54AEE-3DD4-42EA-BC3C-8915AC307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9B6FB-E9F0-4D94-8119-29CADF70D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87938-5751-4EC7-A9CE-C5E096918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33F20-5BB0-4C18-846D-F80BF3CB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8F630-62A6-43F0-BD13-A4C82E2A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15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AFBE-C2AC-45F8-8465-1032F13F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944AA-956C-47ED-8E42-6439FB033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EC413-3BFB-45D5-9D67-F98ADDC4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06028-A070-4B20-9973-78DCC701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945D0-2D0A-41D1-B60B-228B59B5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2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85F74-550C-4872-AF65-1B7C121EA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5E882-E670-4EC0-B8EB-4A7BF7DD8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0FE9A-9923-4696-BB40-7BB660BDC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64315-32C5-4A67-8EDA-077CF76E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490E5-814F-4101-85E3-FD71E81A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8834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166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8261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417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9566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353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447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240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0269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0835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258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87568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14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1319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7592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04726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837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87AD4-78A1-4091-904D-EED17D6A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01DB3-4F45-42CF-B6F2-C0A852113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1213D-533B-40AE-879B-E24174EED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3F5B5-068B-4F77-9CC8-3E1D96B1308C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84C83-2D37-438B-8658-699AB46D1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5979-B426-467A-9F74-577EFE507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1C689-74FF-4C55-9310-E26B3B7388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279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7/03/2023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14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CB085B-3EE2-4000-90A8-B71F24E4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740AC4-71BE-4144-B194-37F409A6D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AU" dirty="0">
                <a:solidFill>
                  <a:srgbClr val="00B0F0"/>
                </a:solidFill>
              </a:rPr>
              <a:t>Indices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Be able to correctly state numbers with indices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Expand and simplify numbers with indices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Terminology 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Substitution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Index notation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54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9E3F-7C17-438B-9756-32100B3B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6412-2303-4862-BF17-BB225539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Pronumeral</a:t>
            </a:r>
            <a:r>
              <a:rPr lang="en-US" sz="4000" dirty="0"/>
              <a:t>: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/>
              <a:t>A letter or symbol used to represent a number.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4FFD5C-BD33-4ED6-8E42-F2D6171C1F96}"/>
              </a:ext>
            </a:extLst>
          </p:cNvPr>
          <p:cNvSpPr/>
          <p:nvPr/>
        </p:nvSpPr>
        <p:spPr>
          <a:xfrm>
            <a:off x="710213" y="1666907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17A2E-078D-4140-8D84-5AE2AACAC15A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906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15DF-F6BE-448B-B057-9D8BDF9A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EDA04-A6B9-43C2-8CF2-D2A614A1C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Expression 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Consists of numbers and pronumerals combined with any mathematical operations. (No equal sign) 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When we do NOT know the value of the pronumeral, we cannot solve the expression… we leave the letter or symbol in</a:t>
            </a:r>
          </a:p>
          <a:p>
            <a:pPr marL="0" indent="0">
              <a:buNone/>
            </a:pPr>
            <a:r>
              <a:rPr lang="en-US" dirty="0"/>
              <a:t>E.g., 		2x + 6g – 9y + 12 </a:t>
            </a:r>
            <a:endParaRPr lang="en-AU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7234CB-3810-40F6-93BE-C2BC0AA62B87}"/>
              </a:ext>
            </a:extLst>
          </p:cNvPr>
          <p:cNvSpPr/>
          <p:nvPr/>
        </p:nvSpPr>
        <p:spPr>
          <a:xfrm>
            <a:off x="710213" y="1825625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E1D58-C034-4F7F-8878-9B6D139DB862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74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4CB8-0704-4770-B9CE-27E6E1B3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6CDF-5A05-426F-8862-CA57CA9B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Coefficient</a:t>
            </a:r>
            <a:r>
              <a:rPr lang="en-US" sz="4000" dirty="0"/>
              <a:t>: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A number placed before a pronumeral.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38DB1-DC82-400A-B20B-3E127AD924E7}"/>
              </a:ext>
            </a:extLst>
          </p:cNvPr>
          <p:cNvSpPr/>
          <p:nvPr/>
        </p:nvSpPr>
        <p:spPr>
          <a:xfrm>
            <a:off x="838200" y="1729560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1D37F-D46B-433B-9C29-91D6392B5852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64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EC7A-3FEA-4FEA-BA9F-7374811C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Labels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4E940A-F6C2-4A8F-A7D5-BF7664A0D3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18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en-US" sz="80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 −10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8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4E940A-F6C2-4A8F-A7D5-BF7664A0D3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184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7AA8FB-7DE0-4827-8E68-C123F04BAB35}"/>
              </a:ext>
            </a:extLst>
          </p:cNvPr>
          <p:cNvSpPr txBox="1"/>
          <p:nvPr/>
        </p:nvSpPr>
        <p:spPr>
          <a:xfrm>
            <a:off x="1287262" y="5877017"/>
            <a:ext cx="196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0000"/>
                </a:highlight>
              </a:rPr>
              <a:t>Coefficient</a:t>
            </a:r>
            <a:r>
              <a:rPr lang="en-US" sz="2400" dirty="0"/>
              <a:t> 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78482-CCEF-4432-9B0E-22653DF8D68C}"/>
              </a:ext>
            </a:extLst>
          </p:cNvPr>
          <p:cNvSpPr txBox="1"/>
          <p:nvPr/>
        </p:nvSpPr>
        <p:spPr>
          <a:xfrm>
            <a:off x="4653379" y="5959522"/>
            <a:ext cx="196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00FF00"/>
                </a:highlight>
              </a:rPr>
              <a:t>Pronumeral</a:t>
            </a:r>
            <a:r>
              <a:rPr lang="en-US" sz="2400" b="1" dirty="0"/>
              <a:t> </a:t>
            </a:r>
            <a:r>
              <a:rPr lang="en-US" sz="2400" dirty="0"/>
              <a:t> </a:t>
            </a: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3CF02-5126-4C6D-8AA1-C39A2883C059}"/>
              </a:ext>
            </a:extLst>
          </p:cNvPr>
          <p:cNvSpPr txBox="1"/>
          <p:nvPr/>
        </p:nvSpPr>
        <p:spPr>
          <a:xfrm>
            <a:off x="8603941" y="5908861"/>
            <a:ext cx="196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Expression</a:t>
            </a:r>
            <a:r>
              <a:rPr lang="en-US" sz="2400" b="1" dirty="0"/>
              <a:t> </a:t>
            </a:r>
            <a:r>
              <a:rPr lang="en-US" sz="2400" dirty="0"/>
              <a:t> </a:t>
            </a:r>
            <a:endParaRPr lang="en-AU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DDD9C5-AF00-4EDF-A6CD-A44F92615C06}"/>
              </a:ext>
            </a:extLst>
          </p:cNvPr>
          <p:cNvCxnSpPr>
            <a:stCxn id="4" idx="0"/>
          </p:cNvCxnSpPr>
          <p:nvPr/>
        </p:nvCxnSpPr>
        <p:spPr>
          <a:xfrm flipV="1">
            <a:off x="2268245" y="3719744"/>
            <a:ext cx="439444" cy="21572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6D6156-5FAF-4550-8F15-BD7790E066C2}"/>
              </a:ext>
            </a:extLst>
          </p:cNvPr>
          <p:cNvCxnSpPr>
            <a:stCxn id="4" idx="0"/>
          </p:cNvCxnSpPr>
          <p:nvPr/>
        </p:nvCxnSpPr>
        <p:spPr>
          <a:xfrm flipV="1">
            <a:off x="2268245" y="3675355"/>
            <a:ext cx="2694372" cy="22016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36D200-2CAA-47B7-BB6F-A1200E911A3C}"/>
              </a:ext>
            </a:extLst>
          </p:cNvPr>
          <p:cNvCxnSpPr>
            <a:stCxn id="4" idx="0"/>
          </p:cNvCxnSpPr>
          <p:nvPr/>
        </p:nvCxnSpPr>
        <p:spPr>
          <a:xfrm flipV="1">
            <a:off x="2268245" y="3648722"/>
            <a:ext cx="5277774" cy="22282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CCB56B-D1F8-4FD8-BCFF-EA6D8317E583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3400148" y="3675355"/>
            <a:ext cx="2234214" cy="228416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706B79-AD4D-4C3F-89AD-9F11A016D4C1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5539666" y="3879542"/>
            <a:ext cx="94696" cy="207998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D353FE-1C1D-42F2-99BA-B78731FA007B}"/>
              </a:ext>
            </a:extLst>
          </p:cNvPr>
          <p:cNvCxnSpPr>
            <a:stCxn id="5" idx="0"/>
          </p:cNvCxnSpPr>
          <p:nvPr/>
        </p:nvCxnSpPr>
        <p:spPr>
          <a:xfrm flipV="1">
            <a:off x="5634362" y="3719744"/>
            <a:ext cx="3043560" cy="223977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9325C0C-B033-46F1-AD2F-A1E502D0EC59}"/>
              </a:ext>
            </a:extLst>
          </p:cNvPr>
          <p:cNvSpPr/>
          <p:nvPr/>
        </p:nvSpPr>
        <p:spPr>
          <a:xfrm>
            <a:off x="2070717" y="2239753"/>
            <a:ext cx="7916662" cy="2201661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58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EC7A-3FEA-4FEA-BA9F-7374811C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Labels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4E940A-F6C2-4A8F-A7D5-BF7664A0D3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18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en-US" sz="80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 −10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8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4E940A-F6C2-4A8F-A7D5-BF7664A0D3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184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7AA8FB-7DE0-4827-8E68-C123F04BAB35}"/>
              </a:ext>
            </a:extLst>
          </p:cNvPr>
          <p:cNvSpPr txBox="1"/>
          <p:nvPr/>
        </p:nvSpPr>
        <p:spPr>
          <a:xfrm>
            <a:off x="1287262" y="5877017"/>
            <a:ext cx="196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Coefficient</a:t>
            </a:r>
            <a:r>
              <a:rPr lang="en-US" sz="2400" dirty="0"/>
              <a:t> 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78482-CCEF-4432-9B0E-22653DF8D68C}"/>
              </a:ext>
            </a:extLst>
          </p:cNvPr>
          <p:cNvSpPr txBox="1"/>
          <p:nvPr/>
        </p:nvSpPr>
        <p:spPr>
          <a:xfrm>
            <a:off x="4653379" y="5959522"/>
            <a:ext cx="196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Pronumeral </a:t>
            </a:r>
            <a:r>
              <a:rPr lang="en-US" sz="2400" dirty="0"/>
              <a:t> </a:t>
            </a: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3CF02-5126-4C6D-8AA1-C39A2883C059}"/>
              </a:ext>
            </a:extLst>
          </p:cNvPr>
          <p:cNvSpPr txBox="1"/>
          <p:nvPr/>
        </p:nvSpPr>
        <p:spPr>
          <a:xfrm>
            <a:off x="8603941" y="5908861"/>
            <a:ext cx="1961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Expression </a:t>
            </a:r>
            <a:r>
              <a:rPr lang="en-US" sz="2400" dirty="0"/>
              <a:t>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6385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C3DB-86E1-42A8-B406-3E3A3969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Reteach: Substitution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ABAA0-7633-471C-A5E5-AA58A3A7F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Substitute means to replace pronumerals with a value and solve.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Evaluate means to substitute a value and solve.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20 −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2=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ABAA0-7633-471C-A5E5-AA58A3A7F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42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2468-AA93-4E1A-86D5-2D5E2D56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781A-D63A-46F4-AA08-81B91595B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Evaluate </a:t>
            </a:r>
            <a:r>
              <a:rPr lang="en-US" dirty="0"/>
              <a:t>by replacing the pronumeral with a value. </a:t>
            </a:r>
          </a:p>
          <a:p>
            <a:pPr marL="0" indent="0">
              <a:buNone/>
            </a:pPr>
            <a:r>
              <a:rPr lang="en-AU" b="1" i="1" dirty="0"/>
              <a:t>If x = 3, y = 4 and z = -2, evaluate: </a:t>
            </a:r>
          </a:p>
          <a:p>
            <a:pPr marL="0" indent="0">
              <a:buNone/>
            </a:pPr>
            <a:endParaRPr lang="en-AU" b="1" i="1" dirty="0"/>
          </a:p>
          <a:p>
            <a:pPr marL="514350" indent="-514350">
              <a:buAutoNum type="arabicPeriod"/>
            </a:pPr>
            <a:r>
              <a:rPr lang="en-AU" dirty="0"/>
              <a:t>x + y + z =</a:t>
            </a:r>
          </a:p>
          <a:p>
            <a:pPr marL="514350" indent="-514350">
              <a:buAutoNum type="arabicPeriod"/>
            </a:pPr>
            <a:r>
              <a:rPr lang="en-AU" dirty="0"/>
              <a:t>2x + 2z =</a:t>
            </a:r>
          </a:p>
          <a:p>
            <a:pPr marL="514350" indent="-514350">
              <a:buAutoNum type="arabicPeriod"/>
            </a:pPr>
            <a:r>
              <a:rPr lang="en-AU" dirty="0"/>
              <a:t>4y – x = </a:t>
            </a:r>
          </a:p>
          <a:p>
            <a:pPr marL="514350" indent="-514350">
              <a:buAutoNum type="arabicPeriod"/>
            </a:pPr>
            <a:r>
              <a:rPr lang="en-AU" dirty="0"/>
              <a:t>5y – z = </a:t>
            </a:r>
          </a:p>
          <a:p>
            <a:pPr marL="514350" indent="-514350">
              <a:buAutoNum type="arabicPeriod"/>
            </a:pPr>
            <a:r>
              <a:rPr lang="en-AU" dirty="0"/>
              <a:t>4z – 3x = 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53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7175" y="712360"/>
            <a:ext cx="935584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Indices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number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Power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Exponent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numbers are represented using superscript notation.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 index number cannot exist without a base number.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Powers indicate repeated multiplication of the same base number.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25772" y="1070198"/>
            <a:ext cx="3232597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reads 2 to the power 3 or 2 cubed.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2 is the base number and 3 is the power, exponent, index number or </a:t>
                </a:r>
                <a:r>
                  <a:rPr kumimoji="0" lang="en-AU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indice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blipFill>
                <a:blip r:embed="rId3"/>
                <a:stretch>
                  <a:fillRect l="-1371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8558369" y="4384666"/>
            <a:ext cx="1144576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432800" y="3035128"/>
            <a:ext cx="812800" cy="3431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59919" y="2691931"/>
            <a:ext cx="1643026" cy="3431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37175" y="1979009"/>
            <a:ext cx="2424512" cy="3548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37175" y="1617833"/>
            <a:ext cx="2289540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37176" y="1197735"/>
            <a:ext cx="2167498" cy="4053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45569" y="4369444"/>
            <a:ext cx="842432" cy="3102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28000" y="3955741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46800" y="3955741"/>
            <a:ext cx="1100667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327640" y="4732455"/>
            <a:ext cx="1820094" cy="3548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34667" y="5292913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288075" y="5235767"/>
            <a:ext cx="887926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85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375" y="735337"/>
            <a:ext cx="935584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Indices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number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Power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Exponent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numbers are represented using superscript notation.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 index number cannot exist without a base number.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Powers indicate repeated multiplication of the same base number.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8801" y="1197735"/>
            <a:ext cx="3232597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different expressions with the same meaning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reads 2 to the power 3 or 2 cubed.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2 is the base number and 3 is the power, exponent, index number or </a:t>
                </a:r>
                <a:r>
                  <a:rPr kumimoji="0" lang="en-AU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indice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733" y="3886948"/>
                <a:ext cx="6664341" cy="1200329"/>
              </a:xfrm>
              <a:prstGeom prst="rect">
                <a:avLst/>
              </a:prstGeom>
              <a:blipFill>
                <a:blip r:embed="rId3"/>
                <a:stretch>
                  <a:fillRect l="-1371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3623732" y="4750121"/>
            <a:ext cx="1540934" cy="3601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412171" y="3082054"/>
            <a:ext cx="846667" cy="3050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0710" y="2685852"/>
            <a:ext cx="1649926" cy="3492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24666" y="1982917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98229" y="1600981"/>
            <a:ext cx="1998133" cy="3464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90659" y="1197735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9808" y="3984525"/>
            <a:ext cx="1345125" cy="2718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65882" y="3989214"/>
            <a:ext cx="1064652" cy="2949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96362" y="4367013"/>
            <a:ext cx="702439" cy="3066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77808" y="4313523"/>
            <a:ext cx="1362060" cy="4136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66936" y="5244163"/>
            <a:ext cx="2045236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288074" y="5208794"/>
            <a:ext cx="870993" cy="3601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53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/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3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12ED93-C9CF-4FEA-ACF4-E94DD58F3541}"/>
              </a:ext>
            </a:extLst>
          </p:cNvPr>
          <p:cNvSpPr txBox="1"/>
          <p:nvPr/>
        </p:nvSpPr>
        <p:spPr>
          <a:xfrm>
            <a:off x="5439051" y="4525859"/>
            <a:ext cx="304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  8 x 8 x 8 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0AEAE-66DF-49C9-88FE-E4AC1724A448}"/>
              </a:ext>
            </a:extLst>
          </p:cNvPr>
          <p:cNvSpPr txBox="1"/>
          <p:nvPr/>
        </p:nvSpPr>
        <p:spPr>
          <a:xfrm>
            <a:off x="2068497" y="958788"/>
            <a:ext cx="19086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BASE</a:t>
            </a:r>
            <a:r>
              <a:rPr lang="en-US" dirty="0"/>
              <a:t> number </a:t>
            </a:r>
          </a:p>
          <a:p>
            <a:endParaRPr lang="en-US" dirty="0"/>
          </a:p>
          <a:p>
            <a:r>
              <a:rPr lang="en-US" b="1" dirty="0"/>
              <a:t>(BIG IS BASE) </a:t>
            </a:r>
          </a:p>
          <a:p>
            <a:endParaRPr lang="en-US" b="1" dirty="0"/>
          </a:p>
          <a:p>
            <a:r>
              <a:rPr lang="en-US" dirty="0"/>
              <a:t>It is the number that is repeated in the multiplication.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EE7BE-57B4-4A62-9286-F00B443398FD}"/>
              </a:ext>
            </a:extLst>
          </p:cNvPr>
          <p:cNvSpPr txBox="1"/>
          <p:nvPr/>
        </p:nvSpPr>
        <p:spPr>
          <a:xfrm>
            <a:off x="8611340" y="506027"/>
            <a:ext cx="3258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index number </a:t>
            </a:r>
          </a:p>
          <a:p>
            <a:r>
              <a:rPr lang="en-US" dirty="0"/>
              <a:t>(or exponent, indices or power)</a:t>
            </a:r>
          </a:p>
          <a:p>
            <a:endParaRPr lang="en-US" dirty="0"/>
          </a:p>
          <a:p>
            <a:r>
              <a:rPr lang="en-US" dirty="0"/>
              <a:t>How many of the Base number we need in the multiplication 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AB458C-F61E-4AAE-A25D-60435A4ADFCA}"/>
              </a:ext>
            </a:extLst>
          </p:cNvPr>
          <p:cNvCxnSpPr/>
          <p:nvPr/>
        </p:nvCxnSpPr>
        <p:spPr>
          <a:xfrm>
            <a:off x="3861786" y="1438183"/>
            <a:ext cx="1577265" cy="1099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C0F867-5A06-4C7E-9783-B9D833D6E613}"/>
              </a:ext>
            </a:extLst>
          </p:cNvPr>
          <p:cNvCxnSpPr/>
          <p:nvPr/>
        </p:nvCxnSpPr>
        <p:spPr>
          <a:xfrm flipH="1">
            <a:off x="7137647" y="861134"/>
            <a:ext cx="1562468" cy="8966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5BE3AAB9-E619-4BE8-99C2-B2459203DBEC}"/>
              </a:ext>
            </a:extLst>
          </p:cNvPr>
          <p:cNvSpPr/>
          <p:nvPr/>
        </p:nvSpPr>
        <p:spPr>
          <a:xfrm>
            <a:off x="2572472" y="958788"/>
            <a:ext cx="1275312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F8FE98-1B47-40BD-AB3B-173BAB41CEC6}"/>
              </a:ext>
            </a:extLst>
          </p:cNvPr>
          <p:cNvSpPr/>
          <p:nvPr/>
        </p:nvSpPr>
        <p:spPr>
          <a:xfrm>
            <a:off x="2163189" y="1807701"/>
            <a:ext cx="1673168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22A851AE-F08C-4CF3-B1BD-40A89D9C7662}"/>
              </a:ext>
            </a:extLst>
          </p:cNvPr>
          <p:cNvSpPr/>
          <p:nvPr/>
        </p:nvSpPr>
        <p:spPr>
          <a:xfrm>
            <a:off x="9102682" y="506027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DFB8B925-7A98-4BFD-8440-E96D0FE90D52}"/>
              </a:ext>
            </a:extLst>
          </p:cNvPr>
          <p:cNvSpPr/>
          <p:nvPr/>
        </p:nvSpPr>
        <p:spPr>
          <a:xfrm>
            <a:off x="5339588" y="4627392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14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/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3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12ED93-C9CF-4FEA-ACF4-E94DD58F3541}"/>
              </a:ext>
            </a:extLst>
          </p:cNvPr>
          <p:cNvSpPr txBox="1"/>
          <p:nvPr/>
        </p:nvSpPr>
        <p:spPr>
          <a:xfrm>
            <a:off x="5439051" y="4525859"/>
            <a:ext cx="304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  8 x 8 x 8 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0AEAE-66DF-49C9-88FE-E4AC1724A448}"/>
              </a:ext>
            </a:extLst>
          </p:cNvPr>
          <p:cNvSpPr txBox="1"/>
          <p:nvPr/>
        </p:nvSpPr>
        <p:spPr>
          <a:xfrm>
            <a:off x="2068497" y="958788"/>
            <a:ext cx="19086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BASE</a:t>
            </a:r>
            <a:r>
              <a:rPr lang="en-US" dirty="0"/>
              <a:t> number </a:t>
            </a:r>
          </a:p>
          <a:p>
            <a:endParaRPr lang="en-US" dirty="0"/>
          </a:p>
          <a:p>
            <a:r>
              <a:rPr lang="en-US" b="1" dirty="0"/>
              <a:t>(BIG IS BASE) </a:t>
            </a:r>
          </a:p>
          <a:p>
            <a:endParaRPr lang="en-US" b="1" dirty="0"/>
          </a:p>
          <a:p>
            <a:r>
              <a:rPr lang="en-US" dirty="0"/>
              <a:t>It is the number that is repeated in the multiplication.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EE7BE-57B4-4A62-9286-F00B443398FD}"/>
              </a:ext>
            </a:extLst>
          </p:cNvPr>
          <p:cNvSpPr txBox="1"/>
          <p:nvPr/>
        </p:nvSpPr>
        <p:spPr>
          <a:xfrm>
            <a:off x="8611340" y="506027"/>
            <a:ext cx="3258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index number </a:t>
            </a:r>
          </a:p>
          <a:p>
            <a:r>
              <a:rPr lang="en-US" dirty="0"/>
              <a:t>(or exponent, indices or power)</a:t>
            </a:r>
          </a:p>
          <a:p>
            <a:endParaRPr lang="en-US" dirty="0"/>
          </a:p>
          <a:p>
            <a:r>
              <a:rPr lang="en-US" dirty="0"/>
              <a:t>How many of the Base number we need in the multiplication 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AB458C-F61E-4AAE-A25D-60435A4ADFCA}"/>
              </a:ext>
            </a:extLst>
          </p:cNvPr>
          <p:cNvCxnSpPr/>
          <p:nvPr/>
        </p:nvCxnSpPr>
        <p:spPr>
          <a:xfrm>
            <a:off x="3861786" y="1438183"/>
            <a:ext cx="1577265" cy="1099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C0F867-5A06-4C7E-9783-B9D833D6E613}"/>
              </a:ext>
            </a:extLst>
          </p:cNvPr>
          <p:cNvCxnSpPr/>
          <p:nvPr/>
        </p:nvCxnSpPr>
        <p:spPr>
          <a:xfrm flipH="1">
            <a:off x="7137647" y="861134"/>
            <a:ext cx="1562468" cy="8966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5BE3AAB9-E619-4BE8-99C2-B2459203DBEC}"/>
              </a:ext>
            </a:extLst>
          </p:cNvPr>
          <p:cNvSpPr/>
          <p:nvPr/>
        </p:nvSpPr>
        <p:spPr>
          <a:xfrm>
            <a:off x="2572472" y="958788"/>
            <a:ext cx="1275312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F8FE98-1B47-40BD-AB3B-173BAB41CEC6}"/>
              </a:ext>
            </a:extLst>
          </p:cNvPr>
          <p:cNvSpPr/>
          <p:nvPr/>
        </p:nvSpPr>
        <p:spPr>
          <a:xfrm>
            <a:off x="2163189" y="1807701"/>
            <a:ext cx="1673168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22A851AE-F08C-4CF3-B1BD-40A89D9C7662}"/>
              </a:ext>
            </a:extLst>
          </p:cNvPr>
          <p:cNvSpPr/>
          <p:nvPr/>
        </p:nvSpPr>
        <p:spPr>
          <a:xfrm>
            <a:off x="9102682" y="506027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DFB8B925-7A98-4BFD-8440-E96D0FE90D52}"/>
              </a:ext>
            </a:extLst>
          </p:cNvPr>
          <p:cNvSpPr/>
          <p:nvPr/>
        </p:nvSpPr>
        <p:spPr>
          <a:xfrm>
            <a:off x="5339588" y="4627392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74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9082-27E4-407B-AB12-542891B8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Indices: expanding and saying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9ADD0-FB70-4132-BCB6-F63E4F8160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Say and expand: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9ADD0-FB70-4132-BCB6-F63E4F816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154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F290-8B55-494E-B4C7-446D7624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Pair and share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F67AF-32DC-4575-B300-80A4B1917B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To your partner just tell them how you would say: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F67AF-32DC-4575-B300-80A4B1917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8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F290-8B55-494E-B4C7-446D7624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F67AF-32DC-4575-B300-80A4B1917B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Expand the following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F67AF-32DC-4575-B300-80A4B1917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093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E7D2-63DF-456F-8A54-02BF7DA9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Simplifying to index notation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FC820-B008-43DB-BB4C-D8EB29B84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Count how many factors (repeats) of the base number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Write the base number large, and the number of factors small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4 x 4 x 4 x 4 x 4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2 x 2 x 2 x 2 x 2 x 2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10 x 10 x 10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00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4F38-DB69-4884-A142-52C255B1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 – 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09BF4-62F9-41EF-B81A-C486EA2A9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Simply (put into index notation)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sz="3600" b="1" dirty="0"/>
              <a:t>7 x 7 x 7 </a:t>
            </a:r>
          </a:p>
          <a:p>
            <a:pPr marL="514350" indent="-514350">
              <a:buAutoNum type="alphaLcParenR"/>
            </a:pPr>
            <a:endParaRPr lang="en-US" sz="3600" b="1" dirty="0"/>
          </a:p>
          <a:p>
            <a:pPr marL="514350" indent="-514350">
              <a:buAutoNum type="alphaLcParenR"/>
            </a:pPr>
            <a:r>
              <a:rPr lang="en-US" sz="3600" b="1" dirty="0"/>
              <a:t>2 x 2 x 2 x 2 x 2 x 2 </a:t>
            </a:r>
          </a:p>
          <a:p>
            <a:pPr marL="514350" indent="-514350">
              <a:buAutoNum type="alphaLcParenR"/>
            </a:pPr>
            <a:endParaRPr lang="en-US" sz="3600" b="1" dirty="0"/>
          </a:p>
          <a:p>
            <a:pPr marL="514350" indent="-514350">
              <a:buAutoNum type="alphaLcParenR"/>
            </a:pPr>
            <a:r>
              <a:rPr lang="en-US" sz="3600" b="1" dirty="0"/>
              <a:t>4 x 4 x 4 x 4 x 4 x 4 x 4 x 4  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60326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8EA0-851C-4B38-AE2C-C06F820E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E8B99-C952-45E6-A2A2-C43E31952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the Base and exponent task sheet.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2232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B3F4-D2C7-4D6B-A44B-884F862D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Reflection: fist to 5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40F74-03EE-4A60-BFF9-536D134635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123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sz="3600" b="1" dirty="0"/>
                  <a:t>Aim: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AU" sz="3600" b="1" dirty="0"/>
                  <a:t>Be able to correctly state numbers with indices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AU" sz="3600" b="1" dirty="0"/>
                  <a:t>Expand and simplify numbers with indices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………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7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7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7=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40F74-03EE-4A60-BFF9-536D134635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1236"/>
                <a:ext cx="10515600" cy="4351338"/>
              </a:xfrm>
              <a:blipFill>
                <a:blip r:embed="rId2"/>
                <a:stretch>
                  <a:fillRect l="-1797" t="-33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21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4008-0130-4034-9C16-ED44D139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Hinge: 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6D151-EFD2-452F-99F2-B2FC9A71D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37961" y="2655183"/>
                <a:ext cx="5826551" cy="1926243"/>
              </a:xfrm>
            </p:spPr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US" dirty="0"/>
                  <a:t>Write how you would say: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Expand: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b="0" dirty="0"/>
                  <a:t>Simplify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8 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 ×8×8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6D151-EFD2-452F-99F2-B2FC9A71D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7961" y="2655183"/>
                <a:ext cx="5826551" cy="1926243"/>
              </a:xfrm>
              <a:blipFill>
                <a:blip r:embed="rId2"/>
                <a:stretch>
                  <a:fillRect l="-2197" t="-5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25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659</Words>
  <Application>Microsoft Office PowerPoint</Application>
  <PresentationFormat>Widescreen</PresentationFormat>
  <Paragraphs>175</Paragraphs>
  <Slides>20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The word is </vt:lpstr>
      <vt:lpstr>The word is </vt:lpstr>
      <vt:lpstr>The word is </vt:lpstr>
      <vt:lpstr>Labels </vt:lpstr>
      <vt:lpstr>Labels </vt:lpstr>
      <vt:lpstr>Reteach: Substitution </vt:lpstr>
      <vt:lpstr>Exercise books </vt:lpstr>
      <vt:lpstr>PowerPoint Presentation</vt:lpstr>
      <vt:lpstr>PowerPoint Presentation</vt:lpstr>
      <vt:lpstr>PowerPoint Presentation</vt:lpstr>
      <vt:lpstr>PowerPoint Presentation</vt:lpstr>
      <vt:lpstr>Indices: expanding and saying </vt:lpstr>
      <vt:lpstr>Pair and share</vt:lpstr>
      <vt:lpstr>Whiteboards</vt:lpstr>
      <vt:lpstr>Simplifying to index notation  </vt:lpstr>
      <vt:lpstr>Your turn – whiteboards </vt:lpstr>
      <vt:lpstr>Individual practice </vt:lpstr>
      <vt:lpstr>Reflection: fist to 5 </vt:lpstr>
      <vt:lpstr>Hinge: whiteboards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11</cp:revision>
  <cp:lastPrinted>2022-03-02T09:29:04Z</cp:lastPrinted>
  <dcterms:created xsi:type="dcterms:W3CDTF">2022-03-02T08:40:51Z</dcterms:created>
  <dcterms:modified xsi:type="dcterms:W3CDTF">2023-03-07T00:18:56Z</dcterms:modified>
</cp:coreProperties>
</file>
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59" r:id="rId4"/>
    <p:sldId id="296" r:id="rId5"/>
    <p:sldId id="257" r:id="rId6"/>
    <p:sldId id="258" r:id="rId7"/>
    <p:sldId id="260" r:id="rId8"/>
    <p:sldId id="297" r:id="rId9"/>
    <p:sldId id="303" r:id="rId10"/>
    <p:sldId id="298" r:id="rId11"/>
    <p:sldId id="299" r:id="rId12"/>
    <p:sldId id="300" r:id="rId13"/>
    <p:sldId id="301" r:id="rId14"/>
    <p:sldId id="30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E39B-852F-4217-901B-1371755A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8DFB9-3E30-42CE-8F9B-0BA2E1A75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A8743-AB91-4455-9445-1742A105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4BCD-6E7A-4684-A45C-B951E22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B89AB-4E42-4A41-8D8C-F6239B3C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65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F036-5354-47C2-85AE-2F21515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4FB02-5C5A-4B7B-9109-A83D09EEB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F7F19-721C-450E-856E-2EF13500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8D677-8A40-4807-A8F9-A70F1AAA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7C63-A329-4CCE-9E64-AC293BA0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84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773A-5026-40BA-A946-BC9A2383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4A795-7F19-4581-8283-79A692080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478CC-C453-4699-89CE-3CB0ABF7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AE829-0011-49AB-BE76-11E9FE08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9C807-C735-4815-B8DC-33B8090E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59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6B72-ED44-47B9-B1ED-DEF53598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BA3D-563A-42CC-A5DD-B05BC0EBE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2A21E-BF2B-495F-A0C5-F893C70D6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59AAE-167D-4505-B286-CA5AA1F3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C6A5B-6369-4B1A-ADC8-CE5A07EDA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EA2E2-8FF0-471D-A8DC-603316CA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72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3DC3A-6F51-4851-8FBE-D48A99CA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1AF43-0893-46F6-B54C-3FDD53F55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70EA8-FED8-46DE-8328-D3E1AB271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B7AA7-9B4F-4C56-80C1-64FDA380D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42E55-BCA5-4B1B-B79C-4F3357195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F32A4-4C83-40AC-A09A-BC278DD6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40DCC-86DB-4342-B50F-578DDC12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9C0BE-9CA0-436C-A5ED-CC016751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95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1220-F024-45ED-AC3B-CC8EF06C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BE3DA-2CA9-4875-8655-EBB4A5C5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357FC-2D2D-4A99-90F8-C0AC5667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321B8-CD19-4AEE-B56C-716F0C6F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93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07A32-B11C-41E2-A18F-C9CB9EAC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7C59A-184C-47CD-A534-B156E434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BF5D-0B34-49F7-AD84-09485F0E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76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875B-60CA-403D-9694-2210376D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B4C7-BE7B-41BA-9454-4C1A439AF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66337-831A-4C8E-909F-A44B77624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1671E-09DC-49D5-A1BD-DDAF482B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4509D-9870-4C5A-83EC-D61933CE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33D9A-BFDF-4834-817B-A6DA49C3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77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C729-7864-4E88-A66F-1082FCFA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4534A-FE3D-49BA-9E60-20FB7CAE9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B1F10-F63A-4659-A4E7-4992E47BB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37418-1255-401A-BD92-68DAA0B9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4442F-FD6D-4BBF-8BD1-E3D7EFA6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C1940-2B50-4DB4-A15D-4B29C99A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4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4793-B85B-465E-947C-8E611294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06AEF-0008-409B-A306-956B304B8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1CE8-BDC9-4C61-B09D-B4AC7029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CDDF-D3DA-4CC5-8DD4-08691FCC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29BA-F4C7-4DCC-9BB8-8B440486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2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77F4A-B0FD-4219-9170-E437FFC4F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74160-B55A-4918-8DC9-52F4F4572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3C4DA-C4DA-41C8-A60C-1A22EF48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A7C5-89DB-464C-ABE2-D15A1537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E973-5602-49B3-87AA-0833AFF2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43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E7BBC-96D3-4944-AA40-C6677927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5E011-35AD-48E4-A062-A692F501E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69DF-96A2-4677-B20A-3DF48E8E9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DE78A-F525-4B9B-95EC-8B3EB5E7A69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D609C-6DE2-48B8-AC9A-325AD7A20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8EAA-48AE-40A8-A917-91145B8E0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AA6A0-1685-4271-AF86-E1B1BA524C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61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4D6C90-EB0B-4013-9510-28552191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DD61A6-0D17-4175-91E4-5741CEA5C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Equivalent expressions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identify equivalent expressions through substitution.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Matching statements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Substitution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Terminology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Odd one out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01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E3F-7C17-438B-9756-32100B3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6412-2303-4862-BF17-BB225539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Pronumeral</a:t>
            </a:r>
            <a:r>
              <a:rPr lang="en-US" sz="4000" dirty="0"/>
              <a:t>: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/>
              <a:t>A letter or symbol used to represent a number.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4FFD5C-BD33-4ED6-8E42-F2D6171C1F96}"/>
              </a:ext>
            </a:extLst>
          </p:cNvPr>
          <p:cNvSpPr/>
          <p:nvPr/>
        </p:nvSpPr>
        <p:spPr>
          <a:xfrm>
            <a:off x="710213" y="1825625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17A2E-078D-4140-8D84-5AE2AACAC15A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90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15DF-F6BE-448B-B057-9D8BDF9A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DA04-A6B9-43C2-8CF2-D2A614A1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Expression 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Consists of numbers and pronumerals combined with any mathematical operations. (No equal sign) 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When we do NOT know the value of the pronumeral, we cannot solve the expression… we leave the letter or symbol in</a:t>
            </a:r>
          </a:p>
          <a:p>
            <a:pPr marL="0" indent="0">
              <a:buNone/>
            </a:pPr>
            <a:r>
              <a:rPr lang="en-US" dirty="0"/>
              <a:t>E.g., 		2x + 6g – 9y + 12 </a:t>
            </a:r>
            <a:endParaRPr lang="en-AU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40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Coefficient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A number placed before a pronumeral.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38DB1-DC82-400A-B20B-3E127AD924E7}"/>
              </a:ext>
            </a:extLst>
          </p:cNvPr>
          <p:cNvSpPr/>
          <p:nvPr/>
        </p:nvSpPr>
        <p:spPr>
          <a:xfrm>
            <a:off x="710213" y="1729560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1D37F-D46B-433B-9C29-91D6392B5852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6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ABA1-5B16-4029-98E4-9E0A39E3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D7DB00-9CE6-4472-A928-2C2405666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18" y="1457325"/>
            <a:ext cx="11734363" cy="446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5BE3-F9E3-4899-A84E-828D01C4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2468-E3C0-4AAF-8CA0-76C98612C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i="1" dirty="0"/>
              <a:t>evaluate</a:t>
            </a:r>
            <a:r>
              <a:rPr lang="en-US" dirty="0"/>
              <a:t> an expression means to </a:t>
            </a:r>
            <a:r>
              <a:rPr lang="en-US" dirty="0">
                <a:solidFill>
                  <a:srgbClr val="00B050"/>
                </a:solidFill>
              </a:rPr>
              <a:t>substitute (replace)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pronumeral (letter or symbol) </a:t>
            </a:r>
            <a:r>
              <a:rPr lang="en-US" dirty="0"/>
              <a:t>with a number, then solve.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Example, if y = 6 and x = 10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X + y = </a:t>
            </a:r>
          </a:p>
          <a:p>
            <a:pPr marL="514350" indent="-514350">
              <a:buAutoNum type="alphaLcParenR"/>
            </a:pPr>
            <a:r>
              <a:rPr lang="en-US" dirty="0"/>
              <a:t>X – y =</a:t>
            </a:r>
          </a:p>
          <a:p>
            <a:pPr marL="514350" indent="-514350">
              <a:buAutoNum type="alphaLcParenR"/>
            </a:pPr>
            <a:r>
              <a:rPr lang="en-US" dirty="0"/>
              <a:t>2x + 3y = </a:t>
            </a:r>
          </a:p>
        </p:txBody>
      </p:sp>
    </p:spTree>
    <p:extLst>
      <p:ext uri="{BB962C8B-B14F-4D97-AF65-F5344CB8AC3E}">
        <p14:creationId xmlns:p14="http://schemas.microsoft.com/office/powerpoint/2010/main" val="315040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8F91-A392-428F-AEC5-A02E830A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practice – exercise books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FFB5B-0A69-4DAD-A900-A7BE24B0F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475" y="1493094"/>
            <a:ext cx="11025049" cy="4809281"/>
          </a:xfrm>
        </p:spPr>
      </p:pic>
    </p:spTree>
    <p:extLst>
      <p:ext uri="{BB962C8B-B14F-4D97-AF65-F5344CB8AC3E}">
        <p14:creationId xmlns:p14="http://schemas.microsoft.com/office/powerpoint/2010/main" val="3875555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3E06-EF86-42C6-99A1-A2D32853D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28A2-D9A0-4548-AF7D-D39A22E2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Equivalent</a:t>
            </a:r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r>
              <a:rPr lang="en-US" sz="3200" dirty="0"/>
              <a:t>- Equal in value, amount or meaning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0983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AC54-35AF-4DDF-B517-7A451D67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Equivalent expressions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98D6-EDAE-4BEF-A534-864299799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Two expressions are called equivalent when they are always equal, regardless of what numbers are substituted for the pronumerals.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		4 + v 		and 			v + 4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Non example :</a:t>
            </a:r>
          </a:p>
          <a:p>
            <a:pPr marL="0" indent="0">
              <a:buNone/>
            </a:pPr>
            <a:r>
              <a:rPr lang="en-US" dirty="0"/>
              <a:t>		2v 		and 			v x v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78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BA5F-5837-41B5-9639-330501E6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 they equivalent?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5CF52-A8FA-44B1-B37D-7E8182C88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sz="4000" dirty="0"/>
              <a:t>Are these expression equivalent? </a:t>
            </a:r>
          </a:p>
          <a:p>
            <a:pPr marL="0" indent="0">
              <a:buNone/>
            </a:pPr>
            <a:r>
              <a:rPr lang="en-AU" sz="4000" dirty="0"/>
              <a:t>	</a:t>
            </a:r>
          </a:p>
          <a:p>
            <a:pPr marL="0" indent="0">
              <a:buNone/>
            </a:pPr>
            <a:r>
              <a:rPr lang="en-AU" sz="4000" dirty="0"/>
              <a:t>	2a + 6 					a + a + 6 </a:t>
            </a:r>
          </a:p>
          <a:p>
            <a:pPr marL="0" indent="0">
              <a:buNone/>
            </a:pPr>
            <a:endParaRPr lang="en-AU" sz="4000" dirty="0"/>
          </a:p>
          <a:p>
            <a:pPr marL="0" indent="0" algn="ctr">
              <a:buNone/>
            </a:pPr>
            <a:r>
              <a:rPr lang="en-AU" sz="4000" dirty="0"/>
              <a:t>Why/why not? </a:t>
            </a:r>
          </a:p>
        </p:txBody>
      </p:sp>
    </p:spTree>
    <p:extLst>
      <p:ext uri="{BB962C8B-B14F-4D97-AF65-F5344CB8AC3E}">
        <p14:creationId xmlns:p14="http://schemas.microsoft.com/office/powerpoint/2010/main" val="142408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710C-7399-4355-ACEA-EFF1D820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C98FE-5FDC-4D48-BEE6-499D832A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3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Two expressions are called equivalent when they are always equal, regardless of what numbers are substituted for the pronumerals.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Which expressions are equivalent?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A71B8-3932-4B63-9960-A075A96BA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2" y="2760400"/>
            <a:ext cx="10810535" cy="28289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CF45FF-4B9B-46B7-A2D0-74E3A5CEFD0D}"/>
              </a:ext>
            </a:extLst>
          </p:cNvPr>
          <p:cNvSpPr/>
          <p:nvPr/>
        </p:nvSpPr>
        <p:spPr>
          <a:xfrm>
            <a:off x="2706210" y="2760400"/>
            <a:ext cx="855067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2AB7E-C187-4235-BFA7-7D2A07164CA6}"/>
              </a:ext>
            </a:extLst>
          </p:cNvPr>
          <p:cNvSpPr txBox="1"/>
          <p:nvPr/>
        </p:nvSpPr>
        <p:spPr>
          <a:xfrm>
            <a:off x="5165016" y="2760400"/>
            <a:ext cx="1207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2a + 6 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6A305-0521-407E-9E83-AF7F4AE5938D}"/>
              </a:ext>
            </a:extLst>
          </p:cNvPr>
          <p:cNvSpPr txBox="1"/>
          <p:nvPr/>
        </p:nvSpPr>
        <p:spPr>
          <a:xfrm>
            <a:off x="3282026" y="2760400"/>
            <a:ext cx="1207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3a + 5 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89206-EFFC-41C6-B52F-CCACA311D880}"/>
              </a:ext>
            </a:extLst>
          </p:cNvPr>
          <p:cNvSpPr txBox="1"/>
          <p:nvPr/>
        </p:nvSpPr>
        <p:spPr>
          <a:xfrm>
            <a:off x="7244179" y="2760400"/>
            <a:ext cx="1649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7a +5 - 4a 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33D60-4AE1-4ADD-9426-6E9A9D692C1F}"/>
              </a:ext>
            </a:extLst>
          </p:cNvPr>
          <p:cNvSpPr txBox="1"/>
          <p:nvPr/>
        </p:nvSpPr>
        <p:spPr>
          <a:xfrm>
            <a:off x="9656315" y="2760400"/>
            <a:ext cx="1649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+ a + 6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6883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FBA4-DF82-4AB7-A06E-26BE1793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try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A2B98-11D6-4922-B62C-20426DD1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sz="3600" dirty="0"/>
              <a:t>If x = 3, what is x + 6? </a:t>
            </a:r>
          </a:p>
          <a:p>
            <a:pPr marL="742950" indent="-742950">
              <a:buAutoNum type="arabicPeriod"/>
            </a:pPr>
            <a:r>
              <a:rPr lang="en-US" sz="3600" dirty="0"/>
              <a:t>If x = 3, what is 4x? 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r>
              <a:rPr lang="en-US" sz="3600" dirty="0"/>
              <a:t>Is x + 6 and 4x equivalent? </a:t>
            </a:r>
          </a:p>
        </p:txBody>
      </p:sp>
    </p:spTree>
    <p:extLst>
      <p:ext uri="{BB962C8B-B14F-4D97-AF65-F5344CB8AC3E}">
        <p14:creationId xmlns:p14="http://schemas.microsoft.com/office/powerpoint/2010/main" val="150366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FE42-AEB0-4D17-9F96-F0D167E5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C55A3-54F3-44D0-BAA2-8533AE26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If a = 5, evaluate a + 4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If a = 5, Evaluate 2 + a + 2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Are </a:t>
            </a:r>
            <a:r>
              <a:rPr lang="en-US" sz="4000"/>
              <a:t>they equivalent?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45486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23CD-FB5F-4E7E-9DBB-EFC79E30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E7DE-F1A0-4AA6-B708-D0B4A91E7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213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 5 – 12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finish early, have a go at question 13.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0664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382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Lesson objective </vt:lpstr>
      <vt:lpstr>The word is </vt:lpstr>
      <vt:lpstr>The word is </vt:lpstr>
      <vt:lpstr>The word is </vt:lpstr>
      <vt:lpstr>Review </vt:lpstr>
      <vt:lpstr>Substitution </vt:lpstr>
      <vt:lpstr>Substitution practice – exercise books </vt:lpstr>
      <vt:lpstr>The word is </vt:lpstr>
      <vt:lpstr>Equivalent expressions </vt:lpstr>
      <vt:lpstr>Are they equivalent? </vt:lpstr>
      <vt:lpstr>Choral response </vt:lpstr>
      <vt:lpstr>Let’s try </vt:lpstr>
      <vt:lpstr>We do </vt:lpstr>
      <vt:lpstr>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10</cp:revision>
  <dcterms:created xsi:type="dcterms:W3CDTF">2022-02-24T09:07:48Z</dcterms:created>
  <dcterms:modified xsi:type="dcterms:W3CDTF">2023-02-27T12:41:23Z</dcterms:modified>
</cp:coreProperties>
</file>
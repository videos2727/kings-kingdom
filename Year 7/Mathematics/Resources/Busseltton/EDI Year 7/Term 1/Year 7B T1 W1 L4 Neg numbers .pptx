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8" r:id="rId2"/>
    <p:sldId id="279" r:id="rId3"/>
    <p:sldId id="259" r:id="rId4"/>
    <p:sldId id="278" r:id="rId5"/>
    <p:sldId id="273" r:id="rId6"/>
    <p:sldId id="260" r:id="rId7"/>
    <p:sldId id="261" r:id="rId8"/>
    <p:sldId id="274" r:id="rId9"/>
    <p:sldId id="281" r:id="rId10"/>
    <p:sldId id="280" r:id="rId11"/>
    <p:sldId id="275" r:id="rId12"/>
    <p:sldId id="276" r:id="rId13"/>
    <p:sldId id="277" r:id="rId14"/>
  </p:sldIdLst>
  <p:sldSz cx="12192000" cy="6858000"/>
  <p:notesSz cx="6794500" cy="9931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1" autoAdjust="0"/>
    <p:restoredTop sz="95025" autoAdjust="0"/>
  </p:normalViewPr>
  <p:slideViewPr>
    <p:cSldViewPr snapToGrid="0">
      <p:cViewPr varScale="1">
        <p:scale>
          <a:sx n="81" d="100"/>
          <a:sy n="81" d="100"/>
        </p:scale>
        <p:origin x="52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5BC259-60D2-4733-A23A-0DAE2D1D1938}" type="datetimeFigureOut">
              <a:rPr lang="en-AU" smtClean="0"/>
              <a:t>7/02/2023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9963"/>
            <a:ext cx="5435600" cy="39100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10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8AB65-6270-4CF6-8170-70BAAF2482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5606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Student worksheet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C8AB65-6270-4CF6-8170-70BAAF2482F3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8047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Student worksheet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C8AB65-6270-4CF6-8170-70BAAF2482F3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4883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Student worksheet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C8AB65-6270-4CF6-8170-70BAAF2482F3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49144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Could use Choral reading and reversal on integer definition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C8AB65-6270-4CF6-8170-70BAAF2482F3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52532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Could use Choral reading and reversal on integer definition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C8AB65-6270-4CF6-8170-70BAAF2482F3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2615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4965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725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7778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6684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9483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4228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5542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7744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476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9481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35870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57412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232441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7239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39798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9132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0986-CC5D-441D-9150-EFAE06F4444F}" type="datetimeFigureOut">
              <a:rPr lang="en-AU" smtClean="0"/>
              <a:t>7/02/2023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9248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8195" y="348891"/>
            <a:ext cx="3022601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1" b="1" dirty="0">
                <a:solidFill>
                  <a:srgbClr val="FF0000"/>
                </a:solidFill>
              </a:rPr>
              <a:t>07/02/2023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03203" y="1925642"/>
            <a:ext cx="64541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B0F0"/>
                </a:solidFill>
              </a:rPr>
              <a:t>Aims:</a:t>
            </a:r>
          </a:p>
          <a:p>
            <a:pPr marL="342909" indent="-342909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AU" sz="2400" dirty="0">
                <a:solidFill>
                  <a:srgbClr val="00B0F0"/>
                </a:solidFill>
              </a:rPr>
              <a:t>Be able to add and subtract integers.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03203" y="3732029"/>
            <a:ext cx="814069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B0F0"/>
                </a:solidFill>
              </a:rPr>
              <a:t>Plan:</a:t>
            </a:r>
          </a:p>
          <a:p>
            <a:pPr marL="342909" indent="-342909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00B0F0"/>
                </a:solidFill>
              </a:rPr>
              <a:t>Daily review:	</a:t>
            </a:r>
          </a:p>
          <a:p>
            <a:pPr marL="1714509" lvl="3" indent="-342909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00B0F0"/>
                </a:solidFill>
              </a:rPr>
              <a:t>Addition and subtraction algorithms</a:t>
            </a:r>
          </a:p>
          <a:p>
            <a:pPr marL="342909" indent="-342909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00B0F0"/>
                </a:solidFill>
              </a:rPr>
              <a:t>Patterns to develop understanding </a:t>
            </a:r>
          </a:p>
          <a:p>
            <a:pPr marL="342909" indent="-342909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00B0F0"/>
                </a:solidFill>
              </a:rPr>
              <a:t>Skills practice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5BF400-3A32-4E1C-9BA2-99792051899C}"/>
              </a:ext>
            </a:extLst>
          </p:cNvPr>
          <p:cNvSpPr txBox="1"/>
          <p:nvPr/>
        </p:nvSpPr>
        <p:spPr>
          <a:xfrm>
            <a:off x="4062953" y="718351"/>
            <a:ext cx="4270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Title: </a:t>
            </a:r>
            <a:r>
              <a:rPr lang="en-US" sz="2800" b="1" dirty="0">
                <a:solidFill>
                  <a:srgbClr val="00B0F0"/>
                </a:solidFill>
              </a:rPr>
              <a:t>Negative numbers</a:t>
            </a:r>
            <a:endParaRPr lang="en-AU" sz="28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6130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63DDDB-8ECA-435B-8E55-9D4827C2187F}"/>
              </a:ext>
            </a:extLst>
          </p:cNvPr>
          <p:cNvSpPr txBox="1"/>
          <p:nvPr/>
        </p:nvSpPr>
        <p:spPr>
          <a:xfrm>
            <a:off x="2677212" y="1046375"/>
            <a:ext cx="843699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Complete these questions in you exercise books:</a:t>
            </a:r>
          </a:p>
          <a:p>
            <a:r>
              <a:rPr lang="en-US" dirty="0"/>
              <a:t>(copy the question correctly into an algorithm)</a:t>
            </a:r>
          </a:p>
          <a:p>
            <a:endParaRPr lang="en-US" sz="3600" dirty="0"/>
          </a:p>
          <a:p>
            <a:pPr marL="342900" indent="-342900">
              <a:buAutoNum type="alphaLcParenR"/>
            </a:pPr>
            <a:r>
              <a:rPr lang="en-US" sz="3600" dirty="0"/>
              <a:t>329 + 132 = </a:t>
            </a:r>
          </a:p>
          <a:p>
            <a:pPr marL="342900" indent="-342900">
              <a:buAutoNum type="alphaLcParenR"/>
            </a:pPr>
            <a:r>
              <a:rPr lang="en-US" sz="3600" dirty="0"/>
              <a:t>432 + 854 = </a:t>
            </a:r>
          </a:p>
          <a:p>
            <a:pPr marL="342900" indent="-342900">
              <a:buAutoNum type="alphaLcParenR"/>
            </a:pPr>
            <a:r>
              <a:rPr lang="en-US" sz="3600" dirty="0"/>
              <a:t>101 + 999 =</a:t>
            </a:r>
          </a:p>
          <a:p>
            <a:pPr marL="342900" indent="-342900">
              <a:buAutoNum type="alphaLcParenR"/>
            </a:pPr>
            <a:r>
              <a:rPr lang="en-US" sz="3600" dirty="0"/>
              <a:t>478 – 334 = </a:t>
            </a:r>
          </a:p>
          <a:p>
            <a:pPr marL="342900" indent="-342900">
              <a:buAutoNum type="alphaLcParenR"/>
            </a:pPr>
            <a:r>
              <a:rPr lang="en-US" sz="3600" dirty="0"/>
              <a:t>878 – 453 = </a:t>
            </a:r>
          </a:p>
          <a:p>
            <a:pPr marL="342900" indent="-342900">
              <a:buAutoNum type="alphaLcParenR"/>
            </a:pPr>
            <a:r>
              <a:rPr lang="en-US" sz="3600" dirty="0"/>
              <a:t>451 – 237 = </a:t>
            </a:r>
          </a:p>
          <a:p>
            <a:pPr marL="342900" indent="-342900">
              <a:buAutoNum type="alphaLcParenR"/>
            </a:pPr>
            <a:r>
              <a:rPr lang="en-US" sz="3600" dirty="0"/>
              <a:t>749 – 263 = </a:t>
            </a:r>
            <a:endParaRPr lang="en-AU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F9D185-9D61-46D5-AB98-8145130BD6B2}"/>
              </a:ext>
            </a:extLst>
          </p:cNvPr>
          <p:cNvSpPr txBox="1"/>
          <p:nvPr/>
        </p:nvSpPr>
        <p:spPr>
          <a:xfrm>
            <a:off x="6485640" y="2125149"/>
            <a:ext cx="263007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461</a:t>
            </a:r>
          </a:p>
          <a:p>
            <a:r>
              <a:rPr lang="en-US" sz="3600" b="1" dirty="0">
                <a:solidFill>
                  <a:srgbClr val="FF0000"/>
                </a:solidFill>
              </a:rPr>
              <a:t>1286</a:t>
            </a:r>
          </a:p>
          <a:p>
            <a:r>
              <a:rPr lang="en-US" sz="3600" b="1" dirty="0">
                <a:solidFill>
                  <a:srgbClr val="FF0000"/>
                </a:solidFill>
              </a:rPr>
              <a:t>1100</a:t>
            </a:r>
          </a:p>
          <a:p>
            <a:r>
              <a:rPr lang="en-US" sz="3600" b="1" dirty="0">
                <a:solidFill>
                  <a:srgbClr val="FF0000"/>
                </a:solidFill>
              </a:rPr>
              <a:t>812</a:t>
            </a:r>
          </a:p>
          <a:p>
            <a:r>
              <a:rPr lang="en-US" sz="3600" b="1" dirty="0">
                <a:solidFill>
                  <a:srgbClr val="FF0000"/>
                </a:solidFill>
              </a:rPr>
              <a:t>425</a:t>
            </a:r>
          </a:p>
          <a:p>
            <a:r>
              <a:rPr lang="en-US" sz="3600" b="1" dirty="0">
                <a:solidFill>
                  <a:srgbClr val="FF0000"/>
                </a:solidFill>
              </a:rPr>
              <a:t>214</a:t>
            </a:r>
          </a:p>
          <a:p>
            <a:r>
              <a:rPr lang="en-US" sz="3600" b="1" dirty="0">
                <a:solidFill>
                  <a:srgbClr val="FF0000"/>
                </a:solidFill>
              </a:rPr>
              <a:t>486</a:t>
            </a:r>
            <a:endParaRPr lang="en-AU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137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00263" y="744394"/>
            <a:ext cx="8597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09650">
              <a:spcAft>
                <a:spcPts val="600"/>
              </a:spcAft>
            </a:pPr>
            <a:r>
              <a:rPr lang="en-AU" sz="2400" dirty="0"/>
              <a:t>Addition and Subtraction: A number-line approach	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0E0A17-5836-4F2D-8CC6-7718C646F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661" y="1456589"/>
            <a:ext cx="11022172" cy="3820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15D0A9-AE5E-46C1-859D-576DF6FB3C00}"/>
              </a:ext>
            </a:extLst>
          </p:cNvPr>
          <p:cNvSpPr txBox="1"/>
          <p:nvPr/>
        </p:nvSpPr>
        <p:spPr>
          <a:xfrm>
            <a:off x="4288536" y="3314832"/>
            <a:ext cx="5843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Example:		-3  </a:t>
            </a:r>
            <a:r>
              <a:rPr lang="en-AU" sz="2400" dirty="0"/>
              <a:t>–</a:t>
            </a:r>
            <a:r>
              <a:rPr lang="en-AU" sz="2400" dirty="0">
                <a:solidFill>
                  <a:srgbClr val="002060"/>
                </a:solidFill>
              </a:rPr>
              <a:t> 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C38420-D709-42A7-ACD5-ACFF39D7C395}"/>
              </a:ext>
            </a:extLst>
          </p:cNvPr>
          <p:cNvSpPr txBox="1"/>
          <p:nvPr/>
        </p:nvSpPr>
        <p:spPr>
          <a:xfrm>
            <a:off x="2694007" y="2161260"/>
            <a:ext cx="88104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To use the number line you need a starting point, a direction and a number of places to move.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F1D99D0-C4BB-4D60-83DA-98B22BF85C07}"/>
              </a:ext>
            </a:extLst>
          </p:cNvPr>
          <p:cNvSpPr/>
          <p:nvPr/>
        </p:nvSpPr>
        <p:spPr>
          <a:xfrm>
            <a:off x="6893203" y="3382686"/>
            <a:ext cx="395391" cy="382096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F8C0C97-7CCF-49C6-84D3-7546F5AE8037}"/>
              </a:ext>
            </a:extLst>
          </p:cNvPr>
          <p:cNvSpPr/>
          <p:nvPr/>
        </p:nvSpPr>
        <p:spPr>
          <a:xfrm>
            <a:off x="6531095" y="3363504"/>
            <a:ext cx="395391" cy="382096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24C5FA2-B8C4-42D2-8EA8-AA8BB4B17D85}"/>
              </a:ext>
            </a:extLst>
          </p:cNvPr>
          <p:cNvSpPr/>
          <p:nvPr/>
        </p:nvSpPr>
        <p:spPr>
          <a:xfrm>
            <a:off x="6156000" y="3354616"/>
            <a:ext cx="395391" cy="382096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A5BF45-50F9-49DE-9563-35B7CCC639E3}"/>
              </a:ext>
            </a:extLst>
          </p:cNvPr>
          <p:cNvSpPr txBox="1"/>
          <p:nvPr/>
        </p:nvSpPr>
        <p:spPr>
          <a:xfrm>
            <a:off x="-158524" y="4201082"/>
            <a:ext cx="41943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2400" dirty="0"/>
              <a:t>Starting point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D7290AC-DCE2-4A19-8404-D631A9F4D9AB}"/>
              </a:ext>
            </a:extLst>
          </p:cNvPr>
          <p:cNvCxnSpPr/>
          <p:nvPr/>
        </p:nvCxnSpPr>
        <p:spPr>
          <a:xfrm flipV="1">
            <a:off x="4035789" y="3716976"/>
            <a:ext cx="2176168" cy="7357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B58AB16-5062-4469-B08C-B8ACEF7C16D9}"/>
              </a:ext>
            </a:extLst>
          </p:cNvPr>
          <p:cNvCxnSpPr>
            <a:cxnSpLocks/>
          </p:cNvCxnSpPr>
          <p:nvPr/>
        </p:nvCxnSpPr>
        <p:spPr>
          <a:xfrm flipV="1">
            <a:off x="6211957" y="3825170"/>
            <a:ext cx="417443" cy="102512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60C09BF-D8B9-4FB1-AE4E-CB9DC4C21023}"/>
              </a:ext>
            </a:extLst>
          </p:cNvPr>
          <p:cNvCxnSpPr>
            <a:cxnSpLocks/>
          </p:cNvCxnSpPr>
          <p:nvPr/>
        </p:nvCxnSpPr>
        <p:spPr>
          <a:xfrm flipH="1" flipV="1">
            <a:off x="7310646" y="3707054"/>
            <a:ext cx="1456862" cy="46166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1902D05-5513-4202-B6F0-E3D20487470B}"/>
              </a:ext>
            </a:extLst>
          </p:cNvPr>
          <p:cNvSpPr txBox="1"/>
          <p:nvPr/>
        </p:nvSpPr>
        <p:spPr>
          <a:xfrm>
            <a:off x="4573504" y="4461431"/>
            <a:ext cx="24260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dirty="0"/>
              <a:t>Direction:</a:t>
            </a:r>
          </a:p>
          <a:p>
            <a:r>
              <a:rPr lang="en-AU" sz="2400" dirty="0"/>
              <a:t>+ move right</a:t>
            </a:r>
          </a:p>
          <a:p>
            <a:r>
              <a:rPr lang="en-AU" sz="2400" dirty="0"/>
              <a:t>– move left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D372B9-7600-40DF-9452-CD2F918FA473}"/>
              </a:ext>
            </a:extLst>
          </p:cNvPr>
          <p:cNvSpPr txBox="1"/>
          <p:nvPr/>
        </p:nvSpPr>
        <p:spPr>
          <a:xfrm>
            <a:off x="4060636" y="4135162"/>
            <a:ext cx="61771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Number of places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D745EBD-FD68-4E6E-84D9-F387854DE2BA}"/>
              </a:ext>
            </a:extLst>
          </p:cNvPr>
          <p:cNvSpPr/>
          <p:nvPr/>
        </p:nvSpPr>
        <p:spPr>
          <a:xfrm>
            <a:off x="7958363" y="2256871"/>
            <a:ext cx="2090098" cy="30811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FF48BF3-7A68-4B7B-BFAF-4ECF14441DE3}"/>
              </a:ext>
            </a:extLst>
          </p:cNvPr>
          <p:cNvSpPr/>
          <p:nvPr/>
        </p:nvSpPr>
        <p:spPr>
          <a:xfrm>
            <a:off x="2694007" y="2626959"/>
            <a:ext cx="1449762" cy="30811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55B73EE-D5D4-472A-A489-D0CE1AADB94A}"/>
              </a:ext>
            </a:extLst>
          </p:cNvPr>
          <p:cNvSpPr/>
          <p:nvPr/>
        </p:nvSpPr>
        <p:spPr>
          <a:xfrm>
            <a:off x="5110950" y="2629107"/>
            <a:ext cx="2681327" cy="30811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9851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30" grpId="0" animBg="1"/>
      <p:bldP spid="31" grpId="0" animBg="1"/>
      <p:bldP spid="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00263" y="744394"/>
            <a:ext cx="8597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09650">
              <a:spcAft>
                <a:spcPts val="600"/>
              </a:spcAft>
            </a:pPr>
            <a:r>
              <a:rPr lang="en-AU" sz="2400" dirty="0"/>
              <a:t>Addition and Subtraction: A number-line approach	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0E0A17-5836-4F2D-8CC6-7718C646F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661" y="1456589"/>
            <a:ext cx="11022172" cy="3820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15D0A9-AE5E-46C1-859D-576DF6FB3C00}"/>
              </a:ext>
            </a:extLst>
          </p:cNvPr>
          <p:cNvSpPr txBox="1"/>
          <p:nvPr/>
        </p:nvSpPr>
        <p:spPr>
          <a:xfrm>
            <a:off x="4288536" y="3314832"/>
            <a:ext cx="5843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Example:		-2  +  5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F1D99D0-C4BB-4D60-83DA-98B22BF85C07}"/>
              </a:ext>
            </a:extLst>
          </p:cNvPr>
          <p:cNvSpPr/>
          <p:nvPr/>
        </p:nvSpPr>
        <p:spPr>
          <a:xfrm>
            <a:off x="6893203" y="3382686"/>
            <a:ext cx="395391" cy="382096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F8C0C97-7CCF-49C6-84D3-7546F5AE8037}"/>
              </a:ext>
            </a:extLst>
          </p:cNvPr>
          <p:cNvSpPr/>
          <p:nvPr/>
        </p:nvSpPr>
        <p:spPr>
          <a:xfrm>
            <a:off x="6531095" y="3363504"/>
            <a:ext cx="395391" cy="382096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24C5FA2-B8C4-42D2-8EA8-AA8BB4B17D85}"/>
              </a:ext>
            </a:extLst>
          </p:cNvPr>
          <p:cNvSpPr/>
          <p:nvPr/>
        </p:nvSpPr>
        <p:spPr>
          <a:xfrm>
            <a:off x="6156000" y="3354616"/>
            <a:ext cx="395391" cy="382096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A5BF45-50F9-49DE-9563-35B7CCC639E3}"/>
              </a:ext>
            </a:extLst>
          </p:cNvPr>
          <p:cNvSpPr txBox="1"/>
          <p:nvPr/>
        </p:nvSpPr>
        <p:spPr>
          <a:xfrm>
            <a:off x="-158524" y="4201082"/>
            <a:ext cx="41943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2400" dirty="0"/>
              <a:t>Starting point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D7290AC-DCE2-4A19-8404-D631A9F4D9AB}"/>
              </a:ext>
            </a:extLst>
          </p:cNvPr>
          <p:cNvCxnSpPr/>
          <p:nvPr/>
        </p:nvCxnSpPr>
        <p:spPr>
          <a:xfrm flipV="1">
            <a:off x="4035789" y="3716976"/>
            <a:ext cx="2176168" cy="7357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B58AB16-5062-4469-B08C-B8ACEF7C16D9}"/>
              </a:ext>
            </a:extLst>
          </p:cNvPr>
          <p:cNvCxnSpPr>
            <a:cxnSpLocks/>
          </p:cNvCxnSpPr>
          <p:nvPr/>
        </p:nvCxnSpPr>
        <p:spPr>
          <a:xfrm flipV="1">
            <a:off x="6211957" y="3825170"/>
            <a:ext cx="417443" cy="102512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60C09BF-D8B9-4FB1-AE4E-CB9DC4C21023}"/>
              </a:ext>
            </a:extLst>
          </p:cNvPr>
          <p:cNvCxnSpPr>
            <a:cxnSpLocks/>
          </p:cNvCxnSpPr>
          <p:nvPr/>
        </p:nvCxnSpPr>
        <p:spPr>
          <a:xfrm flipH="1" flipV="1">
            <a:off x="7310646" y="3707054"/>
            <a:ext cx="1456862" cy="46166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1902D05-5513-4202-B6F0-E3D20487470B}"/>
              </a:ext>
            </a:extLst>
          </p:cNvPr>
          <p:cNvSpPr txBox="1"/>
          <p:nvPr/>
        </p:nvSpPr>
        <p:spPr>
          <a:xfrm>
            <a:off x="4573504" y="4461431"/>
            <a:ext cx="24260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dirty="0"/>
              <a:t>Direction:</a:t>
            </a:r>
          </a:p>
          <a:p>
            <a:r>
              <a:rPr lang="en-AU" sz="2400" dirty="0"/>
              <a:t>+ move right</a:t>
            </a:r>
          </a:p>
          <a:p>
            <a:r>
              <a:rPr lang="en-AU" sz="2400" dirty="0"/>
              <a:t>– move left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D372B9-7600-40DF-9452-CD2F918FA473}"/>
              </a:ext>
            </a:extLst>
          </p:cNvPr>
          <p:cNvSpPr txBox="1"/>
          <p:nvPr/>
        </p:nvSpPr>
        <p:spPr>
          <a:xfrm>
            <a:off x="4060636" y="4135162"/>
            <a:ext cx="61771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Number of places</a:t>
            </a:r>
          </a:p>
        </p:txBody>
      </p:sp>
    </p:spTree>
    <p:extLst>
      <p:ext uri="{BB962C8B-B14F-4D97-AF65-F5344CB8AC3E}">
        <p14:creationId xmlns:p14="http://schemas.microsoft.com/office/powerpoint/2010/main" val="3952678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00263" y="744394"/>
            <a:ext cx="8597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09650">
              <a:spcAft>
                <a:spcPts val="600"/>
              </a:spcAft>
            </a:pPr>
            <a:r>
              <a:rPr lang="en-AU" sz="2400" dirty="0"/>
              <a:t>Addition and Subtraction: A number-line approach	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0E0A17-5836-4F2D-8CC6-7718C646F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661" y="1456589"/>
            <a:ext cx="11022172" cy="3820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15D0A9-AE5E-46C1-859D-576DF6FB3C00}"/>
              </a:ext>
            </a:extLst>
          </p:cNvPr>
          <p:cNvSpPr txBox="1"/>
          <p:nvPr/>
        </p:nvSpPr>
        <p:spPr>
          <a:xfrm>
            <a:off x="4288536" y="3314832"/>
            <a:ext cx="5843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Example:		-3  </a:t>
            </a:r>
            <a:r>
              <a:rPr lang="en-AU" sz="2400" dirty="0"/>
              <a:t>–</a:t>
            </a:r>
            <a:r>
              <a:rPr lang="en-AU" sz="2400" dirty="0">
                <a:solidFill>
                  <a:srgbClr val="002060"/>
                </a:solidFill>
              </a:rPr>
              <a:t> 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C38420-D709-42A7-ACD5-ACFF39D7C395}"/>
              </a:ext>
            </a:extLst>
          </p:cNvPr>
          <p:cNvSpPr txBox="1"/>
          <p:nvPr/>
        </p:nvSpPr>
        <p:spPr>
          <a:xfrm>
            <a:off x="2694007" y="2161260"/>
            <a:ext cx="88104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To use the number line you need a                        , a </a:t>
            </a:r>
          </a:p>
          <a:p>
            <a:r>
              <a:rPr lang="en-AU" sz="2400" dirty="0"/>
              <a:t>                and a                                to move.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A5BF45-50F9-49DE-9563-35B7CCC639E3}"/>
              </a:ext>
            </a:extLst>
          </p:cNvPr>
          <p:cNvSpPr txBox="1"/>
          <p:nvPr/>
        </p:nvSpPr>
        <p:spPr>
          <a:xfrm>
            <a:off x="-158524" y="4201082"/>
            <a:ext cx="41943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2400" dirty="0"/>
              <a:t>Starting point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902D05-5513-4202-B6F0-E3D20487470B}"/>
              </a:ext>
            </a:extLst>
          </p:cNvPr>
          <p:cNvSpPr txBox="1"/>
          <p:nvPr/>
        </p:nvSpPr>
        <p:spPr>
          <a:xfrm>
            <a:off x="4573504" y="4461431"/>
            <a:ext cx="24260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dirty="0"/>
              <a:t>Direction:</a:t>
            </a:r>
          </a:p>
          <a:p>
            <a:r>
              <a:rPr lang="en-AU" sz="2400" dirty="0"/>
              <a:t>+ move right</a:t>
            </a:r>
          </a:p>
          <a:p>
            <a:r>
              <a:rPr lang="en-AU" sz="2400" dirty="0"/>
              <a:t>– move left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D372B9-7600-40DF-9452-CD2F918FA473}"/>
              </a:ext>
            </a:extLst>
          </p:cNvPr>
          <p:cNvSpPr txBox="1"/>
          <p:nvPr/>
        </p:nvSpPr>
        <p:spPr>
          <a:xfrm>
            <a:off x="4060636" y="4135162"/>
            <a:ext cx="61771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Number of places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5164428" y="2884868"/>
            <a:ext cx="244800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694007" y="2884868"/>
            <a:ext cx="134178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975600" y="2534402"/>
            <a:ext cx="1896533" cy="648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6111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59F2E4-84EA-4F8C-9AA1-5193A1A7B805}"/>
              </a:ext>
            </a:extLst>
          </p:cNvPr>
          <p:cNvSpPr txBox="1"/>
          <p:nvPr/>
        </p:nvSpPr>
        <p:spPr>
          <a:xfrm>
            <a:off x="3576431" y="708494"/>
            <a:ext cx="7782339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Independent practice: </a:t>
            </a:r>
            <a:r>
              <a:rPr lang="en-AU" sz="2400" dirty="0">
                <a:solidFill>
                  <a:srgbClr val="FF0000"/>
                </a:solidFill>
              </a:rPr>
              <a:t>exercise books.</a:t>
            </a:r>
          </a:p>
          <a:p>
            <a:endParaRPr lang="en-AU" dirty="0"/>
          </a:p>
          <a:p>
            <a:endParaRPr lang="en-AU" dirty="0"/>
          </a:p>
          <a:p>
            <a:pPr marL="715963" indent="-7159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400" dirty="0"/>
              <a:t>-2 – 6</a:t>
            </a:r>
          </a:p>
          <a:p>
            <a:pPr marL="715963" indent="-7159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400" dirty="0"/>
              <a:t>-3 + 8</a:t>
            </a:r>
          </a:p>
          <a:p>
            <a:pPr marL="715963" indent="-7159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400" dirty="0"/>
              <a:t>4 – 7</a:t>
            </a:r>
          </a:p>
          <a:p>
            <a:pPr marL="715963" indent="-7159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400" dirty="0"/>
              <a:t>8 – 5</a:t>
            </a:r>
          </a:p>
          <a:p>
            <a:pPr marL="715963" indent="-7159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400" dirty="0"/>
              <a:t>5 – 8</a:t>
            </a:r>
          </a:p>
          <a:p>
            <a:pPr marL="715963" indent="-7159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400" dirty="0"/>
              <a:t>-2.5 – 3</a:t>
            </a:r>
          </a:p>
          <a:p>
            <a:pPr marL="715963" indent="-7159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400" dirty="0"/>
              <a:t>5 – 2.8</a:t>
            </a:r>
          </a:p>
          <a:p>
            <a:pPr marL="715963" indent="-7159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400" dirty="0"/>
              <a:t>-5 – 2.8</a:t>
            </a:r>
          </a:p>
          <a:p>
            <a:pPr marL="715963" indent="-7159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400" dirty="0"/>
              <a:t>3.2 – 4.6</a:t>
            </a:r>
          </a:p>
          <a:p>
            <a:pPr marL="715963" indent="-7159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400" dirty="0"/>
              <a:t>-3.2 – 4.6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FF3205-C4F7-4210-A4B8-826436764DEA}"/>
              </a:ext>
            </a:extLst>
          </p:cNvPr>
          <p:cNvSpPr txBox="1"/>
          <p:nvPr/>
        </p:nvSpPr>
        <p:spPr>
          <a:xfrm>
            <a:off x="6423991" y="2488850"/>
            <a:ext cx="4934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002060"/>
                </a:solidFill>
              </a:rPr>
              <a:t>Draw a number </a:t>
            </a:r>
            <a:r>
              <a:rPr lang="en-AU" sz="2400" b="1">
                <a:solidFill>
                  <a:srgbClr val="002060"/>
                </a:solidFill>
              </a:rPr>
              <a:t>line then copy </a:t>
            </a:r>
            <a:r>
              <a:rPr lang="en-AU" sz="2400" b="1" dirty="0">
                <a:solidFill>
                  <a:srgbClr val="002060"/>
                </a:solidFill>
              </a:rPr>
              <a:t>the question and use correct setting out to present your answer.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0E0A17-5836-4F2D-8CC6-7718C646F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871" y="1129522"/>
            <a:ext cx="11022172" cy="382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55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56D41F-A7F2-402D-AD08-D923BCE2F7B0}"/>
              </a:ext>
            </a:extLst>
          </p:cNvPr>
          <p:cNvSpPr txBox="1"/>
          <p:nvPr/>
        </p:nvSpPr>
        <p:spPr>
          <a:xfrm>
            <a:off x="2720750" y="635063"/>
            <a:ext cx="8597901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09650">
              <a:spcAft>
                <a:spcPts val="600"/>
              </a:spcAft>
            </a:pPr>
            <a:r>
              <a:rPr lang="en-AU" sz="2400" dirty="0"/>
              <a:t>Addition and Subtraction: Double signs.</a:t>
            </a:r>
          </a:p>
          <a:p>
            <a:pPr defTabSz="1009650">
              <a:spcAft>
                <a:spcPts val="600"/>
              </a:spcAft>
            </a:pPr>
            <a:r>
              <a:rPr lang="en-AU" sz="2400" dirty="0"/>
              <a:t>Example: 	-3 – (-5)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5670E8-9AFA-4811-B9C7-955B767F1FCB}"/>
              </a:ext>
            </a:extLst>
          </p:cNvPr>
          <p:cNvSpPr txBox="1"/>
          <p:nvPr/>
        </p:nvSpPr>
        <p:spPr>
          <a:xfrm>
            <a:off x="2720750" y="1848678"/>
            <a:ext cx="6838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Using patterns to develop understanding.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720750" y="2616017"/>
            <a:ext cx="3612317" cy="3585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sz="2400" dirty="0"/>
              <a:t>6 – 3		=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6 – 2		=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6 – 1		=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6 – 0		=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6 – (-1)	=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6 – (-2)	=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6 – (-3)	=</a:t>
            </a:r>
          </a:p>
          <a:p>
            <a:r>
              <a:rPr lang="en-AU" sz="2400" dirty="0"/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37633" y="5739949"/>
            <a:ext cx="9364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Subtracting a negative number is the same as adding</a:t>
            </a:r>
          </a:p>
        </p:txBody>
      </p:sp>
    </p:spTree>
    <p:extLst>
      <p:ext uri="{BB962C8B-B14F-4D97-AF65-F5344CB8AC3E}">
        <p14:creationId xmlns:p14="http://schemas.microsoft.com/office/powerpoint/2010/main" val="1506948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56D41F-A7F2-402D-AD08-D923BCE2F7B0}"/>
              </a:ext>
            </a:extLst>
          </p:cNvPr>
          <p:cNvSpPr txBox="1"/>
          <p:nvPr/>
        </p:nvSpPr>
        <p:spPr>
          <a:xfrm>
            <a:off x="2720750" y="635063"/>
            <a:ext cx="8597901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09650">
              <a:spcAft>
                <a:spcPts val="600"/>
              </a:spcAft>
            </a:pPr>
            <a:r>
              <a:rPr lang="en-AU" sz="2400" dirty="0"/>
              <a:t>Addition and Subtraction: Double signs.</a:t>
            </a:r>
          </a:p>
          <a:p>
            <a:pPr defTabSz="1009650">
              <a:spcAft>
                <a:spcPts val="600"/>
              </a:spcAft>
            </a:pPr>
            <a:r>
              <a:rPr lang="en-AU" sz="2400" dirty="0"/>
              <a:t>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5670E8-9AFA-4811-B9C7-955B767F1FCB}"/>
              </a:ext>
            </a:extLst>
          </p:cNvPr>
          <p:cNvSpPr txBox="1"/>
          <p:nvPr/>
        </p:nvSpPr>
        <p:spPr>
          <a:xfrm>
            <a:off x="2720750" y="1387013"/>
            <a:ext cx="6838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Using patterns to develop understanding.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720750" y="2154352"/>
            <a:ext cx="3612317" cy="3585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sz="2400" dirty="0"/>
              <a:t>6 + 3		=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6 + 2		=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6 + 1		=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6 + 0		=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6 + (-1)	=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6 + (-2)	=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6 + (-3)	=</a:t>
            </a:r>
          </a:p>
          <a:p>
            <a:r>
              <a:rPr lang="en-AU" sz="2400" dirty="0"/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37633" y="5509116"/>
            <a:ext cx="9364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Adding a negative number is the same as subtracting.</a:t>
            </a:r>
          </a:p>
        </p:txBody>
      </p:sp>
    </p:spTree>
    <p:extLst>
      <p:ext uri="{BB962C8B-B14F-4D97-AF65-F5344CB8AC3E}">
        <p14:creationId xmlns:p14="http://schemas.microsoft.com/office/powerpoint/2010/main" val="2447529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71CC235-70A0-FC9A-0D37-C555E3848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Steps: 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59DBC9-4734-4167-9892-702EA208D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AutoNum type="arabicPeriod"/>
            </a:pPr>
            <a:r>
              <a:rPr lang="en-US" sz="4000" dirty="0">
                <a:solidFill>
                  <a:srgbClr val="00B0F0"/>
                </a:solidFill>
              </a:rPr>
              <a:t>Write the question </a:t>
            </a:r>
          </a:p>
          <a:p>
            <a:pPr>
              <a:buAutoNum type="arabicPeriod"/>
            </a:pPr>
            <a:r>
              <a:rPr lang="en-US" sz="4000" dirty="0">
                <a:solidFill>
                  <a:srgbClr val="00B0F0"/>
                </a:solidFill>
              </a:rPr>
              <a:t>Change the double sign </a:t>
            </a:r>
          </a:p>
          <a:p>
            <a:pPr>
              <a:buAutoNum type="arabicPeriod"/>
            </a:pPr>
            <a:r>
              <a:rPr lang="en-US" sz="4000" dirty="0">
                <a:solidFill>
                  <a:srgbClr val="00B0F0"/>
                </a:solidFill>
              </a:rPr>
              <a:t>Calculate answer </a:t>
            </a:r>
            <a:endParaRPr lang="en-AU" sz="40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6845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FB9BA-0678-2516-9162-01A030C43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 do, we de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DBFF6-984D-EFBB-2BA0-15062556A09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AU" sz="2800" dirty="0"/>
              <a:t>3 + (-4) = </a:t>
            </a:r>
          </a:p>
          <a:p>
            <a:pPr marL="514350" indent="-514350">
              <a:buAutoNum type="alphaLcParenR"/>
            </a:pPr>
            <a:endParaRPr lang="en-AU" sz="2800" dirty="0"/>
          </a:p>
          <a:p>
            <a:pPr marL="514350" indent="-514350">
              <a:buAutoNum type="alphaLcParenR"/>
            </a:pPr>
            <a:r>
              <a:rPr lang="en-AU" sz="2800" dirty="0"/>
              <a:t>5 – (-4) = </a:t>
            </a:r>
          </a:p>
          <a:p>
            <a:pPr marL="514350" indent="-514350">
              <a:buAutoNum type="alphaLcParenR"/>
            </a:pPr>
            <a:endParaRPr lang="en-AU" sz="2800" dirty="0"/>
          </a:p>
          <a:p>
            <a:pPr marL="514350" indent="-514350">
              <a:buAutoNum type="alphaLcParenR"/>
            </a:pPr>
            <a:r>
              <a:rPr lang="en-AU" sz="2800" dirty="0"/>
              <a:t>-5 + (-2) =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41C88E-3FEA-115D-2C99-0A02FBB8AB9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AU" sz="2800" dirty="0"/>
              <a:t>5 + (-4) = </a:t>
            </a:r>
          </a:p>
          <a:p>
            <a:pPr marL="514350" indent="-514350">
              <a:buAutoNum type="arabicPeriod"/>
            </a:pPr>
            <a:endParaRPr lang="en-AU" sz="2800" dirty="0"/>
          </a:p>
          <a:p>
            <a:pPr marL="514350" indent="-514350">
              <a:buAutoNum type="arabicPeriod"/>
            </a:pPr>
            <a:r>
              <a:rPr lang="en-AU" sz="2800" dirty="0"/>
              <a:t>-4 – (-5) = </a:t>
            </a:r>
          </a:p>
          <a:p>
            <a:pPr marL="514350" indent="-514350">
              <a:buAutoNum type="arabicPeriod"/>
            </a:pPr>
            <a:endParaRPr lang="en-AU" sz="2800" dirty="0"/>
          </a:p>
          <a:p>
            <a:pPr marL="514350" indent="-514350">
              <a:buAutoNum type="arabicPeriod"/>
            </a:pPr>
            <a:r>
              <a:rPr lang="en-AU" sz="2800" dirty="0"/>
              <a:t>-3 + (-3) =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A4E302-42CB-26D6-0307-1CF9A6BD3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39" y="1629826"/>
            <a:ext cx="11022172" cy="382096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0EAA08-3EE5-89B1-7137-78030FB06E7A}"/>
              </a:ext>
            </a:extLst>
          </p:cNvPr>
          <p:cNvSpPr txBox="1">
            <a:spLocks/>
          </p:cNvSpPr>
          <p:nvPr/>
        </p:nvSpPr>
        <p:spPr>
          <a:xfrm>
            <a:off x="1569195" y="39838"/>
            <a:ext cx="4424330" cy="1589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 3" charset="2"/>
              <a:buAutoNum type="arabicPeriod"/>
            </a:pPr>
            <a:r>
              <a:rPr lang="en-US" sz="2400" dirty="0">
                <a:solidFill>
                  <a:srgbClr val="00B0F0"/>
                </a:solidFill>
              </a:rPr>
              <a:t>Write the question </a:t>
            </a:r>
          </a:p>
          <a:p>
            <a:pPr>
              <a:buFont typeface="Wingdings 3" charset="2"/>
              <a:buAutoNum type="arabicPeriod"/>
            </a:pPr>
            <a:r>
              <a:rPr lang="en-US" sz="2400" dirty="0">
                <a:solidFill>
                  <a:srgbClr val="00B0F0"/>
                </a:solidFill>
              </a:rPr>
              <a:t>Change the double sign </a:t>
            </a:r>
          </a:p>
          <a:p>
            <a:pPr>
              <a:buFont typeface="Wingdings 3" charset="2"/>
              <a:buAutoNum type="arabicPeriod"/>
            </a:pPr>
            <a:r>
              <a:rPr lang="en-US" sz="2400" dirty="0">
                <a:solidFill>
                  <a:srgbClr val="00B0F0"/>
                </a:solidFill>
              </a:rPr>
              <a:t>Calculate answer </a:t>
            </a:r>
            <a:endParaRPr lang="en-AU" sz="2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5536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59F2E4-84EA-4F8C-9AA1-5193A1A7B805}"/>
              </a:ext>
            </a:extLst>
          </p:cNvPr>
          <p:cNvSpPr txBox="1"/>
          <p:nvPr/>
        </p:nvSpPr>
        <p:spPr>
          <a:xfrm>
            <a:off x="2792896" y="526775"/>
            <a:ext cx="7782339" cy="5124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Independent practice: </a:t>
            </a:r>
            <a:r>
              <a:rPr lang="en-AU" sz="2400" dirty="0">
                <a:solidFill>
                  <a:srgbClr val="FF0000"/>
                </a:solidFill>
              </a:rPr>
              <a:t>exercise books.</a:t>
            </a:r>
          </a:p>
          <a:p>
            <a:endParaRPr lang="en-AU" dirty="0"/>
          </a:p>
          <a:p>
            <a:pPr marL="715963" indent="-7159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400" dirty="0"/>
              <a:t>-2 + (– 6)</a:t>
            </a:r>
          </a:p>
          <a:p>
            <a:pPr marL="715963" indent="-7159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400" dirty="0"/>
              <a:t>-3 – (- 8)</a:t>
            </a:r>
          </a:p>
          <a:p>
            <a:pPr marL="715963" indent="-7159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400" dirty="0"/>
              <a:t>4 + (– 7)</a:t>
            </a:r>
          </a:p>
          <a:p>
            <a:pPr marL="715963" indent="-7159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400" dirty="0"/>
              <a:t>8 – (-5)</a:t>
            </a:r>
          </a:p>
          <a:p>
            <a:pPr marL="715963" indent="-7159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400" dirty="0"/>
              <a:t>-5 – 8</a:t>
            </a:r>
          </a:p>
          <a:p>
            <a:pPr marL="715963" indent="-7159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400" dirty="0"/>
              <a:t>-2.5 + (– 3)</a:t>
            </a:r>
          </a:p>
          <a:p>
            <a:pPr marL="715963" indent="-7159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400" dirty="0"/>
              <a:t>5 – (-2.8)</a:t>
            </a:r>
          </a:p>
          <a:p>
            <a:pPr marL="715963" indent="-7159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400" dirty="0"/>
              <a:t>-5 + (– 2.8)</a:t>
            </a:r>
          </a:p>
          <a:p>
            <a:pPr marL="715963" indent="-7159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400" dirty="0"/>
              <a:t>3.2 – (-4.6)</a:t>
            </a:r>
          </a:p>
          <a:p>
            <a:pPr marL="715963" indent="-7159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400" dirty="0"/>
              <a:t>-3.2 – (-4.6)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FF3205-C4F7-4210-A4B8-826436764DEA}"/>
              </a:ext>
            </a:extLst>
          </p:cNvPr>
          <p:cNvSpPr txBox="1"/>
          <p:nvPr/>
        </p:nvSpPr>
        <p:spPr>
          <a:xfrm>
            <a:off x="6423991" y="2488850"/>
            <a:ext cx="4934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002060"/>
                </a:solidFill>
              </a:rPr>
              <a:t>Copy the question and use correct setting out to present your answer. </a:t>
            </a:r>
          </a:p>
          <a:p>
            <a:r>
              <a:rPr lang="en-AU" sz="2400" b="1" dirty="0">
                <a:solidFill>
                  <a:srgbClr val="FF0000"/>
                </a:solidFill>
              </a:rPr>
              <a:t>3 lines of working!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79529" y="157315"/>
            <a:ext cx="3022601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1" b="1" dirty="0">
                <a:solidFill>
                  <a:srgbClr val="FF0000"/>
                </a:solidFill>
              </a:rPr>
              <a:t>07/02/2022</a:t>
            </a:r>
          </a:p>
        </p:txBody>
      </p:sp>
    </p:spTree>
    <p:extLst>
      <p:ext uri="{BB962C8B-B14F-4D97-AF65-F5344CB8AC3E}">
        <p14:creationId xmlns:p14="http://schemas.microsoft.com/office/powerpoint/2010/main" val="3413835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860115E-860D-4776-BDC5-5471998893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Puzzle practice</a:t>
            </a: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AB1F03-ED8C-4DBD-B725-CB26A9E4FD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Start on + SUM UP+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21889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64803-67B2-48F3-AC4D-98C04D6E1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3BE20-C468-4D58-A762-A0B0D6196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600" dirty="0">
                <a:solidFill>
                  <a:schemeClr val="tx1"/>
                </a:solidFill>
              </a:rPr>
              <a:t>Aims:</a:t>
            </a:r>
          </a:p>
          <a:p>
            <a:pPr marL="342909" indent="-342909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AU" sz="3600" dirty="0">
                <a:solidFill>
                  <a:schemeClr val="tx1"/>
                </a:solidFill>
              </a:rPr>
              <a:t>Be able to add and subtract integers</a:t>
            </a:r>
          </a:p>
        </p:txBody>
      </p:sp>
    </p:spTree>
    <p:extLst>
      <p:ext uri="{BB962C8B-B14F-4D97-AF65-F5344CB8AC3E}">
        <p14:creationId xmlns:p14="http://schemas.microsoft.com/office/powerpoint/2010/main" val="414143230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620</TotalTime>
  <Words>607</Words>
  <Application>Microsoft Office PowerPoint</Application>
  <PresentationFormat>Widescreen</PresentationFormat>
  <Paragraphs>138</Paragraphs>
  <Slides>13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Century Gothic</vt:lpstr>
      <vt:lpstr>Wingdings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Steps: </vt:lpstr>
      <vt:lpstr>I do, we de </vt:lpstr>
      <vt:lpstr>PowerPoint Presentation</vt:lpstr>
      <vt:lpstr>Puzzle practice</vt:lpstr>
      <vt:lpstr>Reflection 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WALL Kevin [Busselton Senior High School]</dc:creator>
  <cp:lastModifiedBy>DAVIES Rhys [Busselton Senior High School]</cp:lastModifiedBy>
  <cp:revision>38</cp:revision>
  <cp:lastPrinted>2023-02-07T00:31:35Z</cp:lastPrinted>
  <dcterms:created xsi:type="dcterms:W3CDTF">2022-01-30T08:07:54Z</dcterms:created>
  <dcterms:modified xsi:type="dcterms:W3CDTF">2023-02-07T00:39:51Z</dcterms:modified>
</cp:coreProperties>
</file>
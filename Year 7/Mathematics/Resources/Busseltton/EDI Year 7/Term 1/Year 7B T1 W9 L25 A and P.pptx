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4" r:id="rId2"/>
  </p:sldMasterIdLst>
  <p:sldIdLst>
    <p:sldId id="266" r:id="rId3"/>
    <p:sldId id="270" r:id="rId4"/>
    <p:sldId id="275" r:id="rId5"/>
    <p:sldId id="274" r:id="rId6"/>
    <p:sldId id="271" r:id="rId7"/>
    <p:sldId id="272" r:id="rId8"/>
    <p:sldId id="273" r:id="rId9"/>
    <p:sldId id="318" r:id="rId10"/>
    <p:sldId id="319" r:id="rId11"/>
    <p:sldId id="320" r:id="rId12"/>
    <p:sldId id="330" r:id="rId13"/>
    <p:sldId id="321" r:id="rId14"/>
    <p:sldId id="323" r:id="rId15"/>
    <p:sldId id="326" r:id="rId16"/>
    <p:sldId id="327" r:id="rId17"/>
    <p:sldId id="328" r:id="rId18"/>
    <p:sldId id="329" r:id="rId19"/>
    <p:sldId id="324" r:id="rId20"/>
    <p:sldId id="32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90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3T10:55:39.827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0,'6'1,"0"0,0 0,0 0,-1 1,1 0,0 0,-1 0,1 1,-1-1,0 2,6 3,24 13,63 20,-57-25,-2 1,0 2,0 2,68 48,-94-60,0 0,1 0,0-1,0-1,1-1,0 0,0 0,17 1,-29-5,15 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3T10:55:42.030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595 3,'-45'-1,"23"0,0 0,1 2,-1 0,0 1,1 2,0 0,-23 7,15 1,0 1,-35 22,52-29,0 0,0-1,-1 0,-14 3,15-5,1 1,0 0,0 0,0 1,-18 11,-28 20,42-24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3T10:55:44.391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0,'0'504,"0"-481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3T10:55:46.715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0,'0'477,"0"-454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3T10:55:54.939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1,'7'-1,"0"1,0 0,0 0,0 1,0 0,0 0,-1 1,1 0,0 0,-1 0,1 1,-1 0,0 0,0 1,0 0,0 0,0 0,-1 1,8 7,-1 3,0 0,0 1,-1 0,-1 0,-1 1,0 1,-2 0,12 37,-11-33,1 1,1-2,23 37,-3-5,-22-38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3T10:55:56.53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0,'5'0,"1"0,-1 1,1-1,0 1,-1 1,1-1,-1 1,1-1,-1 1,0 1,7 3,-5-1,1 1,-1 1,0-1,-1 1,12 14,46 48,-51-57,0 0,-1 1,-1 0,0 1,-1 1,17 29,-18-22,-6-12,1 0,1-1,0 1,0-1,1 0,0 0,11 12,-6-10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3T10:55:58.371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313 0,'-3'5,"-1"-1,1 1,0-1,1 1,-5 10,-6 11,-110 144,91-126,2 0,2 2,-28 62,48-85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23T10:56:11.719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273 1,'0'10,"0"1,-1-1,0 1,-1-1,0 1,0-1,-1 0,-1 0,-7 16,-67 131,68-131,-12 43,-3 11,13-46,9-25,0 1,0-1,-1 0,0-1,-1 1,0-1,0 0,-8 9,-26 25,23-22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418EF-326B-4F14-8648-E90653F5D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Daily Review Instructional Sequence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5E1C93-5CFF-4364-8FFF-F38E0EA91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30783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Li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F10B6-5EB8-4594-B011-3C2F53241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03" y="321993"/>
            <a:ext cx="11031747" cy="51476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3E589-DAEB-4941-BC27-7CE5EAC50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604" y="945730"/>
            <a:ext cx="11601090" cy="565347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708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e)Te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8" y="141439"/>
            <a:ext cx="1693990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(Re)Teach</a:t>
            </a:r>
          </a:p>
        </p:txBody>
      </p:sp>
    </p:spTree>
    <p:extLst>
      <p:ext uri="{BB962C8B-B14F-4D97-AF65-F5344CB8AC3E}">
        <p14:creationId xmlns:p14="http://schemas.microsoft.com/office/powerpoint/2010/main" val="1552853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trie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8" y="141439"/>
            <a:ext cx="1482973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Retrieve</a:t>
            </a:r>
          </a:p>
        </p:txBody>
      </p:sp>
    </p:spTree>
    <p:extLst>
      <p:ext uri="{BB962C8B-B14F-4D97-AF65-F5344CB8AC3E}">
        <p14:creationId xmlns:p14="http://schemas.microsoft.com/office/powerpoint/2010/main" val="2267788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ly (I D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8" y="141439"/>
            <a:ext cx="1764328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Apply (I Do)</a:t>
            </a:r>
          </a:p>
        </p:txBody>
      </p:sp>
    </p:spTree>
    <p:extLst>
      <p:ext uri="{BB962C8B-B14F-4D97-AF65-F5344CB8AC3E}">
        <p14:creationId xmlns:p14="http://schemas.microsoft.com/office/powerpoint/2010/main" val="369168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ly (We D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7" y="141439"/>
            <a:ext cx="2136117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Apply (We Do)</a:t>
            </a:r>
          </a:p>
        </p:txBody>
      </p:sp>
    </p:spTree>
    <p:extLst>
      <p:ext uri="{BB962C8B-B14F-4D97-AF65-F5344CB8AC3E}">
        <p14:creationId xmlns:p14="http://schemas.microsoft.com/office/powerpoint/2010/main" val="4178494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ly (You D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7" y="141439"/>
            <a:ext cx="2136117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Apply (You Do)</a:t>
            </a:r>
          </a:p>
        </p:txBody>
      </p:sp>
    </p:spTree>
    <p:extLst>
      <p:ext uri="{BB962C8B-B14F-4D97-AF65-F5344CB8AC3E}">
        <p14:creationId xmlns:p14="http://schemas.microsoft.com/office/powerpoint/2010/main" val="194978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0007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3647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160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5117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6362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9509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1241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714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7995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52805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71265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8219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81768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02631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67702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51272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0382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generated with high confidence">
            <a:extLst>
              <a:ext uri="{FF2B5EF4-FFF2-40B4-BE49-F238E27FC236}">
                <a16:creationId xmlns:a16="http://schemas.microsoft.com/office/drawing/2014/main" id="{761DAA86-BB2C-4542-B7E0-B9CF9771E992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5166" y="68536"/>
            <a:ext cx="461264" cy="59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9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  <p:sldLayoutId id="2147483663" r:id="rId4"/>
    <p:sldLayoutId id="2147483660" r:id="rId5"/>
    <p:sldLayoutId id="2147483661" r:id="rId6"/>
    <p:sldLayoutId id="2147483662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Rounded MT Bold" panose="020F07040305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»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»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»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»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050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customXml" Target="../ink/ink6.xml"/><Relationship Id="rId17" Type="http://schemas.openxmlformats.org/officeDocument/2006/relationships/image" Target="../media/image12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3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8.png"/><Relationship Id="rId14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B34FB-6C58-4D23-8C29-31A9B91D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03" y="321993"/>
            <a:ext cx="11031747" cy="1078182"/>
          </a:xfrm>
        </p:spPr>
        <p:txBody>
          <a:bodyPr/>
          <a:lstStyle/>
          <a:p>
            <a:pPr algn="ctr"/>
            <a:r>
              <a:rPr lang="en-US" sz="4400" dirty="0"/>
              <a:t>Lesson objective </a:t>
            </a:r>
            <a:endParaRPr lang="en-AU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1E576-7B80-4B97-8C55-D0B563974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604" y="1714500"/>
            <a:ext cx="11601090" cy="48847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sz="2400" b="1" dirty="0">
                <a:solidFill>
                  <a:srgbClr val="00B0F0"/>
                </a:solidFill>
              </a:rPr>
              <a:t>Area and Perimeter </a:t>
            </a:r>
          </a:p>
          <a:p>
            <a:pPr marL="0" indent="0">
              <a:buNone/>
            </a:pPr>
            <a:endParaRPr lang="en-US" sz="24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0B0F0"/>
                </a:solidFill>
              </a:rPr>
              <a:t>Determine the perimeter of common shapes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0B0F0"/>
                </a:solidFill>
              </a:rPr>
              <a:t>Be able to substitute into formula when solving area of triangles </a:t>
            </a:r>
          </a:p>
          <a:p>
            <a:pPr marL="0" indent="0">
              <a:buNone/>
            </a:pPr>
            <a:r>
              <a:rPr lang="en-AU" sz="2400" b="1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AU" sz="2400" b="1" dirty="0">
                <a:solidFill>
                  <a:srgbClr val="00B0F0"/>
                </a:solidFill>
              </a:rPr>
              <a:t>Daily review </a:t>
            </a:r>
          </a:p>
          <a:p>
            <a:pPr lvl="1">
              <a:buFontTx/>
              <a:buChar char="-"/>
            </a:pPr>
            <a:r>
              <a:rPr lang="en-AU" sz="2000" b="1" dirty="0">
                <a:solidFill>
                  <a:srgbClr val="00B0F0"/>
                </a:solidFill>
              </a:rPr>
              <a:t>Integers </a:t>
            </a:r>
          </a:p>
          <a:p>
            <a:pPr>
              <a:buFontTx/>
              <a:buChar char="-"/>
            </a:pPr>
            <a:r>
              <a:rPr lang="en-AU" sz="2400" b="1" dirty="0">
                <a:solidFill>
                  <a:srgbClr val="00B0F0"/>
                </a:solidFill>
              </a:rPr>
              <a:t>Calculating perimeter </a:t>
            </a:r>
          </a:p>
          <a:p>
            <a:pPr>
              <a:buFontTx/>
              <a:buChar char="-"/>
            </a:pPr>
            <a:r>
              <a:rPr lang="en-AU" sz="2400" b="1" dirty="0">
                <a:solidFill>
                  <a:srgbClr val="00B0F0"/>
                </a:solidFill>
              </a:rPr>
              <a:t>Substituting for area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87294-4E63-10D2-4FDB-BE5A9ACA4310}"/>
              </a:ext>
            </a:extLst>
          </p:cNvPr>
          <p:cNvSpPr txBox="1"/>
          <p:nvPr/>
        </p:nvSpPr>
        <p:spPr>
          <a:xfrm>
            <a:off x="6400717" y="1360557"/>
            <a:ext cx="3480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whiteboards and calculators. </a:t>
            </a:r>
            <a:endParaRPr lang="en-AU" sz="2000" b="1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1C9118-9DAE-EF11-E22E-CDA7D044F07E}"/>
              </a:ext>
            </a:extLst>
          </p:cNvPr>
          <p:cNvSpPr txBox="1"/>
          <p:nvPr/>
        </p:nvSpPr>
        <p:spPr>
          <a:xfrm>
            <a:off x="6400717" y="2084796"/>
            <a:ext cx="49700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highlight>
                  <a:srgbClr val="00FF00"/>
                </a:highlight>
              </a:rPr>
              <a:t>PBiS</a:t>
            </a:r>
            <a:r>
              <a:rPr lang="en-US" sz="2000" b="1" dirty="0">
                <a:highlight>
                  <a:srgbClr val="00FF00"/>
                </a:highlight>
              </a:rPr>
              <a:t> focus: Achieve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- Ask and accept feedback to improve. </a:t>
            </a:r>
            <a:endParaRPr lang="en-AU" sz="20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63980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A3792A43-243F-467F-A778-21BB8132A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7624" y="736846"/>
            <a:ext cx="10716751" cy="60281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22F08FD-C4B2-468F-BC51-F6A2F273AFB3}"/>
              </a:ext>
            </a:extLst>
          </p:cNvPr>
          <p:cNvSpPr/>
          <p:nvPr/>
        </p:nvSpPr>
        <p:spPr>
          <a:xfrm>
            <a:off x="2636668" y="5797118"/>
            <a:ext cx="7377344" cy="46163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396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84975966-E74F-466F-834C-F59999E7EA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3845" y="887766"/>
            <a:ext cx="10069666" cy="56641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21AC96A-A8B9-44D6-A5DD-4BE4EF077C31}"/>
              </a:ext>
            </a:extLst>
          </p:cNvPr>
          <p:cNvSpPr/>
          <p:nvPr/>
        </p:nvSpPr>
        <p:spPr>
          <a:xfrm>
            <a:off x="2823099" y="5406500"/>
            <a:ext cx="7377344" cy="46163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2649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6C2CF0-BA70-4AD2-AB28-050DD04C4FDD}"/>
              </a:ext>
            </a:extLst>
          </p:cNvPr>
          <p:cNvSpPr txBox="1"/>
          <p:nvPr/>
        </p:nvSpPr>
        <p:spPr>
          <a:xfrm>
            <a:off x="2800263" y="744394"/>
            <a:ext cx="8597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9650">
              <a:spcAft>
                <a:spcPts val="600"/>
              </a:spcAft>
            </a:pPr>
            <a:r>
              <a:rPr lang="en-AU" sz="2400" dirty="0"/>
              <a:t>Addition and Subtraction: A number-line approach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CE16B-3B5B-4E90-A548-A48613C8A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61" y="1456589"/>
            <a:ext cx="11022172" cy="382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66427F-8682-4EB4-A609-795520784E42}"/>
              </a:ext>
            </a:extLst>
          </p:cNvPr>
          <p:cNvSpPr txBox="1"/>
          <p:nvPr/>
        </p:nvSpPr>
        <p:spPr>
          <a:xfrm>
            <a:off x="3432187" y="3314381"/>
            <a:ext cx="5843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Example:		-3  </a:t>
            </a:r>
            <a:r>
              <a:rPr lang="en-AU" sz="2400" dirty="0"/>
              <a:t>–</a:t>
            </a:r>
            <a:r>
              <a:rPr lang="en-AU" sz="2400" dirty="0">
                <a:solidFill>
                  <a:srgbClr val="002060"/>
                </a:solidFill>
              </a:rPr>
              <a:t> 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B76CD1-9498-47D1-9389-2C6BB8B58182}"/>
              </a:ext>
            </a:extLst>
          </p:cNvPr>
          <p:cNvSpPr txBox="1"/>
          <p:nvPr/>
        </p:nvSpPr>
        <p:spPr>
          <a:xfrm>
            <a:off x="2694007" y="2161260"/>
            <a:ext cx="8810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 use the number line you need a starting point, a direction and a number of places to move.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C321D0-3DD2-44C7-B6D1-A716A8EE7F90}"/>
              </a:ext>
            </a:extLst>
          </p:cNvPr>
          <p:cNvSpPr/>
          <p:nvPr/>
        </p:nvSpPr>
        <p:spPr>
          <a:xfrm>
            <a:off x="6893203" y="3382686"/>
            <a:ext cx="395391" cy="38209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2E7AB6-5766-4FCB-A23B-EB51B5E99EA4}"/>
              </a:ext>
            </a:extLst>
          </p:cNvPr>
          <p:cNvSpPr/>
          <p:nvPr/>
        </p:nvSpPr>
        <p:spPr>
          <a:xfrm>
            <a:off x="6531095" y="3363504"/>
            <a:ext cx="395391" cy="38209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F70906-629A-41D4-8C7E-80B0FC8D4B89}"/>
              </a:ext>
            </a:extLst>
          </p:cNvPr>
          <p:cNvSpPr/>
          <p:nvPr/>
        </p:nvSpPr>
        <p:spPr>
          <a:xfrm>
            <a:off x="6156000" y="3354616"/>
            <a:ext cx="395391" cy="38209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EF9EA1-55F6-4ABA-8BA0-53B1D90D6F27}"/>
              </a:ext>
            </a:extLst>
          </p:cNvPr>
          <p:cNvSpPr txBox="1"/>
          <p:nvPr/>
        </p:nvSpPr>
        <p:spPr>
          <a:xfrm>
            <a:off x="-158524" y="4201082"/>
            <a:ext cx="4194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400" dirty="0"/>
              <a:t>Starting point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9A3F32-DCAE-45DD-938B-74A93AD77EA4}"/>
              </a:ext>
            </a:extLst>
          </p:cNvPr>
          <p:cNvCxnSpPr/>
          <p:nvPr/>
        </p:nvCxnSpPr>
        <p:spPr>
          <a:xfrm flipV="1">
            <a:off x="4035789" y="3716976"/>
            <a:ext cx="2176168" cy="7357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C15809-8EFB-4996-8BE9-BF54920F90C6}"/>
              </a:ext>
            </a:extLst>
          </p:cNvPr>
          <p:cNvCxnSpPr>
            <a:cxnSpLocks/>
          </p:cNvCxnSpPr>
          <p:nvPr/>
        </p:nvCxnSpPr>
        <p:spPr>
          <a:xfrm flipV="1">
            <a:off x="5956917" y="3825170"/>
            <a:ext cx="672483" cy="8375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07F456-098A-4D8D-963A-5DD082F16303}"/>
              </a:ext>
            </a:extLst>
          </p:cNvPr>
          <p:cNvCxnSpPr>
            <a:cxnSpLocks/>
          </p:cNvCxnSpPr>
          <p:nvPr/>
        </p:nvCxnSpPr>
        <p:spPr>
          <a:xfrm flipH="1" flipV="1">
            <a:off x="7310646" y="3707054"/>
            <a:ext cx="1456862" cy="4616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F9D7F95-E121-4FF9-8658-F590D73638BA}"/>
              </a:ext>
            </a:extLst>
          </p:cNvPr>
          <p:cNvSpPr txBox="1"/>
          <p:nvPr/>
        </p:nvSpPr>
        <p:spPr>
          <a:xfrm>
            <a:off x="4573504" y="4461431"/>
            <a:ext cx="2426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/>
              <a:t>Direction:</a:t>
            </a:r>
          </a:p>
          <a:p>
            <a:r>
              <a:rPr lang="en-AU" sz="2400" dirty="0"/>
              <a:t>+ move right</a:t>
            </a:r>
          </a:p>
          <a:p>
            <a:r>
              <a:rPr lang="en-AU" sz="2400" dirty="0"/>
              <a:t>– move left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5CDF1A-3368-4AFB-A7E9-CA07D5AB97C8}"/>
              </a:ext>
            </a:extLst>
          </p:cNvPr>
          <p:cNvSpPr txBox="1"/>
          <p:nvPr/>
        </p:nvSpPr>
        <p:spPr>
          <a:xfrm>
            <a:off x="4060636" y="4135162"/>
            <a:ext cx="6177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Number of places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0CDD4B5-7DE0-4A86-9726-BB013C365E7F}"/>
              </a:ext>
            </a:extLst>
          </p:cNvPr>
          <p:cNvSpPr/>
          <p:nvPr/>
        </p:nvSpPr>
        <p:spPr>
          <a:xfrm>
            <a:off x="7099213" y="2230907"/>
            <a:ext cx="1668295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B490DDD-31CF-444B-A017-5757CB7A1EB8}"/>
              </a:ext>
            </a:extLst>
          </p:cNvPr>
          <p:cNvSpPr/>
          <p:nvPr/>
        </p:nvSpPr>
        <p:spPr>
          <a:xfrm>
            <a:off x="9148073" y="2230907"/>
            <a:ext cx="1089731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79FF254-9D24-428F-97DB-492456F9DC9B}"/>
              </a:ext>
            </a:extLst>
          </p:cNvPr>
          <p:cNvSpPr/>
          <p:nvPr/>
        </p:nvSpPr>
        <p:spPr>
          <a:xfrm>
            <a:off x="2719972" y="2583143"/>
            <a:ext cx="2189379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4914ADE-1C37-4BC6-8D37-2F3BCF3D5576}"/>
              </a:ext>
            </a:extLst>
          </p:cNvPr>
          <p:cNvSpPr/>
          <p:nvPr/>
        </p:nvSpPr>
        <p:spPr>
          <a:xfrm>
            <a:off x="2223963" y="4277857"/>
            <a:ext cx="1811826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140B30-2C27-4F95-AE03-FC5ABEE989A6}"/>
              </a:ext>
            </a:extLst>
          </p:cNvPr>
          <p:cNvSpPr/>
          <p:nvPr/>
        </p:nvSpPr>
        <p:spPr>
          <a:xfrm>
            <a:off x="4591431" y="4549666"/>
            <a:ext cx="1161299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4A2BD50-80F5-4120-BF88-4356E410642B}"/>
              </a:ext>
            </a:extLst>
          </p:cNvPr>
          <p:cNvSpPr/>
          <p:nvPr/>
        </p:nvSpPr>
        <p:spPr>
          <a:xfrm>
            <a:off x="7503559" y="4245030"/>
            <a:ext cx="2625862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920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39B864-0C46-48C0-8CBC-68C127E4830E}"/>
              </a:ext>
            </a:extLst>
          </p:cNvPr>
          <p:cNvSpPr txBox="1"/>
          <p:nvPr/>
        </p:nvSpPr>
        <p:spPr>
          <a:xfrm>
            <a:off x="7199790" y="568171"/>
            <a:ext cx="3426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Simplify double signs </a:t>
            </a:r>
          </a:p>
          <a:p>
            <a:pPr marL="342900" indent="-342900">
              <a:buAutoNum type="arabicPeriod"/>
            </a:pPr>
            <a:r>
              <a:rPr lang="en-US" dirty="0"/>
              <a:t>Start/move/direction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4DC526-6F28-4FFF-B6D9-34B6CD2E45FB}"/>
              </a:ext>
            </a:extLst>
          </p:cNvPr>
          <p:cNvSpPr txBox="1"/>
          <p:nvPr/>
        </p:nvSpPr>
        <p:spPr>
          <a:xfrm>
            <a:off x="1235475" y="4305669"/>
            <a:ext cx="3204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3 - (-5) = </a:t>
            </a:r>
            <a:endParaRPr lang="en-AU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D9D76B-9D2F-4817-B18F-0CA7658CAFC5}"/>
              </a:ext>
            </a:extLst>
          </p:cNvPr>
          <p:cNvSpPr txBox="1"/>
          <p:nvPr/>
        </p:nvSpPr>
        <p:spPr>
          <a:xfrm>
            <a:off x="1235476" y="2380695"/>
            <a:ext cx="3204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3 + (-5) = </a:t>
            </a:r>
            <a:endParaRPr lang="en-AU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E3376-847C-4BBC-B7EA-CC7D1F493A93}"/>
              </a:ext>
            </a:extLst>
          </p:cNvPr>
          <p:cNvSpPr txBox="1"/>
          <p:nvPr/>
        </p:nvSpPr>
        <p:spPr>
          <a:xfrm>
            <a:off x="6927541" y="2380694"/>
            <a:ext cx="3204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-3 + (-5) = </a:t>
            </a:r>
            <a:endParaRPr lang="en-AU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C879A5-C365-44CD-B196-1CFDE3F0C9ED}"/>
              </a:ext>
            </a:extLst>
          </p:cNvPr>
          <p:cNvSpPr txBox="1"/>
          <p:nvPr/>
        </p:nvSpPr>
        <p:spPr>
          <a:xfrm>
            <a:off x="6927540" y="4193217"/>
            <a:ext cx="3204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-3 - (-5) = </a:t>
            </a:r>
            <a:endParaRPr lang="en-AU" sz="3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7FBD2B-745E-47C5-8D2D-DAE76F9E4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00" y="1749552"/>
            <a:ext cx="11022172" cy="38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092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C70605-ED7F-441F-8CD9-A789B6B344E4}"/>
              </a:ext>
            </a:extLst>
          </p:cNvPr>
          <p:cNvSpPr txBox="1"/>
          <p:nvPr/>
        </p:nvSpPr>
        <p:spPr>
          <a:xfrm>
            <a:off x="1352364" y="2398449"/>
            <a:ext cx="3204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9 + (-7) = </a:t>
            </a:r>
            <a:endParaRPr lang="en-AU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78A138-860B-4D63-A542-EA4B6424659A}"/>
              </a:ext>
            </a:extLst>
          </p:cNvPr>
          <p:cNvSpPr txBox="1"/>
          <p:nvPr/>
        </p:nvSpPr>
        <p:spPr>
          <a:xfrm>
            <a:off x="1352363" y="4139952"/>
            <a:ext cx="3204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9 - (-7) = </a:t>
            </a:r>
            <a:endParaRPr lang="en-AU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92762-AB1D-403E-B7B9-3C3AF3BD43EA}"/>
              </a:ext>
            </a:extLst>
          </p:cNvPr>
          <p:cNvSpPr txBox="1"/>
          <p:nvPr/>
        </p:nvSpPr>
        <p:spPr>
          <a:xfrm>
            <a:off x="7106574" y="2398448"/>
            <a:ext cx="3204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-9 + (-7) = </a:t>
            </a:r>
            <a:endParaRPr lang="en-AU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F834D1-5697-4577-966A-2979FA61CD92}"/>
              </a:ext>
            </a:extLst>
          </p:cNvPr>
          <p:cNvSpPr txBox="1"/>
          <p:nvPr/>
        </p:nvSpPr>
        <p:spPr>
          <a:xfrm>
            <a:off x="7106574" y="4237605"/>
            <a:ext cx="3204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-9 - (-7) = </a:t>
            </a:r>
            <a:endParaRPr lang="en-AU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16CD33-3EBC-4895-94BA-576B54040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44" y="1419939"/>
            <a:ext cx="11022172" cy="38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393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75CDF8-3657-4A28-9F4C-AA97F7DBE85E}"/>
              </a:ext>
            </a:extLst>
          </p:cNvPr>
          <p:cNvSpPr/>
          <p:nvPr/>
        </p:nvSpPr>
        <p:spPr>
          <a:xfrm>
            <a:off x="426129" y="1332259"/>
            <a:ext cx="3080551" cy="5206753"/>
          </a:xfrm>
          <a:prstGeom prst="round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6D06F7-0F99-450F-886B-DB9118CF79BF}"/>
              </a:ext>
            </a:extLst>
          </p:cNvPr>
          <p:cNvSpPr/>
          <p:nvPr/>
        </p:nvSpPr>
        <p:spPr>
          <a:xfrm>
            <a:off x="4367816" y="1332259"/>
            <a:ext cx="3080552" cy="5206753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65045D-F689-45BE-BDC5-95D50E9FBE29}"/>
              </a:ext>
            </a:extLst>
          </p:cNvPr>
          <p:cNvSpPr/>
          <p:nvPr/>
        </p:nvSpPr>
        <p:spPr>
          <a:xfrm>
            <a:off x="8450514" y="1332260"/>
            <a:ext cx="3080552" cy="520675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D006B3-0B48-4EF8-BDF7-7347EFC863FB}"/>
              </a:ext>
            </a:extLst>
          </p:cNvPr>
          <p:cNvSpPr txBox="1"/>
          <p:nvPr/>
        </p:nvSpPr>
        <p:spPr>
          <a:xfrm>
            <a:off x="3426781" y="346229"/>
            <a:ext cx="5184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Exercise books </a:t>
            </a:r>
            <a:endParaRPr lang="en-A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524B9E-A967-4001-AC81-3B7D1D171077}"/>
              </a:ext>
            </a:extLst>
          </p:cNvPr>
          <p:cNvSpPr txBox="1"/>
          <p:nvPr/>
        </p:nvSpPr>
        <p:spPr>
          <a:xfrm>
            <a:off x="594804" y="1651247"/>
            <a:ext cx="277086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/>
              <a:t>5 + (-5) =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10 – (-3) =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9 + (-4) =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11 – (-5) =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8 + (-2) =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10 + (-6) = 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endParaRPr lang="en-A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B7E135-64E1-43A3-93DC-1060A7C6BF01}"/>
              </a:ext>
            </a:extLst>
          </p:cNvPr>
          <p:cNvSpPr txBox="1"/>
          <p:nvPr/>
        </p:nvSpPr>
        <p:spPr>
          <a:xfrm>
            <a:off x="4587469" y="1519589"/>
            <a:ext cx="277086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/>
              <a:t>44 + (-11) =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20 + (-17) =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4 + (-5) =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 10 – (-23) =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15 – (-7) =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40 – (-33) = </a:t>
            </a:r>
            <a:endParaRPr lang="en-AU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BA1B52-79E7-42D2-A6E7-76A2641845AD}"/>
              </a:ext>
            </a:extLst>
          </p:cNvPr>
          <p:cNvSpPr txBox="1"/>
          <p:nvPr/>
        </p:nvSpPr>
        <p:spPr>
          <a:xfrm>
            <a:off x="8591524" y="1519589"/>
            <a:ext cx="277086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/>
              <a:t>-8 + (-10) =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AU" sz="2800" b="1" dirty="0"/>
              <a:t>-10 + (-23) = </a:t>
            </a:r>
          </a:p>
          <a:p>
            <a:pPr marL="342900" indent="-342900">
              <a:buAutoNum type="arabicPeriod"/>
            </a:pPr>
            <a:endParaRPr lang="en-AU" sz="2800" b="1" dirty="0"/>
          </a:p>
          <a:p>
            <a:pPr marL="342900" indent="-342900">
              <a:buAutoNum type="arabicPeriod"/>
            </a:pPr>
            <a:r>
              <a:rPr lang="en-AU" sz="2800" b="1" dirty="0"/>
              <a:t>19 + (-25) = </a:t>
            </a:r>
          </a:p>
          <a:p>
            <a:pPr marL="342900" indent="-342900">
              <a:buAutoNum type="arabicPeriod"/>
            </a:pPr>
            <a:endParaRPr lang="en-AU" sz="2800" b="1" dirty="0"/>
          </a:p>
          <a:p>
            <a:pPr marL="342900" indent="-342900">
              <a:buAutoNum type="arabicPeriod"/>
            </a:pPr>
            <a:r>
              <a:rPr lang="en-AU" sz="2800" b="1" dirty="0"/>
              <a:t>-13 – (-13) = </a:t>
            </a:r>
          </a:p>
          <a:p>
            <a:pPr marL="342900" indent="-342900">
              <a:buAutoNum type="arabicPeriod"/>
            </a:pPr>
            <a:endParaRPr lang="en-AU" sz="2800" b="1" dirty="0"/>
          </a:p>
          <a:p>
            <a:pPr marL="342900" indent="-342900">
              <a:buAutoNum type="arabicPeriod"/>
            </a:pPr>
            <a:r>
              <a:rPr lang="en-AU" sz="2800" b="1" dirty="0"/>
              <a:t>-50 – (-100) = </a:t>
            </a:r>
          </a:p>
          <a:p>
            <a:pPr marL="342900" indent="-342900">
              <a:buAutoNum type="arabicPeriod"/>
            </a:pPr>
            <a:endParaRPr lang="en-AU" sz="2800" b="1" dirty="0"/>
          </a:p>
          <a:p>
            <a:pPr marL="342900" indent="-342900">
              <a:buAutoNum type="arabicPeriod"/>
            </a:pPr>
            <a:r>
              <a:rPr lang="en-AU" sz="2800" b="1" dirty="0"/>
              <a:t>-35 – (-72) = </a:t>
            </a:r>
          </a:p>
        </p:txBody>
      </p:sp>
    </p:spTree>
    <p:extLst>
      <p:ext uri="{BB962C8B-B14F-4D97-AF65-F5344CB8AC3E}">
        <p14:creationId xmlns:p14="http://schemas.microsoft.com/office/powerpoint/2010/main" val="2660199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51BAD-97E8-4BDE-895C-A4025DC2A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Perimeter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C136F-4E31-47AA-8E08-0BD9C860A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000" b="1" dirty="0">
                <a:solidFill>
                  <a:srgbClr val="FF0000"/>
                </a:solidFill>
              </a:rPr>
              <a:t>Perimeter is the distance formed by the boundary of the shape.</a:t>
            </a:r>
          </a:p>
          <a:p>
            <a:pPr marL="0" indent="0" algn="ctr">
              <a:buNone/>
            </a:pPr>
            <a:endParaRPr lang="en-AU" sz="2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tx1"/>
                </a:solidFill>
              </a:rPr>
              <a:t>To calculate perimeter, we need to PLUS all the sides. </a:t>
            </a: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9BBABAE2-A4C6-4BA7-A2AC-0F53CC3E30B7}"/>
              </a:ext>
            </a:extLst>
          </p:cNvPr>
          <p:cNvSpPr/>
          <p:nvPr/>
        </p:nvSpPr>
        <p:spPr>
          <a:xfrm>
            <a:off x="5057775" y="3805015"/>
            <a:ext cx="2809875" cy="2428875"/>
          </a:xfrm>
          <a:prstGeom prst="pentagon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494AE1-5513-44D7-A3AB-562271D9BD48}"/>
              </a:ext>
            </a:extLst>
          </p:cNvPr>
          <p:cNvSpPr txBox="1"/>
          <p:nvPr/>
        </p:nvSpPr>
        <p:spPr>
          <a:xfrm>
            <a:off x="7643018" y="5380059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10cm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4A2D1E-B8B1-4485-98A0-B72FE011ED69}"/>
              </a:ext>
            </a:extLst>
          </p:cNvPr>
          <p:cNvSpPr txBox="1"/>
          <p:nvPr/>
        </p:nvSpPr>
        <p:spPr>
          <a:xfrm>
            <a:off x="6014243" y="6233890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11cm</a:t>
            </a:r>
            <a:endParaRPr lang="en-AU" sz="2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EB9F3FE-3FE9-44D6-BC61-BC026ABB1721}"/>
                  </a:ext>
                </a:extLst>
              </p14:cNvPr>
              <p14:cNvContentPartPr/>
              <p14:nvPr/>
            </p14:nvContentPartPr>
            <p14:xfrm>
              <a:off x="7562700" y="5247930"/>
              <a:ext cx="229680" cy="104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EB9F3FE-3FE9-44D6-BC61-BC026ABB17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26700" y="5211930"/>
                <a:ext cx="30132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D8050B6-C2E5-4023-8E33-87CD8BBC1025}"/>
                  </a:ext>
                </a:extLst>
              </p14:cNvPr>
              <p14:cNvContentPartPr/>
              <p14:nvPr/>
            </p14:nvContentPartPr>
            <p14:xfrm>
              <a:off x="5157900" y="5361330"/>
              <a:ext cx="214560" cy="71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D8050B6-C2E5-4023-8E33-87CD8BBC10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21900" y="5325330"/>
                <a:ext cx="286200" cy="14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61009803-3F9C-4B84-B2A6-8F1B21B14144}"/>
              </a:ext>
            </a:extLst>
          </p:cNvPr>
          <p:cNvGrpSpPr/>
          <p:nvPr/>
        </p:nvGrpSpPr>
        <p:grpSpPr>
          <a:xfrm>
            <a:off x="6381180" y="6105090"/>
            <a:ext cx="105120" cy="199440"/>
            <a:chOff x="6381180" y="6105090"/>
            <a:chExt cx="105120" cy="19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A0B0652-6B51-486B-9ADC-138CE0562F8E}"/>
                    </a:ext>
                  </a:extLst>
                </p14:cNvPr>
                <p14:cNvContentPartPr/>
                <p14:nvPr/>
              </p14:nvContentPartPr>
              <p14:xfrm>
                <a:off x="6381180" y="6105090"/>
                <a:ext cx="360" cy="190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A0B0652-6B51-486B-9ADC-138CE0562F8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345540" y="6069090"/>
                  <a:ext cx="720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9BD9E6D-2540-4BA8-85CE-0DF54D8D93F5}"/>
                    </a:ext>
                  </a:extLst>
                </p14:cNvPr>
                <p14:cNvContentPartPr/>
                <p14:nvPr/>
              </p14:nvContentPartPr>
              <p14:xfrm>
                <a:off x="6485940" y="6124530"/>
                <a:ext cx="360" cy="180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9BD9E6D-2540-4BA8-85CE-0DF54D8D93F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50300" y="6088530"/>
                  <a:ext cx="72000" cy="25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AA0B8C6-30FB-424E-90DF-6B05ABB4489A}"/>
              </a:ext>
            </a:extLst>
          </p:cNvPr>
          <p:cNvGrpSpPr/>
          <p:nvPr/>
        </p:nvGrpSpPr>
        <p:grpSpPr>
          <a:xfrm>
            <a:off x="5590620" y="4190610"/>
            <a:ext cx="225720" cy="185760"/>
            <a:chOff x="5590620" y="4190610"/>
            <a:chExt cx="225720" cy="18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6E185A1-022A-41F1-A457-3F32B8A9E860}"/>
                    </a:ext>
                  </a:extLst>
                </p14:cNvPr>
                <p14:cNvContentPartPr/>
                <p14:nvPr/>
              </p14:nvContentPartPr>
              <p14:xfrm>
                <a:off x="5695380" y="4190610"/>
                <a:ext cx="120960" cy="155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6E185A1-022A-41F1-A457-3F32B8A9E86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659740" y="4154610"/>
                  <a:ext cx="1926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D2E4BAD-78CA-4DBE-95BD-53F5060FD366}"/>
                    </a:ext>
                  </a:extLst>
                </p14:cNvPr>
                <p14:cNvContentPartPr/>
                <p14:nvPr/>
              </p14:nvContentPartPr>
              <p14:xfrm>
                <a:off x="5590620" y="4238490"/>
                <a:ext cx="128880" cy="137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D2E4BAD-78CA-4DBE-95BD-53F5060FD36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54620" y="4202490"/>
                  <a:ext cx="200520" cy="20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9955568-2605-43DC-AAC9-634D6A1A65DB}"/>
                  </a:ext>
                </a:extLst>
              </p14:cNvPr>
              <p14:cNvContentPartPr/>
              <p14:nvPr/>
            </p14:nvContentPartPr>
            <p14:xfrm>
              <a:off x="7059420" y="4143090"/>
              <a:ext cx="112680" cy="1796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9955568-2605-43DC-AAC9-634D6A1A65D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023780" y="4107090"/>
                <a:ext cx="18432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1EB3C50-DB2B-4A65-BF51-393118B785DB}"/>
                  </a:ext>
                </a:extLst>
              </p14:cNvPr>
              <p14:cNvContentPartPr/>
              <p14:nvPr/>
            </p14:nvContentPartPr>
            <p14:xfrm>
              <a:off x="7149780" y="4181250"/>
              <a:ext cx="98640" cy="2286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1EB3C50-DB2B-4A65-BF51-393118B785D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113780" y="4145610"/>
                <a:ext cx="170280" cy="30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7601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C970-75F9-40BC-973B-DDFE2BAE1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Complete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01BAB-19FE-4579-BCB5-D4FDD1724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“What is hurling”</a:t>
            </a:r>
          </a:p>
          <a:p>
            <a:endParaRPr lang="en-US" sz="4400" b="1" dirty="0"/>
          </a:p>
          <a:p>
            <a:r>
              <a:rPr lang="en-US" dirty="0"/>
              <a:t>SUM fun 73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705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FF5A0-8710-4A97-A15B-8ADEBE655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Area of triangles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127D3-A740-4D17-92DE-2CF96B22F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5810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800" b="1" dirty="0">
                <a:solidFill>
                  <a:srgbClr val="FF0000"/>
                </a:solidFill>
              </a:rPr>
              <a:t>Area is the total space within the perimeter.</a:t>
            </a:r>
            <a:endParaRPr lang="en-AU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D9CA3-B220-4366-83D8-C5D4817195C1}"/>
              </a:ext>
            </a:extLst>
          </p:cNvPr>
          <p:cNvSpPr txBox="1"/>
          <p:nvPr/>
        </p:nvSpPr>
        <p:spPr>
          <a:xfrm>
            <a:off x="6557168" y="3288090"/>
            <a:ext cx="23241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Always remember</a:t>
            </a:r>
          </a:p>
          <a:p>
            <a:r>
              <a:rPr lang="en-US" dirty="0"/>
              <a:t> </a:t>
            </a:r>
          </a:p>
          <a:p>
            <a:r>
              <a:rPr lang="en-US" dirty="0">
                <a:highlight>
                  <a:srgbClr val="FFFF00"/>
                </a:highlight>
              </a:rPr>
              <a:t>Diagram </a:t>
            </a:r>
          </a:p>
          <a:p>
            <a:r>
              <a:rPr lang="en-US" dirty="0">
                <a:highlight>
                  <a:srgbClr val="FFFF00"/>
                </a:highlight>
              </a:rPr>
              <a:t>Rule </a:t>
            </a:r>
          </a:p>
          <a:p>
            <a:r>
              <a:rPr lang="en-US" dirty="0">
                <a:highlight>
                  <a:srgbClr val="FFFF00"/>
                </a:highlight>
              </a:rPr>
              <a:t>Numbers </a:t>
            </a:r>
          </a:p>
          <a:p>
            <a:r>
              <a:rPr lang="en-US" dirty="0">
                <a:highlight>
                  <a:srgbClr val="FFFF00"/>
                </a:highlight>
              </a:rPr>
              <a:t>Solve </a:t>
            </a:r>
          </a:p>
          <a:p>
            <a:endParaRPr lang="en-AU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004DC2F9-5FE9-494D-BA46-D6341C8B1A54}"/>
              </a:ext>
            </a:extLst>
          </p:cNvPr>
          <p:cNvSpPr/>
          <p:nvPr/>
        </p:nvSpPr>
        <p:spPr>
          <a:xfrm>
            <a:off x="2828925" y="3600450"/>
            <a:ext cx="3038475" cy="2514600"/>
          </a:xfrm>
          <a:prstGeom prst="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7E572F-84D5-4B14-8C22-44F7B6F24ABE}"/>
              </a:ext>
            </a:extLst>
          </p:cNvPr>
          <p:cNvCxnSpPr>
            <a:stCxn id="5" idx="3"/>
          </p:cNvCxnSpPr>
          <p:nvPr/>
        </p:nvCxnSpPr>
        <p:spPr>
          <a:xfrm flipH="1" flipV="1">
            <a:off x="4348162" y="3743325"/>
            <a:ext cx="1" cy="237172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CDFFD2-168B-4ECC-B400-FD0DA4E28616}"/>
              </a:ext>
            </a:extLst>
          </p:cNvPr>
          <p:cNvSpPr txBox="1"/>
          <p:nvPr/>
        </p:nvSpPr>
        <p:spPr>
          <a:xfrm>
            <a:off x="3871118" y="6233890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12cm</a:t>
            </a:r>
            <a:endParaRPr lang="en-AU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3C83E1-E11A-4D59-A86D-5FA478291204}"/>
              </a:ext>
            </a:extLst>
          </p:cNvPr>
          <p:cNvSpPr txBox="1"/>
          <p:nvPr/>
        </p:nvSpPr>
        <p:spPr>
          <a:xfrm>
            <a:off x="3518693" y="4857750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8cm</a:t>
            </a:r>
            <a:endParaRPr lang="en-AU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F2716D-7115-4B94-8282-568BBA671973}"/>
                  </a:ext>
                </a:extLst>
              </p:cNvPr>
              <p:cNvSpPr txBox="1"/>
              <p:nvPr/>
            </p:nvSpPr>
            <p:spPr>
              <a:xfrm>
                <a:off x="8795543" y="3912543"/>
                <a:ext cx="2882107" cy="194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lang="en-AU" sz="2400" b="1" dirty="0"/>
              </a:p>
              <a:p>
                <a:endParaRPr lang="en-AU" sz="2400" b="1" dirty="0"/>
              </a:p>
              <a:p>
                <a:pPr/>
                <a:r>
                  <a:rPr lang="en-US" sz="2400" b="1" dirty="0"/>
                  <a:t>   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𝟏𝟐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</m:oMath>
                </a14:m>
                <a:endParaRPr lang="en-US" sz="2400" b="1" dirty="0">
                  <a:ea typeface="Cambria Math" panose="02040503050406030204" pitchFamily="18" charset="0"/>
                </a:endParaRPr>
              </a:p>
              <a:p>
                <a:endParaRPr lang="en-AU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𝟒𝟐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𝒄𝒎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F2716D-7115-4B94-8282-568BBA671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5543" y="3912543"/>
                <a:ext cx="2882107" cy="19473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10EA72-E2A1-4E56-A17F-CF1732791623}"/>
              </a:ext>
            </a:extLst>
          </p:cNvPr>
          <p:cNvCxnSpPr/>
          <p:nvPr/>
        </p:nvCxnSpPr>
        <p:spPr>
          <a:xfrm flipH="1">
            <a:off x="5353050" y="3912543"/>
            <a:ext cx="1204118" cy="659457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C3C124-2E79-4C67-A116-E3D52FA1BE3F}"/>
              </a:ext>
            </a:extLst>
          </p:cNvPr>
          <p:cNvCxnSpPr/>
          <p:nvPr/>
        </p:nvCxnSpPr>
        <p:spPr>
          <a:xfrm flipV="1">
            <a:off x="7386637" y="4143376"/>
            <a:ext cx="1494631" cy="160376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A00FC8-5F16-4B94-89CD-9C0B470CE92C}"/>
              </a:ext>
            </a:extLst>
          </p:cNvPr>
          <p:cNvCxnSpPr/>
          <p:nvPr/>
        </p:nvCxnSpPr>
        <p:spPr>
          <a:xfrm>
            <a:off x="7719218" y="4572000"/>
            <a:ext cx="1300957" cy="285750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C57C4B-101C-4750-9654-5D6B829E9A93}"/>
              </a:ext>
            </a:extLst>
          </p:cNvPr>
          <p:cNvCxnSpPr/>
          <p:nvPr/>
        </p:nvCxnSpPr>
        <p:spPr>
          <a:xfrm>
            <a:off x="7246936" y="4857750"/>
            <a:ext cx="1954214" cy="692498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79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DF74C-6C60-5EE1-91FE-9AFD5E086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of shapes.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DDDB38-52B7-44C2-0BC0-DEE23BD089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Height and base must always be perpendicular. </a:t>
                </a:r>
              </a:p>
              <a:p>
                <a:pPr marL="0" indent="0" algn="ctr">
                  <a:buNone/>
                </a:pPr>
                <a:endParaRPr lang="en-US" sz="24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Perpendicular means lines meet at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𝟗𝟎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DDDB38-52B7-44C2-0BC0-DEE23BD089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2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2337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7741-E6C0-44F5-A6C5-EF46818F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D09372ED-9E09-4234-9EDB-0F810E404A6B}"/>
              </a:ext>
            </a:extLst>
          </p:cNvPr>
          <p:cNvSpPr/>
          <p:nvPr/>
        </p:nvSpPr>
        <p:spPr>
          <a:xfrm>
            <a:off x="2038350" y="3695701"/>
            <a:ext cx="3038475" cy="2514600"/>
          </a:xfrm>
          <a:prstGeom prst="triangle">
            <a:avLst>
              <a:gd name="adj" fmla="val 12696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70A4132-D234-4D04-90B8-A53D3AA24843}"/>
              </a:ext>
            </a:extLst>
          </p:cNvPr>
          <p:cNvCxnSpPr>
            <a:cxnSpLocks/>
          </p:cNvCxnSpPr>
          <p:nvPr/>
        </p:nvCxnSpPr>
        <p:spPr>
          <a:xfrm flipV="1">
            <a:off x="1776415" y="3619500"/>
            <a:ext cx="0" cy="25908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6982C19-B204-4C47-B32D-7C151F397F75}"/>
              </a:ext>
            </a:extLst>
          </p:cNvPr>
          <p:cNvSpPr txBox="1"/>
          <p:nvPr/>
        </p:nvSpPr>
        <p:spPr>
          <a:xfrm>
            <a:off x="2985293" y="6233891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4km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049F37-1FB2-4FC9-909C-84BE7C26479D}"/>
              </a:ext>
            </a:extLst>
          </p:cNvPr>
          <p:cNvSpPr txBox="1"/>
          <p:nvPr/>
        </p:nvSpPr>
        <p:spPr>
          <a:xfrm>
            <a:off x="861218" y="4519911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3km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A2DB02-3F29-45BD-BE10-2B4A487174E3}"/>
              </a:ext>
            </a:extLst>
          </p:cNvPr>
          <p:cNvSpPr txBox="1"/>
          <p:nvPr/>
        </p:nvSpPr>
        <p:spPr>
          <a:xfrm>
            <a:off x="6185693" y="2488586"/>
            <a:ext cx="23241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Always remember</a:t>
            </a:r>
          </a:p>
          <a:p>
            <a:r>
              <a:rPr lang="en-US" dirty="0"/>
              <a:t>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Diagram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Rule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Numbers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Solve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8F71454-D230-4025-AE8F-435511DA123C}"/>
                  </a:ext>
                </a:extLst>
              </p:cNvPr>
              <p:cNvSpPr txBox="1"/>
              <p:nvPr/>
            </p:nvSpPr>
            <p:spPr>
              <a:xfrm>
                <a:off x="8509793" y="3362325"/>
                <a:ext cx="3291682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lang="en-AU" sz="3200" b="1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8F71454-D230-4025-AE8F-435511DA1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793" y="3362325"/>
                <a:ext cx="3291682" cy="8617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4012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7741-E6C0-44F5-A6C5-EF46818F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982C19-B204-4C47-B32D-7C151F397F75}"/>
              </a:ext>
            </a:extLst>
          </p:cNvPr>
          <p:cNvSpPr txBox="1"/>
          <p:nvPr/>
        </p:nvSpPr>
        <p:spPr>
          <a:xfrm>
            <a:off x="3517503" y="6071965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10m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049F37-1FB2-4FC9-909C-84BE7C26479D}"/>
              </a:ext>
            </a:extLst>
          </p:cNvPr>
          <p:cNvSpPr txBox="1"/>
          <p:nvPr/>
        </p:nvSpPr>
        <p:spPr>
          <a:xfrm>
            <a:off x="1620045" y="4669779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6m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A2DB02-3F29-45BD-BE10-2B4A487174E3}"/>
              </a:ext>
            </a:extLst>
          </p:cNvPr>
          <p:cNvSpPr txBox="1"/>
          <p:nvPr/>
        </p:nvSpPr>
        <p:spPr>
          <a:xfrm>
            <a:off x="6185693" y="2488586"/>
            <a:ext cx="23241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Always remember</a:t>
            </a:r>
          </a:p>
          <a:p>
            <a:r>
              <a:rPr lang="en-US" dirty="0"/>
              <a:t>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Diagram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Rule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Numbers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Solve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8F71454-D230-4025-AE8F-435511DA123C}"/>
                  </a:ext>
                </a:extLst>
              </p:cNvPr>
              <p:cNvSpPr txBox="1"/>
              <p:nvPr/>
            </p:nvSpPr>
            <p:spPr>
              <a:xfrm>
                <a:off x="8391525" y="3429000"/>
                <a:ext cx="1162050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3200" b="1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8F71454-D230-4025-AE8F-435511DA1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525" y="3429000"/>
                <a:ext cx="1162050" cy="8617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Triangle 2">
            <a:extLst>
              <a:ext uri="{FF2B5EF4-FFF2-40B4-BE49-F238E27FC236}">
                <a16:creationId xmlns:a16="http://schemas.microsoft.com/office/drawing/2014/main" id="{43CAA369-C383-45E3-A225-90C1C9A2C98F}"/>
              </a:ext>
            </a:extLst>
          </p:cNvPr>
          <p:cNvSpPr/>
          <p:nvPr/>
        </p:nvSpPr>
        <p:spPr>
          <a:xfrm>
            <a:off x="2390775" y="3733800"/>
            <a:ext cx="3615532" cy="2333625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CB856B-EE75-9CC0-2345-F21D30A43EC1}"/>
              </a:ext>
            </a:extLst>
          </p:cNvPr>
          <p:cNvSpPr txBox="1"/>
          <p:nvPr/>
        </p:nvSpPr>
        <p:spPr>
          <a:xfrm>
            <a:off x="3968319" y="4193218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12m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406572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A41E7-F7B0-8E7C-6434-B4D9B842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CC93A9-2300-B619-DC02-27E81D3AA7ED}"/>
              </a:ext>
            </a:extLst>
          </p:cNvPr>
          <p:cNvSpPr txBox="1"/>
          <p:nvPr/>
        </p:nvSpPr>
        <p:spPr>
          <a:xfrm>
            <a:off x="6185693" y="2488586"/>
            <a:ext cx="23241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Always remember</a:t>
            </a:r>
          </a:p>
          <a:p>
            <a:r>
              <a:rPr lang="en-US" dirty="0"/>
              <a:t>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Diagram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Rule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Numbers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Solve </a:t>
            </a:r>
          </a:p>
          <a:p>
            <a:endParaRPr lang="en-AU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45428BFF-9501-910D-1897-E1CB69ECB789}"/>
              </a:ext>
            </a:extLst>
          </p:cNvPr>
          <p:cNvSpPr/>
          <p:nvPr/>
        </p:nvSpPr>
        <p:spPr>
          <a:xfrm>
            <a:off x="2038350" y="3695701"/>
            <a:ext cx="3038475" cy="2514600"/>
          </a:xfrm>
          <a:prstGeom prst="triangle">
            <a:avLst>
              <a:gd name="adj" fmla="val 12696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C253CF-C4DB-971F-835D-4A7B57192A41}"/>
              </a:ext>
            </a:extLst>
          </p:cNvPr>
          <p:cNvCxnSpPr>
            <a:cxnSpLocks/>
          </p:cNvCxnSpPr>
          <p:nvPr/>
        </p:nvCxnSpPr>
        <p:spPr>
          <a:xfrm flipV="1">
            <a:off x="1776415" y="3619500"/>
            <a:ext cx="0" cy="25908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EC2EEDB-7063-A5A1-B61B-FDF7204605D3}"/>
              </a:ext>
            </a:extLst>
          </p:cNvPr>
          <p:cNvSpPr txBox="1"/>
          <p:nvPr/>
        </p:nvSpPr>
        <p:spPr>
          <a:xfrm>
            <a:off x="2985293" y="6233891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11m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52F714-DEEE-EC26-6F6F-D1A8EBB40106}"/>
              </a:ext>
            </a:extLst>
          </p:cNvPr>
          <p:cNvSpPr txBox="1"/>
          <p:nvPr/>
        </p:nvSpPr>
        <p:spPr>
          <a:xfrm>
            <a:off x="861218" y="4519911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278638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A41E7-F7B0-8E7C-6434-B4D9B842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CC93A9-2300-B619-DC02-27E81D3AA7ED}"/>
              </a:ext>
            </a:extLst>
          </p:cNvPr>
          <p:cNvSpPr txBox="1"/>
          <p:nvPr/>
        </p:nvSpPr>
        <p:spPr>
          <a:xfrm>
            <a:off x="6185693" y="2488586"/>
            <a:ext cx="23241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Always remember</a:t>
            </a:r>
          </a:p>
          <a:p>
            <a:r>
              <a:rPr lang="en-US" dirty="0"/>
              <a:t>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Diagram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Rule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Numbers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Solve </a:t>
            </a:r>
          </a:p>
          <a:p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F24E85-6FCB-3CE2-A63E-D42B1804C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283" y="1901756"/>
            <a:ext cx="4261787" cy="220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320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A41E7-F7B0-8E7C-6434-B4D9B842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CC93A9-2300-B619-DC02-27E81D3AA7ED}"/>
              </a:ext>
            </a:extLst>
          </p:cNvPr>
          <p:cNvSpPr txBox="1"/>
          <p:nvPr/>
        </p:nvSpPr>
        <p:spPr>
          <a:xfrm>
            <a:off x="6185693" y="2488586"/>
            <a:ext cx="23241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Always remember</a:t>
            </a:r>
          </a:p>
          <a:p>
            <a:r>
              <a:rPr lang="en-US" dirty="0"/>
              <a:t>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Diagram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Rule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Numbers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Solve 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0D157-FF9C-FB13-3065-88A29A675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345" y="2488586"/>
            <a:ext cx="4463363" cy="264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081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A41E7-F7B0-8E7C-6434-B4D9B842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CC93A9-2300-B619-DC02-27E81D3AA7ED}"/>
              </a:ext>
            </a:extLst>
          </p:cNvPr>
          <p:cNvSpPr txBox="1"/>
          <p:nvPr/>
        </p:nvSpPr>
        <p:spPr>
          <a:xfrm>
            <a:off x="6185693" y="2488586"/>
            <a:ext cx="23241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Always remember</a:t>
            </a:r>
          </a:p>
          <a:p>
            <a:r>
              <a:rPr lang="en-US" dirty="0"/>
              <a:t>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Diagram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Rule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Numbers </a:t>
            </a:r>
          </a:p>
          <a:p>
            <a:r>
              <a:rPr lang="en-US" sz="2800" b="1" dirty="0">
                <a:highlight>
                  <a:srgbClr val="FFFF00"/>
                </a:highlight>
              </a:rPr>
              <a:t>Solve </a:t>
            </a:r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F55A2A-729B-0065-C848-4D8911C69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164" y="2411832"/>
            <a:ext cx="4137826" cy="272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272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F91F7-DA48-4A7B-8553-E3A381C6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do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4967A-4784-4BA5-8D6C-62BC3DBBD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Complete “How is a rifle like a lazy worker?” </a:t>
            </a:r>
          </a:p>
          <a:p>
            <a:endParaRPr lang="en-US" sz="4000" dirty="0"/>
          </a:p>
          <a:p>
            <a:r>
              <a:rPr lang="en-AU" sz="3600" dirty="0"/>
              <a:t>Sum fun 77</a:t>
            </a:r>
          </a:p>
        </p:txBody>
      </p:sp>
    </p:spTree>
    <p:extLst>
      <p:ext uri="{BB962C8B-B14F-4D97-AF65-F5344CB8AC3E}">
        <p14:creationId xmlns:p14="http://schemas.microsoft.com/office/powerpoint/2010/main" val="2783638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9B15E-FB72-458B-95F3-0DE6A08CE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Reflection – fist to 5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4DDA0-117D-4A7E-9FB6-69DF9A7F9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369" y="2009775"/>
            <a:ext cx="10609262" cy="3777622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tx1"/>
                </a:solidFill>
              </a:rPr>
              <a:t>Determine the perimeter of common shapes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tx1"/>
                </a:solidFill>
              </a:rPr>
              <a:t>Be able to substitute into formula when solving area of triangles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66226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ach Well">
      <a:dk1>
        <a:srgbClr val="0C0C0C"/>
      </a:dk1>
      <a:lt1>
        <a:sysClr val="window" lastClr="FFFFFF"/>
      </a:lt1>
      <a:dk2>
        <a:srgbClr val="262626"/>
      </a:dk2>
      <a:lt2>
        <a:srgbClr val="E7E6E6"/>
      </a:lt2>
      <a:accent1>
        <a:srgbClr val="034785"/>
      </a:accent1>
      <a:accent2>
        <a:srgbClr val="0088A5"/>
      </a:accent2>
      <a:accent3>
        <a:srgbClr val="FFD530"/>
      </a:accent3>
      <a:accent4>
        <a:srgbClr val="F36424"/>
      </a:accent4>
      <a:accent5>
        <a:srgbClr val="852F9B"/>
      </a:accent5>
      <a:accent6>
        <a:srgbClr val="E1208C"/>
      </a:accent6>
      <a:hlink>
        <a:srgbClr val="0088A5"/>
      </a:hlink>
      <a:folHlink>
        <a:srgbClr val="0088A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Teach Well</Template>
  <TotalTime>1450</TotalTime>
  <Words>483</Words>
  <Application>Microsoft Office PowerPoint</Application>
  <PresentationFormat>Widescreen</PresentationFormat>
  <Paragraphs>154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Arial Rounded MT Bold</vt:lpstr>
      <vt:lpstr>Calibri</vt:lpstr>
      <vt:lpstr>Cambria Math</vt:lpstr>
      <vt:lpstr>Century Gothic</vt:lpstr>
      <vt:lpstr>Verdana</vt:lpstr>
      <vt:lpstr>Wingdings</vt:lpstr>
      <vt:lpstr>Wingdings 3</vt:lpstr>
      <vt:lpstr>Office Theme</vt:lpstr>
      <vt:lpstr>Wisp</vt:lpstr>
      <vt:lpstr>Lesson objective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Perimeter </vt:lpstr>
      <vt:lpstr>Complete </vt:lpstr>
      <vt:lpstr>Area of triangles </vt:lpstr>
      <vt:lpstr>Area of shapes.</vt:lpstr>
      <vt:lpstr>We do </vt:lpstr>
      <vt:lpstr>We do </vt:lpstr>
      <vt:lpstr>Whiteboards </vt:lpstr>
      <vt:lpstr>Whiteboards </vt:lpstr>
      <vt:lpstr>Whiteboards </vt:lpstr>
      <vt:lpstr>Whiteboards </vt:lpstr>
      <vt:lpstr>You do</vt:lpstr>
      <vt:lpstr>Reflection – fist to 5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Jordan O'Sullivan</dc:creator>
  <cp:lastModifiedBy>DAVIES Rhys [Busselton Senior High School]</cp:lastModifiedBy>
  <cp:revision>34</cp:revision>
  <dcterms:created xsi:type="dcterms:W3CDTF">2020-10-07T06:32:09Z</dcterms:created>
  <dcterms:modified xsi:type="dcterms:W3CDTF">2023-04-04T04:20:14Z</dcterms:modified>
</cp:coreProperties>
</file>
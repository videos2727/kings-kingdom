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72" r:id="rId5"/>
    <p:sldId id="276" r:id="rId6"/>
    <p:sldId id="399" r:id="rId7"/>
    <p:sldId id="401" r:id="rId8"/>
    <p:sldId id="306" r:id="rId9"/>
    <p:sldId id="398" r:id="rId10"/>
    <p:sldId id="385" r:id="rId11"/>
    <p:sldId id="379" r:id="rId12"/>
    <p:sldId id="380" r:id="rId13"/>
    <p:sldId id="400" r:id="rId14"/>
    <p:sldId id="402" r:id="rId15"/>
    <p:sldId id="40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5D309-530C-4DCF-B5F4-1A3C474D8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3149D-42AB-420F-A2A5-F97F419B5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20645-31B6-494D-836E-A67984212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22064-425C-4C5E-A0D0-F852242BB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8F644-8B61-426A-9F4E-4C76677C7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772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4A79-39A0-402D-BFCB-9BF0932CB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24ACE-4267-4F21-9893-2D0BC41D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FB131-00EF-417F-9E27-8A69100B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F2C2F-A789-4971-9AF2-6A1EA2A9A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C7222-AA3C-44CF-9066-F85498F6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602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C7F5-6574-47DE-83A4-A82C7E82A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FB8D8-BC75-4DC6-9787-74D728671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87E9E-AE0B-4FF6-9B19-2C202FB3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148B6-AEB7-4C25-981B-B882354F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9789A-B847-4437-B886-CA8948BD7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935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9D10-D1ED-4490-B7F7-F546D724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090B5-69F7-488A-A92E-FF417E335F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BA998-86CD-43BF-98BA-20E88712C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64EEC-2AC3-42DC-A99B-0FD1C4B3E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C0F86-2A09-482D-863E-86323352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E4576-7B36-4175-ACCE-D5E8173B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03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4AB59-050A-43DB-8E3A-F8F52823B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17B0E-5F5E-4492-9AB2-8A4C5E1D3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58C9F-80DC-4D36-A051-80C6D3D4A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ADC8B-4214-4C1A-8AB7-336E6C213C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E5FE6-0A2E-4700-8147-E699B74F3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7EA023-18E0-45A4-AE83-F165E2B07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94972-34D5-41E6-9028-1ADA9821C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700DAF-ED8B-4D1C-BD08-2BDE2D31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669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72D9C-8E98-4C2C-ACAF-992E247DC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A5D10-A6A3-4B37-8AB5-53A7ECB6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C95E46-5DFC-4674-9FB4-62850952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C49EC-A4A0-40CB-BD2B-C006306EE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21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7F922D-F862-4606-ABBD-FFE19D79E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E99E0C-B541-4A06-9DCF-17675612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BF9D7-BDDB-4E67-A7FE-C9D5796E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528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B2B9-683C-4576-8F13-28658CC0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92A36-1F04-481A-BA1C-84DB84FB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148C7-287F-4174-AB2A-3CC5F9CA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4B272-4835-4322-B3B8-8348B061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E6B03-C715-42A4-BB72-5E5B19306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84639-614D-41F8-8FD5-EB8032F9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53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0E49-0B20-4A7F-BBB3-907966291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C0981C-5EEA-41ED-8748-C73988C99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1B959-A31E-4BBF-B26E-2258AA27A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5F35B-4A0F-4229-9B81-0343A94A7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C16AD-9B90-4DDB-9663-AD507954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92149-E3DA-45FC-97AA-705944F34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59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80AB3-D1A1-4232-B3D4-B1002C5A9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1350C-5EB3-4CA1-8079-70F2B1D9A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7FBCE-2B8D-4CEF-9057-E06BB5A3F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3B375-D455-44A9-999F-10760BCA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85E6D-C488-417A-8F69-EC667A35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596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6A4635-BB29-4A4C-858F-77E3D7BEB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DA74B-1539-4043-A6E7-2FFA409E4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BD42-CA27-4751-B241-E12748843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90BDF-0E3B-4111-A13E-B97DFDB47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F7E93-0BB4-47B4-B65D-EF36AE18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5275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950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35" y="0"/>
            <a:ext cx="12180165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35" y="692696"/>
            <a:ext cx="12180165" cy="518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8280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555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926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694916"/>
            <a:ext cx="60960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1" y="703051"/>
            <a:ext cx="610290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6448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9013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59588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81847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18807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74975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96143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81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C40A8-8663-468C-9F88-6C912B41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8CF8E-76C6-43F7-A22F-B22238BDF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8ACE8-F077-447E-B743-161C947681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2027F-9346-4E80-B535-8198167463C7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D90A-F0CF-4D8B-BFB1-84B019A392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5AF95-152B-4CCE-A2FF-6C918AF55D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4C71B-9474-43DE-8340-65A8614FAB5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69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9EB6-6984-45C4-A442-4F73209A5B15}" type="datetimeFigureOut">
              <a:rPr lang="en-AU" smtClean="0"/>
              <a:t>7/02/2023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BA3F1-C022-4456-BB06-C09A3C05964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572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D0A9C-8644-4CED-83A6-8A4962229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692D7-33BF-436F-99DA-6C2DC6613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Rounding and place value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Identify place value either side of the decimal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Be able to round numbers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Integer revision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 place value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Rounding rules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A6420-F961-4125-1CB3-10F3F3C6BF55}"/>
              </a:ext>
            </a:extLst>
          </p:cNvPr>
          <p:cNvSpPr txBox="1"/>
          <p:nvPr/>
        </p:nvSpPr>
        <p:spPr>
          <a:xfrm>
            <a:off x="8602462" y="1518082"/>
            <a:ext cx="2831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whiteboards!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8735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01A6-145A-485E-8559-46DAE90B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02DB9-3A61-4DD8-8B07-5686FF757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(HINT: if we look at last lessons notes, daily review is usually easy) </a:t>
            </a:r>
          </a:p>
          <a:p>
            <a:pPr marL="0" indent="0">
              <a:buNone/>
            </a:pPr>
            <a:r>
              <a:rPr lang="en-US" b="1" u="sng" dirty="0">
                <a:highlight>
                  <a:srgbClr val="FFFF00"/>
                </a:highlight>
              </a:rPr>
              <a:t>Write the statements, questions and answers into your exercise book. </a:t>
            </a:r>
          </a:p>
          <a:p>
            <a:pPr marL="0" indent="0">
              <a:buNone/>
            </a:pPr>
            <a:r>
              <a:rPr lang="en-US" dirty="0"/>
              <a:t>Adding a negative is the same as S__________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Subtracting a negative is the same as A______ 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4 – (-5) = </a:t>
            </a:r>
          </a:p>
          <a:p>
            <a:pPr marL="514350" indent="-514350">
              <a:buAutoNum type="alphaLcParenR"/>
            </a:pPr>
            <a:r>
              <a:rPr lang="en-US" dirty="0"/>
              <a:t>7 + (-3) = </a:t>
            </a:r>
          </a:p>
          <a:p>
            <a:pPr marL="514350" indent="-514350">
              <a:buAutoNum type="alphaLcParenR"/>
            </a:pPr>
            <a:r>
              <a:rPr lang="en-US" dirty="0"/>
              <a:t>(-4) + (-5) =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76578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91482-BCFD-4EAE-A5F5-F56F698F9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AU" sz="4000">
                <a:solidFill>
                  <a:srgbClr val="FFFFFF"/>
                </a:solidFill>
              </a:rPr>
              <a:t>Whiteboards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B0BA8-FDEA-4F08-9797-08D7583E2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514350" indent="-514350">
              <a:buAutoNum type="alphaLcParenR"/>
            </a:pPr>
            <a:r>
              <a:rPr lang="en-AU" sz="4800" dirty="0"/>
              <a:t>5 - -5 = </a:t>
            </a:r>
          </a:p>
          <a:p>
            <a:pPr marL="514350" indent="-514350">
              <a:buAutoNum type="alphaLcParenR"/>
            </a:pPr>
            <a:r>
              <a:rPr lang="en-AU" sz="4800" dirty="0"/>
              <a:t>12 - -3 =  </a:t>
            </a:r>
          </a:p>
          <a:p>
            <a:pPr marL="514350" indent="-514350">
              <a:buAutoNum type="alphaLcParenR"/>
            </a:pPr>
            <a:r>
              <a:rPr lang="en-AU" sz="4800" dirty="0"/>
              <a:t>18 + -5 = </a:t>
            </a:r>
          </a:p>
          <a:p>
            <a:pPr marL="514350" indent="-514350">
              <a:buAutoNum type="alphaLcParenR"/>
            </a:pPr>
            <a:r>
              <a:rPr lang="en-AU" sz="4800" dirty="0"/>
              <a:t>22 + - 10 =  </a:t>
            </a:r>
          </a:p>
          <a:p>
            <a:pPr marL="514350" indent="-514350">
              <a:buAutoNum type="alphaLcParenR"/>
            </a:pPr>
            <a:r>
              <a:rPr lang="en-AU" sz="4800" dirty="0"/>
              <a:t>-12 – 8 = </a:t>
            </a:r>
          </a:p>
          <a:p>
            <a:pPr marL="514350" indent="-514350">
              <a:buAutoNum type="alphaLcParenR"/>
            </a:pPr>
            <a:r>
              <a:rPr lang="en-AU" sz="4800" dirty="0"/>
              <a:t>-13 - - 20 =  </a:t>
            </a:r>
          </a:p>
        </p:txBody>
      </p:sp>
    </p:spTree>
    <p:extLst>
      <p:ext uri="{BB962C8B-B14F-4D97-AF65-F5344CB8AC3E}">
        <p14:creationId xmlns:p14="http://schemas.microsoft.com/office/powerpoint/2010/main" val="234455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60115E-860D-4776-BDC5-547199889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Puzzle practice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B1F03-ED8C-4DBD-B725-CB26A9E4FD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Start on + SUM UP+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1889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62B4-894D-44E7-8BF1-DAC8A83A4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85750" y="0"/>
            <a:ext cx="2190750" cy="1325563"/>
          </a:xfrm>
        </p:spPr>
        <p:txBody>
          <a:bodyPr/>
          <a:lstStyle/>
          <a:p>
            <a:pPr algn="ctr"/>
            <a:r>
              <a:rPr lang="en-US" dirty="0"/>
              <a:t>Place value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DF6D5B-D4D5-4CB4-B7C5-66FF30298B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129" y="173831"/>
            <a:ext cx="10711871" cy="6510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320C49-2ACA-42F7-B1FE-6A1D909CA0E4}"/>
              </a:ext>
            </a:extLst>
          </p:cNvPr>
          <p:cNvSpPr txBox="1"/>
          <p:nvPr/>
        </p:nvSpPr>
        <p:spPr>
          <a:xfrm>
            <a:off x="71021" y="1704513"/>
            <a:ext cx="140910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Put this sheet into your whiteboard</a:t>
            </a:r>
          </a:p>
          <a:p>
            <a:endParaRPr lang="en-US" dirty="0"/>
          </a:p>
          <a:p>
            <a:r>
              <a:rPr lang="en-US" dirty="0"/>
              <a:t>We will be using </a:t>
            </a:r>
            <a:r>
              <a:rPr lang="en-US"/>
              <a:t>this today.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354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52D8-48D8-46DA-9C4B-2A6CE4C2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these numbers into your sheet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DA4BC-D2C3-49B1-B66D-BDF8C460A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134.5 </a:t>
            </a:r>
          </a:p>
          <a:p>
            <a:pPr marL="514350" indent="-514350">
              <a:buAutoNum type="alphaLcParenR"/>
            </a:pPr>
            <a:r>
              <a:rPr lang="en-US" dirty="0"/>
              <a:t>12 456.43 </a:t>
            </a:r>
          </a:p>
          <a:p>
            <a:pPr marL="514350" indent="-514350">
              <a:buAutoNum type="alphaLcParenR"/>
            </a:pPr>
            <a:r>
              <a:rPr lang="en-US" dirty="0"/>
              <a:t>103 322.009 </a:t>
            </a:r>
          </a:p>
          <a:p>
            <a:pPr marL="514350" indent="-514350">
              <a:buAutoNum type="alphaLcParenR"/>
            </a:pPr>
            <a:r>
              <a:rPr lang="en-US" dirty="0"/>
              <a:t>12 978 201.034 </a:t>
            </a:r>
          </a:p>
          <a:p>
            <a:pPr marL="514350" indent="-514350">
              <a:buAutoNum type="alphaLcParenR"/>
            </a:pPr>
            <a:r>
              <a:rPr lang="en-US" dirty="0"/>
              <a:t>900 000.0009</a:t>
            </a:r>
          </a:p>
        </p:txBody>
      </p:sp>
    </p:spTree>
    <p:extLst>
      <p:ext uri="{BB962C8B-B14F-4D97-AF65-F5344CB8AC3E}">
        <p14:creationId xmlns:p14="http://schemas.microsoft.com/office/powerpoint/2010/main" val="4075128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885" y="0"/>
            <a:ext cx="9161115" cy="764704"/>
          </a:xfrm>
        </p:spPr>
        <p:txBody>
          <a:bodyPr>
            <a:normAutofit/>
          </a:bodyPr>
          <a:lstStyle/>
          <a:p>
            <a:r>
              <a:rPr lang="en-AU" dirty="0"/>
              <a:t>Rounding Whole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5538" y="692697"/>
            <a:ext cx="9142462" cy="1889100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Chop it, check it, change it</a:t>
            </a:r>
          </a:p>
          <a:p>
            <a:pPr lvl="2"/>
            <a:r>
              <a:rPr lang="en-AU" b="1" dirty="0"/>
              <a:t>Chop</a:t>
            </a:r>
            <a:r>
              <a:rPr lang="en-AU" dirty="0"/>
              <a:t> the number after the place value you want</a:t>
            </a:r>
          </a:p>
          <a:p>
            <a:pPr lvl="2"/>
            <a:r>
              <a:rPr lang="en-AU" b="1" dirty="0"/>
              <a:t>Check</a:t>
            </a:r>
            <a:r>
              <a:rPr lang="en-AU" dirty="0"/>
              <a:t> the next digit </a:t>
            </a:r>
          </a:p>
          <a:p>
            <a:pPr lvl="2"/>
            <a:r>
              <a:rPr lang="en-AU" b="1" dirty="0"/>
              <a:t>Change</a:t>
            </a:r>
            <a:r>
              <a:rPr lang="en-AU" dirty="0"/>
              <a:t> if it’s 5 or more and make the rest zero</a:t>
            </a: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1870074" y="2492897"/>
            <a:ext cx="3649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u="sng" dirty="0">
                <a:solidFill>
                  <a:prstClr val="black"/>
                </a:solidFill>
                <a:latin typeface="Comic Sans MS" pitchFamily="66" charset="0"/>
              </a:rPr>
              <a:t>Rounding to </a:t>
            </a:r>
            <a:r>
              <a:rPr lang="en-GB" altLang="en-US" sz="2400" u="sng" dirty="0">
                <a:solidFill>
                  <a:srgbClr val="FF0000"/>
                </a:solidFill>
                <a:latin typeface="Comic Sans MS" pitchFamily="66" charset="0"/>
              </a:rPr>
              <a:t>nearest 1</a:t>
            </a:r>
          </a:p>
        </p:txBody>
      </p:sp>
      <p:sp>
        <p:nvSpPr>
          <p:cNvPr id="63" name="Text Box 4"/>
          <p:cNvSpPr txBox="1">
            <a:spLocks noChangeArrowheads="1"/>
          </p:cNvSpPr>
          <p:nvPr/>
        </p:nvSpPr>
        <p:spPr bwMode="auto">
          <a:xfrm>
            <a:off x="1622426" y="3244307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4 8 3 2 . 4 </a:t>
            </a:r>
          </a:p>
        </p:txBody>
      </p:sp>
      <p:sp>
        <p:nvSpPr>
          <p:cNvPr id="64" name="Line 5"/>
          <p:cNvSpPr>
            <a:spLocks noChangeShapeType="1"/>
          </p:cNvSpPr>
          <p:nvPr/>
        </p:nvSpPr>
        <p:spPr bwMode="auto">
          <a:xfrm>
            <a:off x="2946400" y="3112021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5" name="Group 6"/>
          <p:cNvGrpSpPr>
            <a:grpSpLocks/>
          </p:cNvGrpSpPr>
          <p:nvPr/>
        </p:nvGrpSpPr>
        <p:grpSpPr bwMode="auto">
          <a:xfrm>
            <a:off x="2114953" y="3746228"/>
            <a:ext cx="2209800" cy="1052513"/>
            <a:chOff x="480" y="2089"/>
            <a:chExt cx="1392" cy="663"/>
          </a:xfrm>
        </p:grpSpPr>
        <p:sp>
          <p:nvSpPr>
            <p:cNvPr id="85" name="Text Box 7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86" name="Line 8"/>
            <p:cNvSpPr>
              <a:spLocks noChangeShapeType="1"/>
            </p:cNvSpPr>
            <p:nvPr/>
          </p:nvSpPr>
          <p:spPr bwMode="auto">
            <a:xfrm flipV="1">
              <a:off x="1233" y="2089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6" name="Group 9"/>
          <p:cNvGrpSpPr>
            <a:grpSpLocks/>
          </p:cNvGrpSpPr>
          <p:nvPr/>
        </p:nvGrpSpPr>
        <p:grpSpPr bwMode="auto">
          <a:xfrm>
            <a:off x="2917826" y="4945213"/>
            <a:ext cx="1333500" cy="1057276"/>
            <a:chOff x="780" y="2832"/>
            <a:chExt cx="840" cy="666"/>
          </a:xfrm>
        </p:grpSpPr>
        <p:sp>
          <p:nvSpPr>
            <p:cNvPr id="83" name="Line 10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780" y="3168"/>
              <a:ext cx="84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 dirty="0">
                  <a:solidFill>
                    <a:srgbClr val="3366FF"/>
                  </a:solidFill>
                  <a:latin typeface="Comic Sans MS" pitchFamily="66" charset="0"/>
                </a:rPr>
                <a:t>4832</a:t>
              </a:r>
            </a:p>
          </p:txBody>
        </p:sp>
      </p:grpSp>
      <p:sp>
        <p:nvSpPr>
          <p:cNvPr id="67" name="Text Box 12"/>
          <p:cNvSpPr txBox="1">
            <a:spLocks noChangeArrowheads="1"/>
          </p:cNvSpPr>
          <p:nvPr/>
        </p:nvSpPr>
        <p:spPr bwMode="auto">
          <a:xfrm>
            <a:off x="4286374" y="3278012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7 2 4 2 . 5</a:t>
            </a:r>
          </a:p>
        </p:txBody>
      </p:sp>
      <p:grpSp>
        <p:nvGrpSpPr>
          <p:cNvPr id="68" name="Group 13"/>
          <p:cNvGrpSpPr>
            <a:grpSpLocks/>
          </p:cNvGrpSpPr>
          <p:nvPr/>
        </p:nvGrpSpPr>
        <p:grpSpPr bwMode="auto">
          <a:xfrm>
            <a:off x="4833938" y="3812108"/>
            <a:ext cx="2209800" cy="1079500"/>
            <a:chOff x="480" y="2072"/>
            <a:chExt cx="1392" cy="680"/>
          </a:xfrm>
        </p:grpSpPr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82" name="Line 15"/>
            <p:cNvSpPr>
              <a:spLocks noChangeShapeType="1"/>
            </p:cNvSpPr>
            <p:nvPr/>
          </p:nvSpPr>
          <p:spPr bwMode="auto">
            <a:xfrm flipV="1">
              <a:off x="1176" y="207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9" name="Line 16"/>
          <p:cNvSpPr>
            <a:spLocks noChangeShapeType="1"/>
          </p:cNvSpPr>
          <p:nvPr/>
        </p:nvSpPr>
        <p:spPr bwMode="auto">
          <a:xfrm>
            <a:off x="5595938" y="321203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0" name="Group 17"/>
          <p:cNvGrpSpPr>
            <a:grpSpLocks/>
          </p:cNvGrpSpPr>
          <p:nvPr/>
        </p:nvGrpSpPr>
        <p:grpSpPr bwMode="auto">
          <a:xfrm>
            <a:off x="5443538" y="4966220"/>
            <a:ext cx="1638300" cy="1050925"/>
            <a:chOff x="816" y="2833"/>
            <a:chExt cx="1032" cy="662"/>
          </a:xfrm>
        </p:grpSpPr>
        <p:sp>
          <p:nvSpPr>
            <p:cNvPr id="79" name="Line 18"/>
            <p:cNvSpPr>
              <a:spLocks noChangeShapeType="1"/>
            </p:cNvSpPr>
            <p:nvPr/>
          </p:nvSpPr>
          <p:spPr bwMode="auto">
            <a:xfrm>
              <a:off x="1128" y="2833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Text Box 19"/>
            <p:cNvSpPr txBox="1">
              <a:spLocks noChangeArrowheads="1"/>
            </p:cNvSpPr>
            <p:nvPr/>
          </p:nvSpPr>
          <p:spPr bwMode="auto">
            <a:xfrm>
              <a:off x="816" y="3168"/>
              <a:ext cx="10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 dirty="0">
                  <a:solidFill>
                    <a:srgbClr val="3366FF"/>
                  </a:solidFill>
                  <a:latin typeface="Comic Sans MS" pitchFamily="66" charset="0"/>
                </a:rPr>
                <a:t>7243</a:t>
              </a:r>
            </a:p>
          </p:txBody>
        </p:sp>
      </p:grp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7043738" y="3274288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3 4 7 9 . 6</a:t>
            </a:r>
          </a:p>
        </p:txBody>
      </p:sp>
      <p:grpSp>
        <p:nvGrpSpPr>
          <p:cNvPr id="72" name="Group 21"/>
          <p:cNvGrpSpPr>
            <a:grpSpLocks/>
          </p:cNvGrpSpPr>
          <p:nvPr/>
        </p:nvGrpSpPr>
        <p:grpSpPr bwMode="auto">
          <a:xfrm>
            <a:off x="7599363" y="3745434"/>
            <a:ext cx="2209800" cy="1085850"/>
            <a:chOff x="480" y="2068"/>
            <a:chExt cx="1392" cy="684"/>
          </a:xfrm>
        </p:grpSpPr>
        <p:sp>
          <p:nvSpPr>
            <p:cNvPr id="77" name="Text Box 22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78" name="Line 23"/>
            <p:cNvSpPr>
              <a:spLocks noChangeShapeType="1"/>
            </p:cNvSpPr>
            <p:nvPr/>
          </p:nvSpPr>
          <p:spPr bwMode="auto">
            <a:xfrm flipV="1">
              <a:off x="1175" y="2068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3" name="Line 24"/>
          <p:cNvSpPr>
            <a:spLocks noChangeShapeType="1"/>
          </p:cNvSpPr>
          <p:nvPr/>
        </p:nvSpPr>
        <p:spPr bwMode="auto">
          <a:xfrm>
            <a:off x="8361363" y="320568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4" name="Group 25"/>
          <p:cNvGrpSpPr>
            <a:grpSpLocks/>
          </p:cNvGrpSpPr>
          <p:nvPr/>
        </p:nvGrpSpPr>
        <p:grpSpPr bwMode="auto">
          <a:xfrm>
            <a:off x="8208963" y="4936062"/>
            <a:ext cx="1416050" cy="1079501"/>
            <a:chOff x="816" y="2818"/>
            <a:chExt cx="892" cy="680"/>
          </a:xfrm>
        </p:grpSpPr>
        <p:sp>
          <p:nvSpPr>
            <p:cNvPr id="75" name="Line 26"/>
            <p:cNvSpPr>
              <a:spLocks noChangeShapeType="1"/>
            </p:cNvSpPr>
            <p:nvPr/>
          </p:nvSpPr>
          <p:spPr bwMode="auto">
            <a:xfrm>
              <a:off x="1127" y="2818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Text Box 27"/>
            <p:cNvSpPr txBox="1">
              <a:spLocks noChangeArrowheads="1"/>
            </p:cNvSpPr>
            <p:nvPr/>
          </p:nvSpPr>
          <p:spPr bwMode="auto">
            <a:xfrm>
              <a:off x="816" y="3168"/>
              <a:ext cx="8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 dirty="0">
                  <a:solidFill>
                    <a:srgbClr val="3366FF"/>
                  </a:solidFill>
                  <a:latin typeface="Comic Sans MS" pitchFamily="66" charset="0"/>
                </a:rPr>
                <a:t>3480</a:t>
              </a:r>
            </a:p>
          </p:txBody>
        </p:sp>
      </p:grpSp>
      <p:sp>
        <p:nvSpPr>
          <p:cNvPr id="88" name="Text Box 53"/>
          <p:cNvSpPr txBox="1">
            <a:spLocks noChangeArrowheads="1"/>
          </p:cNvSpPr>
          <p:nvPr/>
        </p:nvSpPr>
        <p:spPr bwMode="auto">
          <a:xfrm>
            <a:off x="3397250" y="489160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 dirty="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6148388" y="4913833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 dirty="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90" name="Text Box 55"/>
          <p:cNvSpPr txBox="1">
            <a:spLocks noChangeArrowheads="1"/>
          </p:cNvSpPr>
          <p:nvPr/>
        </p:nvSpPr>
        <p:spPr bwMode="auto">
          <a:xfrm>
            <a:off x="8899525" y="493605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7606" y="3021018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>
                <a:solidFill>
                  <a:srgbClr val="002060"/>
                </a:solidFill>
                <a:latin typeface="Calibri"/>
              </a:rPr>
              <a:t>Th</a:t>
            </a:r>
            <a:r>
              <a:rPr lang="en-AU" b="1" dirty="0">
                <a:solidFill>
                  <a:srgbClr val="002060"/>
                </a:solidFill>
                <a:latin typeface="Calibri"/>
              </a:rPr>
              <a:t>  H    T    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51326" y="3031428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>
                <a:solidFill>
                  <a:srgbClr val="002060"/>
                </a:solidFill>
                <a:latin typeface="Calibri"/>
              </a:rPr>
              <a:t>Th</a:t>
            </a:r>
            <a:r>
              <a:rPr lang="en-AU" b="1" dirty="0">
                <a:solidFill>
                  <a:srgbClr val="002060"/>
                </a:solidFill>
                <a:latin typeface="Calibri"/>
              </a:rPr>
              <a:t>  H    T    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26522" y="3050628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>
                <a:solidFill>
                  <a:srgbClr val="002060"/>
                </a:solidFill>
                <a:latin typeface="Calibri"/>
              </a:rPr>
              <a:t>Th</a:t>
            </a:r>
            <a:r>
              <a:rPr lang="en-AU" b="1" dirty="0">
                <a:solidFill>
                  <a:srgbClr val="002060"/>
                </a:solidFill>
                <a:latin typeface="Calibri"/>
              </a:rPr>
              <a:t>  H    T    U</a:t>
            </a:r>
          </a:p>
        </p:txBody>
      </p:sp>
    </p:spTree>
    <p:extLst>
      <p:ext uri="{BB962C8B-B14F-4D97-AF65-F5344CB8AC3E}">
        <p14:creationId xmlns:p14="http://schemas.microsoft.com/office/powerpoint/2010/main" val="81434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 animBg="1"/>
      <p:bldP spid="67" grpId="0"/>
      <p:bldP spid="69" grpId="0" animBg="1"/>
      <p:bldP spid="71" grpId="0"/>
      <p:bldP spid="73" grpId="0" animBg="1"/>
      <p:bldP spid="88" grpId="0" animBg="1"/>
      <p:bldP spid="89" grpId="0" animBg="1"/>
      <p:bldP spid="90" grpId="0" animBg="1"/>
      <p:bldP spid="4" grpId="0"/>
      <p:bldP spid="91" grpId="0"/>
      <p:bldP spid="9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885" y="0"/>
            <a:ext cx="9161115" cy="764704"/>
          </a:xfrm>
        </p:spPr>
        <p:txBody>
          <a:bodyPr>
            <a:normAutofit/>
          </a:bodyPr>
          <a:lstStyle/>
          <a:p>
            <a:r>
              <a:rPr lang="en-AU" dirty="0"/>
              <a:t>Rounding Whole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5538" y="692697"/>
            <a:ext cx="9142462" cy="1889100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Chop it, check it, change it</a:t>
            </a:r>
          </a:p>
          <a:p>
            <a:pPr lvl="2"/>
            <a:r>
              <a:rPr lang="en-AU" b="1" dirty="0"/>
              <a:t>Chop</a:t>
            </a:r>
            <a:r>
              <a:rPr lang="en-AU" dirty="0"/>
              <a:t> the number after the place value you want</a:t>
            </a:r>
          </a:p>
          <a:p>
            <a:pPr lvl="2"/>
            <a:r>
              <a:rPr lang="en-AU" b="1" dirty="0"/>
              <a:t>Check</a:t>
            </a:r>
            <a:r>
              <a:rPr lang="en-AU" dirty="0"/>
              <a:t> the next digit </a:t>
            </a:r>
          </a:p>
          <a:p>
            <a:pPr lvl="2"/>
            <a:r>
              <a:rPr lang="en-AU" b="1" dirty="0"/>
              <a:t>Change</a:t>
            </a:r>
            <a:r>
              <a:rPr lang="en-AU" dirty="0"/>
              <a:t> if it’s 5 or more and make the rest zero</a:t>
            </a: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1870074" y="2492897"/>
            <a:ext cx="36498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u="sng" dirty="0">
                <a:solidFill>
                  <a:prstClr val="black"/>
                </a:solidFill>
                <a:latin typeface="Comic Sans MS" pitchFamily="66" charset="0"/>
              </a:rPr>
              <a:t>Rounding to </a:t>
            </a:r>
            <a:r>
              <a:rPr lang="en-GB" altLang="en-US" sz="2400" u="sng" dirty="0">
                <a:solidFill>
                  <a:srgbClr val="FF0000"/>
                </a:solidFill>
                <a:latin typeface="Comic Sans MS" pitchFamily="66" charset="0"/>
              </a:rPr>
              <a:t>nearest 10</a:t>
            </a:r>
          </a:p>
        </p:txBody>
      </p:sp>
      <p:sp>
        <p:nvSpPr>
          <p:cNvPr id="63" name="Text Box 4"/>
          <p:cNvSpPr txBox="1">
            <a:spLocks noChangeArrowheads="1"/>
          </p:cNvSpPr>
          <p:nvPr/>
        </p:nvSpPr>
        <p:spPr bwMode="auto">
          <a:xfrm>
            <a:off x="1622426" y="3244307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4 8 3 2 4 </a:t>
            </a:r>
          </a:p>
        </p:txBody>
      </p:sp>
      <p:sp>
        <p:nvSpPr>
          <p:cNvPr id="64" name="Line 5"/>
          <p:cNvSpPr>
            <a:spLocks noChangeShapeType="1"/>
          </p:cNvSpPr>
          <p:nvPr/>
        </p:nvSpPr>
        <p:spPr bwMode="auto">
          <a:xfrm>
            <a:off x="2946400" y="3112021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5" name="Group 6"/>
          <p:cNvGrpSpPr>
            <a:grpSpLocks/>
          </p:cNvGrpSpPr>
          <p:nvPr/>
        </p:nvGrpSpPr>
        <p:grpSpPr bwMode="auto">
          <a:xfrm>
            <a:off x="2165350" y="3726384"/>
            <a:ext cx="2209800" cy="1092200"/>
            <a:chOff x="480" y="2064"/>
            <a:chExt cx="1392" cy="688"/>
          </a:xfrm>
        </p:grpSpPr>
        <p:sp>
          <p:nvSpPr>
            <p:cNvPr id="85" name="Text Box 7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86" name="Line 8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6" name="Group 9"/>
          <p:cNvGrpSpPr>
            <a:grpSpLocks/>
          </p:cNvGrpSpPr>
          <p:nvPr/>
        </p:nvGrpSpPr>
        <p:grpSpPr bwMode="auto">
          <a:xfrm>
            <a:off x="2689225" y="4950348"/>
            <a:ext cx="1333500" cy="1057276"/>
            <a:chOff x="780" y="2832"/>
            <a:chExt cx="840" cy="666"/>
          </a:xfrm>
        </p:grpSpPr>
        <p:sp>
          <p:nvSpPr>
            <p:cNvPr id="83" name="Line 10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780" y="3168"/>
              <a:ext cx="84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 dirty="0">
                  <a:solidFill>
                    <a:srgbClr val="3366FF"/>
                  </a:solidFill>
                  <a:latin typeface="Comic Sans MS" pitchFamily="66" charset="0"/>
                </a:rPr>
                <a:t>48320</a:t>
              </a:r>
            </a:p>
          </p:txBody>
        </p:sp>
      </p:grpSp>
      <p:sp>
        <p:nvSpPr>
          <p:cNvPr id="67" name="Text Box 12"/>
          <p:cNvSpPr txBox="1">
            <a:spLocks noChangeArrowheads="1"/>
          </p:cNvSpPr>
          <p:nvPr/>
        </p:nvSpPr>
        <p:spPr bwMode="auto">
          <a:xfrm>
            <a:off x="4286374" y="3278012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7 2 4 2 5</a:t>
            </a:r>
          </a:p>
        </p:txBody>
      </p:sp>
      <p:grpSp>
        <p:nvGrpSpPr>
          <p:cNvPr id="68" name="Group 13"/>
          <p:cNvGrpSpPr>
            <a:grpSpLocks/>
          </p:cNvGrpSpPr>
          <p:nvPr/>
        </p:nvGrpSpPr>
        <p:grpSpPr bwMode="auto">
          <a:xfrm>
            <a:off x="4833938" y="3745434"/>
            <a:ext cx="2209800" cy="1092200"/>
            <a:chOff x="480" y="2064"/>
            <a:chExt cx="1392" cy="688"/>
          </a:xfrm>
        </p:grpSpPr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82" name="Line 15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9" name="Line 16"/>
          <p:cNvSpPr>
            <a:spLocks noChangeShapeType="1"/>
          </p:cNvSpPr>
          <p:nvPr/>
        </p:nvSpPr>
        <p:spPr bwMode="auto">
          <a:xfrm>
            <a:off x="5595938" y="321203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0" name="Group 17"/>
          <p:cNvGrpSpPr>
            <a:grpSpLocks/>
          </p:cNvGrpSpPr>
          <p:nvPr/>
        </p:nvGrpSpPr>
        <p:grpSpPr bwMode="auto">
          <a:xfrm>
            <a:off x="5443538" y="4964635"/>
            <a:ext cx="1638300" cy="1052513"/>
            <a:chOff x="816" y="2832"/>
            <a:chExt cx="1032" cy="663"/>
          </a:xfrm>
        </p:grpSpPr>
        <p:sp>
          <p:nvSpPr>
            <p:cNvPr id="79" name="Line 18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Text Box 19"/>
            <p:cNvSpPr txBox="1">
              <a:spLocks noChangeArrowheads="1"/>
            </p:cNvSpPr>
            <p:nvPr/>
          </p:nvSpPr>
          <p:spPr bwMode="auto">
            <a:xfrm>
              <a:off x="816" y="3168"/>
              <a:ext cx="10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 dirty="0">
                  <a:solidFill>
                    <a:srgbClr val="3366FF"/>
                  </a:solidFill>
                  <a:latin typeface="Comic Sans MS" pitchFamily="66" charset="0"/>
                </a:rPr>
                <a:t>72430</a:t>
              </a:r>
            </a:p>
          </p:txBody>
        </p:sp>
      </p:grp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7043738" y="3274288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3 4 7 9 6</a:t>
            </a:r>
          </a:p>
        </p:txBody>
      </p:sp>
      <p:grpSp>
        <p:nvGrpSpPr>
          <p:cNvPr id="72" name="Group 21"/>
          <p:cNvGrpSpPr>
            <a:grpSpLocks/>
          </p:cNvGrpSpPr>
          <p:nvPr/>
        </p:nvGrpSpPr>
        <p:grpSpPr bwMode="auto">
          <a:xfrm>
            <a:off x="7599363" y="3739084"/>
            <a:ext cx="2209800" cy="1092200"/>
            <a:chOff x="480" y="2064"/>
            <a:chExt cx="1392" cy="688"/>
          </a:xfrm>
        </p:grpSpPr>
        <p:sp>
          <p:nvSpPr>
            <p:cNvPr id="77" name="Text Box 22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78" name="Line 23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3" name="Line 24"/>
          <p:cNvSpPr>
            <a:spLocks noChangeShapeType="1"/>
          </p:cNvSpPr>
          <p:nvPr/>
        </p:nvSpPr>
        <p:spPr bwMode="auto">
          <a:xfrm>
            <a:off x="8361363" y="320568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4" name="Group 25"/>
          <p:cNvGrpSpPr>
            <a:grpSpLocks/>
          </p:cNvGrpSpPr>
          <p:nvPr/>
        </p:nvGrpSpPr>
        <p:grpSpPr bwMode="auto">
          <a:xfrm>
            <a:off x="8208963" y="4958286"/>
            <a:ext cx="1416050" cy="1057276"/>
            <a:chOff x="816" y="2832"/>
            <a:chExt cx="892" cy="666"/>
          </a:xfrm>
        </p:grpSpPr>
        <p:sp>
          <p:nvSpPr>
            <p:cNvPr id="75" name="Line 26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Text Box 27"/>
            <p:cNvSpPr txBox="1">
              <a:spLocks noChangeArrowheads="1"/>
            </p:cNvSpPr>
            <p:nvPr/>
          </p:nvSpPr>
          <p:spPr bwMode="auto">
            <a:xfrm>
              <a:off x="816" y="3168"/>
              <a:ext cx="89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 dirty="0">
                  <a:solidFill>
                    <a:srgbClr val="3366FF"/>
                  </a:solidFill>
                  <a:latin typeface="Comic Sans MS" pitchFamily="66" charset="0"/>
                </a:rPr>
                <a:t>34800</a:t>
              </a:r>
            </a:p>
          </p:txBody>
        </p:sp>
      </p:grpSp>
      <p:sp>
        <p:nvSpPr>
          <p:cNvPr id="88" name="Text Box 53"/>
          <p:cNvSpPr txBox="1">
            <a:spLocks noChangeArrowheads="1"/>
          </p:cNvSpPr>
          <p:nvPr/>
        </p:nvSpPr>
        <p:spPr bwMode="auto">
          <a:xfrm>
            <a:off x="3397250" y="489160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 dirty="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6148388" y="4913833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 dirty="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90" name="Text Box 55"/>
          <p:cNvSpPr txBox="1">
            <a:spLocks noChangeArrowheads="1"/>
          </p:cNvSpPr>
          <p:nvPr/>
        </p:nvSpPr>
        <p:spPr bwMode="auto">
          <a:xfrm>
            <a:off x="8899525" y="493605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8669" y="2936732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>
                <a:solidFill>
                  <a:srgbClr val="002060"/>
                </a:solidFill>
                <a:latin typeface="Calibri"/>
              </a:rPr>
              <a:t>Th</a:t>
            </a:r>
            <a:r>
              <a:rPr lang="en-AU" b="1" dirty="0">
                <a:solidFill>
                  <a:srgbClr val="002060"/>
                </a:solidFill>
                <a:latin typeface="Calibri"/>
              </a:rPr>
              <a:t>  H    T    U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7568" y="3005307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>
                <a:solidFill>
                  <a:srgbClr val="002060"/>
                </a:solidFill>
                <a:latin typeface="Calibri"/>
              </a:rPr>
              <a:t>Th</a:t>
            </a:r>
            <a:r>
              <a:rPr lang="en-AU" b="1" dirty="0">
                <a:solidFill>
                  <a:srgbClr val="002060"/>
                </a:solidFill>
                <a:latin typeface="Calibri"/>
              </a:rPr>
              <a:t>  H    T    U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42993" y="3075334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err="1">
                <a:solidFill>
                  <a:srgbClr val="002060"/>
                </a:solidFill>
                <a:latin typeface="Calibri"/>
              </a:rPr>
              <a:t>Th</a:t>
            </a:r>
            <a:r>
              <a:rPr lang="en-AU" b="1" dirty="0">
                <a:solidFill>
                  <a:srgbClr val="002060"/>
                </a:solidFill>
                <a:latin typeface="Calibri"/>
              </a:rPr>
              <a:t>  H    T    U</a:t>
            </a:r>
          </a:p>
        </p:txBody>
      </p:sp>
    </p:spTree>
    <p:extLst>
      <p:ext uri="{BB962C8B-B14F-4D97-AF65-F5344CB8AC3E}">
        <p14:creationId xmlns:p14="http://schemas.microsoft.com/office/powerpoint/2010/main" val="189281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 animBg="1"/>
      <p:bldP spid="67" grpId="0"/>
      <p:bldP spid="69" grpId="0" animBg="1"/>
      <p:bldP spid="71" grpId="0"/>
      <p:bldP spid="73" grpId="0" animBg="1"/>
      <p:bldP spid="88" grpId="0" animBg="1"/>
      <p:bldP spid="89" grpId="0" animBg="1"/>
      <p:bldP spid="90" grpId="0" animBg="1"/>
      <p:bldP spid="4" grpId="0"/>
      <p:bldP spid="91" grpId="0"/>
      <p:bldP spid="9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885" y="0"/>
            <a:ext cx="9161115" cy="764704"/>
          </a:xfrm>
        </p:spPr>
        <p:txBody>
          <a:bodyPr>
            <a:normAutofit/>
          </a:bodyPr>
          <a:lstStyle/>
          <a:p>
            <a:r>
              <a:rPr lang="en-AU" dirty="0"/>
              <a:t>Rounding Decimals</a:t>
            </a:r>
          </a:p>
        </p:txBody>
      </p:sp>
      <p:sp>
        <p:nvSpPr>
          <p:cNvPr id="62" name="Text Box 3"/>
          <p:cNvSpPr txBox="1">
            <a:spLocks noChangeArrowheads="1"/>
          </p:cNvSpPr>
          <p:nvPr/>
        </p:nvSpPr>
        <p:spPr bwMode="auto">
          <a:xfrm>
            <a:off x="1870075" y="2492896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u="sng" dirty="0">
                <a:solidFill>
                  <a:prstClr val="black"/>
                </a:solidFill>
                <a:latin typeface="Comic Sans MS" pitchFamily="66" charset="0"/>
              </a:rPr>
              <a:t>Rounding to </a:t>
            </a:r>
            <a:r>
              <a:rPr lang="en-GB" altLang="en-US" sz="2400" u="sng" dirty="0">
                <a:solidFill>
                  <a:srgbClr val="FF0000"/>
                </a:solidFill>
                <a:latin typeface="Comic Sans MS" pitchFamily="66" charset="0"/>
              </a:rPr>
              <a:t>1 </a:t>
            </a:r>
            <a:r>
              <a:rPr lang="en-GB" altLang="en-US" sz="2400" u="sng" dirty="0" err="1">
                <a:solidFill>
                  <a:srgbClr val="FF0000"/>
                </a:solidFill>
                <a:latin typeface="Comic Sans MS" pitchFamily="66" charset="0"/>
              </a:rPr>
              <a:t>d.p</a:t>
            </a:r>
            <a:endParaRPr lang="en-GB" altLang="en-US" sz="2400" u="sng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3" name="Text Box 4"/>
          <p:cNvSpPr txBox="1">
            <a:spLocks noChangeArrowheads="1"/>
          </p:cNvSpPr>
          <p:nvPr/>
        </p:nvSpPr>
        <p:spPr bwMode="auto">
          <a:xfrm>
            <a:off x="2060575" y="3273947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4 . 8 3 2 5 </a:t>
            </a:r>
          </a:p>
        </p:txBody>
      </p:sp>
      <p:sp>
        <p:nvSpPr>
          <p:cNvPr id="64" name="Line 5"/>
          <p:cNvSpPr>
            <a:spLocks noChangeShapeType="1"/>
          </p:cNvSpPr>
          <p:nvPr/>
        </p:nvSpPr>
        <p:spPr bwMode="auto">
          <a:xfrm>
            <a:off x="2946400" y="3112021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5" name="Group 6"/>
          <p:cNvGrpSpPr>
            <a:grpSpLocks/>
          </p:cNvGrpSpPr>
          <p:nvPr/>
        </p:nvGrpSpPr>
        <p:grpSpPr bwMode="auto">
          <a:xfrm>
            <a:off x="2165350" y="3726384"/>
            <a:ext cx="2209800" cy="1092200"/>
            <a:chOff x="480" y="2064"/>
            <a:chExt cx="1392" cy="688"/>
          </a:xfrm>
        </p:grpSpPr>
        <p:sp>
          <p:nvSpPr>
            <p:cNvPr id="85" name="Text Box 7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86" name="Line 8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66" name="Group 9"/>
          <p:cNvGrpSpPr>
            <a:grpSpLocks/>
          </p:cNvGrpSpPr>
          <p:nvPr/>
        </p:nvGrpSpPr>
        <p:grpSpPr bwMode="auto">
          <a:xfrm>
            <a:off x="2746375" y="4950347"/>
            <a:ext cx="762000" cy="1052513"/>
            <a:chOff x="816" y="2832"/>
            <a:chExt cx="480" cy="663"/>
          </a:xfrm>
        </p:grpSpPr>
        <p:sp>
          <p:nvSpPr>
            <p:cNvPr id="83" name="Line 10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4" name="Text Box 11"/>
            <p:cNvSpPr txBox="1">
              <a:spLocks noChangeArrowheads="1"/>
            </p:cNvSpPr>
            <p:nvPr/>
          </p:nvSpPr>
          <p:spPr bwMode="auto">
            <a:xfrm>
              <a:off x="816" y="316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 dirty="0">
                  <a:solidFill>
                    <a:srgbClr val="3366FF"/>
                  </a:solidFill>
                  <a:latin typeface="Comic Sans MS" pitchFamily="66" charset="0"/>
                </a:rPr>
                <a:t>4.8</a:t>
              </a:r>
            </a:p>
          </p:txBody>
        </p:sp>
      </p:grpSp>
      <p:sp>
        <p:nvSpPr>
          <p:cNvPr id="67" name="Text Box 12"/>
          <p:cNvSpPr txBox="1">
            <a:spLocks noChangeArrowheads="1"/>
          </p:cNvSpPr>
          <p:nvPr/>
        </p:nvSpPr>
        <p:spPr bwMode="auto">
          <a:xfrm>
            <a:off x="4833938" y="3288235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4. 8 4 2 5</a:t>
            </a:r>
          </a:p>
        </p:txBody>
      </p:sp>
      <p:grpSp>
        <p:nvGrpSpPr>
          <p:cNvPr id="68" name="Group 13"/>
          <p:cNvGrpSpPr>
            <a:grpSpLocks/>
          </p:cNvGrpSpPr>
          <p:nvPr/>
        </p:nvGrpSpPr>
        <p:grpSpPr bwMode="auto">
          <a:xfrm>
            <a:off x="4833938" y="3745434"/>
            <a:ext cx="2209800" cy="1092200"/>
            <a:chOff x="480" y="2064"/>
            <a:chExt cx="1392" cy="688"/>
          </a:xfrm>
        </p:grpSpPr>
        <p:sp>
          <p:nvSpPr>
            <p:cNvPr id="81" name="Text Box 14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82" name="Line 15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69" name="Line 16"/>
          <p:cNvSpPr>
            <a:spLocks noChangeShapeType="1"/>
          </p:cNvSpPr>
          <p:nvPr/>
        </p:nvSpPr>
        <p:spPr bwMode="auto">
          <a:xfrm>
            <a:off x="5595938" y="321203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0" name="Group 17"/>
          <p:cNvGrpSpPr>
            <a:grpSpLocks/>
          </p:cNvGrpSpPr>
          <p:nvPr/>
        </p:nvGrpSpPr>
        <p:grpSpPr bwMode="auto">
          <a:xfrm>
            <a:off x="5443538" y="4964635"/>
            <a:ext cx="762000" cy="1052513"/>
            <a:chOff x="816" y="2832"/>
            <a:chExt cx="480" cy="663"/>
          </a:xfrm>
        </p:grpSpPr>
        <p:sp>
          <p:nvSpPr>
            <p:cNvPr id="79" name="Line 18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0" name="Text Box 19"/>
            <p:cNvSpPr txBox="1">
              <a:spLocks noChangeArrowheads="1"/>
            </p:cNvSpPr>
            <p:nvPr/>
          </p:nvSpPr>
          <p:spPr bwMode="auto">
            <a:xfrm>
              <a:off x="816" y="316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4.8</a:t>
              </a:r>
            </a:p>
          </p:txBody>
        </p:sp>
      </p:grp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7599363" y="3281885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 dirty="0">
                <a:solidFill>
                  <a:prstClr val="black"/>
                </a:solidFill>
                <a:latin typeface="Comic Sans MS" pitchFamily="66" charset="0"/>
              </a:rPr>
              <a:t>4. 8 5 2 5</a:t>
            </a:r>
          </a:p>
        </p:txBody>
      </p:sp>
      <p:grpSp>
        <p:nvGrpSpPr>
          <p:cNvPr id="72" name="Group 21"/>
          <p:cNvGrpSpPr>
            <a:grpSpLocks/>
          </p:cNvGrpSpPr>
          <p:nvPr/>
        </p:nvGrpSpPr>
        <p:grpSpPr bwMode="auto">
          <a:xfrm>
            <a:off x="7599363" y="3739084"/>
            <a:ext cx="2209800" cy="1092200"/>
            <a:chOff x="480" y="2064"/>
            <a:chExt cx="1392" cy="688"/>
          </a:xfrm>
        </p:grpSpPr>
        <p:sp>
          <p:nvSpPr>
            <p:cNvPr id="77" name="Text Box 22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56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78" name="Line 23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73" name="Line 24"/>
          <p:cNvSpPr>
            <a:spLocks noChangeShapeType="1"/>
          </p:cNvSpPr>
          <p:nvPr/>
        </p:nvSpPr>
        <p:spPr bwMode="auto">
          <a:xfrm>
            <a:off x="8361363" y="3205684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74" name="Group 25"/>
          <p:cNvGrpSpPr>
            <a:grpSpLocks/>
          </p:cNvGrpSpPr>
          <p:nvPr/>
        </p:nvGrpSpPr>
        <p:grpSpPr bwMode="auto">
          <a:xfrm>
            <a:off x="8208963" y="4958285"/>
            <a:ext cx="762000" cy="1052513"/>
            <a:chOff x="816" y="2832"/>
            <a:chExt cx="480" cy="663"/>
          </a:xfrm>
        </p:grpSpPr>
        <p:sp>
          <p:nvSpPr>
            <p:cNvPr id="75" name="Line 26"/>
            <p:cNvSpPr>
              <a:spLocks noChangeShapeType="1"/>
            </p:cNvSpPr>
            <p:nvPr/>
          </p:nvSpPr>
          <p:spPr bwMode="auto">
            <a:xfrm>
              <a:off x="1008" y="2832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6" name="Text Box 27"/>
            <p:cNvSpPr txBox="1">
              <a:spLocks noChangeArrowheads="1"/>
            </p:cNvSpPr>
            <p:nvPr/>
          </p:nvSpPr>
          <p:spPr bwMode="auto">
            <a:xfrm>
              <a:off x="816" y="3168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4.9</a:t>
              </a:r>
            </a:p>
          </p:txBody>
        </p:sp>
      </p:grpSp>
      <p:sp>
        <p:nvSpPr>
          <p:cNvPr id="88" name="Text Box 53"/>
          <p:cNvSpPr txBox="1">
            <a:spLocks noChangeArrowheads="1"/>
          </p:cNvSpPr>
          <p:nvPr/>
        </p:nvSpPr>
        <p:spPr bwMode="auto">
          <a:xfrm>
            <a:off x="3397250" y="489160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89" name="Text Box 54"/>
          <p:cNvSpPr txBox="1">
            <a:spLocks noChangeArrowheads="1"/>
          </p:cNvSpPr>
          <p:nvPr/>
        </p:nvSpPr>
        <p:spPr bwMode="auto">
          <a:xfrm>
            <a:off x="6148388" y="4913833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90" name="Text Box 55"/>
          <p:cNvSpPr txBox="1">
            <a:spLocks noChangeArrowheads="1"/>
          </p:cNvSpPr>
          <p:nvPr/>
        </p:nvSpPr>
        <p:spPr bwMode="auto">
          <a:xfrm>
            <a:off x="8899525" y="493605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35" name="Content Placeholder 2"/>
          <p:cNvSpPr>
            <a:spLocks noGrp="1"/>
          </p:cNvSpPr>
          <p:nvPr>
            <p:ph idx="1"/>
          </p:nvPr>
        </p:nvSpPr>
        <p:spPr>
          <a:xfrm>
            <a:off x="1525538" y="692697"/>
            <a:ext cx="9142462" cy="1889100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Chop it, check it, change it</a:t>
            </a:r>
          </a:p>
          <a:p>
            <a:pPr lvl="2"/>
            <a:r>
              <a:rPr lang="en-AU" b="1" dirty="0"/>
              <a:t>Chop</a:t>
            </a:r>
            <a:r>
              <a:rPr lang="en-AU" dirty="0"/>
              <a:t> the number after the </a:t>
            </a:r>
            <a:r>
              <a:rPr lang="en-AU" dirty="0" err="1"/>
              <a:t>d.p.</a:t>
            </a:r>
            <a:r>
              <a:rPr lang="en-AU" dirty="0"/>
              <a:t> you want</a:t>
            </a:r>
          </a:p>
          <a:p>
            <a:pPr lvl="2"/>
            <a:r>
              <a:rPr lang="en-AU" b="1" dirty="0"/>
              <a:t>Check</a:t>
            </a:r>
            <a:r>
              <a:rPr lang="en-AU" dirty="0"/>
              <a:t> the next digit </a:t>
            </a:r>
          </a:p>
          <a:p>
            <a:pPr lvl="2"/>
            <a:r>
              <a:rPr lang="en-AU" b="1" dirty="0"/>
              <a:t>Change</a:t>
            </a:r>
            <a:r>
              <a:rPr lang="en-AU" dirty="0"/>
              <a:t> if it’s 5 or more</a:t>
            </a:r>
          </a:p>
        </p:txBody>
      </p:sp>
    </p:spTree>
    <p:extLst>
      <p:ext uri="{BB962C8B-B14F-4D97-AF65-F5344CB8AC3E}">
        <p14:creationId xmlns:p14="http://schemas.microsoft.com/office/powerpoint/2010/main" val="393356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 animBg="1"/>
      <p:bldP spid="67" grpId="0"/>
      <p:bldP spid="69" grpId="0" animBg="1"/>
      <p:bldP spid="71" grpId="0"/>
      <p:bldP spid="73" grpId="0" animBg="1"/>
      <p:bldP spid="88" grpId="0" animBg="1"/>
      <p:bldP spid="89" grpId="0" animBg="1"/>
      <p:bldP spid="9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885" y="0"/>
            <a:ext cx="9161115" cy="764704"/>
          </a:xfrm>
        </p:spPr>
        <p:txBody>
          <a:bodyPr>
            <a:normAutofit/>
          </a:bodyPr>
          <a:lstStyle/>
          <a:p>
            <a:r>
              <a:rPr lang="en-AU" dirty="0"/>
              <a:t>Rounding Decimals</a:t>
            </a: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1870075" y="2509665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u="sng">
                <a:solidFill>
                  <a:prstClr val="black"/>
                </a:solidFill>
                <a:latin typeface="Comic Sans MS" pitchFamily="66" charset="0"/>
              </a:rPr>
              <a:t>Rounding to </a:t>
            </a:r>
            <a:r>
              <a:rPr lang="en-GB" altLang="en-US" sz="2400" u="sng">
                <a:solidFill>
                  <a:srgbClr val="FF0000"/>
                </a:solidFill>
                <a:latin typeface="Comic Sans MS" pitchFamily="66" charset="0"/>
              </a:rPr>
              <a:t>2 d.p</a:t>
            </a:r>
          </a:p>
        </p:txBody>
      </p:sp>
      <p:sp>
        <p:nvSpPr>
          <p:cNvPr id="33" name="Text Box 3"/>
          <p:cNvSpPr txBox="1">
            <a:spLocks noChangeArrowheads="1"/>
          </p:cNvSpPr>
          <p:nvPr/>
        </p:nvSpPr>
        <p:spPr bwMode="auto">
          <a:xfrm>
            <a:off x="1881188" y="3081166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5. 8 4 2 5</a:t>
            </a:r>
          </a:p>
        </p:txBody>
      </p:sp>
      <p:grpSp>
        <p:nvGrpSpPr>
          <p:cNvPr id="34" name="Group 4"/>
          <p:cNvGrpSpPr>
            <a:grpSpLocks/>
          </p:cNvGrpSpPr>
          <p:nvPr/>
        </p:nvGrpSpPr>
        <p:grpSpPr bwMode="auto">
          <a:xfrm>
            <a:off x="2224088" y="3498679"/>
            <a:ext cx="2209800" cy="1252537"/>
            <a:chOff x="480" y="2064"/>
            <a:chExt cx="1392" cy="639"/>
          </a:xfrm>
        </p:grpSpPr>
        <p:sp>
          <p:nvSpPr>
            <p:cNvPr id="35" name="Text Box 5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36" name="Line 6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37" name="Line 7"/>
          <p:cNvSpPr>
            <a:spLocks noChangeShapeType="1"/>
          </p:cNvSpPr>
          <p:nvPr/>
        </p:nvSpPr>
        <p:spPr bwMode="auto">
          <a:xfrm>
            <a:off x="2990850" y="2904954"/>
            <a:ext cx="1588" cy="941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38" name="Group 8"/>
          <p:cNvGrpSpPr>
            <a:grpSpLocks/>
          </p:cNvGrpSpPr>
          <p:nvPr/>
        </p:nvGrpSpPr>
        <p:grpSpPr bwMode="auto">
          <a:xfrm>
            <a:off x="2643188" y="4802016"/>
            <a:ext cx="1200150" cy="1179513"/>
            <a:chOff x="816" y="1644"/>
            <a:chExt cx="756" cy="601"/>
          </a:xfrm>
        </p:grpSpPr>
        <p:sp>
          <p:nvSpPr>
            <p:cNvPr id="39" name="Line 9"/>
            <p:cNvSpPr>
              <a:spLocks noChangeShapeType="1"/>
            </p:cNvSpPr>
            <p:nvPr/>
          </p:nvSpPr>
          <p:spPr bwMode="auto">
            <a:xfrm>
              <a:off x="1092" y="164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0" name="Text Box 10"/>
            <p:cNvSpPr txBox="1">
              <a:spLocks noChangeArrowheads="1"/>
            </p:cNvSpPr>
            <p:nvPr/>
          </p:nvSpPr>
          <p:spPr bwMode="auto">
            <a:xfrm>
              <a:off x="816" y="1980"/>
              <a:ext cx="75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5.84</a:t>
              </a:r>
            </a:p>
          </p:txBody>
        </p:sp>
      </p:grpSp>
      <p:sp>
        <p:nvSpPr>
          <p:cNvPr id="41" name="Text Box 11"/>
          <p:cNvSpPr txBox="1">
            <a:spLocks noChangeArrowheads="1"/>
          </p:cNvSpPr>
          <p:nvPr/>
        </p:nvSpPr>
        <p:spPr bwMode="auto">
          <a:xfrm>
            <a:off x="4646613" y="3074816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1. 4 2 6 1</a:t>
            </a:r>
          </a:p>
        </p:txBody>
      </p:sp>
      <p:grpSp>
        <p:nvGrpSpPr>
          <p:cNvPr id="42" name="Group 12"/>
          <p:cNvGrpSpPr>
            <a:grpSpLocks/>
          </p:cNvGrpSpPr>
          <p:nvPr/>
        </p:nvGrpSpPr>
        <p:grpSpPr bwMode="auto">
          <a:xfrm>
            <a:off x="4935538" y="3466929"/>
            <a:ext cx="2209800" cy="1252537"/>
            <a:chOff x="480" y="2064"/>
            <a:chExt cx="1392" cy="639"/>
          </a:xfrm>
        </p:grpSpPr>
        <p:sp>
          <p:nvSpPr>
            <p:cNvPr id="43" name="Text Box 13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44" name="Line 14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45" name="Line 15"/>
          <p:cNvSpPr>
            <a:spLocks noChangeShapeType="1"/>
          </p:cNvSpPr>
          <p:nvPr/>
        </p:nvSpPr>
        <p:spPr bwMode="auto">
          <a:xfrm>
            <a:off x="5694364" y="2903365"/>
            <a:ext cx="1587" cy="941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46" name="Group 16"/>
          <p:cNvGrpSpPr>
            <a:grpSpLocks/>
          </p:cNvGrpSpPr>
          <p:nvPr/>
        </p:nvGrpSpPr>
        <p:grpSpPr bwMode="auto">
          <a:xfrm>
            <a:off x="5373688" y="4767090"/>
            <a:ext cx="1009650" cy="1201738"/>
            <a:chOff x="2536" y="1624"/>
            <a:chExt cx="636" cy="613"/>
          </a:xfrm>
        </p:grpSpPr>
        <p:sp>
          <p:nvSpPr>
            <p:cNvPr id="47" name="Line 17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8" name="Text Box 18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1.43</a:t>
              </a:r>
            </a:p>
          </p:txBody>
        </p:sp>
      </p:grpSp>
      <p:sp>
        <p:nvSpPr>
          <p:cNvPr id="49" name="Text Box 19"/>
          <p:cNvSpPr txBox="1">
            <a:spLocks noChangeArrowheads="1"/>
          </p:cNvSpPr>
          <p:nvPr/>
        </p:nvSpPr>
        <p:spPr bwMode="auto">
          <a:xfrm>
            <a:off x="7618413" y="3112916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0. 6 0 8 3</a:t>
            </a:r>
          </a:p>
        </p:txBody>
      </p:sp>
      <p:grpSp>
        <p:nvGrpSpPr>
          <p:cNvPr id="50" name="Group 20"/>
          <p:cNvGrpSpPr>
            <a:grpSpLocks/>
          </p:cNvGrpSpPr>
          <p:nvPr/>
        </p:nvGrpSpPr>
        <p:grpSpPr bwMode="auto">
          <a:xfrm>
            <a:off x="7958138" y="3505029"/>
            <a:ext cx="2209800" cy="1252537"/>
            <a:chOff x="480" y="2064"/>
            <a:chExt cx="1392" cy="639"/>
          </a:xfrm>
        </p:grpSpPr>
        <p:sp>
          <p:nvSpPr>
            <p:cNvPr id="51" name="Text Box 21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52" name="Line 22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3" name="Line 23"/>
          <p:cNvSpPr>
            <a:spLocks noChangeShapeType="1"/>
          </p:cNvSpPr>
          <p:nvPr/>
        </p:nvSpPr>
        <p:spPr bwMode="auto">
          <a:xfrm>
            <a:off x="8723314" y="2941465"/>
            <a:ext cx="1587" cy="941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4" name="Group 24"/>
          <p:cNvGrpSpPr>
            <a:grpSpLocks/>
          </p:cNvGrpSpPr>
          <p:nvPr/>
        </p:nvGrpSpPr>
        <p:grpSpPr bwMode="auto">
          <a:xfrm>
            <a:off x="8364538" y="4824240"/>
            <a:ext cx="1009650" cy="1201738"/>
            <a:chOff x="2536" y="1624"/>
            <a:chExt cx="636" cy="613"/>
          </a:xfrm>
        </p:grpSpPr>
        <p:sp>
          <p:nvSpPr>
            <p:cNvPr id="55" name="Line 25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0.61</a:t>
              </a:r>
            </a:p>
          </p:txBody>
        </p:sp>
      </p:grpSp>
      <p:sp>
        <p:nvSpPr>
          <p:cNvPr id="57" name="Text Box 51"/>
          <p:cNvSpPr txBox="1">
            <a:spLocks noChangeArrowheads="1"/>
          </p:cNvSpPr>
          <p:nvPr/>
        </p:nvSpPr>
        <p:spPr bwMode="auto">
          <a:xfrm>
            <a:off x="3465513" y="4935365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58" name="Text Box 52"/>
          <p:cNvSpPr txBox="1">
            <a:spLocks noChangeArrowheads="1"/>
          </p:cNvSpPr>
          <p:nvPr/>
        </p:nvSpPr>
        <p:spPr bwMode="auto">
          <a:xfrm>
            <a:off x="6216650" y="4957590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59" name="Text Box 53"/>
          <p:cNvSpPr txBox="1">
            <a:spLocks noChangeArrowheads="1"/>
          </p:cNvSpPr>
          <p:nvPr/>
        </p:nvSpPr>
        <p:spPr bwMode="auto">
          <a:xfrm>
            <a:off x="8967788" y="4979815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116" name="Content Placeholder 2"/>
          <p:cNvSpPr>
            <a:spLocks noGrp="1"/>
          </p:cNvSpPr>
          <p:nvPr>
            <p:ph idx="1"/>
          </p:nvPr>
        </p:nvSpPr>
        <p:spPr>
          <a:xfrm>
            <a:off x="1525538" y="692697"/>
            <a:ext cx="9142462" cy="1889100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Chop it, check it, change it</a:t>
            </a:r>
          </a:p>
          <a:p>
            <a:pPr lvl="2"/>
            <a:r>
              <a:rPr lang="en-AU" b="1" dirty="0"/>
              <a:t>Chop</a:t>
            </a:r>
            <a:r>
              <a:rPr lang="en-AU" dirty="0"/>
              <a:t> the number after the </a:t>
            </a:r>
            <a:r>
              <a:rPr lang="en-AU" dirty="0" err="1"/>
              <a:t>d.p.</a:t>
            </a:r>
            <a:r>
              <a:rPr lang="en-AU" dirty="0"/>
              <a:t> you want</a:t>
            </a:r>
          </a:p>
          <a:p>
            <a:pPr lvl="2"/>
            <a:r>
              <a:rPr lang="en-AU" b="1" dirty="0"/>
              <a:t>Check</a:t>
            </a:r>
            <a:r>
              <a:rPr lang="en-AU" dirty="0"/>
              <a:t> the next digit </a:t>
            </a:r>
          </a:p>
          <a:p>
            <a:pPr lvl="2"/>
            <a:r>
              <a:rPr lang="en-AU" b="1" dirty="0"/>
              <a:t>Change</a:t>
            </a:r>
            <a:r>
              <a:rPr lang="en-AU" dirty="0"/>
              <a:t> if it’s 5 or more</a:t>
            </a:r>
          </a:p>
        </p:txBody>
      </p:sp>
    </p:spTree>
    <p:extLst>
      <p:ext uri="{BB962C8B-B14F-4D97-AF65-F5344CB8AC3E}">
        <p14:creationId xmlns:p14="http://schemas.microsoft.com/office/powerpoint/2010/main" val="60973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utoUpdateAnimBg="0"/>
      <p:bldP spid="37" grpId="0" animBg="1"/>
      <p:bldP spid="41" grpId="0" autoUpdateAnimBg="0"/>
      <p:bldP spid="45" grpId="0" animBg="1"/>
      <p:bldP spid="49" grpId="0" autoUpdateAnimBg="0"/>
      <p:bldP spid="53" grpId="0" animBg="1"/>
      <p:bldP spid="57" grpId="0" animBg="1" autoUpdateAnimBg="0"/>
      <p:bldP spid="58" grpId="0" animBg="1" autoUpdateAnimBg="0"/>
      <p:bldP spid="59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885" y="0"/>
            <a:ext cx="9161115" cy="764704"/>
          </a:xfrm>
        </p:spPr>
        <p:txBody>
          <a:bodyPr>
            <a:normAutofit/>
          </a:bodyPr>
          <a:lstStyle/>
          <a:p>
            <a:r>
              <a:rPr lang="en-AU" dirty="0"/>
              <a:t>Rounding Decimals</a:t>
            </a: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1870075" y="2509665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400" u="sng">
                <a:solidFill>
                  <a:prstClr val="black"/>
                </a:solidFill>
                <a:latin typeface="Comic Sans MS" pitchFamily="66" charset="0"/>
              </a:rPr>
              <a:t>Rounding to </a:t>
            </a:r>
            <a:r>
              <a:rPr lang="en-GB" altLang="en-US" sz="2400" u="sng">
                <a:solidFill>
                  <a:srgbClr val="FF0000"/>
                </a:solidFill>
                <a:latin typeface="Comic Sans MS" pitchFamily="66" charset="0"/>
              </a:rPr>
              <a:t>2 d.p</a:t>
            </a:r>
          </a:p>
        </p:txBody>
      </p:sp>
      <p:sp>
        <p:nvSpPr>
          <p:cNvPr id="87" name="Text Box 27"/>
          <p:cNvSpPr txBox="1">
            <a:spLocks noChangeArrowheads="1"/>
          </p:cNvSpPr>
          <p:nvPr/>
        </p:nvSpPr>
        <p:spPr bwMode="auto">
          <a:xfrm>
            <a:off x="1881188" y="3074816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0. 2 9 4 3</a:t>
            </a:r>
          </a:p>
        </p:txBody>
      </p:sp>
      <p:grpSp>
        <p:nvGrpSpPr>
          <p:cNvPr id="88" name="Group 28"/>
          <p:cNvGrpSpPr>
            <a:grpSpLocks/>
          </p:cNvGrpSpPr>
          <p:nvPr/>
        </p:nvGrpSpPr>
        <p:grpSpPr bwMode="auto">
          <a:xfrm>
            <a:off x="2220913" y="3428828"/>
            <a:ext cx="2209800" cy="1252538"/>
            <a:chOff x="480" y="2064"/>
            <a:chExt cx="1392" cy="639"/>
          </a:xfrm>
        </p:grpSpPr>
        <p:sp>
          <p:nvSpPr>
            <p:cNvPr id="89" name="Text Box 29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90" name="Line 30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1" name="Line 31"/>
          <p:cNvSpPr>
            <a:spLocks noChangeShapeType="1"/>
          </p:cNvSpPr>
          <p:nvPr/>
        </p:nvSpPr>
        <p:spPr bwMode="auto">
          <a:xfrm>
            <a:off x="2986089" y="2903367"/>
            <a:ext cx="1587" cy="941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92" name="Group 32"/>
          <p:cNvGrpSpPr>
            <a:grpSpLocks/>
          </p:cNvGrpSpPr>
          <p:nvPr/>
        </p:nvGrpSpPr>
        <p:grpSpPr bwMode="auto">
          <a:xfrm>
            <a:off x="2703513" y="4736928"/>
            <a:ext cx="1009650" cy="1201738"/>
            <a:chOff x="2536" y="1624"/>
            <a:chExt cx="636" cy="613"/>
          </a:xfrm>
        </p:grpSpPr>
        <p:sp>
          <p:nvSpPr>
            <p:cNvPr id="93" name="Line 33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4" name="Text Box 34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0.29</a:t>
              </a:r>
            </a:p>
          </p:txBody>
        </p:sp>
      </p:grpSp>
      <p:sp>
        <p:nvSpPr>
          <p:cNvPr id="95" name="Text Box 35"/>
          <p:cNvSpPr txBox="1">
            <a:spLocks noChangeArrowheads="1"/>
          </p:cNvSpPr>
          <p:nvPr/>
        </p:nvSpPr>
        <p:spPr bwMode="auto">
          <a:xfrm>
            <a:off x="4643438" y="3074816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0. 5 5 5 0</a:t>
            </a:r>
          </a:p>
        </p:txBody>
      </p:sp>
      <p:grpSp>
        <p:nvGrpSpPr>
          <p:cNvPr id="96" name="Group 36"/>
          <p:cNvGrpSpPr>
            <a:grpSpLocks/>
          </p:cNvGrpSpPr>
          <p:nvPr/>
        </p:nvGrpSpPr>
        <p:grpSpPr bwMode="auto">
          <a:xfrm>
            <a:off x="4964113" y="3485978"/>
            <a:ext cx="2209800" cy="1252538"/>
            <a:chOff x="480" y="2064"/>
            <a:chExt cx="1392" cy="639"/>
          </a:xfrm>
        </p:grpSpPr>
        <p:sp>
          <p:nvSpPr>
            <p:cNvPr id="97" name="Text Box 37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98" name="Line 38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99" name="Line 39"/>
          <p:cNvSpPr>
            <a:spLocks noChangeShapeType="1"/>
          </p:cNvSpPr>
          <p:nvPr/>
        </p:nvSpPr>
        <p:spPr bwMode="auto">
          <a:xfrm>
            <a:off x="5748339" y="2903367"/>
            <a:ext cx="1587" cy="941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00" name="Group 40"/>
          <p:cNvGrpSpPr>
            <a:grpSpLocks/>
          </p:cNvGrpSpPr>
          <p:nvPr/>
        </p:nvGrpSpPr>
        <p:grpSpPr bwMode="auto">
          <a:xfrm>
            <a:off x="5446713" y="4798842"/>
            <a:ext cx="1009650" cy="1201737"/>
            <a:chOff x="2536" y="1624"/>
            <a:chExt cx="636" cy="613"/>
          </a:xfrm>
        </p:grpSpPr>
        <p:sp>
          <p:nvSpPr>
            <p:cNvPr id="101" name="Line 41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2" name="Text Box 42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0.56</a:t>
              </a:r>
            </a:p>
          </p:txBody>
        </p:sp>
      </p:grpSp>
      <p:sp>
        <p:nvSpPr>
          <p:cNvPr id="103" name="Text Box 43"/>
          <p:cNvSpPr txBox="1">
            <a:spLocks noChangeArrowheads="1"/>
          </p:cNvSpPr>
          <p:nvPr/>
        </p:nvSpPr>
        <p:spPr bwMode="auto">
          <a:xfrm>
            <a:off x="7672388" y="3074816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altLang="en-US" sz="2800">
                <a:solidFill>
                  <a:prstClr val="black"/>
                </a:solidFill>
                <a:latin typeface="Comic Sans MS" pitchFamily="66" charset="0"/>
              </a:rPr>
              <a:t>0. 3 9 7 0</a:t>
            </a:r>
          </a:p>
        </p:txBody>
      </p:sp>
      <p:grpSp>
        <p:nvGrpSpPr>
          <p:cNvPr id="104" name="Group 44"/>
          <p:cNvGrpSpPr>
            <a:grpSpLocks/>
          </p:cNvGrpSpPr>
          <p:nvPr/>
        </p:nvGrpSpPr>
        <p:grpSpPr bwMode="auto">
          <a:xfrm>
            <a:off x="7993063" y="3447878"/>
            <a:ext cx="2209800" cy="1252538"/>
            <a:chOff x="480" y="2064"/>
            <a:chExt cx="1392" cy="639"/>
          </a:xfrm>
        </p:grpSpPr>
        <p:sp>
          <p:nvSpPr>
            <p:cNvPr id="105" name="Text Box 45"/>
            <p:cNvSpPr txBox="1">
              <a:spLocks noChangeArrowheads="1"/>
            </p:cNvSpPr>
            <p:nvPr/>
          </p:nvSpPr>
          <p:spPr bwMode="auto">
            <a:xfrm>
              <a:off x="480" y="2496"/>
              <a:ext cx="1392" cy="20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GB" altLang="en-US" sz="2000">
                  <a:solidFill>
                    <a:prstClr val="black"/>
                  </a:solidFill>
                  <a:latin typeface="Comic Sans MS" pitchFamily="66" charset="0"/>
                </a:rPr>
                <a:t>5 or bigger ?</a:t>
              </a:r>
            </a:p>
          </p:txBody>
        </p:sp>
        <p:sp>
          <p:nvSpPr>
            <p:cNvPr id="106" name="Line 46"/>
            <p:cNvSpPr>
              <a:spLocks noChangeShapeType="1"/>
            </p:cNvSpPr>
            <p:nvPr/>
          </p:nvSpPr>
          <p:spPr bwMode="auto">
            <a:xfrm flipV="1">
              <a:off x="1056" y="206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107" name="Line 47"/>
          <p:cNvSpPr>
            <a:spLocks noChangeShapeType="1"/>
          </p:cNvSpPr>
          <p:nvPr/>
        </p:nvSpPr>
        <p:spPr bwMode="auto">
          <a:xfrm>
            <a:off x="8777289" y="2903367"/>
            <a:ext cx="1587" cy="9413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08" name="Group 48"/>
          <p:cNvGrpSpPr>
            <a:grpSpLocks/>
          </p:cNvGrpSpPr>
          <p:nvPr/>
        </p:nvGrpSpPr>
        <p:grpSpPr bwMode="auto">
          <a:xfrm>
            <a:off x="8494713" y="4736928"/>
            <a:ext cx="1009650" cy="1201738"/>
            <a:chOff x="2536" y="1624"/>
            <a:chExt cx="636" cy="613"/>
          </a:xfrm>
        </p:grpSpPr>
        <p:sp>
          <p:nvSpPr>
            <p:cNvPr id="109" name="Line 49"/>
            <p:cNvSpPr>
              <a:spLocks noChangeShapeType="1"/>
            </p:cNvSpPr>
            <p:nvPr/>
          </p:nvSpPr>
          <p:spPr bwMode="auto">
            <a:xfrm>
              <a:off x="2800" y="1624"/>
              <a:ext cx="0" cy="336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AU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0" name="Text Box 50"/>
            <p:cNvSpPr txBox="1">
              <a:spLocks noChangeArrowheads="1"/>
            </p:cNvSpPr>
            <p:nvPr/>
          </p:nvSpPr>
          <p:spPr bwMode="auto">
            <a:xfrm>
              <a:off x="2536" y="1972"/>
              <a:ext cx="636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GB" altLang="en-US" sz="2800">
                  <a:solidFill>
                    <a:srgbClr val="3366FF"/>
                  </a:solidFill>
                  <a:latin typeface="Comic Sans MS" pitchFamily="66" charset="0"/>
                </a:rPr>
                <a:t>0.40</a:t>
              </a:r>
            </a:p>
          </p:txBody>
        </p:sp>
      </p:grpSp>
      <p:sp>
        <p:nvSpPr>
          <p:cNvPr id="111" name="Text Box 54"/>
          <p:cNvSpPr txBox="1">
            <a:spLocks noChangeArrowheads="1"/>
          </p:cNvSpPr>
          <p:nvPr/>
        </p:nvSpPr>
        <p:spPr bwMode="auto">
          <a:xfrm>
            <a:off x="3432175" y="4813128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No</a:t>
            </a:r>
          </a:p>
        </p:txBody>
      </p:sp>
      <p:sp>
        <p:nvSpPr>
          <p:cNvPr id="112" name="Text Box 55"/>
          <p:cNvSpPr txBox="1">
            <a:spLocks noChangeArrowheads="1"/>
          </p:cNvSpPr>
          <p:nvPr/>
        </p:nvSpPr>
        <p:spPr bwMode="auto">
          <a:xfrm>
            <a:off x="6153150" y="4797253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113" name="Text Box 56"/>
          <p:cNvSpPr txBox="1">
            <a:spLocks noChangeArrowheads="1"/>
          </p:cNvSpPr>
          <p:nvPr/>
        </p:nvSpPr>
        <p:spPr bwMode="auto">
          <a:xfrm>
            <a:off x="9256713" y="4846466"/>
            <a:ext cx="933450" cy="40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altLang="en-US" sz="2000">
                <a:solidFill>
                  <a:prstClr val="black"/>
                </a:solidFill>
                <a:latin typeface="Comic Sans MS" pitchFamily="66" charset="0"/>
              </a:rPr>
              <a:t>Yes</a:t>
            </a:r>
          </a:p>
        </p:txBody>
      </p:sp>
      <p:sp>
        <p:nvSpPr>
          <p:cNvPr id="114" name="Content Placeholder 2"/>
          <p:cNvSpPr>
            <a:spLocks noGrp="1"/>
          </p:cNvSpPr>
          <p:nvPr>
            <p:ph idx="1"/>
          </p:nvPr>
        </p:nvSpPr>
        <p:spPr>
          <a:xfrm>
            <a:off x="1525538" y="692697"/>
            <a:ext cx="9142462" cy="1889100"/>
          </a:xfrm>
        </p:spPr>
        <p:txBody>
          <a:bodyPr>
            <a:normAutofit lnSpcReduction="10000"/>
          </a:bodyPr>
          <a:lstStyle/>
          <a:p>
            <a:r>
              <a:rPr lang="en-AU" b="1" dirty="0"/>
              <a:t>Chop it, check it, change it</a:t>
            </a:r>
          </a:p>
          <a:p>
            <a:pPr lvl="2"/>
            <a:r>
              <a:rPr lang="en-AU" b="1" dirty="0"/>
              <a:t>Chop</a:t>
            </a:r>
            <a:r>
              <a:rPr lang="en-AU" dirty="0"/>
              <a:t> the number after the </a:t>
            </a:r>
            <a:r>
              <a:rPr lang="en-AU" dirty="0" err="1"/>
              <a:t>d.p.</a:t>
            </a:r>
            <a:r>
              <a:rPr lang="en-AU" dirty="0"/>
              <a:t> you want</a:t>
            </a:r>
          </a:p>
          <a:p>
            <a:pPr lvl="2"/>
            <a:r>
              <a:rPr lang="en-AU" b="1" dirty="0"/>
              <a:t>Check</a:t>
            </a:r>
            <a:r>
              <a:rPr lang="en-AU" dirty="0"/>
              <a:t> the next digit </a:t>
            </a:r>
          </a:p>
          <a:p>
            <a:pPr lvl="2"/>
            <a:r>
              <a:rPr lang="en-AU" b="1" dirty="0"/>
              <a:t>Change</a:t>
            </a:r>
            <a:r>
              <a:rPr lang="en-AU" dirty="0"/>
              <a:t> if it’s 5 or more</a:t>
            </a:r>
          </a:p>
        </p:txBody>
      </p:sp>
    </p:spTree>
    <p:extLst>
      <p:ext uri="{BB962C8B-B14F-4D97-AF65-F5344CB8AC3E}">
        <p14:creationId xmlns:p14="http://schemas.microsoft.com/office/powerpoint/2010/main" val="403588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utoUpdateAnimBg="0"/>
      <p:bldP spid="91" grpId="0" animBg="1"/>
      <p:bldP spid="95" grpId="0" autoUpdateAnimBg="0"/>
      <p:bldP spid="99" grpId="0" animBg="1"/>
      <p:bldP spid="103" grpId="0" autoUpdateAnimBg="0"/>
      <p:bldP spid="107" grpId="0" animBg="1"/>
      <p:bldP spid="111" grpId="0" animBg="1" autoUpdateAnimBg="0"/>
      <p:bldP spid="112" grpId="0" animBg="1" autoUpdateAnimBg="0"/>
      <p:bldP spid="113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AF8CF9-4A21-4CA3-B8B6-578852819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700FF3-ACA8-4FDC-BEC9-A9AAAB8C5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Round these numbers:</a:t>
            </a:r>
          </a:p>
          <a:p>
            <a:pPr marL="0" indent="0">
              <a:buNone/>
            </a:pPr>
            <a:r>
              <a:rPr lang="en-US" dirty="0"/>
              <a:t>Start by writing the number into our place value sheet (whiteboards)</a:t>
            </a:r>
          </a:p>
          <a:p>
            <a:pPr marL="514350" indent="-514350">
              <a:buAutoNum type="alphaLcParenR"/>
            </a:pPr>
            <a:r>
              <a:rPr lang="en-US" dirty="0"/>
              <a:t>12 to the nearest 10 </a:t>
            </a:r>
          </a:p>
          <a:p>
            <a:pPr marL="514350" indent="-514350">
              <a:buAutoNum type="alphaLcParenR"/>
            </a:pPr>
            <a:r>
              <a:rPr lang="en-US" dirty="0"/>
              <a:t>145 to the nearest 100 </a:t>
            </a:r>
          </a:p>
          <a:p>
            <a:pPr marL="514350" indent="-514350">
              <a:buAutoNum type="alphaLcParenR"/>
            </a:pPr>
            <a:r>
              <a:rPr lang="en-US" dirty="0"/>
              <a:t>1914 to the nearest 1000</a:t>
            </a:r>
          </a:p>
          <a:p>
            <a:pPr marL="514350" indent="-514350">
              <a:buAutoNum type="alphaLcParenR"/>
            </a:pPr>
            <a:r>
              <a:rPr lang="en-US" dirty="0"/>
              <a:t>9.12 to the nearest one (unit) </a:t>
            </a:r>
          </a:p>
          <a:p>
            <a:pPr marL="514350" indent="-514350">
              <a:buAutoNum type="alphaLcParenR"/>
            </a:pPr>
            <a:r>
              <a:rPr lang="en-US" dirty="0"/>
              <a:t>10.234 to the nearest TEN</a:t>
            </a:r>
            <a:r>
              <a:rPr lang="en-US" u="sng" dirty="0"/>
              <a:t>THS</a:t>
            </a: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12. 5431 to the nearest HUNDRED</a:t>
            </a:r>
            <a:r>
              <a:rPr lang="en-US" u="sng" dirty="0"/>
              <a:t>THS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07767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1DEB-D9B5-42FC-8DBE-0293CECA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Skills practice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AFA57-4426-4617-8710-DC03D4A23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Astounding rounding Task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009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8789-39B4-43AA-BB75-9CDA5A7D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Fist to five reflection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78778-F79C-4D9E-A01B-E5B5203C5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 Identify place value either side of the decimal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4000" dirty="0"/>
              <a:t> Be able to round numbers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9664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646</Words>
  <Application>Microsoft Office PowerPoint</Application>
  <PresentationFormat>Widescreen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Comic Sans MS</vt:lpstr>
      <vt:lpstr>Wingdings</vt:lpstr>
      <vt:lpstr>Office Theme</vt:lpstr>
      <vt:lpstr>1_Office Theme</vt:lpstr>
      <vt:lpstr>Lesson objective </vt:lpstr>
      <vt:lpstr>Daily review </vt:lpstr>
      <vt:lpstr>Whiteboards </vt:lpstr>
      <vt:lpstr>Puzzle practice</vt:lpstr>
      <vt:lpstr>Place value </vt:lpstr>
      <vt:lpstr>Write these numbers into your sheet </vt:lpstr>
      <vt:lpstr>Rounding Whole Numbers</vt:lpstr>
      <vt:lpstr>Rounding Whole Numbers</vt:lpstr>
      <vt:lpstr>Rounding Decimals</vt:lpstr>
      <vt:lpstr>Rounding Decimals</vt:lpstr>
      <vt:lpstr>Rounding Decimals</vt:lpstr>
      <vt:lpstr>Whiteboards </vt:lpstr>
      <vt:lpstr>Skills practice</vt:lpstr>
      <vt:lpstr>Fist to five reflection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11</cp:revision>
  <dcterms:created xsi:type="dcterms:W3CDTF">2022-02-08T03:09:47Z</dcterms:created>
  <dcterms:modified xsi:type="dcterms:W3CDTF">2023-02-07T11:43:23Z</dcterms:modified>
</cp:coreProperties>
</file>
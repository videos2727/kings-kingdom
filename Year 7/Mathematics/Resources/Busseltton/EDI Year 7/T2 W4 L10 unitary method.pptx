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0" r:id="rId2"/>
    <p:sldId id="270" r:id="rId3"/>
    <p:sldId id="274" r:id="rId4"/>
    <p:sldId id="281" r:id="rId5"/>
    <p:sldId id="282" r:id="rId6"/>
    <p:sldId id="273" r:id="rId7"/>
    <p:sldId id="267" r:id="rId8"/>
    <p:sldId id="283" r:id="rId9"/>
    <p:sldId id="257" r:id="rId10"/>
    <p:sldId id="278" r:id="rId11"/>
    <p:sldId id="277" r:id="rId12"/>
    <p:sldId id="268" r:id="rId13"/>
    <p:sldId id="269" r:id="rId14"/>
    <p:sldId id="271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49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106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-7651"/>
            <a:ext cx="9144000" cy="70034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9144000" cy="55446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189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9659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6177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11584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88659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0975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1243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05120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50773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766678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(Re)Tea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180" y="766354"/>
            <a:ext cx="8884128" cy="5904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15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16181" y="141439"/>
            <a:ext cx="1270493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1500" dirty="0"/>
              <a:t>(Re)Teach</a:t>
            </a:r>
          </a:p>
        </p:txBody>
      </p:sp>
    </p:spTree>
    <p:extLst>
      <p:ext uri="{BB962C8B-B14F-4D97-AF65-F5344CB8AC3E}">
        <p14:creationId xmlns:p14="http://schemas.microsoft.com/office/powerpoint/2010/main" val="20870987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Retrie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180" y="766354"/>
            <a:ext cx="8884128" cy="5904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15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16181" y="141439"/>
            <a:ext cx="1112230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1500" dirty="0"/>
              <a:t>Retrieve</a:t>
            </a:r>
          </a:p>
        </p:txBody>
      </p:sp>
    </p:spTree>
    <p:extLst>
      <p:ext uri="{BB962C8B-B14F-4D97-AF65-F5344CB8AC3E}">
        <p14:creationId xmlns:p14="http://schemas.microsoft.com/office/powerpoint/2010/main" val="41757702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ly (I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180" y="766354"/>
            <a:ext cx="8884128" cy="5904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15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16181" y="141439"/>
            <a:ext cx="1323246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1500" dirty="0"/>
              <a:t>Apply (I Do)</a:t>
            </a:r>
          </a:p>
        </p:txBody>
      </p:sp>
    </p:spTree>
    <p:extLst>
      <p:ext uri="{BB962C8B-B14F-4D97-AF65-F5344CB8AC3E}">
        <p14:creationId xmlns:p14="http://schemas.microsoft.com/office/powerpoint/2010/main" val="10964698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ly (We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180" y="766354"/>
            <a:ext cx="8884128" cy="5904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15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16181" y="141439"/>
            <a:ext cx="1602088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1500" dirty="0"/>
              <a:t>Apply (We Do)</a:t>
            </a:r>
          </a:p>
        </p:txBody>
      </p:sp>
    </p:spTree>
    <p:extLst>
      <p:ext uri="{BB962C8B-B14F-4D97-AF65-F5344CB8AC3E}">
        <p14:creationId xmlns:p14="http://schemas.microsoft.com/office/powerpoint/2010/main" val="16482962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pply (You D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EA4C0-DFEB-416B-9F49-DC26B90F42A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6180" y="766354"/>
            <a:ext cx="8884128" cy="5904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500"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pPr marL="0" indent="0">
              <a:buNone/>
            </a:pPr>
            <a:r>
              <a:rPr lang="en-AU" sz="1500" dirty="0">
                <a:latin typeface="Verdana" panose="020B0604030504040204" pitchFamily="34" charset="0"/>
                <a:ea typeface="Verdana" panose="020B0604030504040204" pitchFamily="34" charset="0"/>
              </a:rPr>
              <a:t>Click to add text</a:t>
            </a:r>
            <a:endParaRPr lang="en-AU" dirty="0">
              <a:latin typeface="Arial Rounded MT Bold" panose="020F0704030504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3709EF-28B9-4448-A51E-A59C1741C364}"/>
              </a:ext>
            </a:extLst>
          </p:cNvPr>
          <p:cNvSpPr txBox="1"/>
          <p:nvPr userDrawn="1"/>
        </p:nvSpPr>
        <p:spPr>
          <a:xfrm>
            <a:off x="116181" y="141439"/>
            <a:ext cx="1602088" cy="511704"/>
          </a:xfrm>
          <a:prstGeom prst="round2DiagRect">
            <a:avLst/>
          </a:prstGeom>
          <a:solidFill>
            <a:srgbClr val="154983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rtlCol="0" anchor="ctr">
            <a:noAutofit/>
          </a:bodyPr>
          <a:lstStyle>
            <a:defPPr>
              <a:defRPr lang="en-US"/>
            </a:defPPr>
            <a:lvl1pPr algn="ctr">
              <a:defRPr sz="1400" b="0" i="0">
                <a:solidFill>
                  <a:schemeClr val="bg1"/>
                </a:solidFill>
                <a:latin typeface="Arial Rounded MT Bold" panose="020F0704030504030204" pitchFamily="34" charset="0"/>
                <a:cs typeface="Futura Medium" panose="020B0602020204020303" pitchFamily="34" charset="-79"/>
              </a:defRPr>
            </a:lvl1pPr>
          </a:lstStyle>
          <a:p>
            <a:pPr lvl="0"/>
            <a:r>
              <a:rPr lang="en-US" sz="1500" dirty="0"/>
              <a:t>Apply (You Do)</a:t>
            </a:r>
          </a:p>
        </p:txBody>
      </p:sp>
    </p:spTree>
    <p:extLst>
      <p:ext uri="{BB962C8B-B14F-4D97-AF65-F5344CB8AC3E}">
        <p14:creationId xmlns:p14="http://schemas.microsoft.com/office/powerpoint/2010/main" val="2584225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5CA370-D941-4882-AA11-6A61720899D1}" type="datetimeFigureOut">
              <a:rPr lang="en-AU" smtClean="0"/>
              <a:t>16/05/2023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7B2B97-AF7C-451D-9924-CF684DF331B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11170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cid:c0e5c1d9-8eab-453e-af86-b4e68d3a71bc@ausprd01.prod.outlook.com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cid:729b8191-8f9b-47d1-bee0-4ab8558dd7e3@ausprd01.prod.outlook.com" TargetMode="Externa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1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.png"/><Relationship Id="rId5" Type="http://schemas.openxmlformats.org/officeDocument/2006/relationships/image" Target="../media/image60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5.png"/><Relationship Id="rId7" Type="http://schemas.openxmlformats.org/officeDocument/2006/relationships/image" Target="../media/image8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5.png"/><Relationship Id="rId4" Type="http://schemas.openxmlformats.org/officeDocument/2006/relationships/image" Target="../media/image5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cid:3f38f1bd-2ce2-464b-aabf-196ffba5acd7@ausprd01.prod.outlook.com" TargetMode="External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png"/><Relationship Id="rId2" Type="http://schemas.openxmlformats.org/officeDocument/2006/relationships/image" Target="../media/image6.jpeg"/><Relationship Id="rId16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cid:78640e03-8920-4c06-b68d-44dc8ac665f4@ausprd01.prod.outlook.com" TargetMode="External"/><Relationship Id="rId15" Type="http://schemas.openxmlformats.org/officeDocument/2006/relationships/image" Target="../media/image21.png"/><Relationship Id="rId10" Type="http://schemas.openxmlformats.org/officeDocument/2006/relationships/image" Target="../media/image16.png"/><Relationship Id="rId4" Type="http://schemas.openxmlformats.org/officeDocument/2006/relationships/image" Target="../media/image7.jpeg"/><Relationship Id="rId9" Type="http://schemas.openxmlformats.org/officeDocument/2006/relationships/image" Target="../media/image15.png"/><Relationship Id="rId1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6.png"/><Relationship Id="rId18" Type="http://schemas.openxmlformats.org/officeDocument/2006/relationships/image" Target="../media/image30.png"/><Relationship Id="rId3" Type="http://schemas.openxmlformats.org/officeDocument/2006/relationships/image" Target="../media/image8.png"/><Relationship Id="rId7" Type="http://schemas.openxmlformats.org/officeDocument/2006/relationships/image" Target="../media/image27.png"/><Relationship Id="rId12" Type="http://schemas.openxmlformats.org/officeDocument/2006/relationships/image" Target="../media/image35.png"/><Relationship Id="rId17" Type="http://schemas.openxmlformats.org/officeDocument/2006/relationships/image" Target="../media/image29.png"/><Relationship Id="rId2" Type="http://schemas.openxmlformats.org/officeDocument/2006/relationships/image" Target="../media/image25.png"/><Relationship Id="rId16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4.png"/><Relationship Id="rId5" Type="http://schemas.openxmlformats.org/officeDocument/2006/relationships/image" Target="../media/image11.png"/><Relationship Id="rId15" Type="http://schemas.openxmlformats.org/officeDocument/2006/relationships/image" Target="../media/image38.png"/><Relationship Id="rId4" Type="http://schemas.openxmlformats.org/officeDocument/2006/relationships/image" Target="../media/image10.png"/><Relationship Id="rId1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26" Type="http://schemas.openxmlformats.org/officeDocument/2006/relationships/image" Target="../media/image49.png"/><Relationship Id="rId3" Type="http://schemas.openxmlformats.org/officeDocument/2006/relationships/image" Target="../media/image8.png"/><Relationship Id="rId21" Type="http://schemas.openxmlformats.org/officeDocument/2006/relationships/image" Target="../media/image46.png"/><Relationship Id="rId34" Type="http://schemas.openxmlformats.org/officeDocument/2006/relationships/image" Target="../media/image30.png"/><Relationship Id="rId7" Type="http://schemas.openxmlformats.org/officeDocument/2006/relationships/image" Target="../media/image27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5" Type="http://schemas.openxmlformats.org/officeDocument/2006/relationships/image" Target="../media/image50.png"/><Relationship Id="rId33" Type="http://schemas.openxmlformats.org/officeDocument/2006/relationships/image" Target="../media/image29.png"/><Relationship Id="rId2" Type="http://schemas.openxmlformats.org/officeDocument/2006/relationships/image" Target="../media/image25.png"/><Relationship Id="rId16" Type="http://schemas.openxmlformats.org/officeDocument/2006/relationships/image" Target="../media/image41.png"/><Relationship Id="rId20" Type="http://schemas.openxmlformats.org/officeDocument/2006/relationships/image" Target="../media/image45.png"/><Relationship Id="rId29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6.png"/><Relationship Id="rId24" Type="http://schemas.openxmlformats.org/officeDocument/2006/relationships/image" Target="../media/image47.png"/><Relationship Id="rId32" Type="http://schemas.openxmlformats.org/officeDocument/2006/relationships/image" Target="../media/image57.png"/><Relationship Id="rId5" Type="http://schemas.openxmlformats.org/officeDocument/2006/relationships/image" Target="../media/image11.png"/><Relationship Id="rId15" Type="http://schemas.openxmlformats.org/officeDocument/2006/relationships/image" Target="../media/image40.png"/><Relationship Id="rId23" Type="http://schemas.openxmlformats.org/officeDocument/2006/relationships/image" Target="../media/image48.png"/><Relationship Id="rId28" Type="http://schemas.openxmlformats.org/officeDocument/2006/relationships/image" Target="../media/image53.png"/><Relationship Id="rId10" Type="http://schemas.openxmlformats.org/officeDocument/2006/relationships/image" Target="../media/image35.png"/><Relationship Id="rId19" Type="http://schemas.openxmlformats.org/officeDocument/2006/relationships/image" Target="../media/image44.png"/><Relationship Id="rId31" Type="http://schemas.openxmlformats.org/officeDocument/2006/relationships/image" Target="../media/image56.png"/><Relationship Id="rId4" Type="http://schemas.openxmlformats.org/officeDocument/2006/relationships/image" Target="../media/image10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Relationship Id="rId22" Type="http://schemas.openxmlformats.org/officeDocument/2006/relationships/image" Target="../media/image33.png"/><Relationship Id="rId27" Type="http://schemas.openxmlformats.org/officeDocument/2006/relationships/image" Target="../media/image52.png"/><Relationship Id="rId30" Type="http://schemas.openxmlformats.org/officeDocument/2006/relationships/image" Target="../media/image55.png"/><Relationship Id="rId8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CD8BA1-7167-40DB-8E0B-D3A3CCC69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AU" dirty="0"/>
              <a:t>Lesson objective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46926-AE40-4B09-B37B-F2E79D79BB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AU" dirty="0"/>
              <a:t>Title: </a:t>
            </a:r>
            <a:r>
              <a:rPr lang="en-AU" dirty="0">
                <a:solidFill>
                  <a:srgbClr val="00B0F0"/>
                </a:solidFill>
              </a:rPr>
              <a:t>Best buy</a:t>
            </a:r>
          </a:p>
          <a:p>
            <a:pPr marL="0" indent="0" algn="ctr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AU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Compare items using the unitary method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 State the probability of single events 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Review probability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Unitary method best buys </a:t>
            </a:r>
          </a:p>
        </p:txBody>
      </p:sp>
    </p:spTree>
    <p:extLst>
      <p:ext uri="{BB962C8B-B14F-4D97-AF65-F5344CB8AC3E}">
        <p14:creationId xmlns:p14="http://schemas.microsoft.com/office/powerpoint/2010/main" val="41352179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ECB126-5402-49D0-A7AC-AE7D948BAB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3200" dirty="0">
                    <a:solidFill>
                      <a:srgbClr val="FF0000"/>
                    </a:solidFill>
                  </a:rPr>
                  <a:t>Sample space</a:t>
                </a:r>
              </a:p>
              <a:p>
                <a:pPr marL="457200" indent="-457200">
                  <a:buFontTx/>
                  <a:buChar char="-"/>
                </a:pPr>
                <a:r>
                  <a:rPr lang="en-US" sz="2800" dirty="0">
                    <a:solidFill>
                      <a:srgbClr val="FF0000"/>
                    </a:solidFill>
                  </a:rPr>
                  <a:t>A list of all possibilities for an event </a:t>
                </a:r>
              </a:p>
              <a:p>
                <a:endParaRPr lang="en-US" sz="2800" dirty="0"/>
              </a:p>
              <a:p>
                <a:r>
                  <a:rPr lang="en-US" sz="2800" dirty="0"/>
                  <a:t>Probability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𝑓𝑎𝑣𝑜𝑢𝑟𝑎𝑏𝑙𝑒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𝑻𝑶𝑻𝑨𝑳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2800" dirty="0"/>
              </a:p>
              <a:p>
                <a:endParaRPr lang="en-AU" sz="2800" dirty="0"/>
              </a:p>
              <a:p>
                <a:r>
                  <a:rPr lang="en-AU" sz="2800" dirty="0"/>
                  <a:t>E.g., Rolling a 6-sided die </a:t>
                </a:r>
              </a:p>
              <a:p>
                <a:endParaRPr lang="en-AU" sz="2800" dirty="0"/>
              </a:p>
              <a:p>
                <a:r>
                  <a:rPr lang="en-AU" sz="2800" dirty="0"/>
                  <a:t>Sample space </a:t>
                </a:r>
              </a:p>
              <a:p>
                <a:endParaRPr lang="en-AU" sz="2800" dirty="0"/>
              </a:p>
              <a:p>
                <a:r>
                  <a:rPr lang="en-AU" sz="2800" dirty="0"/>
                  <a:t>P(4) = 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5ECB126-5402-49D0-A7AC-AE7D948BAB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16" t="-134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6396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7E032B-ABC7-4ED6-97AF-38B99FD0D69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sz="4000" dirty="0">
                    <a:solidFill>
                      <a:srgbClr val="FF0000"/>
                    </a:solidFill>
                  </a:rPr>
                  <a:t>Sample space</a:t>
                </a:r>
              </a:p>
              <a:p>
                <a:pPr marL="457200" indent="-457200">
                  <a:buFontTx/>
                  <a:buChar char="-"/>
                </a:pPr>
                <a:r>
                  <a:rPr lang="en-US" sz="3600" dirty="0">
                    <a:solidFill>
                      <a:srgbClr val="FF0000"/>
                    </a:solidFill>
                  </a:rPr>
                  <a:t>A list of all possibilities for an event </a:t>
                </a:r>
              </a:p>
              <a:p>
                <a:endParaRPr lang="en-US" sz="3600" dirty="0"/>
              </a:p>
              <a:p>
                <a:r>
                  <a:rPr lang="en-US" sz="3600" dirty="0"/>
                  <a:t>Probability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𝑓𝑎𝑣𝑜𝑢𝑟𝑎𝑏𝑙𝑒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</m:num>
                      <m:den>
                        <m:r>
                          <a:rPr lang="en-US" sz="3600" b="1" i="1" smtClean="0">
                            <a:latin typeface="Cambria Math" panose="02040503050406030204" pitchFamily="18" charset="0"/>
                          </a:rPr>
                          <m:t>𝑻𝑶𝑻𝑨𝑳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𝑛𝑢𝑚𝑏𝑒𝑟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𝑜𝑓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𝑜𝑢𝑡𝑐𝑜𝑚𝑒𝑠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</m:oMath>
                </a14:m>
                <a:endParaRPr lang="en-US" sz="3600" dirty="0"/>
              </a:p>
              <a:p>
                <a:pPr algn="ctr"/>
                <a:endParaRPr lang="en-AU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B7E032B-ABC7-4ED6-97AF-38B99FD0D6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128" t="-155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3554A686-951A-46FF-90CD-F00EBADBFA3D}"/>
              </a:ext>
            </a:extLst>
          </p:cNvPr>
          <p:cNvSpPr/>
          <p:nvPr/>
        </p:nvSpPr>
        <p:spPr>
          <a:xfrm>
            <a:off x="611560" y="1484784"/>
            <a:ext cx="7704856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C7CC92-EFC8-445D-AC08-4554543CC98A}"/>
              </a:ext>
            </a:extLst>
          </p:cNvPr>
          <p:cNvSpPr/>
          <p:nvPr/>
        </p:nvSpPr>
        <p:spPr>
          <a:xfrm>
            <a:off x="4788024" y="2508014"/>
            <a:ext cx="3240360" cy="5760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8EE7AE8-D932-46BB-B14E-584FB6FD0A2D}"/>
              </a:ext>
            </a:extLst>
          </p:cNvPr>
          <p:cNvSpPr/>
          <p:nvPr/>
        </p:nvSpPr>
        <p:spPr>
          <a:xfrm>
            <a:off x="3180358" y="3197859"/>
            <a:ext cx="2471762" cy="3751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9201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D01779D-1558-4996-8A05-DAC95B07E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Letters from the word FISHING are put on cards and shuffled. </a:t>
            </a:r>
          </a:p>
          <a:p>
            <a:endParaRPr lang="en-US" sz="4800" dirty="0"/>
          </a:p>
          <a:p>
            <a:pPr marL="914400" indent="-914400">
              <a:buAutoNum type="alphaLcParenR"/>
            </a:pPr>
            <a:r>
              <a:rPr lang="en-US" sz="4800" dirty="0"/>
              <a:t>Sample space </a:t>
            </a:r>
          </a:p>
          <a:p>
            <a:pPr marL="914400" indent="-914400">
              <a:buAutoNum type="alphaLcParenR"/>
            </a:pPr>
            <a:endParaRPr lang="en-US" sz="4800" dirty="0"/>
          </a:p>
          <a:p>
            <a:pPr marL="914400" indent="-914400">
              <a:buAutoNum type="alphaLcParenR"/>
            </a:pPr>
            <a:r>
              <a:rPr lang="en-US" sz="4800" dirty="0"/>
              <a:t>Drawing the letter I </a:t>
            </a:r>
            <a:endParaRPr lang="en-AU" sz="4800" dirty="0"/>
          </a:p>
        </p:txBody>
      </p:sp>
    </p:spTree>
    <p:extLst>
      <p:ext uri="{BB962C8B-B14F-4D97-AF65-F5344CB8AC3E}">
        <p14:creationId xmlns:p14="http://schemas.microsoft.com/office/powerpoint/2010/main" val="31560929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5F138CD-1144-4A9C-BDD8-C45EB6AE5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A bag has 4 marbles in it, 1 red, 1 yellow, 1 green and 1 blue.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pPr marL="742950" marR="0" lvl="0" indent="-7429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What is the sample space? </a:t>
            </a:r>
          </a:p>
          <a:p>
            <a:pPr marL="742950" marR="0" lvl="0" indent="-7429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AutoNum type="alphaLcParenR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 panose="020B0604030504040204" pitchFamily="34" charset="0"/>
                <a:ea typeface="Verdana" panose="020B0604030504040204" pitchFamily="34" charset="0"/>
                <a:cs typeface="+mn-cs"/>
              </a:rPr>
              <a:t>Probability of pulling out a red?</a:t>
            </a:r>
            <a:endParaRPr kumimoji="0" lang="en-AU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 panose="020B0604030504040204" pitchFamily="34" charset="0"/>
              <a:ea typeface="Verdana" panose="020B0604030504040204" pitchFamily="34" charset="0"/>
              <a:cs typeface="+mn-cs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16393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1">
            <a:extLst>
              <a:ext uri="{FF2B5EF4-FFF2-40B4-BE49-F238E27FC236}">
                <a16:creationId xmlns:a16="http://schemas.microsoft.com/office/drawing/2014/main" id="{CD6FEE79-3B7B-BBDA-5E27-1ED3F1465B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/>
              <a:t>Write into exercise bools </a:t>
            </a:r>
          </a:p>
        </p:txBody>
      </p:sp>
      <p:pic>
        <p:nvPicPr>
          <p:cNvPr id="1026" name="Picture 2" descr="Spinner 5 Colour - MTA Catalogue">
            <a:extLst>
              <a:ext uri="{FF2B5EF4-FFF2-40B4-BE49-F238E27FC236}">
                <a16:creationId xmlns:a16="http://schemas.microsoft.com/office/drawing/2014/main" id="{002194E5-EB07-4991-8DE3-3280D7A74A2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54857" y="2276872"/>
            <a:ext cx="4340944" cy="310067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73" name="Content Placeholder 3">
            <a:extLst>
              <a:ext uri="{FF2B5EF4-FFF2-40B4-BE49-F238E27FC236}">
                <a16:creationId xmlns:a16="http://schemas.microsoft.com/office/drawing/2014/main" id="{3C69698A-4ABB-C219-95A8-4481F1F10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is the sample space?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P(green)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Probability of not getting green? </a:t>
            </a:r>
          </a:p>
        </p:txBody>
      </p:sp>
    </p:spTree>
    <p:extLst>
      <p:ext uri="{BB962C8B-B14F-4D97-AF65-F5344CB8AC3E}">
        <p14:creationId xmlns:p14="http://schemas.microsoft.com/office/powerpoint/2010/main" val="26601999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20688"/>
          </a:xfrm>
        </p:spPr>
        <p:txBody>
          <a:bodyPr>
            <a:normAutofit fontScale="90000"/>
          </a:bodyPr>
          <a:lstStyle/>
          <a:p>
            <a:r>
              <a:rPr lang="en-AU" b="1" dirty="0"/>
              <a:t>What does ‘Best buy’ mean?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3448" y="620688"/>
            <a:ext cx="9147448" cy="5760640"/>
          </a:xfrm>
        </p:spPr>
        <p:txBody>
          <a:bodyPr/>
          <a:lstStyle/>
          <a:p>
            <a:r>
              <a:rPr lang="en-AU" dirty="0"/>
              <a:t>Compare different products on their value for money</a:t>
            </a:r>
          </a:p>
          <a:p>
            <a:r>
              <a:rPr lang="en-AU" dirty="0"/>
              <a:t>Get more product for the same price</a:t>
            </a:r>
          </a:p>
          <a:p>
            <a:r>
              <a:rPr lang="en-AU" dirty="0"/>
              <a:t>Pay less for the same amount of product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1475656" y="3305371"/>
            <a:ext cx="2552702" cy="2450563"/>
            <a:chOff x="785263" y="3356993"/>
            <a:chExt cx="2552702" cy="2450563"/>
          </a:xfrm>
        </p:grpSpPr>
        <p:pic>
          <p:nvPicPr>
            <p:cNvPr id="7" name="Picture 6" descr="cid:c0e5c1d9-8eab-453e-af86-b4e68d3a71bc@ausprd01.prod.outlook.com"/>
            <p:cNvPicPr/>
            <p:nvPr/>
          </p:nvPicPr>
          <p:blipFill rotWithShape="1">
            <a:blip r:embed="rId2" r:link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680" t="21822" r="10765" b="18826"/>
            <a:stretch/>
          </p:blipFill>
          <p:spPr bwMode="auto">
            <a:xfrm rot="5400000">
              <a:off x="1415263" y="3884854"/>
              <a:ext cx="1292703" cy="25527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 descr="cid:c0e5c1d9-8eab-453e-af86-b4e68d3a71bc@ausprd01.prod.outlook.com"/>
            <p:cNvPicPr/>
            <p:nvPr/>
          </p:nvPicPr>
          <p:blipFill rotWithShape="1">
            <a:blip r:embed="rId2" r:link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0375" t="21822" r="39423" b="18826"/>
            <a:stretch>
              <a:fillRect/>
            </a:stretch>
          </p:blipFill>
          <p:spPr bwMode="auto">
            <a:xfrm rot="5400000">
              <a:off x="1482684" y="2659572"/>
              <a:ext cx="1157860" cy="2552701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" name="Group 10"/>
          <p:cNvGrpSpPr/>
          <p:nvPr/>
        </p:nvGrpSpPr>
        <p:grpSpPr>
          <a:xfrm>
            <a:off x="4788024" y="3308048"/>
            <a:ext cx="2662704" cy="2447886"/>
            <a:chOff x="3503532" y="3356992"/>
            <a:chExt cx="2662704" cy="2447886"/>
          </a:xfrm>
        </p:grpSpPr>
        <p:pic>
          <p:nvPicPr>
            <p:cNvPr id="6" name="Picture 5" descr="cid:729b8191-8f9b-47d1-bee0-4ab8558dd7e3@ausprd01.prod.outlook.com"/>
            <p:cNvPicPr>
              <a:picLocks noChangeAspect="1"/>
            </p:cNvPicPr>
            <p:nvPr/>
          </p:nvPicPr>
          <p:blipFill rotWithShape="1">
            <a:blip r:embed="rId4" r:link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8216" t="15992" r="43187" b="30098"/>
            <a:stretch/>
          </p:blipFill>
          <p:spPr bwMode="auto">
            <a:xfrm rot="5400000">
              <a:off x="4222816" y="2637709"/>
              <a:ext cx="1224137" cy="266270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" name="Picture 9" descr="cid:729b8191-8f9b-47d1-bee0-4ab8558dd7e3@ausprd01.prod.outlook.com"/>
            <p:cNvPicPr>
              <a:picLocks noChangeAspect="1"/>
            </p:cNvPicPr>
            <p:nvPr/>
          </p:nvPicPr>
          <p:blipFill rotWithShape="1">
            <a:blip r:embed="rId4" r:link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497" t="16897" r="18912" b="29193"/>
            <a:stretch>
              <a:fillRect/>
            </a:stretch>
          </p:blipFill>
          <p:spPr bwMode="auto">
            <a:xfrm rot="5400000">
              <a:off x="4223010" y="3861653"/>
              <a:ext cx="1223747" cy="26627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Rounded Rectangle 12"/>
          <p:cNvSpPr/>
          <p:nvPr/>
        </p:nvSpPr>
        <p:spPr>
          <a:xfrm>
            <a:off x="1403648" y="4869160"/>
            <a:ext cx="936103" cy="5040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ounded Rectangle 13"/>
          <p:cNvSpPr/>
          <p:nvPr/>
        </p:nvSpPr>
        <p:spPr>
          <a:xfrm>
            <a:off x="4788024" y="4857554"/>
            <a:ext cx="1008112" cy="5040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ounded Rectangle 18"/>
          <p:cNvSpPr/>
          <p:nvPr/>
        </p:nvSpPr>
        <p:spPr>
          <a:xfrm>
            <a:off x="323528" y="1772816"/>
            <a:ext cx="6264696" cy="50405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Rounded Rectangle 19"/>
          <p:cNvSpPr/>
          <p:nvPr/>
        </p:nvSpPr>
        <p:spPr>
          <a:xfrm>
            <a:off x="323528" y="2348879"/>
            <a:ext cx="6912768" cy="45149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Rounded Rectangle 20"/>
          <p:cNvSpPr/>
          <p:nvPr/>
        </p:nvSpPr>
        <p:spPr>
          <a:xfrm>
            <a:off x="1475656" y="5445224"/>
            <a:ext cx="1276351" cy="373168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2" name="Rounded Rectangle 21"/>
          <p:cNvSpPr/>
          <p:nvPr/>
        </p:nvSpPr>
        <p:spPr>
          <a:xfrm>
            <a:off x="4813202" y="5453366"/>
            <a:ext cx="1276351" cy="373168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/>
          <p:cNvSpPr txBox="1"/>
          <p:nvPr/>
        </p:nvSpPr>
        <p:spPr>
          <a:xfrm rot="984475">
            <a:off x="6008260" y="1541983"/>
            <a:ext cx="3085012" cy="46166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AU" sz="2400" b="1" dirty="0"/>
              <a:t>‘per’ means ‘for every’</a:t>
            </a:r>
          </a:p>
        </p:txBody>
      </p:sp>
    </p:spTree>
    <p:extLst>
      <p:ext uri="{BB962C8B-B14F-4D97-AF65-F5344CB8AC3E}">
        <p14:creationId xmlns:p14="http://schemas.microsoft.com/office/powerpoint/2010/main" val="903147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3" grpId="0" animBg="1"/>
      <p:bldP spid="14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D7369-4998-4FF1-BF6A-A7D96D1451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Quick Best Buys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23BB06-7525-457A-9715-29B58076B4A8}"/>
                  </a:ext>
                </a:extLst>
              </p:cNvPr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𝑪𝒐𝒔𝒕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</a:rPr>
                        <m:t> ÷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𝒒𝒖𝒂𝒏𝒕𝒊𝒕𝒚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𝒖𝒏𝒊𝒕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𝒄𝒐𝒔𝒕</m:t>
                      </m:r>
                      <m:r>
                        <a:rPr lang="en-US" b="1" i="1" smtClean="0">
                          <a:solidFill>
                            <a:srgbClr val="00B0F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b="1" dirty="0">
                  <a:solidFill>
                    <a:srgbClr val="00B0F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23BB06-7525-457A-9715-29B58076B4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521045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Comparing prices </a:t>
            </a:r>
            <a:r>
              <a:rPr lang="en-AU" b="1" dirty="0"/>
              <a:t>per item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692696"/>
            <a:ext cx="2726970" cy="554461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The calculation is always:</a:t>
            </a:r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2726970" y="678932"/>
            <a:ext cx="6417030" cy="6179068"/>
            <a:chOff x="539552" y="44625"/>
            <a:chExt cx="7065102" cy="680310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44625"/>
              <a:ext cx="7065102" cy="6803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2103" y="476672"/>
              <a:ext cx="876300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072" y="419944"/>
              <a:ext cx="876300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2200" y="476672"/>
              <a:ext cx="995908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5863719" y="1071348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$1.60 per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3448" y="1015606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$1.23 per 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3546" y="1015607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Option 2 is cheaper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47575" y="1844824"/>
                <a:ext cx="2965107" cy="52322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/>
                        </a:rPr>
                        <m:t>𝒄𝒐𝒔𝒕</m:t>
                      </m:r>
                      <m:r>
                        <a:rPr lang="en-AU" sz="2800" b="1" i="1" smtClean="0">
                          <a:latin typeface="Cambria Math"/>
                          <a:ea typeface="Cambria Math"/>
                        </a:rPr>
                        <m:t>÷</m:t>
                      </m:r>
                      <m:r>
                        <a:rPr lang="en-AU" sz="2800" b="1" i="1" smtClean="0">
                          <a:latin typeface="Cambria Math"/>
                          <a:ea typeface="Cambria Math"/>
                        </a:rPr>
                        <m:t>𝒒𝒖𝒂𝒏𝒕𝒊𝒕𝒚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75" y="1844824"/>
                <a:ext cx="2965107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49268" y="2963840"/>
                <a:ext cx="2201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$</m:t>
                      </m:r>
                      <m:r>
                        <a:rPr lang="en-AU" b="0" i="1" smtClean="0">
                          <a:latin typeface="Cambria Math"/>
                        </a:rPr>
                        <m:t>4.80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÷3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𝑏𝑎𝑡𝑡𝑒𝑟𝑖𝑒𝑠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68" y="2963840"/>
                <a:ext cx="220118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55023" y="3362493"/>
                <a:ext cx="2074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=$1.60</m:t>
                    </m:r>
                  </m:oMath>
                </a14:m>
                <a:r>
                  <a:rPr lang="en-AU" dirty="0"/>
                  <a:t> per battery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23" y="3362493"/>
                <a:ext cx="2074286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2059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ounded Rectangle 36"/>
          <p:cNvSpPr/>
          <p:nvPr/>
        </p:nvSpPr>
        <p:spPr>
          <a:xfrm>
            <a:off x="121591" y="2926772"/>
            <a:ext cx="2393629" cy="86806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ounded Rectangle 37"/>
          <p:cNvSpPr/>
          <p:nvPr/>
        </p:nvSpPr>
        <p:spPr>
          <a:xfrm>
            <a:off x="3851920" y="917356"/>
            <a:ext cx="933807" cy="655767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ounded Rectangle 38"/>
          <p:cNvSpPr/>
          <p:nvPr/>
        </p:nvSpPr>
        <p:spPr>
          <a:xfrm>
            <a:off x="5970162" y="942826"/>
            <a:ext cx="933807" cy="655767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2115" y="3986759"/>
                <a:ext cx="2457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$</m:t>
                      </m:r>
                      <m:r>
                        <a:rPr lang="en-AU" b="0" i="1" smtClean="0">
                          <a:latin typeface="Cambria Math"/>
                        </a:rPr>
                        <m:t>14.76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÷12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𝑏𝑎𝑡𝑡𝑒𝑟𝑖𝑒𝑠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15" y="3986759"/>
                <a:ext cx="2457660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55023" y="4357780"/>
                <a:ext cx="2051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=$1.</m:t>
                    </m:r>
                  </m:oMath>
                </a14:m>
                <a:r>
                  <a:rPr lang="en-AU" dirty="0"/>
                  <a:t>23 per battery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023" y="4357780"/>
                <a:ext cx="2051844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333" r="-208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ounded Rectangle 41"/>
          <p:cNvSpPr/>
          <p:nvPr/>
        </p:nvSpPr>
        <p:spPr>
          <a:xfrm>
            <a:off x="121591" y="3922059"/>
            <a:ext cx="2393629" cy="868065"/>
          </a:xfrm>
          <a:prstGeom prst="round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ounded Rectangle 42"/>
          <p:cNvSpPr/>
          <p:nvPr/>
        </p:nvSpPr>
        <p:spPr>
          <a:xfrm>
            <a:off x="4846776" y="938935"/>
            <a:ext cx="1041698" cy="655767"/>
          </a:xfrm>
          <a:prstGeom prst="round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Rounded Rectangle 43"/>
          <p:cNvSpPr/>
          <p:nvPr/>
        </p:nvSpPr>
        <p:spPr>
          <a:xfrm>
            <a:off x="6965018" y="964405"/>
            <a:ext cx="933807" cy="655767"/>
          </a:xfrm>
          <a:prstGeom prst="round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3D0D6F5A-8C0B-2A47-8ED2-7B5CABB847B1}"/>
              </a:ext>
            </a:extLst>
          </p:cNvPr>
          <p:cNvSpPr/>
          <p:nvPr/>
        </p:nvSpPr>
        <p:spPr>
          <a:xfrm>
            <a:off x="79523" y="4919838"/>
            <a:ext cx="2555776" cy="272275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/>
              <a:t>Practice:</a:t>
            </a: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BA371C51-6CDA-8443-8CB8-CDAD4B400F10}"/>
              </a:ext>
            </a:extLst>
          </p:cNvPr>
          <p:cNvSpPr/>
          <p:nvPr/>
        </p:nvSpPr>
        <p:spPr>
          <a:xfrm>
            <a:off x="79523" y="5210893"/>
            <a:ext cx="2555776" cy="1040010"/>
          </a:xfrm>
          <a:prstGeom prst="round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1600" b="1" dirty="0"/>
              <a:t>Now you do the rest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3828472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35" grpId="0"/>
      <p:bldP spid="36" grpId="0"/>
      <p:bldP spid="37" grpId="0" animBg="1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 animBg="1"/>
      <p:bldP spid="45" grpId="0" animBg="1"/>
      <p:bldP spid="4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Answers are on the following slide…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87646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Comparing prices </a:t>
            </a:r>
            <a:r>
              <a:rPr lang="en-AU" b="1" dirty="0"/>
              <a:t>per item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2726970" y="678932"/>
            <a:ext cx="6417030" cy="6179068"/>
            <a:chOff x="539552" y="44625"/>
            <a:chExt cx="7065102" cy="6803108"/>
          </a:xfrm>
        </p:grpSpPr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552" y="44625"/>
              <a:ext cx="7065102" cy="6803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72103" y="476672"/>
              <a:ext cx="876300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20072" y="419944"/>
              <a:ext cx="876300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72200" y="476672"/>
              <a:ext cx="995908" cy="552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" name="TextBox 4"/>
          <p:cNvSpPr txBox="1"/>
          <p:nvPr/>
        </p:nvSpPr>
        <p:spPr>
          <a:xfrm>
            <a:off x="5863719" y="1071348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$1.60 per battery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3448" y="1015606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$1.23 per battery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33546" y="1015607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Option 2 is cheaper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19657" y="1722709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Option 1 is cheaper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37416" y="2385514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Option 1 is cheaper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0840" y="3191666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Option 2 is cheaper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37417" y="3884163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Option 1 is cheaper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40840" y="4606203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Option 2 is cheaper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11843" y="5167459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Option 2 is cheaper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8326" y="6175570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Option 1 is cheaper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87496" y="1774154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$16.50 per stapler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0330" y="1734324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$20 per stapler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87495" y="2566242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$21 per calculator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10164" y="2431155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$23 per calculator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87493" y="3191567"/>
            <a:ext cx="1114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$0.38 per pen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74706" y="3185764"/>
            <a:ext cx="1114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$0.28 per pen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8474" y="3931491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$0.41 per ounce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333" y="3888578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$0.57 per ounce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66745" y="4606203"/>
            <a:ext cx="1114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$9 per book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4707" y="4617414"/>
            <a:ext cx="1114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$7 per book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87494" y="5352207"/>
            <a:ext cx="1114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$0.47 per litre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14635" y="5398291"/>
            <a:ext cx="11144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$0.39 per litre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88474" y="6175571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$16 per calendar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84572" y="6175571"/>
            <a:ext cx="11144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200" b="1" dirty="0">
                <a:solidFill>
                  <a:srgbClr val="7030A0"/>
                </a:solidFill>
              </a:rPr>
              <a:t>$19 per calendar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23564" y="678932"/>
                <a:ext cx="2965107" cy="52322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/>
                        </a:rPr>
                        <m:t>𝒄𝒐𝒔𝒕</m:t>
                      </m:r>
                      <m:r>
                        <a:rPr lang="en-AU" sz="2800" b="1" i="1" smtClean="0">
                          <a:latin typeface="Cambria Math"/>
                          <a:ea typeface="Cambria Math"/>
                        </a:rPr>
                        <m:t>÷</m:t>
                      </m:r>
                      <m:r>
                        <a:rPr lang="en-AU" sz="2800" b="1" i="1" smtClean="0">
                          <a:latin typeface="Cambria Math"/>
                          <a:ea typeface="Cambria Math"/>
                        </a:rPr>
                        <m:t>𝒒𝒖𝒂𝒏𝒕𝒊𝒕𝒚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64" y="678932"/>
                <a:ext cx="2965107" cy="52322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217816" y="1404822"/>
                <a:ext cx="22011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$</m:t>
                      </m:r>
                      <m:r>
                        <a:rPr lang="en-AU" b="0" i="1" smtClean="0">
                          <a:latin typeface="Cambria Math"/>
                        </a:rPr>
                        <m:t>4.80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÷3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𝑏𝑎𝑡𝑡𝑒𝑟𝑖𝑒𝑠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816" y="1404822"/>
                <a:ext cx="2201180" cy="36933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23571" y="1803475"/>
                <a:ext cx="20742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=$1.60</m:t>
                    </m:r>
                  </m:oMath>
                </a14:m>
                <a:r>
                  <a:rPr lang="en-AU" dirty="0"/>
                  <a:t> per battery</a:t>
                </a:r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71" y="1803475"/>
                <a:ext cx="2074286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333" r="-2059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Rounded Rectangle 36"/>
          <p:cNvSpPr/>
          <p:nvPr/>
        </p:nvSpPr>
        <p:spPr>
          <a:xfrm>
            <a:off x="90139" y="1367754"/>
            <a:ext cx="2393629" cy="868065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8" name="Rounded Rectangle 37"/>
          <p:cNvSpPr/>
          <p:nvPr/>
        </p:nvSpPr>
        <p:spPr>
          <a:xfrm>
            <a:off x="3851920" y="917356"/>
            <a:ext cx="933807" cy="655767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9" name="Rounded Rectangle 38"/>
          <p:cNvSpPr/>
          <p:nvPr/>
        </p:nvSpPr>
        <p:spPr>
          <a:xfrm>
            <a:off x="5970162" y="942826"/>
            <a:ext cx="933807" cy="655767"/>
          </a:xfrm>
          <a:prstGeom prst="round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20663" y="2427741"/>
                <a:ext cx="24576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/>
                        </a:rPr>
                        <m:t>$</m:t>
                      </m:r>
                      <m:r>
                        <a:rPr lang="en-AU" b="0" i="1" smtClean="0">
                          <a:latin typeface="Cambria Math"/>
                        </a:rPr>
                        <m:t>14.76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÷12 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𝑏𝑎𝑡𝑡𝑒𝑟𝑖𝑒𝑠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3" y="2427741"/>
                <a:ext cx="2457660" cy="369332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223571" y="2798762"/>
                <a:ext cx="20518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=$1.</m:t>
                    </m:r>
                  </m:oMath>
                </a14:m>
                <a:r>
                  <a:rPr lang="en-AU" dirty="0"/>
                  <a:t>23 per battery</a:t>
                </a:r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571" y="2798762"/>
                <a:ext cx="2051844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083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ounded Rectangle 41"/>
          <p:cNvSpPr/>
          <p:nvPr/>
        </p:nvSpPr>
        <p:spPr>
          <a:xfrm>
            <a:off x="90139" y="2363041"/>
            <a:ext cx="2393629" cy="868065"/>
          </a:xfrm>
          <a:prstGeom prst="round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3" name="Rounded Rectangle 42"/>
          <p:cNvSpPr/>
          <p:nvPr/>
        </p:nvSpPr>
        <p:spPr>
          <a:xfrm>
            <a:off x="4846776" y="938935"/>
            <a:ext cx="1041698" cy="655767"/>
          </a:xfrm>
          <a:prstGeom prst="round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Rounded Rectangle 43"/>
          <p:cNvSpPr/>
          <p:nvPr/>
        </p:nvSpPr>
        <p:spPr>
          <a:xfrm>
            <a:off x="6965018" y="964405"/>
            <a:ext cx="933807" cy="655767"/>
          </a:xfrm>
          <a:prstGeom prst="roundRect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16072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5" grpId="0"/>
      <p:bldP spid="36" grpId="0"/>
      <p:bldP spid="37" grpId="0" animBg="1"/>
      <p:bldP spid="38" grpId="0" animBg="1"/>
      <p:bldP spid="39" grpId="0" animBg="1"/>
      <p:bldP spid="40" grpId="0"/>
      <p:bldP spid="41" grpId="0"/>
      <p:bldP spid="42" grpId="0" animBg="1"/>
      <p:bldP spid="43" grpId="0" animBg="1"/>
      <p:bldP spid="4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Comparing prices </a:t>
            </a:r>
            <a:r>
              <a:rPr lang="en-AU" b="1" dirty="0"/>
              <a:t>for the same quantity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Found in shops for value comparisons</a:t>
            </a:r>
          </a:p>
          <a:p>
            <a:r>
              <a:rPr lang="en-AU" dirty="0"/>
              <a:t>This calculation always involves </a:t>
            </a:r>
          </a:p>
          <a:p>
            <a:r>
              <a:rPr lang="en-AU" dirty="0"/>
              <a:t>It is usually given as </a:t>
            </a:r>
            <a:r>
              <a:rPr lang="en-AU" b="1" dirty="0"/>
              <a:t>$ per 100 grams</a:t>
            </a:r>
          </a:p>
          <a:p>
            <a:r>
              <a:rPr lang="en-AU" dirty="0"/>
              <a:t>It is sometimes given as </a:t>
            </a:r>
            <a:r>
              <a:rPr lang="en-AU" b="1" dirty="0"/>
              <a:t>$ per 1 kilogram</a:t>
            </a:r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5580063" y="3225708"/>
            <a:ext cx="2936084" cy="1999678"/>
            <a:chOff x="4932039" y="2166591"/>
            <a:chExt cx="2657477" cy="1809927"/>
          </a:xfrm>
        </p:grpSpPr>
        <p:pic>
          <p:nvPicPr>
            <p:cNvPr id="5" name="Picture 4" descr="cid:3f38f1bd-2ce2-464b-aabf-196ffba5acd7@ausprd01.prod.outlook.com"/>
            <p:cNvPicPr/>
            <p:nvPr/>
          </p:nvPicPr>
          <p:blipFill rotWithShape="1">
            <a:blip r:embed="rId2" r:link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287" t="13057" r="50174" b="25199"/>
            <a:stretch/>
          </p:blipFill>
          <p:spPr bwMode="auto">
            <a:xfrm rot="5400000">
              <a:off x="5758159" y="1340472"/>
              <a:ext cx="1005237" cy="265747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Picture 5" descr="cid:3f38f1bd-2ce2-464b-aabf-196ffba5acd7@ausprd01.prod.outlook.com"/>
            <p:cNvPicPr/>
            <p:nvPr/>
          </p:nvPicPr>
          <p:blipFill rotWithShape="1">
            <a:blip r:embed="rId2" r:link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6143" t="13057" r="29817" b="25199"/>
            <a:stretch>
              <a:fillRect/>
            </a:stretch>
          </p:blipFill>
          <p:spPr bwMode="auto">
            <a:xfrm rot="5400000">
              <a:off x="5858432" y="2245436"/>
              <a:ext cx="804689" cy="26574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717155" y="3225708"/>
            <a:ext cx="2672418" cy="1999678"/>
            <a:chOff x="539551" y="2204865"/>
            <a:chExt cx="2647952" cy="1981371"/>
          </a:xfrm>
        </p:grpSpPr>
        <p:pic>
          <p:nvPicPr>
            <p:cNvPr id="4" name="Picture 3" descr="cid:78640e03-8920-4c06-b68d-44dc8ac665f4@ausprd01.prod.outlook.com"/>
            <p:cNvPicPr/>
            <p:nvPr/>
          </p:nvPicPr>
          <p:blipFill rotWithShape="1">
            <a:blip r:embed="rId4" r:link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947" t="19914" r="44695" b="18563"/>
            <a:stretch/>
          </p:blipFill>
          <p:spPr bwMode="auto">
            <a:xfrm rot="5400000">
              <a:off x="1280121" y="1464295"/>
              <a:ext cx="1166812" cy="26479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" name="Picture 7" descr="cid:78640e03-8920-4c06-b68d-44dc8ac665f4@ausprd01.prod.outlook.com"/>
            <p:cNvPicPr/>
            <p:nvPr/>
          </p:nvPicPr>
          <p:blipFill rotWithShape="1">
            <a:blip r:embed="rId4" r:link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256" t="20799" r="23532" b="17678"/>
            <a:stretch>
              <a:fillRect/>
            </a:stretch>
          </p:blipFill>
          <p:spPr bwMode="auto">
            <a:xfrm rot="5400000">
              <a:off x="1456249" y="2454981"/>
              <a:ext cx="814558" cy="2647951"/>
            </a:xfrm>
            <a:prstGeom prst="rect">
              <a:avLst/>
            </a:prstGeom>
            <a:noFill/>
            <a:ln>
              <a:noFill/>
            </a:ln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5707006" y="1268910"/>
                <a:ext cx="2965107" cy="52322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/>
                        </a:rPr>
                        <m:t>𝒄𝒐𝒔𝒕</m:t>
                      </m:r>
                      <m:r>
                        <a:rPr lang="en-AU" sz="2800" b="1" i="1" smtClean="0">
                          <a:latin typeface="Cambria Math"/>
                          <a:ea typeface="Cambria Math"/>
                        </a:rPr>
                        <m:t>÷</m:t>
                      </m:r>
                      <m:r>
                        <a:rPr lang="en-AU" sz="2800" b="1" i="1" smtClean="0">
                          <a:latin typeface="Cambria Math"/>
                          <a:ea typeface="Cambria Math"/>
                        </a:rPr>
                        <m:t>𝒒𝒖𝒂𝒏𝒕𝒊𝒕𝒚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7006" y="1268910"/>
                <a:ext cx="2965107" cy="52322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39551" y="5400458"/>
                <a:ext cx="1288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$8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÷320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1" y="5400458"/>
                <a:ext cx="1288301" cy="369332"/>
              </a:xfrm>
              <a:prstGeom prst="rect">
                <a:avLst/>
              </a:prstGeom>
              <a:blipFill rotWithShape="1">
                <a:blip r:embed="rId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775147" y="5400761"/>
                <a:ext cx="200253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=$0.025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gram</a:t>
                </a: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147" y="5400761"/>
                <a:ext cx="2002536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736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279266" y="5889701"/>
                <a:ext cx="1568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$0.025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266" y="5889701"/>
                <a:ext cx="1568058" cy="369332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1775147" y="5890004"/>
                <a:ext cx="237731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=$2.50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100 grams</a:t>
                </a:r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147" y="5890004"/>
                <a:ext cx="2377317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2051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215146" y="6393757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$0.025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146" y="6393757"/>
                <a:ext cx="1696298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775147" y="6394060"/>
                <a:ext cx="25744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=$25.00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1 kilogram</a:t>
                </a: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5147" y="6394060"/>
                <a:ext cx="2574487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062856" y="5400155"/>
                <a:ext cx="1288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÷125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2856" y="5400155"/>
                <a:ext cx="1288301" cy="369332"/>
              </a:xfrm>
              <a:prstGeom prst="rect">
                <a:avLst/>
              </a:prstGeom>
              <a:blipFill rotWithShape="1"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298452" y="5400458"/>
                <a:ext cx="18819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=$0.04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gram</a:t>
                </a: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452" y="5400458"/>
                <a:ext cx="1881990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333" r="-2589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4802571" y="5889398"/>
                <a:ext cx="14398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$0.04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2571" y="5889398"/>
                <a:ext cx="1439818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6298452" y="5889701"/>
                <a:ext cx="207274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=$4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100 grams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452" y="5889701"/>
                <a:ext cx="2072747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197" r="-2353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738451" y="6393454"/>
                <a:ext cx="1568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$0.04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8451" y="6393454"/>
                <a:ext cx="1568058" cy="36933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6298452" y="6393757"/>
                <a:ext cx="25263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=$40.00</m:t>
                    </m:r>
                  </m:oMath>
                </a14:m>
                <a:r>
                  <a:rPr lang="en-AU" dirty="0"/>
                  <a:t> </a:t>
                </a:r>
                <a:r>
                  <a:rPr lang="en-AU" b="1" dirty="0"/>
                  <a:t>per</a:t>
                </a:r>
                <a:r>
                  <a:rPr lang="en-AU" dirty="0"/>
                  <a:t> </a:t>
                </a:r>
                <a:r>
                  <a:rPr lang="en-AU" b="1" dirty="0"/>
                  <a:t>1 kilogram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8452" y="6393757"/>
                <a:ext cx="2526397" cy="369332"/>
              </a:xfrm>
              <a:prstGeom prst="rect">
                <a:avLst/>
              </a:prstGeom>
              <a:blipFill rotWithShape="1">
                <a:blip r:embed="rId18"/>
                <a:stretch>
                  <a:fillRect t="-8333" r="-1687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 rot="984475">
            <a:off x="6832029" y="2209188"/>
            <a:ext cx="2118785" cy="338554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AU" sz="1600" b="1" dirty="0"/>
              <a:t>‘per’ means ‘for every’</a:t>
            </a:r>
          </a:p>
        </p:txBody>
      </p:sp>
    </p:spTree>
    <p:extLst>
      <p:ext uri="{BB962C8B-B14F-4D97-AF65-F5344CB8AC3E}">
        <p14:creationId xmlns:p14="http://schemas.microsoft.com/office/powerpoint/2010/main" val="108734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1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-7651"/>
            <a:ext cx="8100391" cy="700347"/>
          </a:xfrm>
        </p:spPr>
        <p:txBody>
          <a:bodyPr>
            <a:normAutofit fontScale="90000"/>
          </a:bodyPr>
          <a:lstStyle/>
          <a:p>
            <a:r>
              <a:rPr lang="en-AU" dirty="0"/>
              <a:t>Calculate prices for the same quantity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160562" y="620688"/>
                <a:ext cx="2965107" cy="52322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/>
                        </a:rPr>
                        <m:t>𝒄𝒐𝒔𝒕</m:t>
                      </m:r>
                      <m:r>
                        <a:rPr lang="en-AU" sz="2800" b="1" i="1" smtClean="0">
                          <a:latin typeface="Cambria Math"/>
                          <a:ea typeface="Cambria Math"/>
                        </a:rPr>
                        <m:t>÷</m:t>
                      </m:r>
                      <m:r>
                        <a:rPr lang="en-AU" sz="2800" b="1" i="1" smtClean="0">
                          <a:latin typeface="Cambria Math"/>
                          <a:ea typeface="Cambria Math"/>
                        </a:rPr>
                        <m:t>𝒒𝒖𝒂𝒏𝒕𝒊𝒕𝒚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562" y="620688"/>
                <a:ext cx="2965107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3958343"/>
              </p:ext>
            </p:extLst>
          </p:nvPr>
        </p:nvGraphicFramePr>
        <p:xfrm>
          <a:off x="0" y="1268760"/>
          <a:ext cx="9125668" cy="55892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1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6539">
                <a:tc>
                  <a:txBody>
                    <a:bodyPr/>
                    <a:lstStyle/>
                    <a:p>
                      <a:r>
                        <a:rPr lang="en-AU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 per 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  <a:r>
                        <a:rPr lang="en-AU" baseline="0" dirty="0"/>
                        <a:t> per 100g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 per</a:t>
                      </a:r>
                      <a:r>
                        <a:rPr lang="en-AU" baseline="0" dirty="0"/>
                        <a:t> kilogram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032"/>
          <a:stretch/>
        </p:blipFill>
        <p:spPr bwMode="auto">
          <a:xfrm>
            <a:off x="0" y="1844824"/>
            <a:ext cx="733425" cy="1210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58"/>
          <a:stretch/>
        </p:blipFill>
        <p:spPr bwMode="auto">
          <a:xfrm>
            <a:off x="733425" y="1844822"/>
            <a:ext cx="1522095" cy="1210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341912"/>
            <a:ext cx="648072" cy="51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/>
          <p:cNvGrpSpPr>
            <a:grpSpLocks noChangeAspect="1"/>
          </p:cNvGrpSpPr>
          <p:nvPr/>
        </p:nvGrpSpPr>
        <p:grpSpPr>
          <a:xfrm>
            <a:off x="17664" y="3106401"/>
            <a:ext cx="2209153" cy="1154703"/>
            <a:chOff x="-468560" y="1324759"/>
            <a:chExt cx="5377342" cy="2810684"/>
          </a:xfrm>
        </p:grpSpPr>
        <p:pic>
          <p:nvPicPr>
            <p:cNvPr id="12" name="Picture 6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609" b="14219"/>
            <a:stretch/>
          </p:blipFill>
          <p:spPr bwMode="auto">
            <a:xfrm>
              <a:off x="-468560" y="1324759"/>
              <a:ext cx="1929432" cy="2810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6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99" t="-1" r="309" b="-1275"/>
            <a:stretch/>
          </p:blipFill>
          <p:spPr bwMode="auto">
            <a:xfrm>
              <a:off x="1423026" y="1324762"/>
              <a:ext cx="3485756" cy="2810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5643" y="2582461"/>
              <a:ext cx="1577485" cy="110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35496" y="5621741"/>
            <a:ext cx="2160240" cy="892629"/>
            <a:chOff x="912738" y="3532196"/>
            <a:chExt cx="4452815" cy="1839939"/>
          </a:xfrm>
        </p:grpSpPr>
        <p:pic>
          <p:nvPicPr>
            <p:cNvPr id="20" name="Picture 19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994" r="66497" b="37357"/>
            <a:stretch/>
          </p:blipFill>
          <p:spPr bwMode="auto">
            <a:xfrm>
              <a:off x="912738" y="3532196"/>
              <a:ext cx="3018838" cy="1839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21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911" t="7531" r="29175" b="41587"/>
            <a:stretch/>
          </p:blipFill>
          <p:spPr bwMode="auto">
            <a:xfrm>
              <a:off x="3931576" y="3532196"/>
              <a:ext cx="1433977" cy="1812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452114" y="1904836"/>
                <a:ext cx="1288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÷400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114" y="1904836"/>
                <a:ext cx="1288301" cy="369332"/>
              </a:xfrm>
              <a:prstGeom prst="rect">
                <a:avLst/>
              </a:prstGeom>
              <a:blipFill rotWithShape="1">
                <a:blip r:embed="rId1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339752" y="2564950"/>
                <a:ext cx="2130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=$0.0125</m:t>
                    </m:r>
                  </m:oMath>
                </a14:m>
                <a:r>
                  <a:rPr lang="en-AU" dirty="0"/>
                  <a:t> per gram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2564950"/>
                <a:ext cx="2130776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1719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900325" y="1915770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$0.0125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325" y="1915770"/>
                <a:ext cx="1696298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24463" y="2567093"/>
                <a:ext cx="1854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=$1.25</m:t>
                    </m:r>
                  </m:oMath>
                </a14:m>
                <a:r>
                  <a:rPr lang="en-AU" dirty="0"/>
                  <a:t> per 100g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63" y="2567093"/>
                <a:ext cx="1854995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2303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180235" y="1888949"/>
                <a:ext cx="18245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$0.0125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235" y="1888949"/>
                <a:ext cx="1824538" cy="369332"/>
              </a:xfrm>
              <a:prstGeom prst="rect">
                <a:avLst/>
              </a:prstGeom>
              <a:blipFill rotWithShape="1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020272" y="2564950"/>
                <a:ext cx="19062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=$12.50</m:t>
                    </m:r>
                  </m:oMath>
                </a14:m>
                <a:r>
                  <a:rPr lang="en-AU" dirty="0"/>
                  <a:t> per 1 kg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2564950"/>
                <a:ext cx="1906291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333" r="-192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17664" y="882298"/>
            <a:ext cx="2505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AU" b="1" dirty="0"/>
              <a:t>The first is done for you: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3D0D6F5A-8C0B-2A47-8ED2-7B5CABB847B1}"/>
              </a:ext>
            </a:extLst>
          </p:cNvPr>
          <p:cNvSpPr/>
          <p:nvPr/>
        </p:nvSpPr>
        <p:spPr>
          <a:xfrm>
            <a:off x="0" y="0"/>
            <a:ext cx="1187624" cy="69269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/>
              <a:t>Practice:</a:t>
            </a: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AC549E61-A86A-4AC5-8742-A415E5B9F2FF}"/>
              </a:ext>
            </a:extLst>
          </p:cNvPr>
          <p:cNvGrpSpPr>
            <a:grpSpLocks noChangeAspect="1"/>
          </p:cNvGrpSpPr>
          <p:nvPr/>
        </p:nvGrpSpPr>
        <p:grpSpPr>
          <a:xfrm>
            <a:off x="55218" y="4383884"/>
            <a:ext cx="2039826" cy="1096245"/>
            <a:chOff x="647700" y="2260300"/>
            <a:chExt cx="5231954" cy="2811760"/>
          </a:xfrm>
        </p:grpSpPr>
        <p:pic>
          <p:nvPicPr>
            <p:cNvPr id="32" name="Picture 7">
              <a:extLst>
                <a:ext uri="{FF2B5EF4-FFF2-40B4-BE49-F238E27FC236}">
                  <a16:creationId xmlns:a16="http://schemas.microsoft.com/office/drawing/2014/main" id="{7BE983C0-8194-4AD1-BB1E-ED0D80C101F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210" r="85249"/>
            <a:stretch/>
          </p:blipFill>
          <p:spPr bwMode="auto">
            <a:xfrm>
              <a:off x="647700" y="2285765"/>
              <a:ext cx="1157771" cy="2786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7">
              <a:extLst>
                <a:ext uri="{FF2B5EF4-FFF2-40B4-BE49-F238E27FC236}">
                  <a16:creationId xmlns:a16="http://schemas.microsoft.com/office/drawing/2014/main" id="{BBCE4AD2-3090-4858-9AD4-C001F865C66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909" t="5624" r="2179" b="14414"/>
            <a:stretch/>
          </p:blipFill>
          <p:spPr bwMode="auto">
            <a:xfrm>
              <a:off x="1805471" y="2260300"/>
              <a:ext cx="4074183" cy="2788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14">
              <a:extLst>
                <a:ext uri="{FF2B5EF4-FFF2-40B4-BE49-F238E27FC236}">
                  <a16:creationId xmlns:a16="http://schemas.microsoft.com/office/drawing/2014/main" id="{68E7D9A9-FF37-4D84-9EE3-96E7DE6538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1122" y="3506957"/>
              <a:ext cx="1969896" cy="1316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09445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3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Answers are on the following slide…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79179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160562" y="620688"/>
                <a:ext cx="2965107" cy="523220"/>
              </a:xfrm>
              <a:prstGeom prst="rect">
                <a:avLst/>
              </a:prstGeom>
            </p:spPr>
            <p:style>
              <a:lnRef idx="1">
                <a:schemeClr val="accent6"/>
              </a:lnRef>
              <a:fillRef idx="2">
                <a:schemeClr val="accent6"/>
              </a:fillRef>
              <a:effectRef idx="1">
                <a:schemeClr val="accent6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smtClean="0">
                          <a:latin typeface="Cambria Math"/>
                        </a:rPr>
                        <m:t>𝒄𝒐𝒔𝒕</m:t>
                      </m:r>
                      <m:r>
                        <a:rPr lang="en-AU" sz="2800" b="1" i="1" smtClean="0">
                          <a:latin typeface="Cambria Math"/>
                          <a:ea typeface="Cambria Math"/>
                        </a:rPr>
                        <m:t>÷</m:t>
                      </m:r>
                      <m:r>
                        <a:rPr lang="en-AU" sz="2800" b="1" i="1" smtClean="0">
                          <a:latin typeface="Cambria Math"/>
                          <a:ea typeface="Cambria Math"/>
                        </a:rPr>
                        <m:t>𝒒𝒖𝒂𝒏𝒕𝒊𝒕𝒚</m:t>
                      </m:r>
                    </m:oMath>
                  </m:oMathPara>
                </a14:m>
                <a:endParaRPr lang="en-AU" sz="2800" b="1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0562" y="620688"/>
                <a:ext cx="2965107" cy="52322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993557"/>
              </p:ext>
            </p:extLst>
          </p:nvPr>
        </p:nvGraphicFramePr>
        <p:xfrm>
          <a:off x="0" y="1268760"/>
          <a:ext cx="9125668" cy="55892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281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1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6539">
                <a:tc>
                  <a:txBody>
                    <a:bodyPr/>
                    <a:lstStyle/>
                    <a:p>
                      <a:r>
                        <a:rPr lang="en-AU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 per gram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</a:t>
                      </a:r>
                      <a:r>
                        <a:rPr lang="en-AU" baseline="0" dirty="0"/>
                        <a:t> per 100g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/>
                        <a:t>Cost per</a:t>
                      </a:r>
                      <a:r>
                        <a:rPr lang="en-AU" baseline="0" dirty="0"/>
                        <a:t> kilogram</a:t>
                      </a:r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8175"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032"/>
          <a:stretch/>
        </p:blipFill>
        <p:spPr bwMode="auto">
          <a:xfrm>
            <a:off x="0" y="1844824"/>
            <a:ext cx="733425" cy="1210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r="258"/>
          <a:stretch/>
        </p:blipFill>
        <p:spPr bwMode="auto">
          <a:xfrm>
            <a:off x="733425" y="1844822"/>
            <a:ext cx="1522095" cy="12108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664" y="2341912"/>
            <a:ext cx="648072" cy="5110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Group 10"/>
          <p:cNvGrpSpPr>
            <a:grpSpLocks noChangeAspect="1"/>
          </p:cNvGrpSpPr>
          <p:nvPr/>
        </p:nvGrpSpPr>
        <p:grpSpPr>
          <a:xfrm>
            <a:off x="17664" y="3106401"/>
            <a:ext cx="2209153" cy="1154703"/>
            <a:chOff x="-468560" y="1324759"/>
            <a:chExt cx="5377342" cy="2810684"/>
          </a:xfrm>
        </p:grpSpPr>
        <p:pic>
          <p:nvPicPr>
            <p:cNvPr id="12" name="Picture 6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6609" b="14219"/>
            <a:stretch/>
          </p:blipFill>
          <p:spPr bwMode="auto">
            <a:xfrm>
              <a:off x="-468560" y="1324759"/>
              <a:ext cx="1929432" cy="28106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6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799" t="-1" r="309" b="-1275"/>
            <a:stretch/>
          </p:blipFill>
          <p:spPr bwMode="auto">
            <a:xfrm>
              <a:off x="1423026" y="1324762"/>
              <a:ext cx="3485756" cy="28106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14"/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55643" y="2582461"/>
              <a:ext cx="1577485" cy="1105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9" name="Group 18"/>
          <p:cNvGrpSpPr>
            <a:grpSpLocks noChangeAspect="1"/>
          </p:cNvGrpSpPr>
          <p:nvPr/>
        </p:nvGrpSpPr>
        <p:grpSpPr>
          <a:xfrm>
            <a:off x="35496" y="5621741"/>
            <a:ext cx="2160240" cy="892629"/>
            <a:chOff x="912738" y="3532196"/>
            <a:chExt cx="4452815" cy="1839939"/>
          </a:xfrm>
        </p:grpSpPr>
        <p:pic>
          <p:nvPicPr>
            <p:cNvPr id="20" name="Picture 19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0994" r="66497" b="37357"/>
            <a:stretch/>
          </p:blipFill>
          <p:spPr bwMode="auto">
            <a:xfrm>
              <a:off x="912738" y="3532196"/>
              <a:ext cx="3018838" cy="183993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21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4911" t="7531" r="29175" b="41587"/>
            <a:stretch/>
          </p:blipFill>
          <p:spPr bwMode="auto">
            <a:xfrm>
              <a:off x="3931576" y="3532196"/>
              <a:ext cx="1433977" cy="1812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452114" y="1904836"/>
                <a:ext cx="128830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÷400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2114" y="1904836"/>
                <a:ext cx="1288301" cy="369332"/>
              </a:xfrm>
              <a:prstGeom prst="rect">
                <a:avLst/>
              </a:prstGeom>
              <a:blipFill rotWithShape="1">
                <a:blip r:embed="rId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2339752" y="2564950"/>
                <a:ext cx="2130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=$0.0125</m:t>
                    </m:r>
                  </m:oMath>
                </a14:m>
                <a:r>
                  <a:rPr lang="en-AU" dirty="0"/>
                  <a:t> per gram</a:t>
                </a: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9752" y="2564950"/>
                <a:ext cx="2130776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333" r="-1719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900325" y="1915770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$0.0125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0325" y="1915770"/>
                <a:ext cx="1696298" cy="369332"/>
              </a:xfrm>
              <a:prstGeom prst="rect">
                <a:avLst/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724463" y="2567093"/>
                <a:ext cx="1854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=$1.25</m:t>
                    </m:r>
                  </m:oMath>
                </a14:m>
                <a:r>
                  <a:rPr lang="en-AU" dirty="0"/>
                  <a:t> per 100g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4463" y="2567093"/>
                <a:ext cx="1854995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197" r="-2303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180235" y="1888949"/>
                <a:ext cx="18245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$0.0125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0235" y="1888949"/>
                <a:ext cx="1824538" cy="369332"/>
              </a:xfrm>
              <a:prstGeom prst="rect">
                <a:avLst/>
              </a:prstGeom>
              <a:blipFill rotWithShape="1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7020272" y="2564950"/>
                <a:ext cx="19062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=$12.50</m:t>
                    </m:r>
                  </m:oMath>
                </a14:m>
                <a:r>
                  <a:rPr lang="en-AU" dirty="0"/>
                  <a:t> per 1 kg</a:t>
                </a:r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72" y="2564950"/>
                <a:ext cx="1906291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333" r="-192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/>
          <p:cNvSpPr txBox="1"/>
          <p:nvPr/>
        </p:nvSpPr>
        <p:spPr>
          <a:xfrm>
            <a:off x="17664" y="882298"/>
            <a:ext cx="2505686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AU" b="1" dirty="0"/>
              <a:t>The first is done for you: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458985" y="3189971"/>
                <a:ext cx="15928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$1.95</m:t>
                      </m:r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÷300</m:t>
                      </m:r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985" y="3189971"/>
                <a:ext cx="1592872" cy="369332"/>
              </a:xfrm>
              <a:prstGeom prst="rect">
                <a:avLst/>
              </a:prstGeom>
              <a:blipFill rotWithShape="1">
                <a:blip r:embed="rId1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346623" y="3850085"/>
                <a:ext cx="21307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=$0.0065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gram</a:t>
                </a:r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623" y="3850085"/>
                <a:ext cx="2130776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333" r="-1719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4907196" y="3200905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$0.0065</m:t>
                      </m:r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196" y="3200905"/>
                <a:ext cx="1696298" cy="369332"/>
              </a:xfrm>
              <a:prstGeom prst="rect">
                <a:avLst/>
              </a:prstGeom>
              <a:blipFill rotWithShape="1"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4731334" y="3852228"/>
                <a:ext cx="1854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=$0.65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100g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334" y="3852228"/>
                <a:ext cx="1854995" cy="369332"/>
              </a:xfrm>
              <a:prstGeom prst="rect">
                <a:avLst/>
              </a:prstGeom>
              <a:blipFill rotWithShape="1">
                <a:blip r:embed="rId18"/>
                <a:stretch>
                  <a:fillRect t="-8197" r="-2303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7187106" y="3174084"/>
                <a:ext cx="18245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$0.0065</m:t>
                      </m:r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106" y="3174084"/>
                <a:ext cx="1824538" cy="369332"/>
              </a:xfrm>
              <a:prstGeom prst="rect">
                <a:avLst/>
              </a:prstGeom>
              <a:blipFill rotWithShape="1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7027143" y="3850085"/>
                <a:ext cx="17780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=$6.50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1 kg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143" y="3850085"/>
                <a:ext cx="1778051" cy="369332"/>
              </a:xfrm>
              <a:prstGeom prst="rect">
                <a:avLst/>
              </a:prstGeom>
              <a:blipFill rotWithShape="1">
                <a:blip r:embed="rId20"/>
                <a:stretch>
                  <a:fillRect t="-8333" r="-2062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427756" y="4438631"/>
                <a:ext cx="159287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$3.50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÷500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7756" y="4438631"/>
                <a:ext cx="1592872" cy="369332"/>
              </a:xfrm>
              <a:prstGeom prst="rect">
                <a:avLst/>
              </a:prstGeom>
              <a:blipFill rotWithShape="1">
                <a:blip r:embed="rId2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315394" y="5098745"/>
                <a:ext cx="180530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=$0.007</m:t>
                    </m:r>
                  </m:oMath>
                </a14:m>
                <a:r>
                  <a:rPr lang="en-AU" dirty="0"/>
                  <a:t> per mL</a:t>
                </a:r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5394" y="5098745"/>
                <a:ext cx="1805302" cy="369332"/>
              </a:xfrm>
              <a:prstGeom prst="rect">
                <a:avLst/>
              </a:prstGeom>
              <a:blipFill>
                <a:blip r:embed="rId22"/>
                <a:stretch>
                  <a:fillRect t="-8197" r="-202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4875967" y="4449565"/>
                <a:ext cx="1568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$0.007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5967" y="4449565"/>
                <a:ext cx="1568058" cy="369332"/>
              </a:xfrm>
              <a:prstGeom prst="rect">
                <a:avLst/>
              </a:prstGeom>
              <a:blipFill rotWithShape="1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700105" y="5100888"/>
                <a:ext cx="202811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=$0.70</m:t>
                    </m:r>
                  </m:oMath>
                </a14:m>
                <a:r>
                  <a:rPr lang="en-AU" dirty="0"/>
                  <a:t> per 100mL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00105" y="5100888"/>
                <a:ext cx="2028119" cy="369332"/>
              </a:xfrm>
              <a:prstGeom prst="rect">
                <a:avLst/>
              </a:prstGeom>
              <a:blipFill>
                <a:blip r:embed="rId24"/>
                <a:stretch>
                  <a:fillRect t="-10000" r="-1802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7155877" y="4422744"/>
                <a:ext cx="16962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$0.007</m:t>
                      </m:r>
                      <m:r>
                        <a:rPr lang="en-AU" b="0" i="1" smtClean="0"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55877" y="4422744"/>
                <a:ext cx="1696298" cy="369332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6995914" y="5098745"/>
                <a:ext cx="16626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=$7.00</m:t>
                    </m:r>
                  </m:oMath>
                </a14:m>
                <a:r>
                  <a:rPr lang="en-AU" dirty="0"/>
                  <a:t> per </a:t>
                </a:r>
                <a:r>
                  <a:rPr lang="en-AU"/>
                  <a:t>1 L</a:t>
                </a:r>
                <a:endParaRPr lang="en-AU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914" y="5098745"/>
                <a:ext cx="1662635" cy="369332"/>
              </a:xfrm>
              <a:prstGeom prst="rect">
                <a:avLst/>
              </a:prstGeom>
              <a:blipFill>
                <a:blip r:embed="rId26"/>
                <a:stretch>
                  <a:fillRect t="-8197" r="-2206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2458985" y="5721214"/>
                <a:ext cx="146463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$1.50</m:t>
                      </m:r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÷50</m:t>
                      </m:r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𝑔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8985" y="5721214"/>
                <a:ext cx="1464632" cy="369332"/>
              </a:xfrm>
              <a:prstGeom prst="rect">
                <a:avLst/>
              </a:prstGeom>
              <a:blipFill rotWithShape="1">
                <a:blip r:embed="rId27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2346623" y="6381328"/>
                <a:ext cx="187429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=$0.03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gram</a:t>
                </a:r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623" y="6381328"/>
                <a:ext cx="1874296" cy="369332"/>
              </a:xfrm>
              <a:prstGeom prst="rect">
                <a:avLst/>
              </a:prstGeom>
              <a:blipFill rotWithShape="1">
                <a:blip r:embed="rId28"/>
                <a:stretch>
                  <a:fillRect t="-8333" r="-1954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4907196" y="5732148"/>
                <a:ext cx="143981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$0.03</m:t>
                      </m:r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×100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7196" y="5732148"/>
                <a:ext cx="1439818" cy="369332"/>
              </a:xfrm>
              <a:prstGeom prst="rect">
                <a:avLst/>
              </a:prstGeom>
              <a:blipFill rotWithShape="1"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731334" y="6383471"/>
                <a:ext cx="185499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=$3.00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100g</a:t>
                </a:r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1334" y="6383471"/>
                <a:ext cx="1854995" cy="369332"/>
              </a:xfrm>
              <a:prstGeom prst="rect">
                <a:avLst/>
              </a:prstGeom>
              <a:blipFill rotWithShape="1">
                <a:blip r:embed="rId30"/>
                <a:stretch>
                  <a:fillRect t="-8197" r="-2303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/>
              <p:cNvSpPr txBox="1"/>
              <p:nvPr/>
            </p:nvSpPr>
            <p:spPr>
              <a:xfrm>
                <a:off x="7187106" y="5705327"/>
                <a:ext cx="156805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</a:rPr>
                        <m:t>$0.03</m:t>
                      </m:r>
                      <m:r>
                        <a:rPr lang="en-AU" b="0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/>
                          <a:ea typeface="Cambria Math"/>
                        </a:rPr>
                        <m:t>×1000</m:t>
                      </m:r>
                    </m:oMath>
                  </m:oMathPara>
                </a14:m>
                <a:endParaRPr lang="en-AU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6" name="TextBox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7106" y="5705327"/>
                <a:ext cx="1568058" cy="369332"/>
              </a:xfrm>
              <a:prstGeom prst="rect">
                <a:avLst/>
              </a:prstGeom>
              <a:blipFill rotWithShape="1"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7027143" y="6381328"/>
                <a:ext cx="19062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/>
                      </a:rPr>
                      <m:t>=$30.00</m:t>
                    </m:r>
                  </m:oMath>
                </a14:m>
                <a:r>
                  <a:rPr lang="en-AU" dirty="0">
                    <a:solidFill>
                      <a:schemeClr val="tx2">
                        <a:lumMod val="75000"/>
                      </a:schemeClr>
                    </a:solidFill>
                  </a:rPr>
                  <a:t> per 1 kg</a:t>
                </a: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7143" y="6381328"/>
                <a:ext cx="1906291" cy="369332"/>
              </a:xfrm>
              <a:prstGeom prst="rect">
                <a:avLst/>
              </a:prstGeom>
              <a:blipFill rotWithShape="1">
                <a:blip r:embed="rId32"/>
                <a:stretch>
                  <a:fillRect t="-8333" r="-1923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8" name="Group 47"/>
          <p:cNvGrpSpPr>
            <a:grpSpLocks noChangeAspect="1"/>
          </p:cNvGrpSpPr>
          <p:nvPr/>
        </p:nvGrpSpPr>
        <p:grpSpPr>
          <a:xfrm>
            <a:off x="17664" y="4373975"/>
            <a:ext cx="2039826" cy="1096245"/>
            <a:chOff x="647700" y="2260300"/>
            <a:chExt cx="5231954" cy="2811760"/>
          </a:xfrm>
        </p:grpSpPr>
        <p:pic>
          <p:nvPicPr>
            <p:cNvPr id="49" name="Picture 7"/>
            <p:cNvPicPr>
              <a:picLocks noChangeAspect="1" noChangeArrowheads="1"/>
            </p:cNvPicPr>
            <p:nvPr/>
          </p:nvPicPr>
          <p:blipFill rotWithShape="1"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5210" r="85249"/>
            <a:stretch/>
          </p:blipFill>
          <p:spPr bwMode="auto">
            <a:xfrm>
              <a:off x="647700" y="2285765"/>
              <a:ext cx="1157771" cy="27862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1" name="Picture 7"/>
            <p:cNvPicPr>
              <a:picLocks noChangeAspect="1" noChangeArrowheads="1"/>
            </p:cNvPicPr>
            <p:nvPr/>
          </p:nvPicPr>
          <p:blipFill rotWithShape="1">
            <a:blip r:embed="rId3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909" t="5624" r="2179" b="14414"/>
            <a:stretch/>
          </p:blipFill>
          <p:spPr bwMode="auto">
            <a:xfrm>
              <a:off x="1805471" y="2260300"/>
              <a:ext cx="4074183" cy="27885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0" name="Picture 14"/>
            <p:cNvPicPr>
              <a:picLocks noChangeAspect="1" noChangeArrowheads="1"/>
            </p:cNvPicPr>
            <p:nvPr/>
          </p:nvPicPr>
          <p:blipFill>
            <a:blip r:embed="rId3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61122" y="3506957"/>
              <a:ext cx="1969896" cy="13162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52" name="Title 1"/>
          <p:cNvSpPr>
            <a:spLocks noGrp="1"/>
          </p:cNvSpPr>
          <p:nvPr>
            <p:ph type="title"/>
          </p:nvPr>
        </p:nvSpPr>
        <p:spPr>
          <a:xfrm>
            <a:off x="1043608" y="-7651"/>
            <a:ext cx="8100391" cy="700347"/>
          </a:xfrm>
        </p:spPr>
        <p:txBody>
          <a:bodyPr>
            <a:normAutofit fontScale="90000"/>
          </a:bodyPr>
          <a:lstStyle/>
          <a:p>
            <a:r>
              <a:rPr lang="en-AU" dirty="0"/>
              <a:t>Calculate prices for the same quantity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3D0D6F5A-8C0B-2A47-8ED2-7B5CABB847B1}"/>
              </a:ext>
            </a:extLst>
          </p:cNvPr>
          <p:cNvSpPr/>
          <p:nvPr/>
        </p:nvSpPr>
        <p:spPr>
          <a:xfrm>
            <a:off x="0" y="0"/>
            <a:ext cx="1187624" cy="69269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b="1" dirty="0"/>
              <a:t>Practice:</a:t>
            </a:r>
          </a:p>
        </p:txBody>
      </p:sp>
    </p:spTree>
    <p:extLst>
      <p:ext uri="{BB962C8B-B14F-4D97-AF65-F5344CB8AC3E}">
        <p14:creationId xmlns:p14="http://schemas.microsoft.com/office/powerpoint/2010/main" val="333749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  <p:bldP spid="28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46" grpId="0"/>
      <p:bldP spid="47" grpId="0"/>
      <p:bldP spid="5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615</Words>
  <Application>Microsoft Office PowerPoint</Application>
  <PresentationFormat>On-screen Show (4:3)</PresentationFormat>
  <Paragraphs>156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Rounded MT Bold</vt:lpstr>
      <vt:lpstr>Calibri</vt:lpstr>
      <vt:lpstr>Cambria Math</vt:lpstr>
      <vt:lpstr>Verdana</vt:lpstr>
      <vt:lpstr>Wingdings</vt:lpstr>
      <vt:lpstr>Office Theme</vt:lpstr>
      <vt:lpstr>Lesson objective </vt:lpstr>
      <vt:lpstr>PowerPoint Presentation</vt:lpstr>
      <vt:lpstr>PowerPoint Presentation</vt:lpstr>
      <vt:lpstr>PowerPoint Presentation</vt:lpstr>
      <vt:lpstr>PowerPoint Presentation</vt:lpstr>
      <vt:lpstr>Write into exercise bools </vt:lpstr>
      <vt:lpstr>What does ‘Best buy’ mean?</vt:lpstr>
      <vt:lpstr>Quick Best Buys</vt:lpstr>
      <vt:lpstr>Comparing prices per item</vt:lpstr>
      <vt:lpstr>Answers are on the following slide…</vt:lpstr>
      <vt:lpstr>Comparing prices per item</vt:lpstr>
      <vt:lpstr>Comparing prices for the same quantity</vt:lpstr>
      <vt:lpstr>Calculate prices for the same quantity</vt:lpstr>
      <vt:lpstr>Answers are on the following slide…</vt:lpstr>
      <vt:lpstr>Calculate prices for the same quantity</vt:lpstr>
    </vt:vector>
  </TitlesOfParts>
  <Company>Department Of Education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TOMLINSON Will</dc:creator>
  <cp:lastModifiedBy>DAVIES Rhys [Busselton Senior High School]</cp:lastModifiedBy>
  <cp:revision>43</cp:revision>
  <dcterms:created xsi:type="dcterms:W3CDTF">2019-09-27T02:26:52Z</dcterms:created>
  <dcterms:modified xsi:type="dcterms:W3CDTF">2023-05-16T03:53:32Z</dcterms:modified>
</cp:coreProperties>
</file>
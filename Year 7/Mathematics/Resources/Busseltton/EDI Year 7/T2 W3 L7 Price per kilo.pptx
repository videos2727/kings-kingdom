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1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34106" y="1147439"/>
            <a:ext cx="8915399" cy="1135049"/>
          </a:xfrm>
        </p:spPr>
        <p:txBody>
          <a:bodyPr>
            <a:normAutofit fontScale="90000"/>
          </a:bodyPr>
          <a:lstStyle/>
          <a:p>
            <a:r>
              <a:rPr lang="en-AU" dirty="0"/>
              <a:t>Title:</a:t>
            </a:r>
            <a:br>
              <a:rPr lang="en-AU" dirty="0"/>
            </a:br>
            <a:r>
              <a:rPr lang="en-AU" dirty="0">
                <a:solidFill>
                  <a:srgbClr val="00B0F0"/>
                </a:solidFill>
              </a:rPr>
              <a:t>PRICE PER KILOGRAM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93597" y="2822636"/>
            <a:ext cx="6162261" cy="1868555"/>
          </a:xfrm>
        </p:spPr>
        <p:txBody>
          <a:bodyPr>
            <a:normAutofit fontScale="92500" lnSpcReduction="20000"/>
          </a:bodyPr>
          <a:lstStyle/>
          <a:p>
            <a:r>
              <a:rPr lang="en-AU" sz="2200" b="1" dirty="0">
                <a:solidFill>
                  <a:srgbClr val="00B0F0"/>
                </a:solidFill>
              </a:rPr>
              <a:t>Aim</a:t>
            </a:r>
            <a:r>
              <a:rPr lang="en-AU" sz="2000" b="1" dirty="0">
                <a:solidFill>
                  <a:srgbClr val="00B0F0"/>
                </a:solidFill>
              </a:rPr>
              <a:t>:</a:t>
            </a:r>
          </a:p>
          <a:p>
            <a:r>
              <a:rPr lang="en-AU" sz="2200" b="1" dirty="0">
                <a:solidFill>
                  <a:srgbClr val="00B0F0"/>
                </a:solidFill>
              </a:rPr>
              <a:t>To be able to calculate the cost for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AU" sz="2200" b="1" dirty="0">
                <a:solidFill>
                  <a:srgbClr val="00B0F0"/>
                </a:solidFill>
              </a:rPr>
              <a:t>500 grams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AU" sz="2200" b="1" dirty="0">
                <a:solidFill>
                  <a:srgbClr val="00B0F0"/>
                </a:solidFill>
              </a:rPr>
              <a:t>100 grams 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AU" sz="2200" b="1" dirty="0">
                <a:solidFill>
                  <a:srgbClr val="00B0F0"/>
                </a:solidFill>
              </a:rPr>
              <a:t>200 grams</a:t>
            </a:r>
          </a:p>
        </p:txBody>
      </p:sp>
    </p:spTree>
    <p:extLst>
      <p:ext uri="{BB962C8B-B14F-4D97-AF65-F5344CB8AC3E}">
        <p14:creationId xmlns:p14="http://schemas.microsoft.com/office/powerpoint/2010/main" val="306776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69000">
              <a:srgbClr val="E9EFD6"/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73364" y="702425"/>
            <a:ext cx="7825803" cy="1135049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B0F0"/>
                </a:solidFill>
              </a:rPr>
              <a:t>PRICE PER KILOGRAM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177201" y="2373573"/>
            <a:ext cx="8915399" cy="3214477"/>
          </a:xfrm>
        </p:spPr>
        <p:txBody>
          <a:bodyPr>
            <a:normAutofit fontScale="92500" lnSpcReduction="20000"/>
          </a:bodyPr>
          <a:lstStyle/>
          <a:p>
            <a:r>
              <a:rPr lang="en-AU" sz="2000" b="1" u="sng" dirty="0">
                <a:solidFill>
                  <a:srgbClr val="00B0F0"/>
                </a:solidFill>
              </a:rPr>
              <a:t>AIMS</a:t>
            </a:r>
          </a:p>
          <a:p>
            <a:r>
              <a:rPr lang="en-AU" sz="2000" b="1" dirty="0">
                <a:solidFill>
                  <a:srgbClr val="00B0F0"/>
                </a:solidFill>
              </a:rPr>
              <a:t>To be able to;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AU" sz="2000" b="1" dirty="0">
                <a:solidFill>
                  <a:srgbClr val="00B0F0"/>
                </a:solidFill>
              </a:rPr>
              <a:t>Define Sample Space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AU" sz="2000" b="1" dirty="0">
                <a:solidFill>
                  <a:srgbClr val="00B0F0"/>
                </a:solidFill>
              </a:rPr>
              <a:t>Describe how likely it is that an event will occur with spinners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AU" sz="2000" b="1" dirty="0">
                <a:solidFill>
                  <a:srgbClr val="00B0F0"/>
                </a:solidFill>
              </a:rPr>
              <a:t>Calculate cost for multiples of 100 grams from the kilogram price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000" b="1" dirty="0">
              <a:solidFill>
                <a:srgbClr val="00B0F0"/>
              </a:solidFill>
            </a:endParaRPr>
          </a:p>
          <a:p>
            <a:r>
              <a:rPr lang="en-AU" sz="2000" b="1" u="sng" dirty="0">
                <a:solidFill>
                  <a:srgbClr val="00B0F0"/>
                </a:solidFill>
              </a:rPr>
              <a:t>PLAN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B0F0"/>
                </a:solidFill>
              </a:rPr>
              <a:t>Describing Chance Exercise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B0F0"/>
                </a:solidFill>
              </a:rPr>
              <a:t>Price Per Kilogram activity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55265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3EBCC-31B6-4843-B034-B36CE5FD3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Choral response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5F62D-E0BB-4E28-9C26-799986B0F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7675" y="1540189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800" b="1" dirty="0">
                <a:solidFill>
                  <a:srgbClr val="FF0000"/>
                </a:solidFill>
              </a:rPr>
              <a:t>Sample space is the list of ALL possible outcomes of a trial.</a:t>
            </a:r>
          </a:p>
          <a:p>
            <a:pPr marL="0" indent="0">
              <a:buNone/>
            </a:pPr>
            <a:endParaRPr lang="en-AU" sz="2800" b="1" dirty="0"/>
          </a:p>
          <a:p>
            <a:pPr marL="0" indent="0">
              <a:buNone/>
            </a:pPr>
            <a:r>
              <a:rPr lang="en-AU" sz="2800" b="1" dirty="0"/>
              <a:t>Sample space is the list of ___ possible outcomes of a trial.</a:t>
            </a:r>
          </a:p>
          <a:p>
            <a:pPr marL="0" indent="0">
              <a:buNone/>
            </a:pPr>
            <a:endParaRPr lang="en-AU" sz="2800" b="1" dirty="0"/>
          </a:p>
          <a:p>
            <a:pPr marL="0" indent="0">
              <a:buNone/>
            </a:pPr>
            <a:r>
              <a:rPr lang="en-AU" sz="2800" b="1" dirty="0"/>
              <a:t>Sample space is the list of ___ possible ________ of a trial.</a:t>
            </a:r>
          </a:p>
          <a:p>
            <a:pPr marL="0" indent="0">
              <a:buNone/>
            </a:pPr>
            <a:endParaRPr lang="en-AU" sz="2800" b="1" dirty="0"/>
          </a:p>
          <a:p>
            <a:pPr marL="0" indent="0">
              <a:buNone/>
            </a:pPr>
            <a:r>
              <a:rPr lang="en-AU" sz="2800" b="1" dirty="0"/>
              <a:t>What is a sample space? </a:t>
            </a:r>
          </a:p>
        </p:txBody>
      </p:sp>
    </p:spTree>
    <p:extLst>
      <p:ext uri="{BB962C8B-B14F-4D97-AF65-F5344CB8AC3E}">
        <p14:creationId xmlns:p14="http://schemas.microsoft.com/office/powerpoint/2010/main" val="184371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0F488-46C1-4E55-922E-9A961EA16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How to write {sample space}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4A54C-DAE1-4830-A0DE-9EBD40A3F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AU" dirty="0"/>
              <a:t>I do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99551C-EE96-47B7-814F-9AF9E7324D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Rolling a dice </a:t>
            </a:r>
          </a:p>
          <a:p>
            <a:pPr marL="0" indent="0">
              <a:buNone/>
            </a:pPr>
            <a:r>
              <a:rPr lang="en-AU" dirty="0"/>
              <a:t>S =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Flipping a coin </a:t>
            </a:r>
          </a:p>
          <a:p>
            <a:pPr marL="0" indent="0">
              <a:buNone/>
            </a:pPr>
            <a:r>
              <a:rPr lang="en-AU" dirty="0"/>
              <a:t>S =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Flipping 2 coins </a:t>
            </a:r>
          </a:p>
          <a:p>
            <a:pPr marL="0" indent="0">
              <a:buNone/>
            </a:pPr>
            <a:r>
              <a:rPr lang="en-AU" dirty="0"/>
              <a:t>S=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9B98BC-A156-4201-A01C-4869E12E8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You do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21B749-391B-474D-A85D-10EE6F0446B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Picking a number between 1 and 10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Picking a letter from: FIREBALL 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Rolling a 8 sided die </a:t>
            </a:r>
          </a:p>
        </p:txBody>
      </p:sp>
    </p:spTree>
    <p:extLst>
      <p:ext uri="{BB962C8B-B14F-4D97-AF65-F5344CB8AC3E}">
        <p14:creationId xmlns:p14="http://schemas.microsoft.com/office/powerpoint/2010/main" val="317198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6F1EA-3001-49BE-AE01-C1EA60265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12670" y="0"/>
            <a:ext cx="8911687" cy="1280890"/>
          </a:xfrm>
        </p:spPr>
        <p:txBody>
          <a:bodyPr/>
          <a:lstStyle/>
          <a:p>
            <a:pPr algn="ctr"/>
            <a:r>
              <a:rPr lang="en-AU" dirty="0"/>
              <a:t>Coloured spinner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04D61D-5B9A-474D-A147-E7550FB2FA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962" y="2404666"/>
            <a:ext cx="4162425" cy="368736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C4A2A3-F57F-4E5A-91EE-A98782735A4B}"/>
              </a:ext>
            </a:extLst>
          </p:cNvPr>
          <p:cNvSpPr txBox="1"/>
          <p:nvPr/>
        </p:nvSpPr>
        <p:spPr>
          <a:xfrm>
            <a:off x="4913747" y="829053"/>
            <a:ext cx="658229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What is the sample space?</a:t>
            </a:r>
          </a:p>
          <a:p>
            <a:endParaRPr lang="en-AU" sz="2800" dirty="0"/>
          </a:p>
          <a:p>
            <a:r>
              <a:rPr lang="en-AU" sz="2800" dirty="0"/>
              <a:t>S = {red, blue, red, blue, green, blue} </a:t>
            </a:r>
          </a:p>
          <a:p>
            <a:endParaRPr lang="en-AU" sz="2800" dirty="0"/>
          </a:p>
          <a:p>
            <a:r>
              <a:rPr lang="en-AU" sz="2800" dirty="0"/>
              <a:t>Red is </a:t>
            </a:r>
          </a:p>
          <a:p>
            <a:endParaRPr lang="en-AU" sz="2800" dirty="0"/>
          </a:p>
          <a:p>
            <a:r>
              <a:rPr lang="en-AU" sz="2800" dirty="0"/>
              <a:t>Blue is </a:t>
            </a:r>
          </a:p>
          <a:p>
            <a:endParaRPr lang="en-AU" sz="2800" dirty="0"/>
          </a:p>
          <a:p>
            <a:r>
              <a:rPr lang="en-AU" sz="2800" dirty="0"/>
              <a:t>Green is </a:t>
            </a:r>
          </a:p>
          <a:p>
            <a:endParaRPr lang="en-AU" sz="2800" dirty="0"/>
          </a:p>
          <a:p>
            <a:r>
              <a:rPr lang="en-AU" sz="2800" dirty="0"/>
              <a:t>Yellow is </a:t>
            </a:r>
          </a:p>
          <a:p>
            <a:endParaRPr lang="en-A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91550D-8722-415B-9B8F-DB1E3015ACF1}"/>
              </a:ext>
            </a:extLst>
          </p:cNvPr>
          <p:cNvSpPr txBox="1"/>
          <p:nvPr/>
        </p:nvSpPr>
        <p:spPr>
          <a:xfrm>
            <a:off x="9744364" y="2742962"/>
            <a:ext cx="23275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Impossible </a:t>
            </a:r>
          </a:p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Certain </a:t>
            </a:r>
          </a:p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Likely </a:t>
            </a:r>
          </a:p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Unlikely </a:t>
            </a:r>
          </a:p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Even chance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307796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C49AA-1A9E-497E-9EA7-8E0A5A209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Drawing spinners </a:t>
            </a:r>
            <a:endParaRPr lang="en-AU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C3F4B66-DBF2-4980-8B66-5C44098E408F}"/>
              </a:ext>
            </a:extLst>
          </p:cNvPr>
          <p:cNvSpPr/>
          <p:nvPr/>
        </p:nvSpPr>
        <p:spPr>
          <a:xfrm>
            <a:off x="1047081" y="1905000"/>
            <a:ext cx="2817091" cy="268778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0F7D9ED-93E1-458D-95D7-77CD7C05DEB3}"/>
              </a:ext>
            </a:extLst>
          </p:cNvPr>
          <p:cNvSpPr/>
          <p:nvPr/>
        </p:nvSpPr>
        <p:spPr>
          <a:xfrm>
            <a:off x="4987372" y="1905000"/>
            <a:ext cx="2817091" cy="268778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E5FB0F4-D700-4B28-A8BB-EEE36222F734}"/>
              </a:ext>
            </a:extLst>
          </p:cNvPr>
          <p:cNvSpPr/>
          <p:nvPr/>
        </p:nvSpPr>
        <p:spPr>
          <a:xfrm>
            <a:off x="9083965" y="1905000"/>
            <a:ext cx="2817091" cy="268778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9FE966-3D9B-438B-B3A8-B46F2A299B2A}"/>
              </a:ext>
            </a:extLst>
          </p:cNvPr>
          <p:cNvSpPr txBox="1"/>
          <p:nvPr/>
        </p:nvSpPr>
        <p:spPr>
          <a:xfrm>
            <a:off x="1283855" y="5070764"/>
            <a:ext cx="182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spinner has an even chance for red and blue </a:t>
            </a:r>
            <a:endParaRPr lang="en-A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ED5BBE-8F71-488D-9D6A-80387D34F7B2}"/>
              </a:ext>
            </a:extLst>
          </p:cNvPr>
          <p:cNvSpPr txBox="1"/>
          <p:nvPr/>
        </p:nvSpPr>
        <p:spPr>
          <a:xfrm>
            <a:off x="5629564" y="5056652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Even chance of yellow but red is unlikely </a:t>
            </a:r>
            <a:endParaRPr lang="en-AU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15AD17-E6AF-43BC-992D-2F8257FD2756}"/>
              </a:ext>
            </a:extLst>
          </p:cNvPr>
          <p:cNvSpPr txBox="1"/>
          <p:nvPr/>
        </p:nvSpPr>
        <p:spPr>
          <a:xfrm>
            <a:off x="9785927" y="5070764"/>
            <a:ext cx="182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Impossible for red, even chance for green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637741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1992" y="1051560"/>
            <a:ext cx="8915399" cy="1135049"/>
          </a:xfrm>
        </p:spPr>
        <p:txBody>
          <a:bodyPr>
            <a:normAutofit/>
          </a:bodyPr>
          <a:lstStyle/>
          <a:p>
            <a:r>
              <a:rPr lang="en-AU" dirty="0"/>
              <a:t>PRICE PER KILOGRAM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29446" y="3061252"/>
            <a:ext cx="6162261" cy="1868555"/>
          </a:xfrm>
        </p:spPr>
        <p:txBody>
          <a:bodyPr>
            <a:normAutofit/>
          </a:bodyPr>
          <a:lstStyle/>
          <a:p>
            <a:r>
              <a:rPr lang="en-AU" sz="2000" dirty="0">
                <a:solidFill>
                  <a:schemeClr val="tx1"/>
                </a:solidFill>
              </a:rPr>
              <a:t>Page 1 worksheet required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463" y="2428524"/>
            <a:ext cx="2954108" cy="411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074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72570" y="447261"/>
            <a:ext cx="7870866" cy="1135049"/>
          </a:xfrm>
        </p:spPr>
        <p:txBody>
          <a:bodyPr>
            <a:normAutofit/>
          </a:bodyPr>
          <a:lstStyle/>
          <a:p>
            <a:r>
              <a:rPr lang="en-AU" sz="3200" dirty="0"/>
              <a:t>PRICE PER KILOGRAM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7154" y="2091193"/>
            <a:ext cx="6822219" cy="3999506"/>
          </a:xfrm>
        </p:spPr>
        <p:txBody>
          <a:bodyPr>
            <a:normAutofit fontScale="92500" lnSpcReduction="20000"/>
          </a:bodyPr>
          <a:lstStyle/>
          <a:p>
            <a:r>
              <a:rPr lang="en-AU" sz="1700" u="sng" dirty="0">
                <a:solidFill>
                  <a:schemeClr val="tx1"/>
                </a:solidFill>
              </a:rPr>
              <a:t>REVIEW:</a:t>
            </a:r>
          </a:p>
          <a:p>
            <a:r>
              <a:rPr lang="en-AU" sz="1700" dirty="0">
                <a:solidFill>
                  <a:schemeClr val="tx1"/>
                </a:solidFill>
              </a:rPr>
              <a:t>1.  How many grams in one kilogram</a:t>
            </a:r>
            <a:r>
              <a:rPr lang="en-AU" sz="1700">
                <a:solidFill>
                  <a:schemeClr val="tx1"/>
                </a:solidFill>
              </a:rPr>
              <a:t>?   </a:t>
            </a:r>
            <a:endParaRPr lang="en-AU" sz="1700" dirty="0">
              <a:solidFill>
                <a:srgbClr val="FF0000"/>
              </a:solidFill>
            </a:endParaRPr>
          </a:p>
          <a:p>
            <a:r>
              <a:rPr lang="en-AU" sz="1700" dirty="0">
                <a:solidFill>
                  <a:schemeClr val="tx1"/>
                </a:solidFill>
              </a:rPr>
              <a:t>	1 kg = </a:t>
            </a:r>
            <a:r>
              <a:rPr lang="en-AU" sz="1700" dirty="0">
                <a:solidFill>
                  <a:srgbClr val="FF0000"/>
                </a:solidFill>
              </a:rPr>
              <a:t>………</a:t>
            </a:r>
            <a:r>
              <a:rPr lang="en-AU" sz="1700" dirty="0">
                <a:solidFill>
                  <a:schemeClr val="tx1"/>
                </a:solidFill>
              </a:rPr>
              <a:t> g</a:t>
            </a:r>
          </a:p>
          <a:p>
            <a:endParaRPr lang="en-AU" sz="1700" dirty="0">
              <a:solidFill>
                <a:schemeClr val="tx1"/>
              </a:solidFill>
            </a:endParaRPr>
          </a:p>
          <a:p>
            <a:r>
              <a:rPr lang="en-AU" sz="1700" dirty="0">
                <a:solidFill>
                  <a:schemeClr val="tx1"/>
                </a:solidFill>
              </a:rPr>
              <a:t>2.  How many lots of 500 grams in one kilogram?    </a:t>
            </a:r>
            <a:r>
              <a:rPr lang="en-AU" sz="1700" dirty="0">
                <a:solidFill>
                  <a:srgbClr val="FF0000"/>
                </a:solidFill>
              </a:rPr>
              <a:t>……</a:t>
            </a:r>
            <a:endParaRPr lang="en-AU" sz="1700" dirty="0">
              <a:solidFill>
                <a:schemeClr val="tx1"/>
              </a:solidFill>
            </a:endParaRPr>
          </a:p>
          <a:p>
            <a:r>
              <a:rPr lang="en-AU" sz="1700" dirty="0">
                <a:solidFill>
                  <a:schemeClr val="tx1"/>
                </a:solidFill>
              </a:rPr>
              <a:t>	1 kg  ÷  </a:t>
            </a:r>
            <a:r>
              <a:rPr lang="en-AU" sz="1700" dirty="0">
                <a:solidFill>
                  <a:srgbClr val="FF0000"/>
                </a:solidFill>
              </a:rPr>
              <a:t>….. </a:t>
            </a:r>
            <a:r>
              <a:rPr lang="en-AU" sz="1700" dirty="0">
                <a:solidFill>
                  <a:schemeClr val="tx1"/>
                </a:solidFill>
              </a:rPr>
              <a:t> = 500 g</a:t>
            </a:r>
          </a:p>
          <a:p>
            <a:endParaRPr lang="en-AU" sz="1700" dirty="0">
              <a:solidFill>
                <a:schemeClr val="tx1"/>
              </a:solidFill>
            </a:endParaRPr>
          </a:p>
          <a:p>
            <a:r>
              <a:rPr lang="en-AU" sz="1700" dirty="0">
                <a:solidFill>
                  <a:schemeClr val="tx1"/>
                </a:solidFill>
              </a:rPr>
              <a:t>3.  How many lots of 100 grams in one kilogram?    </a:t>
            </a:r>
            <a:r>
              <a:rPr lang="en-AU" sz="1700" dirty="0">
                <a:solidFill>
                  <a:srgbClr val="FF0000"/>
                </a:solidFill>
              </a:rPr>
              <a:t>……</a:t>
            </a:r>
            <a:endParaRPr lang="en-AU" sz="1700" dirty="0">
              <a:solidFill>
                <a:schemeClr val="tx1"/>
              </a:solidFill>
            </a:endParaRPr>
          </a:p>
          <a:p>
            <a:r>
              <a:rPr lang="en-AU" sz="1700" dirty="0">
                <a:solidFill>
                  <a:schemeClr val="tx1"/>
                </a:solidFill>
              </a:rPr>
              <a:t>	1 kg  ÷  </a:t>
            </a:r>
            <a:r>
              <a:rPr lang="en-AU" sz="1700" dirty="0">
                <a:solidFill>
                  <a:srgbClr val="FF0000"/>
                </a:solidFill>
              </a:rPr>
              <a:t>….. </a:t>
            </a:r>
            <a:r>
              <a:rPr lang="en-AU" sz="1700" dirty="0">
                <a:solidFill>
                  <a:schemeClr val="tx1"/>
                </a:solidFill>
              </a:rPr>
              <a:t> = 100 g</a:t>
            </a:r>
          </a:p>
          <a:p>
            <a:endParaRPr lang="en-AU" sz="1700" dirty="0">
              <a:solidFill>
                <a:schemeClr val="tx1"/>
              </a:solidFill>
            </a:endParaRPr>
          </a:p>
          <a:p>
            <a:r>
              <a:rPr lang="en-AU" sz="1700" dirty="0">
                <a:solidFill>
                  <a:schemeClr val="tx1"/>
                </a:solidFill>
              </a:rPr>
              <a:t>4.  How many lots of 500 grams in one kilogram?    </a:t>
            </a:r>
            <a:r>
              <a:rPr lang="en-AU" sz="1700" dirty="0">
                <a:solidFill>
                  <a:srgbClr val="FF0000"/>
                </a:solidFill>
              </a:rPr>
              <a:t>……</a:t>
            </a:r>
            <a:endParaRPr lang="en-AU" sz="1700" dirty="0">
              <a:solidFill>
                <a:schemeClr val="tx1"/>
              </a:solidFill>
            </a:endParaRPr>
          </a:p>
          <a:p>
            <a:r>
              <a:rPr lang="en-AU" sz="1700" dirty="0">
                <a:solidFill>
                  <a:schemeClr val="tx1"/>
                </a:solidFill>
              </a:rPr>
              <a:t>	1 kg  ÷  </a:t>
            </a:r>
            <a:r>
              <a:rPr lang="en-AU" sz="1700" dirty="0">
                <a:solidFill>
                  <a:srgbClr val="FF0000"/>
                </a:solidFill>
              </a:rPr>
              <a:t>….. </a:t>
            </a:r>
            <a:r>
              <a:rPr lang="en-AU" sz="1700" dirty="0">
                <a:solidFill>
                  <a:schemeClr val="tx1"/>
                </a:solidFill>
              </a:rPr>
              <a:t> = 200 g</a:t>
            </a:r>
          </a:p>
          <a:p>
            <a:endParaRPr lang="en-A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943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03771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AU" sz="2800" dirty="0"/>
              <a:t>$18 per kilogram </a:t>
            </a:r>
            <a:br>
              <a:rPr lang="en-AU" sz="2800" dirty="0"/>
            </a:br>
            <a:r>
              <a:rPr lang="en-AU" sz="2800" dirty="0"/>
              <a:t>for chuck casserole beef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379" y="2510919"/>
            <a:ext cx="3735492" cy="3181480"/>
          </a:xfrm>
        </p:spPr>
      </p:pic>
      <p:sp>
        <p:nvSpPr>
          <p:cNvPr id="5" name="TextBox 4"/>
          <p:cNvSpPr txBox="1"/>
          <p:nvPr/>
        </p:nvSpPr>
        <p:spPr>
          <a:xfrm>
            <a:off x="1884459" y="2409245"/>
            <a:ext cx="69653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1 kilogram  =  </a:t>
            </a:r>
            <a:r>
              <a:rPr lang="en-AU" dirty="0">
                <a:solidFill>
                  <a:srgbClr val="FF0000"/>
                </a:solidFill>
              </a:rPr>
              <a:t>……….</a:t>
            </a:r>
            <a:r>
              <a:rPr lang="en-AU" dirty="0"/>
              <a:t>  grams</a:t>
            </a:r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500 grams  =  $18 ÷ </a:t>
            </a:r>
            <a:r>
              <a:rPr lang="en-AU" dirty="0">
                <a:solidFill>
                  <a:srgbClr val="FF0000"/>
                </a:solidFill>
              </a:rPr>
              <a:t>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solidFill>
                <a:srgbClr val="FF0000"/>
              </a:solidFill>
            </a:endParaRPr>
          </a:p>
          <a:p>
            <a:pPr lvl="3"/>
            <a:r>
              <a:rPr lang="en-AU" dirty="0">
                <a:solidFill>
                  <a:srgbClr val="FF0000"/>
                </a:solidFill>
              </a:rPr>
              <a:t>   </a:t>
            </a:r>
            <a:r>
              <a:rPr lang="en-AU" dirty="0"/>
              <a:t>=  $ </a:t>
            </a:r>
            <a:r>
              <a:rPr lang="en-AU" dirty="0">
                <a:solidFill>
                  <a:srgbClr val="FF0000"/>
                </a:solidFill>
              </a:rPr>
              <a:t>......</a:t>
            </a:r>
          </a:p>
          <a:p>
            <a:pPr lvl="3"/>
            <a:endParaRPr lang="en-AU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100 grams  =  $18 ÷ </a:t>
            </a:r>
            <a:r>
              <a:rPr lang="en-AU" dirty="0">
                <a:solidFill>
                  <a:srgbClr val="FF0000"/>
                </a:solidFill>
              </a:rPr>
              <a:t>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solidFill>
                <a:srgbClr val="FF0000"/>
              </a:solidFill>
            </a:endParaRPr>
          </a:p>
          <a:p>
            <a:pPr lvl="3"/>
            <a:r>
              <a:rPr lang="en-AU" dirty="0">
                <a:solidFill>
                  <a:srgbClr val="FF0000"/>
                </a:solidFill>
              </a:rPr>
              <a:t>   </a:t>
            </a:r>
            <a:r>
              <a:rPr lang="en-AU" dirty="0"/>
              <a:t>=  $ </a:t>
            </a:r>
            <a:r>
              <a:rPr lang="en-AU" dirty="0">
                <a:solidFill>
                  <a:srgbClr val="FF0000"/>
                </a:solidFill>
              </a:rPr>
              <a:t>......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200 grams  =  $18 ÷ </a:t>
            </a:r>
            <a:r>
              <a:rPr lang="en-AU" dirty="0">
                <a:solidFill>
                  <a:srgbClr val="FF0000"/>
                </a:solidFill>
              </a:rPr>
              <a:t>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solidFill>
                <a:srgbClr val="FF0000"/>
              </a:solidFill>
            </a:endParaRPr>
          </a:p>
          <a:p>
            <a:pPr lvl="3"/>
            <a:r>
              <a:rPr lang="en-AU" dirty="0">
                <a:solidFill>
                  <a:srgbClr val="FF0000"/>
                </a:solidFill>
              </a:rPr>
              <a:t>   </a:t>
            </a:r>
            <a:r>
              <a:rPr lang="en-AU" dirty="0"/>
              <a:t>=  $ </a:t>
            </a:r>
            <a:r>
              <a:rPr lang="en-AU" dirty="0">
                <a:solidFill>
                  <a:srgbClr val="FF0000"/>
                </a:solidFill>
              </a:rPr>
              <a:t>......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3581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03771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AU" sz="2800" dirty="0"/>
              <a:t>$24 per kilogram </a:t>
            </a:r>
            <a:br>
              <a:rPr lang="en-AU" sz="2800" dirty="0"/>
            </a:br>
            <a:r>
              <a:rPr lang="en-AU" sz="2800" dirty="0"/>
              <a:t>for lamb loin chops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4459" y="2409245"/>
            <a:ext cx="69653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1 kilogram  =  </a:t>
            </a:r>
            <a:r>
              <a:rPr lang="en-AU" dirty="0">
                <a:solidFill>
                  <a:srgbClr val="FF0000"/>
                </a:solidFill>
              </a:rPr>
              <a:t>……….</a:t>
            </a:r>
            <a:r>
              <a:rPr lang="en-AU" dirty="0"/>
              <a:t>  grams</a:t>
            </a:r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500 grams  =  $24 ÷ </a:t>
            </a:r>
            <a:r>
              <a:rPr lang="en-AU" dirty="0">
                <a:solidFill>
                  <a:srgbClr val="FF0000"/>
                </a:solidFill>
              </a:rPr>
              <a:t>……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solidFill>
                <a:srgbClr val="FF0000"/>
              </a:solidFill>
            </a:endParaRPr>
          </a:p>
          <a:p>
            <a:pPr lvl="3"/>
            <a:r>
              <a:rPr lang="en-AU" dirty="0">
                <a:solidFill>
                  <a:srgbClr val="FF0000"/>
                </a:solidFill>
              </a:rPr>
              <a:t>   </a:t>
            </a:r>
            <a:r>
              <a:rPr lang="en-AU" dirty="0"/>
              <a:t>=  $ </a:t>
            </a:r>
            <a:r>
              <a:rPr lang="en-AU" dirty="0">
                <a:solidFill>
                  <a:srgbClr val="FF0000"/>
                </a:solidFill>
              </a:rPr>
              <a:t>......</a:t>
            </a:r>
          </a:p>
          <a:p>
            <a:pPr lvl="3"/>
            <a:endParaRPr lang="en-AU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100 grams  =  $24 ÷ </a:t>
            </a:r>
            <a:r>
              <a:rPr lang="en-AU" dirty="0">
                <a:solidFill>
                  <a:srgbClr val="FF0000"/>
                </a:solidFill>
              </a:rPr>
              <a:t>……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solidFill>
                <a:srgbClr val="FF0000"/>
              </a:solidFill>
            </a:endParaRPr>
          </a:p>
          <a:p>
            <a:pPr lvl="3"/>
            <a:r>
              <a:rPr lang="en-AU" dirty="0">
                <a:solidFill>
                  <a:srgbClr val="FF0000"/>
                </a:solidFill>
              </a:rPr>
              <a:t>   </a:t>
            </a:r>
            <a:r>
              <a:rPr lang="en-AU" dirty="0"/>
              <a:t>=  $ </a:t>
            </a:r>
            <a:r>
              <a:rPr lang="en-AU" dirty="0">
                <a:solidFill>
                  <a:srgbClr val="FF0000"/>
                </a:solidFill>
              </a:rPr>
              <a:t>......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200 grams  =  $24 ÷ </a:t>
            </a:r>
            <a:r>
              <a:rPr lang="en-AU" dirty="0">
                <a:solidFill>
                  <a:srgbClr val="FF0000"/>
                </a:solidFill>
              </a:rPr>
              <a:t>……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solidFill>
                <a:srgbClr val="FF0000"/>
              </a:solidFill>
            </a:endParaRPr>
          </a:p>
          <a:p>
            <a:pPr lvl="3"/>
            <a:r>
              <a:rPr lang="en-AU" dirty="0">
                <a:solidFill>
                  <a:srgbClr val="FF0000"/>
                </a:solidFill>
              </a:rPr>
              <a:t>   </a:t>
            </a:r>
            <a:r>
              <a:rPr lang="en-AU" dirty="0"/>
              <a:t>=  $ </a:t>
            </a:r>
            <a:r>
              <a:rPr lang="en-AU" dirty="0">
                <a:solidFill>
                  <a:srgbClr val="FF0000"/>
                </a:solidFill>
              </a:rPr>
              <a:t>......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r>
              <a:rPr lang="en-AU" dirty="0"/>
              <a:t>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256" y="2313830"/>
            <a:ext cx="2914085" cy="3939672"/>
          </a:xfrm>
        </p:spPr>
      </p:pic>
    </p:spTree>
    <p:extLst>
      <p:ext uri="{BB962C8B-B14F-4D97-AF65-F5344CB8AC3E}">
        <p14:creationId xmlns:p14="http://schemas.microsoft.com/office/powerpoint/2010/main" val="302693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03771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AU" sz="2800" dirty="0"/>
              <a:t>$5.50 per kilogram </a:t>
            </a:r>
            <a:br>
              <a:rPr lang="en-AU" sz="2800" dirty="0"/>
            </a:br>
            <a:r>
              <a:rPr lang="en-AU" sz="2800" dirty="0"/>
              <a:t>for </a:t>
            </a:r>
            <a:r>
              <a:rPr lang="en-AU" sz="2800" dirty="0" err="1"/>
              <a:t>Jalna</a:t>
            </a:r>
            <a:r>
              <a:rPr lang="en-AU" sz="2800" dirty="0"/>
              <a:t> yoghurt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4458" y="2409245"/>
            <a:ext cx="756169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1 kilogram  =  </a:t>
            </a:r>
            <a:r>
              <a:rPr lang="en-AU" dirty="0">
                <a:solidFill>
                  <a:srgbClr val="FF0000"/>
                </a:solidFill>
              </a:rPr>
              <a:t>……….</a:t>
            </a:r>
            <a:r>
              <a:rPr lang="en-AU" dirty="0"/>
              <a:t>  grams</a:t>
            </a:r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500 grams  =  $5.50 ÷ </a:t>
            </a:r>
            <a:r>
              <a:rPr lang="en-AU" dirty="0">
                <a:solidFill>
                  <a:srgbClr val="FF0000"/>
                </a:solidFill>
              </a:rPr>
              <a:t>……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solidFill>
                <a:srgbClr val="FF0000"/>
              </a:solidFill>
            </a:endParaRPr>
          </a:p>
          <a:p>
            <a:pPr lvl="3"/>
            <a:r>
              <a:rPr lang="en-AU" dirty="0">
                <a:solidFill>
                  <a:srgbClr val="FF0000"/>
                </a:solidFill>
              </a:rPr>
              <a:t>   </a:t>
            </a:r>
            <a:r>
              <a:rPr lang="en-AU" dirty="0"/>
              <a:t>=  $ </a:t>
            </a:r>
            <a:r>
              <a:rPr lang="en-AU" dirty="0">
                <a:solidFill>
                  <a:srgbClr val="FF0000"/>
                </a:solidFill>
              </a:rPr>
              <a:t>......</a:t>
            </a:r>
          </a:p>
          <a:p>
            <a:pPr lvl="3"/>
            <a:endParaRPr lang="en-AU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100 grams  =  $5.50 ÷ </a:t>
            </a:r>
            <a:r>
              <a:rPr lang="en-AU" dirty="0">
                <a:solidFill>
                  <a:srgbClr val="FF0000"/>
                </a:solidFill>
              </a:rPr>
              <a:t>……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solidFill>
                <a:srgbClr val="FF0000"/>
              </a:solidFill>
            </a:endParaRPr>
          </a:p>
          <a:p>
            <a:pPr lvl="3"/>
            <a:r>
              <a:rPr lang="en-AU" dirty="0">
                <a:solidFill>
                  <a:srgbClr val="FF0000"/>
                </a:solidFill>
              </a:rPr>
              <a:t>   </a:t>
            </a:r>
            <a:r>
              <a:rPr lang="en-AU" dirty="0"/>
              <a:t>=  $ </a:t>
            </a:r>
            <a:r>
              <a:rPr lang="en-AU" dirty="0">
                <a:solidFill>
                  <a:srgbClr val="FF0000"/>
                </a:solidFill>
              </a:rPr>
              <a:t>......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200 grams  =  $5.50 ÷ </a:t>
            </a:r>
            <a:r>
              <a:rPr lang="en-AU" dirty="0">
                <a:solidFill>
                  <a:srgbClr val="FF0000"/>
                </a:solidFill>
              </a:rPr>
              <a:t>……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solidFill>
                <a:srgbClr val="FF0000"/>
              </a:solidFill>
            </a:endParaRPr>
          </a:p>
          <a:p>
            <a:pPr lvl="3"/>
            <a:r>
              <a:rPr lang="en-AU" dirty="0">
                <a:solidFill>
                  <a:srgbClr val="FF0000"/>
                </a:solidFill>
              </a:rPr>
              <a:t>   </a:t>
            </a:r>
            <a:r>
              <a:rPr lang="en-AU" dirty="0"/>
              <a:t>=  $ </a:t>
            </a:r>
            <a:r>
              <a:rPr lang="en-AU" dirty="0">
                <a:solidFill>
                  <a:srgbClr val="FF0000"/>
                </a:solidFill>
              </a:rPr>
              <a:t>......</a:t>
            </a:r>
          </a:p>
          <a:p>
            <a:pPr lvl="7"/>
            <a:r>
              <a:rPr lang="en-AU" dirty="0">
                <a:solidFill>
                  <a:srgbClr val="FF0000"/>
                </a:solidFill>
              </a:rPr>
              <a:t>		Now do the </a:t>
            </a:r>
            <a:r>
              <a:rPr lang="en-AU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Page </a:t>
            </a:r>
            <a:r>
              <a:rPr lang="en-AU" sz="24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1</a:t>
            </a:r>
            <a:r>
              <a:rPr lang="en-AU" dirty="0">
                <a:solidFill>
                  <a:srgbClr val="FF0000"/>
                </a:solidFill>
              </a:rPr>
              <a:t> exercise</a:t>
            </a:r>
          </a:p>
          <a:p>
            <a:r>
              <a:rPr lang="en-AU" dirty="0"/>
              <a:t>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7248" y="2234775"/>
            <a:ext cx="3811726" cy="3268352"/>
          </a:xfrm>
        </p:spPr>
      </p:pic>
    </p:spTree>
    <p:extLst>
      <p:ext uri="{BB962C8B-B14F-4D97-AF65-F5344CB8AC3E}">
        <p14:creationId xmlns:p14="http://schemas.microsoft.com/office/powerpoint/2010/main" val="325738609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146</TotalTime>
  <Words>462</Words>
  <Application>Microsoft Office PowerPoint</Application>
  <PresentationFormat>Widescreen</PresentationFormat>
  <Paragraphs>129</Paragraphs>
  <Slides>11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Bradley Hand ITC</vt:lpstr>
      <vt:lpstr>Century Gothic</vt:lpstr>
      <vt:lpstr>Wingdings</vt:lpstr>
      <vt:lpstr>Wingdings 3</vt:lpstr>
      <vt:lpstr>Wisp</vt:lpstr>
      <vt:lpstr>Title: PRICE PER KILOGRAM</vt:lpstr>
      <vt:lpstr>PRICE PER KILOGRAM</vt:lpstr>
      <vt:lpstr>Choral response </vt:lpstr>
      <vt:lpstr>How to write {sample space}</vt:lpstr>
      <vt:lpstr>Coloured spinner </vt:lpstr>
      <vt:lpstr>Drawing spinners </vt:lpstr>
      <vt:lpstr>PRICE PER KILOGRAM</vt:lpstr>
      <vt:lpstr>PRICE PER KILOGRAM</vt:lpstr>
      <vt:lpstr>$18 per kilogram  for chuck casserole beef</vt:lpstr>
      <vt:lpstr>$24 per kilogram  for lamb loin chops</vt:lpstr>
      <vt:lpstr>$5.50 per kilogram  for Jalna yoghurt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PRICE PER KILOGRAM</dc:title>
  <dc:creator>FORREST Cassie [Busselton Senior High School]</dc:creator>
  <cp:lastModifiedBy>DAVIES Rhys [Busselton Senior High School]</cp:lastModifiedBy>
  <cp:revision>32</cp:revision>
  <dcterms:created xsi:type="dcterms:W3CDTF">2022-04-24T11:42:43Z</dcterms:created>
  <dcterms:modified xsi:type="dcterms:W3CDTF">2023-05-09T07:40:58Z</dcterms:modified>
</cp:coreProperties>
</file>
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304" r:id="rId2"/>
    <p:sldId id="256" r:id="rId3"/>
    <p:sldId id="308" r:id="rId4"/>
    <p:sldId id="307" r:id="rId5"/>
    <p:sldId id="309" r:id="rId6"/>
    <p:sldId id="287" r:id="rId7"/>
    <p:sldId id="291" r:id="rId8"/>
    <p:sldId id="328" r:id="rId9"/>
    <p:sldId id="292" r:id="rId10"/>
    <p:sldId id="293" r:id="rId11"/>
    <p:sldId id="310" r:id="rId12"/>
    <p:sldId id="311" r:id="rId13"/>
    <p:sldId id="312" r:id="rId14"/>
    <p:sldId id="285" r:id="rId15"/>
    <p:sldId id="313" r:id="rId16"/>
    <p:sldId id="322" r:id="rId17"/>
    <p:sldId id="323" r:id="rId18"/>
    <p:sldId id="324" r:id="rId19"/>
    <p:sldId id="315" r:id="rId20"/>
    <p:sldId id="325" r:id="rId21"/>
    <p:sldId id="316" r:id="rId22"/>
    <p:sldId id="317" r:id="rId23"/>
    <p:sldId id="318" r:id="rId24"/>
    <p:sldId id="326" r:id="rId25"/>
    <p:sldId id="327" r:id="rId26"/>
  </p:sldIdLst>
  <p:sldSz cx="9144000" cy="6858000" type="screen4x3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 Plan" id="{EAC8BF21-FB25-5546-83D7-5A86A4C870F3}">
          <p14:sldIdLst>
            <p14:sldId id="304"/>
          </p14:sldIdLst>
        </p14:section>
        <p14:section name="Lesson Content" id="{672D9055-BE68-0043-8C92-2E1DFCB659D4}">
          <p14:sldIdLst>
            <p14:sldId id="256"/>
            <p14:sldId id="308"/>
            <p14:sldId id="307"/>
            <p14:sldId id="309"/>
            <p14:sldId id="287"/>
            <p14:sldId id="291"/>
            <p14:sldId id="328"/>
            <p14:sldId id="292"/>
            <p14:sldId id="293"/>
            <p14:sldId id="310"/>
            <p14:sldId id="311"/>
            <p14:sldId id="312"/>
            <p14:sldId id="285"/>
            <p14:sldId id="313"/>
            <p14:sldId id="322"/>
            <p14:sldId id="323"/>
            <p14:sldId id="324"/>
          </p14:sldIdLst>
        </p14:section>
        <p14:section name="Student Resources" id="{E3CD0493-4595-EA4C-BC10-40A78EEC0C2A}">
          <p14:sldIdLst>
            <p14:sldId id="315"/>
            <p14:sldId id="325"/>
            <p14:sldId id="316"/>
            <p14:sldId id="317"/>
            <p14:sldId id="318"/>
            <p14:sldId id="326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660"/>
  </p:normalViewPr>
  <p:slideViewPr>
    <p:cSldViewPr snapToGrid="0">
      <p:cViewPr varScale="1">
        <p:scale>
          <a:sx n="78" d="100"/>
          <a:sy n="78" d="100"/>
        </p:scale>
        <p:origin x="68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B5816E-9854-4624-9FCC-2BFE8417AB4A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C33D5-DD1B-48A4-8220-07294736B4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968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you do to one side, you must do to the other. Read as red appears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C33D5-DD1B-48A4-8220-07294736B45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196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069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4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32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73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08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0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73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14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34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30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76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B5BFB-31C5-4BCE-A275-9F6A028C7FDD}" type="datetimeFigureOut">
              <a:rPr lang="en-GB" smtClean="0"/>
              <a:pPr/>
              <a:t>22/08/2023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226" y="114491"/>
            <a:ext cx="1503774" cy="10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0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0756"/>
              </p:ext>
            </p:extLst>
          </p:nvPr>
        </p:nvGraphicFramePr>
        <p:xfrm>
          <a:off x="526591" y="1237069"/>
          <a:ext cx="8151778" cy="4690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8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8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47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 gridSpan="8"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Arial" charset="0"/>
                          <a:cs typeface="Arial" charset="0"/>
                        </a:rPr>
                        <a:t>Lesson Overview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590"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+mn-lt"/>
                        </a:rPr>
                        <a:t>Objective(s)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r>
                        <a:rPr lang="en-GB" sz="800" dirty="0"/>
                        <a:t>Solve linear equations where the unknown is on both sides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+mn-lt"/>
                        </a:rPr>
                        <a:t>Grade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latin typeface="+mn-lt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723"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+mn-lt"/>
                        </a:rPr>
                        <a:t>Prior</a:t>
                      </a:r>
                      <a:r>
                        <a:rPr lang="en-US" sz="800" b="1" baseline="0" dirty="0">
                          <a:latin typeface="+mn-lt"/>
                        </a:rPr>
                        <a:t> Knowledge</a:t>
                      </a:r>
                      <a:endParaRPr lang="en-US" sz="8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r>
                        <a:rPr lang="en-US" sz="800" dirty="0"/>
                        <a:t>Simple linear equations (the starter is a recap); substitution; fractions and negative numbers.</a:t>
                      </a:r>
                    </a:p>
                    <a:p>
                      <a:r>
                        <a:rPr lang="en-US" sz="800" dirty="0"/>
                        <a:t>Examples used in examination style questions include angles in polygons.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16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+mn-lt"/>
                        </a:rPr>
                        <a:t>Duration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Total suggested</a:t>
                      </a:r>
                      <a:r>
                        <a:rPr lang="en-US" sz="800" baseline="0" dirty="0">
                          <a:solidFill>
                            <a:schemeClr val="tx1"/>
                          </a:solidFill>
                        </a:rPr>
                        <a:t> duration is 60 minutes (may vary with ability and the amount of each task used).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354"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+mn-lt"/>
                        </a:rPr>
                        <a:t>Resources</a:t>
                      </a:r>
                      <a:r>
                        <a:rPr lang="en-US" sz="800" b="1" baseline="0" dirty="0">
                          <a:latin typeface="+mn-lt"/>
                        </a:rPr>
                        <a:t> </a:t>
                      </a:r>
                      <a:endParaRPr lang="en-US" sz="800" b="1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800" dirty="0"/>
                        <a:t>Print slides: 19 - 25</a:t>
                      </a:r>
                      <a:endParaRPr 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+mn-lt"/>
                        </a:rPr>
                        <a:t>Equipment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369">
                <a:tc gridSpan="8">
                  <a:txBody>
                    <a:bodyPr/>
                    <a:lstStyle/>
                    <a:p>
                      <a:r>
                        <a:rPr lang="en-US" sz="1200" b="1" dirty="0">
                          <a:latin typeface="+mn-lt"/>
                        </a:rPr>
                        <a:t>Progression of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147">
                <a:tc gridSpan="2">
                  <a:txBody>
                    <a:bodyPr/>
                    <a:lstStyle/>
                    <a:p>
                      <a:r>
                        <a:rPr lang="en-US" sz="1200" b="1" u="sng" dirty="0">
                          <a:latin typeface="+mn-lt"/>
                        </a:rPr>
                        <a:t>What</a:t>
                      </a:r>
                      <a:r>
                        <a:rPr lang="en-US" sz="1200" baseline="0" dirty="0">
                          <a:latin typeface="+mn-lt"/>
                        </a:rPr>
                        <a:t> are the students learning?</a:t>
                      </a:r>
                      <a:endParaRPr lang="en-US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200" b="1" u="sng" dirty="0">
                          <a:latin typeface="+mn-lt"/>
                        </a:rPr>
                        <a:t>How</a:t>
                      </a:r>
                      <a:r>
                        <a:rPr lang="en-US" sz="1200" dirty="0">
                          <a:latin typeface="+mn-lt"/>
                        </a:rPr>
                        <a:t> are the students learning?</a:t>
                      </a:r>
                      <a:r>
                        <a:rPr lang="en-US" sz="1200" baseline="0" dirty="0">
                          <a:latin typeface="+mn-lt"/>
                        </a:rPr>
                        <a:t> (Activities &amp; Differentiation)</a:t>
                      </a:r>
                      <a:endParaRPr lang="en-US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937">
                <a:tc gridSpan="2">
                  <a:txBody>
                    <a:bodyPr/>
                    <a:lstStyle/>
                    <a:p>
                      <a:r>
                        <a:rPr lang="en-US" sz="800" dirty="0">
                          <a:latin typeface="+mn-lt"/>
                        </a:rPr>
                        <a:t>Solving</a:t>
                      </a:r>
                      <a:r>
                        <a:rPr lang="en-US" sz="800" baseline="0" dirty="0">
                          <a:latin typeface="+mn-lt"/>
                        </a:rPr>
                        <a:t> linear </a:t>
                      </a:r>
                      <a:r>
                        <a:rPr lang="en-US" sz="800" dirty="0">
                          <a:latin typeface="+mn-lt"/>
                        </a:rPr>
                        <a:t>equations with unknown on one side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800" b="1" baseline="0" dirty="0">
                          <a:solidFill>
                            <a:srgbClr val="FF0000"/>
                          </a:solidFill>
                          <a:latin typeface="+mn-lt"/>
                        </a:rPr>
                        <a:t>PRINT slide 19</a:t>
                      </a:r>
                      <a:r>
                        <a:rPr lang="en-US" sz="800" baseline="0" dirty="0">
                          <a:latin typeface="+mn-lt"/>
                        </a:rPr>
                        <a:t>. This task is intended to give students some initial confidence about solving equations, as well as leading into the task about establishing a method that can be adapted for more difficult equations.  Check answers with students and then move to slide 5 which shows the first equation again, this time using a method that involves applying the method and being able to verify that it gives the correct solution by comparing with previous work.</a:t>
                      </a:r>
                      <a:r>
                        <a:rPr lang="en-US" sz="800" b="1" baseline="0" dirty="0">
                          <a:solidFill>
                            <a:srgbClr val="FF0000"/>
                          </a:solidFill>
                          <a:latin typeface="+mn-lt"/>
                        </a:rPr>
                        <a:t> </a:t>
                      </a:r>
                      <a:endParaRPr lang="en-US" sz="800" baseline="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937">
                <a:tc gridSpan="2">
                  <a:txBody>
                    <a:bodyPr/>
                    <a:lstStyle/>
                    <a:p>
                      <a:r>
                        <a:rPr lang="en-US" sz="800" dirty="0">
                          <a:latin typeface="+mn-lt"/>
                        </a:rPr>
                        <a:t>Solving</a:t>
                      </a:r>
                      <a:r>
                        <a:rPr lang="en-US" sz="800" baseline="0" dirty="0">
                          <a:latin typeface="+mn-lt"/>
                        </a:rPr>
                        <a:t> linear e</a:t>
                      </a:r>
                      <a:r>
                        <a:rPr lang="en-US" sz="800" dirty="0">
                          <a:latin typeface="+mn-lt"/>
                        </a:rPr>
                        <a:t>quations where the unknown is on both sides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800" b="1" baseline="0" dirty="0">
                          <a:solidFill>
                            <a:srgbClr val="FF0000"/>
                          </a:solidFill>
                          <a:latin typeface="+mn-lt"/>
                        </a:rPr>
                        <a:t>PRINT slide 20. </a:t>
                      </a:r>
                      <a:r>
                        <a:rPr lang="en-US" sz="800" baseline="0" dirty="0">
                          <a:latin typeface="+mn-lt"/>
                        </a:rPr>
                        <a:t>Slide 6 uses the method introduced in slide 5 and applies it to an equation where the unknown is on both sides. Then demonstrate the application on this method to the 4 examples using slides 7 to 10.</a:t>
                      </a:r>
                    </a:p>
                    <a:p>
                      <a:endParaRPr lang="en-US" sz="800" baseline="0" dirty="0">
                        <a:latin typeface="+mn-lt"/>
                      </a:endParaRPr>
                    </a:p>
                    <a:p>
                      <a:r>
                        <a:rPr lang="en-US" sz="800" baseline="0" dirty="0">
                          <a:latin typeface="+mn-lt"/>
                        </a:rPr>
                        <a:t>4 practice slides follow. </a:t>
                      </a:r>
                      <a:r>
                        <a:rPr lang="en-US" sz="800" b="1" baseline="0" dirty="0">
                          <a:solidFill>
                            <a:srgbClr val="FF0000"/>
                          </a:solidFill>
                          <a:latin typeface="+mn-lt"/>
                        </a:rPr>
                        <a:t>PRINT slides 21, 22, 23 and 24.</a:t>
                      </a:r>
                      <a:endParaRPr lang="en-US" sz="800" baseline="0" dirty="0">
                        <a:latin typeface="+mn-lt"/>
                      </a:endParaRPr>
                    </a:p>
                    <a:p>
                      <a:endParaRPr lang="en-US" sz="800" baseline="0" dirty="0">
                        <a:latin typeface="+mn-lt"/>
                      </a:endParaRPr>
                    </a:p>
                    <a:p>
                      <a:r>
                        <a:rPr lang="en-US" sz="800" baseline="0" dirty="0">
                          <a:latin typeface="+mn-lt"/>
                        </a:rPr>
                        <a:t>Practice (1) keeps all coefficients positive.</a:t>
                      </a:r>
                    </a:p>
                    <a:p>
                      <a:r>
                        <a:rPr lang="en-US" sz="800" baseline="0" dirty="0">
                          <a:latin typeface="+mn-lt"/>
                        </a:rPr>
                        <a:t>Practice (2)  introduces some negative constants (but not coefficients of </a:t>
                      </a:r>
                      <a:r>
                        <a:rPr lang="en-US" sz="800" i="1" baseline="0" dirty="0">
                          <a:latin typeface="+mn-lt"/>
                        </a:rPr>
                        <a:t>x</a:t>
                      </a:r>
                      <a:r>
                        <a:rPr lang="en-US" sz="800" i="0" baseline="0" dirty="0">
                          <a:latin typeface="+mn-lt"/>
                        </a:rPr>
                        <a:t>)</a:t>
                      </a:r>
                    </a:p>
                    <a:p>
                      <a:r>
                        <a:rPr lang="en-US" sz="800" i="0" baseline="0" dirty="0">
                          <a:latin typeface="+mn-lt"/>
                        </a:rPr>
                        <a:t>Practice (3) introduces negatives throughout</a:t>
                      </a:r>
                      <a:r>
                        <a:rPr lang="en-US" sz="800" baseline="0" dirty="0">
                          <a:latin typeface="+mn-lt"/>
                        </a:rPr>
                        <a:t>. </a:t>
                      </a:r>
                    </a:p>
                    <a:p>
                      <a:r>
                        <a:rPr lang="en-US" sz="800" baseline="0" dirty="0">
                          <a:latin typeface="+mn-lt"/>
                        </a:rPr>
                        <a:t>In all three practices, the first five answers are positive integers, followed by some with negative integers and, finally, answers best expressed as fractions.</a:t>
                      </a:r>
                    </a:p>
                    <a:p>
                      <a:r>
                        <a:rPr lang="en-US" sz="800" b="0" baseline="0" dirty="0">
                          <a:solidFill>
                            <a:schemeClr val="tx1"/>
                          </a:solidFill>
                          <a:latin typeface="+mn-lt"/>
                        </a:rPr>
                        <a:t>Practice (4) is mixed practice.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</a:t>
                      </a:r>
                    </a:p>
                    <a:p>
                      <a:endParaRPr lang="en-US" sz="800" dirty="0"/>
                    </a:p>
                    <a:p>
                      <a:endParaRPr lang="en-US" sz="800" dirty="0"/>
                    </a:p>
                    <a:p>
                      <a:endParaRPr lang="en-US" sz="800" dirty="0"/>
                    </a:p>
                    <a:p>
                      <a:r>
                        <a:rPr lang="en-US" sz="800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15118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sz="800" dirty="0">
                          <a:latin typeface="+mn-lt"/>
                        </a:rPr>
                        <a:t>Examination style questions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baseline="0" dirty="0">
                          <a:solidFill>
                            <a:srgbClr val="FF0000"/>
                          </a:solidFill>
                          <a:latin typeface="+mn-lt"/>
                        </a:rPr>
                        <a:t>PRINT slide 25</a:t>
                      </a:r>
                      <a:r>
                        <a:rPr lang="en-US" sz="800" baseline="0" dirty="0">
                          <a:latin typeface="+mn-lt"/>
                        </a:rPr>
                        <a:t>. These are e</a:t>
                      </a:r>
                      <a:r>
                        <a:rPr lang="en-US" sz="800" dirty="0">
                          <a:latin typeface="+mn-lt"/>
                        </a:rPr>
                        <a:t>xamination style questions.</a:t>
                      </a:r>
                      <a:r>
                        <a:rPr lang="en-US" sz="800" baseline="0" dirty="0">
                          <a:latin typeface="+mn-lt"/>
                        </a:rPr>
                        <a:t> Review solutions using slides 15 to 18.</a:t>
                      </a:r>
                      <a:endParaRPr lang="en-US" sz="8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683144"/>
                  </a:ext>
                </a:extLst>
              </a:tr>
              <a:tr h="2393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+mn-lt"/>
                        </a:rPr>
                        <a:t>Next Steps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Solving quadratic equations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+mn-lt"/>
                        </a:rPr>
                        <a:t>Assessment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PLC/Reformed</a:t>
                      </a:r>
                      <a:r>
                        <a:rPr lang="en-US" sz="800" baseline="0" dirty="0"/>
                        <a:t> Specification</a:t>
                      </a:r>
                      <a:r>
                        <a:rPr lang="en-US" sz="800" dirty="0"/>
                        <a:t>/Target 3/Algebra/Linear equations with unknown on both sides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9103" y="319693"/>
            <a:ext cx="359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Lesson Plan</a:t>
            </a:r>
          </a:p>
        </p:txBody>
      </p:sp>
    </p:spTree>
    <p:extLst>
      <p:ext uri="{BB962C8B-B14F-4D97-AF65-F5344CB8AC3E}">
        <p14:creationId xmlns:p14="http://schemas.microsoft.com/office/powerpoint/2010/main" val="1613445370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775" y="597158"/>
            <a:ext cx="8172450" cy="944045"/>
          </a:xfrm>
        </p:spPr>
        <p:txBody>
          <a:bodyPr/>
          <a:lstStyle/>
          <a:p>
            <a:pPr algn="l"/>
            <a:r>
              <a:rPr lang="en-GB" dirty="0">
                <a:solidFill>
                  <a:srgbClr val="00B0F0"/>
                </a:solidFill>
              </a:rPr>
              <a:t>Linear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621" y="1754577"/>
            <a:ext cx="8069826" cy="4235676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00B0F0"/>
                </a:solidFill>
                <a:ea typeface="Calibri"/>
                <a:cs typeface="Calibri"/>
              </a:rPr>
              <a:t>Be able to: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B0F0"/>
                </a:solidFill>
                <a:ea typeface="Calibri"/>
                <a:cs typeface="Calibri"/>
              </a:rPr>
              <a:t>Solve linear equations with one unknown on both sides and those involving brackets.</a:t>
            </a:r>
          </a:p>
          <a:p>
            <a:pPr algn="l"/>
            <a:r>
              <a:rPr lang="en-US" sz="3200" dirty="0">
                <a:solidFill>
                  <a:srgbClr val="00B0F0"/>
                </a:solidFill>
                <a:cs typeface="Calibri"/>
              </a:rPr>
              <a:t>Plan:</a:t>
            </a:r>
          </a:p>
          <a:p>
            <a:pPr marL="342900" indent="-342900" algn="l">
              <a:buFontTx/>
              <a:buChar char="-"/>
            </a:pPr>
            <a:r>
              <a:rPr lang="en-US" sz="3200" dirty="0">
                <a:solidFill>
                  <a:srgbClr val="00B0F0"/>
                </a:solidFill>
                <a:cs typeface="Calibri"/>
              </a:rPr>
              <a:t>Review 1 and 2 step equations </a:t>
            </a:r>
          </a:p>
          <a:p>
            <a:pPr marL="342900" indent="-342900" algn="l">
              <a:buFontTx/>
              <a:buChar char="-"/>
            </a:pPr>
            <a:r>
              <a:rPr lang="en-US" sz="3200" dirty="0">
                <a:solidFill>
                  <a:srgbClr val="00B0F0"/>
                </a:solidFill>
                <a:cs typeface="Calibri"/>
              </a:rPr>
              <a:t>Pronumerals both sides </a:t>
            </a:r>
          </a:p>
          <a:p>
            <a:pPr marL="342900" indent="-342900" algn="l">
              <a:buFontTx/>
              <a:buChar char="-"/>
            </a:pPr>
            <a:r>
              <a:rPr lang="en-US" sz="3200" dirty="0">
                <a:solidFill>
                  <a:srgbClr val="00B0F0"/>
                </a:solidFill>
                <a:cs typeface="Calibri"/>
              </a:rPr>
              <a:t>DPM/A </a:t>
            </a:r>
            <a:endParaRPr lang="en-GB" sz="320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C49E0-FB44-FF9B-1361-FDB3C15FEFED}"/>
              </a:ext>
            </a:extLst>
          </p:cNvPr>
          <p:cNvSpPr txBox="1"/>
          <p:nvPr/>
        </p:nvSpPr>
        <p:spPr>
          <a:xfrm>
            <a:off x="6195527" y="382555"/>
            <a:ext cx="278985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Optional: Calculators </a:t>
            </a:r>
          </a:p>
          <a:p>
            <a:r>
              <a:rPr lang="en-US" sz="2000" b="1" dirty="0">
                <a:highlight>
                  <a:srgbClr val="FFFF00"/>
                </a:highlight>
              </a:rPr>
              <a:t>NO whiteboards needed</a:t>
            </a:r>
          </a:p>
          <a:p>
            <a:endParaRPr lang="en-US" dirty="0"/>
          </a:p>
          <a:p>
            <a:r>
              <a:rPr lang="en-US" sz="2000" b="1" dirty="0" err="1">
                <a:solidFill>
                  <a:schemeClr val="bg1"/>
                </a:solidFill>
                <a:highlight>
                  <a:srgbClr val="00FF00"/>
                </a:highlight>
              </a:rPr>
              <a:t>PBiS</a:t>
            </a:r>
            <a:r>
              <a:rPr lang="en-US" sz="2000" b="1" dirty="0">
                <a:solidFill>
                  <a:schemeClr val="bg1"/>
                </a:solidFill>
                <a:highlight>
                  <a:srgbClr val="00FF00"/>
                </a:highlight>
              </a:rPr>
              <a:t> focus: Respect </a:t>
            </a:r>
          </a:p>
          <a:p>
            <a:r>
              <a:rPr lang="en-US" sz="2000" b="1" dirty="0">
                <a:solidFill>
                  <a:schemeClr val="bg1"/>
                </a:solidFill>
                <a:highlight>
                  <a:srgbClr val="00FF00"/>
                </a:highlight>
              </a:rPr>
              <a:t>- Following instructions and listening. </a:t>
            </a:r>
            <a:endParaRPr lang="en-AU" sz="2000" b="1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656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Oval 69"/>
          <p:cNvSpPr/>
          <p:nvPr/>
        </p:nvSpPr>
        <p:spPr>
          <a:xfrm>
            <a:off x="6099287" y="2326196"/>
            <a:ext cx="2674259" cy="190870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Do the same operation to each side (each box) and they will still be the same size as each other when you are done.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419" y="1386550"/>
            <a:ext cx="8435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Let’s use the first of these equations to look at a methodical approach that will work when the going gets a little more tough…</a:t>
            </a:r>
          </a:p>
        </p:txBody>
      </p:sp>
      <p:sp>
        <p:nvSpPr>
          <p:cNvPr id="47" name="Text Box 2"/>
          <p:cNvSpPr txBox="1">
            <a:spLocks noChangeArrowheads="1"/>
          </p:cNvSpPr>
          <p:nvPr/>
        </p:nvSpPr>
        <p:spPr bwMode="auto">
          <a:xfrm>
            <a:off x="1217124" y="2319116"/>
            <a:ext cx="207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 17</a:t>
            </a:r>
          </a:p>
        </p:txBody>
      </p:sp>
      <p:sp>
        <p:nvSpPr>
          <p:cNvPr id="2" name="Rectangle 1"/>
          <p:cNvSpPr/>
          <p:nvPr/>
        </p:nvSpPr>
        <p:spPr>
          <a:xfrm>
            <a:off x="1268880" y="2319117"/>
            <a:ext cx="1116000" cy="684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/>
          <p:cNvSpPr/>
          <p:nvPr/>
        </p:nvSpPr>
        <p:spPr>
          <a:xfrm>
            <a:off x="2744157" y="2319117"/>
            <a:ext cx="504000" cy="684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Freeform: Shape 2"/>
          <p:cNvSpPr/>
          <p:nvPr/>
        </p:nvSpPr>
        <p:spPr>
          <a:xfrm>
            <a:off x="2562314" y="2777705"/>
            <a:ext cx="1801003" cy="580761"/>
          </a:xfrm>
          <a:custGeom>
            <a:avLst/>
            <a:gdLst>
              <a:gd name="connsiteX0" fmla="*/ 207034 w 1233578"/>
              <a:gd name="connsiteY0" fmla="*/ 0 h 1457864"/>
              <a:gd name="connsiteX1" fmla="*/ 207034 w 1233578"/>
              <a:gd name="connsiteY1" fmla="*/ 431320 h 1457864"/>
              <a:gd name="connsiteX2" fmla="*/ 0 w 1233578"/>
              <a:gd name="connsiteY2" fmla="*/ 1242203 h 1457864"/>
              <a:gd name="connsiteX3" fmla="*/ 465827 w 1233578"/>
              <a:gd name="connsiteY3" fmla="*/ 1457864 h 1457864"/>
              <a:gd name="connsiteX4" fmla="*/ 1233578 w 1233578"/>
              <a:gd name="connsiteY4" fmla="*/ 948905 h 1457864"/>
              <a:gd name="connsiteX0" fmla="*/ 212711 w 1239255"/>
              <a:gd name="connsiteY0" fmla="*/ 0 h 1457864"/>
              <a:gd name="connsiteX1" fmla="*/ 212711 w 1239255"/>
              <a:gd name="connsiteY1" fmla="*/ 431320 h 1457864"/>
              <a:gd name="connsiteX2" fmla="*/ 5677 w 1239255"/>
              <a:gd name="connsiteY2" fmla="*/ 1242203 h 1457864"/>
              <a:gd name="connsiteX3" fmla="*/ 471504 w 1239255"/>
              <a:gd name="connsiteY3" fmla="*/ 1457864 h 1457864"/>
              <a:gd name="connsiteX4" fmla="*/ 1239255 w 1239255"/>
              <a:gd name="connsiteY4" fmla="*/ 948905 h 1457864"/>
              <a:gd name="connsiteX0" fmla="*/ 248549 w 1275093"/>
              <a:gd name="connsiteY0" fmla="*/ 0 h 1457864"/>
              <a:gd name="connsiteX1" fmla="*/ 248549 w 1275093"/>
              <a:gd name="connsiteY1" fmla="*/ 431320 h 1457864"/>
              <a:gd name="connsiteX2" fmla="*/ 41515 w 1275093"/>
              <a:gd name="connsiteY2" fmla="*/ 1242203 h 1457864"/>
              <a:gd name="connsiteX3" fmla="*/ 507342 w 1275093"/>
              <a:gd name="connsiteY3" fmla="*/ 1457864 h 1457864"/>
              <a:gd name="connsiteX4" fmla="*/ 1275093 w 1275093"/>
              <a:gd name="connsiteY4" fmla="*/ 948905 h 1457864"/>
              <a:gd name="connsiteX0" fmla="*/ 248549 w 1275093"/>
              <a:gd name="connsiteY0" fmla="*/ 0 h 1466213"/>
              <a:gd name="connsiteX1" fmla="*/ 248549 w 1275093"/>
              <a:gd name="connsiteY1" fmla="*/ 431320 h 1466213"/>
              <a:gd name="connsiteX2" fmla="*/ 41515 w 1275093"/>
              <a:gd name="connsiteY2" fmla="*/ 1242203 h 1466213"/>
              <a:gd name="connsiteX3" fmla="*/ 507342 w 1275093"/>
              <a:gd name="connsiteY3" fmla="*/ 1457864 h 1466213"/>
              <a:gd name="connsiteX4" fmla="*/ 1275093 w 1275093"/>
              <a:gd name="connsiteY4" fmla="*/ 948905 h 1466213"/>
              <a:gd name="connsiteX0" fmla="*/ 248549 w 1275093"/>
              <a:gd name="connsiteY0" fmla="*/ 0 h 1242203"/>
              <a:gd name="connsiteX1" fmla="*/ 248549 w 1275093"/>
              <a:gd name="connsiteY1" fmla="*/ 431320 h 1242203"/>
              <a:gd name="connsiteX2" fmla="*/ 41515 w 1275093"/>
              <a:gd name="connsiteY2" fmla="*/ 1242203 h 1242203"/>
              <a:gd name="connsiteX3" fmla="*/ 1275093 w 1275093"/>
              <a:gd name="connsiteY3" fmla="*/ 948905 h 1242203"/>
              <a:gd name="connsiteX0" fmla="*/ 353139 w 1379683"/>
              <a:gd name="connsiteY0" fmla="*/ 0 h 1251491"/>
              <a:gd name="connsiteX1" fmla="*/ 353139 w 1379683"/>
              <a:gd name="connsiteY1" fmla="*/ 431320 h 1251491"/>
              <a:gd name="connsiteX2" fmla="*/ 146105 w 1379683"/>
              <a:gd name="connsiteY2" fmla="*/ 1242203 h 1251491"/>
              <a:gd name="connsiteX3" fmla="*/ 1379683 w 1379683"/>
              <a:gd name="connsiteY3" fmla="*/ 948905 h 1251491"/>
              <a:gd name="connsiteX0" fmla="*/ 401316 w 1427860"/>
              <a:gd name="connsiteY0" fmla="*/ 0 h 1344141"/>
              <a:gd name="connsiteX1" fmla="*/ 401316 w 1427860"/>
              <a:gd name="connsiteY1" fmla="*/ 431320 h 1344141"/>
              <a:gd name="connsiteX2" fmla="*/ 194282 w 1427860"/>
              <a:gd name="connsiteY2" fmla="*/ 1242203 h 1344141"/>
              <a:gd name="connsiteX3" fmla="*/ 1427860 w 1427860"/>
              <a:gd name="connsiteY3" fmla="*/ 948905 h 1344141"/>
              <a:gd name="connsiteX0" fmla="*/ 142266 w 1168810"/>
              <a:gd name="connsiteY0" fmla="*/ 0 h 1256792"/>
              <a:gd name="connsiteX1" fmla="*/ 142266 w 1168810"/>
              <a:gd name="connsiteY1" fmla="*/ 431320 h 1256792"/>
              <a:gd name="connsiteX2" fmla="*/ 263036 w 1168810"/>
              <a:gd name="connsiteY2" fmla="*/ 1138686 h 1256792"/>
              <a:gd name="connsiteX3" fmla="*/ 1168810 w 1168810"/>
              <a:gd name="connsiteY3" fmla="*/ 948905 h 1256792"/>
              <a:gd name="connsiteX0" fmla="*/ 252178 w 1278722"/>
              <a:gd name="connsiteY0" fmla="*/ 0 h 1201708"/>
              <a:gd name="connsiteX1" fmla="*/ 252178 w 1278722"/>
              <a:gd name="connsiteY1" fmla="*/ 431320 h 1201708"/>
              <a:gd name="connsiteX2" fmla="*/ 372948 w 1278722"/>
              <a:gd name="connsiteY2" fmla="*/ 1138686 h 1201708"/>
              <a:gd name="connsiteX3" fmla="*/ 1278722 w 1278722"/>
              <a:gd name="connsiteY3" fmla="*/ 948905 h 1201708"/>
              <a:gd name="connsiteX0" fmla="*/ 77323 w 1103867"/>
              <a:gd name="connsiteY0" fmla="*/ 0 h 1194366"/>
              <a:gd name="connsiteX1" fmla="*/ 77323 w 1103867"/>
              <a:gd name="connsiteY1" fmla="*/ 431320 h 1194366"/>
              <a:gd name="connsiteX2" fmla="*/ 456885 w 1103867"/>
              <a:gd name="connsiteY2" fmla="*/ 1130059 h 1194366"/>
              <a:gd name="connsiteX3" fmla="*/ 1103867 w 1103867"/>
              <a:gd name="connsiteY3" fmla="*/ 948905 h 1194366"/>
              <a:gd name="connsiteX0" fmla="*/ 102447 w 1128991"/>
              <a:gd name="connsiteY0" fmla="*/ 0 h 1194366"/>
              <a:gd name="connsiteX1" fmla="*/ 102447 w 1128991"/>
              <a:gd name="connsiteY1" fmla="*/ 431320 h 1194366"/>
              <a:gd name="connsiteX2" fmla="*/ 482009 w 1128991"/>
              <a:gd name="connsiteY2" fmla="*/ 1130059 h 1194366"/>
              <a:gd name="connsiteX3" fmla="*/ 1128991 w 1128991"/>
              <a:gd name="connsiteY3" fmla="*/ 948905 h 1194366"/>
              <a:gd name="connsiteX0" fmla="*/ 233225 w 1259769"/>
              <a:gd name="connsiteY0" fmla="*/ 0 h 1063493"/>
              <a:gd name="connsiteX1" fmla="*/ 233225 w 1259769"/>
              <a:gd name="connsiteY1" fmla="*/ 431320 h 1063493"/>
              <a:gd name="connsiteX2" fmla="*/ 379874 w 1259769"/>
              <a:gd name="connsiteY2" fmla="*/ 957531 h 1063493"/>
              <a:gd name="connsiteX3" fmla="*/ 1259769 w 1259769"/>
              <a:gd name="connsiteY3" fmla="*/ 948905 h 1063493"/>
              <a:gd name="connsiteX0" fmla="*/ 10863 w 1037407"/>
              <a:gd name="connsiteY0" fmla="*/ 0 h 1014798"/>
              <a:gd name="connsiteX1" fmla="*/ 10863 w 1037407"/>
              <a:gd name="connsiteY1" fmla="*/ 431320 h 1014798"/>
              <a:gd name="connsiteX2" fmla="*/ 157512 w 1037407"/>
              <a:gd name="connsiteY2" fmla="*/ 957531 h 1014798"/>
              <a:gd name="connsiteX3" fmla="*/ 1037407 w 1037407"/>
              <a:gd name="connsiteY3" fmla="*/ 948905 h 1014798"/>
              <a:gd name="connsiteX0" fmla="*/ 62192 w 1088736"/>
              <a:gd name="connsiteY0" fmla="*/ 0 h 984681"/>
              <a:gd name="connsiteX1" fmla="*/ 62192 w 1088736"/>
              <a:gd name="connsiteY1" fmla="*/ 431320 h 984681"/>
              <a:gd name="connsiteX2" fmla="*/ 79445 w 1088736"/>
              <a:gd name="connsiteY2" fmla="*/ 854014 h 984681"/>
              <a:gd name="connsiteX3" fmla="*/ 1088736 w 1088736"/>
              <a:gd name="connsiteY3" fmla="*/ 948905 h 984681"/>
              <a:gd name="connsiteX0" fmla="*/ 51438 w 1077982"/>
              <a:gd name="connsiteY0" fmla="*/ 0 h 987446"/>
              <a:gd name="connsiteX1" fmla="*/ 85944 w 1077982"/>
              <a:gd name="connsiteY1" fmla="*/ 448573 h 987446"/>
              <a:gd name="connsiteX2" fmla="*/ 68691 w 1077982"/>
              <a:gd name="connsiteY2" fmla="*/ 854014 h 987446"/>
              <a:gd name="connsiteX3" fmla="*/ 1077982 w 1077982"/>
              <a:gd name="connsiteY3" fmla="*/ 948905 h 987446"/>
              <a:gd name="connsiteX0" fmla="*/ 56529 w 1152084"/>
              <a:gd name="connsiteY0" fmla="*/ 0 h 927768"/>
              <a:gd name="connsiteX1" fmla="*/ 91035 w 1152084"/>
              <a:gd name="connsiteY1" fmla="*/ 448573 h 927768"/>
              <a:gd name="connsiteX2" fmla="*/ 73782 w 1152084"/>
              <a:gd name="connsiteY2" fmla="*/ 854014 h 927768"/>
              <a:gd name="connsiteX3" fmla="*/ 1152084 w 1152084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113902 w 1209457"/>
              <a:gd name="connsiteY0" fmla="*/ 0 h 920163"/>
              <a:gd name="connsiteX1" fmla="*/ 44891 w 1209457"/>
              <a:gd name="connsiteY1" fmla="*/ 612475 h 920163"/>
              <a:gd name="connsiteX2" fmla="*/ 131155 w 1209457"/>
              <a:gd name="connsiteY2" fmla="*/ 854014 h 920163"/>
              <a:gd name="connsiteX3" fmla="*/ 1209457 w 1209457"/>
              <a:gd name="connsiteY3" fmla="*/ 871267 h 920163"/>
              <a:gd name="connsiteX0" fmla="*/ 71463 w 1167018"/>
              <a:gd name="connsiteY0" fmla="*/ 0 h 1036809"/>
              <a:gd name="connsiteX1" fmla="*/ 2452 w 1167018"/>
              <a:gd name="connsiteY1" fmla="*/ 612475 h 1036809"/>
              <a:gd name="connsiteX2" fmla="*/ 140474 w 1167018"/>
              <a:gd name="connsiteY2" fmla="*/ 1026542 h 1036809"/>
              <a:gd name="connsiteX3" fmla="*/ 1167018 w 1167018"/>
              <a:gd name="connsiteY3" fmla="*/ 871267 h 1036809"/>
              <a:gd name="connsiteX0" fmla="*/ 82883 w 1178438"/>
              <a:gd name="connsiteY0" fmla="*/ 0 h 1036809"/>
              <a:gd name="connsiteX1" fmla="*/ 13872 w 1178438"/>
              <a:gd name="connsiteY1" fmla="*/ 612475 h 1036809"/>
              <a:gd name="connsiteX2" fmla="*/ 151894 w 1178438"/>
              <a:gd name="connsiteY2" fmla="*/ 1026542 h 1036809"/>
              <a:gd name="connsiteX3" fmla="*/ 1178438 w 1178438"/>
              <a:gd name="connsiteY3" fmla="*/ 871267 h 1036809"/>
              <a:gd name="connsiteX0" fmla="*/ 72919 w 1168474"/>
              <a:gd name="connsiteY0" fmla="*/ 0 h 899716"/>
              <a:gd name="connsiteX1" fmla="*/ 3908 w 1168474"/>
              <a:gd name="connsiteY1" fmla="*/ 612475 h 899716"/>
              <a:gd name="connsiteX2" fmla="*/ 222278 w 1168474"/>
              <a:gd name="connsiteY2" fmla="*/ 743777 h 899716"/>
              <a:gd name="connsiteX3" fmla="*/ 1168474 w 1168474"/>
              <a:gd name="connsiteY3" fmla="*/ 871267 h 899716"/>
              <a:gd name="connsiteX0" fmla="*/ 14793 w 1110348"/>
              <a:gd name="connsiteY0" fmla="*/ 0 h 902295"/>
              <a:gd name="connsiteX1" fmla="*/ 8275 w 1110348"/>
              <a:gd name="connsiteY1" fmla="*/ 471092 h 902295"/>
              <a:gd name="connsiteX2" fmla="*/ 164152 w 1110348"/>
              <a:gd name="connsiteY2" fmla="*/ 743777 h 902295"/>
              <a:gd name="connsiteX3" fmla="*/ 1110348 w 1110348"/>
              <a:gd name="connsiteY3" fmla="*/ 871267 h 902295"/>
              <a:gd name="connsiteX0" fmla="*/ 14793 w 1172840"/>
              <a:gd name="connsiteY0" fmla="*/ 0 h 1055756"/>
              <a:gd name="connsiteX1" fmla="*/ 8275 w 1172840"/>
              <a:gd name="connsiteY1" fmla="*/ 471092 h 1055756"/>
              <a:gd name="connsiteX2" fmla="*/ 164152 w 1172840"/>
              <a:gd name="connsiteY2" fmla="*/ 743777 h 1055756"/>
              <a:gd name="connsiteX3" fmla="*/ 1172840 w 1172840"/>
              <a:gd name="connsiteY3" fmla="*/ 1036212 h 1055756"/>
              <a:gd name="connsiteX0" fmla="*/ 14793 w 1172840"/>
              <a:gd name="connsiteY0" fmla="*/ 0 h 1036211"/>
              <a:gd name="connsiteX1" fmla="*/ 8275 w 1172840"/>
              <a:gd name="connsiteY1" fmla="*/ 471092 h 1036211"/>
              <a:gd name="connsiteX2" fmla="*/ 164152 w 1172840"/>
              <a:gd name="connsiteY2" fmla="*/ 743777 h 1036211"/>
              <a:gd name="connsiteX3" fmla="*/ 1172840 w 1172840"/>
              <a:gd name="connsiteY3" fmla="*/ 1036212 h 1036211"/>
              <a:gd name="connsiteX0" fmla="*/ 0 w 1158047"/>
              <a:gd name="connsiteY0" fmla="*/ 0 h 1036212"/>
              <a:gd name="connsiteX1" fmla="*/ 149359 w 1158047"/>
              <a:gd name="connsiteY1" fmla="*/ 743777 h 1036212"/>
              <a:gd name="connsiteX2" fmla="*/ 1158047 w 1158047"/>
              <a:gd name="connsiteY2" fmla="*/ 1036212 h 1036212"/>
              <a:gd name="connsiteX0" fmla="*/ 0 w 1158047"/>
              <a:gd name="connsiteY0" fmla="*/ 0 h 1036212"/>
              <a:gd name="connsiteX1" fmla="*/ 122577 w 1158047"/>
              <a:gd name="connsiteY1" fmla="*/ 543484 h 1036212"/>
              <a:gd name="connsiteX2" fmla="*/ 1158047 w 1158047"/>
              <a:gd name="connsiteY2" fmla="*/ 1036212 h 1036212"/>
              <a:gd name="connsiteX0" fmla="*/ 3244 w 1161291"/>
              <a:gd name="connsiteY0" fmla="*/ 0 h 1036212"/>
              <a:gd name="connsiteX1" fmla="*/ 125821 w 1161291"/>
              <a:gd name="connsiteY1" fmla="*/ 543484 h 1036212"/>
              <a:gd name="connsiteX2" fmla="*/ 1161291 w 1161291"/>
              <a:gd name="connsiteY2" fmla="*/ 1036212 h 1036212"/>
              <a:gd name="connsiteX0" fmla="*/ 13940 w 1171987"/>
              <a:gd name="connsiteY0" fmla="*/ 0 h 1036212"/>
              <a:gd name="connsiteX1" fmla="*/ 136517 w 1171987"/>
              <a:gd name="connsiteY1" fmla="*/ 543484 h 1036212"/>
              <a:gd name="connsiteX2" fmla="*/ 1171987 w 1171987"/>
              <a:gd name="connsiteY2" fmla="*/ 1036212 h 1036212"/>
              <a:gd name="connsiteX0" fmla="*/ 17626 w 1175673"/>
              <a:gd name="connsiteY0" fmla="*/ 0 h 1036212"/>
              <a:gd name="connsiteX1" fmla="*/ 140203 w 1175673"/>
              <a:gd name="connsiteY1" fmla="*/ 543484 h 1036212"/>
              <a:gd name="connsiteX2" fmla="*/ 1175673 w 1175673"/>
              <a:gd name="connsiteY2" fmla="*/ 1036212 h 1036212"/>
              <a:gd name="connsiteX0" fmla="*/ 411 w 1158458"/>
              <a:gd name="connsiteY0" fmla="*/ 0 h 1036212"/>
              <a:gd name="connsiteX1" fmla="*/ 230119 w 1158458"/>
              <a:gd name="connsiteY1" fmla="*/ 779123 h 1036212"/>
              <a:gd name="connsiteX2" fmla="*/ 1158458 w 1158458"/>
              <a:gd name="connsiteY2" fmla="*/ 1036212 h 1036212"/>
              <a:gd name="connsiteX0" fmla="*/ 897 w 1158944"/>
              <a:gd name="connsiteY0" fmla="*/ 0 h 1036212"/>
              <a:gd name="connsiteX1" fmla="*/ 230605 w 1158944"/>
              <a:gd name="connsiteY1" fmla="*/ 779123 h 1036212"/>
              <a:gd name="connsiteX2" fmla="*/ 1158944 w 1158944"/>
              <a:gd name="connsiteY2" fmla="*/ 1036212 h 1036212"/>
              <a:gd name="connsiteX0" fmla="*/ 21303 w 1179350"/>
              <a:gd name="connsiteY0" fmla="*/ 0 h 1041375"/>
              <a:gd name="connsiteX1" fmla="*/ 156181 w 1179350"/>
              <a:gd name="connsiteY1" fmla="*/ 858141 h 1041375"/>
              <a:gd name="connsiteX2" fmla="*/ 1179350 w 1179350"/>
              <a:gd name="connsiteY2" fmla="*/ 1036212 h 104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9350" h="1041375">
                <a:moveTo>
                  <a:pt x="21303" y="0"/>
                </a:moveTo>
                <a:cubicBezTo>
                  <a:pt x="16710" y="378811"/>
                  <a:pt x="-73623" y="563661"/>
                  <a:pt x="156181" y="858141"/>
                </a:cubicBezTo>
                <a:cubicBezTo>
                  <a:pt x="385985" y="1152621"/>
                  <a:pt x="669954" y="992595"/>
                  <a:pt x="1179350" y="1036212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1645725" y="2877017"/>
            <a:ext cx="362310" cy="3623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−5</a:t>
            </a:r>
          </a:p>
        </p:txBody>
      </p:sp>
      <p:sp>
        <p:nvSpPr>
          <p:cNvPr id="54" name="Oval 53"/>
          <p:cNvSpPr/>
          <p:nvPr/>
        </p:nvSpPr>
        <p:spPr>
          <a:xfrm>
            <a:off x="2815002" y="2877017"/>
            <a:ext cx="362310" cy="3623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−5</a:t>
            </a:r>
          </a:p>
        </p:txBody>
      </p:sp>
      <p:sp>
        <p:nvSpPr>
          <p:cNvPr id="55" name="Text Box 2"/>
          <p:cNvSpPr txBox="1">
            <a:spLocks noChangeArrowheads="1"/>
          </p:cNvSpPr>
          <p:nvPr/>
        </p:nvSpPr>
        <p:spPr bwMode="auto">
          <a:xfrm>
            <a:off x="1842598" y="3632016"/>
            <a:ext cx="14446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80880" y="3632017"/>
            <a:ext cx="504000" cy="68439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Rectangle 56"/>
          <p:cNvSpPr/>
          <p:nvPr/>
        </p:nvSpPr>
        <p:spPr>
          <a:xfrm>
            <a:off x="2741839" y="3632017"/>
            <a:ext cx="508637" cy="68439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Oval 57"/>
          <p:cNvSpPr/>
          <p:nvPr/>
        </p:nvSpPr>
        <p:spPr>
          <a:xfrm>
            <a:off x="1951725" y="4189917"/>
            <a:ext cx="362310" cy="36231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÷6</a:t>
            </a:r>
          </a:p>
        </p:txBody>
      </p:sp>
      <p:sp>
        <p:nvSpPr>
          <p:cNvPr id="59" name="Oval 58"/>
          <p:cNvSpPr/>
          <p:nvPr/>
        </p:nvSpPr>
        <p:spPr>
          <a:xfrm>
            <a:off x="2815002" y="4189917"/>
            <a:ext cx="362310" cy="36231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÷6</a:t>
            </a:r>
          </a:p>
        </p:txBody>
      </p:sp>
      <p:sp>
        <p:nvSpPr>
          <p:cNvPr id="60" name="Freeform: Shape 59"/>
          <p:cNvSpPr/>
          <p:nvPr/>
        </p:nvSpPr>
        <p:spPr>
          <a:xfrm flipV="1">
            <a:off x="2581023" y="3388466"/>
            <a:ext cx="1778712" cy="408187"/>
          </a:xfrm>
          <a:custGeom>
            <a:avLst/>
            <a:gdLst>
              <a:gd name="connsiteX0" fmla="*/ 207034 w 1233578"/>
              <a:gd name="connsiteY0" fmla="*/ 0 h 1457864"/>
              <a:gd name="connsiteX1" fmla="*/ 207034 w 1233578"/>
              <a:gd name="connsiteY1" fmla="*/ 431320 h 1457864"/>
              <a:gd name="connsiteX2" fmla="*/ 0 w 1233578"/>
              <a:gd name="connsiteY2" fmla="*/ 1242203 h 1457864"/>
              <a:gd name="connsiteX3" fmla="*/ 465827 w 1233578"/>
              <a:gd name="connsiteY3" fmla="*/ 1457864 h 1457864"/>
              <a:gd name="connsiteX4" fmla="*/ 1233578 w 1233578"/>
              <a:gd name="connsiteY4" fmla="*/ 948905 h 1457864"/>
              <a:gd name="connsiteX0" fmla="*/ 212711 w 1239255"/>
              <a:gd name="connsiteY0" fmla="*/ 0 h 1457864"/>
              <a:gd name="connsiteX1" fmla="*/ 212711 w 1239255"/>
              <a:gd name="connsiteY1" fmla="*/ 431320 h 1457864"/>
              <a:gd name="connsiteX2" fmla="*/ 5677 w 1239255"/>
              <a:gd name="connsiteY2" fmla="*/ 1242203 h 1457864"/>
              <a:gd name="connsiteX3" fmla="*/ 471504 w 1239255"/>
              <a:gd name="connsiteY3" fmla="*/ 1457864 h 1457864"/>
              <a:gd name="connsiteX4" fmla="*/ 1239255 w 1239255"/>
              <a:gd name="connsiteY4" fmla="*/ 948905 h 1457864"/>
              <a:gd name="connsiteX0" fmla="*/ 248549 w 1275093"/>
              <a:gd name="connsiteY0" fmla="*/ 0 h 1457864"/>
              <a:gd name="connsiteX1" fmla="*/ 248549 w 1275093"/>
              <a:gd name="connsiteY1" fmla="*/ 431320 h 1457864"/>
              <a:gd name="connsiteX2" fmla="*/ 41515 w 1275093"/>
              <a:gd name="connsiteY2" fmla="*/ 1242203 h 1457864"/>
              <a:gd name="connsiteX3" fmla="*/ 507342 w 1275093"/>
              <a:gd name="connsiteY3" fmla="*/ 1457864 h 1457864"/>
              <a:gd name="connsiteX4" fmla="*/ 1275093 w 1275093"/>
              <a:gd name="connsiteY4" fmla="*/ 948905 h 1457864"/>
              <a:gd name="connsiteX0" fmla="*/ 248549 w 1275093"/>
              <a:gd name="connsiteY0" fmla="*/ 0 h 1466213"/>
              <a:gd name="connsiteX1" fmla="*/ 248549 w 1275093"/>
              <a:gd name="connsiteY1" fmla="*/ 431320 h 1466213"/>
              <a:gd name="connsiteX2" fmla="*/ 41515 w 1275093"/>
              <a:gd name="connsiteY2" fmla="*/ 1242203 h 1466213"/>
              <a:gd name="connsiteX3" fmla="*/ 507342 w 1275093"/>
              <a:gd name="connsiteY3" fmla="*/ 1457864 h 1466213"/>
              <a:gd name="connsiteX4" fmla="*/ 1275093 w 1275093"/>
              <a:gd name="connsiteY4" fmla="*/ 948905 h 1466213"/>
              <a:gd name="connsiteX0" fmla="*/ 248549 w 1275093"/>
              <a:gd name="connsiteY0" fmla="*/ 0 h 1242203"/>
              <a:gd name="connsiteX1" fmla="*/ 248549 w 1275093"/>
              <a:gd name="connsiteY1" fmla="*/ 431320 h 1242203"/>
              <a:gd name="connsiteX2" fmla="*/ 41515 w 1275093"/>
              <a:gd name="connsiteY2" fmla="*/ 1242203 h 1242203"/>
              <a:gd name="connsiteX3" fmla="*/ 1275093 w 1275093"/>
              <a:gd name="connsiteY3" fmla="*/ 948905 h 1242203"/>
              <a:gd name="connsiteX0" fmla="*/ 353139 w 1379683"/>
              <a:gd name="connsiteY0" fmla="*/ 0 h 1251491"/>
              <a:gd name="connsiteX1" fmla="*/ 353139 w 1379683"/>
              <a:gd name="connsiteY1" fmla="*/ 431320 h 1251491"/>
              <a:gd name="connsiteX2" fmla="*/ 146105 w 1379683"/>
              <a:gd name="connsiteY2" fmla="*/ 1242203 h 1251491"/>
              <a:gd name="connsiteX3" fmla="*/ 1379683 w 1379683"/>
              <a:gd name="connsiteY3" fmla="*/ 948905 h 1251491"/>
              <a:gd name="connsiteX0" fmla="*/ 401316 w 1427860"/>
              <a:gd name="connsiteY0" fmla="*/ 0 h 1344141"/>
              <a:gd name="connsiteX1" fmla="*/ 401316 w 1427860"/>
              <a:gd name="connsiteY1" fmla="*/ 431320 h 1344141"/>
              <a:gd name="connsiteX2" fmla="*/ 194282 w 1427860"/>
              <a:gd name="connsiteY2" fmla="*/ 1242203 h 1344141"/>
              <a:gd name="connsiteX3" fmla="*/ 1427860 w 1427860"/>
              <a:gd name="connsiteY3" fmla="*/ 948905 h 1344141"/>
              <a:gd name="connsiteX0" fmla="*/ 142266 w 1168810"/>
              <a:gd name="connsiteY0" fmla="*/ 0 h 1256792"/>
              <a:gd name="connsiteX1" fmla="*/ 142266 w 1168810"/>
              <a:gd name="connsiteY1" fmla="*/ 431320 h 1256792"/>
              <a:gd name="connsiteX2" fmla="*/ 263036 w 1168810"/>
              <a:gd name="connsiteY2" fmla="*/ 1138686 h 1256792"/>
              <a:gd name="connsiteX3" fmla="*/ 1168810 w 1168810"/>
              <a:gd name="connsiteY3" fmla="*/ 948905 h 1256792"/>
              <a:gd name="connsiteX0" fmla="*/ 252178 w 1278722"/>
              <a:gd name="connsiteY0" fmla="*/ 0 h 1201708"/>
              <a:gd name="connsiteX1" fmla="*/ 252178 w 1278722"/>
              <a:gd name="connsiteY1" fmla="*/ 431320 h 1201708"/>
              <a:gd name="connsiteX2" fmla="*/ 372948 w 1278722"/>
              <a:gd name="connsiteY2" fmla="*/ 1138686 h 1201708"/>
              <a:gd name="connsiteX3" fmla="*/ 1278722 w 1278722"/>
              <a:gd name="connsiteY3" fmla="*/ 948905 h 1201708"/>
              <a:gd name="connsiteX0" fmla="*/ 77323 w 1103867"/>
              <a:gd name="connsiteY0" fmla="*/ 0 h 1194366"/>
              <a:gd name="connsiteX1" fmla="*/ 77323 w 1103867"/>
              <a:gd name="connsiteY1" fmla="*/ 431320 h 1194366"/>
              <a:gd name="connsiteX2" fmla="*/ 456885 w 1103867"/>
              <a:gd name="connsiteY2" fmla="*/ 1130059 h 1194366"/>
              <a:gd name="connsiteX3" fmla="*/ 1103867 w 1103867"/>
              <a:gd name="connsiteY3" fmla="*/ 948905 h 1194366"/>
              <a:gd name="connsiteX0" fmla="*/ 102447 w 1128991"/>
              <a:gd name="connsiteY0" fmla="*/ 0 h 1194366"/>
              <a:gd name="connsiteX1" fmla="*/ 102447 w 1128991"/>
              <a:gd name="connsiteY1" fmla="*/ 431320 h 1194366"/>
              <a:gd name="connsiteX2" fmla="*/ 482009 w 1128991"/>
              <a:gd name="connsiteY2" fmla="*/ 1130059 h 1194366"/>
              <a:gd name="connsiteX3" fmla="*/ 1128991 w 1128991"/>
              <a:gd name="connsiteY3" fmla="*/ 948905 h 1194366"/>
              <a:gd name="connsiteX0" fmla="*/ 233225 w 1259769"/>
              <a:gd name="connsiteY0" fmla="*/ 0 h 1063493"/>
              <a:gd name="connsiteX1" fmla="*/ 233225 w 1259769"/>
              <a:gd name="connsiteY1" fmla="*/ 431320 h 1063493"/>
              <a:gd name="connsiteX2" fmla="*/ 379874 w 1259769"/>
              <a:gd name="connsiteY2" fmla="*/ 957531 h 1063493"/>
              <a:gd name="connsiteX3" fmla="*/ 1259769 w 1259769"/>
              <a:gd name="connsiteY3" fmla="*/ 948905 h 1063493"/>
              <a:gd name="connsiteX0" fmla="*/ 10863 w 1037407"/>
              <a:gd name="connsiteY0" fmla="*/ 0 h 1014798"/>
              <a:gd name="connsiteX1" fmla="*/ 10863 w 1037407"/>
              <a:gd name="connsiteY1" fmla="*/ 431320 h 1014798"/>
              <a:gd name="connsiteX2" fmla="*/ 157512 w 1037407"/>
              <a:gd name="connsiteY2" fmla="*/ 957531 h 1014798"/>
              <a:gd name="connsiteX3" fmla="*/ 1037407 w 1037407"/>
              <a:gd name="connsiteY3" fmla="*/ 948905 h 1014798"/>
              <a:gd name="connsiteX0" fmla="*/ 62192 w 1088736"/>
              <a:gd name="connsiteY0" fmla="*/ 0 h 984681"/>
              <a:gd name="connsiteX1" fmla="*/ 62192 w 1088736"/>
              <a:gd name="connsiteY1" fmla="*/ 431320 h 984681"/>
              <a:gd name="connsiteX2" fmla="*/ 79445 w 1088736"/>
              <a:gd name="connsiteY2" fmla="*/ 854014 h 984681"/>
              <a:gd name="connsiteX3" fmla="*/ 1088736 w 1088736"/>
              <a:gd name="connsiteY3" fmla="*/ 948905 h 984681"/>
              <a:gd name="connsiteX0" fmla="*/ 51438 w 1077982"/>
              <a:gd name="connsiteY0" fmla="*/ 0 h 987446"/>
              <a:gd name="connsiteX1" fmla="*/ 85944 w 1077982"/>
              <a:gd name="connsiteY1" fmla="*/ 448573 h 987446"/>
              <a:gd name="connsiteX2" fmla="*/ 68691 w 1077982"/>
              <a:gd name="connsiteY2" fmla="*/ 854014 h 987446"/>
              <a:gd name="connsiteX3" fmla="*/ 1077982 w 1077982"/>
              <a:gd name="connsiteY3" fmla="*/ 948905 h 987446"/>
              <a:gd name="connsiteX0" fmla="*/ 56529 w 1152084"/>
              <a:gd name="connsiteY0" fmla="*/ 0 h 927768"/>
              <a:gd name="connsiteX1" fmla="*/ 91035 w 1152084"/>
              <a:gd name="connsiteY1" fmla="*/ 448573 h 927768"/>
              <a:gd name="connsiteX2" fmla="*/ 73782 w 1152084"/>
              <a:gd name="connsiteY2" fmla="*/ 854014 h 927768"/>
              <a:gd name="connsiteX3" fmla="*/ 1152084 w 1152084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113902 w 1209457"/>
              <a:gd name="connsiteY0" fmla="*/ 0 h 920163"/>
              <a:gd name="connsiteX1" fmla="*/ 44891 w 1209457"/>
              <a:gd name="connsiteY1" fmla="*/ 612475 h 920163"/>
              <a:gd name="connsiteX2" fmla="*/ 131155 w 1209457"/>
              <a:gd name="connsiteY2" fmla="*/ 854014 h 920163"/>
              <a:gd name="connsiteX3" fmla="*/ 1209457 w 1209457"/>
              <a:gd name="connsiteY3" fmla="*/ 871267 h 920163"/>
              <a:gd name="connsiteX0" fmla="*/ 71463 w 1167018"/>
              <a:gd name="connsiteY0" fmla="*/ 0 h 1036809"/>
              <a:gd name="connsiteX1" fmla="*/ 2452 w 1167018"/>
              <a:gd name="connsiteY1" fmla="*/ 612475 h 1036809"/>
              <a:gd name="connsiteX2" fmla="*/ 140474 w 1167018"/>
              <a:gd name="connsiteY2" fmla="*/ 1026542 h 1036809"/>
              <a:gd name="connsiteX3" fmla="*/ 1167018 w 1167018"/>
              <a:gd name="connsiteY3" fmla="*/ 871267 h 1036809"/>
              <a:gd name="connsiteX0" fmla="*/ 82883 w 1178438"/>
              <a:gd name="connsiteY0" fmla="*/ 0 h 1036809"/>
              <a:gd name="connsiteX1" fmla="*/ 13872 w 1178438"/>
              <a:gd name="connsiteY1" fmla="*/ 612475 h 1036809"/>
              <a:gd name="connsiteX2" fmla="*/ 151894 w 1178438"/>
              <a:gd name="connsiteY2" fmla="*/ 1026542 h 1036809"/>
              <a:gd name="connsiteX3" fmla="*/ 1178438 w 1178438"/>
              <a:gd name="connsiteY3" fmla="*/ 871267 h 1036809"/>
              <a:gd name="connsiteX0" fmla="*/ 72919 w 1168474"/>
              <a:gd name="connsiteY0" fmla="*/ 0 h 899716"/>
              <a:gd name="connsiteX1" fmla="*/ 3908 w 1168474"/>
              <a:gd name="connsiteY1" fmla="*/ 612475 h 899716"/>
              <a:gd name="connsiteX2" fmla="*/ 222278 w 1168474"/>
              <a:gd name="connsiteY2" fmla="*/ 743777 h 899716"/>
              <a:gd name="connsiteX3" fmla="*/ 1168474 w 1168474"/>
              <a:gd name="connsiteY3" fmla="*/ 871267 h 899716"/>
              <a:gd name="connsiteX0" fmla="*/ 14793 w 1110348"/>
              <a:gd name="connsiteY0" fmla="*/ 0 h 902295"/>
              <a:gd name="connsiteX1" fmla="*/ 8275 w 1110348"/>
              <a:gd name="connsiteY1" fmla="*/ 471092 h 902295"/>
              <a:gd name="connsiteX2" fmla="*/ 164152 w 1110348"/>
              <a:gd name="connsiteY2" fmla="*/ 743777 h 902295"/>
              <a:gd name="connsiteX3" fmla="*/ 1110348 w 1110348"/>
              <a:gd name="connsiteY3" fmla="*/ 871267 h 902295"/>
              <a:gd name="connsiteX0" fmla="*/ 14793 w 1172840"/>
              <a:gd name="connsiteY0" fmla="*/ 0 h 1055756"/>
              <a:gd name="connsiteX1" fmla="*/ 8275 w 1172840"/>
              <a:gd name="connsiteY1" fmla="*/ 471092 h 1055756"/>
              <a:gd name="connsiteX2" fmla="*/ 164152 w 1172840"/>
              <a:gd name="connsiteY2" fmla="*/ 743777 h 1055756"/>
              <a:gd name="connsiteX3" fmla="*/ 1172840 w 1172840"/>
              <a:gd name="connsiteY3" fmla="*/ 1036212 h 1055756"/>
              <a:gd name="connsiteX0" fmla="*/ 14793 w 1172840"/>
              <a:gd name="connsiteY0" fmla="*/ 0 h 1036211"/>
              <a:gd name="connsiteX1" fmla="*/ 8275 w 1172840"/>
              <a:gd name="connsiteY1" fmla="*/ 471092 h 1036211"/>
              <a:gd name="connsiteX2" fmla="*/ 164152 w 1172840"/>
              <a:gd name="connsiteY2" fmla="*/ 743777 h 1036211"/>
              <a:gd name="connsiteX3" fmla="*/ 1172840 w 1172840"/>
              <a:gd name="connsiteY3" fmla="*/ 1036212 h 1036211"/>
              <a:gd name="connsiteX0" fmla="*/ 0 w 1158047"/>
              <a:gd name="connsiteY0" fmla="*/ 0 h 1036212"/>
              <a:gd name="connsiteX1" fmla="*/ 149359 w 1158047"/>
              <a:gd name="connsiteY1" fmla="*/ 743777 h 1036212"/>
              <a:gd name="connsiteX2" fmla="*/ 1158047 w 1158047"/>
              <a:gd name="connsiteY2" fmla="*/ 1036212 h 1036212"/>
              <a:gd name="connsiteX0" fmla="*/ 0 w 1158047"/>
              <a:gd name="connsiteY0" fmla="*/ 0 h 1036212"/>
              <a:gd name="connsiteX1" fmla="*/ 122577 w 1158047"/>
              <a:gd name="connsiteY1" fmla="*/ 543484 h 1036212"/>
              <a:gd name="connsiteX2" fmla="*/ 1158047 w 1158047"/>
              <a:gd name="connsiteY2" fmla="*/ 1036212 h 1036212"/>
              <a:gd name="connsiteX0" fmla="*/ 3244 w 1161291"/>
              <a:gd name="connsiteY0" fmla="*/ 0 h 1036212"/>
              <a:gd name="connsiteX1" fmla="*/ 125821 w 1161291"/>
              <a:gd name="connsiteY1" fmla="*/ 543484 h 1036212"/>
              <a:gd name="connsiteX2" fmla="*/ 1161291 w 1161291"/>
              <a:gd name="connsiteY2" fmla="*/ 1036212 h 1036212"/>
              <a:gd name="connsiteX0" fmla="*/ 13940 w 1171987"/>
              <a:gd name="connsiteY0" fmla="*/ 0 h 1036212"/>
              <a:gd name="connsiteX1" fmla="*/ 136517 w 1171987"/>
              <a:gd name="connsiteY1" fmla="*/ 543484 h 1036212"/>
              <a:gd name="connsiteX2" fmla="*/ 1171987 w 1171987"/>
              <a:gd name="connsiteY2" fmla="*/ 1036212 h 1036212"/>
              <a:gd name="connsiteX0" fmla="*/ 17626 w 1175673"/>
              <a:gd name="connsiteY0" fmla="*/ 0 h 1036212"/>
              <a:gd name="connsiteX1" fmla="*/ 140203 w 1175673"/>
              <a:gd name="connsiteY1" fmla="*/ 543484 h 1036212"/>
              <a:gd name="connsiteX2" fmla="*/ 1175673 w 1175673"/>
              <a:gd name="connsiteY2" fmla="*/ 1036212 h 1036212"/>
              <a:gd name="connsiteX0" fmla="*/ 411 w 1158458"/>
              <a:gd name="connsiteY0" fmla="*/ 0 h 1036212"/>
              <a:gd name="connsiteX1" fmla="*/ 230119 w 1158458"/>
              <a:gd name="connsiteY1" fmla="*/ 779123 h 1036212"/>
              <a:gd name="connsiteX2" fmla="*/ 1158458 w 1158458"/>
              <a:gd name="connsiteY2" fmla="*/ 1036212 h 1036212"/>
              <a:gd name="connsiteX0" fmla="*/ 897 w 1158944"/>
              <a:gd name="connsiteY0" fmla="*/ 0 h 1036212"/>
              <a:gd name="connsiteX1" fmla="*/ 230605 w 1158944"/>
              <a:gd name="connsiteY1" fmla="*/ 779123 h 1036212"/>
              <a:gd name="connsiteX2" fmla="*/ 1158944 w 1158944"/>
              <a:gd name="connsiteY2" fmla="*/ 1036212 h 1036212"/>
              <a:gd name="connsiteX0" fmla="*/ 21303 w 1179350"/>
              <a:gd name="connsiteY0" fmla="*/ 0 h 1041375"/>
              <a:gd name="connsiteX1" fmla="*/ 156181 w 1179350"/>
              <a:gd name="connsiteY1" fmla="*/ 858141 h 1041375"/>
              <a:gd name="connsiteX2" fmla="*/ 1179350 w 1179350"/>
              <a:gd name="connsiteY2" fmla="*/ 1036212 h 1041375"/>
              <a:gd name="connsiteX0" fmla="*/ 10651 w 1178180"/>
              <a:gd name="connsiteY0" fmla="*/ 0 h 1388283"/>
              <a:gd name="connsiteX1" fmla="*/ 145529 w 1178180"/>
              <a:gd name="connsiteY1" fmla="*/ 858141 h 1388283"/>
              <a:gd name="connsiteX2" fmla="*/ 1178181 w 1178180"/>
              <a:gd name="connsiteY2" fmla="*/ 1388283 h 1388283"/>
              <a:gd name="connsiteX0" fmla="*/ 738 w 1168268"/>
              <a:gd name="connsiteY0" fmla="*/ 0 h 1388283"/>
              <a:gd name="connsiteX1" fmla="*/ 201996 w 1168268"/>
              <a:gd name="connsiteY1" fmla="*/ 1034175 h 1388283"/>
              <a:gd name="connsiteX2" fmla="*/ 1168268 w 1168268"/>
              <a:gd name="connsiteY2" fmla="*/ 1388283 h 138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8268" h="1388283">
                <a:moveTo>
                  <a:pt x="738" y="0"/>
                </a:moveTo>
                <a:cubicBezTo>
                  <a:pt x="-3855" y="378811"/>
                  <a:pt x="7408" y="802795"/>
                  <a:pt x="201996" y="1034175"/>
                </a:cubicBezTo>
                <a:cubicBezTo>
                  <a:pt x="396584" y="1265556"/>
                  <a:pt x="658872" y="1344666"/>
                  <a:pt x="1168268" y="1388283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4326569" y="2329365"/>
            <a:ext cx="2121641" cy="190870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It may seem obvious, but this means that what is in each of the two boxes are the same size.</a:t>
            </a:r>
          </a:p>
        </p:txBody>
      </p:sp>
      <p:sp>
        <p:nvSpPr>
          <p:cNvPr id="69" name="Text Box 2"/>
          <p:cNvSpPr txBox="1">
            <a:spLocks noChangeArrowheads="1"/>
          </p:cNvSpPr>
          <p:nvPr/>
        </p:nvSpPr>
        <p:spPr bwMode="auto">
          <a:xfrm>
            <a:off x="2047782" y="4676703"/>
            <a:ext cx="10342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i="1" u="sng" dirty="0">
                <a:latin typeface="Times New Roman" panose="02020603050405020304" pitchFamily="18" charset="0"/>
              </a:rPr>
              <a:t>x</a:t>
            </a:r>
            <a:r>
              <a:rPr lang="en-GB" altLang="en-US" b="1" u="sng" dirty="0">
                <a:latin typeface="Times New Roman" panose="02020603050405020304" pitchFamily="18" charset="0"/>
              </a:rPr>
              <a:t> =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10863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Formal method for solving (balancing method) </a:t>
            </a:r>
          </a:p>
        </p:txBody>
      </p:sp>
    </p:spTree>
    <p:extLst>
      <p:ext uri="{BB962C8B-B14F-4D97-AF65-F5344CB8AC3E}">
        <p14:creationId xmlns:p14="http://schemas.microsoft.com/office/powerpoint/2010/main" val="172180610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2" grpId="0" animBg="1"/>
      <p:bldP spid="48" grpId="0" animBg="1"/>
      <p:bldP spid="3" grpId="0" animBg="1"/>
      <p:bldP spid="21" grpId="0" animBg="1"/>
      <p:bldP spid="54" grpId="0" animBg="1"/>
      <p:bldP spid="55" grpId="0"/>
      <p:bldP spid="56" grpId="0" animBg="1"/>
      <p:bldP spid="57" grpId="0" animBg="1"/>
      <p:bldP spid="58" grpId="0" animBg="1"/>
      <p:bldP spid="59" grpId="0" animBg="1"/>
      <p:bldP spid="60" grpId="0" animBg="1"/>
      <p:bldP spid="20" grpId="0" animBg="1"/>
      <p:bldP spid="6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217124" y="2319116"/>
            <a:ext cx="207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 17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20091" y="2335769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18724" y="2943004"/>
            <a:ext cx="1866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GB" altLang="en-US" b="1" dirty="0">
                <a:latin typeface="Times New Roman" panose="02020603050405020304" pitchFamily="18" charset="0"/>
              </a:rPr>
              <a:t> 1 = 9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20091" y="2955493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217124" y="3566891"/>
            <a:ext cx="207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 40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20091" y="3575217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217124" y="4190779"/>
            <a:ext cx="2070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GB" altLang="en-US" b="1" dirty="0">
                <a:latin typeface="Times New Roman" panose="02020603050405020304" pitchFamily="18" charset="0"/>
              </a:rPr>
              <a:t> 2 = 10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20091" y="4194941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217124" y="4814666"/>
            <a:ext cx="207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36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20091" y="4814666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859247" y="2335769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859247" y="3541881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4859247" y="4747992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5553075" y="3265266"/>
            <a:ext cx="1817688" cy="1084263"/>
            <a:chOff x="5553075" y="3524942"/>
            <a:chExt cx="1817688" cy="1084263"/>
          </a:xfrm>
          <a:solidFill>
            <a:schemeClr val="bg1"/>
          </a:solidFill>
        </p:grpSpPr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6011863" y="3794817"/>
              <a:ext cx="135890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− 6 = 3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5553075" y="3524942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i="1" dirty="0">
                  <a:latin typeface="Times New Roman" panose="02020603050405020304" pitchFamily="18" charset="0"/>
                </a:rPr>
                <a:t>x</a:t>
              </a:r>
              <a:endParaRPr lang="en-GB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5553075" y="4029767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5553075" y="4067867"/>
              <a:ext cx="36036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580063" y="4467004"/>
            <a:ext cx="1993900" cy="1084263"/>
            <a:chOff x="5580063" y="4712392"/>
            <a:chExt cx="1993900" cy="1084263"/>
          </a:xfrm>
          <a:solidFill>
            <a:schemeClr val="bg1"/>
          </a:solidFill>
        </p:grpSpPr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6011863" y="4940992"/>
              <a:ext cx="156210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</a:rPr>
                <a:t>+ 8 = 14</a:t>
              </a:r>
            </a:p>
          </p:txBody>
        </p:sp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>
              <a:off x="5580063" y="4712392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i="1" dirty="0">
                  <a:latin typeface="Times New Roman" panose="02020603050405020304" pitchFamily="18" charset="0"/>
                </a:rPr>
                <a:t>x</a:t>
              </a:r>
              <a:endParaRPr lang="en-GB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>
              <a:off x="5580063" y="5217217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5580063" y="5255317"/>
              <a:ext cx="36036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67419" y="1386550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Use any method you like to find the value of </a:t>
            </a:r>
            <a:r>
              <a:rPr lang="en-GB" sz="2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 in each of these equations 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5534265" y="2063529"/>
            <a:ext cx="2039698" cy="1084262"/>
            <a:chOff x="5534265" y="2408930"/>
            <a:chExt cx="2039698" cy="1084262"/>
          </a:xfrm>
        </p:grpSpPr>
        <p:grpSp>
          <p:nvGrpSpPr>
            <p:cNvPr id="46" name="Group 45"/>
            <p:cNvGrpSpPr/>
            <p:nvPr/>
          </p:nvGrpSpPr>
          <p:grpSpPr>
            <a:xfrm>
              <a:off x="5534265" y="2408930"/>
              <a:ext cx="2039698" cy="1084262"/>
              <a:chOff x="5534265" y="2408930"/>
              <a:chExt cx="2039698" cy="1084262"/>
            </a:xfrm>
            <a:solidFill>
              <a:schemeClr val="bg1"/>
            </a:solidFill>
          </p:grpSpPr>
          <p:sp>
            <p:nvSpPr>
              <p:cNvPr id="14" name="Text Box 12"/>
              <p:cNvSpPr txBox="1">
                <a:spLocks noChangeArrowheads="1"/>
              </p:cNvSpPr>
              <p:nvPr/>
            </p:nvSpPr>
            <p:spPr bwMode="auto">
              <a:xfrm>
                <a:off x="6011863" y="2664517"/>
                <a:ext cx="1562100" cy="579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b="1" dirty="0">
                    <a:latin typeface="Times New Roman" panose="02020603050405020304" pitchFamily="18" charset="0"/>
                  </a:rPr>
                  <a:t>+ 5 = 13</a:t>
                </a:r>
              </a:p>
            </p:txBody>
          </p:sp>
          <p:sp>
            <p:nvSpPr>
              <p:cNvPr id="24" name="Text Box 26"/>
              <p:cNvSpPr txBox="1">
                <a:spLocks noChangeArrowheads="1"/>
              </p:cNvSpPr>
              <p:nvPr/>
            </p:nvSpPr>
            <p:spPr bwMode="auto">
              <a:xfrm>
                <a:off x="5543550" y="2913755"/>
                <a:ext cx="387350" cy="5794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b="1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5" name="Line 27"/>
              <p:cNvSpPr>
                <a:spLocks noChangeShapeType="1"/>
              </p:cNvSpPr>
              <p:nvPr/>
            </p:nvSpPr>
            <p:spPr bwMode="auto">
              <a:xfrm>
                <a:off x="5543550" y="2951855"/>
                <a:ext cx="360363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2" name="Text Box 28"/>
              <p:cNvSpPr txBox="1">
                <a:spLocks noChangeArrowheads="1"/>
              </p:cNvSpPr>
              <p:nvPr/>
            </p:nvSpPr>
            <p:spPr bwMode="auto">
              <a:xfrm>
                <a:off x="5534265" y="2408930"/>
                <a:ext cx="387350" cy="579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b="1" i="1" dirty="0">
                    <a:latin typeface="Times New Roman" panose="02020603050405020304" pitchFamily="18" charset="0"/>
                  </a:rPr>
                  <a:t>x</a:t>
                </a:r>
                <a:endParaRPr lang="en-GB" altLang="en-US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0" name="Line 30"/>
            <p:cNvSpPr>
              <a:spLocks noChangeShapeType="1"/>
            </p:cNvSpPr>
            <p:nvPr/>
          </p:nvSpPr>
          <p:spPr bwMode="auto">
            <a:xfrm>
              <a:off x="5566568" y="2950211"/>
              <a:ext cx="360363" cy="0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53" name="Text Box 3"/>
          <p:cNvSpPr txBox="1">
            <a:spLocks noChangeArrowheads="1"/>
          </p:cNvSpPr>
          <p:nvPr/>
        </p:nvSpPr>
        <p:spPr bwMode="auto">
          <a:xfrm>
            <a:off x="3566744" y="233576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3566744" y="2959334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62" name="Text Box 3"/>
          <p:cNvSpPr txBox="1">
            <a:spLocks noChangeArrowheads="1"/>
          </p:cNvSpPr>
          <p:nvPr/>
        </p:nvSpPr>
        <p:spPr bwMode="auto">
          <a:xfrm>
            <a:off x="3566744" y="358289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63" name="Text Box 3"/>
          <p:cNvSpPr txBox="1">
            <a:spLocks noChangeArrowheads="1"/>
          </p:cNvSpPr>
          <p:nvPr/>
        </p:nvSpPr>
        <p:spPr bwMode="auto">
          <a:xfrm>
            <a:off x="3566744" y="4206464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64" name="Text Box 3"/>
          <p:cNvSpPr txBox="1">
            <a:spLocks noChangeArrowheads="1"/>
          </p:cNvSpPr>
          <p:nvPr/>
        </p:nvSpPr>
        <p:spPr bwMode="auto">
          <a:xfrm>
            <a:off x="3566744" y="483002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7</a:t>
            </a:r>
          </a:p>
        </p:txBody>
      </p:sp>
      <p:sp>
        <p:nvSpPr>
          <p:cNvPr id="65" name="Text Box 3"/>
          <p:cNvSpPr txBox="1">
            <a:spLocks noChangeArrowheads="1"/>
          </p:cNvSpPr>
          <p:nvPr/>
        </p:nvSpPr>
        <p:spPr bwMode="auto">
          <a:xfrm>
            <a:off x="7761220" y="2342419"/>
            <a:ext cx="9412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16</a:t>
            </a:r>
          </a:p>
        </p:txBody>
      </p:sp>
      <p:sp>
        <p:nvSpPr>
          <p:cNvPr id="66" name="Text Box 3"/>
          <p:cNvSpPr txBox="1">
            <a:spLocks noChangeArrowheads="1"/>
          </p:cNvSpPr>
          <p:nvPr/>
        </p:nvSpPr>
        <p:spPr bwMode="auto">
          <a:xfrm>
            <a:off x="7761220" y="3545205"/>
            <a:ext cx="9412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27</a:t>
            </a:r>
          </a:p>
        </p:txBody>
      </p:sp>
      <p:sp>
        <p:nvSpPr>
          <p:cNvPr id="67" name="Text Box 3"/>
          <p:cNvSpPr txBox="1">
            <a:spLocks noChangeArrowheads="1"/>
          </p:cNvSpPr>
          <p:nvPr/>
        </p:nvSpPr>
        <p:spPr bwMode="auto">
          <a:xfrm>
            <a:off x="7761220" y="4747992"/>
            <a:ext cx="9412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83255" y="6339310"/>
            <a:ext cx="985987" cy="3271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 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7419" y="6323284"/>
            <a:ext cx="762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Click an equation to see the solution, or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445" y="-14755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Starter – exercise books 5 mins </a:t>
            </a:r>
          </a:p>
        </p:txBody>
      </p:sp>
    </p:spTree>
    <p:extLst>
      <p:ext uri="{BB962C8B-B14F-4D97-AF65-F5344CB8AC3E}">
        <p14:creationId xmlns:p14="http://schemas.microsoft.com/office/powerpoint/2010/main" val="138069153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</p:childTnLst>
        </p:cTn>
      </p:par>
    </p:tnLst>
    <p:bldLst>
      <p:bldP spid="53" grpId="0"/>
      <p:bldP spid="53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2750569" y="2319036"/>
            <a:ext cx="931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4</a:t>
            </a:r>
            <a:r>
              <a:rPr lang="en-GB" altLang="en-US" b="1" i="1" dirty="0">
                <a:latin typeface="Times New Roman" panose="02020603050405020304" pitchFamily="18" charset="0"/>
              </a:rPr>
              <a:t>x </a:t>
            </a:r>
            <a:r>
              <a:rPr lang="en-GB" altLang="en-US" b="1" dirty="0"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2697055" y="2317444"/>
            <a:ext cx="5950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419" y="1248534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When the going gets tough, the tough get going…</a:t>
            </a:r>
          </a:p>
        </p:txBody>
      </p:sp>
      <p:sp>
        <p:nvSpPr>
          <p:cNvPr id="2" name="Rectangle 1"/>
          <p:cNvSpPr/>
          <p:nvPr/>
        </p:nvSpPr>
        <p:spPr>
          <a:xfrm>
            <a:off x="1268880" y="2319117"/>
            <a:ext cx="1116000" cy="684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/>
          <p:cNvSpPr/>
          <p:nvPr/>
        </p:nvSpPr>
        <p:spPr>
          <a:xfrm>
            <a:off x="2744157" y="2319117"/>
            <a:ext cx="504000" cy="684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/>
          <p:cNvSpPr/>
          <p:nvPr/>
        </p:nvSpPr>
        <p:spPr>
          <a:xfrm>
            <a:off x="1645725" y="2877017"/>
            <a:ext cx="362310" cy="3623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−5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80880" y="3655626"/>
            <a:ext cx="504000" cy="68439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Rectangle 56"/>
          <p:cNvSpPr/>
          <p:nvPr/>
        </p:nvSpPr>
        <p:spPr>
          <a:xfrm>
            <a:off x="2741839" y="3655626"/>
            <a:ext cx="1394725" cy="68439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Oval 57"/>
          <p:cNvSpPr/>
          <p:nvPr/>
        </p:nvSpPr>
        <p:spPr>
          <a:xfrm>
            <a:off x="1880880" y="4213526"/>
            <a:ext cx="504000" cy="36231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−4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1205225" y="2319036"/>
            <a:ext cx="15760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</a:t>
            </a:r>
          </a:p>
        </p:txBody>
      </p:sp>
      <p:sp>
        <p:nvSpPr>
          <p:cNvPr id="27" name="Rectangle 25"/>
          <p:cNvSpPr/>
          <p:nvPr/>
        </p:nvSpPr>
        <p:spPr>
          <a:xfrm flipH="1">
            <a:off x="2744157" y="2319117"/>
            <a:ext cx="732257" cy="684394"/>
          </a:xfrm>
          <a:custGeom>
            <a:avLst/>
            <a:gdLst>
              <a:gd name="connsiteX0" fmla="*/ 0 w 504000"/>
              <a:gd name="connsiteY0" fmla="*/ 0 h 684394"/>
              <a:gd name="connsiteX1" fmla="*/ 504000 w 504000"/>
              <a:gd name="connsiteY1" fmla="*/ 0 h 684394"/>
              <a:gd name="connsiteX2" fmla="*/ 504000 w 504000"/>
              <a:gd name="connsiteY2" fmla="*/ 684394 h 684394"/>
              <a:gd name="connsiteX3" fmla="*/ 0 w 504000"/>
              <a:gd name="connsiteY3" fmla="*/ 684394 h 684394"/>
              <a:gd name="connsiteX4" fmla="*/ 0 w 504000"/>
              <a:gd name="connsiteY4" fmla="*/ 0 h 684394"/>
              <a:gd name="connsiteX0" fmla="*/ 0 w 504000"/>
              <a:gd name="connsiteY0" fmla="*/ 0 h 684394"/>
              <a:gd name="connsiteX1" fmla="*/ 504000 w 504000"/>
              <a:gd name="connsiteY1" fmla="*/ 0 h 684394"/>
              <a:gd name="connsiteX2" fmla="*/ 504000 w 504000"/>
              <a:gd name="connsiteY2" fmla="*/ 684394 h 684394"/>
              <a:gd name="connsiteX3" fmla="*/ 0 w 504000"/>
              <a:gd name="connsiteY3" fmla="*/ 684394 h 684394"/>
              <a:gd name="connsiteX4" fmla="*/ 91440 w 504000"/>
              <a:gd name="connsiteY4" fmla="*/ 91440 h 684394"/>
              <a:gd name="connsiteX0" fmla="*/ 0 w 504000"/>
              <a:gd name="connsiteY0" fmla="*/ 0 h 684394"/>
              <a:gd name="connsiteX1" fmla="*/ 504000 w 504000"/>
              <a:gd name="connsiteY1" fmla="*/ 0 h 684394"/>
              <a:gd name="connsiteX2" fmla="*/ 504000 w 504000"/>
              <a:gd name="connsiteY2" fmla="*/ 684394 h 684394"/>
              <a:gd name="connsiteX3" fmla="*/ 0 w 504000"/>
              <a:gd name="connsiteY3" fmla="*/ 684394 h 684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00" h="684394">
                <a:moveTo>
                  <a:pt x="0" y="0"/>
                </a:moveTo>
                <a:lnTo>
                  <a:pt x="504000" y="0"/>
                </a:lnTo>
                <a:lnTo>
                  <a:pt x="504000" y="684394"/>
                </a:lnTo>
                <a:lnTo>
                  <a:pt x="0" y="684394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1842346" y="3654034"/>
            <a:ext cx="22942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+ 12</a:t>
            </a:r>
          </a:p>
        </p:txBody>
      </p:sp>
      <p:sp>
        <p:nvSpPr>
          <p:cNvPr id="29" name="Oval 28"/>
          <p:cNvSpPr/>
          <p:nvPr/>
        </p:nvSpPr>
        <p:spPr>
          <a:xfrm>
            <a:off x="3158157" y="4213526"/>
            <a:ext cx="504000" cy="36231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−4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1839498" y="4868439"/>
            <a:ext cx="14446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80880" y="4868439"/>
            <a:ext cx="504000" cy="68439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33"/>
          <p:cNvSpPr/>
          <p:nvPr/>
        </p:nvSpPr>
        <p:spPr>
          <a:xfrm>
            <a:off x="2741840" y="4868439"/>
            <a:ext cx="506318" cy="68439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Oval 34"/>
          <p:cNvSpPr/>
          <p:nvPr/>
        </p:nvSpPr>
        <p:spPr>
          <a:xfrm>
            <a:off x="1952880" y="5426339"/>
            <a:ext cx="360000" cy="36231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÷2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2816157" y="5453214"/>
            <a:ext cx="360000" cy="36231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÷2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2046232" y="5769024"/>
            <a:ext cx="103425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i="1" u="sng" dirty="0">
                <a:latin typeface="Times New Roman" panose="02020603050405020304" pitchFamily="18" charset="0"/>
              </a:rPr>
              <a:t>x</a:t>
            </a:r>
            <a:r>
              <a:rPr lang="en-GB" altLang="en-US" b="1" u="sng" dirty="0">
                <a:latin typeface="Times New Roman" panose="02020603050405020304" pitchFamily="18" charset="0"/>
              </a:rPr>
              <a:t> = 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8502" y="2319117"/>
            <a:ext cx="868578" cy="684394"/>
          </a:xfrm>
          <a:custGeom>
            <a:avLst/>
            <a:gdLst>
              <a:gd name="connsiteX0" fmla="*/ 0 w 504000"/>
              <a:gd name="connsiteY0" fmla="*/ 0 h 684394"/>
              <a:gd name="connsiteX1" fmla="*/ 504000 w 504000"/>
              <a:gd name="connsiteY1" fmla="*/ 0 h 684394"/>
              <a:gd name="connsiteX2" fmla="*/ 504000 w 504000"/>
              <a:gd name="connsiteY2" fmla="*/ 684394 h 684394"/>
              <a:gd name="connsiteX3" fmla="*/ 0 w 504000"/>
              <a:gd name="connsiteY3" fmla="*/ 684394 h 684394"/>
              <a:gd name="connsiteX4" fmla="*/ 0 w 504000"/>
              <a:gd name="connsiteY4" fmla="*/ 0 h 684394"/>
              <a:gd name="connsiteX0" fmla="*/ 0 w 504000"/>
              <a:gd name="connsiteY0" fmla="*/ 0 h 684394"/>
              <a:gd name="connsiteX1" fmla="*/ 504000 w 504000"/>
              <a:gd name="connsiteY1" fmla="*/ 0 h 684394"/>
              <a:gd name="connsiteX2" fmla="*/ 504000 w 504000"/>
              <a:gd name="connsiteY2" fmla="*/ 684394 h 684394"/>
              <a:gd name="connsiteX3" fmla="*/ 0 w 504000"/>
              <a:gd name="connsiteY3" fmla="*/ 684394 h 684394"/>
              <a:gd name="connsiteX4" fmla="*/ 91440 w 504000"/>
              <a:gd name="connsiteY4" fmla="*/ 91440 h 684394"/>
              <a:gd name="connsiteX0" fmla="*/ 0 w 504000"/>
              <a:gd name="connsiteY0" fmla="*/ 0 h 684394"/>
              <a:gd name="connsiteX1" fmla="*/ 504000 w 504000"/>
              <a:gd name="connsiteY1" fmla="*/ 0 h 684394"/>
              <a:gd name="connsiteX2" fmla="*/ 504000 w 504000"/>
              <a:gd name="connsiteY2" fmla="*/ 684394 h 684394"/>
              <a:gd name="connsiteX3" fmla="*/ 0 w 504000"/>
              <a:gd name="connsiteY3" fmla="*/ 684394 h 684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00" h="684394">
                <a:moveTo>
                  <a:pt x="0" y="0"/>
                </a:moveTo>
                <a:lnTo>
                  <a:pt x="504000" y="0"/>
                </a:lnTo>
                <a:lnTo>
                  <a:pt x="504000" y="684394"/>
                </a:lnTo>
                <a:lnTo>
                  <a:pt x="0" y="684394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Freeform: Shape 45"/>
          <p:cNvSpPr/>
          <p:nvPr/>
        </p:nvSpPr>
        <p:spPr>
          <a:xfrm flipV="1">
            <a:off x="2560643" y="4151968"/>
            <a:ext cx="2406560" cy="847736"/>
          </a:xfrm>
          <a:custGeom>
            <a:avLst/>
            <a:gdLst>
              <a:gd name="connsiteX0" fmla="*/ 207034 w 1233578"/>
              <a:gd name="connsiteY0" fmla="*/ 0 h 1457864"/>
              <a:gd name="connsiteX1" fmla="*/ 207034 w 1233578"/>
              <a:gd name="connsiteY1" fmla="*/ 431320 h 1457864"/>
              <a:gd name="connsiteX2" fmla="*/ 0 w 1233578"/>
              <a:gd name="connsiteY2" fmla="*/ 1242203 h 1457864"/>
              <a:gd name="connsiteX3" fmla="*/ 465827 w 1233578"/>
              <a:gd name="connsiteY3" fmla="*/ 1457864 h 1457864"/>
              <a:gd name="connsiteX4" fmla="*/ 1233578 w 1233578"/>
              <a:gd name="connsiteY4" fmla="*/ 948905 h 1457864"/>
              <a:gd name="connsiteX0" fmla="*/ 212711 w 1239255"/>
              <a:gd name="connsiteY0" fmla="*/ 0 h 1457864"/>
              <a:gd name="connsiteX1" fmla="*/ 212711 w 1239255"/>
              <a:gd name="connsiteY1" fmla="*/ 431320 h 1457864"/>
              <a:gd name="connsiteX2" fmla="*/ 5677 w 1239255"/>
              <a:gd name="connsiteY2" fmla="*/ 1242203 h 1457864"/>
              <a:gd name="connsiteX3" fmla="*/ 471504 w 1239255"/>
              <a:gd name="connsiteY3" fmla="*/ 1457864 h 1457864"/>
              <a:gd name="connsiteX4" fmla="*/ 1239255 w 1239255"/>
              <a:gd name="connsiteY4" fmla="*/ 948905 h 1457864"/>
              <a:gd name="connsiteX0" fmla="*/ 248549 w 1275093"/>
              <a:gd name="connsiteY0" fmla="*/ 0 h 1457864"/>
              <a:gd name="connsiteX1" fmla="*/ 248549 w 1275093"/>
              <a:gd name="connsiteY1" fmla="*/ 431320 h 1457864"/>
              <a:gd name="connsiteX2" fmla="*/ 41515 w 1275093"/>
              <a:gd name="connsiteY2" fmla="*/ 1242203 h 1457864"/>
              <a:gd name="connsiteX3" fmla="*/ 507342 w 1275093"/>
              <a:gd name="connsiteY3" fmla="*/ 1457864 h 1457864"/>
              <a:gd name="connsiteX4" fmla="*/ 1275093 w 1275093"/>
              <a:gd name="connsiteY4" fmla="*/ 948905 h 1457864"/>
              <a:gd name="connsiteX0" fmla="*/ 248549 w 1275093"/>
              <a:gd name="connsiteY0" fmla="*/ 0 h 1466213"/>
              <a:gd name="connsiteX1" fmla="*/ 248549 w 1275093"/>
              <a:gd name="connsiteY1" fmla="*/ 431320 h 1466213"/>
              <a:gd name="connsiteX2" fmla="*/ 41515 w 1275093"/>
              <a:gd name="connsiteY2" fmla="*/ 1242203 h 1466213"/>
              <a:gd name="connsiteX3" fmla="*/ 507342 w 1275093"/>
              <a:gd name="connsiteY3" fmla="*/ 1457864 h 1466213"/>
              <a:gd name="connsiteX4" fmla="*/ 1275093 w 1275093"/>
              <a:gd name="connsiteY4" fmla="*/ 948905 h 1466213"/>
              <a:gd name="connsiteX0" fmla="*/ 248549 w 1275093"/>
              <a:gd name="connsiteY0" fmla="*/ 0 h 1242203"/>
              <a:gd name="connsiteX1" fmla="*/ 248549 w 1275093"/>
              <a:gd name="connsiteY1" fmla="*/ 431320 h 1242203"/>
              <a:gd name="connsiteX2" fmla="*/ 41515 w 1275093"/>
              <a:gd name="connsiteY2" fmla="*/ 1242203 h 1242203"/>
              <a:gd name="connsiteX3" fmla="*/ 1275093 w 1275093"/>
              <a:gd name="connsiteY3" fmla="*/ 948905 h 1242203"/>
              <a:gd name="connsiteX0" fmla="*/ 353139 w 1379683"/>
              <a:gd name="connsiteY0" fmla="*/ 0 h 1251491"/>
              <a:gd name="connsiteX1" fmla="*/ 353139 w 1379683"/>
              <a:gd name="connsiteY1" fmla="*/ 431320 h 1251491"/>
              <a:gd name="connsiteX2" fmla="*/ 146105 w 1379683"/>
              <a:gd name="connsiteY2" fmla="*/ 1242203 h 1251491"/>
              <a:gd name="connsiteX3" fmla="*/ 1379683 w 1379683"/>
              <a:gd name="connsiteY3" fmla="*/ 948905 h 1251491"/>
              <a:gd name="connsiteX0" fmla="*/ 401316 w 1427860"/>
              <a:gd name="connsiteY0" fmla="*/ 0 h 1344141"/>
              <a:gd name="connsiteX1" fmla="*/ 401316 w 1427860"/>
              <a:gd name="connsiteY1" fmla="*/ 431320 h 1344141"/>
              <a:gd name="connsiteX2" fmla="*/ 194282 w 1427860"/>
              <a:gd name="connsiteY2" fmla="*/ 1242203 h 1344141"/>
              <a:gd name="connsiteX3" fmla="*/ 1427860 w 1427860"/>
              <a:gd name="connsiteY3" fmla="*/ 948905 h 1344141"/>
              <a:gd name="connsiteX0" fmla="*/ 142266 w 1168810"/>
              <a:gd name="connsiteY0" fmla="*/ 0 h 1256792"/>
              <a:gd name="connsiteX1" fmla="*/ 142266 w 1168810"/>
              <a:gd name="connsiteY1" fmla="*/ 431320 h 1256792"/>
              <a:gd name="connsiteX2" fmla="*/ 263036 w 1168810"/>
              <a:gd name="connsiteY2" fmla="*/ 1138686 h 1256792"/>
              <a:gd name="connsiteX3" fmla="*/ 1168810 w 1168810"/>
              <a:gd name="connsiteY3" fmla="*/ 948905 h 1256792"/>
              <a:gd name="connsiteX0" fmla="*/ 252178 w 1278722"/>
              <a:gd name="connsiteY0" fmla="*/ 0 h 1201708"/>
              <a:gd name="connsiteX1" fmla="*/ 252178 w 1278722"/>
              <a:gd name="connsiteY1" fmla="*/ 431320 h 1201708"/>
              <a:gd name="connsiteX2" fmla="*/ 372948 w 1278722"/>
              <a:gd name="connsiteY2" fmla="*/ 1138686 h 1201708"/>
              <a:gd name="connsiteX3" fmla="*/ 1278722 w 1278722"/>
              <a:gd name="connsiteY3" fmla="*/ 948905 h 1201708"/>
              <a:gd name="connsiteX0" fmla="*/ 77323 w 1103867"/>
              <a:gd name="connsiteY0" fmla="*/ 0 h 1194366"/>
              <a:gd name="connsiteX1" fmla="*/ 77323 w 1103867"/>
              <a:gd name="connsiteY1" fmla="*/ 431320 h 1194366"/>
              <a:gd name="connsiteX2" fmla="*/ 456885 w 1103867"/>
              <a:gd name="connsiteY2" fmla="*/ 1130059 h 1194366"/>
              <a:gd name="connsiteX3" fmla="*/ 1103867 w 1103867"/>
              <a:gd name="connsiteY3" fmla="*/ 948905 h 1194366"/>
              <a:gd name="connsiteX0" fmla="*/ 102447 w 1128991"/>
              <a:gd name="connsiteY0" fmla="*/ 0 h 1194366"/>
              <a:gd name="connsiteX1" fmla="*/ 102447 w 1128991"/>
              <a:gd name="connsiteY1" fmla="*/ 431320 h 1194366"/>
              <a:gd name="connsiteX2" fmla="*/ 482009 w 1128991"/>
              <a:gd name="connsiteY2" fmla="*/ 1130059 h 1194366"/>
              <a:gd name="connsiteX3" fmla="*/ 1128991 w 1128991"/>
              <a:gd name="connsiteY3" fmla="*/ 948905 h 1194366"/>
              <a:gd name="connsiteX0" fmla="*/ 233225 w 1259769"/>
              <a:gd name="connsiteY0" fmla="*/ 0 h 1063493"/>
              <a:gd name="connsiteX1" fmla="*/ 233225 w 1259769"/>
              <a:gd name="connsiteY1" fmla="*/ 431320 h 1063493"/>
              <a:gd name="connsiteX2" fmla="*/ 379874 w 1259769"/>
              <a:gd name="connsiteY2" fmla="*/ 957531 h 1063493"/>
              <a:gd name="connsiteX3" fmla="*/ 1259769 w 1259769"/>
              <a:gd name="connsiteY3" fmla="*/ 948905 h 1063493"/>
              <a:gd name="connsiteX0" fmla="*/ 10863 w 1037407"/>
              <a:gd name="connsiteY0" fmla="*/ 0 h 1014798"/>
              <a:gd name="connsiteX1" fmla="*/ 10863 w 1037407"/>
              <a:gd name="connsiteY1" fmla="*/ 431320 h 1014798"/>
              <a:gd name="connsiteX2" fmla="*/ 157512 w 1037407"/>
              <a:gd name="connsiteY2" fmla="*/ 957531 h 1014798"/>
              <a:gd name="connsiteX3" fmla="*/ 1037407 w 1037407"/>
              <a:gd name="connsiteY3" fmla="*/ 948905 h 1014798"/>
              <a:gd name="connsiteX0" fmla="*/ 62192 w 1088736"/>
              <a:gd name="connsiteY0" fmla="*/ 0 h 984681"/>
              <a:gd name="connsiteX1" fmla="*/ 62192 w 1088736"/>
              <a:gd name="connsiteY1" fmla="*/ 431320 h 984681"/>
              <a:gd name="connsiteX2" fmla="*/ 79445 w 1088736"/>
              <a:gd name="connsiteY2" fmla="*/ 854014 h 984681"/>
              <a:gd name="connsiteX3" fmla="*/ 1088736 w 1088736"/>
              <a:gd name="connsiteY3" fmla="*/ 948905 h 984681"/>
              <a:gd name="connsiteX0" fmla="*/ 51438 w 1077982"/>
              <a:gd name="connsiteY0" fmla="*/ 0 h 987446"/>
              <a:gd name="connsiteX1" fmla="*/ 85944 w 1077982"/>
              <a:gd name="connsiteY1" fmla="*/ 448573 h 987446"/>
              <a:gd name="connsiteX2" fmla="*/ 68691 w 1077982"/>
              <a:gd name="connsiteY2" fmla="*/ 854014 h 987446"/>
              <a:gd name="connsiteX3" fmla="*/ 1077982 w 1077982"/>
              <a:gd name="connsiteY3" fmla="*/ 948905 h 987446"/>
              <a:gd name="connsiteX0" fmla="*/ 56529 w 1152084"/>
              <a:gd name="connsiteY0" fmla="*/ 0 h 927768"/>
              <a:gd name="connsiteX1" fmla="*/ 91035 w 1152084"/>
              <a:gd name="connsiteY1" fmla="*/ 448573 h 927768"/>
              <a:gd name="connsiteX2" fmla="*/ 73782 w 1152084"/>
              <a:gd name="connsiteY2" fmla="*/ 854014 h 927768"/>
              <a:gd name="connsiteX3" fmla="*/ 1152084 w 1152084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113902 w 1209457"/>
              <a:gd name="connsiteY0" fmla="*/ 0 h 920163"/>
              <a:gd name="connsiteX1" fmla="*/ 44891 w 1209457"/>
              <a:gd name="connsiteY1" fmla="*/ 612475 h 920163"/>
              <a:gd name="connsiteX2" fmla="*/ 131155 w 1209457"/>
              <a:gd name="connsiteY2" fmla="*/ 854014 h 920163"/>
              <a:gd name="connsiteX3" fmla="*/ 1209457 w 1209457"/>
              <a:gd name="connsiteY3" fmla="*/ 871267 h 920163"/>
              <a:gd name="connsiteX0" fmla="*/ 71463 w 1167018"/>
              <a:gd name="connsiteY0" fmla="*/ 0 h 1036809"/>
              <a:gd name="connsiteX1" fmla="*/ 2452 w 1167018"/>
              <a:gd name="connsiteY1" fmla="*/ 612475 h 1036809"/>
              <a:gd name="connsiteX2" fmla="*/ 140474 w 1167018"/>
              <a:gd name="connsiteY2" fmla="*/ 1026542 h 1036809"/>
              <a:gd name="connsiteX3" fmla="*/ 1167018 w 1167018"/>
              <a:gd name="connsiteY3" fmla="*/ 871267 h 1036809"/>
              <a:gd name="connsiteX0" fmla="*/ 82883 w 1178438"/>
              <a:gd name="connsiteY0" fmla="*/ 0 h 1036809"/>
              <a:gd name="connsiteX1" fmla="*/ 13872 w 1178438"/>
              <a:gd name="connsiteY1" fmla="*/ 612475 h 1036809"/>
              <a:gd name="connsiteX2" fmla="*/ 151894 w 1178438"/>
              <a:gd name="connsiteY2" fmla="*/ 1026542 h 1036809"/>
              <a:gd name="connsiteX3" fmla="*/ 1178438 w 1178438"/>
              <a:gd name="connsiteY3" fmla="*/ 871267 h 1036809"/>
              <a:gd name="connsiteX0" fmla="*/ 72919 w 1168474"/>
              <a:gd name="connsiteY0" fmla="*/ 0 h 899716"/>
              <a:gd name="connsiteX1" fmla="*/ 3908 w 1168474"/>
              <a:gd name="connsiteY1" fmla="*/ 612475 h 899716"/>
              <a:gd name="connsiteX2" fmla="*/ 222278 w 1168474"/>
              <a:gd name="connsiteY2" fmla="*/ 743777 h 899716"/>
              <a:gd name="connsiteX3" fmla="*/ 1168474 w 1168474"/>
              <a:gd name="connsiteY3" fmla="*/ 871267 h 899716"/>
              <a:gd name="connsiteX0" fmla="*/ 14793 w 1110348"/>
              <a:gd name="connsiteY0" fmla="*/ 0 h 902295"/>
              <a:gd name="connsiteX1" fmla="*/ 8275 w 1110348"/>
              <a:gd name="connsiteY1" fmla="*/ 471092 h 902295"/>
              <a:gd name="connsiteX2" fmla="*/ 164152 w 1110348"/>
              <a:gd name="connsiteY2" fmla="*/ 743777 h 902295"/>
              <a:gd name="connsiteX3" fmla="*/ 1110348 w 1110348"/>
              <a:gd name="connsiteY3" fmla="*/ 871267 h 902295"/>
              <a:gd name="connsiteX0" fmla="*/ 14793 w 1172840"/>
              <a:gd name="connsiteY0" fmla="*/ 0 h 1055756"/>
              <a:gd name="connsiteX1" fmla="*/ 8275 w 1172840"/>
              <a:gd name="connsiteY1" fmla="*/ 471092 h 1055756"/>
              <a:gd name="connsiteX2" fmla="*/ 164152 w 1172840"/>
              <a:gd name="connsiteY2" fmla="*/ 743777 h 1055756"/>
              <a:gd name="connsiteX3" fmla="*/ 1172840 w 1172840"/>
              <a:gd name="connsiteY3" fmla="*/ 1036212 h 1055756"/>
              <a:gd name="connsiteX0" fmla="*/ 14793 w 1172840"/>
              <a:gd name="connsiteY0" fmla="*/ 0 h 1036211"/>
              <a:gd name="connsiteX1" fmla="*/ 8275 w 1172840"/>
              <a:gd name="connsiteY1" fmla="*/ 471092 h 1036211"/>
              <a:gd name="connsiteX2" fmla="*/ 164152 w 1172840"/>
              <a:gd name="connsiteY2" fmla="*/ 743777 h 1036211"/>
              <a:gd name="connsiteX3" fmla="*/ 1172840 w 1172840"/>
              <a:gd name="connsiteY3" fmla="*/ 1036212 h 1036211"/>
              <a:gd name="connsiteX0" fmla="*/ 0 w 1158047"/>
              <a:gd name="connsiteY0" fmla="*/ 0 h 1036212"/>
              <a:gd name="connsiteX1" fmla="*/ 149359 w 1158047"/>
              <a:gd name="connsiteY1" fmla="*/ 743777 h 1036212"/>
              <a:gd name="connsiteX2" fmla="*/ 1158047 w 1158047"/>
              <a:gd name="connsiteY2" fmla="*/ 1036212 h 1036212"/>
              <a:gd name="connsiteX0" fmla="*/ 0 w 1158047"/>
              <a:gd name="connsiteY0" fmla="*/ 0 h 1036212"/>
              <a:gd name="connsiteX1" fmla="*/ 122577 w 1158047"/>
              <a:gd name="connsiteY1" fmla="*/ 543484 h 1036212"/>
              <a:gd name="connsiteX2" fmla="*/ 1158047 w 1158047"/>
              <a:gd name="connsiteY2" fmla="*/ 1036212 h 1036212"/>
              <a:gd name="connsiteX0" fmla="*/ 3244 w 1161291"/>
              <a:gd name="connsiteY0" fmla="*/ 0 h 1036212"/>
              <a:gd name="connsiteX1" fmla="*/ 125821 w 1161291"/>
              <a:gd name="connsiteY1" fmla="*/ 543484 h 1036212"/>
              <a:gd name="connsiteX2" fmla="*/ 1161291 w 1161291"/>
              <a:gd name="connsiteY2" fmla="*/ 1036212 h 1036212"/>
              <a:gd name="connsiteX0" fmla="*/ 13940 w 1171987"/>
              <a:gd name="connsiteY0" fmla="*/ 0 h 1036212"/>
              <a:gd name="connsiteX1" fmla="*/ 136517 w 1171987"/>
              <a:gd name="connsiteY1" fmla="*/ 543484 h 1036212"/>
              <a:gd name="connsiteX2" fmla="*/ 1171987 w 1171987"/>
              <a:gd name="connsiteY2" fmla="*/ 1036212 h 1036212"/>
              <a:gd name="connsiteX0" fmla="*/ 17626 w 1175673"/>
              <a:gd name="connsiteY0" fmla="*/ 0 h 1036212"/>
              <a:gd name="connsiteX1" fmla="*/ 140203 w 1175673"/>
              <a:gd name="connsiteY1" fmla="*/ 543484 h 1036212"/>
              <a:gd name="connsiteX2" fmla="*/ 1175673 w 1175673"/>
              <a:gd name="connsiteY2" fmla="*/ 1036212 h 1036212"/>
              <a:gd name="connsiteX0" fmla="*/ 411 w 1158458"/>
              <a:gd name="connsiteY0" fmla="*/ 0 h 1036212"/>
              <a:gd name="connsiteX1" fmla="*/ 230119 w 1158458"/>
              <a:gd name="connsiteY1" fmla="*/ 779123 h 1036212"/>
              <a:gd name="connsiteX2" fmla="*/ 1158458 w 1158458"/>
              <a:gd name="connsiteY2" fmla="*/ 1036212 h 1036212"/>
              <a:gd name="connsiteX0" fmla="*/ 897 w 1158944"/>
              <a:gd name="connsiteY0" fmla="*/ 0 h 1036212"/>
              <a:gd name="connsiteX1" fmla="*/ 230605 w 1158944"/>
              <a:gd name="connsiteY1" fmla="*/ 779123 h 1036212"/>
              <a:gd name="connsiteX2" fmla="*/ 1158944 w 1158944"/>
              <a:gd name="connsiteY2" fmla="*/ 1036212 h 1036212"/>
              <a:gd name="connsiteX0" fmla="*/ 21303 w 1179350"/>
              <a:gd name="connsiteY0" fmla="*/ 0 h 1041375"/>
              <a:gd name="connsiteX1" fmla="*/ 156181 w 1179350"/>
              <a:gd name="connsiteY1" fmla="*/ 858141 h 1041375"/>
              <a:gd name="connsiteX2" fmla="*/ 1179350 w 1179350"/>
              <a:gd name="connsiteY2" fmla="*/ 1036212 h 1041375"/>
              <a:gd name="connsiteX0" fmla="*/ 10651 w 1178180"/>
              <a:gd name="connsiteY0" fmla="*/ 0 h 1388283"/>
              <a:gd name="connsiteX1" fmla="*/ 145529 w 1178180"/>
              <a:gd name="connsiteY1" fmla="*/ 858141 h 1388283"/>
              <a:gd name="connsiteX2" fmla="*/ 1178181 w 1178180"/>
              <a:gd name="connsiteY2" fmla="*/ 1388283 h 1388283"/>
              <a:gd name="connsiteX0" fmla="*/ 738 w 1168268"/>
              <a:gd name="connsiteY0" fmla="*/ 0 h 1388283"/>
              <a:gd name="connsiteX1" fmla="*/ 201996 w 1168268"/>
              <a:gd name="connsiteY1" fmla="*/ 1034175 h 1388283"/>
              <a:gd name="connsiteX2" fmla="*/ 1168268 w 1168268"/>
              <a:gd name="connsiteY2" fmla="*/ 1388283 h 1388283"/>
              <a:gd name="connsiteX0" fmla="*/ 366 w 1012629"/>
              <a:gd name="connsiteY0" fmla="*/ 0 h 2385818"/>
              <a:gd name="connsiteX1" fmla="*/ 201624 w 1012629"/>
              <a:gd name="connsiteY1" fmla="*/ 1034175 h 2385818"/>
              <a:gd name="connsiteX2" fmla="*/ 1012628 w 1012629"/>
              <a:gd name="connsiteY2" fmla="*/ 2385818 h 2385818"/>
              <a:gd name="connsiteX0" fmla="*/ 366 w 1012628"/>
              <a:gd name="connsiteY0" fmla="*/ 0 h 2385818"/>
              <a:gd name="connsiteX1" fmla="*/ 201624 w 1012628"/>
              <a:gd name="connsiteY1" fmla="*/ 1034175 h 2385818"/>
              <a:gd name="connsiteX2" fmla="*/ 1012628 w 1012628"/>
              <a:gd name="connsiteY2" fmla="*/ 2385818 h 2385818"/>
              <a:gd name="connsiteX0" fmla="*/ 21 w 1842629"/>
              <a:gd name="connsiteY0" fmla="*/ 0 h 2532514"/>
              <a:gd name="connsiteX1" fmla="*/ 1031625 w 1842629"/>
              <a:gd name="connsiteY1" fmla="*/ 1180871 h 2532514"/>
              <a:gd name="connsiteX2" fmla="*/ 1842629 w 1842629"/>
              <a:gd name="connsiteY2" fmla="*/ 2532514 h 2532514"/>
              <a:gd name="connsiteX0" fmla="*/ 22095 w 1864703"/>
              <a:gd name="connsiteY0" fmla="*/ 0 h 2532514"/>
              <a:gd name="connsiteX1" fmla="*/ 216602 w 1864703"/>
              <a:gd name="connsiteY1" fmla="*/ 1034175 h 2532514"/>
              <a:gd name="connsiteX2" fmla="*/ 1864703 w 1864703"/>
              <a:gd name="connsiteY2" fmla="*/ 2532514 h 2532514"/>
              <a:gd name="connsiteX0" fmla="*/ 872 w 1843480"/>
              <a:gd name="connsiteY0" fmla="*/ 0 h 2532514"/>
              <a:gd name="connsiteX1" fmla="*/ 195379 w 1843480"/>
              <a:gd name="connsiteY1" fmla="*/ 1034175 h 2532514"/>
              <a:gd name="connsiteX2" fmla="*/ 1843480 w 1843480"/>
              <a:gd name="connsiteY2" fmla="*/ 2532514 h 2532514"/>
              <a:gd name="connsiteX0" fmla="*/ 14330 w 1856938"/>
              <a:gd name="connsiteY0" fmla="*/ 0 h 2532514"/>
              <a:gd name="connsiteX1" fmla="*/ 208837 w 1856938"/>
              <a:gd name="connsiteY1" fmla="*/ 1034175 h 2532514"/>
              <a:gd name="connsiteX2" fmla="*/ 1856938 w 1856938"/>
              <a:gd name="connsiteY2" fmla="*/ 2532514 h 2532514"/>
              <a:gd name="connsiteX0" fmla="*/ 0 w 1842608"/>
              <a:gd name="connsiteY0" fmla="*/ 0 h 2532514"/>
              <a:gd name="connsiteX1" fmla="*/ 194507 w 1842608"/>
              <a:gd name="connsiteY1" fmla="*/ 1034175 h 2532514"/>
              <a:gd name="connsiteX2" fmla="*/ 1842608 w 1842608"/>
              <a:gd name="connsiteY2" fmla="*/ 2532514 h 2532514"/>
              <a:gd name="connsiteX0" fmla="*/ 0 w 1842608"/>
              <a:gd name="connsiteY0" fmla="*/ 0 h 2532514"/>
              <a:gd name="connsiteX1" fmla="*/ 403781 w 1842608"/>
              <a:gd name="connsiteY1" fmla="*/ 1092854 h 2532514"/>
              <a:gd name="connsiteX2" fmla="*/ 1842608 w 1842608"/>
              <a:gd name="connsiteY2" fmla="*/ 2532514 h 2532514"/>
              <a:gd name="connsiteX0" fmla="*/ 0 w 1842608"/>
              <a:gd name="connsiteY0" fmla="*/ 0 h 2532514"/>
              <a:gd name="connsiteX1" fmla="*/ 403781 w 1842608"/>
              <a:gd name="connsiteY1" fmla="*/ 1092854 h 2532514"/>
              <a:gd name="connsiteX2" fmla="*/ 1842608 w 1842608"/>
              <a:gd name="connsiteY2" fmla="*/ 2532514 h 2532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2608" h="2532514">
                <a:moveTo>
                  <a:pt x="0" y="0"/>
                </a:moveTo>
                <a:cubicBezTo>
                  <a:pt x="3323" y="844674"/>
                  <a:pt x="123682" y="964160"/>
                  <a:pt x="403781" y="1092854"/>
                </a:cubicBezTo>
                <a:cubicBezTo>
                  <a:pt x="683880" y="1221548"/>
                  <a:pt x="1603244" y="1109951"/>
                  <a:pt x="1842608" y="253251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6099287" y="2326196"/>
            <a:ext cx="2674259" cy="190870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Do the same operation to each side (each box) and they will still be the same size as each other when you are done. </a:t>
            </a:r>
          </a:p>
        </p:txBody>
      </p:sp>
      <p:sp>
        <p:nvSpPr>
          <p:cNvPr id="50" name="Freeform: Shape 49"/>
          <p:cNvSpPr/>
          <p:nvPr/>
        </p:nvSpPr>
        <p:spPr>
          <a:xfrm>
            <a:off x="2562314" y="2777705"/>
            <a:ext cx="1801003" cy="580761"/>
          </a:xfrm>
          <a:custGeom>
            <a:avLst/>
            <a:gdLst>
              <a:gd name="connsiteX0" fmla="*/ 207034 w 1233578"/>
              <a:gd name="connsiteY0" fmla="*/ 0 h 1457864"/>
              <a:gd name="connsiteX1" fmla="*/ 207034 w 1233578"/>
              <a:gd name="connsiteY1" fmla="*/ 431320 h 1457864"/>
              <a:gd name="connsiteX2" fmla="*/ 0 w 1233578"/>
              <a:gd name="connsiteY2" fmla="*/ 1242203 h 1457864"/>
              <a:gd name="connsiteX3" fmla="*/ 465827 w 1233578"/>
              <a:gd name="connsiteY3" fmla="*/ 1457864 h 1457864"/>
              <a:gd name="connsiteX4" fmla="*/ 1233578 w 1233578"/>
              <a:gd name="connsiteY4" fmla="*/ 948905 h 1457864"/>
              <a:gd name="connsiteX0" fmla="*/ 212711 w 1239255"/>
              <a:gd name="connsiteY0" fmla="*/ 0 h 1457864"/>
              <a:gd name="connsiteX1" fmla="*/ 212711 w 1239255"/>
              <a:gd name="connsiteY1" fmla="*/ 431320 h 1457864"/>
              <a:gd name="connsiteX2" fmla="*/ 5677 w 1239255"/>
              <a:gd name="connsiteY2" fmla="*/ 1242203 h 1457864"/>
              <a:gd name="connsiteX3" fmla="*/ 471504 w 1239255"/>
              <a:gd name="connsiteY3" fmla="*/ 1457864 h 1457864"/>
              <a:gd name="connsiteX4" fmla="*/ 1239255 w 1239255"/>
              <a:gd name="connsiteY4" fmla="*/ 948905 h 1457864"/>
              <a:gd name="connsiteX0" fmla="*/ 248549 w 1275093"/>
              <a:gd name="connsiteY0" fmla="*/ 0 h 1457864"/>
              <a:gd name="connsiteX1" fmla="*/ 248549 w 1275093"/>
              <a:gd name="connsiteY1" fmla="*/ 431320 h 1457864"/>
              <a:gd name="connsiteX2" fmla="*/ 41515 w 1275093"/>
              <a:gd name="connsiteY2" fmla="*/ 1242203 h 1457864"/>
              <a:gd name="connsiteX3" fmla="*/ 507342 w 1275093"/>
              <a:gd name="connsiteY3" fmla="*/ 1457864 h 1457864"/>
              <a:gd name="connsiteX4" fmla="*/ 1275093 w 1275093"/>
              <a:gd name="connsiteY4" fmla="*/ 948905 h 1457864"/>
              <a:gd name="connsiteX0" fmla="*/ 248549 w 1275093"/>
              <a:gd name="connsiteY0" fmla="*/ 0 h 1466213"/>
              <a:gd name="connsiteX1" fmla="*/ 248549 w 1275093"/>
              <a:gd name="connsiteY1" fmla="*/ 431320 h 1466213"/>
              <a:gd name="connsiteX2" fmla="*/ 41515 w 1275093"/>
              <a:gd name="connsiteY2" fmla="*/ 1242203 h 1466213"/>
              <a:gd name="connsiteX3" fmla="*/ 507342 w 1275093"/>
              <a:gd name="connsiteY3" fmla="*/ 1457864 h 1466213"/>
              <a:gd name="connsiteX4" fmla="*/ 1275093 w 1275093"/>
              <a:gd name="connsiteY4" fmla="*/ 948905 h 1466213"/>
              <a:gd name="connsiteX0" fmla="*/ 248549 w 1275093"/>
              <a:gd name="connsiteY0" fmla="*/ 0 h 1242203"/>
              <a:gd name="connsiteX1" fmla="*/ 248549 w 1275093"/>
              <a:gd name="connsiteY1" fmla="*/ 431320 h 1242203"/>
              <a:gd name="connsiteX2" fmla="*/ 41515 w 1275093"/>
              <a:gd name="connsiteY2" fmla="*/ 1242203 h 1242203"/>
              <a:gd name="connsiteX3" fmla="*/ 1275093 w 1275093"/>
              <a:gd name="connsiteY3" fmla="*/ 948905 h 1242203"/>
              <a:gd name="connsiteX0" fmla="*/ 353139 w 1379683"/>
              <a:gd name="connsiteY0" fmla="*/ 0 h 1251491"/>
              <a:gd name="connsiteX1" fmla="*/ 353139 w 1379683"/>
              <a:gd name="connsiteY1" fmla="*/ 431320 h 1251491"/>
              <a:gd name="connsiteX2" fmla="*/ 146105 w 1379683"/>
              <a:gd name="connsiteY2" fmla="*/ 1242203 h 1251491"/>
              <a:gd name="connsiteX3" fmla="*/ 1379683 w 1379683"/>
              <a:gd name="connsiteY3" fmla="*/ 948905 h 1251491"/>
              <a:gd name="connsiteX0" fmla="*/ 401316 w 1427860"/>
              <a:gd name="connsiteY0" fmla="*/ 0 h 1344141"/>
              <a:gd name="connsiteX1" fmla="*/ 401316 w 1427860"/>
              <a:gd name="connsiteY1" fmla="*/ 431320 h 1344141"/>
              <a:gd name="connsiteX2" fmla="*/ 194282 w 1427860"/>
              <a:gd name="connsiteY2" fmla="*/ 1242203 h 1344141"/>
              <a:gd name="connsiteX3" fmla="*/ 1427860 w 1427860"/>
              <a:gd name="connsiteY3" fmla="*/ 948905 h 1344141"/>
              <a:gd name="connsiteX0" fmla="*/ 142266 w 1168810"/>
              <a:gd name="connsiteY0" fmla="*/ 0 h 1256792"/>
              <a:gd name="connsiteX1" fmla="*/ 142266 w 1168810"/>
              <a:gd name="connsiteY1" fmla="*/ 431320 h 1256792"/>
              <a:gd name="connsiteX2" fmla="*/ 263036 w 1168810"/>
              <a:gd name="connsiteY2" fmla="*/ 1138686 h 1256792"/>
              <a:gd name="connsiteX3" fmla="*/ 1168810 w 1168810"/>
              <a:gd name="connsiteY3" fmla="*/ 948905 h 1256792"/>
              <a:gd name="connsiteX0" fmla="*/ 252178 w 1278722"/>
              <a:gd name="connsiteY0" fmla="*/ 0 h 1201708"/>
              <a:gd name="connsiteX1" fmla="*/ 252178 w 1278722"/>
              <a:gd name="connsiteY1" fmla="*/ 431320 h 1201708"/>
              <a:gd name="connsiteX2" fmla="*/ 372948 w 1278722"/>
              <a:gd name="connsiteY2" fmla="*/ 1138686 h 1201708"/>
              <a:gd name="connsiteX3" fmla="*/ 1278722 w 1278722"/>
              <a:gd name="connsiteY3" fmla="*/ 948905 h 1201708"/>
              <a:gd name="connsiteX0" fmla="*/ 77323 w 1103867"/>
              <a:gd name="connsiteY0" fmla="*/ 0 h 1194366"/>
              <a:gd name="connsiteX1" fmla="*/ 77323 w 1103867"/>
              <a:gd name="connsiteY1" fmla="*/ 431320 h 1194366"/>
              <a:gd name="connsiteX2" fmla="*/ 456885 w 1103867"/>
              <a:gd name="connsiteY2" fmla="*/ 1130059 h 1194366"/>
              <a:gd name="connsiteX3" fmla="*/ 1103867 w 1103867"/>
              <a:gd name="connsiteY3" fmla="*/ 948905 h 1194366"/>
              <a:gd name="connsiteX0" fmla="*/ 102447 w 1128991"/>
              <a:gd name="connsiteY0" fmla="*/ 0 h 1194366"/>
              <a:gd name="connsiteX1" fmla="*/ 102447 w 1128991"/>
              <a:gd name="connsiteY1" fmla="*/ 431320 h 1194366"/>
              <a:gd name="connsiteX2" fmla="*/ 482009 w 1128991"/>
              <a:gd name="connsiteY2" fmla="*/ 1130059 h 1194366"/>
              <a:gd name="connsiteX3" fmla="*/ 1128991 w 1128991"/>
              <a:gd name="connsiteY3" fmla="*/ 948905 h 1194366"/>
              <a:gd name="connsiteX0" fmla="*/ 233225 w 1259769"/>
              <a:gd name="connsiteY0" fmla="*/ 0 h 1063493"/>
              <a:gd name="connsiteX1" fmla="*/ 233225 w 1259769"/>
              <a:gd name="connsiteY1" fmla="*/ 431320 h 1063493"/>
              <a:gd name="connsiteX2" fmla="*/ 379874 w 1259769"/>
              <a:gd name="connsiteY2" fmla="*/ 957531 h 1063493"/>
              <a:gd name="connsiteX3" fmla="*/ 1259769 w 1259769"/>
              <a:gd name="connsiteY3" fmla="*/ 948905 h 1063493"/>
              <a:gd name="connsiteX0" fmla="*/ 10863 w 1037407"/>
              <a:gd name="connsiteY0" fmla="*/ 0 h 1014798"/>
              <a:gd name="connsiteX1" fmla="*/ 10863 w 1037407"/>
              <a:gd name="connsiteY1" fmla="*/ 431320 h 1014798"/>
              <a:gd name="connsiteX2" fmla="*/ 157512 w 1037407"/>
              <a:gd name="connsiteY2" fmla="*/ 957531 h 1014798"/>
              <a:gd name="connsiteX3" fmla="*/ 1037407 w 1037407"/>
              <a:gd name="connsiteY3" fmla="*/ 948905 h 1014798"/>
              <a:gd name="connsiteX0" fmla="*/ 62192 w 1088736"/>
              <a:gd name="connsiteY0" fmla="*/ 0 h 984681"/>
              <a:gd name="connsiteX1" fmla="*/ 62192 w 1088736"/>
              <a:gd name="connsiteY1" fmla="*/ 431320 h 984681"/>
              <a:gd name="connsiteX2" fmla="*/ 79445 w 1088736"/>
              <a:gd name="connsiteY2" fmla="*/ 854014 h 984681"/>
              <a:gd name="connsiteX3" fmla="*/ 1088736 w 1088736"/>
              <a:gd name="connsiteY3" fmla="*/ 948905 h 984681"/>
              <a:gd name="connsiteX0" fmla="*/ 51438 w 1077982"/>
              <a:gd name="connsiteY0" fmla="*/ 0 h 987446"/>
              <a:gd name="connsiteX1" fmla="*/ 85944 w 1077982"/>
              <a:gd name="connsiteY1" fmla="*/ 448573 h 987446"/>
              <a:gd name="connsiteX2" fmla="*/ 68691 w 1077982"/>
              <a:gd name="connsiteY2" fmla="*/ 854014 h 987446"/>
              <a:gd name="connsiteX3" fmla="*/ 1077982 w 1077982"/>
              <a:gd name="connsiteY3" fmla="*/ 948905 h 987446"/>
              <a:gd name="connsiteX0" fmla="*/ 56529 w 1152084"/>
              <a:gd name="connsiteY0" fmla="*/ 0 h 927768"/>
              <a:gd name="connsiteX1" fmla="*/ 91035 w 1152084"/>
              <a:gd name="connsiteY1" fmla="*/ 448573 h 927768"/>
              <a:gd name="connsiteX2" fmla="*/ 73782 w 1152084"/>
              <a:gd name="connsiteY2" fmla="*/ 854014 h 927768"/>
              <a:gd name="connsiteX3" fmla="*/ 1152084 w 1152084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113902 w 1209457"/>
              <a:gd name="connsiteY0" fmla="*/ 0 h 920163"/>
              <a:gd name="connsiteX1" fmla="*/ 44891 w 1209457"/>
              <a:gd name="connsiteY1" fmla="*/ 612475 h 920163"/>
              <a:gd name="connsiteX2" fmla="*/ 131155 w 1209457"/>
              <a:gd name="connsiteY2" fmla="*/ 854014 h 920163"/>
              <a:gd name="connsiteX3" fmla="*/ 1209457 w 1209457"/>
              <a:gd name="connsiteY3" fmla="*/ 871267 h 920163"/>
              <a:gd name="connsiteX0" fmla="*/ 71463 w 1167018"/>
              <a:gd name="connsiteY0" fmla="*/ 0 h 1036809"/>
              <a:gd name="connsiteX1" fmla="*/ 2452 w 1167018"/>
              <a:gd name="connsiteY1" fmla="*/ 612475 h 1036809"/>
              <a:gd name="connsiteX2" fmla="*/ 140474 w 1167018"/>
              <a:gd name="connsiteY2" fmla="*/ 1026542 h 1036809"/>
              <a:gd name="connsiteX3" fmla="*/ 1167018 w 1167018"/>
              <a:gd name="connsiteY3" fmla="*/ 871267 h 1036809"/>
              <a:gd name="connsiteX0" fmla="*/ 82883 w 1178438"/>
              <a:gd name="connsiteY0" fmla="*/ 0 h 1036809"/>
              <a:gd name="connsiteX1" fmla="*/ 13872 w 1178438"/>
              <a:gd name="connsiteY1" fmla="*/ 612475 h 1036809"/>
              <a:gd name="connsiteX2" fmla="*/ 151894 w 1178438"/>
              <a:gd name="connsiteY2" fmla="*/ 1026542 h 1036809"/>
              <a:gd name="connsiteX3" fmla="*/ 1178438 w 1178438"/>
              <a:gd name="connsiteY3" fmla="*/ 871267 h 1036809"/>
              <a:gd name="connsiteX0" fmla="*/ 72919 w 1168474"/>
              <a:gd name="connsiteY0" fmla="*/ 0 h 899716"/>
              <a:gd name="connsiteX1" fmla="*/ 3908 w 1168474"/>
              <a:gd name="connsiteY1" fmla="*/ 612475 h 899716"/>
              <a:gd name="connsiteX2" fmla="*/ 222278 w 1168474"/>
              <a:gd name="connsiteY2" fmla="*/ 743777 h 899716"/>
              <a:gd name="connsiteX3" fmla="*/ 1168474 w 1168474"/>
              <a:gd name="connsiteY3" fmla="*/ 871267 h 899716"/>
              <a:gd name="connsiteX0" fmla="*/ 14793 w 1110348"/>
              <a:gd name="connsiteY0" fmla="*/ 0 h 902295"/>
              <a:gd name="connsiteX1" fmla="*/ 8275 w 1110348"/>
              <a:gd name="connsiteY1" fmla="*/ 471092 h 902295"/>
              <a:gd name="connsiteX2" fmla="*/ 164152 w 1110348"/>
              <a:gd name="connsiteY2" fmla="*/ 743777 h 902295"/>
              <a:gd name="connsiteX3" fmla="*/ 1110348 w 1110348"/>
              <a:gd name="connsiteY3" fmla="*/ 871267 h 902295"/>
              <a:gd name="connsiteX0" fmla="*/ 14793 w 1172840"/>
              <a:gd name="connsiteY0" fmla="*/ 0 h 1055756"/>
              <a:gd name="connsiteX1" fmla="*/ 8275 w 1172840"/>
              <a:gd name="connsiteY1" fmla="*/ 471092 h 1055756"/>
              <a:gd name="connsiteX2" fmla="*/ 164152 w 1172840"/>
              <a:gd name="connsiteY2" fmla="*/ 743777 h 1055756"/>
              <a:gd name="connsiteX3" fmla="*/ 1172840 w 1172840"/>
              <a:gd name="connsiteY3" fmla="*/ 1036212 h 1055756"/>
              <a:gd name="connsiteX0" fmla="*/ 14793 w 1172840"/>
              <a:gd name="connsiteY0" fmla="*/ 0 h 1036211"/>
              <a:gd name="connsiteX1" fmla="*/ 8275 w 1172840"/>
              <a:gd name="connsiteY1" fmla="*/ 471092 h 1036211"/>
              <a:gd name="connsiteX2" fmla="*/ 164152 w 1172840"/>
              <a:gd name="connsiteY2" fmla="*/ 743777 h 1036211"/>
              <a:gd name="connsiteX3" fmla="*/ 1172840 w 1172840"/>
              <a:gd name="connsiteY3" fmla="*/ 1036212 h 1036211"/>
              <a:gd name="connsiteX0" fmla="*/ 0 w 1158047"/>
              <a:gd name="connsiteY0" fmla="*/ 0 h 1036212"/>
              <a:gd name="connsiteX1" fmla="*/ 149359 w 1158047"/>
              <a:gd name="connsiteY1" fmla="*/ 743777 h 1036212"/>
              <a:gd name="connsiteX2" fmla="*/ 1158047 w 1158047"/>
              <a:gd name="connsiteY2" fmla="*/ 1036212 h 1036212"/>
              <a:gd name="connsiteX0" fmla="*/ 0 w 1158047"/>
              <a:gd name="connsiteY0" fmla="*/ 0 h 1036212"/>
              <a:gd name="connsiteX1" fmla="*/ 122577 w 1158047"/>
              <a:gd name="connsiteY1" fmla="*/ 543484 h 1036212"/>
              <a:gd name="connsiteX2" fmla="*/ 1158047 w 1158047"/>
              <a:gd name="connsiteY2" fmla="*/ 1036212 h 1036212"/>
              <a:gd name="connsiteX0" fmla="*/ 3244 w 1161291"/>
              <a:gd name="connsiteY0" fmla="*/ 0 h 1036212"/>
              <a:gd name="connsiteX1" fmla="*/ 125821 w 1161291"/>
              <a:gd name="connsiteY1" fmla="*/ 543484 h 1036212"/>
              <a:gd name="connsiteX2" fmla="*/ 1161291 w 1161291"/>
              <a:gd name="connsiteY2" fmla="*/ 1036212 h 1036212"/>
              <a:gd name="connsiteX0" fmla="*/ 13940 w 1171987"/>
              <a:gd name="connsiteY0" fmla="*/ 0 h 1036212"/>
              <a:gd name="connsiteX1" fmla="*/ 136517 w 1171987"/>
              <a:gd name="connsiteY1" fmla="*/ 543484 h 1036212"/>
              <a:gd name="connsiteX2" fmla="*/ 1171987 w 1171987"/>
              <a:gd name="connsiteY2" fmla="*/ 1036212 h 1036212"/>
              <a:gd name="connsiteX0" fmla="*/ 17626 w 1175673"/>
              <a:gd name="connsiteY0" fmla="*/ 0 h 1036212"/>
              <a:gd name="connsiteX1" fmla="*/ 140203 w 1175673"/>
              <a:gd name="connsiteY1" fmla="*/ 543484 h 1036212"/>
              <a:gd name="connsiteX2" fmla="*/ 1175673 w 1175673"/>
              <a:gd name="connsiteY2" fmla="*/ 1036212 h 1036212"/>
              <a:gd name="connsiteX0" fmla="*/ 411 w 1158458"/>
              <a:gd name="connsiteY0" fmla="*/ 0 h 1036212"/>
              <a:gd name="connsiteX1" fmla="*/ 230119 w 1158458"/>
              <a:gd name="connsiteY1" fmla="*/ 779123 h 1036212"/>
              <a:gd name="connsiteX2" fmla="*/ 1158458 w 1158458"/>
              <a:gd name="connsiteY2" fmla="*/ 1036212 h 1036212"/>
              <a:gd name="connsiteX0" fmla="*/ 897 w 1158944"/>
              <a:gd name="connsiteY0" fmla="*/ 0 h 1036212"/>
              <a:gd name="connsiteX1" fmla="*/ 230605 w 1158944"/>
              <a:gd name="connsiteY1" fmla="*/ 779123 h 1036212"/>
              <a:gd name="connsiteX2" fmla="*/ 1158944 w 1158944"/>
              <a:gd name="connsiteY2" fmla="*/ 1036212 h 1036212"/>
              <a:gd name="connsiteX0" fmla="*/ 21303 w 1179350"/>
              <a:gd name="connsiteY0" fmla="*/ 0 h 1041375"/>
              <a:gd name="connsiteX1" fmla="*/ 156181 w 1179350"/>
              <a:gd name="connsiteY1" fmla="*/ 858141 h 1041375"/>
              <a:gd name="connsiteX2" fmla="*/ 1179350 w 1179350"/>
              <a:gd name="connsiteY2" fmla="*/ 1036212 h 104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79350" h="1041375">
                <a:moveTo>
                  <a:pt x="21303" y="0"/>
                </a:moveTo>
                <a:cubicBezTo>
                  <a:pt x="16710" y="378811"/>
                  <a:pt x="-73623" y="563661"/>
                  <a:pt x="156181" y="858141"/>
                </a:cubicBezTo>
                <a:cubicBezTo>
                  <a:pt x="385985" y="1152621"/>
                  <a:pt x="669954" y="992595"/>
                  <a:pt x="1179350" y="1036212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1" name="Freeform: Shape 50"/>
          <p:cNvSpPr/>
          <p:nvPr/>
        </p:nvSpPr>
        <p:spPr>
          <a:xfrm flipV="1">
            <a:off x="2581023" y="3388466"/>
            <a:ext cx="1778712" cy="408187"/>
          </a:xfrm>
          <a:custGeom>
            <a:avLst/>
            <a:gdLst>
              <a:gd name="connsiteX0" fmla="*/ 207034 w 1233578"/>
              <a:gd name="connsiteY0" fmla="*/ 0 h 1457864"/>
              <a:gd name="connsiteX1" fmla="*/ 207034 w 1233578"/>
              <a:gd name="connsiteY1" fmla="*/ 431320 h 1457864"/>
              <a:gd name="connsiteX2" fmla="*/ 0 w 1233578"/>
              <a:gd name="connsiteY2" fmla="*/ 1242203 h 1457864"/>
              <a:gd name="connsiteX3" fmla="*/ 465827 w 1233578"/>
              <a:gd name="connsiteY3" fmla="*/ 1457864 h 1457864"/>
              <a:gd name="connsiteX4" fmla="*/ 1233578 w 1233578"/>
              <a:gd name="connsiteY4" fmla="*/ 948905 h 1457864"/>
              <a:gd name="connsiteX0" fmla="*/ 212711 w 1239255"/>
              <a:gd name="connsiteY0" fmla="*/ 0 h 1457864"/>
              <a:gd name="connsiteX1" fmla="*/ 212711 w 1239255"/>
              <a:gd name="connsiteY1" fmla="*/ 431320 h 1457864"/>
              <a:gd name="connsiteX2" fmla="*/ 5677 w 1239255"/>
              <a:gd name="connsiteY2" fmla="*/ 1242203 h 1457864"/>
              <a:gd name="connsiteX3" fmla="*/ 471504 w 1239255"/>
              <a:gd name="connsiteY3" fmla="*/ 1457864 h 1457864"/>
              <a:gd name="connsiteX4" fmla="*/ 1239255 w 1239255"/>
              <a:gd name="connsiteY4" fmla="*/ 948905 h 1457864"/>
              <a:gd name="connsiteX0" fmla="*/ 248549 w 1275093"/>
              <a:gd name="connsiteY0" fmla="*/ 0 h 1457864"/>
              <a:gd name="connsiteX1" fmla="*/ 248549 w 1275093"/>
              <a:gd name="connsiteY1" fmla="*/ 431320 h 1457864"/>
              <a:gd name="connsiteX2" fmla="*/ 41515 w 1275093"/>
              <a:gd name="connsiteY2" fmla="*/ 1242203 h 1457864"/>
              <a:gd name="connsiteX3" fmla="*/ 507342 w 1275093"/>
              <a:gd name="connsiteY3" fmla="*/ 1457864 h 1457864"/>
              <a:gd name="connsiteX4" fmla="*/ 1275093 w 1275093"/>
              <a:gd name="connsiteY4" fmla="*/ 948905 h 1457864"/>
              <a:gd name="connsiteX0" fmla="*/ 248549 w 1275093"/>
              <a:gd name="connsiteY0" fmla="*/ 0 h 1466213"/>
              <a:gd name="connsiteX1" fmla="*/ 248549 w 1275093"/>
              <a:gd name="connsiteY1" fmla="*/ 431320 h 1466213"/>
              <a:gd name="connsiteX2" fmla="*/ 41515 w 1275093"/>
              <a:gd name="connsiteY2" fmla="*/ 1242203 h 1466213"/>
              <a:gd name="connsiteX3" fmla="*/ 507342 w 1275093"/>
              <a:gd name="connsiteY3" fmla="*/ 1457864 h 1466213"/>
              <a:gd name="connsiteX4" fmla="*/ 1275093 w 1275093"/>
              <a:gd name="connsiteY4" fmla="*/ 948905 h 1466213"/>
              <a:gd name="connsiteX0" fmla="*/ 248549 w 1275093"/>
              <a:gd name="connsiteY0" fmla="*/ 0 h 1242203"/>
              <a:gd name="connsiteX1" fmla="*/ 248549 w 1275093"/>
              <a:gd name="connsiteY1" fmla="*/ 431320 h 1242203"/>
              <a:gd name="connsiteX2" fmla="*/ 41515 w 1275093"/>
              <a:gd name="connsiteY2" fmla="*/ 1242203 h 1242203"/>
              <a:gd name="connsiteX3" fmla="*/ 1275093 w 1275093"/>
              <a:gd name="connsiteY3" fmla="*/ 948905 h 1242203"/>
              <a:gd name="connsiteX0" fmla="*/ 353139 w 1379683"/>
              <a:gd name="connsiteY0" fmla="*/ 0 h 1251491"/>
              <a:gd name="connsiteX1" fmla="*/ 353139 w 1379683"/>
              <a:gd name="connsiteY1" fmla="*/ 431320 h 1251491"/>
              <a:gd name="connsiteX2" fmla="*/ 146105 w 1379683"/>
              <a:gd name="connsiteY2" fmla="*/ 1242203 h 1251491"/>
              <a:gd name="connsiteX3" fmla="*/ 1379683 w 1379683"/>
              <a:gd name="connsiteY3" fmla="*/ 948905 h 1251491"/>
              <a:gd name="connsiteX0" fmla="*/ 401316 w 1427860"/>
              <a:gd name="connsiteY0" fmla="*/ 0 h 1344141"/>
              <a:gd name="connsiteX1" fmla="*/ 401316 w 1427860"/>
              <a:gd name="connsiteY1" fmla="*/ 431320 h 1344141"/>
              <a:gd name="connsiteX2" fmla="*/ 194282 w 1427860"/>
              <a:gd name="connsiteY2" fmla="*/ 1242203 h 1344141"/>
              <a:gd name="connsiteX3" fmla="*/ 1427860 w 1427860"/>
              <a:gd name="connsiteY3" fmla="*/ 948905 h 1344141"/>
              <a:gd name="connsiteX0" fmla="*/ 142266 w 1168810"/>
              <a:gd name="connsiteY0" fmla="*/ 0 h 1256792"/>
              <a:gd name="connsiteX1" fmla="*/ 142266 w 1168810"/>
              <a:gd name="connsiteY1" fmla="*/ 431320 h 1256792"/>
              <a:gd name="connsiteX2" fmla="*/ 263036 w 1168810"/>
              <a:gd name="connsiteY2" fmla="*/ 1138686 h 1256792"/>
              <a:gd name="connsiteX3" fmla="*/ 1168810 w 1168810"/>
              <a:gd name="connsiteY3" fmla="*/ 948905 h 1256792"/>
              <a:gd name="connsiteX0" fmla="*/ 252178 w 1278722"/>
              <a:gd name="connsiteY0" fmla="*/ 0 h 1201708"/>
              <a:gd name="connsiteX1" fmla="*/ 252178 w 1278722"/>
              <a:gd name="connsiteY1" fmla="*/ 431320 h 1201708"/>
              <a:gd name="connsiteX2" fmla="*/ 372948 w 1278722"/>
              <a:gd name="connsiteY2" fmla="*/ 1138686 h 1201708"/>
              <a:gd name="connsiteX3" fmla="*/ 1278722 w 1278722"/>
              <a:gd name="connsiteY3" fmla="*/ 948905 h 1201708"/>
              <a:gd name="connsiteX0" fmla="*/ 77323 w 1103867"/>
              <a:gd name="connsiteY0" fmla="*/ 0 h 1194366"/>
              <a:gd name="connsiteX1" fmla="*/ 77323 w 1103867"/>
              <a:gd name="connsiteY1" fmla="*/ 431320 h 1194366"/>
              <a:gd name="connsiteX2" fmla="*/ 456885 w 1103867"/>
              <a:gd name="connsiteY2" fmla="*/ 1130059 h 1194366"/>
              <a:gd name="connsiteX3" fmla="*/ 1103867 w 1103867"/>
              <a:gd name="connsiteY3" fmla="*/ 948905 h 1194366"/>
              <a:gd name="connsiteX0" fmla="*/ 102447 w 1128991"/>
              <a:gd name="connsiteY0" fmla="*/ 0 h 1194366"/>
              <a:gd name="connsiteX1" fmla="*/ 102447 w 1128991"/>
              <a:gd name="connsiteY1" fmla="*/ 431320 h 1194366"/>
              <a:gd name="connsiteX2" fmla="*/ 482009 w 1128991"/>
              <a:gd name="connsiteY2" fmla="*/ 1130059 h 1194366"/>
              <a:gd name="connsiteX3" fmla="*/ 1128991 w 1128991"/>
              <a:gd name="connsiteY3" fmla="*/ 948905 h 1194366"/>
              <a:gd name="connsiteX0" fmla="*/ 233225 w 1259769"/>
              <a:gd name="connsiteY0" fmla="*/ 0 h 1063493"/>
              <a:gd name="connsiteX1" fmla="*/ 233225 w 1259769"/>
              <a:gd name="connsiteY1" fmla="*/ 431320 h 1063493"/>
              <a:gd name="connsiteX2" fmla="*/ 379874 w 1259769"/>
              <a:gd name="connsiteY2" fmla="*/ 957531 h 1063493"/>
              <a:gd name="connsiteX3" fmla="*/ 1259769 w 1259769"/>
              <a:gd name="connsiteY3" fmla="*/ 948905 h 1063493"/>
              <a:gd name="connsiteX0" fmla="*/ 10863 w 1037407"/>
              <a:gd name="connsiteY0" fmla="*/ 0 h 1014798"/>
              <a:gd name="connsiteX1" fmla="*/ 10863 w 1037407"/>
              <a:gd name="connsiteY1" fmla="*/ 431320 h 1014798"/>
              <a:gd name="connsiteX2" fmla="*/ 157512 w 1037407"/>
              <a:gd name="connsiteY2" fmla="*/ 957531 h 1014798"/>
              <a:gd name="connsiteX3" fmla="*/ 1037407 w 1037407"/>
              <a:gd name="connsiteY3" fmla="*/ 948905 h 1014798"/>
              <a:gd name="connsiteX0" fmla="*/ 62192 w 1088736"/>
              <a:gd name="connsiteY0" fmla="*/ 0 h 984681"/>
              <a:gd name="connsiteX1" fmla="*/ 62192 w 1088736"/>
              <a:gd name="connsiteY1" fmla="*/ 431320 h 984681"/>
              <a:gd name="connsiteX2" fmla="*/ 79445 w 1088736"/>
              <a:gd name="connsiteY2" fmla="*/ 854014 h 984681"/>
              <a:gd name="connsiteX3" fmla="*/ 1088736 w 1088736"/>
              <a:gd name="connsiteY3" fmla="*/ 948905 h 984681"/>
              <a:gd name="connsiteX0" fmla="*/ 51438 w 1077982"/>
              <a:gd name="connsiteY0" fmla="*/ 0 h 987446"/>
              <a:gd name="connsiteX1" fmla="*/ 85944 w 1077982"/>
              <a:gd name="connsiteY1" fmla="*/ 448573 h 987446"/>
              <a:gd name="connsiteX2" fmla="*/ 68691 w 1077982"/>
              <a:gd name="connsiteY2" fmla="*/ 854014 h 987446"/>
              <a:gd name="connsiteX3" fmla="*/ 1077982 w 1077982"/>
              <a:gd name="connsiteY3" fmla="*/ 948905 h 987446"/>
              <a:gd name="connsiteX0" fmla="*/ 56529 w 1152084"/>
              <a:gd name="connsiteY0" fmla="*/ 0 h 927768"/>
              <a:gd name="connsiteX1" fmla="*/ 91035 w 1152084"/>
              <a:gd name="connsiteY1" fmla="*/ 448573 h 927768"/>
              <a:gd name="connsiteX2" fmla="*/ 73782 w 1152084"/>
              <a:gd name="connsiteY2" fmla="*/ 854014 h 927768"/>
              <a:gd name="connsiteX3" fmla="*/ 1152084 w 1152084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65953 w 1161508"/>
              <a:gd name="connsiteY0" fmla="*/ 0 h 927768"/>
              <a:gd name="connsiteX1" fmla="*/ 100459 w 1161508"/>
              <a:gd name="connsiteY1" fmla="*/ 448573 h 927768"/>
              <a:gd name="connsiteX2" fmla="*/ 83206 w 1161508"/>
              <a:gd name="connsiteY2" fmla="*/ 854014 h 927768"/>
              <a:gd name="connsiteX3" fmla="*/ 1161508 w 1161508"/>
              <a:gd name="connsiteY3" fmla="*/ 871267 h 927768"/>
              <a:gd name="connsiteX0" fmla="*/ 113902 w 1209457"/>
              <a:gd name="connsiteY0" fmla="*/ 0 h 920163"/>
              <a:gd name="connsiteX1" fmla="*/ 44891 w 1209457"/>
              <a:gd name="connsiteY1" fmla="*/ 612475 h 920163"/>
              <a:gd name="connsiteX2" fmla="*/ 131155 w 1209457"/>
              <a:gd name="connsiteY2" fmla="*/ 854014 h 920163"/>
              <a:gd name="connsiteX3" fmla="*/ 1209457 w 1209457"/>
              <a:gd name="connsiteY3" fmla="*/ 871267 h 920163"/>
              <a:gd name="connsiteX0" fmla="*/ 71463 w 1167018"/>
              <a:gd name="connsiteY0" fmla="*/ 0 h 1036809"/>
              <a:gd name="connsiteX1" fmla="*/ 2452 w 1167018"/>
              <a:gd name="connsiteY1" fmla="*/ 612475 h 1036809"/>
              <a:gd name="connsiteX2" fmla="*/ 140474 w 1167018"/>
              <a:gd name="connsiteY2" fmla="*/ 1026542 h 1036809"/>
              <a:gd name="connsiteX3" fmla="*/ 1167018 w 1167018"/>
              <a:gd name="connsiteY3" fmla="*/ 871267 h 1036809"/>
              <a:gd name="connsiteX0" fmla="*/ 82883 w 1178438"/>
              <a:gd name="connsiteY0" fmla="*/ 0 h 1036809"/>
              <a:gd name="connsiteX1" fmla="*/ 13872 w 1178438"/>
              <a:gd name="connsiteY1" fmla="*/ 612475 h 1036809"/>
              <a:gd name="connsiteX2" fmla="*/ 151894 w 1178438"/>
              <a:gd name="connsiteY2" fmla="*/ 1026542 h 1036809"/>
              <a:gd name="connsiteX3" fmla="*/ 1178438 w 1178438"/>
              <a:gd name="connsiteY3" fmla="*/ 871267 h 1036809"/>
              <a:gd name="connsiteX0" fmla="*/ 72919 w 1168474"/>
              <a:gd name="connsiteY0" fmla="*/ 0 h 899716"/>
              <a:gd name="connsiteX1" fmla="*/ 3908 w 1168474"/>
              <a:gd name="connsiteY1" fmla="*/ 612475 h 899716"/>
              <a:gd name="connsiteX2" fmla="*/ 222278 w 1168474"/>
              <a:gd name="connsiteY2" fmla="*/ 743777 h 899716"/>
              <a:gd name="connsiteX3" fmla="*/ 1168474 w 1168474"/>
              <a:gd name="connsiteY3" fmla="*/ 871267 h 899716"/>
              <a:gd name="connsiteX0" fmla="*/ 14793 w 1110348"/>
              <a:gd name="connsiteY0" fmla="*/ 0 h 902295"/>
              <a:gd name="connsiteX1" fmla="*/ 8275 w 1110348"/>
              <a:gd name="connsiteY1" fmla="*/ 471092 h 902295"/>
              <a:gd name="connsiteX2" fmla="*/ 164152 w 1110348"/>
              <a:gd name="connsiteY2" fmla="*/ 743777 h 902295"/>
              <a:gd name="connsiteX3" fmla="*/ 1110348 w 1110348"/>
              <a:gd name="connsiteY3" fmla="*/ 871267 h 902295"/>
              <a:gd name="connsiteX0" fmla="*/ 14793 w 1172840"/>
              <a:gd name="connsiteY0" fmla="*/ 0 h 1055756"/>
              <a:gd name="connsiteX1" fmla="*/ 8275 w 1172840"/>
              <a:gd name="connsiteY1" fmla="*/ 471092 h 1055756"/>
              <a:gd name="connsiteX2" fmla="*/ 164152 w 1172840"/>
              <a:gd name="connsiteY2" fmla="*/ 743777 h 1055756"/>
              <a:gd name="connsiteX3" fmla="*/ 1172840 w 1172840"/>
              <a:gd name="connsiteY3" fmla="*/ 1036212 h 1055756"/>
              <a:gd name="connsiteX0" fmla="*/ 14793 w 1172840"/>
              <a:gd name="connsiteY0" fmla="*/ 0 h 1036211"/>
              <a:gd name="connsiteX1" fmla="*/ 8275 w 1172840"/>
              <a:gd name="connsiteY1" fmla="*/ 471092 h 1036211"/>
              <a:gd name="connsiteX2" fmla="*/ 164152 w 1172840"/>
              <a:gd name="connsiteY2" fmla="*/ 743777 h 1036211"/>
              <a:gd name="connsiteX3" fmla="*/ 1172840 w 1172840"/>
              <a:gd name="connsiteY3" fmla="*/ 1036212 h 1036211"/>
              <a:gd name="connsiteX0" fmla="*/ 0 w 1158047"/>
              <a:gd name="connsiteY0" fmla="*/ 0 h 1036212"/>
              <a:gd name="connsiteX1" fmla="*/ 149359 w 1158047"/>
              <a:gd name="connsiteY1" fmla="*/ 743777 h 1036212"/>
              <a:gd name="connsiteX2" fmla="*/ 1158047 w 1158047"/>
              <a:gd name="connsiteY2" fmla="*/ 1036212 h 1036212"/>
              <a:gd name="connsiteX0" fmla="*/ 0 w 1158047"/>
              <a:gd name="connsiteY0" fmla="*/ 0 h 1036212"/>
              <a:gd name="connsiteX1" fmla="*/ 122577 w 1158047"/>
              <a:gd name="connsiteY1" fmla="*/ 543484 h 1036212"/>
              <a:gd name="connsiteX2" fmla="*/ 1158047 w 1158047"/>
              <a:gd name="connsiteY2" fmla="*/ 1036212 h 1036212"/>
              <a:gd name="connsiteX0" fmla="*/ 3244 w 1161291"/>
              <a:gd name="connsiteY0" fmla="*/ 0 h 1036212"/>
              <a:gd name="connsiteX1" fmla="*/ 125821 w 1161291"/>
              <a:gd name="connsiteY1" fmla="*/ 543484 h 1036212"/>
              <a:gd name="connsiteX2" fmla="*/ 1161291 w 1161291"/>
              <a:gd name="connsiteY2" fmla="*/ 1036212 h 1036212"/>
              <a:gd name="connsiteX0" fmla="*/ 13940 w 1171987"/>
              <a:gd name="connsiteY0" fmla="*/ 0 h 1036212"/>
              <a:gd name="connsiteX1" fmla="*/ 136517 w 1171987"/>
              <a:gd name="connsiteY1" fmla="*/ 543484 h 1036212"/>
              <a:gd name="connsiteX2" fmla="*/ 1171987 w 1171987"/>
              <a:gd name="connsiteY2" fmla="*/ 1036212 h 1036212"/>
              <a:gd name="connsiteX0" fmla="*/ 17626 w 1175673"/>
              <a:gd name="connsiteY0" fmla="*/ 0 h 1036212"/>
              <a:gd name="connsiteX1" fmla="*/ 140203 w 1175673"/>
              <a:gd name="connsiteY1" fmla="*/ 543484 h 1036212"/>
              <a:gd name="connsiteX2" fmla="*/ 1175673 w 1175673"/>
              <a:gd name="connsiteY2" fmla="*/ 1036212 h 1036212"/>
              <a:gd name="connsiteX0" fmla="*/ 411 w 1158458"/>
              <a:gd name="connsiteY0" fmla="*/ 0 h 1036212"/>
              <a:gd name="connsiteX1" fmla="*/ 230119 w 1158458"/>
              <a:gd name="connsiteY1" fmla="*/ 779123 h 1036212"/>
              <a:gd name="connsiteX2" fmla="*/ 1158458 w 1158458"/>
              <a:gd name="connsiteY2" fmla="*/ 1036212 h 1036212"/>
              <a:gd name="connsiteX0" fmla="*/ 897 w 1158944"/>
              <a:gd name="connsiteY0" fmla="*/ 0 h 1036212"/>
              <a:gd name="connsiteX1" fmla="*/ 230605 w 1158944"/>
              <a:gd name="connsiteY1" fmla="*/ 779123 h 1036212"/>
              <a:gd name="connsiteX2" fmla="*/ 1158944 w 1158944"/>
              <a:gd name="connsiteY2" fmla="*/ 1036212 h 1036212"/>
              <a:gd name="connsiteX0" fmla="*/ 21303 w 1179350"/>
              <a:gd name="connsiteY0" fmla="*/ 0 h 1041375"/>
              <a:gd name="connsiteX1" fmla="*/ 156181 w 1179350"/>
              <a:gd name="connsiteY1" fmla="*/ 858141 h 1041375"/>
              <a:gd name="connsiteX2" fmla="*/ 1179350 w 1179350"/>
              <a:gd name="connsiteY2" fmla="*/ 1036212 h 1041375"/>
              <a:gd name="connsiteX0" fmla="*/ 10651 w 1178180"/>
              <a:gd name="connsiteY0" fmla="*/ 0 h 1388283"/>
              <a:gd name="connsiteX1" fmla="*/ 145529 w 1178180"/>
              <a:gd name="connsiteY1" fmla="*/ 858141 h 1388283"/>
              <a:gd name="connsiteX2" fmla="*/ 1178181 w 1178180"/>
              <a:gd name="connsiteY2" fmla="*/ 1388283 h 1388283"/>
              <a:gd name="connsiteX0" fmla="*/ 738 w 1168268"/>
              <a:gd name="connsiteY0" fmla="*/ 0 h 1388283"/>
              <a:gd name="connsiteX1" fmla="*/ 201996 w 1168268"/>
              <a:gd name="connsiteY1" fmla="*/ 1034175 h 1388283"/>
              <a:gd name="connsiteX2" fmla="*/ 1168268 w 1168268"/>
              <a:gd name="connsiteY2" fmla="*/ 1388283 h 138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8268" h="1388283">
                <a:moveTo>
                  <a:pt x="738" y="0"/>
                </a:moveTo>
                <a:cubicBezTo>
                  <a:pt x="-3855" y="378811"/>
                  <a:pt x="7408" y="802795"/>
                  <a:pt x="201996" y="1034175"/>
                </a:cubicBezTo>
                <a:cubicBezTo>
                  <a:pt x="396584" y="1265556"/>
                  <a:pt x="658872" y="1344666"/>
                  <a:pt x="1168268" y="1388283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4326569" y="2329365"/>
            <a:ext cx="2121641" cy="190870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It may seem obvious, but this means that what is in each of the two boxes are the same size.</a:t>
            </a:r>
          </a:p>
        </p:txBody>
      </p:sp>
      <p:sp>
        <p:nvSpPr>
          <p:cNvPr id="54" name="Oval 53"/>
          <p:cNvSpPr/>
          <p:nvPr/>
        </p:nvSpPr>
        <p:spPr>
          <a:xfrm>
            <a:off x="3229002" y="2877017"/>
            <a:ext cx="362310" cy="3623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b="1" dirty="0"/>
              <a:t>−5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7419" y="1248534"/>
            <a:ext cx="8435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Let’s use the first of these equations to look at a methodical approach that will work when the going gets a little more tough…</a:t>
            </a:r>
          </a:p>
        </p:txBody>
      </p:sp>
      <p:sp>
        <p:nvSpPr>
          <p:cNvPr id="61" name="Oval 60"/>
          <p:cNvSpPr/>
          <p:nvPr/>
        </p:nvSpPr>
        <p:spPr>
          <a:xfrm>
            <a:off x="3337752" y="4271275"/>
            <a:ext cx="2674259" cy="190870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Now try this method on at least three of the equations you did a moment ago.  Make sure you get the same solution.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-924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Equations </a:t>
            </a:r>
            <a:r>
              <a:rPr lang="en-US" b="1">
                <a:latin typeface="+mn-lt"/>
              </a:rPr>
              <a:t>with unknowns on both sides</a:t>
            </a:r>
          </a:p>
        </p:txBody>
      </p:sp>
    </p:spTree>
    <p:extLst>
      <p:ext uri="{BB962C8B-B14F-4D97-AF65-F5344CB8AC3E}">
        <p14:creationId xmlns:p14="http://schemas.microsoft.com/office/powerpoint/2010/main" val="105302979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44444E-6 L 0.09653 4.44444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26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43" grpId="0"/>
      <p:bldP spid="48" grpId="0" animBg="1"/>
      <p:bldP spid="21" grpId="0" animBg="1"/>
      <p:bldP spid="56" grpId="0" animBg="1"/>
      <p:bldP spid="57" grpId="0" animBg="1"/>
      <p:bldP spid="58" grpId="0" animBg="1"/>
      <p:bldP spid="27" grpId="0" animBg="1"/>
      <p:bldP spid="28" grpId="0"/>
      <p:bldP spid="29" grpId="0" animBg="1"/>
      <p:bldP spid="30" grpId="0"/>
      <p:bldP spid="33" grpId="0" animBg="1"/>
      <p:bldP spid="34" grpId="0" animBg="1"/>
      <p:bldP spid="35" grpId="0" animBg="1"/>
      <p:bldP spid="37" grpId="0" animBg="1"/>
      <p:bldP spid="38" grpId="0"/>
      <p:bldP spid="26" grpId="0" animBg="1"/>
      <p:bldP spid="46" grpId="0" animBg="1"/>
      <p:bldP spid="51" grpId="0" animBg="1"/>
      <p:bldP spid="54" grpId="0" animBg="1"/>
      <p:bldP spid="53" grpId="0"/>
      <p:bldP spid="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396875" y="1682750"/>
            <a:ext cx="8118475" cy="4494213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2x + 12 = 7x + 2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25" y="2111375"/>
            <a:ext cx="67552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- 2x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5025" y="2120900"/>
            <a:ext cx="67552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- 2x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12900" y="3168650"/>
            <a:ext cx="53111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- 2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7175" y="3178175"/>
            <a:ext cx="53111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- 2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43050" y="4130675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5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24075" y="4124325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5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9875" y="2762250"/>
            <a:ext cx="1831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 12 = 5x + 2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69013" y="3641209"/>
            <a:ext cx="13131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 10 = 5x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53163" y="4587359"/>
            <a:ext cx="9445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 2 = x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-477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Example 1 – copy on sheet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9" grpId="0"/>
      <p:bldP spid="40" grpId="0"/>
      <p:bldP spid="41" grpId="0"/>
      <p:bldP spid="42" grpId="0"/>
      <p:bldP spid="44" grpId="0"/>
      <p:bldP spid="23" grpId="0"/>
      <p:bldP spid="4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396875" y="1682750"/>
            <a:ext cx="8118475" cy="44942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2)   7x + 8 = 9x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125" y="2111375"/>
            <a:ext cx="67552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- 7x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2150" y="2120900"/>
            <a:ext cx="67552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- 7x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3130550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0575" y="3124200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1388" y="2672834"/>
            <a:ext cx="11265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 8 = 2x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84888" y="3609459"/>
            <a:ext cx="9445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 4 = x </a:t>
            </a:r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0" y="-477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Example 2 - copy on sheet</a:t>
            </a:r>
          </a:p>
        </p:txBody>
      </p:sp>
    </p:spTree>
    <p:extLst>
      <p:ext uri="{BB962C8B-B14F-4D97-AF65-F5344CB8AC3E}">
        <p14:creationId xmlns:p14="http://schemas.microsoft.com/office/powerpoint/2010/main" val="280093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5458-7CD3-AE25-2506-91D5CC4DC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Choral response </a:t>
            </a:r>
            <a:endParaRPr lang="en-AU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0BC06-E9DD-6B8C-BD16-CC65C9F80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1825625"/>
            <a:ext cx="90653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</a:t>
            </a:r>
            <a:r>
              <a:rPr lang="en-US" sz="3200" b="1" i="1" u="sng" dirty="0">
                <a:solidFill>
                  <a:schemeClr val="bg1"/>
                </a:solidFill>
              </a:rPr>
              <a:t>leading</a:t>
            </a:r>
            <a:r>
              <a:rPr lang="en-US" sz="3200" b="1" dirty="0">
                <a:solidFill>
                  <a:schemeClr val="bg1"/>
                </a:solidFill>
              </a:rPr>
              <a:t> term multiplies to </a:t>
            </a:r>
            <a:r>
              <a:rPr lang="en-US" sz="3200" b="1" i="1" u="sng" dirty="0">
                <a:solidFill>
                  <a:schemeClr val="bg1"/>
                </a:solidFill>
              </a:rPr>
              <a:t>everything</a:t>
            </a:r>
            <a:r>
              <a:rPr lang="en-US" sz="3200" b="1" dirty="0">
                <a:solidFill>
                  <a:schemeClr val="bg1"/>
                </a:solidFill>
              </a:rPr>
              <a:t> inside the brackets.</a:t>
            </a:r>
          </a:p>
          <a:p>
            <a:pPr marL="0" indent="0">
              <a:buNone/>
            </a:pPr>
            <a:endParaRPr lang="en-US" sz="3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______ term multiplies to </a:t>
            </a:r>
            <a:r>
              <a:rPr lang="en-US" sz="3200" b="1" i="1" u="sng" dirty="0">
                <a:solidFill>
                  <a:schemeClr val="bg1"/>
                </a:solidFill>
              </a:rPr>
              <a:t>everything</a:t>
            </a:r>
            <a:r>
              <a:rPr lang="en-US" sz="3200" b="1" dirty="0">
                <a:solidFill>
                  <a:schemeClr val="bg1"/>
                </a:solidFill>
              </a:rPr>
              <a:t> inside the brackets.</a:t>
            </a:r>
          </a:p>
          <a:p>
            <a:pPr marL="0" indent="0">
              <a:buNone/>
            </a:pPr>
            <a:endParaRPr lang="en-US" sz="3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______ term multiplies to </a:t>
            </a:r>
            <a:r>
              <a:rPr lang="en-US" sz="3200" b="1" i="1" dirty="0">
                <a:solidFill>
                  <a:schemeClr val="bg1"/>
                </a:solidFill>
              </a:rPr>
              <a:t>_________</a:t>
            </a:r>
            <a:r>
              <a:rPr lang="en-US" sz="3200" b="1" dirty="0">
                <a:solidFill>
                  <a:schemeClr val="bg1"/>
                </a:solidFill>
              </a:rPr>
              <a:t> inside the brackets.</a:t>
            </a:r>
            <a:endParaRPr lang="en-AU" sz="3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37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599300" y="2021793"/>
            <a:ext cx="8118475" cy="4605339"/>
          </a:xfrm>
        </p:spPr>
        <p:txBody>
          <a:bodyPr/>
          <a:lstStyle/>
          <a:p>
            <a:pPr marL="514350" indent="-514350">
              <a:buAutoNum type="arabicParenR" startAt="3"/>
            </a:pPr>
            <a:r>
              <a:rPr lang="en-US" dirty="0"/>
              <a:t>4(y + 7) =  6y</a:t>
            </a:r>
          </a:p>
          <a:p>
            <a:pPr marL="0" indent="0">
              <a:buNone/>
            </a:pPr>
            <a:r>
              <a:rPr lang="en-US" dirty="0"/>
              <a:t>      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         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5430" y="3168445"/>
            <a:ext cx="68480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- 4y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0705" y="3146220"/>
            <a:ext cx="68480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- 4y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1730" y="3854245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8005" y="3832020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2193" y="2840904"/>
            <a:ext cx="877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=  6y</a:t>
            </a:r>
          </a:p>
        </p:txBody>
      </p:sp>
      <p:sp>
        <p:nvSpPr>
          <p:cNvPr id="16" name="Curved Up Arrow 15"/>
          <p:cNvSpPr/>
          <p:nvPr/>
        </p:nvSpPr>
        <p:spPr>
          <a:xfrm>
            <a:off x="3175930" y="2565195"/>
            <a:ext cx="587375" cy="269875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/>
          <p:cNvSpPr/>
          <p:nvPr/>
        </p:nvSpPr>
        <p:spPr>
          <a:xfrm>
            <a:off x="3160055" y="2527094"/>
            <a:ext cx="984250" cy="403225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935216" y="3501304"/>
            <a:ext cx="1326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28 =  2y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5178" y="4336329"/>
            <a:ext cx="1133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14 =  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5218" y="2818679"/>
            <a:ext cx="5309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4y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95593" y="2834554"/>
            <a:ext cx="808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+ 28</a:t>
            </a:r>
          </a:p>
        </p:txBody>
      </p:sp>
      <p:sp>
        <p:nvSpPr>
          <p:cNvPr id="18" name="Title 2"/>
          <p:cNvSpPr>
            <a:spLocks noGrp="1"/>
          </p:cNvSpPr>
          <p:nvPr>
            <p:ph type="title"/>
          </p:nvPr>
        </p:nvSpPr>
        <p:spPr>
          <a:xfrm>
            <a:off x="0" y="-477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Example 3 - copy on sheet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63976-2BE0-B122-87F4-02B8492CFDAC}"/>
              </a:ext>
            </a:extLst>
          </p:cNvPr>
          <p:cNvSpPr txBox="1"/>
          <p:nvPr/>
        </p:nvSpPr>
        <p:spPr>
          <a:xfrm>
            <a:off x="2285857" y="1061455"/>
            <a:ext cx="276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Leading term </a:t>
            </a:r>
            <a:endParaRPr lang="en-AU" sz="24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46FF22-D469-8F6B-AAB8-2E774102D696}"/>
              </a:ext>
            </a:extLst>
          </p:cNvPr>
          <p:cNvCxnSpPr/>
          <p:nvPr/>
        </p:nvCxnSpPr>
        <p:spPr>
          <a:xfrm>
            <a:off x="3160055" y="1646924"/>
            <a:ext cx="15875" cy="4527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EF55B96-1508-8173-A774-763B4AEE07CC}"/>
              </a:ext>
            </a:extLst>
          </p:cNvPr>
          <p:cNvSpPr txBox="1"/>
          <p:nvPr/>
        </p:nvSpPr>
        <p:spPr>
          <a:xfrm>
            <a:off x="4257225" y="1046281"/>
            <a:ext cx="276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Everything inside</a:t>
            </a:r>
            <a:endParaRPr lang="en-AU" sz="2400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A61FE9-85DB-8E94-4807-B8CC656473B7}"/>
              </a:ext>
            </a:extLst>
          </p:cNvPr>
          <p:cNvCxnSpPr>
            <a:stCxn id="19" idx="2"/>
          </p:cNvCxnSpPr>
          <p:nvPr/>
        </p:nvCxnSpPr>
        <p:spPr>
          <a:xfrm flipH="1">
            <a:off x="3861730" y="1507946"/>
            <a:ext cx="1775771" cy="54584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16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4" grpId="0"/>
      <p:bldP spid="16" grpId="0" animBg="1"/>
      <p:bldP spid="17" grpId="0" animBg="1"/>
      <p:bldP spid="21" grpId="0"/>
      <p:bldP spid="22" grpId="0"/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2461649" y="2095705"/>
            <a:ext cx="8118475" cy="4494213"/>
          </a:xfrm>
        </p:spPr>
        <p:txBody>
          <a:bodyPr/>
          <a:lstStyle/>
          <a:p>
            <a:pPr marL="514350" indent="-514350">
              <a:buAutoNum type="arabicParenR" startAt="4"/>
            </a:pPr>
            <a:r>
              <a:rPr lang="en-US" dirty="0"/>
              <a:t>6(a + 2) =    4(a + 5)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         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         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dirty="0"/>
              <a:t>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0899" y="3445080"/>
            <a:ext cx="69082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- 4a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0299" y="3438730"/>
            <a:ext cx="69082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- 4a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6074" y="4337255"/>
            <a:ext cx="70010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- 12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2849" y="4315030"/>
            <a:ext cx="70010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- 12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6949" y="5067505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099" y="5029405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4" name="Curved Up Arrow 3"/>
          <p:cNvSpPr/>
          <p:nvPr/>
        </p:nvSpPr>
        <p:spPr>
          <a:xfrm>
            <a:off x="3064899" y="2524330"/>
            <a:ext cx="587375" cy="269875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/>
          <p:cNvSpPr/>
          <p:nvPr/>
        </p:nvSpPr>
        <p:spPr>
          <a:xfrm>
            <a:off x="3080774" y="2517979"/>
            <a:ext cx="984250" cy="403225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Up Arrow 15"/>
          <p:cNvSpPr/>
          <p:nvPr/>
        </p:nvSpPr>
        <p:spPr>
          <a:xfrm>
            <a:off x="4731774" y="2533856"/>
            <a:ext cx="517525" cy="292100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/>
          <p:cNvSpPr/>
          <p:nvPr/>
        </p:nvSpPr>
        <p:spPr>
          <a:xfrm>
            <a:off x="4747649" y="2527505"/>
            <a:ext cx="914400" cy="393700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61270" y="3047689"/>
            <a:ext cx="12438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6a + 12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30435" y="3952564"/>
            <a:ext cx="20301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2a + 12  = 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91898" y="4714564"/>
            <a:ext cx="2238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2a           =  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7395" y="5555939"/>
            <a:ext cx="10438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a  = 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6670" y="3057214"/>
            <a:ext cx="15038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= 4a + 20</a:t>
            </a: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0" y="-477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Example 4 - copy on sheet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20AD4E-7A84-0010-185E-4274393754A6}"/>
              </a:ext>
            </a:extLst>
          </p:cNvPr>
          <p:cNvSpPr txBox="1"/>
          <p:nvPr/>
        </p:nvSpPr>
        <p:spPr>
          <a:xfrm>
            <a:off x="2285857" y="1061455"/>
            <a:ext cx="276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Leading term </a:t>
            </a:r>
            <a:endParaRPr lang="en-AU" sz="2400" b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2E356B-F177-6E68-7D75-9133AD887CE8}"/>
              </a:ext>
            </a:extLst>
          </p:cNvPr>
          <p:cNvCxnSpPr/>
          <p:nvPr/>
        </p:nvCxnSpPr>
        <p:spPr>
          <a:xfrm>
            <a:off x="3160055" y="1646924"/>
            <a:ext cx="15875" cy="4527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7D167FC-129B-BA6D-A6D5-408BAF6833FA}"/>
              </a:ext>
            </a:extLst>
          </p:cNvPr>
          <p:cNvSpPr txBox="1"/>
          <p:nvPr/>
        </p:nvSpPr>
        <p:spPr>
          <a:xfrm>
            <a:off x="4257225" y="1046281"/>
            <a:ext cx="2760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Everything inside</a:t>
            </a:r>
            <a:endParaRPr lang="en-AU" sz="2400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8C355A-A6D7-0078-970A-266DC9A3B83F}"/>
              </a:ext>
            </a:extLst>
          </p:cNvPr>
          <p:cNvCxnSpPr>
            <a:stCxn id="26" idx="2"/>
          </p:cNvCxnSpPr>
          <p:nvPr/>
        </p:nvCxnSpPr>
        <p:spPr>
          <a:xfrm flipH="1">
            <a:off x="3861730" y="1507946"/>
            <a:ext cx="1775771" cy="54584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69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0" grpId="0"/>
      <p:bldP spid="11" grpId="0"/>
      <p:bldP spid="4" grpId="0" animBg="1"/>
      <p:bldP spid="14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267419" y="1248534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When the going gets tough, the tough get going…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845305" y="2531483"/>
            <a:ext cx="2505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+ 9</a:t>
            </a: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846509" y="3107746"/>
            <a:ext cx="2911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+ 20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845305" y="3684008"/>
            <a:ext cx="2708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+ 10</a:t>
            </a:r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846509" y="4260271"/>
            <a:ext cx="2911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+ 13</a:t>
            </a:r>
          </a:p>
        </p:txBody>
      </p:sp>
      <p:sp>
        <p:nvSpPr>
          <p:cNvPr id="44" name="Text Box 36"/>
          <p:cNvSpPr txBox="1">
            <a:spLocks noChangeArrowheads="1"/>
          </p:cNvSpPr>
          <p:nvPr/>
        </p:nvSpPr>
        <p:spPr bwMode="auto">
          <a:xfrm>
            <a:off x="4940378" y="1956808"/>
            <a:ext cx="2938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+ 15 =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+ 7</a:t>
            </a:r>
          </a:p>
        </p:txBody>
      </p:sp>
      <p:sp>
        <p:nvSpPr>
          <p:cNvPr id="45" name="Text Box 38"/>
          <p:cNvSpPr txBox="1">
            <a:spLocks noChangeArrowheads="1"/>
          </p:cNvSpPr>
          <p:nvPr/>
        </p:nvSpPr>
        <p:spPr bwMode="auto">
          <a:xfrm>
            <a:off x="4940378" y="2533071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+ 17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5156373" y="3109333"/>
            <a:ext cx="2911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+ 7 =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+ 13</a:t>
            </a:r>
          </a:p>
        </p:txBody>
      </p:sp>
      <p:sp>
        <p:nvSpPr>
          <p:cNvPr id="55" name="Text Box 42"/>
          <p:cNvSpPr txBox="1">
            <a:spLocks noChangeArrowheads="1"/>
          </p:cNvSpPr>
          <p:nvPr/>
        </p:nvSpPr>
        <p:spPr bwMode="auto">
          <a:xfrm>
            <a:off x="5156373" y="3685596"/>
            <a:ext cx="2911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+ 21</a:t>
            </a:r>
          </a:p>
        </p:txBody>
      </p:sp>
      <p:sp>
        <p:nvSpPr>
          <p:cNvPr id="59" name="Text Box 44"/>
          <p:cNvSpPr txBox="1">
            <a:spLocks noChangeArrowheads="1"/>
          </p:cNvSpPr>
          <p:nvPr/>
        </p:nvSpPr>
        <p:spPr bwMode="auto">
          <a:xfrm>
            <a:off x="5334407" y="4260271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+ 8 = 9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+ 14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417974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417974" y="2594437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417974" y="3178091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2" name="Text Box 33"/>
          <p:cNvSpPr txBox="1">
            <a:spLocks noChangeArrowheads="1"/>
          </p:cNvSpPr>
          <p:nvPr/>
        </p:nvSpPr>
        <p:spPr bwMode="auto">
          <a:xfrm>
            <a:off x="417974" y="3761745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3" name="Text Box 35"/>
          <p:cNvSpPr txBox="1">
            <a:spLocks noChangeArrowheads="1"/>
          </p:cNvSpPr>
          <p:nvPr/>
        </p:nvSpPr>
        <p:spPr bwMode="auto">
          <a:xfrm>
            <a:off x="417974" y="4345400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4" name="Text Box 37"/>
          <p:cNvSpPr txBox="1">
            <a:spLocks noChangeArrowheads="1"/>
          </p:cNvSpPr>
          <p:nvPr/>
        </p:nvSpPr>
        <p:spPr bwMode="auto">
          <a:xfrm>
            <a:off x="4621608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75" name="Text Box 39"/>
          <p:cNvSpPr txBox="1">
            <a:spLocks noChangeArrowheads="1"/>
          </p:cNvSpPr>
          <p:nvPr/>
        </p:nvSpPr>
        <p:spPr bwMode="auto">
          <a:xfrm>
            <a:off x="4621608" y="2594835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76" name="Text Box 41"/>
          <p:cNvSpPr txBox="1">
            <a:spLocks noChangeArrowheads="1"/>
          </p:cNvSpPr>
          <p:nvPr/>
        </p:nvSpPr>
        <p:spPr bwMode="auto">
          <a:xfrm>
            <a:off x="4621608" y="3177299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621608" y="3761350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4540645" y="4345401"/>
            <a:ext cx="508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832934" y="1918497"/>
            <a:ext cx="2938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 =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+ 14</a:t>
            </a:r>
          </a:p>
        </p:txBody>
      </p:sp>
      <p:sp>
        <p:nvSpPr>
          <p:cNvPr id="80" name="Text Box 3"/>
          <p:cNvSpPr txBox="1">
            <a:spLocks noChangeArrowheads="1"/>
          </p:cNvSpPr>
          <p:nvPr/>
        </p:nvSpPr>
        <p:spPr bwMode="auto">
          <a:xfrm>
            <a:off x="3678332" y="2011081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81" name="Text Box 3"/>
          <p:cNvSpPr txBox="1">
            <a:spLocks noChangeArrowheads="1"/>
          </p:cNvSpPr>
          <p:nvPr/>
        </p:nvSpPr>
        <p:spPr bwMode="auto">
          <a:xfrm>
            <a:off x="3678332" y="2594735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82" name="Text Box 3"/>
          <p:cNvSpPr txBox="1">
            <a:spLocks noChangeArrowheads="1"/>
          </p:cNvSpPr>
          <p:nvPr/>
        </p:nvSpPr>
        <p:spPr bwMode="auto">
          <a:xfrm>
            <a:off x="3678332" y="317838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83" name="Text Box 3"/>
          <p:cNvSpPr txBox="1">
            <a:spLocks noChangeArrowheads="1"/>
          </p:cNvSpPr>
          <p:nvPr/>
        </p:nvSpPr>
        <p:spPr bwMode="auto">
          <a:xfrm>
            <a:off x="3678332" y="3762043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84" name="Text Box 3"/>
          <p:cNvSpPr txBox="1">
            <a:spLocks noChangeArrowheads="1"/>
          </p:cNvSpPr>
          <p:nvPr/>
        </p:nvSpPr>
        <p:spPr bwMode="auto">
          <a:xfrm>
            <a:off x="3678332" y="4345698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85" name="Text Box 3"/>
          <p:cNvSpPr txBox="1">
            <a:spLocks noChangeArrowheads="1"/>
          </p:cNvSpPr>
          <p:nvPr/>
        </p:nvSpPr>
        <p:spPr bwMode="auto">
          <a:xfrm>
            <a:off x="7966248" y="2011081"/>
            <a:ext cx="939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C000"/>
                </a:solidFill>
              </a:rPr>
              <a:t> = −2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83255" y="6339310"/>
            <a:ext cx="985987" cy="3271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 all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7419" y="6323284"/>
            <a:ext cx="762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Click an equation to see the solution, or </a:t>
            </a:r>
          </a:p>
        </p:txBody>
      </p:sp>
      <p:sp>
        <p:nvSpPr>
          <p:cNvPr id="90" name="Text Box 3"/>
          <p:cNvSpPr txBox="1">
            <a:spLocks noChangeArrowheads="1"/>
          </p:cNvSpPr>
          <p:nvPr/>
        </p:nvSpPr>
        <p:spPr bwMode="auto">
          <a:xfrm>
            <a:off x="7990105" y="2594735"/>
            <a:ext cx="939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C000"/>
                </a:solidFill>
              </a:rPr>
              <a:t> = −3</a:t>
            </a:r>
          </a:p>
        </p:txBody>
      </p:sp>
      <p:sp>
        <p:nvSpPr>
          <p:cNvPr id="86" name="Text Box 3"/>
          <p:cNvSpPr txBox="1">
            <a:spLocks noChangeArrowheads="1"/>
          </p:cNvSpPr>
          <p:nvPr/>
        </p:nvSpPr>
        <p:spPr bwMode="auto">
          <a:xfrm>
            <a:off x="7966248" y="3178389"/>
            <a:ext cx="8268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00B050"/>
                </a:solidFill>
              </a:rPr>
              <a:t> = 2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990105" y="3762043"/>
            <a:ext cx="906367" cy="506116"/>
            <a:chOff x="7990105" y="4028035"/>
            <a:chExt cx="906367" cy="506116"/>
          </a:xfrm>
        </p:grpSpPr>
        <p:sp>
          <p:nvSpPr>
            <p:cNvPr id="91" name="Text Box 3"/>
            <p:cNvSpPr txBox="1">
              <a:spLocks noChangeArrowheads="1"/>
            </p:cNvSpPr>
            <p:nvPr/>
          </p:nvSpPr>
          <p:spPr bwMode="auto">
            <a:xfrm>
              <a:off x="7990105" y="4028035"/>
              <a:ext cx="78579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24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sz="2400" dirty="0">
                  <a:solidFill>
                    <a:srgbClr val="00B050"/>
                  </a:solidFill>
                </a:rPr>
                <a:t> = 6</a:t>
              </a:r>
            </a:p>
          </p:txBody>
        </p:sp>
        <p:sp>
          <p:nvSpPr>
            <p:cNvPr id="93" name="Text Box 3"/>
            <p:cNvSpPr txBox="1">
              <a:spLocks noChangeArrowheads="1"/>
            </p:cNvSpPr>
            <p:nvPr/>
          </p:nvSpPr>
          <p:spPr bwMode="auto">
            <a:xfrm>
              <a:off x="8607610" y="4028628"/>
              <a:ext cx="288862" cy="505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  <a:defRPr/>
              </a:pPr>
              <a:r>
                <a:rPr lang="en-GB" sz="1600" u="sng" dirty="0">
                  <a:solidFill>
                    <a:srgbClr val="00B050"/>
                  </a:solidFill>
                </a:rPr>
                <a:t>2</a:t>
              </a:r>
            </a:p>
            <a:p>
              <a:pPr>
                <a:lnSpc>
                  <a:spcPts val="1600"/>
                </a:lnSpc>
                <a:defRPr/>
              </a:pPr>
              <a:r>
                <a:rPr lang="en-GB" sz="1600" dirty="0">
                  <a:solidFill>
                    <a:srgbClr val="00B050"/>
                  </a:solidFill>
                </a:rPr>
                <a:t>3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966248" y="4345698"/>
            <a:ext cx="924627" cy="545302"/>
            <a:chOff x="7966248" y="4611690"/>
            <a:chExt cx="924627" cy="545302"/>
          </a:xfrm>
        </p:grpSpPr>
        <p:sp>
          <p:nvSpPr>
            <p:cNvPr id="87" name="Text Box 3"/>
            <p:cNvSpPr txBox="1">
              <a:spLocks noChangeArrowheads="1"/>
            </p:cNvSpPr>
            <p:nvPr/>
          </p:nvSpPr>
          <p:spPr bwMode="auto">
            <a:xfrm>
              <a:off x="7966248" y="4611690"/>
              <a:ext cx="78418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24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sz="2400" dirty="0">
                  <a:solidFill>
                    <a:srgbClr val="00B050"/>
                  </a:solidFill>
                </a:rPr>
                <a:t> = −</a:t>
              </a:r>
            </a:p>
          </p:txBody>
        </p:sp>
        <p:sp>
          <p:nvSpPr>
            <p:cNvPr id="94" name="Text Box 3"/>
            <p:cNvSpPr txBox="1">
              <a:spLocks noChangeArrowheads="1"/>
            </p:cNvSpPr>
            <p:nvPr/>
          </p:nvSpPr>
          <p:spPr bwMode="auto">
            <a:xfrm>
              <a:off x="8602013" y="4651469"/>
              <a:ext cx="288862" cy="505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  <a:defRPr/>
              </a:pPr>
              <a:r>
                <a:rPr lang="en-GB" sz="1600" u="sng" dirty="0">
                  <a:solidFill>
                    <a:srgbClr val="00B050"/>
                  </a:solidFill>
                </a:rPr>
                <a:t>3</a:t>
              </a:r>
            </a:p>
            <a:p>
              <a:pPr>
                <a:lnSpc>
                  <a:spcPts val="1600"/>
                </a:lnSpc>
                <a:defRPr/>
              </a:pPr>
              <a:r>
                <a:rPr lang="en-GB" sz="1600" dirty="0">
                  <a:solidFill>
                    <a:srgbClr val="00B050"/>
                  </a:solidFill>
                </a:rPr>
                <a:t>4</a:t>
              </a:r>
            </a:p>
          </p:txBody>
        </p:sp>
      </p:grpSp>
      <p:sp>
        <p:nvSpPr>
          <p:cNvPr id="96" name="Oval 95"/>
          <p:cNvSpPr/>
          <p:nvPr/>
        </p:nvSpPr>
        <p:spPr>
          <a:xfrm>
            <a:off x="3958105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Show your working out!</a:t>
            </a:r>
          </a:p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Make your method clear, and remember that marks are still up for grabs if the answer is wrong!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97" y="9600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Practice (1)</a:t>
            </a:r>
          </a:p>
        </p:txBody>
      </p:sp>
    </p:spTree>
    <p:extLst>
      <p:ext uri="{BB962C8B-B14F-4D97-AF65-F5344CB8AC3E}">
        <p14:creationId xmlns:p14="http://schemas.microsoft.com/office/powerpoint/2010/main" val="85904644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1" grpId="0"/>
      <p:bldP spid="81" grpId="1"/>
      <p:bldP spid="82" grpId="0"/>
      <p:bldP spid="82" grpId="1"/>
      <p:bldP spid="83" grpId="0"/>
      <p:bldP spid="83" grpId="1"/>
      <p:bldP spid="84" grpId="0"/>
      <p:bldP spid="84" grpId="1"/>
      <p:bldP spid="85" grpId="0"/>
      <p:bldP spid="85" grpId="1"/>
      <p:bldP spid="90" grpId="0"/>
      <p:bldP spid="90" grpId="1"/>
      <p:bldP spid="9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267419" y="1248534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Now with added negative signs…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832934" y="2531483"/>
            <a:ext cx="29159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− 4 =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+ 11</a:t>
            </a: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832934" y="3107746"/>
            <a:ext cx="29386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9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+ 3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+ 28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627538" y="3684008"/>
            <a:ext cx="31438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− 13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− 17</a:t>
            </a:r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845845" y="4260271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9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− 8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+ 16</a:t>
            </a:r>
          </a:p>
        </p:txBody>
      </p:sp>
      <p:sp>
        <p:nvSpPr>
          <p:cNvPr id="44" name="Text Box 36"/>
          <p:cNvSpPr txBox="1">
            <a:spLocks noChangeArrowheads="1"/>
          </p:cNvSpPr>
          <p:nvPr/>
        </p:nvSpPr>
        <p:spPr bwMode="auto">
          <a:xfrm>
            <a:off x="4924038" y="1956808"/>
            <a:ext cx="31438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+ 13 = 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+ 19</a:t>
            </a:r>
          </a:p>
        </p:txBody>
      </p:sp>
      <p:sp>
        <p:nvSpPr>
          <p:cNvPr id="45" name="Text Box 38"/>
          <p:cNvSpPr txBox="1">
            <a:spLocks noChangeArrowheads="1"/>
          </p:cNvSpPr>
          <p:nvPr/>
        </p:nvSpPr>
        <p:spPr bwMode="auto">
          <a:xfrm>
            <a:off x="5125166" y="2533071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− 3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− 15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5129537" y="3109333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+ 7 = 8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− 4</a:t>
            </a:r>
          </a:p>
        </p:txBody>
      </p:sp>
      <p:sp>
        <p:nvSpPr>
          <p:cNvPr id="55" name="Text Box 42"/>
          <p:cNvSpPr txBox="1">
            <a:spLocks noChangeArrowheads="1"/>
          </p:cNvSpPr>
          <p:nvPr/>
        </p:nvSpPr>
        <p:spPr bwMode="auto">
          <a:xfrm>
            <a:off x="5125166" y="3685596"/>
            <a:ext cx="29159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− 11</a:t>
            </a:r>
          </a:p>
        </p:txBody>
      </p:sp>
      <p:sp>
        <p:nvSpPr>
          <p:cNvPr id="59" name="Text Box 44"/>
          <p:cNvSpPr txBox="1">
            <a:spLocks noChangeArrowheads="1"/>
          </p:cNvSpPr>
          <p:nvPr/>
        </p:nvSpPr>
        <p:spPr bwMode="auto">
          <a:xfrm>
            <a:off x="4973571" y="4260271"/>
            <a:ext cx="27108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11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+ 4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− 2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417974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417974" y="2594437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417974" y="3178091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2" name="Text Box 33"/>
          <p:cNvSpPr txBox="1">
            <a:spLocks noChangeArrowheads="1"/>
          </p:cNvSpPr>
          <p:nvPr/>
        </p:nvSpPr>
        <p:spPr bwMode="auto">
          <a:xfrm>
            <a:off x="417974" y="3761745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3" name="Text Box 35"/>
          <p:cNvSpPr txBox="1">
            <a:spLocks noChangeArrowheads="1"/>
          </p:cNvSpPr>
          <p:nvPr/>
        </p:nvSpPr>
        <p:spPr bwMode="auto">
          <a:xfrm>
            <a:off x="417974" y="4345400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4" name="Text Box 37"/>
          <p:cNvSpPr txBox="1">
            <a:spLocks noChangeArrowheads="1"/>
          </p:cNvSpPr>
          <p:nvPr/>
        </p:nvSpPr>
        <p:spPr bwMode="auto">
          <a:xfrm>
            <a:off x="4621608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75" name="Text Box 39"/>
          <p:cNvSpPr txBox="1">
            <a:spLocks noChangeArrowheads="1"/>
          </p:cNvSpPr>
          <p:nvPr/>
        </p:nvSpPr>
        <p:spPr bwMode="auto">
          <a:xfrm>
            <a:off x="4621608" y="2594835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76" name="Text Box 41"/>
          <p:cNvSpPr txBox="1">
            <a:spLocks noChangeArrowheads="1"/>
          </p:cNvSpPr>
          <p:nvPr/>
        </p:nvSpPr>
        <p:spPr bwMode="auto">
          <a:xfrm>
            <a:off x="4621608" y="3177299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621608" y="3761350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4540645" y="4345401"/>
            <a:ext cx="508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639910" y="1918497"/>
            <a:ext cx="31438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+ 18 = 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− 12</a:t>
            </a:r>
          </a:p>
        </p:txBody>
      </p:sp>
      <p:sp>
        <p:nvSpPr>
          <p:cNvPr id="80" name="Text Box 3"/>
          <p:cNvSpPr txBox="1">
            <a:spLocks noChangeArrowheads="1"/>
          </p:cNvSpPr>
          <p:nvPr/>
        </p:nvSpPr>
        <p:spPr bwMode="auto">
          <a:xfrm>
            <a:off x="3678332" y="2011081"/>
            <a:ext cx="9412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10</a:t>
            </a:r>
          </a:p>
        </p:txBody>
      </p:sp>
      <p:sp>
        <p:nvSpPr>
          <p:cNvPr id="81" name="Text Box 3"/>
          <p:cNvSpPr txBox="1">
            <a:spLocks noChangeArrowheads="1"/>
          </p:cNvSpPr>
          <p:nvPr/>
        </p:nvSpPr>
        <p:spPr bwMode="auto">
          <a:xfrm>
            <a:off x="3678332" y="2594735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82" name="Text Box 3"/>
          <p:cNvSpPr txBox="1">
            <a:spLocks noChangeArrowheads="1"/>
          </p:cNvSpPr>
          <p:nvPr/>
        </p:nvSpPr>
        <p:spPr bwMode="auto">
          <a:xfrm>
            <a:off x="3678332" y="317838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83" name="Text Box 3"/>
          <p:cNvSpPr txBox="1">
            <a:spLocks noChangeArrowheads="1"/>
          </p:cNvSpPr>
          <p:nvPr/>
        </p:nvSpPr>
        <p:spPr bwMode="auto">
          <a:xfrm>
            <a:off x="3678332" y="3762043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84" name="Text Box 3"/>
          <p:cNvSpPr txBox="1">
            <a:spLocks noChangeArrowheads="1"/>
          </p:cNvSpPr>
          <p:nvPr/>
        </p:nvSpPr>
        <p:spPr bwMode="auto">
          <a:xfrm>
            <a:off x="3678332" y="4345698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85" name="Text Box 3"/>
          <p:cNvSpPr txBox="1">
            <a:spLocks noChangeArrowheads="1"/>
          </p:cNvSpPr>
          <p:nvPr/>
        </p:nvSpPr>
        <p:spPr bwMode="auto">
          <a:xfrm>
            <a:off x="7966248" y="2011081"/>
            <a:ext cx="939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C000"/>
                </a:solidFill>
              </a:rPr>
              <a:t> = −3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83255" y="6339310"/>
            <a:ext cx="985987" cy="3271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 all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7419" y="6323284"/>
            <a:ext cx="762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Click an equation to see the solution, or </a:t>
            </a:r>
          </a:p>
        </p:txBody>
      </p:sp>
      <p:sp>
        <p:nvSpPr>
          <p:cNvPr id="90" name="Text Box 3"/>
          <p:cNvSpPr txBox="1">
            <a:spLocks noChangeArrowheads="1"/>
          </p:cNvSpPr>
          <p:nvPr/>
        </p:nvSpPr>
        <p:spPr bwMode="auto">
          <a:xfrm>
            <a:off x="7990105" y="2594735"/>
            <a:ext cx="939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C000"/>
                </a:solidFill>
              </a:rPr>
              <a:t> = −3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966248" y="3177299"/>
            <a:ext cx="924627" cy="505523"/>
            <a:chOff x="7966248" y="3443291"/>
            <a:chExt cx="924627" cy="505523"/>
          </a:xfrm>
        </p:grpSpPr>
        <p:sp>
          <p:nvSpPr>
            <p:cNvPr id="86" name="Text Box 3"/>
            <p:cNvSpPr txBox="1">
              <a:spLocks noChangeArrowheads="1"/>
            </p:cNvSpPr>
            <p:nvPr/>
          </p:nvSpPr>
          <p:spPr bwMode="auto">
            <a:xfrm>
              <a:off x="7966248" y="3444381"/>
              <a:ext cx="78579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24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sz="2400" dirty="0">
                  <a:solidFill>
                    <a:srgbClr val="00B050"/>
                  </a:solidFill>
                </a:rPr>
                <a:t> = 5</a:t>
              </a:r>
            </a:p>
          </p:txBody>
        </p:sp>
        <p:sp>
          <p:nvSpPr>
            <p:cNvPr id="92" name="Text Box 3"/>
            <p:cNvSpPr txBox="1">
              <a:spLocks noChangeArrowheads="1"/>
            </p:cNvSpPr>
            <p:nvPr/>
          </p:nvSpPr>
          <p:spPr bwMode="auto">
            <a:xfrm>
              <a:off x="8602013" y="3443291"/>
              <a:ext cx="288862" cy="505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  <a:defRPr/>
              </a:pPr>
              <a:r>
                <a:rPr lang="en-GB" sz="1600" u="sng" dirty="0">
                  <a:solidFill>
                    <a:srgbClr val="00B050"/>
                  </a:solidFill>
                </a:rPr>
                <a:t>1</a:t>
              </a:r>
            </a:p>
            <a:p>
              <a:pPr>
                <a:lnSpc>
                  <a:spcPts val="1600"/>
                </a:lnSpc>
                <a:defRPr/>
              </a:pPr>
              <a:r>
                <a:rPr lang="en-GB" sz="1600" dirty="0">
                  <a:solidFill>
                    <a:srgbClr val="00B050"/>
                  </a:solidFill>
                </a:rPr>
                <a:t>2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990105" y="3762043"/>
            <a:ext cx="1065923" cy="506116"/>
            <a:chOff x="7990105" y="4028035"/>
            <a:chExt cx="1065923" cy="506116"/>
          </a:xfrm>
        </p:grpSpPr>
        <p:sp>
          <p:nvSpPr>
            <p:cNvPr id="91" name="Text Box 3"/>
            <p:cNvSpPr txBox="1">
              <a:spLocks noChangeArrowheads="1"/>
            </p:cNvSpPr>
            <p:nvPr/>
          </p:nvSpPr>
          <p:spPr bwMode="auto">
            <a:xfrm>
              <a:off x="7990105" y="4028035"/>
              <a:ext cx="93968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24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sz="2400" dirty="0">
                  <a:solidFill>
                    <a:srgbClr val="00B050"/>
                  </a:solidFill>
                </a:rPr>
                <a:t> = −3</a:t>
              </a:r>
            </a:p>
          </p:txBody>
        </p:sp>
        <p:sp>
          <p:nvSpPr>
            <p:cNvPr id="93" name="Text Box 3"/>
            <p:cNvSpPr txBox="1">
              <a:spLocks noChangeArrowheads="1"/>
            </p:cNvSpPr>
            <p:nvPr/>
          </p:nvSpPr>
          <p:spPr bwMode="auto">
            <a:xfrm>
              <a:off x="8767166" y="4028628"/>
              <a:ext cx="288862" cy="505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  <a:defRPr/>
              </a:pPr>
              <a:r>
                <a:rPr lang="en-GB" sz="1600" u="sng" dirty="0">
                  <a:solidFill>
                    <a:srgbClr val="00B050"/>
                  </a:solidFill>
                </a:rPr>
                <a:t>1</a:t>
              </a:r>
            </a:p>
            <a:p>
              <a:pPr>
                <a:lnSpc>
                  <a:spcPts val="1600"/>
                </a:lnSpc>
                <a:defRPr/>
              </a:pPr>
              <a:r>
                <a:rPr lang="en-GB" sz="1600" dirty="0">
                  <a:solidFill>
                    <a:srgbClr val="00B050"/>
                  </a:solidFill>
                </a:rPr>
                <a:t>3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966248" y="4345698"/>
            <a:ext cx="924627" cy="545302"/>
            <a:chOff x="7966248" y="4611690"/>
            <a:chExt cx="924627" cy="545302"/>
          </a:xfrm>
        </p:grpSpPr>
        <p:sp>
          <p:nvSpPr>
            <p:cNvPr id="87" name="Text Box 3"/>
            <p:cNvSpPr txBox="1">
              <a:spLocks noChangeArrowheads="1"/>
            </p:cNvSpPr>
            <p:nvPr/>
          </p:nvSpPr>
          <p:spPr bwMode="auto">
            <a:xfrm>
              <a:off x="7966248" y="4611690"/>
              <a:ext cx="78418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24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sz="2400" dirty="0">
                  <a:solidFill>
                    <a:srgbClr val="00B050"/>
                  </a:solidFill>
                </a:rPr>
                <a:t> = −</a:t>
              </a:r>
            </a:p>
          </p:txBody>
        </p:sp>
        <p:sp>
          <p:nvSpPr>
            <p:cNvPr id="94" name="Text Box 3"/>
            <p:cNvSpPr txBox="1">
              <a:spLocks noChangeArrowheads="1"/>
            </p:cNvSpPr>
            <p:nvPr/>
          </p:nvSpPr>
          <p:spPr bwMode="auto">
            <a:xfrm>
              <a:off x="8602013" y="4651469"/>
              <a:ext cx="288862" cy="505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  <a:defRPr/>
              </a:pPr>
              <a:r>
                <a:rPr lang="en-GB" sz="1600" u="sng" dirty="0">
                  <a:solidFill>
                    <a:srgbClr val="00B050"/>
                  </a:solidFill>
                </a:rPr>
                <a:t>3</a:t>
              </a:r>
            </a:p>
            <a:p>
              <a:pPr>
                <a:lnSpc>
                  <a:spcPts val="1600"/>
                </a:lnSpc>
                <a:defRPr/>
              </a:pPr>
              <a:r>
                <a:rPr lang="en-GB" sz="1600" dirty="0">
                  <a:solidFill>
                    <a:srgbClr val="00B050"/>
                  </a:solidFill>
                </a:rPr>
                <a:t>5</a:t>
              </a:r>
            </a:p>
          </p:txBody>
        </p:sp>
      </p:grpSp>
      <p:sp>
        <p:nvSpPr>
          <p:cNvPr id="46" name="Oval 45"/>
          <p:cNvSpPr/>
          <p:nvPr/>
        </p:nvSpPr>
        <p:spPr>
          <a:xfrm>
            <a:off x="417974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A hint; it is usually easier to rearrange the equation so that x is on the side that already has more.  Why is this?</a:t>
            </a:r>
          </a:p>
        </p:txBody>
      </p:sp>
      <p:sp>
        <p:nvSpPr>
          <p:cNvPr id="48" name="Oval 47"/>
          <p:cNvSpPr/>
          <p:nvPr/>
        </p:nvSpPr>
        <p:spPr>
          <a:xfrm>
            <a:off x="3958105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Make sure you are careful about the negative signs here.  Keep clear to which term a negative sign “belongs”.</a:t>
            </a:r>
          </a:p>
        </p:txBody>
      </p:sp>
      <p:sp>
        <p:nvSpPr>
          <p:cNvPr id="49" name="Title 1"/>
          <p:cNvSpPr>
            <a:spLocks noGrp="1"/>
          </p:cNvSpPr>
          <p:nvPr>
            <p:ph type="title"/>
          </p:nvPr>
        </p:nvSpPr>
        <p:spPr>
          <a:xfrm>
            <a:off x="-7697" y="9600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Practice (2)</a:t>
            </a:r>
          </a:p>
        </p:txBody>
      </p:sp>
    </p:spTree>
    <p:extLst>
      <p:ext uri="{BB962C8B-B14F-4D97-AF65-F5344CB8AC3E}">
        <p14:creationId xmlns:p14="http://schemas.microsoft.com/office/powerpoint/2010/main" val="46104233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1" grpId="0"/>
      <p:bldP spid="81" grpId="1"/>
      <p:bldP spid="82" grpId="0"/>
      <p:bldP spid="82" grpId="1"/>
      <p:bldP spid="83" grpId="0"/>
      <p:bldP spid="83" grpId="1"/>
      <p:bldP spid="84" grpId="0"/>
      <p:bldP spid="84" grpId="1"/>
      <p:bldP spid="85" grpId="0"/>
      <p:bldP spid="85" grpId="1"/>
      <p:bldP spid="90" grpId="0"/>
      <p:bldP spid="90" grpId="1"/>
      <p:bldP spid="46" grpId="0" animBg="1"/>
      <p:bldP spid="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val 48"/>
          <p:cNvSpPr/>
          <p:nvPr/>
        </p:nvSpPr>
        <p:spPr>
          <a:xfrm>
            <a:off x="3958105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Show your working out!</a:t>
            </a:r>
          </a:p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Make your method clear, and remember that marks are still up for grabs if the answer is wrong!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419" y="1248534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Here the negative signs may be on the </a:t>
            </a:r>
            <a:r>
              <a:rPr lang="en-GB" sz="20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 term itself…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845845" y="2531483"/>
            <a:ext cx="20890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− 6 =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endParaRPr lang="en-GB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846895" y="3101151"/>
            <a:ext cx="22942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9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+ 30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831675" y="3684008"/>
            <a:ext cx="2938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− 7 = 17 − 5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endParaRPr lang="en-GB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831675" y="4260271"/>
            <a:ext cx="29386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7 − 3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− 13</a:t>
            </a:r>
          </a:p>
        </p:txBody>
      </p:sp>
      <p:sp>
        <p:nvSpPr>
          <p:cNvPr id="44" name="Text Box 36"/>
          <p:cNvSpPr txBox="1">
            <a:spLocks noChangeArrowheads="1"/>
          </p:cNvSpPr>
          <p:nvPr/>
        </p:nvSpPr>
        <p:spPr bwMode="auto">
          <a:xfrm>
            <a:off x="5746939" y="1956808"/>
            <a:ext cx="22942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+ 10</a:t>
            </a:r>
          </a:p>
        </p:txBody>
      </p:sp>
      <p:sp>
        <p:nvSpPr>
          <p:cNvPr id="45" name="Text Box 38"/>
          <p:cNvSpPr txBox="1">
            <a:spLocks noChangeArrowheads="1"/>
          </p:cNvSpPr>
          <p:nvPr/>
        </p:nvSpPr>
        <p:spPr bwMode="auto">
          <a:xfrm>
            <a:off x="5125166" y="2533071"/>
            <a:ext cx="25282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3 − 2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+ 6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5130897" y="3109333"/>
            <a:ext cx="20890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+ 7 = 8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endParaRPr lang="en-GB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5" name="Text Box 42"/>
          <p:cNvSpPr txBox="1">
            <a:spLocks noChangeArrowheads="1"/>
          </p:cNvSpPr>
          <p:nvPr/>
        </p:nvSpPr>
        <p:spPr bwMode="auto">
          <a:xfrm>
            <a:off x="5329784" y="3685596"/>
            <a:ext cx="23230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1 −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+ 4</a:t>
            </a:r>
          </a:p>
        </p:txBody>
      </p:sp>
      <p:sp>
        <p:nvSpPr>
          <p:cNvPr id="59" name="Text Box 44"/>
          <p:cNvSpPr txBox="1">
            <a:spLocks noChangeArrowheads="1"/>
          </p:cNvSpPr>
          <p:nvPr/>
        </p:nvSpPr>
        <p:spPr bwMode="auto">
          <a:xfrm>
            <a:off x="5134401" y="4260271"/>
            <a:ext cx="20890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5 − 3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endParaRPr lang="en-GB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417974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417974" y="2594437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417974" y="3178091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2" name="Text Box 33"/>
          <p:cNvSpPr txBox="1">
            <a:spLocks noChangeArrowheads="1"/>
          </p:cNvSpPr>
          <p:nvPr/>
        </p:nvSpPr>
        <p:spPr bwMode="auto">
          <a:xfrm>
            <a:off x="417974" y="3761745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3" name="Text Box 35"/>
          <p:cNvSpPr txBox="1">
            <a:spLocks noChangeArrowheads="1"/>
          </p:cNvSpPr>
          <p:nvPr/>
        </p:nvSpPr>
        <p:spPr bwMode="auto">
          <a:xfrm>
            <a:off x="417974" y="4345400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4" name="Text Box 37"/>
          <p:cNvSpPr txBox="1">
            <a:spLocks noChangeArrowheads="1"/>
          </p:cNvSpPr>
          <p:nvPr/>
        </p:nvSpPr>
        <p:spPr bwMode="auto">
          <a:xfrm>
            <a:off x="4621608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C000"/>
                </a:solidFill>
              </a:rPr>
              <a:t>6</a:t>
            </a:r>
          </a:p>
        </p:txBody>
      </p:sp>
      <p:sp>
        <p:nvSpPr>
          <p:cNvPr id="75" name="Text Box 39"/>
          <p:cNvSpPr txBox="1">
            <a:spLocks noChangeArrowheads="1"/>
          </p:cNvSpPr>
          <p:nvPr/>
        </p:nvSpPr>
        <p:spPr bwMode="auto">
          <a:xfrm>
            <a:off x="4621608" y="2594835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C000"/>
                </a:solidFill>
              </a:rPr>
              <a:t>7</a:t>
            </a:r>
          </a:p>
        </p:txBody>
      </p:sp>
      <p:sp>
        <p:nvSpPr>
          <p:cNvPr id="76" name="Text Box 41"/>
          <p:cNvSpPr txBox="1">
            <a:spLocks noChangeArrowheads="1"/>
          </p:cNvSpPr>
          <p:nvPr/>
        </p:nvSpPr>
        <p:spPr bwMode="auto">
          <a:xfrm>
            <a:off x="4621608" y="3177299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B050"/>
                </a:solidFill>
              </a:rPr>
              <a:t>8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621608" y="3761350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4540645" y="4345401"/>
            <a:ext cx="508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651228" y="1917340"/>
            <a:ext cx="31211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− 11 = 10 − 7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endParaRPr lang="en-GB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80" name="Text Box 3"/>
          <p:cNvSpPr txBox="1">
            <a:spLocks noChangeArrowheads="1"/>
          </p:cNvSpPr>
          <p:nvPr/>
        </p:nvSpPr>
        <p:spPr bwMode="auto">
          <a:xfrm>
            <a:off x="3678332" y="2011081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81" name="Text Box 3"/>
          <p:cNvSpPr txBox="1">
            <a:spLocks noChangeArrowheads="1"/>
          </p:cNvSpPr>
          <p:nvPr/>
        </p:nvSpPr>
        <p:spPr bwMode="auto">
          <a:xfrm>
            <a:off x="3678332" y="2594735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82" name="Text Box 3"/>
          <p:cNvSpPr txBox="1">
            <a:spLocks noChangeArrowheads="1"/>
          </p:cNvSpPr>
          <p:nvPr/>
        </p:nvSpPr>
        <p:spPr bwMode="auto">
          <a:xfrm>
            <a:off x="3678332" y="317838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83" name="Text Box 3"/>
          <p:cNvSpPr txBox="1">
            <a:spLocks noChangeArrowheads="1"/>
          </p:cNvSpPr>
          <p:nvPr/>
        </p:nvSpPr>
        <p:spPr bwMode="auto">
          <a:xfrm>
            <a:off x="3678332" y="3762043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84" name="Text Box 3"/>
          <p:cNvSpPr txBox="1">
            <a:spLocks noChangeArrowheads="1"/>
          </p:cNvSpPr>
          <p:nvPr/>
        </p:nvSpPr>
        <p:spPr bwMode="auto">
          <a:xfrm>
            <a:off x="3678332" y="4345698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85" name="Text Box 3"/>
          <p:cNvSpPr txBox="1">
            <a:spLocks noChangeArrowheads="1"/>
          </p:cNvSpPr>
          <p:nvPr/>
        </p:nvSpPr>
        <p:spPr bwMode="auto">
          <a:xfrm>
            <a:off x="7966248" y="2011081"/>
            <a:ext cx="939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C000"/>
                </a:solidFill>
              </a:rPr>
              <a:t> = −5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83255" y="6339310"/>
            <a:ext cx="985987" cy="3271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 all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7419" y="6323284"/>
            <a:ext cx="762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Click an equation to see the solution, or </a:t>
            </a:r>
          </a:p>
        </p:txBody>
      </p:sp>
      <p:sp>
        <p:nvSpPr>
          <p:cNvPr id="90" name="Text Box 3"/>
          <p:cNvSpPr txBox="1">
            <a:spLocks noChangeArrowheads="1"/>
          </p:cNvSpPr>
          <p:nvPr/>
        </p:nvSpPr>
        <p:spPr bwMode="auto">
          <a:xfrm>
            <a:off x="7990105" y="2594735"/>
            <a:ext cx="939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C000"/>
                </a:solidFill>
              </a:rPr>
              <a:t> = −1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966248" y="3177299"/>
            <a:ext cx="924627" cy="505523"/>
            <a:chOff x="7966248" y="3443291"/>
            <a:chExt cx="924627" cy="505523"/>
          </a:xfrm>
        </p:grpSpPr>
        <p:sp>
          <p:nvSpPr>
            <p:cNvPr id="86" name="Text Box 3"/>
            <p:cNvSpPr txBox="1">
              <a:spLocks noChangeArrowheads="1"/>
            </p:cNvSpPr>
            <p:nvPr/>
          </p:nvSpPr>
          <p:spPr bwMode="auto">
            <a:xfrm>
              <a:off x="7966248" y="3444381"/>
              <a:ext cx="78579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24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sz="2400" dirty="0">
                  <a:solidFill>
                    <a:srgbClr val="00B050"/>
                  </a:solidFill>
                </a:rPr>
                <a:t> = 3</a:t>
              </a:r>
            </a:p>
          </p:txBody>
        </p:sp>
        <p:sp>
          <p:nvSpPr>
            <p:cNvPr id="92" name="Text Box 3"/>
            <p:cNvSpPr txBox="1">
              <a:spLocks noChangeArrowheads="1"/>
            </p:cNvSpPr>
            <p:nvPr/>
          </p:nvSpPr>
          <p:spPr bwMode="auto">
            <a:xfrm>
              <a:off x="8602013" y="3443291"/>
              <a:ext cx="288862" cy="505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  <a:defRPr/>
              </a:pPr>
              <a:r>
                <a:rPr lang="en-GB" sz="1600" u="sng" dirty="0">
                  <a:solidFill>
                    <a:srgbClr val="00B050"/>
                  </a:solidFill>
                </a:rPr>
                <a:t>1</a:t>
              </a:r>
            </a:p>
            <a:p>
              <a:pPr>
                <a:lnSpc>
                  <a:spcPts val="1600"/>
                </a:lnSpc>
                <a:defRPr/>
              </a:pPr>
              <a:r>
                <a:rPr lang="en-GB" sz="1600" dirty="0">
                  <a:solidFill>
                    <a:srgbClr val="00B050"/>
                  </a:solidFill>
                </a:rPr>
                <a:t>2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990105" y="3762043"/>
            <a:ext cx="1065923" cy="506116"/>
            <a:chOff x="7990105" y="4028035"/>
            <a:chExt cx="1065923" cy="506116"/>
          </a:xfrm>
        </p:grpSpPr>
        <p:sp>
          <p:nvSpPr>
            <p:cNvPr id="91" name="Text Box 3"/>
            <p:cNvSpPr txBox="1">
              <a:spLocks noChangeArrowheads="1"/>
            </p:cNvSpPr>
            <p:nvPr/>
          </p:nvSpPr>
          <p:spPr bwMode="auto">
            <a:xfrm>
              <a:off x="7990105" y="4028035"/>
              <a:ext cx="939681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24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sz="2400" dirty="0">
                  <a:solidFill>
                    <a:srgbClr val="00B050"/>
                  </a:solidFill>
                </a:rPr>
                <a:t> = −1</a:t>
              </a:r>
            </a:p>
          </p:txBody>
        </p:sp>
        <p:sp>
          <p:nvSpPr>
            <p:cNvPr id="93" name="Text Box 3"/>
            <p:cNvSpPr txBox="1">
              <a:spLocks noChangeArrowheads="1"/>
            </p:cNvSpPr>
            <p:nvPr/>
          </p:nvSpPr>
          <p:spPr bwMode="auto">
            <a:xfrm>
              <a:off x="8767166" y="4028628"/>
              <a:ext cx="288862" cy="505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  <a:defRPr/>
              </a:pPr>
              <a:r>
                <a:rPr lang="en-GB" sz="1600" u="sng" dirty="0">
                  <a:solidFill>
                    <a:srgbClr val="00B050"/>
                  </a:solidFill>
                </a:rPr>
                <a:t>1</a:t>
              </a:r>
            </a:p>
            <a:p>
              <a:pPr>
                <a:lnSpc>
                  <a:spcPts val="1600"/>
                </a:lnSpc>
                <a:defRPr/>
              </a:pPr>
              <a:r>
                <a:rPr lang="en-GB" sz="1600" dirty="0">
                  <a:solidFill>
                    <a:srgbClr val="00B050"/>
                  </a:solidFill>
                </a:rPr>
                <a:t>2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966248" y="4345698"/>
            <a:ext cx="924627" cy="545302"/>
            <a:chOff x="7966248" y="4611690"/>
            <a:chExt cx="924627" cy="545302"/>
          </a:xfrm>
        </p:grpSpPr>
        <p:sp>
          <p:nvSpPr>
            <p:cNvPr id="87" name="Text Box 3"/>
            <p:cNvSpPr txBox="1">
              <a:spLocks noChangeArrowheads="1"/>
            </p:cNvSpPr>
            <p:nvPr/>
          </p:nvSpPr>
          <p:spPr bwMode="auto">
            <a:xfrm>
              <a:off x="7966248" y="4611690"/>
              <a:ext cx="78418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2400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GB" sz="2400" dirty="0">
                  <a:solidFill>
                    <a:srgbClr val="00B050"/>
                  </a:solidFill>
                </a:rPr>
                <a:t> = −</a:t>
              </a:r>
            </a:p>
          </p:txBody>
        </p:sp>
        <p:sp>
          <p:nvSpPr>
            <p:cNvPr id="94" name="Text Box 3"/>
            <p:cNvSpPr txBox="1">
              <a:spLocks noChangeArrowheads="1"/>
            </p:cNvSpPr>
            <p:nvPr/>
          </p:nvSpPr>
          <p:spPr bwMode="auto">
            <a:xfrm>
              <a:off x="8602013" y="4651469"/>
              <a:ext cx="288862" cy="505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ts val="1600"/>
                </a:lnSpc>
                <a:defRPr/>
              </a:pPr>
              <a:r>
                <a:rPr lang="en-GB" sz="1600" u="sng" dirty="0">
                  <a:solidFill>
                    <a:srgbClr val="00B050"/>
                  </a:solidFill>
                </a:rPr>
                <a:t>5</a:t>
              </a:r>
            </a:p>
            <a:p>
              <a:pPr>
                <a:lnSpc>
                  <a:spcPts val="1600"/>
                </a:lnSpc>
                <a:defRPr/>
              </a:pPr>
              <a:r>
                <a:rPr lang="en-GB" sz="1600" dirty="0">
                  <a:solidFill>
                    <a:srgbClr val="00B050"/>
                  </a:solidFill>
                </a:rPr>
                <a:t>6</a:t>
              </a:r>
            </a:p>
          </p:txBody>
        </p:sp>
      </p:grpSp>
      <p:sp>
        <p:nvSpPr>
          <p:cNvPr id="46" name="Oval 45"/>
          <p:cNvSpPr/>
          <p:nvPr/>
        </p:nvSpPr>
        <p:spPr>
          <a:xfrm>
            <a:off x="417974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A hint; it is usually easier to rearrange the equation so that x is on the side that already has more.  Why is this?</a:t>
            </a:r>
          </a:p>
        </p:txBody>
      </p:sp>
      <p:sp>
        <p:nvSpPr>
          <p:cNvPr id="48" name="Oval 47"/>
          <p:cNvSpPr/>
          <p:nvPr/>
        </p:nvSpPr>
        <p:spPr>
          <a:xfrm>
            <a:off x="3958105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Make sure you are careful about the negative signs here.  Keep clear to which term a negative sign “belongs”.</a:t>
            </a:r>
          </a:p>
        </p:txBody>
      </p:sp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-7697" y="9600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Practice (3)</a:t>
            </a:r>
          </a:p>
        </p:txBody>
      </p:sp>
    </p:spTree>
    <p:extLst>
      <p:ext uri="{BB962C8B-B14F-4D97-AF65-F5344CB8AC3E}">
        <p14:creationId xmlns:p14="http://schemas.microsoft.com/office/powerpoint/2010/main" val="61750916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1" grpId="0"/>
      <p:bldP spid="81" grpId="1"/>
      <p:bldP spid="82" grpId="0"/>
      <p:bldP spid="82" grpId="1"/>
      <p:bldP spid="83" grpId="0"/>
      <p:bldP spid="83" grpId="1"/>
      <p:bldP spid="84" grpId="0"/>
      <p:bldP spid="84" grpId="1"/>
      <p:bldP spid="85" grpId="0"/>
      <p:bldP spid="85" grpId="1"/>
      <p:bldP spid="90" grpId="0"/>
      <p:bldP spid="90" grpId="1"/>
      <p:bldP spid="46" grpId="0" animBg="1"/>
      <p:bldP spid="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72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Mixed practice</a:t>
            </a:r>
            <a:endParaRPr lang="en-GB" b="1" dirty="0">
              <a:latin typeface="+mn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48247" y="1305661"/>
            <a:ext cx="3420504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ea typeface="Calibri" pitchFamily="34" charset="0"/>
                <a:cs typeface="Times New Roman" pitchFamily="18" charset="0"/>
              </a:rPr>
              <a:t>2x + 10 = 7x + 5</a:t>
            </a:r>
            <a:endParaRPr kumimoji="0" lang="en-G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ea typeface="Calibri" pitchFamily="34" charset="0"/>
                <a:cs typeface="Times New Roman" pitchFamily="18" charset="0"/>
              </a:rPr>
              <a:t> 3x + 9 = 6x</a:t>
            </a:r>
            <a:endParaRPr kumimoji="0" lang="en-G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3</a:t>
            </a:r>
            <a:r>
              <a:rPr kumimoji="0" lang="en-GB" sz="2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(x + 4) = 6x</a:t>
            </a:r>
            <a:endParaRPr kumimoji="0" lang="en-G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ea typeface="Calibri" pitchFamily="34" charset="0"/>
                <a:cs typeface="Times New Roman" pitchFamily="18" charset="0"/>
              </a:rPr>
              <a:t> 8y - 6 = 2(y + 9)</a:t>
            </a: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endParaRPr kumimoji="0" lang="en-G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kumimoji="0" lang="en-GB" sz="2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3(a </a:t>
            </a:r>
            <a:r>
              <a:rPr lang="en-GB" sz="2800" dirty="0">
                <a:ea typeface="Calibri" pitchFamily="34" charset="0"/>
                <a:cs typeface="Times New Roman" pitchFamily="18" charset="0"/>
              </a:rPr>
              <a:t>+</a:t>
            </a: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lang="en-GB" sz="2800" dirty="0">
                <a:ea typeface="Calibri" pitchFamily="34" charset="0"/>
                <a:cs typeface="Times New Roman" pitchFamily="18" charset="0"/>
              </a:rPr>
              <a:t>4) = 5 (a + 2)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3x - 8 = x + 2 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2x + 12 = 6x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5 + 3x = 9x – 4 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2 (a + 5) = 6 ( a – 5)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5 (y – 6) = 2 ( 6 + y) 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4b = 6b - 12</a:t>
            </a:r>
            <a:endParaRPr lang="en-GB" sz="280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05410" y="1305661"/>
            <a:ext cx="205639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x = 1 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GB" sz="2800" dirty="0">
                <a:solidFill>
                  <a:srgbClr val="0070C0"/>
                </a:solidFill>
              </a:rPr>
              <a:t>x = 3 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GB" sz="2800" dirty="0">
                <a:solidFill>
                  <a:srgbClr val="0070C0"/>
                </a:solidFill>
              </a:rPr>
              <a:t>x = 4 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GB" sz="2800" dirty="0">
                <a:solidFill>
                  <a:srgbClr val="0070C0"/>
                </a:solidFill>
              </a:rPr>
              <a:t>y = 4 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GB" sz="2800" dirty="0">
                <a:solidFill>
                  <a:srgbClr val="0070C0"/>
                </a:solidFill>
              </a:rPr>
              <a:t>a = 1  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GB" sz="2800" dirty="0">
                <a:solidFill>
                  <a:srgbClr val="0070C0"/>
                </a:solidFill>
              </a:rPr>
              <a:t>x = 5</a:t>
            </a:r>
          </a:p>
          <a:p>
            <a:r>
              <a:rPr lang="en-GB" sz="2800" dirty="0">
                <a:solidFill>
                  <a:srgbClr val="0070C0"/>
                </a:solidFill>
              </a:rPr>
              <a:t>x = 3</a:t>
            </a:r>
          </a:p>
          <a:p>
            <a:r>
              <a:rPr lang="en-GB" sz="2800" dirty="0">
                <a:solidFill>
                  <a:srgbClr val="0070C0"/>
                </a:solidFill>
              </a:rPr>
              <a:t>x = 1.5</a:t>
            </a:r>
          </a:p>
          <a:p>
            <a:r>
              <a:rPr lang="en-GB" sz="2800" dirty="0">
                <a:solidFill>
                  <a:srgbClr val="0070C0"/>
                </a:solidFill>
              </a:rPr>
              <a:t>a = 10</a:t>
            </a:r>
          </a:p>
          <a:p>
            <a:r>
              <a:rPr lang="en-GB" sz="2800" dirty="0">
                <a:solidFill>
                  <a:srgbClr val="0070C0"/>
                </a:solidFill>
              </a:rPr>
              <a:t>y = 14</a:t>
            </a:r>
          </a:p>
          <a:p>
            <a:r>
              <a:rPr lang="en-GB" sz="2800" dirty="0">
                <a:solidFill>
                  <a:srgbClr val="0070C0"/>
                </a:solidFill>
              </a:rPr>
              <a:t>b = 6  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4884" y="1175978"/>
            <a:ext cx="221599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>
                <a:solidFill>
                  <a:schemeClr val="accent4">
                    <a:lumMod val="75000"/>
                  </a:schemeClr>
                </a:solidFill>
                <a:cs typeface="Arial" panose="020B0604020202020204" pitchFamily="34" charset="0"/>
              </a:rPr>
              <a:t>ABCD</a:t>
            </a:r>
            <a:r>
              <a:rPr lang="en-GB" sz="1600" dirty="0">
                <a:solidFill>
                  <a:schemeClr val="accent4">
                    <a:lumMod val="75000"/>
                  </a:schemeClr>
                </a:solidFill>
                <a:cs typeface="Arial" panose="020B0604020202020204" pitchFamily="34" charset="0"/>
              </a:rPr>
              <a:t> is a parallelogram.</a:t>
            </a:r>
          </a:p>
          <a:p>
            <a:endParaRPr lang="en-GB" sz="1600" dirty="0">
              <a:solidFill>
                <a:schemeClr val="accent4">
                  <a:lumMod val="75000"/>
                </a:schemeClr>
              </a:solidFill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accent4">
                    <a:lumMod val="75000"/>
                  </a:schemeClr>
                </a:solidFill>
                <a:cs typeface="Arial" panose="020B0604020202020204" pitchFamily="34" charset="0"/>
              </a:rPr>
              <a:t>Find the size of angle </a:t>
            </a:r>
            <a:r>
              <a:rPr lang="en-GB" i="1" dirty="0">
                <a:solidFill>
                  <a:schemeClr val="accent4">
                    <a:lumMod val="75000"/>
                  </a:schemeClr>
                </a:solidFill>
                <a:cs typeface="Times New Roman" panose="02020603050405020304" pitchFamily="18" charset="0"/>
              </a:rPr>
              <a:t>y</a:t>
            </a:r>
            <a:r>
              <a:rPr lang="en-GB" sz="1600" dirty="0">
                <a:solidFill>
                  <a:schemeClr val="accent4">
                    <a:lumMod val="75000"/>
                  </a:schemeClr>
                </a:solidFill>
                <a:cs typeface="Arial" panose="020B0604020202020204" pitchFamily="34" charset="0"/>
              </a:rPr>
              <a:t>°.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05729" y="1955533"/>
            <a:ext cx="4222390" cy="2341832"/>
            <a:chOff x="821786" y="1936816"/>
            <a:chExt cx="4222390" cy="2341832"/>
          </a:xfrm>
        </p:grpSpPr>
        <p:sp>
          <p:nvSpPr>
            <p:cNvPr id="7" name="Parallelogram 6"/>
            <p:cNvSpPr/>
            <p:nvPr/>
          </p:nvSpPr>
          <p:spPr>
            <a:xfrm>
              <a:off x="1207698" y="2322729"/>
              <a:ext cx="3450566" cy="1570008"/>
            </a:xfrm>
            <a:prstGeom prst="parallelogram">
              <a:avLst>
                <a:gd name="adj" fmla="val 53767"/>
              </a:avLst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2" name="Arc 11"/>
            <p:cNvSpPr/>
            <p:nvPr/>
          </p:nvSpPr>
          <p:spPr>
            <a:xfrm>
              <a:off x="4272352" y="1936817"/>
              <a:ext cx="771824" cy="771824"/>
            </a:xfrm>
            <a:prstGeom prst="arc">
              <a:avLst>
                <a:gd name="adj1" fmla="val 7119122"/>
                <a:gd name="adj2" fmla="val 10793204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3" name="Arc 12"/>
            <p:cNvSpPr/>
            <p:nvPr/>
          </p:nvSpPr>
          <p:spPr>
            <a:xfrm rot="10800000">
              <a:off x="821786" y="3506824"/>
              <a:ext cx="771824" cy="771824"/>
            </a:xfrm>
            <a:prstGeom prst="arc">
              <a:avLst>
                <a:gd name="adj1" fmla="val 7119122"/>
                <a:gd name="adj2" fmla="val 10793204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7" name="Arc 16"/>
            <p:cNvSpPr/>
            <p:nvPr/>
          </p:nvSpPr>
          <p:spPr>
            <a:xfrm rot="10800000">
              <a:off x="3426874" y="3506824"/>
              <a:ext cx="771824" cy="771824"/>
            </a:xfrm>
            <a:prstGeom prst="arc">
              <a:avLst>
                <a:gd name="adj1" fmla="val 56397"/>
                <a:gd name="adj2" fmla="val 7089137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21" name="Arc 20"/>
            <p:cNvSpPr/>
            <p:nvPr/>
          </p:nvSpPr>
          <p:spPr>
            <a:xfrm>
              <a:off x="1668287" y="1936816"/>
              <a:ext cx="771824" cy="771824"/>
            </a:xfrm>
            <a:prstGeom prst="arc">
              <a:avLst>
                <a:gd name="adj1" fmla="val 56397"/>
                <a:gd name="adj2" fmla="val 7089137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677953" y="3231045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>
                  <a:solidFill>
                    <a:schemeClr val="accent4">
                      <a:lumMod val="75000"/>
                    </a:schemeClr>
                  </a:solidFill>
                  <a:cs typeface="Arial" panose="020B0604020202020204" pitchFamily="34" charset="0"/>
                </a:rPr>
                <a:t>(3</a:t>
              </a:r>
              <a:r>
                <a:rPr lang="en-GB" i="1" dirty="0">
                  <a:solidFill>
                    <a:schemeClr val="accent4">
                      <a:lumMod val="75000"/>
                    </a:schemeClr>
                  </a:solidFill>
                  <a:cs typeface="Times New Roman" panose="02020603050405020304" pitchFamily="18" charset="0"/>
                </a:rPr>
                <a:t>x </a:t>
              </a:r>
              <a:r>
                <a:rPr lang="en-GB" sz="1600" dirty="0">
                  <a:solidFill>
                    <a:schemeClr val="accent4">
                      <a:lumMod val="75000"/>
                    </a:schemeClr>
                  </a:solidFill>
                  <a:cs typeface="Arial" panose="020B0604020202020204" pitchFamily="34" charset="0"/>
                </a:rPr>
                <a:t>+ 50)°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11529" y="2579267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>
                  <a:solidFill>
                    <a:schemeClr val="accent4">
                      <a:lumMod val="75000"/>
                    </a:schemeClr>
                  </a:solidFill>
                  <a:cs typeface="Arial" panose="020B0604020202020204" pitchFamily="34" charset="0"/>
                </a:rPr>
                <a:t>(5</a:t>
              </a:r>
              <a:r>
                <a:rPr lang="en-GB" i="1" dirty="0">
                  <a:solidFill>
                    <a:schemeClr val="accent4">
                      <a:lumMod val="75000"/>
                    </a:schemeClr>
                  </a:solidFill>
                  <a:cs typeface="Times New Roman" panose="02020603050405020304" pitchFamily="18" charset="0"/>
                </a:rPr>
                <a:t>x </a:t>
              </a:r>
              <a:r>
                <a:rPr lang="en-GB" sz="1600" dirty="0">
                  <a:solidFill>
                    <a:schemeClr val="accent4">
                      <a:lumMod val="75000"/>
                    </a:schemeClr>
                  </a:solidFill>
                  <a:cs typeface="Arial" panose="020B0604020202020204" pitchFamily="34" charset="0"/>
                </a:rPr>
                <a:t>− 10)°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12223" y="3371763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>
                  <a:solidFill>
                    <a:schemeClr val="accent4">
                      <a:lumMod val="75000"/>
                    </a:schemeClr>
                  </a:solidFill>
                  <a:cs typeface="Times New Roman" panose="02020603050405020304" pitchFamily="18" charset="0"/>
                </a:rPr>
                <a:t>y</a:t>
              </a:r>
              <a:r>
                <a:rPr lang="en-GB" sz="1600" dirty="0">
                  <a:solidFill>
                    <a:schemeClr val="accent4">
                      <a:lumMod val="75000"/>
                    </a:schemeClr>
                  </a:solidFill>
                  <a:cs typeface="Arial" panose="020B0604020202020204" pitchFamily="34" charset="0"/>
                </a:rPr>
                <a:t>°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014192" y="2370188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>
                  <a:solidFill>
                    <a:schemeClr val="accent4">
                      <a:lumMod val="75000"/>
                    </a:schemeClr>
                  </a:solidFill>
                  <a:cs typeface="Times New Roman" panose="02020603050405020304" pitchFamily="18" charset="0"/>
                </a:rPr>
                <a:t>y</a:t>
              </a:r>
              <a:r>
                <a:rPr lang="en-GB" sz="1600" dirty="0">
                  <a:solidFill>
                    <a:schemeClr val="accent4">
                      <a:lumMod val="75000"/>
                    </a:schemeClr>
                  </a:solidFill>
                  <a:cs typeface="Arial" panose="020B0604020202020204" pitchFamily="34" charset="0"/>
                </a:rPr>
                <a:t>°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43352" y="1984174"/>
              <a:ext cx="2920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i="1" dirty="0">
                  <a:solidFill>
                    <a:schemeClr val="accent4">
                      <a:lumMod val="75000"/>
                    </a:schemeClr>
                  </a:solidFill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716490" y="1984174"/>
              <a:ext cx="311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i="1" dirty="0">
                  <a:solidFill>
                    <a:schemeClr val="accent4">
                      <a:lumMod val="75000"/>
                    </a:schemeClr>
                  </a:solidFill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717287" y="3895220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i="1" dirty="0">
                  <a:solidFill>
                    <a:schemeClr val="accent4">
                      <a:lumMod val="75000"/>
                    </a:schemeClr>
                  </a:solidFill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19006" y="3895220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i="1" dirty="0">
                  <a:solidFill>
                    <a:schemeClr val="accent4">
                      <a:lumMod val="75000"/>
                    </a:schemeClr>
                  </a:solidFill>
                  <a:cs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05729" y="4297365"/>
            <a:ext cx="1907894" cy="17321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dirty="0"/>
              <a:t>  5</a:t>
            </a:r>
            <a:r>
              <a:rPr lang="en-GB" i="1" dirty="0"/>
              <a:t>x</a:t>
            </a:r>
            <a:r>
              <a:rPr lang="en-GB" dirty="0"/>
              <a:t> − 10 = 3</a:t>
            </a:r>
            <a:r>
              <a:rPr lang="en-GB" i="1" dirty="0"/>
              <a:t>x</a:t>
            </a:r>
            <a:r>
              <a:rPr lang="en-GB" dirty="0"/>
              <a:t> + 50 </a:t>
            </a:r>
          </a:p>
          <a:p>
            <a:pPr algn="ctr">
              <a:lnSpc>
                <a:spcPct val="120000"/>
              </a:lnSpc>
            </a:pPr>
            <a:r>
              <a:rPr lang="en-GB" dirty="0"/>
              <a:t>5</a:t>
            </a:r>
            <a:r>
              <a:rPr lang="en-GB" i="1" dirty="0"/>
              <a:t>x</a:t>
            </a:r>
            <a:r>
              <a:rPr lang="en-GB" dirty="0"/>
              <a:t> − 3</a:t>
            </a:r>
            <a:r>
              <a:rPr lang="en-GB" i="1" dirty="0"/>
              <a:t>x</a:t>
            </a:r>
            <a:r>
              <a:rPr lang="en-GB" dirty="0"/>
              <a:t> = 50 + 10</a:t>
            </a:r>
          </a:p>
          <a:p>
            <a:pPr algn="ctr">
              <a:lnSpc>
                <a:spcPct val="120000"/>
              </a:lnSpc>
            </a:pPr>
            <a:r>
              <a:rPr lang="en-GB" dirty="0"/>
              <a:t>2</a:t>
            </a:r>
            <a:r>
              <a:rPr lang="en-GB" i="1" dirty="0"/>
              <a:t>x</a:t>
            </a:r>
            <a:r>
              <a:rPr lang="en-GB" dirty="0"/>
              <a:t> = 60</a:t>
            </a:r>
          </a:p>
          <a:p>
            <a:pPr algn="ctr">
              <a:lnSpc>
                <a:spcPct val="120000"/>
              </a:lnSpc>
            </a:pPr>
            <a:r>
              <a:rPr lang="en-GB" dirty="0"/>
              <a:t>         </a:t>
            </a:r>
            <a:r>
              <a:rPr lang="en-GB" i="1" dirty="0"/>
              <a:t>x</a:t>
            </a:r>
            <a:r>
              <a:rPr lang="en-GB" dirty="0"/>
              <a:t> = 60 ÷ 2 </a:t>
            </a:r>
          </a:p>
          <a:p>
            <a:pPr algn="ctr">
              <a:lnSpc>
                <a:spcPct val="120000"/>
              </a:lnSpc>
            </a:pPr>
            <a:r>
              <a:rPr lang="en-GB" i="1" dirty="0"/>
              <a:t>   x</a:t>
            </a:r>
            <a:r>
              <a:rPr lang="en-GB" dirty="0"/>
              <a:t> = 30</a:t>
            </a:r>
            <a:endParaRPr lang="en-GB" i="1" dirty="0"/>
          </a:p>
        </p:txBody>
      </p:sp>
      <p:sp>
        <p:nvSpPr>
          <p:cNvPr id="39" name="TextBox 38"/>
          <p:cNvSpPr txBox="1"/>
          <p:nvPr/>
        </p:nvSpPr>
        <p:spPr>
          <a:xfrm>
            <a:off x="2568581" y="4604565"/>
            <a:ext cx="2572422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dirty="0"/>
              <a:t>5</a:t>
            </a:r>
            <a:r>
              <a:rPr lang="en-GB" i="1" dirty="0"/>
              <a:t>x</a:t>
            </a:r>
            <a:r>
              <a:rPr lang="en-GB" dirty="0"/>
              <a:t> − 10 = 3</a:t>
            </a:r>
            <a:r>
              <a:rPr lang="en-GB" i="1" dirty="0"/>
              <a:t>x</a:t>
            </a:r>
            <a:r>
              <a:rPr lang="en-GB" dirty="0"/>
              <a:t> + 50</a:t>
            </a:r>
          </a:p>
          <a:p>
            <a:pPr algn="r">
              <a:lnSpc>
                <a:spcPct val="120000"/>
              </a:lnSpc>
            </a:pPr>
            <a:r>
              <a:rPr lang="en-GB" dirty="0"/>
              <a:t>= 140 when </a:t>
            </a:r>
            <a:r>
              <a:rPr lang="en-GB" i="1" dirty="0"/>
              <a:t>x</a:t>
            </a:r>
            <a:r>
              <a:rPr lang="en-GB" dirty="0"/>
              <a:t> = 30</a:t>
            </a:r>
          </a:p>
          <a:p>
            <a:pPr algn="ctr">
              <a:lnSpc>
                <a:spcPct val="120000"/>
              </a:lnSpc>
            </a:pPr>
            <a:r>
              <a:rPr lang="en-GB" i="1" dirty="0"/>
              <a:t>y</a:t>
            </a:r>
            <a:r>
              <a:rPr lang="en-GB" dirty="0"/>
              <a:t> = (360 − 140 − 140) ÷ 2</a:t>
            </a:r>
          </a:p>
          <a:p>
            <a:pPr>
              <a:lnSpc>
                <a:spcPct val="120000"/>
              </a:lnSpc>
            </a:pPr>
            <a:r>
              <a:rPr lang="en-GB" i="1" dirty="0"/>
              <a:t>y </a:t>
            </a:r>
            <a:r>
              <a:rPr lang="en-GB" dirty="0"/>
              <a:t>= 40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Problem solving and reasoning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6145287" y="3663473"/>
            <a:ext cx="1905751" cy="96615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44181" y="1427761"/>
            <a:ext cx="4976042" cy="10772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600" dirty="0">
                <a:cs typeface="Arial" panose="020B0604020202020204" pitchFamily="34" charset="0"/>
              </a:rPr>
              <a:t>Here is part of a drawing of a regular polygon.</a:t>
            </a:r>
          </a:p>
          <a:p>
            <a:r>
              <a:rPr lang="en-GB" sz="1600" dirty="0">
                <a:cs typeface="Arial" panose="020B0604020202020204" pitchFamily="34" charset="0"/>
              </a:rPr>
              <a:t>It shows two of the interior angles of the regular polygon.</a:t>
            </a:r>
          </a:p>
          <a:p>
            <a:endParaRPr lang="en-GB" sz="1600" dirty="0">
              <a:cs typeface="Arial" panose="020B0604020202020204" pitchFamily="34" charset="0"/>
            </a:endParaRPr>
          </a:p>
          <a:p>
            <a:r>
              <a:rPr lang="en-GB" sz="1600" dirty="0">
                <a:cs typeface="Arial" panose="020B0604020202020204" pitchFamily="34" charset="0"/>
              </a:rPr>
              <a:t>How many sides does the regular polygon have?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0947" y="4126227"/>
            <a:ext cx="3334944" cy="2731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</a:rPr>
              <a:t>  6</a:t>
            </a:r>
            <a:r>
              <a:rPr lang="en-GB" sz="1600" i="1" dirty="0">
                <a:solidFill>
                  <a:srgbClr val="00B050"/>
                </a:solidFill>
              </a:rPr>
              <a:t>x</a:t>
            </a:r>
            <a:r>
              <a:rPr lang="en-GB" sz="1600" dirty="0">
                <a:solidFill>
                  <a:srgbClr val="00B050"/>
                </a:solidFill>
              </a:rPr>
              <a:t> − 70 = 4</a:t>
            </a:r>
            <a:r>
              <a:rPr lang="en-GB" sz="1600" i="1" dirty="0">
                <a:solidFill>
                  <a:srgbClr val="00B050"/>
                </a:solidFill>
              </a:rPr>
              <a:t>x</a:t>
            </a:r>
            <a:r>
              <a:rPr lang="en-GB" sz="1600" dirty="0">
                <a:solidFill>
                  <a:srgbClr val="00B050"/>
                </a:solidFill>
              </a:rPr>
              <a:t> + 10 </a:t>
            </a:r>
          </a:p>
          <a:p>
            <a:pPr algn="ctr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</a:rPr>
              <a:t>6</a:t>
            </a:r>
            <a:r>
              <a:rPr lang="en-GB" sz="1600" i="1" dirty="0">
                <a:solidFill>
                  <a:srgbClr val="00B050"/>
                </a:solidFill>
              </a:rPr>
              <a:t>x</a:t>
            </a:r>
            <a:r>
              <a:rPr lang="en-GB" sz="1600" dirty="0">
                <a:solidFill>
                  <a:srgbClr val="00B050"/>
                </a:solidFill>
              </a:rPr>
              <a:t> − 4</a:t>
            </a:r>
            <a:r>
              <a:rPr lang="en-GB" sz="1600" i="1" dirty="0">
                <a:solidFill>
                  <a:srgbClr val="00B050"/>
                </a:solidFill>
              </a:rPr>
              <a:t>x</a:t>
            </a:r>
            <a:r>
              <a:rPr lang="en-GB" sz="1600" dirty="0">
                <a:solidFill>
                  <a:srgbClr val="00B050"/>
                </a:solidFill>
              </a:rPr>
              <a:t> = 10 + 70</a:t>
            </a:r>
          </a:p>
          <a:p>
            <a:pPr algn="ctr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</a:rPr>
              <a:t>2</a:t>
            </a:r>
            <a:r>
              <a:rPr lang="en-GB" sz="1600" i="1" dirty="0">
                <a:solidFill>
                  <a:srgbClr val="00B050"/>
                </a:solidFill>
              </a:rPr>
              <a:t>x</a:t>
            </a:r>
            <a:r>
              <a:rPr lang="en-GB" sz="1600" dirty="0">
                <a:solidFill>
                  <a:srgbClr val="00B050"/>
                </a:solidFill>
              </a:rPr>
              <a:t> = 80</a:t>
            </a:r>
          </a:p>
          <a:p>
            <a:pPr algn="ctr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</a:rPr>
              <a:t>         </a:t>
            </a:r>
            <a:r>
              <a:rPr lang="en-GB" sz="1600" i="1" dirty="0">
                <a:solidFill>
                  <a:srgbClr val="00B050"/>
                </a:solidFill>
              </a:rPr>
              <a:t>x</a:t>
            </a:r>
            <a:r>
              <a:rPr lang="en-GB" sz="1600" dirty="0">
                <a:solidFill>
                  <a:srgbClr val="00B050"/>
                </a:solidFill>
              </a:rPr>
              <a:t> = 80 ÷ 2 </a:t>
            </a:r>
          </a:p>
          <a:p>
            <a:pPr algn="ctr">
              <a:lnSpc>
                <a:spcPct val="120000"/>
              </a:lnSpc>
            </a:pPr>
            <a:r>
              <a:rPr lang="en-GB" sz="1600" i="1" dirty="0">
                <a:solidFill>
                  <a:srgbClr val="00B050"/>
                </a:solidFill>
              </a:rPr>
              <a:t>   x</a:t>
            </a:r>
            <a:r>
              <a:rPr lang="en-GB" sz="1600" dirty="0">
                <a:solidFill>
                  <a:srgbClr val="00B050"/>
                </a:solidFill>
              </a:rPr>
              <a:t> = 40</a:t>
            </a:r>
          </a:p>
          <a:p>
            <a:pPr algn="ctr">
              <a:lnSpc>
                <a:spcPct val="120000"/>
              </a:lnSpc>
            </a:pPr>
            <a:endParaRPr lang="en-GB" sz="16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</a:rPr>
              <a:t>Each angle is 170°, if </a:t>
            </a:r>
            <a:r>
              <a:rPr lang="en-GB" sz="1600" i="1" dirty="0">
                <a:solidFill>
                  <a:srgbClr val="00B050"/>
                </a:solidFill>
              </a:rPr>
              <a:t>x</a:t>
            </a:r>
            <a:r>
              <a:rPr lang="en-GB" sz="1600" dirty="0">
                <a:solidFill>
                  <a:srgbClr val="00B050"/>
                </a:solidFill>
              </a:rPr>
              <a:t> = 40;</a:t>
            </a:r>
          </a:p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</a:rPr>
              <a:t>Exterior angles give</a:t>
            </a:r>
          </a:p>
          <a:p>
            <a:pPr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</a:rPr>
              <a:t>360 ÷ (180 − 170) = </a:t>
            </a:r>
            <a:r>
              <a:rPr lang="en-GB" sz="1600" u="sng" dirty="0">
                <a:solidFill>
                  <a:srgbClr val="00B050"/>
                </a:solidFill>
              </a:rPr>
              <a:t>36 sides</a:t>
            </a:r>
            <a:r>
              <a:rPr lang="en-GB" sz="1600" dirty="0">
                <a:solidFill>
                  <a:srgbClr val="00B050"/>
                </a:solidFill>
              </a:rPr>
              <a:t>.</a:t>
            </a:r>
          </a:p>
        </p:txBody>
      </p:sp>
      <p:sp>
        <p:nvSpPr>
          <p:cNvPr id="41" name="Arc 40"/>
          <p:cNvSpPr/>
          <p:nvPr/>
        </p:nvSpPr>
        <p:spPr>
          <a:xfrm>
            <a:off x="5137287" y="3537360"/>
            <a:ext cx="1008000" cy="1008000"/>
          </a:xfrm>
          <a:prstGeom prst="arc">
            <a:avLst>
              <a:gd name="adj1" fmla="val 12332566"/>
              <a:gd name="adj2" fmla="val 2148989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Arc 41"/>
          <p:cNvSpPr/>
          <p:nvPr/>
        </p:nvSpPr>
        <p:spPr>
          <a:xfrm>
            <a:off x="6967087" y="3452805"/>
            <a:ext cx="1008000" cy="1008000"/>
          </a:xfrm>
          <a:prstGeom prst="arc">
            <a:avLst>
              <a:gd name="adj1" fmla="val 10812769"/>
              <a:gd name="adj2" fmla="val 2005440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TextBox 42"/>
          <p:cNvSpPr txBox="1"/>
          <p:nvPr/>
        </p:nvSpPr>
        <p:spPr>
          <a:xfrm>
            <a:off x="5222835" y="3152739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(6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− 70)°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087" y="3083473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(4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+ 10)°</a:t>
            </a:r>
          </a:p>
        </p:txBody>
      </p:sp>
      <p:sp>
        <p:nvSpPr>
          <p:cNvPr id="45" name="Arc 44"/>
          <p:cNvSpPr/>
          <p:nvPr/>
        </p:nvSpPr>
        <p:spPr>
          <a:xfrm>
            <a:off x="6862251" y="3347969"/>
            <a:ext cx="1217672" cy="1217672"/>
          </a:xfrm>
          <a:prstGeom prst="arc">
            <a:avLst>
              <a:gd name="adj1" fmla="val 9158805"/>
              <a:gd name="adj2" fmla="val 10732802"/>
            </a:avLst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Freeform: Shape 1"/>
          <p:cNvSpPr/>
          <p:nvPr/>
        </p:nvSpPr>
        <p:spPr>
          <a:xfrm>
            <a:off x="4420323" y="3162253"/>
            <a:ext cx="4623758" cy="858328"/>
          </a:xfrm>
          <a:custGeom>
            <a:avLst/>
            <a:gdLst>
              <a:gd name="connsiteX0" fmla="*/ 0 w 6314536"/>
              <a:gd name="connsiteY0" fmla="*/ 621102 h 1518249"/>
              <a:gd name="connsiteX1" fmla="*/ 1664898 w 6314536"/>
              <a:gd name="connsiteY1" fmla="*/ 1518249 h 1518249"/>
              <a:gd name="connsiteX2" fmla="*/ 4192438 w 6314536"/>
              <a:gd name="connsiteY2" fmla="*/ 1380227 h 1518249"/>
              <a:gd name="connsiteX3" fmla="*/ 6314536 w 6314536"/>
              <a:gd name="connsiteY3" fmla="*/ 0 h 1518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4536" h="1518249">
                <a:moveTo>
                  <a:pt x="0" y="621102"/>
                </a:moveTo>
                <a:lnTo>
                  <a:pt x="1664898" y="1518249"/>
                </a:lnTo>
                <a:lnTo>
                  <a:pt x="4192438" y="1380227"/>
                </a:lnTo>
                <a:lnTo>
                  <a:pt x="6314536" y="0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Freeform: Shape 14"/>
          <p:cNvSpPr/>
          <p:nvPr/>
        </p:nvSpPr>
        <p:spPr>
          <a:xfrm>
            <a:off x="6970490" y="4030095"/>
            <a:ext cx="465692" cy="2231621"/>
          </a:xfrm>
          <a:custGeom>
            <a:avLst/>
            <a:gdLst>
              <a:gd name="connsiteX0" fmla="*/ 1595887 w 1595887"/>
              <a:gd name="connsiteY0" fmla="*/ 802256 h 802256"/>
              <a:gd name="connsiteX1" fmla="*/ 681487 w 1595887"/>
              <a:gd name="connsiteY1" fmla="*/ 621102 h 802256"/>
              <a:gd name="connsiteX2" fmla="*/ 0 w 1595887"/>
              <a:gd name="connsiteY2" fmla="*/ 0 h 802256"/>
              <a:gd name="connsiteX0" fmla="*/ 1595887 w 1595887"/>
              <a:gd name="connsiteY0" fmla="*/ 802256 h 802256"/>
              <a:gd name="connsiteX1" fmla="*/ 681487 w 1595887"/>
              <a:gd name="connsiteY1" fmla="*/ 621102 h 802256"/>
              <a:gd name="connsiteX2" fmla="*/ 0 w 1595887"/>
              <a:gd name="connsiteY2" fmla="*/ 0 h 802256"/>
              <a:gd name="connsiteX0" fmla="*/ 1578634 w 1578634"/>
              <a:gd name="connsiteY0" fmla="*/ 879893 h 879893"/>
              <a:gd name="connsiteX1" fmla="*/ 664234 w 1578634"/>
              <a:gd name="connsiteY1" fmla="*/ 698739 h 879893"/>
              <a:gd name="connsiteX2" fmla="*/ 0 w 1578634"/>
              <a:gd name="connsiteY2" fmla="*/ 0 h 879893"/>
              <a:gd name="connsiteX0" fmla="*/ 1578634 w 1578634"/>
              <a:gd name="connsiteY0" fmla="*/ 879893 h 879893"/>
              <a:gd name="connsiteX1" fmla="*/ 664234 w 1578634"/>
              <a:gd name="connsiteY1" fmla="*/ 698739 h 879893"/>
              <a:gd name="connsiteX2" fmla="*/ 0 w 1578634"/>
              <a:gd name="connsiteY2" fmla="*/ 0 h 879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8634" h="879893">
                <a:moveTo>
                  <a:pt x="1578634" y="879893"/>
                </a:moveTo>
                <a:cubicBezTo>
                  <a:pt x="1273834" y="819508"/>
                  <a:pt x="927340" y="845388"/>
                  <a:pt x="664234" y="698739"/>
                </a:cubicBezTo>
                <a:cubicBezTo>
                  <a:pt x="401128" y="552090"/>
                  <a:pt x="209909" y="353683"/>
                  <a:pt x="0" y="0"/>
                </a:cubicBezTo>
              </a:path>
            </a:pathLst>
          </a:custGeom>
          <a:noFill/>
          <a:ln w="63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: Rounded Corners 15"/>
          <p:cNvSpPr/>
          <p:nvPr/>
        </p:nvSpPr>
        <p:spPr>
          <a:xfrm>
            <a:off x="6459891" y="6197726"/>
            <a:ext cx="1323660" cy="346312"/>
          </a:xfrm>
          <a:prstGeom prst="roundRect">
            <a:avLst/>
          </a:prstGeom>
          <a:noFill/>
          <a:ln w="63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/>
          <p:cNvSpPr/>
          <p:nvPr/>
        </p:nvSpPr>
        <p:spPr>
          <a:xfrm>
            <a:off x="10424308" y="5060952"/>
            <a:ext cx="595222" cy="30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550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  <p:bldP spid="39" grpId="0" build="p"/>
      <p:bldP spid="40" grpId="0" build="p"/>
      <p:bldP spid="45" grpId="0" animBg="1"/>
      <p:bldP spid="47" grpId="0" animBg="1"/>
      <p:bldP spid="48" grpId="0" animBg="1"/>
      <p:bldP spid="4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4684123" y="1894115"/>
            <a:ext cx="2821577" cy="3487783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5232764" y="3422469"/>
            <a:ext cx="431074" cy="15675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6600010" y="3383280"/>
            <a:ext cx="461553" cy="20465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0700" y="1630680"/>
            <a:ext cx="29830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ABC is an isosceles triangle. </a:t>
            </a:r>
          </a:p>
          <a:p>
            <a:endParaRPr lang="en-GB" sz="2400" dirty="0"/>
          </a:p>
          <a:p>
            <a:pPr marL="342900" indent="-342900">
              <a:buAutoNum type="alphaLcParenR"/>
            </a:pPr>
            <a:r>
              <a:rPr lang="en-GB" sz="2400" dirty="0"/>
              <a:t>Find the value of a.</a:t>
            </a:r>
          </a:p>
          <a:p>
            <a:pPr marL="342900" indent="-342900">
              <a:buAutoNum type="alphaLcParenR"/>
            </a:pPr>
            <a:r>
              <a:rPr lang="en-GB" sz="2400" dirty="0"/>
              <a:t>Find the length 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8866" y="2704012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5a - 3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0891" y="2713537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2a + 6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2891" y="1364162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4916" y="5247187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8144" y="5183687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C</a:t>
            </a:r>
          </a:p>
        </p:txBody>
      </p:sp>
      <p:sp>
        <p:nvSpPr>
          <p:cNvPr id="16" name="Left Arrow 15"/>
          <p:cNvSpPr/>
          <p:nvPr/>
        </p:nvSpPr>
        <p:spPr>
          <a:xfrm rot="20221872">
            <a:off x="3370337" y="3483923"/>
            <a:ext cx="3436458" cy="2348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Left Arrow 16"/>
          <p:cNvSpPr/>
          <p:nvPr/>
        </p:nvSpPr>
        <p:spPr>
          <a:xfrm rot="19959428" flipV="1">
            <a:off x="1758364" y="3535253"/>
            <a:ext cx="2256089" cy="29709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536665" y="4088312"/>
            <a:ext cx="233670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2a + 6        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9016" y="4094662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5a - 3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4540250"/>
            <a:ext cx="69082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- 2a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2400" y="4518025"/>
            <a:ext cx="69082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- 2a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5650" y="5089525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+ 3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675" y="5162550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+ 3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675" y="5845175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3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4950" y="5791200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3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315" y="4764587"/>
            <a:ext cx="413693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    6        =    3a - 3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840" y="5424987"/>
            <a:ext cx="413693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    9        =    3a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365" y="6101262"/>
            <a:ext cx="413693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    3        =     a 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750" y="3794125"/>
            <a:ext cx="425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a)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0" y="-930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Problem solving and reasoning</a:t>
            </a:r>
            <a:endParaRPr lang="en-GB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4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4684123" y="1894115"/>
            <a:ext cx="2821577" cy="3487783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5232764" y="3422469"/>
            <a:ext cx="431074" cy="15675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6600010" y="3383280"/>
            <a:ext cx="461553" cy="20465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0700" y="1630680"/>
            <a:ext cx="29830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ABC is an isosceles triangle. </a:t>
            </a:r>
          </a:p>
          <a:p>
            <a:endParaRPr lang="en-GB" sz="2400" dirty="0"/>
          </a:p>
          <a:p>
            <a:pPr marL="342900" indent="-342900">
              <a:buAutoNum type="alphaLcParenR"/>
            </a:pPr>
            <a:r>
              <a:rPr lang="en-GB" sz="2400" dirty="0"/>
              <a:t>Find the value of a.</a:t>
            </a:r>
          </a:p>
          <a:p>
            <a:pPr marL="342900" indent="-342900">
              <a:buAutoNum type="alphaLcParenR"/>
            </a:pPr>
            <a:r>
              <a:rPr lang="en-GB" sz="2400" dirty="0"/>
              <a:t>Find the length 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8866" y="2704012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5a - 3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0891" y="2713537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2a + 6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2891" y="1364162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4916" y="5247187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8144" y="5183687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C</a:t>
            </a:r>
          </a:p>
        </p:txBody>
      </p:sp>
      <p:sp>
        <p:nvSpPr>
          <p:cNvPr id="17" name="Left Arrow 16"/>
          <p:cNvSpPr/>
          <p:nvPr/>
        </p:nvSpPr>
        <p:spPr>
          <a:xfrm rot="19959428" flipV="1">
            <a:off x="1758364" y="3535253"/>
            <a:ext cx="2256089" cy="29709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536665" y="4088312"/>
            <a:ext cx="233670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AB = 2a + 6  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065" y="4701087"/>
            <a:ext cx="233670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2">
                    <a:lumMod val="75000"/>
                  </a:schemeClr>
                </a:solidFill>
              </a:rPr>
              <a:t>a = 3        </a:t>
            </a:r>
          </a:p>
        </p:txBody>
      </p:sp>
      <p:sp>
        <p:nvSpPr>
          <p:cNvPr id="3" name="Bent-Up Arrow 2"/>
          <p:cNvSpPr/>
          <p:nvPr/>
        </p:nvSpPr>
        <p:spPr>
          <a:xfrm>
            <a:off x="1476375" y="4556125"/>
            <a:ext cx="396875" cy="444500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444590" y="5218612"/>
            <a:ext cx="233670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AB = 2x</a:t>
            </a:r>
            <a:r>
              <a:rPr lang="en-GB" sz="3200" dirty="0">
                <a:solidFill>
                  <a:srgbClr val="C55A11"/>
                </a:solidFill>
              </a:rPr>
              <a:t>3</a:t>
            </a:r>
            <a:r>
              <a:rPr lang="en-GB" sz="3200" dirty="0"/>
              <a:t> + 6     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990" y="5720262"/>
            <a:ext cx="292726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AB = 6 + 6  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750" y="3794125"/>
            <a:ext cx="439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9515" y="6126662"/>
            <a:ext cx="292726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AB = 12 units       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Problem solving and reasoning</a:t>
            </a:r>
            <a:endParaRPr lang="en-GB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9" grpId="0"/>
      <p:bldP spid="3" grpId="0" animBg="1"/>
      <p:bldP spid="30" grpId="0"/>
      <p:bldP spid="3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Problem solving and reasoning</a:t>
            </a:r>
            <a:endParaRPr lang="en-GB" b="1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759" y="1214135"/>
            <a:ext cx="86504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Carl thinks of a number. He multiplies this by 3 then adds 23.</a:t>
            </a:r>
          </a:p>
          <a:p>
            <a:r>
              <a:rPr lang="en-GB" sz="2400" dirty="0"/>
              <a:t>Liz thinks of a number and she adds 3, then she multiplies this by 5.</a:t>
            </a:r>
          </a:p>
          <a:p>
            <a:r>
              <a:rPr lang="en-GB" sz="2400" dirty="0"/>
              <a:t>The number they chose and sums at the end are equal. What is the number they have picked?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3204858"/>
            <a:ext cx="80123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They think of the same number to start with, lets say x.</a:t>
            </a:r>
          </a:p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Carl’s expression =&gt;     3x + 23</a:t>
            </a:r>
          </a:p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Liz’s expression   =&gt;     5(x + 3)</a:t>
            </a:r>
          </a:p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3x + 23 = 5(x + 3)</a:t>
            </a:r>
          </a:p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3x + 23 = 5x + 15</a:t>
            </a:r>
          </a:p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        23 = 2x + 15 </a:t>
            </a:r>
          </a:p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          8 = 2x</a:t>
            </a:r>
          </a:p>
          <a:p>
            <a:r>
              <a:rPr lang="en-GB" sz="2400" dirty="0">
                <a:solidFill>
                  <a:schemeClr val="accent1">
                    <a:lumMod val="75000"/>
                  </a:schemeClr>
                </a:solidFill>
              </a:rPr>
              <a:t>          4 = x          They thought of number 4.</a:t>
            </a:r>
          </a:p>
        </p:txBody>
      </p:sp>
    </p:spTree>
    <p:extLst>
      <p:ext uri="{BB962C8B-B14F-4D97-AF65-F5344CB8AC3E}">
        <p14:creationId xmlns:p14="http://schemas.microsoft.com/office/powerpoint/2010/main" val="124579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217124" y="2319116"/>
            <a:ext cx="207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 17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20091" y="2335769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1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18724" y="2943004"/>
            <a:ext cx="1866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GB" altLang="en-US" b="1" dirty="0">
                <a:latin typeface="Times New Roman" panose="02020603050405020304" pitchFamily="18" charset="0"/>
              </a:rPr>
              <a:t> 1 = 9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20091" y="2955493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2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217124" y="3566891"/>
            <a:ext cx="207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 40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20091" y="3575217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3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217124" y="4190779"/>
            <a:ext cx="2070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GB" altLang="en-US" b="1" dirty="0">
                <a:latin typeface="Times New Roman" panose="02020603050405020304" pitchFamily="18" charset="0"/>
              </a:rPr>
              <a:t> 2 = 10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20091" y="4194941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4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217124" y="4814666"/>
            <a:ext cx="207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36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20091" y="4814666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5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859247" y="2335769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6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859247" y="3541881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7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4859247" y="4747992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8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5553075" y="3265266"/>
            <a:ext cx="1817688" cy="1084263"/>
            <a:chOff x="5553075" y="3524942"/>
            <a:chExt cx="1817688" cy="1084263"/>
          </a:xfrm>
          <a:solidFill>
            <a:schemeClr val="bg1"/>
          </a:solidFill>
        </p:grpSpPr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6011863" y="3794817"/>
              <a:ext cx="135890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− 6 = 3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5553075" y="3524942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i="1" dirty="0">
                  <a:latin typeface="Times New Roman" panose="02020603050405020304" pitchFamily="18" charset="0"/>
                </a:rPr>
                <a:t>x</a:t>
              </a:r>
              <a:endParaRPr lang="en-GB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5553075" y="4029767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5553075" y="4067867"/>
              <a:ext cx="36036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580063" y="4467004"/>
            <a:ext cx="1993900" cy="1084263"/>
            <a:chOff x="5580063" y="4712392"/>
            <a:chExt cx="1993900" cy="1084263"/>
          </a:xfrm>
          <a:solidFill>
            <a:schemeClr val="bg1"/>
          </a:solidFill>
        </p:grpSpPr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6011863" y="4940992"/>
              <a:ext cx="156210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</a:rPr>
                <a:t>+ 8 = 14</a:t>
              </a:r>
            </a:p>
          </p:txBody>
        </p:sp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>
              <a:off x="5580063" y="4712392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i="1" dirty="0">
                  <a:latin typeface="Times New Roman" panose="02020603050405020304" pitchFamily="18" charset="0"/>
                </a:rPr>
                <a:t>x</a:t>
              </a:r>
              <a:endParaRPr lang="en-GB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>
              <a:off x="5580063" y="5217217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5580063" y="5255317"/>
              <a:ext cx="36036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67419" y="1386550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Use any method you like to find the value of </a:t>
            </a:r>
            <a:r>
              <a:rPr lang="en-GB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dirty="0"/>
              <a:t> in each of these equations 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5534265" y="2063529"/>
            <a:ext cx="2039698" cy="1084262"/>
            <a:chOff x="5534265" y="2408930"/>
            <a:chExt cx="2039698" cy="1084262"/>
          </a:xfrm>
        </p:grpSpPr>
        <p:grpSp>
          <p:nvGrpSpPr>
            <p:cNvPr id="46" name="Group 45"/>
            <p:cNvGrpSpPr/>
            <p:nvPr/>
          </p:nvGrpSpPr>
          <p:grpSpPr>
            <a:xfrm>
              <a:off x="5534265" y="2408930"/>
              <a:ext cx="2039698" cy="1084262"/>
              <a:chOff x="5534265" y="2408930"/>
              <a:chExt cx="2039698" cy="1084262"/>
            </a:xfrm>
            <a:solidFill>
              <a:schemeClr val="bg1"/>
            </a:solidFill>
          </p:grpSpPr>
          <p:sp>
            <p:nvSpPr>
              <p:cNvPr id="14" name="Text Box 12"/>
              <p:cNvSpPr txBox="1">
                <a:spLocks noChangeArrowheads="1"/>
              </p:cNvSpPr>
              <p:nvPr/>
            </p:nvSpPr>
            <p:spPr bwMode="auto">
              <a:xfrm>
                <a:off x="6011863" y="2664517"/>
                <a:ext cx="1562100" cy="579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b="1" dirty="0">
                    <a:latin typeface="Times New Roman" panose="02020603050405020304" pitchFamily="18" charset="0"/>
                  </a:rPr>
                  <a:t>+ 5 = 13</a:t>
                </a:r>
              </a:p>
            </p:txBody>
          </p:sp>
          <p:sp>
            <p:nvSpPr>
              <p:cNvPr id="24" name="Text Box 26"/>
              <p:cNvSpPr txBox="1">
                <a:spLocks noChangeArrowheads="1"/>
              </p:cNvSpPr>
              <p:nvPr/>
            </p:nvSpPr>
            <p:spPr bwMode="auto">
              <a:xfrm>
                <a:off x="5543550" y="2913755"/>
                <a:ext cx="387350" cy="5794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b="1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5" name="Line 27"/>
              <p:cNvSpPr>
                <a:spLocks noChangeShapeType="1"/>
              </p:cNvSpPr>
              <p:nvPr/>
            </p:nvSpPr>
            <p:spPr bwMode="auto">
              <a:xfrm>
                <a:off x="5543550" y="2951855"/>
                <a:ext cx="360363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2" name="Text Box 28"/>
              <p:cNvSpPr txBox="1">
                <a:spLocks noChangeArrowheads="1"/>
              </p:cNvSpPr>
              <p:nvPr/>
            </p:nvSpPr>
            <p:spPr bwMode="auto">
              <a:xfrm>
                <a:off x="5534265" y="2408930"/>
                <a:ext cx="387350" cy="579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b="1" i="1" dirty="0">
                    <a:latin typeface="Times New Roman" panose="02020603050405020304" pitchFamily="18" charset="0"/>
                  </a:rPr>
                  <a:t>x</a:t>
                </a:r>
                <a:endParaRPr lang="en-GB" altLang="en-US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0" name="Line 30"/>
            <p:cNvSpPr>
              <a:spLocks noChangeShapeType="1"/>
            </p:cNvSpPr>
            <p:nvPr/>
          </p:nvSpPr>
          <p:spPr bwMode="auto">
            <a:xfrm>
              <a:off x="5566568" y="2950211"/>
              <a:ext cx="360363" cy="0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37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Starter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504" y="6408902"/>
            <a:ext cx="168796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Sheet 1</a:t>
            </a:r>
          </a:p>
        </p:txBody>
      </p:sp>
    </p:spTree>
    <p:extLst>
      <p:ext uri="{BB962C8B-B14F-4D97-AF65-F5344CB8AC3E}">
        <p14:creationId xmlns:p14="http://schemas.microsoft.com/office/powerpoint/2010/main" val="668715603"/>
      </p:ext>
    </p:extLst>
  </p:cSld>
  <p:clrMapOvr>
    <a:masterClrMapping/>
  </p:clrMapOvr>
  <p:transition spd="slow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10863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Formal method for solving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80" y="1056040"/>
            <a:ext cx="1315759" cy="189903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80" y="3548111"/>
            <a:ext cx="1390450" cy="1832414"/>
          </a:xfrm>
          <a:prstGeom prst="rect">
            <a:avLst/>
          </a:prstGeom>
        </p:spPr>
      </p:pic>
      <p:sp>
        <p:nvSpPr>
          <p:cNvPr id="23" name="Content Placeholder 14"/>
          <p:cNvSpPr>
            <a:spLocks noGrp="1"/>
          </p:cNvSpPr>
          <p:nvPr>
            <p:ph idx="1"/>
          </p:nvPr>
        </p:nvSpPr>
        <p:spPr>
          <a:xfrm>
            <a:off x="2562496" y="1314700"/>
            <a:ext cx="2234812" cy="357922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US" sz="1800" dirty="0"/>
              <a:t>2x + 12 = 7x + 2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93302" y="3724050"/>
            <a:ext cx="2550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buAutoNum type="arabicParenR" startAt="4"/>
            </a:pPr>
            <a:r>
              <a:rPr lang="en-US"/>
              <a:t>6 (a + 2) =  4 (a + 5) 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2562496" y="3724050"/>
            <a:ext cx="19527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buAutoNum type="arabicParenR" startAt="3"/>
            </a:pPr>
            <a:r>
              <a:rPr lang="en-US"/>
              <a:t>4 (y + 7) =  6y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363526" y="1303290"/>
            <a:ext cx="1523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2)   7x + 8 = 9x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504" y="6408902"/>
            <a:ext cx="168796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Sheet 2</a:t>
            </a:r>
          </a:p>
        </p:txBody>
      </p:sp>
    </p:spTree>
    <p:extLst>
      <p:ext uri="{BB962C8B-B14F-4D97-AF65-F5344CB8AC3E}">
        <p14:creationId xmlns:p14="http://schemas.microsoft.com/office/powerpoint/2010/main" val="171514730"/>
      </p:ext>
    </p:extLst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267419" y="1248534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When the going gets tough, the tough get going…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845305" y="2531483"/>
            <a:ext cx="2505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+ 9</a:t>
            </a: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846509" y="3107746"/>
            <a:ext cx="2911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+ 20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845305" y="3684008"/>
            <a:ext cx="2708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+ 10</a:t>
            </a:r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846509" y="4260271"/>
            <a:ext cx="2911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+ 13</a:t>
            </a:r>
          </a:p>
        </p:txBody>
      </p:sp>
      <p:sp>
        <p:nvSpPr>
          <p:cNvPr id="44" name="Text Box 36"/>
          <p:cNvSpPr txBox="1">
            <a:spLocks noChangeArrowheads="1"/>
          </p:cNvSpPr>
          <p:nvPr/>
        </p:nvSpPr>
        <p:spPr bwMode="auto">
          <a:xfrm>
            <a:off x="4940378" y="1956808"/>
            <a:ext cx="2938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+ 15 =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+ 7</a:t>
            </a:r>
          </a:p>
        </p:txBody>
      </p:sp>
      <p:sp>
        <p:nvSpPr>
          <p:cNvPr id="45" name="Text Box 38"/>
          <p:cNvSpPr txBox="1">
            <a:spLocks noChangeArrowheads="1"/>
          </p:cNvSpPr>
          <p:nvPr/>
        </p:nvSpPr>
        <p:spPr bwMode="auto">
          <a:xfrm>
            <a:off x="4940378" y="2533071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+ 17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5156373" y="3109333"/>
            <a:ext cx="2911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+ 7 =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+ 13</a:t>
            </a:r>
          </a:p>
        </p:txBody>
      </p:sp>
      <p:sp>
        <p:nvSpPr>
          <p:cNvPr id="55" name="Text Box 42"/>
          <p:cNvSpPr txBox="1">
            <a:spLocks noChangeArrowheads="1"/>
          </p:cNvSpPr>
          <p:nvPr/>
        </p:nvSpPr>
        <p:spPr bwMode="auto">
          <a:xfrm>
            <a:off x="5156373" y="3685596"/>
            <a:ext cx="2911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+ 21</a:t>
            </a:r>
          </a:p>
        </p:txBody>
      </p:sp>
      <p:sp>
        <p:nvSpPr>
          <p:cNvPr id="59" name="Text Box 44"/>
          <p:cNvSpPr txBox="1">
            <a:spLocks noChangeArrowheads="1"/>
          </p:cNvSpPr>
          <p:nvPr/>
        </p:nvSpPr>
        <p:spPr bwMode="auto">
          <a:xfrm>
            <a:off x="5334407" y="4260271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+ 8 = 9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+ 14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417974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1</a:t>
            </a: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417974" y="2594437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2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417974" y="3178091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3</a:t>
            </a:r>
          </a:p>
        </p:txBody>
      </p:sp>
      <p:sp>
        <p:nvSpPr>
          <p:cNvPr id="72" name="Text Box 33"/>
          <p:cNvSpPr txBox="1">
            <a:spLocks noChangeArrowheads="1"/>
          </p:cNvSpPr>
          <p:nvPr/>
        </p:nvSpPr>
        <p:spPr bwMode="auto">
          <a:xfrm>
            <a:off x="417974" y="3761745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4</a:t>
            </a:r>
          </a:p>
        </p:txBody>
      </p:sp>
      <p:sp>
        <p:nvSpPr>
          <p:cNvPr id="73" name="Text Box 35"/>
          <p:cNvSpPr txBox="1">
            <a:spLocks noChangeArrowheads="1"/>
          </p:cNvSpPr>
          <p:nvPr/>
        </p:nvSpPr>
        <p:spPr bwMode="auto">
          <a:xfrm>
            <a:off x="417974" y="4345400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5</a:t>
            </a:r>
          </a:p>
        </p:txBody>
      </p:sp>
      <p:sp>
        <p:nvSpPr>
          <p:cNvPr id="74" name="Text Box 37"/>
          <p:cNvSpPr txBox="1">
            <a:spLocks noChangeArrowheads="1"/>
          </p:cNvSpPr>
          <p:nvPr/>
        </p:nvSpPr>
        <p:spPr bwMode="auto">
          <a:xfrm>
            <a:off x="4621608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6</a:t>
            </a:r>
          </a:p>
        </p:txBody>
      </p:sp>
      <p:sp>
        <p:nvSpPr>
          <p:cNvPr id="75" name="Text Box 39"/>
          <p:cNvSpPr txBox="1">
            <a:spLocks noChangeArrowheads="1"/>
          </p:cNvSpPr>
          <p:nvPr/>
        </p:nvSpPr>
        <p:spPr bwMode="auto">
          <a:xfrm>
            <a:off x="4621608" y="2594835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7</a:t>
            </a:r>
          </a:p>
        </p:txBody>
      </p:sp>
      <p:sp>
        <p:nvSpPr>
          <p:cNvPr id="76" name="Text Box 41"/>
          <p:cNvSpPr txBox="1">
            <a:spLocks noChangeArrowheads="1"/>
          </p:cNvSpPr>
          <p:nvPr/>
        </p:nvSpPr>
        <p:spPr bwMode="auto">
          <a:xfrm>
            <a:off x="4621608" y="3177299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8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621608" y="3761350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9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4540645" y="4345401"/>
            <a:ext cx="508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10</a:t>
            </a: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832934" y="1918497"/>
            <a:ext cx="2938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 =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549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Practice (1)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504" y="6408902"/>
            <a:ext cx="168796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Sheet 3</a:t>
            </a:r>
          </a:p>
        </p:txBody>
      </p:sp>
    </p:spTree>
    <p:extLst>
      <p:ext uri="{BB962C8B-B14F-4D97-AF65-F5344CB8AC3E}">
        <p14:creationId xmlns:p14="http://schemas.microsoft.com/office/powerpoint/2010/main" val="1321214870"/>
      </p:ext>
    </p:extLst>
  </p:cSld>
  <p:clrMapOvr>
    <a:masterClrMapping/>
  </p:clrMapOvr>
  <p:transition spd="slow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267419" y="1248534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Now with added negative signs…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832934" y="2531483"/>
            <a:ext cx="29159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− 4 =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+ 11</a:t>
            </a: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832934" y="3107746"/>
            <a:ext cx="29386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9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+ 3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+ 28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627538" y="3684008"/>
            <a:ext cx="31438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− 13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− 17</a:t>
            </a:r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845845" y="4260271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9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− 8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+ 16</a:t>
            </a:r>
          </a:p>
        </p:txBody>
      </p:sp>
      <p:sp>
        <p:nvSpPr>
          <p:cNvPr id="44" name="Text Box 36"/>
          <p:cNvSpPr txBox="1">
            <a:spLocks noChangeArrowheads="1"/>
          </p:cNvSpPr>
          <p:nvPr/>
        </p:nvSpPr>
        <p:spPr bwMode="auto">
          <a:xfrm>
            <a:off x="4924038" y="1956808"/>
            <a:ext cx="31438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+ 13 = 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+ 19</a:t>
            </a:r>
          </a:p>
        </p:txBody>
      </p:sp>
      <p:sp>
        <p:nvSpPr>
          <p:cNvPr id="45" name="Text Box 38"/>
          <p:cNvSpPr txBox="1">
            <a:spLocks noChangeArrowheads="1"/>
          </p:cNvSpPr>
          <p:nvPr/>
        </p:nvSpPr>
        <p:spPr bwMode="auto">
          <a:xfrm>
            <a:off x="5125166" y="2533071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− 3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− 15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5129537" y="3109333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+ 7 = 8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− 4</a:t>
            </a:r>
          </a:p>
        </p:txBody>
      </p:sp>
      <p:sp>
        <p:nvSpPr>
          <p:cNvPr id="55" name="Text Box 42"/>
          <p:cNvSpPr txBox="1">
            <a:spLocks noChangeArrowheads="1"/>
          </p:cNvSpPr>
          <p:nvPr/>
        </p:nvSpPr>
        <p:spPr bwMode="auto">
          <a:xfrm>
            <a:off x="5125166" y="3685596"/>
            <a:ext cx="29159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− 11</a:t>
            </a:r>
          </a:p>
        </p:txBody>
      </p:sp>
      <p:sp>
        <p:nvSpPr>
          <p:cNvPr id="59" name="Text Box 44"/>
          <p:cNvSpPr txBox="1">
            <a:spLocks noChangeArrowheads="1"/>
          </p:cNvSpPr>
          <p:nvPr/>
        </p:nvSpPr>
        <p:spPr bwMode="auto">
          <a:xfrm>
            <a:off x="4973571" y="4260271"/>
            <a:ext cx="27108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11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+ 4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− 2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417974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1</a:t>
            </a: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417974" y="2594437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2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417974" y="3178091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3</a:t>
            </a:r>
          </a:p>
        </p:txBody>
      </p:sp>
      <p:sp>
        <p:nvSpPr>
          <p:cNvPr id="72" name="Text Box 33"/>
          <p:cNvSpPr txBox="1">
            <a:spLocks noChangeArrowheads="1"/>
          </p:cNvSpPr>
          <p:nvPr/>
        </p:nvSpPr>
        <p:spPr bwMode="auto">
          <a:xfrm>
            <a:off x="417974" y="3761745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4</a:t>
            </a:r>
          </a:p>
        </p:txBody>
      </p:sp>
      <p:sp>
        <p:nvSpPr>
          <p:cNvPr id="73" name="Text Box 35"/>
          <p:cNvSpPr txBox="1">
            <a:spLocks noChangeArrowheads="1"/>
          </p:cNvSpPr>
          <p:nvPr/>
        </p:nvSpPr>
        <p:spPr bwMode="auto">
          <a:xfrm>
            <a:off x="417974" y="4345400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5</a:t>
            </a:r>
          </a:p>
        </p:txBody>
      </p:sp>
      <p:sp>
        <p:nvSpPr>
          <p:cNvPr id="74" name="Text Box 37"/>
          <p:cNvSpPr txBox="1">
            <a:spLocks noChangeArrowheads="1"/>
          </p:cNvSpPr>
          <p:nvPr/>
        </p:nvSpPr>
        <p:spPr bwMode="auto">
          <a:xfrm>
            <a:off x="4621608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6</a:t>
            </a:r>
          </a:p>
        </p:txBody>
      </p:sp>
      <p:sp>
        <p:nvSpPr>
          <p:cNvPr id="75" name="Text Box 39"/>
          <p:cNvSpPr txBox="1">
            <a:spLocks noChangeArrowheads="1"/>
          </p:cNvSpPr>
          <p:nvPr/>
        </p:nvSpPr>
        <p:spPr bwMode="auto">
          <a:xfrm>
            <a:off x="4621608" y="2594835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7</a:t>
            </a:r>
          </a:p>
        </p:txBody>
      </p:sp>
      <p:sp>
        <p:nvSpPr>
          <p:cNvPr id="76" name="Text Box 41"/>
          <p:cNvSpPr txBox="1">
            <a:spLocks noChangeArrowheads="1"/>
          </p:cNvSpPr>
          <p:nvPr/>
        </p:nvSpPr>
        <p:spPr bwMode="auto">
          <a:xfrm>
            <a:off x="4621608" y="3177299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8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621608" y="3761350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9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4540645" y="4345401"/>
            <a:ext cx="508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10</a:t>
            </a: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639910" y="1918497"/>
            <a:ext cx="31438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+ 18 = 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− 12</a:t>
            </a:r>
          </a:p>
        </p:txBody>
      </p:sp>
      <p:sp>
        <p:nvSpPr>
          <p:cNvPr id="46" name="Oval 45"/>
          <p:cNvSpPr/>
          <p:nvPr/>
        </p:nvSpPr>
        <p:spPr>
          <a:xfrm>
            <a:off x="417974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A hint; it is usually easier to rearrange the equation so that x is on the side that already has more.  Why is this?</a:t>
            </a:r>
          </a:p>
        </p:txBody>
      </p:sp>
      <p:sp>
        <p:nvSpPr>
          <p:cNvPr id="48" name="Oval 47"/>
          <p:cNvSpPr/>
          <p:nvPr/>
        </p:nvSpPr>
        <p:spPr>
          <a:xfrm>
            <a:off x="3958105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Make sure you are careful about the negative signs here.  Keep clear to which term a negative sign “belongs”.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0" y="-4549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Practice (2)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504" y="6408902"/>
            <a:ext cx="168796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Sheet 4</a:t>
            </a:r>
          </a:p>
        </p:txBody>
      </p:sp>
    </p:spTree>
    <p:extLst>
      <p:ext uri="{BB962C8B-B14F-4D97-AF65-F5344CB8AC3E}">
        <p14:creationId xmlns:p14="http://schemas.microsoft.com/office/powerpoint/2010/main" val="67741011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267419" y="1248534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Here the negative signs may be on the 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dirty="0"/>
              <a:t> term itself…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845845" y="2531483"/>
            <a:ext cx="20890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− 6 =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endParaRPr lang="en-GB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764049" y="3115892"/>
            <a:ext cx="22942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9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+ 30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831675" y="3684008"/>
            <a:ext cx="2938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− 7 = 17 − 5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endParaRPr lang="en-GB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831675" y="4260271"/>
            <a:ext cx="29386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7 − 3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− 13</a:t>
            </a:r>
          </a:p>
        </p:txBody>
      </p:sp>
      <p:sp>
        <p:nvSpPr>
          <p:cNvPr id="44" name="Text Box 36"/>
          <p:cNvSpPr txBox="1">
            <a:spLocks noChangeArrowheads="1"/>
          </p:cNvSpPr>
          <p:nvPr/>
        </p:nvSpPr>
        <p:spPr bwMode="auto">
          <a:xfrm>
            <a:off x="5746939" y="1956808"/>
            <a:ext cx="22942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+ 10</a:t>
            </a:r>
          </a:p>
        </p:txBody>
      </p:sp>
      <p:sp>
        <p:nvSpPr>
          <p:cNvPr id="45" name="Text Box 38"/>
          <p:cNvSpPr txBox="1">
            <a:spLocks noChangeArrowheads="1"/>
          </p:cNvSpPr>
          <p:nvPr/>
        </p:nvSpPr>
        <p:spPr bwMode="auto">
          <a:xfrm>
            <a:off x="5125166" y="2533071"/>
            <a:ext cx="25282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3 − 2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+ 6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5130897" y="3109333"/>
            <a:ext cx="20890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+ 7 = 8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endParaRPr lang="en-GB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55" name="Text Box 42"/>
          <p:cNvSpPr txBox="1">
            <a:spLocks noChangeArrowheads="1"/>
          </p:cNvSpPr>
          <p:nvPr/>
        </p:nvSpPr>
        <p:spPr bwMode="auto">
          <a:xfrm>
            <a:off x="5329784" y="3685596"/>
            <a:ext cx="232307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1 −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+ 4</a:t>
            </a:r>
          </a:p>
        </p:txBody>
      </p:sp>
      <p:sp>
        <p:nvSpPr>
          <p:cNvPr id="59" name="Text Box 44"/>
          <p:cNvSpPr txBox="1">
            <a:spLocks noChangeArrowheads="1"/>
          </p:cNvSpPr>
          <p:nvPr/>
        </p:nvSpPr>
        <p:spPr bwMode="auto">
          <a:xfrm>
            <a:off x="5134401" y="4260271"/>
            <a:ext cx="20890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5 − 3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=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endParaRPr lang="en-GB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417974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1</a:t>
            </a: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417974" y="2594437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2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417974" y="3178091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3</a:t>
            </a:r>
          </a:p>
        </p:txBody>
      </p:sp>
      <p:sp>
        <p:nvSpPr>
          <p:cNvPr id="72" name="Text Box 33"/>
          <p:cNvSpPr txBox="1">
            <a:spLocks noChangeArrowheads="1"/>
          </p:cNvSpPr>
          <p:nvPr/>
        </p:nvSpPr>
        <p:spPr bwMode="auto">
          <a:xfrm>
            <a:off x="417974" y="3761745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4</a:t>
            </a:r>
          </a:p>
        </p:txBody>
      </p:sp>
      <p:sp>
        <p:nvSpPr>
          <p:cNvPr id="73" name="Text Box 35"/>
          <p:cNvSpPr txBox="1">
            <a:spLocks noChangeArrowheads="1"/>
          </p:cNvSpPr>
          <p:nvPr/>
        </p:nvSpPr>
        <p:spPr bwMode="auto">
          <a:xfrm>
            <a:off x="417974" y="4345400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5</a:t>
            </a:r>
          </a:p>
        </p:txBody>
      </p:sp>
      <p:sp>
        <p:nvSpPr>
          <p:cNvPr id="74" name="Text Box 37"/>
          <p:cNvSpPr txBox="1">
            <a:spLocks noChangeArrowheads="1"/>
          </p:cNvSpPr>
          <p:nvPr/>
        </p:nvSpPr>
        <p:spPr bwMode="auto">
          <a:xfrm>
            <a:off x="4621608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6</a:t>
            </a:r>
          </a:p>
        </p:txBody>
      </p:sp>
      <p:sp>
        <p:nvSpPr>
          <p:cNvPr id="75" name="Text Box 39"/>
          <p:cNvSpPr txBox="1">
            <a:spLocks noChangeArrowheads="1"/>
          </p:cNvSpPr>
          <p:nvPr/>
        </p:nvSpPr>
        <p:spPr bwMode="auto">
          <a:xfrm>
            <a:off x="4621608" y="2594835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7</a:t>
            </a:r>
          </a:p>
        </p:txBody>
      </p:sp>
      <p:sp>
        <p:nvSpPr>
          <p:cNvPr id="76" name="Text Box 41"/>
          <p:cNvSpPr txBox="1">
            <a:spLocks noChangeArrowheads="1"/>
          </p:cNvSpPr>
          <p:nvPr/>
        </p:nvSpPr>
        <p:spPr bwMode="auto">
          <a:xfrm>
            <a:off x="4621608" y="3177299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8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621608" y="3761350"/>
            <a:ext cx="346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9</a:t>
            </a:r>
          </a:p>
        </p:txBody>
      </p:sp>
      <p:sp>
        <p:nvSpPr>
          <p:cNvPr id="78" name="Text Box 45"/>
          <p:cNvSpPr txBox="1">
            <a:spLocks noChangeArrowheads="1"/>
          </p:cNvSpPr>
          <p:nvPr/>
        </p:nvSpPr>
        <p:spPr bwMode="auto">
          <a:xfrm>
            <a:off x="4540645" y="4345401"/>
            <a:ext cx="508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/>
              <a:t>10</a:t>
            </a: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651228" y="1917340"/>
            <a:ext cx="31211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− 11 = 10 − 7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endParaRPr lang="en-GB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417974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A hint; it is usually easier to rearrange the equation so that x is on the side that already has more.  Why is this?</a:t>
            </a:r>
          </a:p>
        </p:txBody>
      </p:sp>
      <p:sp>
        <p:nvSpPr>
          <p:cNvPr id="48" name="Oval 47"/>
          <p:cNvSpPr/>
          <p:nvPr/>
        </p:nvSpPr>
        <p:spPr>
          <a:xfrm>
            <a:off x="3958105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Make sure you are careful about the negative signs here.  Keep clear to which term a negative sign “belongs”.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0" y="-4549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Practice (3)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504" y="6408902"/>
            <a:ext cx="168796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Sheet 5</a:t>
            </a:r>
          </a:p>
        </p:txBody>
      </p:sp>
    </p:spTree>
    <p:extLst>
      <p:ext uri="{BB962C8B-B14F-4D97-AF65-F5344CB8AC3E}">
        <p14:creationId xmlns:p14="http://schemas.microsoft.com/office/powerpoint/2010/main" val="142090602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72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Mixed practice</a:t>
            </a:r>
            <a:endParaRPr lang="en-GB" b="1" dirty="0">
              <a:latin typeface="+mn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22846" y="1508872"/>
            <a:ext cx="3420504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400" dirty="0">
                <a:ea typeface="Calibri" pitchFamily="34" charset="0"/>
                <a:cs typeface="Times New Roman" pitchFamily="18" charset="0"/>
              </a:rPr>
              <a:t>2x + 10 = 7x + 5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lang="en-GB" sz="1400" dirty="0"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400" dirty="0">
                <a:ea typeface="Calibri" pitchFamily="34" charset="0"/>
                <a:cs typeface="Times New Roman" pitchFamily="18" charset="0"/>
              </a:rPr>
              <a:t> 3x + 9 = 6x</a:t>
            </a: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lang="en-GB" sz="1400" dirty="0">
              <a:ea typeface="Calibri" pitchFamily="34" charset="0"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kumimoji="0" lang="en-GB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3</a:t>
            </a:r>
            <a:r>
              <a:rPr kumimoji="0" lang="en-GB" sz="1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(x + 4) = 6x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lang="en-GB" sz="1400" baseline="0" dirty="0"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400" dirty="0">
                <a:ea typeface="Calibri" pitchFamily="34" charset="0"/>
                <a:cs typeface="Times New Roman" pitchFamily="18" charset="0"/>
              </a:rPr>
              <a:t> 8y - 6 = 2(y + 9)</a:t>
            </a:r>
            <a:r>
              <a:rPr kumimoji="0" lang="en-GB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lang="en-GB" sz="1400" dirty="0"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kumimoji="0" lang="en-GB" sz="1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GB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3(a </a:t>
            </a:r>
            <a:r>
              <a:rPr lang="en-GB" sz="1400" dirty="0">
                <a:ea typeface="Calibri" pitchFamily="34" charset="0"/>
                <a:cs typeface="Times New Roman" pitchFamily="18" charset="0"/>
              </a:rPr>
              <a:t>+</a:t>
            </a:r>
            <a:r>
              <a:rPr kumimoji="0" lang="en-GB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lang="en-GB" sz="1400" dirty="0">
                <a:ea typeface="Calibri" pitchFamily="34" charset="0"/>
                <a:cs typeface="Times New Roman" pitchFamily="18" charset="0"/>
              </a:rPr>
              <a:t>4) = 5 (a + 2)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466196" y="431654"/>
            <a:ext cx="3420504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3x - 8 = x + 2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2x + 12 = 6x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5 + 3x = 9x – 4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2 (a + 5) = 6 ( a – 5)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5 (y – 6) = 2 ( 6 + y)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4b = 6b - 12</a:t>
            </a:r>
            <a:endParaRPr lang="en-GB" sz="140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504" y="6408902"/>
            <a:ext cx="168796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Sheet 6</a:t>
            </a:r>
          </a:p>
        </p:txBody>
      </p:sp>
    </p:spTree>
    <p:extLst>
      <p:ext uri="{BB962C8B-B14F-4D97-AF65-F5344CB8AC3E}">
        <p14:creationId xmlns:p14="http://schemas.microsoft.com/office/powerpoint/2010/main" val="1306472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Problem solving and reasoning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24308" y="5060952"/>
            <a:ext cx="595222" cy="30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29" y="1185684"/>
            <a:ext cx="1847747" cy="13679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649" y="1064432"/>
            <a:ext cx="2598234" cy="14641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33" y="3816512"/>
            <a:ext cx="1848315" cy="17188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93219" y="3729182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100" dirty="0"/>
              <a:t>Carl thinks of a number. He multiplies this by 3 then adds 23. Liz thinks of a number and she adds 3, then she multiplies this by 5. The number they chose and sums at the end are equal. What is the number they have picked?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504" y="6408902"/>
            <a:ext cx="168796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Sheet 7</a:t>
            </a:r>
          </a:p>
        </p:txBody>
      </p:sp>
    </p:spTree>
    <p:extLst>
      <p:ext uri="{BB962C8B-B14F-4D97-AF65-F5344CB8AC3E}">
        <p14:creationId xmlns:p14="http://schemas.microsoft.com/office/powerpoint/2010/main" val="1343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1083</TotalTime>
  <Words>2778</Words>
  <Application>Microsoft Office PowerPoint</Application>
  <PresentationFormat>On-screen Show (4:3)</PresentationFormat>
  <Paragraphs>586</Paragraphs>
  <Slides>25</Slides>
  <Notes>1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Linear Equations</vt:lpstr>
      <vt:lpstr>Formal method for solving (balancing method) </vt:lpstr>
      <vt:lpstr>Starter – exercise books 5 mins </vt:lpstr>
      <vt:lpstr>Equations with unknowns on both sides</vt:lpstr>
      <vt:lpstr>Example 1 – copy on sheet</vt:lpstr>
      <vt:lpstr>Example 2 - copy on sheet</vt:lpstr>
      <vt:lpstr>Choral response </vt:lpstr>
      <vt:lpstr>Example 3 - copy on sheet</vt:lpstr>
      <vt:lpstr>Example 4 - copy on sheet</vt:lpstr>
      <vt:lpstr>Practice (1)</vt:lpstr>
      <vt:lpstr>Practice (2)</vt:lpstr>
      <vt:lpstr>Practice (3)</vt:lpstr>
      <vt:lpstr>Mixed practice</vt:lpstr>
      <vt:lpstr>Problem solving and reasoning</vt:lpstr>
      <vt:lpstr>Problem solving and reasoning</vt:lpstr>
      <vt:lpstr>Problem solving and reasoning</vt:lpstr>
      <vt:lpstr>Problem solving and reasoning</vt:lpstr>
      <vt:lpstr>Starter</vt:lpstr>
      <vt:lpstr>Formal method for solving</vt:lpstr>
      <vt:lpstr>Practice (1)</vt:lpstr>
      <vt:lpstr>Practice (2)</vt:lpstr>
      <vt:lpstr>Practice (3)</vt:lpstr>
      <vt:lpstr>Mixed practice</vt:lpstr>
      <vt:lpstr>Problem solving and reasoning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Christina Moody</dc:creator>
  <cp:lastModifiedBy>DAVIES Rhys [Busselton Senior High School]</cp:lastModifiedBy>
  <cp:revision>164</cp:revision>
  <cp:lastPrinted>2023-08-22T03:42:37Z</cp:lastPrinted>
  <dcterms:created xsi:type="dcterms:W3CDTF">2016-01-18T14:56:17Z</dcterms:created>
  <dcterms:modified xsi:type="dcterms:W3CDTF">2023-08-22T03:42:41Z</dcterms:modified>
</cp:coreProperties>
</file>
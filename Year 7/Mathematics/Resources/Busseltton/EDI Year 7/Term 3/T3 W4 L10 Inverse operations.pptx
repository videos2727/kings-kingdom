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40" r:id="rId4"/>
    <p:sldId id="334" r:id="rId5"/>
    <p:sldId id="335" r:id="rId6"/>
    <p:sldId id="342" r:id="rId7"/>
    <p:sldId id="282" r:id="rId8"/>
    <p:sldId id="341" r:id="rId9"/>
    <p:sldId id="275" r:id="rId10"/>
    <p:sldId id="295" r:id="rId11"/>
    <p:sldId id="343" r:id="rId12"/>
    <p:sldId id="276" r:id="rId13"/>
    <p:sldId id="338" r:id="rId14"/>
    <p:sldId id="339" r:id="rId15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6505-24DB-6434-7ED5-F772A9F61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CF120-A9D7-19A2-4A11-6DC4EF642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B63D9-6DF4-C4D2-A06A-CBDF3256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C8338-0E22-E23C-BF24-8E70C8EF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A8A2-6466-E031-CA43-91D04B62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281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2058-60DA-431B-E55E-90DF5FC15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8C664-A46C-7AF8-C7E0-9A393191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C415A-1C4D-8FBA-F230-762CD5C9D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72609-48A3-11F9-C45B-ECCED8EBA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EE7AF-24B8-C2E6-2556-C6CC951B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524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3CAB-C45A-B910-CB4A-4F7D1961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0E1C4-6EDD-8C8C-0199-A93D76D7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BD789-A932-72AD-ABCC-D81EFE2F0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73495-7B1C-6D3E-B20C-FC3CE20B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97ED8-6A06-A472-95B5-DE00375D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51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A37C-A27E-38E5-4A6F-AA266D4F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2FA9E-ED9C-066D-8105-19FC6BF33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11140-F423-0D49-54C8-273DD4855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337C2-CFD3-C4AA-68F6-3EF4DB0B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C9AE6-86B3-5ACE-4BE1-CB82091D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FD9FB-FE98-7497-C2B5-390CA982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905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736A-1095-659A-F3AD-34C856464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9CC1C-A95B-6D17-620E-D2EC927BF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746FC-6EB2-CF91-DD62-47AB0D43C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1B298-94DA-F581-7BD3-68C51C38D3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146B3-9643-AF26-516B-27DFB91E1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F9D26A-0BDB-286E-0966-001DF9AC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9B7CD-508B-39B4-580B-D78F7CB67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EA83EA-9479-1F5D-E0D2-E2B9F0B2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769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4972-5143-FA29-C906-171B4BC3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C1C987-279E-4D08-CE50-080BA64E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C72E9-DCDB-AA49-6EB5-F09A0620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991BF-B5A4-C646-4B13-6366BAF1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3815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CD8A76-FF6A-B9CB-9045-B3B1D1839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9E0DB-B304-10A0-064A-D977FF28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6B1EB-C6BA-B8B5-DEAF-77951AE8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040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1188-F0B8-03DF-0C4A-FC70B50F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8637F-94B4-E1E7-AABF-1C742F2DA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8D3BF-A314-4569-B58F-CCD813885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2D2CC-C3DA-2D0B-835C-94A25E8C0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28B1C-8A43-3651-2669-3247B798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3364B-07E4-868A-104B-EC399FA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90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A1F0-B65E-C434-FA3C-FD52AA8B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6AE80-8DC4-D3C1-EE87-F6A06C906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1167A-3550-EBE2-2A92-D4C29125D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C83BE-BD24-68B8-EF75-E5CA4813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370A9-7FE3-EFAD-BB35-00DF9179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B01D9-1B7E-FA61-1158-DFF09DB5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691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815D-500D-E674-3474-F089E37A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F2721-46FA-A47E-6F47-ABCC4C63D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104D0-D8A9-9E8A-AD2F-48077769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A4E3B-282C-F4B0-F3A7-D5E25024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25B77-E41C-A504-9959-8D3D51C0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58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FAE73-3FB9-EFFC-6082-E395315CE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D538D-7BD4-B728-8926-7B49A30A0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B2DAA-C648-3A3B-8225-5FF0D417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2F13F-9D03-EABD-8531-52A5282A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B4546-D03E-E924-C0D5-60F1EEF7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042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814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7700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021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716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032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2162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2804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2108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08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052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55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11F59-357E-ABA1-0D51-6696EB1B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10F0B-592F-888F-799C-5123C6614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F23F2-6D1C-1EB7-DBDE-05C27DD22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BDDC9-EC36-4AF6-9EC4-5775E3322811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21499-DD13-27A1-CB8F-D471C3A01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B77F6-3542-683A-8E2D-A221883D8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FD29B-E94E-44D8-ADA3-E235A3B6DC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889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599AF-E7D0-4DFF-830F-6CAFB8E73662}" type="datetimeFigureOut">
              <a:rPr lang="en-AU" smtClean="0"/>
              <a:t>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983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B431B60-4FE4-BED6-5A7E-8CA107B36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430B4D-FBC0-7182-41CD-63D1D14E5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039"/>
            <a:ext cx="10515600" cy="4800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3200" b="1" dirty="0">
                <a:solidFill>
                  <a:srgbClr val="00B0F0"/>
                </a:solidFill>
              </a:rPr>
              <a:t>Solving equations </a:t>
            </a:r>
          </a:p>
          <a:p>
            <a:pPr marL="0" indent="0">
              <a:buNone/>
            </a:pPr>
            <a:endParaRPr lang="en-US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F0"/>
                </a:solidFill>
              </a:rPr>
              <a:t> Solve equations using inspection and backtracking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Plan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Review vocabulary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Backtracking single step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Backtracking 2 step </a:t>
            </a:r>
            <a:endParaRPr lang="en-AU" sz="3200" b="1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9A3C9-B2BA-A20C-911A-8ECFBBEF4AE6}"/>
              </a:ext>
            </a:extLst>
          </p:cNvPr>
          <p:cNvSpPr txBox="1"/>
          <p:nvPr/>
        </p:nvSpPr>
        <p:spPr>
          <a:xfrm>
            <a:off x="6471821" y="1376039"/>
            <a:ext cx="4091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calculators.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2788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15164-6FB6-9616-8E30-EEE16507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Vocabulary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2F706-5401-AEA7-FEB2-66D9E3D93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64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AU" sz="4000" b="1" dirty="0"/>
              <a:t>Variable (pronumeral) </a:t>
            </a:r>
            <a:r>
              <a:rPr lang="en-AU" sz="4400" b="1" dirty="0"/>
              <a:t> 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FF0000"/>
                </a:solidFill>
              </a:rPr>
              <a:t>A letter or symbol representing a number </a:t>
            </a:r>
          </a:p>
          <a:p>
            <a:pPr marL="0" indent="0">
              <a:buNone/>
            </a:pPr>
            <a:endParaRPr lang="en-AU" sz="3200" b="1" dirty="0"/>
          </a:p>
          <a:p>
            <a:pPr marL="0" indent="0">
              <a:buNone/>
            </a:pPr>
            <a:r>
              <a:rPr lang="en-AU" sz="4000" b="1" dirty="0"/>
              <a:t>Solving</a:t>
            </a:r>
            <a:r>
              <a:rPr lang="en-AU" sz="4400" b="1" dirty="0"/>
              <a:t> 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FF0000"/>
                </a:solidFill>
              </a:rPr>
              <a:t>Finding the value of an unknown variable</a:t>
            </a:r>
          </a:p>
          <a:p>
            <a:pPr marL="0" indent="0"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95144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FE44-038C-4FA3-A5E4-10E7ECCA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of an equation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8EC85-B167-4CDE-8870-8911AE078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Inverse means something that is the </a:t>
            </a:r>
            <a:r>
              <a:rPr lang="en-US" b="1" i="1" dirty="0">
                <a:solidFill>
                  <a:srgbClr val="FF0000"/>
                </a:solidFill>
              </a:rPr>
              <a:t>opposite</a:t>
            </a:r>
            <a:r>
              <a:rPr lang="en-US" dirty="0">
                <a:solidFill>
                  <a:srgbClr val="FF0000"/>
                </a:solidFill>
              </a:rPr>
              <a:t> or </a:t>
            </a:r>
            <a:r>
              <a:rPr lang="en-US" b="1" i="1" dirty="0">
                <a:solidFill>
                  <a:srgbClr val="FF0000"/>
                </a:solidFill>
              </a:rPr>
              <a:t>reverse</a:t>
            </a:r>
            <a:r>
              <a:rPr lang="en-US" dirty="0">
                <a:solidFill>
                  <a:srgbClr val="FF0000"/>
                </a:solidFill>
              </a:rPr>
              <a:t> of something else.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Inverse means something that is the </a:t>
            </a:r>
            <a:r>
              <a:rPr lang="en-US" b="1" i="1" dirty="0"/>
              <a:t>_______</a:t>
            </a:r>
            <a:r>
              <a:rPr lang="en-US" dirty="0"/>
              <a:t> or </a:t>
            </a:r>
            <a:r>
              <a:rPr lang="en-US" b="1" i="1" dirty="0"/>
              <a:t>reverse</a:t>
            </a:r>
            <a:r>
              <a:rPr lang="en-US" dirty="0"/>
              <a:t> of something else. </a:t>
            </a:r>
            <a:endParaRPr lang="en-A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Inverse means something that is the </a:t>
            </a:r>
            <a:r>
              <a:rPr lang="en-US" b="1" i="1" dirty="0"/>
              <a:t>_______</a:t>
            </a:r>
            <a:r>
              <a:rPr lang="en-US" dirty="0"/>
              <a:t> or </a:t>
            </a:r>
            <a:r>
              <a:rPr lang="en-US" b="1" i="1" dirty="0"/>
              <a:t>______</a:t>
            </a:r>
            <a:r>
              <a:rPr lang="en-US" dirty="0"/>
              <a:t> of something else. </a:t>
            </a:r>
            <a:endParaRPr lang="en-A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986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99F9-5E03-4F93-A94E-01FCC9D6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inverse of….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F42A0-6F1B-4243-8EEE-D4EB69B0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Adding 5?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Subtracting 11?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Multiplying by 5?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Dividing by 4? 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936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D398-E7A8-ADE2-8E95-3210B341A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Solving through inspection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3B9ED-49DC-81F8-E07D-FA4309889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609513" cy="4351338"/>
              </a:xfrm>
            </p:spPr>
            <p:txBody>
              <a:bodyPr>
                <a:normAutofit fontScale="92500"/>
              </a:bodyPr>
              <a:lstStyle/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___ + 5 = 7 </m:t>
                    </m:r>
                  </m:oMath>
                </a14:m>
                <a:endParaRPr lang="en-US" sz="3600" dirty="0"/>
              </a:p>
              <a:p>
                <a:pPr marL="742950" indent="-742950">
                  <a:buAutoNum type="alphaLcParenR"/>
                </a:pPr>
                <a:endParaRPr lang="en-US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+ 10 = 15 </m:t>
                    </m:r>
                  </m:oMath>
                </a14:m>
                <a:endParaRPr lang="en-US" sz="3600" dirty="0"/>
              </a:p>
              <a:p>
                <a:pPr marL="742950" indent="-742950">
                  <a:buAutoNum type="alphaLcParenR"/>
                </a:pPr>
                <a:endParaRPr lang="en-US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= 20 </m:t>
                    </m:r>
                  </m:oMath>
                </a14:m>
                <a:endParaRPr lang="en-US" sz="3600" dirty="0"/>
              </a:p>
              <a:p>
                <a:pPr marL="742950" indent="-742950">
                  <a:buAutoNum type="alphaLcParenR"/>
                </a:pPr>
                <a:endParaRPr lang="en-US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8 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</m:t>
                    </m:r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3B9ED-49DC-81F8-E07D-FA4309889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609513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A8560DB-372A-BB8E-8228-BC3851415E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3443" y="1597981"/>
                <a:ext cx="3609513" cy="51385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3600" b="0" i="1" dirty="0">
                    <a:latin typeface="Cambria Math" panose="02040503050406030204" pitchFamily="18" charset="0"/>
                  </a:rPr>
                  <a:t>YOU TRY</a:t>
                </a:r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9+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20 −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=15 </m:t>
                    </m:r>
                  </m:oMath>
                </a14:m>
                <a:endParaRPr lang="en-US" sz="3600" b="0" dirty="0"/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:endParaRPr lang="en-US" sz="3600" b="0" dirty="0"/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endParaRPr lang="en-US" sz="3600" b="0" dirty="0"/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:endParaRPr lang="en-US" sz="3600" b="0" dirty="0"/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742950" indent="-742950">
                  <a:buFont typeface="Arial" panose="020B0604020202020204" pitchFamily="34" charset="0"/>
                  <a:buAutoNum type="alphaLcParenR"/>
                </a:pPr>
                <a:endParaRPr lang="en-AU" sz="36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A8560DB-372A-BB8E-8228-BC385141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443" y="1597981"/>
                <a:ext cx="3609513" cy="5138523"/>
              </a:xfrm>
              <a:prstGeom prst="rect">
                <a:avLst/>
              </a:prstGeom>
              <a:blipFill>
                <a:blip r:embed="rId3"/>
                <a:stretch>
                  <a:fillRect t="-28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63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4704"/>
          </a:xfrm>
        </p:spPr>
        <p:txBody>
          <a:bodyPr/>
          <a:lstStyle/>
          <a:p>
            <a:r>
              <a:rPr lang="en-AU" dirty="0"/>
              <a:t>Equations with one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764706"/>
            <a:ext cx="9144000" cy="2088231"/>
          </a:xfrm>
        </p:spPr>
        <p:txBody>
          <a:bodyPr>
            <a:normAutofit lnSpcReduction="10000"/>
          </a:bodyPr>
          <a:lstStyle/>
          <a:p>
            <a:r>
              <a:rPr lang="en-AU" dirty="0"/>
              <a:t>We work equations backwards by looking to see what </a:t>
            </a:r>
            <a:r>
              <a:rPr lang="en-AU" i="1" dirty="0"/>
              <a:t>operations</a:t>
            </a:r>
            <a:r>
              <a:rPr lang="en-AU" dirty="0"/>
              <a:t> are being done to the unknown value (think BIMDAS!) - BACKTRACKING</a:t>
            </a:r>
          </a:p>
          <a:p>
            <a:r>
              <a:rPr lang="en-AU" dirty="0"/>
              <a:t>I’m thinking of a number……..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55945" y="3092003"/>
                <a:ext cx="14055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𝒅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𝟖𝟕</m:t>
                      </m:r>
                    </m:oMath>
                  </m:oMathPara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945" y="3092003"/>
                <a:ext cx="14055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531583" y="3092003"/>
                <a:ext cx="13943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𝒌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𝟗𝟐</m:t>
                      </m:r>
                    </m:oMath>
                  </m:oMathPara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583" y="3092003"/>
                <a:ext cx="139435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4304487" y="3695699"/>
            <a:ext cx="2079092" cy="1294656"/>
            <a:chOff x="511165" y="3632076"/>
            <a:chExt cx="2079092" cy="1294656"/>
          </a:xfrm>
        </p:grpSpPr>
        <p:sp>
          <p:nvSpPr>
            <p:cNvPr id="4" name="Rectangle 3"/>
            <p:cNvSpPr/>
            <p:nvPr/>
          </p:nvSpPr>
          <p:spPr>
            <a:xfrm>
              <a:off x="511165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83531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419188" y="3635871"/>
            <a:ext cx="2079092" cy="1294656"/>
            <a:chOff x="511165" y="3632076"/>
            <a:chExt cx="2079092" cy="1294656"/>
          </a:xfrm>
        </p:grpSpPr>
        <p:sp>
          <p:nvSpPr>
            <p:cNvPr id="29" name="Rectangle 28"/>
            <p:cNvSpPr/>
            <p:nvPr/>
          </p:nvSpPr>
          <p:spPr>
            <a:xfrm>
              <a:off x="511165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83531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F551E0-411E-4F1C-C2E6-F24291724E8D}"/>
                  </a:ext>
                </a:extLst>
              </p:cNvPr>
              <p:cNvSpPr txBox="1"/>
              <p:nvPr/>
            </p:nvSpPr>
            <p:spPr>
              <a:xfrm>
                <a:off x="1400904" y="2998009"/>
                <a:ext cx="1566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𝟗</m:t>
                      </m:r>
                    </m:oMath>
                  </m:oMathPara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F551E0-411E-4F1C-C2E6-F24291724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904" y="2998009"/>
                <a:ext cx="156645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60406A9-0F46-6FAA-4B3D-02CBBA11A967}"/>
              </a:ext>
            </a:extLst>
          </p:cNvPr>
          <p:cNvGrpSpPr/>
          <p:nvPr/>
        </p:nvGrpSpPr>
        <p:grpSpPr>
          <a:xfrm>
            <a:off x="1047541" y="3656870"/>
            <a:ext cx="2079092" cy="1294656"/>
            <a:chOff x="511165" y="3632076"/>
            <a:chExt cx="2079092" cy="129465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F6FF3D7-E305-8AE0-3C28-D28EDFF42048}"/>
                </a:ext>
              </a:extLst>
            </p:cNvPr>
            <p:cNvSpPr/>
            <p:nvPr/>
          </p:nvSpPr>
          <p:spPr>
            <a:xfrm>
              <a:off x="511165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AC6006-2C2C-D561-63BC-3AA75A25F69D}"/>
                </a:ext>
              </a:extLst>
            </p:cNvPr>
            <p:cNvSpPr/>
            <p:nvPr/>
          </p:nvSpPr>
          <p:spPr>
            <a:xfrm>
              <a:off x="1883531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01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24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85909-85E0-26A5-45E1-684EB1972B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C9036-D564-3922-24A5-43F17D9DFF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Questions 1 – 36 </a:t>
            </a:r>
          </a:p>
          <a:p>
            <a:pPr marL="0" indent="0">
              <a:buNone/>
            </a:pPr>
            <a:r>
              <a:rPr lang="en-US" dirty="0"/>
              <a:t>Exercise C “Finding the missing number”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4944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4704"/>
          </a:xfrm>
        </p:spPr>
        <p:txBody>
          <a:bodyPr/>
          <a:lstStyle/>
          <a:p>
            <a:r>
              <a:rPr lang="en-AU" dirty="0"/>
              <a:t>Equations with more than one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764706"/>
            <a:ext cx="9144000" cy="2088231"/>
          </a:xfrm>
        </p:spPr>
        <p:txBody>
          <a:bodyPr>
            <a:normAutofit lnSpcReduction="10000"/>
          </a:bodyPr>
          <a:lstStyle/>
          <a:p>
            <a:r>
              <a:rPr lang="en-AU" dirty="0"/>
              <a:t>We work equations backwards by looking to see what </a:t>
            </a:r>
            <a:r>
              <a:rPr lang="en-AU" i="1" dirty="0"/>
              <a:t>operations</a:t>
            </a:r>
            <a:r>
              <a:rPr lang="en-AU" dirty="0"/>
              <a:t> are being done to the unknown value (think BIMDAS!)</a:t>
            </a:r>
          </a:p>
          <a:p>
            <a:r>
              <a:rPr lang="en-AU" dirty="0"/>
              <a:t>I’m thinking of a number…….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55946" y="3092003"/>
                <a:ext cx="1955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𝒅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𝟕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𝟔𝟒</m:t>
                      </m:r>
                    </m:oMath>
                  </m:oMathPara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946" y="3092003"/>
                <a:ext cx="195598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960226" y="3092004"/>
                <a:ext cx="19447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𝒌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𝟗𝟐</m:t>
                      </m:r>
                    </m:oMath>
                  </m:oMathPara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226" y="3092004"/>
                <a:ext cx="194476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2026404" y="3695700"/>
            <a:ext cx="3468981" cy="1294656"/>
            <a:chOff x="511165" y="3632076"/>
            <a:chExt cx="3468981" cy="1294656"/>
          </a:xfrm>
        </p:grpSpPr>
        <p:sp>
          <p:nvSpPr>
            <p:cNvPr id="4" name="Rectangle 3"/>
            <p:cNvSpPr/>
            <p:nvPr/>
          </p:nvSpPr>
          <p:spPr>
            <a:xfrm>
              <a:off x="511165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83531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273420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816081" y="3635871"/>
            <a:ext cx="3468981" cy="1294656"/>
            <a:chOff x="511165" y="3632076"/>
            <a:chExt cx="3468981" cy="1294656"/>
          </a:xfrm>
        </p:grpSpPr>
        <p:sp>
          <p:nvSpPr>
            <p:cNvPr id="29" name="Rectangle 28"/>
            <p:cNvSpPr/>
            <p:nvPr/>
          </p:nvSpPr>
          <p:spPr>
            <a:xfrm>
              <a:off x="511165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83531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273420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065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524000" y="0"/>
            <a:ext cx="91440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Make flowcharts so you can solve the equations: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4194" y="6601480"/>
            <a:ext cx="793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MQ7 p448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65" t="4215" r="51129" b="9962"/>
          <a:stretch/>
        </p:blipFill>
        <p:spPr bwMode="auto">
          <a:xfrm>
            <a:off x="5159896" y="944314"/>
            <a:ext cx="1078360" cy="72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3" t="36756" r="82692" b="41376"/>
          <a:stretch/>
        </p:blipFill>
        <p:spPr bwMode="auto">
          <a:xfrm>
            <a:off x="2674739" y="968586"/>
            <a:ext cx="12382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5" t="50785" r="82600" b="27347"/>
          <a:stretch/>
        </p:blipFill>
        <p:spPr bwMode="auto">
          <a:xfrm>
            <a:off x="7752184" y="968586"/>
            <a:ext cx="12382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58228" y="1122057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848" y="108979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5158" y="1089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325" y="2236542"/>
            <a:ext cx="561813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Write letter in first box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sz="2800" b="1" dirty="0">
                <a:solidFill>
                  <a:srgbClr val="00B0F0"/>
                </a:solidFill>
                <a:latin typeface="Calibri"/>
              </a:rPr>
              <a:t>Write operations on each forward arrow in order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sz="2800" b="1" dirty="0">
                <a:solidFill>
                  <a:srgbClr val="00B0F0"/>
                </a:solidFill>
                <a:latin typeface="Calibri"/>
              </a:rPr>
              <a:t>Answer in last box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Write the inverse on the back arrows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sz="2800" b="1" dirty="0">
                <a:solidFill>
                  <a:srgbClr val="00B0F0"/>
                </a:solidFill>
                <a:latin typeface="Calibri"/>
              </a:rPr>
              <a:t>Solve unknown variable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6284974" y="1933960"/>
            <a:ext cx="4176464" cy="1299989"/>
            <a:chOff x="4714256" y="1933959"/>
            <a:chExt cx="4176464" cy="1299989"/>
          </a:xfrm>
        </p:grpSpPr>
        <p:grpSp>
          <p:nvGrpSpPr>
            <p:cNvPr id="14" name="Group 13"/>
            <p:cNvGrpSpPr/>
            <p:nvPr/>
          </p:nvGrpSpPr>
          <p:grpSpPr>
            <a:xfrm>
              <a:off x="4714256" y="1933959"/>
              <a:ext cx="4176464" cy="1299989"/>
              <a:chOff x="511165" y="3626743"/>
              <a:chExt cx="3468981" cy="1299989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511165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827353" y="3626743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273420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8" name="Straight Arrow Connector 7"/>
            <p:cNvCxnSpPr/>
            <p:nvPr/>
          </p:nvCxnSpPr>
          <p:spPr>
            <a:xfrm>
              <a:off x="5625374" y="2238779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7244624" y="2219729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5625374" y="3030867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7244624" y="3011817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6272542" y="3575794"/>
            <a:ext cx="4176464" cy="1294656"/>
            <a:chOff x="4748529" y="3724627"/>
            <a:chExt cx="4176464" cy="1294656"/>
          </a:xfrm>
        </p:grpSpPr>
        <p:grpSp>
          <p:nvGrpSpPr>
            <p:cNvPr id="10" name="Group 9"/>
            <p:cNvGrpSpPr/>
            <p:nvPr/>
          </p:nvGrpSpPr>
          <p:grpSpPr>
            <a:xfrm>
              <a:off x="4748529" y="3724627"/>
              <a:ext cx="4176464" cy="1294656"/>
              <a:chOff x="511165" y="3632076"/>
              <a:chExt cx="3468981" cy="1294656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511165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1827353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273420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28" name="Straight Arrow Connector 27"/>
            <p:cNvCxnSpPr/>
            <p:nvPr/>
          </p:nvCxnSpPr>
          <p:spPr>
            <a:xfrm>
              <a:off x="5659647" y="407707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7278897" y="405802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H="1">
              <a:off x="5652105" y="481620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7271355" y="479715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6290798" y="5183832"/>
            <a:ext cx="4176464" cy="1294656"/>
            <a:chOff x="4759077" y="5157192"/>
            <a:chExt cx="4176464" cy="1294656"/>
          </a:xfrm>
        </p:grpSpPr>
        <p:grpSp>
          <p:nvGrpSpPr>
            <p:cNvPr id="17" name="Group 16"/>
            <p:cNvGrpSpPr/>
            <p:nvPr/>
          </p:nvGrpSpPr>
          <p:grpSpPr>
            <a:xfrm>
              <a:off x="4759077" y="5157192"/>
              <a:ext cx="4176464" cy="1294656"/>
              <a:chOff x="511165" y="3632076"/>
              <a:chExt cx="3468981" cy="1294656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511165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818592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3273420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30" name="Straight Arrow Connector 29"/>
            <p:cNvCxnSpPr/>
            <p:nvPr/>
          </p:nvCxnSpPr>
          <p:spPr>
            <a:xfrm>
              <a:off x="5659647" y="5445224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7278897" y="5426174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5659647" y="625636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7278897" y="623731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D3855A6-AE53-68FC-D5EE-5BB83023BAFF}"/>
              </a:ext>
            </a:extLst>
          </p:cNvPr>
          <p:cNvSpPr/>
          <p:nvPr/>
        </p:nvSpPr>
        <p:spPr>
          <a:xfrm>
            <a:off x="5159896" y="944314"/>
            <a:ext cx="1078360" cy="72481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FFA2EF-2176-D247-FF08-F20C4F2108C0}"/>
              </a:ext>
            </a:extLst>
          </p:cNvPr>
          <p:cNvSpPr/>
          <p:nvPr/>
        </p:nvSpPr>
        <p:spPr>
          <a:xfrm>
            <a:off x="7756430" y="968586"/>
            <a:ext cx="1258047" cy="65826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AD55C8-BA0D-D553-921A-36E7D7E5F37A}"/>
              </a:ext>
            </a:extLst>
          </p:cNvPr>
          <p:cNvSpPr/>
          <p:nvPr/>
        </p:nvSpPr>
        <p:spPr>
          <a:xfrm>
            <a:off x="2708306" y="935308"/>
            <a:ext cx="1255387" cy="72481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17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524000" y="0"/>
            <a:ext cx="91440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Make flowcharts so you can solve the equations: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4194" y="6601480"/>
            <a:ext cx="793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MQ7 p448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8228" y="1122057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848" y="108979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5158" y="1089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c)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284974" y="1933960"/>
            <a:ext cx="4176464" cy="1299989"/>
            <a:chOff x="4714256" y="1933959"/>
            <a:chExt cx="4176464" cy="1299989"/>
          </a:xfrm>
        </p:grpSpPr>
        <p:grpSp>
          <p:nvGrpSpPr>
            <p:cNvPr id="14" name="Group 13"/>
            <p:cNvGrpSpPr/>
            <p:nvPr/>
          </p:nvGrpSpPr>
          <p:grpSpPr>
            <a:xfrm>
              <a:off x="4714256" y="1933959"/>
              <a:ext cx="4176464" cy="1299989"/>
              <a:chOff x="511165" y="3626743"/>
              <a:chExt cx="3468981" cy="1299989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511165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827353" y="3626743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273420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8" name="Straight Arrow Connector 7"/>
            <p:cNvCxnSpPr/>
            <p:nvPr/>
          </p:nvCxnSpPr>
          <p:spPr>
            <a:xfrm>
              <a:off x="5625374" y="2238779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7244624" y="2219729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5625374" y="3030867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7244624" y="3011817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6272542" y="3575794"/>
            <a:ext cx="4176464" cy="1294656"/>
            <a:chOff x="4748529" y="3724627"/>
            <a:chExt cx="4176464" cy="1294656"/>
          </a:xfrm>
        </p:grpSpPr>
        <p:grpSp>
          <p:nvGrpSpPr>
            <p:cNvPr id="10" name="Group 9"/>
            <p:cNvGrpSpPr/>
            <p:nvPr/>
          </p:nvGrpSpPr>
          <p:grpSpPr>
            <a:xfrm>
              <a:off x="4748529" y="3724627"/>
              <a:ext cx="4176464" cy="1294656"/>
              <a:chOff x="511165" y="3632076"/>
              <a:chExt cx="3468981" cy="1294656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511165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1827353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273420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28" name="Straight Arrow Connector 27"/>
            <p:cNvCxnSpPr/>
            <p:nvPr/>
          </p:nvCxnSpPr>
          <p:spPr>
            <a:xfrm>
              <a:off x="5659647" y="407707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7278897" y="405802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H="1">
              <a:off x="5652105" y="481620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7271355" y="479715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6290798" y="5183832"/>
            <a:ext cx="4176464" cy="1294656"/>
            <a:chOff x="4759077" y="5157192"/>
            <a:chExt cx="4176464" cy="1294656"/>
          </a:xfrm>
        </p:grpSpPr>
        <p:grpSp>
          <p:nvGrpSpPr>
            <p:cNvPr id="17" name="Group 16"/>
            <p:cNvGrpSpPr/>
            <p:nvPr/>
          </p:nvGrpSpPr>
          <p:grpSpPr>
            <a:xfrm>
              <a:off x="4759077" y="5157192"/>
              <a:ext cx="4176464" cy="1294656"/>
              <a:chOff x="511165" y="3632076"/>
              <a:chExt cx="3468981" cy="1294656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511165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818592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3273420" y="3632076"/>
                <a:ext cx="706726" cy="129465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30" name="Straight Arrow Connector 29"/>
            <p:cNvCxnSpPr/>
            <p:nvPr/>
          </p:nvCxnSpPr>
          <p:spPr>
            <a:xfrm>
              <a:off x="5659647" y="5445224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7278897" y="5426174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5659647" y="625636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7278897" y="6237312"/>
              <a:ext cx="6480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106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524000" y="0"/>
            <a:ext cx="91440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Make flowcharts for these so you can work out the starting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4194" y="6601480"/>
            <a:ext cx="793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MQ7 p448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67420"/>
            <a:ext cx="8838906" cy="1209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1677880" y="3183613"/>
            <a:ext cx="9239048" cy="2910770"/>
            <a:chOff x="511165" y="3632076"/>
            <a:chExt cx="3468981" cy="1294656"/>
          </a:xfrm>
        </p:grpSpPr>
        <p:sp>
          <p:nvSpPr>
            <p:cNvPr id="18" name="Rectangle 17"/>
            <p:cNvSpPr/>
            <p:nvPr/>
          </p:nvSpPr>
          <p:spPr>
            <a:xfrm>
              <a:off x="511165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83531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273420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208FCE6F-9F20-EB43-559B-DC5391E86E3B}"/>
              </a:ext>
            </a:extLst>
          </p:cNvPr>
          <p:cNvSpPr/>
          <p:nvPr/>
        </p:nvSpPr>
        <p:spPr>
          <a:xfrm>
            <a:off x="3728621" y="3379232"/>
            <a:ext cx="1322773" cy="225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D2F7414-47D2-CB0D-5C4E-AD47AB0E6614}"/>
              </a:ext>
            </a:extLst>
          </p:cNvPr>
          <p:cNvSpPr/>
          <p:nvPr/>
        </p:nvSpPr>
        <p:spPr>
          <a:xfrm>
            <a:off x="7496744" y="3374693"/>
            <a:ext cx="1322773" cy="225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898322D-C76D-5E54-A080-31700EEFB815}"/>
              </a:ext>
            </a:extLst>
          </p:cNvPr>
          <p:cNvSpPr/>
          <p:nvPr/>
        </p:nvSpPr>
        <p:spPr>
          <a:xfrm rot="10800000">
            <a:off x="7430357" y="5546863"/>
            <a:ext cx="1322773" cy="225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E0D166E-FD4D-7C04-1444-EB253EB5EB40}"/>
              </a:ext>
            </a:extLst>
          </p:cNvPr>
          <p:cNvSpPr/>
          <p:nvPr/>
        </p:nvSpPr>
        <p:spPr>
          <a:xfrm rot="10800000">
            <a:off x="3728620" y="5546863"/>
            <a:ext cx="1322773" cy="225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44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A1A4-5EDC-4B28-A8E4-F7B9347A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F44D2-851F-4B5A-8BA4-E7CAB579B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E0542-22B2-4E0C-B359-F288FBA03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638"/>
            <a:ext cx="12192000" cy="576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12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CBCB-18AF-4C09-ACC3-D85B6AA2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002C5-EE90-4AC9-A5EC-AE9C1F46C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053F1-18CA-4CC9-ABB5-1717BB24A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1485"/>
            <a:ext cx="12192000" cy="405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20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336</Words>
  <Application>Microsoft Office PowerPoint</Application>
  <PresentationFormat>Widescreen</PresentationFormat>
  <Paragraphs>79</Paragraphs>
  <Slides>13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Vocabulary </vt:lpstr>
      <vt:lpstr>Inverse of an equation </vt:lpstr>
      <vt:lpstr>What is the inverse of…. </vt:lpstr>
      <vt:lpstr>Solving through inspection </vt:lpstr>
      <vt:lpstr>Equations with one step</vt:lpstr>
      <vt:lpstr>Individual practice </vt:lpstr>
      <vt:lpstr>Equations with more than one step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11</cp:revision>
  <cp:lastPrinted>2023-08-08T08:30:33Z</cp:lastPrinted>
  <dcterms:created xsi:type="dcterms:W3CDTF">2022-08-17T05:09:42Z</dcterms:created>
  <dcterms:modified xsi:type="dcterms:W3CDTF">2023-08-09T00:29:28Z</dcterms:modified>
</cp:coreProperties>
</file>
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sldIdLst>
    <p:sldId id="256" r:id="rId5"/>
    <p:sldId id="257" r:id="rId6"/>
    <p:sldId id="294" r:id="rId7"/>
    <p:sldId id="301" r:id="rId8"/>
    <p:sldId id="302" r:id="rId9"/>
    <p:sldId id="300" r:id="rId10"/>
    <p:sldId id="286" r:id="rId11"/>
    <p:sldId id="258" r:id="rId12"/>
    <p:sldId id="292" r:id="rId13"/>
    <p:sldId id="295" r:id="rId14"/>
    <p:sldId id="260" r:id="rId15"/>
    <p:sldId id="293" r:id="rId16"/>
    <p:sldId id="296" r:id="rId17"/>
    <p:sldId id="297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E687F-7B66-4612-A73D-1A44D2E6D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D3040-B4F8-4E13-9152-E7D713CDA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7A196-98DC-484A-84F1-E174E0F07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B7BAF-6657-43C4-800B-E8E8E0CF9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318B7-B27B-4378-9DC8-216F2255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1628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C923C-13DB-4F84-B908-FEDDE443D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2B4B7-A564-4BDC-BCAA-DA3DDE91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5BE4D-12EC-4661-8F03-5952EA04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E3CAF-07FE-49E0-809C-1777F15F0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9AF4B-FAF1-42AA-950F-A9E27E319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19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86A48-BF33-49CA-AFFB-4602C0A2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B896E-808E-4181-BE71-FF6A5BD1A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104C3-EA83-4652-9959-0608DD6DE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D0B7D-FB29-4069-9ABC-B96DF1FB4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4DACF-E7AB-402B-B3D9-17A850D5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8389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99EE-772F-4E89-A60B-A668030E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A94B7-5D59-4D7D-8856-402C2178D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B39F4-8D1F-4380-96E9-511FD862E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BC36E-CFDA-41E2-A573-2AE7FD32E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581F5-80B5-4289-B5FD-40B0A53A0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F5255-0175-4BA2-B0A6-DF734286B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234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FAE28-F57E-4455-957B-A4DEA2BC0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CA303-2009-4BD2-AC0F-5D57322BD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A9FEB-801D-4658-AD35-EACF09BD7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4708A8-0AA9-47DB-B5CC-D9CB3261C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2213B-38D4-4FCE-A32C-4B8FAD24EF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792550-5B32-4D53-B366-BAC0D50D4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8DDB4F-1074-4FD5-ACCA-D15DFE35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7E7AB0-DC87-4890-98F1-9A01613D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7579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1948-7A27-4447-B1F0-AF9CF325D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465091-7B67-45F7-B1F9-16813D7A0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19A659-92BE-47C3-8328-08E4540E7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B92D5-A8F4-4B2F-ADDC-D304221F5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17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77E061-AB67-433E-A71C-4CCF5C7C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E334C-8521-4F7A-AFEC-63D1DEAC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0CF43-5A8C-426D-AF0D-653E12C3B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871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529E9-BCCE-42C6-B8CF-88E819104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80E1D-9A25-4EB4-B4CD-4E8C55C25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593A0A-0C1B-44AA-A542-0D4F748E2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20ED01-F1CB-420E-9141-7CF1E851E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65906-7819-46D4-A5BA-33BF40AD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FDAF5-56DE-487B-8831-EF6A7369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3065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B4E3-200B-496D-AD57-A2DE95AE6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A2398-F8E7-412B-B62B-4730562D6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54104-26FF-4B5D-A1FA-8AAD6FDCC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DF90F1-626B-4414-BF13-5DA3C9F77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F66D37-1F03-48F2-A356-559FA911D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F8880-6618-4421-B053-C5838016D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062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8D69-9223-4323-B6FD-410B2411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AF49C-2CC8-42E3-88E6-D2867B78A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0B8DB-77FB-4FF5-B9DF-9CF9E2AAD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3B963-4C5E-48AB-88D4-8F97159B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4FDDF-2032-435E-9E27-56D671D07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66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A17EAE-5029-434D-9A22-F1AC021EB8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FF9C2-1AAA-448A-8953-5F7415237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E44BA-69C3-423F-90B1-5732B6F0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0DF04-5ECC-47CC-9B13-B6782BA2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2C7CD-FE95-45FE-B463-F6C3EDAD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0300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929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810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3281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476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059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8344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210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49015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240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5235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4543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72061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206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9"/>
            <a:ext cx="121920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21659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32998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01508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9961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91366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27282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95490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9659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74208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1578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1E06-6237-4938-89EA-69D93B98B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8F8E0-136F-45F6-8408-C624C0C755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7F464-A515-4229-8278-16DDCDD7F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6BF03-715C-494F-A1AA-7398EB5A5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27FC4-1551-4BC5-9E55-733F6126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54479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5627-C69A-4417-B829-734F84AE2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93D27-384A-4EEA-9F9C-81B772137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2094-DFA0-4779-B487-51DE76EF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01A8D-9B37-424C-B1C7-11EC0F14C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C4E1B-27C7-49D0-B240-BC627BB3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8092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ADAE-FE5F-4315-AACC-773A6CD50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79F01-3487-4266-9D9D-B24902A77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9F519-74FB-4FE5-981D-CB96003B9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ECB15-9725-4E56-85D1-031C837E5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5AC33-846F-437B-977A-B88477E9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88795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B5F0-98AD-42EC-98F8-A58C6E85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9FD63-2023-4DEC-B232-BF57629B66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D8427-E642-4C11-9E2D-2FB64A7C4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DDFBA-3F8C-4077-AD41-1AB288B78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D7E01-7771-470D-B359-CF2582C84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C627F-AA48-4B7D-971F-47D7BE5BC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65333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CFEE1-8BF9-4B49-A4E3-BADF33873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6E140-5F80-4C7B-8C09-AE352D0F0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6044F-CAE1-47B2-B3A9-EF3E654EF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024D53-5448-45CC-9ED1-7A1B22456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98562F-C354-4070-BE5D-914D6A63FB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22525-E526-4D68-B690-A7D8B737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CB36D7-E4F0-4BFF-9726-D14972C5B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0A6D47-B25A-4248-9094-D834FF8A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91558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EFF2D-0C1F-4843-8265-BBA54B69D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B24CF9-2768-4676-BBA9-7715261AD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667FE-0D3B-4D4E-890B-87E456E77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9BEBE-0F95-4A46-AD3A-8A4938016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9563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61548E-0C68-4E3E-BBC2-E4D756310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470BB-52B9-48A2-B5A8-C3D73A5F6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A764E-50F0-4D98-896B-CACB0897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010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8F95-0BCC-4169-B983-30B94B887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1731-5E11-4AB9-AD77-B2E392928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83D4C-28A8-459D-B7B8-1C61D2D68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3316E-C950-4FC5-B30A-22AC9256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F3704-06DA-49AB-9E03-B46E4CFD2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A014E-1197-4EB9-B8EF-5B96B9DBA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6471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016F-8B9B-4F5F-8BB5-E01AEF0A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1082BB-7899-47F1-A0F5-24B6CB3EF6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17C21-445C-41E9-AA6D-60A9C9B79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D62450-4DC3-4CAE-BAC7-0D040F2B4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89490-4519-42ED-93B0-0A132E574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45437-8605-4929-BD88-2FDB91DC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1519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6A921-F79E-4338-8783-88CF00CB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8E631-C803-4B8D-AEF2-9DAF719F1C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DF5DD-5CDB-43E1-85C2-CFB86B2D6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C62CF-7572-4DAC-80AB-0F5D4650F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A8DA-B262-4156-8623-2DE24B01F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739433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226C44-FBC5-4E64-B0AA-B478963D9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82F01-4C17-4843-A42D-28F6E77D9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29FF4-0F80-4003-9837-9D5E7086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ECED-2D3F-42FA-BA5E-D401C69EA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44B73-B4CD-4DA3-848B-72C29C26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2451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A6F2C0-980A-42F2-89F4-5D114EB3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08CA-70ED-4BEB-9D21-EF733463A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FA69A-49F2-43F9-A6C2-E6821D0A9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DF2B2-5C76-459E-95A5-462E033F99DE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C1736-7205-43CE-9EA3-FB694A367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49514-C05E-4828-870C-C92C490CB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165A3-7355-43CD-A068-769DBECA693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4020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EADFD-91F4-4207-BFAF-E95A14A19A93}" type="datetimeFigureOut">
              <a:rPr lang="en-GB" smtClean="0"/>
              <a:t>20/07/2023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07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4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7B885-B743-4F12-A2CA-CD5840EB28B8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DC9F6-44CF-4936-AFF9-BDBE907656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35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05B25-2417-49BA-945F-0D54E1E4E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97292-AC1E-4AED-A4FA-ABDDA7349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AFE28-476B-4996-A5B8-61AF10046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D5E45-7669-43B3-85F0-8DD888B86CC3}" type="datetimeFigureOut">
              <a:rPr lang="en-AU" smtClean="0"/>
              <a:t>20/07/2023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EBC72-21D5-44DE-B0EF-40FF48DAA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85BA9-9921-47DD-91D8-F63D73AED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3C10A-08AC-484E-8D30-AE16862FAD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412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1X_UIOvEw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55CA6D-7E67-412A-95F6-1046180A3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44036D-D132-4F33-81A6-1FDBE971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Title: </a:t>
            </a:r>
            <a:r>
              <a:rPr lang="en-AU" dirty="0">
                <a:solidFill>
                  <a:srgbClr val="00B0F0"/>
                </a:solidFill>
              </a:rPr>
              <a:t>Reflection </a:t>
            </a:r>
          </a:p>
          <a:p>
            <a:pPr marL="0" indent="0" algn="ctr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Describe rotation about x and y axes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Draw a mirror image about an axes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Review views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Rotation fluency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Reflection practice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8479C-D4A8-6FF6-EC8B-E94D373DA543}"/>
              </a:ext>
            </a:extLst>
          </p:cNvPr>
          <p:cNvSpPr txBox="1"/>
          <p:nvPr/>
        </p:nvSpPr>
        <p:spPr>
          <a:xfrm>
            <a:off x="8069802" y="1825625"/>
            <a:ext cx="2565647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Need whiteboards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  <a:highlight>
                  <a:srgbClr val="00FF00"/>
                </a:highlight>
              </a:rPr>
              <a:t>PBiS</a:t>
            </a:r>
            <a:r>
              <a:rPr lang="en-US" dirty="0">
                <a:solidFill>
                  <a:schemeClr val="bg1"/>
                </a:solidFill>
                <a:highlight>
                  <a:srgbClr val="00FF00"/>
                </a:highlight>
              </a:rPr>
              <a:t> focus: LEARN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00FF00"/>
                </a:highlight>
              </a:rPr>
              <a:t>Completing all set work</a:t>
            </a:r>
            <a:endParaRPr lang="en-AU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2616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19F1F-D2E2-4D98-97E8-8F99B172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Daily review: TPS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F0E94-97E0-4217-9F76-C0064A12E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Key feature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117C0B-5769-4306-8A8D-CF218411FE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Has a flat face 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Shows front, right and top views in 2D</a:t>
            </a:r>
          </a:p>
          <a:p>
            <a:pPr marL="0" indent="0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bg1"/>
                </a:solidFill>
              </a:rPr>
              <a:t>Uses vertical edges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A0FB84-60A9-4551-8460-ED980E5D3B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chemeClr val="bg1"/>
                </a:solidFill>
              </a:rPr>
              <a:t>Type of view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DC2B085-3653-4F51-AD50-55A2901F5E1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AU" dirty="0">
                <a:solidFill>
                  <a:schemeClr val="bg1"/>
                </a:solidFill>
              </a:rPr>
              <a:t>Isometric </a:t>
            </a:r>
          </a:p>
          <a:p>
            <a:pPr marL="0" indent="0" algn="ctr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AU" dirty="0">
                <a:solidFill>
                  <a:schemeClr val="bg1"/>
                </a:solidFill>
              </a:rPr>
              <a:t>Oblique </a:t>
            </a:r>
          </a:p>
          <a:p>
            <a:pPr marL="0" indent="0" algn="ctr">
              <a:buNone/>
            </a:pPr>
            <a:endParaRPr lang="en-AU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AU" dirty="0">
                <a:solidFill>
                  <a:schemeClr val="bg1"/>
                </a:solidFill>
              </a:rPr>
              <a:t>Orthogonal </a:t>
            </a:r>
          </a:p>
        </p:txBody>
      </p:sp>
    </p:spTree>
    <p:extLst>
      <p:ext uri="{BB962C8B-B14F-4D97-AF65-F5344CB8AC3E}">
        <p14:creationId xmlns:p14="http://schemas.microsoft.com/office/powerpoint/2010/main" val="123996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E3F01A-AC90-4C48-B21F-B5E381CCB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Daily review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DDB30C2-6F86-4971-97D2-3D91109D6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>
                <a:solidFill>
                  <a:schemeClr val="bg1"/>
                </a:solidFill>
              </a:rPr>
              <a:t>TPS 35 seconds: </a:t>
            </a:r>
          </a:p>
          <a:p>
            <a:pPr marL="0" indent="0">
              <a:buNone/>
            </a:pPr>
            <a:endParaRPr lang="en-AU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sz="2000" dirty="0">
                <a:solidFill>
                  <a:schemeClr val="bg1"/>
                </a:solidFill>
              </a:rPr>
              <a:t>Translation is just a ________ </a:t>
            </a:r>
          </a:p>
          <a:p>
            <a:pPr marL="0" indent="0">
              <a:buNone/>
            </a:pPr>
            <a:endParaRPr lang="en-AU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AU" sz="2000" dirty="0">
                <a:solidFill>
                  <a:schemeClr val="bg1"/>
                </a:solidFill>
              </a:rPr>
              <a:t>Describe the movement of the square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endParaRPr lang="en-AU" sz="2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352541-7145-450D-9683-3ED38FEF1B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8" r="71382" b="51415"/>
          <a:stretch/>
        </p:blipFill>
        <p:spPr>
          <a:xfrm>
            <a:off x="5906972" y="807593"/>
            <a:ext cx="5017110" cy="523956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14782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62CFAC-7A29-4282-937B-1DE6A92EE69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11532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Which shows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</m:oMath>
                </a14:m>
                <a:r>
                  <a:rPr lang="en-AU" dirty="0">
                    <a:solidFill>
                      <a:schemeClr val="bg1"/>
                    </a:solidFill>
                  </a:rPr>
                  <a:t>Clockwise?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62CFAC-7A29-4282-937B-1DE6A92EE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11532"/>
              </a:xfrm>
              <a:blipFill>
                <a:blip r:embed="rId2"/>
                <a:stretch>
                  <a:fillRect t="-30000" b="-46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9603241-7D98-4A58-BBB1-8A7A5B26C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88" y="976657"/>
            <a:ext cx="5905512" cy="5881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F71C2A-0FDA-4819-ACA8-FB386F93B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88" y="976656"/>
            <a:ext cx="5905512" cy="58813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7A68B6-0D7F-484E-8F33-46E1753327E4}"/>
              </a:ext>
            </a:extLst>
          </p:cNvPr>
          <p:cNvSpPr/>
          <p:nvPr/>
        </p:nvSpPr>
        <p:spPr>
          <a:xfrm>
            <a:off x="3143244" y="1393794"/>
            <a:ext cx="1082527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787FD-E577-4BA7-88F9-4CE3E6867E2D}"/>
              </a:ext>
            </a:extLst>
          </p:cNvPr>
          <p:cNvSpPr/>
          <p:nvPr/>
        </p:nvSpPr>
        <p:spPr>
          <a:xfrm rot="5400000">
            <a:off x="4951415" y="4289918"/>
            <a:ext cx="1082527" cy="35510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421E95-42A6-44AC-BFC1-50C086FC5001}"/>
              </a:ext>
            </a:extLst>
          </p:cNvPr>
          <p:cNvSpPr/>
          <p:nvPr/>
        </p:nvSpPr>
        <p:spPr>
          <a:xfrm>
            <a:off x="9239244" y="1393793"/>
            <a:ext cx="1082527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4AE82C-2E39-46EE-9431-647D2581126A}"/>
              </a:ext>
            </a:extLst>
          </p:cNvPr>
          <p:cNvSpPr/>
          <p:nvPr/>
        </p:nvSpPr>
        <p:spPr>
          <a:xfrm rot="5400000">
            <a:off x="6293423" y="4289918"/>
            <a:ext cx="1082527" cy="35510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6307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62CFAC-7A29-4282-937B-1DE6A92EE69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11532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Which </a:t>
                </a:r>
                <a:r>
                  <a:rPr lang="en-US" b="1" i="1" dirty="0">
                    <a:solidFill>
                      <a:schemeClr val="bg1"/>
                    </a:solidFill>
                  </a:rPr>
                  <a:t>does not </a:t>
                </a:r>
                <a:r>
                  <a:rPr lang="en-US" dirty="0">
                    <a:solidFill>
                      <a:schemeClr val="bg1"/>
                    </a:solidFill>
                  </a:rPr>
                  <a:t>show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 </m:t>
                    </m:r>
                  </m:oMath>
                </a14:m>
                <a:r>
                  <a:rPr lang="en-AU" dirty="0">
                    <a:solidFill>
                      <a:schemeClr val="bg1"/>
                    </a:solidFill>
                  </a:rPr>
                  <a:t>rotation?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162CFAC-7A29-4282-937B-1DE6A92EE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11532"/>
              </a:xfrm>
              <a:blipFill>
                <a:blip r:embed="rId2"/>
                <a:stretch>
                  <a:fillRect t="-30000" b="-46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9603241-7D98-4A58-BBB1-8A7A5B26C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88" y="976657"/>
            <a:ext cx="5905512" cy="5881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F71C2A-0FDA-4819-ACA8-FB386F93B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565" y="976657"/>
            <a:ext cx="5905512" cy="588134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7A68B6-0D7F-484E-8F33-46E1753327E4}"/>
              </a:ext>
            </a:extLst>
          </p:cNvPr>
          <p:cNvSpPr/>
          <p:nvPr/>
        </p:nvSpPr>
        <p:spPr>
          <a:xfrm>
            <a:off x="3143244" y="1393794"/>
            <a:ext cx="1082527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787FD-E577-4BA7-88F9-4CE3E6867E2D}"/>
              </a:ext>
            </a:extLst>
          </p:cNvPr>
          <p:cNvSpPr/>
          <p:nvPr/>
        </p:nvSpPr>
        <p:spPr>
          <a:xfrm>
            <a:off x="3143244" y="6102255"/>
            <a:ext cx="1082527" cy="35510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421E95-42A6-44AC-BFC1-50C086FC5001}"/>
              </a:ext>
            </a:extLst>
          </p:cNvPr>
          <p:cNvSpPr/>
          <p:nvPr/>
        </p:nvSpPr>
        <p:spPr>
          <a:xfrm>
            <a:off x="9239244" y="1393793"/>
            <a:ext cx="1082527" cy="35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4AE82C-2E39-46EE-9431-647D2581126A}"/>
              </a:ext>
            </a:extLst>
          </p:cNvPr>
          <p:cNvSpPr/>
          <p:nvPr/>
        </p:nvSpPr>
        <p:spPr>
          <a:xfrm>
            <a:off x="8153794" y="6102255"/>
            <a:ext cx="1082527" cy="35510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endParaRPr kumimoji="0" lang="en-AU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8487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D0D03-D25D-4285-8206-D54A11F63E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Individual task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28AAF-DAEA-43DF-87EA-E6AF901468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Exercise B (designing a logo) pg. 99 - 103.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(finish rotation work from yesterday) </a:t>
            </a:r>
            <a:endParaRPr lang="en-A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7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7030A0"/>
                </a:solidFill>
              </a:rPr>
              <a:t>Reflection is just a flip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Lines of symmetry are the centre lines of symmetrical shapes</a:t>
            </a:r>
          </a:p>
          <a:p>
            <a:r>
              <a:rPr lang="en-AU" sz="2800" dirty="0"/>
              <a:t>The lines are also called </a:t>
            </a:r>
            <a:r>
              <a:rPr lang="en-AU" sz="2800" i="1" dirty="0"/>
              <a:t>mirror lines</a:t>
            </a:r>
          </a:p>
        </p:txBody>
      </p:sp>
      <p:grpSp>
        <p:nvGrpSpPr>
          <p:cNvPr id="4" name="Group 145"/>
          <p:cNvGrpSpPr>
            <a:grpSpLocks/>
          </p:cNvGrpSpPr>
          <p:nvPr/>
        </p:nvGrpSpPr>
        <p:grpSpPr bwMode="auto">
          <a:xfrm>
            <a:off x="8110612" y="2895774"/>
            <a:ext cx="1128712" cy="1127125"/>
            <a:chOff x="4283" y="934"/>
            <a:chExt cx="711" cy="710"/>
          </a:xfrm>
        </p:grpSpPr>
        <p:sp>
          <p:nvSpPr>
            <p:cNvPr id="5" name="Freeform 15"/>
            <p:cNvSpPr>
              <a:spLocks/>
            </p:cNvSpPr>
            <p:nvPr/>
          </p:nvSpPr>
          <p:spPr bwMode="auto">
            <a:xfrm>
              <a:off x="4292" y="943"/>
              <a:ext cx="693" cy="692"/>
            </a:xfrm>
            <a:custGeom>
              <a:avLst/>
              <a:gdLst>
                <a:gd name="T0" fmla="*/ 312 w 1468"/>
                <a:gd name="T1" fmla="*/ 692 h 1468"/>
                <a:gd name="T2" fmla="*/ 243 w 1468"/>
                <a:gd name="T3" fmla="*/ 678 h 1468"/>
                <a:gd name="T4" fmla="*/ 179 w 1468"/>
                <a:gd name="T5" fmla="*/ 651 h 1468"/>
                <a:gd name="T6" fmla="*/ 128 w 1468"/>
                <a:gd name="T7" fmla="*/ 614 h 1468"/>
                <a:gd name="T8" fmla="*/ 78 w 1468"/>
                <a:gd name="T9" fmla="*/ 564 h 1468"/>
                <a:gd name="T10" fmla="*/ 41 w 1468"/>
                <a:gd name="T11" fmla="*/ 513 h 1468"/>
                <a:gd name="T12" fmla="*/ 14 w 1468"/>
                <a:gd name="T13" fmla="*/ 449 h 1468"/>
                <a:gd name="T14" fmla="*/ 0 w 1468"/>
                <a:gd name="T15" fmla="*/ 380 h 1468"/>
                <a:gd name="T16" fmla="*/ 0 w 1468"/>
                <a:gd name="T17" fmla="*/ 312 h 1468"/>
                <a:gd name="T18" fmla="*/ 14 w 1468"/>
                <a:gd name="T19" fmla="*/ 243 h 1468"/>
                <a:gd name="T20" fmla="*/ 41 w 1468"/>
                <a:gd name="T21" fmla="*/ 179 h 1468"/>
                <a:gd name="T22" fmla="*/ 78 w 1468"/>
                <a:gd name="T23" fmla="*/ 128 h 1468"/>
                <a:gd name="T24" fmla="*/ 128 w 1468"/>
                <a:gd name="T25" fmla="*/ 78 h 1468"/>
                <a:gd name="T26" fmla="*/ 179 w 1468"/>
                <a:gd name="T27" fmla="*/ 41 h 1468"/>
                <a:gd name="T28" fmla="*/ 243 w 1468"/>
                <a:gd name="T29" fmla="*/ 14 h 1468"/>
                <a:gd name="T30" fmla="*/ 312 w 1468"/>
                <a:gd name="T31" fmla="*/ 0 h 1468"/>
                <a:gd name="T32" fmla="*/ 381 w 1468"/>
                <a:gd name="T33" fmla="*/ 0 h 1468"/>
                <a:gd name="T34" fmla="*/ 450 w 1468"/>
                <a:gd name="T35" fmla="*/ 14 h 1468"/>
                <a:gd name="T36" fmla="*/ 514 w 1468"/>
                <a:gd name="T37" fmla="*/ 41 h 1468"/>
                <a:gd name="T38" fmla="*/ 565 w 1468"/>
                <a:gd name="T39" fmla="*/ 78 h 1468"/>
                <a:gd name="T40" fmla="*/ 615 w 1468"/>
                <a:gd name="T41" fmla="*/ 128 h 1468"/>
                <a:gd name="T42" fmla="*/ 652 w 1468"/>
                <a:gd name="T43" fmla="*/ 179 h 1468"/>
                <a:gd name="T44" fmla="*/ 679 w 1468"/>
                <a:gd name="T45" fmla="*/ 243 h 1468"/>
                <a:gd name="T46" fmla="*/ 693 w 1468"/>
                <a:gd name="T47" fmla="*/ 312 h 1468"/>
                <a:gd name="T48" fmla="*/ 693 w 1468"/>
                <a:gd name="T49" fmla="*/ 380 h 1468"/>
                <a:gd name="T50" fmla="*/ 679 w 1468"/>
                <a:gd name="T51" fmla="*/ 449 h 1468"/>
                <a:gd name="T52" fmla="*/ 652 w 1468"/>
                <a:gd name="T53" fmla="*/ 513 h 1468"/>
                <a:gd name="T54" fmla="*/ 615 w 1468"/>
                <a:gd name="T55" fmla="*/ 564 h 1468"/>
                <a:gd name="T56" fmla="*/ 565 w 1468"/>
                <a:gd name="T57" fmla="*/ 614 h 1468"/>
                <a:gd name="T58" fmla="*/ 514 w 1468"/>
                <a:gd name="T59" fmla="*/ 651 h 1468"/>
                <a:gd name="T60" fmla="*/ 450 w 1468"/>
                <a:gd name="T61" fmla="*/ 678 h 1468"/>
                <a:gd name="T62" fmla="*/ 381 w 1468"/>
                <a:gd name="T63" fmla="*/ 692 h 146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68" h="1468">
                  <a:moveTo>
                    <a:pt x="739" y="1468"/>
                  </a:moveTo>
                  <a:lnTo>
                    <a:pt x="661" y="1468"/>
                  </a:lnTo>
                  <a:lnTo>
                    <a:pt x="583" y="1449"/>
                  </a:lnTo>
                  <a:lnTo>
                    <a:pt x="515" y="1439"/>
                  </a:lnTo>
                  <a:lnTo>
                    <a:pt x="447" y="1410"/>
                  </a:lnTo>
                  <a:lnTo>
                    <a:pt x="379" y="1381"/>
                  </a:lnTo>
                  <a:lnTo>
                    <a:pt x="321" y="1342"/>
                  </a:lnTo>
                  <a:lnTo>
                    <a:pt x="272" y="1303"/>
                  </a:lnTo>
                  <a:lnTo>
                    <a:pt x="214" y="1254"/>
                  </a:lnTo>
                  <a:lnTo>
                    <a:pt x="165" y="1196"/>
                  </a:lnTo>
                  <a:lnTo>
                    <a:pt x="126" y="1147"/>
                  </a:lnTo>
                  <a:lnTo>
                    <a:pt x="87" y="1089"/>
                  </a:lnTo>
                  <a:lnTo>
                    <a:pt x="58" y="1021"/>
                  </a:lnTo>
                  <a:lnTo>
                    <a:pt x="29" y="953"/>
                  </a:lnTo>
                  <a:lnTo>
                    <a:pt x="19" y="885"/>
                  </a:lnTo>
                  <a:lnTo>
                    <a:pt x="0" y="807"/>
                  </a:lnTo>
                  <a:lnTo>
                    <a:pt x="0" y="739"/>
                  </a:lnTo>
                  <a:lnTo>
                    <a:pt x="0" y="661"/>
                  </a:lnTo>
                  <a:lnTo>
                    <a:pt x="19" y="583"/>
                  </a:lnTo>
                  <a:lnTo>
                    <a:pt x="29" y="515"/>
                  </a:lnTo>
                  <a:lnTo>
                    <a:pt x="58" y="447"/>
                  </a:lnTo>
                  <a:lnTo>
                    <a:pt x="87" y="379"/>
                  </a:lnTo>
                  <a:lnTo>
                    <a:pt x="126" y="321"/>
                  </a:lnTo>
                  <a:lnTo>
                    <a:pt x="165" y="272"/>
                  </a:lnTo>
                  <a:lnTo>
                    <a:pt x="214" y="214"/>
                  </a:lnTo>
                  <a:lnTo>
                    <a:pt x="272" y="165"/>
                  </a:lnTo>
                  <a:lnTo>
                    <a:pt x="321" y="126"/>
                  </a:lnTo>
                  <a:lnTo>
                    <a:pt x="379" y="87"/>
                  </a:lnTo>
                  <a:lnTo>
                    <a:pt x="447" y="58"/>
                  </a:lnTo>
                  <a:lnTo>
                    <a:pt x="515" y="29"/>
                  </a:lnTo>
                  <a:lnTo>
                    <a:pt x="583" y="19"/>
                  </a:lnTo>
                  <a:lnTo>
                    <a:pt x="661" y="0"/>
                  </a:lnTo>
                  <a:lnTo>
                    <a:pt x="739" y="0"/>
                  </a:lnTo>
                  <a:lnTo>
                    <a:pt x="807" y="0"/>
                  </a:lnTo>
                  <a:lnTo>
                    <a:pt x="885" y="19"/>
                  </a:lnTo>
                  <a:lnTo>
                    <a:pt x="953" y="29"/>
                  </a:lnTo>
                  <a:lnTo>
                    <a:pt x="1021" y="58"/>
                  </a:lnTo>
                  <a:lnTo>
                    <a:pt x="1089" y="87"/>
                  </a:lnTo>
                  <a:lnTo>
                    <a:pt x="1147" y="126"/>
                  </a:lnTo>
                  <a:lnTo>
                    <a:pt x="1196" y="165"/>
                  </a:lnTo>
                  <a:lnTo>
                    <a:pt x="1254" y="214"/>
                  </a:lnTo>
                  <a:lnTo>
                    <a:pt x="1303" y="272"/>
                  </a:lnTo>
                  <a:lnTo>
                    <a:pt x="1342" y="321"/>
                  </a:lnTo>
                  <a:lnTo>
                    <a:pt x="1381" y="379"/>
                  </a:lnTo>
                  <a:lnTo>
                    <a:pt x="1410" y="447"/>
                  </a:lnTo>
                  <a:lnTo>
                    <a:pt x="1439" y="515"/>
                  </a:lnTo>
                  <a:lnTo>
                    <a:pt x="1449" y="583"/>
                  </a:lnTo>
                  <a:lnTo>
                    <a:pt x="1468" y="661"/>
                  </a:lnTo>
                  <a:lnTo>
                    <a:pt x="1468" y="739"/>
                  </a:lnTo>
                  <a:lnTo>
                    <a:pt x="1468" y="807"/>
                  </a:lnTo>
                  <a:lnTo>
                    <a:pt x="1449" y="885"/>
                  </a:lnTo>
                  <a:lnTo>
                    <a:pt x="1439" y="953"/>
                  </a:lnTo>
                  <a:lnTo>
                    <a:pt x="1410" y="1021"/>
                  </a:lnTo>
                  <a:lnTo>
                    <a:pt x="1381" y="1089"/>
                  </a:lnTo>
                  <a:lnTo>
                    <a:pt x="1342" y="1147"/>
                  </a:lnTo>
                  <a:lnTo>
                    <a:pt x="1303" y="1196"/>
                  </a:lnTo>
                  <a:lnTo>
                    <a:pt x="1254" y="1254"/>
                  </a:lnTo>
                  <a:lnTo>
                    <a:pt x="1196" y="1303"/>
                  </a:lnTo>
                  <a:lnTo>
                    <a:pt x="1147" y="1342"/>
                  </a:lnTo>
                  <a:lnTo>
                    <a:pt x="1089" y="1381"/>
                  </a:lnTo>
                  <a:lnTo>
                    <a:pt x="1021" y="1410"/>
                  </a:lnTo>
                  <a:lnTo>
                    <a:pt x="953" y="1439"/>
                  </a:lnTo>
                  <a:lnTo>
                    <a:pt x="885" y="1449"/>
                  </a:lnTo>
                  <a:lnTo>
                    <a:pt x="807" y="1468"/>
                  </a:lnTo>
                  <a:lnTo>
                    <a:pt x="739" y="146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Freeform 16"/>
            <p:cNvSpPr>
              <a:spLocks/>
            </p:cNvSpPr>
            <p:nvPr/>
          </p:nvSpPr>
          <p:spPr bwMode="auto">
            <a:xfrm>
              <a:off x="4604" y="1626"/>
              <a:ext cx="37" cy="18"/>
            </a:xfrm>
            <a:custGeom>
              <a:avLst/>
              <a:gdLst>
                <a:gd name="T0" fmla="*/ 0 w 78"/>
                <a:gd name="T1" fmla="*/ 14 h 38"/>
                <a:gd name="T2" fmla="*/ 0 w 78"/>
                <a:gd name="T3" fmla="*/ 14 h 38"/>
                <a:gd name="T4" fmla="*/ 32 w 78"/>
                <a:gd name="T5" fmla="*/ 18 h 38"/>
                <a:gd name="T6" fmla="*/ 37 w 78"/>
                <a:gd name="T7" fmla="*/ 0 h 38"/>
                <a:gd name="T8" fmla="*/ 0 w 78"/>
                <a:gd name="T9" fmla="*/ 0 h 38"/>
                <a:gd name="T10" fmla="*/ 0 w 78"/>
                <a:gd name="T11" fmla="*/ 0 h 38"/>
                <a:gd name="T12" fmla="*/ 0 w 78"/>
                <a:gd name="T13" fmla="*/ 14 h 38"/>
                <a:gd name="T14" fmla="*/ 0 w 78"/>
                <a:gd name="T15" fmla="*/ 14 h 38"/>
                <a:gd name="T16" fmla="*/ 0 w 78"/>
                <a:gd name="T17" fmla="*/ 14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38">
                  <a:moveTo>
                    <a:pt x="0" y="29"/>
                  </a:moveTo>
                  <a:lnTo>
                    <a:pt x="0" y="29"/>
                  </a:lnTo>
                  <a:lnTo>
                    <a:pt x="68" y="38"/>
                  </a:lnTo>
                  <a:lnTo>
                    <a:pt x="78" y="0"/>
                  </a:lnTo>
                  <a:lnTo>
                    <a:pt x="0" y="0"/>
                  </a:lnTo>
                  <a:lnTo>
                    <a:pt x="0" y="2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Freeform 17"/>
            <p:cNvSpPr>
              <a:spLocks/>
            </p:cNvSpPr>
            <p:nvPr/>
          </p:nvSpPr>
          <p:spPr bwMode="auto">
            <a:xfrm>
              <a:off x="4567" y="1621"/>
              <a:ext cx="37" cy="19"/>
            </a:xfrm>
            <a:custGeom>
              <a:avLst/>
              <a:gdLst>
                <a:gd name="T0" fmla="*/ 0 w 78"/>
                <a:gd name="T1" fmla="*/ 14 h 39"/>
                <a:gd name="T2" fmla="*/ 0 w 78"/>
                <a:gd name="T3" fmla="*/ 14 h 39"/>
                <a:gd name="T4" fmla="*/ 37 w 78"/>
                <a:gd name="T5" fmla="*/ 19 h 39"/>
                <a:gd name="T6" fmla="*/ 37 w 78"/>
                <a:gd name="T7" fmla="*/ 5 h 39"/>
                <a:gd name="T8" fmla="*/ 5 w 78"/>
                <a:gd name="T9" fmla="*/ 0 h 39"/>
                <a:gd name="T10" fmla="*/ 5 w 78"/>
                <a:gd name="T11" fmla="*/ 0 h 39"/>
                <a:gd name="T12" fmla="*/ 0 w 78"/>
                <a:gd name="T13" fmla="*/ 14 h 39"/>
                <a:gd name="T14" fmla="*/ 0 w 78"/>
                <a:gd name="T15" fmla="*/ 14 h 39"/>
                <a:gd name="T16" fmla="*/ 0 w 78"/>
                <a:gd name="T17" fmla="*/ 14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39">
                  <a:moveTo>
                    <a:pt x="0" y="29"/>
                  </a:moveTo>
                  <a:lnTo>
                    <a:pt x="0" y="29"/>
                  </a:lnTo>
                  <a:lnTo>
                    <a:pt x="78" y="39"/>
                  </a:lnTo>
                  <a:lnTo>
                    <a:pt x="78" y="10"/>
                  </a:lnTo>
                  <a:lnTo>
                    <a:pt x="10" y="0"/>
                  </a:lnTo>
                  <a:lnTo>
                    <a:pt x="0" y="2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auto">
            <a:xfrm>
              <a:off x="4535" y="1612"/>
              <a:ext cx="37" cy="23"/>
            </a:xfrm>
            <a:custGeom>
              <a:avLst/>
              <a:gdLst>
                <a:gd name="T0" fmla="*/ 0 w 78"/>
                <a:gd name="T1" fmla="*/ 14 h 49"/>
                <a:gd name="T2" fmla="*/ 0 w 78"/>
                <a:gd name="T3" fmla="*/ 14 h 49"/>
                <a:gd name="T4" fmla="*/ 32 w 78"/>
                <a:gd name="T5" fmla="*/ 23 h 49"/>
                <a:gd name="T6" fmla="*/ 37 w 78"/>
                <a:gd name="T7" fmla="*/ 9 h 49"/>
                <a:gd name="T8" fmla="*/ 0 w 78"/>
                <a:gd name="T9" fmla="*/ 0 h 49"/>
                <a:gd name="T10" fmla="*/ 5 w 78"/>
                <a:gd name="T11" fmla="*/ 0 h 49"/>
                <a:gd name="T12" fmla="*/ 0 w 78"/>
                <a:gd name="T13" fmla="*/ 14 h 49"/>
                <a:gd name="T14" fmla="*/ 0 w 78"/>
                <a:gd name="T15" fmla="*/ 14 h 49"/>
                <a:gd name="T16" fmla="*/ 0 w 78"/>
                <a:gd name="T17" fmla="*/ 14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49">
                  <a:moveTo>
                    <a:pt x="0" y="30"/>
                  </a:moveTo>
                  <a:lnTo>
                    <a:pt x="0" y="30"/>
                  </a:lnTo>
                  <a:lnTo>
                    <a:pt x="68" y="49"/>
                  </a:lnTo>
                  <a:lnTo>
                    <a:pt x="78" y="20"/>
                  </a:lnTo>
                  <a:lnTo>
                    <a:pt x="0" y="0"/>
                  </a:lnTo>
                  <a:lnTo>
                    <a:pt x="10" y="0"/>
                  </a:lnTo>
                  <a:lnTo>
                    <a:pt x="0" y="3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Freeform 19"/>
            <p:cNvSpPr>
              <a:spLocks/>
            </p:cNvSpPr>
            <p:nvPr/>
          </p:nvSpPr>
          <p:spPr bwMode="auto">
            <a:xfrm>
              <a:off x="4498" y="1598"/>
              <a:ext cx="42" cy="28"/>
            </a:xfrm>
            <a:custGeom>
              <a:avLst/>
              <a:gdLst>
                <a:gd name="T0" fmla="*/ 0 w 88"/>
                <a:gd name="T1" fmla="*/ 19 h 59"/>
                <a:gd name="T2" fmla="*/ 5 w 88"/>
                <a:gd name="T3" fmla="*/ 19 h 59"/>
                <a:gd name="T4" fmla="*/ 37 w 88"/>
                <a:gd name="T5" fmla="*/ 28 h 59"/>
                <a:gd name="T6" fmla="*/ 42 w 88"/>
                <a:gd name="T7" fmla="*/ 14 h 59"/>
                <a:gd name="T8" fmla="*/ 10 w 88"/>
                <a:gd name="T9" fmla="*/ 0 h 59"/>
                <a:gd name="T10" fmla="*/ 10 w 88"/>
                <a:gd name="T11" fmla="*/ 0 h 59"/>
                <a:gd name="T12" fmla="*/ 0 w 88"/>
                <a:gd name="T13" fmla="*/ 19 h 59"/>
                <a:gd name="T14" fmla="*/ 5 w 88"/>
                <a:gd name="T15" fmla="*/ 19 h 59"/>
                <a:gd name="T16" fmla="*/ 5 w 88"/>
                <a:gd name="T17" fmla="*/ 19 h 59"/>
                <a:gd name="T18" fmla="*/ 0 w 88"/>
                <a:gd name="T19" fmla="*/ 19 h 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8" h="59">
                  <a:moveTo>
                    <a:pt x="0" y="39"/>
                  </a:moveTo>
                  <a:lnTo>
                    <a:pt x="10" y="39"/>
                  </a:lnTo>
                  <a:lnTo>
                    <a:pt x="78" y="59"/>
                  </a:lnTo>
                  <a:lnTo>
                    <a:pt x="88" y="29"/>
                  </a:lnTo>
                  <a:lnTo>
                    <a:pt x="2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0" y="3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Freeform 20"/>
            <p:cNvSpPr>
              <a:spLocks/>
            </p:cNvSpPr>
            <p:nvPr/>
          </p:nvSpPr>
          <p:spPr bwMode="auto">
            <a:xfrm>
              <a:off x="4471" y="1585"/>
              <a:ext cx="37" cy="32"/>
            </a:xfrm>
            <a:custGeom>
              <a:avLst/>
              <a:gdLst>
                <a:gd name="T0" fmla="*/ 0 w 78"/>
                <a:gd name="T1" fmla="*/ 14 h 68"/>
                <a:gd name="T2" fmla="*/ 0 w 78"/>
                <a:gd name="T3" fmla="*/ 14 h 68"/>
                <a:gd name="T4" fmla="*/ 28 w 78"/>
                <a:gd name="T5" fmla="*/ 32 h 68"/>
                <a:gd name="T6" fmla="*/ 37 w 78"/>
                <a:gd name="T7" fmla="*/ 14 h 68"/>
                <a:gd name="T8" fmla="*/ 5 w 78"/>
                <a:gd name="T9" fmla="*/ 0 h 68"/>
                <a:gd name="T10" fmla="*/ 5 w 78"/>
                <a:gd name="T11" fmla="*/ 0 h 68"/>
                <a:gd name="T12" fmla="*/ 0 w 78"/>
                <a:gd name="T13" fmla="*/ 14 h 68"/>
                <a:gd name="T14" fmla="*/ 0 w 78"/>
                <a:gd name="T15" fmla="*/ 14 h 68"/>
                <a:gd name="T16" fmla="*/ 0 w 78"/>
                <a:gd name="T17" fmla="*/ 14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68">
                  <a:moveTo>
                    <a:pt x="0" y="29"/>
                  </a:moveTo>
                  <a:lnTo>
                    <a:pt x="0" y="29"/>
                  </a:lnTo>
                  <a:lnTo>
                    <a:pt x="58" y="68"/>
                  </a:lnTo>
                  <a:lnTo>
                    <a:pt x="78" y="29"/>
                  </a:lnTo>
                  <a:lnTo>
                    <a:pt x="10" y="0"/>
                  </a:lnTo>
                  <a:lnTo>
                    <a:pt x="0" y="2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Freeform 21"/>
            <p:cNvSpPr>
              <a:spLocks/>
            </p:cNvSpPr>
            <p:nvPr/>
          </p:nvSpPr>
          <p:spPr bwMode="auto">
            <a:xfrm>
              <a:off x="4439" y="1571"/>
              <a:ext cx="37" cy="27"/>
            </a:xfrm>
            <a:custGeom>
              <a:avLst/>
              <a:gdLst>
                <a:gd name="T0" fmla="*/ 0 w 78"/>
                <a:gd name="T1" fmla="*/ 9 h 58"/>
                <a:gd name="T2" fmla="*/ 0 w 78"/>
                <a:gd name="T3" fmla="*/ 14 h 58"/>
                <a:gd name="T4" fmla="*/ 32 w 78"/>
                <a:gd name="T5" fmla="*/ 27 h 58"/>
                <a:gd name="T6" fmla="*/ 37 w 78"/>
                <a:gd name="T7" fmla="*/ 14 h 58"/>
                <a:gd name="T8" fmla="*/ 9 w 78"/>
                <a:gd name="T9" fmla="*/ 0 h 58"/>
                <a:gd name="T10" fmla="*/ 9 w 78"/>
                <a:gd name="T11" fmla="*/ 0 h 58"/>
                <a:gd name="T12" fmla="*/ 0 w 78"/>
                <a:gd name="T13" fmla="*/ 9 h 58"/>
                <a:gd name="T14" fmla="*/ 0 w 78"/>
                <a:gd name="T15" fmla="*/ 14 h 58"/>
                <a:gd name="T16" fmla="*/ 0 w 78"/>
                <a:gd name="T17" fmla="*/ 14 h 58"/>
                <a:gd name="T18" fmla="*/ 0 w 78"/>
                <a:gd name="T19" fmla="*/ 9 h 5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58">
                  <a:moveTo>
                    <a:pt x="0" y="19"/>
                  </a:moveTo>
                  <a:lnTo>
                    <a:pt x="0" y="29"/>
                  </a:lnTo>
                  <a:lnTo>
                    <a:pt x="68" y="58"/>
                  </a:lnTo>
                  <a:lnTo>
                    <a:pt x="78" y="29"/>
                  </a:lnTo>
                  <a:lnTo>
                    <a:pt x="20" y="0"/>
                  </a:lnTo>
                  <a:lnTo>
                    <a:pt x="0" y="19"/>
                  </a:lnTo>
                  <a:lnTo>
                    <a:pt x="0" y="29"/>
                  </a:lnTo>
                  <a:lnTo>
                    <a:pt x="0" y="1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auto">
            <a:xfrm>
              <a:off x="4411" y="1548"/>
              <a:ext cx="37" cy="32"/>
            </a:xfrm>
            <a:custGeom>
              <a:avLst/>
              <a:gdLst>
                <a:gd name="T0" fmla="*/ 0 w 78"/>
                <a:gd name="T1" fmla="*/ 14 h 68"/>
                <a:gd name="T2" fmla="*/ 4 w 78"/>
                <a:gd name="T3" fmla="*/ 14 h 68"/>
                <a:gd name="T4" fmla="*/ 28 w 78"/>
                <a:gd name="T5" fmla="*/ 32 h 68"/>
                <a:gd name="T6" fmla="*/ 37 w 78"/>
                <a:gd name="T7" fmla="*/ 23 h 68"/>
                <a:gd name="T8" fmla="*/ 9 w 78"/>
                <a:gd name="T9" fmla="*/ 0 h 68"/>
                <a:gd name="T10" fmla="*/ 14 w 78"/>
                <a:gd name="T11" fmla="*/ 5 h 68"/>
                <a:gd name="T12" fmla="*/ 0 w 78"/>
                <a:gd name="T13" fmla="*/ 14 h 68"/>
                <a:gd name="T14" fmla="*/ 0 w 78"/>
                <a:gd name="T15" fmla="*/ 14 h 68"/>
                <a:gd name="T16" fmla="*/ 4 w 78"/>
                <a:gd name="T17" fmla="*/ 14 h 68"/>
                <a:gd name="T18" fmla="*/ 0 w 78"/>
                <a:gd name="T19" fmla="*/ 14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68">
                  <a:moveTo>
                    <a:pt x="0" y="29"/>
                  </a:moveTo>
                  <a:lnTo>
                    <a:pt x="9" y="29"/>
                  </a:lnTo>
                  <a:lnTo>
                    <a:pt x="58" y="68"/>
                  </a:lnTo>
                  <a:lnTo>
                    <a:pt x="78" y="49"/>
                  </a:lnTo>
                  <a:lnTo>
                    <a:pt x="19" y="0"/>
                  </a:lnTo>
                  <a:lnTo>
                    <a:pt x="29" y="10"/>
                  </a:lnTo>
                  <a:lnTo>
                    <a:pt x="0" y="29"/>
                  </a:lnTo>
                  <a:lnTo>
                    <a:pt x="9" y="29"/>
                  </a:lnTo>
                  <a:lnTo>
                    <a:pt x="0" y="2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Freeform 23"/>
            <p:cNvSpPr>
              <a:spLocks/>
            </p:cNvSpPr>
            <p:nvPr/>
          </p:nvSpPr>
          <p:spPr bwMode="auto">
            <a:xfrm>
              <a:off x="4388" y="1529"/>
              <a:ext cx="37" cy="32"/>
            </a:xfrm>
            <a:custGeom>
              <a:avLst/>
              <a:gdLst>
                <a:gd name="T0" fmla="*/ 0 w 78"/>
                <a:gd name="T1" fmla="*/ 9 h 68"/>
                <a:gd name="T2" fmla="*/ 0 w 78"/>
                <a:gd name="T3" fmla="*/ 9 h 68"/>
                <a:gd name="T4" fmla="*/ 23 w 78"/>
                <a:gd name="T5" fmla="*/ 32 h 68"/>
                <a:gd name="T6" fmla="*/ 37 w 78"/>
                <a:gd name="T7" fmla="*/ 23 h 68"/>
                <a:gd name="T8" fmla="*/ 9 w 78"/>
                <a:gd name="T9" fmla="*/ 0 h 68"/>
                <a:gd name="T10" fmla="*/ 9 w 78"/>
                <a:gd name="T11" fmla="*/ 0 h 68"/>
                <a:gd name="T12" fmla="*/ 0 w 78"/>
                <a:gd name="T13" fmla="*/ 9 h 68"/>
                <a:gd name="T14" fmla="*/ 0 w 78"/>
                <a:gd name="T15" fmla="*/ 9 h 68"/>
                <a:gd name="T16" fmla="*/ 0 w 78"/>
                <a:gd name="T17" fmla="*/ 9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68">
                  <a:moveTo>
                    <a:pt x="0" y="20"/>
                  </a:moveTo>
                  <a:lnTo>
                    <a:pt x="0" y="20"/>
                  </a:lnTo>
                  <a:lnTo>
                    <a:pt x="49" y="68"/>
                  </a:lnTo>
                  <a:lnTo>
                    <a:pt x="78" y="49"/>
                  </a:lnTo>
                  <a:lnTo>
                    <a:pt x="20" y="0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" name="Freeform 24"/>
            <p:cNvSpPr>
              <a:spLocks/>
            </p:cNvSpPr>
            <p:nvPr/>
          </p:nvSpPr>
          <p:spPr bwMode="auto">
            <a:xfrm>
              <a:off x="4366" y="1502"/>
              <a:ext cx="32" cy="37"/>
            </a:xfrm>
            <a:custGeom>
              <a:avLst/>
              <a:gdLst>
                <a:gd name="T0" fmla="*/ 0 w 68"/>
                <a:gd name="T1" fmla="*/ 9 h 78"/>
                <a:gd name="T2" fmla="*/ 0 w 68"/>
                <a:gd name="T3" fmla="*/ 14 h 78"/>
                <a:gd name="T4" fmla="*/ 23 w 68"/>
                <a:gd name="T5" fmla="*/ 37 h 78"/>
                <a:gd name="T6" fmla="*/ 32 w 68"/>
                <a:gd name="T7" fmla="*/ 28 h 78"/>
                <a:gd name="T8" fmla="*/ 9 w 68"/>
                <a:gd name="T9" fmla="*/ 0 h 78"/>
                <a:gd name="T10" fmla="*/ 14 w 68"/>
                <a:gd name="T11" fmla="*/ 5 h 78"/>
                <a:gd name="T12" fmla="*/ 0 w 68"/>
                <a:gd name="T13" fmla="*/ 9 h 78"/>
                <a:gd name="T14" fmla="*/ 0 w 68"/>
                <a:gd name="T15" fmla="*/ 14 h 78"/>
                <a:gd name="T16" fmla="*/ 0 w 68"/>
                <a:gd name="T17" fmla="*/ 14 h 78"/>
                <a:gd name="T18" fmla="*/ 0 w 68"/>
                <a:gd name="T19" fmla="*/ 9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78">
                  <a:moveTo>
                    <a:pt x="0" y="20"/>
                  </a:moveTo>
                  <a:lnTo>
                    <a:pt x="0" y="29"/>
                  </a:lnTo>
                  <a:lnTo>
                    <a:pt x="48" y="78"/>
                  </a:lnTo>
                  <a:lnTo>
                    <a:pt x="68" y="58"/>
                  </a:lnTo>
                  <a:lnTo>
                    <a:pt x="19" y="0"/>
                  </a:lnTo>
                  <a:lnTo>
                    <a:pt x="29" y="10"/>
                  </a:lnTo>
                  <a:lnTo>
                    <a:pt x="0" y="20"/>
                  </a:lnTo>
                  <a:lnTo>
                    <a:pt x="0" y="29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5" name="Freeform 25"/>
            <p:cNvSpPr>
              <a:spLocks/>
            </p:cNvSpPr>
            <p:nvPr/>
          </p:nvSpPr>
          <p:spPr bwMode="auto">
            <a:xfrm>
              <a:off x="4342" y="1479"/>
              <a:ext cx="37" cy="33"/>
            </a:xfrm>
            <a:custGeom>
              <a:avLst/>
              <a:gdLst>
                <a:gd name="T0" fmla="*/ 0 w 78"/>
                <a:gd name="T1" fmla="*/ 10 h 69"/>
                <a:gd name="T2" fmla="*/ 5 w 78"/>
                <a:gd name="T3" fmla="*/ 10 h 69"/>
                <a:gd name="T4" fmla="*/ 23 w 78"/>
                <a:gd name="T5" fmla="*/ 33 h 69"/>
                <a:gd name="T6" fmla="*/ 37 w 78"/>
                <a:gd name="T7" fmla="*/ 28 h 69"/>
                <a:gd name="T8" fmla="*/ 14 w 78"/>
                <a:gd name="T9" fmla="*/ 0 h 69"/>
                <a:gd name="T10" fmla="*/ 14 w 78"/>
                <a:gd name="T11" fmla="*/ 0 h 69"/>
                <a:gd name="T12" fmla="*/ 0 w 78"/>
                <a:gd name="T13" fmla="*/ 10 h 69"/>
                <a:gd name="T14" fmla="*/ 0 w 78"/>
                <a:gd name="T15" fmla="*/ 10 h 69"/>
                <a:gd name="T16" fmla="*/ 5 w 78"/>
                <a:gd name="T17" fmla="*/ 10 h 69"/>
                <a:gd name="T18" fmla="*/ 0 w 78"/>
                <a:gd name="T19" fmla="*/ 10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69">
                  <a:moveTo>
                    <a:pt x="0" y="20"/>
                  </a:moveTo>
                  <a:lnTo>
                    <a:pt x="10" y="20"/>
                  </a:lnTo>
                  <a:lnTo>
                    <a:pt x="49" y="69"/>
                  </a:lnTo>
                  <a:lnTo>
                    <a:pt x="78" y="59"/>
                  </a:lnTo>
                  <a:lnTo>
                    <a:pt x="29" y="0"/>
                  </a:lnTo>
                  <a:lnTo>
                    <a:pt x="0" y="20"/>
                  </a:lnTo>
                  <a:lnTo>
                    <a:pt x="10" y="20"/>
                  </a:lnTo>
                  <a:lnTo>
                    <a:pt x="0" y="2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Freeform 26"/>
            <p:cNvSpPr>
              <a:spLocks/>
            </p:cNvSpPr>
            <p:nvPr/>
          </p:nvSpPr>
          <p:spPr bwMode="auto">
            <a:xfrm>
              <a:off x="4329" y="1452"/>
              <a:ext cx="27" cy="36"/>
            </a:xfrm>
            <a:custGeom>
              <a:avLst/>
              <a:gdLst>
                <a:gd name="T0" fmla="*/ 0 w 58"/>
                <a:gd name="T1" fmla="*/ 5 h 78"/>
                <a:gd name="T2" fmla="*/ 0 w 58"/>
                <a:gd name="T3" fmla="*/ 5 h 78"/>
                <a:gd name="T4" fmla="*/ 14 w 58"/>
                <a:gd name="T5" fmla="*/ 36 h 78"/>
                <a:gd name="T6" fmla="*/ 27 w 58"/>
                <a:gd name="T7" fmla="*/ 27 h 78"/>
                <a:gd name="T8" fmla="*/ 14 w 58"/>
                <a:gd name="T9" fmla="*/ 0 h 78"/>
                <a:gd name="T10" fmla="*/ 14 w 58"/>
                <a:gd name="T11" fmla="*/ 0 h 78"/>
                <a:gd name="T12" fmla="*/ 0 w 58"/>
                <a:gd name="T13" fmla="*/ 5 h 78"/>
                <a:gd name="T14" fmla="*/ 0 w 58"/>
                <a:gd name="T15" fmla="*/ 5 h 78"/>
                <a:gd name="T16" fmla="*/ 0 w 58"/>
                <a:gd name="T17" fmla="*/ 5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78">
                  <a:moveTo>
                    <a:pt x="0" y="10"/>
                  </a:moveTo>
                  <a:lnTo>
                    <a:pt x="0" y="10"/>
                  </a:lnTo>
                  <a:lnTo>
                    <a:pt x="29" y="78"/>
                  </a:lnTo>
                  <a:lnTo>
                    <a:pt x="58" y="58"/>
                  </a:lnTo>
                  <a:lnTo>
                    <a:pt x="29" y="0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Freeform 27"/>
            <p:cNvSpPr>
              <a:spLocks/>
            </p:cNvSpPr>
            <p:nvPr/>
          </p:nvSpPr>
          <p:spPr bwMode="auto">
            <a:xfrm>
              <a:off x="4310" y="1420"/>
              <a:ext cx="32" cy="36"/>
            </a:xfrm>
            <a:custGeom>
              <a:avLst/>
              <a:gdLst>
                <a:gd name="T0" fmla="*/ 0 w 68"/>
                <a:gd name="T1" fmla="*/ 5 h 78"/>
                <a:gd name="T2" fmla="*/ 0 w 68"/>
                <a:gd name="T3" fmla="*/ 9 h 78"/>
                <a:gd name="T4" fmla="*/ 18 w 68"/>
                <a:gd name="T5" fmla="*/ 36 h 78"/>
                <a:gd name="T6" fmla="*/ 32 w 68"/>
                <a:gd name="T7" fmla="*/ 31 h 78"/>
                <a:gd name="T8" fmla="*/ 18 w 68"/>
                <a:gd name="T9" fmla="*/ 0 h 78"/>
                <a:gd name="T10" fmla="*/ 18 w 68"/>
                <a:gd name="T11" fmla="*/ 0 h 78"/>
                <a:gd name="T12" fmla="*/ 0 w 68"/>
                <a:gd name="T13" fmla="*/ 5 h 78"/>
                <a:gd name="T14" fmla="*/ 0 w 68"/>
                <a:gd name="T15" fmla="*/ 5 h 78"/>
                <a:gd name="T16" fmla="*/ 0 w 68"/>
                <a:gd name="T17" fmla="*/ 9 h 78"/>
                <a:gd name="T18" fmla="*/ 0 w 68"/>
                <a:gd name="T19" fmla="*/ 5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78">
                  <a:moveTo>
                    <a:pt x="0" y="10"/>
                  </a:moveTo>
                  <a:lnTo>
                    <a:pt x="0" y="20"/>
                  </a:lnTo>
                  <a:lnTo>
                    <a:pt x="39" y="78"/>
                  </a:lnTo>
                  <a:lnTo>
                    <a:pt x="68" y="68"/>
                  </a:lnTo>
                  <a:lnTo>
                    <a:pt x="39" y="0"/>
                  </a:lnTo>
                  <a:lnTo>
                    <a:pt x="0" y="10"/>
                  </a:lnTo>
                  <a:lnTo>
                    <a:pt x="0" y="20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Freeform 28"/>
            <p:cNvSpPr>
              <a:spLocks/>
            </p:cNvSpPr>
            <p:nvPr/>
          </p:nvSpPr>
          <p:spPr bwMode="auto">
            <a:xfrm>
              <a:off x="4301" y="1388"/>
              <a:ext cx="28" cy="36"/>
            </a:xfrm>
            <a:custGeom>
              <a:avLst/>
              <a:gdLst>
                <a:gd name="T0" fmla="*/ 0 w 59"/>
                <a:gd name="T1" fmla="*/ 5 h 78"/>
                <a:gd name="T2" fmla="*/ 0 w 59"/>
                <a:gd name="T3" fmla="*/ 5 h 78"/>
                <a:gd name="T4" fmla="*/ 9 w 59"/>
                <a:gd name="T5" fmla="*/ 36 h 78"/>
                <a:gd name="T6" fmla="*/ 28 w 59"/>
                <a:gd name="T7" fmla="*/ 31 h 78"/>
                <a:gd name="T8" fmla="*/ 14 w 59"/>
                <a:gd name="T9" fmla="*/ 0 h 78"/>
                <a:gd name="T10" fmla="*/ 14 w 59"/>
                <a:gd name="T11" fmla="*/ 5 h 78"/>
                <a:gd name="T12" fmla="*/ 0 w 59"/>
                <a:gd name="T13" fmla="*/ 5 h 78"/>
                <a:gd name="T14" fmla="*/ 0 w 59"/>
                <a:gd name="T15" fmla="*/ 5 h 78"/>
                <a:gd name="T16" fmla="*/ 0 w 59"/>
                <a:gd name="T17" fmla="*/ 5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" h="78">
                  <a:moveTo>
                    <a:pt x="0" y="10"/>
                  </a:moveTo>
                  <a:lnTo>
                    <a:pt x="0" y="10"/>
                  </a:lnTo>
                  <a:lnTo>
                    <a:pt x="20" y="78"/>
                  </a:lnTo>
                  <a:lnTo>
                    <a:pt x="59" y="68"/>
                  </a:lnTo>
                  <a:lnTo>
                    <a:pt x="30" y="0"/>
                  </a:lnTo>
                  <a:lnTo>
                    <a:pt x="30" y="10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Freeform 29"/>
            <p:cNvSpPr>
              <a:spLocks/>
            </p:cNvSpPr>
            <p:nvPr/>
          </p:nvSpPr>
          <p:spPr bwMode="auto">
            <a:xfrm>
              <a:off x="4292" y="1355"/>
              <a:ext cx="23" cy="37"/>
            </a:xfrm>
            <a:custGeom>
              <a:avLst/>
              <a:gdLst>
                <a:gd name="T0" fmla="*/ 0 w 49"/>
                <a:gd name="T1" fmla="*/ 5 h 78"/>
                <a:gd name="T2" fmla="*/ 0 w 49"/>
                <a:gd name="T3" fmla="*/ 5 h 78"/>
                <a:gd name="T4" fmla="*/ 9 w 49"/>
                <a:gd name="T5" fmla="*/ 37 h 78"/>
                <a:gd name="T6" fmla="*/ 23 w 49"/>
                <a:gd name="T7" fmla="*/ 37 h 78"/>
                <a:gd name="T8" fmla="*/ 14 w 49"/>
                <a:gd name="T9" fmla="*/ 0 h 78"/>
                <a:gd name="T10" fmla="*/ 14 w 49"/>
                <a:gd name="T11" fmla="*/ 0 h 78"/>
                <a:gd name="T12" fmla="*/ 0 w 49"/>
                <a:gd name="T13" fmla="*/ 5 h 78"/>
                <a:gd name="T14" fmla="*/ 0 w 49"/>
                <a:gd name="T15" fmla="*/ 5 h 78"/>
                <a:gd name="T16" fmla="*/ 0 w 49"/>
                <a:gd name="T17" fmla="*/ 5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" h="78">
                  <a:moveTo>
                    <a:pt x="0" y="10"/>
                  </a:moveTo>
                  <a:lnTo>
                    <a:pt x="0" y="10"/>
                  </a:lnTo>
                  <a:lnTo>
                    <a:pt x="19" y="78"/>
                  </a:lnTo>
                  <a:lnTo>
                    <a:pt x="49" y="78"/>
                  </a:lnTo>
                  <a:lnTo>
                    <a:pt x="29" y="0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Freeform 30"/>
            <p:cNvSpPr>
              <a:spLocks/>
            </p:cNvSpPr>
            <p:nvPr/>
          </p:nvSpPr>
          <p:spPr bwMode="auto">
            <a:xfrm>
              <a:off x="4287" y="1323"/>
              <a:ext cx="19" cy="37"/>
            </a:xfrm>
            <a:custGeom>
              <a:avLst/>
              <a:gdLst>
                <a:gd name="T0" fmla="*/ 0 w 39"/>
                <a:gd name="T1" fmla="*/ 0 h 78"/>
                <a:gd name="T2" fmla="*/ 0 w 39"/>
                <a:gd name="T3" fmla="*/ 0 h 78"/>
                <a:gd name="T4" fmla="*/ 5 w 39"/>
                <a:gd name="T5" fmla="*/ 37 h 78"/>
                <a:gd name="T6" fmla="*/ 19 w 39"/>
                <a:gd name="T7" fmla="*/ 32 h 78"/>
                <a:gd name="T8" fmla="*/ 14 w 39"/>
                <a:gd name="T9" fmla="*/ 0 h 78"/>
                <a:gd name="T10" fmla="*/ 14 w 39"/>
                <a:gd name="T11" fmla="*/ 0 h 78"/>
                <a:gd name="T12" fmla="*/ 0 w 39"/>
                <a:gd name="T13" fmla="*/ 0 h 78"/>
                <a:gd name="T14" fmla="*/ 0 w 39"/>
                <a:gd name="T15" fmla="*/ 0 h 78"/>
                <a:gd name="T16" fmla="*/ 0 w 39"/>
                <a:gd name="T17" fmla="*/ 0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9" h="78">
                  <a:moveTo>
                    <a:pt x="0" y="0"/>
                  </a:moveTo>
                  <a:lnTo>
                    <a:pt x="0" y="0"/>
                  </a:lnTo>
                  <a:lnTo>
                    <a:pt x="10" y="78"/>
                  </a:lnTo>
                  <a:lnTo>
                    <a:pt x="39" y="68"/>
                  </a:lnTo>
                  <a:lnTo>
                    <a:pt x="29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Freeform 31"/>
            <p:cNvSpPr>
              <a:spLocks/>
            </p:cNvSpPr>
            <p:nvPr/>
          </p:nvSpPr>
          <p:spPr bwMode="auto">
            <a:xfrm>
              <a:off x="4283" y="1287"/>
              <a:ext cx="18" cy="36"/>
            </a:xfrm>
            <a:custGeom>
              <a:avLst/>
              <a:gdLst>
                <a:gd name="T0" fmla="*/ 0 w 38"/>
                <a:gd name="T1" fmla="*/ 0 h 78"/>
                <a:gd name="T2" fmla="*/ 0 w 38"/>
                <a:gd name="T3" fmla="*/ 5 h 78"/>
                <a:gd name="T4" fmla="*/ 4 w 38"/>
                <a:gd name="T5" fmla="*/ 36 h 78"/>
                <a:gd name="T6" fmla="*/ 18 w 38"/>
                <a:gd name="T7" fmla="*/ 36 h 78"/>
                <a:gd name="T8" fmla="*/ 18 w 38"/>
                <a:gd name="T9" fmla="*/ 0 h 78"/>
                <a:gd name="T10" fmla="*/ 18 w 38"/>
                <a:gd name="T11" fmla="*/ 5 h 78"/>
                <a:gd name="T12" fmla="*/ 0 w 38"/>
                <a:gd name="T13" fmla="*/ 0 h 78"/>
                <a:gd name="T14" fmla="*/ 0 w 38"/>
                <a:gd name="T15" fmla="*/ 5 h 78"/>
                <a:gd name="T16" fmla="*/ 0 w 38"/>
                <a:gd name="T17" fmla="*/ 5 h 78"/>
                <a:gd name="T18" fmla="*/ 0 w 38"/>
                <a:gd name="T19" fmla="*/ 0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78">
                  <a:moveTo>
                    <a:pt x="0" y="0"/>
                  </a:moveTo>
                  <a:lnTo>
                    <a:pt x="0" y="10"/>
                  </a:lnTo>
                  <a:lnTo>
                    <a:pt x="9" y="78"/>
                  </a:lnTo>
                  <a:lnTo>
                    <a:pt x="38" y="78"/>
                  </a:lnTo>
                  <a:lnTo>
                    <a:pt x="38" y="0"/>
                  </a:lnTo>
                  <a:lnTo>
                    <a:pt x="38" y="1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Freeform 32"/>
            <p:cNvSpPr>
              <a:spLocks/>
            </p:cNvSpPr>
            <p:nvPr/>
          </p:nvSpPr>
          <p:spPr bwMode="auto">
            <a:xfrm>
              <a:off x="4283" y="1255"/>
              <a:ext cx="18" cy="36"/>
            </a:xfrm>
            <a:custGeom>
              <a:avLst/>
              <a:gdLst>
                <a:gd name="T0" fmla="*/ 4 w 38"/>
                <a:gd name="T1" fmla="*/ 0 h 78"/>
                <a:gd name="T2" fmla="*/ 4 w 38"/>
                <a:gd name="T3" fmla="*/ 0 h 78"/>
                <a:gd name="T4" fmla="*/ 0 w 38"/>
                <a:gd name="T5" fmla="*/ 31 h 78"/>
                <a:gd name="T6" fmla="*/ 18 w 38"/>
                <a:gd name="T7" fmla="*/ 36 h 78"/>
                <a:gd name="T8" fmla="*/ 18 w 38"/>
                <a:gd name="T9" fmla="*/ 0 h 78"/>
                <a:gd name="T10" fmla="*/ 18 w 38"/>
                <a:gd name="T11" fmla="*/ 0 h 78"/>
                <a:gd name="T12" fmla="*/ 4 w 38"/>
                <a:gd name="T13" fmla="*/ 0 h 78"/>
                <a:gd name="T14" fmla="*/ 4 w 38"/>
                <a:gd name="T15" fmla="*/ 0 h 78"/>
                <a:gd name="T16" fmla="*/ 4 w 38"/>
                <a:gd name="T17" fmla="*/ 0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78">
                  <a:moveTo>
                    <a:pt x="9" y="0"/>
                  </a:moveTo>
                  <a:lnTo>
                    <a:pt x="9" y="0"/>
                  </a:lnTo>
                  <a:lnTo>
                    <a:pt x="0" y="68"/>
                  </a:lnTo>
                  <a:lnTo>
                    <a:pt x="38" y="78"/>
                  </a:lnTo>
                  <a:lnTo>
                    <a:pt x="38" y="0"/>
                  </a:lnTo>
                  <a:lnTo>
                    <a:pt x="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Freeform 33"/>
            <p:cNvSpPr>
              <a:spLocks/>
            </p:cNvSpPr>
            <p:nvPr/>
          </p:nvSpPr>
          <p:spPr bwMode="auto">
            <a:xfrm>
              <a:off x="4287" y="1218"/>
              <a:ext cx="19" cy="37"/>
            </a:xfrm>
            <a:custGeom>
              <a:avLst/>
              <a:gdLst>
                <a:gd name="T0" fmla="*/ 5 w 39"/>
                <a:gd name="T1" fmla="*/ 0 h 78"/>
                <a:gd name="T2" fmla="*/ 5 w 39"/>
                <a:gd name="T3" fmla="*/ 0 h 78"/>
                <a:gd name="T4" fmla="*/ 0 w 39"/>
                <a:gd name="T5" fmla="*/ 37 h 78"/>
                <a:gd name="T6" fmla="*/ 14 w 39"/>
                <a:gd name="T7" fmla="*/ 37 h 78"/>
                <a:gd name="T8" fmla="*/ 19 w 39"/>
                <a:gd name="T9" fmla="*/ 5 h 78"/>
                <a:gd name="T10" fmla="*/ 19 w 39"/>
                <a:gd name="T11" fmla="*/ 5 h 78"/>
                <a:gd name="T12" fmla="*/ 5 w 39"/>
                <a:gd name="T13" fmla="*/ 0 h 78"/>
                <a:gd name="T14" fmla="*/ 5 w 39"/>
                <a:gd name="T15" fmla="*/ 0 h 78"/>
                <a:gd name="T16" fmla="*/ 5 w 39"/>
                <a:gd name="T17" fmla="*/ 0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9" h="78">
                  <a:moveTo>
                    <a:pt x="10" y="0"/>
                  </a:moveTo>
                  <a:lnTo>
                    <a:pt x="10" y="0"/>
                  </a:lnTo>
                  <a:lnTo>
                    <a:pt x="0" y="78"/>
                  </a:lnTo>
                  <a:lnTo>
                    <a:pt x="29" y="78"/>
                  </a:lnTo>
                  <a:lnTo>
                    <a:pt x="39" y="10"/>
                  </a:lnTo>
                  <a:lnTo>
                    <a:pt x="10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Freeform 34"/>
            <p:cNvSpPr>
              <a:spLocks/>
            </p:cNvSpPr>
            <p:nvPr/>
          </p:nvSpPr>
          <p:spPr bwMode="auto">
            <a:xfrm>
              <a:off x="4292" y="1186"/>
              <a:ext cx="23" cy="37"/>
            </a:xfrm>
            <a:custGeom>
              <a:avLst/>
              <a:gdLst>
                <a:gd name="T0" fmla="*/ 9 w 49"/>
                <a:gd name="T1" fmla="*/ 0 h 78"/>
                <a:gd name="T2" fmla="*/ 9 w 49"/>
                <a:gd name="T3" fmla="*/ 0 h 78"/>
                <a:gd name="T4" fmla="*/ 0 w 49"/>
                <a:gd name="T5" fmla="*/ 32 h 78"/>
                <a:gd name="T6" fmla="*/ 14 w 49"/>
                <a:gd name="T7" fmla="*/ 37 h 78"/>
                <a:gd name="T8" fmla="*/ 23 w 49"/>
                <a:gd name="T9" fmla="*/ 0 h 78"/>
                <a:gd name="T10" fmla="*/ 23 w 49"/>
                <a:gd name="T11" fmla="*/ 5 h 78"/>
                <a:gd name="T12" fmla="*/ 9 w 49"/>
                <a:gd name="T13" fmla="*/ 0 h 78"/>
                <a:gd name="T14" fmla="*/ 9 w 49"/>
                <a:gd name="T15" fmla="*/ 0 h 78"/>
                <a:gd name="T16" fmla="*/ 9 w 49"/>
                <a:gd name="T17" fmla="*/ 0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" h="78">
                  <a:moveTo>
                    <a:pt x="19" y="0"/>
                  </a:moveTo>
                  <a:lnTo>
                    <a:pt x="19" y="0"/>
                  </a:lnTo>
                  <a:lnTo>
                    <a:pt x="0" y="68"/>
                  </a:lnTo>
                  <a:lnTo>
                    <a:pt x="29" y="78"/>
                  </a:lnTo>
                  <a:lnTo>
                    <a:pt x="49" y="0"/>
                  </a:lnTo>
                  <a:lnTo>
                    <a:pt x="49" y="10"/>
                  </a:lnTo>
                  <a:lnTo>
                    <a:pt x="1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Freeform 35"/>
            <p:cNvSpPr>
              <a:spLocks/>
            </p:cNvSpPr>
            <p:nvPr/>
          </p:nvSpPr>
          <p:spPr bwMode="auto">
            <a:xfrm>
              <a:off x="4301" y="1149"/>
              <a:ext cx="28" cy="41"/>
            </a:xfrm>
            <a:custGeom>
              <a:avLst/>
              <a:gdLst>
                <a:gd name="T0" fmla="*/ 9 w 59"/>
                <a:gd name="T1" fmla="*/ 0 h 88"/>
                <a:gd name="T2" fmla="*/ 9 w 59"/>
                <a:gd name="T3" fmla="*/ 5 h 88"/>
                <a:gd name="T4" fmla="*/ 0 w 59"/>
                <a:gd name="T5" fmla="*/ 36 h 88"/>
                <a:gd name="T6" fmla="*/ 14 w 59"/>
                <a:gd name="T7" fmla="*/ 41 h 88"/>
                <a:gd name="T8" fmla="*/ 28 w 59"/>
                <a:gd name="T9" fmla="*/ 9 h 88"/>
                <a:gd name="T10" fmla="*/ 28 w 59"/>
                <a:gd name="T11" fmla="*/ 9 h 88"/>
                <a:gd name="T12" fmla="*/ 9 w 59"/>
                <a:gd name="T13" fmla="*/ 0 h 88"/>
                <a:gd name="T14" fmla="*/ 9 w 59"/>
                <a:gd name="T15" fmla="*/ 5 h 88"/>
                <a:gd name="T16" fmla="*/ 9 w 59"/>
                <a:gd name="T17" fmla="*/ 5 h 88"/>
                <a:gd name="T18" fmla="*/ 9 w 59"/>
                <a:gd name="T19" fmla="*/ 0 h 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9" h="88">
                  <a:moveTo>
                    <a:pt x="20" y="0"/>
                  </a:moveTo>
                  <a:lnTo>
                    <a:pt x="20" y="10"/>
                  </a:lnTo>
                  <a:lnTo>
                    <a:pt x="0" y="78"/>
                  </a:lnTo>
                  <a:lnTo>
                    <a:pt x="30" y="88"/>
                  </a:lnTo>
                  <a:lnTo>
                    <a:pt x="59" y="20"/>
                  </a:lnTo>
                  <a:lnTo>
                    <a:pt x="20" y="0"/>
                  </a:lnTo>
                  <a:lnTo>
                    <a:pt x="20" y="10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Freeform 36"/>
            <p:cNvSpPr>
              <a:spLocks/>
            </p:cNvSpPr>
            <p:nvPr/>
          </p:nvSpPr>
          <p:spPr bwMode="auto">
            <a:xfrm>
              <a:off x="4310" y="1122"/>
              <a:ext cx="32" cy="36"/>
            </a:xfrm>
            <a:custGeom>
              <a:avLst/>
              <a:gdLst>
                <a:gd name="T0" fmla="*/ 18 w 68"/>
                <a:gd name="T1" fmla="*/ 0 h 78"/>
                <a:gd name="T2" fmla="*/ 18 w 68"/>
                <a:gd name="T3" fmla="*/ 0 h 78"/>
                <a:gd name="T4" fmla="*/ 0 w 68"/>
                <a:gd name="T5" fmla="*/ 27 h 78"/>
                <a:gd name="T6" fmla="*/ 18 w 68"/>
                <a:gd name="T7" fmla="*/ 36 h 78"/>
                <a:gd name="T8" fmla="*/ 32 w 68"/>
                <a:gd name="T9" fmla="*/ 5 h 78"/>
                <a:gd name="T10" fmla="*/ 32 w 68"/>
                <a:gd name="T11" fmla="*/ 5 h 78"/>
                <a:gd name="T12" fmla="*/ 18 w 68"/>
                <a:gd name="T13" fmla="*/ 0 h 78"/>
                <a:gd name="T14" fmla="*/ 18 w 68"/>
                <a:gd name="T15" fmla="*/ 0 h 78"/>
                <a:gd name="T16" fmla="*/ 18 w 68"/>
                <a:gd name="T17" fmla="*/ 0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78">
                  <a:moveTo>
                    <a:pt x="39" y="0"/>
                  </a:moveTo>
                  <a:lnTo>
                    <a:pt x="39" y="0"/>
                  </a:lnTo>
                  <a:lnTo>
                    <a:pt x="0" y="58"/>
                  </a:lnTo>
                  <a:lnTo>
                    <a:pt x="39" y="78"/>
                  </a:lnTo>
                  <a:lnTo>
                    <a:pt x="68" y="10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7" name="Freeform 37"/>
            <p:cNvSpPr>
              <a:spLocks/>
            </p:cNvSpPr>
            <p:nvPr/>
          </p:nvSpPr>
          <p:spPr bwMode="auto">
            <a:xfrm>
              <a:off x="4329" y="1090"/>
              <a:ext cx="27" cy="36"/>
            </a:xfrm>
            <a:custGeom>
              <a:avLst/>
              <a:gdLst>
                <a:gd name="T0" fmla="*/ 18 w 58"/>
                <a:gd name="T1" fmla="*/ 0 h 78"/>
                <a:gd name="T2" fmla="*/ 14 w 58"/>
                <a:gd name="T3" fmla="*/ 0 h 78"/>
                <a:gd name="T4" fmla="*/ 0 w 58"/>
                <a:gd name="T5" fmla="*/ 31 h 78"/>
                <a:gd name="T6" fmla="*/ 14 w 58"/>
                <a:gd name="T7" fmla="*/ 36 h 78"/>
                <a:gd name="T8" fmla="*/ 27 w 58"/>
                <a:gd name="T9" fmla="*/ 9 h 78"/>
                <a:gd name="T10" fmla="*/ 27 w 58"/>
                <a:gd name="T11" fmla="*/ 9 h 78"/>
                <a:gd name="T12" fmla="*/ 18 w 58"/>
                <a:gd name="T13" fmla="*/ 0 h 78"/>
                <a:gd name="T14" fmla="*/ 14 w 58"/>
                <a:gd name="T15" fmla="*/ 0 h 78"/>
                <a:gd name="T16" fmla="*/ 14 w 58"/>
                <a:gd name="T17" fmla="*/ 0 h 78"/>
                <a:gd name="T18" fmla="*/ 18 w 58"/>
                <a:gd name="T19" fmla="*/ 0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8" h="78">
                  <a:moveTo>
                    <a:pt x="39" y="0"/>
                  </a:moveTo>
                  <a:lnTo>
                    <a:pt x="29" y="0"/>
                  </a:lnTo>
                  <a:lnTo>
                    <a:pt x="0" y="68"/>
                  </a:lnTo>
                  <a:lnTo>
                    <a:pt x="29" y="78"/>
                  </a:lnTo>
                  <a:lnTo>
                    <a:pt x="58" y="20"/>
                  </a:lnTo>
                  <a:lnTo>
                    <a:pt x="39" y="0"/>
                  </a:lnTo>
                  <a:lnTo>
                    <a:pt x="29" y="0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8" name="Freeform 38"/>
            <p:cNvSpPr>
              <a:spLocks/>
            </p:cNvSpPr>
            <p:nvPr/>
          </p:nvSpPr>
          <p:spPr bwMode="auto">
            <a:xfrm>
              <a:off x="4347" y="1062"/>
              <a:ext cx="32" cy="37"/>
            </a:xfrm>
            <a:custGeom>
              <a:avLst/>
              <a:gdLst>
                <a:gd name="T0" fmla="*/ 18 w 68"/>
                <a:gd name="T1" fmla="*/ 0 h 78"/>
                <a:gd name="T2" fmla="*/ 18 w 68"/>
                <a:gd name="T3" fmla="*/ 4 h 78"/>
                <a:gd name="T4" fmla="*/ 0 w 68"/>
                <a:gd name="T5" fmla="*/ 28 h 78"/>
                <a:gd name="T6" fmla="*/ 9 w 68"/>
                <a:gd name="T7" fmla="*/ 37 h 78"/>
                <a:gd name="T8" fmla="*/ 32 w 68"/>
                <a:gd name="T9" fmla="*/ 9 h 78"/>
                <a:gd name="T10" fmla="*/ 27 w 68"/>
                <a:gd name="T11" fmla="*/ 14 h 78"/>
                <a:gd name="T12" fmla="*/ 18 w 68"/>
                <a:gd name="T13" fmla="*/ 0 h 78"/>
                <a:gd name="T14" fmla="*/ 18 w 68"/>
                <a:gd name="T15" fmla="*/ 0 h 78"/>
                <a:gd name="T16" fmla="*/ 18 w 68"/>
                <a:gd name="T17" fmla="*/ 4 h 78"/>
                <a:gd name="T18" fmla="*/ 18 w 68"/>
                <a:gd name="T19" fmla="*/ 0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78">
                  <a:moveTo>
                    <a:pt x="39" y="0"/>
                  </a:moveTo>
                  <a:lnTo>
                    <a:pt x="39" y="9"/>
                  </a:lnTo>
                  <a:lnTo>
                    <a:pt x="0" y="58"/>
                  </a:lnTo>
                  <a:lnTo>
                    <a:pt x="19" y="78"/>
                  </a:lnTo>
                  <a:lnTo>
                    <a:pt x="68" y="19"/>
                  </a:lnTo>
                  <a:lnTo>
                    <a:pt x="58" y="29"/>
                  </a:lnTo>
                  <a:lnTo>
                    <a:pt x="39" y="0"/>
                  </a:lnTo>
                  <a:lnTo>
                    <a:pt x="39" y="9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Freeform 39"/>
            <p:cNvSpPr>
              <a:spLocks/>
            </p:cNvSpPr>
            <p:nvPr/>
          </p:nvSpPr>
          <p:spPr bwMode="auto">
            <a:xfrm>
              <a:off x="4366" y="1039"/>
              <a:ext cx="32" cy="37"/>
            </a:xfrm>
            <a:custGeom>
              <a:avLst/>
              <a:gdLst>
                <a:gd name="T0" fmla="*/ 23 w 68"/>
                <a:gd name="T1" fmla="*/ 0 h 78"/>
                <a:gd name="T2" fmla="*/ 23 w 68"/>
                <a:gd name="T3" fmla="*/ 0 h 78"/>
                <a:gd name="T4" fmla="*/ 0 w 68"/>
                <a:gd name="T5" fmla="*/ 23 h 78"/>
                <a:gd name="T6" fmla="*/ 9 w 68"/>
                <a:gd name="T7" fmla="*/ 37 h 78"/>
                <a:gd name="T8" fmla="*/ 32 w 68"/>
                <a:gd name="T9" fmla="*/ 9 h 78"/>
                <a:gd name="T10" fmla="*/ 32 w 68"/>
                <a:gd name="T11" fmla="*/ 9 h 78"/>
                <a:gd name="T12" fmla="*/ 23 w 68"/>
                <a:gd name="T13" fmla="*/ 0 h 78"/>
                <a:gd name="T14" fmla="*/ 23 w 68"/>
                <a:gd name="T15" fmla="*/ 0 h 78"/>
                <a:gd name="T16" fmla="*/ 23 w 68"/>
                <a:gd name="T17" fmla="*/ 0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78">
                  <a:moveTo>
                    <a:pt x="48" y="0"/>
                  </a:moveTo>
                  <a:lnTo>
                    <a:pt x="48" y="0"/>
                  </a:lnTo>
                  <a:lnTo>
                    <a:pt x="0" y="49"/>
                  </a:lnTo>
                  <a:lnTo>
                    <a:pt x="19" y="78"/>
                  </a:lnTo>
                  <a:lnTo>
                    <a:pt x="68" y="20"/>
                  </a:lnTo>
                  <a:lnTo>
                    <a:pt x="48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0" name="Freeform 40"/>
            <p:cNvSpPr>
              <a:spLocks/>
            </p:cNvSpPr>
            <p:nvPr/>
          </p:nvSpPr>
          <p:spPr bwMode="auto">
            <a:xfrm>
              <a:off x="4388" y="1017"/>
              <a:ext cx="37" cy="32"/>
            </a:xfrm>
            <a:custGeom>
              <a:avLst/>
              <a:gdLst>
                <a:gd name="T0" fmla="*/ 28 w 78"/>
                <a:gd name="T1" fmla="*/ 0 h 68"/>
                <a:gd name="T2" fmla="*/ 23 w 78"/>
                <a:gd name="T3" fmla="*/ 0 h 68"/>
                <a:gd name="T4" fmla="*/ 0 w 78"/>
                <a:gd name="T5" fmla="*/ 23 h 68"/>
                <a:gd name="T6" fmla="*/ 9 w 78"/>
                <a:gd name="T7" fmla="*/ 32 h 68"/>
                <a:gd name="T8" fmla="*/ 37 w 78"/>
                <a:gd name="T9" fmla="*/ 9 h 68"/>
                <a:gd name="T10" fmla="*/ 32 w 78"/>
                <a:gd name="T11" fmla="*/ 14 h 68"/>
                <a:gd name="T12" fmla="*/ 28 w 78"/>
                <a:gd name="T13" fmla="*/ 0 h 68"/>
                <a:gd name="T14" fmla="*/ 23 w 78"/>
                <a:gd name="T15" fmla="*/ 0 h 68"/>
                <a:gd name="T16" fmla="*/ 23 w 78"/>
                <a:gd name="T17" fmla="*/ 0 h 68"/>
                <a:gd name="T18" fmla="*/ 28 w 78"/>
                <a:gd name="T19" fmla="*/ 0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68">
                  <a:moveTo>
                    <a:pt x="58" y="0"/>
                  </a:moveTo>
                  <a:lnTo>
                    <a:pt x="49" y="0"/>
                  </a:lnTo>
                  <a:lnTo>
                    <a:pt x="0" y="48"/>
                  </a:lnTo>
                  <a:lnTo>
                    <a:pt x="20" y="68"/>
                  </a:lnTo>
                  <a:lnTo>
                    <a:pt x="78" y="19"/>
                  </a:lnTo>
                  <a:lnTo>
                    <a:pt x="68" y="29"/>
                  </a:lnTo>
                  <a:lnTo>
                    <a:pt x="58" y="0"/>
                  </a:lnTo>
                  <a:lnTo>
                    <a:pt x="49" y="0"/>
                  </a:lnTo>
                  <a:lnTo>
                    <a:pt x="58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1" name="Freeform 41"/>
            <p:cNvSpPr>
              <a:spLocks/>
            </p:cNvSpPr>
            <p:nvPr/>
          </p:nvSpPr>
          <p:spPr bwMode="auto">
            <a:xfrm>
              <a:off x="4416" y="993"/>
              <a:ext cx="32" cy="37"/>
            </a:xfrm>
            <a:custGeom>
              <a:avLst/>
              <a:gdLst>
                <a:gd name="T0" fmla="*/ 23 w 69"/>
                <a:gd name="T1" fmla="*/ 0 h 78"/>
                <a:gd name="T2" fmla="*/ 23 w 69"/>
                <a:gd name="T3" fmla="*/ 5 h 78"/>
                <a:gd name="T4" fmla="*/ 0 w 69"/>
                <a:gd name="T5" fmla="*/ 23 h 78"/>
                <a:gd name="T6" fmla="*/ 5 w 69"/>
                <a:gd name="T7" fmla="*/ 37 h 78"/>
                <a:gd name="T8" fmla="*/ 32 w 69"/>
                <a:gd name="T9" fmla="*/ 14 h 78"/>
                <a:gd name="T10" fmla="*/ 32 w 69"/>
                <a:gd name="T11" fmla="*/ 14 h 78"/>
                <a:gd name="T12" fmla="*/ 23 w 69"/>
                <a:gd name="T13" fmla="*/ 0 h 78"/>
                <a:gd name="T14" fmla="*/ 23 w 69"/>
                <a:gd name="T15" fmla="*/ 0 h 78"/>
                <a:gd name="T16" fmla="*/ 23 w 69"/>
                <a:gd name="T17" fmla="*/ 5 h 78"/>
                <a:gd name="T18" fmla="*/ 23 w 69"/>
                <a:gd name="T19" fmla="*/ 0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9" h="78">
                  <a:moveTo>
                    <a:pt x="49" y="0"/>
                  </a:moveTo>
                  <a:lnTo>
                    <a:pt x="49" y="10"/>
                  </a:lnTo>
                  <a:lnTo>
                    <a:pt x="0" y="49"/>
                  </a:lnTo>
                  <a:lnTo>
                    <a:pt x="10" y="78"/>
                  </a:lnTo>
                  <a:lnTo>
                    <a:pt x="69" y="29"/>
                  </a:lnTo>
                  <a:lnTo>
                    <a:pt x="49" y="0"/>
                  </a:lnTo>
                  <a:lnTo>
                    <a:pt x="49" y="10"/>
                  </a:lnTo>
                  <a:lnTo>
                    <a:pt x="4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auto">
            <a:xfrm>
              <a:off x="4439" y="980"/>
              <a:ext cx="37" cy="27"/>
            </a:xfrm>
            <a:custGeom>
              <a:avLst/>
              <a:gdLst>
                <a:gd name="T0" fmla="*/ 32 w 78"/>
                <a:gd name="T1" fmla="*/ 0 h 58"/>
                <a:gd name="T2" fmla="*/ 32 w 78"/>
                <a:gd name="T3" fmla="*/ 0 h 58"/>
                <a:gd name="T4" fmla="*/ 0 w 78"/>
                <a:gd name="T5" fmla="*/ 14 h 58"/>
                <a:gd name="T6" fmla="*/ 9 w 78"/>
                <a:gd name="T7" fmla="*/ 27 h 58"/>
                <a:gd name="T8" fmla="*/ 37 w 78"/>
                <a:gd name="T9" fmla="*/ 14 h 58"/>
                <a:gd name="T10" fmla="*/ 37 w 78"/>
                <a:gd name="T11" fmla="*/ 14 h 58"/>
                <a:gd name="T12" fmla="*/ 32 w 78"/>
                <a:gd name="T13" fmla="*/ 0 h 58"/>
                <a:gd name="T14" fmla="*/ 32 w 78"/>
                <a:gd name="T15" fmla="*/ 0 h 58"/>
                <a:gd name="T16" fmla="*/ 32 w 78"/>
                <a:gd name="T17" fmla="*/ 0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58">
                  <a:moveTo>
                    <a:pt x="68" y="0"/>
                  </a:moveTo>
                  <a:lnTo>
                    <a:pt x="68" y="0"/>
                  </a:lnTo>
                  <a:lnTo>
                    <a:pt x="0" y="29"/>
                  </a:lnTo>
                  <a:lnTo>
                    <a:pt x="20" y="58"/>
                  </a:lnTo>
                  <a:lnTo>
                    <a:pt x="78" y="29"/>
                  </a:lnTo>
                  <a:lnTo>
                    <a:pt x="68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3" name="Freeform 43"/>
            <p:cNvSpPr>
              <a:spLocks/>
            </p:cNvSpPr>
            <p:nvPr/>
          </p:nvSpPr>
          <p:spPr bwMode="auto">
            <a:xfrm>
              <a:off x="4471" y="961"/>
              <a:ext cx="37" cy="32"/>
            </a:xfrm>
            <a:custGeom>
              <a:avLst/>
              <a:gdLst>
                <a:gd name="T0" fmla="*/ 32 w 78"/>
                <a:gd name="T1" fmla="*/ 0 h 68"/>
                <a:gd name="T2" fmla="*/ 28 w 78"/>
                <a:gd name="T3" fmla="*/ 0 h 68"/>
                <a:gd name="T4" fmla="*/ 0 w 78"/>
                <a:gd name="T5" fmla="*/ 18 h 68"/>
                <a:gd name="T6" fmla="*/ 5 w 78"/>
                <a:gd name="T7" fmla="*/ 32 h 68"/>
                <a:gd name="T8" fmla="*/ 37 w 78"/>
                <a:gd name="T9" fmla="*/ 18 h 68"/>
                <a:gd name="T10" fmla="*/ 37 w 78"/>
                <a:gd name="T11" fmla="*/ 18 h 68"/>
                <a:gd name="T12" fmla="*/ 32 w 78"/>
                <a:gd name="T13" fmla="*/ 0 h 68"/>
                <a:gd name="T14" fmla="*/ 32 w 78"/>
                <a:gd name="T15" fmla="*/ 0 h 68"/>
                <a:gd name="T16" fmla="*/ 28 w 78"/>
                <a:gd name="T17" fmla="*/ 0 h 68"/>
                <a:gd name="T18" fmla="*/ 32 w 78"/>
                <a:gd name="T19" fmla="*/ 0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68">
                  <a:moveTo>
                    <a:pt x="68" y="0"/>
                  </a:moveTo>
                  <a:lnTo>
                    <a:pt x="58" y="0"/>
                  </a:lnTo>
                  <a:lnTo>
                    <a:pt x="0" y="39"/>
                  </a:lnTo>
                  <a:lnTo>
                    <a:pt x="10" y="68"/>
                  </a:lnTo>
                  <a:lnTo>
                    <a:pt x="78" y="39"/>
                  </a:lnTo>
                  <a:lnTo>
                    <a:pt x="68" y="0"/>
                  </a:lnTo>
                  <a:lnTo>
                    <a:pt x="58" y="0"/>
                  </a:lnTo>
                  <a:lnTo>
                    <a:pt x="68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4" name="Freeform 44"/>
            <p:cNvSpPr>
              <a:spLocks/>
            </p:cNvSpPr>
            <p:nvPr/>
          </p:nvSpPr>
          <p:spPr bwMode="auto">
            <a:xfrm>
              <a:off x="4503" y="952"/>
              <a:ext cx="37" cy="28"/>
            </a:xfrm>
            <a:custGeom>
              <a:avLst/>
              <a:gdLst>
                <a:gd name="T0" fmla="*/ 32 w 78"/>
                <a:gd name="T1" fmla="*/ 0 h 59"/>
                <a:gd name="T2" fmla="*/ 32 w 78"/>
                <a:gd name="T3" fmla="*/ 0 h 59"/>
                <a:gd name="T4" fmla="*/ 0 w 78"/>
                <a:gd name="T5" fmla="*/ 9 h 59"/>
                <a:gd name="T6" fmla="*/ 5 w 78"/>
                <a:gd name="T7" fmla="*/ 28 h 59"/>
                <a:gd name="T8" fmla="*/ 37 w 78"/>
                <a:gd name="T9" fmla="*/ 14 h 59"/>
                <a:gd name="T10" fmla="*/ 32 w 78"/>
                <a:gd name="T11" fmla="*/ 14 h 59"/>
                <a:gd name="T12" fmla="*/ 32 w 78"/>
                <a:gd name="T13" fmla="*/ 0 h 59"/>
                <a:gd name="T14" fmla="*/ 32 w 78"/>
                <a:gd name="T15" fmla="*/ 0 h 59"/>
                <a:gd name="T16" fmla="*/ 32 w 78"/>
                <a:gd name="T17" fmla="*/ 0 h 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59">
                  <a:moveTo>
                    <a:pt x="68" y="0"/>
                  </a:moveTo>
                  <a:lnTo>
                    <a:pt x="68" y="0"/>
                  </a:lnTo>
                  <a:lnTo>
                    <a:pt x="0" y="20"/>
                  </a:lnTo>
                  <a:lnTo>
                    <a:pt x="10" y="59"/>
                  </a:lnTo>
                  <a:lnTo>
                    <a:pt x="78" y="30"/>
                  </a:lnTo>
                  <a:lnTo>
                    <a:pt x="68" y="30"/>
                  </a:lnTo>
                  <a:lnTo>
                    <a:pt x="68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Freeform 45"/>
            <p:cNvSpPr>
              <a:spLocks/>
            </p:cNvSpPr>
            <p:nvPr/>
          </p:nvSpPr>
          <p:spPr bwMode="auto">
            <a:xfrm>
              <a:off x="4535" y="943"/>
              <a:ext cx="37" cy="23"/>
            </a:xfrm>
            <a:custGeom>
              <a:avLst/>
              <a:gdLst>
                <a:gd name="T0" fmla="*/ 32 w 78"/>
                <a:gd name="T1" fmla="*/ 0 h 49"/>
                <a:gd name="T2" fmla="*/ 32 w 78"/>
                <a:gd name="T3" fmla="*/ 0 h 49"/>
                <a:gd name="T4" fmla="*/ 0 w 78"/>
                <a:gd name="T5" fmla="*/ 9 h 49"/>
                <a:gd name="T6" fmla="*/ 0 w 78"/>
                <a:gd name="T7" fmla="*/ 23 h 49"/>
                <a:gd name="T8" fmla="*/ 37 w 78"/>
                <a:gd name="T9" fmla="*/ 14 h 49"/>
                <a:gd name="T10" fmla="*/ 37 w 78"/>
                <a:gd name="T11" fmla="*/ 14 h 49"/>
                <a:gd name="T12" fmla="*/ 32 w 78"/>
                <a:gd name="T13" fmla="*/ 0 h 49"/>
                <a:gd name="T14" fmla="*/ 32 w 78"/>
                <a:gd name="T15" fmla="*/ 0 h 49"/>
                <a:gd name="T16" fmla="*/ 32 w 78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49">
                  <a:moveTo>
                    <a:pt x="68" y="0"/>
                  </a:moveTo>
                  <a:lnTo>
                    <a:pt x="68" y="0"/>
                  </a:lnTo>
                  <a:lnTo>
                    <a:pt x="0" y="19"/>
                  </a:lnTo>
                  <a:lnTo>
                    <a:pt x="0" y="49"/>
                  </a:lnTo>
                  <a:lnTo>
                    <a:pt x="78" y="29"/>
                  </a:lnTo>
                  <a:lnTo>
                    <a:pt x="68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6" name="Freeform 46"/>
            <p:cNvSpPr>
              <a:spLocks/>
            </p:cNvSpPr>
            <p:nvPr/>
          </p:nvSpPr>
          <p:spPr bwMode="auto">
            <a:xfrm>
              <a:off x="4567" y="938"/>
              <a:ext cx="37" cy="19"/>
            </a:xfrm>
            <a:custGeom>
              <a:avLst/>
              <a:gdLst>
                <a:gd name="T0" fmla="*/ 37 w 78"/>
                <a:gd name="T1" fmla="*/ 0 h 39"/>
                <a:gd name="T2" fmla="*/ 37 w 78"/>
                <a:gd name="T3" fmla="*/ 0 h 39"/>
                <a:gd name="T4" fmla="*/ 0 w 78"/>
                <a:gd name="T5" fmla="*/ 5 h 39"/>
                <a:gd name="T6" fmla="*/ 5 w 78"/>
                <a:gd name="T7" fmla="*/ 19 h 39"/>
                <a:gd name="T8" fmla="*/ 37 w 78"/>
                <a:gd name="T9" fmla="*/ 14 h 39"/>
                <a:gd name="T10" fmla="*/ 37 w 78"/>
                <a:gd name="T11" fmla="*/ 14 h 39"/>
                <a:gd name="T12" fmla="*/ 37 w 78"/>
                <a:gd name="T13" fmla="*/ 0 h 39"/>
                <a:gd name="T14" fmla="*/ 37 w 78"/>
                <a:gd name="T15" fmla="*/ 0 h 39"/>
                <a:gd name="T16" fmla="*/ 37 w 78"/>
                <a:gd name="T17" fmla="*/ 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39">
                  <a:moveTo>
                    <a:pt x="78" y="0"/>
                  </a:moveTo>
                  <a:lnTo>
                    <a:pt x="78" y="0"/>
                  </a:lnTo>
                  <a:lnTo>
                    <a:pt x="0" y="10"/>
                  </a:lnTo>
                  <a:lnTo>
                    <a:pt x="10" y="39"/>
                  </a:lnTo>
                  <a:lnTo>
                    <a:pt x="78" y="29"/>
                  </a:lnTo>
                  <a:lnTo>
                    <a:pt x="78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7" name="Freeform 47"/>
            <p:cNvSpPr>
              <a:spLocks/>
            </p:cNvSpPr>
            <p:nvPr/>
          </p:nvSpPr>
          <p:spPr bwMode="auto">
            <a:xfrm>
              <a:off x="4604" y="934"/>
              <a:ext cx="37" cy="18"/>
            </a:xfrm>
            <a:custGeom>
              <a:avLst/>
              <a:gdLst>
                <a:gd name="T0" fmla="*/ 37 w 78"/>
                <a:gd name="T1" fmla="*/ 0 h 38"/>
                <a:gd name="T2" fmla="*/ 32 w 78"/>
                <a:gd name="T3" fmla="*/ 0 h 38"/>
                <a:gd name="T4" fmla="*/ 0 w 78"/>
                <a:gd name="T5" fmla="*/ 4 h 38"/>
                <a:gd name="T6" fmla="*/ 0 w 78"/>
                <a:gd name="T7" fmla="*/ 18 h 38"/>
                <a:gd name="T8" fmla="*/ 37 w 78"/>
                <a:gd name="T9" fmla="*/ 18 h 38"/>
                <a:gd name="T10" fmla="*/ 32 w 78"/>
                <a:gd name="T11" fmla="*/ 18 h 38"/>
                <a:gd name="T12" fmla="*/ 37 w 78"/>
                <a:gd name="T13" fmla="*/ 0 h 38"/>
                <a:gd name="T14" fmla="*/ 37 w 78"/>
                <a:gd name="T15" fmla="*/ 0 h 38"/>
                <a:gd name="T16" fmla="*/ 32 w 78"/>
                <a:gd name="T17" fmla="*/ 0 h 38"/>
                <a:gd name="T18" fmla="*/ 37 w 78"/>
                <a:gd name="T19" fmla="*/ 0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38">
                  <a:moveTo>
                    <a:pt x="78" y="0"/>
                  </a:moveTo>
                  <a:lnTo>
                    <a:pt x="68" y="0"/>
                  </a:lnTo>
                  <a:lnTo>
                    <a:pt x="0" y="9"/>
                  </a:lnTo>
                  <a:lnTo>
                    <a:pt x="0" y="38"/>
                  </a:lnTo>
                  <a:lnTo>
                    <a:pt x="78" y="38"/>
                  </a:lnTo>
                  <a:lnTo>
                    <a:pt x="68" y="38"/>
                  </a:lnTo>
                  <a:lnTo>
                    <a:pt x="78" y="0"/>
                  </a:lnTo>
                  <a:lnTo>
                    <a:pt x="68" y="0"/>
                  </a:lnTo>
                  <a:lnTo>
                    <a:pt x="78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Freeform 48"/>
            <p:cNvSpPr>
              <a:spLocks/>
            </p:cNvSpPr>
            <p:nvPr/>
          </p:nvSpPr>
          <p:spPr bwMode="auto">
            <a:xfrm>
              <a:off x="4636" y="934"/>
              <a:ext cx="37" cy="18"/>
            </a:xfrm>
            <a:custGeom>
              <a:avLst/>
              <a:gdLst>
                <a:gd name="T0" fmla="*/ 37 w 78"/>
                <a:gd name="T1" fmla="*/ 4 h 38"/>
                <a:gd name="T2" fmla="*/ 37 w 78"/>
                <a:gd name="T3" fmla="*/ 4 h 38"/>
                <a:gd name="T4" fmla="*/ 5 w 78"/>
                <a:gd name="T5" fmla="*/ 0 h 38"/>
                <a:gd name="T6" fmla="*/ 0 w 78"/>
                <a:gd name="T7" fmla="*/ 18 h 38"/>
                <a:gd name="T8" fmla="*/ 37 w 78"/>
                <a:gd name="T9" fmla="*/ 18 h 38"/>
                <a:gd name="T10" fmla="*/ 37 w 78"/>
                <a:gd name="T11" fmla="*/ 18 h 38"/>
                <a:gd name="T12" fmla="*/ 37 w 78"/>
                <a:gd name="T13" fmla="*/ 4 h 38"/>
                <a:gd name="T14" fmla="*/ 37 w 78"/>
                <a:gd name="T15" fmla="*/ 4 h 38"/>
                <a:gd name="T16" fmla="*/ 37 w 78"/>
                <a:gd name="T17" fmla="*/ 4 h 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38">
                  <a:moveTo>
                    <a:pt x="78" y="9"/>
                  </a:moveTo>
                  <a:lnTo>
                    <a:pt x="78" y="9"/>
                  </a:lnTo>
                  <a:lnTo>
                    <a:pt x="10" y="0"/>
                  </a:lnTo>
                  <a:lnTo>
                    <a:pt x="0" y="38"/>
                  </a:lnTo>
                  <a:lnTo>
                    <a:pt x="78" y="38"/>
                  </a:lnTo>
                  <a:lnTo>
                    <a:pt x="78" y="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9" name="Freeform 49"/>
            <p:cNvSpPr>
              <a:spLocks/>
            </p:cNvSpPr>
            <p:nvPr/>
          </p:nvSpPr>
          <p:spPr bwMode="auto">
            <a:xfrm>
              <a:off x="4673" y="938"/>
              <a:ext cx="37" cy="19"/>
            </a:xfrm>
            <a:custGeom>
              <a:avLst/>
              <a:gdLst>
                <a:gd name="T0" fmla="*/ 37 w 78"/>
                <a:gd name="T1" fmla="*/ 5 h 39"/>
                <a:gd name="T2" fmla="*/ 37 w 78"/>
                <a:gd name="T3" fmla="*/ 5 h 39"/>
                <a:gd name="T4" fmla="*/ 0 w 78"/>
                <a:gd name="T5" fmla="*/ 0 h 39"/>
                <a:gd name="T6" fmla="*/ 0 w 78"/>
                <a:gd name="T7" fmla="*/ 14 h 39"/>
                <a:gd name="T8" fmla="*/ 32 w 78"/>
                <a:gd name="T9" fmla="*/ 19 h 39"/>
                <a:gd name="T10" fmla="*/ 32 w 78"/>
                <a:gd name="T11" fmla="*/ 19 h 39"/>
                <a:gd name="T12" fmla="*/ 37 w 78"/>
                <a:gd name="T13" fmla="*/ 5 h 39"/>
                <a:gd name="T14" fmla="*/ 37 w 78"/>
                <a:gd name="T15" fmla="*/ 5 h 39"/>
                <a:gd name="T16" fmla="*/ 37 w 78"/>
                <a:gd name="T17" fmla="*/ 5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39">
                  <a:moveTo>
                    <a:pt x="78" y="10"/>
                  </a:moveTo>
                  <a:lnTo>
                    <a:pt x="78" y="10"/>
                  </a:lnTo>
                  <a:lnTo>
                    <a:pt x="0" y="0"/>
                  </a:lnTo>
                  <a:lnTo>
                    <a:pt x="0" y="29"/>
                  </a:lnTo>
                  <a:lnTo>
                    <a:pt x="68" y="39"/>
                  </a:lnTo>
                  <a:lnTo>
                    <a:pt x="78" y="1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Freeform 50"/>
            <p:cNvSpPr>
              <a:spLocks/>
            </p:cNvSpPr>
            <p:nvPr/>
          </p:nvSpPr>
          <p:spPr bwMode="auto">
            <a:xfrm>
              <a:off x="4705" y="943"/>
              <a:ext cx="37" cy="23"/>
            </a:xfrm>
            <a:custGeom>
              <a:avLst/>
              <a:gdLst>
                <a:gd name="T0" fmla="*/ 37 w 78"/>
                <a:gd name="T1" fmla="*/ 9 h 49"/>
                <a:gd name="T2" fmla="*/ 37 w 78"/>
                <a:gd name="T3" fmla="*/ 9 h 49"/>
                <a:gd name="T4" fmla="*/ 5 w 78"/>
                <a:gd name="T5" fmla="*/ 0 h 49"/>
                <a:gd name="T6" fmla="*/ 0 w 78"/>
                <a:gd name="T7" fmla="*/ 14 h 49"/>
                <a:gd name="T8" fmla="*/ 37 w 78"/>
                <a:gd name="T9" fmla="*/ 23 h 49"/>
                <a:gd name="T10" fmla="*/ 32 w 78"/>
                <a:gd name="T11" fmla="*/ 23 h 49"/>
                <a:gd name="T12" fmla="*/ 37 w 78"/>
                <a:gd name="T13" fmla="*/ 9 h 49"/>
                <a:gd name="T14" fmla="*/ 37 w 78"/>
                <a:gd name="T15" fmla="*/ 9 h 49"/>
                <a:gd name="T16" fmla="*/ 37 w 78"/>
                <a:gd name="T17" fmla="*/ 9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49">
                  <a:moveTo>
                    <a:pt x="78" y="19"/>
                  </a:moveTo>
                  <a:lnTo>
                    <a:pt x="78" y="19"/>
                  </a:lnTo>
                  <a:lnTo>
                    <a:pt x="10" y="0"/>
                  </a:lnTo>
                  <a:lnTo>
                    <a:pt x="0" y="29"/>
                  </a:lnTo>
                  <a:lnTo>
                    <a:pt x="78" y="49"/>
                  </a:lnTo>
                  <a:lnTo>
                    <a:pt x="68" y="49"/>
                  </a:lnTo>
                  <a:lnTo>
                    <a:pt x="78" y="1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Freeform 51"/>
            <p:cNvSpPr>
              <a:spLocks/>
            </p:cNvSpPr>
            <p:nvPr/>
          </p:nvSpPr>
          <p:spPr bwMode="auto">
            <a:xfrm>
              <a:off x="4737" y="952"/>
              <a:ext cx="42" cy="28"/>
            </a:xfrm>
            <a:custGeom>
              <a:avLst/>
              <a:gdLst>
                <a:gd name="T0" fmla="*/ 42 w 88"/>
                <a:gd name="T1" fmla="*/ 9 h 59"/>
                <a:gd name="T2" fmla="*/ 37 w 88"/>
                <a:gd name="T3" fmla="*/ 9 h 59"/>
                <a:gd name="T4" fmla="*/ 5 w 88"/>
                <a:gd name="T5" fmla="*/ 0 h 59"/>
                <a:gd name="T6" fmla="*/ 0 w 88"/>
                <a:gd name="T7" fmla="*/ 14 h 59"/>
                <a:gd name="T8" fmla="*/ 32 w 88"/>
                <a:gd name="T9" fmla="*/ 28 h 59"/>
                <a:gd name="T10" fmla="*/ 32 w 88"/>
                <a:gd name="T11" fmla="*/ 28 h 59"/>
                <a:gd name="T12" fmla="*/ 42 w 88"/>
                <a:gd name="T13" fmla="*/ 9 h 59"/>
                <a:gd name="T14" fmla="*/ 37 w 88"/>
                <a:gd name="T15" fmla="*/ 9 h 59"/>
                <a:gd name="T16" fmla="*/ 37 w 88"/>
                <a:gd name="T17" fmla="*/ 9 h 59"/>
                <a:gd name="T18" fmla="*/ 42 w 88"/>
                <a:gd name="T19" fmla="*/ 9 h 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8" h="59">
                  <a:moveTo>
                    <a:pt x="88" y="20"/>
                  </a:moveTo>
                  <a:lnTo>
                    <a:pt x="78" y="20"/>
                  </a:lnTo>
                  <a:lnTo>
                    <a:pt x="10" y="0"/>
                  </a:lnTo>
                  <a:lnTo>
                    <a:pt x="0" y="30"/>
                  </a:lnTo>
                  <a:lnTo>
                    <a:pt x="68" y="59"/>
                  </a:lnTo>
                  <a:lnTo>
                    <a:pt x="88" y="20"/>
                  </a:lnTo>
                  <a:lnTo>
                    <a:pt x="78" y="20"/>
                  </a:lnTo>
                  <a:lnTo>
                    <a:pt x="88" y="2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2" name="Freeform 52"/>
            <p:cNvSpPr>
              <a:spLocks/>
            </p:cNvSpPr>
            <p:nvPr/>
          </p:nvSpPr>
          <p:spPr bwMode="auto">
            <a:xfrm>
              <a:off x="4769" y="961"/>
              <a:ext cx="37" cy="32"/>
            </a:xfrm>
            <a:custGeom>
              <a:avLst/>
              <a:gdLst>
                <a:gd name="T0" fmla="*/ 37 w 78"/>
                <a:gd name="T1" fmla="*/ 18 h 68"/>
                <a:gd name="T2" fmla="*/ 37 w 78"/>
                <a:gd name="T3" fmla="*/ 18 h 68"/>
                <a:gd name="T4" fmla="*/ 9 w 78"/>
                <a:gd name="T5" fmla="*/ 0 h 68"/>
                <a:gd name="T6" fmla="*/ 0 w 78"/>
                <a:gd name="T7" fmla="*/ 18 h 68"/>
                <a:gd name="T8" fmla="*/ 32 w 78"/>
                <a:gd name="T9" fmla="*/ 32 h 68"/>
                <a:gd name="T10" fmla="*/ 32 w 78"/>
                <a:gd name="T11" fmla="*/ 32 h 68"/>
                <a:gd name="T12" fmla="*/ 37 w 78"/>
                <a:gd name="T13" fmla="*/ 18 h 68"/>
                <a:gd name="T14" fmla="*/ 37 w 78"/>
                <a:gd name="T15" fmla="*/ 18 h 68"/>
                <a:gd name="T16" fmla="*/ 37 w 78"/>
                <a:gd name="T17" fmla="*/ 18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68">
                  <a:moveTo>
                    <a:pt x="78" y="39"/>
                  </a:moveTo>
                  <a:lnTo>
                    <a:pt x="78" y="39"/>
                  </a:lnTo>
                  <a:lnTo>
                    <a:pt x="20" y="0"/>
                  </a:lnTo>
                  <a:lnTo>
                    <a:pt x="0" y="39"/>
                  </a:lnTo>
                  <a:lnTo>
                    <a:pt x="68" y="68"/>
                  </a:lnTo>
                  <a:lnTo>
                    <a:pt x="78" y="3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3" name="Freeform 53"/>
            <p:cNvSpPr>
              <a:spLocks/>
            </p:cNvSpPr>
            <p:nvPr/>
          </p:nvSpPr>
          <p:spPr bwMode="auto">
            <a:xfrm>
              <a:off x="4801" y="980"/>
              <a:ext cx="37" cy="27"/>
            </a:xfrm>
            <a:custGeom>
              <a:avLst/>
              <a:gdLst>
                <a:gd name="T0" fmla="*/ 37 w 78"/>
                <a:gd name="T1" fmla="*/ 18 h 58"/>
                <a:gd name="T2" fmla="*/ 37 w 78"/>
                <a:gd name="T3" fmla="*/ 14 h 58"/>
                <a:gd name="T4" fmla="*/ 5 w 78"/>
                <a:gd name="T5" fmla="*/ 0 h 58"/>
                <a:gd name="T6" fmla="*/ 0 w 78"/>
                <a:gd name="T7" fmla="*/ 14 h 58"/>
                <a:gd name="T8" fmla="*/ 28 w 78"/>
                <a:gd name="T9" fmla="*/ 27 h 58"/>
                <a:gd name="T10" fmla="*/ 28 w 78"/>
                <a:gd name="T11" fmla="*/ 27 h 58"/>
                <a:gd name="T12" fmla="*/ 37 w 78"/>
                <a:gd name="T13" fmla="*/ 18 h 58"/>
                <a:gd name="T14" fmla="*/ 37 w 78"/>
                <a:gd name="T15" fmla="*/ 14 h 58"/>
                <a:gd name="T16" fmla="*/ 37 w 78"/>
                <a:gd name="T17" fmla="*/ 14 h 58"/>
                <a:gd name="T18" fmla="*/ 37 w 78"/>
                <a:gd name="T19" fmla="*/ 18 h 5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58">
                  <a:moveTo>
                    <a:pt x="78" y="39"/>
                  </a:moveTo>
                  <a:lnTo>
                    <a:pt x="78" y="29"/>
                  </a:lnTo>
                  <a:lnTo>
                    <a:pt x="10" y="0"/>
                  </a:lnTo>
                  <a:lnTo>
                    <a:pt x="0" y="29"/>
                  </a:lnTo>
                  <a:lnTo>
                    <a:pt x="58" y="58"/>
                  </a:lnTo>
                  <a:lnTo>
                    <a:pt x="78" y="39"/>
                  </a:lnTo>
                  <a:lnTo>
                    <a:pt x="78" y="29"/>
                  </a:lnTo>
                  <a:lnTo>
                    <a:pt x="78" y="3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Freeform 54"/>
            <p:cNvSpPr>
              <a:spLocks/>
            </p:cNvSpPr>
            <p:nvPr/>
          </p:nvSpPr>
          <p:spPr bwMode="auto">
            <a:xfrm>
              <a:off x="4829" y="998"/>
              <a:ext cx="37" cy="32"/>
            </a:xfrm>
            <a:custGeom>
              <a:avLst/>
              <a:gdLst>
                <a:gd name="T0" fmla="*/ 37 w 78"/>
                <a:gd name="T1" fmla="*/ 18 h 68"/>
                <a:gd name="T2" fmla="*/ 33 w 78"/>
                <a:gd name="T3" fmla="*/ 18 h 68"/>
                <a:gd name="T4" fmla="*/ 9 w 78"/>
                <a:gd name="T5" fmla="*/ 0 h 68"/>
                <a:gd name="T6" fmla="*/ 0 w 78"/>
                <a:gd name="T7" fmla="*/ 9 h 68"/>
                <a:gd name="T8" fmla="*/ 28 w 78"/>
                <a:gd name="T9" fmla="*/ 32 h 68"/>
                <a:gd name="T10" fmla="*/ 23 w 78"/>
                <a:gd name="T11" fmla="*/ 27 h 68"/>
                <a:gd name="T12" fmla="*/ 37 w 78"/>
                <a:gd name="T13" fmla="*/ 18 h 68"/>
                <a:gd name="T14" fmla="*/ 37 w 78"/>
                <a:gd name="T15" fmla="*/ 18 h 68"/>
                <a:gd name="T16" fmla="*/ 33 w 78"/>
                <a:gd name="T17" fmla="*/ 18 h 68"/>
                <a:gd name="T18" fmla="*/ 37 w 78"/>
                <a:gd name="T19" fmla="*/ 18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68">
                  <a:moveTo>
                    <a:pt x="78" y="39"/>
                  </a:moveTo>
                  <a:lnTo>
                    <a:pt x="69" y="39"/>
                  </a:lnTo>
                  <a:lnTo>
                    <a:pt x="20" y="0"/>
                  </a:lnTo>
                  <a:lnTo>
                    <a:pt x="0" y="19"/>
                  </a:lnTo>
                  <a:lnTo>
                    <a:pt x="59" y="68"/>
                  </a:lnTo>
                  <a:lnTo>
                    <a:pt x="49" y="58"/>
                  </a:lnTo>
                  <a:lnTo>
                    <a:pt x="78" y="39"/>
                  </a:lnTo>
                  <a:lnTo>
                    <a:pt x="69" y="39"/>
                  </a:lnTo>
                  <a:lnTo>
                    <a:pt x="78" y="3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5" name="Freeform 55"/>
            <p:cNvSpPr>
              <a:spLocks/>
            </p:cNvSpPr>
            <p:nvPr/>
          </p:nvSpPr>
          <p:spPr bwMode="auto">
            <a:xfrm>
              <a:off x="4852" y="1017"/>
              <a:ext cx="37" cy="32"/>
            </a:xfrm>
            <a:custGeom>
              <a:avLst/>
              <a:gdLst>
                <a:gd name="T0" fmla="*/ 37 w 78"/>
                <a:gd name="T1" fmla="*/ 23 h 68"/>
                <a:gd name="T2" fmla="*/ 37 w 78"/>
                <a:gd name="T3" fmla="*/ 23 h 68"/>
                <a:gd name="T4" fmla="*/ 14 w 78"/>
                <a:gd name="T5" fmla="*/ 0 h 68"/>
                <a:gd name="T6" fmla="*/ 0 w 78"/>
                <a:gd name="T7" fmla="*/ 9 h 68"/>
                <a:gd name="T8" fmla="*/ 28 w 78"/>
                <a:gd name="T9" fmla="*/ 32 h 68"/>
                <a:gd name="T10" fmla="*/ 28 w 78"/>
                <a:gd name="T11" fmla="*/ 32 h 68"/>
                <a:gd name="T12" fmla="*/ 37 w 78"/>
                <a:gd name="T13" fmla="*/ 23 h 68"/>
                <a:gd name="T14" fmla="*/ 37 w 78"/>
                <a:gd name="T15" fmla="*/ 23 h 68"/>
                <a:gd name="T16" fmla="*/ 37 w 78"/>
                <a:gd name="T17" fmla="*/ 23 h 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68">
                  <a:moveTo>
                    <a:pt x="78" y="48"/>
                  </a:moveTo>
                  <a:lnTo>
                    <a:pt x="78" y="48"/>
                  </a:lnTo>
                  <a:lnTo>
                    <a:pt x="29" y="0"/>
                  </a:lnTo>
                  <a:lnTo>
                    <a:pt x="0" y="19"/>
                  </a:lnTo>
                  <a:lnTo>
                    <a:pt x="58" y="68"/>
                  </a:lnTo>
                  <a:lnTo>
                    <a:pt x="78" y="4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6" name="Freeform 56"/>
            <p:cNvSpPr>
              <a:spLocks/>
            </p:cNvSpPr>
            <p:nvPr/>
          </p:nvSpPr>
          <p:spPr bwMode="auto">
            <a:xfrm>
              <a:off x="4879" y="1039"/>
              <a:ext cx="32" cy="37"/>
            </a:xfrm>
            <a:custGeom>
              <a:avLst/>
              <a:gdLst>
                <a:gd name="T0" fmla="*/ 32 w 68"/>
                <a:gd name="T1" fmla="*/ 28 h 78"/>
                <a:gd name="T2" fmla="*/ 32 w 68"/>
                <a:gd name="T3" fmla="*/ 23 h 78"/>
                <a:gd name="T4" fmla="*/ 9 w 68"/>
                <a:gd name="T5" fmla="*/ 0 h 78"/>
                <a:gd name="T6" fmla="*/ 0 w 68"/>
                <a:gd name="T7" fmla="*/ 9 h 78"/>
                <a:gd name="T8" fmla="*/ 23 w 68"/>
                <a:gd name="T9" fmla="*/ 37 h 78"/>
                <a:gd name="T10" fmla="*/ 18 w 68"/>
                <a:gd name="T11" fmla="*/ 32 h 78"/>
                <a:gd name="T12" fmla="*/ 32 w 68"/>
                <a:gd name="T13" fmla="*/ 28 h 78"/>
                <a:gd name="T14" fmla="*/ 32 w 68"/>
                <a:gd name="T15" fmla="*/ 23 h 78"/>
                <a:gd name="T16" fmla="*/ 32 w 68"/>
                <a:gd name="T17" fmla="*/ 23 h 78"/>
                <a:gd name="T18" fmla="*/ 32 w 68"/>
                <a:gd name="T19" fmla="*/ 28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78">
                  <a:moveTo>
                    <a:pt x="68" y="58"/>
                  </a:moveTo>
                  <a:lnTo>
                    <a:pt x="68" y="49"/>
                  </a:lnTo>
                  <a:lnTo>
                    <a:pt x="20" y="0"/>
                  </a:lnTo>
                  <a:lnTo>
                    <a:pt x="0" y="20"/>
                  </a:lnTo>
                  <a:lnTo>
                    <a:pt x="49" y="78"/>
                  </a:lnTo>
                  <a:lnTo>
                    <a:pt x="39" y="68"/>
                  </a:lnTo>
                  <a:lnTo>
                    <a:pt x="68" y="58"/>
                  </a:lnTo>
                  <a:lnTo>
                    <a:pt x="68" y="49"/>
                  </a:lnTo>
                  <a:lnTo>
                    <a:pt x="68" y="5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Freeform 57"/>
            <p:cNvSpPr>
              <a:spLocks/>
            </p:cNvSpPr>
            <p:nvPr/>
          </p:nvSpPr>
          <p:spPr bwMode="auto">
            <a:xfrm>
              <a:off x="4898" y="1066"/>
              <a:ext cx="37" cy="33"/>
            </a:xfrm>
            <a:custGeom>
              <a:avLst/>
              <a:gdLst>
                <a:gd name="T0" fmla="*/ 37 w 78"/>
                <a:gd name="T1" fmla="*/ 23 h 69"/>
                <a:gd name="T2" fmla="*/ 32 w 78"/>
                <a:gd name="T3" fmla="*/ 23 h 69"/>
                <a:gd name="T4" fmla="*/ 14 w 78"/>
                <a:gd name="T5" fmla="*/ 0 h 69"/>
                <a:gd name="T6" fmla="*/ 0 w 78"/>
                <a:gd name="T7" fmla="*/ 5 h 69"/>
                <a:gd name="T8" fmla="*/ 23 w 78"/>
                <a:gd name="T9" fmla="*/ 33 h 69"/>
                <a:gd name="T10" fmla="*/ 23 w 78"/>
                <a:gd name="T11" fmla="*/ 33 h 69"/>
                <a:gd name="T12" fmla="*/ 37 w 78"/>
                <a:gd name="T13" fmla="*/ 23 h 69"/>
                <a:gd name="T14" fmla="*/ 37 w 78"/>
                <a:gd name="T15" fmla="*/ 23 h 69"/>
                <a:gd name="T16" fmla="*/ 32 w 78"/>
                <a:gd name="T17" fmla="*/ 23 h 69"/>
                <a:gd name="T18" fmla="*/ 37 w 78"/>
                <a:gd name="T19" fmla="*/ 23 h 6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69">
                  <a:moveTo>
                    <a:pt x="78" y="49"/>
                  </a:moveTo>
                  <a:lnTo>
                    <a:pt x="68" y="49"/>
                  </a:lnTo>
                  <a:lnTo>
                    <a:pt x="29" y="0"/>
                  </a:lnTo>
                  <a:lnTo>
                    <a:pt x="0" y="10"/>
                  </a:lnTo>
                  <a:lnTo>
                    <a:pt x="49" y="69"/>
                  </a:lnTo>
                  <a:lnTo>
                    <a:pt x="78" y="49"/>
                  </a:lnTo>
                  <a:lnTo>
                    <a:pt x="68" y="49"/>
                  </a:lnTo>
                  <a:lnTo>
                    <a:pt x="78" y="4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Freeform 58"/>
            <p:cNvSpPr>
              <a:spLocks/>
            </p:cNvSpPr>
            <p:nvPr/>
          </p:nvSpPr>
          <p:spPr bwMode="auto">
            <a:xfrm>
              <a:off x="4921" y="1090"/>
              <a:ext cx="27" cy="36"/>
            </a:xfrm>
            <a:custGeom>
              <a:avLst/>
              <a:gdLst>
                <a:gd name="T0" fmla="*/ 27 w 58"/>
                <a:gd name="T1" fmla="*/ 31 h 78"/>
                <a:gd name="T2" fmla="*/ 27 w 58"/>
                <a:gd name="T3" fmla="*/ 31 h 78"/>
                <a:gd name="T4" fmla="*/ 14 w 58"/>
                <a:gd name="T5" fmla="*/ 0 h 78"/>
                <a:gd name="T6" fmla="*/ 0 w 58"/>
                <a:gd name="T7" fmla="*/ 9 h 78"/>
                <a:gd name="T8" fmla="*/ 14 w 58"/>
                <a:gd name="T9" fmla="*/ 36 h 78"/>
                <a:gd name="T10" fmla="*/ 14 w 58"/>
                <a:gd name="T11" fmla="*/ 36 h 78"/>
                <a:gd name="T12" fmla="*/ 27 w 58"/>
                <a:gd name="T13" fmla="*/ 31 h 78"/>
                <a:gd name="T14" fmla="*/ 27 w 58"/>
                <a:gd name="T15" fmla="*/ 31 h 78"/>
                <a:gd name="T16" fmla="*/ 27 w 58"/>
                <a:gd name="T17" fmla="*/ 31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8" h="78">
                  <a:moveTo>
                    <a:pt x="58" y="68"/>
                  </a:moveTo>
                  <a:lnTo>
                    <a:pt x="58" y="68"/>
                  </a:lnTo>
                  <a:lnTo>
                    <a:pt x="29" y="0"/>
                  </a:lnTo>
                  <a:lnTo>
                    <a:pt x="0" y="20"/>
                  </a:lnTo>
                  <a:lnTo>
                    <a:pt x="29" y="78"/>
                  </a:lnTo>
                  <a:lnTo>
                    <a:pt x="58" y="6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9" name="Freeform 59"/>
            <p:cNvSpPr>
              <a:spLocks/>
            </p:cNvSpPr>
            <p:nvPr/>
          </p:nvSpPr>
          <p:spPr bwMode="auto">
            <a:xfrm>
              <a:off x="4935" y="1122"/>
              <a:ext cx="32" cy="36"/>
            </a:xfrm>
            <a:custGeom>
              <a:avLst/>
              <a:gdLst>
                <a:gd name="T0" fmla="*/ 32 w 68"/>
                <a:gd name="T1" fmla="*/ 31 h 78"/>
                <a:gd name="T2" fmla="*/ 32 w 68"/>
                <a:gd name="T3" fmla="*/ 27 h 78"/>
                <a:gd name="T4" fmla="*/ 14 w 68"/>
                <a:gd name="T5" fmla="*/ 0 h 78"/>
                <a:gd name="T6" fmla="*/ 0 w 68"/>
                <a:gd name="T7" fmla="*/ 5 h 78"/>
                <a:gd name="T8" fmla="*/ 14 w 68"/>
                <a:gd name="T9" fmla="*/ 36 h 78"/>
                <a:gd name="T10" fmla="*/ 14 w 68"/>
                <a:gd name="T11" fmla="*/ 36 h 78"/>
                <a:gd name="T12" fmla="*/ 32 w 68"/>
                <a:gd name="T13" fmla="*/ 31 h 78"/>
                <a:gd name="T14" fmla="*/ 32 w 68"/>
                <a:gd name="T15" fmla="*/ 31 h 78"/>
                <a:gd name="T16" fmla="*/ 32 w 68"/>
                <a:gd name="T17" fmla="*/ 27 h 78"/>
                <a:gd name="T18" fmla="*/ 32 w 68"/>
                <a:gd name="T19" fmla="*/ 31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78">
                  <a:moveTo>
                    <a:pt x="68" y="68"/>
                  </a:moveTo>
                  <a:lnTo>
                    <a:pt x="68" y="58"/>
                  </a:lnTo>
                  <a:lnTo>
                    <a:pt x="29" y="0"/>
                  </a:lnTo>
                  <a:lnTo>
                    <a:pt x="0" y="10"/>
                  </a:lnTo>
                  <a:lnTo>
                    <a:pt x="29" y="78"/>
                  </a:lnTo>
                  <a:lnTo>
                    <a:pt x="68" y="68"/>
                  </a:lnTo>
                  <a:lnTo>
                    <a:pt x="68" y="58"/>
                  </a:lnTo>
                  <a:lnTo>
                    <a:pt x="68" y="6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Freeform 60"/>
            <p:cNvSpPr>
              <a:spLocks/>
            </p:cNvSpPr>
            <p:nvPr/>
          </p:nvSpPr>
          <p:spPr bwMode="auto">
            <a:xfrm>
              <a:off x="4948" y="1154"/>
              <a:ext cx="28" cy="36"/>
            </a:xfrm>
            <a:custGeom>
              <a:avLst/>
              <a:gdLst>
                <a:gd name="T0" fmla="*/ 28 w 59"/>
                <a:gd name="T1" fmla="*/ 31 h 78"/>
                <a:gd name="T2" fmla="*/ 28 w 59"/>
                <a:gd name="T3" fmla="*/ 31 h 78"/>
                <a:gd name="T4" fmla="*/ 19 w 59"/>
                <a:gd name="T5" fmla="*/ 0 h 78"/>
                <a:gd name="T6" fmla="*/ 0 w 59"/>
                <a:gd name="T7" fmla="*/ 5 h 78"/>
                <a:gd name="T8" fmla="*/ 14 w 59"/>
                <a:gd name="T9" fmla="*/ 36 h 78"/>
                <a:gd name="T10" fmla="*/ 14 w 59"/>
                <a:gd name="T11" fmla="*/ 31 h 78"/>
                <a:gd name="T12" fmla="*/ 28 w 59"/>
                <a:gd name="T13" fmla="*/ 31 h 78"/>
                <a:gd name="T14" fmla="*/ 28 w 59"/>
                <a:gd name="T15" fmla="*/ 31 h 78"/>
                <a:gd name="T16" fmla="*/ 28 w 59"/>
                <a:gd name="T17" fmla="*/ 31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9" h="78">
                  <a:moveTo>
                    <a:pt x="59" y="68"/>
                  </a:moveTo>
                  <a:lnTo>
                    <a:pt x="59" y="68"/>
                  </a:lnTo>
                  <a:lnTo>
                    <a:pt x="39" y="0"/>
                  </a:lnTo>
                  <a:lnTo>
                    <a:pt x="0" y="10"/>
                  </a:lnTo>
                  <a:lnTo>
                    <a:pt x="29" y="78"/>
                  </a:lnTo>
                  <a:lnTo>
                    <a:pt x="29" y="68"/>
                  </a:lnTo>
                  <a:lnTo>
                    <a:pt x="59" y="6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Freeform 61"/>
            <p:cNvSpPr>
              <a:spLocks/>
            </p:cNvSpPr>
            <p:nvPr/>
          </p:nvSpPr>
          <p:spPr bwMode="auto">
            <a:xfrm>
              <a:off x="4962" y="1186"/>
              <a:ext cx="23" cy="37"/>
            </a:xfrm>
            <a:custGeom>
              <a:avLst/>
              <a:gdLst>
                <a:gd name="T0" fmla="*/ 23 w 49"/>
                <a:gd name="T1" fmla="*/ 32 h 78"/>
                <a:gd name="T2" fmla="*/ 23 w 49"/>
                <a:gd name="T3" fmla="*/ 32 h 78"/>
                <a:gd name="T4" fmla="*/ 14 w 49"/>
                <a:gd name="T5" fmla="*/ 0 h 78"/>
                <a:gd name="T6" fmla="*/ 0 w 49"/>
                <a:gd name="T7" fmla="*/ 0 h 78"/>
                <a:gd name="T8" fmla="*/ 9 w 49"/>
                <a:gd name="T9" fmla="*/ 37 h 78"/>
                <a:gd name="T10" fmla="*/ 9 w 49"/>
                <a:gd name="T11" fmla="*/ 37 h 78"/>
                <a:gd name="T12" fmla="*/ 23 w 49"/>
                <a:gd name="T13" fmla="*/ 32 h 78"/>
                <a:gd name="T14" fmla="*/ 23 w 49"/>
                <a:gd name="T15" fmla="*/ 32 h 78"/>
                <a:gd name="T16" fmla="*/ 23 w 49"/>
                <a:gd name="T17" fmla="*/ 32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" h="78">
                  <a:moveTo>
                    <a:pt x="49" y="68"/>
                  </a:moveTo>
                  <a:lnTo>
                    <a:pt x="49" y="68"/>
                  </a:lnTo>
                  <a:lnTo>
                    <a:pt x="30" y="0"/>
                  </a:lnTo>
                  <a:lnTo>
                    <a:pt x="0" y="0"/>
                  </a:lnTo>
                  <a:lnTo>
                    <a:pt x="20" y="78"/>
                  </a:lnTo>
                  <a:lnTo>
                    <a:pt x="49" y="6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Freeform 62"/>
            <p:cNvSpPr>
              <a:spLocks/>
            </p:cNvSpPr>
            <p:nvPr/>
          </p:nvSpPr>
          <p:spPr bwMode="auto">
            <a:xfrm>
              <a:off x="4971" y="1218"/>
              <a:ext cx="19" cy="37"/>
            </a:xfrm>
            <a:custGeom>
              <a:avLst/>
              <a:gdLst>
                <a:gd name="T0" fmla="*/ 19 w 39"/>
                <a:gd name="T1" fmla="*/ 37 h 78"/>
                <a:gd name="T2" fmla="*/ 19 w 39"/>
                <a:gd name="T3" fmla="*/ 37 h 78"/>
                <a:gd name="T4" fmla="*/ 14 w 39"/>
                <a:gd name="T5" fmla="*/ 0 h 78"/>
                <a:gd name="T6" fmla="*/ 0 w 39"/>
                <a:gd name="T7" fmla="*/ 5 h 78"/>
                <a:gd name="T8" fmla="*/ 5 w 39"/>
                <a:gd name="T9" fmla="*/ 37 h 78"/>
                <a:gd name="T10" fmla="*/ 5 w 39"/>
                <a:gd name="T11" fmla="*/ 37 h 78"/>
                <a:gd name="T12" fmla="*/ 19 w 39"/>
                <a:gd name="T13" fmla="*/ 37 h 78"/>
                <a:gd name="T14" fmla="*/ 19 w 39"/>
                <a:gd name="T15" fmla="*/ 37 h 78"/>
                <a:gd name="T16" fmla="*/ 19 w 39"/>
                <a:gd name="T17" fmla="*/ 37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9" h="78">
                  <a:moveTo>
                    <a:pt x="39" y="78"/>
                  </a:moveTo>
                  <a:lnTo>
                    <a:pt x="39" y="78"/>
                  </a:lnTo>
                  <a:lnTo>
                    <a:pt x="29" y="0"/>
                  </a:lnTo>
                  <a:lnTo>
                    <a:pt x="0" y="10"/>
                  </a:lnTo>
                  <a:lnTo>
                    <a:pt x="10" y="78"/>
                  </a:lnTo>
                  <a:lnTo>
                    <a:pt x="39" y="7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3" name="Freeform 63"/>
            <p:cNvSpPr>
              <a:spLocks/>
            </p:cNvSpPr>
            <p:nvPr/>
          </p:nvSpPr>
          <p:spPr bwMode="auto">
            <a:xfrm>
              <a:off x="4976" y="1255"/>
              <a:ext cx="18" cy="36"/>
            </a:xfrm>
            <a:custGeom>
              <a:avLst/>
              <a:gdLst>
                <a:gd name="T0" fmla="*/ 18 w 38"/>
                <a:gd name="T1" fmla="*/ 36 h 78"/>
                <a:gd name="T2" fmla="*/ 18 w 38"/>
                <a:gd name="T3" fmla="*/ 31 h 78"/>
                <a:gd name="T4" fmla="*/ 14 w 38"/>
                <a:gd name="T5" fmla="*/ 0 h 78"/>
                <a:gd name="T6" fmla="*/ 0 w 38"/>
                <a:gd name="T7" fmla="*/ 0 h 78"/>
                <a:gd name="T8" fmla="*/ 0 w 38"/>
                <a:gd name="T9" fmla="*/ 36 h 78"/>
                <a:gd name="T10" fmla="*/ 0 w 38"/>
                <a:gd name="T11" fmla="*/ 31 h 78"/>
                <a:gd name="T12" fmla="*/ 18 w 38"/>
                <a:gd name="T13" fmla="*/ 36 h 78"/>
                <a:gd name="T14" fmla="*/ 18 w 38"/>
                <a:gd name="T15" fmla="*/ 36 h 78"/>
                <a:gd name="T16" fmla="*/ 18 w 38"/>
                <a:gd name="T17" fmla="*/ 31 h 78"/>
                <a:gd name="T18" fmla="*/ 18 w 38"/>
                <a:gd name="T19" fmla="*/ 36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78">
                  <a:moveTo>
                    <a:pt x="38" y="78"/>
                  </a:moveTo>
                  <a:lnTo>
                    <a:pt x="38" y="68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0" y="68"/>
                  </a:lnTo>
                  <a:lnTo>
                    <a:pt x="38" y="78"/>
                  </a:lnTo>
                  <a:lnTo>
                    <a:pt x="38" y="68"/>
                  </a:lnTo>
                  <a:lnTo>
                    <a:pt x="38" y="7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4" name="Freeform 64"/>
            <p:cNvSpPr>
              <a:spLocks/>
            </p:cNvSpPr>
            <p:nvPr/>
          </p:nvSpPr>
          <p:spPr bwMode="auto">
            <a:xfrm>
              <a:off x="4976" y="1287"/>
              <a:ext cx="18" cy="36"/>
            </a:xfrm>
            <a:custGeom>
              <a:avLst/>
              <a:gdLst>
                <a:gd name="T0" fmla="*/ 14 w 38"/>
                <a:gd name="T1" fmla="*/ 36 h 78"/>
                <a:gd name="T2" fmla="*/ 14 w 38"/>
                <a:gd name="T3" fmla="*/ 36 h 78"/>
                <a:gd name="T4" fmla="*/ 18 w 38"/>
                <a:gd name="T5" fmla="*/ 5 h 78"/>
                <a:gd name="T6" fmla="*/ 0 w 38"/>
                <a:gd name="T7" fmla="*/ 0 h 78"/>
                <a:gd name="T8" fmla="*/ 0 w 38"/>
                <a:gd name="T9" fmla="*/ 36 h 78"/>
                <a:gd name="T10" fmla="*/ 0 w 38"/>
                <a:gd name="T11" fmla="*/ 36 h 78"/>
                <a:gd name="T12" fmla="*/ 14 w 38"/>
                <a:gd name="T13" fmla="*/ 36 h 78"/>
                <a:gd name="T14" fmla="*/ 14 w 38"/>
                <a:gd name="T15" fmla="*/ 36 h 78"/>
                <a:gd name="T16" fmla="*/ 14 w 38"/>
                <a:gd name="T17" fmla="*/ 3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78">
                  <a:moveTo>
                    <a:pt x="29" y="78"/>
                  </a:moveTo>
                  <a:lnTo>
                    <a:pt x="29" y="78"/>
                  </a:lnTo>
                  <a:lnTo>
                    <a:pt x="38" y="10"/>
                  </a:lnTo>
                  <a:lnTo>
                    <a:pt x="0" y="0"/>
                  </a:lnTo>
                  <a:lnTo>
                    <a:pt x="0" y="78"/>
                  </a:lnTo>
                  <a:lnTo>
                    <a:pt x="29" y="7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5" name="Freeform 65"/>
            <p:cNvSpPr>
              <a:spLocks/>
            </p:cNvSpPr>
            <p:nvPr/>
          </p:nvSpPr>
          <p:spPr bwMode="auto">
            <a:xfrm>
              <a:off x="4971" y="1323"/>
              <a:ext cx="19" cy="37"/>
            </a:xfrm>
            <a:custGeom>
              <a:avLst/>
              <a:gdLst>
                <a:gd name="T0" fmla="*/ 14 w 39"/>
                <a:gd name="T1" fmla="*/ 37 h 78"/>
                <a:gd name="T2" fmla="*/ 14 w 39"/>
                <a:gd name="T3" fmla="*/ 37 h 78"/>
                <a:gd name="T4" fmla="*/ 19 w 39"/>
                <a:gd name="T5" fmla="*/ 0 h 78"/>
                <a:gd name="T6" fmla="*/ 5 w 39"/>
                <a:gd name="T7" fmla="*/ 0 h 78"/>
                <a:gd name="T8" fmla="*/ 0 w 39"/>
                <a:gd name="T9" fmla="*/ 32 h 78"/>
                <a:gd name="T10" fmla="*/ 0 w 39"/>
                <a:gd name="T11" fmla="*/ 32 h 78"/>
                <a:gd name="T12" fmla="*/ 14 w 39"/>
                <a:gd name="T13" fmla="*/ 37 h 78"/>
                <a:gd name="T14" fmla="*/ 14 w 39"/>
                <a:gd name="T15" fmla="*/ 37 h 78"/>
                <a:gd name="T16" fmla="*/ 14 w 39"/>
                <a:gd name="T17" fmla="*/ 37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9" h="78">
                  <a:moveTo>
                    <a:pt x="29" y="78"/>
                  </a:moveTo>
                  <a:lnTo>
                    <a:pt x="29" y="78"/>
                  </a:lnTo>
                  <a:lnTo>
                    <a:pt x="39" y="0"/>
                  </a:lnTo>
                  <a:lnTo>
                    <a:pt x="10" y="0"/>
                  </a:lnTo>
                  <a:lnTo>
                    <a:pt x="0" y="68"/>
                  </a:lnTo>
                  <a:lnTo>
                    <a:pt x="29" y="7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Freeform 66"/>
            <p:cNvSpPr>
              <a:spLocks/>
            </p:cNvSpPr>
            <p:nvPr/>
          </p:nvSpPr>
          <p:spPr bwMode="auto">
            <a:xfrm>
              <a:off x="4962" y="1355"/>
              <a:ext cx="23" cy="37"/>
            </a:xfrm>
            <a:custGeom>
              <a:avLst/>
              <a:gdLst>
                <a:gd name="T0" fmla="*/ 14 w 49"/>
                <a:gd name="T1" fmla="*/ 37 h 78"/>
                <a:gd name="T2" fmla="*/ 14 w 49"/>
                <a:gd name="T3" fmla="*/ 37 h 78"/>
                <a:gd name="T4" fmla="*/ 23 w 49"/>
                <a:gd name="T5" fmla="*/ 5 h 78"/>
                <a:gd name="T6" fmla="*/ 9 w 49"/>
                <a:gd name="T7" fmla="*/ 0 h 78"/>
                <a:gd name="T8" fmla="*/ 0 w 49"/>
                <a:gd name="T9" fmla="*/ 37 h 78"/>
                <a:gd name="T10" fmla="*/ 0 w 49"/>
                <a:gd name="T11" fmla="*/ 32 h 78"/>
                <a:gd name="T12" fmla="*/ 14 w 49"/>
                <a:gd name="T13" fmla="*/ 37 h 78"/>
                <a:gd name="T14" fmla="*/ 14 w 49"/>
                <a:gd name="T15" fmla="*/ 37 h 78"/>
                <a:gd name="T16" fmla="*/ 14 w 49"/>
                <a:gd name="T17" fmla="*/ 37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9" h="78">
                  <a:moveTo>
                    <a:pt x="30" y="78"/>
                  </a:moveTo>
                  <a:lnTo>
                    <a:pt x="30" y="78"/>
                  </a:lnTo>
                  <a:lnTo>
                    <a:pt x="49" y="10"/>
                  </a:lnTo>
                  <a:lnTo>
                    <a:pt x="20" y="0"/>
                  </a:lnTo>
                  <a:lnTo>
                    <a:pt x="0" y="78"/>
                  </a:lnTo>
                  <a:lnTo>
                    <a:pt x="0" y="68"/>
                  </a:lnTo>
                  <a:lnTo>
                    <a:pt x="30" y="7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7" name="Freeform 67"/>
            <p:cNvSpPr>
              <a:spLocks/>
            </p:cNvSpPr>
            <p:nvPr/>
          </p:nvSpPr>
          <p:spPr bwMode="auto">
            <a:xfrm>
              <a:off x="4948" y="1388"/>
              <a:ext cx="28" cy="41"/>
            </a:xfrm>
            <a:custGeom>
              <a:avLst/>
              <a:gdLst>
                <a:gd name="T0" fmla="*/ 19 w 59"/>
                <a:gd name="T1" fmla="*/ 41 h 88"/>
                <a:gd name="T2" fmla="*/ 19 w 59"/>
                <a:gd name="T3" fmla="*/ 36 h 88"/>
                <a:gd name="T4" fmla="*/ 28 w 59"/>
                <a:gd name="T5" fmla="*/ 5 h 88"/>
                <a:gd name="T6" fmla="*/ 14 w 59"/>
                <a:gd name="T7" fmla="*/ 0 h 88"/>
                <a:gd name="T8" fmla="*/ 0 w 59"/>
                <a:gd name="T9" fmla="*/ 32 h 88"/>
                <a:gd name="T10" fmla="*/ 0 w 59"/>
                <a:gd name="T11" fmla="*/ 32 h 88"/>
                <a:gd name="T12" fmla="*/ 19 w 59"/>
                <a:gd name="T13" fmla="*/ 41 h 88"/>
                <a:gd name="T14" fmla="*/ 19 w 59"/>
                <a:gd name="T15" fmla="*/ 36 h 88"/>
                <a:gd name="T16" fmla="*/ 19 w 59"/>
                <a:gd name="T17" fmla="*/ 36 h 88"/>
                <a:gd name="T18" fmla="*/ 19 w 59"/>
                <a:gd name="T19" fmla="*/ 41 h 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9" h="88">
                  <a:moveTo>
                    <a:pt x="39" y="88"/>
                  </a:moveTo>
                  <a:lnTo>
                    <a:pt x="39" y="78"/>
                  </a:lnTo>
                  <a:lnTo>
                    <a:pt x="59" y="10"/>
                  </a:lnTo>
                  <a:lnTo>
                    <a:pt x="29" y="0"/>
                  </a:lnTo>
                  <a:lnTo>
                    <a:pt x="0" y="68"/>
                  </a:lnTo>
                  <a:lnTo>
                    <a:pt x="39" y="88"/>
                  </a:lnTo>
                  <a:lnTo>
                    <a:pt x="39" y="78"/>
                  </a:lnTo>
                  <a:lnTo>
                    <a:pt x="39" y="8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8" name="Freeform 68"/>
            <p:cNvSpPr>
              <a:spLocks/>
            </p:cNvSpPr>
            <p:nvPr/>
          </p:nvSpPr>
          <p:spPr bwMode="auto">
            <a:xfrm>
              <a:off x="4935" y="1420"/>
              <a:ext cx="32" cy="36"/>
            </a:xfrm>
            <a:custGeom>
              <a:avLst/>
              <a:gdLst>
                <a:gd name="T0" fmla="*/ 14 w 68"/>
                <a:gd name="T1" fmla="*/ 36 h 78"/>
                <a:gd name="T2" fmla="*/ 14 w 68"/>
                <a:gd name="T3" fmla="*/ 36 h 78"/>
                <a:gd name="T4" fmla="*/ 32 w 68"/>
                <a:gd name="T5" fmla="*/ 9 h 78"/>
                <a:gd name="T6" fmla="*/ 14 w 68"/>
                <a:gd name="T7" fmla="*/ 0 h 78"/>
                <a:gd name="T8" fmla="*/ 0 w 68"/>
                <a:gd name="T9" fmla="*/ 31 h 78"/>
                <a:gd name="T10" fmla="*/ 0 w 68"/>
                <a:gd name="T11" fmla="*/ 31 h 78"/>
                <a:gd name="T12" fmla="*/ 14 w 68"/>
                <a:gd name="T13" fmla="*/ 36 h 78"/>
                <a:gd name="T14" fmla="*/ 14 w 68"/>
                <a:gd name="T15" fmla="*/ 36 h 78"/>
                <a:gd name="T16" fmla="*/ 14 w 68"/>
                <a:gd name="T17" fmla="*/ 36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78">
                  <a:moveTo>
                    <a:pt x="29" y="78"/>
                  </a:moveTo>
                  <a:lnTo>
                    <a:pt x="29" y="78"/>
                  </a:lnTo>
                  <a:lnTo>
                    <a:pt x="68" y="20"/>
                  </a:lnTo>
                  <a:lnTo>
                    <a:pt x="29" y="0"/>
                  </a:lnTo>
                  <a:lnTo>
                    <a:pt x="0" y="68"/>
                  </a:lnTo>
                  <a:lnTo>
                    <a:pt x="29" y="7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9" name="Freeform 69"/>
            <p:cNvSpPr>
              <a:spLocks/>
            </p:cNvSpPr>
            <p:nvPr/>
          </p:nvSpPr>
          <p:spPr bwMode="auto">
            <a:xfrm>
              <a:off x="4921" y="1452"/>
              <a:ext cx="27" cy="36"/>
            </a:xfrm>
            <a:custGeom>
              <a:avLst/>
              <a:gdLst>
                <a:gd name="T0" fmla="*/ 9 w 58"/>
                <a:gd name="T1" fmla="*/ 36 h 78"/>
                <a:gd name="T2" fmla="*/ 14 w 58"/>
                <a:gd name="T3" fmla="*/ 36 h 78"/>
                <a:gd name="T4" fmla="*/ 27 w 58"/>
                <a:gd name="T5" fmla="*/ 5 h 78"/>
                <a:gd name="T6" fmla="*/ 14 w 58"/>
                <a:gd name="T7" fmla="*/ 0 h 78"/>
                <a:gd name="T8" fmla="*/ 0 w 58"/>
                <a:gd name="T9" fmla="*/ 27 h 78"/>
                <a:gd name="T10" fmla="*/ 0 w 58"/>
                <a:gd name="T11" fmla="*/ 27 h 78"/>
                <a:gd name="T12" fmla="*/ 9 w 58"/>
                <a:gd name="T13" fmla="*/ 36 h 78"/>
                <a:gd name="T14" fmla="*/ 14 w 58"/>
                <a:gd name="T15" fmla="*/ 36 h 78"/>
                <a:gd name="T16" fmla="*/ 14 w 58"/>
                <a:gd name="T17" fmla="*/ 36 h 78"/>
                <a:gd name="T18" fmla="*/ 9 w 58"/>
                <a:gd name="T19" fmla="*/ 36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8" h="78">
                  <a:moveTo>
                    <a:pt x="19" y="78"/>
                  </a:moveTo>
                  <a:lnTo>
                    <a:pt x="29" y="78"/>
                  </a:lnTo>
                  <a:lnTo>
                    <a:pt x="58" y="10"/>
                  </a:lnTo>
                  <a:lnTo>
                    <a:pt x="29" y="0"/>
                  </a:lnTo>
                  <a:lnTo>
                    <a:pt x="0" y="58"/>
                  </a:lnTo>
                  <a:lnTo>
                    <a:pt x="19" y="78"/>
                  </a:lnTo>
                  <a:lnTo>
                    <a:pt x="29" y="78"/>
                  </a:lnTo>
                  <a:lnTo>
                    <a:pt x="19" y="7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0" name="Freeform 70"/>
            <p:cNvSpPr>
              <a:spLocks/>
            </p:cNvSpPr>
            <p:nvPr/>
          </p:nvSpPr>
          <p:spPr bwMode="auto">
            <a:xfrm>
              <a:off x="4898" y="1479"/>
              <a:ext cx="32" cy="37"/>
            </a:xfrm>
            <a:custGeom>
              <a:avLst/>
              <a:gdLst>
                <a:gd name="T0" fmla="*/ 14 w 68"/>
                <a:gd name="T1" fmla="*/ 37 h 78"/>
                <a:gd name="T2" fmla="*/ 14 w 68"/>
                <a:gd name="T3" fmla="*/ 33 h 78"/>
                <a:gd name="T4" fmla="*/ 32 w 68"/>
                <a:gd name="T5" fmla="*/ 9 h 78"/>
                <a:gd name="T6" fmla="*/ 23 w 68"/>
                <a:gd name="T7" fmla="*/ 0 h 78"/>
                <a:gd name="T8" fmla="*/ 0 w 68"/>
                <a:gd name="T9" fmla="*/ 28 h 78"/>
                <a:gd name="T10" fmla="*/ 5 w 68"/>
                <a:gd name="T11" fmla="*/ 23 h 78"/>
                <a:gd name="T12" fmla="*/ 14 w 68"/>
                <a:gd name="T13" fmla="*/ 37 h 78"/>
                <a:gd name="T14" fmla="*/ 14 w 68"/>
                <a:gd name="T15" fmla="*/ 37 h 78"/>
                <a:gd name="T16" fmla="*/ 14 w 68"/>
                <a:gd name="T17" fmla="*/ 33 h 78"/>
                <a:gd name="T18" fmla="*/ 14 w 68"/>
                <a:gd name="T19" fmla="*/ 37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78">
                  <a:moveTo>
                    <a:pt x="29" y="78"/>
                  </a:moveTo>
                  <a:lnTo>
                    <a:pt x="29" y="69"/>
                  </a:lnTo>
                  <a:lnTo>
                    <a:pt x="68" y="20"/>
                  </a:lnTo>
                  <a:lnTo>
                    <a:pt x="49" y="0"/>
                  </a:lnTo>
                  <a:lnTo>
                    <a:pt x="0" y="59"/>
                  </a:lnTo>
                  <a:lnTo>
                    <a:pt x="10" y="49"/>
                  </a:lnTo>
                  <a:lnTo>
                    <a:pt x="29" y="78"/>
                  </a:lnTo>
                  <a:lnTo>
                    <a:pt x="29" y="69"/>
                  </a:lnTo>
                  <a:lnTo>
                    <a:pt x="29" y="7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1" name="Freeform 71"/>
            <p:cNvSpPr>
              <a:spLocks/>
            </p:cNvSpPr>
            <p:nvPr/>
          </p:nvSpPr>
          <p:spPr bwMode="auto">
            <a:xfrm>
              <a:off x="4879" y="1502"/>
              <a:ext cx="32" cy="37"/>
            </a:xfrm>
            <a:custGeom>
              <a:avLst/>
              <a:gdLst>
                <a:gd name="T0" fmla="*/ 9 w 68"/>
                <a:gd name="T1" fmla="*/ 37 h 78"/>
                <a:gd name="T2" fmla="*/ 9 w 68"/>
                <a:gd name="T3" fmla="*/ 37 h 78"/>
                <a:gd name="T4" fmla="*/ 32 w 68"/>
                <a:gd name="T5" fmla="*/ 14 h 78"/>
                <a:gd name="T6" fmla="*/ 23 w 68"/>
                <a:gd name="T7" fmla="*/ 0 h 78"/>
                <a:gd name="T8" fmla="*/ 0 w 68"/>
                <a:gd name="T9" fmla="*/ 28 h 78"/>
                <a:gd name="T10" fmla="*/ 0 w 68"/>
                <a:gd name="T11" fmla="*/ 28 h 78"/>
                <a:gd name="T12" fmla="*/ 9 w 68"/>
                <a:gd name="T13" fmla="*/ 37 h 78"/>
                <a:gd name="T14" fmla="*/ 9 w 68"/>
                <a:gd name="T15" fmla="*/ 37 h 78"/>
                <a:gd name="T16" fmla="*/ 9 w 68"/>
                <a:gd name="T17" fmla="*/ 37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78">
                  <a:moveTo>
                    <a:pt x="20" y="78"/>
                  </a:moveTo>
                  <a:lnTo>
                    <a:pt x="20" y="78"/>
                  </a:lnTo>
                  <a:lnTo>
                    <a:pt x="68" y="29"/>
                  </a:lnTo>
                  <a:lnTo>
                    <a:pt x="49" y="0"/>
                  </a:lnTo>
                  <a:lnTo>
                    <a:pt x="0" y="58"/>
                  </a:lnTo>
                  <a:lnTo>
                    <a:pt x="20" y="7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2" name="Freeform 72"/>
            <p:cNvSpPr>
              <a:spLocks/>
            </p:cNvSpPr>
            <p:nvPr/>
          </p:nvSpPr>
          <p:spPr bwMode="auto">
            <a:xfrm>
              <a:off x="4852" y="1529"/>
              <a:ext cx="37" cy="32"/>
            </a:xfrm>
            <a:custGeom>
              <a:avLst/>
              <a:gdLst>
                <a:gd name="T0" fmla="*/ 9 w 78"/>
                <a:gd name="T1" fmla="*/ 32 h 68"/>
                <a:gd name="T2" fmla="*/ 14 w 78"/>
                <a:gd name="T3" fmla="*/ 32 h 68"/>
                <a:gd name="T4" fmla="*/ 37 w 78"/>
                <a:gd name="T5" fmla="*/ 9 h 68"/>
                <a:gd name="T6" fmla="*/ 28 w 78"/>
                <a:gd name="T7" fmla="*/ 0 h 68"/>
                <a:gd name="T8" fmla="*/ 0 w 78"/>
                <a:gd name="T9" fmla="*/ 23 h 68"/>
                <a:gd name="T10" fmla="*/ 5 w 78"/>
                <a:gd name="T11" fmla="*/ 18 h 68"/>
                <a:gd name="T12" fmla="*/ 9 w 78"/>
                <a:gd name="T13" fmla="*/ 32 h 68"/>
                <a:gd name="T14" fmla="*/ 14 w 78"/>
                <a:gd name="T15" fmla="*/ 32 h 68"/>
                <a:gd name="T16" fmla="*/ 14 w 78"/>
                <a:gd name="T17" fmla="*/ 32 h 68"/>
                <a:gd name="T18" fmla="*/ 9 w 78"/>
                <a:gd name="T19" fmla="*/ 32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68">
                  <a:moveTo>
                    <a:pt x="20" y="68"/>
                  </a:moveTo>
                  <a:lnTo>
                    <a:pt x="29" y="68"/>
                  </a:lnTo>
                  <a:lnTo>
                    <a:pt x="78" y="20"/>
                  </a:lnTo>
                  <a:lnTo>
                    <a:pt x="58" y="0"/>
                  </a:lnTo>
                  <a:lnTo>
                    <a:pt x="0" y="49"/>
                  </a:lnTo>
                  <a:lnTo>
                    <a:pt x="10" y="39"/>
                  </a:lnTo>
                  <a:lnTo>
                    <a:pt x="20" y="68"/>
                  </a:lnTo>
                  <a:lnTo>
                    <a:pt x="29" y="68"/>
                  </a:lnTo>
                  <a:lnTo>
                    <a:pt x="20" y="6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3" name="Freeform 73"/>
            <p:cNvSpPr>
              <a:spLocks/>
            </p:cNvSpPr>
            <p:nvPr/>
          </p:nvSpPr>
          <p:spPr bwMode="auto">
            <a:xfrm>
              <a:off x="4829" y="1548"/>
              <a:ext cx="32" cy="37"/>
            </a:xfrm>
            <a:custGeom>
              <a:avLst/>
              <a:gdLst>
                <a:gd name="T0" fmla="*/ 9 w 69"/>
                <a:gd name="T1" fmla="*/ 37 h 78"/>
                <a:gd name="T2" fmla="*/ 9 w 69"/>
                <a:gd name="T3" fmla="*/ 32 h 78"/>
                <a:gd name="T4" fmla="*/ 32 w 69"/>
                <a:gd name="T5" fmla="*/ 14 h 78"/>
                <a:gd name="T6" fmla="*/ 27 w 69"/>
                <a:gd name="T7" fmla="*/ 0 h 78"/>
                <a:gd name="T8" fmla="*/ 0 w 69"/>
                <a:gd name="T9" fmla="*/ 23 h 78"/>
                <a:gd name="T10" fmla="*/ 0 w 69"/>
                <a:gd name="T11" fmla="*/ 23 h 78"/>
                <a:gd name="T12" fmla="*/ 9 w 69"/>
                <a:gd name="T13" fmla="*/ 37 h 78"/>
                <a:gd name="T14" fmla="*/ 9 w 69"/>
                <a:gd name="T15" fmla="*/ 37 h 78"/>
                <a:gd name="T16" fmla="*/ 9 w 69"/>
                <a:gd name="T17" fmla="*/ 32 h 78"/>
                <a:gd name="T18" fmla="*/ 9 w 69"/>
                <a:gd name="T19" fmla="*/ 37 h 7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9" h="78">
                  <a:moveTo>
                    <a:pt x="20" y="78"/>
                  </a:moveTo>
                  <a:lnTo>
                    <a:pt x="20" y="68"/>
                  </a:lnTo>
                  <a:lnTo>
                    <a:pt x="69" y="29"/>
                  </a:lnTo>
                  <a:lnTo>
                    <a:pt x="59" y="0"/>
                  </a:lnTo>
                  <a:lnTo>
                    <a:pt x="0" y="49"/>
                  </a:lnTo>
                  <a:lnTo>
                    <a:pt x="20" y="78"/>
                  </a:lnTo>
                  <a:lnTo>
                    <a:pt x="20" y="68"/>
                  </a:lnTo>
                  <a:lnTo>
                    <a:pt x="20" y="7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4" name="Freeform 74"/>
            <p:cNvSpPr>
              <a:spLocks/>
            </p:cNvSpPr>
            <p:nvPr/>
          </p:nvSpPr>
          <p:spPr bwMode="auto">
            <a:xfrm>
              <a:off x="4801" y="1571"/>
              <a:ext cx="37" cy="27"/>
            </a:xfrm>
            <a:custGeom>
              <a:avLst/>
              <a:gdLst>
                <a:gd name="T0" fmla="*/ 5 w 78"/>
                <a:gd name="T1" fmla="*/ 27 h 58"/>
                <a:gd name="T2" fmla="*/ 5 w 78"/>
                <a:gd name="T3" fmla="*/ 27 h 58"/>
                <a:gd name="T4" fmla="*/ 37 w 78"/>
                <a:gd name="T5" fmla="*/ 14 h 58"/>
                <a:gd name="T6" fmla="*/ 28 w 78"/>
                <a:gd name="T7" fmla="*/ 0 h 58"/>
                <a:gd name="T8" fmla="*/ 0 w 78"/>
                <a:gd name="T9" fmla="*/ 14 h 58"/>
                <a:gd name="T10" fmla="*/ 0 w 78"/>
                <a:gd name="T11" fmla="*/ 14 h 58"/>
                <a:gd name="T12" fmla="*/ 5 w 78"/>
                <a:gd name="T13" fmla="*/ 27 h 58"/>
                <a:gd name="T14" fmla="*/ 5 w 78"/>
                <a:gd name="T15" fmla="*/ 27 h 58"/>
                <a:gd name="T16" fmla="*/ 5 w 78"/>
                <a:gd name="T17" fmla="*/ 27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58">
                  <a:moveTo>
                    <a:pt x="10" y="58"/>
                  </a:moveTo>
                  <a:lnTo>
                    <a:pt x="10" y="58"/>
                  </a:lnTo>
                  <a:lnTo>
                    <a:pt x="78" y="29"/>
                  </a:lnTo>
                  <a:lnTo>
                    <a:pt x="58" y="0"/>
                  </a:lnTo>
                  <a:lnTo>
                    <a:pt x="0" y="29"/>
                  </a:lnTo>
                  <a:lnTo>
                    <a:pt x="10" y="5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5" name="Freeform 75"/>
            <p:cNvSpPr>
              <a:spLocks/>
            </p:cNvSpPr>
            <p:nvPr/>
          </p:nvSpPr>
          <p:spPr bwMode="auto">
            <a:xfrm>
              <a:off x="4769" y="1585"/>
              <a:ext cx="37" cy="32"/>
            </a:xfrm>
            <a:custGeom>
              <a:avLst/>
              <a:gdLst>
                <a:gd name="T0" fmla="*/ 5 w 78"/>
                <a:gd name="T1" fmla="*/ 32 h 68"/>
                <a:gd name="T2" fmla="*/ 9 w 78"/>
                <a:gd name="T3" fmla="*/ 32 h 68"/>
                <a:gd name="T4" fmla="*/ 37 w 78"/>
                <a:gd name="T5" fmla="*/ 14 h 68"/>
                <a:gd name="T6" fmla="*/ 32 w 78"/>
                <a:gd name="T7" fmla="*/ 0 h 68"/>
                <a:gd name="T8" fmla="*/ 0 w 78"/>
                <a:gd name="T9" fmla="*/ 14 h 68"/>
                <a:gd name="T10" fmla="*/ 0 w 78"/>
                <a:gd name="T11" fmla="*/ 14 h 68"/>
                <a:gd name="T12" fmla="*/ 5 w 78"/>
                <a:gd name="T13" fmla="*/ 32 h 68"/>
                <a:gd name="T14" fmla="*/ 5 w 78"/>
                <a:gd name="T15" fmla="*/ 32 h 68"/>
                <a:gd name="T16" fmla="*/ 9 w 78"/>
                <a:gd name="T17" fmla="*/ 32 h 68"/>
                <a:gd name="T18" fmla="*/ 5 w 78"/>
                <a:gd name="T19" fmla="*/ 32 h 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68">
                  <a:moveTo>
                    <a:pt x="10" y="68"/>
                  </a:moveTo>
                  <a:lnTo>
                    <a:pt x="20" y="68"/>
                  </a:lnTo>
                  <a:lnTo>
                    <a:pt x="78" y="29"/>
                  </a:lnTo>
                  <a:lnTo>
                    <a:pt x="68" y="0"/>
                  </a:lnTo>
                  <a:lnTo>
                    <a:pt x="0" y="29"/>
                  </a:lnTo>
                  <a:lnTo>
                    <a:pt x="10" y="68"/>
                  </a:lnTo>
                  <a:lnTo>
                    <a:pt x="20" y="68"/>
                  </a:lnTo>
                  <a:lnTo>
                    <a:pt x="10" y="6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6" name="Freeform 76"/>
            <p:cNvSpPr>
              <a:spLocks/>
            </p:cNvSpPr>
            <p:nvPr/>
          </p:nvSpPr>
          <p:spPr bwMode="auto">
            <a:xfrm>
              <a:off x="4737" y="1598"/>
              <a:ext cx="37" cy="28"/>
            </a:xfrm>
            <a:custGeom>
              <a:avLst/>
              <a:gdLst>
                <a:gd name="T0" fmla="*/ 5 w 78"/>
                <a:gd name="T1" fmla="*/ 28 h 59"/>
                <a:gd name="T2" fmla="*/ 5 w 78"/>
                <a:gd name="T3" fmla="*/ 28 h 59"/>
                <a:gd name="T4" fmla="*/ 37 w 78"/>
                <a:gd name="T5" fmla="*/ 19 h 59"/>
                <a:gd name="T6" fmla="*/ 32 w 78"/>
                <a:gd name="T7" fmla="*/ 0 h 59"/>
                <a:gd name="T8" fmla="*/ 0 w 78"/>
                <a:gd name="T9" fmla="*/ 14 h 59"/>
                <a:gd name="T10" fmla="*/ 5 w 78"/>
                <a:gd name="T11" fmla="*/ 14 h 59"/>
                <a:gd name="T12" fmla="*/ 5 w 78"/>
                <a:gd name="T13" fmla="*/ 28 h 59"/>
                <a:gd name="T14" fmla="*/ 5 w 78"/>
                <a:gd name="T15" fmla="*/ 28 h 59"/>
                <a:gd name="T16" fmla="*/ 5 w 78"/>
                <a:gd name="T17" fmla="*/ 28 h 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59">
                  <a:moveTo>
                    <a:pt x="10" y="59"/>
                  </a:moveTo>
                  <a:lnTo>
                    <a:pt x="10" y="59"/>
                  </a:lnTo>
                  <a:lnTo>
                    <a:pt x="78" y="39"/>
                  </a:lnTo>
                  <a:lnTo>
                    <a:pt x="68" y="0"/>
                  </a:lnTo>
                  <a:lnTo>
                    <a:pt x="0" y="29"/>
                  </a:lnTo>
                  <a:lnTo>
                    <a:pt x="10" y="29"/>
                  </a:lnTo>
                  <a:lnTo>
                    <a:pt x="10" y="5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7" name="Freeform 77"/>
            <p:cNvSpPr>
              <a:spLocks/>
            </p:cNvSpPr>
            <p:nvPr/>
          </p:nvSpPr>
          <p:spPr bwMode="auto">
            <a:xfrm>
              <a:off x="4705" y="1612"/>
              <a:ext cx="37" cy="23"/>
            </a:xfrm>
            <a:custGeom>
              <a:avLst/>
              <a:gdLst>
                <a:gd name="T0" fmla="*/ 5 w 78"/>
                <a:gd name="T1" fmla="*/ 23 h 49"/>
                <a:gd name="T2" fmla="*/ 5 w 78"/>
                <a:gd name="T3" fmla="*/ 23 h 49"/>
                <a:gd name="T4" fmla="*/ 37 w 78"/>
                <a:gd name="T5" fmla="*/ 14 h 49"/>
                <a:gd name="T6" fmla="*/ 37 w 78"/>
                <a:gd name="T7" fmla="*/ 0 h 49"/>
                <a:gd name="T8" fmla="*/ 0 w 78"/>
                <a:gd name="T9" fmla="*/ 9 h 49"/>
                <a:gd name="T10" fmla="*/ 0 w 78"/>
                <a:gd name="T11" fmla="*/ 9 h 49"/>
                <a:gd name="T12" fmla="*/ 5 w 78"/>
                <a:gd name="T13" fmla="*/ 23 h 49"/>
                <a:gd name="T14" fmla="*/ 5 w 78"/>
                <a:gd name="T15" fmla="*/ 23 h 49"/>
                <a:gd name="T16" fmla="*/ 5 w 78"/>
                <a:gd name="T17" fmla="*/ 23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49">
                  <a:moveTo>
                    <a:pt x="10" y="49"/>
                  </a:moveTo>
                  <a:lnTo>
                    <a:pt x="10" y="49"/>
                  </a:lnTo>
                  <a:lnTo>
                    <a:pt x="78" y="30"/>
                  </a:lnTo>
                  <a:lnTo>
                    <a:pt x="78" y="0"/>
                  </a:lnTo>
                  <a:lnTo>
                    <a:pt x="0" y="20"/>
                  </a:lnTo>
                  <a:lnTo>
                    <a:pt x="10" y="4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8" name="Freeform 78"/>
            <p:cNvSpPr>
              <a:spLocks/>
            </p:cNvSpPr>
            <p:nvPr/>
          </p:nvSpPr>
          <p:spPr bwMode="auto">
            <a:xfrm>
              <a:off x="4673" y="1621"/>
              <a:ext cx="37" cy="19"/>
            </a:xfrm>
            <a:custGeom>
              <a:avLst/>
              <a:gdLst>
                <a:gd name="T0" fmla="*/ 0 w 78"/>
                <a:gd name="T1" fmla="*/ 19 h 39"/>
                <a:gd name="T2" fmla="*/ 0 w 78"/>
                <a:gd name="T3" fmla="*/ 19 h 39"/>
                <a:gd name="T4" fmla="*/ 37 w 78"/>
                <a:gd name="T5" fmla="*/ 14 h 39"/>
                <a:gd name="T6" fmla="*/ 32 w 78"/>
                <a:gd name="T7" fmla="*/ 0 h 39"/>
                <a:gd name="T8" fmla="*/ 0 w 78"/>
                <a:gd name="T9" fmla="*/ 5 h 39"/>
                <a:gd name="T10" fmla="*/ 0 w 78"/>
                <a:gd name="T11" fmla="*/ 5 h 39"/>
                <a:gd name="T12" fmla="*/ 0 w 78"/>
                <a:gd name="T13" fmla="*/ 19 h 39"/>
                <a:gd name="T14" fmla="*/ 0 w 78"/>
                <a:gd name="T15" fmla="*/ 19 h 39"/>
                <a:gd name="T16" fmla="*/ 0 w 78"/>
                <a:gd name="T17" fmla="*/ 19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39">
                  <a:moveTo>
                    <a:pt x="0" y="39"/>
                  </a:moveTo>
                  <a:lnTo>
                    <a:pt x="0" y="39"/>
                  </a:lnTo>
                  <a:lnTo>
                    <a:pt x="78" y="29"/>
                  </a:lnTo>
                  <a:lnTo>
                    <a:pt x="68" y="0"/>
                  </a:lnTo>
                  <a:lnTo>
                    <a:pt x="0" y="10"/>
                  </a:lnTo>
                  <a:lnTo>
                    <a:pt x="0" y="3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9" name="Freeform 79"/>
            <p:cNvSpPr>
              <a:spLocks/>
            </p:cNvSpPr>
            <p:nvPr/>
          </p:nvSpPr>
          <p:spPr bwMode="auto">
            <a:xfrm>
              <a:off x="4636" y="1626"/>
              <a:ext cx="37" cy="18"/>
            </a:xfrm>
            <a:custGeom>
              <a:avLst/>
              <a:gdLst>
                <a:gd name="T0" fmla="*/ 0 w 78"/>
                <a:gd name="T1" fmla="*/ 18 h 38"/>
                <a:gd name="T2" fmla="*/ 5 w 78"/>
                <a:gd name="T3" fmla="*/ 18 h 38"/>
                <a:gd name="T4" fmla="*/ 37 w 78"/>
                <a:gd name="T5" fmla="*/ 14 h 38"/>
                <a:gd name="T6" fmla="*/ 37 w 78"/>
                <a:gd name="T7" fmla="*/ 0 h 38"/>
                <a:gd name="T8" fmla="*/ 0 w 78"/>
                <a:gd name="T9" fmla="*/ 0 h 38"/>
                <a:gd name="T10" fmla="*/ 5 w 78"/>
                <a:gd name="T11" fmla="*/ 0 h 38"/>
                <a:gd name="T12" fmla="*/ 0 w 78"/>
                <a:gd name="T13" fmla="*/ 18 h 38"/>
                <a:gd name="T14" fmla="*/ 5 w 78"/>
                <a:gd name="T15" fmla="*/ 18 h 38"/>
                <a:gd name="T16" fmla="*/ 5 w 78"/>
                <a:gd name="T17" fmla="*/ 18 h 38"/>
                <a:gd name="T18" fmla="*/ 0 w 78"/>
                <a:gd name="T19" fmla="*/ 18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8" h="38">
                  <a:moveTo>
                    <a:pt x="0" y="38"/>
                  </a:moveTo>
                  <a:lnTo>
                    <a:pt x="10" y="38"/>
                  </a:lnTo>
                  <a:lnTo>
                    <a:pt x="78" y="29"/>
                  </a:lnTo>
                  <a:lnTo>
                    <a:pt x="78" y="0"/>
                  </a:lnTo>
                  <a:lnTo>
                    <a:pt x="0" y="0"/>
                  </a:lnTo>
                  <a:lnTo>
                    <a:pt x="10" y="0"/>
                  </a:lnTo>
                  <a:lnTo>
                    <a:pt x="0" y="38"/>
                  </a:lnTo>
                  <a:lnTo>
                    <a:pt x="10" y="38"/>
                  </a:lnTo>
                  <a:lnTo>
                    <a:pt x="0" y="3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0" name="Freeform 80"/>
            <p:cNvSpPr>
              <a:spLocks/>
            </p:cNvSpPr>
            <p:nvPr/>
          </p:nvSpPr>
          <p:spPr bwMode="auto">
            <a:xfrm>
              <a:off x="4439" y="1264"/>
              <a:ext cx="18" cy="18"/>
            </a:xfrm>
            <a:custGeom>
              <a:avLst/>
              <a:gdLst>
                <a:gd name="T0" fmla="*/ 18 w 39"/>
                <a:gd name="T1" fmla="*/ 14 h 38"/>
                <a:gd name="T2" fmla="*/ 18 w 39"/>
                <a:gd name="T3" fmla="*/ 14 h 38"/>
                <a:gd name="T4" fmla="*/ 13 w 39"/>
                <a:gd name="T5" fmla="*/ 0 h 38"/>
                <a:gd name="T6" fmla="*/ 0 w 39"/>
                <a:gd name="T7" fmla="*/ 0 h 38"/>
                <a:gd name="T8" fmla="*/ 0 w 39"/>
                <a:gd name="T9" fmla="*/ 18 h 38"/>
                <a:gd name="T10" fmla="*/ 5 w 39"/>
                <a:gd name="T11" fmla="*/ 18 h 38"/>
                <a:gd name="T12" fmla="*/ 0 w 39"/>
                <a:gd name="T13" fmla="*/ 18 h 38"/>
                <a:gd name="T14" fmla="*/ 0 w 39"/>
                <a:gd name="T15" fmla="*/ 18 h 38"/>
                <a:gd name="T16" fmla="*/ 5 w 39"/>
                <a:gd name="T17" fmla="*/ 18 h 38"/>
                <a:gd name="T18" fmla="*/ 18 w 39"/>
                <a:gd name="T19" fmla="*/ 14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38">
                  <a:moveTo>
                    <a:pt x="39" y="29"/>
                  </a:moveTo>
                  <a:lnTo>
                    <a:pt x="39" y="29"/>
                  </a:lnTo>
                  <a:lnTo>
                    <a:pt x="29" y="0"/>
                  </a:lnTo>
                  <a:lnTo>
                    <a:pt x="0" y="0"/>
                  </a:lnTo>
                  <a:lnTo>
                    <a:pt x="0" y="38"/>
                  </a:lnTo>
                  <a:lnTo>
                    <a:pt x="10" y="38"/>
                  </a:lnTo>
                  <a:lnTo>
                    <a:pt x="0" y="38"/>
                  </a:lnTo>
                  <a:lnTo>
                    <a:pt x="10" y="38"/>
                  </a:lnTo>
                  <a:lnTo>
                    <a:pt x="39" y="2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1" name="Freeform 81"/>
            <p:cNvSpPr>
              <a:spLocks/>
            </p:cNvSpPr>
            <p:nvPr/>
          </p:nvSpPr>
          <p:spPr bwMode="auto">
            <a:xfrm>
              <a:off x="4444" y="1278"/>
              <a:ext cx="18" cy="22"/>
            </a:xfrm>
            <a:custGeom>
              <a:avLst/>
              <a:gdLst>
                <a:gd name="T0" fmla="*/ 18 w 39"/>
                <a:gd name="T1" fmla="*/ 18 h 48"/>
                <a:gd name="T2" fmla="*/ 18 w 39"/>
                <a:gd name="T3" fmla="*/ 18 h 48"/>
                <a:gd name="T4" fmla="*/ 13 w 39"/>
                <a:gd name="T5" fmla="*/ 0 h 48"/>
                <a:gd name="T6" fmla="*/ 0 w 39"/>
                <a:gd name="T7" fmla="*/ 4 h 48"/>
                <a:gd name="T8" fmla="*/ 5 w 39"/>
                <a:gd name="T9" fmla="*/ 22 h 48"/>
                <a:gd name="T10" fmla="*/ 5 w 39"/>
                <a:gd name="T11" fmla="*/ 22 h 48"/>
                <a:gd name="T12" fmla="*/ 5 w 39"/>
                <a:gd name="T13" fmla="*/ 22 h 48"/>
                <a:gd name="T14" fmla="*/ 5 w 39"/>
                <a:gd name="T15" fmla="*/ 22 h 48"/>
                <a:gd name="T16" fmla="*/ 5 w 39"/>
                <a:gd name="T17" fmla="*/ 22 h 48"/>
                <a:gd name="T18" fmla="*/ 18 w 39"/>
                <a:gd name="T19" fmla="*/ 18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48">
                  <a:moveTo>
                    <a:pt x="39" y="39"/>
                  </a:moveTo>
                  <a:lnTo>
                    <a:pt x="39" y="39"/>
                  </a:lnTo>
                  <a:lnTo>
                    <a:pt x="29" y="0"/>
                  </a:lnTo>
                  <a:lnTo>
                    <a:pt x="0" y="9"/>
                  </a:lnTo>
                  <a:lnTo>
                    <a:pt x="10" y="48"/>
                  </a:lnTo>
                  <a:lnTo>
                    <a:pt x="39" y="3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2" name="Freeform 82"/>
            <p:cNvSpPr>
              <a:spLocks/>
            </p:cNvSpPr>
            <p:nvPr/>
          </p:nvSpPr>
          <p:spPr bwMode="auto">
            <a:xfrm>
              <a:off x="4448" y="1296"/>
              <a:ext cx="18" cy="23"/>
            </a:xfrm>
            <a:custGeom>
              <a:avLst/>
              <a:gdLst>
                <a:gd name="T0" fmla="*/ 18 w 38"/>
                <a:gd name="T1" fmla="*/ 14 h 48"/>
                <a:gd name="T2" fmla="*/ 18 w 38"/>
                <a:gd name="T3" fmla="*/ 14 h 48"/>
                <a:gd name="T4" fmla="*/ 14 w 38"/>
                <a:gd name="T5" fmla="*/ 0 h 48"/>
                <a:gd name="T6" fmla="*/ 0 w 38"/>
                <a:gd name="T7" fmla="*/ 4 h 48"/>
                <a:gd name="T8" fmla="*/ 4 w 38"/>
                <a:gd name="T9" fmla="*/ 23 h 48"/>
                <a:gd name="T10" fmla="*/ 4 w 38"/>
                <a:gd name="T11" fmla="*/ 23 h 48"/>
                <a:gd name="T12" fmla="*/ 4 w 38"/>
                <a:gd name="T13" fmla="*/ 23 h 48"/>
                <a:gd name="T14" fmla="*/ 4 w 38"/>
                <a:gd name="T15" fmla="*/ 23 h 48"/>
                <a:gd name="T16" fmla="*/ 4 w 38"/>
                <a:gd name="T17" fmla="*/ 23 h 48"/>
                <a:gd name="T18" fmla="*/ 18 w 38"/>
                <a:gd name="T19" fmla="*/ 14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48">
                  <a:moveTo>
                    <a:pt x="38" y="29"/>
                  </a:moveTo>
                  <a:lnTo>
                    <a:pt x="38" y="29"/>
                  </a:lnTo>
                  <a:lnTo>
                    <a:pt x="29" y="0"/>
                  </a:lnTo>
                  <a:lnTo>
                    <a:pt x="0" y="9"/>
                  </a:lnTo>
                  <a:lnTo>
                    <a:pt x="9" y="48"/>
                  </a:lnTo>
                  <a:lnTo>
                    <a:pt x="38" y="2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3" name="Freeform 83"/>
            <p:cNvSpPr>
              <a:spLocks/>
            </p:cNvSpPr>
            <p:nvPr/>
          </p:nvSpPr>
          <p:spPr bwMode="auto">
            <a:xfrm>
              <a:off x="4452" y="1310"/>
              <a:ext cx="24" cy="22"/>
            </a:xfrm>
            <a:custGeom>
              <a:avLst/>
              <a:gdLst>
                <a:gd name="T0" fmla="*/ 24 w 49"/>
                <a:gd name="T1" fmla="*/ 18 h 48"/>
                <a:gd name="T2" fmla="*/ 24 w 49"/>
                <a:gd name="T3" fmla="*/ 18 h 48"/>
                <a:gd name="T4" fmla="*/ 14 w 49"/>
                <a:gd name="T5" fmla="*/ 0 h 48"/>
                <a:gd name="T6" fmla="*/ 0 w 49"/>
                <a:gd name="T7" fmla="*/ 9 h 48"/>
                <a:gd name="T8" fmla="*/ 10 w 49"/>
                <a:gd name="T9" fmla="*/ 22 h 48"/>
                <a:gd name="T10" fmla="*/ 10 w 49"/>
                <a:gd name="T11" fmla="*/ 22 h 48"/>
                <a:gd name="T12" fmla="*/ 10 w 49"/>
                <a:gd name="T13" fmla="*/ 22 h 48"/>
                <a:gd name="T14" fmla="*/ 10 w 49"/>
                <a:gd name="T15" fmla="*/ 22 h 48"/>
                <a:gd name="T16" fmla="*/ 10 w 49"/>
                <a:gd name="T17" fmla="*/ 22 h 48"/>
                <a:gd name="T18" fmla="*/ 24 w 49"/>
                <a:gd name="T19" fmla="*/ 18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48">
                  <a:moveTo>
                    <a:pt x="49" y="39"/>
                  </a:moveTo>
                  <a:lnTo>
                    <a:pt x="49" y="39"/>
                  </a:lnTo>
                  <a:lnTo>
                    <a:pt x="29" y="0"/>
                  </a:lnTo>
                  <a:lnTo>
                    <a:pt x="0" y="19"/>
                  </a:lnTo>
                  <a:lnTo>
                    <a:pt x="20" y="48"/>
                  </a:lnTo>
                  <a:lnTo>
                    <a:pt x="49" y="3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4" name="Freeform 84"/>
            <p:cNvSpPr>
              <a:spLocks/>
            </p:cNvSpPr>
            <p:nvPr/>
          </p:nvSpPr>
          <p:spPr bwMode="auto">
            <a:xfrm>
              <a:off x="4462" y="1328"/>
              <a:ext cx="23" cy="23"/>
            </a:xfrm>
            <a:custGeom>
              <a:avLst/>
              <a:gdLst>
                <a:gd name="T0" fmla="*/ 23 w 48"/>
                <a:gd name="T1" fmla="*/ 14 h 48"/>
                <a:gd name="T2" fmla="*/ 23 w 48"/>
                <a:gd name="T3" fmla="*/ 14 h 48"/>
                <a:gd name="T4" fmla="*/ 14 w 48"/>
                <a:gd name="T5" fmla="*/ 0 h 48"/>
                <a:gd name="T6" fmla="*/ 0 w 48"/>
                <a:gd name="T7" fmla="*/ 4 h 48"/>
                <a:gd name="T8" fmla="*/ 9 w 48"/>
                <a:gd name="T9" fmla="*/ 19 h 48"/>
                <a:gd name="T10" fmla="*/ 9 w 48"/>
                <a:gd name="T11" fmla="*/ 23 h 48"/>
                <a:gd name="T12" fmla="*/ 9 w 48"/>
                <a:gd name="T13" fmla="*/ 19 h 48"/>
                <a:gd name="T14" fmla="*/ 9 w 48"/>
                <a:gd name="T15" fmla="*/ 23 h 48"/>
                <a:gd name="T16" fmla="*/ 9 w 48"/>
                <a:gd name="T17" fmla="*/ 23 h 48"/>
                <a:gd name="T18" fmla="*/ 23 w 48"/>
                <a:gd name="T19" fmla="*/ 14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8" h="48">
                  <a:moveTo>
                    <a:pt x="48" y="29"/>
                  </a:moveTo>
                  <a:lnTo>
                    <a:pt x="48" y="29"/>
                  </a:lnTo>
                  <a:lnTo>
                    <a:pt x="29" y="0"/>
                  </a:lnTo>
                  <a:lnTo>
                    <a:pt x="0" y="9"/>
                  </a:lnTo>
                  <a:lnTo>
                    <a:pt x="19" y="39"/>
                  </a:lnTo>
                  <a:lnTo>
                    <a:pt x="19" y="48"/>
                  </a:lnTo>
                  <a:lnTo>
                    <a:pt x="19" y="39"/>
                  </a:lnTo>
                  <a:lnTo>
                    <a:pt x="19" y="48"/>
                  </a:lnTo>
                  <a:lnTo>
                    <a:pt x="48" y="2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5" name="Freeform 85"/>
            <p:cNvSpPr>
              <a:spLocks/>
            </p:cNvSpPr>
            <p:nvPr/>
          </p:nvSpPr>
          <p:spPr bwMode="auto">
            <a:xfrm>
              <a:off x="4471" y="1342"/>
              <a:ext cx="23" cy="22"/>
            </a:xfrm>
            <a:custGeom>
              <a:avLst/>
              <a:gdLst>
                <a:gd name="T0" fmla="*/ 23 w 49"/>
                <a:gd name="T1" fmla="*/ 9 h 48"/>
                <a:gd name="T2" fmla="*/ 23 w 49"/>
                <a:gd name="T3" fmla="*/ 13 h 48"/>
                <a:gd name="T4" fmla="*/ 14 w 49"/>
                <a:gd name="T5" fmla="*/ 0 h 48"/>
                <a:gd name="T6" fmla="*/ 0 w 49"/>
                <a:gd name="T7" fmla="*/ 9 h 48"/>
                <a:gd name="T8" fmla="*/ 14 w 49"/>
                <a:gd name="T9" fmla="*/ 22 h 48"/>
                <a:gd name="T10" fmla="*/ 14 w 49"/>
                <a:gd name="T11" fmla="*/ 22 h 48"/>
                <a:gd name="T12" fmla="*/ 14 w 49"/>
                <a:gd name="T13" fmla="*/ 22 h 48"/>
                <a:gd name="T14" fmla="*/ 14 w 49"/>
                <a:gd name="T15" fmla="*/ 22 h 48"/>
                <a:gd name="T16" fmla="*/ 14 w 49"/>
                <a:gd name="T17" fmla="*/ 22 h 48"/>
                <a:gd name="T18" fmla="*/ 23 w 49"/>
                <a:gd name="T19" fmla="*/ 9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48">
                  <a:moveTo>
                    <a:pt x="49" y="19"/>
                  </a:moveTo>
                  <a:lnTo>
                    <a:pt x="49" y="29"/>
                  </a:lnTo>
                  <a:lnTo>
                    <a:pt x="29" y="0"/>
                  </a:lnTo>
                  <a:lnTo>
                    <a:pt x="0" y="19"/>
                  </a:lnTo>
                  <a:lnTo>
                    <a:pt x="29" y="48"/>
                  </a:lnTo>
                  <a:lnTo>
                    <a:pt x="49" y="1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Freeform 86"/>
            <p:cNvSpPr>
              <a:spLocks/>
            </p:cNvSpPr>
            <p:nvPr/>
          </p:nvSpPr>
          <p:spPr bwMode="auto">
            <a:xfrm>
              <a:off x="4485" y="1351"/>
              <a:ext cx="23" cy="28"/>
            </a:xfrm>
            <a:custGeom>
              <a:avLst/>
              <a:gdLst>
                <a:gd name="T0" fmla="*/ 18 w 49"/>
                <a:gd name="T1" fmla="*/ 14 h 59"/>
                <a:gd name="T2" fmla="*/ 23 w 49"/>
                <a:gd name="T3" fmla="*/ 14 h 59"/>
                <a:gd name="T4" fmla="*/ 9 w 49"/>
                <a:gd name="T5" fmla="*/ 0 h 59"/>
                <a:gd name="T6" fmla="*/ 0 w 49"/>
                <a:gd name="T7" fmla="*/ 14 h 59"/>
                <a:gd name="T8" fmla="*/ 9 w 49"/>
                <a:gd name="T9" fmla="*/ 23 h 59"/>
                <a:gd name="T10" fmla="*/ 9 w 49"/>
                <a:gd name="T11" fmla="*/ 28 h 59"/>
                <a:gd name="T12" fmla="*/ 9 w 49"/>
                <a:gd name="T13" fmla="*/ 23 h 59"/>
                <a:gd name="T14" fmla="*/ 9 w 49"/>
                <a:gd name="T15" fmla="*/ 28 h 59"/>
                <a:gd name="T16" fmla="*/ 9 w 49"/>
                <a:gd name="T17" fmla="*/ 28 h 59"/>
                <a:gd name="T18" fmla="*/ 18 w 49"/>
                <a:gd name="T19" fmla="*/ 14 h 5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59">
                  <a:moveTo>
                    <a:pt x="39" y="29"/>
                  </a:moveTo>
                  <a:lnTo>
                    <a:pt x="49" y="29"/>
                  </a:lnTo>
                  <a:lnTo>
                    <a:pt x="20" y="0"/>
                  </a:lnTo>
                  <a:lnTo>
                    <a:pt x="0" y="29"/>
                  </a:lnTo>
                  <a:lnTo>
                    <a:pt x="20" y="49"/>
                  </a:lnTo>
                  <a:lnTo>
                    <a:pt x="20" y="59"/>
                  </a:lnTo>
                  <a:lnTo>
                    <a:pt x="20" y="49"/>
                  </a:lnTo>
                  <a:lnTo>
                    <a:pt x="20" y="59"/>
                  </a:lnTo>
                  <a:lnTo>
                    <a:pt x="39" y="2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7" name="Freeform 87"/>
            <p:cNvSpPr>
              <a:spLocks/>
            </p:cNvSpPr>
            <p:nvPr/>
          </p:nvSpPr>
          <p:spPr bwMode="auto">
            <a:xfrm>
              <a:off x="4494" y="1364"/>
              <a:ext cx="23" cy="24"/>
            </a:xfrm>
            <a:custGeom>
              <a:avLst/>
              <a:gdLst>
                <a:gd name="T0" fmla="*/ 23 w 48"/>
                <a:gd name="T1" fmla="*/ 15 h 49"/>
                <a:gd name="T2" fmla="*/ 23 w 48"/>
                <a:gd name="T3" fmla="*/ 15 h 49"/>
                <a:gd name="T4" fmla="*/ 9 w 48"/>
                <a:gd name="T5" fmla="*/ 0 h 49"/>
                <a:gd name="T6" fmla="*/ 0 w 48"/>
                <a:gd name="T7" fmla="*/ 15 h 49"/>
                <a:gd name="T8" fmla="*/ 14 w 48"/>
                <a:gd name="T9" fmla="*/ 24 h 49"/>
                <a:gd name="T10" fmla="*/ 14 w 48"/>
                <a:gd name="T11" fmla="*/ 24 h 49"/>
                <a:gd name="T12" fmla="*/ 14 w 48"/>
                <a:gd name="T13" fmla="*/ 24 h 49"/>
                <a:gd name="T14" fmla="*/ 14 w 48"/>
                <a:gd name="T15" fmla="*/ 24 h 49"/>
                <a:gd name="T16" fmla="*/ 14 w 48"/>
                <a:gd name="T17" fmla="*/ 24 h 49"/>
                <a:gd name="T18" fmla="*/ 23 w 48"/>
                <a:gd name="T19" fmla="*/ 15 h 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8" h="49">
                  <a:moveTo>
                    <a:pt x="48" y="30"/>
                  </a:moveTo>
                  <a:lnTo>
                    <a:pt x="48" y="30"/>
                  </a:lnTo>
                  <a:lnTo>
                    <a:pt x="19" y="0"/>
                  </a:lnTo>
                  <a:lnTo>
                    <a:pt x="0" y="30"/>
                  </a:lnTo>
                  <a:lnTo>
                    <a:pt x="29" y="49"/>
                  </a:lnTo>
                  <a:lnTo>
                    <a:pt x="48" y="3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8" name="Freeform 88"/>
            <p:cNvSpPr>
              <a:spLocks/>
            </p:cNvSpPr>
            <p:nvPr/>
          </p:nvSpPr>
          <p:spPr bwMode="auto">
            <a:xfrm>
              <a:off x="4508" y="1379"/>
              <a:ext cx="23" cy="22"/>
            </a:xfrm>
            <a:custGeom>
              <a:avLst/>
              <a:gdLst>
                <a:gd name="T0" fmla="*/ 23 w 49"/>
                <a:gd name="T1" fmla="*/ 9 h 48"/>
                <a:gd name="T2" fmla="*/ 23 w 49"/>
                <a:gd name="T3" fmla="*/ 9 h 48"/>
                <a:gd name="T4" fmla="*/ 9 w 49"/>
                <a:gd name="T5" fmla="*/ 0 h 48"/>
                <a:gd name="T6" fmla="*/ 0 w 49"/>
                <a:gd name="T7" fmla="*/ 9 h 48"/>
                <a:gd name="T8" fmla="*/ 14 w 49"/>
                <a:gd name="T9" fmla="*/ 17 h 48"/>
                <a:gd name="T10" fmla="*/ 14 w 49"/>
                <a:gd name="T11" fmla="*/ 22 h 48"/>
                <a:gd name="T12" fmla="*/ 14 w 49"/>
                <a:gd name="T13" fmla="*/ 17 h 48"/>
                <a:gd name="T14" fmla="*/ 14 w 49"/>
                <a:gd name="T15" fmla="*/ 17 h 48"/>
                <a:gd name="T16" fmla="*/ 14 w 49"/>
                <a:gd name="T17" fmla="*/ 22 h 48"/>
                <a:gd name="T18" fmla="*/ 23 w 49"/>
                <a:gd name="T19" fmla="*/ 9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48">
                  <a:moveTo>
                    <a:pt x="49" y="19"/>
                  </a:moveTo>
                  <a:lnTo>
                    <a:pt x="49" y="19"/>
                  </a:lnTo>
                  <a:lnTo>
                    <a:pt x="19" y="0"/>
                  </a:lnTo>
                  <a:lnTo>
                    <a:pt x="0" y="19"/>
                  </a:lnTo>
                  <a:lnTo>
                    <a:pt x="29" y="38"/>
                  </a:lnTo>
                  <a:lnTo>
                    <a:pt x="29" y="48"/>
                  </a:lnTo>
                  <a:lnTo>
                    <a:pt x="29" y="38"/>
                  </a:lnTo>
                  <a:lnTo>
                    <a:pt x="29" y="48"/>
                  </a:lnTo>
                  <a:lnTo>
                    <a:pt x="49" y="1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9" name="Freeform 89"/>
            <p:cNvSpPr>
              <a:spLocks/>
            </p:cNvSpPr>
            <p:nvPr/>
          </p:nvSpPr>
          <p:spPr bwMode="auto">
            <a:xfrm>
              <a:off x="4521" y="1388"/>
              <a:ext cx="24" cy="23"/>
            </a:xfrm>
            <a:custGeom>
              <a:avLst/>
              <a:gdLst>
                <a:gd name="T0" fmla="*/ 24 w 49"/>
                <a:gd name="T1" fmla="*/ 9 h 49"/>
                <a:gd name="T2" fmla="*/ 24 w 49"/>
                <a:gd name="T3" fmla="*/ 9 h 49"/>
                <a:gd name="T4" fmla="*/ 10 w 49"/>
                <a:gd name="T5" fmla="*/ 0 h 49"/>
                <a:gd name="T6" fmla="*/ 0 w 49"/>
                <a:gd name="T7" fmla="*/ 14 h 49"/>
                <a:gd name="T8" fmla="*/ 14 w 49"/>
                <a:gd name="T9" fmla="*/ 23 h 49"/>
                <a:gd name="T10" fmla="*/ 14 w 49"/>
                <a:gd name="T11" fmla="*/ 23 h 49"/>
                <a:gd name="T12" fmla="*/ 14 w 49"/>
                <a:gd name="T13" fmla="*/ 23 h 49"/>
                <a:gd name="T14" fmla="*/ 14 w 49"/>
                <a:gd name="T15" fmla="*/ 23 h 49"/>
                <a:gd name="T16" fmla="*/ 14 w 49"/>
                <a:gd name="T17" fmla="*/ 23 h 49"/>
                <a:gd name="T18" fmla="*/ 24 w 49"/>
                <a:gd name="T19" fmla="*/ 9 h 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49">
                  <a:moveTo>
                    <a:pt x="49" y="19"/>
                  </a:moveTo>
                  <a:lnTo>
                    <a:pt x="49" y="19"/>
                  </a:lnTo>
                  <a:lnTo>
                    <a:pt x="20" y="0"/>
                  </a:lnTo>
                  <a:lnTo>
                    <a:pt x="0" y="29"/>
                  </a:lnTo>
                  <a:lnTo>
                    <a:pt x="29" y="49"/>
                  </a:lnTo>
                  <a:lnTo>
                    <a:pt x="49" y="1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Freeform 90"/>
            <p:cNvSpPr>
              <a:spLocks/>
            </p:cNvSpPr>
            <p:nvPr/>
          </p:nvSpPr>
          <p:spPr bwMode="auto">
            <a:xfrm>
              <a:off x="4535" y="1396"/>
              <a:ext cx="23" cy="19"/>
            </a:xfrm>
            <a:custGeom>
              <a:avLst/>
              <a:gdLst>
                <a:gd name="T0" fmla="*/ 23 w 49"/>
                <a:gd name="T1" fmla="*/ 5 h 39"/>
                <a:gd name="T2" fmla="*/ 23 w 49"/>
                <a:gd name="T3" fmla="*/ 5 h 39"/>
                <a:gd name="T4" fmla="*/ 9 w 49"/>
                <a:gd name="T5" fmla="*/ 0 h 39"/>
                <a:gd name="T6" fmla="*/ 0 w 49"/>
                <a:gd name="T7" fmla="*/ 15 h 39"/>
                <a:gd name="T8" fmla="*/ 18 w 49"/>
                <a:gd name="T9" fmla="*/ 19 h 39"/>
                <a:gd name="T10" fmla="*/ 18 w 49"/>
                <a:gd name="T11" fmla="*/ 19 h 39"/>
                <a:gd name="T12" fmla="*/ 18 w 49"/>
                <a:gd name="T13" fmla="*/ 19 h 39"/>
                <a:gd name="T14" fmla="*/ 18 w 49"/>
                <a:gd name="T15" fmla="*/ 19 h 39"/>
                <a:gd name="T16" fmla="*/ 18 w 49"/>
                <a:gd name="T17" fmla="*/ 19 h 39"/>
                <a:gd name="T18" fmla="*/ 23 w 49"/>
                <a:gd name="T19" fmla="*/ 5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39">
                  <a:moveTo>
                    <a:pt x="49" y="10"/>
                  </a:moveTo>
                  <a:lnTo>
                    <a:pt x="49" y="10"/>
                  </a:lnTo>
                  <a:lnTo>
                    <a:pt x="20" y="0"/>
                  </a:lnTo>
                  <a:lnTo>
                    <a:pt x="0" y="30"/>
                  </a:lnTo>
                  <a:lnTo>
                    <a:pt x="39" y="39"/>
                  </a:lnTo>
                  <a:lnTo>
                    <a:pt x="49" y="1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1" name="Freeform 91"/>
            <p:cNvSpPr>
              <a:spLocks/>
            </p:cNvSpPr>
            <p:nvPr/>
          </p:nvSpPr>
          <p:spPr bwMode="auto">
            <a:xfrm>
              <a:off x="4554" y="1401"/>
              <a:ext cx="23" cy="23"/>
            </a:xfrm>
            <a:custGeom>
              <a:avLst/>
              <a:gdLst>
                <a:gd name="T0" fmla="*/ 23 w 49"/>
                <a:gd name="T1" fmla="*/ 9 h 49"/>
                <a:gd name="T2" fmla="*/ 23 w 49"/>
                <a:gd name="T3" fmla="*/ 9 h 49"/>
                <a:gd name="T4" fmla="*/ 5 w 49"/>
                <a:gd name="T5" fmla="*/ 0 h 49"/>
                <a:gd name="T6" fmla="*/ 0 w 49"/>
                <a:gd name="T7" fmla="*/ 14 h 49"/>
                <a:gd name="T8" fmla="*/ 14 w 49"/>
                <a:gd name="T9" fmla="*/ 23 h 49"/>
                <a:gd name="T10" fmla="*/ 18 w 49"/>
                <a:gd name="T11" fmla="*/ 23 h 49"/>
                <a:gd name="T12" fmla="*/ 14 w 49"/>
                <a:gd name="T13" fmla="*/ 23 h 49"/>
                <a:gd name="T14" fmla="*/ 14 w 49"/>
                <a:gd name="T15" fmla="*/ 23 h 49"/>
                <a:gd name="T16" fmla="*/ 18 w 49"/>
                <a:gd name="T17" fmla="*/ 23 h 49"/>
                <a:gd name="T18" fmla="*/ 23 w 49"/>
                <a:gd name="T19" fmla="*/ 9 h 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49">
                  <a:moveTo>
                    <a:pt x="49" y="20"/>
                  </a:moveTo>
                  <a:lnTo>
                    <a:pt x="49" y="20"/>
                  </a:lnTo>
                  <a:lnTo>
                    <a:pt x="10" y="0"/>
                  </a:lnTo>
                  <a:lnTo>
                    <a:pt x="0" y="29"/>
                  </a:lnTo>
                  <a:lnTo>
                    <a:pt x="29" y="49"/>
                  </a:lnTo>
                  <a:lnTo>
                    <a:pt x="39" y="49"/>
                  </a:lnTo>
                  <a:lnTo>
                    <a:pt x="29" y="49"/>
                  </a:lnTo>
                  <a:lnTo>
                    <a:pt x="39" y="49"/>
                  </a:lnTo>
                  <a:lnTo>
                    <a:pt x="49" y="2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2" name="Freeform 92"/>
            <p:cNvSpPr>
              <a:spLocks/>
            </p:cNvSpPr>
            <p:nvPr/>
          </p:nvSpPr>
          <p:spPr bwMode="auto">
            <a:xfrm>
              <a:off x="4572" y="1411"/>
              <a:ext cx="18" cy="18"/>
            </a:xfrm>
            <a:custGeom>
              <a:avLst/>
              <a:gdLst>
                <a:gd name="T0" fmla="*/ 18 w 39"/>
                <a:gd name="T1" fmla="*/ 4 h 39"/>
                <a:gd name="T2" fmla="*/ 18 w 39"/>
                <a:gd name="T3" fmla="*/ 4 h 39"/>
                <a:gd name="T4" fmla="*/ 5 w 39"/>
                <a:gd name="T5" fmla="*/ 0 h 39"/>
                <a:gd name="T6" fmla="*/ 0 w 39"/>
                <a:gd name="T7" fmla="*/ 13 h 39"/>
                <a:gd name="T8" fmla="*/ 13 w 39"/>
                <a:gd name="T9" fmla="*/ 18 h 39"/>
                <a:gd name="T10" fmla="*/ 13 w 39"/>
                <a:gd name="T11" fmla="*/ 18 h 39"/>
                <a:gd name="T12" fmla="*/ 13 w 39"/>
                <a:gd name="T13" fmla="*/ 18 h 39"/>
                <a:gd name="T14" fmla="*/ 13 w 39"/>
                <a:gd name="T15" fmla="*/ 18 h 39"/>
                <a:gd name="T16" fmla="*/ 13 w 39"/>
                <a:gd name="T17" fmla="*/ 18 h 39"/>
                <a:gd name="T18" fmla="*/ 18 w 39"/>
                <a:gd name="T19" fmla="*/ 4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39">
                  <a:moveTo>
                    <a:pt x="39" y="9"/>
                  </a:moveTo>
                  <a:lnTo>
                    <a:pt x="39" y="9"/>
                  </a:lnTo>
                  <a:lnTo>
                    <a:pt x="10" y="0"/>
                  </a:lnTo>
                  <a:lnTo>
                    <a:pt x="0" y="29"/>
                  </a:lnTo>
                  <a:lnTo>
                    <a:pt x="29" y="39"/>
                  </a:lnTo>
                  <a:lnTo>
                    <a:pt x="39" y="9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3" name="Freeform 93"/>
            <p:cNvSpPr>
              <a:spLocks/>
            </p:cNvSpPr>
            <p:nvPr/>
          </p:nvSpPr>
          <p:spPr bwMode="auto">
            <a:xfrm>
              <a:off x="4586" y="1415"/>
              <a:ext cx="23" cy="18"/>
            </a:xfrm>
            <a:custGeom>
              <a:avLst/>
              <a:gdLst>
                <a:gd name="T0" fmla="*/ 23 w 49"/>
                <a:gd name="T1" fmla="*/ 5 h 39"/>
                <a:gd name="T2" fmla="*/ 23 w 49"/>
                <a:gd name="T3" fmla="*/ 5 h 39"/>
                <a:gd name="T4" fmla="*/ 5 w 49"/>
                <a:gd name="T5" fmla="*/ 0 h 39"/>
                <a:gd name="T6" fmla="*/ 0 w 49"/>
                <a:gd name="T7" fmla="*/ 14 h 39"/>
                <a:gd name="T8" fmla="*/ 18 w 49"/>
                <a:gd name="T9" fmla="*/ 18 h 39"/>
                <a:gd name="T10" fmla="*/ 18 w 49"/>
                <a:gd name="T11" fmla="*/ 18 h 39"/>
                <a:gd name="T12" fmla="*/ 18 w 49"/>
                <a:gd name="T13" fmla="*/ 18 h 39"/>
                <a:gd name="T14" fmla="*/ 18 w 49"/>
                <a:gd name="T15" fmla="*/ 18 h 39"/>
                <a:gd name="T16" fmla="*/ 18 w 49"/>
                <a:gd name="T17" fmla="*/ 18 h 39"/>
                <a:gd name="T18" fmla="*/ 23 w 49"/>
                <a:gd name="T19" fmla="*/ 5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39">
                  <a:moveTo>
                    <a:pt x="49" y="10"/>
                  </a:moveTo>
                  <a:lnTo>
                    <a:pt x="49" y="10"/>
                  </a:lnTo>
                  <a:lnTo>
                    <a:pt x="10" y="0"/>
                  </a:lnTo>
                  <a:lnTo>
                    <a:pt x="0" y="30"/>
                  </a:lnTo>
                  <a:lnTo>
                    <a:pt x="39" y="39"/>
                  </a:lnTo>
                  <a:lnTo>
                    <a:pt x="49" y="1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Freeform 94"/>
            <p:cNvSpPr>
              <a:spLocks/>
            </p:cNvSpPr>
            <p:nvPr/>
          </p:nvSpPr>
          <p:spPr bwMode="auto">
            <a:xfrm>
              <a:off x="4604" y="1420"/>
              <a:ext cx="18" cy="18"/>
            </a:xfrm>
            <a:custGeom>
              <a:avLst/>
              <a:gdLst>
                <a:gd name="T0" fmla="*/ 18 w 39"/>
                <a:gd name="T1" fmla="*/ 0 h 39"/>
                <a:gd name="T2" fmla="*/ 18 w 39"/>
                <a:gd name="T3" fmla="*/ 0 h 39"/>
                <a:gd name="T4" fmla="*/ 5 w 39"/>
                <a:gd name="T5" fmla="*/ 0 h 39"/>
                <a:gd name="T6" fmla="*/ 0 w 39"/>
                <a:gd name="T7" fmla="*/ 13 h 39"/>
                <a:gd name="T8" fmla="*/ 18 w 39"/>
                <a:gd name="T9" fmla="*/ 18 h 39"/>
                <a:gd name="T10" fmla="*/ 18 w 39"/>
                <a:gd name="T11" fmla="*/ 18 h 39"/>
                <a:gd name="T12" fmla="*/ 18 w 39"/>
                <a:gd name="T13" fmla="*/ 18 h 39"/>
                <a:gd name="T14" fmla="*/ 18 w 39"/>
                <a:gd name="T15" fmla="*/ 18 h 39"/>
                <a:gd name="T16" fmla="*/ 18 w 39"/>
                <a:gd name="T17" fmla="*/ 18 h 39"/>
                <a:gd name="T18" fmla="*/ 18 w 39"/>
                <a:gd name="T19" fmla="*/ 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39">
                  <a:moveTo>
                    <a:pt x="39" y="0"/>
                  </a:moveTo>
                  <a:lnTo>
                    <a:pt x="39" y="0"/>
                  </a:lnTo>
                  <a:lnTo>
                    <a:pt x="10" y="0"/>
                  </a:lnTo>
                  <a:lnTo>
                    <a:pt x="0" y="29"/>
                  </a:lnTo>
                  <a:lnTo>
                    <a:pt x="39" y="39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5" name="Freeform 95"/>
            <p:cNvSpPr>
              <a:spLocks/>
            </p:cNvSpPr>
            <p:nvPr/>
          </p:nvSpPr>
          <p:spPr bwMode="auto">
            <a:xfrm>
              <a:off x="4622" y="1420"/>
              <a:ext cx="19" cy="18"/>
            </a:xfrm>
            <a:custGeom>
              <a:avLst/>
              <a:gdLst>
                <a:gd name="T0" fmla="*/ 19 w 39"/>
                <a:gd name="T1" fmla="*/ 0 h 39"/>
                <a:gd name="T2" fmla="*/ 19 w 39"/>
                <a:gd name="T3" fmla="*/ 0 h 39"/>
                <a:gd name="T4" fmla="*/ 0 w 39"/>
                <a:gd name="T5" fmla="*/ 0 h 39"/>
                <a:gd name="T6" fmla="*/ 0 w 39"/>
                <a:gd name="T7" fmla="*/ 18 h 39"/>
                <a:gd name="T8" fmla="*/ 19 w 39"/>
                <a:gd name="T9" fmla="*/ 18 h 39"/>
                <a:gd name="T10" fmla="*/ 19 w 39"/>
                <a:gd name="T11" fmla="*/ 18 h 39"/>
                <a:gd name="T12" fmla="*/ 19 w 39"/>
                <a:gd name="T13" fmla="*/ 18 h 39"/>
                <a:gd name="T14" fmla="*/ 19 w 39"/>
                <a:gd name="T15" fmla="*/ 18 h 39"/>
                <a:gd name="T16" fmla="*/ 19 w 39"/>
                <a:gd name="T17" fmla="*/ 18 h 39"/>
                <a:gd name="T18" fmla="*/ 19 w 39"/>
                <a:gd name="T19" fmla="*/ 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39">
                  <a:moveTo>
                    <a:pt x="39" y="0"/>
                  </a:moveTo>
                  <a:lnTo>
                    <a:pt x="39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39" y="39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6" name="Freeform 96"/>
            <p:cNvSpPr>
              <a:spLocks/>
            </p:cNvSpPr>
            <p:nvPr/>
          </p:nvSpPr>
          <p:spPr bwMode="auto">
            <a:xfrm>
              <a:off x="4641" y="1420"/>
              <a:ext cx="18" cy="18"/>
            </a:xfrm>
            <a:custGeom>
              <a:avLst/>
              <a:gdLst>
                <a:gd name="T0" fmla="*/ 18 w 39"/>
                <a:gd name="T1" fmla="*/ 0 h 39"/>
                <a:gd name="T2" fmla="*/ 18 w 39"/>
                <a:gd name="T3" fmla="*/ 0 h 39"/>
                <a:gd name="T4" fmla="*/ 0 w 39"/>
                <a:gd name="T5" fmla="*/ 0 h 39"/>
                <a:gd name="T6" fmla="*/ 0 w 39"/>
                <a:gd name="T7" fmla="*/ 18 h 39"/>
                <a:gd name="T8" fmla="*/ 18 w 39"/>
                <a:gd name="T9" fmla="*/ 18 h 39"/>
                <a:gd name="T10" fmla="*/ 18 w 39"/>
                <a:gd name="T11" fmla="*/ 18 h 39"/>
                <a:gd name="T12" fmla="*/ 18 w 39"/>
                <a:gd name="T13" fmla="*/ 18 h 39"/>
                <a:gd name="T14" fmla="*/ 18 w 39"/>
                <a:gd name="T15" fmla="*/ 18 h 39"/>
                <a:gd name="T16" fmla="*/ 18 w 39"/>
                <a:gd name="T17" fmla="*/ 18 h 39"/>
                <a:gd name="T18" fmla="*/ 18 w 39"/>
                <a:gd name="T19" fmla="*/ 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39">
                  <a:moveTo>
                    <a:pt x="39" y="0"/>
                  </a:moveTo>
                  <a:lnTo>
                    <a:pt x="39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39" y="39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7" name="Freeform 97"/>
            <p:cNvSpPr>
              <a:spLocks/>
            </p:cNvSpPr>
            <p:nvPr/>
          </p:nvSpPr>
          <p:spPr bwMode="auto">
            <a:xfrm>
              <a:off x="4659" y="1420"/>
              <a:ext cx="19" cy="18"/>
            </a:xfrm>
            <a:custGeom>
              <a:avLst/>
              <a:gdLst>
                <a:gd name="T0" fmla="*/ 19 w 39"/>
                <a:gd name="T1" fmla="*/ 0 h 39"/>
                <a:gd name="T2" fmla="*/ 19 w 39"/>
                <a:gd name="T3" fmla="*/ 0 h 39"/>
                <a:gd name="T4" fmla="*/ 0 w 39"/>
                <a:gd name="T5" fmla="*/ 0 h 39"/>
                <a:gd name="T6" fmla="*/ 0 w 39"/>
                <a:gd name="T7" fmla="*/ 18 h 39"/>
                <a:gd name="T8" fmla="*/ 19 w 39"/>
                <a:gd name="T9" fmla="*/ 13 h 39"/>
                <a:gd name="T10" fmla="*/ 19 w 39"/>
                <a:gd name="T11" fmla="*/ 13 h 39"/>
                <a:gd name="T12" fmla="*/ 19 w 39"/>
                <a:gd name="T13" fmla="*/ 13 h 39"/>
                <a:gd name="T14" fmla="*/ 19 w 39"/>
                <a:gd name="T15" fmla="*/ 13 h 39"/>
                <a:gd name="T16" fmla="*/ 19 w 39"/>
                <a:gd name="T17" fmla="*/ 13 h 39"/>
                <a:gd name="T18" fmla="*/ 19 w 39"/>
                <a:gd name="T19" fmla="*/ 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39">
                  <a:moveTo>
                    <a:pt x="39" y="0"/>
                  </a:moveTo>
                  <a:lnTo>
                    <a:pt x="39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39" y="29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8" name="Freeform 98"/>
            <p:cNvSpPr>
              <a:spLocks/>
            </p:cNvSpPr>
            <p:nvPr/>
          </p:nvSpPr>
          <p:spPr bwMode="auto">
            <a:xfrm>
              <a:off x="4678" y="1415"/>
              <a:ext cx="18" cy="18"/>
            </a:xfrm>
            <a:custGeom>
              <a:avLst/>
              <a:gdLst>
                <a:gd name="T0" fmla="*/ 13 w 39"/>
                <a:gd name="T1" fmla="*/ 0 h 39"/>
                <a:gd name="T2" fmla="*/ 13 w 39"/>
                <a:gd name="T3" fmla="*/ 0 h 39"/>
                <a:gd name="T4" fmla="*/ 0 w 39"/>
                <a:gd name="T5" fmla="*/ 5 h 39"/>
                <a:gd name="T6" fmla="*/ 0 w 39"/>
                <a:gd name="T7" fmla="*/ 18 h 39"/>
                <a:gd name="T8" fmla="*/ 18 w 39"/>
                <a:gd name="T9" fmla="*/ 14 h 39"/>
                <a:gd name="T10" fmla="*/ 18 w 39"/>
                <a:gd name="T11" fmla="*/ 14 h 39"/>
                <a:gd name="T12" fmla="*/ 18 w 39"/>
                <a:gd name="T13" fmla="*/ 14 h 39"/>
                <a:gd name="T14" fmla="*/ 18 w 39"/>
                <a:gd name="T15" fmla="*/ 14 h 39"/>
                <a:gd name="T16" fmla="*/ 18 w 39"/>
                <a:gd name="T17" fmla="*/ 14 h 39"/>
                <a:gd name="T18" fmla="*/ 13 w 39"/>
                <a:gd name="T19" fmla="*/ 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39">
                  <a:moveTo>
                    <a:pt x="29" y="0"/>
                  </a:moveTo>
                  <a:lnTo>
                    <a:pt x="29" y="0"/>
                  </a:lnTo>
                  <a:lnTo>
                    <a:pt x="0" y="10"/>
                  </a:lnTo>
                  <a:lnTo>
                    <a:pt x="0" y="39"/>
                  </a:lnTo>
                  <a:lnTo>
                    <a:pt x="39" y="30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9" name="Freeform 99"/>
            <p:cNvSpPr>
              <a:spLocks/>
            </p:cNvSpPr>
            <p:nvPr/>
          </p:nvSpPr>
          <p:spPr bwMode="auto">
            <a:xfrm>
              <a:off x="4691" y="1411"/>
              <a:ext cx="23" cy="18"/>
            </a:xfrm>
            <a:custGeom>
              <a:avLst/>
              <a:gdLst>
                <a:gd name="T0" fmla="*/ 19 w 48"/>
                <a:gd name="T1" fmla="*/ 0 h 39"/>
                <a:gd name="T2" fmla="*/ 19 w 48"/>
                <a:gd name="T3" fmla="*/ 0 h 39"/>
                <a:gd name="T4" fmla="*/ 0 w 48"/>
                <a:gd name="T5" fmla="*/ 4 h 39"/>
                <a:gd name="T6" fmla="*/ 5 w 48"/>
                <a:gd name="T7" fmla="*/ 18 h 39"/>
                <a:gd name="T8" fmla="*/ 23 w 48"/>
                <a:gd name="T9" fmla="*/ 13 h 39"/>
                <a:gd name="T10" fmla="*/ 23 w 48"/>
                <a:gd name="T11" fmla="*/ 13 h 39"/>
                <a:gd name="T12" fmla="*/ 23 w 48"/>
                <a:gd name="T13" fmla="*/ 13 h 39"/>
                <a:gd name="T14" fmla="*/ 23 w 48"/>
                <a:gd name="T15" fmla="*/ 13 h 39"/>
                <a:gd name="T16" fmla="*/ 23 w 48"/>
                <a:gd name="T17" fmla="*/ 13 h 39"/>
                <a:gd name="T18" fmla="*/ 19 w 48"/>
                <a:gd name="T19" fmla="*/ 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8" h="39">
                  <a:moveTo>
                    <a:pt x="39" y="0"/>
                  </a:moveTo>
                  <a:lnTo>
                    <a:pt x="39" y="0"/>
                  </a:lnTo>
                  <a:lnTo>
                    <a:pt x="0" y="9"/>
                  </a:lnTo>
                  <a:lnTo>
                    <a:pt x="10" y="39"/>
                  </a:lnTo>
                  <a:lnTo>
                    <a:pt x="48" y="29"/>
                  </a:lnTo>
                  <a:lnTo>
                    <a:pt x="3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0" name="Freeform 100"/>
            <p:cNvSpPr>
              <a:spLocks/>
            </p:cNvSpPr>
            <p:nvPr/>
          </p:nvSpPr>
          <p:spPr bwMode="auto">
            <a:xfrm>
              <a:off x="4710" y="1401"/>
              <a:ext cx="18" cy="23"/>
            </a:xfrm>
            <a:custGeom>
              <a:avLst/>
              <a:gdLst>
                <a:gd name="T0" fmla="*/ 13 w 39"/>
                <a:gd name="T1" fmla="*/ 0 h 49"/>
                <a:gd name="T2" fmla="*/ 13 w 39"/>
                <a:gd name="T3" fmla="*/ 0 h 49"/>
                <a:gd name="T4" fmla="*/ 0 w 39"/>
                <a:gd name="T5" fmla="*/ 9 h 49"/>
                <a:gd name="T6" fmla="*/ 4 w 39"/>
                <a:gd name="T7" fmla="*/ 23 h 49"/>
                <a:gd name="T8" fmla="*/ 18 w 39"/>
                <a:gd name="T9" fmla="*/ 14 h 49"/>
                <a:gd name="T10" fmla="*/ 18 w 39"/>
                <a:gd name="T11" fmla="*/ 14 h 49"/>
                <a:gd name="T12" fmla="*/ 18 w 39"/>
                <a:gd name="T13" fmla="*/ 14 h 49"/>
                <a:gd name="T14" fmla="*/ 18 w 39"/>
                <a:gd name="T15" fmla="*/ 14 h 49"/>
                <a:gd name="T16" fmla="*/ 18 w 39"/>
                <a:gd name="T17" fmla="*/ 14 h 49"/>
                <a:gd name="T18" fmla="*/ 13 w 39"/>
                <a:gd name="T19" fmla="*/ 0 h 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49">
                  <a:moveTo>
                    <a:pt x="29" y="0"/>
                  </a:moveTo>
                  <a:lnTo>
                    <a:pt x="29" y="0"/>
                  </a:lnTo>
                  <a:lnTo>
                    <a:pt x="0" y="20"/>
                  </a:lnTo>
                  <a:lnTo>
                    <a:pt x="9" y="49"/>
                  </a:lnTo>
                  <a:lnTo>
                    <a:pt x="39" y="29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1" name="Freeform 101"/>
            <p:cNvSpPr>
              <a:spLocks/>
            </p:cNvSpPr>
            <p:nvPr/>
          </p:nvSpPr>
          <p:spPr bwMode="auto">
            <a:xfrm>
              <a:off x="4723" y="1396"/>
              <a:ext cx="23" cy="19"/>
            </a:xfrm>
            <a:custGeom>
              <a:avLst/>
              <a:gdLst>
                <a:gd name="T0" fmla="*/ 14 w 48"/>
                <a:gd name="T1" fmla="*/ 0 h 39"/>
                <a:gd name="T2" fmla="*/ 14 w 48"/>
                <a:gd name="T3" fmla="*/ 0 h 39"/>
                <a:gd name="T4" fmla="*/ 0 w 48"/>
                <a:gd name="T5" fmla="*/ 5 h 39"/>
                <a:gd name="T6" fmla="*/ 5 w 48"/>
                <a:gd name="T7" fmla="*/ 19 h 39"/>
                <a:gd name="T8" fmla="*/ 23 w 48"/>
                <a:gd name="T9" fmla="*/ 15 h 39"/>
                <a:gd name="T10" fmla="*/ 23 w 48"/>
                <a:gd name="T11" fmla="*/ 15 h 39"/>
                <a:gd name="T12" fmla="*/ 23 w 48"/>
                <a:gd name="T13" fmla="*/ 15 h 39"/>
                <a:gd name="T14" fmla="*/ 23 w 48"/>
                <a:gd name="T15" fmla="*/ 15 h 39"/>
                <a:gd name="T16" fmla="*/ 23 w 48"/>
                <a:gd name="T17" fmla="*/ 15 h 39"/>
                <a:gd name="T18" fmla="*/ 14 w 48"/>
                <a:gd name="T19" fmla="*/ 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8" h="39">
                  <a:moveTo>
                    <a:pt x="29" y="0"/>
                  </a:moveTo>
                  <a:lnTo>
                    <a:pt x="29" y="0"/>
                  </a:lnTo>
                  <a:lnTo>
                    <a:pt x="0" y="10"/>
                  </a:lnTo>
                  <a:lnTo>
                    <a:pt x="10" y="39"/>
                  </a:lnTo>
                  <a:lnTo>
                    <a:pt x="48" y="30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2" name="Freeform 102"/>
            <p:cNvSpPr>
              <a:spLocks/>
            </p:cNvSpPr>
            <p:nvPr/>
          </p:nvSpPr>
          <p:spPr bwMode="auto">
            <a:xfrm>
              <a:off x="4737" y="1388"/>
              <a:ext cx="23" cy="23"/>
            </a:xfrm>
            <a:custGeom>
              <a:avLst/>
              <a:gdLst>
                <a:gd name="T0" fmla="*/ 14 w 49"/>
                <a:gd name="T1" fmla="*/ 0 h 49"/>
                <a:gd name="T2" fmla="*/ 14 w 49"/>
                <a:gd name="T3" fmla="*/ 0 h 49"/>
                <a:gd name="T4" fmla="*/ 0 w 49"/>
                <a:gd name="T5" fmla="*/ 9 h 49"/>
                <a:gd name="T6" fmla="*/ 9 w 49"/>
                <a:gd name="T7" fmla="*/ 23 h 49"/>
                <a:gd name="T8" fmla="*/ 23 w 49"/>
                <a:gd name="T9" fmla="*/ 14 h 49"/>
                <a:gd name="T10" fmla="*/ 23 w 49"/>
                <a:gd name="T11" fmla="*/ 9 h 49"/>
                <a:gd name="T12" fmla="*/ 23 w 49"/>
                <a:gd name="T13" fmla="*/ 14 h 49"/>
                <a:gd name="T14" fmla="*/ 23 w 49"/>
                <a:gd name="T15" fmla="*/ 9 h 49"/>
                <a:gd name="T16" fmla="*/ 23 w 49"/>
                <a:gd name="T17" fmla="*/ 9 h 49"/>
                <a:gd name="T18" fmla="*/ 14 w 49"/>
                <a:gd name="T19" fmla="*/ 0 h 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49">
                  <a:moveTo>
                    <a:pt x="29" y="0"/>
                  </a:moveTo>
                  <a:lnTo>
                    <a:pt x="29" y="0"/>
                  </a:lnTo>
                  <a:lnTo>
                    <a:pt x="0" y="19"/>
                  </a:lnTo>
                  <a:lnTo>
                    <a:pt x="19" y="49"/>
                  </a:lnTo>
                  <a:lnTo>
                    <a:pt x="49" y="29"/>
                  </a:lnTo>
                  <a:lnTo>
                    <a:pt x="49" y="19"/>
                  </a:lnTo>
                  <a:lnTo>
                    <a:pt x="49" y="29"/>
                  </a:lnTo>
                  <a:lnTo>
                    <a:pt x="49" y="19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3" name="Freeform 103"/>
            <p:cNvSpPr>
              <a:spLocks/>
            </p:cNvSpPr>
            <p:nvPr/>
          </p:nvSpPr>
          <p:spPr bwMode="auto">
            <a:xfrm>
              <a:off x="4751" y="1379"/>
              <a:ext cx="23" cy="17"/>
            </a:xfrm>
            <a:custGeom>
              <a:avLst/>
              <a:gdLst>
                <a:gd name="T0" fmla="*/ 14 w 49"/>
                <a:gd name="T1" fmla="*/ 0 h 38"/>
                <a:gd name="T2" fmla="*/ 14 w 49"/>
                <a:gd name="T3" fmla="*/ 0 h 38"/>
                <a:gd name="T4" fmla="*/ 0 w 49"/>
                <a:gd name="T5" fmla="*/ 9 h 38"/>
                <a:gd name="T6" fmla="*/ 9 w 49"/>
                <a:gd name="T7" fmla="*/ 17 h 38"/>
                <a:gd name="T8" fmla="*/ 23 w 49"/>
                <a:gd name="T9" fmla="*/ 9 h 38"/>
                <a:gd name="T10" fmla="*/ 23 w 49"/>
                <a:gd name="T11" fmla="*/ 9 h 38"/>
                <a:gd name="T12" fmla="*/ 23 w 49"/>
                <a:gd name="T13" fmla="*/ 9 h 38"/>
                <a:gd name="T14" fmla="*/ 23 w 49"/>
                <a:gd name="T15" fmla="*/ 9 h 38"/>
                <a:gd name="T16" fmla="*/ 23 w 49"/>
                <a:gd name="T17" fmla="*/ 9 h 38"/>
                <a:gd name="T18" fmla="*/ 14 w 49"/>
                <a:gd name="T19" fmla="*/ 0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38">
                  <a:moveTo>
                    <a:pt x="29" y="0"/>
                  </a:moveTo>
                  <a:lnTo>
                    <a:pt x="29" y="0"/>
                  </a:lnTo>
                  <a:lnTo>
                    <a:pt x="0" y="19"/>
                  </a:lnTo>
                  <a:lnTo>
                    <a:pt x="20" y="38"/>
                  </a:lnTo>
                  <a:lnTo>
                    <a:pt x="49" y="19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Freeform 104"/>
            <p:cNvSpPr>
              <a:spLocks/>
            </p:cNvSpPr>
            <p:nvPr/>
          </p:nvSpPr>
          <p:spPr bwMode="auto">
            <a:xfrm>
              <a:off x="4765" y="1364"/>
              <a:ext cx="23" cy="24"/>
            </a:xfrm>
            <a:custGeom>
              <a:avLst/>
              <a:gdLst>
                <a:gd name="T0" fmla="*/ 14 w 49"/>
                <a:gd name="T1" fmla="*/ 0 h 49"/>
                <a:gd name="T2" fmla="*/ 14 w 49"/>
                <a:gd name="T3" fmla="*/ 0 h 49"/>
                <a:gd name="T4" fmla="*/ 0 w 49"/>
                <a:gd name="T5" fmla="*/ 15 h 49"/>
                <a:gd name="T6" fmla="*/ 9 w 49"/>
                <a:gd name="T7" fmla="*/ 24 h 49"/>
                <a:gd name="T8" fmla="*/ 23 w 49"/>
                <a:gd name="T9" fmla="*/ 15 h 49"/>
                <a:gd name="T10" fmla="*/ 23 w 49"/>
                <a:gd name="T11" fmla="*/ 10 h 49"/>
                <a:gd name="T12" fmla="*/ 23 w 49"/>
                <a:gd name="T13" fmla="*/ 15 h 49"/>
                <a:gd name="T14" fmla="*/ 23 w 49"/>
                <a:gd name="T15" fmla="*/ 15 h 49"/>
                <a:gd name="T16" fmla="*/ 23 w 49"/>
                <a:gd name="T17" fmla="*/ 10 h 49"/>
                <a:gd name="T18" fmla="*/ 14 w 49"/>
                <a:gd name="T19" fmla="*/ 0 h 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49">
                  <a:moveTo>
                    <a:pt x="30" y="0"/>
                  </a:moveTo>
                  <a:lnTo>
                    <a:pt x="30" y="0"/>
                  </a:lnTo>
                  <a:lnTo>
                    <a:pt x="0" y="30"/>
                  </a:lnTo>
                  <a:lnTo>
                    <a:pt x="20" y="49"/>
                  </a:lnTo>
                  <a:lnTo>
                    <a:pt x="49" y="30"/>
                  </a:lnTo>
                  <a:lnTo>
                    <a:pt x="49" y="20"/>
                  </a:lnTo>
                  <a:lnTo>
                    <a:pt x="49" y="30"/>
                  </a:lnTo>
                  <a:lnTo>
                    <a:pt x="49" y="20"/>
                  </a:lnTo>
                  <a:lnTo>
                    <a:pt x="30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5" name="Freeform 105"/>
            <p:cNvSpPr>
              <a:spLocks/>
            </p:cNvSpPr>
            <p:nvPr/>
          </p:nvSpPr>
          <p:spPr bwMode="auto">
            <a:xfrm>
              <a:off x="4779" y="1351"/>
              <a:ext cx="22" cy="23"/>
            </a:xfrm>
            <a:custGeom>
              <a:avLst/>
              <a:gdLst>
                <a:gd name="T0" fmla="*/ 9 w 48"/>
                <a:gd name="T1" fmla="*/ 5 h 49"/>
                <a:gd name="T2" fmla="*/ 9 w 48"/>
                <a:gd name="T3" fmla="*/ 0 h 49"/>
                <a:gd name="T4" fmla="*/ 0 w 48"/>
                <a:gd name="T5" fmla="*/ 14 h 49"/>
                <a:gd name="T6" fmla="*/ 9 w 48"/>
                <a:gd name="T7" fmla="*/ 23 h 49"/>
                <a:gd name="T8" fmla="*/ 22 w 48"/>
                <a:gd name="T9" fmla="*/ 14 h 49"/>
                <a:gd name="T10" fmla="*/ 22 w 48"/>
                <a:gd name="T11" fmla="*/ 14 h 49"/>
                <a:gd name="T12" fmla="*/ 22 w 48"/>
                <a:gd name="T13" fmla="*/ 14 h 49"/>
                <a:gd name="T14" fmla="*/ 22 w 48"/>
                <a:gd name="T15" fmla="*/ 14 h 49"/>
                <a:gd name="T16" fmla="*/ 22 w 48"/>
                <a:gd name="T17" fmla="*/ 14 h 49"/>
                <a:gd name="T18" fmla="*/ 9 w 48"/>
                <a:gd name="T19" fmla="*/ 5 h 4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8" h="49">
                  <a:moveTo>
                    <a:pt x="19" y="10"/>
                  </a:moveTo>
                  <a:lnTo>
                    <a:pt x="19" y="0"/>
                  </a:lnTo>
                  <a:lnTo>
                    <a:pt x="0" y="29"/>
                  </a:lnTo>
                  <a:lnTo>
                    <a:pt x="19" y="49"/>
                  </a:lnTo>
                  <a:lnTo>
                    <a:pt x="48" y="29"/>
                  </a:lnTo>
                  <a:lnTo>
                    <a:pt x="19" y="1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6" name="Freeform 106"/>
            <p:cNvSpPr>
              <a:spLocks/>
            </p:cNvSpPr>
            <p:nvPr/>
          </p:nvSpPr>
          <p:spPr bwMode="auto">
            <a:xfrm>
              <a:off x="4788" y="1342"/>
              <a:ext cx="23" cy="22"/>
            </a:xfrm>
            <a:custGeom>
              <a:avLst/>
              <a:gdLst>
                <a:gd name="T0" fmla="*/ 9 w 49"/>
                <a:gd name="T1" fmla="*/ 0 h 48"/>
                <a:gd name="T2" fmla="*/ 9 w 49"/>
                <a:gd name="T3" fmla="*/ 0 h 48"/>
                <a:gd name="T4" fmla="*/ 0 w 49"/>
                <a:gd name="T5" fmla="*/ 13 h 48"/>
                <a:gd name="T6" fmla="*/ 14 w 49"/>
                <a:gd name="T7" fmla="*/ 22 h 48"/>
                <a:gd name="T8" fmla="*/ 23 w 49"/>
                <a:gd name="T9" fmla="*/ 9 h 48"/>
                <a:gd name="T10" fmla="*/ 23 w 49"/>
                <a:gd name="T11" fmla="*/ 5 h 48"/>
                <a:gd name="T12" fmla="*/ 23 w 49"/>
                <a:gd name="T13" fmla="*/ 9 h 48"/>
                <a:gd name="T14" fmla="*/ 23 w 49"/>
                <a:gd name="T15" fmla="*/ 9 h 48"/>
                <a:gd name="T16" fmla="*/ 23 w 49"/>
                <a:gd name="T17" fmla="*/ 5 h 48"/>
                <a:gd name="T18" fmla="*/ 9 w 49"/>
                <a:gd name="T19" fmla="*/ 0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48">
                  <a:moveTo>
                    <a:pt x="19" y="0"/>
                  </a:moveTo>
                  <a:lnTo>
                    <a:pt x="19" y="0"/>
                  </a:lnTo>
                  <a:lnTo>
                    <a:pt x="0" y="29"/>
                  </a:lnTo>
                  <a:lnTo>
                    <a:pt x="29" y="48"/>
                  </a:lnTo>
                  <a:lnTo>
                    <a:pt x="49" y="19"/>
                  </a:lnTo>
                  <a:lnTo>
                    <a:pt x="49" y="10"/>
                  </a:lnTo>
                  <a:lnTo>
                    <a:pt x="49" y="19"/>
                  </a:lnTo>
                  <a:lnTo>
                    <a:pt x="49" y="10"/>
                  </a:lnTo>
                  <a:lnTo>
                    <a:pt x="1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7" name="Freeform 107"/>
            <p:cNvSpPr>
              <a:spLocks/>
            </p:cNvSpPr>
            <p:nvPr/>
          </p:nvSpPr>
          <p:spPr bwMode="auto">
            <a:xfrm>
              <a:off x="4797" y="1328"/>
              <a:ext cx="23" cy="19"/>
            </a:xfrm>
            <a:custGeom>
              <a:avLst/>
              <a:gdLst>
                <a:gd name="T0" fmla="*/ 9 w 49"/>
                <a:gd name="T1" fmla="*/ 0 h 39"/>
                <a:gd name="T2" fmla="*/ 9 w 49"/>
                <a:gd name="T3" fmla="*/ 0 h 39"/>
                <a:gd name="T4" fmla="*/ 0 w 49"/>
                <a:gd name="T5" fmla="*/ 14 h 39"/>
                <a:gd name="T6" fmla="*/ 14 w 49"/>
                <a:gd name="T7" fmla="*/ 19 h 39"/>
                <a:gd name="T8" fmla="*/ 23 w 49"/>
                <a:gd name="T9" fmla="*/ 4 h 39"/>
                <a:gd name="T10" fmla="*/ 23 w 49"/>
                <a:gd name="T11" fmla="*/ 4 h 39"/>
                <a:gd name="T12" fmla="*/ 23 w 49"/>
                <a:gd name="T13" fmla="*/ 4 h 39"/>
                <a:gd name="T14" fmla="*/ 23 w 49"/>
                <a:gd name="T15" fmla="*/ 4 h 39"/>
                <a:gd name="T16" fmla="*/ 23 w 49"/>
                <a:gd name="T17" fmla="*/ 4 h 39"/>
                <a:gd name="T18" fmla="*/ 9 w 49"/>
                <a:gd name="T19" fmla="*/ 0 h 3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39">
                  <a:moveTo>
                    <a:pt x="20" y="0"/>
                  </a:moveTo>
                  <a:lnTo>
                    <a:pt x="20" y="0"/>
                  </a:lnTo>
                  <a:lnTo>
                    <a:pt x="0" y="29"/>
                  </a:lnTo>
                  <a:lnTo>
                    <a:pt x="30" y="39"/>
                  </a:lnTo>
                  <a:lnTo>
                    <a:pt x="49" y="9"/>
                  </a:lnTo>
                  <a:lnTo>
                    <a:pt x="20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8" name="Freeform 108"/>
            <p:cNvSpPr>
              <a:spLocks/>
            </p:cNvSpPr>
            <p:nvPr/>
          </p:nvSpPr>
          <p:spPr bwMode="auto">
            <a:xfrm>
              <a:off x="4806" y="1310"/>
              <a:ext cx="23" cy="22"/>
            </a:xfrm>
            <a:custGeom>
              <a:avLst/>
              <a:gdLst>
                <a:gd name="T0" fmla="*/ 9 w 48"/>
                <a:gd name="T1" fmla="*/ 0 h 48"/>
                <a:gd name="T2" fmla="*/ 9 w 48"/>
                <a:gd name="T3" fmla="*/ 0 h 48"/>
                <a:gd name="T4" fmla="*/ 0 w 48"/>
                <a:gd name="T5" fmla="*/ 18 h 48"/>
                <a:gd name="T6" fmla="*/ 14 w 48"/>
                <a:gd name="T7" fmla="*/ 22 h 48"/>
                <a:gd name="T8" fmla="*/ 23 w 48"/>
                <a:gd name="T9" fmla="*/ 9 h 48"/>
                <a:gd name="T10" fmla="*/ 23 w 48"/>
                <a:gd name="T11" fmla="*/ 9 h 48"/>
                <a:gd name="T12" fmla="*/ 23 w 48"/>
                <a:gd name="T13" fmla="*/ 9 h 48"/>
                <a:gd name="T14" fmla="*/ 23 w 48"/>
                <a:gd name="T15" fmla="*/ 9 h 48"/>
                <a:gd name="T16" fmla="*/ 23 w 48"/>
                <a:gd name="T17" fmla="*/ 9 h 48"/>
                <a:gd name="T18" fmla="*/ 9 w 48"/>
                <a:gd name="T19" fmla="*/ 0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8" h="48">
                  <a:moveTo>
                    <a:pt x="19" y="0"/>
                  </a:moveTo>
                  <a:lnTo>
                    <a:pt x="19" y="0"/>
                  </a:lnTo>
                  <a:lnTo>
                    <a:pt x="0" y="39"/>
                  </a:lnTo>
                  <a:lnTo>
                    <a:pt x="29" y="48"/>
                  </a:lnTo>
                  <a:lnTo>
                    <a:pt x="48" y="19"/>
                  </a:lnTo>
                  <a:lnTo>
                    <a:pt x="1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9" name="Freeform 109"/>
            <p:cNvSpPr>
              <a:spLocks/>
            </p:cNvSpPr>
            <p:nvPr/>
          </p:nvSpPr>
          <p:spPr bwMode="auto">
            <a:xfrm>
              <a:off x="4815" y="1296"/>
              <a:ext cx="18" cy="23"/>
            </a:xfrm>
            <a:custGeom>
              <a:avLst/>
              <a:gdLst>
                <a:gd name="T0" fmla="*/ 5 w 39"/>
                <a:gd name="T1" fmla="*/ 0 h 48"/>
                <a:gd name="T2" fmla="*/ 5 w 39"/>
                <a:gd name="T3" fmla="*/ 0 h 48"/>
                <a:gd name="T4" fmla="*/ 0 w 39"/>
                <a:gd name="T5" fmla="*/ 14 h 48"/>
                <a:gd name="T6" fmla="*/ 13 w 39"/>
                <a:gd name="T7" fmla="*/ 23 h 48"/>
                <a:gd name="T8" fmla="*/ 18 w 39"/>
                <a:gd name="T9" fmla="*/ 4 h 48"/>
                <a:gd name="T10" fmla="*/ 18 w 39"/>
                <a:gd name="T11" fmla="*/ 4 h 48"/>
                <a:gd name="T12" fmla="*/ 18 w 39"/>
                <a:gd name="T13" fmla="*/ 4 h 48"/>
                <a:gd name="T14" fmla="*/ 18 w 39"/>
                <a:gd name="T15" fmla="*/ 4 h 48"/>
                <a:gd name="T16" fmla="*/ 18 w 39"/>
                <a:gd name="T17" fmla="*/ 4 h 48"/>
                <a:gd name="T18" fmla="*/ 5 w 39"/>
                <a:gd name="T19" fmla="*/ 0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48">
                  <a:moveTo>
                    <a:pt x="10" y="0"/>
                  </a:moveTo>
                  <a:lnTo>
                    <a:pt x="10" y="0"/>
                  </a:lnTo>
                  <a:lnTo>
                    <a:pt x="0" y="29"/>
                  </a:lnTo>
                  <a:lnTo>
                    <a:pt x="29" y="48"/>
                  </a:lnTo>
                  <a:lnTo>
                    <a:pt x="39" y="9"/>
                  </a:lnTo>
                  <a:lnTo>
                    <a:pt x="10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0" name="Freeform 110"/>
            <p:cNvSpPr>
              <a:spLocks/>
            </p:cNvSpPr>
            <p:nvPr/>
          </p:nvSpPr>
          <p:spPr bwMode="auto">
            <a:xfrm>
              <a:off x="4820" y="1278"/>
              <a:ext cx="23" cy="22"/>
            </a:xfrm>
            <a:custGeom>
              <a:avLst/>
              <a:gdLst>
                <a:gd name="T0" fmla="*/ 5 w 49"/>
                <a:gd name="T1" fmla="*/ 0 h 48"/>
                <a:gd name="T2" fmla="*/ 9 w 49"/>
                <a:gd name="T3" fmla="*/ 0 h 48"/>
                <a:gd name="T4" fmla="*/ 0 w 49"/>
                <a:gd name="T5" fmla="*/ 18 h 48"/>
                <a:gd name="T6" fmla="*/ 14 w 49"/>
                <a:gd name="T7" fmla="*/ 22 h 48"/>
                <a:gd name="T8" fmla="*/ 23 w 49"/>
                <a:gd name="T9" fmla="*/ 4 h 48"/>
                <a:gd name="T10" fmla="*/ 23 w 49"/>
                <a:gd name="T11" fmla="*/ 4 h 48"/>
                <a:gd name="T12" fmla="*/ 23 w 49"/>
                <a:gd name="T13" fmla="*/ 4 h 48"/>
                <a:gd name="T14" fmla="*/ 23 w 49"/>
                <a:gd name="T15" fmla="*/ 4 h 48"/>
                <a:gd name="T16" fmla="*/ 23 w 49"/>
                <a:gd name="T17" fmla="*/ 4 h 48"/>
                <a:gd name="T18" fmla="*/ 5 w 49"/>
                <a:gd name="T19" fmla="*/ 0 h 4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9" h="48">
                  <a:moveTo>
                    <a:pt x="10" y="0"/>
                  </a:moveTo>
                  <a:lnTo>
                    <a:pt x="19" y="0"/>
                  </a:lnTo>
                  <a:lnTo>
                    <a:pt x="0" y="39"/>
                  </a:lnTo>
                  <a:lnTo>
                    <a:pt x="29" y="48"/>
                  </a:lnTo>
                  <a:lnTo>
                    <a:pt x="49" y="9"/>
                  </a:lnTo>
                  <a:lnTo>
                    <a:pt x="10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1" name="Freeform 111"/>
            <p:cNvSpPr>
              <a:spLocks/>
            </p:cNvSpPr>
            <p:nvPr/>
          </p:nvSpPr>
          <p:spPr bwMode="auto">
            <a:xfrm>
              <a:off x="4825" y="1264"/>
              <a:ext cx="22" cy="18"/>
            </a:xfrm>
            <a:custGeom>
              <a:avLst/>
              <a:gdLst>
                <a:gd name="T0" fmla="*/ 13 w 48"/>
                <a:gd name="T1" fmla="*/ 0 h 38"/>
                <a:gd name="T2" fmla="*/ 4 w 48"/>
                <a:gd name="T3" fmla="*/ 0 h 38"/>
                <a:gd name="T4" fmla="*/ 0 w 48"/>
                <a:gd name="T5" fmla="*/ 14 h 38"/>
                <a:gd name="T6" fmla="*/ 18 w 48"/>
                <a:gd name="T7" fmla="*/ 18 h 38"/>
                <a:gd name="T8" fmla="*/ 22 w 48"/>
                <a:gd name="T9" fmla="*/ 0 h 38"/>
                <a:gd name="T10" fmla="*/ 13 w 48"/>
                <a:gd name="T11" fmla="*/ 0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38">
                  <a:moveTo>
                    <a:pt x="29" y="0"/>
                  </a:moveTo>
                  <a:lnTo>
                    <a:pt x="9" y="0"/>
                  </a:lnTo>
                  <a:lnTo>
                    <a:pt x="0" y="29"/>
                  </a:lnTo>
                  <a:lnTo>
                    <a:pt x="39" y="38"/>
                  </a:lnTo>
                  <a:lnTo>
                    <a:pt x="48" y="0"/>
                  </a:lnTo>
                  <a:lnTo>
                    <a:pt x="29" y="0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Freeform 114"/>
            <p:cNvSpPr>
              <a:spLocks/>
            </p:cNvSpPr>
            <p:nvPr/>
          </p:nvSpPr>
          <p:spPr bwMode="auto">
            <a:xfrm>
              <a:off x="4480" y="1062"/>
              <a:ext cx="78" cy="73"/>
            </a:xfrm>
            <a:custGeom>
              <a:avLst/>
              <a:gdLst>
                <a:gd name="T0" fmla="*/ 36 w 165"/>
                <a:gd name="T1" fmla="*/ 73 h 155"/>
                <a:gd name="T2" fmla="*/ 32 w 165"/>
                <a:gd name="T3" fmla="*/ 73 h 155"/>
                <a:gd name="T4" fmla="*/ 23 w 165"/>
                <a:gd name="T5" fmla="*/ 69 h 155"/>
                <a:gd name="T6" fmla="*/ 18 w 165"/>
                <a:gd name="T7" fmla="*/ 69 h 155"/>
                <a:gd name="T8" fmla="*/ 14 w 165"/>
                <a:gd name="T9" fmla="*/ 64 h 155"/>
                <a:gd name="T10" fmla="*/ 9 w 165"/>
                <a:gd name="T11" fmla="*/ 55 h 155"/>
                <a:gd name="T12" fmla="*/ 4 w 165"/>
                <a:gd name="T13" fmla="*/ 50 h 155"/>
                <a:gd name="T14" fmla="*/ 0 w 165"/>
                <a:gd name="T15" fmla="*/ 46 h 155"/>
                <a:gd name="T16" fmla="*/ 0 w 165"/>
                <a:gd name="T17" fmla="*/ 37 h 155"/>
                <a:gd name="T18" fmla="*/ 0 w 165"/>
                <a:gd name="T19" fmla="*/ 27 h 155"/>
                <a:gd name="T20" fmla="*/ 4 w 165"/>
                <a:gd name="T21" fmla="*/ 23 h 155"/>
                <a:gd name="T22" fmla="*/ 9 w 165"/>
                <a:gd name="T23" fmla="*/ 14 h 155"/>
                <a:gd name="T24" fmla="*/ 14 w 165"/>
                <a:gd name="T25" fmla="*/ 9 h 155"/>
                <a:gd name="T26" fmla="*/ 18 w 165"/>
                <a:gd name="T27" fmla="*/ 4 h 155"/>
                <a:gd name="T28" fmla="*/ 23 w 165"/>
                <a:gd name="T29" fmla="*/ 0 h 155"/>
                <a:gd name="T30" fmla="*/ 32 w 165"/>
                <a:gd name="T31" fmla="*/ 0 h 155"/>
                <a:gd name="T32" fmla="*/ 36 w 165"/>
                <a:gd name="T33" fmla="*/ 0 h 155"/>
                <a:gd name="T34" fmla="*/ 46 w 165"/>
                <a:gd name="T35" fmla="*/ 0 h 155"/>
                <a:gd name="T36" fmla="*/ 55 w 165"/>
                <a:gd name="T37" fmla="*/ 0 h 155"/>
                <a:gd name="T38" fmla="*/ 60 w 165"/>
                <a:gd name="T39" fmla="*/ 4 h 155"/>
                <a:gd name="T40" fmla="*/ 64 w 165"/>
                <a:gd name="T41" fmla="*/ 9 h 155"/>
                <a:gd name="T42" fmla="*/ 69 w 165"/>
                <a:gd name="T43" fmla="*/ 14 h 155"/>
                <a:gd name="T44" fmla="*/ 73 w 165"/>
                <a:gd name="T45" fmla="*/ 23 h 155"/>
                <a:gd name="T46" fmla="*/ 73 w 165"/>
                <a:gd name="T47" fmla="*/ 27 h 155"/>
                <a:gd name="T48" fmla="*/ 78 w 165"/>
                <a:gd name="T49" fmla="*/ 37 h 155"/>
                <a:gd name="T50" fmla="*/ 73 w 165"/>
                <a:gd name="T51" fmla="*/ 46 h 155"/>
                <a:gd name="T52" fmla="*/ 73 w 165"/>
                <a:gd name="T53" fmla="*/ 50 h 155"/>
                <a:gd name="T54" fmla="*/ 69 w 165"/>
                <a:gd name="T55" fmla="*/ 55 h 155"/>
                <a:gd name="T56" fmla="*/ 64 w 165"/>
                <a:gd name="T57" fmla="*/ 64 h 155"/>
                <a:gd name="T58" fmla="*/ 60 w 165"/>
                <a:gd name="T59" fmla="*/ 69 h 155"/>
                <a:gd name="T60" fmla="*/ 55 w 165"/>
                <a:gd name="T61" fmla="*/ 69 h 155"/>
                <a:gd name="T62" fmla="*/ 46 w 165"/>
                <a:gd name="T63" fmla="*/ 73 h 155"/>
                <a:gd name="T64" fmla="*/ 36 w 165"/>
                <a:gd name="T65" fmla="*/ 73 h 15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65" h="155">
                  <a:moveTo>
                    <a:pt x="77" y="155"/>
                  </a:moveTo>
                  <a:lnTo>
                    <a:pt x="68" y="155"/>
                  </a:lnTo>
                  <a:lnTo>
                    <a:pt x="48" y="146"/>
                  </a:lnTo>
                  <a:lnTo>
                    <a:pt x="38" y="146"/>
                  </a:lnTo>
                  <a:lnTo>
                    <a:pt x="29" y="136"/>
                  </a:lnTo>
                  <a:lnTo>
                    <a:pt x="19" y="116"/>
                  </a:lnTo>
                  <a:lnTo>
                    <a:pt x="9" y="107"/>
                  </a:lnTo>
                  <a:lnTo>
                    <a:pt x="0" y="97"/>
                  </a:lnTo>
                  <a:lnTo>
                    <a:pt x="0" y="78"/>
                  </a:lnTo>
                  <a:lnTo>
                    <a:pt x="0" y="58"/>
                  </a:lnTo>
                  <a:lnTo>
                    <a:pt x="9" y="48"/>
                  </a:lnTo>
                  <a:lnTo>
                    <a:pt x="19" y="29"/>
                  </a:lnTo>
                  <a:lnTo>
                    <a:pt x="29" y="19"/>
                  </a:lnTo>
                  <a:lnTo>
                    <a:pt x="38" y="9"/>
                  </a:lnTo>
                  <a:lnTo>
                    <a:pt x="48" y="0"/>
                  </a:lnTo>
                  <a:lnTo>
                    <a:pt x="68" y="0"/>
                  </a:lnTo>
                  <a:lnTo>
                    <a:pt x="77" y="0"/>
                  </a:lnTo>
                  <a:lnTo>
                    <a:pt x="97" y="0"/>
                  </a:lnTo>
                  <a:lnTo>
                    <a:pt x="116" y="0"/>
                  </a:lnTo>
                  <a:lnTo>
                    <a:pt x="126" y="9"/>
                  </a:lnTo>
                  <a:lnTo>
                    <a:pt x="136" y="19"/>
                  </a:lnTo>
                  <a:lnTo>
                    <a:pt x="145" y="29"/>
                  </a:lnTo>
                  <a:lnTo>
                    <a:pt x="155" y="48"/>
                  </a:lnTo>
                  <a:lnTo>
                    <a:pt x="155" y="58"/>
                  </a:lnTo>
                  <a:lnTo>
                    <a:pt x="165" y="78"/>
                  </a:lnTo>
                  <a:lnTo>
                    <a:pt x="155" y="97"/>
                  </a:lnTo>
                  <a:lnTo>
                    <a:pt x="155" y="107"/>
                  </a:lnTo>
                  <a:lnTo>
                    <a:pt x="145" y="116"/>
                  </a:lnTo>
                  <a:lnTo>
                    <a:pt x="136" y="136"/>
                  </a:lnTo>
                  <a:lnTo>
                    <a:pt x="126" y="146"/>
                  </a:lnTo>
                  <a:lnTo>
                    <a:pt x="116" y="146"/>
                  </a:lnTo>
                  <a:lnTo>
                    <a:pt x="97" y="155"/>
                  </a:lnTo>
                  <a:lnTo>
                    <a:pt x="77" y="155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" name="Freeform 115"/>
            <p:cNvSpPr>
              <a:spLocks/>
            </p:cNvSpPr>
            <p:nvPr/>
          </p:nvSpPr>
          <p:spPr bwMode="auto">
            <a:xfrm>
              <a:off x="4480" y="1062"/>
              <a:ext cx="78" cy="73"/>
            </a:xfrm>
            <a:custGeom>
              <a:avLst/>
              <a:gdLst>
                <a:gd name="T0" fmla="*/ 36 w 165"/>
                <a:gd name="T1" fmla="*/ 73 h 155"/>
                <a:gd name="T2" fmla="*/ 32 w 165"/>
                <a:gd name="T3" fmla="*/ 73 h 155"/>
                <a:gd name="T4" fmla="*/ 23 w 165"/>
                <a:gd name="T5" fmla="*/ 69 h 155"/>
                <a:gd name="T6" fmla="*/ 18 w 165"/>
                <a:gd name="T7" fmla="*/ 69 h 155"/>
                <a:gd name="T8" fmla="*/ 14 w 165"/>
                <a:gd name="T9" fmla="*/ 64 h 155"/>
                <a:gd name="T10" fmla="*/ 9 w 165"/>
                <a:gd name="T11" fmla="*/ 55 h 155"/>
                <a:gd name="T12" fmla="*/ 4 w 165"/>
                <a:gd name="T13" fmla="*/ 50 h 155"/>
                <a:gd name="T14" fmla="*/ 0 w 165"/>
                <a:gd name="T15" fmla="*/ 46 h 155"/>
                <a:gd name="T16" fmla="*/ 0 w 165"/>
                <a:gd name="T17" fmla="*/ 37 h 155"/>
                <a:gd name="T18" fmla="*/ 0 w 165"/>
                <a:gd name="T19" fmla="*/ 27 h 155"/>
                <a:gd name="T20" fmla="*/ 4 w 165"/>
                <a:gd name="T21" fmla="*/ 23 h 155"/>
                <a:gd name="T22" fmla="*/ 9 w 165"/>
                <a:gd name="T23" fmla="*/ 14 h 155"/>
                <a:gd name="T24" fmla="*/ 14 w 165"/>
                <a:gd name="T25" fmla="*/ 9 h 155"/>
                <a:gd name="T26" fmla="*/ 18 w 165"/>
                <a:gd name="T27" fmla="*/ 4 h 155"/>
                <a:gd name="T28" fmla="*/ 23 w 165"/>
                <a:gd name="T29" fmla="*/ 0 h 155"/>
                <a:gd name="T30" fmla="*/ 32 w 165"/>
                <a:gd name="T31" fmla="*/ 0 h 155"/>
                <a:gd name="T32" fmla="*/ 36 w 165"/>
                <a:gd name="T33" fmla="*/ 0 h 155"/>
                <a:gd name="T34" fmla="*/ 46 w 165"/>
                <a:gd name="T35" fmla="*/ 0 h 155"/>
                <a:gd name="T36" fmla="*/ 55 w 165"/>
                <a:gd name="T37" fmla="*/ 0 h 155"/>
                <a:gd name="T38" fmla="*/ 60 w 165"/>
                <a:gd name="T39" fmla="*/ 4 h 155"/>
                <a:gd name="T40" fmla="*/ 64 w 165"/>
                <a:gd name="T41" fmla="*/ 9 h 155"/>
                <a:gd name="T42" fmla="*/ 69 w 165"/>
                <a:gd name="T43" fmla="*/ 14 h 155"/>
                <a:gd name="T44" fmla="*/ 73 w 165"/>
                <a:gd name="T45" fmla="*/ 23 h 155"/>
                <a:gd name="T46" fmla="*/ 73 w 165"/>
                <a:gd name="T47" fmla="*/ 27 h 155"/>
                <a:gd name="T48" fmla="*/ 78 w 165"/>
                <a:gd name="T49" fmla="*/ 37 h 155"/>
                <a:gd name="T50" fmla="*/ 73 w 165"/>
                <a:gd name="T51" fmla="*/ 46 h 155"/>
                <a:gd name="T52" fmla="*/ 73 w 165"/>
                <a:gd name="T53" fmla="*/ 50 h 155"/>
                <a:gd name="T54" fmla="*/ 69 w 165"/>
                <a:gd name="T55" fmla="*/ 55 h 155"/>
                <a:gd name="T56" fmla="*/ 64 w 165"/>
                <a:gd name="T57" fmla="*/ 64 h 155"/>
                <a:gd name="T58" fmla="*/ 60 w 165"/>
                <a:gd name="T59" fmla="*/ 69 h 155"/>
                <a:gd name="T60" fmla="*/ 55 w 165"/>
                <a:gd name="T61" fmla="*/ 69 h 155"/>
                <a:gd name="T62" fmla="*/ 46 w 165"/>
                <a:gd name="T63" fmla="*/ 73 h 155"/>
                <a:gd name="T64" fmla="*/ 36 w 165"/>
                <a:gd name="T65" fmla="*/ 73 h 15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65" h="155">
                  <a:moveTo>
                    <a:pt x="77" y="155"/>
                  </a:moveTo>
                  <a:lnTo>
                    <a:pt x="68" y="155"/>
                  </a:lnTo>
                  <a:lnTo>
                    <a:pt x="48" y="146"/>
                  </a:lnTo>
                  <a:lnTo>
                    <a:pt x="38" y="146"/>
                  </a:lnTo>
                  <a:lnTo>
                    <a:pt x="29" y="136"/>
                  </a:lnTo>
                  <a:lnTo>
                    <a:pt x="19" y="116"/>
                  </a:lnTo>
                  <a:lnTo>
                    <a:pt x="9" y="107"/>
                  </a:lnTo>
                  <a:lnTo>
                    <a:pt x="0" y="97"/>
                  </a:lnTo>
                  <a:lnTo>
                    <a:pt x="0" y="78"/>
                  </a:lnTo>
                  <a:lnTo>
                    <a:pt x="0" y="58"/>
                  </a:lnTo>
                  <a:lnTo>
                    <a:pt x="9" y="48"/>
                  </a:lnTo>
                  <a:lnTo>
                    <a:pt x="19" y="29"/>
                  </a:lnTo>
                  <a:lnTo>
                    <a:pt x="29" y="19"/>
                  </a:lnTo>
                  <a:lnTo>
                    <a:pt x="38" y="9"/>
                  </a:lnTo>
                  <a:lnTo>
                    <a:pt x="48" y="0"/>
                  </a:lnTo>
                  <a:lnTo>
                    <a:pt x="68" y="0"/>
                  </a:lnTo>
                  <a:lnTo>
                    <a:pt x="77" y="0"/>
                  </a:lnTo>
                  <a:lnTo>
                    <a:pt x="97" y="0"/>
                  </a:lnTo>
                  <a:lnTo>
                    <a:pt x="116" y="0"/>
                  </a:lnTo>
                  <a:lnTo>
                    <a:pt x="126" y="9"/>
                  </a:lnTo>
                  <a:lnTo>
                    <a:pt x="136" y="19"/>
                  </a:lnTo>
                  <a:lnTo>
                    <a:pt x="145" y="29"/>
                  </a:lnTo>
                  <a:lnTo>
                    <a:pt x="155" y="48"/>
                  </a:lnTo>
                  <a:lnTo>
                    <a:pt x="155" y="58"/>
                  </a:lnTo>
                  <a:lnTo>
                    <a:pt x="165" y="78"/>
                  </a:lnTo>
                  <a:lnTo>
                    <a:pt x="155" y="97"/>
                  </a:lnTo>
                  <a:lnTo>
                    <a:pt x="155" y="107"/>
                  </a:lnTo>
                  <a:lnTo>
                    <a:pt x="145" y="116"/>
                  </a:lnTo>
                  <a:lnTo>
                    <a:pt x="136" y="136"/>
                  </a:lnTo>
                  <a:lnTo>
                    <a:pt x="126" y="146"/>
                  </a:lnTo>
                  <a:lnTo>
                    <a:pt x="116" y="146"/>
                  </a:lnTo>
                  <a:lnTo>
                    <a:pt x="97" y="155"/>
                  </a:lnTo>
                  <a:lnTo>
                    <a:pt x="77" y="15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104" name="Group 144"/>
            <p:cNvGrpSpPr>
              <a:grpSpLocks/>
            </p:cNvGrpSpPr>
            <p:nvPr/>
          </p:nvGrpSpPr>
          <p:grpSpPr bwMode="auto">
            <a:xfrm flipH="1">
              <a:off x="4719" y="1062"/>
              <a:ext cx="78" cy="73"/>
              <a:chOff x="4719" y="1062"/>
              <a:chExt cx="78" cy="73"/>
            </a:xfrm>
          </p:grpSpPr>
          <p:sp>
            <p:nvSpPr>
              <p:cNvPr id="107" name="Freeform 112"/>
              <p:cNvSpPr>
                <a:spLocks/>
              </p:cNvSpPr>
              <p:nvPr/>
            </p:nvSpPr>
            <p:spPr bwMode="auto">
              <a:xfrm>
                <a:off x="4719" y="1062"/>
                <a:ext cx="78" cy="73"/>
              </a:xfrm>
              <a:custGeom>
                <a:avLst/>
                <a:gdLst>
                  <a:gd name="T0" fmla="*/ 42 w 165"/>
                  <a:gd name="T1" fmla="*/ 73 h 155"/>
                  <a:gd name="T2" fmla="*/ 32 w 165"/>
                  <a:gd name="T3" fmla="*/ 73 h 155"/>
                  <a:gd name="T4" fmla="*/ 23 w 165"/>
                  <a:gd name="T5" fmla="*/ 69 h 155"/>
                  <a:gd name="T6" fmla="*/ 18 w 165"/>
                  <a:gd name="T7" fmla="*/ 69 h 155"/>
                  <a:gd name="T8" fmla="*/ 14 w 165"/>
                  <a:gd name="T9" fmla="*/ 64 h 155"/>
                  <a:gd name="T10" fmla="*/ 9 w 165"/>
                  <a:gd name="T11" fmla="*/ 55 h 155"/>
                  <a:gd name="T12" fmla="*/ 5 w 165"/>
                  <a:gd name="T13" fmla="*/ 50 h 155"/>
                  <a:gd name="T14" fmla="*/ 5 w 165"/>
                  <a:gd name="T15" fmla="*/ 46 h 155"/>
                  <a:gd name="T16" fmla="*/ 0 w 165"/>
                  <a:gd name="T17" fmla="*/ 37 h 155"/>
                  <a:gd name="T18" fmla="*/ 5 w 165"/>
                  <a:gd name="T19" fmla="*/ 27 h 155"/>
                  <a:gd name="T20" fmla="*/ 5 w 165"/>
                  <a:gd name="T21" fmla="*/ 23 h 155"/>
                  <a:gd name="T22" fmla="*/ 9 w 165"/>
                  <a:gd name="T23" fmla="*/ 14 h 155"/>
                  <a:gd name="T24" fmla="*/ 14 w 165"/>
                  <a:gd name="T25" fmla="*/ 9 h 155"/>
                  <a:gd name="T26" fmla="*/ 18 w 165"/>
                  <a:gd name="T27" fmla="*/ 4 h 155"/>
                  <a:gd name="T28" fmla="*/ 23 w 165"/>
                  <a:gd name="T29" fmla="*/ 0 h 155"/>
                  <a:gd name="T30" fmla="*/ 32 w 165"/>
                  <a:gd name="T31" fmla="*/ 0 h 155"/>
                  <a:gd name="T32" fmla="*/ 42 w 165"/>
                  <a:gd name="T33" fmla="*/ 0 h 155"/>
                  <a:gd name="T34" fmla="*/ 46 w 165"/>
                  <a:gd name="T35" fmla="*/ 0 h 155"/>
                  <a:gd name="T36" fmla="*/ 55 w 165"/>
                  <a:gd name="T37" fmla="*/ 0 h 155"/>
                  <a:gd name="T38" fmla="*/ 60 w 165"/>
                  <a:gd name="T39" fmla="*/ 4 h 155"/>
                  <a:gd name="T40" fmla="*/ 64 w 165"/>
                  <a:gd name="T41" fmla="*/ 9 h 155"/>
                  <a:gd name="T42" fmla="*/ 69 w 165"/>
                  <a:gd name="T43" fmla="*/ 14 h 155"/>
                  <a:gd name="T44" fmla="*/ 74 w 165"/>
                  <a:gd name="T45" fmla="*/ 23 h 155"/>
                  <a:gd name="T46" fmla="*/ 78 w 165"/>
                  <a:gd name="T47" fmla="*/ 27 h 155"/>
                  <a:gd name="T48" fmla="*/ 78 w 165"/>
                  <a:gd name="T49" fmla="*/ 37 h 155"/>
                  <a:gd name="T50" fmla="*/ 78 w 165"/>
                  <a:gd name="T51" fmla="*/ 46 h 155"/>
                  <a:gd name="T52" fmla="*/ 74 w 165"/>
                  <a:gd name="T53" fmla="*/ 50 h 155"/>
                  <a:gd name="T54" fmla="*/ 69 w 165"/>
                  <a:gd name="T55" fmla="*/ 55 h 155"/>
                  <a:gd name="T56" fmla="*/ 64 w 165"/>
                  <a:gd name="T57" fmla="*/ 64 h 155"/>
                  <a:gd name="T58" fmla="*/ 60 w 165"/>
                  <a:gd name="T59" fmla="*/ 69 h 155"/>
                  <a:gd name="T60" fmla="*/ 55 w 165"/>
                  <a:gd name="T61" fmla="*/ 69 h 155"/>
                  <a:gd name="T62" fmla="*/ 46 w 165"/>
                  <a:gd name="T63" fmla="*/ 73 h 155"/>
                  <a:gd name="T64" fmla="*/ 42 w 165"/>
                  <a:gd name="T65" fmla="*/ 73 h 15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65" h="155">
                    <a:moveTo>
                      <a:pt x="88" y="155"/>
                    </a:moveTo>
                    <a:lnTo>
                      <a:pt x="68" y="155"/>
                    </a:lnTo>
                    <a:lnTo>
                      <a:pt x="49" y="146"/>
                    </a:lnTo>
                    <a:lnTo>
                      <a:pt x="39" y="146"/>
                    </a:lnTo>
                    <a:lnTo>
                      <a:pt x="29" y="136"/>
                    </a:lnTo>
                    <a:lnTo>
                      <a:pt x="20" y="116"/>
                    </a:lnTo>
                    <a:lnTo>
                      <a:pt x="10" y="107"/>
                    </a:lnTo>
                    <a:lnTo>
                      <a:pt x="10" y="97"/>
                    </a:lnTo>
                    <a:lnTo>
                      <a:pt x="0" y="78"/>
                    </a:lnTo>
                    <a:lnTo>
                      <a:pt x="10" y="58"/>
                    </a:lnTo>
                    <a:lnTo>
                      <a:pt x="10" y="48"/>
                    </a:lnTo>
                    <a:lnTo>
                      <a:pt x="20" y="29"/>
                    </a:lnTo>
                    <a:lnTo>
                      <a:pt x="29" y="19"/>
                    </a:lnTo>
                    <a:lnTo>
                      <a:pt x="39" y="9"/>
                    </a:lnTo>
                    <a:lnTo>
                      <a:pt x="49" y="0"/>
                    </a:lnTo>
                    <a:lnTo>
                      <a:pt x="68" y="0"/>
                    </a:lnTo>
                    <a:lnTo>
                      <a:pt x="88" y="0"/>
                    </a:lnTo>
                    <a:lnTo>
                      <a:pt x="97" y="0"/>
                    </a:lnTo>
                    <a:lnTo>
                      <a:pt x="117" y="0"/>
                    </a:lnTo>
                    <a:lnTo>
                      <a:pt x="127" y="9"/>
                    </a:lnTo>
                    <a:lnTo>
                      <a:pt x="136" y="19"/>
                    </a:lnTo>
                    <a:lnTo>
                      <a:pt x="146" y="29"/>
                    </a:lnTo>
                    <a:lnTo>
                      <a:pt x="156" y="48"/>
                    </a:lnTo>
                    <a:lnTo>
                      <a:pt x="165" y="58"/>
                    </a:lnTo>
                    <a:lnTo>
                      <a:pt x="165" y="78"/>
                    </a:lnTo>
                    <a:lnTo>
                      <a:pt x="165" y="97"/>
                    </a:lnTo>
                    <a:lnTo>
                      <a:pt x="156" y="107"/>
                    </a:lnTo>
                    <a:lnTo>
                      <a:pt x="146" y="116"/>
                    </a:lnTo>
                    <a:lnTo>
                      <a:pt x="136" y="136"/>
                    </a:lnTo>
                    <a:lnTo>
                      <a:pt x="127" y="146"/>
                    </a:lnTo>
                    <a:lnTo>
                      <a:pt x="117" y="146"/>
                    </a:lnTo>
                    <a:lnTo>
                      <a:pt x="97" y="155"/>
                    </a:lnTo>
                    <a:lnTo>
                      <a:pt x="88" y="155"/>
                    </a:lnTo>
                    <a:close/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AU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08" name="Freeform 113"/>
              <p:cNvSpPr>
                <a:spLocks/>
              </p:cNvSpPr>
              <p:nvPr/>
            </p:nvSpPr>
            <p:spPr bwMode="auto">
              <a:xfrm>
                <a:off x="4719" y="1062"/>
                <a:ext cx="78" cy="73"/>
              </a:xfrm>
              <a:custGeom>
                <a:avLst/>
                <a:gdLst>
                  <a:gd name="T0" fmla="*/ 42 w 165"/>
                  <a:gd name="T1" fmla="*/ 73 h 155"/>
                  <a:gd name="T2" fmla="*/ 32 w 165"/>
                  <a:gd name="T3" fmla="*/ 73 h 155"/>
                  <a:gd name="T4" fmla="*/ 23 w 165"/>
                  <a:gd name="T5" fmla="*/ 69 h 155"/>
                  <a:gd name="T6" fmla="*/ 18 w 165"/>
                  <a:gd name="T7" fmla="*/ 69 h 155"/>
                  <a:gd name="T8" fmla="*/ 14 w 165"/>
                  <a:gd name="T9" fmla="*/ 64 h 155"/>
                  <a:gd name="T10" fmla="*/ 9 w 165"/>
                  <a:gd name="T11" fmla="*/ 55 h 155"/>
                  <a:gd name="T12" fmla="*/ 5 w 165"/>
                  <a:gd name="T13" fmla="*/ 50 h 155"/>
                  <a:gd name="T14" fmla="*/ 5 w 165"/>
                  <a:gd name="T15" fmla="*/ 46 h 155"/>
                  <a:gd name="T16" fmla="*/ 0 w 165"/>
                  <a:gd name="T17" fmla="*/ 37 h 155"/>
                  <a:gd name="T18" fmla="*/ 5 w 165"/>
                  <a:gd name="T19" fmla="*/ 27 h 155"/>
                  <a:gd name="T20" fmla="*/ 5 w 165"/>
                  <a:gd name="T21" fmla="*/ 23 h 155"/>
                  <a:gd name="T22" fmla="*/ 9 w 165"/>
                  <a:gd name="T23" fmla="*/ 14 h 155"/>
                  <a:gd name="T24" fmla="*/ 14 w 165"/>
                  <a:gd name="T25" fmla="*/ 9 h 155"/>
                  <a:gd name="T26" fmla="*/ 18 w 165"/>
                  <a:gd name="T27" fmla="*/ 4 h 155"/>
                  <a:gd name="T28" fmla="*/ 23 w 165"/>
                  <a:gd name="T29" fmla="*/ 0 h 155"/>
                  <a:gd name="T30" fmla="*/ 32 w 165"/>
                  <a:gd name="T31" fmla="*/ 0 h 155"/>
                  <a:gd name="T32" fmla="*/ 42 w 165"/>
                  <a:gd name="T33" fmla="*/ 0 h 155"/>
                  <a:gd name="T34" fmla="*/ 46 w 165"/>
                  <a:gd name="T35" fmla="*/ 0 h 155"/>
                  <a:gd name="T36" fmla="*/ 55 w 165"/>
                  <a:gd name="T37" fmla="*/ 0 h 155"/>
                  <a:gd name="T38" fmla="*/ 60 w 165"/>
                  <a:gd name="T39" fmla="*/ 4 h 155"/>
                  <a:gd name="T40" fmla="*/ 64 w 165"/>
                  <a:gd name="T41" fmla="*/ 9 h 155"/>
                  <a:gd name="T42" fmla="*/ 69 w 165"/>
                  <a:gd name="T43" fmla="*/ 14 h 155"/>
                  <a:gd name="T44" fmla="*/ 74 w 165"/>
                  <a:gd name="T45" fmla="*/ 23 h 155"/>
                  <a:gd name="T46" fmla="*/ 78 w 165"/>
                  <a:gd name="T47" fmla="*/ 27 h 155"/>
                  <a:gd name="T48" fmla="*/ 78 w 165"/>
                  <a:gd name="T49" fmla="*/ 37 h 155"/>
                  <a:gd name="T50" fmla="*/ 78 w 165"/>
                  <a:gd name="T51" fmla="*/ 46 h 155"/>
                  <a:gd name="T52" fmla="*/ 74 w 165"/>
                  <a:gd name="T53" fmla="*/ 50 h 155"/>
                  <a:gd name="T54" fmla="*/ 69 w 165"/>
                  <a:gd name="T55" fmla="*/ 55 h 155"/>
                  <a:gd name="T56" fmla="*/ 64 w 165"/>
                  <a:gd name="T57" fmla="*/ 64 h 155"/>
                  <a:gd name="T58" fmla="*/ 60 w 165"/>
                  <a:gd name="T59" fmla="*/ 69 h 155"/>
                  <a:gd name="T60" fmla="*/ 55 w 165"/>
                  <a:gd name="T61" fmla="*/ 69 h 155"/>
                  <a:gd name="T62" fmla="*/ 46 w 165"/>
                  <a:gd name="T63" fmla="*/ 73 h 155"/>
                  <a:gd name="T64" fmla="*/ 42 w 165"/>
                  <a:gd name="T65" fmla="*/ 73 h 15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65" h="155">
                    <a:moveTo>
                      <a:pt x="88" y="155"/>
                    </a:moveTo>
                    <a:lnTo>
                      <a:pt x="68" y="155"/>
                    </a:lnTo>
                    <a:lnTo>
                      <a:pt x="49" y="146"/>
                    </a:lnTo>
                    <a:lnTo>
                      <a:pt x="39" y="146"/>
                    </a:lnTo>
                    <a:lnTo>
                      <a:pt x="29" y="136"/>
                    </a:lnTo>
                    <a:lnTo>
                      <a:pt x="20" y="116"/>
                    </a:lnTo>
                    <a:lnTo>
                      <a:pt x="10" y="107"/>
                    </a:lnTo>
                    <a:lnTo>
                      <a:pt x="10" y="97"/>
                    </a:lnTo>
                    <a:lnTo>
                      <a:pt x="0" y="78"/>
                    </a:lnTo>
                    <a:lnTo>
                      <a:pt x="10" y="58"/>
                    </a:lnTo>
                    <a:lnTo>
                      <a:pt x="10" y="48"/>
                    </a:lnTo>
                    <a:lnTo>
                      <a:pt x="20" y="29"/>
                    </a:lnTo>
                    <a:lnTo>
                      <a:pt x="29" y="19"/>
                    </a:lnTo>
                    <a:lnTo>
                      <a:pt x="39" y="9"/>
                    </a:lnTo>
                    <a:lnTo>
                      <a:pt x="49" y="0"/>
                    </a:lnTo>
                    <a:lnTo>
                      <a:pt x="68" y="0"/>
                    </a:lnTo>
                    <a:lnTo>
                      <a:pt x="88" y="0"/>
                    </a:lnTo>
                    <a:lnTo>
                      <a:pt x="97" y="0"/>
                    </a:lnTo>
                    <a:lnTo>
                      <a:pt x="117" y="0"/>
                    </a:lnTo>
                    <a:lnTo>
                      <a:pt x="127" y="9"/>
                    </a:lnTo>
                    <a:lnTo>
                      <a:pt x="136" y="19"/>
                    </a:lnTo>
                    <a:lnTo>
                      <a:pt x="146" y="29"/>
                    </a:lnTo>
                    <a:lnTo>
                      <a:pt x="156" y="48"/>
                    </a:lnTo>
                    <a:lnTo>
                      <a:pt x="165" y="58"/>
                    </a:lnTo>
                    <a:lnTo>
                      <a:pt x="165" y="78"/>
                    </a:lnTo>
                    <a:lnTo>
                      <a:pt x="165" y="97"/>
                    </a:lnTo>
                    <a:lnTo>
                      <a:pt x="156" y="107"/>
                    </a:lnTo>
                    <a:lnTo>
                      <a:pt x="146" y="116"/>
                    </a:lnTo>
                    <a:lnTo>
                      <a:pt x="136" y="136"/>
                    </a:lnTo>
                    <a:lnTo>
                      <a:pt x="127" y="146"/>
                    </a:lnTo>
                    <a:lnTo>
                      <a:pt x="117" y="146"/>
                    </a:lnTo>
                    <a:lnTo>
                      <a:pt x="97" y="155"/>
                    </a:lnTo>
                    <a:lnTo>
                      <a:pt x="88" y="15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AU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09" name="Freeform 116"/>
              <p:cNvSpPr>
                <a:spLocks/>
              </p:cNvSpPr>
              <p:nvPr/>
            </p:nvSpPr>
            <p:spPr bwMode="auto">
              <a:xfrm>
                <a:off x="4719" y="1062"/>
                <a:ext cx="78" cy="73"/>
              </a:xfrm>
              <a:custGeom>
                <a:avLst/>
                <a:gdLst>
                  <a:gd name="T0" fmla="*/ 42 w 165"/>
                  <a:gd name="T1" fmla="*/ 37 h 155"/>
                  <a:gd name="T2" fmla="*/ 74 w 165"/>
                  <a:gd name="T3" fmla="*/ 18 h 155"/>
                  <a:gd name="T4" fmla="*/ 74 w 165"/>
                  <a:gd name="T5" fmla="*/ 23 h 155"/>
                  <a:gd name="T6" fmla="*/ 74 w 165"/>
                  <a:gd name="T7" fmla="*/ 27 h 155"/>
                  <a:gd name="T8" fmla="*/ 78 w 165"/>
                  <a:gd name="T9" fmla="*/ 32 h 155"/>
                  <a:gd name="T10" fmla="*/ 78 w 165"/>
                  <a:gd name="T11" fmla="*/ 37 h 155"/>
                  <a:gd name="T12" fmla="*/ 78 w 165"/>
                  <a:gd name="T13" fmla="*/ 46 h 155"/>
                  <a:gd name="T14" fmla="*/ 74 w 165"/>
                  <a:gd name="T15" fmla="*/ 50 h 155"/>
                  <a:gd name="T16" fmla="*/ 69 w 165"/>
                  <a:gd name="T17" fmla="*/ 55 h 155"/>
                  <a:gd name="T18" fmla="*/ 64 w 165"/>
                  <a:gd name="T19" fmla="*/ 64 h 155"/>
                  <a:gd name="T20" fmla="*/ 60 w 165"/>
                  <a:gd name="T21" fmla="*/ 69 h 155"/>
                  <a:gd name="T22" fmla="*/ 55 w 165"/>
                  <a:gd name="T23" fmla="*/ 69 h 155"/>
                  <a:gd name="T24" fmla="*/ 46 w 165"/>
                  <a:gd name="T25" fmla="*/ 73 h 155"/>
                  <a:gd name="T26" fmla="*/ 42 w 165"/>
                  <a:gd name="T27" fmla="*/ 73 h 155"/>
                  <a:gd name="T28" fmla="*/ 32 w 165"/>
                  <a:gd name="T29" fmla="*/ 73 h 155"/>
                  <a:gd name="T30" fmla="*/ 23 w 165"/>
                  <a:gd name="T31" fmla="*/ 69 h 155"/>
                  <a:gd name="T32" fmla="*/ 18 w 165"/>
                  <a:gd name="T33" fmla="*/ 69 h 155"/>
                  <a:gd name="T34" fmla="*/ 14 w 165"/>
                  <a:gd name="T35" fmla="*/ 64 h 155"/>
                  <a:gd name="T36" fmla="*/ 9 w 165"/>
                  <a:gd name="T37" fmla="*/ 55 h 155"/>
                  <a:gd name="T38" fmla="*/ 5 w 165"/>
                  <a:gd name="T39" fmla="*/ 50 h 155"/>
                  <a:gd name="T40" fmla="*/ 5 w 165"/>
                  <a:gd name="T41" fmla="*/ 46 h 155"/>
                  <a:gd name="T42" fmla="*/ 0 w 165"/>
                  <a:gd name="T43" fmla="*/ 37 h 155"/>
                  <a:gd name="T44" fmla="*/ 5 w 165"/>
                  <a:gd name="T45" fmla="*/ 27 h 155"/>
                  <a:gd name="T46" fmla="*/ 5 w 165"/>
                  <a:gd name="T47" fmla="*/ 23 h 155"/>
                  <a:gd name="T48" fmla="*/ 9 w 165"/>
                  <a:gd name="T49" fmla="*/ 14 h 155"/>
                  <a:gd name="T50" fmla="*/ 14 w 165"/>
                  <a:gd name="T51" fmla="*/ 9 h 155"/>
                  <a:gd name="T52" fmla="*/ 18 w 165"/>
                  <a:gd name="T53" fmla="*/ 4 h 155"/>
                  <a:gd name="T54" fmla="*/ 23 w 165"/>
                  <a:gd name="T55" fmla="*/ 0 h 155"/>
                  <a:gd name="T56" fmla="*/ 32 w 165"/>
                  <a:gd name="T57" fmla="*/ 0 h 155"/>
                  <a:gd name="T58" fmla="*/ 42 w 165"/>
                  <a:gd name="T59" fmla="*/ 0 h 155"/>
                  <a:gd name="T60" fmla="*/ 42 w 165"/>
                  <a:gd name="T61" fmla="*/ 0 h 155"/>
                  <a:gd name="T62" fmla="*/ 42 w 165"/>
                  <a:gd name="T63" fmla="*/ 0 h 155"/>
                  <a:gd name="T64" fmla="*/ 42 w 165"/>
                  <a:gd name="T65" fmla="*/ 0 h 155"/>
                  <a:gd name="T66" fmla="*/ 42 w 165"/>
                  <a:gd name="T67" fmla="*/ 0 h 155"/>
                  <a:gd name="T68" fmla="*/ 42 w 165"/>
                  <a:gd name="T69" fmla="*/ 37 h 15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65" h="155">
                    <a:moveTo>
                      <a:pt x="88" y="78"/>
                    </a:moveTo>
                    <a:lnTo>
                      <a:pt x="156" y="39"/>
                    </a:lnTo>
                    <a:lnTo>
                      <a:pt x="156" y="48"/>
                    </a:lnTo>
                    <a:lnTo>
                      <a:pt x="156" y="58"/>
                    </a:lnTo>
                    <a:lnTo>
                      <a:pt x="165" y="68"/>
                    </a:lnTo>
                    <a:lnTo>
                      <a:pt x="165" y="78"/>
                    </a:lnTo>
                    <a:lnTo>
                      <a:pt x="165" y="97"/>
                    </a:lnTo>
                    <a:lnTo>
                      <a:pt x="156" y="107"/>
                    </a:lnTo>
                    <a:lnTo>
                      <a:pt x="146" y="116"/>
                    </a:lnTo>
                    <a:lnTo>
                      <a:pt x="136" y="136"/>
                    </a:lnTo>
                    <a:lnTo>
                      <a:pt x="127" y="146"/>
                    </a:lnTo>
                    <a:lnTo>
                      <a:pt x="117" y="146"/>
                    </a:lnTo>
                    <a:lnTo>
                      <a:pt x="97" y="155"/>
                    </a:lnTo>
                    <a:lnTo>
                      <a:pt x="88" y="155"/>
                    </a:lnTo>
                    <a:lnTo>
                      <a:pt x="68" y="155"/>
                    </a:lnTo>
                    <a:lnTo>
                      <a:pt x="49" y="146"/>
                    </a:lnTo>
                    <a:lnTo>
                      <a:pt x="39" y="146"/>
                    </a:lnTo>
                    <a:lnTo>
                      <a:pt x="29" y="136"/>
                    </a:lnTo>
                    <a:lnTo>
                      <a:pt x="20" y="116"/>
                    </a:lnTo>
                    <a:lnTo>
                      <a:pt x="10" y="107"/>
                    </a:lnTo>
                    <a:lnTo>
                      <a:pt x="10" y="97"/>
                    </a:lnTo>
                    <a:lnTo>
                      <a:pt x="0" y="78"/>
                    </a:lnTo>
                    <a:lnTo>
                      <a:pt x="10" y="58"/>
                    </a:lnTo>
                    <a:lnTo>
                      <a:pt x="10" y="48"/>
                    </a:lnTo>
                    <a:lnTo>
                      <a:pt x="20" y="29"/>
                    </a:lnTo>
                    <a:lnTo>
                      <a:pt x="29" y="19"/>
                    </a:lnTo>
                    <a:lnTo>
                      <a:pt x="39" y="9"/>
                    </a:lnTo>
                    <a:lnTo>
                      <a:pt x="49" y="0"/>
                    </a:lnTo>
                    <a:lnTo>
                      <a:pt x="68" y="0"/>
                    </a:lnTo>
                    <a:lnTo>
                      <a:pt x="88" y="0"/>
                    </a:lnTo>
                    <a:lnTo>
                      <a:pt x="88" y="78"/>
                    </a:lnTo>
                    <a:close/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AU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110" name="Freeform 117"/>
              <p:cNvSpPr>
                <a:spLocks/>
              </p:cNvSpPr>
              <p:nvPr/>
            </p:nvSpPr>
            <p:spPr bwMode="auto">
              <a:xfrm>
                <a:off x="4719" y="1062"/>
                <a:ext cx="78" cy="73"/>
              </a:xfrm>
              <a:custGeom>
                <a:avLst/>
                <a:gdLst>
                  <a:gd name="T0" fmla="*/ 42 w 165"/>
                  <a:gd name="T1" fmla="*/ 37 h 155"/>
                  <a:gd name="T2" fmla="*/ 74 w 165"/>
                  <a:gd name="T3" fmla="*/ 18 h 155"/>
                  <a:gd name="T4" fmla="*/ 74 w 165"/>
                  <a:gd name="T5" fmla="*/ 23 h 155"/>
                  <a:gd name="T6" fmla="*/ 74 w 165"/>
                  <a:gd name="T7" fmla="*/ 27 h 155"/>
                  <a:gd name="T8" fmla="*/ 78 w 165"/>
                  <a:gd name="T9" fmla="*/ 32 h 155"/>
                  <a:gd name="T10" fmla="*/ 78 w 165"/>
                  <a:gd name="T11" fmla="*/ 37 h 155"/>
                  <a:gd name="T12" fmla="*/ 78 w 165"/>
                  <a:gd name="T13" fmla="*/ 46 h 155"/>
                  <a:gd name="T14" fmla="*/ 74 w 165"/>
                  <a:gd name="T15" fmla="*/ 50 h 155"/>
                  <a:gd name="T16" fmla="*/ 69 w 165"/>
                  <a:gd name="T17" fmla="*/ 55 h 155"/>
                  <a:gd name="T18" fmla="*/ 64 w 165"/>
                  <a:gd name="T19" fmla="*/ 64 h 155"/>
                  <a:gd name="T20" fmla="*/ 60 w 165"/>
                  <a:gd name="T21" fmla="*/ 69 h 155"/>
                  <a:gd name="T22" fmla="*/ 55 w 165"/>
                  <a:gd name="T23" fmla="*/ 69 h 155"/>
                  <a:gd name="T24" fmla="*/ 46 w 165"/>
                  <a:gd name="T25" fmla="*/ 73 h 155"/>
                  <a:gd name="T26" fmla="*/ 42 w 165"/>
                  <a:gd name="T27" fmla="*/ 73 h 155"/>
                  <a:gd name="T28" fmla="*/ 32 w 165"/>
                  <a:gd name="T29" fmla="*/ 73 h 155"/>
                  <a:gd name="T30" fmla="*/ 23 w 165"/>
                  <a:gd name="T31" fmla="*/ 69 h 155"/>
                  <a:gd name="T32" fmla="*/ 18 w 165"/>
                  <a:gd name="T33" fmla="*/ 69 h 155"/>
                  <a:gd name="T34" fmla="*/ 14 w 165"/>
                  <a:gd name="T35" fmla="*/ 64 h 155"/>
                  <a:gd name="T36" fmla="*/ 9 w 165"/>
                  <a:gd name="T37" fmla="*/ 55 h 155"/>
                  <a:gd name="T38" fmla="*/ 5 w 165"/>
                  <a:gd name="T39" fmla="*/ 50 h 155"/>
                  <a:gd name="T40" fmla="*/ 5 w 165"/>
                  <a:gd name="T41" fmla="*/ 46 h 155"/>
                  <a:gd name="T42" fmla="*/ 0 w 165"/>
                  <a:gd name="T43" fmla="*/ 37 h 155"/>
                  <a:gd name="T44" fmla="*/ 5 w 165"/>
                  <a:gd name="T45" fmla="*/ 27 h 155"/>
                  <a:gd name="T46" fmla="*/ 5 w 165"/>
                  <a:gd name="T47" fmla="*/ 23 h 155"/>
                  <a:gd name="T48" fmla="*/ 9 w 165"/>
                  <a:gd name="T49" fmla="*/ 14 h 155"/>
                  <a:gd name="T50" fmla="*/ 14 w 165"/>
                  <a:gd name="T51" fmla="*/ 9 h 155"/>
                  <a:gd name="T52" fmla="*/ 18 w 165"/>
                  <a:gd name="T53" fmla="*/ 4 h 155"/>
                  <a:gd name="T54" fmla="*/ 23 w 165"/>
                  <a:gd name="T55" fmla="*/ 0 h 155"/>
                  <a:gd name="T56" fmla="*/ 32 w 165"/>
                  <a:gd name="T57" fmla="*/ 0 h 155"/>
                  <a:gd name="T58" fmla="*/ 42 w 165"/>
                  <a:gd name="T59" fmla="*/ 0 h 155"/>
                  <a:gd name="T60" fmla="*/ 42 w 165"/>
                  <a:gd name="T61" fmla="*/ 0 h 155"/>
                  <a:gd name="T62" fmla="*/ 42 w 165"/>
                  <a:gd name="T63" fmla="*/ 0 h 155"/>
                  <a:gd name="T64" fmla="*/ 42 w 165"/>
                  <a:gd name="T65" fmla="*/ 0 h 155"/>
                  <a:gd name="T66" fmla="*/ 42 w 165"/>
                  <a:gd name="T67" fmla="*/ 0 h 155"/>
                  <a:gd name="T68" fmla="*/ 42 w 165"/>
                  <a:gd name="T69" fmla="*/ 37 h 155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65" h="155">
                    <a:moveTo>
                      <a:pt x="88" y="78"/>
                    </a:moveTo>
                    <a:lnTo>
                      <a:pt x="156" y="39"/>
                    </a:lnTo>
                    <a:lnTo>
                      <a:pt x="156" y="48"/>
                    </a:lnTo>
                    <a:lnTo>
                      <a:pt x="156" y="58"/>
                    </a:lnTo>
                    <a:lnTo>
                      <a:pt x="165" y="68"/>
                    </a:lnTo>
                    <a:lnTo>
                      <a:pt x="165" y="78"/>
                    </a:lnTo>
                    <a:lnTo>
                      <a:pt x="165" y="97"/>
                    </a:lnTo>
                    <a:lnTo>
                      <a:pt x="156" y="107"/>
                    </a:lnTo>
                    <a:lnTo>
                      <a:pt x="146" y="116"/>
                    </a:lnTo>
                    <a:lnTo>
                      <a:pt x="136" y="136"/>
                    </a:lnTo>
                    <a:lnTo>
                      <a:pt x="127" y="146"/>
                    </a:lnTo>
                    <a:lnTo>
                      <a:pt x="117" y="146"/>
                    </a:lnTo>
                    <a:lnTo>
                      <a:pt x="97" y="155"/>
                    </a:lnTo>
                    <a:lnTo>
                      <a:pt x="88" y="155"/>
                    </a:lnTo>
                    <a:lnTo>
                      <a:pt x="68" y="155"/>
                    </a:lnTo>
                    <a:lnTo>
                      <a:pt x="49" y="146"/>
                    </a:lnTo>
                    <a:lnTo>
                      <a:pt x="39" y="146"/>
                    </a:lnTo>
                    <a:lnTo>
                      <a:pt x="29" y="136"/>
                    </a:lnTo>
                    <a:lnTo>
                      <a:pt x="20" y="116"/>
                    </a:lnTo>
                    <a:lnTo>
                      <a:pt x="10" y="107"/>
                    </a:lnTo>
                    <a:lnTo>
                      <a:pt x="10" y="97"/>
                    </a:lnTo>
                    <a:lnTo>
                      <a:pt x="0" y="78"/>
                    </a:lnTo>
                    <a:lnTo>
                      <a:pt x="10" y="58"/>
                    </a:lnTo>
                    <a:lnTo>
                      <a:pt x="10" y="48"/>
                    </a:lnTo>
                    <a:lnTo>
                      <a:pt x="20" y="29"/>
                    </a:lnTo>
                    <a:lnTo>
                      <a:pt x="29" y="19"/>
                    </a:lnTo>
                    <a:lnTo>
                      <a:pt x="39" y="9"/>
                    </a:lnTo>
                    <a:lnTo>
                      <a:pt x="49" y="0"/>
                    </a:lnTo>
                    <a:lnTo>
                      <a:pt x="68" y="0"/>
                    </a:lnTo>
                    <a:lnTo>
                      <a:pt x="88" y="0"/>
                    </a:lnTo>
                    <a:lnTo>
                      <a:pt x="88" y="7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AU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sp>
          <p:nvSpPr>
            <p:cNvPr id="105" name="Freeform 118"/>
            <p:cNvSpPr>
              <a:spLocks/>
            </p:cNvSpPr>
            <p:nvPr/>
          </p:nvSpPr>
          <p:spPr bwMode="auto">
            <a:xfrm>
              <a:off x="4480" y="1062"/>
              <a:ext cx="78" cy="73"/>
            </a:xfrm>
            <a:custGeom>
              <a:avLst/>
              <a:gdLst>
                <a:gd name="T0" fmla="*/ 36 w 165"/>
                <a:gd name="T1" fmla="*/ 37 h 155"/>
                <a:gd name="T2" fmla="*/ 69 w 165"/>
                <a:gd name="T3" fmla="*/ 18 h 155"/>
                <a:gd name="T4" fmla="*/ 73 w 165"/>
                <a:gd name="T5" fmla="*/ 23 h 155"/>
                <a:gd name="T6" fmla="*/ 73 w 165"/>
                <a:gd name="T7" fmla="*/ 27 h 155"/>
                <a:gd name="T8" fmla="*/ 73 w 165"/>
                <a:gd name="T9" fmla="*/ 32 h 155"/>
                <a:gd name="T10" fmla="*/ 78 w 165"/>
                <a:gd name="T11" fmla="*/ 37 h 155"/>
                <a:gd name="T12" fmla="*/ 73 w 165"/>
                <a:gd name="T13" fmla="*/ 46 h 155"/>
                <a:gd name="T14" fmla="*/ 73 w 165"/>
                <a:gd name="T15" fmla="*/ 50 h 155"/>
                <a:gd name="T16" fmla="*/ 69 w 165"/>
                <a:gd name="T17" fmla="*/ 55 h 155"/>
                <a:gd name="T18" fmla="*/ 64 w 165"/>
                <a:gd name="T19" fmla="*/ 64 h 155"/>
                <a:gd name="T20" fmla="*/ 60 w 165"/>
                <a:gd name="T21" fmla="*/ 69 h 155"/>
                <a:gd name="T22" fmla="*/ 55 w 165"/>
                <a:gd name="T23" fmla="*/ 69 h 155"/>
                <a:gd name="T24" fmla="*/ 46 w 165"/>
                <a:gd name="T25" fmla="*/ 73 h 155"/>
                <a:gd name="T26" fmla="*/ 36 w 165"/>
                <a:gd name="T27" fmla="*/ 73 h 155"/>
                <a:gd name="T28" fmla="*/ 32 w 165"/>
                <a:gd name="T29" fmla="*/ 73 h 155"/>
                <a:gd name="T30" fmla="*/ 23 w 165"/>
                <a:gd name="T31" fmla="*/ 69 h 155"/>
                <a:gd name="T32" fmla="*/ 18 w 165"/>
                <a:gd name="T33" fmla="*/ 69 h 155"/>
                <a:gd name="T34" fmla="*/ 14 w 165"/>
                <a:gd name="T35" fmla="*/ 64 h 155"/>
                <a:gd name="T36" fmla="*/ 9 w 165"/>
                <a:gd name="T37" fmla="*/ 55 h 155"/>
                <a:gd name="T38" fmla="*/ 4 w 165"/>
                <a:gd name="T39" fmla="*/ 50 h 155"/>
                <a:gd name="T40" fmla="*/ 0 w 165"/>
                <a:gd name="T41" fmla="*/ 46 h 155"/>
                <a:gd name="T42" fmla="*/ 0 w 165"/>
                <a:gd name="T43" fmla="*/ 37 h 155"/>
                <a:gd name="T44" fmla="*/ 0 w 165"/>
                <a:gd name="T45" fmla="*/ 27 h 155"/>
                <a:gd name="T46" fmla="*/ 4 w 165"/>
                <a:gd name="T47" fmla="*/ 23 h 155"/>
                <a:gd name="T48" fmla="*/ 9 w 165"/>
                <a:gd name="T49" fmla="*/ 14 h 155"/>
                <a:gd name="T50" fmla="*/ 14 w 165"/>
                <a:gd name="T51" fmla="*/ 9 h 155"/>
                <a:gd name="T52" fmla="*/ 18 w 165"/>
                <a:gd name="T53" fmla="*/ 4 h 155"/>
                <a:gd name="T54" fmla="*/ 23 w 165"/>
                <a:gd name="T55" fmla="*/ 0 h 155"/>
                <a:gd name="T56" fmla="*/ 32 w 165"/>
                <a:gd name="T57" fmla="*/ 0 h 155"/>
                <a:gd name="T58" fmla="*/ 36 w 165"/>
                <a:gd name="T59" fmla="*/ 0 h 155"/>
                <a:gd name="T60" fmla="*/ 41 w 165"/>
                <a:gd name="T61" fmla="*/ 0 h 155"/>
                <a:gd name="T62" fmla="*/ 41 w 165"/>
                <a:gd name="T63" fmla="*/ 0 h 155"/>
                <a:gd name="T64" fmla="*/ 41 w 165"/>
                <a:gd name="T65" fmla="*/ 0 h 155"/>
                <a:gd name="T66" fmla="*/ 41 w 165"/>
                <a:gd name="T67" fmla="*/ 0 h 155"/>
                <a:gd name="T68" fmla="*/ 36 w 165"/>
                <a:gd name="T69" fmla="*/ 37 h 15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65" h="155">
                  <a:moveTo>
                    <a:pt x="77" y="78"/>
                  </a:moveTo>
                  <a:lnTo>
                    <a:pt x="145" y="39"/>
                  </a:lnTo>
                  <a:lnTo>
                    <a:pt x="155" y="48"/>
                  </a:lnTo>
                  <a:lnTo>
                    <a:pt x="155" y="58"/>
                  </a:lnTo>
                  <a:lnTo>
                    <a:pt x="155" y="68"/>
                  </a:lnTo>
                  <a:lnTo>
                    <a:pt x="165" y="78"/>
                  </a:lnTo>
                  <a:lnTo>
                    <a:pt x="155" y="97"/>
                  </a:lnTo>
                  <a:lnTo>
                    <a:pt x="155" y="107"/>
                  </a:lnTo>
                  <a:lnTo>
                    <a:pt x="145" y="116"/>
                  </a:lnTo>
                  <a:lnTo>
                    <a:pt x="136" y="136"/>
                  </a:lnTo>
                  <a:lnTo>
                    <a:pt x="126" y="146"/>
                  </a:lnTo>
                  <a:lnTo>
                    <a:pt x="116" y="146"/>
                  </a:lnTo>
                  <a:lnTo>
                    <a:pt x="97" y="155"/>
                  </a:lnTo>
                  <a:lnTo>
                    <a:pt x="77" y="155"/>
                  </a:lnTo>
                  <a:lnTo>
                    <a:pt x="68" y="155"/>
                  </a:lnTo>
                  <a:lnTo>
                    <a:pt x="48" y="146"/>
                  </a:lnTo>
                  <a:lnTo>
                    <a:pt x="38" y="146"/>
                  </a:lnTo>
                  <a:lnTo>
                    <a:pt x="29" y="136"/>
                  </a:lnTo>
                  <a:lnTo>
                    <a:pt x="19" y="116"/>
                  </a:lnTo>
                  <a:lnTo>
                    <a:pt x="9" y="107"/>
                  </a:lnTo>
                  <a:lnTo>
                    <a:pt x="0" y="97"/>
                  </a:lnTo>
                  <a:lnTo>
                    <a:pt x="0" y="78"/>
                  </a:lnTo>
                  <a:lnTo>
                    <a:pt x="0" y="58"/>
                  </a:lnTo>
                  <a:lnTo>
                    <a:pt x="9" y="48"/>
                  </a:lnTo>
                  <a:lnTo>
                    <a:pt x="19" y="29"/>
                  </a:lnTo>
                  <a:lnTo>
                    <a:pt x="29" y="19"/>
                  </a:lnTo>
                  <a:lnTo>
                    <a:pt x="38" y="9"/>
                  </a:lnTo>
                  <a:lnTo>
                    <a:pt x="48" y="0"/>
                  </a:lnTo>
                  <a:lnTo>
                    <a:pt x="68" y="0"/>
                  </a:lnTo>
                  <a:lnTo>
                    <a:pt x="77" y="0"/>
                  </a:lnTo>
                  <a:lnTo>
                    <a:pt x="87" y="0"/>
                  </a:lnTo>
                  <a:lnTo>
                    <a:pt x="77" y="78"/>
                  </a:lnTo>
                  <a:close/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6" name="Freeform 119"/>
            <p:cNvSpPr>
              <a:spLocks/>
            </p:cNvSpPr>
            <p:nvPr/>
          </p:nvSpPr>
          <p:spPr bwMode="auto">
            <a:xfrm>
              <a:off x="4480" y="1062"/>
              <a:ext cx="78" cy="73"/>
            </a:xfrm>
            <a:custGeom>
              <a:avLst/>
              <a:gdLst>
                <a:gd name="T0" fmla="*/ 36 w 165"/>
                <a:gd name="T1" fmla="*/ 37 h 155"/>
                <a:gd name="T2" fmla="*/ 69 w 165"/>
                <a:gd name="T3" fmla="*/ 18 h 155"/>
                <a:gd name="T4" fmla="*/ 73 w 165"/>
                <a:gd name="T5" fmla="*/ 23 h 155"/>
                <a:gd name="T6" fmla="*/ 73 w 165"/>
                <a:gd name="T7" fmla="*/ 27 h 155"/>
                <a:gd name="T8" fmla="*/ 73 w 165"/>
                <a:gd name="T9" fmla="*/ 32 h 155"/>
                <a:gd name="T10" fmla="*/ 78 w 165"/>
                <a:gd name="T11" fmla="*/ 37 h 155"/>
                <a:gd name="T12" fmla="*/ 73 w 165"/>
                <a:gd name="T13" fmla="*/ 46 h 155"/>
                <a:gd name="T14" fmla="*/ 73 w 165"/>
                <a:gd name="T15" fmla="*/ 50 h 155"/>
                <a:gd name="T16" fmla="*/ 69 w 165"/>
                <a:gd name="T17" fmla="*/ 55 h 155"/>
                <a:gd name="T18" fmla="*/ 64 w 165"/>
                <a:gd name="T19" fmla="*/ 64 h 155"/>
                <a:gd name="T20" fmla="*/ 60 w 165"/>
                <a:gd name="T21" fmla="*/ 69 h 155"/>
                <a:gd name="T22" fmla="*/ 55 w 165"/>
                <a:gd name="T23" fmla="*/ 69 h 155"/>
                <a:gd name="T24" fmla="*/ 46 w 165"/>
                <a:gd name="T25" fmla="*/ 73 h 155"/>
                <a:gd name="T26" fmla="*/ 36 w 165"/>
                <a:gd name="T27" fmla="*/ 73 h 155"/>
                <a:gd name="T28" fmla="*/ 32 w 165"/>
                <a:gd name="T29" fmla="*/ 73 h 155"/>
                <a:gd name="T30" fmla="*/ 23 w 165"/>
                <a:gd name="T31" fmla="*/ 69 h 155"/>
                <a:gd name="T32" fmla="*/ 18 w 165"/>
                <a:gd name="T33" fmla="*/ 69 h 155"/>
                <a:gd name="T34" fmla="*/ 14 w 165"/>
                <a:gd name="T35" fmla="*/ 64 h 155"/>
                <a:gd name="T36" fmla="*/ 9 w 165"/>
                <a:gd name="T37" fmla="*/ 55 h 155"/>
                <a:gd name="T38" fmla="*/ 4 w 165"/>
                <a:gd name="T39" fmla="*/ 50 h 155"/>
                <a:gd name="T40" fmla="*/ 0 w 165"/>
                <a:gd name="T41" fmla="*/ 46 h 155"/>
                <a:gd name="T42" fmla="*/ 0 w 165"/>
                <a:gd name="T43" fmla="*/ 37 h 155"/>
                <a:gd name="T44" fmla="*/ 0 w 165"/>
                <a:gd name="T45" fmla="*/ 27 h 155"/>
                <a:gd name="T46" fmla="*/ 4 w 165"/>
                <a:gd name="T47" fmla="*/ 23 h 155"/>
                <a:gd name="T48" fmla="*/ 9 w 165"/>
                <a:gd name="T49" fmla="*/ 14 h 155"/>
                <a:gd name="T50" fmla="*/ 14 w 165"/>
                <a:gd name="T51" fmla="*/ 9 h 155"/>
                <a:gd name="T52" fmla="*/ 18 w 165"/>
                <a:gd name="T53" fmla="*/ 4 h 155"/>
                <a:gd name="T54" fmla="*/ 23 w 165"/>
                <a:gd name="T55" fmla="*/ 0 h 155"/>
                <a:gd name="T56" fmla="*/ 32 w 165"/>
                <a:gd name="T57" fmla="*/ 0 h 155"/>
                <a:gd name="T58" fmla="*/ 36 w 165"/>
                <a:gd name="T59" fmla="*/ 0 h 155"/>
                <a:gd name="T60" fmla="*/ 41 w 165"/>
                <a:gd name="T61" fmla="*/ 0 h 155"/>
                <a:gd name="T62" fmla="*/ 41 w 165"/>
                <a:gd name="T63" fmla="*/ 0 h 155"/>
                <a:gd name="T64" fmla="*/ 41 w 165"/>
                <a:gd name="T65" fmla="*/ 0 h 155"/>
                <a:gd name="T66" fmla="*/ 41 w 165"/>
                <a:gd name="T67" fmla="*/ 0 h 155"/>
                <a:gd name="T68" fmla="*/ 36 w 165"/>
                <a:gd name="T69" fmla="*/ 37 h 155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65" h="155">
                  <a:moveTo>
                    <a:pt x="77" y="78"/>
                  </a:moveTo>
                  <a:lnTo>
                    <a:pt x="145" y="39"/>
                  </a:lnTo>
                  <a:lnTo>
                    <a:pt x="155" y="48"/>
                  </a:lnTo>
                  <a:lnTo>
                    <a:pt x="155" y="58"/>
                  </a:lnTo>
                  <a:lnTo>
                    <a:pt x="155" y="68"/>
                  </a:lnTo>
                  <a:lnTo>
                    <a:pt x="165" y="78"/>
                  </a:lnTo>
                  <a:lnTo>
                    <a:pt x="155" y="97"/>
                  </a:lnTo>
                  <a:lnTo>
                    <a:pt x="155" y="107"/>
                  </a:lnTo>
                  <a:lnTo>
                    <a:pt x="145" y="116"/>
                  </a:lnTo>
                  <a:lnTo>
                    <a:pt x="136" y="136"/>
                  </a:lnTo>
                  <a:lnTo>
                    <a:pt x="126" y="146"/>
                  </a:lnTo>
                  <a:lnTo>
                    <a:pt x="116" y="146"/>
                  </a:lnTo>
                  <a:lnTo>
                    <a:pt x="97" y="155"/>
                  </a:lnTo>
                  <a:lnTo>
                    <a:pt x="77" y="155"/>
                  </a:lnTo>
                  <a:lnTo>
                    <a:pt x="68" y="155"/>
                  </a:lnTo>
                  <a:lnTo>
                    <a:pt x="48" y="146"/>
                  </a:lnTo>
                  <a:lnTo>
                    <a:pt x="38" y="146"/>
                  </a:lnTo>
                  <a:lnTo>
                    <a:pt x="29" y="136"/>
                  </a:lnTo>
                  <a:lnTo>
                    <a:pt x="19" y="116"/>
                  </a:lnTo>
                  <a:lnTo>
                    <a:pt x="9" y="107"/>
                  </a:lnTo>
                  <a:lnTo>
                    <a:pt x="0" y="97"/>
                  </a:lnTo>
                  <a:lnTo>
                    <a:pt x="0" y="78"/>
                  </a:lnTo>
                  <a:lnTo>
                    <a:pt x="0" y="58"/>
                  </a:lnTo>
                  <a:lnTo>
                    <a:pt x="9" y="48"/>
                  </a:lnTo>
                  <a:lnTo>
                    <a:pt x="19" y="29"/>
                  </a:lnTo>
                  <a:lnTo>
                    <a:pt x="29" y="19"/>
                  </a:lnTo>
                  <a:lnTo>
                    <a:pt x="38" y="9"/>
                  </a:lnTo>
                  <a:lnTo>
                    <a:pt x="48" y="0"/>
                  </a:lnTo>
                  <a:lnTo>
                    <a:pt x="68" y="0"/>
                  </a:lnTo>
                  <a:lnTo>
                    <a:pt x="77" y="0"/>
                  </a:lnTo>
                  <a:lnTo>
                    <a:pt x="87" y="0"/>
                  </a:lnTo>
                  <a:lnTo>
                    <a:pt x="77" y="7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1" name="AutoShape 120"/>
          <p:cNvSpPr>
            <a:spLocks noChangeArrowheads="1"/>
          </p:cNvSpPr>
          <p:nvPr/>
        </p:nvSpPr>
        <p:spPr bwMode="auto">
          <a:xfrm>
            <a:off x="2009923" y="2409998"/>
            <a:ext cx="1522413" cy="18669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AU" altLang="en-US">
              <a:solidFill>
                <a:prstClr val="black"/>
              </a:solidFill>
            </a:endParaRPr>
          </a:p>
        </p:txBody>
      </p:sp>
      <p:sp>
        <p:nvSpPr>
          <p:cNvPr id="112" name="AutoShape 121"/>
          <p:cNvSpPr>
            <a:spLocks noChangeArrowheads="1"/>
          </p:cNvSpPr>
          <p:nvPr/>
        </p:nvSpPr>
        <p:spPr bwMode="auto">
          <a:xfrm flipV="1">
            <a:off x="4549849" y="2937048"/>
            <a:ext cx="2438400" cy="1047750"/>
          </a:xfrm>
          <a:custGeom>
            <a:avLst/>
            <a:gdLst>
              <a:gd name="T0" fmla="*/ 2133600 w 21600"/>
              <a:gd name="T1" fmla="*/ 523875 h 21600"/>
              <a:gd name="T2" fmla="*/ 1219200 w 21600"/>
              <a:gd name="T3" fmla="*/ 1047750 h 21600"/>
              <a:gd name="T4" fmla="*/ 304800 w 21600"/>
              <a:gd name="T5" fmla="*/ 523875 h 21600"/>
              <a:gd name="T6" fmla="*/ 121920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3" name="Freeform 123"/>
          <p:cNvSpPr>
            <a:spLocks noEditPoints="1"/>
          </p:cNvSpPr>
          <p:nvPr/>
        </p:nvSpPr>
        <p:spPr bwMode="auto">
          <a:xfrm rot="5400000">
            <a:off x="5303912" y="4653136"/>
            <a:ext cx="1363662" cy="1363662"/>
          </a:xfrm>
          <a:custGeom>
            <a:avLst/>
            <a:gdLst>
              <a:gd name="T0" fmla="*/ 976104 w 1608"/>
              <a:gd name="T1" fmla="*/ 66996 h 1608"/>
              <a:gd name="T2" fmla="*/ 1226278 w 1608"/>
              <a:gd name="T3" fmla="*/ 274768 h 1608"/>
              <a:gd name="T4" fmla="*/ 1354333 w 1608"/>
              <a:gd name="T5" fmla="*/ 579217 h 1608"/>
              <a:gd name="T6" fmla="*/ 1321260 w 1608"/>
              <a:gd name="T7" fmla="*/ 915044 h 1608"/>
              <a:gd name="T8" fmla="*/ 1140625 w 1608"/>
              <a:gd name="T9" fmla="*/ 1186420 h 1608"/>
              <a:gd name="T10" fmla="*/ 851441 w 1608"/>
              <a:gd name="T11" fmla="*/ 1342461 h 1608"/>
              <a:gd name="T12" fmla="*/ 512221 w 1608"/>
              <a:gd name="T13" fmla="*/ 1342461 h 1608"/>
              <a:gd name="T14" fmla="*/ 223037 w 1608"/>
              <a:gd name="T15" fmla="*/ 1186420 h 1608"/>
              <a:gd name="T16" fmla="*/ 42402 w 1608"/>
              <a:gd name="T17" fmla="*/ 915044 h 1608"/>
              <a:gd name="T18" fmla="*/ 9329 w 1608"/>
              <a:gd name="T19" fmla="*/ 579217 h 1608"/>
              <a:gd name="T20" fmla="*/ 137384 w 1608"/>
              <a:gd name="T21" fmla="*/ 274768 h 1608"/>
              <a:gd name="T22" fmla="*/ 387558 w 1608"/>
              <a:gd name="T23" fmla="*/ 66996 h 1608"/>
              <a:gd name="T24" fmla="*/ 680135 w 1608"/>
              <a:gd name="T25" fmla="*/ 271376 h 1608"/>
              <a:gd name="T26" fmla="*/ 1134689 w 1608"/>
              <a:gd name="T27" fmla="*/ 515613 h 1608"/>
              <a:gd name="T28" fmla="*/ 1183876 w 1608"/>
              <a:gd name="T29" fmla="*/ 1031227 h 1608"/>
              <a:gd name="T30" fmla="*/ 790381 w 1608"/>
              <a:gd name="T31" fmla="*/ 1351789 h 1608"/>
              <a:gd name="T32" fmla="*/ 295969 w 1608"/>
              <a:gd name="T33" fmla="*/ 1201685 h 1608"/>
              <a:gd name="T34" fmla="*/ 146712 w 1608"/>
              <a:gd name="T35" fmla="*/ 708121 h 1608"/>
              <a:gd name="T36" fmla="*/ 469819 w 1608"/>
              <a:gd name="T37" fmla="*/ 317170 h 1608"/>
              <a:gd name="T38" fmla="*/ 887907 w 1608"/>
              <a:gd name="T39" fmla="*/ 542751 h 1608"/>
              <a:gd name="T40" fmla="*/ 1116880 w 1608"/>
              <a:gd name="T41" fmla="*/ 884515 h 1608"/>
              <a:gd name="T42" fmla="*/ 958295 w 1608"/>
              <a:gd name="T43" fmla="*/ 1262744 h 1608"/>
              <a:gd name="T44" fmla="*/ 552080 w 1608"/>
              <a:gd name="T45" fmla="*/ 1345005 h 1608"/>
              <a:gd name="T46" fmla="*/ 265439 w 1608"/>
              <a:gd name="T47" fmla="*/ 1055820 h 1608"/>
              <a:gd name="T48" fmla="*/ 344308 w 1608"/>
              <a:gd name="T49" fmla="*/ 649605 h 1608"/>
              <a:gd name="T50" fmla="*/ 680135 w 1608"/>
              <a:gd name="T51" fmla="*/ 664870 h 1608"/>
              <a:gd name="T52" fmla="*/ 970167 w 1608"/>
              <a:gd name="T53" fmla="*/ 820911 h 1608"/>
              <a:gd name="T54" fmla="*/ 1004089 w 1608"/>
              <a:gd name="T55" fmla="*/ 1149954 h 1608"/>
              <a:gd name="T56" fmla="*/ 750523 w 1608"/>
              <a:gd name="T57" fmla="*/ 1357726 h 1608"/>
              <a:gd name="T58" fmla="*/ 435897 w 1608"/>
              <a:gd name="T59" fmla="*/ 1260200 h 1608"/>
              <a:gd name="T60" fmla="*/ 341764 w 1608"/>
              <a:gd name="T61" fmla="*/ 945574 h 1608"/>
              <a:gd name="T62" fmla="*/ 546143 w 1608"/>
              <a:gd name="T63" fmla="*/ 692856 h 1608"/>
              <a:gd name="T64" fmla="*/ 814127 w 1608"/>
              <a:gd name="T65" fmla="*/ 838720 h 1608"/>
              <a:gd name="T66" fmla="*/ 958295 w 1608"/>
              <a:gd name="T67" fmla="*/ 1055820 h 1608"/>
              <a:gd name="T68" fmla="*/ 857377 w 1608"/>
              <a:gd name="T69" fmla="*/ 1299210 h 1608"/>
              <a:gd name="T70" fmla="*/ 597874 w 1608"/>
              <a:gd name="T71" fmla="*/ 1351789 h 1608"/>
              <a:gd name="T72" fmla="*/ 414696 w 1608"/>
              <a:gd name="T73" fmla="*/ 1168611 h 1608"/>
              <a:gd name="T74" fmla="*/ 466427 w 1608"/>
              <a:gd name="T75" fmla="*/ 909108 h 1608"/>
              <a:gd name="T76" fmla="*/ 680135 w 1608"/>
              <a:gd name="T77" fmla="*/ 918437 h 1608"/>
              <a:gd name="T78" fmla="*/ 866706 w 1608"/>
              <a:gd name="T79" fmla="*/ 1015962 h 1608"/>
              <a:gd name="T80" fmla="*/ 887907 w 1608"/>
              <a:gd name="T81" fmla="*/ 1226278 h 1608"/>
              <a:gd name="T82" fmla="*/ 725930 w 1608"/>
              <a:gd name="T83" fmla="*/ 1360270 h 1608"/>
              <a:gd name="T84" fmla="*/ 524942 w 1608"/>
              <a:gd name="T85" fmla="*/ 1299210 h 1608"/>
              <a:gd name="T86" fmla="*/ 463883 w 1608"/>
              <a:gd name="T87" fmla="*/ 1094831 h 1608"/>
              <a:gd name="T88" fmla="*/ 594482 w 1608"/>
              <a:gd name="T89" fmla="*/ 936246 h 1608"/>
              <a:gd name="T90" fmla="*/ 765788 w 1608"/>
              <a:gd name="T91" fmla="*/ 1027835 h 1608"/>
              <a:gd name="T92" fmla="*/ 859921 w 1608"/>
              <a:gd name="T93" fmla="*/ 1168611 h 1608"/>
              <a:gd name="T94" fmla="*/ 796318 w 1608"/>
              <a:gd name="T95" fmla="*/ 1323804 h 1608"/>
              <a:gd name="T96" fmla="*/ 628404 w 1608"/>
              <a:gd name="T97" fmla="*/ 1354333 h 1608"/>
              <a:gd name="T98" fmla="*/ 512221 w 1608"/>
              <a:gd name="T99" fmla="*/ 1238999 h 1608"/>
              <a:gd name="T100" fmla="*/ 542751 w 1608"/>
              <a:gd name="T101" fmla="*/ 1073629 h 1608"/>
              <a:gd name="T102" fmla="*/ 680135 w 1608"/>
              <a:gd name="T103" fmla="*/ 1079566 h 1608"/>
              <a:gd name="T104" fmla="*/ 814127 w 1608"/>
              <a:gd name="T105" fmla="*/ 1275465 h 1608"/>
              <a:gd name="T106" fmla="*/ 582609 w 1608"/>
              <a:gd name="T107" fmla="*/ 1321260 h 1608"/>
              <a:gd name="T108" fmla="*/ 625012 w 1608"/>
              <a:gd name="T109" fmla="*/ 1088894 h 1608"/>
              <a:gd name="T110" fmla="*/ 792925 w 1608"/>
              <a:gd name="T111" fmla="*/ 1226278 h 1608"/>
              <a:gd name="T112" fmla="*/ 658934 w 1608"/>
              <a:gd name="T113" fmla="*/ 1360270 h 1608"/>
              <a:gd name="T114" fmla="*/ 588546 w 1608"/>
              <a:gd name="T115" fmla="*/ 1186420 h 1608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608" h="1608">
                <a:moveTo>
                  <a:pt x="806" y="0"/>
                </a:moveTo>
                <a:lnTo>
                  <a:pt x="845" y="0"/>
                </a:lnTo>
                <a:lnTo>
                  <a:pt x="885" y="4"/>
                </a:lnTo>
                <a:lnTo>
                  <a:pt x="925" y="11"/>
                </a:lnTo>
                <a:lnTo>
                  <a:pt x="964" y="18"/>
                </a:lnTo>
                <a:lnTo>
                  <a:pt x="1004" y="25"/>
                </a:lnTo>
                <a:lnTo>
                  <a:pt x="1043" y="36"/>
                </a:lnTo>
                <a:lnTo>
                  <a:pt x="1079" y="50"/>
                </a:lnTo>
                <a:lnTo>
                  <a:pt x="1115" y="65"/>
                </a:lnTo>
                <a:lnTo>
                  <a:pt x="1151" y="79"/>
                </a:lnTo>
                <a:lnTo>
                  <a:pt x="1187" y="97"/>
                </a:lnTo>
                <a:lnTo>
                  <a:pt x="1219" y="115"/>
                </a:lnTo>
                <a:lnTo>
                  <a:pt x="1252" y="137"/>
                </a:lnTo>
                <a:lnTo>
                  <a:pt x="1284" y="162"/>
                </a:lnTo>
                <a:lnTo>
                  <a:pt x="1313" y="183"/>
                </a:lnTo>
                <a:lnTo>
                  <a:pt x="1345" y="209"/>
                </a:lnTo>
                <a:lnTo>
                  <a:pt x="1371" y="237"/>
                </a:lnTo>
                <a:lnTo>
                  <a:pt x="1399" y="263"/>
                </a:lnTo>
                <a:lnTo>
                  <a:pt x="1425" y="295"/>
                </a:lnTo>
                <a:lnTo>
                  <a:pt x="1446" y="324"/>
                </a:lnTo>
                <a:lnTo>
                  <a:pt x="1471" y="356"/>
                </a:lnTo>
                <a:lnTo>
                  <a:pt x="1493" y="389"/>
                </a:lnTo>
                <a:lnTo>
                  <a:pt x="1511" y="421"/>
                </a:lnTo>
                <a:lnTo>
                  <a:pt x="1529" y="457"/>
                </a:lnTo>
                <a:lnTo>
                  <a:pt x="1543" y="493"/>
                </a:lnTo>
                <a:lnTo>
                  <a:pt x="1558" y="529"/>
                </a:lnTo>
                <a:lnTo>
                  <a:pt x="1572" y="565"/>
                </a:lnTo>
                <a:lnTo>
                  <a:pt x="1583" y="604"/>
                </a:lnTo>
                <a:lnTo>
                  <a:pt x="1590" y="644"/>
                </a:lnTo>
                <a:lnTo>
                  <a:pt x="1597" y="683"/>
                </a:lnTo>
                <a:lnTo>
                  <a:pt x="1604" y="723"/>
                </a:lnTo>
                <a:lnTo>
                  <a:pt x="1608" y="763"/>
                </a:lnTo>
                <a:lnTo>
                  <a:pt x="1608" y="802"/>
                </a:lnTo>
                <a:lnTo>
                  <a:pt x="1608" y="845"/>
                </a:lnTo>
                <a:lnTo>
                  <a:pt x="1604" y="885"/>
                </a:lnTo>
                <a:lnTo>
                  <a:pt x="1597" y="925"/>
                </a:lnTo>
                <a:lnTo>
                  <a:pt x="1590" y="964"/>
                </a:lnTo>
                <a:lnTo>
                  <a:pt x="1583" y="1004"/>
                </a:lnTo>
                <a:lnTo>
                  <a:pt x="1572" y="1043"/>
                </a:lnTo>
                <a:lnTo>
                  <a:pt x="1558" y="1079"/>
                </a:lnTo>
                <a:lnTo>
                  <a:pt x="1543" y="1115"/>
                </a:lnTo>
                <a:lnTo>
                  <a:pt x="1529" y="1151"/>
                </a:lnTo>
                <a:lnTo>
                  <a:pt x="1511" y="1187"/>
                </a:lnTo>
                <a:lnTo>
                  <a:pt x="1493" y="1219"/>
                </a:lnTo>
                <a:lnTo>
                  <a:pt x="1471" y="1252"/>
                </a:lnTo>
                <a:lnTo>
                  <a:pt x="1446" y="1284"/>
                </a:lnTo>
                <a:lnTo>
                  <a:pt x="1425" y="1313"/>
                </a:lnTo>
                <a:lnTo>
                  <a:pt x="1399" y="1345"/>
                </a:lnTo>
                <a:lnTo>
                  <a:pt x="1371" y="1371"/>
                </a:lnTo>
                <a:lnTo>
                  <a:pt x="1345" y="1399"/>
                </a:lnTo>
                <a:lnTo>
                  <a:pt x="1313" y="1425"/>
                </a:lnTo>
                <a:lnTo>
                  <a:pt x="1284" y="1446"/>
                </a:lnTo>
                <a:lnTo>
                  <a:pt x="1252" y="1471"/>
                </a:lnTo>
                <a:lnTo>
                  <a:pt x="1219" y="1493"/>
                </a:lnTo>
                <a:lnTo>
                  <a:pt x="1187" y="1511"/>
                </a:lnTo>
                <a:lnTo>
                  <a:pt x="1151" y="1529"/>
                </a:lnTo>
                <a:lnTo>
                  <a:pt x="1115" y="1543"/>
                </a:lnTo>
                <a:lnTo>
                  <a:pt x="1079" y="1558"/>
                </a:lnTo>
                <a:lnTo>
                  <a:pt x="1043" y="1572"/>
                </a:lnTo>
                <a:lnTo>
                  <a:pt x="1004" y="1583"/>
                </a:lnTo>
                <a:lnTo>
                  <a:pt x="964" y="1590"/>
                </a:lnTo>
                <a:lnTo>
                  <a:pt x="925" y="1597"/>
                </a:lnTo>
                <a:lnTo>
                  <a:pt x="885" y="1604"/>
                </a:lnTo>
                <a:lnTo>
                  <a:pt x="845" y="1608"/>
                </a:lnTo>
                <a:lnTo>
                  <a:pt x="806" y="1608"/>
                </a:lnTo>
                <a:lnTo>
                  <a:pt x="763" y="1608"/>
                </a:lnTo>
                <a:lnTo>
                  <a:pt x="723" y="1604"/>
                </a:lnTo>
                <a:lnTo>
                  <a:pt x="683" y="1597"/>
                </a:lnTo>
                <a:lnTo>
                  <a:pt x="644" y="1590"/>
                </a:lnTo>
                <a:lnTo>
                  <a:pt x="604" y="1583"/>
                </a:lnTo>
                <a:lnTo>
                  <a:pt x="565" y="1572"/>
                </a:lnTo>
                <a:lnTo>
                  <a:pt x="529" y="1558"/>
                </a:lnTo>
                <a:lnTo>
                  <a:pt x="493" y="1543"/>
                </a:lnTo>
                <a:lnTo>
                  <a:pt x="457" y="1529"/>
                </a:lnTo>
                <a:lnTo>
                  <a:pt x="421" y="1511"/>
                </a:lnTo>
                <a:lnTo>
                  <a:pt x="389" y="1493"/>
                </a:lnTo>
                <a:lnTo>
                  <a:pt x="356" y="1471"/>
                </a:lnTo>
                <a:lnTo>
                  <a:pt x="324" y="1446"/>
                </a:lnTo>
                <a:lnTo>
                  <a:pt x="295" y="1425"/>
                </a:lnTo>
                <a:lnTo>
                  <a:pt x="263" y="1399"/>
                </a:lnTo>
                <a:lnTo>
                  <a:pt x="237" y="1371"/>
                </a:lnTo>
                <a:lnTo>
                  <a:pt x="209" y="1345"/>
                </a:lnTo>
                <a:lnTo>
                  <a:pt x="183" y="1313"/>
                </a:lnTo>
                <a:lnTo>
                  <a:pt x="162" y="1284"/>
                </a:lnTo>
                <a:lnTo>
                  <a:pt x="137" y="1252"/>
                </a:lnTo>
                <a:lnTo>
                  <a:pt x="115" y="1219"/>
                </a:lnTo>
                <a:lnTo>
                  <a:pt x="97" y="1187"/>
                </a:lnTo>
                <a:lnTo>
                  <a:pt x="79" y="1151"/>
                </a:lnTo>
                <a:lnTo>
                  <a:pt x="65" y="1115"/>
                </a:lnTo>
                <a:lnTo>
                  <a:pt x="50" y="1079"/>
                </a:lnTo>
                <a:lnTo>
                  <a:pt x="36" y="1043"/>
                </a:lnTo>
                <a:lnTo>
                  <a:pt x="25" y="1004"/>
                </a:lnTo>
                <a:lnTo>
                  <a:pt x="18" y="964"/>
                </a:lnTo>
                <a:lnTo>
                  <a:pt x="11" y="925"/>
                </a:lnTo>
                <a:lnTo>
                  <a:pt x="4" y="885"/>
                </a:lnTo>
                <a:lnTo>
                  <a:pt x="0" y="845"/>
                </a:lnTo>
                <a:lnTo>
                  <a:pt x="0" y="802"/>
                </a:lnTo>
                <a:lnTo>
                  <a:pt x="0" y="763"/>
                </a:lnTo>
                <a:lnTo>
                  <a:pt x="4" y="723"/>
                </a:lnTo>
                <a:lnTo>
                  <a:pt x="11" y="683"/>
                </a:lnTo>
                <a:lnTo>
                  <a:pt x="18" y="644"/>
                </a:lnTo>
                <a:lnTo>
                  <a:pt x="25" y="604"/>
                </a:lnTo>
                <a:lnTo>
                  <a:pt x="36" y="565"/>
                </a:lnTo>
                <a:lnTo>
                  <a:pt x="50" y="529"/>
                </a:lnTo>
                <a:lnTo>
                  <a:pt x="65" y="493"/>
                </a:lnTo>
                <a:lnTo>
                  <a:pt x="79" y="457"/>
                </a:lnTo>
                <a:lnTo>
                  <a:pt x="97" y="421"/>
                </a:lnTo>
                <a:lnTo>
                  <a:pt x="115" y="389"/>
                </a:lnTo>
                <a:lnTo>
                  <a:pt x="137" y="356"/>
                </a:lnTo>
                <a:lnTo>
                  <a:pt x="162" y="324"/>
                </a:lnTo>
                <a:lnTo>
                  <a:pt x="183" y="295"/>
                </a:lnTo>
                <a:lnTo>
                  <a:pt x="209" y="263"/>
                </a:lnTo>
                <a:lnTo>
                  <a:pt x="237" y="237"/>
                </a:lnTo>
                <a:lnTo>
                  <a:pt x="263" y="209"/>
                </a:lnTo>
                <a:lnTo>
                  <a:pt x="295" y="183"/>
                </a:lnTo>
                <a:lnTo>
                  <a:pt x="324" y="162"/>
                </a:lnTo>
                <a:lnTo>
                  <a:pt x="356" y="137"/>
                </a:lnTo>
                <a:lnTo>
                  <a:pt x="389" y="115"/>
                </a:lnTo>
                <a:lnTo>
                  <a:pt x="421" y="97"/>
                </a:lnTo>
                <a:lnTo>
                  <a:pt x="457" y="79"/>
                </a:lnTo>
                <a:lnTo>
                  <a:pt x="493" y="65"/>
                </a:lnTo>
                <a:lnTo>
                  <a:pt x="529" y="50"/>
                </a:lnTo>
                <a:lnTo>
                  <a:pt x="565" y="36"/>
                </a:lnTo>
                <a:lnTo>
                  <a:pt x="604" y="25"/>
                </a:lnTo>
                <a:lnTo>
                  <a:pt x="644" y="18"/>
                </a:lnTo>
                <a:lnTo>
                  <a:pt x="683" y="11"/>
                </a:lnTo>
                <a:lnTo>
                  <a:pt x="723" y="4"/>
                </a:lnTo>
                <a:lnTo>
                  <a:pt x="763" y="0"/>
                </a:lnTo>
                <a:lnTo>
                  <a:pt x="806" y="0"/>
                </a:lnTo>
                <a:close/>
                <a:moveTo>
                  <a:pt x="802" y="320"/>
                </a:moveTo>
                <a:lnTo>
                  <a:pt x="871" y="324"/>
                </a:lnTo>
                <a:lnTo>
                  <a:pt x="932" y="335"/>
                </a:lnTo>
                <a:lnTo>
                  <a:pt x="993" y="353"/>
                </a:lnTo>
                <a:lnTo>
                  <a:pt x="1054" y="374"/>
                </a:lnTo>
                <a:lnTo>
                  <a:pt x="1108" y="399"/>
                </a:lnTo>
                <a:lnTo>
                  <a:pt x="1162" y="432"/>
                </a:lnTo>
                <a:lnTo>
                  <a:pt x="1212" y="468"/>
                </a:lnTo>
                <a:lnTo>
                  <a:pt x="1259" y="511"/>
                </a:lnTo>
                <a:lnTo>
                  <a:pt x="1299" y="558"/>
                </a:lnTo>
                <a:lnTo>
                  <a:pt x="1338" y="608"/>
                </a:lnTo>
                <a:lnTo>
                  <a:pt x="1371" y="658"/>
                </a:lnTo>
                <a:lnTo>
                  <a:pt x="1396" y="716"/>
                </a:lnTo>
                <a:lnTo>
                  <a:pt x="1417" y="773"/>
                </a:lnTo>
                <a:lnTo>
                  <a:pt x="1435" y="835"/>
                </a:lnTo>
                <a:lnTo>
                  <a:pt x="1443" y="899"/>
                </a:lnTo>
                <a:lnTo>
                  <a:pt x="1446" y="964"/>
                </a:lnTo>
                <a:lnTo>
                  <a:pt x="1443" y="1029"/>
                </a:lnTo>
                <a:lnTo>
                  <a:pt x="1435" y="1094"/>
                </a:lnTo>
                <a:lnTo>
                  <a:pt x="1417" y="1155"/>
                </a:lnTo>
                <a:lnTo>
                  <a:pt x="1396" y="1216"/>
                </a:lnTo>
                <a:lnTo>
                  <a:pt x="1371" y="1270"/>
                </a:lnTo>
                <a:lnTo>
                  <a:pt x="1338" y="1324"/>
                </a:lnTo>
                <a:lnTo>
                  <a:pt x="1299" y="1374"/>
                </a:lnTo>
                <a:lnTo>
                  <a:pt x="1259" y="1417"/>
                </a:lnTo>
                <a:lnTo>
                  <a:pt x="1212" y="1461"/>
                </a:lnTo>
                <a:lnTo>
                  <a:pt x="1162" y="1496"/>
                </a:lnTo>
                <a:lnTo>
                  <a:pt x="1108" y="1529"/>
                </a:lnTo>
                <a:lnTo>
                  <a:pt x="1054" y="1558"/>
                </a:lnTo>
                <a:lnTo>
                  <a:pt x="993" y="1579"/>
                </a:lnTo>
                <a:lnTo>
                  <a:pt x="932" y="1594"/>
                </a:lnTo>
                <a:lnTo>
                  <a:pt x="871" y="1604"/>
                </a:lnTo>
                <a:lnTo>
                  <a:pt x="802" y="1608"/>
                </a:lnTo>
                <a:lnTo>
                  <a:pt x="737" y="1604"/>
                </a:lnTo>
                <a:lnTo>
                  <a:pt x="676" y="1594"/>
                </a:lnTo>
                <a:lnTo>
                  <a:pt x="615" y="1579"/>
                </a:lnTo>
                <a:lnTo>
                  <a:pt x="554" y="1558"/>
                </a:lnTo>
                <a:lnTo>
                  <a:pt x="500" y="1529"/>
                </a:lnTo>
                <a:lnTo>
                  <a:pt x="446" y="1496"/>
                </a:lnTo>
                <a:lnTo>
                  <a:pt x="396" y="1461"/>
                </a:lnTo>
                <a:lnTo>
                  <a:pt x="349" y="1417"/>
                </a:lnTo>
                <a:lnTo>
                  <a:pt x="309" y="1374"/>
                </a:lnTo>
                <a:lnTo>
                  <a:pt x="270" y="1324"/>
                </a:lnTo>
                <a:lnTo>
                  <a:pt x="237" y="1270"/>
                </a:lnTo>
                <a:lnTo>
                  <a:pt x="212" y="1216"/>
                </a:lnTo>
                <a:lnTo>
                  <a:pt x="191" y="1155"/>
                </a:lnTo>
                <a:lnTo>
                  <a:pt x="173" y="1094"/>
                </a:lnTo>
                <a:lnTo>
                  <a:pt x="165" y="1029"/>
                </a:lnTo>
                <a:lnTo>
                  <a:pt x="162" y="964"/>
                </a:lnTo>
                <a:lnTo>
                  <a:pt x="165" y="899"/>
                </a:lnTo>
                <a:lnTo>
                  <a:pt x="173" y="835"/>
                </a:lnTo>
                <a:lnTo>
                  <a:pt x="191" y="773"/>
                </a:lnTo>
                <a:lnTo>
                  <a:pt x="212" y="716"/>
                </a:lnTo>
                <a:lnTo>
                  <a:pt x="237" y="658"/>
                </a:lnTo>
                <a:lnTo>
                  <a:pt x="270" y="608"/>
                </a:lnTo>
                <a:lnTo>
                  <a:pt x="309" y="558"/>
                </a:lnTo>
                <a:lnTo>
                  <a:pt x="349" y="511"/>
                </a:lnTo>
                <a:lnTo>
                  <a:pt x="396" y="468"/>
                </a:lnTo>
                <a:lnTo>
                  <a:pt x="446" y="432"/>
                </a:lnTo>
                <a:lnTo>
                  <a:pt x="500" y="399"/>
                </a:lnTo>
                <a:lnTo>
                  <a:pt x="554" y="374"/>
                </a:lnTo>
                <a:lnTo>
                  <a:pt x="615" y="353"/>
                </a:lnTo>
                <a:lnTo>
                  <a:pt x="676" y="335"/>
                </a:lnTo>
                <a:lnTo>
                  <a:pt x="737" y="324"/>
                </a:lnTo>
                <a:lnTo>
                  <a:pt x="802" y="320"/>
                </a:lnTo>
                <a:close/>
                <a:moveTo>
                  <a:pt x="802" y="579"/>
                </a:moveTo>
                <a:lnTo>
                  <a:pt x="856" y="583"/>
                </a:lnTo>
                <a:lnTo>
                  <a:pt x="907" y="590"/>
                </a:lnTo>
                <a:lnTo>
                  <a:pt x="957" y="601"/>
                </a:lnTo>
                <a:lnTo>
                  <a:pt x="1004" y="619"/>
                </a:lnTo>
                <a:lnTo>
                  <a:pt x="1047" y="640"/>
                </a:lnTo>
                <a:lnTo>
                  <a:pt x="1090" y="669"/>
                </a:lnTo>
                <a:lnTo>
                  <a:pt x="1130" y="698"/>
                </a:lnTo>
                <a:lnTo>
                  <a:pt x="1166" y="730"/>
                </a:lnTo>
                <a:lnTo>
                  <a:pt x="1202" y="766"/>
                </a:lnTo>
                <a:lnTo>
                  <a:pt x="1230" y="806"/>
                </a:lnTo>
                <a:lnTo>
                  <a:pt x="1255" y="849"/>
                </a:lnTo>
                <a:lnTo>
                  <a:pt x="1277" y="896"/>
                </a:lnTo>
                <a:lnTo>
                  <a:pt x="1295" y="942"/>
                </a:lnTo>
                <a:lnTo>
                  <a:pt x="1309" y="989"/>
                </a:lnTo>
                <a:lnTo>
                  <a:pt x="1317" y="1043"/>
                </a:lnTo>
                <a:lnTo>
                  <a:pt x="1317" y="1094"/>
                </a:lnTo>
                <a:lnTo>
                  <a:pt x="1317" y="1148"/>
                </a:lnTo>
                <a:lnTo>
                  <a:pt x="1309" y="1198"/>
                </a:lnTo>
                <a:lnTo>
                  <a:pt x="1295" y="1245"/>
                </a:lnTo>
                <a:lnTo>
                  <a:pt x="1277" y="1295"/>
                </a:lnTo>
                <a:lnTo>
                  <a:pt x="1255" y="1338"/>
                </a:lnTo>
                <a:lnTo>
                  <a:pt x="1230" y="1381"/>
                </a:lnTo>
                <a:lnTo>
                  <a:pt x="1202" y="1421"/>
                </a:lnTo>
                <a:lnTo>
                  <a:pt x="1166" y="1457"/>
                </a:lnTo>
                <a:lnTo>
                  <a:pt x="1130" y="1489"/>
                </a:lnTo>
                <a:lnTo>
                  <a:pt x="1090" y="1522"/>
                </a:lnTo>
                <a:lnTo>
                  <a:pt x="1047" y="1547"/>
                </a:lnTo>
                <a:lnTo>
                  <a:pt x="1004" y="1568"/>
                </a:lnTo>
                <a:lnTo>
                  <a:pt x="957" y="1586"/>
                </a:lnTo>
                <a:lnTo>
                  <a:pt x="907" y="1597"/>
                </a:lnTo>
                <a:lnTo>
                  <a:pt x="856" y="1604"/>
                </a:lnTo>
                <a:lnTo>
                  <a:pt x="802" y="1608"/>
                </a:lnTo>
                <a:lnTo>
                  <a:pt x="752" y="1604"/>
                </a:lnTo>
                <a:lnTo>
                  <a:pt x="701" y="1597"/>
                </a:lnTo>
                <a:lnTo>
                  <a:pt x="651" y="1586"/>
                </a:lnTo>
                <a:lnTo>
                  <a:pt x="604" y="1568"/>
                </a:lnTo>
                <a:lnTo>
                  <a:pt x="561" y="1547"/>
                </a:lnTo>
                <a:lnTo>
                  <a:pt x="518" y="1522"/>
                </a:lnTo>
                <a:lnTo>
                  <a:pt x="478" y="1489"/>
                </a:lnTo>
                <a:lnTo>
                  <a:pt x="442" y="1457"/>
                </a:lnTo>
                <a:lnTo>
                  <a:pt x="406" y="1421"/>
                </a:lnTo>
                <a:lnTo>
                  <a:pt x="378" y="1381"/>
                </a:lnTo>
                <a:lnTo>
                  <a:pt x="353" y="1338"/>
                </a:lnTo>
                <a:lnTo>
                  <a:pt x="331" y="1295"/>
                </a:lnTo>
                <a:lnTo>
                  <a:pt x="313" y="1245"/>
                </a:lnTo>
                <a:lnTo>
                  <a:pt x="299" y="1198"/>
                </a:lnTo>
                <a:lnTo>
                  <a:pt x="291" y="1148"/>
                </a:lnTo>
                <a:lnTo>
                  <a:pt x="291" y="1094"/>
                </a:lnTo>
                <a:lnTo>
                  <a:pt x="291" y="1043"/>
                </a:lnTo>
                <a:lnTo>
                  <a:pt x="299" y="989"/>
                </a:lnTo>
                <a:lnTo>
                  <a:pt x="313" y="942"/>
                </a:lnTo>
                <a:lnTo>
                  <a:pt x="331" y="896"/>
                </a:lnTo>
                <a:lnTo>
                  <a:pt x="353" y="849"/>
                </a:lnTo>
                <a:lnTo>
                  <a:pt x="378" y="806"/>
                </a:lnTo>
                <a:lnTo>
                  <a:pt x="406" y="766"/>
                </a:lnTo>
                <a:lnTo>
                  <a:pt x="442" y="730"/>
                </a:lnTo>
                <a:lnTo>
                  <a:pt x="478" y="698"/>
                </a:lnTo>
                <a:lnTo>
                  <a:pt x="518" y="669"/>
                </a:lnTo>
                <a:lnTo>
                  <a:pt x="561" y="640"/>
                </a:lnTo>
                <a:lnTo>
                  <a:pt x="604" y="619"/>
                </a:lnTo>
                <a:lnTo>
                  <a:pt x="651" y="601"/>
                </a:lnTo>
                <a:lnTo>
                  <a:pt x="701" y="590"/>
                </a:lnTo>
                <a:lnTo>
                  <a:pt x="752" y="583"/>
                </a:lnTo>
                <a:lnTo>
                  <a:pt x="802" y="579"/>
                </a:lnTo>
                <a:close/>
                <a:moveTo>
                  <a:pt x="802" y="784"/>
                </a:moveTo>
                <a:lnTo>
                  <a:pt x="845" y="788"/>
                </a:lnTo>
                <a:lnTo>
                  <a:pt x="885" y="795"/>
                </a:lnTo>
                <a:lnTo>
                  <a:pt x="925" y="802"/>
                </a:lnTo>
                <a:lnTo>
                  <a:pt x="964" y="817"/>
                </a:lnTo>
                <a:lnTo>
                  <a:pt x="1000" y="835"/>
                </a:lnTo>
                <a:lnTo>
                  <a:pt x="1032" y="856"/>
                </a:lnTo>
                <a:lnTo>
                  <a:pt x="1065" y="881"/>
                </a:lnTo>
                <a:lnTo>
                  <a:pt x="1094" y="907"/>
                </a:lnTo>
                <a:lnTo>
                  <a:pt x="1122" y="935"/>
                </a:lnTo>
                <a:lnTo>
                  <a:pt x="1144" y="968"/>
                </a:lnTo>
                <a:lnTo>
                  <a:pt x="1166" y="1000"/>
                </a:lnTo>
                <a:lnTo>
                  <a:pt x="1184" y="1036"/>
                </a:lnTo>
                <a:lnTo>
                  <a:pt x="1198" y="1076"/>
                </a:lnTo>
                <a:lnTo>
                  <a:pt x="1205" y="1115"/>
                </a:lnTo>
                <a:lnTo>
                  <a:pt x="1212" y="1155"/>
                </a:lnTo>
                <a:lnTo>
                  <a:pt x="1216" y="1198"/>
                </a:lnTo>
                <a:lnTo>
                  <a:pt x="1212" y="1237"/>
                </a:lnTo>
                <a:lnTo>
                  <a:pt x="1205" y="1281"/>
                </a:lnTo>
                <a:lnTo>
                  <a:pt x="1198" y="1320"/>
                </a:lnTo>
                <a:lnTo>
                  <a:pt x="1184" y="1356"/>
                </a:lnTo>
                <a:lnTo>
                  <a:pt x="1166" y="1392"/>
                </a:lnTo>
                <a:lnTo>
                  <a:pt x="1144" y="1425"/>
                </a:lnTo>
                <a:lnTo>
                  <a:pt x="1122" y="1457"/>
                </a:lnTo>
                <a:lnTo>
                  <a:pt x="1094" y="1486"/>
                </a:lnTo>
                <a:lnTo>
                  <a:pt x="1065" y="1514"/>
                </a:lnTo>
                <a:lnTo>
                  <a:pt x="1032" y="1536"/>
                </a:lnTo>
                <a:lnTo>
                  <a:pt x="1000" y="1558"/>
                </a:lnTo>
                <a:lnTo>
                  <a:pt x="964" y="1576"/>
                </a:lnTo>
                <a:lnTo>
                  <a:pt x="925" y="1590"/>
                </a:lnTo>
                <a:lnTo>
                  <a:pt x="885" y="1601"/>
                </a:lnTo>
                <a:lnTo>
                  <a:pt x="845" y="1604"/>
                </a:lnTo>
                <a:lnTo>
                  <a:pt x="802" y="1608"/>
                </a:lnTo>
                <a:lnTo>
                  <a:pt x="763" y="1604"/>
                </a:lnTo>
                <a:lnTo>
                  <a:pt x="723" y="1601"/>
                </a:lnTo>
                <a:lnTo>
                  <a:pt x="683" y="1590"/>
                </a:lnTo>
                <a:lnTo>
                  <a:pt x="644" y="1576"/>
                </a:lnTo>
                <a:lnTo>
                  <a:pt x="608" y="1558"/>
                </a:lnTo>
                <a:lnTo>
                  <a:pt x="576" y="1536"/>
                </a:lnTo>
                <a:lnTo>
                  <a:pt x="543" y="1514"/>
                </a:lnTo>
                <a:lnTo>
                  <a:pt x="514" y="1486"/>
                </a:lnTo>
                <a:lnTo>
                  <a:pt x="486" y="1457"/>
                </a:lnTo>
                <a:lnTo>
                  <a:pt x="464" y="1425"/>
                </a:lnTo>
                <a:lnTo>
                  <a:pt x="442" y="1392"/>
                </a:lnTo>
                <a:lnTo>
                  <a:pt x="424" y="1356"/>
                </a:lnTo>
                <a:lnTo>
                  <a:pt x="410" y="1320"/>
                </a:lnTo>
                <a:lnTo>
                  <a:pt x="403" y="1281"/>
                </a:lnTo>
                <a:lnTo>
                  <a:pt x="396" y="1237"/>
                </a:lnTo>
                <a:lnTo>
                  <a:pt x="392" y="1198"/>
                </a:lnTo>
                <a:lnTo>
                  <a:pt x="396" y="1155"/>
                </a:lnTo>
                <a:lnTo>
                  <a:pt x="403" y="1115"/>
                </a:lnTo>
                <a:lnTo>
                  <a:pt x="410" y="1076"/>
                </a:lnTo>
                <a:lnTo>
                  <a:pt x="424" y="1036"/>
                </a:lnTo>
                <a:lnTo>
                  <a:pt x="442" y="1000"/>
                </a:lnTo>
                <a:lnTo>
                  <a:pt x="464" y="968"/>
                </a:lnTo>
                <a:lnTo>
                  <a:pt x="486" y="935"/>
                </a:lnTo>
                <a:lnTo>
                  <a:pt x="514" y="907"/>
                </a:lnTo>
                <a:lnTo>
                  <a:pt x="543" y="881"/>
                </a:lnTo>
                <a:lnTo>
                  <a:pt x="576" y="856"/>
                </a:lnTo>
                <a:lnTo>
                  <a:pt x="608" y="835"/>
                </a:lnTo>
                <a:lnTo>
                  <a:pt x="644" y="817"/>
                </a:lnTo>
                <a:lnTo>
                  <a:pt x="683" y="802"/>
                </a:lnTo>
                <a:lnTo>
                  <a:pt x="723" y="795"/>
                </a:lnTo>
                <a:lnTo>
                  <a:pt x="763" y="788"/>
                </a:lnTo>
                <a:lnTo>
                  <a:pt x="802" y="784"/>
                </a:lnTo>
                <a:close/>
                <a:moveTo>
                  <a:pt x="802" y="950"/>
                </a:moveTo>
                <a:lnTo>
                  <a:pt x="838" y="953"/>
                </a:lnTo>
                <a:lnTo>
                  <a:pt x="871" y="957"/>
                </a:lnTo>
                <a:lnTo>
                  <a:pt x="903" y="964"/>
                </a:lnTo>
                <a:lnTo>
                  <a:pt x="932" y="975"/>
                </a:lnTo>
                <a:lnTo>
                  <a:pt x="960" y="989"/>
                </a:lnTo>
                <a:lnTo>
                  <a:pt x="986" y="1007"/>
                </a:lnTo>
                <a:lnTo>
                  <a:pt x="1011" y="1025"/>
                </a:lnTo>
                <a:lnTo>
                  <a:pt x="1036" y="1047"/>
                </a:lnTo>
                <a:lnTo>
                  <a:pt x="1058" y="1072"/>
                </a:lnTo>
                <a:lnTo>
                  <a:pt x="1076" y="1097"/>
                </a:lnTo>
                <a:lnTo>
                  <a:pt x="1094" y="1122"/>
                </a:lnTo>
                <a:lnTo>
                  <a:pt x="1108" y="1151"/>
                </a:lnTo>
                <a:lnTo>
                  <a:pt x="1119" y="1184"/>
                </a:lnTo>
                <a:lnTo>
                  <a:pt x="1126" y="1212"/>
                </a:lnTo>
                <a:lnTo>
                  <a:pt x="1130" y="1245"/>
                </a:lnTo>
                <a:lnTo>
                  <a:pt x="1133" y="1281"/>
                </a:lnTo>
                <a:lnTo>
                  <a:pt x="1130" y="1313"/>
                </a:lnTo>
                <a:lnTo>
                  <a:pt x="1126" y="1345"/>
                </a:lnTo>
                <a:lnTo>
                  <a:pt x="1119" y="1378"/>
                </a:lnTo>
                <a:lnTo>
                  <a:pt x="1108" y="1407"/>
                </a:lnTo>
                <a:lnTo>
                  <a:pt x="1094" y="1435"/>
                </a:lnTo>
                <a:lnTo>
                  <a:pt x="1076" y="1464"/>
                </a:lnTo>
                <a:lnTo>
                  <a:pt x="1058" y="1489"/>
                </a:lnTo>
                <a:lnTo>
                  <a:pt x="1036" y="1511"/>
                </a:lnTo>
                <a:lnTo>
                  <a:pt x="1011" y="1532"/>
                </a:lnTo>
                <a:lnTo>
                  <a:pt x="986" y="1550"/>
                </a:lnTo>
                <a:lnTo>
                  <a:pt x="960" y="1568"/>
                </a:lnTo>
                <a:lnTo>
                  <a:pt x="932" y="1583"/>
                </a:lnTo>
                <a:lnTo>
                  <a:pt x="903" y="1594"/>
                </a:lnTo>
                <a:lnTo>
                  <a:pt x="871" y="1601"/>
                </a:lnTo>
                <a:lnTo>
                  <a:pt x="838" y="1608"/>
                </a:lnTo>
                <a:lnTo>
                  <a:pt x="802" y="1608"/>
                </a:lnTo>
                <a:lnTo>
                  <a:pt x="770" y="1608"/>
                </a:lnTo>
                <a:lnTo>
                  <a:pt x="737" y="1601"/>
                </a:lnTo>
                <a:lnTo>
                  <a:pt x="705" y="1594"/>
                </a:lnTo>
                <a:lnTo>
                  <a:pt x="676" y="1583"/>
                </a:lnTo>
                <a:lnTo>
                  <a:pt x="648" y="1568"/>
                </a:lnTo>
                <a:lnTo>
                  <a:pt x="622" y="1550"/>
                </a:lnTo>
                <a:lnTo>
                  <a:pt x="594" y="1532"/>
                </a:lnTo>
                <a:lnTo>
                  <a:pt x="572" y="1511"/>
                </a:lnTo>
                <a:lnTo>
                  <a:pt x="550" y="1489"/>
                </a:lnTo>
                <a:lnTo>
                  <a:pt x="532" y="1464"/>
                </a:lnTo>
                <a:lnTo>
                  <a:pt x="514" y="1435"/>
                </a:lnTo>
                <a:lnTo>
                  <a:pt x="500" y="1407"/>
                </a:lnTo>
                <a:lnTo>
                  <a:pt x="489" y="1378"/>
                </a:lnTo>
                <a:lnTo>
                  <a:pt x="482" y="1345"/>
                </a:lnTo>
                <a:lnTo>
                  <a:pt x="478" y="1313"/>
                </a:lnTo>
                <a:lnTo>
                  <a:pt x="475" y="1281"/>
                </a:lnTo>
                <a:lnTo>
                  <a:pt x="478" y="1245"/>
                </a:lnTo>
                <a:lnTo>
                  <a:pt x="482" y="1212"/>
                </a:lnTo>
                <a:lnTo>
                  <a:pt x="489" y="1184"/>
                </a:lnTo>
                <a:lnTo>
                  <a:pt x="500" y="1151"/>
                </a:lnTo>
                <a:lnTo>
                  <a:pt x="514" y="1122"/>
                </a:lnTo>
                <a:lnTo>
                  <a:pt x="532" y="1097"/>
                </a:lnTo>
                <a:lnTo>
                  <a:pt x="550" y="1072"/>
                </a:lnTo>
                <a:lnTo>
                  <a:pt x="572" y="1047"/>
                </a:lnTo>
                <a:lnTo>
                  <a:pt x="594" y="1025"/>
                </a:lnTo>
                <a:lnTo>
                  <a:pt x="622" y="1007"/>
                </a:lnTo>
                <a:lnTo>
                  <a:pt x="648" y="989"/>
                </a:lnTo>
                <a:lnTo>
                  <a:pt x="676" y="975"/>
                </a:lnTo>
                <a:lnTo>
                  <a:pt x="705" y="964"/>
                </a:lnTo>
                <a:lnTo>
                  <a:pt x="737" y="957"/>
                </a:lnTo>
                <a:lnTo>
                  <a:pt x="770" y="953"/>
                </a:lnTo>
                <a:lnTo>
                  <a:pt x="802" y="950"/>
                </a:lnTo>
                <a:close/>
                <a:moveTo>
                  <a:pt x="802" y="1083"/>
                </a:moveTo>
                <a:lnTo>
                  <a:pt x="831" y="1083"/>
                </a:lnTo>
                <a:lnTo>
                  <a:pt x="856" y="1086"/>
                </a:lnTo>
                <a:lnTo>
                  <a:pt x="881" y="1094"/>
                </a:lnTo>
                <a:lnTo>
                  <a:pt x="907" y="1104"/>
                </a:lnTo>
                <a:lnTo>
                  <a:pt x="928" y="1115"/>
                </a:lnTo>
                <a:lnTo>
                  <a:pt x="950" y="1126"/>
                </a:lnTo>
                <a:lnTo>
                  <a:pt x="971" y="1144"/>
                </a:lnTo>
                <a:lnTo>
                  <a:pt x="989" y="1158"/>
                </a:lnTo>
                <a:lnTo>
                  <a:pt x="1007" y="1180"/>
                </a:lnTo>
                <a:lnTo>
                  <a:pt x="1022" y="1198"/>
                </a:lnTo>
                <a:lnTo>
                  <a:pt x="1036" y="1219"/>
                </a:lnTo>
                <a:lnTo>
                  <a:pt x="1047" y="1245"/>
                </a:lnTo>
                <a:lnTo>
                  <a:pt x="1054" y="1266"/>
                </a:lnTo>
                <a:lnTo>
                  <a:pt x="1061" y="1291"/>
                </a:lnTo>
                <a:lnTo>
                  <a:pt x="1065" y="1320"/>
                </a:lnTo>
                <a:lnTo>
                  <a:pt x="1068" y="1345"/>
                </a:lnTo>
                <a:lnTo>
                  <a:pt x="1065" y="1371"/>
                </a:lnTo>
                <a:lnTo>
                  <a:pt x="1061" y="1399"/>
                </a:lnTo>
                <a:lnTo>
                  <a:pt x="1054" y="1425"/>
                </a:lnTo>
                <a:lnTo>
                  <a:pt x="1047" y="1446"/>
                </a:lnTo>
                <a:lnTo>
                  <a:pt x="1036" y="1471"/>
                </a:lnTo>
                <a:lnTo>
                  <a:pt x="1022" y="1493"/>
                </a:lnTo>
                <a:lnTo>
                  <a:pt x="1007" y="1511"/>
                </a:lnTo>
                <a:lnTo>
                  <a:pt x="989" y="1532"/>
                </a:lnTo>
                <a:lnTo>
                  <a:pt x="971" y="1547"/>
                </a:lnTo>
                <a:lnTo>
                  <a:pt x="950" y="1565"/>
                </a:lnTo>
                <a:lnTo>
                  <a:pt x="928" y="1576"/>
                </a:lnTo>
                <a:lnTo>
                  <a:pt x="907" y="1586"/>
                </a:lnTo>
                <a:lnTo>
                  <a:pt x="881" y="1597"/>
                </a:lnTo>
                <a:lnTo>
                  <a:pt x="856" y="1604"/>
                </a:lnTo>
                <a:lnTo>
                  <a:pt x="831" y="1608"/>
                </a:lnTo>
                <a:lnTo>
                  <a:pt x="802" y="1608"/>
                </a:lnTo>
                <a:lnTo>
                  <a:pt x="777" y="1608"/>
                </a:lnTo>
                <a:lnTo>
                  <a:pt x="752" y="1604"/>
                </a:lnTo>
                <a:lnTo>
                  <a:pt x="727" y="1597"/>
                </a:lnTo>
                <a:lnTo>
                  <a:pt x="701" y="1586"/>
                </a:lnTo>
                <a:lnTo>
                  <a:pt x="680" y="1576"/>
                </a:lnTo>
                <a:lnTo>
                  <a:pt x="658" y="1565"/>
                </a:lnTo>
                <a:lnTo>
                  <a:pt x="637" y="1547"/>
                </a:lnTo>
                <a:lnTo>
                  <a:pt x="619" y="1532"/>
                </a:lnTo>
                <a:lnTo>
                  <a:pt x="601" y="1511"/>
                </a:lnTo>
                <a:lnTo>
                  <a:pt x="586" y="1493"/>
                </a:lnTo>
                <a:lnTo>
                  <a:pt x="572" y="1471"/>
                </a:lnTo>
                <a:lnTo>
                  <a:pt x="561" y="1446"/>
                </a:lnTo>
                <a:lnTo>
                  <a:pt x="554" y="1425"/>
                </a:lnTo>
                <a:lnTo>
                  <a:pt x="547" y="1399"/>
                </a:lnTo>
                <a:lnTo>
                  <a:pt x="543" y="1371"/>
                </a:lnTo>
                <a:lnTo>
                  <a:pt x="540" y="1345"/>
                </a:lnTo>
                <a:lnTo>
                  <a:pt x="543" y="1320"/>
                </a:lnTo>
                <a:lnTo>
                  <a:pt x="547" y="1291"/>
                </a:lnTo>
                <a:lnTo>
                  <a:pt x="554" y="1266"/>
                </a:lnTo>
                <a:lnTo>
                  <a:pt x="561" y="1245"/>
                </a:lnTo>
                <a:lnTo>
                  <a:pt x="572" y="1219"/>
                </a:lnTo>
                <a:lnTo>
                  <a:pt x="586" y="1198"/>
                </a:lnTo>
                <a:lnTo>
                  <a:pt x="601" y="1180"/>
                </a:lnTo>
                <a:lnTo>
                  <a:pt x="619" y="1158"/>
                </a:lnTo>
                <a:lnTo>
                  <a:pt x="637" y="1144"/>
                </a:lnTo>
                <a:lnTo>
                  <a:pt x="658" y="1126"/>
                </a:lnTo>
                <a:lnTo>
                  <a:pt x="680" y="1115"/>
                </a:lnTo>
                <a:lnTo>
                  <a:pt x="701" y="1104"/>
                </a:lnTo>
                <a:lnTo>
                  <a:pt x="727" y="1094"/>
                </a:lnTo>
                <a:lnTo>
                  <a:pt x="752" y="1086"/>
                </a:lnTo>
                <a:lnTo>
                  <a:pt x="777" y="1083"/>
                </a:lnTo>
                <a:lnTo>
                  <a:pt x="802" y="1083"/>
                </a:lnTo>
                <a:close/>
                <a:moveTo>
                  <a:pt x="802" y="1187"/>
                </a:moveTo>
                <a:lnTo>
                  <a:pt x="824" y="1187"/>
                </a:lnTo>
                <a:lnTo>
                  <a:pt x="845" y="1191"/>
                </a:lnTo>
                <a:lnTo>
                  <a:pt x="867" y="1198"/>
                </a:lnTo>
                <a:lnTo>
                  <a:pt x="885" y="1205"/>
                </a:lnTo>
                <a:lnTo>
                  <a:pt x="903" y="1212"/>
                </a:lnTo>
                <a:lnTo>
                  <a:pt x="921" y="1223"/>
                </a:lnTo>
                <a:lnTo>
                  <a:pt x="939" y="1237"/>
                </a:lnTo>
                <a:lnTo>
                  <a:pt x="953" y="1248"/>
                </a:lnTo>
                <a:lnTo>
                  <a:pt x="968" y="1266"/>
                </a:lnTo>
                <a:lnTo>
                  <a:pt x="978" y="1281"/>
                </a:lnTo>
                <a:lnTo>
                  <a:pt x="989" y="1299"/>
                </a:lnTo>
                <a:lnTo>
                  <a:pt x="996" y="1317"/>
                </a:lnTo>
                <a:lnTo>
                  <a:pt x="1004" y="1335"/>
                </a:lnTo>
                <a:lnTo>
                  <a:pt x="1011" y="1356"/>
                </a:lnTo>
                <a:lnTo>
                  <a:pt x="1014" y="1378"/>
                </a:lnTo>
                <a:lnTo>
                  <a:pt x="1014" y="1399"/>
                </a:lnTo>
                <a:lnTo>
                  <a:pt x="1014" y="1421"/>
                </a:lnTo>
                <a:lnTo>
                  <a:pt x="1011" y="1439"/>
                </a:lnTo>
                <a:lnTo>
                  <a:pt x="1004" y="1461"/>
                </a:lnTo>
                <a:lnTo>
                  <a:pt x="996" y="1479"/>
                </a:lnTo>
                <a:lnTo>
                  <a:pt x="989" y="1496"/>
                </a:lnTo>
                <a:lnTo>
                  <a:pt x="978" y="1514"/>
                </a:lnTo>
                <a:lnTo>
                  <a:pt x="968" y="1532"/>
                </a:lnTo>
                <a:lnTo>
                  <a:pt x="953" y="1547"/>
                </a:lnTo>
                <a:lnTo>
                  <a:pt x="939" y="1561"/>
                </a:lnTo>
                <a:lnTo>
                  <a:pt x="921" y="1572"/>
                </a:lnTo>
                <a:lnTo>
                  <a:pt x="903" y="1583"/>
                </a:lnTo>
                <a:lnTo>
                  <a:pt x="885" y="1590"/>
                </a:lnTo>
                <a:lnTo>
                  <a:pt x="867" y="1597"/>
                </a:lnTo>
                <a:lnTo>
                  <a:pt x="845" y="1604"/>
                </a:lnTo>
                <a:lnTo>
                  <a:pt x="824" y="1608"/>
                </a:lnTo>
                <a:lnTo>
                  <a:pt x="802" y="1608"/>
                </a:lnTo>
                <a:lnTo>
                  <a:pt x="784" y="1608"/>
                </a:lnTo>
                <a:lnTo>
                  <a:pt x="763" y="1604"/>
                </a:lnTo>
                <a:lnTo>
                  <a:pt x="741" y="1597"/>
                </a:lnTo>
                <a:lnTo>
                  <a:pt x="723" y="1590"/>
                </a:lnTo>
                <a:lnTo>
                  <a:pt x="705" y="1583"/>
                </a:lnTo>
                <a:lnTo>
                  <a:pt x="687" y="1572"/>
                </a:lnTo>
                <a:lnTo>
                  <a:pt x="669" y="1561"/>
                </a:lnTo>
                <a:lnTo>
                  <a:pt x="655" y="1547"/>
                </a:lnTo>
                <a:lnTo>
                  <a:pt x="640" y="1532"/>
                </a:lnTo>
                <a:lnTo>
                  <a:pt x="630" y="1514"/>
                </a:lnTo>
                <a:lnTo>
                  <a:pt x="619" y="1496"/>
                </a:lnTo>
                <a:lnTo>
                  <a:pt x="612" y="1479"/>
                </a:lnTo>
                <a:lnTo>
                  <a:pt x="604" y="1461"/>
                </a:lnTo>
                <a:lnTo>
                  <a:pt x="597" y="1439"/>
                </a:lnTo>
                <a:lnTo>
                  <a:pt x="594" y="1421"/>
                </a:lnTo>
                <a:lnTo>
                  <a:pt x="594" y="1399"/>
                </a:lnTo>
                <a:lnTo>
                  <a:pt x="594" y="1378"/>
                </a:lnTo>
                <a:lnTo>
                  <a:pt x="597" y="1356"/>
                </a:lnTo>
                <a:lnTo>
                  <a:pt x="604" y="1335"/>
                </a:lnTo>
                <a:lnTo>
                  <a:pt x="612" y="1317"/>
                </a:lnTo>
                <a:lnTo>
                  <a:pt x="619" y="1299"/>
                </a:lnTo>
                <a:lnTo>
                  <a:pt x="630" y="1281"/>
                </a:lnTo>
                <a:lnTo>
                  <a:pt x="640" y="1266"/>
                </a:lnTo>
                <a:lnTo>
                  <a:pt x="655" y="1248"/>
                </a:lnTo>
                <a:lnTo>
                  <a:pt x="669" y="1237"/>
                </a:lnTo>
                <a:lnTo>
                  <a:pt x="687" y="1223"/>
                </a:lnTo>
                <a:lnTo>
                  <a:pt x="705" y="1212"/>
                </a:lnTo>
                <a:lnTo>
                  <a:pt x="723" y="1205"/>
                </a:lnTo>
                <a:lnTo>
                  <a:pt x="741" y="1198"/>
                </a:lnTo>
                <a:lnTo>
                  <a:pt x="763" y="1191"/>
                </a:lnTo>
                <a:lnTo>
                  <a:pt x="784" y="1187"/>
                </a:lnTo>
                <a:lnTo>
                  <a:pt x="802" y="1187"/>
                </a:lnTo>
                <a:close/>
                <a:moveTo>
                  <a:pt x="802" y="1273"/>
                </a:moveTo>
                <a:lnTo>
                  <a:pt x="838" y="1277"/>
                </a:lnTo>
                <a:lnTo>
                  <a:pt x="871" y="1284"/>
                </a:lnTo>
                <a:lnTo>
                  <a:pt x="899" y="1302"/>
                </a:lnTo>
                <a:lnTo>
                  <a:pt x="921" y="1320"/>
                </a:lnTo>
                <a:lnTo>
                  <a:pt x="942" y="1345"/>
                </a:lnTo>
                <a:lnTo>
                  <a:pt x="960" y="1374"/>
                </a:lnTo>
                <a:lnTo>
                  <a:pt x="968" y="1407"/>
                </a:lnTo>
                <a:lnTo>
                  <a:pt x="971" y="1439"/>
                </a:lnTo>
                <a:lnTo>
                  <a:pt x="968" y="1475"/>
                </a:lnTo>
                <a:lnTo>
                  <a:pt x="960" y="1504"/>
                </a:lnTo>
                <a:lnTo>
                  <a:pt x="942" y="1532"/>
                </a:lnTo>
                <a:lnTo>
                  <a:pt x="921" y="1558"/>
                </a:lnTo>
                <a:lnTo>
                  <a:pt x="899" y="1579"/>
                </a:lnTo>
                <a:lnTo>
                  <a:pt x="871" y="1594"/>
                </a:lnTo>
                <a:lnTo>
                  <a:pt x="838" y="1604"/>
                </a:lnTo>
                <a:lnTo>
                  <a:pt x="802" y="1608"/>
                </a:lnTo>
                <a:lnTo>
                  <a:pt x="770" y="1604"/>
                </a:lnTo>
                <a:lnTo>
                  <a:pt x="737" y="1594"/>
                </a:lnTo>
                <a:lnTo>
                  <a:pt x="709" y="1579"/>
                </a:lnTo>
                <a:lnTo>
                  <a:pt x="687" y="1558"/>
                </a:lnTo>
                <a:lnTo>
                  <a:pt x="666" y="1532"/>
                </a:lnTo>
                <a:lnTo>
                  <a:pt x="648" y="1504"/>
                </a:lnTo>
                <a:lnTo>
                  <a:pt x="640" y="1475"/>
                </a:lnTo>
                <a:lnTo>
                  <a:pt x="637" y="1439"/>
                </a:lnTo>
                <a:lnTo>
                  <a:pt x="640" y="1407"/>
                </a:lnTo>
                <a:lnTo>
                  <a:pt x="648" y="1374"/>
                </a:lnTo>
                <a:lnTo>
                  <a:pt x="666" y="1345"/>
                </a:lnTo>
                <a:lnTo>
                  <a:pt x="687" y="1320"/>
                </a:lnTo>
                <a:lnTo>
                  <a:pt x="709" y="1302"/>
                </a:lnTo>
                <a:lnTo>
                  <a:pt x="737" y="1284"/>
                </a:lnTo>
                <a:lnTo>
                  <a:pt x="770" y="1277"/>
                </a:lnTo>
                <a:lnTo>
                  <a:pt x="802" y="1273"/>
                </a:lnTo>
                <a:close/>
                <a:moveTo>
                  <a:pt x="802" y="1338"/>
                </a:moveTo>
                <a:lnTo>
                  <a:pt x="831" y="1342"/>
                </a:lnTo>
                <a:lnTo>
                  <a:pt x="856" y="1349"/>
                </a:lnTo>
                <a:lnTo>
                  <a:pt x="878" y="1363"/>
                </a:lnTo>
                <a:lnTo>
                  <a:pt x="899" y="1378"/>
                </a:lnTo>
                <a:lnTo>
                  <a:pt x="914" y="1399"/>
                </a:lnTo>
                <a:lnTo>
                  <a:pt x="928" y="1421"/>
                </a:lnTo>
                <a:lnTo>
                  <a:pt x="935" y="1446"/>
                </a:lnTo>
                <a:lnTo>
                  <a:pt x="939" y="1475"/>
                </a:lnTo>
                <a:lnTo>
                  <a:pt x="935" y="1500"/>
                </a:lnTo>
                <a:lnTo>
                  <a:pt x="928" y="1525"/>
                </a:lnTo>
                <a:lnTo>
                  <a:pt x="914" y="1550"/>
                </a:lnTo>
                <a:lnTo>
                  <a:pt x="899" y="1568"/>
                </a:lnTo>
                <a:lnTo>
                  <a:pt x="878" y="1586"/>
                </a:lnTo>
                <a:lnTo>
                  <a:pt x="856" y="1597"/>
                </a:lnTo>
                <a:lnTo>
                  <a:pt x="831" y="1604"/>
                </a:lnTo>
                <a:lnTo>
                  <a:pt x="802" y="1608"/>
                </a:lnTo>
                <a:lnTo>
                  <a:pt x="777" y="1604"/>
                </a:lnTo>
                <a:lnTo>
                  <a:pt x="752" y="1597"/>
                </a:lnTo>
                <a:lnTo>
                  <a:pt x="730" y="1586"/>
                </a:lnTo>
                <a:lnTo>
                  <a:pt x="709" y="1568"/>
                </a:lnTo>
                <a:lnTo>
                  <a:pt x="694" y="1550"/>
                </a:lnTo>
                <a:lnTo>
                  <a:pt x="680" y="1525"/>
                </a:lnTo>
                <a:lnTo>
                  <a:pt x="673" y="1500"/>
                </a:lnTo>
                <a:lnTo>
                  <a:pt x="669" y="1475"/>
                </a:lnTo>
                <a:lnTo>
                  <a:pt x="673" y="1446"/>
                </a:lnTo>
                <a:lnTo>
                  <a:pt x="680" y="1421"/>
                </a:lnTo>
                <a:lnTo>
                  <a:pt x="694" y="1399"/>
                </a:lnTo>
                <a:lnTo>
                  <a:pt x="709" y="1378"/>
                </a:lnTo>
                <a:lnTo>
                  <a:pt x="730" y="1363"/>
                </a:lnTo>
                <a:lnTo>
                  <a:pt x="752" y="1349"/>
                </a:lnTo>
                <a:lnTo>
                  <a:pt x="777" y="1342"/>
                </a:lnTo>
                <a:lnTo>
                  <a:pt x="802" y="1338"/>
                </a:lnTo>
                <a:close/>
              </a:path>
            </a:pathLst>
          </a:custGeom>
          <a:solidFill>
            <a:srgbClr val="1F1A1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14" name="Group 124"/>
          <p:cNvGrpSpPr>
            <a:grpSpLocks/>
          </p:cNvGrpSpPr>
          <p:nvPr/>
        </p:nvGrpSpPr>
        <p:grpSpPr bwMode="auto">
          <a:xfrm rot="5400000">
            <a:off x="2340050" y="4280074"/>
            <a:ext cx="1381125" cy="2152650"/>
            <a:chOff x="456" y="1074"/>
            <a:chExt cx="1386" cy="2112"/>
          </a:xfrm>
        </p:grpSpPr>
        <p:sp>
          <p:nvSpPr>
            <p:cNvPr id="115" name="Line 125"/>
            <p:cNvSpPr>
              <a:spLocks noChangeShapeType="1"/>
            </p:cNvSpPr>
            <p:nvPr/>
          </p:nvSpPr>
          <p:spPr bwMode="auto">
            <a:xfrm flipV="1">
              <a:off x="1158" y="1782"/>
              <a:ext cx="684" cy="14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6" name="Freeform 126"/>
            <p:cNvSpPr>
              <a:spLocks/>
            </p:cNvSpPr>
            <p:nvPr/>
          </p:nvSpPr>
          <p:spPr bwMode="auto">
            <a:xfrm>
              <a:off x="1152" y="1086"/>
              <a:ext cx="690" cy="684"/>
            </a:xfrm>
            <a:custGeom>
              <a:avLst/>
              <a:gdLst>
                <a:gd name="T0" fmla="*/ 690 w 690"/>
                <a:gd name="T1" fmla="*/ 684 h 684"/>
                <a:gd name="T2" fmla="*/ 0 w 690"/>
                <a:gd name="T3" fmla="*/ 0 h 6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90" h="684">
                  <a:moveTo>
                    <a:pt x="690" y="684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7" name="Line 127"/>
            <p:cNvSpPr>
              <a:spLocks noChangeShapeType="1"/>
            </p:cNvSpPr>
            <p:nvPr/>
          </p:nvSpPr>
          <p:spPr bwMode="auto">
            <a:xfrm flipH="1">
              <a:off x="456" y="1074"/>
              <a:ext cx="690" cy="7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8" name="Line 128"/>
            <p:cNvSpPr>
              <a:spLocks noChangeShapeType="1"/>
            </p:cNvSpPr>
            <p:nvPr/>
          </p:nvSpPr>
          <p:spPr bwMode="auto">
            <a:xfrm>
              <a:off x="456" y="1776"/>
              <a:ext cx="702" cy="14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19" name="Freeform 129"/>
          <p:cNvSpPr>
            <a:spLocks/>
          </p:cNvSpPr>
          <p:nvPr/>
        </p:nvSpPr>
        <p:spPr bwMode="auto">
          <a:xfrm rot="5400000">
            <a:off x="8432081" y="4634880"/>
            <a:ext cx="1008062" cy="1387475"/>
          </a:xfrm>
          <a:custGeom>
            <a:avLst/>
            <a:gdLst>
              <a:gd name="T0" fmla="*/ 0 w 1586"/>
              <a:gd name="T1" fmla="*/ 521397 h 1586"/>
              <a:gd name="T2" fmla="*/ 0 w 1586"/>
              <a:gd name="T3" fmla="*/ 1387475 h 1586"/>
              <a:gd name="T4" fmla="*/ 1008062 w 1586"/>
              <a:gd name="T5" fmla="*/ 1387475 h 1586"/>
              <a:gd name="T6" fmla="*/ 1008062 w 1586"/>
              <a:gd name="T7" fmla="*/ 521397 h 1586"/>
              <a:gd name="T8" fmla="*/ 504031 w 1586"/>
              <a:gd name="T9" fmla="*/ 0 h 1586"/>
              <a:gd name="T10" fmla="*/ 0 w 1586"/>
              <a:gd name="T11" fmla="*/ 521397 h 158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586" h="1586">
                <a:moveTo>
                  <a:pt x="0" y="596"/>
                </a:moveTo>
                <a:lnTo>
                  <a:pt x="0" y="1586"/>
                </a:lnTo>
                <a:lnTo>
                  <a:pt x="1586" y="1586"/>
                </a:lnTo>
                <a:lnTo>
                  <a:pt x="1586" y="596"/>
                </a:lnTo>
                <a:lnTo>
                  <a:pt x="793" y="0"/>
                </a:lnTo>
                <a:lnTo>
                  <a:pt x="0" y="596"/>
                </a:lnTo>
                <a:close/>
              </a:path>
            </a:pathLst>
          </a:cu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0" name="Line 141"/>
          <p:cNvSpPr>
            <a:spLocks noChangeShapeType="1"/>
          </p:cNvSpPr>
          <p:nvPr/>
        </p:nvSpPr>
        <p:spPr bwMode="auto">
          <a:xfrm>
            <a:off x="2771922" y="2155998"/>
            <a:ext cx="6350" cy="2324100"/>
          </a:xfrm>
          <a:prstGeom prst="line">
            <a:avLst/>
          </a:prstGeom>
          <a:noFill/>
          <a:ln w="28575">
            <a:solidFill>
              <a:srgbClr val="6666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1" name="Line 142"/>
          <p:cNvSpPr>
            <a:spLocks noChangeShapeType="1"/>
          </p:cNvSpPr>
          <p:nvPr/>
        </p:nvSpPr>
        <p:spPr bwMode="auto">
          <a:xfrm>
            <a:off x="5769049" y="2427462"/>
            <a:ext cx="6350" cy="1857375"/>
          </a:xfrm>
          <a:prstGeom prst="line">
            <a:avLst/>
          </a:prstGeom>
          <a:noFill/>
          <a:ln w="28575">
            <a:solidFill>
              <a:srgbClr val="6666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2" name="Line 143"/>
          <p:cNvSpPr>
            <a:spLocks noChangeShapeType="1"/>
          </p:cNvSpPr>
          <p:nvPr/>
        </p:nvSpPr>
        <p:spPr bwMode="auto">
          <a:xfrm>
            <a:off x="8675762" y="2419524"/>
            <a:ext cx="6350" cy="1857375"/>
          </a:xfrm>
          <a:prstGeom prst="line">
            <a:avLst/>
          </a:prstGeom>
          <a:noFill/>
          <a:ln w="28575">
            <a:solidFill>
              <a:srgbClr val="6666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3" name="Text Box 146"/>
          <p:cNvSpPr txBox="1">
            <a:spLocks noChangeArrowheads="1"/>
          </p:cNvSpPr>
          <p:nvPr/>
        </p:nvSpPr>
        <p:spPr bwMode="auto">
          <a:xfrm>
            <a:off x="3311599" y="2765598"/>
            <a:ext cx="17145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>
                <a:solidFill>
                  <a:prstClr val="black"/>
                </a:solidFill>
              </a:rPr>
              <a:t>Vertical lines of </a:t>
            </a:r>
            <a:r>
              <a:rPr lang="en-GB" altLang="en-US">
                <a:solidFill>
                  <a:prstClr val="black"/>
                </a:solidFill>
                <a:latin typeface="Comic Sans MS" panose="030F0702030302020204" pitchFamily="66" charset="0"/>
              </a:rPr>
              <a:t>symmetry</a:t>
            </a:r>
          </a:p>
        </p:txBody>
      </p:sp>
      <p:sp>
        <p:nvSpPr>
          <p:cNvPr id="124" name="Line 147"/>
          <p:cNvSpPr>
            <a:spLocks noChangeShapeType="1"/>
          </p:cNvSpPr>
          <p:nvPr/>
        </p:nvSpPr>
        <p:spPr bwMode="auto">
          <a:xfrm rot="5400000">
            <a:off x="3016324" y="4118148"/>
            <a:ext cx="6350" cy="2476500"/>
          </a:xfrm>
          <a:prstGeom prst="line">
            <a:avLst/>
          </a:prstGeom>
          <a:noFill/>
          <a:ln w="28575">
            <a:solidFill>
              <a:srgbClr val="6666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5" name="Line 148"/>
          <p:cNvSpPr>
            <a:spLocks noChangeShapeType="1"/>
          </p:cNvSpPr>
          <p:nvPr/>
        </p:nvSpPr>
        <p:spPr bwMode="auto">
          <a:xfrm rot="5400000">
            <a:off x="5994474" y="4095923"/>
            <a:ext cx="6350" cy="2476500"/>
          </a:xfrm>
          <a:prstGeom prst="line">
            <a:avLst/>
          </a:prstGeom>
          <a:noFill/>
          <a:ln w="28575">
            <a:solidFill>
              <a:srgbClr val="6666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6" name="Line 149"/>
          <p:cNvSpPr>
            <a:spLocks noChangeShapeType="1"/>
          </p:cNvSpPr>
          <p:nvPr/>
        </p:nvSpPr>
        <p:spPr bwMode="auto">
          <a:xfrm rot="5400000">
            <a:off x="8848799" y="4092748"/>
            <a:ext cx="6350" cy="2476500"/>
          </a:xfrm>
          <a:prstGeom prst="line">
            <a:avLst/>
          </a:prstGeom>
          <a:noFill/>
          <a:ln w="28575">
            <a:solidFill>
              <a:srgbClr val="6666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7" name="Text Box 150"/>
          <p:cNvSpPr txBox="1">
            <a:spLocks noChangeArrowheads="1"/>
          </p:cNvSpPr>
          <p:nvPr/>
        </p:nvSpPr>
        <p:spPr bwMode="auto">
          <a:xfrm>
            <a:off x="6365949" y="4295948"/>
            <a:ext cx="19240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en-US">
                <a:solidFill>
                  <a:prstClr val="black"/>
                </a:solidFill>
              </a:rPr>
              <a:t>Horizontal lines of </a:t>
            </a:r>
            <a:r>
              <a:rPr lang="en-GB" altLang="en-US">
                <a:solidFill>
                  <a:prstClr val="black"/>
                </a:solidFill>
                <a:latin typeface="Comic Sans MS" panose="030F0702030302020204" pitchFamily="66" charset="0"/>
              </a:rPr>
              <a:t>symmetry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45D5217-7E6A-428F-B15D-ED9E12E26DD0}"/>
              </a:ext>
            </a:extLst>
          </p:cNvPr>
          <p:cNvSpPr txBox="1"/>
          <p:nvPr/>
        </p:nvSpPr>
        <p:spPr>
          <a:xfrm>
            <a:off x="2558823" y="6216627"/>
            <a:ext cx="6877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Reflection can also occur outside of an object.</a:t>
            </a:r>
          </a:p>
        </p:txBody>
      </p:sp>
    </p:spTree>
    <p:extLst>
      <p:ext uri="{BB962C8B-B14F-4D97-AF65-F5344CB8AC3E}">
        <p14:creationId xmlns:p14="http://schemas.microsoft.com/office/powerpoint/2010/main" val="37754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1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2CAF4-426E-4FB0-92D0-600B3F657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Reflection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9B647-2A95-43BF-A802-3123B5CFB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>
              <a:hlinkClick r:id="rId2"/>
            </a:endParaRPr>
          </a:p>
          <a:p>
            <a:pPr marL="0" indent="0" algn="ctr">
              <a:buNone/>
            </a:pPr>
            <a:endParaRPr lang="en-AU" dirty="0">
              <a:hlinkClick r:id="rId2"/>
            </a:endParaRPr>
          </a:p>
          <a:p>
            <a:pPr marL="0" indent="0" algn="ctr">
              <a:buNone/>
            </a:pPr>
            <a:r>
              <a:rPr lang="en-AU" dirty="0">
                <a:hlinkClick r:id="rId2"/>
              </a:rPr>
              <a:t>https://www.youtube.com/watch?v=j1X_UIOvEwA</a:t>
            </a:r>
            <a:endParaRPr lang="en-AU" dirty="0"/>
          </a:p>
          <a:p>
            <a:pPr marL="0" indent="0" algn="ctr">
              <a:buNone/>
            </a:pPr>
            <a:r>
              <a:rPr lang="en-AU" dirty="0"/>
              <a:t>(first 2 minutes)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Think: how does reflecting over the y axis change the x-coordinates? </a:t>
            </a:r>
          </a:p>
        </p:txBody>
      </p:sp>
    </p:spTree>
    <p:extLst>
      <p:ext uri="{BB962C8B-B14F-4D97-AF65-F5344CB8AC3E}">
        <p14:creationId xmlns:p14="http://schemas.microsoft.com/office/powerpoint/2010/main" val="4081009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98503-2291-4327-A10F-06C130788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Choral response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D869-FEE1-4363-9CE1-D83F46DFF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When reflecting shapes in a mirror line, each </a:t>
            </a:r>
            <a:r>
              <a:rPr lang="en-GB" b="1" i="1" dirty="0">
                <a:solidFill>
                  <a:srgbClr val="FF0000"/>
                </a:solidFill>
              </a:rPr>
              <a:t>corner</a:t>
            </a:r>
            <a:r>
              <a:rPr lang="en-GB" dirty="0">
                <a:solidFill>
                  <a:srgbClr val="FF0000"/>
                </a:solidFill>
              </a:rPr>
              <a:t> should be the </a:t>
            </a:r>
            <a:r>
              <a:rPr lang="en-GB" b="1" i="1" dirty="0">
                <a:solidFill>
                  <a:srgbClr val="FF0000"/>
                </a:solidFill>
              </a:rPr>
              <a:t>same</a:t>
            </a:r>
            <a:r>
              <a:rPr lang="en-GB" dirty="0">
                <a:solidFill>
                  <a:srgbClr val="FF0000"/>
                </a:solidFill>
              </a:rPr>
              <a:t> distance away from the mirror line on each side.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GB" dirty="0"/>
              <a:t>When reflecting shapes in a mirror line, each ______ should be the </a:t>
            </a:r>
            <a:r>
              <a:rPr lang="en-GB" b="1" i="1" dirty="0"/>
              <a:t>same</a:t>
            </a:r>
            <a:r>
              <a:rPr lang="en-GB" dirty="0"/>
              <a:t> distance away from the mirror line on each side.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GB" dirty="0"/>
              <a:t>When reflecting shapes in a mirror line, each ______ should be the ____ distance away from the mirror line on each side.</a:t>
            </a:r>
          </a:p>
          <a:p>
            <a:pPr marL="0" indent="0">
              <a:buNone/>
            </a:pPr>
            <a:r>
              <a:rPr lang="en-AU" dirty="0">
                <a:highlight>
                  <a:srgbClr val="FFFF00"/>
                </a:highlight>
              </a:rPr>
              <a:t>What should be the same distance away from the mirror line? </a:t>
            </a:r>
          </a:p>
        </p:txBody>
      </p:sp>
    </p:spTree>
    <p:extLst>
      <p:ext uri="{BB962C8B-B14F-4D97-AF65-F5344CB8AC3E}">
        <p14:creationId xmlns:p14="http://schemas.microsoft.com/office/powerpoint/2010/main" val="375066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DBE37-65A2-4F25-8016-FAD5CD26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Question of the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CA588-7478-4FF2-8194-9ADB78F1A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“When reflecting an object, each corner should be _______ from the mirror line?”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>
                <a:highlight>
                  <a:srgbClr val="FF0000"/>
                </a:highlight>
              </a:rPr>
              <a:t>A: each corner should be the </a:t>
            </a:r>
            <a:r>
              <a:rPr lang="en-AU" b="1" i="1" u="sng" dirty="0">
                <a:highlight>
                  <a:srgbClr val="FF0000"/>
                </a:highlight>
              </a:rPr>
              <a:t>same distance</a:t>
            </a:r>
            <a:r>
              <a:rPr lang="en-AU" dirty="0">
                <a:highlight>
                  <a:srgbClr val="FF0000"/>
                </a:highlight>
              </a:rPr>
              <a:t> from the mirror line  </a:t>
            </a:r>
          </a:p>
        </p:txBody>
      </p:sp>
    </p:spTree>
    <p:extLst>
      <p:ext uri="{BB962C8B-B14F-4D97-AF65-F5344CB8AC3E}">
        <p14:creationId xmlns:p14="http://schemas.microsoft.com/office/powerpoint/2010/main" val="4071293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"/>
          <a:ext cx="9144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4556122" y="476672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509455" y="908720"/>
            <a:ext cx="531766" cy="18002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47728" y="61139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556123" y="908720"/>
            <a:ext cx="1514901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62629" y="61139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2985801" y="85056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041222" y="908720"/>
            <a:ext cx="1514901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023992" y="83671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59696" y="62068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581100" y="908720"/>
            <a:ext cx="201895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47928" y="597541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451302" y="859859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506722" y="908720"/>
            <a:ext cx="204940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528048" y="84600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78171" y="243001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586566" y="2727338"/>
            <a:ext cx="1514901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93072" y="243001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3016244" y="2669185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071665" y="2727338"/>
            <a:ext cx="1514901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054435" y="265533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90139" y="243930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611543" y="2727338"/>
            <a:ext cx="2018957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78371" y="2416159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2481745" y="267847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2537165" y="2727338"/>
            <a:ext cx="2049400" cy="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58491" y="266462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096000" y="908721"/>
            <a:ext cx="504056" cy="18324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508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2" grpId="0"/>
      <p:bldP spid="12" grpId="1"/>
      <p:bldP spid="14" grpId="0" animBg="1"/>
      <p:bldP spid="14" grpId="1" animBg="1"/>
      <p:bldP spid="15" grpId="0" animBg="1"/>
      <p:bldP spid="16" grpId="0"/>
      <p:bldP spid="16" grpId="1"/>
      <p:bldP spid="18" grpId="0"/>
      <p:bldP spid="18" grpId="1"/>
      <p:bldP spid="19" grpId="0" animBg="1"/>
      <p:bldP spid="19" grpId="1" animBg="1"/>
      <p:bldP spid="21" grpId="0" animBg="1"/>
      <p:bldP spid="24" grpId="0"/>
      <p:bldP spid="24" grpId="1"/>
      <p:bldP spid="26" grpId="0"/>
      <p:bldP spid="26" grpId="1"/>
      <p:bldP spid="27" grpId="0" animBg="1"/>
      <p:bldP spid="27" grpId="1" animBg="1"/>
      <p:bldP spid="29" grpId="0" animBg="1"/>
      <p:bldP spid="30" grpId="0"/>
      <p:bldP spid="30" grpId="1"/>
      <p:bldP spid="32" grpId="0"/>
      <p:bldP spid="32" grpId="1"/>
      <p:bldP spid="33" grpId="0" animBg="1"/>
      <p:bldP spid="33" grpId="1" animBg="1"/>
      <p:bldP spid="35" grpId="0" animBg="1"/>
      <p:bldP spid="3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6EACC8-DED2-421E-B215-C05082F98450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"/>
          <a:ext cx="9144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198D5C-C90F-4F6D-B4EC-7311FB06493D}"/>
              </a:ext>
            </a:extLst>
          </p:cNvPr>
          <p:cNvCxnSpPr/>
          <p:nvPr/>
        </p:nvCxnSpPr>
        <p:spPr>
          <a:xfrm>
            <a:off x="6096000" y="399495"/>
            <a:ext cx="0" cy="55041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099D57B-2860-4D52-9C37-CAB9D3C4BA1D}"/>
              </a:ext>
            </a:extLst>
          </p:cNvPr>
          <p:cNvCxnSpPr>
            <a:cxnSpLocks/>
          </p:cNvCxnSpPr>
          <p:nvPr/>
        </p:nvCxnSpPr>
        <p:spPr>
          <a:xfrm>
            <a:off x="2512381" y="3195961"/>
            <a:ext cx="77324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502B52F-0584-458F-8CC0-1A60882D193E}"/>
              </a:ext>
            </a:extLst>
          </p:cNvPr>
          <p:cNvSpPr/>
          <p:nvPr/>
        </p:nvSpPr>
        <p:spPr>
          <a:xfrm>
            <a:off x="3071682" y="4128118"/>
            <a:ext cx="1988588" cy="134940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D3019-8C0A-4288-AEA4-4C1793DDF80B}"/>
              </a:ext>
            </a:extLst>
          </p:cNvPr>
          <p:cNvSpPr txBox="1"/>
          <p:nvPr/>
        </p:nvSpPr>
        <p:spPr>
          <a:xfrm>
            <a:off x="150920" y="470517"/>
            <a:ext cx="12428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Reflect the blue triangle about the y axis THEN use the image and reflect about the x axis 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4C45CAB-529A-4337-990C-B868C103F6F6}"/>
              </a:ext>
            </a:extLst>
          </p:cNvPr>
          <p:cNvSpPr/>
          <p:nvPr/>
        </p:nvSpPr>
        <p:spPr>
          <a:xfrm>
            <a:off x="4660777" y="5228949"/>
            <a:ext cx="159798" cy="1420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5730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830B9-FD15-46F0-A49D-DED4AE23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Activity time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B64C-E29F-4B75-A9ED-BFD43E656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Complete the task sheet provided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Ask questions, get assistance and work well </a:t>
            </a:r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25019016-DD1C-44D2-A48A-FFBA742D0CA7}"/>
              </a:ext>
            </a:extLst>
          </p:cNvPr>
          <p:cNvSpPr/>
          <p:nvPr/>
        </p:nvSpPr>
        <p:spPr>
          <a:xfrm>
            <a:off x="9889724" y="3746376"/>
            <a:ext cx="807868" cy="727969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370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27D8E-E30F-43FE-BCE5-CE79F7538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Challenge (</a:t>
            </a:r>
            <a:r>
              <a:rPr lang="en-AU"/>
              <a:t>personal whiteboards)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269FF-C10E-4BEB-A2A6-714EEC172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AU" dirty="0"/>
              <a:t>Write your first name (or initials) in large block letters using grid paper.</a:t>
            </a:r>
          </a:p>
          <a:p>
            <a:pPr marL="514350" indent="-514350">
              <a:buAutoNum type="arabicPeriod"/>
            </a:pPr>
            <a:r>
              <a:rPr lang="en-AU" dirty="0"/>
              <a:t>Draw a mirror line 2 spaces under your name </a:t>
            </a:r>
          </a:p>
          <a:p>
            <a:pPr marL="514350" indent="-514350">
              <a:buAutoNum type="arabicPeriod"/>
            </a:pPr>
            <a:r>
              <a:rPr lang="en-AU" dirty="0"/>
              <a:t>Reflect your name over the mirror line </a:t>
            </a:r>
          </a:p>
          <a:p>
            <a:pPr marL="514350" indent="-514350">
              <a:buAutoNum type="arabicPeriod"/>
            </a:pPr>
            <a:endParaRPr lang="en-AU" dirty="0"/>
          </a:p>
          <a:p>
            <a:pPr marL="0" indent="0">
              <a:buNone/>
            </a:pPr>
            <a:r>
              <a:rPr lang="en-AU" dirty="0"/>
              <a:t>Example: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56783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"/>
          <a:ext cx="9144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524000" y="3199121"/>
            <a:ext cx="9144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2019254" y="476672"/>
            <a:ext cx="0" cy="22322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019254" y="462817"/>
            <a:ext cx="5483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019254" y="2722775"/>
            <a:ext cx="5206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2539898" y="1340769"/>
            <a:ext cx="0" cy="13820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539898" y="1340768"/>
            <a:ext cx="531766" cy="9361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3041221" y="1340768"/>
            <a:ext cx="504056" cy="9361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3545277" y="1340769"/>
            <a:ext cx="0" cy="13820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545278" y="2722775"/>
            <a:ext cx="53449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4065921" y="462817"/>
            <a:ext cx="0" cy="22599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545278" y="462817"/>
            <a:ext cx="53449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539899" y="462818"/>
            <a:ext cx="501323" cy="87795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3041221" y="476672"/>
            <a:ext cx="504056" cy="8640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4569977" y="462817"/>
            <a:ext cx="0" cy="22599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4569978" y="462817"/>
            <a:ext cx="152602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096000" y="476672"/>
            <a:ext cx="0" cy="8640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>
            <a:off x="5087888" y="1354623"/>
            <a:ext cx="10081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087888" y="1354624"/>
            <a:ext cx="1008112" cy="92224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4569978" y="2722775"/>
            <a:ext cx="5179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5074033" y="1808821"/>
            <a:ext cx="0" cy="9139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5074034" y="1808821"/>
            <a:ext cx="1021967" cy="9139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6096000" y="2276873"/>
            <a:ext cx="0" cy="4459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087888" y="1124744"/>
            <a:ext cx="504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5578089" y="692696"/>
            <a:ext cx="0" cy="4320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5074033" y="692696"/>
            <a:ext cx="0" cy="4320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5087889" y="692696"/>
            <a:ext cx="4902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6600056" y="2265797"/>
            <a:ext cx="0" cy="4569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7104112" y="2276873"/>
            <a:ext cx="0" cy="4459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6600056" y="2265798"/>
            <a:ext cx="504056" cy="110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6600056" y="2722775"/>
            <a:ext cx="504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V="1">
            <a:off x="8112224" y="476672"/>
            <a:ext cx="0" cy="22322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cxnSpLocks/>
          </p:cNvCxnSpPr>
          <p:nvPr/>
        </p:nvCxnSpPr>
        <p:spPr>
          <a:xfrm flipV="1">
            <a:off x="8112224" y="448962"/>
            <a:ext cx="1080120" cy="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cxnSpLocks/>
          </p:cNvCxnSpPr>
          <p:nvPr/>
        </p:nvCxnSpPr>
        <p:spPr>
          <a:xfrm flipV="1">
            <a:off x="8112224" y="2731069"/>
            <a:ext cx="1080120" cy="55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cxnSpLocks/>
          </p:cNvCxnSpPr>
          <p:nvPr/>
        </p:nvCxnSpPr>
        <p:spPr>
          <a:xfrm>
            <a:off x="8616280" y="2274138"/>
            <a:ext cx="5118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cxnSpLocks/>
          </p:cNvCxnSpPr>
          <p:nvPr/>
        </p:nvCxnSpPr>
        <p:spPr>
          <a:xfrm>
            <a:off x="9192345" y="476672"/>
            <a:ext cx="429315" cy="4109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cxnSpLocks/>
          </p:cNvCxnSpPr>
          <p:nvPr/>
        </p:nvCxnSpPr>
        <p:spPr>
          <a:xfrm flipH="1" flipV="1">
            <a:off x="9624395" y="908720"/>
            <a:ext cx="36001" cy="13654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>
            <a:cxnSpLocks/>
          </p:cNvCxnSpPr>
          <p:nvPr/>
        </p:nvCxnSpPr>
        <p:spPr>
          <a:xfrm>
            <a:off x="8616280" y="915319"/>
            <a:ext cx="7786" cy="8671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cxnSpLocks/>
          </p:cNvCxnSpPr>
          <p:nvPr/>
        </p:nvCxnSpPr>
        <p:spPr>
          <a:xfrm flipH="1">
            <a:off x="8624067" y="915318"/>
            <a:ext cx="5267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cxnSpLocks/>
          </p:cNvCxnSpPr>
          <p:nvPr/>
        </p:nvCxnSpPr>
        <p:spPr>
          <a:xfrm flipV="1">
            <a:off x="9142486" y="949958"/>
            <a:ext cx="5561" cy="13203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cxnSpLocks/>
          </p:cNvCxnSpPr>
          <p:nvPr/>
        </p:nvCxnSpPr>
        <p:spPr>
          <a:xfrm flipV="1">
            <a:off x="9192345" y="2276872"/>
            <a:ext cx="462491" cy="4320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8632868" y="1810186"/>
            <a:ext cx="0" cy="46668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/>
          <p:nvPr/>
        </p:nvCxnSpPr>
        <p:spPr>
          <a:xfrm>
            <a:off x="2019254" y="3677161"/>
            <a:ext cx="0" cy="22322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 flipV="1">
            <a:off x="2019254" y="5923264"/>
            <a:ext cx="54835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/>
          <p:nvPr/>
        </p:nvCxnSpPr>
        <p:spPr>
          <a:xfrm flipV="1">
            <a:off x="2019254" y="3663306"/>
            <a:ext cx="52064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2539898" y="3663307"/>
            <a:ext cx="0" cy="13820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V="1">
            <a:off x="2539898" y="4109209"/>
            <a:ext cx="531766" cy="9361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3041221" y="4109209"/>
            <a:ext cx="504056" cy="9361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 flipV="1">
            <a:off x="3545277" y="3663307"/>
            <a:ext cx="0" cy="13820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 flipV="1">
            <a:off x="3545278" y="3663306"/>
            <a:ext cx="53449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4065921" y="3663306"/>
            <a:ext cx="0" cy="22599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3545278" y="5923264"/>
            <a:ext cx="53449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/>
          <p:nvPr/>
        </p:nvCxnSpPr>
        <p:spPr>
          <a:xfrm flipV="1">
            <a:off x="2539899" y="5045314"/>
            <a:ext cx="501323" cy="87795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3041221" y="5045313"/>
            <a:ext cx="504056" cy="8640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4569977" y="3663306"/>
            <a:ext cx="0" cy="22599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 flipV="1">
            <a:off x="4569978" y="5923264"/>
            <a:ext cx="152602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 flipV="1">
            <a:off x="6096000" y="5045313"/>
            <a:ext cx="0" cy="86409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flipH="1" flipV="1">
            <a:off x="5087888" y="5031458"/>
            <a:ext cx="10081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 flipV="1">
            <a:off x="5087888" y="4109210"/>
            <a:ext cx="1008112" cy="92224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V="1">
            <a:off x="4569978" y="3663306"/>
            <a:ext cx="5179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5074033" y="3663307"/>
            <a:ext cx="0" cy="9139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flipV="1">
            <a:off x="5074034" y="3663307"/>
            <a:ext cx="1021967" cy="9139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6096000" y="3663307"/>
            <a:ext cx="0" cy="4459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V="1">
            <a:off x="5087888" y="5261337"/>
            <a:ext cx="504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5578089" y="5261337"/>
            <a:ext cx="0" cy="4320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5074033" y="5261337"/>
            <a:ext cx="0" cy="4320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V="1">
            <a:off x="5087889" y="5693385"/>
            <a:ext cx="4902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 flipV="1">
            <a:off x="6600056" y="3663306"/>
            <a:ext cx="0" cy="4569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flipV="1">
            <a:off x="7104112" y="3663307"/>
            <a:ext cx="0" cy="44590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/>
          <p:cNvCxnSpPr/>
          <p:nvPr/>
        </p:nvCxnSpPr>
        <p:spPr>
          <a:xfrm flipV="1">
            <a:off x="6600056" y="4109210"/>
            <a:ext cx="504056" cy="110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/>
          <p:nvPr/>
        </p:nvCxnSpPr>
        <p:spPr>
          <a:xfrm flipV="1">
            <a:off x="6600056" y="3663306"/>
            <a:ext cx="5040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>
            <a:off x="8112224" y="3677161"/>
            <a:ext cx="0" cy="22322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cxnSpLocks/>
          </p:cNvCxnSpPr>
          <p:nvPr/>
        </p:nvCxnSpPr>
        <p:spPr>
          <a:xfrm>
            <a:off x="8112224" y="5937118"/>
            <a:ext cx="1000326" cy="1107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cxnSpLocks/>
          </p:cNvCxnSpPr>
          <p:nvPr/>
        </p:nvCxnSpPr>
        <p:spPr>
          <a:xfrm>
            <a:off x="8112224" y="3649451"/>
            <a:ext cx="101589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/>
          <p:cNvCxnSpPr>
            <a:cxnSpLocks/>
          </p:cNvCxnSpPr>
          <p:nvPr/>
        </p:nvCxnSpPr>
        <p:spPr>
          <a:xfrm flipH="1">
            <a:off x="9142485" y="5505070"/>
            <a:ext cx="517402" cy="42512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/>
          <p:cNvCxnSpPr>
            <a:cxnSpLocks/>
          </p:cNvCxnSpPr>
          <p:nvPr/>
        </p:nvCxnSpPr>
        <p:spPr>
          <a:xfrm flipH="1" flipV="1">
            <a:off x="9112550" y="4135225"/>
            <a:ext cx="15572" cy="13352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/>
          <p:nvPr/>
        </p:nvCxnSpPr>
        <p:spPr>
          <a:xfrm flipV="1">
            <a:off x="8632868" y="5017603"/>
            <a:ext cx="0" cy="46668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cxnSpLocks/>
          </p:cNvCxnSpPr>
          <p:nvPr/>
        </p:nvCxnSpPr>
        <p:spPr>
          <a:xfrm>
            <a:off x="8616280" y="4120285"/>
            <a:ext cx="0" cy="13570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cxnSpLocks/>
          </p:cNvCxnSpPr>
          <p:nvPr/>
        </p:nvCxnSpPr>
        <p:spPr>
          <a:xfrm flipH="1" flipV="1">
            <a:off x="9654835" y="4109210"/>
            <a:ext cx="5052" cy="13958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cxnSpLocks/>
          </p:cNvCxnSpPr>
          <p:nvPr/>
        </p:nvCxnSpPr>
        <p:spPr>
          <a:xfrm>
            <a:off x="8616280" y="4109209"/>
            <a:ext cx="51184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>
            <a:cxnSpLocks/>
          </p:cNvCxnSpPr>
          <p:nvPr/>
        </p:nvCxnSpPr>
        <p:spPr>
          <a:xfrm flipH="1" flipV="1">
            <a:off x="9128122" y="3649451"/>
            <a:ext cx="512858" cy="4597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86B65E13-B5A0-4A29-BC42-8D8CDF3D130D}"/>
              </a:ext>
            </a:extLst>
          </p:cNvPr>
          <p:cNvCxnSpPr>
            <a:cxnSpLocks/>
          </p:cNvCxnSpPr>
          <p:nvPr/>
        </p:nvCxnSpPr>
        <p:spPr>
          <a:xfrm flipH="1">
            <a:off x="8594132" y="5488998"/>
            <a:ext cx="556682" cy="23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40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406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Comic Sans MS</vt:lpstr>
      <vt:lpstr>Wingdings</vt:lpstr>
      <vt:lpstr>Office Theme</vt:lpstr>
      <vt:lpstr>1_Office Theme</vt:lpstr>
      <vt:lpstr>2_Office Theme</vt:lpstr>
      <vt:lpstr>3_Office Theme</vt:lpstr>
      <vt:lpstr>Lesson objective </vt:lpstr>
      <vt:lpstr>Daily review: TPS </vt:lpstr>
      <vt:lpstr>Daily review </vt:lpstr>
      <vt:lpstr>Which shows 90° Clockwise? </vt:lpstr>
      <vt:lpstr>Which does not show 180° rotation? </vt:lpstr>
      <vt:lpstr>Individual task </vt:lpstr>
      <vt:lpstr>Reflection is just a flip</vt:lpstr>
      <vt:lpstr>Reflection </vt:lpstr>
      <vt:lpstr>Choral response </vt:lpstr>
      <vt:lpstr>Question of the day</vt:lpstr>
      <vt:lpstr>PowerPoint Presentation</vt:lpstr>
      <vt:lpstr>PowerPoint Presentation</vt:lpstr>
      <vt:lpstr>Activity time </vt:lpstr>
      <vt:lpstr>Challenge (personal whiteboards)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Rhys DAVIES</dc:creator>
  <cp:lastModifiedBy>DAVIES Rhys [Busselton Senior High School]</cp:lastModifiedBy>
  <cp:revision>18</cp:revision>
  <dcterms:created xsi:type="dcterms:W3CDTF">2021-07-20T00:07:27Z</dcterms:created>
  <dcterms:modified xsi:type="dcterms:W3CDTF">2023-07-20T08:45:29Z</dcterms:modified>
</cp:coreProperties>
</file>
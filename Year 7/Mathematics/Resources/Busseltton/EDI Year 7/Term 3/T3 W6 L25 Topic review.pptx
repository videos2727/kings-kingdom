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6" r:id="rId4"/>
    <p:sldId id="267" r:id="rId5"/>
    <p:sldId id="265" r:id="rId6"/>
    <p:sldId id="268" r:id="rId7"/>
    <p:sldId id="269" r:id="rId8"/>
    <p:sldId id="263" r:id="rId9"/>
    <p:sldId id="290" r:id="rId10"/>
    <p:sldId id="291" r:id="rId11"/>
    <p:sldId id="292" r:id="rId12"/>
    <p:sldId id="285" r:id="rId13"/>
    <p:sldId id="313" r:id="rId14"/>
    <p:sldId id="322" r:id="rId15"/>
    <p:sldId id="323" r:id="rId16"/>
    <p:sldId id="32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F247-40AA-D3EF-971D-54FE7E26E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F250B-AA30-FCD4-6546-EA8D91882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7C17A-B341-CF53-871D-6088A461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00F74-7FAC-E144-16CB-0CC56335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92CD0-9123-AE20-6BE8-03E2589B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6998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A61EE-8E02-791B-8E30-C3FDCD7D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E0318-8098-EADA-A740-1869AA7AA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C9009-43D4-CFF4-2A42-8063964E4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CC2F5-AABB-9042-C5D6-9AF1F941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A533B-32B5-4905-6C0D-CE36B816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545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7A3C-8949-CDE9-7B75-71B27E0C5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F689D-BECC-03EB-5CE0-17B4AD52C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99B25-6481-D497-2457-847697D30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6893E-6E30-3A83-31B0-8C51D602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E778A-AAB4-0911-D21D-604EC81A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656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7F2E-E9EF-7F39-3497-2DA676D83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56D81-5364-EBE1-5859-0E4622DE2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BC53A-14FE-94EC-A2E4-FDCFE315D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26B3F-D93E-A932-E555-3196B9A4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374F1-164F-F431-63D9-E1AAD5E96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8B767-3179-2744-8BC6-6E40F7EE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678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6C9F5-4216-D3C2-F552-769180872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D411C-11D4-BD63-8A38-FB5E7F3ED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CD8DC-F387-7BA1-6238-36F7D857E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87B7F-517C-FE7E-5F35-152C70F2A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D86D9-15F3-B2FF-94CF-4DD54673D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E9F2D3-DF4E-65E7-F9D5-6B1774EBD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212F22-52B9-029D-661A-53E976D3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75D0E-1E4D-B716-EDF0-C1256375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912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ED6F-F277-4BBC-FBDB-2BDCED79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C9E0F-AE3E-F59E-181E-F4A7C168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AA8792-1768-B9B0-0962-CDFA65055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E5012-3A76-06C8-3A61-3C220005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103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16947-F0FB-0A3B-C8A7-B7F5AE33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F8B65-D4A4-2ABE-DC27-029FC28B0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B44BA-696E-E2CB-0E4B-35F5A9B9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4731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61DF-1238-CCC1-0DE8-00949836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EF3D5-551B-60D2-7699-5E990ED50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28899-8B16-D3D9-5636-D9C7ADCC7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D1B94-0137-786B-F4E1-BEFC53675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1ED9A-DFB0-2EF2-0098-8FEA6891D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A8F59-33EA-0BD1-E55D-5471F375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9005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6BB7-4593-33F7-A829-5070EE9B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672EE8-2979-5174-83EF-8DBE3EF44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9BBA7-7562-777F-AD66-96CABDEAB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661EF-E2B6-0985-5F76-4C2FDEFB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EDE27-2861-B58E-7681-6F57100DF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8E76C-A44B-131C-5783-89C569D8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03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EFB3-742F-7800-4BAA-60C30133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0657C-A303-966B-FF08-909D85BD8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39AF9-ADB8-D0D6-A116-DD6F7FAA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D5B06-093E-994C-654B-54C7C5F9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484D4-2B6D-AFB3-F126-B8B2C7F3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377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8C4BA0-1E40-5D0B-5435-3E4C7B4FE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D2D24-881A-1B77-664A-E7814BA5A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E179E-0E5C-2286-9678-39F81FB35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3B23B-6D27-D56C-0DBD-7D96EE97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5830D-E599-33C8-077B-3415FB83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684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17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978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817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551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107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4191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448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839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6441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323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45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DEDCC-B5F0-8242-E5C1-FACAE137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DE232-69F9-CDD8-CB6B-3CD54C757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B7D13-F090-059D-13A2-B25AFF689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DBAF4-B065-4F95-966F-A2840D10A9B2}" type="datetimeFigureOut">
              <a:rPr lang="en-AU" smtClean="0"/>
              <a:t>24/08/2023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4E2D5-201C-DBDB-217F-BE620FB55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DB9C2-07F1-967F-973E-AF0D1C51B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714DF-37AD-4ADF-BA35-AC2D781E89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451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B5BFB-31C5-4BCE-A275-9F6A028C7FDD}" type="datetimeFigureOut">
              <a:rPr lang="en-GB" smtClean="0"/>
              <a:pPr/>
              <a:t>23/08/2023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4B555-C9EB-4623-91D5-B1E16899B696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968" y="114492"/>
            <a:ext cx="2005032" cy="109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3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B09E17-6770-C37C-81C4-6D9CAFFB0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40B244-1115-6011-4F28-06D7E67E1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Topic review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Solve 2-step equations using the balancing method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Verify solutions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Warm-up equations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Best buy and percent review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Equations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7BE3C-D8BA-4064-17E7-D504382D98F1}"/>
              </a:ext>
            </a:extLst>
          </p:cNvPr>
          <p:cNvSpPr txBox="1"/>
          <p:nvPr/>
        </p:nvSpPr>
        <p:spPr>
          <a:xfrm>
            <a:off x="7660433" y="365125"/>
            <a:ext cx="2864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4877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7B1A-8B8F-6B2C-1228-71DE8137A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38EAFE-8344-C2EF-9638-CFD876B6D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295" y="56600"/>
            <a:ext cx="11993409" cy="6242277"/>
          </a:xfrm>
        </p:spPr>
      </p:pic>
    </p:spTree>
    <p:extLst>
      <p:ext uri="{BB962C8B-B14F-4D97-AF65-F5344CB8AC3E}">
        <p14:creationId xmlns:p14="http://schemas.microsoft.com/office/powerpoint/2010/main" val="3021604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1C699-3526-F16F-6F15-3E6E41BB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F2889-8648-B1E6-C801-97FAD4566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636" y="140681"/>
            <a:ext cx="10515600" cy="3485127"/>
          </a:xfrm>
        </p:spPr>
      </p:pic>
    </p:spTree>
    <p:extLst>
      <p:ext uri="{BB962C8B-B14F-4D97-AF65-F5344CB8AC3E}">
        <p14:creationId xmlns:p14="http://schemas.microsoft.com/office/powerpoint/2010/main" val="346494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7917C-983E-09CA-1AD5-1444BD79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Is the solution correct…..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7F6DA-115C-862F-CC1F-E8C5D585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To Verify a solution, we substitute a value and solve.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Is n = 5 a solution to…. </a:t>
            </a:r>
          </a:p>
          <a:p>
            <a:pPr marL="0" indent="0">
              <a:buNone/>
            </a:pPr>
            <a:endParaRPr lang="en-US" sz="3600" b="1" dirty="0">
              <a:solidFill>
                <a:srgbClr val="FF0000"/>
              </a:solidFill>
            </a:endParaRPr>
          </a:p>
          <a:p>
            <a:pPr marL="742950" indent="-742950">
              <a:buAutoNum type="alphaLcParenR"/>
            </a:pPr>
            <a:r>
              <a:rPr lang="en-US" sz="3600" b="1" dirty="0">
                <a:solidFill>
                  <a:schemeClr val="bg1"/>
                </a:solidFill>
              </a:rPr>
              <a:t>N + 8 = 13 </a:t>
            </a:r>
          </a:p>
          <a:p>
            <a:pPr marL="742950" indent="-742950">
              <a:buAutoNum type="alphaLcParenR"/>
            </a:pPr>
            <a:r>
              <a:rPr lang="en-US" sz="3600" b="1" dirty="0">
                <a:solidFill>
                  <a:schemeClr val="bg1"/>
                </a:solidFill>
              </a:rPr>
              <a:t>2n + 11 = 19 </a:t>
            </a:r>
          </a:p>
          <a:p>
            <a:pPr marL="742950" indent="-742950">
              <a:buAutoNum type="alphaLcParenR"/>
            </a:pPr>
            <a:r>
              <a:rPr lang="en-US" sz="3600" b="1" dirty="0">
                <a:solidFill>
                  <a:schemeClr val="bg1"/>
                </a:solidFill>
              </a:rPr>
              <a:t>10 – 2n = 0 </a:t>
            </a:r>
          </a:p>
          <a:p>
            <a:pPr marL="742950" indent="-742950">
              <a:buAutoNum type="alphaLcParenR"/>
            </a:pPr>
            <a:r>
              <a:rPr lang="en-US" sz="3600" b="1" dirty="0">
                <a:solidFill>
                  <a:schemeClr val="bg1"/>
                </a:solidFill>
              </a:rPr>
              <a:t>3n + 15 = 45 – 3n </a:t>
            </a:r>
            <a:endParaRPr lang="en-AU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503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38949-A490-4346-90F8-4761C851F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B965EA-067E-BEC0-A2E8-EBE9373CBC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Verify if n = 6 for the equation: </a:t>
                </a:r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−9=9 </m:t>
                      </m:r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B965EA-067E-BEC0-A2E8-EBE9373CBC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055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311B6-13C5-2FF6-8B3C-D29F8947F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Whiteboards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919832-139B-2445-FB89-E11DBC36EF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Is x = 5 a solution? Verify on whiteboards </a:t>
                </a:r>
              </a:p>
              <a:p>
                <a:pPr marL="0" indent="0">
                  <a:buNone/>
                </a:pPr>
                <a:endParaRPr lang="en-US" sz="40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+8=11</m:t>
                    </m:r>
                  </m:oMath>
                </a14:m>
                <a:endParaRPr lang="en-US" sz="4000" b="0" dirty="0"/>
              </a:p>
              <a:p>
                <a:pPr marL="742950" indent="-742950">
                  <a:buAutoNum type="alphaLcParenR"/>
                </a:pPr>
                <a:endParaRPr lang="en-AU" sz="4000" dirty="0"/>
              </a:p>
              <a:p>
                <a:pPr marL="742950" indent="-742950">
                  <a:buAutoNum type="alphaLcParenR"/>
                </a:pP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28−3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=7 </m:t>
                    </m:r>
                  </m:oMath>
                </a14:m>
                <a:endParaRPr lang="en-AU" sz="4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919832-139B-2445-FB89-E11DBC36E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87" t="-39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40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83D-401A-3598-80C3-0B48C1DB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8F55-3A4E-29A7-D212-5E96C36A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AutoNum type="alphaLcParenR"/>
            </a:pPr>
            <a:r>
              <a:rPr lang="en-US" sz="3600" b="1" dirty="0"/>
              <a:t>30 % of 560L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21% of 87m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92% of $70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400% of 58cm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2.5% of 320mm </a:t>
            </a:r>
            <a:endParaRPr lang="en-A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7F21D-A259-2A06-890D-D5EFC7D711BC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percent to decimal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OF to multiplication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decimal to amount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8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EB30C-6C04-6EE9-1F88-99A96B7E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do – exercise books 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7FAD6-3E11-D3E6-9795-611B4E6FB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71707" y="1681344"/>
            <a:ext cx="3992732" cy="576262"/>
          </a:xfrm>
        </p:spPr>
        <p:txBody>
          <a:bodyPr/>
          <a:lstStyle/>
          <a:p>
            <a:r>
              <a:rPr lang="en-US" sz="2800" b="1" dirty="0">
                <a:highlight>
                  <a:srgbClr val="FFFF00"/>
                </a:highlight>
              </a:rPr>
              <a:t>Convert to Kg price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4EEB4-719A-ABE0-7B1B-E9962D55C8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AutoNum type="alphaLcParenR"/>
            </a:pPr>
            <a:r>
              <a:rPr lang="en-US" sz="2400" b="1" dirty="0"/>
              <a:t>$2 per 100g 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$0.54 per 100g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$0.45 per 100g 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$5.17 per 100g</a:t>
            </a:r>
          </a:p>
          <a:p>
            <a:pPr marL="457200" indent="-457200">
              <a:buAutoNum type="alphaLcParenR"/>
            </a:pPr>
            <a:r>
              <a:rPr lang="en-AU" sz="2400" b="1" dirty="0"/>
              <a:t>$2.10 per 200g </a:t>
            </a:r>
            <a:endParaRPr lang="en-US" sz="2400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BC8972-BCAE-FA2E-090A-4F36CDD61C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32105" y="1607521"/>
            <a:ext cx="3999001" cy="576262"/>
          </a:xfrm>
        </p:spPr>
        <p:txBody>
          <a:bodyPr/>
          <a:lstStyle/>
          <a:p>
            <a:r>
              <a:rPr lang="en-US" sz="2800" b="1" dirty="0">
                <a:highlight>
                  <a:srgbClr val="FFFF00"/>
                </a:highlight>
              </a:rPr>
              <a:t>Convert to 100g price </a:t>
            </a:r>
            <a:endParaRPr lang="en-AU" sz="2800" b="1" dirty="0">
              <a:highlight>
                <a:srgbClr val="FFFF00"/>
              </a:highligh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6944A-581B-3BC8-4358-B11CF369225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457200" indent="-457200">
              <a:buAutoNum type="alphaLcParenR"/>
            </a:pPr>
            <a:r>
              <a:rPr lang="en-US" sz="2400" b="1" dirty="0"/>
              <a:t>$13.50 per kilo </a:t>
            </a:r>
          </a:p>
          <a:p>
            <a:pPr marL="457200" indent="-457200">
              <a:buAutoNum type="alphaLcParenR"/>
            </a:pPr>
            <a:r>
              <a:rPr lang="en-US" sz="2400" b="1" dirty="0"/>
              <a:t>$18 per kilo </a:t>
            </a:r>
          </a:p>
          <a:p>
            <a:pPr marL="457200" indent="-457200">
              <a:buAutoNum type="alphaLcParenR"/>
            </a:pPr>
            <a:r>
              <a:rPr lang="en-US" sz="2400" b="1" dirty="0"/>
              <a:t>$22.70 per kilo </a:t>
            </a:r>
          </a:p>
          <a:p>
            <a:pPr marL="457200" indent="-457200">
              <a:buAutoNum type="alphaLcParenR"/>
            </a:pPr>
            <a:r>
              <a:rPr lang="en-US" sz="2400" b="1" dirty="0"/>
              <a:t>$3.50 per kilo </a:t>
            </a:r>
          </a:p>
          <a:p>
            <a:pPr marL="457200" indent="-457200">
              <a:buAutoNum type="alphaLcParenR"/>
            </a:pPr>
            <a:r>
              <a:rPr lang="en-US" sz="2400" b="1" dirty="0"/>
              <a:t>$15 for 2 kilo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91210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B30F770-10B4-1448-BBC1-D7F9D8A20C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Brain break</a:t>
            </a:r>
            <a:endParaRPr lang="en-AU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FEEB861-7079-7A09-8B4C-1AE5219057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5928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8E4CF-BDF1-B9C0-D174-5819291AA0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Yesterday’s work review </a:t>
            </a:r>
            <a:endParaRPr lang="en-A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E7A2C99-DEED-AEE1-0B94-0A6D526426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 yesterday’s “mixed questions”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9806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-2472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Mixed practice</a:t>
            </a:r>
            <a:endParaRPr lang="en-GB" b="1" dirty="0">
              <a:latin typeface="+mn-lt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72247" y="1305661"/>
            <a:ext cx="3420504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/>
                <a:ea typeface="Calibri" pitchFamily="34" charset="0"/>
                <a:cs typeface="Times New Roman" pitchFamily="18" charset="0"/>
              </a:rPr>
              <a:t>2x + 10 = 7x + 5</a:t>
            </a:r>
            <a:endParaRPr lang="en-GB" sz="2800" dirty="0">
              <a:solidFill>
                <a:prstClr val="black"/>
              </a:solidFill>
              <a:latin typeface="Calibri"/>
              <a:cs typeface="Arial" pitchFamily="34" charset="0"/>
            </a:endParaRP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/>
                <a:ea typeface="Calibri" pitchFamily="34" charset="0"/>
                <a:cs typeface="Times New Roman" pitchFamily="18" charset="0"/>
              </a:rPr>
              <a:t> 3x + 9 = 6x</a:t>
            </a:r>
            <a:endParaRPr lang="en-GB" sz="2800" dirty="0">
              <a:solidFill>
                <a:prstClr val="black"/>
              </a:solidFill>
              <a:latin typeface="Calibri"/>
              <a:cs typeface="Arial" pitchFamily="34" charset="0"/>
            </a:endParaRP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/>
                <a:ea typeface="Calibri" pitchFamily="34" charset="0"/>
                <a:cs typeface="Times New Roman" pitchFamily="18" charset="0"/>
              </a:rPr>
              <a:t> 3 (x + 4) = 6x</a:t>
            </a:r>
            <a:endParaRPr lang="en-GB" sz="2800" dirty="0">
              <a:solidFill>
                <a:prstClr val="black"/>
              </a:solidFill>
              <a:latin typeface="Calibri"/>
              <a:cs typeface="Arial" pitchFamily="34" charset="0"/>
            </a:endParaRP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/>
                <a:ea typeface="Calibri" pitchFamily="34" charset="0"/>
                <a:cs typeface="Times New Roman" pitchFamily="18" charset="0"/>
              </a:rPr>
              <a:t> 8y - 6 = 2(y + 9) </a:t>
            </a:r>
            <a:endParaRPr lang="en-GB" sz="2800" dirty="0">
              <a:solidFill>
                <a:prstClr val="black"/>
              </a:solidFill>
              <a:latin typeface="Calibri"/>
              <a:cs typeface="Arial" pitchFamily="34" charset="0"/>
            </a:endParaRP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/>
                <a:ea typeface="Calibri" pitchFamily="34" charset="0"/>
                <a:cs typeface="Times New Roman" pitchFamily="18" charset="0"/>
              </a:rPr>
              <a:t> 3(a + 4) = 5 (a + 2)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3x - 8 = x + 2 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2x + 12 = 6x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5 + 3x = 9x – 4 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2 (a + 5) = 6 ( a – 5)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5 (y – 6) = 2 ( 6 + y) </a:t>
            </a:r>
          </a:p>
          <a:p>
            <a:pPr marL="228600" indent="-2286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n-GB" sz="2800" dirty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Times New Roman" pitchFamily="18" charset="0"/>
              </a:rPr>
              <a:t> 4b = 6b - 12</a:t>
            </a:r>
            <a:endParaRPr lang="en-GB" sz="2800" dirty="0">
              <a:solidFill>
                <a:prstClr val="black"/>
              </a:solidFill>
              <a:latin typeface="Calibri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29411" y="1305661"/>
            <a:ext cx="205639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x = 1 </a:t>
            </a:r>
            <a:endParaRPr lang="en-US" sz="2800" dirty="0">
              <a:solidFill>
                <a:srgbClr val="0070C0"/>
              </a:solidFill>
              <a:latin typeface="Calibri"/>
            </a:endParaRP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x = 3 </a:t>
            </a:r>
            <a:endParaRPr lang="en-US" sz="2800" dirty="0">
              <a:solidFill>
                <a:srgbClr val="0070C0"/>
              </a:solidFill>
              <a:latin typeface="Calibri"/>
            </a:endParaRP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x = 4 </a:t>
            </a:r>
            <a:endParaRPr lang="en-US" sz="2800" dirty="0">
              <a:solidFill>
                <a:srgbClr val="0070C0"/>
              </a:solidFill>
              <a:latin typeface="Calibri"/>
            </a:endParaRP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y = 4 </a:t>
            </a:r>
            <a:endParaRPr lang="en-US" sz="2800" dirty="0">
              <a:solidFill>
                <a:srgbClr val="0070C0"/>
              </a:solidFill>
              <a:latin typeface="Calibri"/>
            </a:endParaRP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a = 1  </a:t>
            </a:r>
            <a:endParaRPr lang="en-US" sz="2800" dirty="0">
              <a:solidFill>
                <a:srgbClr val="0070C0"/>
              </a:solidFill>
              <a:latin typeface="Calibri"/>
            </a:endParaRP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x = 5</a:t>
            </a: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x = 3</a:t>
            </a: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x = 1.5</a:t>
            </a: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a = 10</a:t>
            </a: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y = 14</a:t>
            </a:r>
          </a:p>
          <a:p>
            <a:pPr defTabSz="457200"/>
            <a:r>
              <a:rPr lang="en-GB" sz="2800" dirty="0">
                <a:solidFill>
                  <a:srgbClr val="0070C0"/>
                </a:solidFill>
                <a:latin typeface="Calibri"/>
              </a:rPr>
              <a:t>b = 6  </a:t>
            </a:r>
            <a:endParaRPr lang="en-US" sz="280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F21375-3705-E0FB-3C4B-0BD1731A4FBD}"/>
              </a:ext>
            </a:extLst>
          </p:cNvPr>
          <p:cNvSpPr txBox="1"/>
          <p:nvPr/>
        </p:nvSpPr>
        <p:spPr>
          <a:xfrm>
            <a:off x="8742784" y="1492898"/>
            <a:ext cx="29578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Start next page</a:t>
            </a:r>
          </a:p>
          <a:p>
            <a:r>
              <a:rPr lang="en-US" sz="2400" b="1" dirty="0"/>
              <a:t>“problem solving” </a:t>
            </a:r>
          </a:p>
          <a:p>
            <a:r>
              <a:rPr lang="en-US" sz="2400" b="1" dirty="0"/>
              <a:t>Skip question 2</a:t>
            </a:r>
            <a:endParaRPr lang="en-AU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08885" y="1175978"/>
            <a:ext cx="221599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GB" sz="1600" i="1" dirty="0">
                <a:solidFill>
                  <a:srgbClr val="FFC000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ABCD</a:t>
            </a:r>
            <a:r>
              <a:rPr lang="en-GB" sz="1600" dirty="0">
                <a:solidFill>
                  <a:srgbClr val="FFC000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is a parallelogram.</a:t>
            </a:r>
          </a:p>
          <a:p>
            <a:pPr defTabSz="457200"/>
            <a:endParaRPr lang="en-GB" sz="1600" dirty="0">
              <a:solidFill>
                <a:srgbClr val="FFC000">
                  <a:lumMod val="75000"/>
                </a:srgbClr>
              </a:solidFill>
              <a:latin typeface="Calibri"/>
              <a:cs typeface="Arial" panose="020B0604020202020204" pitchFamily="34" charset="0"/>
            </a:endParaRPr>
          </a:p>
          <a:p>
            <a:pPr defTabSz="457200"/>
            <a:r>
              <a:rPr lang="en-GB" sz="1600" dirty="0">
                <a:solidFill>
                  <a:srgbClr val="FFC000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Find the size of angle </a:t>
            </a:r>
            <a:r>
              <a:rPr lang="en-GB" i="1" dirty="0">
                <a:solidFill>
                  <a:srgbClr val="FFC000">
                    <a:lumMod val="75000"/>
                  </a:srgbClr>
                </a:solidFill>
                <a:latin typeface="Calibri"/>
                <a:cs typeface="Times New Roman" panose="02020603050405020304" pitchFamily="18" charset="0"/>
              </a:rPr>
              <a:t>y</a:t>
            </a:r>
            <a:r>
              <a:rPr lang="en-GB" sz="1600" dirty="0">
                <a:solidFill>
                  <a:srgbClr val="FFC000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°.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629729" y="1955533"/>
            <a:ext cx="4222390" cy="2341832"/>
            <a:chOff x="821786" y="1936816"/>
            <a:chExt cx="4222390" cy="2341832"/>
          </a:xfrm>
        </p:grpSpPr>
        <p:sp>
          <p:nvSpPr>
            <p:cNvPr id="7" name="Parallelogram 6"/>
            <p:cNvSpPr/>
            <p:nvPr/>
          </p:nvSpPr>
          <p:spPr>
            <a:xfrm>
              <a:off x="1207698" y="2322729"/>
              <a:ext cx="3450566" cy="1570008"/>
            </a:xfrm>
            <a:prstGeom prst="parallelogram">
              <a:avLst>
                <a:gd name="adj" fmla="val 53767"/>
              </a:avLst>
            </a:prstGeom>
            <a:noFill/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srgbClr val="FFC000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12" name="Arc 11"/>
            <p:cNvSpPr/>
            <p:nvPr/>
          </p:nvSpPr>
          <p:spPr>
            <a:xfrm>
              <a:off x="4272352" y="1936817"/>
              <a:ext cx="771824" cy="771824"/>
            </a:xfrm>
            <a:prstGeom prst="arc">
              <a:avLst>
                <a:gd name="adj1" fmla="val 7119122"/>
                <a:gd name="adj2" fmla="val 10793204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srgbClr val="FFC000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13" name="Arc 12"/>
            <p:cNvSpPr/>
            <p:nvPr/>
          </p:nvSpPr>
          <p:spPr>
            <a:xfrm rot="10800000">
              <a:off x="821786" y="3506824"/>
              <a:ext cx="771824" cy="771824"/>
            </a:xfrm>
            <a:prstGeom prst="arc">
              <a:avLst>
                <a:gd name="adj1" fmla="val 7119122"/>
                <a:gd name="adj2" fmla="val 10793204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srgbClr val="FFC000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17" name="Arc 16"/>
            <p:cNvSpPr/>
            <p:nvPr/>
          </p:nvSpPr>
          <p:spPr>
            <a:xfrm rot="10800000">
              <a:off x="3426874" y="3506824"/>
              <a:ext cx="771824" cy="771824"/>
            </a:xfrm>
            <a:prstGeom prst="arc">
              <a:avLst>
                <a:gd name="adj1" fmla="val 56397"/>
                <a:gd name="adj2" fmla="val 7089137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srgbClr val="FFC000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21" name="Arc 20"/>
            <p:cNvSpPr/>
            <p:nvPr/>
          </p:nvSpPr>
          <p:spPr>
            <a:xfrm>
              <a:off x="1668287" y="1936816"/>
              <a:ext cx="771824" cy="771824"/>
            </a:xfrm>
            <a:prstGeom prst="arc">
              <a:avLst>
                <a:gd name="adj1" fmla="val 56397"/>
                <a:gd name="adj2" fmla="val 7089137"/>
              </a:avLst>
            </a:prstGeom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457200"/>
              <a:endParaRPr lang="en-GB" dirty="0">
                <a:solidFill>
                  <a:srgbClr val="FFC000">
                    <a:lumMod val="75000"/>
                  </a:srgbClr>
                </a:solidFill>
                <a:latin typeface="Calibri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677953" y="3231045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GB" sz="1600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(3</a:t>
              </a:r>
              <a:r>
                <a:rPr lang="en-GB" i="1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Times New Roman" panose="02020603050405020304" pitchFamily="18" charset="0"/>
                </a:rPr>
                <a:t>x </a:t>
              </a:r>
              <a:r>
                <a:rPr lang="en-GB" sz="1600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+ 50)°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211529" y="2579267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GB" sz="1600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(5</a:t>
              </a:r>
              <a:r>
                <a:rPr lang="en-GB" i="1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Times New Roman" panose="02020603050405020304" pitchFamily="18" charset="0"/>
                </a:rPr>
                <a:t>x </a:t>
              </a:r>
              <a:r>
                <a:rPr lang="en-GB" sz="1600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− 10)°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512223" y="3371763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GB" i="1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Times New Roman" panose="02020603050405020304" pitchFamily="18" charset="0"/>
                </a:rPr>
                <a:t>y</a:t>
              </a:r>
              <a:r>
                <a:rPr lang="en-GB" sz="1600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014192" y="2370188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GB" i="1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Times New Roman" panose="02020603050405020304" pitchFamily="18" charset="0"/>
                </a:rPr>
                <a:t>y</a:t>
              </a:r>
              <a:r>
                <a:rPr lang="en-GB" sz="1600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°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43352" y="1984174"/>
              <a:ext cx="2920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GB" sz="1600" i="1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C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716490" y="1984174"/>
              <a:ext cx="311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GB" sz="1600" i="1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D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717287" y="3895220"/>
              <a:ext cx="3032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GB" sz="1600" i="1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A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19006" y="3895220"/>
              <a:ext cx="2968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GB" sz="1600" i="1" dirty="0">
                  <a:solidFill>
                    <a:srgbClr val="FFC000">
                      <a:lumMod val="75000"/>
                    </a:srgbClr>
                  </a:solidFill>
                  <a:latin typeface="Calibri"/>
                  <a:cs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629729" y="4297366"/>
            <a:ext cx="1907894" cy="1732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lnSpc>
                <a:spcPct val="120000"/>
              </a:lnSpc>
            </a:pPr>
            <a:r>
              <a:rPr lang="en-GB" dirty="0">
                <a:solidFill>
                  <a:prstClr val="black"/>
                </a:solidFill>
                <a:latin typeface="Calibri"/>
              </a:rPr>
              <a:t>  5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− 10 = 3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+ 50 </a:t>
            </a:r>
          </a:p>
          <a:p>
            <a:pPr algn="ctr" defTabSz="457200">
              <a:lnSpc>
                <a:spcPct val="120000"/>
              </a:lnSpc>
            </a:pPr>
            <a:r>
              <a:rPr lang="en-GB" dirty="0">
                <a:solidFill>
                  <a:prstClr val="black"/>
                </a:solidFill>
                <a:latin typeface="Calibri"/>
              </a:rPr>
              <a:t>5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− 3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= 50 + 10</a:t>
            </a:r>
          </a:p>
          <a:p>
            <a:pPr algn="ctr" defTabSz="457200">
              <a:lnSpc>
                <a:spcPct val="120000"/>
              </a:lnSpc>
            </a:pPr>
            <a:r>
              <a:rPr lang="en-GB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= 60</a:t>
            </a:r>
          </a:p>
          <a:p>
            <a:pPr algn="ctr" defTabSz="457200">
              <a:lnSpc>
                <a:spcPct val="120000"/>
              </a:lnSpc>
            </a:pPr>
            <a:r>
              <a:rPr lang="en-GB" dirty="0">
                <a:solidFill>
                  <a:prstClr val="black"/>
                </a:solidFill>
                <a:latin typeface="Calibri"/>
              </a:rPr>
              <a:t>         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= 60 ÷ 2 </a:t>
            </a:r>
          </a:p>
          <a:p>
            <a:pPr algn="ctr" defTabSz="457200">
              <a:lnSpc>
                <a:spcPct val="120000"/>
              </a:lnSpc>
            </a:pPr>
            <a:r>
              <a:rPr lang="en-GB" i="1" dirty="0">
                <a:solidFill>
                  <a:prstClr val="black"/>
                </a:solidFill>
                <a:latin typeface="Calibri"/>
              </a:rPr>
              <a:t>   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= 30</a:t>
            </a:r>
            <a:endParaRPr lang="en-GB" i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092581" y="4604565"/>
            <a:ext cx="2572422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120000"/>
              </a:lnSpc>
            </a:pPr>
            <a:r>
              <a:rPr lang="en-GB" dirty="0">
                <a:solidFill>
                  <a:prstClr val="black"/>
                </a:solidFill>
                <a:latin typeface="Calibri"/>
              </a:rPr>
              <a:t>5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− 10 = 3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+ 50</a:t>
            </a:r>
          </a:p>
          <a:p>
            <a:pPr algn="r" defTabSz="457200">
              <a:lnSpc>
                <a:spcPct val="120000"/>
              </a:lnSpc>
            </a:pPr>
            <a:r>
              <a:rPr lang="en-GB" dirty="0">
                <a:solidFill>
                  <a:prstClr val="black"/>
                </a:solidFill>
                <a:latin typeface="Calibri"/>
              </a:rPr>
              <a:t>= 140 when </a:t>
            </a:r>
            <a:r>
              <a:rPr lang="en-GB" i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= 30</a:t>
            </a:r>
          </a:p>
          <a:p>
            <a:pPr algn="ctr" defTabSz="457200">
              <a:lnSpc>
                <a:spcPct val="120000"/>
              </a:lnSpc>
            </a:pPr>
            <a:r>
              <a:rPr lang="en-GB" i="1" dirty="0">
                <a:solidFill>
                  <a:prstClr val="black"/>
                </a:solidFill>
                <a:latin typeface="Calibri"/>
              </a:rPr>
              <a:t>y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 = (360 − 140 − 140) ÷ 2</a:t>
            </a:r>
          </a:p>
          <a:p>
            <a:pPr defTabSz="457200">
              <a:lnSpc>
                <a:spcPct val="120000"/>
              </a:lnSpc>
            </a:pPr>
            <a:r>
              <a:rPr lang="en-GB" i="1" dirty="0">
                <a:solidFill>
                  <a:prstClr val="black"/>
                </a:solidFill>
                <a:latin typeface="Calibri"/>
              </a:rPr>
              <a:t>y </a:t>
            </a:r>
            <a:r>
              <a:rPr lang="en-GB" dirty="0">
                <a:solidFill>
                  <a:prstClr val="black"/>
                </a:solidFill>
                <a:latin typeface="Calibri"/>
              </a:rPr>
              <a:t>= 40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7886700" cy="1325563"/>
          </a:xfrm>
        </p:spPr>
        <p:txBody>
          <a:bodyPr/>
          <a:lstStyle/>
          <a:p>
            <a:r>
              <a:rPr lang="en-US" b="1">
                <a:latin typeface="+mn-lt"/>
              </a:rPr>
              <a:t>Problem solving and reasoning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7669288" y="3663473"/>
            <a:ext cx="1905751" cy="96615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768181" y="1427761"/>
            <a:ext cx="4976042" cy="10772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457200"/>
            <a:r>
              <a:rPr lang="en-GB" sz="1600" dirty="0">
                <a:solidFill>
                  <a:prstClr val="black"/>
                </a:solidFill>
                <a:latin typeface="Calibri"/>
                <a:cs typeface="Arial" panose="020B0604020202020204" pitchFamily="34" charset="0"/>
              </a:rPr>
              <a:t>Here is part of a drawing of a regular polygon.</a:t>
            </a:r>
          </a:p>
          <a:p>
            <a:pPr defTabSz="457200"/>
            <a:r>
              <a:rPr lang="en-GB" sz="1600" dirty="0">
                <a:solidFill>
                  <a:prstClr val="black"/>
                </a:solidFill>
                <a:latin typeface="Calibri"/>
                <a:cs typeface="Arial" panose="020B0604020202020204" pitchFamily="34" charset="0"/>
              </a:rPr>
              <a:t>It shows two of the interior angles of the regular polygon.</a:t>
            </a:r>
          </a:p>
          <a:p>
            <a:pPr defTabSz="457200"/>
            <a:endParaRPr lang="en-GB" sz="1600" dirty="0">
              <a:solidFill>
                <a:prstClr val="black"/>
              </a:solidFill>
              <a:latin typeface="Calibri"/>
              <a:cs typeface="Arial" panose="020B0604020202020204" pitchFamily="34" charset="0"/>
            </a:endParaRPr>
          </a:p>
          <a:p>
            <a:pPr defTabSz="457200"/>
            <a:r>
              <a:rPr lang="en-GB" sz="1600" dirty="0">
                <a:solidFill>
                  <a:prstClr val="black"/>
                </a:solidFill>
                <a:latin typeface="Calibri"/>
                <a:cs typeface="Arial" panose="020B0604020202020204" pitchFamily="34" charset="0"/>
              </a:rPr>
              <a:t>How many sides does the regular polygon have?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64947" y="4126228"/>
            <a:ext cx="3334944" cy="2731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  <a:latin typeface="Calibri"/>
              </a:rPr>
              <a:t>  6</a:t>
            </a:r>
            <a:r>
              <a:rPr lang="en-GB" sz="1600" i="1" dirty="0">
                <a:solidFill>
                  <a:srgbClr val="00B050"/>
                </a:solidFill>
                <a:latin typeface="Calibri"/>
              </a:rPr>
              <a:t>x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 − 70 = 4</a:t>
            </a:r>
            <a:r>
              <a:rPr lang="en-GB" sz="1600" i="1" dirty="0">
                <a:solidFill>
                  <a:srgbClr val="00B050"/>
                </a:solidFill>
                <a:latin typeface="Calibri"/>
              </a:rPr>
              <a:t>x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 + 10 </a:t>
            </a:r>
          </a:p>
          <a:p>
            <a:pPr algn="ctr" defTabSz="457200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  <a:latin typeface="Calibri"/>
              </a:rPr>
              <a:t>6</a:t>
            </a:r>
            <a:r>
              <a:rPr lang="en-GB" sz="1600" i="1" dirty="0">
                <a:solidFill>
                  <a:srgbClr val="00B050"/>
                </a:solidFill>
                <a:latin typeface="Calibri"/>
              </a:rPr>
              <a:t>x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 − 4</a:t>
            </a:r>
            <a:r>
              <a:rPr lang="en-GB" sz="1600" i="1" dirty="0">
                <a:solidFill>
                  <a:srgbClr val="00B050"/>
                </a:solidFill>
                <a:latin typeface="Calibri"/>
              </a:rPr>
              <a:t>x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 = 10 + 70</a:t>
            </a:r>
          </a:p>
          <a:p>
            <a:pPr algn="ctr" defTabSz="457200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  <a:latin typeface="Calibri"/>
              </a:rPr>
              <a:t>2</a:t>
            </a:r>
            <a:r>
              <a:rPr lang="en-GB" sz="1600" i="1" dirty="0">
                <a:solidFill>
                  <a:srgbClr val="00B050"/>
                </a:solidFill>
                <a:latin typeface="Calibri"/>
              </a:rPr>
              <a:t>x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 = 80</a:t>
            </a:r>
          </a:p>
          <a:p>
            <a:pPr algn="ctr" defTabSz="457200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  <a:latin typeface="Calibri"/>
              </a:rPr>
              <a:t>         </a:t>
            </a:r>
            <a:r>
              <a:rPr lang="en-GB" sz="1600" i="1" dirty="0">
                <a:solidFill>
                  <a:srgbClr val="00B050"/>
                </a:solidFill>
                <a:latin typeface="Calibri"/>
              </a:rPr>
              <a:t>x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 = 80 ÷ 2 </a:t>
            </a:r>
          </a:p>
          <a:p>
            <a:pPr algn="ctr" defTabSz="457200">
              <a:lnSpc>
                <a:spcPct val="120000"/>
              </a:lnSpc>
            </a:pPr>
            <a:r>
              <a:rPr lang="en-GB" sz="1600" i="1" dirty="0">
                <a:solidFill>
                  <a:srgbClr val="00B050"/>
                </a:solidFill>
                <a:latin typeface="Calibri"/>
              </a:rPr>
              <a:t>   x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 = 40</a:t>
            </a:r>
          </a:p>
          <a:p>
            <a:pPr algn="ctr" defTabSz="457200">
              <a:lnSpc>
                <a:spcPct val="120000"/>
              </a:lnSpc>
            </a:pPr>
            <a:endParaRPr lang="en-GB" sz="1600" dirty="0">
              <a:solidFill>
                <a:srgbClr val="00B050"/>
              </a:solidFill>
              <a:latin typeface="Calibri"/>
            </a:endParaRPr>
          </a:p>
          <a:p>
            <a:pPr defTabSz="457200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  <a:latin typeface="Calibri"/>
              </a:rPr>
              <a:t>Each angle is 170°, if </a:t>
            </a:r>
            <a:r>
              <a:rPr lang="en-GB" sz="1600" i="1" dirty="0">
                <a:solidFill>
                  <a:srgbClr val="00B050"/>
                </a:solidFill>
                <a:latin typeface="Calibri"/>
              </a:rPr>
              <a:t>x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 = 40;</a:t>
            </a:r>
          </a:p>
          <a:p>
            <a:pPr defTabSz="457200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  <a:latin typeface="Calibri"/>
              </a:rPr>
              <a:t>Exterior angles give</a:t>
            </a:r>
          </a:p>
          <a:p>
            <a:pPr defTabSz="457200">
              <a:lnSpc>
                <a:spcPct val="120000"/>
              </a:lnSpc>
            </a:pPr>
            <a:r>
              <a:rPr lang="en-GB" sz="1600" dirty="0">
                <a:solidFill>
                  <a:srgbClr val="00B050"/>
                </a:solidFill>
                <a:latin typeface="Calibri"/>
              </a:rPr>
              <a:t>360 ÷ (180 − 170) = </a:t>
            </a:r>
            <a:r>
              <a:rPr lang="en-GB" sz="1600" u="sng" dirty="0">
                <a:solidFill>
                  <a:srgbClr val="00B050"/>
                </a:solidFill>
                <a:latin typeface="Calibri"/>
              </a:rPr>
              <a:t>36 sides</a:t>
            </a:r>
            <a:r>
              <a:rPr lang="en-GB" sz="1600" dirty="0">
                <a:solidFill>
                  <a:srgbClr val="00B050"/>
                </a:solidFill>
                <a:latin typeface="Calibri"/>
              </a:rPr>
              <a:t>.</a:t>
            </a:r>
          </a:p>
        </p:txBody>
      </p:sp>
      <p:sp>
        <p:nvSpPr>
          <p:cNvPr id="41" name="Arc 40"/>
          <p:cNvSpPr/>
          <p:nvPr/>
        </p:nvSpPr>
        <p:spPr>
          <a:xfrm>
            <a:off x="6661287" y="3537360"/>
            <a:ext cx="1008000" cy="1008000"/>
          </a:xfrm>
          <a:prstGeom prst="arc">
            <a:avLst>
              <a:gd name="adj1" fmla="val 12332566"/>
              <a:gd name="adj2" fmla="val 2148989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Arc 41"/>
          <p:cNvSpPr/>
          <p:nvPr/>
        </p:nvSpPr>
        <p:spPr>
          <a:xfrm>
            <a:off x="8491087" y="3452805"/>
            <a:ext cx="1008000" cy="1008000"/>
          </a:xfrm>
          <a:prstGeom prst="arc">
            <a:avLst>
              <a:gd name="adj1" fmla="val 10812769"/>
              <a:gd name="adj2" fmla="val 2005440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46836" y="3152739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</a:t>
            </a:r>
            <a:r>
              <a:rPr lang="en-GB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− 70)°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91088" y="3083473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</a:t>
            </a:r>
            <a:r>
              <a:rPr lang="en-GB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+ 10)°</a:t>
            </a:r>
          </a:p>
        </p:txBody>
      </p:sp>
      <p:sp>
        <p:nvSpPr>
          <p:cNvPr id="45" name="Arc 44"/>
          <p:cNvSpPr/>
          <p:nvPr/>
        </p:nvSpPr>
        <p:spPr>
          <a:xfrm>
            <a:off x="8386251" y="3347969"/>
            <a:ext cx="1217672" cy="1217672"/>
          </a:xfrm>
          <a:prstGeom prst="arc">
            <a:avLst>
              <a:gd name="adj1" fmla="val 9158805"/>
              <a:gd name="adj2" fmla="val 10732802"/>
            </a:avLst>
          </a:prstGeom>
          <a:ln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Freeform: Shape 1"/>
          <p:cNvSpPr/>
          <p:nvPr/>
        </p:nvSpPr>
        <p:spPr>
          <a:xfrm>
            <a:off x="5944323" y="3162253"/>
            <a:ext cx="4623758" cy="858328"/>
          </a:xfrm>
          <a:custGeom>
            <a:avLst/>
            <a:gdLst>
              <a:gd name="connsiteX0" fmla="*/ 0 w 6314536"/>
              <a:gd name="connsiteY0" fmla="*/ 621102 h 1518249"/>
              <a:gd name="connsiteX1" fmla="*/ 1664898 w 6314536"/>
              <a:gd name="connsiteY1" fmla="*/ 1518249 h 1518249"/>
              <a:gd name="connsiteX2" fmla="*/ 4192438 w 6314536"/>
              <a:gd name="connsiteY2" fmla="*/ 1380227 h 1518249"/>
              <a:gd name="connsiteX3" fmla="*/ 6314536 w 6314536"/>
              <a:gd name="connsiteY3" fmla="*/ 0 h 1518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14536" h="1518249">
                <a:moveTo>
                  <a:pt x="0" y="621102"/>
                </a:moveTo>
                <a:lnTo>
                  <a:pt x="1664898" y="1518249"/>
                </a:lnTo>
                <a:lnTo>
                  <a:pt x="4192438" y="1380227"/>
                </a:lnTo>
                <a:lnTo>
                  <a:pt x="6314536" y="0"/>
                </a:lnTo>
              </a:path>
            </a:pathLst>
          </a:cu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57200"/>
            <a:endParaRPr lang="en-GB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Freeform: Shape 14"/>
          <p:cNvSpPr/>
          <p:nvPr/>
        </p:nvSpPr>
        <p:spPr>
          <a:xfrm>
            <a:off x="8494490" y="4030096"/>
            <a:ext cx="465692" cy="2231621"/>
          </a:xfrm>
          <a:custGeom>
            <a:avLst/>
            <a:gdLst>
              <a:gd name="connsiteX0" fmla="*/ 1595887 w 1595887"/>
              <a:gd name="connsiteY0" fmla="*/ 802256 h 802256"/>
              <a:gd name="connsiteX1" fmla="*/ 681487 w 1595887"/>
              <a:gd name="connsiteY1" fmla="*/ 621102 h 802256"/>
              <a:gd name="connsiteX2" fmla="*/ 0 w 1595887"/>
              <a:gd name="connsiteY2" fmla="*/ 0 h 802256"/>
              <a:gd name="connsiteX0" fmla="*/ 1595887 w 1595887"/>
              <a:gd name="connsiteY0" fmla="*/ 802256 h 802256"/>
              <a:gd name="connsiteX1" fmla="*/ 681487 w 1595887"/>
              <a:gd name="connsiteY1" fmla="*/ 621102 h 802256"/>
              <a:gd name="connsiteX2" fmla="*/ 0 w 1595887"/>
              <a:gd name="connsiteY2" fmla="*/ 0 h 802256"/>
              <a:gd name="connsiteX0" fmla="*/ 1578634 w 1578634"/>
              <a:gd name="connsiteY0" fmla="*/ 879893 h 879893"/>
              <a:gd name="connsiteX1" fmla="*/ 664234 w 1578634"/>
              <a:gd name="connsiteY1" fmla="*/ 698739 h 879893"/>
              <a:gd name="connsiteX2" fmla="*/ 0 w 1578634"/>
              <a:gd name="connsiteY2" fmla="*/ 0 h 879893"/>
              <a:gd name="connsiteX0" fmla="*/ 1578634 w 1578634"/>
              <a:gd name="connsiteY0" fmla="*/ 879893 h 879893"/>
              <a:gd name="connsiteX1" fmla="*/ 664234 w 1578634"/>
              <a:gd name="connsiteY1" fmla="*/ 698739 h 879893"/>
              <a:gd name="connsiteX2" fmla="*/ 0 w 1578634"/>
              <a:gd name="connsiteY2" fmla="*/ 0 h 879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8634" h="879893">
                <a:moveTo>
                  <a:pt x="1578634" y="879893"/>
                </a:moveTo>
                <a:cubicBezTo>
                  <a:pt x="1273834" y="819508"/>
                  <a:pt x="927340" y="845388"/>
                  <a:pt x="664234" y="698739"/>
                </a:cubicBezTo>
                <a:cubicBezTo>
                  <a:pt x="401128" y="552090"/>
                  <a:pt x="209909" y="353683"/>
                  <a:pt x="0" y="0"/>
                </a:cubicBezTo>
              </a:path>
            </a:pathLst>
          </a:custGeom>
          <a:noFill/>
          <a:ln w="63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8" name="Rectangle: Rounded Corners 15"/>
          <p:cNvSpPr/>
          <p:nvPr/>
        </p:nvSpPr>
        <p:spPr>
          <a:xfrm>
            <a:off x="7983891" y="6197726"/>
            <a:ext cx="1323660" cy="346312"/>
          </a:xfrm>
          <a:prstGeom prst="roundRect">
            <a:avLst/>
          </a:prstGeom>
          <a:noFill/>
          <a:ln w="63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3472308" y="5060953"/>
            <a:ext cx="595222" cy="30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550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5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/>
      <p:bldP spid="39" grpId="0" build="p"/>
      <p:bldP spid="40" grpId="0" build="p"/>
      <p:bldP spid="45" grpId="0" animBg="1"/>
      <p:bldP spid="47" grpId="0" animBg="1"/>
      <p:bldP spid="48" grpId="0" animBg="1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6208124" y="1894116"/>
            <a:ext cx="2821577" cy="3487783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756764" y="3422469"/>
            <a:ext cx="431074" cy="15675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8124011" y="3383281"/>
            <a:ext cx="461553" cy="20465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74701" y="1630680"/>
            <a:ext cx="2983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2400" dirty="0">
                <a:solidFill>
                  <a:prstClr val="black"/>
                </a:solidFill>
                <a:latin typeface="Calibri"/>
              </a:rPr>
              <a:t>ABC is an isosceles triangle. </a:t>
            </a:r>
          </a:p>
          <a:p>
            <a:pPr defTabSz="457200"/>
            <a:endParaRPr lang="en-GB" sz="2400" dirty="0">
              <a:solidFill>
                <a:prstClr val="black"/>
              </a:solidFill>
              <a:latin typeface="Calibri"/>
            </a:endParaRPr>
          </a:p>
          <a:p>
            <a:pPr marL="342900" indent="-342900" defTabSz="457200">
              <a:buFontTx/>
              <a:buAutoNum type="alphaLcParenR"/>
            </a:pPr>
            <a:r>
              <a:rPr lang="en-GB" sz="2400" dirty="0">
                <a:solidFill>
                  <a:prstClr val="black"/>
                </a:solidFill>
                <a:latin typeface="Calibri"/>
              </a:rPr>
              <a:t>Find the value of a.</a:t>
            </a:r>
          </a:p>
          <a:p>
            <a:pPr marL="342900" indent="-342900" defTabSz="457200">
              <a:buFontTx/>
              <a:buAutoNum type="alphaLcParenR"/>
            </a:pPr>
            <a:r>
              <a:rPr lang="en-GB" sz="2400" dirty="0">
                <a:solidFill>
                  <a:prstClr val="black"/>
                </a:solidFill>
                <a:latin typeface="Calibri"/>
              </a:rPr>
              <a:t>Find the length 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2866" y="2704013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5a - 3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4891" y="2713538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2a + 6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6891" y="1364163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8916" y="5247188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2144" y="5183688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6" name="Left Arrow 15"/>
          <p:cNvSpPr/>
          <p:nvPr/>
        </p:nvSpPr>
        <p:spPr>
          <a:xfrm rot="20221872">
            <a:off x="4894337" y="3483924"/>
            <a:ext cx="3436458" cy="2348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Left Arrow 16"/>
          <p:cNvSpPr/>
          <p:nvPr/>
        </p:nvSpPr>
        <p:spPr>
          <a:xfrm rot="19959428" flipV="1">
            <a:off x="3282365" y="3535254"/>
            <a:ext cx="2256089" cy="29709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60666" y="4088312"/>
            <a:ext cx="233670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2a + 6       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3016" y="4094663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5a - 3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001" y="4540251"/>
            <a:ext cx="76655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600" dirty="0">
                <a:solidFill>
                  <a:srgbClr val="FF0000"/>
                </a:solidFill>
                <a:latin typeface="Calibri"/>
              </a:rPr>
              <a:t>- 2a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6401" y="4518026"/>
            <a:ext cx="76655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600" dirty="0">
                <a:solidFill>
                  <a:srgbClr val="FF0000"/>
                </a:solidFill>
                <a:latin typeface="Calibri"/>
              </a:rPr>
              <a:t>- 2a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9650" y="5089526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600" dirty="0">
                <a:solidFill>
                  <a:srgbClr val="FF0000"/>
                </a:solidFill>
                <a:latin typeface="Calibri"/>
              </a:rPr>
              <a:t>+ 3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675" y="5162551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600" dirty="0">
                <a:solidFill>
                  <a:srgbClr val="FF0000"/>
                </a:solidFill>
                <a:latin typeface="Calibri"/>
              </a:rPr>
              <a:t>+ 3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675" y="5845176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600" dirty="0">
                <a:solidFill>
                  <a:srgbClr val="FF0000"/>
                </a:solidFill>
                <a:latin typeface="Calibri"/>
              </a:rPr>
              <a:t>÷ 3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8950" y="5791201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600" dirty="0">
                <a:solidFill>
                  <a:srgbClr val="FF0000"/>
                </a:solidFill>
                <a:latin typeface="Calibri"/>
              </a:rPr>
              <a:t>÷ 3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1316" y="4764587"/>
            <a:ext cx="413693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       6        =    3a - 3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841" y="5424987"/>
            <a:ext cx="413693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       9        =    3a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00366" y="6101262"/>
            <a:ext cx="413693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       3        =     a  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2751" y="3794126"/>
            <a:ext cx="425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dirty="0">
                <a:solidFill>
                  <a:prstClr val="black"/>
                </a:solidFill>
                <a:latin typeface="Calibri"/>
              </a:rPr>
              <a:t>a)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1524000" y="-930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Problem solving and reasoning</a:t>
            </a:r>
            <a:endParaRPr lang="en-GB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842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>
            <a:off x="6208124" y="1894116"/>
            <a:ext cx="2821577" cy="3487783"/>
          </a:xfrm>
          <a:prstGeom prst="triangl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756764" y="3422469"/>
            <a:ext cx="431074" cy="15675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8124011" y="3383281"/>
            <a:ext cx="461553" cy="20465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74701" y="1630680"/>
            <a:ext cx="29830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2400" dirty="0">
                <a:solidFill>
                  <a:prstClr val="black"/>
                </a:solidFill>
                <a:latin typeface="Calibri"/>
              </a:rPr>
              <a:t>ABC is an isosceles triangle. </a:t>
            </a:r>
          </a:p>
          <a:p>
            <a:pPr defTabSz="457200"/>
            <a:endParaRPr lang="en-GB" sz="2400" dirty="0">
              <a:solidFill>
                <a:prstClr val="black"/>
              </a:solidFill>
              <a:latin typeface="Calibri"/>
            </a:endParaRPr>
          </a:p>
          <a:p>
            <a:pPr marL="342900" indent="-342900" defTabSz="457200">
              <a:buFontTx/>
              <a:buAutoNum type="alphaLcParenR"/>
            </a:pPr>
            <a:r>
              <a:rPr lang="en-GB" sz="2400" dirty="0">
                <a:solidFill>
                  <a:prstClr val="black"/>
                </a:solidFill>
                <a:latin typeface="Calibri"/>
              </a:rPr>
              <a:t>Find the value of a.</a:t>
            </a:r>
          </a:p>
          <a:p>
            <a:pPr marL="342900" indent="-342900" defTabSz="457200">
              <a:buFontTx/>
              <a:buAutoNum type="alphaLcParenR"/>
            </a:pPr>
            <a:r>
              <a:rPr lang="en-GB" sz="2400" dirty="0">
                <a:solidFill>
                  <a:prstClr val="black"/>
                </a:solidFill>
                <a:latin typeface="Calibri"/>
              </a:rPr>
              <a:t>Find the length 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2866" y="2704013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5a - 3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4891" y="2713538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2a + 6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6891" y="1364163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8916" y="5247188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2144" y="5183688"/>
            <a:ext cx="1580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7" name="Left Arrow 16"/>
          <p:cNvSpPr/>
          <p:nvPr/>
        </p:nvSpPr>
        <p:spPr>
          <a:xfrm rot="19959428" flipV="1">
            <a:off x="3282365" y="3535254"/>
            <a:ext cx="2256089" cy="29709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60666" y="4088312"/>
            <a:ext cx="233670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AB = 2a + 6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6066" y="4701087"/>
            <a:ext cx="233670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srgbClr val="ED7D31">
                    <a:lumMod val="75000"/>
                  </a:srgbClr>
                </a:solidFill>
                <a:latin typeface="Calibri"/>
              </a:rPr>
              <a:t>a = 3        </a:t>
            </a:r>
          </a:p>
        </p:txBody>
      </p:sp>
      <p:sp>
        <p:nvSpPr>
          <p:cNvPr id="3" name="Bent-Up Arrow 2"/>
          <p:cNvSpPr/>
          <p:nvPr/>
        </p:nvSpPr>
        <p:spPr>
          <a:xfrm>
            <a:off x="3000376" y="4556125"/>
            <a:ext cx="396875" cy="444500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968591" y="5218612"/>
            <a:ext cx="233670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AB = 2x</a:t>
            </a:r>
            <a:r>
              <a:rPr lang="en-GB" sz="3200" dirty="0">
                <a:solidFill>
                  <a:srgbClr val="C55A11"/>
                </a:solidFill>
                <a:latin typeface="Calibri"/>
              </a:rPr>
              <a:t>3</a:t>
            </a:r>
            <a:r>
              <a:rPr lang="en-GB" sz="3200" dirty="0">
                <a:solidFill>
                  <a:prstClr val="black"/>
                </a:solidFill>
                <a:latin typeface="Calibri"/>
              </a:rPr>
              <a:t> + 6     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93990" y="5720262"/>
            <a:ext cx="292726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AB = 6 + 6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2750" y="3794126"/>
            <a:ext cx="439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2400" dirty="0">
                <a:solidFill>
                  <a:prstClr val="black"/>
                </a:solidFill>
                <a:latin typeface="Calibri"/>
              </a:rPr>
              <a:t>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03515" y="6126662"/>
            <a:ext cx="292726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3200" dirty="0">
                <a:solidFill>
                  <a:prstClr val="black"/>
                </a:solidFill>
                <a:latin typeface="Calibri"/>
              </a:rPr>
              <a:t>AB = 12 units       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Problem solving and reasoning</a:t>
            </a:r>
            <a:endParaRPr lang="en-GB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9" grpId="0"/>
      <p:bldP spid="3" grpId="0" animBg="1"/>
      <p:bldP spid="30" grpId="0"/>
      <p:bldP spid="31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"/>
            <a:ext cx="7886700" cy="1325563"/>
          </a:xfrm>
        </p:spPr>
        <p:txBody>
          <a:bodyPr/>
          <a:lstStyle/>
          <a:p>
            <a:r>
              <a:rPr lang="en-GB" b="1">
                <a:latin typeface="+mn-lt"/>
              </a:rPr>
              <a:t>Problem solving and reasoning</a:t>
            </a:r>
            <a:endParaRPr lang="en-GB" b="1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29759" y="1214135"/>
            <a:ext cx="86504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2400" dirty="0">
                <a:solidFill>
                  <a:prstClr val="black"/>
                </a:solidFill>
                <a:latin typeface="Calibri"/>
              </a:rPr>
              <a:t>Carl thinks of a number. He multiplies this by 3 then adds 23.</a:t>
            </a:r>
          </a:p>
          <a:p>
            <a:pPr defTabSz="457200"/>
            <a:r>
              <a:rPr lang="en-GB" sz="2400" dirty="0">
                <a:solidFill>
                  <a:prstClr val="black"/>
                </a:solidFill>
                <a:latin typeface="Calibri"/>
              </a:rPr>
              <a:t>Liz thinks of a number and she adds 3, then she multiplies this by 5.</a:t>
            </a:r>
          </a:p>
          <a:p>
            <a:pPr defTabSz="457200"/>
            <a:r>
              <a:rPr lang="en-GB" sz="2400" dirty="0">
                <a:solidFill>
                  <a:prstClr val="black"/>
                </a:solidFill>
                <a:latin typeface="Calibri"/>
              </a:rPr>
              <a:t>The number they chose and sums at the end are equal. What is the number they have picked?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1" y="3204858"/>
            <a:ext cx="80123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GB" sz="2400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They think of the same number to start with, lets say x.</a:t>
            </a:r>
          </a:p>
          <a:p>
            <a:pPr defTabSz="457200"/>
            <a:r>
              <a:rPr lang="en-GB" sz="2400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Carl’s expression =&gt;     3x + 23</a:t>
            </a:r>
          </a:p>
          <a:p>
            <a:pPr defTabSz="457200"/>
            <a:r>
              <a:rPr lang="en-GB" sz="2400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Liz’s expression   =&gt;     5(x + 3)</a:t>
            </a:r>
          </a:p>
          <a:p>
            <a:pPr defTabSz="457200"/>
            <a:r>
              <a:rPr lang="en-GB" sz="2400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3x + 23 = 5(x + 3)</a:t>
            </a:r>
          </a:p>
          <a:p>
            <a:pPr defTabSz="457200"/>
            <a:r>
              <a:rPr lang="en-GB" sz="2400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3x + 23 = 5x + 15</a:t>
            </a:r>
          </a:p>
          <a:p>
            <a:pPr defTabSz="457200"/>
            <a:r>
              <a:rPr lang="en-GB" sz="2400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        23 = 2x + 15 </a:t>
            </a:r>
          </a:p>
          <a:p>
            <a:pPr defTabSz="457200"/>
            <a:r>
              <a:rPr lang="en-GB" sz="2400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          8 = 2x</a:t>
            </a:r>
          </a:p>
          <a:p>
            <a:pPr defTabSz="457200"/>
            <a:r>
              <a:rPr lang="en-GB" sz="2400" dirty="0">
                <a:solidFill>
                  <a:srgbClr val="5B9BD5">
                    <a:lumMod val="75000"/>
                  </a:srgbClr>
                </a:solidFill>
                <a:latin typeface="Calibri"/>
              </a:rPr>
              <a:t>          4 = x          They thought of number 4.</a:t>
            </a:r>
          </a:p>
        </p:txBody>
      </p:sp>
    </p:spTree>
    <p:extLst>
      <p:ext uri="{BB962C8B-B14F-4D97-AF65-F5344CB8AC3E}">
        <p14:creationId xmlns:p14="http://schemas.microsoft.com/office/powerpoint/2010/main" val="124579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788</Words>
  <Application>Microsoft Office PowerPoint</Application>
  <PresentationFormat>Widescreen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1_Office Theme</vt:lpstr>
      <vt:lpstr>Lesson objective </vt:lpstr>
      <vt:lpstr>PowerPoint Presentation</vt:lpstr>
      <vt:lpstr>PowerPoint Presentation</vt:lpstr>
      <vt:lpstr>Is the solution correct….. </vt:lpstr>
      <vt:lpstr>I do</vt:lpstr>
      <vt:lpstr>Whiteboards </vt:lpstr>
      <vt:lpstr>Whiteboards </vt:lpstr>
      <vt:lpstr>You do – exercise books </vt:lpstr>
      <vt:lpstr>Brain break</vt:lpstr>
      <vt:lpstr>Yesterday’s work review </vt:lpstr>
      <vt:lpstr>Mixed practice</vt:lpstr>
      <vt:lpstr>Problem solving and reasoning</vt:lpstr>
      <vt:lpstr>Problem solving and reasoning</vt:lpstr>
      <vt:lpstr>Problem solving and reasoning</vt:lpstr>
      <vt:lpstr>Problem solving and reasoning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3</cp:revision>
  <dcterms:created xsi:type="dcterms:W3CDTF">2023-08-24T00:19:41Z</dcterms:created>
  <dcterms:modified xsi:type="dcterms:W3CDTF">2023-08-24T00:29:23Z</dcterms:modified>
</cp:coreProperties>
</file>
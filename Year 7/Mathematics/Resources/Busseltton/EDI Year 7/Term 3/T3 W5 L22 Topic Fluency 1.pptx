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57" r:id="rId4"/>
    <p:sldId id="261" r:id="rId5"/>
    <p:sldId id="262" r:id="rId6"/>
    <p:sldId id="263" r:id="rId7"/>
    <p:sldId id="293" r:id="rId8"/>
    <p:sldId id="300" r:id="rId9"/>
    <p:sldId id="294" r:id="rId10"/>
    <p:sldId id="295" r:id="rId11"/>
    <p:sldId id="292" r:id="rId12"/>
    <p:sldId id="296" r:id="rId13"/>
    <p:sldId id="297" r:id="rId14"/>
    <p:sldId id="298" r:id="rId15"/>
    <p:sldId id="260" r:id="rId16"/>
    <p:sldId id="29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9FA9-7BC6-59AC-70BA-D9E1FED17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FCF49-D946-01E7-BFEF-25744B11F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E20EC-44E9-74F7-E4B4-90726FEB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72CF7-7A99-8068-38A1-14F5A7F4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6C2AB-4C7D-0B9F-915B-B42E46E5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37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1D98-9F3B-4321-1E63-4B2218C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D7C84-3426-EB41-38E9-B132A3C46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34410-24F4-CD9C-14F6-1BC1DE1E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1CF-D6F7-3512-700A-1B34CBB2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50AA8-9FD6-EC8E-5986-63C04865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46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DC13-A5E4-34C6-71C2-3E95168C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6DE05-BCBB-435A-49A6-56D7247F2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71DEB-CD06-5B1A-6DDA-AAEEF8DC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8FDFB-8CEB-B5E2-182C-7523A4FF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78698-695A-66A6-876F-9868E849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15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1C75-525A-5D67-78DA-6B460EEC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0598F-5B29-CDB1-E3BF-7C2135CFB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78C52-B902-DFF9-10FF-30CDF96C0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D886A-2A75-95B0-1167-C623B71F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1F0DE-DE4A-B380-454F-6E451AA3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780AA-EE74-6B89-AC09-4FE54E08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58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BF74-0862-C650-9B1A-6FA296A9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6231F-6C52-80C6-8962-6C338805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9BAD6-B741-917F-0D92-B3785D165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22693-8803-85FD-3805-0B1D47AC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7048F-1BDF-A0D3-A7C3-C3A3033B9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8F0190-4A51-AAC6-8D7A-A5D1F7A6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42634-705C-466B-96E6-31027AF1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A7404-5756-BC78-3316-CAD081B7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25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4F6-3C96-6ED9-738A-0FB7F80D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D1CEE-A468-EF10-A65C-A1000E3C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4E3A3A-18BF-D65F-431D-780A095B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A077B-20FE-9604-5608-F5477D01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2660D-21C8-D3B7-911C-0F5CE0B2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9AD74-8BBD-DD15-04C2-6EF437B4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86AB2-A553-E0EC-F383-FF7D1CF0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56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1450-914C-244E-7733-ACC1AD380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232C0-6A6E-4CE1-A5B1-A3F79F9BB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DE67A-FF64-948C-6791-05AD501B7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B715E-CD10-6872-4AA0-DD409A80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E65AC-7A58-E663-7080-ACD7308C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E74F1-3F27-FC7C-5160-6255B345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690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7E4C-F53B-5419-CABF-3BCB990D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2C4A7-9489-C2E4-07C2-1CAA9F39A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E6A70-C9E8-FBE0-AB4C-01EE3D330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CCA73-D7F2-E3D2-C39B-6277AB78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9A4D8-E5DD-DF85-D6FF-788C015A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6A859-CBE0-DFC8-24E0-4082FF99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549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F3E3-5084-E759-30BA-07CECEF1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AC836-B6BE-5DA6-9481-C45C86273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BE48-E04C-5EB4-2E94-9BFAE462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2A98A-CB97-122F-F63B-32116647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2E89B-AB40-85C1-B821-8D97D753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29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0DB90F-78CB-4786-8374-CF419A28C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9A755-B150-C0B6-B3BD-9F38A9548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CDBA3-4C16-2A23-E1F0-8CD07837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7B19D-8937-064F-01BD-E34BDA0A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E1236-C8FC-F2E9-F948-EB090E1D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78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2E2466-10D1-8013-AF56-734F1B58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27028-1278-593F-D50E-FE4727E8F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FD503-5D9F-1CF8-9179-E5EC331E5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F9C90-4113-457A-B0B0-83416C8D76B5}" type="datetimeFigureOut">
              <a:rPr lang="en-AU" smtClean="0"/>
              <a:t>18/08/2023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9D11B-08F8-F653-C4C0-F0E837418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734D3-6E91-C1EB-DB6C-B7481C19C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D3BA8-A1AB-4D73-80C3-7460047B37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915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FA10A4-541C-BE7C-D91E-CB8E480B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D04B37-F692-ED63-A0A5-AE4F49713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47476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Topic fluency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Write and solve equations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Determine percentages of amounts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types of views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percentage to decimal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Solving equations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Write and solve  </a:t>
            </a:r>
            <a:endParaRPr lang="en-AU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C1AEE-18FC-19AD-9617-6839527C086F}"/>
              </a:ext>
            </a:extLst>
          </p:cNvPr>
          <p:cNvSpPr txBox="1"/>
          <p:nvPr/>
        </p:nvSpPr>
        <p:spPr>
          <a:xfrm>
            <a:off x="9339309" y="257452"/>
            <a:ext cx="2405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Test next Wednesday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7C416-9CA6-576D-0BB1-4B57D60D317F}"/>
              </a:ext>
            </a:extLst>
          </p:cNvPr>
          <p:cNvSpPr txBox="1"/>
          <p:nvPr/>
        </p:nvSpPr>
        <p:spPr>
          <a:xfrm>
            <a:off x="4191740" y="1875600"/>
            <a:ext cx="5662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0157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3DD-F820-41DF-A44A-E8843E48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E4EA-E8DB-4586-BC30-9FC60BA7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5335479"/>
            <a:ext cx="2956265" cy="6036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Oblique (Flat face) </a:t>
            </a:r>
            <a:endParaRPr lang="en-AU" dirty="0"/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B13B218-D606-4480-98E0-3FA30F1D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6" y="1604390"/>
            <a:ext cx="11496821" cy="34777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1CCBA6-13FD-4C2E-B22E-F6A96D70C98D}"/>
              </a:ext>
            </a:extLst>
          </p:cNvPr>
          <p:cNvSpPr txBox="1">
            <a:spLocks/>
          </p:cNvSpPr>
          <p:nvPr/>
        </p:nvSpPr>
        <p:spPr>
          <a:xfrm>
            <a:off x="4492663" y="5335479"/>
            <a:ext cx="3301931" cy="87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Isometric (diagonals)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CD2EAB-DC31-4E8D-9154-CB0232CB30B2}"/>
              </a:ext>
            </a:extLst>
          </p:cNvPr>
          <p:cNvSpPr txBox="1">
            <a:spLocks/>
          </p:cNvSpPr>
          <p:nvPr/>
        </p:nvSpPr>
        <p:spPr>
          <a:xfrm>
            <a:off x="8373121" y="5363591"/>
            <a:ext cx="3558467" cy="957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Orthogonal (top, front and view)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82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5FDB-1D9B-CEED-8FAD-670F45FF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</a:t>
            </a:r>
            <a:r>
              <a:rPr lang="en-US" b="1" dirty="0"/>
              <a:t>divide % by 100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39A9-1E19-DD68-B0E1-2D574C4D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320401"/>
            <a:ext cx="452437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I</a:t>
            </a:r>
            <a:r>
              <a:rPr lang="en-AU" sz="3200" b="1" dirty="0"/>
              <a:t> do (% </a:t>
            </a:r>
            <a:r>
              <a:rPr lang="en-AU" sz="3200" b="1" dirty="0">
                <a:sym typeface="Wingdings" panose="05000000000000000000" pitchFamily="2" charset="2"/>
              </a:rPr>
              <a:t> decimal) </a:t>
            </a:r>
            <a:endParaRPr lang="en-AU" sz="3200" b="1" dirty="0"/>
          </a:p>
          <a:p>
            <a:pPr marL="0" indent="0">
              <a:buNone/>
            </a:pPr>
            <a:endParaRPr lang="en-AU" sz="3200" b="1" dirty="0"/>
          </a:p>
          <a:p>
            <a:pPr marL="514350" indent="-514350">
              <a:buAutoNum type="alphaLcParenR"/>
            </a:pPr>
            <a:r>
              <a:rPr lang="en-AU" sz="3200" b="1" dirty="0"/>
              <a:t>10% </a:t>
            </a:r>
          </a:p>
          <a:p>
            <a:pPr marL="514350" indent="-514350">
              <a:buAutoNum type="alphaLcParenR"/>
            </a:pPr>
            <a:r>
              <a:rPr lang="en-AU" sz="3200" b="1" dirty="0"/>
              <a:t>50%</a:t>
            </a:r>
          </a:p>
          <a:p>
            <a:pPr marL="514350" indent="-514350">
              <a:buAutoNum type="alphaLcParenR"/>
            </a:pPr>
            <a:r>
              <a:rPr lang="en-AU" sz="3200" b="1" dirty="0"/>
              <a:t>97%</a:t>
            </a:r>
          </a:p>
          <a:p>
            <a:pPr marL="514350" indent="-514350">
              <a:buAutoNum type="alphaLcParenR"/>
            </a:pPr>
            <a:r>
              <a:rPr lang="en-AU" sz="3200" b="1" dirty="0"/>
              <a:t>5%</a:t>
            </a:r>
          </a:p>
          <a:p>
            <a:pPr marL="514350" indent="-514350">
              <a:buAutoNum type="alphaLcParenR"/>
            </a:pPr>
            <a:r>
              <a:rPr lang="en-AU" sz="3200" b="1" dirty="0"/>
              <a:t>1.4%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33BC-828E-579E-A361-0840155A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33" y="106532"/>
            <a:ext cx="3935767" cy="221386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890493-CE1E-76BE-4174-3D3071ECF338}"/>
              </a:ext>
            </a:extLst>
          </p:cNvPr>
          <p:cNvSpPr txBox="1">
            <a:spLocks/>
          </p:cNvSpPr>
          <p:nvPr/>
        </p:nvSpPr>
        <p:spPr>
          <a:xfrm>
            <a:off x="5773814" y="2506662"/>
            <a:ext cx="45243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do</a:t>
            </a: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(% </a:t>
            </a: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decimal) 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A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55%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11%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4%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4.7%</a:t>
            </a:r>
          </a:p>
        </p:txBody>
      </p:sp>
    </p:spTree>
    <p:extLst>
      <p:ext uri="{BB962C8B-B14F-4D97-AF65-F5344CB8AC3E}">
        <p14:creationId xmlns:p14="http://schemas.microsoft.com/office/powerpoint/2010/main" val="262908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5E4F-80F4-687C-3063-1815A23B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8E71-184C-6B10-0B17-7ED5A4A9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514350" indent="-514350">
              <a:buAutoNum type="alphaLcParenR"/>
            </a:pPr>
            <a:r>
              <a:rPr lang="en-AU" b="1" dirty="0"/>
              <a:t>25% of 5400L  </a:t>
            </a:r>
          </a:p>
          <a:p>
            <a:pPr marL="514350" indent="-514350">
              <a:buAutoNum type="alphaLcParenR"/>
            </a:pPr>
            <a:endParaRPr lang="en-AU" b="1" dirty="0"/>
          </a:p>
          <a:p>
            <a:pPr marL="514350" indent="-514350">
              <a:buAutoNum type="alphaLcParenR"/>
            </a:pPr>
            <a:endParaRPr lang="en-AU" b="1" dirty="0"/>
          </a:p>
          <a:p>
            <a:pPr marL="514350" indent="-514350">
              <a:buAutoNum type="alphaLcParenR"/>
            </a:pPr>
            <a:r>
              <a:rPr lang="en-AU" b="1" dirty="0"/>
              <a:t>87% of $876 </a:t>
            </a:r>
          </a:p>
          <a:p>
            <a:pPr marL="514350" indent="-514350">
              <a:buAutoNum type="alphaLcParenR"/>
            </a:pPr>
            <a:endParaRPr lang="en-AU" b="1" dirty="0"/>
          </a:p>
          <a:p>
            <a:pPr marL="514350" indent="-514350">
              <a:buAutoNum type="alphaLcParenR"/>
            </a:pPr>
            <a:endParaRPr lang="en-AU" b="1" dirty="0"/>
          </a:p>
          <a:p>
            <a:pPr marL="514350" indent="-514350">
              <a:buAutoNum type="alphaLcParenR"/>
            </a:pPr>
            <a:r>
              <a:rPr lang="en-AU" b="1" dirty="0"/>
              <a:t>45% of 98m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07490-D177-1BF7-85A7-25A2B4C1E704}"/>
              </a:ext>
            </a:extLst>
          </p:cNvPr>
          <p:cNvSpPr txBox="1"/>
          <p:nvPr/>
        </p:nvSpPr>
        <p:spPr>
          <a:xfrm>
            <a:off x="8602462" y="674703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11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43%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95% of 350m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32% of $76.40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150% of 230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30 %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21% of 87m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92% of $70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400% of 58cm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2.5% of 320mm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FFB043-D4FF-2466-873D-695D3C10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D01C65-55A8-BCE9-D9A3-232A4910D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3EDB75-89C2-3E11-6EDC-012F48067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0"/>
            <a:ext cx="12192000" cy="414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0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B9B3-583F-4139-07A9-0BED7962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7F9FE-9C7B-5E70-EAB2-3C00A01C6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F1B6F-7230-8619-3974-8AA7B7C8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75028"/>
            <a:ext cx="12192000" cy="415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2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96651A-8C43-3FBD-D484-D097E4E5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Solving equations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AB271E-0213-ECA3-F2E7-E9CA52B9C0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Back tracking </a:t>
            </a:r>
          </a:p>
          <a:p>
            <a:pPr marL="514350" indent="-514350">
              <a:buAutoNum type="alphaLcParenR"/>
            </a:pPr>
            <a:r>
              <a:rPr lang="en-US" dirty="0"/>
              <a:t>X + 2.5 = 7.8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3x + 9 = 45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2x + 3.8 = 12.8 </a:t>
            </a:r>
            <a:endParaRPr lang="en-A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1E5E82-9D17-908D-6082-D11EE7CCCF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Balancing method </a:t>
            </a:r>
          </a:p>
          <a:p>
            <a:pPr marL="514350" indent="-514350">
              <a:buAutoNum type="alphaLcParenR"/>
            </a:pPr>
            <a:r>
              <a:rPr lang="en-US" dirty="0"/>
              <a:t>X + 2.5 = 7.8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3x + 9 = 45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2x + 3.8 = 12.8 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82119E-F19B-9AF6-7428-171C54C46E49}"/>
              </a:ext>
            </a:extLst>
          </p:cNvPr>
          <p:cNvSpPr/>
          <p:nvPr/>
        </p:nvSpPr>
        <p:spPr>
          <a:xfrm>
            <a:off x="1138335" y="2845837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FA014-7B70-5F7B-86AA-5F9EE38FFB27}"/>
              </a:ext>
            </a:extLst>
          </p:cNvPr>
          <p:cNvSpPr/>
          <p:nvPr/>
        </p:nvSpPr>
        <p:spPr>
          <a:xfrm>
            <a:off x="2447731" y="2845836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1CEBCD-5AC0-51FF-2B92-AFCCE331896F}"/>
              </a:ext>
            </a:extLst>
          </p:cNvPr>
          <p:cNvSpPr/>
          <p:nvPr/>
        </p:nvSpPr>
        <p:spPr>
          <a:xfrm>
            <a:off x="1138335" y="4248539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D980D0-298D-93E3-F986-57806EB96BC3}"/>
              </a:ext>
            </a:extLst>
          </p:cNvPr>
          <p:cNvSpPr/>
          <p:nvPr/>
        </p:nvSpPr>
        <p:spPr>
          <a:xfrm>
            <a:off x="2447731" y="4248538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CE0938-4D71-D39A-3ED1-8405E42A102E}"/>
              </a:ext>
            </a:extLst>
          </p:cNvPr>
          <p:cNvSpPr/>
          <p:nvPr/>
        </p:nvSpPr>
        <p:spPr>
          <a:xfrm>
            <a:off x="3757127" y="4222101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1D866E-2F18-86F6-CBE0-0B66D4C314AD}"/>
              </a:ext>
            </a:extLst>
          </p:cNvPr>
          <p:cNvSpPr/>
          <p:nvPr/>
        </p:nvSpPr>
        <p:spPr>
          <a:xfrm>
            <a:off x="1253413" y="5817378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47993-F773-4827-CBF1-1DB7D16E7DC8}"/>
              </a:ext>
            </a:extLst>
          </p:cNvPr>
          <p:cNvSpPr/>
          <p:nvPr/>
        </p:nvSpPr>
        <p:spPr>
          <a:xfrm>
            <a:off x="2562809" y="5817377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531B0B-9D4E-D491-FB16-4A2EC3BAB899}"/>
              </a:ext>
            </a:extLst>
          </p:cNvPr>
          <p:cNvSpPr/>
          <p:nvPr/>
        </p:nvSpPr>
        <p:spPr>
          <a:xfrm>
            <a:off x="3872205" y="5790940"/>
            <a:ext cx="821094" cy="9890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20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FEA8FB-F92D-82D7-2367-3B8EFA9A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solve for x 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C84EA-8FC0-E9ED-8550-52A716CF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4400" dirty="0"/>
              <a:t>X + 9.5 = 15.7 </a:t>
            </a:r>
          </a:p>
          <a:p>
            <a:pPr marL="742950" indent="-742950">
              <a:buAutoNum type="alphaLcParenR"/>
            </a:pPr>
            <a:r>
              <a:rPr lang="en-US" sz="4400" dirty="0"/>
              <a:t>4x + 7 = 15 </a:t>
            </a:r>
          </a:p>
          <a:p>
            <a:pPr marL="742950" indent="-742950">
              <a:buAutoNum type="alphaLcParenR"/>
            </a:pPr>
            <a:r>
              <a:rPr lang="en-US" sz="4400" dirty="0"/>
              <a:t>7x + 11.5 = 36 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101640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A3F5-1735-B454-22FD-0BDBC74C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Write and solve – 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E3E9-0B5E-C2D8-502C-6C6E506E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4000" dirty="0"/>
              <a:t>The sum of x and 5 is 12 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The product of 2 and y is 10 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When b is doubled and then 6 is added, the result is 44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43116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5046-7BCC-243E-3C6C-34C90010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 - 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F6C53-DDED-5DA2-D28A-B55083FC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7 is subtracted from double k, result is 17 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The product of 4 and g is 36 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Triple d plus 8 is 38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57543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9C5D-3686-7C1F-2737-CC01868B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Write the expression and solve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B9B23-941B-D3E3-FD3C-596A0BE06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Danny gets paid $12 per hour, plus a bonus of $50 for each week. In one week he earned $410. 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Write and solve. </a:t>
            </a:r>
          </a:p>
        </p:txBody>
      </p:sp>
    </p:spTree>
    <p:extLst>
      <p:ext uri="{BB962C8B-B14F-4D97-AF65-F5344CB8AC3E}">
        <p14:creationId xmlns:p14="http://schemas.microsoft.com/office/powerpoint/2010/main" val="257109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F545-E04C-9AB6-EE74-DC75E668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Write and solve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EAD08-ACFC-D7F9-4968-C765F33C7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Jenny buys 12 pencils and 5 pens for the new school year. The pencils cost $1 each.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If pens cost $x each, write an expression for the total cost.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72484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-171400"/>
            <a:ext cx="8229600" cy="1143000"/>
          </a:xfrm>
        </p:spPr>
        <p:txBody>
          <a:bodyPr>
            <a:noAutofit/>
          </a:bodyPr>
          <a:lstStyle/>
          <a:p>
            <a:r>
              <a:rPr lang="en-GB" sz="3200" dirty="0">
                <a:latin typeface="Century Gothic" pitchFamily="34" charset="0"/>
              </a:rPr>
              <a:t>Writing Expressions – exercise books </a:t>
            </a:r>
            <a:endParaRPr lang="en-GB" sz="2800" dirty="0">
              <a:latin typeface="Century Gothic" pitchFamily="34" charset="0"/>
            </a:endParaRPr>
          </a:p>
        </p:txBody>
      </p:sp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1991544" y="836712"/>
            <a:ext cx="8136904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age is C, write expressions for the ages of the members of my family if: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brother is 3 years older than me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sister is 2 years younger than me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mum is double my age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dad is 5 years older than my mum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Gran is 4 times my age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Grand Dad is twice my Dads age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If I have S sweets, write an expression for the number of sweets my friends have if I: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give Tom all my sweets and he has 5 of his own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give Alan half of my sweets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eat four sweets then give Simon the rest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give Lucy a quarter of my sweets, then an extra 1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My favourite song last M minutes, how long do I spend listening to music if: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listen to the song once and hour all day (and including when I’m asleep)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listen to half the song 8 times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listen to the intro (a quarter of the song) 5 times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listen to my song, then the next one which is exactly twice as long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 listen to my song, then the next one which is exactly twice as long, and do this 5 times throughout the day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If a rectangle has lengths x and y, write an expression for: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The area of the rectangle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The area covered by 6 rectangles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685800" lvl="1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The perimeter of the rectangle</a:t>
            </a:r>
            <a:endParaRPr lang="en-GB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255E-F31B-A508-3812-8B66B7C0B6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B4E6A5A-2A0C-8DEA-C8D9-77EB5EF40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Complete </a:t>
            </a:r>
            <a:r>
              <a:rPr lang="en-US"/>
              <a:t>task sheet.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6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651</Words>
  <Application>Microsoft Office PowerPoint</Application>
  <PresentationFormat>Widescreen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Wingdings</vt:lpstr>
      <vt:lpstr>Office Theme</vt:lpstr>
      <vt:lpstr>Lesson objective </vt:lpstr>
      <vt:lpstr>Types of view </vt:lpstr>
      <vt:lpstr>Review – divide % by 100</vt:lpstr>
      <vt:lpstr>I do </vt:lpstr>
      <vt:lpstr>We do </vt:lpstr>
      <vt:lpstr>Whiteboards </vt:lpstr>
      <vt:lpstr>PowerPoint Presentation</vt:lpstr>
      <vt:lpstr>PowerPoint Presentation</vt:lpstr>
      <vt:lpstr>Solving equations </vt:lpstr>
      <vt:lpstr>Whiteboards – solve for x  </vt:lpstr>
      <vt:lpstr>Write and solve – I do </vt:lpstr>
      <vt:lpstr>You do - whiteboards</vt:lpstr>
      <vt:lpstr>Write the expression and solve</vt:lpstr>
      <vt:lpstr>Write and solve </vt:lpstr>
      <vt:lpstr>Writing Expressions – exercise books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14</cp:revision>
  <dcterms:created xsi:type="dcterms:W3CDTF">2022-08-31T13:20:01Z</dcterms:created>
  <dcterms:modified xsi:type="dcterms:W3CDTF">2023-08-18T03:17:28Z</dcterms:modified>
</cp:coreProperties>
</file>
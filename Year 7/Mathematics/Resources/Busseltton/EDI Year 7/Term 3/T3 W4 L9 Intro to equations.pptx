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4"/>
  </p:notesMasterIdLst>
  <p:sldIdLst>
    <p:sldId id="256" r:id="rId6"/>
    <p:sldId id="278" r:id="rId7"/>
    <p:sldId id="279" r:id="rId8"/>
    <p:sldId id="283" r:id="rId9"/>
    <p:sldId id="285" r:id="rId10"/>
    <p:sldId id="284" r:id="rId11"/>
    <p:sldId id="282" r:id="rId12"/>
    <p:sldId id="277" r:id="rId13"/>
    <p:sldId id="261" r:id="rId14"/>
    <p:sldId id="263" r:id="rId15"/>
    <p:sldId id="286" r:id="rId16"/>
    <p:sldId id="258" r:id="rId17"/>
    <p:sldId id="260" r:id="rId18"/>
    <p:sldId id="272" r:id="rId19"/>
    <p:sldId id="273" r:id="rId20"/>
    <p:sldId id="274" r:id="rId21"/>
    <p:sldId id="275" r:id="rId22"/>
    <p:sldId id="276" r:id="rId23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EB9B6-C938-4594-B44A-579023D364DA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596B6-B039-47FF-9701-353FACB2269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872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D7A721-EE66-46E8-91CC-7F79AD499A2C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90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9EDB1-403C-439E-AA82-C8FC9FF3C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B2320-FF24-45C6-8A70-4E0C77684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AF580-AB69-45DF-8AFB-23D9C154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7EA02-7794-490A-875C-D36392A1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93376-D1C6-4584-9815-F9D679FA6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7302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AD0ED-6DE1-4113-BC6C-41D8387D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720FB-5E02-470D-83C7-0B3AAB824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BF0D1-FA72-41CC-A167-5D766E87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7010A-337D-4F4B-9145-DAC11148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35DED-661C-498E-B968-B2D25E96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145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BB2E-B916-440E-9ECB-608CC7FD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9F8B5-C808-4D58-987C-D541BEF7B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9A149-E22B-44BD-8D9B-60996976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3A4F5-954F-4E3D-93C3-882CA50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F2F03-18AC-42D7-AF22-39A08B79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25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4850-F22A-490A-8F00-DF2915FEC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BA703-97E5-4ACA-BFE5-CC6E1389E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40184-D3EA-4413-BE8A-01ADBD428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854F8-5A30-4EEE-9D9C-0F0AAC93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F9E83-1C10-43EC-9F82-711328B2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DD166-54D5-41CC-A199-CD5F54AA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894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31DE-FDEC-4A50-AEE5-2AA3494B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5876D-89D2-43D5-A4DF-50A7361B9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F4DA7-9810-4E6D-AA6D-CF5B7B8B0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7D82C6-F43D-4106-B835-9409B9A78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CFDC6-1FBA-4172-85DC-F6D7F237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0F0F91-9D2D-41B5-9C88-E8B993E8E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F130F-9375-4A72-ACD5-F62069456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E45946-AE58-428F-AAFA-D7FFD274B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870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7379-5997-4192-8B81-02A808C2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D05877-0999-4107-8739-DB04FD187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0BCAC-C396-4A8D-8FD5-6442AB8A3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A9864-9365-4332-B6F9-06ECB003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117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1382C-FF95-4DE7-BA54-0D1290E0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2406D-012A-40F4-A1E4-9D9F18F8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40DE9-5558-4DF1-88B8-08466597E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89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E6965-1DF2-4A25-9528-B03F0576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11D49-842D-466F-AC58-4ECB59A90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262FF-92CC-431D-A25F-71F230392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3478C-57F4-438A-8598-22267B98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550A6-DC62-47C7-B5F8-FEF7C78D6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84A15-F739-4880-AEB1-14F7226D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92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A4494-8954-4A26-8970-B1F97D6E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A3705-F199-439A-9C5D-092C4D282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E44BF-07CD-41BA-938F-ACCC5D702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0D483-5BE0-4AD2-8AC8-B66430E2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B7418-7C27-4BC7-B936-E63AFFE1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6271D-4FF6-44DA-BF6D-BE74CFFF6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84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9CFE-743D-4324-8695-DF4CD336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F39C8-92A3-4E65-B04C-1519A7AF4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4281A-192C-4540-9544-53B51A3EF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6FBE-34D5-4378-A47A-687F5319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6D230-84C4-496D-BE40-E83F0DED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8668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0827E-B8B1-417E-A917-30CE80F29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F43B5-B234-4C74-B93E-24058D0BC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0DD38-98AA-49EA-9F56-51B80FFF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D9A35-705E-4B89-A4B5-532CE197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8CC10-CAF8-4C1B-9D4F-12744422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3445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108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91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3681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992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9935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06456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29168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6533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3348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203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25020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4D3A-50C0-44DF-832B-F915DE26B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39C90-3F22-496A-BC3F-1AFA13567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BB774-6B46-4EC5-AD99-A5B693A2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5A66-41E1-4254-A554-3337C6A3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D15D-DB66-4046-9D08-D2CA4D40D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119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44F6-F843-49C2-A84D-E1372DED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23CA-3E45-4345-8FD7-8622111CE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0721C-8B80-4443-9245-C89C8AAA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35197-18DE-4DBF-ACA9-AC760D2A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2FB9-7596-4C3B-A9A8-7B9D0DAE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94692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E1FB-D075-460F-A9D8-2A4A0CC0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5BE28-7F66-46FE-BE92-633C59C9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42DC7-78D1-4577-9EF6-C9D40C19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95F84-6B17-4355-BC0F-B726791C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F312-CD57-4A58-9A4C-38470340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4710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E217-76E0-4A55-B1D8-B39C9BAF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B773A-2EAD-42A2-8D45-EB369292E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BA63E-40B8-41EC-9AEC-C563F904D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700B-43BF-414E-9B9A-EE7A5565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E60C5-D757-4F63-8FFE-334D0EAD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22336-E1F8-4E3C-AFFE-FC95E1CA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213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481C-701B-40C8-A56C-7235F4F0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3B4E-586C-4FB1-81D0-4AA5FE2D2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C61EC-F36F-4D1C-B6A3-73D7D1108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C23A2-0B05-4B38-92C5-A8D14352D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3E69A-BB74-422C-9BE2-C9D1B0128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DD1D3-18C9-4DBB-8D4B-0ED05512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5F90B-5BB7-4DDC-9DD0-381F9260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321A5-9EB8-430B-AFAD-39BA7495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5658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5C68-A4FE-4B56-A6D1-74B0EE75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B32BC-76E2-494B-84EA-810433B5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57573-34EE-40D6-A45A-7801B68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E3348-58A2-4E1E-8916-EDB5C4CB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65920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DE1F0-CAA2-4199-96AF-58489382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5C3D7-4187-43B0-B68F-7761F43E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4A1E7-D62C-407E-B8FF-B0A14446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4418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6A88-F676-4ED7-98D9-C6DA821D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CDED-6ED0-4E4C-B74E-C39D8821D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13A06-C675-463B-AC56-B2F3EC0DD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E15D-767E-4EFE-9B02-C914B679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4586E-EE20-4F98-AF9E-2BF98307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275C4-88C0-4B30-8C5A-615CADC8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967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5ABC-4487-4499-898F-63976F8D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DB0FF-E23D-47B0-9F6D-F0A4F849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814BD-3F8C-4794-B9DF-4988E5552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3447-8A69-4DCF-BA31-848CF70D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9386-1720-4CDE-9278-329F01C9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67E03-25B1-4021-8640-16383110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95824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4C44-0319-4AA1-B93D-BF7AAB81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3E9BC-1FCF-4264-9D1D-10A026144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3262-6835-4D26-B53E-78010317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68F2-6249-4A72-ACCF-0F99B35D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527EA-4E08-4D64-B9C9-0F11205A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53869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60C07-C942-45CB-BB7E-53273752F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EED66-877B-4B9C-8B82-1A410A77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DB268-D751-48EA-BD1F-908BF312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A9357-5840-4C3A-B273-424AD4B6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E44E9-655E-439D-B20B-B7ABA9D4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6561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8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560"/>
            <a:ext cx="12192000" cy="5539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5299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51725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44719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2134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95720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6041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2312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881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3068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5028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06000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560"/>
            <a:ext cx="12192000" cy="5539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81248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26971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0027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2125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83734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2591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2847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3191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77677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65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68A527-667F-4B3F-833A-F1BC5C72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DBDDB-1201-48BA-BD8E-EA9CDD307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EFEE8-EFD6-4C5E-A26F-47FD1534D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05EF0-DB52-4037-8281-370790DB1689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BA52F-2A37-40F3-B492-EC48B2F68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21E1C-37A7-47E8-9ADD-F7462657D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0578B-4E15-4A41-899A-A0D56C7753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78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99AF-E7D0-4DFF-830F-6CAFB8E73662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CDC43-6B88-412D-8CCA-2A31820E8C9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736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1B750-5D28-4F89-996B-37A3E0A2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0AD77-9CAB-4484-94CD-F17F9240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C5EBA-40D6-40D7-BEE8-662062469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B264A-1A4E-4851-A8F2-F3B53172A0C5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15A9-5E8F-47E7-B9AC-FBB27D629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5B8B-B165-4024-99C2-6DF063885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07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546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4BA26-DC35-45BC-B129-48DE13C970DB}" type="datetimeFigureOut">
              <a:rPr lang="en-AU" smtClean="0"/>
              <a:t>7/08/2023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6078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687D93-5C08-4757-82F8-75AD1E3B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29294F-BDAB-4565-B281-FCA5FC3E7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Introduction to equations </a:t>
            </a:r>
          </a:p>
          <a:p>
            <a:pPr marL="0" indent="0" algn="ctr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Aims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Describe an equation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Identify LHS and RHS of an equation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Solve equations through inspection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BIMDAS and substitution  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Solving equations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CCF51-68D2-B41A-5952-20A37030B2AE}"/>
              </a:ext>
            </a:extLst>
          </p:cNvPr>
          <p:cNvSpPr txBox="1"/>
          <p:nvPr/>
        </p:nvSpPr>
        <p:spPr>
          <a:xfrm>
            <a:off x="7270813" y="239522"/>
            <a:ext cx="42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Empathy – let other work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Achieve – try all tasks</a:t>
            </a:r>
            <a:endParaRPr lang="en-AU" sz="2400" b="1" dirty="0">
              <a:highlight>
                <a:srgbClr val="00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9CF7C-FF69-9728-0A63-45A956B42C66}"/>
              </a:ext>
            </a:extLst>
          </p:cNvPr>
          <p:cNvSpPr txBox="1"/>
          <p:nvPr/>
        </p:nvSpPr>
        <p:spPr>
          <a:xfrm>
            <a:off x="7270813" y="2506472"/>
            <a:ext cx="42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 (or challenge with no calculator)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8362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A4E011-6007-425A-A2B9-4BDBE4F3E3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23"/>
          <a:stretch/>
        </p:blipFill>
        <p:spPr>
          <a:xfrm>
            <a:off x="2271356" y="1500977"/>
            <a:ext cx="7814627" cy="4463532"/>
          </a:xfrm>
          <a:prstGeom prst="rect">
            <a:avLst/>
          </a:prstGeom>
        </p:spPr>
      </p:pic>
      <p:pic>
        <p:nvPicPr>
          <p:cNvPr id="1030" name="Picture 6" descr="The Maths Magpie: Posters for BODMAS / BIDMAS Misconception">
            <a:extLst>
              <a:ext uri="{FF2B5EF4-FFF2-40B4-BE49-F238E27FC236}">
                <a16:creationId xmlns:a16="http://schemas.microsoft.com/office/drawing/2014/main" id="{67061E1A-1068-4CB0-A63D-92A1BF1AD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0" t="6147" r="7594" b="79634"/>
          <a:stretch/>
        </p:blipFill>
        <p:spPr bwMode="auto">
          <a:xfrm>
            <a:off x="4040002" y="743653"/>
            <a:ext cx="3492733" cy="90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712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857250"/>
            <a:ext cx="5689478" cy="519522"/>
          </a:xfrm>
        </p:spPr>
        <p:txBody>
          <a:bodyPr>
            <a:normAutofit fontScale="90000"/>
          </a:bodyPr>
          <a:lstStyle/>
          <a:p>
            <a:r>
              <a:rPr lang="en-AU" dirty="0"/>
              <a:t>Doing calculations using BIMDAS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98043" y="1325033"/>
            <a:ext cx="219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9 + 2 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9984" y="2042640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=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6395" y="1340669"/>
            <a:ext cx="219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(8 - 3) x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1605" y="2195382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=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6540" y="2725509"/>
            <a:ext cx="12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4 + 5 x 6 - 7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20" y="3188105"/>
            <a:ext cx="51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39" y="3654095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= 27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97016" y="1621413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987623" y="1686917"/>
            <a:ext cx="533769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574006" y="3018849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79515" y="2540876"/>
            <a:ext cx="196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(5 – 1)</a:t>
            </a:r>
            <a:r>
              <a:rPr lang="en-AU" b="1" baseline="30000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2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x (5 - 3) ÷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1108" y="3716677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= 8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5817063" y="2835465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678150" y="2856977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990971" y="3248201"/>
            <a:ext cx="17879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027619" y="3188105"/>
            <a:ext cx="93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= 4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5123" y="3188105"/>
            <a:ext cx="48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- 7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6018" y="1702526"/>
            <a:ext cx="536774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73873" y="1847710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75799" y="2939237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72816" y="2908598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26393" y="2881085"/>
            <a:ext cx="5849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Write</a:t>
            </a:r>
            <a:endParaRPr lang="en-AU" sz="1350" dirty="0">
              <a:solidFill>
                <a:srgbClr val="FF0000"/>
              </a:solidFill>
              <a:latin typeface="Calibri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26393" y="3236659"/>
            <a:ext cx="8980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Calibri"/>
                <a:cs typeface="Arial" panose="020B0604020202020204" pitchFamily="34" charset="0"/>
              </a:rPr>
              <a:t>Underline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6932" y="4021918"/>
            <a:ext cx="741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Rewrite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3951" y="3641731"/>
            <a:ext cx="7463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Replace</a:t>
            </a: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479" y="865801"/>
            <a:ext cx="1167368" cy="18677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2931893" y="2532859"/>
            <a:ext cx="23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411321" y="2541630"/>
            <a:ext cx="24350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856311" y="4153793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965319" y="4225310"/>
            <a:ext cx="2375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8 x (3+7) - (35 - 3) ÷ 2</a:t>
            </a:r>
            <a:r>
              <a:rPr lang="en-AU" b="1" baseline="30000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0820" y="5011094"/>
            <a:ext cx="236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= 8  x  10   -     32   ÷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2006" y="5811665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= 76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3378192" y="4521314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4034085" y="4533830"/>
            <a:ext cx="637239" cy="89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776213" y="4602768"/>
            <a:ext cx="23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= 8  x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10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-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32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÷ 2</a:t>
            </a:r>
            <a:r>
              <a:rPr lang="en-AU" b="1" baseline="30000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4746734" y="4956350"/>
            <a:ext cx="17879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2776212" y="4586227"/>
            <a:ext cx="581406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553337" y="4583866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5511739" y="4171959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3018606" y="5338232"/>
            <a:ext cx="678029" cy="7454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4218666" y="5352394"/>
            <a:ext cx="695157" cy="580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3744054" y="4576945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2883076" y="4964690"/>
            <a:ext cx="1834383" cy="353204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737067" y="5413504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347465" y="2798277"/>
            <a:ext cx="966248" cy="1615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382140" y="3329818"/>
            <a:ext cx="314960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56021" y="1702534"/>
            <a:ext cx="168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= 9 +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3748" y="1828415"/>
            <a:ext cx="113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= 5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x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8531" y="2944975"/>
            <a:ext cx="20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= 4</a:t>
            </a:r>
            <a:r>
              <a:rPr lang="en-AU" b="1" baseline="30000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2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x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2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÷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98532" y="3295329"/>
            <a:ext cx="221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= 16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x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2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      ÷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8378" y="5428860"/>
            <a:ext cx="254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= 80</a:t>
            </a:r>
            <a:r>
              <a:rPr lang="en-AU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  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-    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4</a:t>
            </a:r>
            <a:endParaRPr lang="en-AU" b="1" dirty="0">
              <a:solidFill>
                <a:srgbClr val="0070C0"/>
              </a:solidFill>
              <a:latin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2" grpId="0"/>
      <p:bldP spid="13" grpId="0"/>
      <p:bldP spid="14" grpId="0"/>
      <p:bldP spid="18" grpId="0"/>
      <p:bldP spid="20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46" grpId="0"/>
      <p:bldP spid="47" grpId="0"/>
      <p:bldP spid="48" grpId="0"/>
      <p:bldP spid="51" grpId="0"/>
      <p:bldP spid="53" grpId="0" animBg="1"/>
      <p:bldP spid="54" grpId="0" animBg="1"/>
      <p:bldP spid="62" grpId="0" animBg="1"/>
      <p:bldP spid="63" grpId="0" animBg="1"/>
      <p:bldP spid="66" grpId="0" animBg="1"/>
      <p:bldP spid="60" grpId="0" animBg="1"/>
      <p:bldP spid="7" grpId="0"/>
      <p:bldP spid="10" grpId="0"/>
      <p:bldP spid="23" grpId="0"/>
      <p:bldP spid="19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857250"/>
            <a:ext cx="5689478" cy="519522"/>
          </a:xfrm>
        </p:spPr>
        <p:txBody>
          <a:bodyPr>
            <a:normAutofit fontScale="90000"/>
          </a:bodyPr>
          <a:lstStyle/>
          <a:p>
            <a:r>
              <a:rPr lang="en-AU" dirty="0"/>
              <a:t>Doing calculations using BIMDAS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2119" y="1304630"/>
            <a:ext cx="2195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800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9 + 2 x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6395" y="1340669"/>
            <a:ext cx="2195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800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(8 - 3) x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8101" y="2679375"/>
            <a:ext cx="203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800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4 + 5 x 6 - 7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4704" y="2664298"/>
            <a:ext cx="2538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400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(5 – 1)</a:t>
            </a:r>
            <a:r>
              <a:rPr lang="en-AU" sz="2400" b="1" baseline="30000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2</a:t>
            </a:r>
            <a:r>
              <a:rPr lang="en-AU" sz="2400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 x (5 - 3) ÷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6393" y="2881085"/>
            <a:ext cx="5849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Write</a:t>
            </a:r>
            <a:endParaRPr lang="en-AU" sz="1350" dirty="0">
              <a:solidFill>
                <a:srgbClr val="FF0000"/>
              </a:solidFill>
              <a:latin typeface="Calibri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26393" y="3236659"/>
            <a:ext cx="8980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Calibri"/>
                <a:cs typeface="Arial" panose="020B0604020202020204" pitchFamily="34" charset="0"/>
              </a:rPr>
              <a:t>Underline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6932" y="4021918"/>
            <a:ext cx="741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solidFill>
                  <a:srgbClr val="0070C0"/>
                </a:solidFill>
                <a:latin typeface="Calibri"/>
                <a:cs typeface="Arial" panose="020B0604020202020204" pitchFamily="34" charset="0"/>
              </a:rPr>
              <a:t>Rewrite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3951" y="3641731"/>
            <a:ext cx="7463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1350" b="1" dirty="0">
                <a:solidFill>
                  <a:srgbClr val="00B050"/>
                </a:solidFill>
                <a:latin typeface="Calibri"/>
                <a:cs typeface="Arial" panose="020B0604020202020204" pitchFamily="34" charset="0"/>
              </a:rPr>
              <a:t>Replace</a:t>
            </a: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479" y="865801"/>
            <a:ext cx="1167368" cy="18677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2931893" y="2532859"/>
            <a:ext cx="23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5411321" y="2541630"/>
            <a:ext cx="24350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856311" y="4153793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135561" y="4225311"/>
            <a:ext cx="320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2400" b="1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8 x (3+7) - (35 - 3) ÷ 2</a:t>
            </a:r>
            <a:r>
              <a:rPr lang="en-AU" sz="2400" b="1" baseline="30000" dirty="0">
                <a:solidFill>
                  <a:srgbClr val="7030A0"/>
                </a:solidFill>
                <a:latin typeface="Calibri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5511739" y="4171959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8347465" y="2798277"/>
            <a:ext cx="966248" cy="1615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AU" sz="135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459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76E7-D4EA-9677-EE4E-EE95AAA6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4141D-0783-D848-7771-6E23DC973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6874"/>
            <a:ext cx="12192000" cy="45704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An equation is true if BOTH sides of the equal sign are the SAME.</a:t>
            </a:r>
          </a:p>
          <a:p>
            <a:pPr marL="0" indent="0" algn="ctr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An equation is true if…</a:t>
            </a:r>
          </a:p>
          <a:p>
            <a:pPr marL="0" indent="0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If both sides of an equal sign are the same, the equation is….</a:t>
            </a:r>
            <a:endParaRPr lang="en-AU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Maths Magpie: Posters for BODMAS / BIDMAS Misconception">
            <a:extLst>
              <a:ext uri="{FF2B5EF4-FFF2-40B4-BE49-F238E27FC236}">
                <a16:creationId xmlns:a16="http://schemas.microsoft.com/office/drawing/2014/main" id="{67061E1A-1068-4CB0-A63D-92A1BF1AD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0" t="6147" r="7594" b="79634"/>
          <a:stretch/>
        </p:blipFill>
        <p:spPr bwMode="auto">
          <a:xfrm>
            <a:off x="4073661" y="857252"/>
            <a:ext cx="3492733" cy="90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23DCA8-715F-4475-BF68-4F4844895E78}"/>
              </a:ext>
            </a:extLst>
          </p:cNvPr>
          <p:cNvSpPr txBox="1"/>
          <p:nvPr/>
        </p:nvSpPr>
        <p:spPr>
          <a:xfrm>
            <a:off x="1852175" y="1984822"/>
            <a:ext cx="85703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Determine if the following equations are 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5AB294-3541-4EE3-A39A-97DB5F3D6ECF}"/>
                  </a:ext>
                </a:extLst>
              </p:cNvPr>
              <p:cNvSpPr txBox="1"/>
              <p:nvPr/>
            </p:nvSpPr>
            <p:spPr>
              <a:xfrm>
                <a:off x="1852175" y="2399813"/>
                <a:ext cx="365549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Arial" panose="020B0604020202020204" pitchFamily="34" charset="0"/>
                  </a:rPr>
                  <a:t>a) </a:t>
                </a:r>
                <a14:m>
                  <m:oMath xmlns:m="http://schemas.openxmlformats.org/officeDocument/2006/math"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6+5</m:t>
                    </m:r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×2=2×10−4</m:t>
                    </m:r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5AB294-3541-4EE3-A39A-97DB5F3D6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175" y="2399813"/>
                <a:ext cx="3655496" cy="415498"/>
              </a:xfrm>
              <a:prstGeom prst="rect">
                <a:avLst/>
              </a:prstGeom>
              <a:blipFill>
                <a:blip r:embed="rId3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091DC-64CF-4016-ACE7-5F8DFBFA3161}"/>
                  </a:ext>
                </a:extLst>
              </p:cNvPr>
              <p:cNvSpPr txBox="1"/>
              <p:nvPr/>
            </p:nvSpPr>
            <p:spPr>
              <a:xfrm>
                <a:off x="1852175" y="3869565"/>
                <a:ext cx="365549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Arial" panose="020B060402020202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AU" sz="2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×4−6=−6+6×6</m:t>
                    </m:r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091DC-64CF-4016-ACE7-5F8DFBFA3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175" y="3869565"/>
                <a:ext cx="3655496" cy="415498"/>
              </a:xfrm>
              <a:prstGeom prst="rect">
                <a:avLst/>
              </a:prstGeom>
              <a:blipFill>
                <a:blip r:embed="rId4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3E0EC-7F57-4964-B3B8-0A606DD5A991}"/>
                  </a:ext>
                </a:extLst>
              </p:cNvPr>
              <p:cNvSpPr txBox="1"/>
              <p:nvPr/>
            </p:nvSpPr>
            <p:spPr>
              <a:xfrm>
                <a:off x="6228532" y="2399813"/>
                <a:ext cx="365549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Arial" panose="020B0604020202020204" pitchFamily="34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AU" sz="2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</m:t>
                    </m:r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×8=4(8+7)</m:t>
                    </m:r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3E0EC-7F57-4964-B3B8-0A606DD5A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532" y="2399813"/>
                <a:ext cx="3655496" cy="415498"/>
              </a:xfrm>
              <a:prstGeom prst="rect">
                <a:avLst/>
              </a:prstGeom>
              <a:blipFill>
                <a:blip r:embed="rId5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5449E8-87F9-4FD0-AEB4-734308DC3858}"/>
                  </a:ext>
                </a:extLst>
              </p:cNvPr>
              <p:cNvSpPr txBox="1"/>
              <p:nvPr/>
            </p:nvSpPr>
            <p:spPr>
              <a:xfrm>
                <a:off x="6182251" y="3788365"/>
                <a:ext cx="365549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/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Arial" panose="020B0604020202020204" pitchFamily="34" charset="0"/>
                  </a:rPr>
                  <a:t>d)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3+8 </m:t>
                    </m:r>
                    <m:r>
                      <a:rPr lang="en-US" sz="21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×2=25 −3 ×2</m:t>
                    </m:r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5449E8-87F9-4FD0-AEB4-734308DC3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251" y="3788365"/>
                <a:ext cx="3655496" cy="415498"/>
              </a:xfrm>
              <a:prstGeom prst="rect">
                <a:avLst/>
              </a:prstGeom>
              <a:blipFill>
                <a:blip r:embed="rId6"/>
                <a:stretch>
                  <a:fillRect t="-8696" b="-275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370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92196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we work Forwards</a:t>
            </a:r>
            <a:br>
              <a:rPr lang="en-AU" dirty="0"/>
            </a:br>
            <a:r>
              <a:rPr lang="en-AU" dirty="0"/>
              <a:t>BIMDAS Practice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31504" y="1916832"/>
            <a:ext cx="2736304" cy="4941168"/>
          </a:xfrm>
          <a:prstGeom prst="roundRect">
            <a:avLst/>
          </a:prstGeom>
          <a:ln w="762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24192" y="1917204"/>
            <a:ext cx="2736304" cy="4940796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27848" y="1909589"/>
            <a:ext cx="2736304" cy="4940796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972" y="2042649"/>
            <a:ext cx="1649638" cy="5040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1198" t="2809" r="72555" b="83520"/>
          <a:stretch/>
        </p:blipFill>
        <p:spPr>
          <a:xfrm>
            <a:off x="4905609" y="2219894"/>
            <a:ext cx="2272569" cy="4778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1220" t="80715" r="72533" b="5614"/>
          <a:stretch/>
        </p:blipFill>
        <p:spPr>
          <a:xfrm>
            <a:off x="4933637" y="4595888"/>
            <a:ext cx="2272569" cy="47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71910" t="80991" r="1843" b="5338"/>
          <a:stretch/>
        </p:blipFill>
        <p:spPr>
          <a:xfrm>
            <a:off x="4933638" y="3487858"/>
            <a:ext cx="2272569" cy="4778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71079" t="4425" r="2674" b="81904"/>
          <a:stretch/>
        </p:blipFill>
        <p:spPr>
          <a:xfrm>
            <a:off x="4959715" y="5711854"/>
            <a:ext cx="2272569" cy="47787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-2020" t="93133" r="67874" b="608"/>
          <a:stretch/>
        </p:blipFill>
        <p:spPr>
          <a:xfrm>
            <a:off x="7938450" y="2317536"/>
            <a:ext cx="2483082" cy="365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/>
          <a:srcRect l="66794" t="47145" r="-940" b="46596"/>
          <a:stretch/>
        </p:blipFill>
        <p:spPr>
          <a:xfrm>
            <a:off x="8048960" y="3802130"/>
            <a:ext cx="2286769" cy="3363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/>
          <a:srcRect l="-422" t="46945" r="66276" b="46796"/>
          <a:stretch/>
        </p:blipFill>
        <p:spPr>
          <a:xfrm>
            <a:off x="8083959" y="5375524"/>
            <a:ext cx="2286769" cy="336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D50C0E-B378-F19B-6B27-0FB92936231C}"/>
                  </a:ext>
                </a:extLst>
              </p:cNvPr>
              <p:cNvSpPr txBox="1"/>
              <p:nvPr/>
            </p:nvSpPr>
            <p:spPr>
              <a:xfrm>
                <a:off x="1838889" y="3102676"/>
                <a:ext cx="204380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2+3</m:t>
                      </m:r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×8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D50C0E-B378-F19B-6B27-0FB929362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889" y="3102676"/>
                <a:ext cx="204380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687B38-D957-2129-EAF9-8ED8CE756866}"/>
                  </a:ext>
                </a:extLst>
              </p:cNvPr>
              <p:cNvSpPr txBox="1"/>
              <p:nvPr/>
            </p:nvSpPr>
            <p:spPr>
              <a:xfrm>
                <a:off x="1919536" y="4408897"/>
                <a:ext cx="204380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10−</m:t>
                      </m:r>
                      <m:sSup>
                        <m:sSupPr>
                          <m:ctrlPr>
                            <a:rPr lang="en-AU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687B38-D957-2129-EAF9-8ED8CE756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4408897"/>
                <a:ext cx="204380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D4EEE1-F589-E1F9-15A6-6AB396192036}"/>
                  </a:ext>
                </a:extLst>
              </p:cNvPr>
              <p:cNvSpPr txBox="1"/>
              <p:nvPr/>
            </p:nvSpPr>
            <p:spPr>
              <a:xfrm>
                <a:off x="1838889" y="5478205"/>
                <a:ext cx="204380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(9−5)</m:t>
                      </m:r>
                      <m:r>
                        <a:rPr lang="en-AU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AU" sz="2400" dirty="0">
                  <a:solidFill>
                    <a:prstClr val="black"/>
                  </a:solidFill>
                  <a:latin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D4EEE1-F589-E1F9-15A6-6AB396192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889" y="5478205"/>
                <a:ext cx="2043804" cy="461665"/>
              </a:xfrm>
              <a:prstGeom prst="rect">
                <a:avLst/>
              </a:prstGeom>
              <a:blipFill>
                <a:blip r:embed="rId8"/>
                <a:stretch>
                  <a:fillRect b="-2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78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92196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we work Forwards</a:t>
            </a:r>
            <a:br>
              <a:rPr lang="en-AU" dirty="0"/>
            </a:br>
            <a:r>
              <a:rPr lang="en-AU" dirty="0"/>
              <a:t>BIMDAS Practice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31504" y="1916832"/>
            <a:ext cx="2736304" cy="4941168"/>
          </a:xfrm>
          <a:prstGeom prst="roundRect">
            <a:avLst/>
          </a:prstGeom>
          <a:ln w="762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AU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24192" y="1917204"/>
            <a:ext cx="2736304" cy="4940796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27848" y="1909589"/>
            <a:ext cx="2736304" cy="4940796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AU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972" y="2042649"/>
            <a:ext cx="1649638" cy="5040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29898" r="78314" b="63110"/>
          <a:stretch/>
        </p:blipFill>
        <p:spPr>
          <a:xfrm>
            <a:off x="1865114" y="3226066"/>
            <a:ext cx="1654523" cy="5760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-1657" t="62601" r="79971" b="30407"/>
          <a:stretch/>
        </p:blipFill>
        <p:spPr>
          <a:xfrm>
            <a:off x="1865114" y="4538580"/>
            <a:ext cx="1654523" cy="5760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76680" t="93839" r="1634" b="-831"/>
          <a:stretch/>
        </p:blipFill>
        <p:spPr>
          <a:xfrm>
            <a:off x="1865114" y="5631789"/>
            <a:ext cx="1654523" cy="5760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1198" t="2809" r="72555" b="83520"/>
          <a:stretch/>
        </p:blipFill>
        <p:spPr>
          <a:xfrm>
            <a:off x="4833448" y="2204865"/>
            <a:ext cx="2272569" cy="4778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1220" t="80715" r="72533" b="5614"/>
          <a:stretch/>
        </p:blipFill>
        <p:spPr>
          <a:xfrm>
            <a:off x="4833448" y="4587996"/>
            <a:ext cx="2272569" cy="47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71910" t="80991" r="1843" b="5338"/>
          <a:stretch/>
        </p:blipFill>
        <p:spPr>
          <a:xfrm>
            <a:off x="4890488" y="3514098"/>
            <a:ext cx="2272569" cy="4778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71079" t="4425" r="2674" b="81904"/>
          <a:stretch/>
        </p:blipFill>
        <p:spPr>
          <a:xfrm>
            <a:off x="4890488" y="5703919"/>
            <a:ext cx="2272569" cy="47787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-2020" t="93133" r="67874" b="608"/>
          <a:stretch/>
        </p:blipFill>
        <p:spPr>
          <a:xfrm>
            <a:off x="7938450" y="2317536"/>
            <a:ext cx="2483082" cy="365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/>
          <a:srcRect l="66794" t="47145" r="-940" b="46596"/>
          <a:stretch/>
        </p:blipFill>
        <p:spPr>
          <a:xfrm>
            <a:off x="8048960" y="3802130"/>
            <a:ext cx="2286769" cy="3363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/>
          <a:srcRect l="-422" t="46945" r="66276" b="46796"/>
          <a:stretch/>
        </p:blipFill>
        <p:spPr>
          <a:xfrm>
            <a:off x="8083959" y="5375524"/>
            <a:ext cx="2286769" cy="336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612" y="2779097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5826" y="3949064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3572" y="5242255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1558" y="6328374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7537" y="3111737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74396" y="4228823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683" y="5287574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6767" y="6374166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15</a:t>
            </a:r>
            <a:endParaRPr lang="en-AU" sz="2400" dirty="0">
              <a:solidFill>
                <a:srgbClr val="FF0000"/>
              </a:solidFill>
              <a:latin typeface="Calibri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98504" y="310140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8109" y="4504195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8110" y="6207854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10034" y="2443803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2 x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5597" y="3625107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2 + 24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5167" y="4844379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10 - 9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10034" y="5967820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4 x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3024" y="2701318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3 x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084" y="3890164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12 ÷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8686" y="5741972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24 ÷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9640" y="6094672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75 ÷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1314" y="5026992"/>
            <a:ext cx="1144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20 x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3224" y="2695197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4 ÷ 4 + 3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9557" y="4113850"/>
            <a:ext cx="1180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AU" sz="24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rPr>
              <a:t>= 40 ÷ 4</a:t>
            </a:r>
          </a:p>
        </p:txBody>
      </p:sp>
    </p:spTree>
    <p:extLst>
      <p:ext uri="{BB962C8B-B14F-4D97-AF65-F5344CB8AC3E}">
        <p14:creationId xmlns:p14="http://schemas.microsoft.com/office/powerpoint/2010/main" val="5739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025" y="0"/>
            <a:ext cx="9145975" cy="980728"/>
          </a:xfrm>
        </p:spPr>
        <p:txBody>
          <a:bodyPr/>
          <a:lstStyle/>
          <a:p>
            <a:r>
              <a:rPr lang="en-AU" dirty="0"/>
              <a:t>In Algebra, the Rules don’t change!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980728"/>
                <a:ext cx="9144000" cy="5877272"/>
              </a:xfrm>
            </p:spPr>
            <p:txBody>
              <a:bodyPr/>
              <a:lstStyle/>
              <a:p>
                <a:r>
                  <a:rPr lang="en-AU" dirty="0"/>
                  <a:t>We always use BIMDAS</a:t>
                </a:r>
              </a:p>
              <a:p>
                <a:r>
                  <a:rPr lang="en-AU" dirty="0"/>
                  <a:t>We do prefer to write expressions as simply as possible</a:t>
                </a:r>
              </a:p>
              <a:p>
                <a:r>
                  <a:rPr lang="en-AU" dirty="0"/>
                  <a:t>This is no big deal, it’s just sums!</a:t>
                </a:r>
              </a:p>
              <a:p>
                <a:r>
                  <a:rPr lang="en-AU" sz="2800" dirty="0"/>
                  <a:t>We write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/>
                      </a:rPr>
                      <m:t>3</m:t>
                    </m:r>
                    <m:r>
                      <a:rPr lang="en-AU" sz="2800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800" i="1">
                        <a:latin typeface="Cambria Math"/>
                        <a:ea typeface="Cambria Math"/>
                      </a:rPr>
                      <m:t>𝑘</m:t>
                    </m:r>
                  </m:oMath>
                </a14:m>
                <a:r>
                  <a:rPr lang="en-AU" sz="2800" dirty="0"/>
                  <a:t> as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/>
                      </a:rPr>
                      <m:t>3</m:t>
                    </m:r>
                    <m:r>
                      <a:rPr lang="en-AU" sz="2800" i="1">
                        <a:latin typeface="Cambria Math"/>
                      </a:rPr>
                      <m:t>𝑘</m:t>
                    </m:r>
                  </m:oMath>
                </a14:m>
                <a:endParaRPr lang="en-AU" sz="2800" dirty="0"/>
              </a:p>
              <a:p>
                <a:r>
                  <a:rPr lang="en-AU" sz="2800" dirty="0"/>
                  <a:t>We write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/>
                      </a:rPr>
                      <m:t>𝑁</m:t>
                    </m:r>
                    <m:r>
                      <a:rPr lang="en-AU" sz="2800" i="1">
                        <a:latin typeface="Cambria Math"/>
                      </a:rPr>
                      <m:t>+</m:t>
                    </m:r>
                    <m:r>
                      <a:rPr lang="en-AU" sz="2800" i="1">
                        <a:latin typeface="Cambria Math"/>
                      </a:rPr>
                      <m:t>𝑁</m:t>
                    </m:r>
                    <m:r>
                      <a:rPr lang="en-AU" sz="2800" i="1">
                        <a:latin typeface="Cambria Math"/>
                      </a:rPr>
                      <m:t>+</m:t>
                    </m:r>
                    <m:r>
                      <a:rPr lang="en-AU" sz="2800" i="1">
                        <a:latin typeface="Cambria Math"/>
                      </a:rPr>
                      <m:t>𝑁</m:t>
                    </m:r>
                    <m:r>
                      <a:rPr lang="en-AU" sz="2800" i="1">
                        <a:latin typeface="Cambria Math"/>
                      </a:rPr>
                      <m:t>+</m:t>
                    </m:r>
                    <m:r>
                      <a:rPr lang="en-AU" sz="2800" i="1">
                        <a:latin typeface="Cambria Math"/>
                      </a:rPr>
                      <m:t>𝑁</m:t>
                    </m:r>
                    <m:r>
                      <a:rPr lang="en-AU" sz="2800" i="1">
                        <a:latin typeface="Cambria Math"/>
                      </a:rPr>
                      <m:t>+</m:t>
                    </m:r>
                    <m:r>
                      <a:rPr lang="en-AU" sz="2800" i="1">
                        <a:latin typeface="Cambria Math"/>
                      </a:rPr>
                      <m:t>𝑁</m:t>
                    </m:r>
                  </m:oMath>
                </a14:m>
                <a:r>
                  <a:rPr lang="en-AU" sz="2800" dirty="0"/>
                  <a:t> as </a:t>
                </a:r>
                <a14:m>
                  <m:oMath xmlns:m="http://schemas.openxmlformats.org/officeDocument/2006/math">
                    <m:r>
                      <a:rPr lang="en-AU" sz="2800" i="1" dirty="0">
                        <a:latin typeface="Cambria Math"/>
                      </a:rPr>
                      <m:t>5</m:t>
                    </m:r>
                    <m:r>
                      <a:rPr lang="en-AU" sz="2800" i="1" dirty="0">
                        <a:latin typeface="Cambria Math"/>
                      </a:rPr>
                      <m:t>𝑁</m:t>
                    </m:r>
                  </m:oMath>
                </a14:m>
                <a:r>
                  <a:rPr lang="en-AU" sz="2800" dirty="0"/>
                  <a:t>    (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/>
                      </a:rPr>
                      <m:t>5 </m:t>
                    </m:r>
                    <m:r>
                      <a:rPr lang="en-AU" sz="2800" i="1">
                        <a:latin typeface="Cambria Math"/>
                      </a:rPr>
                      <m:t>𝑙𝑜𝑡𝑠</m:t>
                    </m:r>
                    <m:r>
                      <a:rPr lang="en-AU" sz="2800" i="1">
                        <a:latin typeface="Cambria Math"/>
                      </a:rPr>
                      <m:t> </m:t>
                    </m:r>
                    <m:r>
                      <a:rPr lang="en-AU" sz="2800" i="1">
                        <a:latin typeface="Cambria Math"/>
                      </a:rPr>
                      <m:t>𝑜𝑓</m:t>
                    </m:r>
                    <m:r>
                      <a:rPr lang="en-AU" sz="2800" i="1">
                        <a:latin typeface="Cambria Math"/>
                      </a:rPr>
                      <m:t> </m:t>
                    </m:r>
                    <m:r>
                      <a:rPr lang="en-AU" sz="2800" i="1">
                        <a:latin typeface="Cambria Math"/>
                      </a:rPr>
                      <m:t>𝑁</m:t>
                    </m:r>
                  </m:oMath>
                </a14:m>
                <a:r>
                  <a:rPr lang="en-AU" sz="2800" dirty="0"/>
                  <a:t>)</a:t>
                </a:r>
              </a:p>
              <a:p>
                <a:pPr lvl="2"/>
                <a:r>
                  <a:rPr lang="en-AU" dirty="0"/>
                  <a:t>Notice we write the </a:t>
                </a:r>
                <a:r>
                  <a:rPr lang="en-AU" b="1" u="sng" dirty="0"/>
                  <a:t>number in front </a:t>
                </a:r>
                <a:r>
                  <a:rPr lang="en-AU" dirty="0"/>
                  <a:t>of the pronumeral</a:t>
                </a:r>
              </a:p>
              <a:p>
                <a:r>
                  <a:rPr lang="en-AU" b="0" dirty="0"/>
                  <a:t>We write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AU" dirty="0"/>
                  <a:t> as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𝑎𝑏</m:t>
                    </m:r>
                  </m:oMath>
                </a14:m>
                <a:endParaRPr lang="en-AU" dirty="0"/>
              </a:p>
              <a:p>
                <a:r>
                  <a:rPr lang="en-AU" b="0" dirty="0"/>
                  <a:t>We write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𝑁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÷4</m:t>
                    </m:r>
                  </m:oMath>
                </a14:m>
                <a:r>
                  <a:rPr lang="en-AU" dirty="0"/>
                  <a:t> as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𝑁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  <a:p>
                <a:pPr lvl="2"/>
                <a:r>
                  <a:rPr lang="en-AU" dirty="0"/>
                  <a:t>Notice the similarity between this and the ÷ sign??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980728"/>
                <a:ext cx="9144000" cy="5877272"/>
              </a:xfrm>
              <a:blipFill>
                <a:blip r:embed="rId2"/>
                <a:stretch>
                  <a:fillRect l="-1533" t="-13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328" y="2107454"/>
            <a:ext cx="1475656" cy="1475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537810" y="188640"/>
            <a:ext cx="9094694" cy="1355958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37810" y="3284984"/>
            <a:ext cx="8158590" cy="3240360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248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0104"/>
            <a:ext cx="9144000" cy="610584"/>
          </a:xfrm>
        </p:spPr>
        <p:txBody>
          <a:bodyPr>
            <a:noAutofit/>
          </a:bodyPr>
          <a:lstStyle/>
          <a:p>
            <a:r>
              <a:rPr lang="en-AU" sz="3600" dirty="0"/>
              <a:t>Substitution – Swap the numbers for the letters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809625"/>
            <a:ext cx="9143999" cy="5168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08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0104"/>
            <a:ext cx="9144000" cy="610584"/>
          </a:xfrm>
        </p:spPr>
        <p:txBody>
          <a:bodyPr>
            <a:noAutofit/>
          </a:bodyPr>
          <a:lstStyle/>
          <a:p>
            <a:r>
              <a:rPr lang="en-AU" sz="3600" dirty="0"/>
              <a:t>Substitution – Swap the numbers for the letters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809625"/>
            <a:ext cx="9143999" cy="5168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55641" y="1124744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5x3 =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9977" y="1146606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8x3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+1 =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64353" y="1124744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4x3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-1 =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1785" y="164647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3x3 =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4703" y="161421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3x3x3 =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0065" y="1614211"/>
            <a:ext cx="1252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  <a:latin typeface="Calibri"/>
              </a:rPr>
              <a:t>(3+1)x(3-1) =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906" y="2015808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8x3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-10 =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8887" y="2038865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3x3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-3 =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8960" y="203886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3÷6 = 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784" y="2636912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9x3÷3 =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5033" y="2636912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27÷3 =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320065" y="2539217"/>
                <a:ext cx="1181734" cy="4849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>
                    <a:solidFill>
                      <a:srgbClr val="FF0000"/>
                    </a:solidFill>
                    <a:latin typeface="Calibri"/>
                  </a:rPr>
                  <a:t>(3-2)÷9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9</m:t>
                        </m:r>
                      </m:den>
                    </m:f>
                  </m:oMath>
                </a14:m>
                <a:endParaRPr lang="en-AU" dirty="0">
                  <a:solidFill>
                    <a:srgbClr val="FF0000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065" y="2539217"/>
                <a:ext cx="1181734" cy="484941"/>
              </a:xfrm>
              <a:prstGeom prst="rect">
                <a:avLst/>
              </a:prstGeom>
              <a:blipFill>
                <a:blip r:embed="rId3"/>
                <a:stretch>
                  <a:fillRect l="-4639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929493" y="378904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2+5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4703" y="3789040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7+9 =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0336" y="3789040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2x5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+</a:t>
            </a:r>
            <a:r>
              <a:rPr lang="en-AU" u="sng" dirty="0">
                <a:solidFill>
                  <a:srgbClr val="FF0000"/>
                </a:solidFill>
                <a:latin typeface="Calibri"/>
              </a:rPr>
              <a:t>7x9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 = 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9493" y="429811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2x5x7 = 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8484" y="4276588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2x2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+</a:t>
            </a:r>
            <a:r>
              <a:rPr lang="en-AU" u="sng" dirty="0">
                <a:solidFill>
                  <a:srgbClr val="FF0000"/>
                </a:solidFill>
                <a:latin typeface="Calibri"/>
              </a:rPr>
              <a:t>3x5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 = 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0336" y="4276588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2x5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+</a:t>
            </a:r>
            <a:r>
              <a:rPr lang="en-AU" u="sng" dirty="0">
                <a:solidFill>
                  <a:srgbClr val="FF0000"/>
                </a:solidFill>
                <a:latin typeface="Calibri"/>
              </a:rPr>
              <a:t>5x7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 = 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6989" y="48457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9x2x5 = 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4844" y="480111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7x5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-7 = 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0337" y="4817321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8x5÷2 =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3534" y="5373216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3x2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-</a:t>
            </a:r>
            <a:r>
              <a:rPr lang="en-AU" u="sng" dirty="0">
                <a:solidFill>
                  <a:srgbClr val="FF0000"/>
                </a:solidFill>
                <a:latin typeface="Calibri"/>
              </a:rPr>
              <a:t>2x2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 =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526" y="5391147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  <a:latin typeface="Calibri"/>
              </a:rPr>
              <a:t>2+5+7 =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0337" y="5382445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>
                <a:solidFill>
                  <a:srgbClr val="FF0000"/>
                </a:solidFill>
                <a:latin typeface="Calibri"/>
              </a:rPr>
              <a:t>8x7</a:t>
            </a:r>
            <a:r>
              <a:rPr lang="en-AU" dirty="0">
                <a:solidFill>
                  <a:srgbClr val="FF0000"/>
                </a:solidFill>
                <a:latin typeface="Calibri"/>
              </a:rPr>
              <a:t>-2 = 54</a:t>
            </a:r>
          </a:p>
        </p:txBody>
      </p:sp>
    </p:spTree>
    <p:extLst>
      <p:ext uri="{BB962C8B-B14F-4D97-AF65-F5344CB8AC3E}">
        <p14:creationId xmlns:p14="http://schemas.microsoft.com/office/powerpoint/2010/main" val="400214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70B4-F1DF-4F89-897B-1C4CAC5D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72FFE-9D18-4CD2-AACD-EC6486BB0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An </a:t>
            </a:r>
            <a:r>
              <a:rPr lang="en-US" b="1" i="1" dirty="0">
                <a:solidFill>
                  <a:srgbClr val="FF0000"/>
                </a:solidFill>
              </a:rPr>
              <a:t>equation</a:t>
            </a:r>
            <a:r>
              <a:rPr lang="en-US" dirty="0">
                <a:solidFill>
                  <a:srgbClr val="FF0000"/>
                </a:solidFill>
              </a:rPr>
              <a:t> is a mathematical statement that two things are </a:t>
            </a:r>
            <a:r>
              <a:rPr lang="en-US" b="1" i="1" dirty="0">
                <a:solidFill>
                  <a:srgbClr val="FF0000"/>
                </a:solidFill>
              </a:rPr>
              <a:t>equal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i="1" dirty="0"/>
              <a:t>________</a:t>
            </a:r>
            <a:r>
              <a:rPr lang="en-US" dirty="0"/>
              <a:t> is a mathematical statement that two things are </a:t>
            </a:r>
            <a:r>
              <a:rPr lang="en-US" b="1" i="1" dirty="0"/>
              <a:t>equal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i="1" dirty="0"/>
              <a:t>________</a:t>
            </a:r>
            <a:r>
              <a:rPr lang="en-US" dirty="0"/>
              <a:t> is a mathematical statement that two things are </a:t>
            </a:r>
            <a:r>
              <a:rPr lang="en-US" b="1" i="1" dirty="0"/>
              <a:t>_____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two things are equal, we can write them in an __________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582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49918-6A69-4164-B618-2F5BF3FF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of these is an </a:t>
            </a:r>
            <a:r>
              <a:rPr lang="en-US" b="1" i="1" dirty="0"/>
              <a:t>equation</a:t>
            </a:r>
            <a:r>
              <a:rPr lang="en-US" dirty="0"/>
              <a:t>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48DC2-919F-4561-9C77-D9914432EC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12+7=19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10 −8=2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+5=9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+8 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448DC2-919F-4561-9C77-D9914432EC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1098832-40F7-43F1-9D27-BD38C5CAC488}"/>
              </a:ext>
            </a:extLst>
          </p:cNvPr>
          <p:cNvSpPr txBox="1"/>
          <p:nvPr/>
        </p:nvSpPr>
        <p:spPr>
          <a:xfrm>
            <a:off x="470516" y="3133817"/>
            <a:ext cx="2867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LHS = Left hand side </a:t>
            </a:r>
            <a:endParaRPr lang="en-A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FCAD9-86E0-44DF-A210-B42509CA60C9}"/>
              </a:ext>
            </a:extLst>
          </p:cNvPr>
          <p:cNvSpPr txBox="1"/>
          <p:nvPr/>
        </p:nvSpPr>
        <p:spPr>
          <a:xfrm>
            <a:off x="8950170" y="3198167"/>
            <a:ext cx="3241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RHS = Right hand side </a:t>
            </a:r>
            <a:endParaRPr lang="en-AU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E3E84C-E461-41AB-AEF1-568F842BF098}"/>
              </a:ext>
            </a:extLst>
          </p:cNvPr>
          <p:cNvSpPr/>
          <p:nvPr/>
        </p:nvSpPr>
        <p:spPr>
          <a:xfrm>
            <a:off x="5033639" y="1690688"/>
            <a:ext cx="1171852" cy="624612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4B2E6A-EBF4-472C-A576-F817185EF631}"/>
              </a:ext>
            </a:extLst>
          </p:cNvPr>
          <p:cNvSpPr/>
          <p:nvPr/>
        </p:nvSpPr>
        <p:spPr>
          <a:xfrm>
            <a:off x="5159406" y="2684601"/>
            <a:ext cx="1171852" cy="624612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B5C87C-42B2-496F-B60F-F26DE8AB8512}"/>
              </a:ext>
            </a:extLst>
          </p:cNvPr>
          <p:cNvSpPr/>
          <p:nvPr/>
        </p:nvSpPr>
        <p:spPr>
          <a:xfrm>
            <a:off x="5033639" y="3504769"/>
            <a:ext cx="1171852" cy="624612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7C9C6E-434E-42B1-8BDF-7EE6585619E3}"/>
              </a:ext>
            </a:extLst>
          </p:cNvPr>
          <p:cNvSpPr/>
          <p:nvPr/>
        </p:nvSpPr>
        <p:spPr>
          <a:xfrm>
            <a:off x="440924" y="2984950"/>
            <a:ext cx="2719526" cy="832448"/>
          </a:xfrm>
          <a:prstGeom prst="ellipse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8909D37-73D1-4B11-9E4F-C31F0D4D6C0C}"/>
              </a:ext>
            </a:extLst>
          </p:cNvPr>
          <p:cNvSpPr/>
          <p:nvPr/>
        </p:nvSpPr>
        <p:spPr>
          <a:xfrm rot="10800000">
            <a:off x="3142326" y="2330208"/>
            <a:ext cx="1818442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9314C4A-93C8-41A8-BD4F-09D12D97D51B}"/>
              </a:ext>
            </a:extLst>
          </p:cNvPr>
          <p:cNvSpPr/>
          <p:nvPr/>
        </p:nvSpPr>
        <p:spPr>
          <a:xfrm>
            <a:off x="7172050" y="2315300"/>
            <a:ext cx="1818442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DDDC3F-1A51-4632-9321-92A76EC5F5BA}"/>
              </a:ext>
            </a:extLst>
          </p:cNvPr>
          <p:cNvSpPr/>
          <p:nvPr/>
        </p:nvSpPr>
        <p:spPr>
          <a:xfrm>
            <a:off x="8772617" y="3116693"/>
            <a:ext cx="3133817" cy="6246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327721-10AA-4336-B7C8-2A8487619046}"/>
              </a:ext>
            </a:extLst>
          </p:cNvPr>
          <p:cNvSpPr/>
          <p:nvPr/>
        </p:nvSpPr>
        <p:spPr>
          <a:xfrm>
            <a:off x="6525827" y="3504769"/>
            <a:ext cx="460899" cy="6246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0AC2D1-9942-42F4-931B-6213F3EA03BD}"/>
              </a:ext>
            </a:extLst>
          </p:cNvPr>
          <p:cNvSpPr/>
          <p:nvPr/>
        </p:nvSpPr>
        <p:spPr>
          <a:xfrm>
            <a:off x="6656034" y="2672644"/>
            <a:ext cx="460899" cy="6246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B6CFE3-8598-406F-9109-F199FB5E2190}"/>
              </a:ext>
            </a:extLst>
          </p:cNvPr>
          <p:cNvSpPr/>
          <p:nvPr/>
        </p:nvSpPr>
        <p:spPr>
          <a:xfrm>
            <a:off x="6573175" y="1750605"/>
            <a:ext cx="543758" cy="62461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270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6449"/>
            <a:ext cx="9144000" cy="699145"/>
          </a:xfrm>
        </p:spPr>
        <p:txBody>
          <a:bodyPr>
            <a:normAutofit fontScale="90000"/>
          </a:bodyPr>
          <a:lstStyle/>
          <a:p>
            <a:r>
              <a:rPr lang="en-AU" dirty="0"/>
              <a:t>Solving Equations by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889326"/>
            <a:ext cx="9144000" cy="2611683"/>
          </a:xfrm>
        </p:spPr>
        <p:txBody>
          <a:bodyPr>
            <a:normAutofit lnSpcReduction="10000"/>
          </a:bodyPr>
          <a:lstStyle/>
          <a:p>
            <a:r>
              <a:rPr lang="en-AU" i="1" dirty="0"/>
              <a:t>Solving equations </a:t>
            </a:r>
            <a:r>
              <a:rPr lang="en-AU" dirty="0"/>
              <a:t>means ‘finding the unknown value’</a:t>
            </a:r>
          </a:p>
          <a:p>
            <a:r>
              <a:rPr lang="en-AU" dirty="0"/>
              <a:t>The unknown value is called the </a:t>
            </a:r>
            <a:r>
              <a:rPr lang="en-AU" i="1" dirty="0"/>
              <a:t>solution</a:t>
            </a:r>
          </a:p>
          <a:p>
            <a:r>
              <a:rPr lang="en-AU" dirty="0"/>
              <a:t>Doing this just by looking is called </a:t>
            </a:r>
            <a:r>
              <a:rPr lang="en-AU" i="1" dirty="0"/>
              <a:t>inspection</a:t>
            </a:r>
            <a:endParaRPr lang="en-AU" dirty="0"/>
          </a:p>
          <a:p>
            <a:r>
              <a:rPr lang="en-AU" dirty="0"/>
              <a:t>We check our answers by rewriting the equation</a:t>
            </a:r>
          </a:p>
        </p:txBody>
      </p:sp>
      <p:sp>
        <p:nvSpPr>
          <p:cNvPr id="4" name="AutoShape 2" descr="Image result for eyes emoji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408" y="1"/>
            <a:ext cx="899592" cy="89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579" y="10059"/>
            <a:ext cx="899592" cy="89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2" r="27186" b="87131"/>
          <a:stretch/>
        </p:blipFill>
        <p:spPr bwMode="auto">
          <a:xfrm>
            <a:off x="1679575" y="5260666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" t="28670" r="79536" b="58461"/>
          <a:stretch/>
        </p:blipFill>
        <p:spPr bwMode="auto">
          <a:xfrm>
            <a:off x="3913412" y="5260666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2" t="59162" r="54726" b="27969"/>
          <a:stretch/>
        </p:blipFill>
        <p:spPr bwMode="auto">
          <a:xfrm>
            <a:off x="6147249" y="5275289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76" r="2062" b="87131"/>
          <a:stretch/>
        </p:blipFill>
        <p:spPr bwMode="auto">
          <a:xfrm>
            <a:off x="8419447" y="5260665"/>
            <a:ext cx="1819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FA6A9D-D3BC-4C39-8FFC-E7B44D2ADC75}"/>
              </a:ext>
            </a:extLst>
          </p:cNvPr>
          <p:cNvSpPr/>
          <p:nvPr/>
        </p:nvSpPr>
        <p:spPr>
          <a:xfrm>
            <a:off x="1831975" y="3633124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 + __ = 8</a:t>
            </a:r>
            <a:endParaRPr lang="en-AU" sz="24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E026B-92AD-4869-94FA-4D4B326C1302}"/>
              </a:ext>
            </a:extLst>
          </p:cNvPr>
          <p:cNvSpPr/>
          <p:nvPr/>
        </p:nvSpPr>
        <p:spPr>
          <a:xfrm>
            <a:off x="4049374" y="3661011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12 – f = 9 </a:t>
            </a:r>
            <a:endParaRPr lang="en-AU" sz="24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631E25-9DE7-45B9-A01A-24E8963657A9}"/>
              </a:ext>
            </a:extLst>
          </p:cNvPr>
          <p:cNvSpPr/>
          <p:nvPr/>
        </p:nvSpPr>
        <p:spPr>
          <a:xfrm>
            <a:off x="6266773" y="3626679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5y = 15</a:t>
            </a:r>
            <a:endParaRPr lang="en-AU" sz="2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B7495B-4D79-4EB4-AF96-B351D968D915}"/>
              </a:ext>
            </a:extLst>
          </p:cNvPr>
          <p:cNvSpPr/>
          <p:nvPr/>
        </p:nvSpPr>
        <p:spPr>
          <a:xfrm>
            <a:off x="8419447" y="3625113"/>
            <a:ext cx="158022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10 ÷ 2 = x</a:t>
            </a:r>
            <a:endParaRPr lang="en-A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64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15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5AD94-EEA8-428C-8538-488CE4E23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B3BF1-8CC5-4F56-8B5A-D266928A4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5219"/>
            <a:ext cx="10972800" cy="49809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Try solving these equations: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sz="4000" b="1" dirty="0"/>
              <a:t>3 + x = 7 </a:t>
            </a:r>
          </a:p>
          <a:p>
            <a:pPr marL="514350" indent="-514350">
              <a:buAutoNum type="alphaLcParenR"/>
            </a:pPr>
            <a:r>
              <a:rPr lang="en-US" sz="4000" b="1" dirty="0"/>
              <a:t>a + 11 = 15 </a:t>
            </a:r>
          </a:p>
          <a:p>
            <a:pPr marL="514350" indent="-514350">
              <a:buAutoNum type="alphaLcParenR"/>
            </a:pPr>
            <a:r>
              <a:rPr lang="en-US" sz="4000" b="1" dirty="0"/>
              <a:t>20 ÷ t = 5 </a:t>
            </a:r>
          </a:p>
          <a:p>
            <a:pPr marL="514350" indent="-514350">
              <a:buAutoNum type="alphaLcParenR"/>
            </a:pPr>
            <a:r>
              <a:rPr lang="en-US" sz="4000" b="1" dirty="0"/>
              <a:t>10 – a = 3 </a:t>
            </a:r>
          </a:p>
          <a:p>
            <a:pPr marL="514350" indent="-514350">
              <a:buAutoNum type="alphaLcParenR"/>
            </a:pPr>
            <a:r>
              <a:rPr lang="en-US" sz="4000" b="1" dirty="0"/>
              <a:t>4f = 12 </a:t>
            </a: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51742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A678-B0BD-4A34-8783-3A71227E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truths and a lie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A98ACC-60CB-45A5-BE7D-7C15DD4B8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of these is a lie or “false” equation….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3+9=12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4+11=17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9 −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A98ACC-60CB-45A5-BE7D-7C15DD4B8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D78794F-8A19-4F58-92CD-BFAF5DF4FC0B}"/>
              </a:ext>
            </a:extLst>
          </p:cNvPr>
          <p:cNvSpPr txBox="1"/>
          <p:nvPr/>
        </p:nvSpPr>
        <p:spPr>
          <a:xfrm>
            <a:off x="230819" y="2787587"/>
            <a:ext cx="342678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True equation means both sides </a:t>
            </a:r>
            <a:r>
              <a:rPr lang="en-US" sz="2800" b="1" dirty="0"/>
              <a:t>ARE</a:t>
            </a:r>
            <a:r>
              <a:rPr lang="en-US" sz="2800" dirty="0"/>
              <a:t> equal </a:t>
            </a:r>
          </a:p>
          <a:p>
            <a:pPr algn="ctr"/>
            <a:endParaRPr lang="en-US" sz="2800" dirty="0"/>
          </a:p>
          <a:p>
            <a:r>
              <a:rPr lang="en-US" sz="2800" dirty="0"/>
              <a:t>A false equation means LHS and RHS are </a:t>
            </a:r>
            <a:r>
              <a:rPr lang="en-US" sz="2800" b="1" dirty="0"/>
              <a:t>NOT</a:t>
            </a:r>
            <a:r>
              <a:rPr lang="en-US" sz="2800" dirty="0"/>
              <a:t> equal.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80DB9-55EE-43B1-9FC7-771B4F7F3526}"/>
              </a:ext>
            </a:extLst>
          </p:cNvPr>
          <p:cNvSpPr txBox="1"/>
          <p:nvPr/>
        </p:nvSpPr>
        <p:spPr>
          <a:xfrm>
            <a:off x="9019713" y="2388093"/>
            <a:ext cx="2405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How would you explain a false equation? </a:t>
            </a:r>
            <a:endParaRPr lang="en-AU" sz="3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040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AE5A-657D-4539-8783-9EBACD1F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2D2DD-1CE2-4E31-9024-4C6E3BE9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411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(Bottom of the page) Questions 1 </a:t>
            </a:r>
            <a:r>
              <a:rPr lang="en-US" dirty="0">
                <a:sym typeface="Wingdings" panose="05000000000000000000" pitchFamily="2" charset="2"/>
              </a:rPr>
              <a:t> 10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7699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42E0-9A5E-4BAC-92FB-1F66D1D2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five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BF8F6-D805-4D67-8725-51263A56D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an equation? </a:t>
            </a:r>
          </a:p>
          <a:p>
            <a:pPr marL="0" indent="0">
              <a:buNone/>
            </a:pPr>
            <a:r>
              <a:rPr lang="en-US" dirty="0"/>
              <a:t>Describe LHS and RHS of an equation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Aims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Describe an equation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Identify LHS and RHS of an equation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Solve equations through inspection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6724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847</Words>
  <Application>Microsoft Office PowerPoint</Application>
  <PresentationFormat>Widescreen</PresentationFormat>
  <Paragraphs>187</Paragraphs>
  <Slides>18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Tahoma</vt:lpstr>
      <vt:lpstr>Wingdings</vt:lpstr>
      <vt:lpstr>Office Theme</vt:lpstr>
      <vt:lpstr>1_Office Theme</vt:lpstr>
      <vt:lpstr>2_Office Theme</vt:lpstr>
      <vt:lpstr>3_Office Theme</vt:lpstr>
      <vt:lpstr>4_Office Theme</vt:lpstr>
      <vt:lpstr>Lesson objective </vt:lpstr>
      <vt:lpstr>PowerPoint Presentation</vt:lpstr>
      <vt:lpstr>Doing calculations using BIMDAS</vt:lpstr>
      <vt:lpstr>Doing calculations using BIMDAS</vt:lpstr>
      <vt:lpstr>Choral response </vt:lpstr>
      <vt:lpstr>PowerPoint Presentation</vt:lpstr>
      <vt:lpstr>How do we work Forwards BIMDAS Practice 1</vt:lpstr>
      <vt:lpstr>How do we work Forwards BIMDAS Practice 1</vt:lpstr>
      <vt:lpstr>In Algebra, the Rules don’t change!</vt:lpstr>
      <vt:lpstr>Substitution – Swap the numbers for the letters</vt:lpstr>
      <vt:lpstr>Substitution – Swap the numbers for the letters</vt:lpstr>
      <vt:lpstr>Choral response </vt:lpstr>
      <vt:lpstr>Which of these is an equation? </vt:lpstr>
      <vt:lpstr>Solving Equations by Inspection</vt:lpstr>
      <vt:lpstr>Whiteboards</vt:lpstr>
      <vt:lpstr>Two truths and a lie </vt:lpstr>
      <vt:lpstr>Individual practice </vt:lpstr>
      <vt:lpstr>Fist to five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20</cp:revision>
  <cp:lastPrinted>2023-08-07T08:36:06Z</cp:lastPrinted>
  <dcterms:created xsi:type="dcterms:W3CDTF">2021-08-08T02:58:10Z</dcterms:created>
  <dcterms:modified xsi:type="dcterms:W3CDTF">2023-08-07T08:36:29Z</dcterms:modified>
</cp:coreProperties>
</file>
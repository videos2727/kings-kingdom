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2" r:id="rId4"/>
    <p:sldId id="323" r:id="rId5"/>
    <p:sldId id="324" r:id="rId6"/>
    <p:sldId id="325" r:id="rId7"/>
    <p:sldId id="261" r:id="rId8"/>
    <p:sldId id="326" r:id="rId9"/>
    <p:sldId id="328" r:id="rId10"/>
    <p:sldId id="329" r:id="rId11"/>
    <p:sldId id="330" r:id="rId12"/>
    <p:sldId id="327" r:id="rId13"/>
    <p:sldId id="331" r:id="rId14"/>
    <p:sldId id="332" r:id="rId15"/>
    <p:sldId id="333" r:id="rId16"/>
    <p:sldId id="334" r:id="rId17"/>
    <p:sldId id="336" r:id="rId18"/>
    <p:sldId id="337" r:id="rId19"/>
    <p:sldId id="338" r:id="rId20"/>
    <p:sldId id="260" r:id="rId21"/>
    <p:sldId id="33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-3322" y="-2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0T06:39:06.018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1,'1259'0,"-1255"-1,0 1,-1 1,1-1,0 0,0 1,-1 0,1 0,0 0,-1 0,1 0,-1 1,0 0,6 3,-7-3,0 0,0 0,0 1,0-1,-1 0,0 1,1-1,-1 1,0-1,0 1,0 0,0-1,-1 1,1 0,-1 0,0-1,1 1,-1 0,-1 4,-1 14,-1 0,-6 25,4-24,1-1,-1 25,6 62,-3 30,-9-71,6-49,2 0,-2 27,5-28,-1 10,0 1,-2-1,-7 32,5-28,1 0,1 0,2 0,3 32,-1-14,-1-27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55:42.928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1,'914'0,"-894"0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55:46.490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1,'0'1012,"0"-991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56:49.516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1,'914'0,"-894"0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56:49.517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1,'0'1012,"0"-991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57:35.58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1,'914'0,"-894"0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9-19T09:57:35.585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1,'0'1012,"0"-991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0T06:53:34.35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26,'0'-1,"1"0,-1 0,1 0,-1 0,1 0,-1 0,1 0,0 0,-1 0,1 0,0 0,0 0,0 1,0-1,0 0,0 1,0-1,0 1,0-1,0 1,0-1,0 1,0 0,1-1,-1 1,0 0,2 0,38-5,-36 5,185-2,-169 4,0 0,0 1,-1 2,1 0,-1 1,39 17,-34-12,33 10,-36-14,0 1,33 18,-35-15,-1 0,0 1,-1 1,0 0,-1 2,-1 0,22 25,-26-24,1 0,1-2,0 1,1-2,28 20,-26-19,0 2,-1 0,0 1,-2 0,0 1,17 28,-23-34,-1 1,0 0,-1 0,0 0,0 1,-2-1,0 1,0 0,-2 1,0-1,0 1,-1 16,3 13,1-28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0T06:58:43.22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26,'0'-1,"1"0,-1 0,1 0,-1 0,1 0,-1 0,1 0,0 0,-1 0,1 0,0 0,0 0,0 1,0-1,0 0,0 1,0-1,0 1,0-1,0 1,0-1,0 1,0 0,1-1,-1 1,0 0,2 0,38-5,-36 5,185-2,-169 4,0 0,0 1,-1 2,1 0,-1 1,39 17,-34-12,33 10,-36-14,0 1,33 18,-35-15,-1 0,0 1,-1 1,0 0,-1 2,-1 0,22 25,-26-24,1 0,1-2,0 1,1-2,28 20,-26-19,0 2,-1 0,0 1,-2 0,0 1,17 28,-23-34,-1 1,0 0,-1 0,0 0,0 1,-2-1,0 1,0 0,-2 1,0-1,0 1,-1 16,3 13,1-28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0T07:06:25.232"/>
    </inkml:context>
    <inkml:brush xml:id="br0">
      <inkml:brushProperty name="width" value="0.2" units="cm"/>
      <inkml:brushProperty name="height" value="0.4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276 101,'-1'-1,"1"-1,-1 1,1 0,-1 0,1 0,-1 0,0 0,1 0,-1 0,0 1,0-1,0 0,0 0,0 1,0-1,0 0,0 1,0-1,0 1,0-1,0 1,0-1,0 1,0 0,0 0,-1 0,-1-1,-37-3,35 4,2-1,0 1,1-1,-1 1,0 0,0 0,0 0,0 1,0-1,1 1,-1-1,0 1,0 0,1 0,-1 0,0 0,1 1,-1-1,1 1,0 0,-1-1,1 1,0 0,0 0,0 1,0-1,1 0,-1 0,1 1,-1-1,1 1,0 0,0-1,0 1,0 0,0 0,1-1,-1 1,1 0,0 0,0 6,-2 35,8 88,-5-125,0 0,1 0,0 0,0-1,1 1,0 0,0-1,0 0,1 0,0 0,0 0,0-1,1 1,0-1,0 0,0-1,1 1,-1-1,1 0,0 0,1-1,-1 0,0 0,12 3,-8-3,0 0,0 0,0-1,0-1,1 0,-1 0,0-1,1 0,-1-1,0 0,1-1,-1 0,0-1,0 0,-1 0,14-7,-20 8,1 0,-1 0,0-1,0 1,0-1,0 0,0 0,-1 0,1 0,-1 0,0 0,0-1,0 1,0-1,-1 0,0 1,1-1,-1 0,0 0,-1 0,1 0,-1 0,0 0,0-5,0 4,-1 1,1-1,-1 0,0 1,-1-1,1 1,-1 0,0-1,0 1,0 0,0 0,-1 0,0 0,0 1,0-1,0 1,0 0,-1-1,1 2,-6-5,-12-5,-14-9,-51-22,75 38,0 1,-1 0,0 1,0 0,0 1,0 1,0-1,0 2,-14 0,24 0,-1 1,1-1,-1 1,1-1,0 1,-1 0,1 0,0 0,0 0,-1 0,1 1,0-1,0 1,1-1,-1 1,0 0,0 0,1-1,-1 1,1 0,-1 1,1-1,0 0,0 0,0 0,0 1,1-1,-1 1,0-1,1 0,0 1,-1-1,1 1,0-1,0 1,1 3,-1-1,1 0,0 1,0-1,0 0,0 0,1 0,0 0,0 0,0 0,1 0,0-1,0 1,0-1,0 0,0 0,7 5,-4-4,1-2,1 1,-1-1,0 0,1-1,0 1,-1-2,1 1,0-1,15 1,-13-2,0 0,0 0,0-1,0 0,-1-1,1 0,0 0,13-6,-13 3,-1 0,0 0,0 0,0-1,-1-1,16-14,-21 17,1-1,-1 0,0 1,0-1,0 0,-1 0,0-1,0 1,0 0,0-1,-1 0,0 1,0-1,-1-7,1 2,0-1,-2 0,1 1,-5-22,4 29,-1 0,1 0,-1 0,0 0,0 0,0 0,-1 1,1-1,-1 1,0 0,0 0,0-1,0 2,-1-1,1 0,-6-2,-2-1,0 1,-1 0,0 0,0 1,0 1,0 0,0 1,-14-1,1 1,0 1,1 1,-30 4,52-3,-1-1,1 1,-1-1,1 1,-1 0,1 0,-1 0,1 0,0 1,0-1,0 0,0 1,0 0,0-1,0 1,0 0,0 0,1 0,-1 0,1 0,0 1,-1-1,1 0,0 1,0-1,1 1,-1-1,0 1,1-1,0 1,-1-1,1 1,0-1,0 1,1 3,0 3,0 1,0-1,1 1,0-1,1 0,0 1,0-2,7 12,-6-12,1 0,0-1,1 0,-1 0,2 0,-1-1,1 1,-1-1,2-1,-1 0,1 0,0 0,0-1,0 0,0 0,1-1,-1-1,1 1,0-1,0 0,0-1,14 0,-6 1,8 0,34-1,-54-1,0 0,0-1,0 1,0-1,0 0,0-1,0 1,0-1,-1 0,1 0,-1 0,1-1,5-4,-8 4,1 0,-1 0,0 0,0 0,0 0,-1-1,1 1,-1-1,0 1,0-1,0 1,0-1,-1 0,1 1,-1-1,0 0,0 0,0 1,-1-1,1 0,-1 1,0-1,-2-4,1 1,0 0,-1 0,0 1,0-1,0 1,-1 0,0 0,0 0,-1 0,-10-10,-3 2,0 1,-2 1,1 0,-1 2,-23-9,28 13,-1 0,0 2,0 0,-1 0,1 2,-1 0,-24 0,34 3,1-1,0 1,-1 1,1-1,0 1,0 1,0-1,0 1,1 0,-1 0,1 0,-1 1,1 0,0 0,1 0,-1 1,1-1,0 1,0 0,0 1,0-1,1 0,-3 9,0-2,1 0,1 0,1 1,-1-1,2 1,0 0,0 0,1 0,1 0,2 20,-1-28,1 1,-1-1,1 0,0 0,1-1,-1 1,1 0,0-1,0 1,1-1,-1 0,1 0,0-1,0 1,0-1,10 6,-5-3,1 0,0 0,1-1,-1 0,1-1,0-1,13 3,-3-2,0-2,1 0,-1-2,1 0,21-3,-32 1,0 1,0-2,-1 1,1-2,-1 1,1-1,-1-1,-1 0,1 0,-1-1,15-11,-20 13,-1 0,0-1,0 1,0-1,-1 1,1-1,-1 0,0 0,0 0,-1 0,0 0,1 0,-2-1,1 1,-1-10,1 3,-2 0,0 0,0 0,-1 0,-7-23,3 19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0T07:06:32.669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328 289,'-17'-2,"0"0,0-1,0-1,1-1,-24-9,-6-1,28 9,9 3,0 0,-1 1,0-1,1 2,-20-2,27 3,0 1,-1-1,1 0,-1 1,1 0,0-1,0 1,-1 0,1 0,0 0,0 0,0 1,0-1,0 1,0-1,0 1,1-1,-1 1,1 0,-1 0,1 0,0 0,-1 0,1 0,0 0,0 1,1-1,-1 0,-1 4,-2 17,1 1,1-1,0 0,2 1,1-1,5 30,-6-50,1 1,-1-1,1 1,0-1,0 1,1-1,-1 0,1 0,0 0,-1 1,1-2,1 1,-1 0,0 0,1-1,-1 1,1-1,0 0,0 0,0 0,0 0,0 0,0-1,0 1,0-1,1 0,-1 0,6 1,10 1,-1-1,0-1,0-1,28-2,-12 0,-25 2,1-1,-1 1,0-1,0-1,0 0,0 0,0-1,12-5,-17 5,-1 1,1-1,0 1,-1-1,1 0,-1 0,0-1,0 1,-1-1,1 1,0-1,-1 0,0 0,0 0,0 0,-1-1,1 1,-1 0,1-5,0 0,0 0,-1-1,0 1,0 0,-1 0,0 0,0-1,-1 1,-1 0,1 0,-1 0,-1 0,0 0,0 0,-1 1,0 0,0 0,-1 0,0 0,-12-14,-71-90,59 72,21 30,0 0,-1 1,0 0,-1 0,0 1,-14-9,21 15,-1-1,1 1,-1 0,1 1,-1-1,0 0,0 1,1 0,-1 0,0 0,0 1,0-1,0 1,0 0,0 0,-1 0,1 1,0-1,1 1,-1 0,0 0,0 0,-5 3,6-2,1 0,-1 1,1-1,0 1,-1-1,1 1,1-1,-1 1,0 0,1 0,-1 0,1 0,0 0,0 1,0-1,0 0,0 5,-1 8,1 0,1 20,0-22,0-6,-1 12,1-1,2 1,0-1,7 33,-8-48,0 1,1-1,0 0,0 0,0 0,0 0,0 0,1 0,-1-1,1 1,0-1,0 1,1-1,-1 0,1-1,-1 1,1-1,0 1,0-1,0 0,0 0,0-1,1 1,-1-1,0 0,6 0,13 2,0-1,1-1,29-4,-41 2,0 0,-1-1,1-1,-1 0,0 0,1-1,-2-1,16-7,-23 9,0 1,0-1,0 0,0 0,-1 0,1 0,-1 0,0-1,0 1,0 0,0-1,-1 0,0 1,1-1,-1 0,0 0,-1 0,1-6,1-9,-2 0,-3-32,1 17,2 30,0 0,0 1,-1-1,1 0,-1 0,0 0,0 1,0-1,0 0,-1 1,1-1,-1 1,-4-6,4 7,-1 0,1 0,-1 0,1 0,-1 0,0 1,0-1,0 1,0 0,0 0,0 0,0 0,-1 1,1-1,0 1,-6 0,0-1,0 1,0 0,0 0,-1 1,2 0,-1 1,0 0,0 0,0 1,1 0,0 1,-1 0,1 0,1 0,-1 1,1 1,-1-1,1 1,1 0,-1 1,1-1,-7 11,6-7,0-1,1 1,0 1,1-1,0 1,0 0,1 0,0 0,1 1,-2 16,2 7,1-1,3 45,0-74,-1 5,0 1,1-1,0 1,1-1,1 1,-1-1,8 17,-8-24,0 1,0-1,1 1,-1-1,1 0,0 0,0 0,0-1,0 1,0-1,1 1,-1-1,1 0,-1 0,1 0,0-1,0 0,0 1,0-1,0-1,0 1,8 0,11 1,0 0,0-2,39-4,-56 3,0 0,1-1,-1 1,0-1,0 0,0-1,-1 1,1-1,-1 0,1-1,-1 1,0-1,0 0,0 0,-1-1,0 0,0 1,5-9,-2 1,-2 0,1 0,-2-1,0 0,0 0,-1 0,-1 0,2-24,-3 1,-1 0,-6-39,4 67,0-1,0 1,-1-1,0 1,-1 0,0 0,0 0,0 1,-1-1,0 1,-1 0,0 1,0-1,-13-10,3 4,-1 0,0 2,-1 0,0 1,-25-10,39 18,0 0,0 1,0 0,0 0,0 0,0 0,0 1,0-1,0 1,0 0,0 0,0 1,0-1,0 1,0 0,0 0,0 0,-7 4,6-2,-1 1,1 0,0 0,1 0,-1 0,1 1,0 0,0 0,0 0,1 0,-5 10,1 1,2-1,-1 1,2 0,0 0,1 1,1-1,1 1,0-1,1 1,0 0,5 23,-4-36,0 1,0-1,1 0,-1 1,1-1,0 0,1 0,-1 0,1 0,-1-1,1 1,0-1,0 1,1-1,-1 0,1 0,0 0,-1-1,1 0,0 1,0-1,1-1,-1 1,6 1,5 2,1-1,0-1,0-1,0 0,25 0,-18-3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0T07:06:39.40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691 108,'-13'-2,"0"1,1-2,-1 0,1 0,0-1,0-1,-16-7,-38-14,35 19,0 1,-1 2,1 1,-1 1,0 2,1 1,-51 8,70-7,-1 1,1 1,1 0,-1 0,0 1,1 1,0 0,0 0,1 1,0 1,0-1,0 2,-8 9,13-12,0-1,1 1,0 1,0-1,1 1,-1-1,1 1,1 0,-1 0,1 0,0 1,1-1,0 1,0-1,1 0,-1 1,2-1,-1 1,1-1,0 1,1-1,-1 0,4 8,2 2,1 0,0 0,1-1,1 0,0 0,1-1,1-1,1 0,0 0,0-2,1 1,1-2,22 15,-17-14,1-1,0 0,1-2,0 0,0-2,1 0,0-2,0 0,0-1,29 0,209-7,-246 2,-1 0,0-1,1-1,-1 0,0-1,21-9,-30 11,0 0,-1-1,0 1,1-1,-1 0,-1-1,1 1,0-1,-1 1,1-1,-1 0,0 0,-1-1,1 1,-1-1,0 1,0-1,0 0,0 0,-1 0,2-9,-1 1,-1 0,0-1,-1 1,0 0,-1 0,0 0,-1 0,-1 0,0 0,0 0,-2 1,1-1,-2 1,0 0,0 1,-1-1,-15-19,12 21,-1 0,0 0,-1 1,0 1,0 0,0 0,-1 2,-23-10,1 0,25 11,-1 0,1 1,-1 0,0 1,0 1,-1 0,1 0,0 1,-1 0,1 1,-1 1,1-1,0 2,-1 0,1 0,0 1,0 0,0 1,1 0,-1 1,1 0,0 1,0 0,1 0,0 1,0 0,0 1,-9 11,14-14,1 0,0-1,0 1,1 0,-1 0,1 1,0-1,0 0,1 1,0 0,0-1,0 1,0-1,1 1,0 0,0 0,2 8,-1-10,0 0,-1 0,2 0,-1 0,0-1,1 1,0-1,0 1,0-1,0 1,0-1,1 0,-1 0,1 0,0 0,0-1,0 1,0-1,1 1,-1-1,1 0,-1-1,1 1,-1-1,6 2,12 1,1-1,-1-1,1-1,0 0,0-2,-1-1,1 0,-1-2,1 0,25-10,-45 13,1 0,0 0,0 0,-1-1,1 0,-1 1,0-1,1 0,-1 0,0 0,0 0,0-1,0 1,-1-1,1 1,-1-1,1 1,-1-1,0 0,0 0,0 1,0-1,-1 0,1 0,-1 0,1 0,-1 0,0 0,-1-4,1 0,-1 0,0 0,0 0,-1 0,0 1,0-1,-1 0,1 1,-1-1,-1 1,-5-8,-4-1,0 0,-1 1,-1 1,-31-23,-72-35,105 65,1 0,-1 2,0 0,-1 0,1 1,0 1,-1 0,-21 0,26 1,0 1,-1 1,1 0,-1 0,1 1,0 0,0 0,0 1,0 0,1 1,-1 0,1 1,-9 5,13-7,0 0,0 0,1 1,-1 0,1-1,0 1,0 0,1 0,-1 1,1-1,0 0,0 1,0-1,1 1,-1 0,1 0,0 0,1-1,-1 1,1 0,0 0,0 0,2 9,-1-9,1 1,-1-1,1 0,1 1,-1-1,1 0,0 0,0-1,0 1,1-1,0 1,-1-1,2 0,-1-1,0 1,1-1,-1 1,1-1,0-1,6 3,1 0,1-1,-1-1,1 0,0-1,0 0,0-1,0-1,0 0,0 0,23-5,-14 1,0-1,-1-1,0 0,0-2,29-15,-27 8,-7 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0T07:07:52.37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422 55,'-47'-1,"11"0,0 1,-35 5,62-4,0 1,0 0,0 0,1 1,-1 0,1 0,-1 1,1 0,0 0,1 1,-1 0,1 1,-7 6,10-7,-1 1,1 0,1 0,-1 0,1 0,0 1,1-1,-1 1,1 0,1-1,-1 1,1 0,0 9,0 8,0-1,6 38,-4-52,1-1,0 0,1 0,0 0,0-1,1 1,0-1,9 13,45 53,-46-60,-7-7,1-1,0 0,0 0,0 0,1-1,-1 0,1 0,0-1,0 0,1 0,-1 0,16 2,-6-2,0-1,0 0,0-2,32-2,-44 1,-1 1,1-1,0-1,-1 1,1 0,0-1,-1 0,0 0,1-1,-1 1,0-1,0 0,0 0,-1 0,1 0,-1-1,0 1,0-1,0 0,0 0,-1 0,1 0,-1-1,0 1,0 0,-1-1,1 0,-1 1,0-1,0-5,1-3,-1 0,-1 0,0 0,0 0,-1 0,-1 0,0 0,-1 1,0-1,-7-15,7 22,-1 1,1-1,-1 1,0 0,0 0,-1 1,1-1,-1 1,-8-6,-2 0,0 0,-18-8,18 12,0 1,-1 1,0 0,0 1,0 1,0 1,0 0,0 1,0 1,0 0,0 1,0 1,-18 5,25-5,1 0,0 0,0 1,0 0,0 0,1 1,-1 0,1 0,0 1,1 0,0 0,0 0,-8 11,12-13,-1 0,1 0,0 0,0 0,1 0,-1 0,1 1,0-1,0 0,1 1,-1-1,1 1,0-1,0 1,0-1,1 1,0-1,0 1,0-1,0 0,1 0,-1 1,1-1,0 0,0 0,1-1,-1 1,4 4,1 0,1-1,-1 1,1-1,1-1,-1 1,1-2,0 1,1-1,-1 0,1-1,0 0,0-1,0 0,1-1,-1 0,11 1,10 0,0-1,-1-2,1-1,40-7,-42 4,1-2,38-13,-56 15,-1 0,0-1,0-1,0 1,0-2,-1 1,0-1,15-15,-20 15,0 0,0 0,-1 0,0 0,0-1,0 0,-1 0,-1 0,1 0,-1 0,-1-1,1 1,-1-1,-1 1,0-1,0 1,0-1,-1 1,-1 0,1-1,-1 1,-1 0,0 0,0 0,0 0,-1 0,0 1,0 0,-1 0,0 0,0 0,-11-9,1 4,-1 0,-1 1,1 1,-2 1,1 0,-2 1,1 1,-1 1,-20-5,11 6,1 1,-1 1,-1 2,1 0,-49 7,72-6,1 1,-1 0,1 0,0 0,-1 0,1 1,0 0,0 0,0 0,0 0,0 1,1 0,-1-1,1 1,0 0,-6 7,5-4,1 0,-1 0,1 0,0 1,1-1,-1 1,1-1,0 1,1 0,-1 7,1 2,0 0,1-1,1 1,0 0,2-1,-1 1,2-1,0 0,7 17,-6-22,-1 0,2 0,-1 0,1-1,1 0,0 0,0-1,1 0,0 0,0-1,0 0,1 0,1-1,-1 0,1-1,0 0,0 0,0-1,0 0,1-1,0-1,0 1,0-1,22 0,-5-2,57-1,-78 0,0 0,1 0,-1-1,0 0,0 0,0 0,0-1,12-7,-16 8,0-1,0 0,0 0,-1 0,1 0,-1 0,1-1,-1 1,0-1,-1 1,1-1,-1 0,1 0,-1 0,0 0,0 0,-1 0,1 0,-1 0,0 0,0 0,0 0,-1 0,-1-7,1 6,0-1,0 1,-1 0,0 0,0-1,0 1,-1 1,1-1,-1 0,0 1,-1-1,1 1,-1 0,0 0,0 0,0 1,-8-6,-4 1,0 2,-26-7,-10-4,28 8,3 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10-10T07:07:58.372"/>
    </inkml:context>
    <inkml:brush xml:id="br0">
      <inkml:brushProperty name="width" value="0.2" units="cm"/>
      <inkml:brushProperty name="height" value="0.4" units="cm"/>
      <inkml:brushProperty name="color" value="#FF2500"/>
      <inkml:brushProperty name="tip" value="rectangle"/>
      <inkml:brushProperty name="rasterOp" value="maskPen"/>
      <inkml:brushProperty name="ignorePressure" value="1"/>
    </inkml:brush>
  </inkml:definitions>
  <inkml:trace contextRef="#ctx0" brushRef="#br0">175 152,'-9'-1,"0"1,0 1,0 0,-14 3,18-2,1-1,0 1,0 0,-1 1,2-1,-1 1,0 0,0-1,1 2,-6 5,3-4,0 1,0 1,1-1,-1 1,2-1,-1 2,1-1,0 0,0 1,1 0,0 0,0 0,1 0,0 0,1 0,-1 10,1 1,1 1,1-1,1 0,1 0,1 0,0 0,1 0,1-1,1 0,1 0,0-1,1 1,1-2,0 0,22 25,-10-14,-17-19,1-1,0 0,0 0,0-1,1 0,0 0,11 8,0-4,0-1,0 0,1-1,0-1,1-1,-1-1,1-1,0 0,0-1,37 0,-48-4,-1-1,1 1,-1-2,1 1,-1-1,0 0,0-1,0 1,-1-2,1 1,-1-1,0 0,0-1,-1 1,1-1,-1-1,-1 1,1-1,-1 0,0 0,-1-1,1 1,-2-1,1 0,-1 0,0-1,-1 1,3-13,-4 7,0-1,0 1,-2 0,1 0,-2-1,-5-24,4 30,0 0,-1-1,0 1,-1 1,0-1,0 1,-1-1,0 2,0-1,-12-11,-6-1,-1 1,-1 1,-48-25,-27-19,93 57,1 0,-1 1,0 1,-1-1,1 1,-1 0,1 1,-1 0,0 1,0-1,0 2,0-1,0 1,-13 2,18-2,0 1,0-1,1 1,-1 0,0 0,0 1,1-1,-1 1,1-1,-1 1,1 0,0 1,0-1,0 0,0 1,0 0,0 0,1 0,-1 0,1 0,0 0,0 1,0-1,0 1,1-1,-1 1,1 0,0-1,0 1,1 0,-1 0,1 0,-1 0,2 6,-1-3,0 1,1-1,0 1,0-1,0 0,1 1,1-1,-1 0,1 0,0 0,1-1,-1 1,1-1,1 0,-1 0,1 0,0-1,0 0,1 1,-1-2,1 1,1-1,-1 0,0 0,1-1,0 1,0-2,0 1,0-1,0 0,13 2,-6-2,0-1,0 0,0-1,0 0,-1-1,1 0,0-2,0 1,-1-2,1 0,-1 0,20-11,-10 3,-1-2,0 0,-1-1,0-1,-2-1,19-21,-31 30,0 1,-1-1,0 0,-1-1,0 1,0-1,-1 0,0 0,-1-1,0 1,0-1,-1 0,0 0,-1 0,0 0,0 0,-1 0,-2-18,1 24,-1 0,1 0,0-1,-1 1,0 0,0 1,0-1,-1 0,1 1,-1-1,0 1,0 0,0 0,0 0,-1 0,1 0,-1 1,0-1,1 1,-9-3,-6-2,0 0,-1 2,-27-6,25 7,-1-1,-1 1,0 0,0 2,-30 1,46 1,-1 1,1 0,0 0,0 0,0 1,0 0,0 0,0 1,0 0,0 0,1 0,0 1,0 0,0 1,0-1,0 1,-6 7,0 5,0-1,1 2,1-1,1 1,0 1,-11 35,16-39,0 0,1 0,1 1,0-1,1 1,1-1,0 1,1-1,4 25,-3-35,1 1,-1-1,1 1,0-1,0 0,0 0,0 0,1-1,0 1,0-1,1 0,-1 0,1 0,0 0,0-1,0 0,0 0,0-1,1 1,-1-1,9 2,13 4,1-1,0-1,30 2,-51-7,11 2,-6-1,1 0,-1-1,1-1,19-1,-30 1,1 0,-1-1,1 1,-1-1,0 0,0 1,1-1,-1 0,0 0,0-1,0 1,0 0,0-1,0 1,0-1,-1 0,1 1,-1-1,1 0,-1 0,1 0,-1 0,0 0,0 0,0 0,0-1,0 1,-1 0,1-5,1 0,-1 1,-1-1,1 0,-1 1,0-1,-1 0,0 0,0 1,0-1,-1 1,0-1,-5-11,4 13,0 0,0 1,0 0,-1 0,0 0,0 0,0 0,0 1,0 0,-1-1,0 2,1-1,-1 1,0-1,0 1,-8-1,-2-2,0 1,0 1,0 0,-1 1,1 1,-1 0,-17 2,28 0,0-1,0 1,0 0,-1 0,1 1,0-1,0 1,0 0,1 1,-1-1,0 1,1 0,0 0,0 0,0 1,0-1,0 1,1 0,-1 0,1 0,0 1,0-1,1 1,-4 7,2 4,0 0,0 0,2 1,0-1,1 1,2 22,-1-12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B0CA-69AF-4716-A521-F67B9CFF3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1572AF-89FF-4B80-B604-9CB0D2587B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68BD0-C997-4480-8311-0B156A25A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76AB-022A-40AE-B00C-85B010625D7B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0EB19-AED5-435D-A3AE-DD0351139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E5F20-F31C-4AD0-B7FD-9B136425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90B34-6278-4845-B7E7-772DE00F0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3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C284-D980-44CA-95F0-692D98D6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8B83E-8D63-41DC-B687-61BBDF6E5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AB1BF-B06B-47B3-97F4-C87BD1171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76AB-022A-40AE-B00C-85B010625D7B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A7BAA-BF25-423A-9C19-A01D548D2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8E3A7-2958-4185-BB81-ACB0E1E24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90B34-6278-4845-B7E7-772DE00F0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888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484AB-DD73-4C6E-8E5B-EED92BA4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5B348C-E74A-4D47-9196-C4BBD6D3F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DF7FE-9068-4119-938D-D0FDBD44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76AB-022A-40AE-B00C-85B010625D7B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7D1B1-27AD-4BCB-88BC-D3EC68998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515A8-497E-44B6-B4BE-4CB03955D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90B34-6278-4845-B7E7-772DE00F0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668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31DC-BE54-43D5-97CD-C4244C27B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76041-2D04-418B-A28C-697524C0A9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B29F84-FE44-4BD9-B8A7-BC2A51DE3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D959C-E027-4087-A546-11CEE2163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76AB-022A-40AE-B00C-85B010625D7B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8A1FC3-E8E2-425E-9545-ACC418031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F237A-AE04-4D3E-A10C-F0E8FA3E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90B34-6278-4845-B7E7-772DE00F0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4009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FE236-6120-4E4E-A287-CB961A9AD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34F0C-3327-49FA-A3B2-9736F1D41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502B8-C8BB-485A-938D-7F6B414292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66C445-E677-454F-B334-751180670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A64D86-1E10-465A-8D75-BF508E6704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A4BBB5-AD9D-4AAF-AC83-96CCFC262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76AB-022A-40AE-B00C-85B010625D7B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082DD3-4A22-4F4A-AD0E-0988C012C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4D241-38B8-424A-87DB-7BE877C8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90B34-6278-4845-B7E7-772DE00F0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9534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BDE36-B10F-473D-BCEF-AAA880D3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9930AA-6A4F-432A-9427-589F5E235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76AB-022A-40AE-B00C-85B010625D7B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9DC34F-D38A-4112-87D9-2B38BE1F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4B6AC2-95C8-40B0-BEDF-0BCF0F02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90B34-6278-4845-B7E7-772DE00F0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0972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22E72B-962E-4544-8FA8-3D559216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76AB-022A-40AE-B00C-85B010625D7B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7191B5-0A34-4121-9B41-BD95DCBD2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AA3743-4BA5-4261-9C00-68911321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90B34-6278-4845-B7E7-772DE00F0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2994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E4149-B27E-45BB-A007-E5B9DBD37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609FF-0469-4A42-89A7-DC9ADED19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E48482-C61C-48AE-83C1-DA4321840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75883-D399-40CD-994E-305CACF62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76AB-022A-40AE-B00C-85B010625D7B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0C5D4-0BD0-41E3-808A-EFAF9FD31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14165-0D7D-4D5E-B012-6DA65F2A0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90B34-6278-4845-B7E7-772DE00F0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8210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D5549-86C1-4404-8EE5-22336343B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81C7CA-1D73-4A1B-9E6A-55B3012DD2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90593-6EA5-4C6B-ACB2-C6C25C3B1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B7B13-A52A-4FCF-81F2-D95ED43FF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76AB-022A-40AE-B00C-85B010625D7B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44D70-A1F0-4135-82DD-7E691CA49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3E009-89CC-4496-89D5-B78249EA0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90B34-6278-4845-B7E7-772DE00F0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4363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EC0E-63EC-463E-BA36-35F1B72F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50A80C-F072-49E9-9AA7-44D4D9DC2C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EE331-10C6-43B9-B3E2-2457AD23F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76AB-022A-40AE-B00C-85B010625D7B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E87F3-FE08-4C76-904C-3614399F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EF53D-6923-410E-99FF-853BD1168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90B34-6278-4845-B7E7-772DE00F0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268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65FA8E-2ACE-4637-B0FC-D2FB66A45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9FC73-BA60-48E7-BB4E-71F5266F8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CA698-28F1-4D55-B5CE-51900CCB0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476AB-022A-40AE-B00C-85B010625D7B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477CB-3098-47FC-9069-ACA582D2D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5487A-D7E7-4C21-83FC-F4C2D2F3B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90B34-6278-4845-B7E7-772DE00F0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30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C6F912-FD7E-4CDC-9E15-8EDBFF2D6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4D606F-0D9F-43B7-8E04-DE10A0DD2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C9B60-ABAA-454A-9F8F-FAB99C3B80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476AB-022A-40AE-B00C-85B010625D7B}" type="datetimeFigureOut">
              <a:rPr lang="en-AU" smtClean="0"/>
              <a:t>31/08/2023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47670-C333-489F-AA57-4555AA3DB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FFE5D-94CE-4207-99E7-D0C425BA97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A90B34-6278-4845-B7E7-772DE00F06F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0074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52.png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customXml" Target="../ink/ink4.xml"/><Relationship Id="rId7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customXml" Target="../ink/ink5.xml"/><Relationship Id="rId4" Type="http://schemas.openxmlformats.org/officeDocument/2006/relationships/image" Target="../media/image5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customXml" Target="../ink/ink6.xml"/><Relationship Id="rId7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customXml" Target="../ink/ink7.xml"/><Relationship Id="rId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7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8.png"/><Relationship Id="rId4" Type="http://schemas.openxmlformats.org/officeDocument/2006/relationships/customXml" Target="../ink/ink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8E49-20DA-43E4-995D-1FD16B388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249B5-8FDF-4D13-819A-10D8EAFD6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Title: </a:t>
            </a:r>
            <a:r>
              <a:rPr lang="en-US" b="1" dirty="0">
                <a:solidFill>
                  <a:srgbClr val="00B0F0"/>
                </a:solidFill>
              </a:rPr>
              <a:t>Naming angles </a:t>
            </a:r>
          </a:p>
          <a:p>
            <a:pPr marL="0" indent="0">
              <a:buNone/>
            </a:pPr>
            <a:endParaRPr lang="en-US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Recall facts for supplementary and complementary angles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rgbClr val="00B0F0"/>
                </a:solidFill>
              </a:rPr>
              <a:t> Use correct notation for naming angles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Topic refresh and practice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Naming angles  </a:t>
            </a:r>
          </a:p>
          <a:p>
            <a:pPr>
              <a:buFontTx/>
              <a:buChar char="-"/>
            </a:pPr>
            <a:r>
              <a:rPr lang="en-US" b="1" dirty="0">
                <a:solidFill>
                  <a:srgbClr val="00B0F0"/>
                </a:solidFill>
              </a:rPr>
              <a:t>Skills practice </a:t>
            </a:r>
            <a:endParaRPr lang="en-AU" b="1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C55C76-6E05-488B-8A94-0C44031A285A}"/>
              </a:ext>
            </a:extLst>
          </p:cNvPr>
          <p:cNvSpPr txBox="1"/>
          <p:nvPr/>
        </p:nvSpPr>
        <p:spPr>
          <a:xfrm>
            <a:off x="8824042" y="649059"/>
            <a:ext cx="22194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You will need whiteboards and a calculator for this lesson.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52247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989FF-EAF0-42E9-A91E-7C7478603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Topic refresher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3D8DEE-0EA0-4512-904B-63C084A98F8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Vertically opposite angles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Obtuse angles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Acute angles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 full rotation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Supplementary angles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Complimentary angles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0F8DEF8-4F5F-4F8F-B4BE-0CE70C71A27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 algn="r">
                  <a:buNone/>
                </a:pPr>
                <a:r>
                  <a:rPr lang="en-US" dirty="0"/>
                  <a:t>Add up to 180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r">
                  <a:buNone/>
                </a:pPr>
                <a:endParaRPr lang="en-AU" dirty="0"/>
              </a:p>
              <a:p>
                <a:pPr marL="0" indent="0" algn="r">
                  <a:buNone/>
                </a:pPr>
                <a:r>
                  <a:rPr lang="en-AU" dirty="0"/>
                  <a:t>Are equal </a:t>
                </a:r>
              </a:p>
              <a:p>
                <a:pPr marL="0" indent="0" algn="r">
                  <a:buNone/>
                </a:pPr>
                <a:endParaRPr lang="en-AU" dirty="0"/>
              </a:p>
              <a:p>
                <a:pPr marL="0" indent="0" algn="r">
                  <a:buNone/>
                </a:pPr>
                <a:r>
                  <a:rPr lang="en-AU" dirty="0"/>
                  <a:t>Add up to 90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r">
                  <a:buNone/>
                </a:pPr>
                <a:endParaRPr lang="en-AU" dirty="0"/>
              </a:p>
              <a:p>
                <a:pPr marL="0" indent="0" algn="r">
                  <a:buNone/>
                </a:pPr>
                <a:r>
                  <a:rPr lang="en-AU" dirty="0"/>
                  <a:t>Are less than 90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r">
                  <a:buNone/>
                </a:pPr>
                <a:endParaRPr lang="en-AU" dirty="0"/>
              </a:p>
              <a:p>
                <a:pPr marL="0" indent="0" algn="r">
                  <a:buNone/>
                </a:pPr>
                <a:r>
                  <a:rPr lang="en-AU" dirty="0"/>
                  <a:t>Are between 90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dirty="0"/>
                  <a:t> and 180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r">
                  <a:buNone/>
                </a:pPr>
                <a:endParaRPr lang="en-AU" dirty="0"/>
              </a:p>
              <a:p>
                <a:pPr marL="0" indent="0" algn="r">
                  <a:buNone/>
                </a:pPr>
                <a:r>
                  <a:rPr lang="en-AU" dirty="0"/>
                  <a:t>Makes 360</a:t>
                </a: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pPr marL="0" indent="0" algn="r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20F8DEF8-4F5F-4F8F-B4BE-0CE70C71A2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3221" r="-317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027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AE9FD-B048-44D7-AF4B-1FA85F421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Complementary angles </a:t>
            </a:r>
            <a:endParaRPr lang="en-AU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534690-3487-44BC-B093-98F1C4EF6FF0}"/>
              </a:ext>
            </a:extLst>
          </p:cNvPr>
          <p:cNvCxnSpPr>
            <a:cxnSpLocks/>
          </p:cNvCxnSpPr>
          <p:nvPr/>
        </p:nvCxnSpPr>
        <p:spPr>
          <a:xfrm flipH="1">
            <a:off x="1393794" y="2446163"/>
            <a:ext cx="3901738" cy="387473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9AC19C-E946-44CC-A2F1-2199523BE16F}"/>
              </a:ext>
            </a:extLst>
          </p:cNvPr>
          <p:cNvCxnSpPr>
            <a:cxnSpLocks/>
          </p:cNvCxnSpPr>
          <p:nvPr/>
        </p:nvCxnSpPr>
        <p:spPr>
          <a:xfrm flipV="1">
            <a:off x="1393794" y="2201663"/>
            <a:ext cx="62144" cy="416362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5596A4-BF63-4CB8-8CA3-513DAD4EE531}"/>
              </a:ext>
            </a:extLst>
          </p:cNvPr>
          <p:cNvCxnSpPr>
            <a:cxnSpLocks/>
          </p:cNvCxnSpPr>
          <p:nvPr/>
        </p:nvCxnSpPr>
        <p:spPr>
          <a:xfrm flipV="1">
            <a:off x="1393794" y="6347535"/>
            <a:ext cx="5379868" cy="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3693934-1E97-4206-9FD0-EBAC96E69072}"/>
                  </a:ext>
                </a:extLst>
              </p14:cNvPr>
              <p14:cNvContentPartPr/>
              <p14:nvPr/>
            </p14:nvContentPartPr>
            <p14:xfrm>
              <a:off x="1384473" y="5938948"/>
              <a:ext cx="481320" cy="380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3693934-1E97-4206-9FD0-EBAC96E6907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8833" y="5902948"/>
                <a:ext cx="552960" cy="45252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AC60757-EE6E-44A3-AD54-EC47585A40F4}"/>
              </a:ext>
            </a:extLst>
          </p:cNvPr>
          <p:cNvSpPr txBox="1"/>
          <p:nvPr/>
        </p:nvSpPr>
        <p:spPr>
          <a:xfrm>
            <a:off x="1563952" y="4904753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  <a:endParaRPr lang="en-AU" sz="28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610029-680D-42B7-B45C-CD8402A5AE36}"/>
              </a:ext>
            </a:extLst>
          </p:cNvPr>
          <p:cNvSpPr txBox="1"/>
          <p:nvPr/>
        </p:nvSpPr>
        <p:spPr>
          <a:xfrm>
            <a:off x="2325953" y="5677338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  <a:endParaRPr lang="en-AU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B84D552-22D8-4496-9804-E5F2A662EE27}"/>
                  </a:ext>
                </a:extLst>
              </p:cNvPr>
              <p:cNvSpPr txBox="1"/>
              <p:nvPr/>
            </p:nvSpPr>
            <p:spPr>
              <a:xfrm>
                <a:off x="8851777" y="1426946"/>
                <a:ext cx="2938509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If we add angle A and angle B together, we get ______. </a:t>
                </a:r>
              </a:p>
              <a:p>
                <a:endParaRPr lang="en-US" sz="2400" b="1" dirty="0"/>
              </a:p>
              <a:p>
                <a:r>
                  <a:rPr lang="en-US" sz="2400" b="1" dirty="0"/>
                  <a:t>Why?</a:t>
                </a:r>
              </a:p>
              <a:p>
                <a:endParaRPr lang="en-US" sz="2400" b="1" dirty="0"/>
              </a:p>
              <a:p>
                <a:pPr algn="ctr"/>
                <a:r>
                  <a:rPr lang="en-US" sz="2400" b="1" dirty="0"/>
                  <a:t>(not to scale)</a:t>
                </a:r>
              </a:p>
              <a:p>
                <a:r>
                  <a:rPr lang="en-US" sz="2400" b="1" dirty="0"/>
                  <a:t>If angle A was 60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sz="2400" b="1" dirty="0"/>
                  <a:t> what is angle B? </a:t>
                </a:r>
              </a:p>
              <a:p>
                <a:endParaRPr lang="en-AU" sz="2400" b="1" dirty="0"/>
              </a:p>
              <a:p>
                <a:r>
                  <a:rPr lang="en-AU" sz="2400" b="1" dirty="0"/>
                  <a:t>If A was 85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sz="2400" b="1" dirty="0">
                    <a:ea typeface="Cambria Math" panose="02040503050406030204" pitchFamily="18" charset="0"/>
                  </a:rPr>
                  <a:t> what is B? </a:t>
                </a:r>
                <a:endParaRPr lang="en-US" sz="2400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CB84D552-22D8-4496-9804-E5F2A662EE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777" y="1426946"/>
                <a:ext cx="2938509" cy="4524315"/>
              </a:xfrm>
              <a:prstGeom prst="rect">
                <a:avLst/>
              </a:prstGeom>
              <a:blipFill>
                <a:blip r:embed="rId4"/>
                <a:stretch>
                  <a:fillRect l="-3112" t="-1078" r="-4564" b="-21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6981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E9A180-B4A8-4C8B-9D27-EEC67D91341F}"/>
              </a:ext>
            </a:extLst>
          </p:cNvPr>
          <p:cNvCxnSpPr>
            <a:cxnSpLocks/>
          </p:cNvCxnSpPr>
          <p:nvPr/>
        </p:nvCxnSpPr>
        <p:spPr>
          <a:xfrm>
            <a:off x="2933332" y="2606228"/>
            <a:ext cx="1" cy="382108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998CB14-33D7-4593-8508-8591B3360E95}"/>
              </a:ext>
            </a:extLst>
          </p:cNvPr>
          <p:cNvCxnSpPr>
            <a:cxnSpLocks/>
          </p:cNvCxnSpPr>
          <p:nvPr/>
        </p:nvCxnSpPr>
        <p:spPr>
          <a:xfrm flipH="1">
            <a:off x="2933332" y="6427308"/>
            <a:ext cx="527851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209683-13CC-4BFC-B10D-A1DBFAA8C19C}"/>
                  </a:ext>
                </a:extLst>
              </p:cNvPr>
              <p:cNvSpPr txBox="1"/>
              <p:nvPr/>
            </p:nvSpPr>
            <p:spPr>
              <a:xfrm>
                <a:off x="3215566" y="5046879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B209683-13CC-4BFC-B10D-A1DBFAA8C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566" y="5046879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69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DEB2E9-EDAE-48D9-9A75-C9DA3A293DF1}"/>
              </a:ext>
            </a:extLst>
          </p:cNvPr>
          <p:cNvCxnSpPr>
            <a:cxnSpLocks/>
          </p:cNvCxnSpPr>
          <p:nvPr/>
        </p:nvCxnSpPr>
        <p:spPr>
          <a:xfrm flipH="1">
            <a:off x="2933331" y="4128117"/>
            <a:ext cx="4479523" cy="22991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DE7D72-18E0-4199-A7DB-606707C55667}"/>
                  </a:ext>
                </a:extLst>
              </p:cNvPr>
              <p:cNvSpPr txBox="1"/>
              <p:nvPr/>
            </p:nvSpPr>
            <p:spPr>
              <a:xfrm>
                <a:off x="4375956" y="5850235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30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2DE7D72-18E0-4199-A7DB-606707C556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956" y="5850235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477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9F003F7-A300-4EE3-898A-C252519C12D3}"/>
                  </a:ext>
                </a:extLst>
              </p14:cNvPr>
              <p14:cNvContentPartPr/>
              <p14:nvPr/>
            </p14:nvContentPartPr>
            <p14:xfrm>
              <a:off x="2920593" y="6036148"/>
              <a:ext cx="33660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9F003F7-A300-4EE3-898A-C252519C12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4593" y="6000508"/>
                <a:ext cx="408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62785D4-FDC4-4D87-A075-CAA524739906}"/>
                  </a:ext>
                </a:extLst>
              </p14:cNvPr>
              <p14:cNvContentPartPr/>
              <p14:nvPr/>
            </p14:nvContentPartPr>
            <p14:xfrm>
              <a:off x="3266553" y="6036148"/>
              <a:ext cx="360" cy="372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62785D4-FDC4-4D87-A075-CAA5247399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30553" y="6000508"/>
                <a:ext cx="720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9A63AE-0787-4D3D-9984-5A6F8B12173B}"/>
                  </a:ext>
                </a:extLst>
              </p:cNvPr>
              <p:cNvSpPr txBox="1"/>
              <p:nvPr/>
            </p:nvSpPr>
            <p:spPr>
              <a:xfrm>
                <a:off x="9658905" y="1100831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Complementary angles add up to </a:t>
                </a:r>
                <a14:m>
                  <m:oMath xmlns:m="http://schemas.openxmlformats.org/officeDocument/2006/math"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𝟗𝟎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kumimoji="0" lang="en-AU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9A63AE-0787-4D3D-9984-5A6F8B121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8905" y="1100831"/>
                <a:ext cx="2130640" cy="1015663"/>
              </a:xfrm>
              <a:prstGeom prst="rect">
                <a:avLst/>
              </a:prstGeom>
              <a:blipFill>
                <a:blip r:embed="rId8"/>
                <a:stretch>
                  <a:fillRect l="-2857" t="-36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4049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1822FF-B14F-4D1E-93CD-458CA7639661}"/>
              </a:ext>
            </a:extLst>
          </p:cNvPr>
          <p:cNvCxnSpPr>
            <a:cxnSpLocks/>
          </p:cNvCxnSpPr>
          <p:nvPr/>
        </p:nvCxnSpPr>
        <p:spPr>
          <a:xfrm>
            <a:off x="3430482" y="2355883"/>
            <a:ext cx="1" cy="382108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9FC76F1-41EE-4FD4-AB1D-645B03A3BEB0}"/>
              </a:ext>
            </a:extLst>
          </p:cNvPr>
          <p:cNvCxnSpPr>
            <a:cxnSpLocks/>
          </p:cNvCxnSpPr>
          <p:nvPr/>
        </p:nvCxnSpPr>
        <p:spPr>
          <a:xfrm flipH="1">
            <a:off x="3430482" y="6176963"/>
            <a:ext cx="527851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D7AF56-3B47-45C3-8812-BD8FD0ACB5D4}"/>
                  </a:ext>
                </a:extLst>
              </p:cNvPr>
              <p:cNvSpPr txBox="1"/>
              <p:nvPr/>
            </p:nvSpPr>
            <p:spPr>
              <a:xfrm>
                <a:off x="5017733" y="555491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2D7AF56-3B47-45C3-8812-BD8FD0ACB5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733" y="5554911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2E880EB-18D7-494C-89ED-6FDC55E7B2CC}"/>
              </a:ext>
            </a:extLst>
          </p:cNvPr>
          <p:cNvCxnSpPr>
            <a:cxnSpLocks/>
          </p:cNvCxnSpPr>
          <p:nvPr/>
        </p:nvCxnSpPr>
        <p:spPr>
          <a:xfrm flipH="1">
            <a:off x="3430481" y="3877772"/>
            <a:ext cx="4479523" cy="22991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31D8151-90AB-44EA-AFC5-6AEC96DAB772}"/>
                  </a:ext>
                </a:extLst>
              </p14:cNvPr>
              <p14:cNvContentPartPr/>
              <p14:nvPr/>
            </p14:nvContentPartPr>
            <p14:xfrm>
              <a:off x="3417743" y="5785803"/>
              <a:ext cx="33660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31D8151-90AB-44EA-AFC5-6AEC96DAB7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1743" y="5750163"/>
                <a:ext cx="408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89DE83D-D4D5-429D-8ADB-23597261E9EA}"/>
                  </a:ext>
                </a:extLst>
              </p14:cNvPr>
              <p14:cNvContentPartPr/>
              <p14:nvPr/>
            </p14:nvContentPartPr>
            <p14:xfrm>
              <a:off x="3763703" y="5785803"/>
              <a:ext cx="360" cy="372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89DE83D-D4D5-429D-8ADB-23597261E9E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27703" y="5750163"/>
                <a:ext cx="720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0991F9-A843-41CE-86E1-8272BCBDE557}"/>
                  </a:ext>
                </a:extLst>
              </p:cNvPr>
              <p:cNvSpPr txBox="1"/>
              <p:nvPr/>
            </p:nvSpPr>
            <p:spPr>
              <a:xfrm>
                <a:off x="3847363" y="4565702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75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0991F9-A843-41CE-86E1-8272BCBDE5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7363" y="4565702"/>
                <a:ext cx="1305018" cy="461665"/>
              </a:xfrm>
              <a:prstGeom prst="rect">
                <a:avLst/>
              </a:prstGeom>
              <a:blipFill>
                <a:blip r:embed="rId7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01FC6-562D-42AF-ACC7-6541844ECE4C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Complementary angles add up to </a:t>
                </a:r>
                <a14:m>
                  <m:oMath xmlns:m="http://schemas.openxmlformats.org/officeDocument/2006/math"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𝟗𝟎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kumimoji="0" lang="en-AU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01FC6-562D-42AF-ACC7-6541844EC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8"/>
                <a:stretch>
                  <a:fillRect l="-3152" t="-36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6802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7275CC3-5B50-4D39-B175-6482DCD9A8D7}"/>
              </a:ext>
            </a:extLst>
          </p:cNvPr>
          <p:cNvCxnSpPr>
            <a:cxnSpLocks/>
          </p:cNvCxnSpPr>
          <p:nvPr/>
        </p:nvCxnSpPr>
        <p:spPr>
          <a:xfrm>
            <a:off x="3430482" y="2355883"/>
            <a:ext cx="1" cy="382108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FD812AC-AC61-4EB1-B178-7ADA51520AF7}"/>
              </a:ext>
            </a:extLst>
          </p:cNvPr>
          <p:cNvCxnSpPr>
            <a:cxnSpLocks/>
          </p:cNvCxnSpPr>
          <p:nvPr/>
        </p:nvCxnSpPr>
        <p:spPr>
          <a:xfrm flipH="1">
            <a:off x="3430482" y="6176963"/>
            <a:ext cx="5278513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759DE3-A7AC-4784-A8D1-E6B52A3BA04B}"/>
                  </a:ext>
                </a:extLst>
              </p:cNvPr>
              <p:cNvSpPr txBox="1"/>
              <p:nvPr/>
            </p:nvSpPr>
            <p:spPr>
              <a:xfrm>
                <a:off x="4318250" y="540743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D759DE3-A7AC-4784-A8D1-E6B52A3BA0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8250" y="5407431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9E3082-5091-4E28-B6A9-71C5F6E26022}"/>
              </a:ext>
            </a:extLst>
          </p:cNvPr>
          <p:cNvCxnSpPr>
            <a:cxnSpLocks/>
          </p:cNvCxnSpPr>
          <p:nvPr/>
        </p:nvCxnSpPr>
        <p:spPr>
          <a:xfrm flipH="1">
            <a:off x="3430482" y="2441359"/>
            <a:ext cx="892943" cy="37356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FEEE05C-0233-4411-AD2F-33D90380670A}"/>
                  </a:ext>
                </a:extLst>
              </p14:cNvPr>
              <p14:cNvContentPartPr/>
              <p14:nvPr/>
            </p14:nvContentPartPr>
            <p14:xfrm>
              <a:off x="3417743" y="5785803"/>
              <a:ext cx="33660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FEEE05C-0233-4411-AD2F-33D9038067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81743" y="5750163"/>
                <a:ext cx="40824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BBD57B1-4A69-452D-862F-6795F4787F9A}"/>
                  </a:ext>
                </a:extLst>
              </p14:cNvPr>
              <p14:cNvContentPartPr/>
              <p14:nvPr/>
            </p14:nvContentPartPr>
            <p14:xfrm>
              <a:off x="3763703" y="5785803"/>
              <a:ext cx="360" cy="372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BBD57B1-4A69-452D-862F-6795F4787F9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27703" y="5750163"/>
                <a:ext cx="720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628AA1-77C8-4E44-8DE7-A889725F9BF7}"/>
                  </a:ext>
                </a:extLst>
              </p:cNvPr>
              <p:cNvSpPr txBox="1"/>
              <p:nvPr/>
            </p:nvSpPr>
            <p:spPr>
              <a:xfrm>
                <a:off x="3443222" y="338569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15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C628AA1-77C8-4E44-8DE7-A889725F9B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3222" y="3385696"/>
                <a:ext cx="1305018" cy="461665"/>
              </a:xfrm>
              <a:prstGeom prst="rect">
                <a:avLst/>
              </a:prstGeom>
              <a:blipFill>
                <a:blip r:embed="rId7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EA88E0B-11B8-43CE-9BAE-253AF88BF836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Complementary angles add up to </a:t>
                </a:r>
                <a14:m>
                  <m:oMath xmlns:m="http://schemas.openxmlformats.org/officeDocument/2006/math"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𝟗𝟎</m:t>
                    </m:r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kumimoji="0" lang="en-AU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EA88E0B-11B8-43CE-9BAE-253AF88BF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8"/>
                <a:stretch>
                  <a:fillRect l="-3152" t="-36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676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64E8C0-6B95-4163-9B9A-5AA2257A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Supplementary angles</a:t>
            </a:r>
            <a:endParaRPr lang="en-AU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552A31E-CA1E-4BBF-AE6C-2D2AC138BC23}"/>
              </a:ext>
            </a:extLst>
          </p:cNvPr>
          <p:cNvCxnSpPr>
            <a:cxnSpLocks/>
          </p:cNvCxnSpPr>
          <p:nvPr/>
        </p:nvCxnSpPr>
        <p:spPr>
          <a:xfrm flipH="1">
            <a:off x="4839814" y="2446163"/>
            <a:ext cx="455717" cy="2927648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CCC779-6818-4DF8-9485-5488B6443A08}"/>
              </a:ext>
            </a:extLst>
          </p:cNvPr>
          <p:cNvCxnSpPr>
            <a:cxnSpLocks/>
          </p:cNvCxnSpPr>
          <p:nvPr/>
        </p:nvCxnSpPr>
        <p:spPr>
          <a:xfrm flipH="1">
            <a:off x="907002" y="5391567"/>
            <a:ext cx="786561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5E92D4F-C71C-4B66-A8E3-494E3BF1E6ED}"/>
              </a:ext>
            </a:extLst>
          </p:cNvPr>
          <p:cNvSpPr txBox="1"/>
          <p:nvPr/>
        </p:nvSpPr>
        <p:spPr>
          <a:xfrm>
            <a:off x="4403328" y="4850591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  <a:endParaRPr lang="en-AU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CF15D-09FA-4BD6-B894-6AC0E2873554}"/>
              </a:ext>
            </a:extLst>
          </p:cNvPr>
          <p:cNvSpPr txBox="1"/>
          <p:nvPr/>
        </p:nvSpPr>
        <p:spPr>
          <a:xfrm>
            <a:off x="5007009" y="4850591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  <a:endParaRPr lang="en-AU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1FFFFE-C6CA-4800-9D54-C1595A503AC8}"/>
                  </a:ext>
                </a:extLst>
              </p:cNvPr>
              <p:cNvSpPr txBox="1"/>
              <p:nvPr/>
            </p:nvSpPr>
            <p:spPr>
              <a:xfrm>
                <a:off x="8851777" y="1426946"/>
                <a:ext cx="2938509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If we add angle A and angle B together, we get ______. </a:t>
                </a:r>
              </a:p>
              <a:p>
                <a:endParaRPr lang="en-US" sz="2400" b="1" dirty="0"/>
              </a:p>
              <a:p>
                <a:r>
                  <a:rPr lang="en-US" sz="2400" b="1" dirty="0"/>
                  <a:t>Why?</a:t>
                </a:r>
              </a:p>
              <a:p>
                <a:endParaRPr lang="en-US" sz="2400" b="1" dirty="0"/>
              </a:p>
              <a:p>
                <a:pPr algn="ctr"/>
                <a:r>
                  <a:rPr lang="en-US" sz="2400" b="1" dirty="0"/>
                  <a:t>(Not to scale)</a:t>
                </a:r>
              </a:p>
              <a:p>
                <a:r>
                  <a:rPr lang="en-US" sz="2400" b="1" dirty="0"/>
                  <a:t>If angle A was 60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sz="2400" b="1" dirty="0"/>
                  <a:t> what is angle B? </a:t>
                </a:r>
              </a:p>
              <a:p>
                <a:endParaRPr lang="en-AU" sz="2400" b="1" dirty="0"/>
              </a:p>
              <a:p>
                <a:r>
                  <a:rPr lang="en-AU" sz="2400" b="1" dirty="0"/>
                  <a:t>If A was 120</a:t>
                </a:r>
                <a14:m>
                  <m:oMath xmlns:m="http://schemas.openxmlformats.org/officeDocument/2006/math">
                    <m:r>
                      <a:rPr lang="en-AU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AU" sz="2400" b="1" dirty="0">
                    <a:ea typeface="Cambria Math" panose="02040503050406030204" pitchFamily="18" charset="0"/>
                  </a:rPr>
                  <a:t> what is B? </a:t>
                </a:r>
                <a:endParaRPr lang="en-US" sz="2400" b="1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E1FFFFE-C6CA-4800-9D54-C1595A503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777" y="1426946"/>
                <a:ext cx="2938509" cy="4524315"/>
              </a:xfrm>
              <a:prstGeom prst="rect">
                <a:avLst/>
              </a:prstGeom>
              <a:blipFill>
                <a:blip r:embed="rId2"/>
                <a:stretch>
                  <a:fillRect l="-3112" t="-1078" r="-4564" b="-21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03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503214-692F-45B5-980C-277EE7C328C5}"/>
              </a:ext>
            </a:extLst>
          </p:cNvPr>
          <p:cNvCxnSpPr>
            <a:cxnSpLocks/>
          </p:cNvCxnSpPr>
          <p:nvPr/>
        </p:nvCxnSpPr>
        <p:spPr>
          <a:xfrm flipH="1">
            <a:off x="5601811" y="3586579"/>
            <a:ext cx="2299315" cy="250160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FA0D49-6F82-4ED5-9415-592B19B6C793}"/>
              </a:ext>
            </a:extLst>
          </p:cNvPr>
          <p:cNvCxnSpPr>
            <a:cxnSpLocks/>
          </p:cNvCxnSpPr>
          <p:nvPr/>
        </p:nvCxnSpPr>
        <p:spPr>
          <a:xfrm flipH="1">
            <a:off x="1669002" y="6088186"/>
            <a:ext cx="786561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/>
              <p:nvPr/>
            </p:nvSpPr>
            <p:spPr>
              <a:xfrm>
                <a:off x="6451107" y="550268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107" y="5502681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5D06B9-A6BD-4F9A-BE4D-FF65A6BED47E}"/>
                  </a:ext>
                </a:extLst>
              </p:cNvPr>
              <p:cNvSpPr txBox="1"/>
              <p:nvPr/>
            </p:nvSpPr>
            <p:spPr>
              <a:xfrm>
                <a:off x="4949302" y="562652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140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5D06B9-A6BD-4F9A-BE4D-FF65A6BED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302" y="5626521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40CEB2-40D7-4A42-8978-D1601E986C50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kumimoji="0" lang="en-AU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E40CEB2-40D7-4A42-8978-D1601E986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4"/>
                <a:stretch>
                  <a:fillRect l="-3152" t="-3614" b="-10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857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503214-692F-45B5-980C-277EE7C328C5}"/>
              </a:ext>
            </a:extLst>
          </p:cNvPr>
          <p:cNvCxnSpPr>
            <a:cxnSpLocks/>
          </p:cNvCxnSpPr>
          <p:nvPr/>
        </p:nvCxnSpPr>
        <p:spPr>
          <a:xfrm>
            <a:off x="4101483" y="3346882"/>
            <a:ext cx="1500329" cy="27413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FA0D49-6F82-4ED5-9415-592B19B6C793}"/>
              </a:ext>
            </a:extLst>
          </p:cNvPr>
          <p:cNvCxnSpPr>
            <a:cxnSpLocks/>
          </p:cNvCxnSpPr>
          <p:nvPr/>
        </p:nvCxnSpPr>
        <p:spPr>
          <a:xfrm flipH="1">
            <a:off x="1669002" y="6088186"/>
            <a:ext cx="786561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/>
              <p:nvPr/>
            </p:nvSpPr>
            <p:spPr>
              <a:xfrm>
                <a:off x="5739229" y="5559052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9229" y="5559052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69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5D06B9-A6BD-4F9A-BE4D-FF65A6BED47E}"/>
                  </a:ext>
                </a:extLst>
              </p:cNvPr>
              <p:cNvSpPr txBox="1"/>
              <p:nvPr/>
            </p:nvSpPr>
            <p:spPr>
              <a:xfrm>
                <a:off x="4553875" y="562652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70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5D06B9-A6BD-4F9A-BE4D-FF65A6BED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3875" y="5626521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B716BB-5CA1-4D51-B2B0-FC66184A7017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kumimoji="0" lang="en-AU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B716BB-5CA1-4D51-B2B0-FC66184A7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4"/>
                <a:stretch>
                  <a:fillRect l="-3152" t="-3614" b="-10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2262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an equation and solve the unknown angle. </a:t>
            </a:r>
            <a:endParaRPr lang="en-AU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503214-692F-45B5-980C-277EE7C328C5}"/>
              </a:ext>
            </a:extLst>
          </p:cNvPr>
          <p:cNvCxnSpPr>
            <a:cxnSpLocks/>
          </p:cNvCxnSpPr>
          <p:nvPr/>
        </p:nvCxnSpPr>
        <p:spPr>
          <a:xfrm flipH="1">
            <a:off x="5601812" y="2823099"/>
            <a:ext cx="310716" cy="326508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FA0D49-6F82-4ED5-9415-592B19B6C793}"/>
              </a:ext>
            </a:extLst>
          </p:cNvPr>
          <p:cNvCxnSpPr>
            <a:cxnSpLocks/>
          </p:cNvCxnSpPr>
          <p:nvPr/>
        </p:nvCxnSpPr>
        <p:spPr>
          <a:xfrm flipH="1">
            <a:off x="1669002" y="6088186"/>
            <a:ext cx="7865618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/>
              <p:nvPr/>
            </p:nvSpPr>
            <p:spPr>
              <a:xfrm>
                <a:off x="5912528" y="5559052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B5AA915-5C4D-4ED7-BF9C-13C3EA21D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2528" y="5559052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5D06B9-A6BD-4F9A-BE4D-FF65A6BED47E}"/>
                  </a:ext>
                </a:extLst>
              </p:cNvPr>
              <p:cNvSpPr txBox="1"/>
              <p:nvPr/>
            </p:nvSpPr>
            <p:spPr>
              <a:xfrm>
                <a:off x="4949302" y="562652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95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F5D06B9-A6BD-4F9A-BE4D-FF65A6BED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9302" y="5626521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477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383CE0-C902-4585-B727-D653ED486985}"/>
                  </a:ext>
                </a:extLst>
              </p:cNvPr>
              <p:cNvSpPr txBox="1"/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kumimoji="0" lang="en-AU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383CE0-C902-4585-B727-D653ED4869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1027906"/>
                <a:ext cx="2130640" cy="1015663"/>
              </a:xfrm>
              <a:prstGeom prst="rect">
                <a:avLst/>
              </a:prstGeom>
              <a:blipFill>
                <a:blip r:embed="rId4"/>
                <a:stretch>
                  <a:fillRect l="-3152" t="-3614" b="-102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862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43C7A-4848-49D3-9D0A-4E33831DC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Vertically opposite angles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5871AC8-48BD-4D2A-B301-FEF6BD46DC9E}"/>
              </a:ext>
            </a:extLst>
          </p:cNvPr>
          <p:cNvCxnSpPr>
            <a:cxnSpLocks/>
          </p:cNvCxnSpPr>
          <p:nvPr/>
        </p:nvCxnSpPr>
        <p:spPr>
          <a:xfrm flipH="1">
            <a:off x="1948649" y="2265772"/>
            <a:ext cx="4938941" cy="34710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0B32D2B-6839-4D50-8407-F9D822F004D5}"/>
              </a:ext>
            </a:extLst>
          </p:cNvPr>
          <p:cNvCxnSpPr>
            <a:cxnSpLocks/>
          </p:cNvCxnSpPr>
          <p:nvPr/>
        </p:nvCxnSpPr>
        <p:spPr>
          <a:xfrm flipH="1" flipV="1">
            <a:off x="1948650" y="2594244"/>
            <a:ext cx="5524867" cy="29296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8F6BCAA-65DE-4347-9D96-6BA7AF3AD0BC}"/>
              </a:ext>
            </a:extLst>
          </p:cNvPr>
          <p:cNvSpPr txBox="1"/>
          <p:nvPr/>
        </p:nvSpPr>
        <p:spPr>
          <a:xfrm>
            <a:off x="4279041" y="3167390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  <a:endParaRPr lang="en-AU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883A07-B8EF-4BE2-9244-341D5B1D325A}"/>
              </a:ext>
            </a:extLst>
          </p:cNvPr>
          <p:cNvSpPr txBox="1"/>
          <p:nvPr/>
        </p:nvSpPr>
        <p:spPr>
          <a:xfrm>
            <a:off x="4279040" y="4252624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  <a:endParaRPr lang="en-A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319F2-EF92-4096-BB13-CBB33C6792BF}"/>
              </a:ext>
            </a:extLst>
          </p:cNvPr>
          <p:cNvSpPr txBox="1"/>
          <p:nvPr/>
        </p:nvSpPr>
        <p:spPr>
          <a:xfrm>
            <a:off x="3577705" y="3690610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  <a:endParaRPr lang="en-AU" sz="28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3947E8-BD08-42E5-B0C1-0644D5E6A934}"/>
              </a:ext>
            </a:extLst>
          </p:cNvPr>
          <p:cNvSpPr txBox="1"/>
          <p:nvPr/>
        </p:nvSpPr>
        <p:spPr>
          <a:xfrm>
            <a:off x="4989257" y="3690610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</a:t>
            </a:r>
            <a:endParaRPr lang="en-AU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75CA15-779D-4D0F-B3A7-D6792D25764A}"/>
                  </a:ext>
                </a:extLst>
              </p:cNvPr>
              <p:cNvSpPr txBox="1"/>
              <p:nvPr/>
            </p:nvSpPr>
            <p:spPr>
              <a:xfrm>
                <a:off x="8851777" y="1426946"/>
                <a:ext cx="2938509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Angle A is equal to angle _____</a:t>
                </a:r>
              </a:p>
              <a:p>
                <a:endParaRPr lang="en-US" sz="2400" b="1" dirty="0">
                  <a:ea typeface="Cambria Math" panose="02040503050406030204" pitchFamily="18" charset="0"/>
                </a:endParaRPr>
              </a:p>
              <a:p>
                <a:r>
                  <a:rPr lang="en-US" sz="2400" b="1" dirty="0">
                    <a:ea typeface="Cambria Math" panose="02040503050406030204" pitchFamily="18" charset="0"/>
                  </a:rPr>
                  <a:t>Angle C is equal to angle ______</a:t>
                </a:r>
              </a:p>
              <a:p>
                <a:endParaRPr lang="en-US" sz="2400" b="1" dirty="0">
                  <a:ea typeface="Cambria Math" panose="02040503050406030204" pitchFamily="18" charset="0"/>
                </a:endParaRPr>
              </a:p>
              <a:p>
                <a:r>
                  <a:rPr lang="en-US" sz="2400" b="1" dirty="0">
                    <a:ea typeface="Cambria Math" panose="02040503050406030204" pitchFamily="18" charset="0"/>
                  </a:rPr>
                  <a:t>Why? </a:t>
                </a:r>
              </a:p>
              <a:p>
                <a:endParaRPr lang="en-US" sz="2400" b="1" dirty="0">
                  <a:ea typeface="Cambria Math" panose="02040503050406030204" pitchFamily="18" charset="0"/>
                </a:endParaRPr>
              </a:p>
              <a:p>
                <a:r>
                  <a:rPr lang="en-US" sz="2400" b="1" dirty="0">
                    <a:ea typeface="Cambria Math" panose="02040503050406030204" pitchFamily="18" charset="0"/>
                  </a:rPr>
                  <a:t>If Angle A is 120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400" b="1" dirty="0">
                    <a:ea typeface="Cambria Math" panose="02040503050406030204" pitchFamily="18" charset="0"/>
                  </a:rPr>
                  <a:t> what is angle B? </a:t>
                </a:r>
              </a:p>
              <a:p>
                <a:endParaRPr lang="en-US" sz="2400" b="1" dirty="0">
                  <a:ea typeface="Cambria Math" panose="02040503050406030204" pitchFamily="18" charset="0"/>
                </a:endParaRPr>
              </a:p>
              <a:p>
                <a:r>
                  <a:rPr lang="en-US" sz="2400" b="1" dirty="0">
                    <a:ea typeface="Cambria Math" panose="02040503050406030204" pitchFamily="18" charset="0"/>
                  </a:rPr>
                  <a:t>What is angle D?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75CA15-779D-4D0F-B3A7-D6792D257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777" y="1426946"/>
                <a:ext cx="2938509" cy="4524315"/>
              </a:xfrm>
              <a:prstGeom prst="rect">
                <a:avLst/>
              </a:prstGeom>
              <a:blipFill>
                <a:blip r:embed="rId2"/>
                <a:stretch>
                  <a:fillRect l="-3112" t="-1078" b="-215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24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 unknown angles x and y.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E9A180-B4A8-4C8B-9D27-EEC67D91341F}"/>
              </a:ext>
            </a:extLst>
          </p:cNvPr>
          <p:cNvCxnSpPr>
            <a:cxnSpLocks/>
          </p:cNvCxnSpPr>
          <p:nvPr/>
        </p:nvCxnSpPr>
        <p:spPr>
          <a:xfrm flipH="1">
            <a:off x="3335047" y="2840856"/>
            <a:ext cx="4938941" cy="34710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81E02F-F61E-4378-BA23-40973D91208C}"/>
              </a:ext>
            </a:extLst>
          </p:cNvPr>
          <p:cNvCxnSpPr>
            <a:cxnSpLocks/>
          </p:cNvCxnSpPr>
          <p:nvPr/>
        </p:nvCxnSpPr>
        <p:spPr>
          <a:xfrm flipH="1" flipV="1">
            <a:off x="3335048" y="3169328"/>
            <a:ext cx="5524867" cy="29296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/>
              <p:nvPr/>
            </p:nvSpPr>
            <p:spPr>
              <a:xfrm>
                <a:off x="5561861" y="3770461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100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861" y="3770461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667" b="-30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/>
              <p:nvPr/>
            </p:nvSpPr>
            <p:spPr>
              <a:xfrm>
                <a:off x="6214370" y="423212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80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370" y="4232126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/>
              <p:nvPr/>
            </p:nvSpPr>
            <p:spPr>
              <a:xfrm>
                <a:off x="5628443" y="465823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443" y="4658236"/>
                <a:ext cx="1305018" cy="461665"/>
              </a:xfrm>
              <a:prstGeom prst="rect">
                <a:avLst/>
              </a:prstGeom>
              <a:blipFill>
                <a:blip r:embed="rId4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/>
              <p:nvPr/>
            </p:nvSpPr>
            <p:spPr>
              <a:xfrm>
                <a:off x="5042516" y="4232125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y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516" y="4232125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B4D04816-CD7C-4DA5-8DC5-CA06C17905EC}"/>
              </a:ext>
            </a:extLst>
          </p:cNvPr>
          <p:cNvSpPr txBox="1"/>
          <p:nvPr/>
        </p:nvSpPr>
        <p:spPr>
          <a:xfrm>
            <a:off x="9738804" y="1027906"/>
            <a:ext cx="213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Vertically opposite angles are equal. 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0423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 unknown angles x and y.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E9A180-B4A8-4C8B-9D27-EEC67D91341F}"/>
              </a:ext>
            </a:extLst>
          </p:cNvPr>
          <p:cNvCxnSpPr>
            <a:cxnSpLocks/>
          </p:cNvCxnSpPr>
          <p:nvPr/>
        </p:nvCxnSpPr>
        <p:spPr>
          <a:xfrm flipH="1">
            <a:off x="3335047" y="2840856"/>
            <a:ext cx="4938941" cy="34710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81E02F-F61E-4378-BA23-40973D91208C}"/>
              </a:ext>
            </a:extLst>
          </p:cNvPr>
          <p:cNvCxnSpPr>
            <a:cxnSpLocks/>
          </p:cNvCxnSpPr>
          <p:nvPr/>
        </p:nvCxnSpPr>
        <p:spPr>
          <a:xfrm flipH="1" flipV="1">
            <a:off x="3335048" y="3169328"/>
            <a:ext cx="5524867" cy="29296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/>
              <p:nvPr/>
            </p:nvSpPr>
            <p:spPr>
              <a:xfrm>
                <a:off x="5561861" y="4717898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140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861" y="4717898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/>
              <p:nvPr/>
            </p:nvSpPr>
            <p:spPr>
              <a:xfrm>
                <a:off x="6214370" y="423212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40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370" y="4232126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/>
              <p:nvPr/>
            </p:nvSpPr>
            <p:spPr>
              <a:xfrm>
                <a:off x="5695025" y="3977184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5025" y="3977184"/>
                <a:ext cx="1305018" cy="461665"/>
              </a:xfrm>
              <a:prstGeom prst="rect">
                <a:avLst/>
              </a:prstGeom>
              <a:blipFill>
                <a:blip r:embed="rId4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/>
              <p:nvPr/>
            </p:nvSpPr>
            <p:spPr>
              <a:xfrm>
                <a:off x="5042516" y="4232125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y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516" y="4232125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6014F08-71CA-4EFA-A739-38DDE816DFDF}"/>
              </a:ext>
            </a:extLst>
          </p:cNvPr>
          <p:cNvSpPr txBox="1"/>
          <p:nvPr/>
        </p:nvSpPr>
        <p:spPr>
          <a:xfrm>
            <a:off x="9738804" y="1027906"/>
            <a:ext cx="213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Vertically opposite angles are equal. 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57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FD991-B831-472F-A1C2-109DBB2FD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A42DB-6647-47D8-A741-0E997E8FF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Solve the unknown angles x, y and z.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E9A180-B4A8-4C8B-9D27-EEC67D91341F}"/>
              </a:ext>
            </a:extLst>
          </p:cNvPr>
          <p:cNvCxnSpPr>
            <a:cxnSpLocks/>
          </p:cNvCxnSpPr>
          <p:nvPr/>
        </p:nvCxnSpPr>
        <p:spPr>
          <a:xfrm flipH="1">
            <a:off x="3335047" y="2840856"/>
            <a:ext cx="4938941" cy="347104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81E02F-F61E-4378-BA23-40973D91208C}"/>
              </a:ext>
            </a:extLst>
          </p:cNvPr>
          <p:cNvCxnSpPr>
            <a:cxnSpLocks/>
          </p:cNvCxnSpPr>
          <p:nvPr/>
        </p:nvCxnSpPr>
        <p:spPr>
          <a:xfrm flipH="1" flipV="1">
            <a:off x="3335048" y="3169328"/>
            <a:ext cx="5524867" cy="292963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/>
              <p:nvPr/>
            </p:nvSpPr>
            <p:spPr>
              <a:xfrm>
                <a:off x="5561861" y="3837057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130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8E9A335-A4BE-4B1A-ACEA-E615D8653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861" y="3837057"/>
                <a:ext cx="1305018" cy="461665"/>
              </a:xfrm>
              <a:prstGeom prst="rect">
                <a:avLst/>
              </a:prstGeom>
              <a:blipFill>
                <a:blip r:embed="rId2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/>
              <p:nvPr/>
            </p:nvSpPr>
            <p:spPr>
              <a:xfrm>
                <a:off x="6214370" y="423212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z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E91C096-367A-4336-B725-54D80413B3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370" y="4232126"/>
                <a:ext cx="1305018" cy="461665"/>
              </a:xfrm>
              <a:prstGeom prst="rect">
                <a:avLst/>
              </a:prstGeom>
              <a:blipFill>
                <a:blip r:embed="rId3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/>
              <p:nvPr/>
            </p:nvSpPr>
            <p:spPr>
              <a:xfrm>
                <a:off x="5628443" y="4658236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x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263C6E3-0703-4B99-8CE0-1EF848C82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28443" y="4658236"/>
                <a:ext cx="1305018" cy="461665"/>
              </a:xfrm>
              <a:prstGeom prst="rect">
                <a:avLst/>
              </a:prstGeom>
              <a:blipFill>
                <a:blip r:embed="rId4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/>
              <p:nvPr/>
            </p:nvSpPr>
            <p:spPr>
              <a:xfrm>
                <a:off x="5042516" y="4232125"/>
                <a:ext cx="130501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y</a:t>
                </a:r>
                <a14:m>
                  <m:oMath xmlns:m="http://schemas.openxmlformats.org/officeDocument/2006/math">
                    <m:r>
                      <a:rPr kumimoji="0" lang="en-US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endParaRPr kumimoji="0" lang="en-AU" sz="2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0265384-CCF5-4CA4-8651-BCBE5E9B8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2516" y="4232125"/>
                <a:ext cx="1305018" cy="461665"/>
              </a:xfrm>
              <a:prstGeom prst="rect">
                <a:avLst/>
              </a:prstGeom>
              <a:blipFill>
                <a:blip r:embed="rId5"/>
                <a:stretch>
                  <a:fillRect l="-7009" t="-10526" b="-2894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5DB55CD-FB30-4089-806C-41C162F01CDD}"/>
              </a:ext>
            </a:extLst>
          </p:cNvPr>
          <p:cNvSpPr txBox="1"/>
          <p:nvPr/>
        </p:nvSpPr>
        <p:spPr>
          <a:xfrm>
            <a:off x="9738804" y="1027906"/>
            <a:ext cx="21306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Calibri" panose="020F0502020204030204"/>
                <a:ea typeface="+mn-ea"/>
                <a:cs typeface="+mn-cs"/>
              </a:rPr>
              <a:t>Vertically opposite angles are equal. </a:t>
            </a:r>
            <a:endParaRPr kumimoji="0" lang="en-AU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B9766B-B578-4808-AE59-E95D21051C7C}"/>
                  </a:ext>
                </a:extLst>
              </p:cNvPr>
              <p:cNvSpPr txBox="1"/>
              <p:nvPr/>
            </p:nvSpPr>
            <p:spPr>
              <a:xfrm>
                <a:off x="9738804" y="2233890"/>
                <a:ext cx="213064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supplementary angles add up to 180</a:t>
                </a:r>
                <a14:m>
                  <m:oMath xmlns:m="http://schemas.openxmlformats.org/officeDocument/2006/math">
                    <m:r>
                      <a:rPr kumimoji="0" lang="en-US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highlight>
                          <a:srgbClr val="FFFF00"/>
                        </a:highlight>
                        <a:uLnTx/>
                        <a:uFillTx/>
                        <a:latin typeface="Cambria Math" panose="02040503050406030204" pitchFamily="18" charset="0"/>
                        <a:ea typeface="Cambria Math" panose="02040503050406030204" pitchFamily="18" charset="0"/>
                        <a:cs typeface="+mn-cs"/>
                      </a:rPr>
                      <m:t>°</m:t>
                    </m:r>
                  </m:oMath>
                </a14:m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highlight>
                      <a:srgbClr val="FFFF00"/>
                    </a:highlight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endParaRPr kumimoji="0" lang="en-AU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7B9766B-B578-4808-AE59-E95D21051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8804" y="2233890"/>
                <a:ext cx="2130640" cy="1015663"/>
              </a:xfrm>
              <a:prstGeom prst="rect">
                <a:avLst/>
              </a:prstGeom>
              <a:blipFill>
                <a:blip r:embed="rId6"/>
                <a:stretch>
                  <a:fillRect l="-3152" t="-2994" b="-95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C38EE0F-B52C-41FF-BC48-F17DB717AB1D}"/>
              </a:ext>
            </a:extLst>
          </p:cNvPr>
          <p:cNvSpPr txBox="1"/>
          <p:nvPr/>
        </p:nvSpPr>
        <p:spPr>
          <a:xfrm>
            <a:off x="8771138" y="4110361"/>
            <a:ext cx="25826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If we add all these angles together, what do we get? </a:t>
            </a:r>
          </a:p>
          <a:p>
            <a:endParaRPr lang="en-US" sz="2400" b="1" dirty="0"/>
          </a:p>
          <a:p>
            <a:r>
              <a:rPr lang="en-US" sz="2400" b="1" dirty="0"/>
              <a:t>Why?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12280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133C4-A5AC-4930-B375-7643B74DB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Naming angles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D75DCBE-3357-4AFF-B96F-B2EADFE3D639}"/>
              </a:ext>
            </a:extLst>
          </p:cNvPr>
          <p:cNvCxnSpPr>
            <a:cxnSpLocks/>
          </p:cNvCxnSpPr>
          <p:nvPr/>
        </p:nvCxnSpPr>
        <p:spPr>
          <a:xfrm>
            <a:off x="3430482" y="2355883"/>
            <a:ext cx="1" cy="382108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4CB2F7D-41EC-4836-A801-956239533056}"/>
              </a:ext>
            </a:extLst>
          </p:cNvPr>
          <p:cNvCxnSpPr>
            <a:cxnSpLocks/>
          </p:cNvCxnSpPr>
          <p:nvPr/>
        </p:nvCxnSpPr>
        <p:spPr>
          <a:xfrm flipH="1">
            <a:off x="3430481" y="3877772"/>
            <a:ext cx="4479523" cy="22991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765BBE7-67EC-4B82-9A5A-7588413DA6A2}"/>
              </a:ext>
            </a:extLst>
          </p:cNvPr>
          <p:cNvSpPr txBox="1"/>
          <p:nvPr/>
        </p:nvSpPr>
        <p:spPr>
          <a:xfrm>
            <a:off x="3224076" y="1832663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  <a:endParaRPr lang="en-AU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170C76-B123-4A67-A3B3-F04053D563AB}"/>
              </a:ext>
            </a:extLst>
          </p:cNvPr>
          <p:cNvSpPr txBox="1"/>
          <p:nvPr/>
        </p:nvSpPr>
        <p:spPr>
          <a:xfrm>
            <a:off x="3224075" y="6231265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  <a:endParaRPr lang="en-A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188851-C34B-4EC9-AE80-01DF616FF180}"/>
              </a:ext>
            </a:extLst>
          </p:cNvPr>
          <p:cNvSpPr txBox="1"/>
          <p:nvPr/>
        </p:nvSpPr>
        <p:spPr>
          <a:xfrm>
            <a:off x="7910004" y="3354552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  <a:endParaRPr lang="en-AU" sz="28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272F4B6-3593-429B-B81F-87A53A07A575}"/>
                  </a:ext>
                </a:extLst>
              </p14:cNvPr>
              <p14:cNvContentPartPr/>
              <p14:nvPr/>
            </p14:nvContentPartPr>
            <p14:xfrm>
              <a:off x="3417393" y="5671943"/>
              <a:ext cx="394920" cy="271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272F4B6-3593-429B-B81F-87A53A07A5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99753" y="5653943"/>
                <a:ext cx="430560" cy="3070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371AA8E4-9E01-450B-B238-2834AD84C6F3}"/>
              </a:ext>
            </a:extLst>
          </p:cNvPr>
          <p:cNvSpPr txBox="1"/>
          <p:nvPr/>
        </p:nvSpPr>
        <p:spPr>
          <a:xfrm>
            <a:off x="8957568" y="2303872"/>
            <a:ext cx="29296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Segoe UI Symbol" panose="020B0502040204020203" pitchFamily="34" charset="0"/>
                <a:ea typeface="Segoe UI Symbol" panose="020B0502040204020203" pitchFamily="34" charset="0"/>
              </a:rPr>
              <a:t>This diagram can be labelled  as ∠ABC</a:t>
            </a:r>
          </a:p>
          <a:p>
            <a:endParaRPr lang="en-AU" sz="28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  <a:p>
            <a:r>
              <a:rPr lang="en-AU" sz="2800" dirty="0">
                <a:latin typeface="Segoe UI Symbol" panose="020B0502040204020203" pitchFamily="34" charset="0"/>
                <a:ea typeface="Segoe UI Symbol" panose="020B0502040204020203" pitchFamily="34" charset="0"/>
              </a:rPr>
              <a:t>Notice that B is at the </a:t>
            </a:r>
            <a:r>
              <a:rPr lang="en-AU" sz="2800" i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vertex </a:t>
            </a:r>
            <a:r>
              <a:rPr lang="en-AU" sz="2800" dirty="0">
                <a:latin typeface="Segoe UI Symbol" panose="020B0502040204020203" pitchFamily="34" charset="0"/>
                <a:ea typeface="Segoe UI Symbol" panose="020B0502040204020203" pitchFamily="34" charset="0"/>
              </a:rPr>
              <a:t> of the angle and middle of notation.</a:t>
            </a:r>
            <a:endParaRPr lang="en-AU" sz="2800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DCF9588-5104-4062-9C0D-F919243C895E}"/>
              </a:ext>
            </a:extLst>
          </p:cNvPr>
          <p:cNvSpPr/>
          <p:nvPr/>
        </p:nvSpPr>
        <p:spPr>
          <a:xfrm>
            <a:off x="3072900" y="6176963"/>
            <a:ext cx="715160" cy="643779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D704073-C4E2-464A-A9BB-F0D6F8554F2F}"/>
              </a:ext>
            </a:extLst>
          </p:cNvPr>
          <p:cNvSpPr/>
          <p:nvPr/>
        </p:nvSpPr>
        <p:spPr>
          <a:xfrm>
            <a:off x="9472474" y="3107110"/>
            <a:ext cx="301841" cy="643779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528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9B15-1625-478B-8E0C-40128E5F8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Naming angles </a:t>
            </a: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3E8ED5-3E55-448C-8F12-72C8928FC76A}"/>
              </a:ext>
            </a:extLst>
          </p:cNvPr>
          <p:cNvCxnSpPr>
            <a:cxnSpLocks/>
          </p:cNvCxnSpPr>
          <p:nvPr/>
        </p:nvCxnSpPr>
        <p:spPr>
          <a:xfrm>
            <a:off x="1512905" y="2142819"/>
            <a:ext cx="1" cy="382108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8DB75AF-8091-4061-BE01-8568F2A1A9CA}"/>
              </a:ext>
            </a:extLst>
          </p:cNvPr>
          <p:cNvCxnSpPr>
            <a:cxnSpLocks/>
          </p:cNvCxnSpPr>
          <p:nvPr/>
        </p:nvCxnSpPr>
        <p:spPr>
          <a:xfrm flipH="1">
            <a:off x="1512904" y="3664708"/>
            <a:ext cx="4479523" cy="22991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F3CC42F-390E-41F0-BF7A-4CC5CEA6C5CA}"/>
                  </a:ext>
                </a:extLst>
              </p14:cNvPr>
              <p14:cNvContentPartPr/>
              <p14:nvPr/>
            </p14:nvContentPartPr>
            <p14:xfrm>
              <a:off x="1499816" y="5458879"/>
              <a:ext cx="394920" cy="271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F3CC42F-390E-41F0-BF7A-4CC5CEA6C5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82176" y="5440879"/>
                <a:ext cx="430560" cy="30708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5BFB75A2-9F2C-4F44-AB17-D9B51C2059CC}"/>
              </a:ext>
            </a:extLst>
          </p:cNvPr>
          <p:cNvSpPr txBox="1"/>
          <p:nvPr/>
        </p:nvSpPr>
        <p:spPr>
          <a:xfrm>
            <a:off x="1395435" y="1619599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X</a:t>
            </a:r>
            <a:endParaRPr lang="en-AU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4F167A-A180-4FF6-9F11-FDDB040D6F90}"/>
              </a:ext>
            </a:extLst>
          </p:cNvPr>
          <p:cNvSpPr txBox="1"/>
          <p:nvPr/>
        </p:nvSpPr>
        <p:spPr>
          <a:xfrm>
            <a:off x="1291055" y="6035957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Y</a:t>
            </a:r>
            <a:endParaRPr lang="en-AU" sz="28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BE8E90-E0D2-4151-A31E-8632A64C8DEE}"/>
              </a:ext>
            </a:extLst>
          </p:cNvPr>
          <p:cNvSpPr txBox="1"/>
          <p:nvPr/>
        </p:nvSpPr>
        <p:spPr>
          <a:xfrm>
            <a:off x="5992427" y="3340102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Z</a:t>
            </a:r>
            <a:endParaRPr lang="en-AU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B031E5-5002-4661-9326-768F862902B2}"/>
              </a:ext>
            </a:extLst>
          </p:cNvPr>
          <p:cNvSpPr txBox="1"/>
          <p:nvPr/>
        </p:nvSpPr>
        <p:spPr>
          <a:xfrm>
            <a:off x="8957568" y="2303872"/>
            <a:ext cx="29296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Segoe UI Symbol" panose="020B0502040204020203" pitchFamily="34" charset="0"/>
                <a:ea typeface="Segoe UI Symbol" panose="020B0502040204020203" pitchFamily="34" charset="0"/>
              </a:rPr>
              <a:t>This diagram can be labelled  as ∠XYZ</a:t>
            </a:r>
          </a:p>
          <a:p>
            <a:endParaRPr lang="en-AU" sz="2800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  <a:p>
            <a:r>
              <a:rPr lang="en-AU" sz="2800" dirty="0">
                <a:latin typeface="Segoe UI Symbol" panose="020B0502040204020203" pitchFamily="34" charset="0"/>
                <a:ea typeface="Segoe UI Symbol" panose="020B0502040204020203" pitchFamily="34" charset="0"/>
              </a:rPr>
              <a:t>Notice that y is at the </a:t>
            </a:r>
            <a:r>
              <a:rPr lang="en-AU" sz="2800" i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vertex </a:t>
            </a:r>
            <a:r>
              <a:rPr lang="en-AU" sz="2800" dirty="0">
                <a:latin typeface="Segoe UI Symbol" panose="020B0502040204020203" pitchFamily="34" charset="0"/>
                <a:ea typeface="Segoe UI Symbol" panose="020B0502040204020203" pitchFamily="34" charset="0"/>
              </a:rPr>
              <a:t> of the angle and middle of the notation.</a:t>
            </a:r>
            <a:endParaRPr lang="en-AU" sz="28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233A92C-28D1-467B-938F-1F239563830B}"/>
              </a:ext>
            </a:extLst>
          </p:cNvPr>
          <p:cNvSpPr/>
          <p:nvPr/>
        </p:nvSpPr>
        <p:spPr>
          <a:xfrm>
            <a:off x="1037855" y="6015015"/>
            <a:ext cx="715160" cy="643779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4825E23-7F4B-4D80-833E-67A429A0233E}"/>
              </a:ext>
            </a:extLst>
          </p:cNvPr>
          <p:cNvSpPr/>
          <p:nvPr/>
        </p:nvSpPr>
        <p:spPr>
          <a:xfrm>
            <a:off x="9443781" y="3071598"/>
            <a:ext cx="301841" cy="643779"/>
          </a:xfrm>
          <a:prstGeom prst="ellipse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3848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15786-7371-45D9-8613-34FD4F75D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Why is it important?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39183-4F4A-4393-8691-704B208BE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notation for angles a lot in mathematics. Especially when it comes to working with triangles (which you will see in year 8, 9, 10 and possibly 11 and 12).</a:t>
            </a:r>
          </a:p>
          <a:p>
            <a:endParaRPr lang="en-US" dirty="0"/>
          </a:p>
          <a:p>
            <a:r>
              <a:rPr lang="en-AU" dirty="0"/>
              <a:t>This notation helps to identify specific angles within triangles or diagrams. </a:t>
            </a:r>
          </a:p>
        </p:txBody>
      </p:sp>
    </p:spTree>
    <p:extLst>
      <p:ext uri="{BB962C8B-B14F-4D97-AF65-F5344CB8AC3E}">
        <p14:creationId xmlns:p14="http://schemas.microsoft.com/office/powerpoint/2010/main" val="625028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F9BFB-8B86-4775-9000-C85340347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Which angle? </a:t>
            </a:r>
            <a:endParaRPr lang="en-AU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2DEF49B0-23D0-4E55-986C-9668297DE6F8}"/>
              </a:ext>
            </a:extLst>
          </p:cNvPr>
          <p:cNvSpPr/>
          <p:nvPr/>
        </p:nvSpPr>
        <p:spPr>
          <a:xfrm>
            <a:off x="3533313" y="1959430"/>
            <a:ext cx="5406501" cy="4083728"/>
          </a:xfrm>
          <a:prstGeom prst="triangle">
            <a:avLst>
              <a:gd name="adj" fmla="val 27011"/>
            </a:avLst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F8BA13-31BA-4D63-B6EF-FC17BC572A48}"/>
              </a:ext>
            </a:extLst>
          </p:cNvPr>
          <p:cNvSpPr txBox="1"/>
          <p:nvPr/>
        </p:nvSpPr>
        <p:spPr>
          <a:xfrm>
            <a:off x="4795582" y="1429078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  <a:endParaRPr lang="en-AU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86192C-3487-477F-99ED-7515331EE22F}"/>
              </a:ext>
            </a:extLst>
          </p:cNvPr>
          <p:cNvSpPr txBox="1"/>
          <p:nvPr/>
        </p:nvSpPr>
        <p:spPr>
          <a:xfrm>
            <a:off x="2929632" y="6050290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  <a:endParaRPr lang="en-AU" sz="28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33C69-3FF2-4BC5-AE71-314324A8F09C}"/>
              </a:ext>
            </a:extLst>
          </p:cNvPr>
          <p:cNvSpPr txBox="1"/>
          <p:nvPr/>
        </p:nvSpPr>
        <p:spPr>
          <a:xfrm>
            <a:off x="9351307" y="5860515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  <a:endParaRPr lang="en-AU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E138E5-2837-42C2-AA9D-6F511B039178}"/>
              </a:ext>
            </a:extLst>
          </p:cNvPr>
          <p:cNvSpPr txBox="1"/>
          <p:nvPr/>
        </p:nvSpPr>
        <p:spPr>
          <a:xfrm>
            <a:off x="266330" y="365125"/>
            <a:ext cx="31249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Here we have </a:t>
            </a:r>
            <a:r>
              <a:rPr lang="en-US" sz="2800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⏶ABC </a:t>
            </a:r>
          </a:p>
          <a:p>
            <a:endParaRPr lang="en-US" sz="2800" b="1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  <a:p>
            <a:r>
              <a:rPr lang="en-US" sz="2800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Using whiteboards name: </a:t>
            </a:r>
          </a:p>
          <a:p>
            <a:endParaRPr lang="en-US" sz="2800" b="1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  <a:p>
            <a:pPr marL="342900" indent="-342900">
              <a:buAutoNum type="alphaLcParenR"/>
            </a:pPr>
            <a:r>
              <a:rPr lang="en-US" sz="2800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The red angle </a:t>
            </a:r>
          </a:p>
          <a:p>
            <a:pPr marL="342900" indent="-342900">
              <a:buAutoNum type="alphaLcParenR"/>
            </a:pPr>
            <a:endParaRPr lang="en-US" sz="2800" b="1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  <a:p>
            <a:pPr marL="342900" indent="-342900">
              <a:buAutoNum type="alphaLcParenR"/>
            </a:pPr>
            <a:r>
              <a:rPr lang="en-US" sz="2800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The green angle </a:t>
            </a:r>
          </a:p>
          <a:p>
            <a:pPr marL="342900" indent="-342900">
              <a:buAutoNum type="alphaLcParenR"/>
            </a:pPr>
            <a:endParaRPr lang="en-US" sz="2800" b="1" dirty="0">
              <a:latin typeface="Segoe UI Symbol" panose="020B0502040204020203" pitchFamily="34" charset="0"/>
              <a:ea typeface="Segoe UI Symbol" panose="020B0502040204020203" pitchFamily="34" charset="0"/>
            </a:endParaRPr>
          </a:p>
          <a:p>
            <a:pPr marL="342900" indent="-342900">
              <a:buAutoNum type="alphaLcParenR"/>
            </a:pPr>
            <a:r>
              <a:rPr lang="en-US" sz="2800" b="1" dirty="0">
                <a:latin typeface="Segoe UI Symbol" panose="020B0502040204020203" pitchFamily="34" charset="0"/>
                <a:ea typeface="Segoe UI Symbol" panose="020B0502040204020203" pitchFamily="34" charset="0"/>
              </a:rPr>
              <a:t>The yellow angle</a:t>
            </a:r>
            <a:endParaRPr lang="en-AU" sz="28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3B8C8AC-DD93-4F60-80E9-9831605261CC}"/>
                  </a:ext>
                </a:extLst>
              </p14:cNvPr>
              <p14:cNvContentPartPr/>
              <p14:nvPr/>
            </p14:nvContentPartPr>
            <p14:xfrm>
              <a:off x="3780273" y="5707468"/>
              <a:ext cx="180720" cy="170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3B8C8AC-DD93-4F60-80E9-9831605261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44633" y="5635468"/>
                <a:ext cx="25236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5058126-9D9F-413C-AB97-CC9AAC69E3DB}"/>
                  </a:ext>
                </a:extLst>
              </p14:cNvPr>
              <p14:cNvContentPartPr/>
              <p14:nvPr/>
            </p14:nvContentPartPr>
            <p14:xfrm>
              <a:off x="5004273" y="2328508"/>
              <a:ext cx="156240" cy="212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5058126-9D9F-413C-AB97-CC9AAC69E3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68273" y="2256868"/>
                <a:ext cx="22788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0832B66-B160-436E-8E35-173107839A01}"/>
                  </a:ext>
                </a:extLst>
              </p14:cNvPr>
              <p14:cNvContentPartPr/>
              <p14:nvPr/>
            </p14:nvContentPartPr>
            <p14:xfrm>
              <a:off x="8060673" y="5704948"/>
              <a:ext cx="331200" cy="217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0832B66-B160-436E-8E35-173107839A0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024673" y="5632948"/>
                <a:ext cx="402840" cy="36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939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34CD-DD4D-4895-8487-D184B136D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Is </a:t>
            </a:r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∠ABD red or yellow? </a:t>
            </a:r>
            <a:br>
              <a:rPr lang="en-AU" dirty="0"/>
            </a:br>
            <a:endParaRPr lang="en-AU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0562C8B-3007-410B-91A9-234F28DA936A}"/>
              </a:ext>
            </a:extLst>
          </p:cNvPr>
          <p:cNvCxnSpPr>
            <a:cxnSpLocks/>
          </p:cNvCxnSpPr>
          <p:nvPr/>
        </p:nvCxnSpPr>
        <p:spPr>
          <a:xfrm>
            <a:off x="1512905" y="2142819"/>
            <a:ext cx="1" cy="382108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C244B0-671C-43DA-9615-7F7649880462}"/>
              </a:ext>
            </a:extLst>
          </p:cNvPr>
          <p:cNvCxnSpPr>
            <a:cxnSpLocks/>
          </p:cNvCxnSpPr>
          <p:nvPr/>
        </p:nvCxnSpPr>
        <p:spPr>
          <a:xfrm flipH="1">
            <a:off x="1512904" y="3664708"/>
            <a:ext cx="4479523" cy="2299191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08320F-54B1-4449-B004-DAA1FD502880}"/>
              </a:ext>
            </a:extLst>
          </p:cNvPr>
          <p:cNvCxnSpPr>
            <a:cxnSpLocks/>
          </p:cNvCxnSpPr>
          <p:nvPr/>
        </p:nvCxnSpPr>
        <p:spPr>
          <a:xfrm flipH="1">
            <a:off x="1512905" y="5963899"/>
            <a:ext cx="5473821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E79135C-1E93-4ABD-965E-25786CC4AEF6}"/>
              </a:ext>
            </a:extLst>
          </p:cNvPr>
          <p:cNvSpPr txBox="1"/>
          <p:nvPr/>
        </p:nvSpPr>
        <p:spPr>
          <a:xfrm>
            <a:off x="1306658" y="1544488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</a:t>
            </a:r>
            <a:endParaRPr lang="en-AU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E1D37C-BF2C-422B-B2E9-6EBA45873227}"/>
              </a:ext>
            </a:extLst>
          </p:cNvPr>
          <p:cNvSpPr txBox="1"/>
          <p:nvPr/>
        </p:nvSpPr>
        <p:spPr>
          <a:xfrm>
            <a:off x="1004817" y="5850158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</a:t>
            </a:r>
            <a:endParaRPr lang="en-AU" sz="28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94892-B1D9-49D5-915A-6A05DFD52FDC}"/>
              </a:ext>
            </a:extLst>
          </p:cNvPr>
          <p:cNvSpPr txBox="1"/>
          <p:nvPr/>
        </p:nvSpPr>
        <p:spPr>
          <a:xfrm>
            <a:off x="6096000" y="3042463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</a:t>
            </a:r>
            <a:endParaRPr lang="en-AU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AB46D3-980B-4DC9-A156-DD761D246EA8}"/>
              </a:ext>
            </a:extLst>
          </p:cNvPr>
          <p:cNvSpPr txBox="1"/>
          <p:nvPr/>
        </p:nvSpPr>
        <p:spPr>
          <a:xfrm>
            <a:off x="7326666" y="5702289"/>
            <a:ext cx="6036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</a:t>
            </a:r>
            <a:endParaRPr lang="en-AU" sz="2800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F604A6F-CAC9-481F-937E-F2033A84C7A0}"/>
                  </a:ext>
                </a:extLst>
              </p14:cNvPr>
              <p14:cNvContentPartPr/>
              <p14:nvPr/>
            </p14:nvContentPartPr>
            <p14:xfrm>
              <a:off x="2555553" y="5617468"/>
              <a:ext cx="241200" cy="198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F604A6F-CAC9-481F-937E-F2033A84C7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9913" y="5545468"/>
                <a:ext cx="31284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1219CC6-CF0D-41FB-88DA-F02098FD09E9}"/>
                  </a:ext>
                </a:extLst>
              </p14:cNvPr>
              <p14:cNvContentPartPr/>
              <p14:nvPr/>
            </p14:nvContentPartPr>
            <p14:xfrm>
              <a:off x="1685793" y="5254228"/>
              <a:ext cx="235080" cy="285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1219CC6-CF0D-41FB-88DA-F02098FD09E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49793" y="5182228"/>
                <a:ext cx="306720" cy="42948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6E4E2BB-79F7-4DE3-8CCA-0237826F80F9}"/>
              </a:ext>
            </a:extLst>
          </p:cNvPr>
          <p:cNvSpPr txBox="1"/>
          <p:nvPr/>
        </p:nvSpPr>
        <p:spPr>
          <a:xfrm>
            <a:off x="8176334" y="1544488"/>
            <a:ext cx="27964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Answer:</a:t>
            </a:r>
          </a:p>
          <a:p>
            <a:pPr algn="ctr"/>
            <a:r>
              <a:rPr lang="en-US" dirty="0"/>
              <a:t>It’s the sum of both.</a:t>
            </a:r>
          </a:p>
          <a:p>
            <a:pPr algn="ctr"/>
            <a:endParaRPr lang="en-US" dirty="0"/>
          </a:p>
          <a:p>
            <a:pPr algn="ctr"/>
            <a:r>
              <a:rPr lang="en-US" dirty="0">
                <a:latin typeface="Segoe UI Symbol" panose="020B0502040204020203" pitchFamily="34" charset="0"/>
                <a:ea typeface="Segoe UI Symbol" panose="020B0502040204020203" pitchFamily="34" charset="0"/>
              </a:rPr>
              <a:t>∠ABC is red</a:t>
            </a:r>
          </a:p>
          <a:p>
            <a:pPr algn="ctr"/>
            <a:r>
              <a:rPr lang="en-AU" dirty="0">
                <a:latin typeface="Segoe UI Symbol" panose="020B0502040204020203" pitchFamily="34" charset="0"/>
                <a:ea typeface="Segoe UI Symbol" panose="020B0502040204020203" pitchFamily="34" charset="0"/>
              </a:rPr>
              <a:t>∠CBD is yellow </a:t>
            </a:r>
          </a:p>
          <a:p>
            <a:pPr algn="ctr"/>
            <a:r>
              <a:rPr lang="en-AU" dirty="0">
                <a:latin typeface="Segoe UI Symbol" panose="020B0502040204020203" pitchFamily="34" charset="0"/>
                <a:ea typeface="Segoe UI Symbol" panose="020B0502040204020203" pitchFamily="34" charset="0"/>
              </a:rPr>
              <a:t>∠ABD is red and yellow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7909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D2E3CCA-1488-4419-B0D3-6987B9ADEC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68"/>
          <a:stretch/>
        </p:blipFill>
        <p:spPr bwMode="auto">
          <a:xfrm>
            <a:off x="3098307" y="-233161"/>
            <a:ext cx="8447906" cy="6582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1A1C60-D771-4FB9-84E4-C3C01C59EDA4}"/>
              </a:ext>
            </a:extLst>
          </p:cNvPr>
          <p:cNvSpPr txBox="1"/>
          <p:nvPr/>
        </p:nvSpPr>
        <p:spPr>
          <a:xfrm>
            <a:off x="204186" y="648070"/>
            <a:ext cx="28941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Complete these questions in your </a:t>
            </a:r>
            <a:r>
              <a:rPr lang="en-US" sz="2400" b="1" dirty="0"/>
              <a:t>exercise book</a:t>
            </a:r>
            <a:r>
              <a:rPr lang="en-US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714294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924F6-EBCB-4F5E-8D27-1CD3C6B1F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Checking aims: fist to five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DF981-767D-40A7-9B1D-484EBBECE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" panose="05000000000000000000" pitchFamily="2" charset="2"/>
              <a:buChar char="q"/>
            </a:pPr>
            <a:r>
              <a:rPr lang="en-US" dirty="0"/>
              <a:t> Recall facts for supplementary and complementary angles </a:t>
            </a:r>
          </a:p>
          <a:p>
            <a:pPr algn="ctr">
              <a:buFont typeface="Wingdings" panose="05000000000000000000" pitchFamily="2" charset="2"/>
              <a:buChar char="q"/>
            </a:pPr>
            <a:r>
              <a:rPr lang="en-US" dirty="0"/>
              <a:t> Use correct notation for naming angles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Go back and put your number in each box. </a:t>
            </a:r>
          </a:p>
        </p:txBody>
      </p:sp>
    </p:spTree>
    <p:extLst>
      <p:ext uri="{BB962C8B-B14F-4D97-AF65-F5344CB8AC3E}">
        <p14:creationId xmlns:p14="http://schemas.microsoft.com/office/powerpoint/2010/main" val="770942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640</Words>
  <Application>Microsoft Office PowerPoint</Application>
  <PresentationFormat>Widescreen</PresentationFormat>
  <Paragraphs>173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Segoe UI Symbol</vt:lpstr>
      <vt:lpstr>Wingdings</vt:lpstr>
      <vt:lpstr>Office Theme</vt:lpstr>
      <vt:lpstr>Lesson objective </vt:lpstr>
      <vt:lpstr>Topic refresher </vt:lpstr>
      <vt:lpstr>Complementary angles </vt:lpstr>
      <vt:lpstr>Whiteboards </vt:lpstr>
      <vt:lpstr>Whiteboards </vt:lpstr>
      <vt:lpstr>Whiteboards </vt:lpstr>
      <vt:lpstr>Supplementary angles</vt:lpstr>
      <vt:lpstr>Whiteboards </vt:lpstr>
      <vt:lpstr>Whiteboards </vt:lpstr>
      <vt:lpstr>Whiteboards </vt:lpstr>
      <vt:lpstr>Vertically opposite angles </vt:lpstr>
      <vt:lpstr>Whiteboards </vt:lpstr>
      <vt:lpstr>Whiteboards </vt:lpstr>
      <vt:lpstr>Whiteboards </vt:lpstr>
      <vt:lpstr>Naming angles </vt:lpstr>
      <vt:lpstr>Naming angles </vt:lpstr>
      <vt:lpstr>Why is it important? </vt:lpstr>
      <vt:lpstr>Which angle? </vt:lpstr>
      <vt:lpstr>Is ∠ABD red or yellow?  </vt:lpstr>
      <vt:lpstr>PowerPoint Presentation</vt:lpstr>
      <vt:lpstr>Checking aims: fist to five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DAVIES Rhys [Busselton Senior High School]</dc:creator>
  <cp:lastModifiedBy>DAVIES Rhys [Busselton Senior High School]</cp:lastModifiedBy>
  <cp:revision>15</cp:revision>
  <dcterms:created xsi:type="dcterms:W3CDTF">2021-10-10T06:03:27Z</dcterms:created>
  <dcterms:modified xsi:type="dcterms:W3CDTF">2023-08-31T03:27:49Z</dcterms:modified>
</cp:coreProperties>
</file>
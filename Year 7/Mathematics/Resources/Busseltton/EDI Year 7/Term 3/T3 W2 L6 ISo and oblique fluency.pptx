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4" r:id="rId4"/>
    <p:sldId id="268" r:id="rId5"/>
    <p:sldId id="269" r:id="rId6"/>
    <p:sldId id="270" r:id="rId7"/>
    <p:sldId id="257" r:id="rId8"/>
    <p:sldId id="258" r:id="rId9"/>
    <p:sldId id="259" r:id="rId10"/>
    <p:sldId id="260" r:id="rId11"/>
    <p:sldId id="262" r:id="rId12"/>
    <p:sldId id="261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9C607-30EB-44AF-9E70-3E4456024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6257E-7136-4D8E-930C-C0F9693DF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B3581-6C40-4556-A970-6A49B18F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13304-5C10-4DB7-840A-CF2D475D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680D6-372B-460B-BA4F-7C3555C4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1496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8F3F-F6AB-4E9E-975D-ED37F30C8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937A9-3D7B-4BF8-885F-F6435CA9C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4E048-BCCC-4A04-BAD0-33AC872B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2A887-1D71-43F7-B9A6-EA1A7C18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B3BE7-974D-4C4B-9601-8D69C0C1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592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BCAB-8585-406C-97EC-BA47D7F6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8F5C5-CD8B-489C-8F5A-6D10124A2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FA73E-2715-4B6A-B88C-95380E78B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3521A-E47B-4553-A7A3-6BBAA469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6CE1-7CAF-4F36-950C-B547330D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90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4FE4-E983-4107-A435-C6C2EAA1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8B515-18BE-4FD5-BBCE-3A32D6561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53CE2-E82F-4495-9A4C-9960ABC1D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24250-45C8-4C8E-B5AE-4B8CF206F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B8C2A-627D-49EA-9656-4190D4FB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C596C-E783-4B23-98A0-794C0838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443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DA7B6-F6DB-44CB-A3C6-DFBD4E2B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6A676-DBEE-495E-9BB5-A98404C57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CCE0B-34CB-4734-A0D6-A01A9B1F7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2061A-C878-41FE-97A4-6FA6D9361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693B85-BF70-4CEA-A5C2-61616380C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749F4D-E1B2-4F95-9765-71827060B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9C1EF-2DAF-4D77-9955-2787BB0C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CA9F6-46D4-45B9-BB8B-F37013751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6461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C04B-1A55-4541-9135-96D3B618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EE89E-4B56-4323-B517-2AD0B2F6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14EC1-028F-4C5D-AF3B-BCAD5AE1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6C3A3-8078-43F1-ABC3-41EC19C6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240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77DAA-6644-4DBD-9F7B-7E9CD460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BE73E-1375-4641-8312-FD3793CD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B22CE-379D-4158-82D2-019BAFA7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522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B0D5-E327-40FF-A29F-E781CCBE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2706-E407-4B28-96C0-338CD4FB3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E3EA2-265B-4E7E-9D3B-8C56DEC62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446C5-84FF-4EFF-8693-3CFFEE6E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0B335-046A-4CEF-99A2-D8C8D168F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7C294-5BFF-45F7-BD10-727E7B02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0878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1B17-3F83-475F-965E-BEBE86484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268CB-6F8E-4823-819E-E1FA4654F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8A496-CE59-4090-A8FD-29B60DA20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7D023-15B2-4DDC-B438-C99978C3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36BDD-E0A2-4EF5-982F-0BF12F08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F8646-9088-456A-B74B-C164C746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615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280D-6E5F-41D9-BEC1-BC022E82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92A3C-AC87-4F13-8A43-9F980C475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9468D-D01E-4F25-B70D-7D84F6F8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3CCDE-707B-4073-95F2-F5774796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17EE-4F96-4C75-B6D1-6814A0C3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6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1E10E5-4798-46C1-9C00-499880ECE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DEDEC-34D2-45D5-838B-32778E5E6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640F1-3C0D-4E05-A0ED-4A770F70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C7A68-730E-4D3B-8F97-7465EE61D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B0DC2-4CD6-4117-8027-6FB0F7C2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392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24B84-BCBF-4239-8415-71087F0C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2FB89-7515-4225-AD4E-7D525EF3B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39AA-D153-40AD-B8C4-16A7DA6F3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1C38-370D-4EB1-8E15-5868374ADD58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9A1FF-85DE-4354-8684-229DF5179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048A0-365B-4C2C-AB5B-2FCB9EB2C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CAF66-CD77-4A23-BA3B-0F743FE92F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36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D4AEF8-0210-4078-AA9A-4D1532E7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58E8D1-7FAD-4F25-BE26-1E561C5B0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Isometric drawings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Draw isometric and oblique solids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Compare best buys using unitary method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best buys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3D drawings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980B0-EF62-4B5F-9BE1-1FFFD6EB8722}"/>
              </a:ext>
            </a:extLst>
          </p:cNvPr>
          <p:cNvSpPr txBox="1"/>
          <p:nvPr/>
        </p:nvSpPr>
        <p:spPr>
          <a:xfrm>
            <a:off x="7981025" y="1553592"/>
            <a:ext cx="26810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</a:t>
            </a: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focus: Empathy – allowing others to work</a:t>
            </a:r>
            <a:endParaRPr lang="en-AU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5931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DD56-B4AA-4778-8636-384C7AF9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Cost per 100g revision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DB33-A5D1-4666-98B4-0B4277229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Chocolate costs $9.50 for 500g. How much is it for 100g?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Cheese costs $11 for 300g. How much is it per 100g?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Cat food costs $42 for 1400g. How much is it for 100g?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646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B879E1-BC79-4D9B-A5C0-075B5A3A9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2505075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Mr. Davies </a:t>
            </a:r>
            <a:r>
              <a:rPr lang="en-US" dirty="0" err="1"/>
              <a:t>favourite</a:t>
            </a:r>
            <a:r>
              <a:rPr lang="en-US" dirty="0"/>
              <a:t> chocolate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D5CDB2-E0F7-42B2-AB0A-FD5081F9E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3429000"/>
            <a:ext cx="5157787" cy="125017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$8 for 200g.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E81A08-2767-4C92-AC9D-2653CE72A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1788" y="2605088"/>
            <a:ext cx="5183188" cy="823912"/>
          </a:xfrm>
        </p:spPr>
        <p:txBody>
          <a:bodyPr/>
          <a:lstStyle/>
          <a:p>
            <a:pPr algn="ctr"/>
            <a:r>
              <a:rPr lang="en-US" dirty="0"/>
              <a:t>Some other chocolate </a:t>
            </a:r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85A245-2573-4B47-99A9-AB922B811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7603" y="3510462"/>
            <a:ext cx="5183188" cy="165855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$18 for 500g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6096-8939-4213-B58D-FB6889CF9F8E}"/>
              </a:ext>
            </a:extLst>
          </p:cNvPr>
          <p:cNvSpPr txBox="1"/>
          <p:nvPr/>
        </p:nvSpPr>
        <p:spPr>
          <a:xfrm flipH="1">
            <a:off x="8753382" y="124690"/>
            <a:ext cx="3116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to get 100g cost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D2A98-9120-448F-93FD-8C970C8E261C}"/>
              </a:ext>
            </a:extLst>
          </p:cNvPr>
          <p:cNvSpPr txBox="1"/>
          <p:nvPr/>
        </p:nvSpPr>
        <p:spPr>
          <a:xfrm>
            <a:off x="3045041" y="2031862"/>
            <a:ext cx="7182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Which is better value? Compare 100g prices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32669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18EC-05F4-4AF3-9925-EA824426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4295"/>
            <a:ext cx="10515600" cy="5063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Comparing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ECD2E-008B-4C71-9C73-420A092526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300g of chocolate for $4.30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7B11A0-1F0A-4F38-936F-27D142908C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550g of chocolate for $6.10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4744B-C24E-44D3-9CD0-5A7EBE8ED5D6}"/>
              </a:ext>
            </a:extLst>
          </p:cNvPr>
          <p:cNvSpPr txBox="1"/>
          <p:nvPr/>
        </p:nvSpPr>
        <p:spPr>
          <a:xfrm>
            <a:off x="683581" y="230188"/>
            <a:ext cx="25656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Copy 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7E6F2-C33F-48AB-B453-849C8A449E8F}"/>
              </a:ext>
            </a:extLst>
          </p:cNvPr>
          <p:cNvSpPr txBox="1"/>
          <p:nvPr/>
        </p:nvSpPr>
        <p:spPr>
          <a:xfrm>
            <a:off x="8202967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ighlight>
                  <a:srgbClr val="FFFF00"/>
                </a:highlight>
              </a:rPr>
              <a:t>I do</a:t>
            </a:r>
            <a:endParaRPr lang="en-AU" sz="2800" b="1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/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blipFill>
                <a:blip r:embed="rId2"/>
                <a:stretch>
                  <a:fillRect l="-634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96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/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blipFill>
                <a:blip r:embed="rId2"/>
                <a:stretch>
                  <a:fillRect l="-634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CFA18EC-05F4-4AF3-9925-EA824426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4295"/>
            <a:ext cx="10515600" cy="5063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Comparing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ECD2E-008B-4C71-9C73-420A092526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250g of cheese for $2.30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7B11A0-1F0A-4F38-936F-27D142908C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620g of cheese for $5.15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4744B-C24E-44D3-9CD0-5A7EBE8ED5D6}"/>
              </a:ext>
            </a:extLst>
          </p:cNvPr>
          <p:cNvSpPr txBox="1"/>
          <p:nvPr/>
        </p:nvSpPr>
        <p:spPr>
          <a:xfrm>
            <a:off x="683581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7E6F2-C33F-48AB-B453-849C8A449E8F}"/>
              </a:ext>
            </a:extLst>
          </p:cNvPr>
          <p:cNvSpPr txBox="1"/>
          <p:nvPr/>
        </p:nvSpPr>
        <p:spPr>
          <a:xfrm>
            <a:off x="8202967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ighlight>
                  <a:srgbClr val="FFFF00"/>
                </a:highlight>
              </a:rPr>
              <a:t>We do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6114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/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blipFill>
                <a:blip r:embed="rId2"/>
                <a:stretch>
                  <a:fillRect l="-634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CFA18EC-05F4-4AF3-9925-EA824426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4295"/>
            <a:ext cx="10515600" cy="5063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Comparing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ECD2E-008B-4C71-9C73-420A092526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310g of vegemite for $5.60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7B11A0-1F0A-4F38-936F-27D142908C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850g of vegemite for $16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4744B-C24E-44D3-9CD0-5A7EBE8ED5D6}"/>
              </a:ext>
            </a:extLst>
          </p:cNvPr>
          <p:cNvSpPr txBox="1"/>
          <p:nvPr/>
        </p:nvSpPr>
        <p:spPr>
          <a:xfrm>
            <a:off x="683581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7E6F2-C33F-48AB-B453-849C8A449E8F}"/>
              </a:ext>
            </a:extLst>
          </p:cNvPr>
          <p:cNvSpPr txBox="1"/>
          <p:nvPr/>
        </p:nvSpPr>
        <p:spPr>
          <a:xfrm>
            <a:off x="8202967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ighlight>
                  <a:srgbClr val="FFFF00"/>
                </a:highlight>
              </a:rPr>
              <a:t>you do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5387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E9AB6-701C-43E6-AE72-67101B2D9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- Orthogonal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E5CC87-A9AD-45AC-90F1-B26DE6165BA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116" y="2143125"/>
            <a:ext cx="5051534" cy="4078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AF3366-2C0B-42C5-958B-1A3590EB1DC0}"/>
              </a:ext>
            </a:extLst>
          </p:cNvPr>
          <p:cNvSpPr txBox="1"/>
          <p:nvPr/>
        </p:nvSpPr>
        <p:spPr>
          <a:xfrm>
            <a:off x="6829425" y="5353050"/>
            <a:ext cx="120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FRONT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D5DAC-A9B9-4D66-91AB-57C3E2C5C42F}"/>
              </a:ext>
            </a:extLst>
          </p:cNvPr>
          <p:cNvSpPr txBox="1"/>
          <p:nvPr/>
        </p:nvSpPr>
        <p:spPr>
          <a:xfrm>
            <a:off x="6829425" y="1619905"/>
            <a:ext cx="78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TOP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6BB436-AE5B-4B60-B14A-07F981FDC24C}"/>
              </a:ext>
            </a:extLst>
          </p:cNvPr>
          <p:cNvSpPr txBox="1"/>
          <p:nvPr/>
        </p:nvSpPr>
        <p:spPr>
          <a:xfrm>
            <a:off x="9715500" y="5353050"/>
            <a:ext cx="1116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RIGHT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9FC55-0D24-4921-ACA0-44E3EEAF4611}"/>
              </a:ext>
            </a:extLst>
          </p:cNvPr>
          <p:cNvSpPr txBox="1"/>
          <p:nvPr/>
        </p:nvSpPr>
        <p:spPr>
          <a:xfrm>
            <a:off x="8762260" y="248575"/>
            <a:ext cx="247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view is called….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43081-13D9-2DDC-320F-B78EDE1A37F6}"/>
              </a:ext>
            </a:extLst>
          </p:cNvPr>
          <p:cNvSpPr txBox="1"/>
          <p:nvPr/>
        </p:nvSpPr>
        <p:spPr>
          <a:xfrm>
            <a:off x="1642369" y="1564979"/>
            <a:ext cx="2583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Use grid side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9271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9705-0BAF-42F8-9957-F52D8707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1BC315-D40B-4CA6-A0C0-C1F4A8F9D2D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2485710"/>
            <a:ext cx="4572000" cy="3028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DAF4A5-A171-42E9-9ADC-3A9C0CDE3B61}"/>
              </a:ext>
            </a:extLst>
          </p:cNvPr>
          <p:cNvSpPr txBox="1"/>
          <p:nvPr/>
        </p:nvSpPr>
        <p:spPr>
          <a:xfrm>
            <a:off x="6829425" y="5353050"/>
            <a:ext cx="120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FRONT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EC1BB-53E7-4C03-A2F9-0A6515AE8F0B}"/>
              </a:ext>
            </a:extLst>
          </p:cNvPr>
          <p:cNvSpPr txBox="1"/>
          <p:nvPr/>
        </p:nvSpPr>
        <p:spPr>
          <a:xfrm>
            <a:off x="6829425" y="2247900"/>
            <a:ext cx="78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TOP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48E9E-9D57-4784-A2F2-7FC2FD5A8989}"/>
              </a:ext>
            </a:extLst>
          </p:cNvPr>
          <p:cNvSpPr txBox="1"/>
          <p:nvPr/>
        </p:nvSpPr>
        <p:spPr>
          <a:xfrm>
            <a:off x="9715500" y="5353050"/>
            <a:ext cx="1116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RIGHT</a:t>
            </a:r>
            <a:endParaRPr lang="en-AU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D0DEB8-C93F-FBB9-2237-E08F2C16B68C}"/>
              </a:ext>
            </a:extLst>
          </p:cNvPr>
          <p:cNvSpPr txBox="1"/>
          <p:nvPr/>
        </p:nvSpPr>
        <p:spPr>
          <a:xfrm>
            <a:off x="1642369" y="1564979"/>
            <a:ext cx="2583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Use grid side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16868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9705-0BAF-42F8-9957-F52D8707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AF4A5-A171-42E9-9ADC-3A9C0CDE3B61}"/>
              </a:ext>
            </a:extLst>
          </p:cNvPr>
          <p:cNvSpPr txBox="1"/>
          <p:nvPr/>
        </p:nvSpPr>
        <p:spPr>
          <a:xfrm>
            <a:off x="6829425" y="5353050"/>
            <a:ext cx="120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FRONT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EC1BB-53E7-4C03-A2F9-0A6515AE8F0B}"/>
              </a:ext>
            </a:extLst>
          </p:cNvPr>
          <p:cNvSpPr txBox="1"/>
          <p:nvPr/>
        </p:nvSpPr>
        <p:spPr>
          <a:xfrm>
            <a:off x="6829425" y="2247900"/>
            <a:ext cx="78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TOP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48E9E-9D57-4784-A2F2-7FC2FD5A8989}"/>
              </a:ext>
            </a:extLst>
          </p:cNvPr>
          <p:cNvSpPr txBox="1"/>
          <p:nvPr/>
        </p:nvSpPr>
        <p:spPr>
          <a:xfrm>
            <a:off x="9715500" y="5353050"/>
            <a:ext cx="1116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RIGHT</a:t>
            </a:r>
            <a:endParaRPr lang="en-AU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D7C122-98D9-493C-8D5E-D3D0B4C2C9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69989" y="2009775"/>
            <a:ext cx="4926011" cy="3486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930EE9-8075-2A06-1006-22A68E24ED50}"/>
              </a:ext>
            </a:extLst>
          </p:cNvPr>
          <p:cNvSpPr txBox="1"/>
          <p:nvPr/>
        </p:nvSpPr>
        <p:spPr>
          <a:xfrm>
            <a:off x="1642369" y="1564979"/>
            <a:ext cx="2583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Use grid side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8336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1C88-C8CC-4031-8BE5-C8C59C11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Iso-met-</a:t>
            </a:r>
            <a:r>
              <a:rPr lang="en-US" dirty="0" err="1"/>
              <a:t>ric</a:t>
            </a:r>
            <a:r>
              <a:rPr lang="en-US" dirty="0"/>
              <a:t> drawings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36B05C-CACB-4F81-AFD6-78E14B833E8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6177791" y="1453680"/>
            <a:ext cx="4957405" cy="5120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6E9395-9279-44E7-8873-DF30E699C7A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1857374"/>
            <a:ext cx="4229100" cy="397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33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6B2B1C-467D-43C1-A83D-1018611B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Oblique drawings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9E2130-EAB0-4E40-B2F5-6B651F7BF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Lines going in the same direction must be parallel. </a:t>
            </a:r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3600" b="1" dirty="0"/>
              <a:t>What does parallel mean? </a:t>
            </a:r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b="1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Lines on a plane that never meet. They are always the same distance apart</a:t>
            </a:r>
            <a:r>
              <a:rPr lang="en-US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200279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68320-1F66-4253-944C-7D3BCB5B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03EA9-9F13-4D0D-B3E4-5E0686DDF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Drawing 3D on 2D pg. 70. (C.F)</a:t>
            </a:r>
          </a:p>
          <a:p>
            <a:pPr marL="0" indent="0">
              <a:buNone/>
            </a:pPr>
            <a:r>
              <a:rPr lang="en-US" dirty="0"/>
              <a:t>Math-o-magic 1.3/1 who always </a:t>
            </a:r>
            <a:r>
              <a:rPr lang="en-US"/>
              <a:t>has guests for dinner?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1653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68320-1F66-4253-944C-7D3BCB5B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03EA9-9F13-4D0D-B3E4-5E0686DDF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Drawing 3D on 2D pg. 65.</a:t>
            </a:r>
          </a:p>
          <a:p>
            <a:pPr marL="0" indent="0">
              <a:buNone/>
            </a:pPr>
            <a:r>
              <a:rPr lang="en-US" dirty="0"/>
              <a:t>Read through. </a:t>
            </a:r>
          </a:p>
          <a:p>
            <a:pPr marL="0" indent="0">
              <a:buNone/>
            </a:pPr>
            <a:r>
              <a:rPr lang="en-US" dirty="0"/>
              <a:t>Finished early: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554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334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Cost per 100g revision </vt:lpstr>
      <vt:lpstr>Whiteboards </vt:lpstr>
      <vt:lpstr>Comparing </vt:lpstr>
      <vt:lpstr>Comparing </vt:lpstr>
      <vt:lpstr>Comparing </vt:lpstr>
      <vt:lpstr>We do - Orthogonal </vt:lpstr>
      <vt:lpstr>Whiteboards </vt:lpstr>
      <vt:lpstr>Whiteboards </vt:lpstr>
      <vt:lpstr>Iso-met-ric drawings </vt:lpstr>
      <vt:lpstr>Oblique drawings </vt:lpstr>
      <vt:lpstr>Individual practice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9</cp:revision>
  <dcterms:created xsi:type="dcterms:W3CDTF">2022-06-14T23:53:04Z</dcterms:created>
  <dcterms:modified xsi:type="dcterms:W3CDTF">2023-07-26T00:14:17Z</dcterms:modified>
</cp:coreProperties>
</file>
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4" r:id="rId3"/>
    <p:sldId id="305" r:id="rId4"/>
    <p:sldId id="306" r:id="rId5"/>
    <p:sldId id="296" r:id="rId6"/>
    <p:sldId id="297" r:id="rId7"/>
    <p:sldId id="307" r:id="rId8"/>
    <p:sldId id="310" r:id="rId9"/>
    <p:sldId id="311" r:id="rId10"/>
    <p:sldId id="312" r:id="rId11"/>
    <p:sldId id="264" r:id="rId12"/>
    <p:sldId id="259" r:id="rId13"/>
    <p:sldId id="260" r:id="rId14"/>
    <p:sldId id="261" r:id="rId15"/>
    <p:sldId id="308" r:id="rId16"/>
    <p:sldId id="309" r:id="rId17"/>
    <p:sldId id="303" r:id="rId18"/>
    <p:sldId id="262" r:id="rId19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1:40.611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1:42.034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1:43.740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1:45.121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44.998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48.109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56.395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44.998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48.109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56.395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1:40.611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1:42.034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1:43.740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1:45.121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44.998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48.109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56.395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44.998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48.109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6-16T00:24:56.395"/>
    </inkml:context>
    <inkml:brush xml:id="br0">
      <inkml:brushProperty name="width" value="0.35" units="cm"/>
      <inkml:brushProperty name="height" value="0.35" units="cm"/>
      <inkml:brushProperty name="ignorePressure" value="1"/>
    </inkml:brush>
  </inkml:definitions>
  <inkml:trace contextRef="#ctx0" brushRef="#br0">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26T09:04:55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26T09:04:55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EA414-07BF-4AC0-8170-633CF8931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52C818-480F-4937-997A-7BE474D86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B76F6-A17D-40CA-89D1-25E561B03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0377F-23C1-40F0-9953-245DF492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08538-D2C2-4FC0-9DA4-2535AD98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8714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AFA2E-1713-4EC7-BB7C-D4E39FA6A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ECF23-0379-4DAA-B631-246749E2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4AF7E-1A6A-4E82-803B-296C25EC5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17D65-3A12-4563-8D15-0A6A64E0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1D60A-469F-4643-A65B-90979202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464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F755-BEFB-4A67-88C0-C6598868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CA1E4-48B6-48DD-B8DD-19F5261A4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A96C2-344E-42EA-9CDD-F7B55717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6FA1D-3088-45DA-8659-C029A008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6FB34-D033-42CC-AB42-54D23080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3676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3A521-0AD0-432A-BC0F-C8A05CB53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7EA1B-74DF-4EEE-8242-0AFBF9CE5C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7D6CA-C4CA-43E0-934C-3688DEF4D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6FC4A-6538-44EB-8894-1C4C1E7AC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44A65-4D34-4309-B2C0-3378512E1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A61B2-4413-41D8-A3F4-A9498FB2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779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CE2C6-03D4-47B8-B13E-E75B8205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4C367-2170-48B8-8344-0E28CE2AA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B79F4-7D0C-4AE0-8C56-596C7AF65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A28AFD-8B81-478E-9691-140F1E078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B83EF1-B110-4C9D-951F-41888007C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F46905-CFB9-4B3C-A281-FCC7E307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E3974A-E8E9-4FF6-B63E-C4B76F445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A0594E-DAD7-440C-BC5C-139BCEC0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63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0BE8-2294-40F4-A075-560EBB67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27FD0-9E97-40F4-ACA4-8911212CE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7CC88-33F1-477F-9A3E-A9EEB66DD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5D6A7-FF69-4B46-B730-A26BCF54B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1171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427E14-5CD4-4E9C-9A1A-AB9BE4A0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72D63-BC82-4D11-8D9E-A6306D826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0F1B3-AB9D-4CD8-BBAF-B21C64DE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5626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A4A57-6C8C-4293-9DB3-D0299A83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AAF36-C859-4CD2-8552-277F9F39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FCC81-5AC8-4776-A5EC-419189EB8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D35E9-3D46-455C-8247-E23E3CF09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88187-6655-421B-83D2-25062E09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3067E-666D-4587-AF23-5F0B38CF6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2974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4FCC-651F-4816-8BD3-DA972FD7A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693CC-29E7-42D3-98CE-76C5EE3E8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23C6B-82D1-49D1-A8E6-B0192C9C5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43D50-4DFA-48A6-B838-BA4EBFEB8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22C83-7BAF-40C2-BCA0-7DE8E149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32168-DDBB-4F3A-82D2-C81CB5E4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201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79BC-6377-4A70-883D-E66F28D90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34557-4A87-4660-8128-88595F26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DFC06-68D3-4DFA-8C55-E690AD8D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BECD8-444C-4560-9A23-10CB908C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3D20B-8ADC-4612-AD6B-0284517AD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98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91D73-8DF0-4721-8F93-605CDCF308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1FE0A-DAB5-4C56-B91E-2941A7FA1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E8C88-36EE-4821-840E-E347BD334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EC2D2-3E55-4FD9-A513-F680DE9C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37FD3-0514-4C5D-BC8F-4D57F2C2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0054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B8886F-ED45-4C65-9A7F-CE9E30D43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454DF-46E3-4741-8192-5D8DDF043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EB5AC-27BB-41DE-B73F-A49C28D8B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2DC416-625E-40B8-8FE4-0637ED0E5E1B}" type="datetimeFigureOut">
              <a:rPr lang="en-AU" smtClean="0"/>
              <a:t>27/07/2023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F2F8A-C774-46B7-8016-7E813C5BA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2A0D4-C613-41B8-A28C-B0A3B4196F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D6883-CEF9-4608-AD9E-D530ED9EB5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9155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4.png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customXml" Target="../ink/ink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5.png"/><Relationship Id="rId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5.png"/><Relationship Id="rId4" Type="http://schemas.openxmlformats.org/officeDocument/2006/relationships/customXml" Target="../ink/ink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9.png"/><Relationship Id="rId7" Type="http://schemas.openxmlformats.org/officeDocument/2006/relationships/customXml" Target="../ink/ink1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5.png"/><Relationship Id="rId4" Type="http://schemas.openxmlformats.org/officeDocument/2006/relationships/customXml" Target="../ink/ink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customXml" Target="../ink/ink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5.png"/><Relationship Id="rId4" Type="http://schemas.openxmlformats.org/officeDocument/2006/relationships/customXml" Target="../ink/ink1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image" Target="../media/image11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5.png"/><Relationship Id="rId4" Type="http://schemas.openxmlformats.org/officeDocument/2006/relationships/customXml" Target="../ink/ink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7430A-3517-4824-8573-FCF9C322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1BC272-68EC-4B6F-8970-A77DE101A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Title: </a:t>
            </a:r>
            <a:r>
              <a:rPr lang="en-AU" dirty="0">
                <a:solidFill>
                  <a:srgbClr val="00B0F0"/>
                </a:solidFill>
              </a:rPr>
              <a:t>Combination of transformations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Identify multiple transformations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Rotate objects about an origin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Review probability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Mixed transformations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508582-0D1A-1EA4-2D26-02A0C652C84A}"/>
              </a:ext>
            </a:extLst>
          </p:cNvPr>
          <p:cNvSpPr txBox="1"/>
          <p:nvPr/>
        </p:nvSpPr>
        <p:spPr>
          <a:xfrm>
            <a:off x="7714695" y="1571348"/>
            <a:ext cx="26544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Need whiteboards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 err="1">
                <a:solidFill>
                  <a:schemeClr val="bg1"/>
                </a:solidFill>
              </a:rPr>
              <a:t>PBiS</a:t>
            </a:r>
            <a:r>
              <a:rPr lang="en-US" sz="2000" b="1" dirty="0">
                <a:solidFill>
                  <a:schemeClr val="bg1"/>
                </a:solidFill>
              </a:rPr>
              <a:t> focus: Achieve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- Completing all tasks</a:t>
            </a:r>
            <a:endParaRPr lang="en-AU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1738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59E7B-E84E-4192-80AF-7ABEFC91C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Review probability </a:t>
            </a:r>
            <a:endParaRPr lang="en-AU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2A839E-FE97-4C34-9D32-4B7D42ED3E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100" y="1843380"/>
                <a:ext cx="1135380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Sample space is a list of all possible outcomes.</a:t>
                </a:r>
              </a:p>
              <a:p>
                <a:pPr marL="0" indent="0" algn="ctr"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Probability of an event (something happening)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h𝑜𝑤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𝑚𝑎𝑛𝑦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𝑤𝑎𝑦𝑠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𝐶𝐴𝑁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h𝑎𝑝𝑝𝑒𝑛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𝑝𝑜𝑠𝑠𝑖𝑏𝑖𝑙𝑖𝑡𝑖𝑒𝑠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WHITEBOARDS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If rolling an 8-sided die: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What is the sample space?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Probability of rolling a 7?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</a:rPr>
                  <a:t>Probability of rolling a number less than 6?  </a:t>
                </a:r>
                <a:endParaRPr lang="en-AU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2A839E-FE97-4C34-9D32-4B7D42ED3E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100" y="1843380"/>
                <a:ext cx="11353800" cy="4351338"/>
              </a:xfrm>
              <a:blipFill>
                <a:blip r:embed="rId2"/>
                <a:stretch>
                  <a:fillRect l="-1128" t="-2241" b="-21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487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4E4D-45C5-4A0B-9AEC-9800BCF8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Probability: whiteboards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6193-7182-4DEB-B3D6-C337D5E0D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What is the sample space?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P(green)?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P(red or green) 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P(not purple) 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6A48A-4782-479C-8757-A0EEF673C52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730" y="1825625"/>
            <a:ext cx="5299470" cy="4528979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04CB3A-C048-4C7B-AA59-8026D7E5E0C1}"/>
              </a:ext>
            </a:extLst>
          </p:cNvPr>
          <p:cNvSpPr/>
          <p:nvPr/>
        </p:nvSpPr>
        <p:spPr>
          <a:xfrm>
            <a:off x="9090734" y="2610035"/>
            <a:ext cx="355107" cy="390617"/>
          </a:xfrm>
          <a:prstGeom prst="rect">
            <a:avLst/>
          </a:prstGeom>
          <a:solidFill>
            <a:srgbClr val="EE1C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5ADCA5-D186-475D-AFA7-0340FD3E1972}"/>
              </a:ext>
            </a:extLst>
          </p:cNvPr>
          <p:cNvSpPr/>
          <p:nvPr/>
        </p:nvSpPr>
        <p:spPr>
          <a:xfrm>
            <a:off x="10068758" y="3233691"/>
            <a:ext cx="355107" cy="390617"/>
          </a:xfrm>
          <a:prstGeom prst="rect">
            <a:avLst/>
          </a:prstGeom>
          <a:solidFill>
            <a:srgbClr val="E7EA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68B835-AA7F-4B10-BC54-2613D2448712}"/>
              </a:ext>
            </a:extLst>
          </p:cNvPr>
          <p:cNvSpPr/>
          <p:nvPr/>
        </p:nvSpPr>
        <p:spPr>
          <a:xfrm>
            <a:off x="10068758" y="4415901"/>
            <a:ext cx="355107" cy="3906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9CF6F7-8025-4FD6-9036-57D3A0454B9B}"/>
              </a:ext>
            </a:extLst>
          </p:cNvPr>
          <p:cNvSpPr/>
          <p:nvPr/>
        </p:nvSpPr>
        <p:spPr>
          <a:xfrm>
            <a:off x="9090734" y="5090604"/>
            <a:ext cx="355107" cy="390617"/>
          </a:xfrm>
          <a:prstGeom prst="rect">
            <a:avLst/>
          </a:prstGeom>
          <a:solidFill>
            <a:srgbClr val="8AC5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6F2055-41CB-4364-915A-ACA947DA1B88}"/>
              </a:ext>
            </a:extLst>
          </p:cNvPr>
          <p:cNvSpPr/>
          <p:nvPr/>
        </p:nvSpPr>
        <p:spPr>
          <a:xfrm>
            <a:off x="7824188" y="4835370"/>
            <a:ext cx="355107" cy="390617"/>
          </a:xfrm>
          <a:prstGeom prst="rect">
            <a:avLst/>
          </a:prstGeom>
          <a:solidFill>
            <a:srgbClr val="A423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92878E-D609-441B-B966-2DB232DD9EE6}"/>
              </a:ext>
            </a:extLst>
          </p:cNvPr>
          <p:cNvSpPr/>
          <p:nvPr/>
        </p:nvSpPr>
        <p:spPr>
          <a:xfrm>
            <a:off x="7824188" y="2939880"/>
            <a:ext cx="355107" cy="390617"/>
          </a:xfrm>
          <a:prstGeom prst="rect">
            <a:avLst/>
          </a:prstGeom>
          <a:solidFill>
            <a:srgbClr val="3DA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2A5BA0-2B59-4BCC-A3DA-61CFC58839E9}"/>
              </a:ext>
            </a:extLst>
          </p:cNvPr>
          <p:cNvSpPr/>
          <p:nvPr/>
        </p:nvSpPr>
        <p:spPr>
          <a:xfrm>
            <a:off x="7264894" y="3894805"/>
            <a:ext cx="355107" cy="390617"/>
          </a:xfrm>
          <a:prstGeom prst="rect">
            <a:avLst/>
          </a:prstGeom>
          <a:solidFill>
            <a:srgbClr val="234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1355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7B4D-E6A5-8476-E85F-640F8BDB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Probability expectations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C18B9-28B8-9023-0D1D-96F132E8B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There are 5 marbles in a bag. Blue and yellow are equally likely and there is only 1 red marble.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If we were to do 20 experiments, how many of each </a:t>
            </a:r>
            <a:r>
              <a:rPr lang="en-US" dirty="0" err="1">
                <a:solidFill>
                  <a:schemeClr val="bg1"/>
                </a:solidFill>
              </a:rPr>
              <a:t>colour</a:t>
            </a:r>
            <a:r>
              <a:rPr lang="en-US" dirty="0">
                <a:solidFill>
                  <a:schemeClr val="bg1"/>
                </a:solidFill>
              </a:rPr>
              <a:t> would we expect to see?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14C64C7-CBAB-55EF-AC44-2EF01C1F3CFE}"/>
              </a:ext>
            </a:extLst>
          </p:cNvPr>
          <p:cNvGraphicFramePr>
            <a:graphicFrameLocks noGrp="1"/>
          </p:cNvGraphicFramePr>
          <p:nvPr/>
        </p:nvGraphicFramePr>
        <p:xfrm>
          <a:off x="2165165" y="4270734"/>
          <a:ext cx="8128000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782236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977854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733582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44961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 err="1"/>
                        <a:t>Colour</a:t>
                      </a:r>
                      <a:r>
                        <a:rPr lang="en-US" sz="2000" b="1" dirty="0"/>
                        <a:t> 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Red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Blue 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/>
                        <a:t>Yellow</a:t>
                      </a:r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861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Frequency</a:t>
                      </a:r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664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21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 DO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BD2D1F-3F30-4AFA-BA39-5CA58CAC14F1}"/>
              </a:ext>
            </a:extLst>
          </p:cNvPr>
          <p:cNvSpPr/>
          <p:nvPr/>
        </p:nvSpPr>
        <p:spPr>
          <a:xfrm>
            <a:off x="5029194" y="1802167"/>
            <a:ext cx="1066806" cy="3906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F50A99-C0EE-408F-854C-53B8DF9FA1FF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0361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Rotate the rectangle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F50A99-C0EE-408F-854C-53B8DF9FA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036163" cy="830997"/>
              </a:xfrm>
              <a:prstGeom prst="rect">
                <a:avLst/>
              </a:prstGeom>
              <a:blipFill>
                <a:blip r:embed="rId3"/>
                <a:stretch>
                  <a:fillRect l="-3213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5D6D00-88FF-4D89-9198-177EBA31A598}"/>
                  </a:ext>
                </a:extLst>
              </p14:cNvPr>
              <p14:cNvContentPartPr/>
              <p14:nvPr/>
            </p14:nvContentPartPr>
            <p14:xfrm>
              <a:off x="5042433" y="180182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5D6D00-88FF-4D89-9198-177EBA31A5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9433" y="17391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C2C4A41-523A-4AFA-A257-1C099FDA4C6E}"/>
                  </a:ext>
                </a:extLst>
              </p14:cNvPr>
              <p14:cNvContentPartPr/>
              <p14:nvPr/>
            </p14:nvContentPartPr>
            <p14:xfrm>
              <a:off x="5033073" y="2165788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C2C4A41-523A-4AFA-A257-1C099FDA4C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0433" y="210314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D2CF039-4BB3-41BB-BAE7-F5083924EAC7}"/>
                  </a:ext>
                </a:extLst>
              </p14:cNvPr>
              <p14:cNvContentPartPr/>
              <p14:nvPr/>
            </p14:nvContentPartPr>
            <p14:xfrm>
              <a:off x="6098313" y="2192428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D2CF039-4BB3-41BB-BAE7-F5083924EA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35673" y="21294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BE6B00B-0272-4560-A1E9-E301E75BA2BA}"/>
                  </a:ext>
                </a:extLst>
              </p14:cNvPr>
              <p14:cNvContentPartPr/>
              <p14:nvPr/>
            </p14:nvContentPartPr>
            <p14:xfrm>
              <a:off x="6098313" y="1801828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BE6B00B-0272-4560-A1E9-E301E75BA2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35673" y="173918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620B30E-CA81-4C04-A5F1-9B885ED6B51A}"/>
              </a:ext>
            </a:extLst>
          </p:cNvPr>
          <p:cNvSpPr txBox="1"/>
          <p:nvPr/>
        </p:nvSpPr>
        <p:spPr>
          <a:xfrm>
            <a:off x="5026881" y="1444156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  <a:endParaRPr lang="en-AU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76884E-3915-4908-AD84-52441F6BA7CC}"/>
              </a:ext>
            </a:extLst>
          </p:cNvPr>
          <p:cNvSpPr txBox="1"/>
          <p:nvPr/>
        </p:nvSpPr>
        <p:spPr>
          <a:xfrm>
            <a:off x="6071309" y="1444156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  <a:endParaRPr lang="en-AU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78C79F-B39B-493F-85A6-B03500CCF0F9}"/>
              </a:ext>
            </a:extLst>
          </p:cNvPr>
          <p:cNvSpPr txBox="1"/>
          <p:nvPr/>
        </p:nvSpPr>
        <p:spPr>
          <a:xfrm>
            <a:off x="5026881" y="2151547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  <a:endParaRPr lang="en-AU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431074-4631-4AAB-832D-A9D18C299075}"/>
              </a:ext>
            </a:extLst>
          </p:cNvPr>
          <p:cNvSpPr txBox="1"/>
          <p:nvPr/>
        </p:nvSpPr>
        <p:spPr>
          <a:xfrm>
            <a:off x="6058964" y="2192428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  <a:endParaRPr lang="en-AU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E4858E-DBBA-4E7D-8B4D-409B40CA0D56}"/>
              </a:ext>
            </a:extLst>
          </p:cNvPr>
          <p:cNvSpPr txBox="1"/>
          <p:nvPr/>
        </p:nvSpPr>
        <p:spPr>
          <a:xfrm>
            <a:off x="8252522" y="3621708"/>
            <a:ext cx="12643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 (0, 5)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B (3, 5)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 (0, 4)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 (3, 4)</a:t>
            </a:r>
            <a:endParaRPr lang="en-AU" sz="24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91C142-8A54-4DE5-B63C-439BD97DBCAC}"/>
              </a:ext>
            </a:extLst>
          </p:cNvPr>
          <p:cNvSpPr txBox="1"/>
          <p:nvPr/>
        </p:nvSpPr>
        <p:spPr>
          <a:xfrm>
            <a:off x="10013456" y="3621708"/>
            <a:ext cx="12643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A’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B’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C’ 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D’ </a:t>
            </a:r>
            <a:endParaRPr lang="en-AU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141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263"/>
            <a:ext cx="870529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We DO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32CAFE-A9E1-4281-8B7A-0B5446EB13A2}"/>
              </a:ext>
            </a:extLst>
          </p:cNvPr>
          <p:cNvSpPr/>
          <p:nvPr/>
        </p:nvSpPr>
        <p:spPr>
          <a:xfrm rot="5400000">
            <a:off x="5369544" y="1468473"/>
            <a:ext cx="720958" cy="1401660"/>
          </a:xfrm>
          <a:prstGeom prst="triangle">
            <a:avLst>
              <a:gd name="adj" fmla="val 478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89230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Rotate the triangle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𝑎𝑛𝑡𝑖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892303" cy="830997"/>
              </a:xfrm>
              <a:prstGeom prst="rect">
                <a:avLst/>
              </a:prstGeom>
              <a:blipFill>
                <a:blip r:embed="rId3"/>
                <a:stretch>
                  <a:fillRect l="-2508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983F699-DD6D-47AA-8F52-08ACAAF2B1B5}"/>
              </a:ext>
            </a:extLst>
          </p:cNvPr>
          <p:cNvSpPr txBox="1"/>
          <p:nvPr/>
        </p:nvSpPr>
        <p:spPr>
          <a:xfrm>
            <a:off x="8279155" y="3896916"/>
            <a:ext cx="1264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 (0, 5)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B (4, 4)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 (0, 3)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7871A-E0DA-4C1F-8F59-4F3D00C40B7B}"/>
              </a:ext>
            </a:extLst>
          </p:cNvPr>
          <p:cNvSpPr txBox="1"/>
          <p:nvPr/>
        </p:nvSpPr>
        <p:spPr>
          <a:xfrm>
            <a:off x="5128334" y="1455757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  <a:endParaRPr lang="en-AU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4934B-CB61-4FDE-9823-D8B9D86EC887}"/>
              </a:ext>
            </a:extLst>
          </p:cNvPr>
          <p:cNvSpPr txBox="1"/>
          <p:nvPr/>
        </p:nvSpPr>
        <p:spPr>
          <a:xfrm>
            <a:off x="6430854" y="1908214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  <a:endParaRPr lang="en-AU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8CFAF-A7D5-44D3-9FE9-1C3C952E0972}"/>
              </a:ext>
            </a:extLst>
          </p:cNvPr>
          <p:cNvSpPr txBox="1"/>
          <p:nvPr/>
        </p:nvSpPr>
        <p:spPr>
          <a:xfrm>
            <a:off x="5068632" y="2601157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  <a:endParaRPr lang="en-AU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5309C5-C692-49A5-BA6F-8A0D256EA8E0}"/>
                  </a:ext>
                </a:extLst>
              </p14:cNvPr>
              <p14:cNvContentPartPr/>
              <p14:nvPr/>
            </p14:nvContentPartPr>
            <p14:xfrm>
              <a:off x="5024433" y="181082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5309C5-C692-49A5-BA6F-8A0D256EA8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1433" y="17478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D19B18A-66B2-46F2-B561-E259467E91A4}"/>
                  </a:ext>
                </a:extLst>
              </p14:cNvPr>
              <p14:cNvContentPartPr/>
              <p14:nvPr/>
            </p14:nvContentPartPr>
            <p14:xfrm>
              <a:off x="6453633" y="2174788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D19B18A-66B2-46F2-B561-E259467E91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90993" y="21117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73DA58-2AAF-48CC-8CC3-8E747BF2FD32}"/>
                  </a:ext>
                </a:extLst>
              </p14:cNvPr>
              <p14:cNvContentPartPr/>
              <p14:nvPr/>
            </p14:nvContentPartPr>
            <p14:xfrm>
              <a:off x="5024433" y="253010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C73DA58-2AAF-48CC-8CC3-8E747BF2FD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1433" y="246710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08895BD-1814-4160-B2F0-E0221550A7B1}"/>
              </a:ext>
            </a:extLst>
          </p:cNvPr>
          <p:cNvSpPr txBox="1"/>
          <p:nvPr/>
        </p:nvSpPr>
        <p:spPr>
          <a:xfrm>
            <a:off x="10088454" y="3896915"/>
            <a:ext cx="1264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A’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B’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C’  </a:t>
            </a:r>
          </a:p>
        </p:txBody>
      </p:sp>
    </p:spTree>
    <p:extLst>
      <p:ext uri="{BB962C8B-B14F-4D97-AF65-F5344CB8AC3E}">
        <p14:creationId xmlns:p14="http://schemas.microsoft.com/office/powerpoint/2010/main" val="1394217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263"/>
            <a:ext cx="8705295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You DO</a:t>
            </a:r>
            <a:endParaRPr lang="en-AU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32CAFE-A9E1-4281-8B7A-0B5446EB13A2}"/>
              </a:ext>
            </a:extLst>
          </p:cNvPr>
          <p:cNvSpPr/>
          <p:nvPr/>
        </p:nvSpPr>
        <p:spPr>
          <a:xfrm rot="5400000">
            <a:off x="3927873" y="1113135"/>
            <a:ext cx="720958" cy="1402348"/>
          </a:xfrm>
          <a:prstGeom prst="triangle">
            <a:avLst>
              <a:gd name="adj" fmla="val 478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89230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bg1"/>
                    </a:solidFill>
                  </a:rPr>
                  <a:t>Rotate the triangle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𝑎𝑛𝑡𝑖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892303" cy="830997"/>
              </a:xfrm>
              <a:prstGeom prst="rect">
                <a:avLst/>
              </a:prstGeom>
              <a:blipFill>
                <a:blip r:embed="rId3"/>
                <a:stretch>
                  <a:fillRect l="-2508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983F699-DD6D-47AA-8F52-08ACAAF2B1B5}"/>
              </a:ext>
            </a:extLst>
          </p:cNvPr>
          <p:cNvSpPr txBox="1"/>
          <p:nvPr/>
        </p:nvSpPr>
        <p:spPr>
          <a:xfrm>
            <a:off x="8279155" y="3896916"/>
            <a:ext cx="1264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 (0, 5)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B (-4, 6)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 (-4, 4)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7871A-E0DA-4C1F-8F59-4F3D00C40B7B}"/>
              </a:ext>
            </a:extLst>
          </p:cNvPr>
          <p:cNvSpPr txBox="1"/>
          <p:nvPr/>
        </p:nvSpPr>
        <p:spPr>
          <a:xfrm>
            <a:off x="5128334" y="1455757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  <a:endParaRPr lang="en-AU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4934B-CB61-4FDE-9823-D8B9D86EC887}"/>
              </a:ext>
            </a:extLst>
          </p:cNvPr>
          <p:cNvSpPr txBox="1"/>
          <p:nvPr/>
        </p:nvSpPr>
        <p:spPr>
          <a:xfrm>
            <a:off x="3320686" y="1028150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  <a:endParaRPr lang="en-AU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8CFAF-A7D5-44D3-9FE9-1C3C952E0972}"/>
              </a:ext>
            </a:extLst>
          </p:cNvPr>
          <p:cNvSpPr txBox="1"/>
          <p:nvPr/>
        </p:nvSpPr>
        <p:spPr>
          <a:xfrm>
            <a:off x="3320686" y="2225208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  <a:endParaRPr lang="en-AU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5309C5-C692-49A5-BA6F-8A0D256EA8E0}"/>
                  </a:ext>
                </a:extLst>
              </p14:cNvPr>
              <p14:cNvContentPartPr/>
              <p14:nvPr/>
            </p14:nvContentPartPr>
            <p14:xfrm>
              <a:off x="5024433" y="181082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5309C5-C692-49A5-BA6F-8A0D256EA8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1433" y="17478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D19B18A-66B2-46F2-B561-E259467E91A4}"/>
                  </a:ext>
                </a:extLst>
              </p14:cNvPr>
              <p14:cNvContentPartPr/>
              <p14:nvPr/>
            </p14:nvContentPartPr>
            <p14:xfrm>
              <a:off x="3587178" y="145347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D19B18A-66B2-46F2-B561-E259467E91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24178" y="139047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73DA58-2AAF-48CC-8CC3-8E747BF2FD32}"/>
                  </a:ext>
                </a:extLst>
              </p14:cNvPr>
              <p14:cNvContentPartPr/>
              <p14:nvPr/>
            </p14:nvContentPartPr>
            <p14:xfrm>
              <a:off x="3587178" y="217478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C73DA58-2AAF-48CC-8CC3-8E747BF2FD3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24178" y="211178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08895BD-1814-4160-B2F0-E0221550A7B1}"/>
              </a:ext>
            </a:extLst>
          </p:cNvPr>
          <p:cNvSpPr txBox="1"/>
          <p:nvPr/>
        </p:nvSpPr>
        <p:spPr>
          <a:xfrm>
            <a:off x="10088454" y="3896915"/>
            <a:ext cx="1264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A’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B’ 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C’  </a:t>
            </a:r>
          </a:p>
        </p:txBody>
      </p:sp>
    </p:spTree>
    <p:extLst>
      <p:ext uri="{BB962C8B-B14F-4D97-AF65-F5344CB8AC3E}">
        <p14:creationId xmlns:p14="http://schemas.microsoft.com/office/powerpoint/2010/main" val="945759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BD2D1F-3F30-4AFA-BA39-5CA58CAC14F1}"/>
              </a:ext>
            </a:extLst>
          </p:cNvPr>
          <p:cNvSpPr/>
          <p:nvPr/>
        </p:nvSpPr>
        <p:spPr>
          <a:xfrm>
            <a:off x="5029194" y="1802167"/>
            <a:ext cx="1066806" cy="3906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F50A99-C0EE-408F-854C-53B8DF9FA1FF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0361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Rotate the rectangle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F50A99-C0EE-408F-854C-53B8DF9FA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036163" cy="830997"/>
              </a:xfrm>
              <a:prstGeom prst="rect">
                <a:avLst/>
              </a:prstGeom>
              <a:blipFill>
                <a:blip r:embed="rId3"/>
                <a:stretch>
                  <a:fillRect l="-3213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5D6D00-88FF-4D89-9198-177EBA31A598}"/>
                  </a:ext>
                </a:extLst>
              </p14:cNvPr>
              <p14:cNvContentPartPr/>
              <p14:nvPr/>
            </p14:nvContentPartPr>
            <p14:xfrm>
              <a:off x="5042433" y="180182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5D6D00-88FF-4D89-9198-177EBA31A59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9433" y="17391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C2C4A41-523A-4AFA-A257-1C099FDA4C6E}"/>
                  </a:ext>
                </a:extLst>
              </p14:cNvPr>
              <p14:cNvContentPartPr/>
              <p14:nvPr/>
            </p14:nvContentPartPr>
            <p14:xfrm>
              <a:off x="5033073" y="2165788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C2C4A41-523A-4AFA-A257-1C099FDA4C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0433" y="210314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D2CF039-4BB3-41BB-BAE7-F5083924EAC7}"/>
                  </a:ext>
                </a:extLst>
              </p14:cNvPr>
              <p14:cNvContentPartPr/>
              <p14:nvPr/>
            </p14:nvContentPartPr>
            <p14:xfrm>
              <a:off x="6098313" y="2192428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D2CF039-4BB3-41BB-BAE7-F5083924EA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35673" y="21294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BE6B00B-0272-4560-A1E9-E301E75BA2BA}"/>
                  </a:ext>
                </a:extLst>
              </p14:cNvPr>
              <p14:cNvContentPartPr/>
              <p14:nvPr/>
            </p14:nvContentPartPr>
            <p14:xfrm>
              <a:off x="6098313" y="1801828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BE6B00B-0272-4560-A1E9-E301E75BA2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35673" y="173918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620B30E-CA81-4C04-A5F1-9B885ED6B51A}"/>
              </a:ext>
            </a:extLst>
          </p:cNvPr>
          <p:cNvSpPr txBox="1"/>
          <p:nvPr/>
        </p:nvSpPr>
        <p:spPr>
          <a:xfrm>
            <a:off x="5026881" y="1444156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  <a:endParaRPr lang="en-AU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76884E-3915-4908-AD84-52441F6BA7CC}"/>
              </a:ext>
            </a:extLst>
          </p:cNvPr>
          <p:cNvSpPr txBox="1"/>
          <p:nvPr/>
        </p:nvSpPr>
        <p:spPr>
          <a:xfrm>
            <a:off x="6071309" y="1444156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  <a:endParaRPr lang="en-AU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78C79F-B39B-493F-85A6-B03500CCF0F9}"/>
              </a:ext>
            </a:extLst>
          </p:cNvPr>
          <p:cNvSpPr txBox="1"/>
          <p:nvPr/>
        </p:nvSpPr>
        <p:spPr>
          <a:xfrm>
            <a:off x="5026881" y="2151547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  <a:endParaRPr lang="en-AU" sz="20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431074-4631-4AAB-832D-A9D18C299075}"/>
              </a:ext>
            </a:extLst>
          </p:cNvPr>
          <p:cNvSpPr txBox="1"/>
          <p:nvPr/>
        </p:nvSpPr>
        <p:spPr>
          <a:xfrm>
            <a:off x="6058964" y="2192428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  <a:endParaRPr lang="en-AU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E4858E-DBBA-4E7D-8B4D-409B40CA0D56}"/>
              </a:ext>
            </a:extLst>
          </p:cNvPr>
          <p:cNvSpPr txBox="1"/>
          <p:nvPr/>
        </p:nvSpPr>
        <p:spPr>
          <a:xfrm>
            <a:off x="8252522" y="3621708"/>
            <a:ext cx="12643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(0, 5)</a:t>
            </a:r>
          </a:p>
          <a:p>
            <a:r>
              <a:rPr lang="en-US" sz="2400" b="1" dirty="0"/>
              <a:t>B (3, 5)</a:t>
            </a:r>
          </a:p>
          <a:p>
            <a:r>
              <a:rPr lang="en-US" sz="2400" b="1" dirty="0"/>
              <a:t>C (0, 4) </a:t>
            </a:r>
          </a:p>
          <a:p>
            <a:r>
              <a:rPr lang="en-US" sz="2400" b="1" dirty="0"/>
              <a:t>D (3, 4)</a:t>
            </a:r>
            <a:endParaRPr lang="en-AU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91C142-8A54-4DE5-B63C-439BD97DBCAC}"/>
              </a:ext>
            </a:extLst>
          </p:cNvPr>
          <p:cNvSpPr txBox="1"/>
          <p:nvPr/>
        </p:nvSpPr>
        <p:spPr>
          <a:xfrm>
            <a:off x="10013456" y="3621708"/>
            <a:ext cx="12643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A’ </a:t>
            </a:r>
          </a:p>
          <a:p>
            <a:r>
              <a:rPr lang="en-US" sz="2400" b="1" dirty="0"/>
              <a:t>B’ </a:t>
            </a:r>
          </a:p>
          <a:p>
            <a:r>
              <a:rPr lang="en-US" sz="2400" b="1" dirty="0"/>
              <a:t>C’  </a:t>
            </a:r>
          </a:p>
          <a:p>
            <a:r>
              <a:rPr lang="en-US" sz="2400" b="1" dirty="0"/>
              <a:t>D’ 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322284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263"/>
            <a:ext cx="8705295" cy="1325563"/>
          </a:xfrm>
        </p:spPr>
        <p:txBody>
          <a:bodyPr/>
          <a:lstStyle/>
          <a:p>
            <a:r>
              <a:rPr lang="en-US" dirty="0"/>
              <a:t>We DO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32CAFE-A9E1-4281-8B7A-0B5446EB13A2}"/>
              </a:ext>
            </a:extLst>
          </p:cNvPr>
          <p:cNvSpPr/>
          <p:nvPr/>
        </p:nvSpPr>
        <p:spPr>
          <a:xfrm rot="5400000">
            <a:off x="5369544" y="1468473"/>
            <a:ext cx="720958" cy="1401660"/>
          </a:xfrm>
          <a:prstGeom prst="triangle">
            <a:avLst>
              <a:gd name="adj" fmla="val 478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89230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Rotate the triangle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𝑎𝑛𝑡𝑖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892303" cy="830997"/>
              </a:xfrm>
              <a:prstGeom prst="rect">
                <a:avLst/>
              </a:prstGeom>
              <a:blipFill>
                <a:blip r:embed="rId3"/>
                <a:stretch>
                  <a:fillRect l="-2508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983F699-DD6D-47AA-8F52-08ACAAF2B1B5}"/>
              </a:ext>
            </a:extLst>
          </p:cNvPr>
          <p:cNvSpPr txBox="1"/>
          <p:nvPr/>
        </p:nvSpPr>
        <p:spPr>
          <a:xfrm>
            <a:off x="8279155" y="3896916"/>
            <a:ext cx="1264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(0, 5)</a:t>
            </a:r>
          </a:p>
          <a:p>
            <a:r>
              <a:rPr lang="en-US" sz="2400" b="1" dirty="0"/>
              <a:t>B (4, 4)</a:t>
            </a:r>
          </a:p>
          <a:p>
            <a:r>
              <a:rPr lang="en-US" sz="2400" b="1" dirty="0"/>
              <a:t>C (0, 3)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7871A-E0DA-4C1F-8F59-4F3D00C40B7B}"/>
              </a:ext>
            </a:extLst>
          </p:cNvPr>
          <p:cNvSpPr txBox="1"/>
          <p:nvPr/>
        </p:nvSpPr>
        <p:spPr>
          <a:xfrm>
            <a:off x="5128334" y="1455757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  <a:endParaRPr lang="en-AU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4934B-CB61-4FDE-9823-D8B9D86EC887}"/>
              </a:ext>
            </a:extLst>
          </p:cNvPr>
          <p:cNvSpPr txBox="1"/>
          <p:nvPr/>
        </p:nvSpPr>
        <p:spPr>
          <a:xfrm>
            <a:off x="6430854" y="1908214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  <a:endParaRPr lang="en-AU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8CFAF-A7D5-44D3-9FE9-1C3C952E0972}"/>
              </a:ext>
            </a:extLst>
          </p:cNvPr>
          <p:cNvSpPr txBox="1"/>
          <p:nvPr/>
        </p:nvSpPr>
        <p:spPr>
          <a:xfrm>
            <a:off x="5068632" y="2601157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  <a:endParaRPr lang="en-AU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5309C5-C692-49A5-BA6F-8A0D256EA8E0}"/>
                  </a:ext>
                </a:extLst>
              </p14:cNvPr>
              <p14:cNvContentPartPr/>
              <p14:nvPr/>
            </p14:nvContentPartPr>
            <p14:xfrm>
              <a:off x="5024433" y="181082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5309C5-C692-49A5-BA6F-8A0D256EA8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1433" y="17478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D19B18A-66B2-46F2-B561-E259467E91A4}"/>
                  </a:ext>
                </a:extLst>
              </p14:cNvPr>
              <p14:cNvContentPartPr/>
              <p14:nvPr/>
            </p14:nvContentPartPr>
            <p14:xfrm>
              <a:off x="6453633" y="2174788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D19B18A-66B2-46F2-B561-E259467E91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90993" y="211178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73DA58-2AAF-48CC-8CC3-8E747BF2FD32}"/>
                  </a:ext>
                </a:extLst>
              </p14:cNvPr>
              <p14:cNvContentPartPr/>
              <p14:nvPr/>
            </p14:nvContentPartPr>
            <p14:xfrm>
              <a:off x="5024433" y="253010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C73DA58-2AAF-48CC-8CC3-8E747BF2FD3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1433" y="246710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08895BD-1814-4160-B2F0-E0221550A7B1}"/>
              </a:ext>
            </a:extLst>
          </p:cNvPr>
          <p:cNvSpPr txBox="1"/>
          <p:nvPr/>
        </p:nvSpPr>
        <p:spPr>
          <a:xfrm>
            <a:off x="10088454" y="3896915"/>
            <a:ext cx="1264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A’ </a:t>
            </a:r>
          </a:p>
          <a:p>
            <a:r>
              <a:rPr lang="en-US" sz="2400" b="1" dirty="0"/>
              <a:t>B’ </a:t>
            </a:r>
          </a:p>
          <a:p>
            <a:r>
              <a:rPr lang="en-US" sz="2400" b="1" dirty="0"/>
              <a:t>C’  </a:t>
            </a:r>
          </a:p>
        </p:txBody>
      </p:sp>
    </p:spTree>
    <p:extLst>
      <p:ext uri="{BB962C8B-B14F-4D97-AF65-F5344CB8AC3E}">
        <p14:creationId xmlns:p14="http://schemas.microsoft.com/office/powerpoint/2010/main" val="30204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A55-68C6-42DF-8EBE-62517D31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2263"/>
            <a:ext cx="8705295" cy="1325563"/>
          </a:xfrm>
        </p:spPr>
        <p:txBody>
          <a:bodyPr/>
          <a:lstStyle/>
          <a:p>
            <a:r>
              <a:rPr lang="en-US" dirty="0"/>
              <a:t>You DO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6F1BB-A755-4CE1-B826-4D3BBEFB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38" y="681037"/>
            <a:ext cx="5905512" cy="5881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627557-E0CC-45EE-98A1-E680EE15A179}"/>
              </a:ext>
            </a:extLst>
          </p:cNvPr>
          <p:cNvSpPr txBox="1"/>
          <p:nvPr/>
        </p:nvSpPr>
        <p:spPr>
          <a:xfrm>
            <a:off x="7981950" y="0"/>
            <a:ext cx="40422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1: sketch the image onto the baking paper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2: Press the tip of your pen into the origin/rotation point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3: Rotate the tracing paper (degrees clock or anti clockwise)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Step 4: sketch the new shape</a:t>
            </a:r>
          </a:p>
          <a:p>
            <a:endParaRPr lang="en-AU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932CAFE-A9E1-4281-8B7A-0B5446EB13A2}"/>
              </a:ext>
            </a:extLst>
          </p:cNvPr>
          <p:cNvSpPr/>
          <p:nvPr/>
        </p:nvSpPr>
        <p:spPr>
          <a:xfrm rot="5400000">
            <a:off x="3927873" y="1113135"/>
            <a:ext cx="720958" cy="1402348"/>
          </a:xfrm>
          <a:prstGeom prst="triangle">
            <a:avLst>
              <a:gd name="adj" fmla="val 478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/>
              <p:nvPr/>
            </p:nvSpPr>
            <p:spPr>
              <a:xfrm>
                <a:off x="8131946" y="2459115"/>
                <a:ext cx="389230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Rotate the triangle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𝑎𝑛𝑡𝑖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𝑐𝑙𝑜𝑐𝑘𝑤𝑖𝑠𝑒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AU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ACDEF16-FFA5-46DF-AE86-17B138B53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946" y="2459115"/>
                <a:ext cx="3892303" cy="830997"/>
              </a:xfrm>
              <a:prstGeom prst="rect">
                <a:avLst/>
              </a:prstGeom>
              <a:blipFill>
                <a:blip r:embed="rId3"/>
                <a:stretch>
                  <a:fillRect l="-2508" t="-583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983F699-DD6D-47AA-8F52-08ACAAF2B1B5}"/>
              </a:ext>
            </a:extLst>
          </p:cNvPr>
          <p:cNvSpPr txBox="1"/>
          <p:nvPr/>
        </p:nvSpPr>
        <p:spPr>
          <a:xfrm>
            <a:off x="8279155" y="3896916"/>
            <a:ext cx="1264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 (0, 5)</a:t>
            </a:r>
          </a:p>
          <a:p>
            <a:r>
              <a:rPr lang="en-US" sz="2400" b="1" dirty="0"/>
              <a:t>B (-4, 6)</a:t>
            </a:r>
          </a:p>
          <a:p>
            <a:r>
              <a:rPr lang="en-US" sz="2400" b="1" dirty="0"/>
              <a:t>C (-4, 4)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7871A-E0DA-4C1F-8F59-4F3D00C40B7B}"/>
              </a:ext>
            </a:extLst>
          </p:cNvPr>
          <p:cNvSpPr txBox="1"/>
          <p:nvPr/>
        </p:nvSpPr>
        <p:spPr>
          <a:xfrm>
            <a:off x="5128334" y="1455757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  <a:endParaRPr lang="en-AU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4934B-CB61-4FDE-9823-D8B9D86EC887}"/>
              </a:ext>
            </a:extLst>
          </p:cNvPr>
          <p:cNvSpPr txBox="1"/>
          <p:nvPr/>
        </p:nvSpPr>
        <p:spPr>
          <a:xfrm>
            <a:off x="3320686" y="1028150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  <a:endParaRPr lang="en-AU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58CFAF-A7D5-44D3-9FE9-1C3C952E0972}"/>
              </a:ext>
            </a:extLst>
          </p:cNvPr>
          <p:cNvSpPr txBox="1"/>
          <p:nvPr/>
        </p:nvSpPr>
        <p:spPr>
          <a:xfrm>
            <a:off x="3320686" y="2225208"/>
            <a:ext cx="967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  <a:endParaRPr lang="en-AU" sz="20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5309C5-C692-49A5-BA6F-8A0D256EA8E0}"/>
                  </a:ext>
                </a:extLst>
              </p14:cNvPr>
              <p14:cNvContentPartPr/>
              <p14:nvPr/>
            </p14:nvContentPartPr>
            <p14:xfrm>
              <a:off x="5024433" y="181082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5309C5-C692-49A5-BA6F-8A0D256EA8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1433" y="174782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D19B18A-66B2-46F2-B561-E259467E91A4}"/>
                  </a:ext>
                </a:extLst>
              </p14:cNvPr>
              <p14:cNvContentPartPr/>
              <p14:nvPr/>
            </p14:nvContentPartPr>
            <p14:xfrm>
              <a:off x="3587178" y="145347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D19B18A-66B2-46F2-B561-E259467E91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24178" y="139047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73DA58-2AAF-48CC-8CC3-8E747BF2FD32}"/>
                  </a:ext>
                </a:extLst>
              </p14:cNvPr>
              <p14:cNvContentPartPr/>
              <p14:nvPr/>
            </p14:nvContentPartPr>
            <p14:xfrm>
              <a:off x="3587178" y="217478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C73DA58-2AAF-48CC-8CC3-8E747BF2FD3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524178" y="2111788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F08895BD-1814-4160-B2F0-E0221550A7B1}"/>
              </a:ext>
            </a:extLst>
          </p:cNvPr>
          <p:cNvSpPr txBox="1"/>
          <p:nvPr/>
        </p:nvSpPr>
        <p:spPr>
          <a:xfrm>
            <a:off x="10088454" y="3896915"/>
            <a:ext cx="1264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A’ </a:t>
            </a:r>
          </a:p>
          <a:p>
            <a:r>
              <a:rPr lang="en-US" sz="2400" b="1" dirty="0"/>
              <a:t>B’ </a:t>
            </a:r>
          </a:p>
          <a:p>
            <a:r>
              <a:rPr lang="en-US" sz="2400" b="1" dirty="0"/>
              <a:t>C’  </a:t>
            </a:r>
          </a:p>
        </p:txBody>
      </p:sp>
    </p:spTree>
    <p:extLst>
      <p:ext uri="{BB962C8B-B14F-4D97-AF65-F5344CB8AC3E}">
        <p14:creationId xmlns:p14="http://schemas.microsoft.com/office/powerpoint/2010/main" val="1408488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16CCB-EC77-4AAB-969A-57FF005D30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Rotation practice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F8F36-6AB6-4C9D-974A-B4FA4A8C88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Transformations – Rotations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Rotation puzzle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Positive is clockwise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Negative is anti-clockwise 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02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D48A5-B72E-4F7A-900D-AF3F5F55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Combination of transformations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1C9C2-9EF6-4750-9564-7C3259235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The easiest way to perform a combination of transformations is to: 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Sketch the shape onto tracing paper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Perform the first transformation 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Lightly sketch that position 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Perform the next transformation 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bg1"/>
                </a:solidFill>
              </a:rPr>
              <a:t>Double check your answer</a:t>
            </a:r>
          </a:p>
        </p:txBody>
      </p:sp>
    </p:spTree>
    <p:extLst>
      <p:ext uri="{BB962C8B-B14F-4D97-AF65-F5344CB8AC3E}">
        <p14:creationId xmlns:p14="http://schemas.microsoft.com/office/powerpoint/2010/main" val="4246902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208F-12CA-4684-B44B-97F96CC6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Example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0FDA32-C38A-4D7A-AA9A-26D614AF73A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8460" y="1371600"/>
            <a:ext cx="5025339" cy="4876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E84954-65E5-48F9-877D-DEB2F94C59D1}"/>
              </a:ext>
            </a:extLst>
          </p:cNvPr>
          <p:cNvSpPr txBox="1"/>
          <p:nvPr/>
        </p:nvSpPr>
        <p:spPr>
          <a:xfrm>
            <a:off x="541538" y="1589103"/>
            <a:ext cx="384948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bg1"/>
                </a:solidFill>
              </a:rPr>
              <a:t>Mark a dot on the shape at (-2, 3), label A</a:t>
            </a:r>
          </a:p>
          <a:p>
            <a:endParaRPr lang="en-AU" sz="2000" dirty="0">
              <a:solidFill>
                <a:schemeClr val="bg1"/>
              </a:solidFill>
            </a:endParaRPr>
          </a:p>
          <a:p>
            <a:r>
              <a:rPr lang="en-AU" sz="2000" dirty="0">
                <a:solidFill>
                  <a:schemeClr val="bg1"/>
                </a:solidFill>
              </a:rPr>
              <a:t>Rotate 90° clockwise, then translate 2 units right and 3 units down.</a:t>
            </a:r>
          </a:p>
          <a:p>
            <a:endParaRPr lang="en-AU" sz="2000" dirty="0">
              <a:solidFill>
                <a:schemeClr val="bg1"/>
              </a:solidFill>
            </a:endParaRPr>
          </a:p>
          <a:p>
            <a:endParaRPr lang="en-AU" sz="2000" dirty="0">
              <a:solidFill>
                <a:schemeClr val="bg1"/>
              </a:solidFill>
            </a:endParaRPr>
          </a:p>
          <a:p>
            <a:endParaRPr lang="en-AU" sz="2000" dirty="0">
              <a:solidFill>
                <a:schemeClr val="bg1"/>
              </a:solidFill>
            </a:endParaRPr>
          </a:p>
          <a:p>
            <a:r>
              <a:rPr lang="en-AU" sz="2000" dirty="0">
                <a:solidFill>
                  <a:schemeClr val="bg1"/>
                </a:solidFill>
              </a:rPr>
              <a:t>Where is point A now?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9226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2828-EDA9-41E9-849A-8CB0D662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Example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2D670C-367F-4B8E-AD25-B9C8BEA1AE2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740" y="1514475"/>
            <a:ext cx="5388309" cy="4891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62E99F-C734-4815-A9FC-71E42B8E33E1}"/>
              </a:ext>
            </a:extLst>
          </p:cNvPr>
          <p:cNvSpPr txBox="1"/>
          <p:nvPr/>
        </p:nvSpPr>
        <p:spPr>
          <a:xfrm>
            <a:off x="695325" y="1905000"/>
            <a:ext cx="50549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chemeClr val="bg1"/>
                </a:solidFill>
              </a:rPr>
              <a:t>Reflect about the y axis, then translate 1 unit left, 4 units down.</a:t>
            </a:r>
          </a:p>
          <a:p>
            <a:endParaRPr lang="en-AU" sz="2000" dirty="0">
              <a:solidFill>
                <a:schemeClr val="bg1"/>
              </a:solidFill>
            </a:endParaRPr>
          </a:p>
          <a:p>
            <a:r>
              <a:rPr lang="en-AU" sz="2000" dirty="0">
                <a:solidFill>
                  <a:schemeClr val="bg1"/>
                </a:solidFill>
              </a:rPr>
              <a:t>What is the original coordinates for point A?</a:t>
            </a:r>
          </a:p>
          <a:p>
            <a:endParaRPr lang="en-AU" sz="2000" dirty="0">
              <a:solidFill>
                <a:schemeClr val="bg1"/>
              </a:solidFill>
            </a:endParaRPr>
          </a:p>
          <a:p>
            <a:endParaRPr lang="en-AU" sz="2000" dirty="0">
              <a:solidFill>
                <a:schemeClr val="bg1"/>
              </a:solidFill>
            </a:endParaRPr>
          </a:p>
          <a:p>
            <a:r>
              <a:rPr lang="en-AU" sz="2000" dirty="0">
                <a:solidFill>
                  <a:schemeClr val="bg1"/>
                </a:solidFill>
              </a:rPr>
              <a:t>What are the coordinates of A after the transformation? </a:t>
            </a:r>
          </a:p>
          <a:p>
            <a:endParaRPr lang="en-AU" sz="2000" dirty="0">
              <a:solidFill>
                <a:schemeClr val="bg1"/>
              </a:solidFill>
            </a:endParaRPr>
          </a:p>
          <a:p>
            <a:endParaRPr lang="en-AU" sz="2000" dirty="0">
              <a:solidFill>
                <a:schemeClr val="bg1"/>
              </a:solidFill>
            </a:endParaRPr>
          </a:p>
          <a:p>
            <a:r>
              <a:rPr lang="en-AU" sz="2000" dirty="0">
                <a:solidFill>
                  <a:schemeClr val="bg1"/>
                </a:solidFill>
              </a:rPr>
              <a:t>Where would point A be after the original shape rotated 180°?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560FC47-B0DF-A04C-2F32-36EF13D9C6CF}"/>
                  </a:ext>
                </a:extLst>
              </p14:cNvPr>
              <p14:cNvContentPartPr/>
              <p14:nvPr/>
            </p14:nvContentPartPr>
            <p14:xfrm>
              <a:off x="11167833" y="3479428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560FC47-B0DF-A04C-2F32-36EF13D9C6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50193" y="346178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85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2208F-12CA-4684-B44B-97F96CC6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Example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0FDA32-C38A-4D7A-AA9A-26D614AF73A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8460" y="1371600"/>
            <a:ext cx="5025339" cy="4876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E84954-65E5-48F9-877D-DEB2F94C59D1}"/>
              </a:ext>
            </a:extLst>
          </p:cNvPr>
          <p:cNvSpPr txBox="1"/>
          <p:nvPr/>
        </p:nvSpPr>
        <p:spPr>
          <a:xfrm>
            <a:off x="541538" y="1589103"/>
            <a:ext cx="384948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Mark a dot on the shape at (-2, 3), label A</a:t>
            </a:r>
          </a:p>
          <a:p>
            <a:endParaRPr lang="en-AU" sz="2000" dirty="0"/>
          </a:p>
          <a:p>
            <a:r>
              <a:rPr lang="en-AU" sz="2000" dirty="0"/>
              <a:t>Rotate 90° clockwise, then translate 2 units right and 3 units down.</a:t>
            </a:r>
          </a:p>
          <a:p>
            <a:endParaRPr lang="en-AU" sz="2000" dirty="0"/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Where is point A now?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4202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2828-EDA9-41E9-849A-8CB0D662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Example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2D670C-367F-4B8E-AD25-B9C8BEA1AE2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740" y="1514475"/>
            <a:ext cx="5388309" cy="4891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62E99F-C734-4815-A9FC-71E42B8E33E1}"/>
              </a:ext>
            </a:extLst>
          </p:cNvPr>
          <p:cNvSpPr txBox="1"/>
          <p:nvPr/>
        </p:nvSpPr>
        <p:spPr>
          <a:xfrm>
            <a:off x="695325" y="1905000"/>
            <a:ext cx="50549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Reflect about the y axis, then translate 1 unit left, 4 units down.</a:t>
            </a:r>
          </a:p>
          <a:p>
            <a:endParaRPr lang="en-AU" sz="2000" dirty="0"/>
          </a:p>
          <a:p>
            <a:r>
              <a:rPr lang="en-AU" sz="2000" dirty="0"/>
              <a:t>What is the original coordinates for point A?</a:t>
            </a:r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What are the coordinates of A after the transformation? </a:t>
            </a:r>
          </a:p>
          <a:p>
            <a:endParaRPr lang="en-AU" sz="2000" dirty="0"/>
          </a:p>
          <a:p>
            <a:endParaRPr lang="en-AU" sz="2000" dirty="0"/>
          </a:p>
          <a:p>
            <a:r>
              <a:rPr lang="en-AU" sz="2000" dirty="0"/>
              <a:t>Where would point A be after the original shape rotated 180°?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560FC47-B0DF-A04C-2F32-36EF13D9C6CF}"/>
                  </a:ext>
                </a:extLst>
              </p14:cNvPr>
              <p14:cNvContentPartPr/>
              <p14:nvPr/>
            </p14:nvContentPartPr>
            <p14:xfrm>
              <a:off x="11167833" y="3479428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560FC47-B0DF-A04C-2F32-36EF13D9C6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50193" y="346178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08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2828-EDA9-41E9-849A-8CB0D662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Example</a:t>
            </a:r>
            <a:r>
              <a:rPr lang="en-AU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62E99F-C734-4815-A9FC-71E42B8E33E1}"/>
              </a:ext>
            </a:extLst>
          </p:cNvPr>
          <p:cNvSpPr txBox="1"/>
          <p:nvPr/>
        </p:nvSpPr>
        <p:spPr>
          <a:xfrm>
            <a:off x="695324" y="1905000"/>
            <a:ext cx="48577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bg1"/>
                </a:solidFill>
              </a:rPr>
              <a:t>How did this triangle get to its final position?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2122BF-B72E-A625-6C9B-4A4C6C83F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878" y="1905000"/>
            <a:ext cx="4666558" cy="4647460"/>
          </a:xfrm>
          <a:prstGeom prst="rect">
            <a:avLst/>
          </a:prstGeom>
        </p:spPr>
      </p:pic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1E58C38-D0AD-0EE4-DDBE-898000769AF3}"/>
              </a:ext>
            </a:extLst>
          </p:cNvPr>
          <p:cNvSpPr/>
          <p:nvPr/>
        </p:nvSpPr>
        <p:spPr>
          <a:xfrm>
            <a:off x="7084381" y="2503504"/>
            <a:ext cx="852256" cy="861133"/>
          </a:xfrm>
          <a:prstGeom prst="triangle">
            <a:avLst>
              <a:gd name="adj" fmla="val 3514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7A9E0AD5-77C4-24C9-B942-4C0060B1CAF5}"/>
              </a:ext>
            </a:extLst>
          </p:cNvPr>
          <p:cNvSpPr/>
          <p:nvPr/>
        </p:nvSpPr>
        <p:spPr>
          <a:xfrm rot="10800000">
            <a:off x="9367422" y="4231523"/>
            <a:ext cx="852256" cy="861133"/>
          </a:xfrm>
          <a:prstGeom prst="triangle">
            <a:avLst>
              <a:gd name="adj" fmla="val 35149"/>
            </a:avLst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81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C121F0-9DA4-A745-8A30-997889298C63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7383940" y="2503504"/>
            <a:ext cx="2274305" cy="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AD0BCF-AA5B-B446-ECEB-63BF5DC5C3D4}"/>
              </a:ext>
            </a:extLst>
          </p:cNvPr>
          <p:cNvCxnSpPr>
            <a:cxnSpLocks/>
          </p:cNvCxnSpPr>
          <p:nvPr/>
        </p:nvCxnSpPr>
        <p:spPr>
          <a:xfrm>
            <a:off x="9658245" y="2503504"/>
            <a:ext cx="0" cy="86113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48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2.22222E-6 L 0.18711 0.1254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49" y="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3D5B2-2ACB-4169-BBCF-ED6141EFF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Individual 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3127F-0805-4263-96AC-096ECD3614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>
                <a:solidFill>
                  <a:schemeClr val="bg1"/>
                </a:solidFill>
              </a:rPr>
              <a:t>Finish rotation puzzle and oblique drawings from yesterday.</a:t>
            </a:r>
          </a:p>
        </p:txBody>
      </p:sp>
    </p:spTree>
    <p:extLst>
      <p:ext uri="{BB962C8B-B14F-4D97-AF65-F5344CB8AC3E}">
        <p14:creationId xmlns:p14="http://schemas.microsoft.com/office/powerpoint/2010/main" val="2815015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909</Words>
  <Application>Microsoft Office PowerPoint</Application>
  <PresentationFormat>Widescreen</PresentationFormat>
  <Paragraphs>194</Paragraphs>
  <Slides>18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Review probability </vt:lpstr>
      <vt:lpstr>Probability: whiteboards </vt:lpstr>
      <vt:lpstr>Probability expectations </vt:lpstr>
      <vt:lpstr>I DO</vt:lpstr>
      <vt:lpstr>We DO</vt:lpstr>
      <vt:lpstr>You DO</vt:lpstr>
      <vt:lpstr>I DO</vt:lpstr>
      <vt:lpstr>We DO</vt:lpstr>
      <vt:lpstr>You DO</vt:lpstr>
      <vt:lpstr>Rotation practice </vt:lpstr>
      <vt:lpstr>Combination of transformations </vt:lpstr>
      <vt:lpstr>Example </vt:lpstr>
      <vt:lpstr>Example </vt:lpstr>
      <vt:lpstr>Example </vt:lpstr>
      <vt:lpstr>Example </vt:lpstr>
      <vt:lpstr>Example 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19</cp:revision>
  <cp:lastPrinted>2023-07-26T09:26:20Z</cp:lastPrinted>
  <dcterms:created xsi:type="dcterms:W3CDTF">2021-07-26T12:04:39Z</dcterms:created>
  <dcterms:modified xsi:type="dcterms:W3CDTF">2023-07-27T00:46:43Z</dcterms:modified>
</cp:coreProperties>
</file>
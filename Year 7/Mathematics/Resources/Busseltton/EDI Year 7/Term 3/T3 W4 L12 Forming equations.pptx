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358" r:id="rId3"/>
    <p:sldId id="360" r:id="rId4"/>
    <p:sldId id="359" r:id="rId5"/>
    <p:sldId id="257" r:id="rId6"/>
    <p:sldId id="336" r:id="rId7"/>
    <p:sldId id="354" r:id="rId8"/>
    <p:sldId id="355" r:id="rId9"/>
    <p:sldId id="351" r:id="rId10"/>
    <p:sldId id="338" r:id="rId11"/>
    <p:sldId id="339" r:id="rId12"/>
    <p:sldId id="353" r:id="rId13"/>
    <p:sldId id="352" r:id="rId14"/>
    <p:sldId id="361" r:id="rId15"/>
    <p:sldId id="356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5" autoAdjust="0"/>
    <p:restoredTop sz="94732"/>
  </p:normalViewPr>
  <p:slideViewPr>
    <p:cSldViewPr>
      <p:cViewPr>
        <p:scale>
          <a:sx n="100" d="100"/>
          <a:sy n="100" d="100"/>
        </p:scale>
        <p:origin x="941" y="-3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9AD16-1A4E-4451-987C-DCA1FABDAB95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22E32-FF0D-4444-9799-8E2C95D419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322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22E32-FF0D-4444-9799-8E2C95D4193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844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846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87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51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38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62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77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78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61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43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694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E08C-4164-D74D-F0FA-B57B36578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5DF76-43A8-09DC-E55A-37A0AEAC7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E7D1E-BD9F-A967-F0CA-4FEA126F3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F58DA-9BDE-A32D-913C-46801CAD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3FD1C-E2C7-6363-E69C-8F571ADD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0031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A2958-EBE7-BA0A-6DA6-C607FA1A3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11CE6-1A49-C2F9-FBDD-DDD0BE087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237C6-9CCB-96EE-1E66-830B7F87A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1A934-6B02-BF16-9AF6-F8A34D040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E5DA3-C383-5C66-611A-19F18D10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847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9BE0-1B3B-5231-E3B5-8814D557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AD642-049B-F78A-EE7F-2027922BD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36D7E-F7D7-C1D3-D750-236754038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6CFD1-DF18-FFFD-A8C3-5FE7178C6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5E074-0AAC-0667-F899-C4E7EED1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9191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1D9C-C740-B1C1-ABF0-C9D36A0D2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04322-B1E2-2B94-AF7B-D9493523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9252A-AECC-5A8C-5DDC-166B332F7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1DD83-57FA-A80F-74E9-032545F2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F0EE6-0814-039C-6E9A-6E33FD33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A0E4B-314B-613D-AB55-1A6FB94B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15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5B953-10D4-255C-30D4-08FA623D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63EAB-FE22-35CD-6B34-31057333C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6943B-4BEA-F269-D94B-05D3048D7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302B5-A325-3801-C093-BDD9AAD5B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5A6852-D80F-6FEE-B7AF-D4BE67F9A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80BF9-7E4D-4599-DB48-4FD9C8CA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0128A-6144-2CF5-A6D1-0B3EF5BC3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E373D5-8025-3A85-8CBD-6208F22A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651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B7E2-5E5B-EBDE-BABB-ED07A7D5E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00D5C-B520-8283-F5FD-B6FBC77BD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C7C27-D086-08C0-952A-AB52B148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98CD7-7069-7C66-920B-BD04D6E9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3590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CDB45-969F-EB58-1232-2ED335E19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029DF5-79FC-3A05-5282-6673C7E5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2C45D-5A2A-86A7-90EF-0D497A8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70628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D119-05ED-5C67-3D6D-0D7EC18A1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0BB53-9FD2-C2CF-AB42-7BEFCDBCA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D4FA-7C7B-2BC1-9624-5739B8BE9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CC60C-A1A2-DD77-3035-603D1A75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86093-89C0-3AD8-A50A-32F6641B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D600D-10E2-571B-62FA-64882E04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37022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B689-D0B3-8DE4-0E6C-9FC05F38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33120-F57D-13FF-6D15-018BF229B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DBF9B-F65D-2521-2A73-F3E7782B2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55F9A-E67A-CFA3-5FDF-D442C8460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79191-AB54-566A-394F-333C88DA7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F8F0B-50DE-E334-94FB-5FF583EC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2731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350D-FCEF-93B0-220F-6150EDCED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B7D61-4FB5-D334-31F5-2501D9AB9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081D8-F090-E2AD-3D01-B6C557214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B64C9-EDB4-A3A3-67AD-D27632F5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D99FD-59AD-D142-2362-99AC207D3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864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1C0D1-78DB-5723-312F-972E2ED8F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DB4C3-28C8-0A8D-4668-3BD822261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AC5E0-4CC1-79FB-3605-D35574A30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20E2D-7F26-7DDF-F9AB-BE41BB3D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72668-D8C7-D78E-6970-730C06DB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358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834C6-9B54-4E9C-818D-8BDB72CE86EC}" type="datetimeFigureOut">
              <a:rPr lang="en-GB" smtClean="0"/>
              <a:t>11/08/2023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36554-3A9A-4160-9838-17B4C9543A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42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6D82FA-8980-25FD-4F16-28A39C5DA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4B90B-2824-17C9-9AF1-18B07FC51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BC505-3772-2647-BD5A-5A1941CB3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84DAF-5DCA-449E-A287-9F44A2601AB5}" type="datetimeFigureOut">
              <a:rPr lang="en-AU" smtClean="0"/>
              <a:t>11/08/2023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707F5-3AF4-EC35-54CD-86A0C5CF4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D0FB9-864F-4E2A-09CD-DA18CA518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6AF23-EDD2-473B-B0D3-2571FFE281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9561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7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63.png"/><Relationship Id="rId5" Type="http://schemas.openxmlformats.org/officeDocument/2006/relationships/image" Target="../media/image410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4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90.png"/><Relationship Id="rId21" Type="http://schemas.openxmlformats.org/officeDocument/2006/relationships/image" Target="../media/image25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tags" Target="../tags/tag5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24" Type="http://schemas.openxmlformats.org/officeDocument/2006/relationships/image" Target="../media/image28.png"/><Relationship Id="rId5" Type="http://schemas.openxmlformats.org/officeDocument/2006/relationships/image" Target="../media/image141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0.png"/><Relationship Id="rId19" Type="http://schemas.openxmlformats.org/officeDocument/2006/relationships/image" Target="../media/image23.png"/><Relationship Id="rId4" Type="http://schemas.openxmlformats.org/officeDocument/2006/relationships/image" Target="../media/image610.png"/><Relationship Id="rId9" Type="http://schemas.openxmlformats.org/officeDocument/2006/relationships/image" Target="../media/image130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15.png"/><Relationship Id="rId3" Type="http://schemas.openxmlformats.org/officeDocument/2006/relationships/image" Target="../media/image90.png"/><Relationship Id="rId21" Type="http://schemas.openxmlformats.org/officeDocument/2006/relationships/image" Target="../media/image46.png"/><Relationship Id="rId7" Type="http://schemas.openxmlformats.org/officeDocument/2006/relationships/image" Target="../media/image120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tags" Target="../tags/tag6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32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58.png"/><Relationship Id="rId5" Type="http://schemas.openxmlformats.org/officeDocument/2006/relationships/image" Target="../media/image17.png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AC60C9-DF82-022E-D29A-AEEEA6A4D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C19467-425A-B432-F8E4-A6CE3A700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Title: </a:t>
            </a:r>
            <a:r>
              <a:rPr lang="en-US" sz="2800" b="1" dirty="0">
                <a:solidFill>
                  <a:srgbClr val="00B0F0"/>
                </a:solidFill>
              </a:rPr>
              <a:t>Describing equations </a:t>
            </a:r>
          </a:p>
          <a:p>
            <a:pPr marL="0" indent="0">
              <a:buNone/>
            </a:pPr>
            <a:endParaRPr lang="en-US" sz="28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B0F0"/>
                </a:solidFill>
              </a:rPr>
              <a:t> Write an equation from a description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2800" b="1" dirty="0">
                <a:solidFill>
                  <a:srgbClr val="00B0F0"/>
                </a:solidFill>
              </a:rPr>
              <a:t>Review 2 step equations </a:t>
            </a:r>
          </a:p>
          <a:p>
            <a:pPr>
              <a:buFontTx/>
              <a:buChar char="-"/>
            </a:pPr>
            <a:r>
              <a:rPr lang="en-US" sz="2800" b="1" dirty="0">
                <a:solidFill>
                  <a:srgbClr val="00B0F0"/>
                </a:solidFill>
              </a:rPr>
              <a:t>Review operational words </a:t>
            </a:r>
          </a:p>
          <a:p>
            <a:pPr>
              <a:buFontTx/>
              <a:buChar char="-"/>
            </a:pPr>
            <a:r>
              <a:rPr lang="en-US" sz="2800" b="1" dirty="0">
                <a:solidFill>
                  <a:srgbClr val="00B0F0"/>
                </a:solidFill>
              </a:rPr>
              <a:t>Forming expressions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3C94B1-0560-261F-3547-1AE5D2A6C5EC}"/>
              </a:ext>
            </a:extLst>
          </p:cNvPr>
          <p:cNvSpPr txBox="1"/>
          <p:nvPr/>
        </p:nvSpPr>
        <p:spPr>
          <a:xfrm>
            <a:off x="5292080" y="188640"/>
            <a:ext cx="2952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highlight>
                  <a:srgbClr val="00FF00"/>
                </a:highlight>
              </a:rPr>
              <a:t>PBiS</a:t>
            </a:r>
            <a:r>
              <a:rPr lang="en-US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b="1" dirty="0">
                <a:highlight>
                  <a:srgbClr val="00FF00"/>
                </a:highlight>
              </a:rPr>
              <a:t>Achieve – stay on task </a:t>
            </a:r>
          </a:p>
          <a:p>
            <a:r>
              <a:rPr lang="en-US" b="1" dirty="0">
                <a:highlight>
                  <a:srgbClr val="00FF00"/>
                </a:highlight>
              </a:rPr>
              <a:t>Learn – complete all work</a:t>
            </a:r>
          </a:p>
          <a:p>
            <a:endParaRPr lang="en-US" b="1" dirty="0">
              <a:highlight>
                <a:srgbClr val="00FF00"/>
              </a:highlight>
            </a:endParaRPr>
          </a:p>
          <a:p>
            <a:r>
              <a:rPr lang="en-US" b="1" dirty="0">
                <a:highlight>
                  <a:srgbClr val="00FF00"/>
                </a:highlight>
              </a:rPr>
              <a:t>HOMEWORK OUT!! </a:t>
            </a:r>
            <a:endParaRPr lang="en-AU" b="1" dirty="0">
              <a:highlight>
                <a:srgbClr val="00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89122-4485-3176-4121-EE46E776B441}"/>
              </a:ext>
            </a:extLst>
          </p:cNvPr>
          <p:cNvSpPr txBox="1"/>
          <p:nvPr/>
        </p:nvSpPr>
        <p:spPr>
          <a:xfrm>
            <a:off x="3995936" y="2564904"/>
            <a:ext cx="3751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0373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97E0-74ED-821E-9933-E316EB75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Whiteboards</a:t>
            </a:r>
            <a:r>
              <a:rPr lang="en-US" dirty="0"/>
              <a:t>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969959-3A52-9B65-DFEF-F98F19CB52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57213" indent="-557213">
                  <a:buAutoNum type="alphaLcParenR"/>
                </a:pPr>
                <a:r>
                  <a:rPr lang="en-US" sz="4400" b="1" dirty="0">
                    <a:solidFill>
                      <a:schemeClr val="bg1"/>
                    </a:solidFill>
                  </a:rPr>
                  <a:t>3d + 9 = 27</a:t>
                </a:r>
              </a:p>
              <a:p>
                <a:pPr marL="557213" indent="-557213">
                  <a:buAutoNum type="alphaLcParenR"/>
                </a:pPr>
                <a:r>
                  <a:rPr lang="en-US" sz="4400" b="1" dirty="0">
                    <a:solidFill>
                      <a:schemeClr val="bg1"/>
                    </a:solidFill>
                  </a:rPr>
                  <a:t>5t – 4 = 11 </a:t>
                </a:r>
              </a:p>
              <a:p>
                <a:pPr marL="557213" indent="-557213">
                  <a:buAutoNum type="alphaLcParenR"/>
                </a:pPr>
                <a:r>
                  <a:rPr lang="en-US" sz="4400" b="1" dirty="0">
                    <a:solidFill>
                      <a:schemeClr val="bg1"/>
                    </a:solidFill>
                  </a:rPr>
                  <a:t>9 + 3e = 18 </a:t>
                </a:r>
              </a:p>
              <a:p>
                <a:pPr marL="557213" indent="-557213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4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4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4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sz="4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4400" b="1" dirty="0">
                  <a:solidFill>
                    <a:schemeClr val="bg1"/>
                  </a:solidFill>
                </a:endParaRPr>
              </a:p>
              <a:p>
                <a:pPr marL="557213" indent="-557213">
                  <a:buAutoNum type="alphaLcParenR"/>
                </a:pPr>
                <a:r>
                  <a:rPr lang="en-AU" sz="4400" b="1" dirty="0">
                    <a:solidFill>
                      <a:schemeClr val="bg1"/>
                    </a:solidFill>
                  </a:rPr>
                  <a:t>12 – 3x = 0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969959-3A52-9B65-DFEF-F98F19CB5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46" t="-47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93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BB3D88-3EBA-58A0-0750-63F8B02EA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9552" y="620687"/>
            <a:ext cx="3610161" cy="23186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1B0F5F-5A64-A057-155A-E6D4615A0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616272"/>
            <a:ext cx="3691105" cy="2318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E62C6A-11D2-FED3-9176-4C5D95F4B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3573016"/>
            <a:ext cx="3610161" cy="24067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B91B12-DEC8-B48B-0289-2DE5FE1640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657791"/>
            <a:ext cx="3887926" cy="25561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B975991-A20A-856F-574F-2D7730FEB131}"/>
              </a:ext>
            </a:extLst>
          </p:cNvPr>
          <p:cNvSpPr/>
          <p:nvPr/>
        </p:nvSpPr>
        <p:spPr>
          <a:xfrm>
            <a:off x="539552" y="616272"/>
            <a:ext cx="1800200" cy="20926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1</a:t>
            </a:r>
            <a:endParaRPr lang="en-AU" sz="6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B5CEED-6AC2-6965-B33C-B5FA50E9F824}"/>
              </a:ext>
            </a:extLst>
          </p:cNvPr>
          <p:cNvSpPr/>
          <p:nvPr/>
        </p:nvSpPr>
        <p:spPr>
          <a:xfrm>
            <a:off x="4308216" y="616272"/>
            <a:ext cx="1991975" cy="2236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2</a:t>
            </a:r>
            <a:endParaRPr lang="en-AU" sz="6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AB7344-F5AF-00C6-A56F-CA02EF4E8B0A}"/>
              </a:ext>
            </a:extLst>
          </p:cNvPr>
          <p:cNvSpPr/>
          <p:nvPr/>
        </p:nvSpPr>
        <p:spPr>
          <a:xfrm>
            <a:off x="540817" y="3565195"/>
            <a:ext cx="1991975" cy="2236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3</a:t>
            </a:r>
            <a:endParaRPr lang="en-AU" sz="6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E5323D-52A5-8025-4632-0B1DBEDEEAEF}"/>
              </a:ext>
            </a:extLst>
          </p:cNvPr>
          <p:cNvSpPr/>
          <p:nvPr/>
        </p:nvSpPr>
        <p:spPr>
          <a:xfrm>
            <a:off x="4337681" y="3565195"/>
            <a:ext cx="1991975" cy="2318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4</a:t>
            </a:r>
            <a:endParaRPr lang="en-AU" sz="6000" dirty="0"/>
          </a:p>
        </p:txBody>
      </p:sp>
    </p:spTree>
    <p:extLst>
      <p:ext uri="{BB962C8B-B14F-4D97-AF65-F5344CB8AC3E}">
        <p14:creationId xmlns:p14="http://schemas.microsoft.com/office/powerpoint/2010/main" val="200432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" r="20381" b="-1"/>
          <a:stretch/>
        </p:blipFill>
        <p:spPr>
          <a:xfrm>
            <a:off x="0" y="534418"/>
            <a:ext cx="9144000" cy="6376026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980728"/>
            <a:ext cx="9144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Algebra is a form of maths ‘code’.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818926"/>
            <a:ext cx="91440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Sometimes rather than doing a calculation, we want to set a rule.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3068960"/>
            <a:ext cx="91440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For instance, adding to a user’s score when they achieve something in a videogame.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9386" y="4365104"/>
            <a:ext cx="9144000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itchFamily="34" charset="0"/>
              </a:rPr>
              <a:t>Think of algebra as the ‘language’ of maths. The word algebra comes from the Arabic, </a:t>
            </a:r>
            <a:r>
              <a:rPr lang="en-GB" sz="2800" i="1" dirty="0">
                <a:latin typeface="Trebuchet MS" pitchFamily="34" charset="0"/>
              </a:rPr>
              <a:t>al-</a:t>
            </a:r>
            <a:r>
              <a:rPr lang="en-GB" sz="2800" i="1" dirty="0" err="1">
                <a:latin typeface="Trebuchet MS" pitchFamily="34" charset="0"/>
              </a:rPr>
              <a:t>jabr</a:t>
            </a:r>
            <a:r>
              <a:rPr lang="en-GB" sz="2800" i="1" dirty="0">
                <a:latin typeface="Trebuchet MS" pitchFamily="34" charset="0"/>
              </a:rPr>
              <a:t>, </a:t>
            </a:r>
            <a:r>
              <a:rPr lang="en-GB" sz="2800" dirty="0">
                <a:latin typeface="Trebuchet MS" pitchFamily="34" charset="0"/>
              </a:rPr>
              <a:t>meaning “the  reunion of broken parts”.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990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‘Four more than a number’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0" y="1556792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GB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+4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56792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Up Arrow 1"/>
          <p:cNvSpPr/>
          <p:nvPr/>
        </p:nvSpPr>
        <p:spPr>
          <a:xfrm rot="3400635">
            <a:off x="3310858" y="1759432"/>
            <a:ext cx="432048" cy="11785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564904"/>
            <a:ext cx="1893807" cy="20608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ular Callout 7"/>
              <p:cNvSpPr/>
              <p:nvPr/>
            </p:nvSpPr>
            <p:spPr>
              <a:xfrm>
                <a:off x="2555776" y="2783131"/>
                <a:ext cx="6120680" cy="1437957"/>
              </a:xfrm>
              <a:prstGeom prst="wedgeRectCallout">
                <a:avLst>
                  <a:gd name="adj1" fmla="val -61280"/>
                  <a:gd name="adj2" fmla="val -16712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GB" sz="2000" dirty="0">
                    <a:latin typeface="Trebuchet MS" pitchFamily="34" charset="0"/>
                  </a:rPr>
                  <a:t>This letter doesn’t have to be n. It could be any letter or symbol. People often use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.We could write   </a:t>
                </a:r>
              </a:p>
              <a:p>
                <a:r>
                  <a:rPr lang="en-GB" sz="2000" dirty="0">
                    <a:latin typeface="Trebuchet MS" pitchFamily="34" charset="0"/>
                    <a:sym typeface="Wingdings"/>
                  </a:rPr>
                  <a:t></a:t>
                </a:r>
                <a:r>
                  <a:rPr lang="en-GB" sz="2000" dirty="0">
                    <a:latin typeface="Trebuchet MS" pitchFamily="34" charset="0"/>
                  </a:rPr>
                  <a:t>+4 . We’re not going to, though. That would be silly.</a:t>
                </a:r>
              </a:p>
            </p:txBody>
          </p:sp>
        </mc:Choice>
        <mc:Fallback xmlns=""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2783131"/>
                <a:ext cx="6120680" cy="1437957"/>
              </a:xfrm>
              <a:prstGeom prst="wedgeRectCallout">
                <a:avLst>
                  <a:gd name="adj1" fmla="val -61280"/>
                  <a:gd name="adj2" fmla="val -16712"/>
                </a:avLst>
              </a:prstGeom>
              <a:blipFill rotWithShape="1"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0" y="472514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4"/>
                </a:solidFill>
                <a:latin typeface="Trebuchet MS" panose="020B0603020202020204" pitchFamily="34" charset="0"/>
              </a:rPr>
              <a:t>Write the following sentences algebraically.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0" y="5392380"/>
                <a:ext cx="413794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Trebuchet MS" panose="020B0603020202020204" pitchFamily="34" charset="0"/>
                  </a:rPr>
                  <a:t>A number add 6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𝑛</m:t>
                    </m:r>
                    <m:r>
                      <a:rPr lang="en-GB" sz="2800" b="0" i="1" smtClean="0">
                        <a:latin typeface="Cambria Math"/>
                      </a:rPr>
                      <m:t>+6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r>
                  <a:rPr lang="en-GB" sz="2800" dirty="0">
                    <a:latin typeface="Trebuchet MS" panose="020B0603020202020204" pitchFamily="34" charset="0"/>
                  </a:rPr>
                  <a:t>A number add 10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/>
                      </a:rPr>
                      <m:t>𝑛</m:t>
                    </m:r>
                    <m:r>
                      <a:rPr lang="en-GB" sz="2800" i="1">
                        <a:latin typeface="Cambria Math"/>
                      </a:rPr>
                      <m:t>+10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92380"/>
                <a:ext cx="4137948" cy="954107"/>
              </a:xfrm>
              <a:prstGeom prst="rect">
                <a:avLst/>
              </a:prstGeom>
              <a:blipFill rotWithShape="1">
                <a:blip r:embed="rId6"/>
                <a:stretch>
                  <a:fillRect l="-2946" t="-5769" b="-17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22196" y="5392379"/>
                <a:ext cx="492180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Trebuchet MS" panose="020B0603020202020204" pitchFamily="34" charset="0"/>
                  </a:rPr>
                  <a:t>A number subtract 10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𝑛</m:t>
                    </m:r>
                    <m:r>
                      <a:rPr lang="en-GB" sz="2800" b="0" i="1" smtClean="0">
                        <a:latin typeface="Cambria Math"/>
                      </a:rPr>
                      <m:t>−10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r>
                  <a:rPr lang="en-GB" sz="2800" dirty="0">
                    <a:latin typeface="Trebuchet MS" panose="020B0603020202020204" pitchFamily="34" charset="0"/>
                  </a:rPr>
                  <a:t>8 subtract a number </a:t>
                </a:r>
                <a14:m>
                  <m:oMath xmlns:m="http://schemas.openxmlformats.org/officeDocument/2006/math">
                    <m:r>
                      <a:rPr lang="en-GB" sz="2800" dirty="0">
                        <a:latin typeface="Cambria Math"/>
                      </a:rPr>
                      <m:t>8</m:t>
                    </m:r>
                    <m:r>
                      <a:rPr lang="en-GB" sz="2800" b="0" i="0" dirty="0" smtClean="0">
                        <a:latin typeface="Cambria Math"/>
                      </a:rPr>
                      <m:t>−</m:t>
                    </m:r>
                    <m:r>
                      <a:rPr lang="en-GB" sz="2800" i="1">
                        <a:latin typeface="Cambria Math"/>
                      </a:rPr>
                      <m:t>𝑛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196" y="5392379"/>
                <a:ext cx="4921803" cy="954107"/>
              </a:xfrm>
              <a:prstGeom prst="rect">
                <a:avLst/>
              </a:prstGeom>
              <a:blipFill rotWithShape="1">
                <a:blip r:embed="rId7"/>
                <a:stretch>
                  <a:fillRect l="-2602" t="-5769" b="-179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660037" y="5492406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4057" y="5875439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0109" y="5428334"/>
            <a:ext cx="1084380" cy="44109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92076" y="5905389"/>
            <a:ext cx="1084380" cy="44109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615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7" grpId="0"/>
      <p:bldP spid="2" grpId="0" animBg="1"/>
      <p:bldP spid="8" grpId="0" animBg="1"/>
      <p:bldP spid="10" grpId="0"/>
      <p:bldP spid="11" grpId="0"/>
      <p:bldP spid="12" grpId="0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‘Four lots of a number’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0" y="1268760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4</m:t>
                      </m:r>
                      <m:r>
                        <a:rPr lang="en-GB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68760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08" y="1844824"/>
            <a:ext cx="1893807" cy="20608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ular Callout 7"/>
              <p:cNvSpPr/>
              <p:nvPr/>
            </p:nvSpPr>
            <p:spPr>
              <a:xfrm>
                <a:off x="2555776" y="1939144"/>
                <a:ext cx="6120680" cy="1201824"/>
              </a:xfrm>
              <a:prstGeom prst="wedgeRectCallout">
                <a:avLst>
                  <a:gd name="adj1" fmla="val -61280"/>
                  <a:gd name="adj2" fmla="val -16712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GB" sz="2000" dirty="0">
                    <a:latin typeface="Trebuchet MS" pitchFamily="34" charset="0"/>
                  </a:rPr>
                  <a:t>We don’t tend to use the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symbol in algebra. Instead we write things next to each other to show multiplication. </a:t>
                </a:r>
              </a:p>
            </p:txBody>
          </p:sp>
        </mc:Choice>
        <mc:Fallback xmlns=""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1939144"/>
                <a:ext cx="6120680" cy="1201824"/>
              </a:xfrm>
              <a:prstGeom prst="wedgeRectCallout">
                <a:avLst>
                  <a:gd name="adj1" fmla="val -61280"/>
                  <a:gd name="adj2" fmla="val -16712"/>
                </a:avLst>
              </a:prstGeom>
              <a:blipFill rotWithShape="1"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0" y="400506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4"/>
                </a:solidFill>
                <a:latin typeface="Trebuchet MS" panose="020B0603020202020204" pitchFamily="34" charset="0"/>
              </a:rPr>
              <a:t>Write the following sentences algebraically.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-15523" y="4509120"/>
                <a:ext cx="516358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Trebuchet MS" panose="020B0603020202020204" pitchFamily="34" charset="0"/>
                  </a:rPr>
                  <a:t>A number multiplied by 6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6</m:t>
                    </m:r>
                    <m:r>
                      <a:rPr lang="en-GB" sz="28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800" b="0" dirty="0">
                  <a:latin typeface="Trebuchet MS" panose="020B0603020202020204" pitchFamily="34" charset="0"/>
                </a:endParaRPr>
              </a:p>
              <a:p>
                <a:r>
                  <a:rPr lang="en-GB" sz="2800" dirty="0">
                    <a:latin typeface="Trebuchet MS" panose="020B0603020202020204" pitchFamily="34" charset="0"/>
                  </a:rPr>
                  <a:t>A number multiplied by 10 </a:t>
                </a:r>
                <a14:m>
                  <m:oMath xmlns:m="http://schemas.openxmlformats.org/officeDocument/2006/math">
                    <m:r>
                      <a:rPr lang="en-GB" sz="2800" b="0" i="0" smtClean="0">
                        <a:latin typeface="Cambria Math"/>
                      </a:rPr>
                      <m:t>10</m:t>
                    </m:r>
                    <m:r>
                      <a:rPr lang="en-GB" sz="2800" i="1">
                        <a:latin typeface="Cambria Math"/>
                      </a:rPr>
                      <m:t>𝑛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multiplied by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1" dirty="0" smtClean="0">
                        <a:latin typeface="Cambria Math"/>
                      </a:rPr>
                      <m:t>𝑎𝑏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4</m:t>
                    </m:r>
                    <m:r>
                      <a:rPr lang="en-GB" sz="28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multiplied by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/>
                      </a:rPr>
                      <m:t>𝑏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b="0" i="0" dirty="0" smtClean="0">
                        <a:latin typeface="Cambria Math"/>
                      </a:rPr>
                      <m:t>4</m:t>
                    </m:r>
                    <m:r>
                      <a:rPr lang="en-GB" sz="2800" i="1" dirty="0">
                        <a:latin typeface="Cambria Math"/>
                      </a:rPr>
                      <m:t>𝑎𝑏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800" i="1" smtClean="0">
                        <a:latin typeface="Cambria Math"/>
                      </a:rPr>
                      <m:t>2</m:t>
                    </m:r>
                    <m:r>
                      <a:rPr lang="en-GB" sz="2800" i="1">
                        <a:latin typeface="Cambria Math"/>
                      </a:rPr>
                      <m:t>𝑎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multiplied by </a:t>
                </a:r>
                <a14:m>
                  <m:oMath xmlns:m="http://schemas.openxmlformats.org/officeDocument/2006/math">
                    <m:r>
                      <a:rPr lang="en-GB" sz="2800" b="0" i="0" smtClean="0">
                        <a:latin typeface="Cambria Math"/>
                      </a:rPr>
                      <m:t>2</m:t>
                    </m:r>
                    <m:r>
                      <a:rPr lang="en-GB" sz="2800" i="1">
                        <a:latin typeface="Cambria Math"/>
                      </a:rPr>
                      <m:t>𝑏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dirty="0">
                        <a:latin typeface="Cambria Math"/>
                      </a:rPr>
                      <m:t>4</m:t>
                    </m:r>
                    <m:r>
                      <a:rPr lang="en-GB" sz="2800" i="1" dirty="0">
                        <a:latin typeface="Cambria Math"/>
                      </a:rPr>
                      <m:t>𝑎𝑏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23" y="4509120"/>
                <a:ext cx="5163588" cy="2246769"/>
              </a:xfrm>
              <a:prstGeom prst="rect">
                <a:avLst/>
              </a:prstGeom>
              <a:blipFill rotWithShape="1">
                <a:blip r:embed="rId6"/>
                <a:stretch>
                  <a:fillRect l="-2361" t="-2446" b="-70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4172205" y="4581128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6221" y="4996190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8314" y="5443991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71103" y="5877272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08109" y="6309320"/>
            <a:ext cx="1263891" cy="377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061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7" grpId="0"/>
      <p:bldP spid="8" grpId="0" animBg="1"/>
      <p:bldP spid="10" grpId="0"/>
      <p:bldP spid="11" grpId="0"/>
      <p:bldP spid="14" grpId="0" animBg="1"/>
      <p:bldP spid="1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Trebuchet MS" panose="020B0603020202020204" pitchFamily="34" charset="0"/>
              </a:rPr>
              <a:t>‘A number divided by 5’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0" y="1268760"/>
                <a:ext cx="9144000" cy="827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sz="2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68760"/>
                <a:ext cx="9144000" cy="82747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01" y="2276872"/>
            <a:ext cx="1485787" cy="1616839"/>
          </a:xfrm>
          <a:prstGeom prst="rect">
            <a:avLst/>
          </a:prstGeom>
        </p:spPr>
      </p:pic>
      <p:sp>
        <p:nvSpPr>
          <p:cNvPr id="8" name="Rectangular Callout 7"/>
          <p:cNvSpPr/>
          <p:nvPr/>
        </p:nvSpPr>
        <p:spPr>
          <a:xfrm>
            <a:off x="2411760" y="2540056"/>
            <a:ext cx="6120680" cy="767240"/>
          </a:xfrm>
          <a:prstGeom prst="wedgeRectCallout">
            <a:avLst>
              <a:gd name="adj1" fmla="val -61280"/>
              <a:gd name="adj2" fmla="val -16712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sz="2000" dirty="0">
                <a:latin typeface="Trebuchet MS" pitchFamily="34" charset="0"/>
              </a:rPr>
              <a:t>We tend not to use ÷ in expressions. We use fraction notation (writing a division as a fraction).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4109" y="400506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4"/>
                </a:solidFill>
                <a:latin typeface="Trebuchet MS" panose="020B0603020202020204" pitchFamily="34" charset="0"/>
              </a:rPr>
              <a:t>Write the following sentences algebraically.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-36710" y="4545000"/>
                <a:ext cx="5163588" cy="1747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latin typeface="Trebuchet MS" panose="020B0603020202020204" pitchFamily="34" charset="0"/>
                  </a:rPr>
                  <a:t>A number divided by 6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6</m:t>
                        </m:r>
                      </m:den>
                    </m:f>
                  </m:oMath>
                </a14:m>
                <a:endParaRPr lang="en-GB" sz="2800" b="0" dirty="0">
                  <a:latin typeface="Trebuchet MS" panose="020B0603020202020204" pitchFamily="34" charset="0"/>
                </a:endParaRPr>
              </a:p>
              <a:p>
                <a:br>
                  <a:rPr lang="en-GB" sz="2800" dirty="0">
                    <a:latin typeface="Trebuchet MS" panose="020B0603020202020204" pitchFamily="34" charset="0"/>
                  </a:rPr>
                </a:br>
                <a:r>
                  <a:rPr lang="en-GB" sz="2800" dirty="0">
                    <a:latin typeface="Trebuchet MS" panose="020B0603020202020204" pitchFamily="34" charset="0"/>
                  </a:rPr>
                  <a:t>6 divided by a number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6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710" y="4545000"/>
                <a:ext cx="5163588" cy="1747530"/>
              </a:xfrm>
              <a:prstGeom prst="rect">
                <a:avLst/>
              </a:prstGeom>
              <a:blipFill rotWithShape="1">
                <a:blip r:embed="rId5"/>
                <a:stretch>
                  <a:fillRect l="-2479" t="-699" b="-1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717290" y="4559557"/>
            <a:ext cx="432048" cy="6845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17290" y="5607744"/>
            <a:ext cx="432048" cy="6845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681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7" grpId="0"/>
      <p:bldP spid="8" grpId="0" animBg="1"/>
      <p:bldP spid="10" grpId="0"/>
      <p:bldP spid="11" grpId="0"/>
      <p:bldP spid="14" grpId="0" animBg="1"/>
      <p:bldP spid="14" grpId="1" animBg="1"/>
      <p:bldP spid="15" grpId="0" animBg="1"/>
      <p:bldP spid="15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rebuchet MS" panose="020B0603020202020204" pitchFamily="34" charset="0"/>
              </a:rPr>
              <a:t>Match the words to the algebra. Which piece of algebra code didn’t get matched? Write that code in English.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6277" y="1450519"/>
                <a:ext cx="2573515" cy="3477875"/>
              </a:xfrm>
              <a:prstGeom prst="rect">
                <a:avLst/>
              </a:prstGeom>
              <a:ln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  <m:r>
                      <a:rPr lang="en-GB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7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8 from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b="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from 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4 by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 Share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into 5 sections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1450519"/>
                <a:ext cx="2573515" cy="3477875"/>
              </a:xfrm>
              <a:prstGeom prst="rect">
                <a:avLst/>
              </a:prstGeom>
              <a:blipFill rotWithShape="1">
                <a:blip r:embed="rId3"/>
                <a:stretch>
                  <a:fillRect l="-1878" t="-697" r="-469" b="-174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58280" y="6228957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280" y="6228957"/>
                <a:ext cx="84334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412425" y="5800241"/>
                <a:ext cx="843349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425" y="5800241"/>
                <a:ext cx="843349" cy="56489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305022" y="6228957"/>
                <a:ext cx="845323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022" y="6228957"/>
                <a:ext cx="845323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75540" y="6228957"/>
                <a:ext cx="956486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540" y="6228957"/>
                <a:ext cx="956486" cy="56489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843808" y="1450518"/>
                <a:ext cx="2949068" cy="3477875"/>
              </a:xfrm>
              <a:prstGeom prst="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  <m:r>
                      <a:rPr lang="en-GB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by 4 then add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4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4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multiply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3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multiply 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3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then divide by 4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000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1450518"/>
                <a:ext cx="2949068" cy="3477875"/>
              </a:xfrm>
              <a:prstGeom prst="rect">
                <a:avLst/>
              </a:prstGeom>
              <a:blipFill rotWithShape="1">
                <a:blip r:embed="rId8"/>
                <a:stretch>
                  <a:fillRect l="-1643" t="-697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911262" y="1450519"/>
                <a:ext cx="3125234" cy="3477875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2, add 3 and then multiply the whole lot by 5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5, then multiply by 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5 from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5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add 4, then divide by 3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262" y="1450519"/>
                <a:ext cx="3125234" cy="3477875"/>
              </a:xfrm>
              <a:prstGeom prst="rect">
                <a:avLst/>
              </a:prstGeom>
              <a:blipFill rotWithShape="1">
                <a:blip r:embed="rId9"/>
                <a:stretch>
                  <a:fillRect l="-1550" t="-697" r="-388" b="-174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16738" y="6228957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8−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38" y="6228957"/>
                <a:ext cx="1080120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101629" y="5544645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629" y="5544645"/>
                <a:ext cx="843349" cy="609911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4947726" y="5071037"/>
                <a:ext cx="899918" cy="3685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8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726" y="5071037"/>
                <a:ext cx="899918" cy="3685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707904" y="5071037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−8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5071037"/>
                <a:ext cx="108012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26277" y="5071037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2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5071037"/>
                <a:ext cx="843349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3183683" y="6228957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683" y="6228957"/>
                <a:ext cx="843349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4050862" y="5566253"/>
                <a:ext cx="843349" cy="56669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862" y="5566253"/>
                <a:ext cx="843349" cy="566694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967945" y="5052730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945" y="5052730"/>
                <a:ext cx="843349" cy="609911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483768" y="5071037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3(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+4)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5071037"/>
                <a:ext cx="1080120" cy="369332"/>
              </a:xfrm>
              <a:prstGeom prst="rect">
                <a:avLst/>
              </a:prstGeom>
              <a:blipFill rotWithShape="1">
                <a:blip r:embed="rId18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139952" y="6225444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6225444"/>
                <a:ext cx="1080120" cy="369332"/>
              </a:xfrm>
              <a:prstGeom prst="rect">
                <a:avLst/>
              </a:prstGeom>
              <a:blipFill rotWithShape="1">
                <a:blip r:embed="rId19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004295" y="5544645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295" y="5544645"/>
                <a:ext cx="843349" cy="609911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115616" y="5071037"/>
                <a:ext cx="1224136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  <m:r>
                        <a:rPr lang="en-GB" b="0" i="1" smtClean="0">
                          <a:latin typeface="Cambria Math"/>
                        </a:rPr>
                        <m:t>(2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5071037"/>
                <a:ext cx="1224136" cy="369332"/>
              </a:xfrm>
              <a:prstGeom prst="rect">
                <a:avLst/>
              </a:prstGeom>
              <a:blipFill rotWithShape="1">
                <a:blip r:embed="rId21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196858" y="5544645"/>
                <a:ext cx="843349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858" y="5544645"/>
                <a:ext cx="843349" cy="564898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464955" y="5800387"/>
                <a:ext cx="843349" cy="63658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5−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955" y="5800387"/>
                <a:ext cx="843349" cy="636585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887661" y="5071037"/>
                <a:ext cx="843349" cy="6183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−5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661" y="5071037"/>
                <a:ext cx="843349" cy="618311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26277" y="5513289"/>
                <a:ext cx="843349" cy="67262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5513289"/>
                <a:ext cx="843349" cy="67262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150345" y="5523036"/>
                <a:ext cx="843349" cy="6183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+5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345" y="5523036"/>
                <a:ext cx="843349" cy="618311"/>
              </a:xfrm>
              <a:prstGeom prst="rect">
                <a:avLst/>
              </a:prstGeom>
              <a:blipFill rotWithShape="1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84257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rebuchet MS" panose="020B0603020202020204" pitchFamily="34" charset="0"/>
              </a:rPr>
              <a:t>Match the words to the algebra. Which piece of algebra code didn’t get matched?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6277" y="1450519"/>
                <a:ext cx="2573515" cy="3477875"/>
              </a:xfrm>
              <a:prstGeom prst="rect">
                <a:avLst/>
              </a:prstGeom>
              <a:ln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  <m:r>
                      <a:rPr lang="en-GB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7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8 from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b="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from 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8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4 by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endParaRPr lang="en-GB" sz="2000" dirty="0">
                  <a:latin typeface="Trebuchet MS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 Share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into 5 sections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77" y="1450519"/>
                <a:ext cx="2573515" cy="3477875"/>
              </a:xfrm>
              <a:prstGeom prst="rect">
                <a:avLst/>
              </a:prstGeom>
              <a:blipFill rotWithShape="1">
                <a:blip r:embed="rId3"/>
                <a:stretch>
                  <a:fillRect l="-1878" t="-697" r="-469" b="-174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93045" y="1434733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045" y="1434733"/>
                <a:ext cx="84334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896191" y="1789565"/>
                <a:ext cx="843349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191" y="1789565"/>
                <a:ext cx="843349" cy="56489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970383" y="2092569"/>
                <a:ext cx="845323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383" y="2092569"/>
                <a:ext cx="845323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843808" y="1450518"/>
                <a:ext cx="2949068" cy="3477875"/>
              </a:xfrm>
              <a:prstGeom prst="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  <m:r>
                      <a:rPr lang="en-GB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by 4 then add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4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4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multiply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3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multiply by 4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Add 3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then divide by 4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sz="2000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1450518"/>
                <a:ext cx="2949068" cy="3477875"/>
              </a:xfrm>
              <a:prstGeom prst="rect">
                <a:avLst/>
              </a:prstGeom>
              <a:blipFill rotWithShape="1">
                <a:blip r:embed="rId7"/>
                <a:stretch>
                  <a:fillRect l="-1643" t="-697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911262" y="1450519"/>
                <a:ext cx="3125234" cy="3477875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Multiply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2, add 3 and then multiply the whole lot by 5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by 5, then multiply by 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5 from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Subtract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5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then divide by 3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sz="2000" dirty="0">
                    <a:latin typeface="Trebuchet MS" pitchFamily="34" charset="0"/>
                  </a:rPr>
                  <a:t>Square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, add 4, then divide by 3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262" y="1450519"/>
                <a:ext cx="3125234" cy="3477875"/>
              </a:xfrm>
              <a:prstGeom prst="rect">
                <a:avLst/>
              </a:prstGeom>
              <a:blipFill rotWithShape="1">
                <a:blip r:embed="rId8"/>
                <a:stretch>
                  <a:fillRect l="-1550" t="-697" r="-388" b="-174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659420" y="2461901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−8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420" y="2461901"/>
                <a:ext cx="1080120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1978573" y="3255803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573" y="3255803"/>
                <a:ext cx="843349" cy="609911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667888" y="2831233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8−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888" y="2831233"/>
                <a:ext cx="1080120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865504" y="3681048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2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504" y="3681048"/>
                <a:ext cx="843349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618533" y="4050380"/>
                <a:ext cx="843349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533" y="4050380"/>
                <a:ext cx="843349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618532" y="4446482"/>
                <a:ext cx="843349" cy="56669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532" y="4446482"/>
                <a:ext cx="843349" cy="566694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318342" y="1507116"/>
                <a:ext cx="956486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+3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342" y="1507116"/>
                <a:ext cx="956486" cy="564898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42839" y="2156945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839" y="2156945"/>
                <a:ext cx="843349" cy="609911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259647" y="3376092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/>
                        </a:rPr>
                        <m:t>4</m:t>
                      </m:r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647" y="3376092"/>
                <a:ext cx="1080120" cy="369332"/>
              </a:xfrm>
              <a:prstGeom prst="rect">
                <a:avLst/>
              </a:prstGeom>
              <a:blipFill rotWithShape="1">
                <a:blip r:embed="rId17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382846" y="2451001"/>
                <a:ext cx="843349" cy="5648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846" y="2451001"/>
                <a:ext cx="843349" cy="564898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309335" y="3607822"/>
                <a:ext cx="843349" cy="63658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5−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335" y="3607822"/>
                <a:ext cx="843349" cy="63658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382845" y="3075229"/>
                <a:ext cx="843349" cy="6183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−5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845" y="3075229"/>
                <a:ext cx="843349" cy="618311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036272" y="4235046"/>
                <a:ext cx="843349" cy="67262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/>
                            </a:rPr>
                            <m:t>+4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272" y="4235046"/>
                <a:ext cx="843349" cy="672620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21014" y="5499376"/>
                <a:ext cx="1557559" cy="102752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+5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14" y="5499376"/>
                <a:ext cx="1557559" cy="1027525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259647" y="2890563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3(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+4)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647" y="2890563"/>
                <a:ext cx="1080120" cy="369332"/>
              </a:xfrm>
              <a:prstGeom prst="rect">
                <a:avLst/>
              </a:prstGeom>
              <a:blipFill rotWithShape="1">
                <a:blip r:embed="rId2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118942" y="1723237"/>
                <a:ext cx="1224136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/>
                        </a:rPr>
                        <m:t>5</m:t>
                      </m:r>
                      <m:r>
                        <a:rPr lang="en-GB" b="0" i="1" smtClean="0">
                          <a:latin typeface="Cambria Math"/>
                        </a:rPr>
                        <m:t>(2</m:t>
                      </m:r>
                      <m:r>
                        <a:rPr lang="en-GB" b="0" i="1" smtClean="0">
                          <a:latin typeface="Cambria Math"/>
                        </a:rPr>
                        <m:t>𝑛</m:t>
                      </m:r>
                      <m:r>
                        <a:rPr lang="en-GB" b="0" i="1" smtClean="0">
                          <a:latin typeface="Cambria Math"/>
                        </a:rPr>
                        <m:t>+3)</m:t>
                      </m:r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942" y="1723237"/>
                <a:ext cx="1224136" cy="369332"/>
              </a:xfrm>
              <a:prstGeom prst="rect">
                <a:avLst/>
              </a:prstGeom>
              <a:blipFill rotWithShape="1">
                <a:blip r:embed="rId24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266273" y="3939452"/>
                <a:ext cx="843349" cy="6099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+3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273" y="3939452"/>
                <a:ext cx="843349" cy="609911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932040" y="6030991"/>
                <a:ext cx="39103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Multiply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𝑛</m:t>
                    </m:r>
                  </m:oMath>
                </a14:m>
                <a:r>
                  <a:rPr lang="en-GB" dirty="0"/>
                  <a:t> by 4, add 5 and then divide the whole lot by 3. 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6030991"/>
                <a:ext cx="3910319" cy="646331"/>
              </a:xfrm>
              <a:prstGeom prst="rect">
                <a:avLst/>
              </a:prstGeom>
              <a:blipFill>
                <a:blip r:embed="rId26"/>
                <a:stretch>
                  <a:fillRect l="-1246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C8B43B1-C525-FB29-AEA9-2A3A650636B7}"/>
              </a:ext>
            </a:extLst>
          </p:cNvPr>
          <p:cNvSpPr txBox="1"/>
          <p:nvPr/>
        </p:nvSpPr>
        <p:spPr>
          <a:xfrm>
            <a:off x="2207948" y="5275067"/>
            <a:ext cx="3910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TPS how would you describe in words?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540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62068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rebuchet MS" panose="020B0603020202020204" pitchFamily="34" charset="0"/>
              </a:rPr>
              <a:t>Often you will be asked to take a ‘real life’ scenario and turn into mathematical code. For instance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893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rebuchet MS" panose="020B0603020202020204" pitchFamily="34" charset="0"/>
              </a:rPr>
              <a:t>Gummy rings cost 2c per gram, fried eggs cost 3c per gram, gummy snakes cost 4c per gram.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999"/>
          <a:stretch/>
        </p:blipFill>
        <p:spPr>
          <a:xfrm>
            <a:off x="0" y="1556792"/>
            <a:ext cx="9144000" cy="16729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4221088"/>
                <a:ext cx="9144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latin typeface="Trebuchet MS" panose="020B0603020202020204" pitchFamily="34" charset="0"/>
                  </a:rPr>
                  <a:t>Find an expression for the total cost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>
                    <a:latin typeface="Trebuchet MS" panose="020B0603020202020204" pitchFamily="34" charset="0"/>
                  </a:rPr>
                  <a:t> grams of rings,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000" dirty="0">
                    <a:latin typeface="Trebuchet MS" panose="020B0603020202020204" pitchFamily="34" charset="0"/>
                  </a:rPr>
                  <a:t> grams of eggs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GB" sz="2000" i="1" dirty="0">
                    <a:latin typeface="Trebuchet MS" panose="020B0603020202020204" pitchFamily="34" charset="0"/>
                  </a:rPr>
                  <a:t> </a:t>
                </a:r>
                <a:r>
                  <a:rPr lang="en-GB" sz="2000" dirty="0">
                    <a:latin typeface="Trebuchet MS" panose="020B0603020202020204" pitchFamily="34" charset="0"/>
                  </a:rPr>
                  <a:t>grams of snakes.</a:t>
                </a:r>
                <a:endParaRPr lang="en-GB" sz="2000" i="1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21088"/>
                <a:ext cx="9144000" cy="707886"/>
              </a:xfrm>
              <a:prstGeom prst="rect">
                <a:avLst/>
              </a:prstGeom>
              <a:blipFill rotWithShape="1">
                <a:blip r:embed="rId4"/>
                <a:stretch>
                  <a:fillRect l="-667" t="-5128" b="-12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0" y="5085184"/>
                <a:ext cx="91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/>
                        </a:rPr>
                        <m:t>2</m:t>
                      </m:r>
                      <m:r>
                        <a:rPr lang="en-GB" sz="2000" b="0" i="1" smtClean="0">
                          <a:latin typeface="Cambria Math"/>
                        </a:rPr>
                        <m:t>𝑥</m:t>
                      </m:r>
                      <m:r>
                        <a:rPr lang="en-GB" sz="2000" b="0" i="1" smtClean="0">
                          <a:latin typeface="Cambria Math"/>
                        </a:rPr>
                        <m:t>+3</m:t>
                      </m:r>
                      <m:r>
                        <a:rPr lang="en-GB" sz="2000" b="0" i="1" smtClean="0">
                          <a:latin typeface="Cambria Math"/>
                        </a:rPr>
                        <m:t>𝑦</m:t>
                      </m:r>
                      <m:r>
                        <a:rPr lang="en-GB" sz="2000" b="0" i="1" smtClean="0">
                          <a:latin typeface="Cambria Math"/>
                        </a:rPr>
                        <m:t>+4</m:t>
                      </m:r>
                      <m:r>
                        <a:rPr lang="en-GB" sz="2000" b="0" i="1" smtClean="0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GB" sz="2000" i="1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85184"/>
                <a:ext cx="9144000" cy="400110"/>
              </a:xfrm>
              <a:prstGeom prst="rect">
                <a:avLst/>
              </a:prstGeom>
              <a:blipFill rotWithShape="1"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-13529" y="5661248"/>
                <a:ext cx="91440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latin typeface="Trebuchet MS" panose="020B0603020202020204" pitchFamily="34" charset="0"/>
                  </a:rPr>
                  <a:t>Notice that the coefficent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>
                    <a:latin typeface="Trebuchet MS" panose="020B0603020202020204" pitchFamily="34" charset="0"/>
                  </a:rPr>
                  <a:t> (the number in front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>
                    <a:latin typeface="Trebuchet MS" panose="020B0603020202020204" pitchFamily="34" charset="0"/>
                  </a:rPr>
                  <a:t>) stands for the </a:t>
                </a:r>
                <a:r>
                  <a:rPr lang="en-GB" sz="2000" b="1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rebuchet MS" panose="020B0603020202020204" pitchFamily="34" charset="0"/>
                  </a:rPr>
                  <a:t>price</a:t>
                </a:r>
                <a:r>
                  <a:rPr lang="en-GB" sz="2000" dirty="0">
                    <a:latin typeface="Trebuchet MS" panose="020B0603020202020204" pitchFamily="34" charset="0"/>
                  </a:rPr>
                  <a:t> of the rings, not the number of them. </a:t>
                </a:r>
                <a:endParaRPr lang="en-GB" sz="2000" i="1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529" y="5661248"/>
                <a:ext cx="9144000" cy="707886"/>
              </a:xfrm>
              <a:prstGeom prst="rect">
                <a:avLst/>
              </a:prstGeom>
              <a:blipFill rotWithShape="1">
                <a:blip r:embed="rId6"/>
                <a:stretch>
                  <a:fillRect l="-733" t="-6034" r="-133" b="-137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907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ular Callout 17"/>
              <p:cNvSpPr/>
              <p:nvPr/>
            </p:nvSpPr>
            <p:spPr>
              <a:xfrm>
                <a:off x="1611201" y="5209603"/>
                <a:ext cx="7137263" cy="1512168"/>
              </a:xfrm>
              <a:prstGeom prst="wedgeRectCallout">
                <a:avLst>
                  <a:gd name="adj1" fmla="val -58920"/>
                  <a:gd name="adj2" fmla="val 7493"/>
                </a:avLst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dirty="0">
                    <a:latin typeface="Trebuchet MS" pitchFamily="34" charset="0"/>
                  </a:rPr>
                  <a:t>Justine :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</a:t>
                </a:r>
              </a:p>
              <a:p>
                <a:pPr algn="ctr"/>
                <a:r>
                  <a:rPr lang="en-GB" sz="2000" dirty="0">
                    <a:latin typeface="Trebuchet MS" pitchFamily="34" charset="0"/>
                  </a:rPr>
                  <a:t>Liam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𝑥</m:t>
                    </m:r>
                    <m:r>
                      <a:rPr lang="en-GB" sz="2000" b="0" i="0" smtClean="0">
                        <a:latin typeface="Cambria Math"/>
                      </a:rPr>
                      <m:t>−5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</a:t>
                </a:r>
              </a:p>
              <a:p>
                <a:pPr algn="ctr"/>
                <a:r>
                  <a:rPr lang="en-GB" sz="2000" dirty="0" err="1">
                    <a:latin typeface="Trebuchet MS" pitchFamily="34" charset="0"/>
                  </a:rPr>
                  <a:t>Tjinder</a:t>
                </a:r>
                <a:r>
                  <a:rPr lang="en-GB" sz="2000" dirty="0">
                    <a:latin typeface="Trebuchet MS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dirty="0">
                        <a:latin typeface="Cambria Math"/>
                      </a:rPr>
                      <m:t>2</m:t>
                    </m:r>
                    <m:r>
                      <a:rPr lang="en-GB" sz="2000" b="0" i="0" dirty="0" smtClean="0">
                        <a:latin typeface="Cambria Math"/>
                      </a:rPr>
                      <m:t>(</m:t>
                    </m:r>
                    <m:r>
                      <a:rPr lang="en-GB" sz="2000" i="1">
                        <a:latin typeface="Cambria Math"/>
                      </a:rPr>
                      <m:t>𝑥</m:t>
                    </m:r>
                    <m:r>
                      <a:rPr lang="en-GB" sz="2000">
                        <a:latin typeface="Cambria Math"/>
                      </a:rPr>
                      <m:t>−5</m:t>
                    </m:r>
                    <m:r>
                      <a:rPr lang="en-GB" sz="2000" b="0" i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</a:t>
                </a:r>
              </a:p>
              <a:p>
                <a:pPr algn="ctr"/>
                <a:r>
                  <a:rPr lang="en-GB" sz="2000" dirty="0">
                    <a:latin typeface="Trebuchet MS" pitchFamily="34" charset="0"/>
                  </a:rPr>
                  <a:t>Crispin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/>
                          </a:rPr>
                          <m:t>𝑥</m:t>
                        </m:r>
                        <m:r>
                          <a:rPr lang="en-GB" sz="2000" b="0" i="1" smtClean="0">
                            <a:latin typeface="Cambria Math"/>
                          </a:rPr>
                          <m:t>−5</m:t>
                        </m:r>
                      </m:num>
                      <m:den>
                        <m:r>
                          <a:rPr lang="en-GB" sz="20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000" dirty="0">
                    <a:latin typeface="Trebuchet MS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Rectangular Callou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201" y="5209603"/>
                <a:ext cx="7137263" cy="1512168"/>
              </a:xfrm>
              <a:prstGeom prst="wedgeRectCallout">
                <a:avLst>
                  <a:gd name="adj1" fmla="val -58920"/>
                  <a:gd name="adj2" fmla="val 7493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0" y="537357"/>
                <a:ext cx="914400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AutoNum type="arabicParenR"/>
                </a:pPr>
                <a:r>
                  <a:rPr lang="en-GB" sz="2000" dirty="0">
                    <a:latin typeface="Trebuchet MS" panose="020B0603020202020204" pitchFamily="34" charset="0"/>
                  </a:rPr>
                  <a:t>Pens cost 15c, rulers cost 20c. Find an expression for the total cost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>
                    <a:latin typeface="Trebuchet MS" panose="020B0603020202020204" pitchFamily="34" charset="0"/>
                  </a:rPr>
                  <a:t> pens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000" dirty="0">
                    <a:latin typeface="Trebuchet MS" panose="020B0603020202020204" pitchFamily="34" charset="0"/>
                  </a:rPr>
                  <a:t> rulers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15</m:t>
                    </m:r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+20</m:t>
                    </m:r>
                    <m:r>
                      <a:rPr lang="en-GB" sz="2000" b="0" i="1" smtClean="0">
                        <a:latin typeface="Cambria Math"/>
                      </a:rPr>
                      <m:t>𝑦</m:t>
                    </m:r>
                  </m:oMath>
                </a14:m>
                <a:endParaRPr lang="en-GB" sz="2000" b="0" dirty="0">
                  <a:latin typeface="Trebuchet MS" panose="020B0603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arenR"/>
                </a:pPr>
                <a:r>
                  <a:rPr lang="en-GB" sz="2000" dirty="0">
                    <a:latin typeface="Trebuchet MS" panose="020B0603020202020204" pitchFamily="34" charset="0"/>
                  </a:rPr>
                  <a:t>At Coat Hill School each pupil donates $2 to come in in non-uniform. Write an expression to show how much money the school raises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2</m:t>
                    </m:r>
                    <m:r>
                      <a:rPr lang="en-GB" sz="2000" b="0" i="1" smtClean="0">
                        <a:latin typeface="Cambria Math"/>
                      </a:rPr>
                      <m:t>𝑥</m:t>
                    </m:r>
                  </m:oMath>
                </a14:m>
                <a:endParaRPr lang="en-GB" sz="2000" dirty="0">
                  <a:latin typeface="Trebuchet MS" panose="020B0603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arenR"/>
                </a:pPr>
                <a:r>
                  <a:rPr lang="en-GB" sz="2000" dirty="0">
                    <a:latin typeface="Trebuchet MS" panose="020B0603020202020204" pitchFamily="34" charset="0"/>
                  </a:rPr>
                  <a:t>City Cabs charge $4 per kilometer driven, plus a fee of $3 for hiring the cab. Write an expression to show the cost of hiring a cab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/>
                      </a:rPr>
                      <m:t>4</m:t>
                    </m:r>
                    <m:r>
                      <a:rPr lang="en-GB" sz="2000" i="1">
                        <a:latin typeface="Cambria Math"/>
                      </a:rPr>
                      <m:t>𝑥</m:t>
                    </m:r>
                    <m:r>
                      <a:rPr lang="en-GB" sz="2000" i="1">
                        <a:latin typeface="Cambria Math"/>
                      </a:rPr>
                      <m:t>+3</m:t>
                    </m:r>
                  </m:oMath>
                </a14:m>
                <a:endParaRPr lang="en-GB" sz="2000" dirty="0">
                  <a:latin typeface="Trebuchet MS" panose="020B0603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arenR"/>
                </a:pPr>
                <a:r>
                  <a:rPr lang="en-GB" sz="2000" dirty="0">
                    <a:latin typeface="Trebuchet MS" panose="020B0603020202020204" pitchFamily="34" charset="0"/>
                  </a:rPr>
                  <a:t>Jarvis is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>
                    <a:latin typeface="Trebuchet MS" panose="020B0603020202020204" pitchFamily="34" charset="0"/>
                  </a:rPr>
                  <a:t> years old. Noel is 3 years younger than Jarvis. Write an expression to show Noel’s age. </a:t>
                </a:r>
                <a14:m>
                  <m:oMath xmlns:m="http://schemas.openxmlformats.org/officeDocument/2006/math">
                    <m:r>
                      <a:rPr lang="en-GB" sz="2000" dirty="0">
                        <a:latin typeface="Cambria Math"/>
                      </a:rPr>
                      <m:t> </m:t>
                    </m:r>
                    <m:r>
                      <a:rPr lang="en-GB" sz="2000" i="1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−3</m:t>
                    </m:r>
                  </m:oMath>
                </a14:m>
                <a:endParaRPr lang="en-GB" sz="2000" dirty="0">
                  <a:latin typeface="Trebuchet MS" panose="020B0603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arenR"/>
                </a:pPr>
                <a:r>
                  <a:rPr lang="en-GB" sz="2000" dirty="0">
                    <a:latin typeface="Trebuchet MS" panose="020B0603020202020204" pitchFamily="34" charset="0"/>
                  </a:rPr>
                  <a:t>Damon works at a shop. He gets paid $8.40 an hour. Work out an expression for the amount he earns after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>
                    <a:latin typeface="Trebuchet MS" panose="020B0603020202020204" pitchFamily="34" charset="0"/>
                  </a:rPr>
                  <a:t> hours worked.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/>
                      </a:rPr>
                      <m:t>£8.40</m:t>
                    </m:r>
                    <m:r>
                      <a:rPr lang="en-GB" sz="2000" i="1">
                        <a:latin typeface="Cambria Math"/>
                      </a:rPr>
                      <m:t>𝑥</m:t>
                    </m:r>
                  </m:oMath>
                </a14:m>
                <a:endParaRPr lang="en-GB" sz="20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7357"/>
                <a:ext cx="9144000" cy="4708981"/>
              </a:xfrm>
              <a:prstGeom prst="rect">
                <a:avLst/>
              </a:prstGeom>
              <a:blipFill>
                <a:blip r:embed="rId4"/>
                <a:stretch>
                  <a:fillRect l="-6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627784" y="1124744"/>
            <a:ext cx="1440160" cy="31947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2360" y="1988840"/>
            <a:ext cx="720080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2280" y="2870048"/>
            <a:ext cx="936104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3948" y="3861048"/>
            <a:ext cx="936104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36296" y="4725144"/>
            <a:ext cx="936104" cy="4320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latin typeface="Trebuchet MS" pitchFamily="34" charset="0"/>
              </a:rPr>
              <a:t>?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5229200"/>
            <a:ext cx="1827225" cy="1628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ular Callout 16"/>
              <p:cNvSpPr/>
              <p:nvPr/>
            </p:nvSpPr>
            <p:spPr>
              <a:xfrm>
                <a:off x="1547664" y="5229200"/>
                <a:ext cx="7200800" cy="1512168"/>
              </a:xfrm>
              <a:prstGeom prst="wedgeRectCallout">
                <a:avLst>
                  <a:gd name="adj1" fmla="val -58920"/>
                  <a:gd name="adj2" fmla="val 7493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dirty="0">
                    <a:solidFill>
                      <a:schemeClr val="accent4"/>
                    </a:solidFill>
                    <a:latin typeface="Trebuchet MS" pitchFamily="34" charset="0"/>
                  </a:rPr>
                  <a:t>BrainBox Extension:</a:t>
                </a:r>
              </a:p>
              <a:p>
                <a:pPr algn="ctr"/>
                <a:r>
                  <a:rPr lang="en-GB" sz="2000" dirty="0">
                    <a:latin typeface="Trebuchet MS" pitchFamily="34" charset="0"/>
                  </a:rPr>
                  <a:t>Four musicians go on a song writing retreat :</a:t>
                </a:r>
              </a:p>
              <a:p>
                <a:pPr algn="ctr"/>
                <a:r>
                  <a:rPr lang="en-GB" sz="2000" dirty="0">
                    <a:latin typeface="Trebuchet MS" pitchFamily="34" charset="0"/>
                  </a:rPr>
                  <a:t>Justine writes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songs. Liam writes 5 fewer. </a:t>
                </a:r>
                <a:r>
                  <a:rPr lang="en-GB" sz="2000" dirty="0" err="1">
                    <a:latin typeface="Trebuchet MS" pitchFamily="34" charset="0"/>
                  </a:rPr>
                  <a:t>Tjinder</a:t>
                </a:r>
                <a:r>
                  <a:rPr lang="en-GB" sz="2000" dirty="0">
                    <a:latin typeface="Trebuchet MS" pitchFamily="34" charset="0"/>
                  </a:rPr>
                  <a:t> writes twice as many as Liam. Crispin writes half as many as Liam. Write expressions for how many songs each person wrote. </a:t>
                </a:r>
              </a:p>
            </p:txBody>
          </p:sp>
        </mc:Choice>
        <mc:Fallback xmlns="">
          <p:sp>
            <p:nvSpPr>
              <p:cNvPr id="17" name="Rectangular Callou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5229200"/>
                <a:ext cx="7200800" cy="1512168"/>
              </a:xfrm>
              <a:prstGeom prst="wedgeRectCallout">
                <a:avLst>
                  <a:gd name="adj1" fmla="val -58920"/>
                  <a:gd name="adj2" fmla="val 7493"/>
                </a:avLst>
              </a:prstGeom>
              <a:blipFill rotWithShape="1">
                <a:blip r:embed="rId6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5876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4705"/>
            <a:ext cx="2393227" cy="2092204"/>
          </a:xfrm>
          <a:prstGeom prst="rect">
            <a:avLst/>
          </a:prstGeom>
        </p:spPr>
      </p:pic>
      <p:sp>
        <p:nvSpPr>
          <p:cNvPr id="3" name="Rectangular Callout 2"/>
          <p:cNvSpPr/>
          <p:nvPr/>
        </p:nvSpPr>
        <p:spPr>
          <a:xfrm>
            <a:off x="2393227" y="764705"/>
            <a:ext cx="6499253" cy="1872207"/>
          </a:xfrm>
          <a:prstGeom prst="wedgeRectCallout">
            <a:avLst>
              <a:gd name="adj1" fmla="val -66611"/>
              <a:gd name="adj2" fmla="val 637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Trebuchet MS" pitchFamily="34" charset="0"/>
              </a:rPr>
              <a:t>Let’s talk about some of the language from the starter. I want to talk about the words EQUATION, EXPRESSION, FORMULA and IDENTITY. Often people mix them up, but they’re all different things.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544" y="3140968"/>
            <a:ext cx="2051720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dirty="0">
                <a:latin typeface="Trebuchet MS" pitchFamily="34" charset="0"/>
              </a:rPr>
              <a:t>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4544" y="3676962"/>
                <a:ext cx="2051720" cy="2862322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latin typeface="Trebuchet MS" pitchFamily="34" charset="0"/>
                  </a:rPr>
                  <a:t>Shows a mathematical relationship. </a:t>
                </a:r>
                <a:r>
                  <a:rPr lang="en-GB" sz="2000" dirty="0" err="1">
                    <a:latin typeface="Trebuchet MS" pitchFamily="34" charset="0"/>
                  </a:rPr>
                  <a:t>E.g</a:t>
                </a:r>
                <a:r>
                  <a:rPr lang="en-GB" sz="2000" dirty="0">
                    <a:latin typeface="Trebuchet MS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5</m:t>
                    </m:r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+3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. It accepts an input and gives you an output. </a:t>
                </a:r>
                <a:r>
                  <a:rPr lang="en-GB" sz="2000" b="1" dirty="0">
                    <a:solidFill>
                      <a:srgbClr val="FF0000"/>
                    </a:solidFill>
                    <a:latin typeface="Trebuchet MS" pitchFamily="34" charset="0"/>
                  </a:rPr>
                  <a:t>There is no = sign.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44" y="3676962"/>
                <a:ext cx="2051720" cy="28623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168352" y="3140968"/>
            <a:ext cx="2051720" cy="400110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dirty="0">
                <a:latin typeface="Trebuchet MS" pitchFamily="34" charset="0"/>
              </a:rPr>
              <a:t>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168352" y="3676962"/>
                <a:ext cx="2051720" cy="2246769"/>
              </a:xfrm>
              <a:prstGeom prst="rect">
                <a:avLst/>
              </a:prstGeom>
              <a:ln>
                <a:solidFill>
                  <a:schemeClr val="accent3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b="1" dirty="0">
                    <a:solidFill>
                      <a:srgbClr val="FF0000"/>
                    </a:solidFill>
                    <a:latin typeface="Trebuchet MS" pitchFamily="34" charset="0"/>
                  </a:rPr>
                  <a:t>An equation is a mathematical statement that shows that two expressions are equal. </a:t>
                </a:r>
                <a:r>
                  <a:rPr lang="en-GB" sz="2000" b="1" dirty="0" err="1">
                    <a:solidFill>
                      <a:srgbClr val="FF0000"/>
                    </a:solidFill>
                    <a:latin typeface="Trebuchet MS" pitchFamily="34" charset="0"/>
                  </a:rPr>
                  <a:t>Eg</a:t>
                </a:r>
                <a:r>
                  <a:rPr lang="en-GB" sz="2000" b="1" dirty="0">
                    <a:solidFill>
                      <a:srgbClr val="FF0000"/>
                    </a:solidFill>
                    <a:latin typeface="Trebuchet MS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𝟓</m:t>
                    </m:r>
                    <m:r>
                      <a:rPr lang="en-GB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GB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GB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  <m:r>
                      <a:rPr lang="en-GB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GB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𝟐</m:t>
                    </m:r>
                  </m:oMath>
                </a14:m>
                <a:endParaRPr lang="en-GB" sz="2000" b="1" dirty="0">
                  <a:solidFill>
                    <a:srgbClr val="FF0000"/>
                  </a:solidFill>
                  <a:latin typeface="Trebuchet MS" pitchFamily="34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352" y="3676962"/>
                <a:ext cx="2051720" cy="22467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3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904656" y="3140968"/>
            <a:ext cx="2051720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dirty="0">
                <a:latin typeface="Trebuchet MS" pitchFamily="34" charset="0"/>
              </a:rPr>
              <a:t>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904656" y="3676962"/>
                <a:ext cx="2051720" cy="2862322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latin typeface="Trebuchet MS" pitchFamily="34" charset="0"/>
                  </a:rPr>
                  <a:t>A special type of equation that </a:t>
                </a:r>
                <a:r>
                  <a:rPr lang="en-GB" sz="2000" b="1" dirty="0">
                    <a:solidFill>
                      <a:srgbClr val="FF0000"/>
                    </a:solidFill>
                    <a:latin typeface="Trebuchet MS" pitchFamily="34" charset="0"/>
                  </a:rPr>
                  <a:t>shows the relationship between two variables</a:t>
                </a:r>
                <a:r>
                  <a:rPr lang="en-GB" sz="2000" dirty="0">
                    <a:latin typeface="Trebuchet MS" pitchFamily="34" charset="0"/>
                  </a:rPr>
                  <a:t> </a:t>
                </a:r>
                <a:r>
                  <a:rPr lang="en-GB" sz="2000" dirty="0" err="1">
                    <a:latin typeface="Trebuchet MS" pitchFamily="34" charset="0"/>
                  </a:rPr>
                  <a:t>eg</a:t>
                </a:r>
                <a:endParaRPr lang="en-GB" sz="2000" dirty="0">
                  <a:latin typeface="Trebuchet MS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𝐴</m:t>
                    </m:r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r>
                      <a:rPr lang="en-GB" sz="2000" b="0" i="1" smtClean="0">
                        <a:latin typeface="Cambria Math"/>
                      </a:rPr>
                      <m:t>𝑙𝑤</m:t>
                    </m:r>
                  </m:oMath>
                </a14:m>
                <a:r>
                  <a:rPr lang="en-GB" sz="2000" dirty="0">
                    <a:latin typeface="Trebuchet MS" pitchFamily="34" charset="0"/>
                  </a:rPr>
                  <a:t> (the area of a rectangle)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656" y="3676962"/>
                <a:ext cx="2051720" cy="28623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89644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2F40-00B0-31B8-34B5-90A6D866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41B06-972D-3861-E630-7319757EF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3"/>
            <a:ext cx="8229600" cy="8926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Expression </a:t>
            </a:r>
            <a:endParaRPr lang="en-AU" sz="4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E32EFB-572C-58CC-37BC-1A408F30D4C9}"/>
              </a:ext>
            </a:extLst>
          </p:cNvPr>
          <p:cNvSpPr txBox="1">
            <a:spLocks/>
          </p:cNvSpPr>
          <p:nvPr/>
        </p:nvSpPr>
        <p:spPr>
          <a:xfrm rot="16200000">
            <a:off x="-3488941" y="3425046"/>
            <a:ext cx="8229600" cy="892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4400" dirty="0"/>
              <a:t>Equation</a:t>
            </a:r>
            <a:endParaRPr lang="en-AU" sz="4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909B29-397E-D8A3-6553-76539A831AE7}"/>
              </a:ext>
            </a:extLst>
          </p:cNvPr>
          <p:cNvSpPr txBox="1">
            <a:spLocks/>
          </p:cNvSpPr>
          <p:nvPr/>
        </p:nvSpPr>
        <p:spPr>
          <a:xfrm rot="5400000">
            <a:off x="4215914" y="3209022"/>
            <a:ext cx="8229600" cy="892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4400" dirty="0"/>
              <a:t>Formula 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2784128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 rot="21126256">
            <a:off x="-3893" y="723882"/>
            <a:ext cx="33511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Expression </a:t>
            </a:r>
          </a:p>
        </p:txBody>
      </p:sp>
      <p:sp>
        <p:nvSpPr>
          <p:cNvPr id="18" name="Rectangle 17"/>
          <p:cNvSpPr/>
          <p:nvPr/>
        </p:nvSpPr>
        <p:spPr>
          <a:xfrm rot="309913">
            <a:off x="1034883" y="1706281"/>
            <a:ext cx="25075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Formula</a:t>
            </a:r>
          </a:p>
        </p:txBody>
      </p:sp>
      <p:sp>
        <p:nvSpPr>
          <p:cNvPr id="21" name="Rectangle 20"/>
          <p:cNvSpPr/>
          <p:nvPr/>
        </p:nvSpPr>
        <p:spPr>
          <a:xfrm rot="20978274">
            <a:off x="5572626" y="1610704"/>
            <a:ext cx="2686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Equation</a:t>
            </a:r>
          </a:p>
        </p:txBody>
      </p:sp>
      <p:sp>
        <p:nvSpPr>
          <p:cNvPr id="22" name="Rectangle 21"/>
          <p:cNvSpPr/>
          <p:nvPr/>
        </p:nvSpPr>
        <p:spPr>
          <a:xfrm rot="303112">
            <a:off x="4161529" y="927541"/>
            <a:ext cx="8034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674764" y="3386609"/>
                <a:ext cx="289534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𝟒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𝒖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𝟑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764" y="3386609"/>
                <a:ext cx="2895344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577428" y="2924944"/>
                <a:ext cx="3740063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4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𝑢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428" y="2924944"/>
                <a:ext cx="3740063" cy="9233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4605136" y="5011340"/>
                <a:ext cx="4522392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9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𝒛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𝟏𝟗𝟎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136" y="5011340"/>
                <a:ext cx="4522392" cy="9233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-28591" y="2818652"/>
                <a:ext cx="2993127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𝒘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𝟑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591" y="2818652"/>
                <a:ext cx="2993127" cy="9233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-51428" y="4263892"/>
                <a:ext cx="2063385" cy="1670778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𝒔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𝒅</m:t>
                          </m:r>
                        </m:num>
                        <m:den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1428" y="4263892"/>
                <a:ext cx="2063385" cy="1670778"/>
              </a:xfrm>
              <a:prstGeom prst="rect">
                <a:avLst/>
              </a:prstGeom>
              <a:blipFill rotWithShape="1">
                <a:blip r:embed="rId8"/>
                <a:stretch>
                  <a:fillRect l="-1183" b="-87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6188941" y="3645024"/>
                <a:ext cx="2517036" cy="160659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𝒕</m:t>
                          </m:r>
                        </m:num>
                        <m:den>
                          <m:r>
                            <a:rPr lang="en-GB" sz="5400" b="1" i="1" spc="50" smtClean="0">
                              <a:ln w="11430"/>
                              <a:gradFill>
                                <a:gsLst>
                                  <a:gs pos="25000">
                                    <a:schemeClr val="accent2">
                                      <a:satMod val="155000"/>
                                    </a:schemeClr>
                                  </a:gs>
                                  <a:gs pos="100000">
                                    <a:schemeClr val="accent2">
                                      <a:shade val="45000"/>
                                      <a:satMod val="165000"/>
                                    </a:schemeClr>
                                  </a:gs>
                                </a:gsLst>
                                <a:lin ang="5400000"/>
                              </a:gradFill>
                              <a:effectLst>
                                <a:outerShdw blurRad="76200" dist="50800" dir="5400000" algn="tl" rotWithShape="0">
                                  <a:srgbClr val="000000">
                                    <a:alpha val="65000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𝟓</m:t>
                          </m:r>
                        </m:den>
                      </m:f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𝟑𝟓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941" y="3645024"/>
                <a:ext cx="2517036" cy="1606594"/>
              </a:xfrm>
              <a:prstGeom prst="rect">
                <a:avLst/>
              </a:prstGeom>
              <a:blipFill rotWithShape="1">
                <a:blip r:embed="rId9"/>
                <a:stretch>
                  <a:fillRect l="-1211" b="-95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663834" y="4448321"/>
                <a:ext cx="5591595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𝟕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.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𝟕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𝟑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𝒖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𝟏𝟖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.</m:t>
                      </m:r>
                      <m:r>
                        <a:rPr lang="en-GB" sz="5400" b="1" i="1" spc="50" smtClean="0">
                          <a:ln w="11430"/>
                          <a:gradFill>
                            <a:gsLst>
                              <a:gs pos="25000">
                                <a:schemeClr val="accent2">
                                  <a:satMod val="155000"/>
                                </a:schemeClr>
                              </a:gs>
                              <a:gs pos="100000">
                                <a:schemeClr val="accent2">
                                  <a:shade val="45000"/>
                                  <a:satMod val="16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outerShdw blurRad="76200" dist="50800" dir="5400000" algn="tl" rotWithShape="0">
                              <a:srgbClr val="000000">
                                <a:alpha val="65000"/>
                              </a:srgbClr>
                            </a:outerShdw>
                          </a:effectLst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sz="5400" b="1" spc="50" dirty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34" y="4448321"/>
                <a:ext cx="5591595" cy="92333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2563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21" grpId="0"/>
      <p:bldP spid="23" grpId="0"/>
      <p:bldP spid="23" grpId="1"/>
      <p:bldP spid="24" grpId="0"/>
      <p:bldP spid="24" grpId="1"/>
      <p:bldP spid="27" grpId="0"/>
      <p:bldP spid="27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0" y="620691"/>
            <a:ext cx="9144000" cy="5129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5 QUICK QUESTIONS CHECK - </a:t>
            </a:r>
            <a:r>
              <a:rPr lang="en-GB" sz="2800" dirty="0">
                <a:highlight>
                  <a:srgbClr val="FFFF00"/>
                </a:highlight>
                <a:latin typeface="Trebuchet MS" panose="020B0603020202020204" pitchFamily="34" charset="0"/>
              </a:rPr>
              <a:t>whiteboards</a:t>
            </a:r>
          </a:p>
          <a:p>
            <a:pPr algn="ctr"/>
            <a:endParaRPr lang="en-GB" sz="2800" dirty="0">
              <a:latin typeface="Trebuchet MS" panose="020B0603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GB" sz="2800" dirty="0">
                <a:latin typeface="Trebuchet MS" panose="020B0603020202020204" pitchFamily="34" charset="0"/>
              </a:rPr>
              <a:t>Now it’s time to check your learning. </a:t>
            </a:r>
          </a:p>
          <a:p>
            <a:pPr>
              <a:lnSpc>
                <a:spcPct val="200000"/>
              </a:lnSpc>
            </a:pPr>
            <a:r>
              <a:rPr lang="en-GB" sz="2800" dirty="0">
                <a:latin typeface="Trebuchet MS" panose="020B0603020202020204" pitchFamily="34" charset="0"/>
              </a:rPr>
              <a:t>You’ll see five questions.</a:t>
            </a:r>
          </a:p>
          <a:p>
            <a:pPr>
              <a:lnSpc>
                <a:spcPct val="200000"/>
              </a:lnSpc>
            </a:pPr>
            <a:r>
              <a:rPr lang="en-GB" sz="2800" dirty="0">
                <a:latin typeface="Trebuchet MS" panose="020B0603020202020204" pitchFamily="34" charset="0"/>
              </a:rPr>
              <a:t>The questions have a 30 second timer</a:t>
            </a:r>
          </a:p>
          <a:p>
            <a:pPr>
              <a:lnSpc>
                <a:spcPct val="200000"/>
              </a:lnSpc>
            </a:pPr>
            <a:r>
              <a:rPr lang="en-GB" sz="2800" dirty="0">
                <a:latin typeface="Trebuchet MS" panose="020B0603020202020204" pitchFamily="34" charset="0"/>
              </a:rPr>
              <a:t>How many can you get right? </a:t>
            </a:r>
          </a:p>
          <a:p>
            <a:pPr>
              <a:lnSpc>
                <a:spcPct val="200000"/>
              </a:lnSpc>
            </a:pPr>
            <a:r>
              <a:rPr lang="en-GB" sz="2800" dirty="0">
                <a:highlight>
                  <a:srgbClr val="FFFF00"/>
                </a:highlight>
                <a:latin typeface="Trebuchet MS" panose="020B0603020202020204" pitchFamily="34" charset="0"/>
              </a:rPr>
              <a:t>KEEP YOUR ANSWERS ON THE BOARD – NO ERASE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0614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5280" y="6320055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Timer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505" y="764705"/>
            <a:ext cx="2736304" cy="468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Trebuchet MS" panose="020B0603020202020204" pitchFamily="34" charset="0"/>
              </a:rPr>
              <a:t>Question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33772" y="2132856"/>
                <a:ext cx="867645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latin typeface="Cambria Math"/>
                        </a:rPr>
                        <m:t>5</m:t>
                      </m:r>
                      <m:r>
                        <a:rPr lang="en-GB" sz="7200" b="0" i="1" smtClean="0">
                          <a:latin typeface="Cambria Math"/>
                        </a:rPr>
                        <m:t>𝑣</m:t>
                      </m:r>
                      <m:r>
                        <a:rPr lang="en-GB" sz="7200" b="0" i="1" smtClean="0">
                          <a:latin typeface="Cambria Math"/>
                        </a:rPr>
                        <m:t>+2</m:t>
                      </m:r>
                      <m:r>
                        <a:rPr lang="en-GB" sz="7200" b="0" i="1" smtClean="0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n-GB" sz="72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72" y="2132856"/>
                <a:ext cx="8676456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-4412" y="155679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Write in words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920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5280" y="6320055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Timer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505" y="764705"/>
            <a:ext cx="2736304" cy="468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Trebuchet MS" panose="020B0603020202020204" pitchFamily="34" charset="0"/>
              </a:rPr>
              <a:t>Question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412" y="155679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Write 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>
                    <a:latin typeface="Trebuchet MS" panose="020B0603020202020204" pitchFamily="34" charset="0"/>
                  </a:rPr>
                  <a:t>5 lots of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, plus 7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6520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5280" y="6320055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Timer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505" y="764705"/>
            <a:ext cx="2736304" cy="468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Trebuchet MS" panose="020B0603020202020204" pitchFamily="34" charset="0"/>
              </a:rPr>
              <a:t>Question 3</a:t>
            </a:r>
          </a:p>
        </p:txBody>
      </p:sp>
      <p:sp>
        <p:nvSpPr>
          <p:cNvPr id="2" name="AutoShape 2" descr="Image result for inequality number 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Image result for inequality number lin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-4412" y="155679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Write 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>
                    <a:latin typeface="Trebuchet MS" panose="020B0603020202020204" pitchFamily="34" charset="0"/>
                  </a:rPr>
                  <a:t>9 added to</a:t>
                </a:r>
                <a14:m>
                  <m:oMath xmlns:m="http://schemas.openxmlformats.org/officeDocument/2006/math">
                    <m:r>
                      <a:rPr lang="en-GB" sz="2800" b="0" i="0" smtClean="0">
                        <a:latin typeface="Cambria Math"/>
                      </a:rPr>
                      <m:t> </m:t>
                    </m:r>
                    <m:r>
                      <a:rPr lang="en-GB" sz="28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, divided by 5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0269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5280" y="6320055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Timer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505" y="764705"/>
            <a:ext cx="2736304" cy="468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Trebuchet MS" panose="020B0603020202020204" pitchFamily="34" charset="0"/>
              </a:rPr>
              <a:t>Question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412" y="155679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Write 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multiplied by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, then divided by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0783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5280" y="6320055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Timer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505" y="764705"/>
            <a:ext cx="2736304" cy="4680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Trebuchet MS" panose="020B0603020202020204" pitchFamily="34" charset="0"/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4412" y="155679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Write an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 divided by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, then add 6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12" y="2708920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49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3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Forming expressions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0" y="620688"/>
                <a:ext cx="9144000" cy="6147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dirty="0">
                    <a:latin typeface="Trebuchet MS" panose="020B0603020202020204" pitchFamily="34" charset="0"/>
                  </a:rPr>
                  <a:t>Your answers:</a:t>
                </a:r>
              </a:p>
              <a:p>
                <a:pPr algn="ctr"/>
                <a:endParaRPr lang="en-GB" sz="2800" dirty="0">
                  <a:latin typeface="Trebuchet MS" panose="020B0603020202020204" pitchFamily="34" charset="0"/>
                </a:endParaRPr>
              </a:p>
              <a:p>
                <a:pPr marL="514350" indent="-514350">
                  <a:lnSpc>
                    <a:spcPct val="200000"/>
                  </a:lnSpc>
                  <a:buAutoNum type="arabicParenR"/>
                </a:pPr>
                <a:r>
                  <a:rPr lang="en-GB" sz="2800" dirty="0">
                    <a:latin typeface="Trebuchet MS" panose="020B0603020202020204" pitchFamily="34" charset="0"/>
                  </a:rPr>
                  <a:t>5 lots of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GB" sz="2800" dirty="0">
                    <a:latin typeface="Trebuchet MS" panose="020B0603020202020204" pitchFamily="34" charset="0"/>
                  </a:rPr>
                  <a:t>, added to 2 lots of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𝑢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pPr marL="514350" indent="-514350">
                  <a:lnSpc>
                    <a:spcPct val="200000"/>
                  </a:lnSpc>
                  <a:buAutoNum type="arabicParenR"/>
                </a:pP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/>
                      </a:rPr>
                      <m:t>5</m:t>
                    </m:r>
                    <m:r>
                      <a:rPr lang="en-GB" sz="2800" b="0" i="1" smtClean="0">
                        <a:latin typeface="Cambria Math"/>
                      </a:rPr>
                      <m:t>𝑥</m:t>
                    </m:r>
                    <m:r>
                      <a:rPr lang="en-GB" sz="2800" b="0" i="1" smtClean="0">
                        <a:latin typeface="Cambria Math"/>
                      </a:rPr>
                      <m:t>+7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pPr marL="514350" indent="-514350">
                  <a:lnSpc>
                    <a:spcPct val="200000"/>
                  </a:lnSpc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9+</m:t>
                        </m:r>
                        <m:r>
                          <a:rPr lang="en-GB" sz="2800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pPr marL="514350" indent="-514350">
                  <a:lnSpc>
                    <a:spcPct val="200000"/>
                  </a:lnSpc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𝑎𝑏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𝑐</m:t>
                        </m:r>
                      </m:den>
                    </m:f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  <a:p>
                <a:pPr marL="514350" indent="-514350">
                  <a:lnSpc>
                    <a:spcPct val="200000"/>
                  </a:lnSpc>
                  <a:buAutoNum type="arabi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/>
                          </a:rPr>
                          <m:t>𝑎</m:t>
                        </m:r>
                      </m:num>
                      <m:den>
                        <m:r>
                          <a:rPr lang="en-GB" sz="2800" b="0" i="1" smtClean="0">
                            <a:latin typeface="Cambria Math"/>
                          </a:rPr>
                          <m:t>𝑏</m:t>
                        </m:r>
                      </m:den>
                    </m:f>
                    <m:r>
                      <a:rPr lang="en-GB" sz="2800" b="0" i="1" smtClean="0">
                        <a:latin typeface="Cambria Math"/>
                      </a:rPr>
                      <m:t>+6</m:t>
                    </m:r>
                  </m:oMath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20688"/>
                <a:ext cx="9144000" cy="6147580"/>
              </a:xfrm>
              <a:prstGeom prst="rect">
                <a:avLst/>
              </a:prstGeom>
              <a:blipFill rotWithShape="1">
                <a:blip r:embed="rId3"/>
                <a:stretch>
                  <a:fillRect l="-1200" t="-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4746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Problem Solving Question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549275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002911" y="1735545"/>
            <a:ext cx="648072" cy="19442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 rot="5400000">
            <a:off x="4443071" y="943457"/>
            <a:ext cx="648072" cy="22322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 rot="5400000">
            <a:off x="4443071" y="1591529"/>
            <a:ext cx="648072" cy="22322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 rot="5400000">
            <a:off x="4433462" y="2239602"/>
            <a:ext cx="648072" cy="22322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5883231" y="1735545"/>
            <a:ext cx="648072" cy="19442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42954" y="1196752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954" y="1196752"/>
                <a:ext cx="36798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39752" y="2522987"/>
                <a:ext cx="4962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5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2522987"/>
                <a:ext cx="49622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002911" y="1566084"/>
            <a:ext cx="648072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843808" y="1735545"/>
            <a:ext cx="0" cy="194421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0" y="67908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Trebuchet MS" panose="020B0603020202020204" pitchFamily="34" charset="0"/>
              </a:rPr>
              <a:t>Work out an expression for the perimeter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1148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382"/>
            <a:ext cx="9144000" cy="546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Trebuchet MS" panose="020B0603020202020204" pitchFamily="34" charset="0"/>
                <a:cs typeface="Helvetica" pitchFamily="34" charset="0"/>
              </a:rPr>
              <a:t>The solution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549275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0" y="679084"/>
                <a:ext cx="9144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latin typeface="Cambria Math"/>
                        </a:rPr>
                        <m:t>24</m:t>
                      </m:r>
                      <m:r>
                        <a:rPr lang="en-GB" sz="2800" b="0" i="1" dirty="0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28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79084"/>
                <a:ext cx="9144000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085B4E2-C0D6-E277-6CD4-1DD1EE156519}"/>
              </a:ext>
            </a:extLst>
          </p:cNvPr>
          <p:cNvSpPr txBox="1"/>
          <p:nvPr/>
        </p:nvSpPr>
        <p:spPr>
          <a:xfrm>
            <a:off x="755576" y="2348880"/>
            <a:ext cx="77768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the worksheets provided:</a:t>
            </a:r>
            <a:endParaRPr lang="en-AU" sz="2800" dirty="0"/>
          </a:p>
          <a:p>
            <a:r>
              <a:rPr lang="en-AU" sz="2800" dirty="0"/>
              <a:t>“Why doesn’t an elephant smoke?” DD-42</a:t>
            </a:r>
            <a:r>
              <a:rPr lang="en-US" sz="2800" dirty="0"/>
              <a:t> CF</a:t>
            </a:r>
          </a:p>
          <a:p>
            <a:r>
              <a:rPr lang="en-US" sz="2800" dirty="0"/>
              <a:t>“What kind of case would a lawyer have if he slipped and hurt himself at the pool?” MOM 2.4/24</a:t>
            </a:r>
            <a:endParaRPr lang="en-AU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083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18595</TotalTime>
  <Words>1468</Words>
  <Application>Microsoft Office PowerPoint</Application>
  <PresentationFormat>On-screen Show (4:3)</PresentationFormat>
  <Paragraphs>255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Trebuchet MS</vt:lpstr>
      <vt:lpstr>Wingdings</vt:lpstr>
      <vt:lpstr>Office Theme</vt:lpstr>
      <vt:lpstr>1_Office Theme</vt:lpstr>
      <vt:lpstr>Lesson objective </vt:lpstr>
      <vt:lpstr>Whiteboards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Whiteboards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Machines</dc:title>
  <dc:creator>Richard Tock</dc:creator>
  <cp:lastModifiedBy>DAVIES Rhys [Busselton Senior High School]</cp:lastModifiedBy>
  <cp:revision>155</cp:revision>
  <cp:lastPrinted>2023-08-11T00:16:53Z</cp:lastPrinted>
  <dcterms:created xsi:type="dcterms:W3CDTF">2015-10-02T09:03:04Z</dcterms:created>
  <dcterms:modified xsi:type="dcterms:W3CDTF">2023-08-11T00:40:45Z</dcterms:modified>
</cp:coreProperties>
</file>
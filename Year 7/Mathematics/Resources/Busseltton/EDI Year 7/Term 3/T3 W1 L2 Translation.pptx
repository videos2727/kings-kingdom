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96" r:id="rId3"/>
    <p:sldId id="297" r:id="rId4"/>
    <p:sldId id="295" r:id="rId5"/>
    <p:sldId id="298" r:id="rId6"/>
    <p:sldId id="288" r:id="rId7"/>
    <p:sldId id="291" r:id="rId8"/>
    <p:sldId id="280" r:id="rId9"/>
    <p:sldId id="282" r:id="rId10"/>
    <p:sldId id="293" r:id="rId11"/>
    <p:sldId id="294" r:id="rId12"/>
    <p:sldId id="283" r:id="rId13"/>
    <p:sldId id="289" r:id="rId14"/>
    <p:sldId id="285" r:id="rId15"/>
    <p:sldId id="287" r:id="rId16"/>
    <p:sldId id="258" r:id="rId17"/>
    <p:sldId id="290" r:id="rId18"/>
    <p:sldId id="260" r:id="rId19"/>
    <p:sldId id="292" r:id="rId20"/>
    <p:sldId id="286" r:id="rId2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4930A-3D34-47A6-B82D-E6A4F234A682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69147-5BEA-40DD-ABE6-04FF13B82B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2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3310D3-AB9C-44CB-B80A-EBC311C94E39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Introduce the key terms and ask pupils to give examples of translations from everyday situations. For example, walking in a straight line from one side of the room to the other. </a:t>
            </a:r>
          </a:p>
          <a:p>
            <a:r>
              <a:rPr lang="en-GB" altLang="en-US" dirty="0"/>
              <a:t>Discuss how to define a translation. There are two ways to mathematically describe slide in a straight line in a given direction. One is to </a:t>
            </a:r>
            <a:r>
              <a:rPr lang="en-GB" altLang="en-US" dirty="0" err="1"/>
              <a:t>to</a:t>
            </a:r>
            <a:r>
              <a:rPr lang="en-GB" altLang="en-US" dirty="0"/>
              <a:t> give the direction as an angle and a distance (</a:t>
            </a:r>
            <a:r>
              <a:rPr lang="en-GB" altLang="en-US" i="1" dirty="0"/>
              <a:t>see S7 Measures – bearings</a:t>
            </a:r>
            <a:r>
              <a:rPr lang="en-GB" altLang="en-US" dirty="0"/>
              <a:t>), the other is to give the direction using a square grid. A slide in a straight line can be given as a number or units to the left or right and a number of units up or down. </a:t>
            </a:r>
          </a:p>
          <a:p>
            <a:r>
              <a:rPr lang="en-GB" altLang="en-US" dirty="0"/>
              <a:t>Point out that when a shape is translated each vertex (or corner) is moved through the given translation.</a:t>
            </a:r>
          </a:p>
          <a:p>
            <a:r>
              <a:rPr lang="en-GB" altLang="en-US" dirty="0"/>
              <a:t>The slide across is always given before the slide up or down.</a:t>
            </a:r>
          </a:p>
          <a:p>
            <a:r>
              <a:rPr lang="en-GB" altLang="en-US" dirty="0"/>
              <a:t>Ask pupils how we could return the translated shape back to its original position.</a:t>
            </a:r>
          </a:p>
        </p:txBody>
      </p:sp>
    </p:spTree>
    <p:extLst>
      <p:ext uri="{BB962C8B-B14F-4D97-AF65-F5344CB8AC3E}">
        <p14:creationId xmlns:p14="http://schemas.microsoft.com/office/powerpoint/2010/main" val="263472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5453-B59F-4524-AE6B-CA659D6EC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78EC2-A9F7-4796-A962-05C6E759F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16EFE-CD48-4BD1-AB85-A8542095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3A952-0A1B-4A2B-BE8B-712D0490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C160B-8E2A-4F33-8B01-D4962248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15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D231-ED5D-4FAA-A710-F4E820F0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AFAF2-4737-4BEF-8F4F-71CBEFCEA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F19C9-7D29-4CE5-9920-7E29847C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A5716-FDF8-4606-9305-2E9D3111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5AE0F-2E6C-4881-92E3-31FEB172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128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BDA3-2E7B-4E1D-86AC-11E0E7D7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ED0CD-9976-4F63-A067-D87123EB6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07D09-42FF-484A-8E7C-94478D0A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26F1C-54BC-4CA4-955F-96B8E117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DD14D-E345-40B2-8655-D4DCD334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831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E13E-A3F8-43BF-B89A-9E7D0211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08E99-FD28-45B6-B318-2F39E7B5E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F57CB-65ED-478F-A96B-B3A5D54C9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DE3BE-7246-4F99-B624-B36A93F1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3B649-A263-4D27-A2D3-17064ED8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479DD-CC66-49BE-843B-F90D859D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410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1B3E-1C87-440D-8DA0-9EA84B33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378F7-C6E8-42FE-9402-EC9637BBB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D63A6-61EF-4839-AC29-C680DE3D9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387DE-0095-436B-A4DE-90427A1D3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86D57-0629-4695-A2B2-5F3CB00C7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C65E4-347B-4946-B410-73134D8D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D609C6-8199-4424-ABE8-6A17A68B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7E31B-0D5C-467F-BFE7-33DB0A2E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38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5AF11-F65A-418D-A294-56554CA9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50BC5-FF79-4327-999F-12D43343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AC60A-C9F8-49A7-B962-0B1F9E23B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D39BB-2211-46B0-92A7-28A100AC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836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BB2EA-CFF1-4D54-9A4E-0229C1EC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DEB7E-95AD-49FB-9DB1-2A6B466F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F6DAA-2BD2-482A-92D5-18D41BC6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266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B188-5A1B-478F-8C71-CB159F0B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41C35-C7EA-49F9-B4EB-A60D3C71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EE329-992F-4E85-A6A1-F8474D29E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16870-48B5-44BA-8DB9-6CCB8071F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FC4E0-DED9-4759-B6AE-93FFDF50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33FA7-6476-4029-B22E-74431C8A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711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293A-85C8-4615-B8CC-ADBF3A168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059EC-6367-4BB4-BAFE-3E897B19D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2DFAD-E38F-4531-A028-3DBE22696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D9DBA-D206-48BF-82E0-26A1CDD0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0BB1F-D462-4179-9FEC-0750C02A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04D68-BC63-4934-9045-9632AC1A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459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5471-8EA1-4604-BCE5-798E5D98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07119-B420-41D1-9B94-5AAAB45C2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FA20-E953-452F-9E54-072D9ADE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2CB38-37CA-49B0-8666-EF4DBB13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D56BC-DEC7-4061-A6D1-D2EF37F5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9EBFC-C09D-4854-A1A0-F947DA390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2978A-104E-4F24-BC89-45933C841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98A0-33FE-4632-A136-B428FAC0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BA388-0E8F-4799-BC12-6934CCC6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8EA5F-9E17-4B0E-AF36-27E16DEC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371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4B6B3-E859-44A0-A881-C353AC39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E9808-B403-4D32-B34A-7BD1E89D2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7726D-3641-4417-90DA-CCF758F5A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53119-57B3-49A4-8BDB-82DA5901D840}" type="datetimeFigureOut">
              <a:rPr lang="en-AU" smtClean="0"/>
              <a:t>19/07/2023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B681B-B368-41FA-9DA7-65BF1DF91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171EA-DB29-4CA8-AE59-669867092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05025-B291-44A9-A7BE-466EC54F4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14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CD1415-D0C6-4939-B113-C984AE6C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EFA4F4-6442-4BB6-AED9-AE1D7FAE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6"/>
            <a:ext cx="10515600" cy="51401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chemeClr val="bg1"/>
                </a:solidFill>
              </a:rPr>
              <a:t>Title: </a:t>
            </a:r>
            <a:r>
              <a:rPr lang="en-AU" sz="3200" b="1" dirty="0">
                <a:solidFill>
                  <a:srgbClr val="00B0F0"/>
                </a:solidFill>
              </a:rPr>
              <a:t>Translating shapes </a:t>
            </a:r>
          </a:p>
          <a:p>
            <a:pPr marL="0" indent="0">
              <a:buNone/>
            </a:pPr>
            <a:endParaRPr lang="en-AU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Aim -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200" b="1" dirty="0">
                <a:solidFill>
                  <a:srgbClr val="00B0F0"/>
                </a:solidFill>
              </a:rPr>
              <a:t> Plot points on a cartesian plane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200" b="1" dirty="0">
                <a:solidFill>
                  <a:srgbClr val="00B0F0"/>
                </a:solidFill>
              </a:rPr>
              <a:t> Describe and perform translation </a:t>
            </a:r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Algebra review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types of 3D drawings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Plotting points </a:t>
            </a:r>
          </a:p>
          <a:p>
            <a:pPr>
              <a:buFontTx/>
              <a:buChar char="-"/>
            </a:pPr>
            <a:r>
              <a:rPr lang="en-AU" sz="3200" b="1" dirty="0">
                <a:solidFill>
                  <a:srgbClr val="00B0F0"/>
                </a:solidFill>
              </a:rPr>
              <a:t>Translation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081C1D-757D-4FBC-FEAB-0198C3D62CE4}"/>
              </a:ext>
            </a:extLst>
          </p:cNvPr>
          <p:cNvSpPr txBox="1"/>
          <p:nvPr/>
        </p:nvSpPr>
        <p:spPr>
          <a:xfrm>
            <a:off x="8859915" y="1935332"/>
            <a:ext cx="28142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 you remember?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Coefficient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Pronumeral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Index number/power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578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C156-549C-39CE-38C1-35F42BB8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Daily review – pronumerals </a:t>
            </a:r>
            <a:endParaRPr lang="en-A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353C8-5B9C-EFDF-9B31-B0BB4909DB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400" b="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Identify the following for each term: </a:t>
                </a:r>
              </a:p>
              <a:p>
                <a:pPr marL="0" indent="0">
                  <a:buNone/>
                </a:pPr>
                <a:endParaRPr lang="en-US" sz="4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8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8000" dirty="0">
                    <a:solidFill>
                      <a:schemeClr val="bg1"/>
                    </a:solidFill>
                  </a:rPr>
                  <a:t>						</a:t>
                </a:r>
                <a14:m>
                  <m:oMath xmlns:m="http://schemas.openxmlformats.org/officeDocument/2006/math">
                    <m:r>
                      <a:rPr lang="en-US" sz="8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23</m:t>
                    </m:r>
                    <m:sSup>
                      <m:sSupPr>
                        <m:ctrlPr>
                          <a:rPr lang="en-US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sz="80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AU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AU" sz="1800" dirty="0">
                    <a:solidFill>
                      <a:schemeClr val="bg1"/>
                    </a:solidFill>
                  </a:rPr>
                  <a:t>Co-efficient: </a:t>
                </a:r>
              </a:p>
              <a:p>
                <a:pPr marL="0" indent="0">
                  <a:buNone/>
                </a:pPr>
                <a:r>
                  <a:rPr lang="en-AU" sz="1800" dirty="0">
                    <a:solidFill>
                      <a:schemeClr val="bg1"/>
                    </a:solidFill>
                  </a:rPr>
                  <a:t>Pronumeral:  </a:t>
                </a:r>
              </a:p>
              <a:p>
                <a:pPr marL="0" indent="0">
                  <a:buNone/>
                </a:pPr>
                <a:r>
                  <a:rPr lang="en-AU" sz="1800" dirty="0">
                    <a:solidFill>
                      <a:schemeClr val="bg1"/>
                    </a:solidFill>
                  </a:rPr>
                  <a:t>Power/indices/exponent 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353C8-5B9C-EFDF-9B31-B0BB4909DB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77" t="-43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0B807F-8532-2A53-A7AF-E163E9A4F664}"/>
              </a:ext>
            </a:extLst>
          </p:cNvPr>
          <p:cNvSpPr txBox="1"/>
          <p:nvPr/>
        </p:nvSpPr>
        <p:spPr>
          <a:xfrm>
            <a:off x="7075503" y="4976634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sz="1800" dirty="0">
                <a:solidFill>
                  <a:schemeClr val="bg1"/>
                </a:solidFill>
              </a:rPr>
              <a:t>Co-efficient: 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bg1"/>
                </a:solidFill>
              </a:rPr>
              <a:t>Pronumeral:  </a:t>
            </a:r>
          </a:p>
          <a:p>
            <a:pPr marL="0" indent="0">
              <a:buNone/>
            </a:pPr>
            <a:r>
              <a:rPr lang="en-AU" sz="1800" dirty="0">
                <a:solidFill>
                  <a:schemeClr val="bg1"/>
                </a:solidFill>
              </a:rPr>
              <a:t>Power/indices/exponent :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70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C156-549C-39CE-38C1-35F42BB8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– pronumerals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353C8-5B9C-EFDF-9B31-B0BB4909DB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Identify the following for each term: </a:t>
                </a:r>
              </a:p>
              <a:p>
                <a:pPr marL="0" indent="0">
                  <a:buNone/>
                </a:pPr>
                <a:endParaRPr lang="en-US" sz="4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8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8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8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8000" dirty="0">
                    <a:solidFill>
                      <a:schemeClr val="tx1"/>
                    </a:solidFill>
                  </a:rPr>
                  <a:t>						</a:t>
                </a:r>
                <a14:m>
                  <m:oMath xmlns:m="http://schemas.openxmlformats.org/officeDocument/2006/math">
                    <m:r>
                      <a:rPr lang="en-US" sz="8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23</m:t>
                    </m:r>
                    <m:sSup>
                      <m:sSupPr>
                        <m:ctrlPr>
                          <a:rPr lang="en-US" sz="8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8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sz="8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AU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AU" sz="1800" dirty="0">
                    <a:solidFill>
                      <a:schemeClr val="tx1"/>
                    </a:solidFill>
                  </a:rPr>
                  <a:t>Co-efficient: </a:t>
                </a:r>
              </a:p>
              <a:p>
                <a:pPr marL="0" indent="0">
                  <a:buNone/>
                </a:pPr>
                <a:r>
                  <a:rPr lang="en-AU" sz="1800" dirty="0">
                    <a:solidFill>
                      <a:schemeClr val="tx1"/>
                    </a:solidFill>
                  </a:rPr>
                  <a:t>Pronumeral:  </a:t>
                </a:r>
              </a:p>
              <a:p>
                <a:pPr marL="0" indent="0">
                  <a:buNone/>
                </a:pPr>
                <a:r>
                  <a:rPr lang="en-AU" sz="1800" dirty="0">
                    <a:solidFill>
                      <a:schemeClr val="tx1"/>
                    </a:solidFill>
                  </a:rPr>
                  <a:t>Power/indices/exponent 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353C8-5B9C-EFDF-9B31-B0BB4909DB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77" t="-43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0B807F-8532-2A53-A7AF-E163E9A4F664}"/>
              </a:ext>
            </a:extLst>
          </p:cNvPr>
          <p:cNvSpPr txBox="1"/>
          <p:nvPr/>
        </p:nvSpPr>
        <p:spPr>
          <a:xfrm>
            <a:off x="7075503" y="4976634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sz="1800" dirty="0"/>
              <a:t>Co-efficient: </a:t>
            </a:r>
          </a:p>
          <a:p>
            <a:pPr marL="0" indent="0">
              <a:buNone/>
            </a:pPr>
            <a:r>
              <a:rPr lang="en-AU" sz="1800" dirty="0"/>
              <a:t>Pronumeral:  </a:t>
            </a:r>
          </a:p>
          <a:p>
            <a:pPr marL="0" indent="0">
              <a:buNone/>
            </a:pPr>
            <a:r>
              <a:rPr lang="en-AU" sz="1800" dirty="0"/>
              <a:t>Power/indices/exponent :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3299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0C7D-EE9E-6E25-5DEC-CBCF7339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Daily review – like terms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0DE77-19C5-36BF-AD70-B141F4645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41" y="1825625"/>
            <a:ext cx="11683013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Like terms use the </a:t>
            </a:r>
            <a:r>
              <a:rPr lang="en-US" sz="3200" b="1" i="1" u="sng" dirty="0">
                <a:solidFill>
                  <a:srgbClr val="FF0000"/>
                </a:solidFill>
              </a:rPr>
              <a:t>exact</a:t>
            </a:r>
            <a:r>
              <a:rPr lang="en-US" sz="3200" b="1" dirty="0">
                <a:solidFill>
                  <a:srgbClr val="FF0000"/>
                </a:solidFill>
              </a:rPr>
              <a:t> same </a:t>
            </a:r>
            <a:r>
              <a:rPr lang="en-US" sz="3200" b="1" i="1" u="sng" dirty="0">
                <a:solidFill>
                  <a:srgbClr val="FF0000"/>
                </a:solidFill>
              </a:rPr>
              <a:t>pronumeral</a:t>
            </a:r>
            <a:r>
              <a:rPr lang="en-US" sz="3200" b="1" dirty="0">
                <a:solidFill>
                  <a:srgbClr val="FF0000"/>
                </a:solidFill>
              </a:rPr>
              <a:t> and the same </a:t>
            </a:r>
            <a:r>
              <a:rPr lang="en-US" sz="3200" b="1" i="1" u="sng" dirty="0">
                <a:solidFill>
                  <a:srgbClr val="FF0000"/>
                </a:solidFill>
              </a:rPr>
              <a:t>power</a:t>
            </a:r>
            <a:r>
              <a:rPr lang="en-US" sz="3200" b="1" dirty="0">
                <a:solidFill>
                  <a:srgbClr val="FF0000"/>
                </a:solidFill>
              </a:rPr>
              <a:t>.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Like terms use the </a:t>
            </a:r>
            <a:r>
              <a:rPr lang="en-US" sz="3200" b="1" i="1" u="sng" dirty="0">
                <a:solidFill>
                  <a:schemeClr val="bg1"/>
                </a:solidFill>
              </a:rPr>
              <a:t>____</a:t>
            </a:r>
            <a:r>
              <a:rPr lang="en-US" sz="3200" b="1" dirty="0">
                <a:solidFill>
                  <a:schemeClr val="bg1"/>
                </a:solidFill>
              </a:rPr>
              <a:t> same </a:t>
            </a:r>
            <a:r>
              <a:rPr lang="en-US" sz="3200" b="1" i="1" u="sng" dirty="0">
                <a:solidFill>
                  <a:schemeClr val="bg1"/>
                </a:solidFill>
              </a:rPr>
              <a:t>pronumeral</a:t>
            </a:r>
            <a:r>
              <a:rPr lang="en-US" sz="3200" b="1" dirty="0">
                <a:solidFill>
                  <a:schemeClr val="bg1"/>
                </a:solidFill>
              </a:rPr>
              <a:t> and the same </a:t>
            </a:r>
            <a:r>
              <a:rPr lang="en-US" sz="3200" b="1" i="1" u="sng" dirty="0">
                <a:solidFill>
                  <a:schemeClr val="bg1"/>
                </a:solidFill>
              </a:rPr>
              <a:t>power</a:t>
            </a:r>
            <a:r>
              <a:rPr lang="en-US" sz="3200" b="1" dirty="0">
                <a:solidFill>
                  <a:schemeClr val="bg1"/>
                </a:solidFill>
              </a:rPr>
              <a:t>.</a:t>
            </a:r>
            <a:endParaRPr lang="en-AU" sz="32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AU" sz="32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Like terms use the </a:t>
            </a:r>
            <a:r>
              <a:rPr lang="en-US" sz="3200" b="1" i="1" u="sng" dirty="0">
                <a:solidFill>
                  <a:schemeClr val="bg1"/>
                </a:solidFill>
              </a:rPr>
              <a:t>_____</a:t>
            </a:r>
            <a:r>
              <a:rPr lang="en-US" sz="3200" b="1" dirty="0">
                <a:solidFill>
                  <a:schemeClr val="bg1"/>
                </a:solidFill>
              </a:rPr>
              <a:t> same </a:t>
            </a:r>
            <a:r>
              <a:rPr lang="en-US" sz="3200" b="1" i="1" u="sng" dirty="0">
                <a:solidFill>
                  <a:schemeClr val="bg1"/>
                </a:solidFill>
              </a:rPr>
              <a:t>_________</a:t>
            </a:r>
            <a:r>
              <a:rPr lang="en-US" sz="3200" b="1" dirty="0">
                <a:solidFill>
                  <a:schemeClr val="bg1"/>
                </a:solidFill>
              </a:rPr>
              <a:t> and the same </a:t>
            </a:r>
            <a:r>
              <a:rPr lang="en-US" sz="3200" b="1" i="1" u="sng" dirty="0">
                <a:solidFill>
                  <a:schemeClr val="bg1"/>
                </a:solidFill>
              </a:rPr>
              <a:t>power</a:t>
            </a:r>
            <a:r>
              <a:rPr lang="en-US" sz="3200" b="1" dirty="0">
                <a:solidFill>
                  <a:schemeClr val="bg1"/>
                </a:solidFill>
              </a:rPr>
              <a:t>.</a:t>
            </a:r>
            <a:endParaRPr lang="en-AU" sz="32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AU" sz="32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Like terms use the </a:t>
            </a:r>
            <a:r>
              <a:rPr lang="en-US" sz="3200" b="1" i="1" u="sng" dirty="0">
                <a:solidFill>
                  <a:schemeClr val="bg1"/>
                </a:solidFill>
              </a:rPr>
              <a:t>_____</a:t>
            </a:r>
            <a:r>
              <a:rPr lang="en-US" sz="3200" b="1" dirty="0">
                <a:solidFill>
                  <a:schemeClr val="bg1"/>
                </a:solidFill>
              </a:rPr>
              <a:t> same </a:t>
            </a:r>
            <a:r>
              <a:rPr lang="en-US" sz="3200" b="1" i="1" u="sng" dirty="0">
                <a:solidFill>
                  <a:schemeClr val="bg1"/>
                </a:solidFill>
              </a:rPr>
              <a:t>_________</a:t>
            </a:r>
            <a:r>
              <a:rPr lang="en-US" sz="3200" b="1" dirty="0">
                <a:solidFill>
                  <a:schemeClr val="bg1"/>
                </a:solidFill>
              </a:rPr>
              <a:t> and the same </a:t>
            </a:r>
            <a:r>
              <a:rPr lang="en-US" sz="3200" b="1" i="1" u="sng" dirty="0">
                <a:solidFill>
                  <a:schemeClr val="bg1"/>
                </a:solidFill>
              </a:rPr>
              <a:t>______</a:t>
            </a:r>
            <a:endParaRPr lang="en-AU" sz="32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AU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68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AAAA-0101-8F46-07E7-86EC97C6A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Simplify by collecting like terms  (exercise books)</a:t>
            </a:r>
            <a:endParaRPr lang="en-AU" sz="4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A1A50F-3824-22C4-3747-EB6F97DDEB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6763" y="2141537"/>
                <a:ext cx="3192262" cy="4351338"/>
              </a:xfrm>
              <a:ln w="76200">
                <a:solidFill>
                  <a:srgbClr val="92D050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+ 2</m:t>
                      </m:r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−6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−9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A1A50F-3824-22C4-3747-EB6F97DDE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6763" y="2141537"/>
                <a:ext cx="3192262" cy="4351338"/>
              </a:xfrm>
              <a:blipFill>
                <a:blip r:embed="rId2"/>
                <a:stretch>
                  <a:fillRect/>
                </a:stretch>
              </a:blipFill>
              <a:ln w="7620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FF5FFB9-EDF0-7AC5-EABB-418BDC15DD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5023" y="2141537"/>
                <a:ext cx="4167326" cy="4351338"/>
              </a:xfrm>
              <a:prstGeom prst="rect">
                <a:avLst/>
              </a:prstGeom>
              <a:ln w="76200">
                <a:solidFill>
                  <a:srgbClr val="FFFF0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−4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FF5FFB9-EDF0-7AC5-EABB-418BDC15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023" y="2141537"/>
                <a:ext cx="4167326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76200"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FD1EDB4-BCF2-C076-AE81-BE3A0C3DF1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43294" y="2141537"/>
                <a:ext cx="4167326" cy="4351338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chemeClr val="bg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0.5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FD1EDB4-BCF2-C076-AE81-BE3A0C3DF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294" y="2141537"/>
                <a:ext cx="4167326" cy="435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94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E3DD-F820-41DF-A44A-E8843E48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Types of view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E4EA-E8DB-4586-BC30-9FC60BA7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5335479"/>
            <a:ext cx="2956265" cy="60368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Oblique (Flat face)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B13B218-D606-4480-98E0-3FA30F1D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6" y="1604390"/>
            <a:ext cx="11496821" cy="347778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1CCBA6-13FD-4C2E-B22E-F6A96D70C98D}"/>
              </a:ext>
            </a:extLst>
          </p:cNvPr>
          <p:cNvSpPr txBox="1">
            <a:spLocks/>
          </p:cNvSpPr>
          <p:nvPr/>
        </p:nvSpPr>
        <p:spPr>
          <a:xfrm>
            <a:off x="4492663" y="5335479"/>
            <a:ext cx="3301931" cy="87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Isometric (diagonals)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CD2EAB-DC31-4E8D-9154-CB0232CB30B2}"/>
              </a:ext>
            </a:extLst>
          </p:cNvPr>
          <p:cNvSpPr txBox="1">
            <a:spLocks/>
          </p:cNvSpPr>
          <p:nvPr/>
        </p:nvSpPr>
        <p:spPr>
          <a:xfrm>
            <a:off x="8373121" y="5363591"/>
            <a:ext cx="3558467" cy="957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Orthogonal (top, front and view)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44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E3DD-F820-41DF-A44A-E8843E48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Types of view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E4EA-E8DB-4586-BC30-9FC60BA7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5335479"/>
            <a:ext cx="2956265" cy="60368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Oblique (Flat face)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B13B218-D606-4480-98E0-3FA30F1D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6" y="1604390"/>
            <a:ext cx="11496821" cy="347778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1CCBA6-13FD-4C2E-B22E-F6A96D70C98D}"/>
              </a:ext>
            </a:extLst>
          </p:cNvPr>
          <p:cNvSpPr txBox="1">
            <a:spLocks/>
          </p:cNvSpPr>
          <p:nvPr/>
        </p:nvSpPr>
        <p:spPr>
          <a:xfrm>
            <a:off x="4492663" y="5335479"/>
            <a:ext cx="3301931" cy="87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Isometric (diagonals)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CD2EAB-DC31-4E8D-9154-CB0232CB30B2}"/>
              </a:ext>
            </a:extLst>
          </p:cNvPr>
          <p:cNvSpPr txBox="1">
            <a:spLocks/>
          </p:cNvSpPr>
          <p:nvPr/>
        </p:nvSpPr>
        <p:spPr>
          <a:xfrm>
            <a:off x="8373121" y="5363591"/>
            <a:ext cx="3558467" cy="957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Orthogonal (top, front and view)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21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0"/>
            <a:ext cx="3736605" cy="620688"/>
          </a:xfrm>
        </p:spPr>
        <p:txBody>
          <a:bodyPr>
            <a:normAutofit fontScale="90000"/>
          </a:bodyPr>
          <a:lstStyle/>
          <a:p>
            <a:r>
              <a:rPr lang="en-AU" dirty="0"/>
              <a:t>Co-ordinates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4941168"/>
            <a:ext cx="9144000" cy="1916832"/>
          </a:xfrm>
        </p:spPr>
        <p:txBody>
          <a:bodyPr>
            <a:normAutofit/>
          </a:bodyPr>
          <a:lstStyle/>
          <a:p>
            <a:r>
              <a:rPr lang="en-AU" sz="2400" dirty="0">
                <a:solidFill>
                  <a:schemeClr val="bg1"/>
                </a:solidFill>
              </a:rPr>
              <a:t>Co-ordinates locate a point on the Cartesian plane</a:t>
            </a:r>
          </a:p>
          <a:p>
            <a:r>
              <a:rPr lang="en-AU" sz="2400" dirty="0">
                <a:solidFill>
                  <a:schemeClr val="bg1"/>
                </a:solidFill>
              </a:rPr>
              <a:t>As babies, you learn to</a:t>
            </a:r>
          </a:p>
          <a:p>
            <a:pPr marL="914400" lvl="2" indent="0" algn="ctr">
              <a:buNone/>
            </a:pPr>
            <a:r>
              <a:rPr lang="en-AU" sz="2800" dirty="0">
                <a:solidFill>
                  <a:schemeClr val="bg1"/>
                </a:solidFill>
              </a:rPr>
              <a:t>“Crawl </a:t>
            </a:r>
            <a:r>
              <a:rPr lang="en-AU" sz="2800" b="1" dirty="0">
                <a:solidFill>
                  <a:schemeClr val="bg1"/>
                </a:solidFill>
              </a:rPr>
              <a:t>along</a:t>
            </a:r>
            <a:r>
              <a:rPr lang="en-AU" sz="2800" dirty="0">
                <a:solidFill>
                  <a:schemeClr val="bg1"/>
                </a:solidFill>
              </a:rPr>
              <a:t> before you climb </a:t>
            </a:r>
            <a:r>
              <a:rPr lang="en-AU" sz="2800" b="1" dirty="0">
                <a:solidFill>
                  <a:schemeClr val="bg1"/>
                </a:solidFill>
              </a:rPr>
              <a:t>up or down</a:t>
            </a:r>
            <a:r>
              <a:rPr lang="en-AU" sz="2800" dirty="0">
                <a:solidFill>
                  <a:schemeClr val="bg1"/>
                </a:solidFill>
              </a:rPr>
              <a:t>”</a:t>
            </a:r>
          </a:p>
          <a:p>
            <a:r>
              <a:rPr lang="en-AU" sz="2400" dirty="0">
                <a:solidFill>
                  <a:schemeClr val="bg1"/>
                </a:solidFill>
              </a:rPr>
              <a:t>Along first; up or down second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606" y="1"/>
            <a:ext cx="4975347" cy="4954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520" y="692697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(3 , 6)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9567" y="227390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5520" y="1220883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(6 , 2)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3967" y="226869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472" y="1749069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(5 , -4)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119" y="227300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4095" y="2359572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(0 , -7)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5167" y="227390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5465" y="44085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5002" y="2932583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(-2 , 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8849" y="226589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2195" y="3521622"/>
            <a:ext cx="1390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(-1 , -5)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1317" y="226438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2195" y="4064547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(-7 , 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2517" y="227390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356" y="1220882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(1 , 3)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1813" y="130762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7390" y="790236"/>
            <a:ext cx="1506759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dirty="0"/>
              <a:t>Now you plot: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3360" y="1752112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(-3 ,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508" y="186933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3360" y="2352305"/>
            <a:ext cx="1390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(-4 , -6)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508" y="246952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5920" y="2952498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(7 , -2)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5841" y="306021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4335" y="3568109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(4 , 5)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5483" y="368533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4335" y="4122621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chemeClr val="bg1"/>
                </a:solidFill>
              </a:rPr>
              <a:t>(-5 ,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483" y="423984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7590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33333E-6 L 0.00035 -0.2652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1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0.00035 -0.08264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0.00087 0.17917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33333E-6 L 0.00035 0.31389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1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07407E-6 L 0.00121 -0.17662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0.00034 0.22639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1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59259E-6 L 0.25873 0.0081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30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96296E-6 L 0.153 -0.07547 " pathEditMode="relative" rAng="0" ptsTypes="AA">
                                      <p:cBhvr>
                                        <p:cTn id="16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43" y="-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96296E-6 L 0.13191 0.23773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9" y="1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0.39961 -0.02546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74" y="-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7 L 0.33386 -0.42523 " pathEditMode="relative" rAng="0" ptsTypes="AA">
                                      <p:cBhvr>
                                        <p:cTn id="18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93" y="-2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111E-6 L 0.10977 -0.37245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2" y="-1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1" grpId="0"/>
      <p:bldP spid="11" grpId="1"/>
      <p:bldP spid="12" grpId="0"/>
      <p:bldP spid="13" grpId="0"/>
      <p:bldP spid="13" grpId="1"/>
      <p:bldP spid="14" grpId="0"/>
      <p:bldP spid="15" grpId="0"/>
      <p:bldP spid="15" grpId="1"/>
      <p:bldP spid="16" grpId="0"/>
      <p:bldP spid="17" grpId="0"/>
      <p:bldP spid="17" grpId="1"/>
      <p:bldP spid="18" grpId="0"/>
      <p:bldP spid="19" grpId="0"/>
      <p:bldP spid="20" grpId="0"/>
      <p:bldP spid="20" grpId="1"/>
      <p:bldP spid="21" grpId="0"/>
      <p:bldP spid="22" grpId="0"/>
      <p:bldP spid="22" grpId="1"/>
      <p:bldP spid="23" grpId="0"/>
      <p:bldP spid="24" grpId="0"/>
      <p:bldP spid="25" grpId="0"/>
      <p:bldP spid="26" grpId="0"/>
      <p:bldP spid="26" grpId="1"/>
      <p:bldP spid="27" grpId="0" animBg="1"/>
      <p:bldP spid="28" grpId="0"/>
      <p:bldP spid="29" grpId="0"/>
      <p:bldP spid="29" grpId="1"/>
      <p:bldP spid="30" grpId="0"/>
      <p:bldP spid="31" grpId="0"/>
      <p:bldP spid="31" grpId="1"/>
      <p:bldP spid="32" grpId="0"/>
      <p:bldP spid="33" grpId="0"/>
      <p:bldP spid="33" grpId="1"/>
      <p:bldP spid="34" grpId="0"/>
      <p:bldP spid="35" grpId="0"/>
      <p:bldP spid="35" grpId="1"/>
      <p:bldP spid="36" grpId="0"/>
      <p:bldP spid="37" grpId="0"/>
      <p:bldP spid="3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0"/>
            <a:ext cx="3736605" cy="620688"/>
          </a:xfrm>
        </p:spPr>
        <p:txBody>
          <a:bodyPr>
            <a:normAutofit fontScale="90000"/>
          </a:bodyPr>
          <a:lstStyle/>
          <a:p>
            <a:r>
              <a:rPr lang="en-AU" dirty="0"/>
              <a:t>Co-ordinates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4941168"/>
            <a:ext cx="9144000" cy="1916832"/>
          </a:xfrm>
        </p:spPr>
        <p:txBody>
          <a:bodyPr>
            <a:normAutofit/>
          </a:bodyPr>
          <a:lstStyle/>
          <a:p>
            <a:r>
              <a:rPr lang="en-AU" sz="2400" dirty="0">
                <a:solidFill>
                  <a:schemeClr val="bg1"/>
                </a:solidFill>
              </a:rPr>
              <a:t>Co-ordinates locate a point on the Cartesian plane</a:t>
            </a:r>
          </a:p>
          <a:p>
            <a:r>
              <a:rPr lang="en-AU" sz="2400" dirty="0">
                <a:solidFill>
                  <a:schemeClr val="bg1"/>
                </a:solidFill>
              </a:rPr>
              <a:t>As babies, you learn to</a:t>
            </a:r>
          </a:p>
          <a:p>
            <a:pPr marL="914400" lvl="2" indent="0" algn="ctr">
              <a:buNone/>
            </a:pPr>
            <a:r>
              <a:rPr lang="en-AU" sz="2800" dirty="0">
                <a:solidFill>
                  <a:schemeClr val="bg1"/>
                </a:solidFill>
              </a:rPr>
              <a:t>“Crawl </a:t>
            </a:r>
            <a:r>
              <a:rPr lang="en-AU" sz="2800" b="1" dirty="0">
                <a:solidFill>
                  <a:schemeClr val="bg1"/>
                </a:solidFill>
              </a:rPr>
              <a:t>along</a:t>
            </a:r>
            <a:r>
              <a:rPr lang="en-AU" sz="2800" dirty="0">
                <a:solidFill>
                  <a:schemeClr val="bg1"/>
                </a:solidFill>
              </a:rPr>
              <a:t> before you climb </a:t>
            </a:r>
            <a:r>
              <a:rPr lang="en-AU" sz="2800" b="1" dirty="0">
                <a:solidFill>
                  <a:schemeClr val="bg1"/>
                </a:solidFill>
              </a:rPr>
              <a:t>up or down</a:t>
            </a:r>
            <a:r>
              <a:rPr lang="en-AU" sz="2800" dirty="0">
                <a:solidFill>
                  <a:schemeClr val="bg1"/>
                </a:solidFill>
              </a:rPr>
              <a:t>”</a:t>
            </a:r>
          </a:p>
          <a:p>
            <a:r>
              <a:rPr lang="en-AU" sz="2400" dirty="0">
                <a:solidFill>
                  <a:schemeClr val="bg1"/>
                </a:solidFill>
              </a:rPr>
              <a:t>Along first; up or down second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22" y="-13817"/>
            <a:ext cx="4975347" cy="49549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4000" y="692697"/>
            <a:ext cx="3563888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Plot and join these points in order to form a shape: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59366" b="50319"/>
          <a:stretch/>
        </p:blipFill>
        <p:spPr>
          <a:xfrm>
            <a:off x="1509564" y="1411035"/>
            <a:ext cx="3701108" cy="370436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3"/>
          <a:srcRect l="41351" t="-1976" r="14405" b="51497"/>
          <a:stretch/>
        </p:blipFill>
        <p:spPr>
          <a:xfrm>
            <a:off x="1509564" y="1830100"/>
            <a:ext cx="4029845" cy="37638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3"/>
          <a:srcRect l="86528" t="1323" r="110" b="56202"/>
          <a:stretch/>
        </p:blipFill>
        <p:spPr>
          <a:xfrm>
            <a:off x="1509564" y="2255115"/>
            <a:ext cx="1217072" cy="316704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3"/>
          <a:srcRect l="1088" t="50000" r="69729" b="7525"/>
          <a:stretch/>
        </p:blipFill>
        <p:spPr>
          <a:xfrm>
            <a:off x="2726636" y="2255115"/>
            <a:ext cx="2658164" cy="3167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83197" y="103946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1918" y="75708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3898" y="74946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878" y="103902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9138" y="135144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4298" y="133620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7078" y="103902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94698" y="288306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1918" y="317262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518" y="318786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23498" y="287544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241704" y="929640"/>
            <a:ext cx="614516" cy="3067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7858924" y="931540"/>
            <a:ext cx="591656" cy="57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460904" y="954400"/>
            <a:ext cx="599276" cy="2800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8481060" y="1249680"/>
            <a:ext cx="571500" cy="3124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856220" y="1546860"/>
            <a:ext cx="609600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7254240" y="1234440"/>
            <a:ext cx="601980" cy="2971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 flipV="1">
            <a:off x="7223760" y="1242060"/>
            <a:ext cx="15240" cy="18288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7254240" y="3093720"/>
            <a:ext cx="594360" cy="2667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7871460" y="3398520"/>
            <a:ext cx="5715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8465820" y="3086100"/>
            <a:ext cx="594360" cy="3124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9052560" y="1242060"/>
            <a:ext cx="7620" cy="18288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68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0"/>
            <a:ext cx="3736605" cy="620688"/>
          </a:xfrm>
        </p:spPr>
        <p:txBody>
          <a:bodyPr>
            <a:normAutofit fontScale="90000"/>
          </a:bodyPr>
          <a:lstStyle/>
          <a:p>
            <a:r>
              <a:rPr lang="en-AU" dirty="0"/>
              <a:t>Co-ordinates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4941168"/>
            <a:ext cx="9144000" cy="1916832"/>
          </a:xfrm>
        </p:spPr>
        <p:txBody>
          <a:bodyPr>
            <a:normAutofit/>
          </a:bodyPr>
          <a:lstStyle/>
          <a:p>
            <a:r>
              <a:rPr lang="en-AU" sz="2400" dirty="0"/>
              <a:t>Co-ordinates locate a point on the Cartesian plane</a:t>
            </a:r>
          </a:p>
          <a:p>
            <a:r>
              <a:rPr lang="en-AU" sz="2400" dirty="0"/>
              <a:t>As babies, you learn to</a:t>
            </a:r>
          </a:p>
          <a:p>
            <a:pPr marL="914400" lvl="2" indent="0" algn="ctr">
              <a:buNone/>
            </a:pPr>
            <a:r>
              <a:rPr lang="en-AU" sz="2800" dirty="0"/>
              <a:t>“Crawl </a:t>
            </a:r>
            <a:r>
              <a:rPr lang="en-AU" sz="2800" b="1" dirty="0"/>
              <a:t>along</a:t>
            </a:r>
            <a:r>
              <a:rPr lang="en-AU" sz="2800" dirty="0"/>
              <a:t> before you climb </a:t>
            </a:r>
            <a:r>
              <a:rPr lang="en-AU" sz="2800" b="1" dirty="0"/>
              <a:t>up or down</a:t>
            </a:r>
            <a:r>
              <a:rPr lang="en-AU" sz="2800" dirty="0"/>
              <a:t>”</a:t>
            </a:r>
          </a:p>
          <a:p>
            <a:r>
              <a:rPr lang="en-AU" sz="2400" dirty="0"/>
              <a:t>Along first; up or down second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606" y="1"/>
            <a:ext cx="4975347" cy="4954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520" y="692697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(3 , 6)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5520" y="1220883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(6 , 2)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472" y="1749069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(5 , -4)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4095" y="2359572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(0 , -7)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5002" y="2932583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(-2 , 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2195" y="3521622"/>
            <a:ext cx="1390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(-1 , -5)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2195" y="4064547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(-7 , 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356" y="1220882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(1 , 3)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7390" y="790236"/>
            <a:ext cx="1506759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dirty="0"/>
              <a:t>Now you plot: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3360" y="1752112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(-3 , 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3360" y="2352305"/>
            <a:ext cx="1390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(-4 , -6)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5920" y="2952498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(7 , -2)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4335" y="3568109"/>
            <a:ext cx="11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(4 , 5)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4335" y="4122621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(-5 , 2)</a:t>
            </a:r>
          </a:p>
        </p:txBody>
      </p:sp>
    </p:spTree>
    <p:extLst>
      <p:ext uri="{BB962C8B-B14F-4D97-AF65-F5344CB8AC3E}">
        <p14:creationId xmlns:p14="http://schemas.microsoft.com/office/powerpoint/2010/main" val="354246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2" grpId="0"/>
      <p:bldP spid="14" grpId="0"/>
      <p:bldP spid="16" grpId="0"/>
      <p:bldP spid="19" grpId="0"/>
      <p:bldP spid="21" grpId="0"/>
      <p:bldP spid="23" grpId="0"/>
      <p:bldP spid="25" grpId="0"/>
      <p:bldP spid="27" grpId="0" animBg="1"/>
      <p:bldP spid="28" grpId="0"/>
      <p:bldP spid="30" grpId="0"/>
      <p:bldP spid="32" grpId="0"/>
      <p:bldP spid="34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0"/>
            <a:ext cx="3736605" cy="620688"/>
          </a:xfrm>
        </p:spPr>
        <p:txBody>
          <a:bodyPr>
            <a:normAutofit fontScale="90000"/>
          </a:bodyPr>
          <a:lstStyle/>
          <a:p>
            <a:r>
              <a:rPr lang="en-AU" dirty="0"/>
              <a:t>Co-ordinates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4941168"/>
            <a:ext cx="9144000" cy="1916832"/>
          </a:xfrm>
        </p:spPr>
        <p:txBody>
          <a:bodyPr>
            <a:normAutofit/>
          </a:bodyPr>
          <a:lstStyle/>
          <a:p>
            <a:r>
              <a:rPr lang="en-AU" sz="2400" dirty="0"/>
              <a:t>Co-ordinates locate a point on the Cartesian plane</a:t>
            </a:r>
          </a:p>
          <a:p>
            <a:r>
              <a:rPr lang="en-AU" sz="2400" dirty="0"/>
              <a:t>As babies, you learn to</a:t>
            </a:r>
          </a:p>
          <a:p>
            <a:pPr marL="914400" lvl="2" indent="0" algn="ctr">
              <a:buNone/>
            </a:pPr>
            <a:r>
              <a:rPr lang="en-AU" sz="2800" dirty="0"/>
              <a:t>“Crawl </a:t>
            </a:r>
            <a:r>
              <a:rPr lang="en-AU" sz="2800" b="1" dirty="0"/>
              <a:t>along</a:t>
            </a:r>
            <a:r>
              <a:rPr lang="en-AU" sz="2800" dirty="0"/>
              <a:t> before you climb </a:t>
            </a:r>
            <a:r>
              <a:rPr lang="en-AU" sz="2800" b="1" dirty="0"/>
              <a:t>up or down</a:t>
            </a:r>
            <a:r>
              <a:rPr lang="en-AU" sz="2800" dirty="0"/>
              <a:t>”</a:t>
            </a:r>
          </a:p>
          <a:p>
            <a:r>
              <a:rPr lang="en-AU" sz="2400" dirty="0"/>
              <a:t>Along first; up or down second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22" y="-13817"/>
            <a:ext cx="4975347" cy="49549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4000" y="692697"/>
            <a:ext cx="3563888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Plot and join these points in order to form a shape: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59366" b="50319"/>
          <a:stretch/>
        </p:blipFill>
        <p:spPr>
          <a:xfrm>
            <a:off x="1509564" y="1411035"/>
            <a:ext cx="3701108" cy="370436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3"/>
          <a:srcRect l="41351" t="-1976" r="14405" b="51497"/>
          <a:stretch/>
        </p:blipFill>
        <p:spPr>
          <a:xfrm>
            <a:off x="1509564" y="1830100"/>
            <a:ext cx="4029845" cy="37638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3"/>
          <a:srcRect l="86528" t="1323" r="110" b="56202"/>
          <a:stretch/>
        </p:blipFill>
        <p:spPr>
          <a:xfrm>
            <a:off x="1509564" y="2255115"/>
            <a:ext cx="1217072" cy="316704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3"/>
          <a:srcRect l="1088" t="50000" r="69729" b="7525"/>
          <a:stretch/>
        </p:blipFill>
        <p:spPr>
          <a:xfrm>
            <a:off x="2726636" y="2255115"/>
            <a:ext cx="2658164" cy="31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3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5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36616" y="7143"/>
            <a:ext cx="7772400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/>
            <a:r>
              <a:rPr lang="en-GB" altLang="en-US" sz="4000" b="1" dirty="0">
                <a:solidFill>
                  <a:srgbClr val="FF0000"/>
                </a:solidFill>
              </a:rPr>
              <a:t>Translation is just a slide</a:t>
            </a:r>
            <a:endParaRPr lang="en-GB" altLang="en-US" sz="6000" dirty="0">
              <a:solidFill>
                <a:srgbClr val="FF0000"/>
              </a:solidFill>
            </a:endParaRPr>
          </a:p>
        </p:txBody>
      </p:sp>
      <p:sp>
        <p:nvSpPr>
          <p:cNvPr id="414726" name="Text Box 6"/>
          <p:cNvSpPr txBox="1">
            <a:spLocks noChangeArrowheads="1"/>
          </p:cNvSpPr>
          <p:nvPr/>
        </p:nvSpPr>
        <p:spPr bwMode="auto">
          <a:xfrm>
            <a:off x="1524001" y="561965"/>
            <a:ext cx="893140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chemeClr val="bg1"/>
                </a:solidFill>
              </a:rPr>
              <a:t>When an object is moved in a straight line in a given direction, we say that it has been </a:t>
            </a:r>
            <a:r>
              <a:rPr lang="en-US" altLang="en-US" sz="2800" b="1" dirty="0">
                <a:solidFill>
                  <a:schemeClr val="bg1"/>
                </a:solidFill>
              </a:rPr>
              <a:t>translated</a:t>
            </a:r>
            <a:r>
              <a:rPr lang="en-US" altLang="en-US" sz="2800" dirty="0">
                <a:solidFill>
                  <a:schemeClr val="bg1"/>
                </a:solidFill>
              </a:rPr>
              <a:t>.</a:t>
            </a:r>
            <a:endParaRPr lang="en-GB" altLang="en-US" sz="2800" dirty="0">
              <a:solidFill>
                <a:schemeClr val="bg1"/>
              </a:solidFill>
            </a:endParaRPr>
          </a:p>
        </p:txBody>
      </p:sp>
      <p:sp>
        <p:nvSpPr>
          <p:cNvPr id="414727" name="Text Box 7"/>
          <p:cNvSpPr txBox="1">
            <a:spLocks noChangeArrowheads="1"/>
          </p:cNvSpPr>
          <p:nvPr/>
        </p:nvSpPr>
        <p:spPr bwMode="auto">
          <a:xfrm>
            <a:off x="1558926" y="1593057"/>
            <a:ext cx="8372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dirty="0">
                <a:solidFill>
                  <a:schemeClr val="bg1"/>
                </a:solidFill>
              </a:rPr>
              <a:t>As an example, we can translate triangle ABC 5 squares to the right and 2 squares up:</a:t>
            </a:r>
            <a:endParaRPr lang="en-GB" altLang="en-US" sz="2400" dirty="0">
              <a:solidFill>
                <a:schemeClr val="bg1"/>
              </a:solidFill>
            </a:endParaRPr>
          </a:p>
        </p:txBody>
      </p:sp>
      <p:grpSp>
        <p:nvGrpSpPr>
          <p:cNvPr id="415232" name="Group 512"/>
          <p:cNvGrpSpPr>
            <a:grpSpLocks/>
          </p:cNvGrpSpPr>
          <p:nvPr/>
        </p:nvGrpSpPr>
        <p:grpSpPr bwMode="auto">
          <a:xfrm>
            <a:off x="3215681" y="2603501"/>
            <a:ext cx="4751387" cy="2160588"/>
            <a:chOff x="1221" y="1812"/>
            <a:chExt cx="2993" cy="1361"/>
          </a:xfrm>
        </p:grpSpPr>
        <p:sp>
          <p:nvSpPr>
            <p:cNvPr id="414728" name="Rectangle 8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29" name="Rectangle 9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0" name="Rectangle 10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1" name="Rectangle 11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2" name="Rectangle 12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3" name="Rectangle 13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4" name="Rectangle 14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5" name="Rectangle 15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6" name="Rectangle 16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7" name="Rectangle 17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8" name="Rectangle 18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39" name="Rectangle 19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0" name="Rectangle 20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1" name="Rectangle 21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2" name="Rectangle 22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3" name="Rectangle 23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4" name="Rectangle 24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5" name="Rectangle 25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6" name="Rectangle 26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7" name="Rectangle 27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8" name="Rectangle 28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49" name="Rectangle 29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0" name="Rectangle 30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1" name="Rectangle 31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2" name="Rectangle 32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3" name="Rectangle 33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4" name="Rectangle 34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5" name="Rectangle 35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6" name="Rectangle 36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7" name="Rectangle 37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8" name="Rectangle 38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59" name="Rectangle 39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0" name="Rectangle 40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1" name="Rectangle 41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2" name="Rectangle 42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3" name="Rectangle 43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4" name="Rectangle 44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5" name="Rectangle 45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6" name="Rectangle 46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7" name="Rectangle 47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8" name="Rectangle 48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69" name="Rectangle 49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0" name="Rectangle 50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1" name="Rectangle 51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2" name="Rectangle 52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3" name="Rectangle 53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4" name="Rectangle 54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5" name="Rectangle 55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6" name="Rectangle 56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7" name="Rectangle 57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8" name="Rectangle 58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79" name="Rectangle 59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80" name="Rectangle 60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81" name="Rectangle 61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82" name="Rectangle 62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4783" name="Freeform 63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4784" name="Text Box 64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4785" name="Text Box 65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4786" name="Text Box 66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4787" name="Text Box 67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</p:grpSp>
      <p:grpSp>
        <p:nvGrpSpPr>
          <p:cNvPr id="415233" name="Group 513"/>
          <p:cNvGrpSpPr>
            <a:grpSpLocks/>
          </p:cNvGrpSpPr>
          <p:nvPr/>
        </p:nvGrpSpPr>
        <p:grpSpPr bwMode="auto">
          <a:xfrm>
            <a:off x="3215681" y="2603501"/>
            <a:ext cx="4751387" cy="2160588"/>
            <a:chOff x="1221" y="1812"/>
            <a:chExt cx="2993" cy="1361"/>
          </a:xfrm>
        </p:grpSpPr>
        <p:sp>
          <p:nvSpPr>
            <p:cNvPr id="415234" name="Rectangle 514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35" name="Rectangle 515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36" name="Rectangle 516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37" name="Rectangle 517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38" name="Rectangle 518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39" name="Rectangle 519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0" name="Rectangle 520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1" name="Rectangle 521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2" name="Rectangle 522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3" name="Rectangle 523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4" name="Rectangle 524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5" name="Rectangle 525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6" name="Rectangle 526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7" name="Rectangle 527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8" name="Rectangle 528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49" name="Rectangle 529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0" name="Rectangle 530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1" name="Rectangle 531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2" name="Rectangle 532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3" name="Rectangle 533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4" name="Rectangle 534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5" name="Rectangle 535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6" name="Rectangle 536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7" name="Rectangle 537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8" name="Rectangle 538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59" name="Rectangle 539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0" name="Rectangle 540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1" name="Rectangle 541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2" name="Rectangle 542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3" name="Rectangle 543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4" name="Rectangle 544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5" name="Rectangle 545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6" name="Rectangle 546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7" name="Rectangle 547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8" name="Rectangle 548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69" name="Rectangle 549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0" name="Rectangle 550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1" name="Rectangle 551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2" name="Rectangle 552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3" name="Rectangle 553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4" name="Rectangle 554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5" name="Rectangle 555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6" name="Rectangle 556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7" name="Rectangle 557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8" name="Rectangle 558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79" name="Rectangle 559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0" name="Rectangle 560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1" name="Rectangle 561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2" name="Rectangle 562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3" name="Rectangle 563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4" name="Rectangle 564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5" name="Rectangle 565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6" name="Rectangle 566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7" name="Rectangle 567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8" name="Rectangle 568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noFill/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89" name="Freeform 569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290" name="Text Box 570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5291" name="Text Box 571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5292" name="Text Box 572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5293" name="Text Box 573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  <p:sp>
          <p:nvSpPr>
            <p:cNvPr id="415294" name="Freeform 574"/>
            <p:cNvSpPr>
              <a:spLocks/>
            </p:cNvSpPr>
            <p:nvPr/>
          </p:nvSpPr>
          <p:spPr bwMode="auto">
            <a:xfrm>
              <a:off x="1746" y="2341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5295" name="Group 575"/>
          <p:cNvGrpSpPr>
            <a:grpSpLocks/>
          </p:cNvGrpSpPr>
          <p:nvPr/>
        </p:nvGrpSpPr>
        <p:grpSpPr bwMode="auto">
          <a:xfrm>
            <a:off x="3215681" y="2603501"/>
            <a:ext cx="4751387" cy="2160588"/>
            <a:chOff x="1221" y="1812"/>
            <a:chExt cx="2993" cy="1361"/>
          </a:xfrm>
        </p:grpSpPr>
        <p:sp>
          <p:nvSpPr>
            <p:cNvPr id="415296" name="Rectangle 576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97" name="Rectangle 577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98" name="Rectangle 578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299" name="Rectangle 579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0" name="Rectangle 580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1" name="Rectangle 581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2" name="Rectangle 582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3" name="Rectangle 583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4" name="Rectangle 584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5" name="Rectangle 585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6" name="Rectangle 586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7" name="Rectangle 587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8" name="Rectangle 588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09" name="Rectangle 589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0" name="Rectangle 590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1" name="Rectangle 591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2" name="Rectangle 592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3" name="Rectangle 593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4" name="Rectangle 594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5" name="Rectangle 595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6" name="Rectangle 596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7" name="Rectangle 597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8" name="Rectangle 598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19" name="Rectangle 599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0" name="Rectangle 600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1" name="Rectangle 601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2" name="Rectangle 602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3" name="Rectangle 603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4" name="Rectangle 604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5" name="Rectangle 605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6" name="Rectangle 606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7" name="Rectangle 607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8" name="Rectangle 608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29" name="Rectangle 609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0" name="Rectangle 610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1" name="Rectangle 611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2" name="Rectangle 612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3" name="Rectangle 613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4" name="Rectangle 614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5" name="Rectangle 615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6" name="Rectangle 616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7" name="Rectangle 617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8" name="Rectangle 618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39" name="Rectangle 619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0" name="Rectangle 620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1" name="Rectangle 621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2" name="Rectangle 622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3" name="Rectangle 623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4" name="Rectangle 624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5" name="Rectangle 625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6" name="Rectangle 626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7" name="Rectangle 627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8" name="Rectangle 628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49" name="Rectangle 629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50" name="Rectangle 630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51" name="Text Box 631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5352" name="Text Box 632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5353" name="Text Box 633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5354" name="Text Box 634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  <p:sp>
          <p:nvSpPr>
            <p:cNvPr id="415355" name="Freeform 635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356" name="Freeform 636"/>
            <p:cNvSpPr>
              <a:spLocks/>
            </p:cNvSpPr>
            <p:nvPr/>
          </p:nvSpPr>
          <p:spPr bwMode="auto">
            <a:xfrm>
              <a:off x="2022" y="2341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5357" name="Group 637"/>
          <p:cNvGrpSpPr>
            <a:grpSpLocks/>
          </p:cNvGrpSpPr>
          <p:nvPr/>
        </p:nvGrpSpPr>
        <p:grpSpPr bwMode="auto">
          <a:xfrm>
            <a:off x="3215681" y="2603501"/>
            <a:ext cx="4751387" cy="2160588"/>
            <a:chOff x="1221" y="1812"/>
            <a:chExt cx="2993" cy="1361"/>
          </a:xfrm>
        </p:grpSpPr>
        <p:sp>
          <p:nvSpPr>
            <p:cNvPr id="415358" name="Rectangle 638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59" name="Rectangle 639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0" name="Rectangle 640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1" name="Rectangle 641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2" name="Rectangle 642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3" name="Rectangle 643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4" name="Rectangle 644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5" name="Rectangle 645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6" name="Rectangle 646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7" name="Rectangle 647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8" name="Rectangle 648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69" name="Rectangle 649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0" name="Rectangle 650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1" name="Rectangle 651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2" name="Rectangle 652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3" name="Rectangle 653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4" name="Rectangle 654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5" name="Rectangle 655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6" name="Rectangle 656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7" name="Rectangle 657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8" name="Rectangle 658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79" name="Rectangle 659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0" name="Rectangle 660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1" name="Rectangle 661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2" name="Rectangle 662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3" name="Rectangle 663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4" name="Rectangle 664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5" name="Rectangle 665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6" name="Rectangle 666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7" name="Rectangle 667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8" name="Rectangle 668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89" name="Rectangle 669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0" name="Rectangle 670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1" name="Rectangle 671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2" name="Rectangle 672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3" name="Rectangle 673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4" name="Rectangle 674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5" name="Rectangle 675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6" name="Rectangle 676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7" name="Rectangle 677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8" name="Rectangle 678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399" name="Rectangle 679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0" name="Rectangle 680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1" name="Rectangle 681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2" name="Rectangle 682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3" name="Rectangle 683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4" name="Rectangle 684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5" name="Rectangle 685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6" name="Rectangle 686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7" name="Rectangle 687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8" name="Rectangle 688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09" name="Rectangle 689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10" name="Rectangle 690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11" name="Rectangle 691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12" name="Rectangle 692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13" name="Text Box 693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5414" name="Text Box 694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5415" name="Text Box 695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5416" name="Text Box 696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  <p:sp>
          <p:nvSpPr>
            <p:cNvPr id="415417" name="Freeform 697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418" name="Freeform 698"/>
            <p:cNvSpPr>
              <a:spLocks/>
            </p:cNvSpPr>
            <p:nvPr/>
          </p:nvSpPr>
          <p:spPr bwMode="auto">
            <a:xfrm>
              <a:off x="2291" y="2341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5419" name="Group 699"/>
          <p:cNvGrpSpPr>
            <a:grpSpLocks/>
          </p:cNvGrpSpPr>
          <p:nvPr/>
        </p:nvGrpSpPr>
        <p:grpSpPr bwMode="auto">
          <a:xfrm>
            <a:off x="3215681" y="2603501"/>
            <a:ext cx="4751387" cy="2160588"/>
            <a:chOff x="1221" y="1812"/>
            <a:chExt cx="2993" cy="1361"/>
          </a:xfrm>
        </p:grpSpPr>
        <p:sp>
          <p:nvSpPr>
            <p:cNvPr id="415420" name="Rectangle 700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1" name="Rectangle 701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2" name="Rectangle 702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3" name="Rectangle 703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4" name="Rectangle 704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5" name="Rectangle 705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6" name="Rectangle 706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7" name="Rectangle 707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8" name="Rectangle 708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29" name="Rectangle 709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0" name="Rectangle 710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1" name="Rectangle 711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2" name="Rectangle 712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3" name="Rectangle 713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4" name="Rectangle 714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5" name="Rectangle 715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6" name="Rectangle 716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7" name="Rectangle 717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8" name="Rectangle 718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39" name="Rectangle 719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0" name="Rectangle 720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1" name="Rectangle 721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2" name="Rectangle 722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3" name="Rectangle 723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4" name="Rectangle 724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5" name="Rectangle 725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6" name="Rectangle 726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7" name="Rectangle 727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8" name="Rectangle 728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49" name="Rectangle 729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0" name="Rectangle 730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1" name="Rectangle 731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2" name="Rectangle 732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3" name="Rectangle 733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4" name="Rectangle 734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5" name="Rectangle 735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6" name="Rectangle 736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7" name="Rectangle 737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8" name="Rectangle 738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59" name="Rectangle 739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0" name="Rectangle 740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1" name="Rectangle 741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2" name="Rectangle 742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3" name="Rectangle 743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4" name="Rectangle 744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5" name="Rectangle 745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6" name="Rectangle 746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7" name="Rectangle 747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8" name="Rectangle 748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69" name="Rectangle 749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70" name="Rectangle 750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71" name="Rectangle 751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72" name="Rectangle 752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73" name="Rectangle 753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74" name="Rectangle 754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75" name="Text Box 755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5476" name="Text Box 756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5477" name="Text Box 757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5478" name="Text Box 758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  <p:sp>
          <p:nvSpPr>
            <p:cNvPr id="415479" name="Freeform 759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480" name="Freeform 760"/>
            <p:cNvSpPr>
              <a:spLocks/>
            </p:cNvSpPr>
            <p:nvPr/>
          </p:nvSpPr>
          <p:spPr bwMode="auto">
            <a:xfrm>
              <a:off x="2573" y="2341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5481" name="Group 761"/>
          <p:cNvGrpSpPr>
            <a:grpSpLocks/>
          </p:cNvGrpSpPr>
          <p:nvPr/>
        </p:nvGrpSpPr>
        <p:grpSpPr bwMode="auto">
          <a:xfrm>
            <a:off x="3215681" y="2603501"/>
            <a:ext cx="4751387" cy="2160588"/>
            <a:chOff x="1221" y="1812"/>
            <a:chExt cx="2993" cy="1361"/>
          </a:xfrm>
        </p:grpSpPr>
        <p:sp>
          <p:nvSpPr>
            <p:cNvPr id="415482" name="Rectangle 762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83" name="Rectangle 763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84" name="Rectangle 764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85" name="Rectangle 765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86" name="Rectangle 766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87" name="Rectangle 767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88" name="Rectangle 768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89" name="Rectangle 769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0" name="Rectangle 770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1" name="Rectangle 771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2" name="Rectangle 772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3" name="Rectangle 773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4" name="Rectangle 774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5" name="Rectangle 775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6" name="Rectangle 776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7" name="Rectangle 777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8" name="Rectangle 778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499" name="Rectangle 779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0" name="Rectangle 780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1" name="Rectangle 781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2" name="Rectangle 782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3" name="Rectangle 783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4" name="Rectangle 784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5" name="Rectangle 785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6" name="Rectangle 786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7" name="Rectangle 787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8" name="Rectangle 788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09" name="Rectangle 789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0" name="Rectangle 790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1" name="Rectangle 791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2" name="Rectangle 792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3" name="Rectangle 793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4" name="Rectangle 794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5" name="Rectangle 795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6" name="Rectangle 796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7" name="Rectangle 797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8" name="Rectangle 798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19" name="Rectangle 799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0" name="Rectangle 800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1" name="Rectangle 801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2" name="Rectangle 802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3" name="Rectangle 803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4" name="Rectangle 804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5" name="Rectangle 805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6" name="Rectangle 806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7" name="Rectangle 807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8" name="Rectangle 808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29" name="Rectangle 809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0" name="Rectangle 810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1" name="Rectangle 811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2" name="Rectangle 812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3" name="Rectangle 813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4" name="Rectangle 814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5" name="Rectangle 815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6" name="Rectangle 816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37" name="Text Box 817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5538" name="Text Box 818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5539" name="Text Box 819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5540" name="Text Box 820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  <p:sp>
          <p:nvSpPr>
            <p:cNvPr id="415541" name="Freeform 821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542" name="Freeform 822"/>
            <p:cNvSpPr>
              <a:spLocks/>
            </p:cNvSpPr>
            <p:nvPr/>
          </p:nvSpPr>
          <p:spPr bwMode="auto">
            <a:xfrm>
              <a:off x="2835" y="2341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5543" name="Group 823"/>
          <p:cNvGrpSpPr>
            <a:grpSpLocks/>
          </p:cNvGrpSpPr>
          <p:nvPr/>
        </p:nvGrpSpPr>
        <p:grpSpPr bwMode="auto">
          <a:xfrm>
            <a:off x="3215681" y="2603501"/>
            <a:ext cx="4751387" cy="2160588"/>
            <a:chOff x="1221" y="1812"/>
            <a:chExt cx="2993" cy="1361"/>
          </a:xfrm>
        </p:grpSpPr>
        <p:sp>
          <p:nvSpPr>
            <p:cNvPr id="415544" name="Rectangle 824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45" name="Rectangle 825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46" name="Rectangle 826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47" name="Rectangle 827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48" name="Rectangle 828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49" name="Rectangle 829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0" name="Rectangle 830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1" name="Rectangle 831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2" name="Rectangle 832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3" name="Rectangle 833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4" name="Rectangle 834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5" name="Rectangle 835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6" name="Rectangle 836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7" name="Rectangle 837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8" name="Rectangle 838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59" name="Rectangle 839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0" name="Rectangle 840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1" name="Rectangle 841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2" name="Rectangle 842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3" name="Rectangle 843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4" name="Rectangle 844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5" name="Rectangle 845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6" name="Rectangle 846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7" name="Rectangle 847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8" name="Rectangle 848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69" name="Rectangle 849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0" name="Rectangle 850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1" name="Rectangle 851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2" name="Rectangle 852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3" name="Rectangle 853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4" name="Rectangle 854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5" name="Rectangle 855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6" name="Rectangle 856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7" name="Rectangle 857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8" name="Rectangle 858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79" name="Rectangle 859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0" name="Rectangle 860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1" name="Rectangle 861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2" name="Rectangle 862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3" name="Rectangle 863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4" name="Rectangle 864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5" name="Rectangle 865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6" name="Rectangle 866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7" name="Rectangle 867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8" name="Rectangle 868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89" name="Rectangle 869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0" name="Rectangle 870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1" name="Rectangle 871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2" name="Rectangle 872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3" name="Rectangle 873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4" name="Rectangle 874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5" name="Rectangle 875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6" name="Rectangle 876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7" name="Rectangle 877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8" name="Rectangle 878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599" name="Text Box 879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5600" name="Text Box 880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5601" name="Text Box 881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5602" name="Text Box 882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  <p:sp>
          <p:nvSpPr>
            <p:cNvPr id="415603" name="Freeform 883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604" name="Freeform 884"/>
            <p:cNvSpPr>
              <a:spLocks/>
            </p:cNvSpPr>
            <p:nvPr/>
          </p:nvSpPr>
          <p:spPr bwMode="auto">
            <a:xfrm>
              <a:off x="2835" y="2078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5605" name="Group 885"/>
          <p:cNvGrpSpPr>
            <a:grpSpLocks/>
          </p:cNvGrpSpPr>
          <p:nvPr/>
        </p:nvGrpSpPr>
        <p:grpSpPr bwMode="auto">
          <a:xfrm>
            <a:off x="3215681" y="2593977"/>
            <a:ext cx="4751387" cy="2170113"/>
            <a:chOff x="1221" y="1806"/>
            <a:chExt cx="2993" cy="1367"/>
          </a:xfrm>
        </p:grpSpPr>
        <p:sp>
          <p:nvSpPr>
            <p:cNvPr id="415606" name="Rectangle 886"/>
            <p:cNvSpPr>
              <a:spLocks noChangeArrowheads="1"/>
            </p:cNvSpPr>
            <p:nvPr/>
          </p:nvSpPr>
          <p:spPr bwMode="auto">
            <a:xfrm>
              <a:off x="394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07" name="Rectangle 887"/>
            <p:cNvSpPr>
              <a:spLocks noChangeArrowheads="1"/>
            </p:cNvSpPr>
            <p:nvPr/>
          </p:nvSpPr>
          <p:spPr bwMode="auto">
            <a:xfrm>
              <a:off x="394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08" name="Rectangle 888"/>
            <p:cNvSpPr>
              <a:spLocks noChangeArrowheads="1"/>
            </p:cNvSpPr>
            <p:nvPr/>
          </p:nvSpPr>
          <p:spPr bwMode="auto">
            <a:xfrm>
              <a:off x="394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09" name="Rectangle 889"/>
            <p:cNvSpPr>
              <a:spLocks noChangeArrowheads="1"/>
            </p:cNvSpPr>
            <p:nvPr/>
          </p:nvSpPr>
          <p:spPr bwMode="auto">
            <a:xfrm>
              <a:off x="394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0" name="Rectangle 890"/>
            <p:cNvSpPr>
              <a:spLocks noChangeArrowheads="1"/>
            </p:cNvSpPr>
            <p:nvPr/>
          </p:nvSpPr>
          <p:spPr bwMode="auto">
            <a:xfrm>
              <a:off x="394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1" name="Rectangle 891"/>
            <p:cNvSpPr>
              <a:spLocks noChangeArrowheads="1"/>
            </p:cNvSpPr>
            <p:nvPr/>
          </p:nvSpPr>
          <p:spPr bwMode="auto">
            <a:xfrm>
              <a:off x="1221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2" name="Rectangle 892"/>
            <p:cNvSpPr>
              <a:spLocks noChangeArrowheads="1"/>
            </p:cNvSpPr>
            <p:nvPr/>
          </p:nvSpPr>
          <p:spPr bwMode="auto">
            <a:xfrm>
              <a:off x="1493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3" name="Rectangle 893"/>
            <p:cNvSpPr>
              <a:spLocks noChangeArrowheads="1"/>
            </p:cNvSpPr>
            <p:nvPr/>
          </p:nvSpPr>
          <p:spPr bwMode="auto">
            <a:xfrm>
              <a:off x="1765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4" name="Rectangle 894"/>
            <p:cNvSpPr>
              <a:spLocks noChangeArrowheads="1"/>
            </p:cNvSpPr>
            <p:nvPr/>
          </p:nvSpPr>
          <p:spPr bwMode="auto">
            <a:xfrm>
              <a:off x="2037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5" name="Rectangle 895"/>
            <p:cNvSpPr>
              <a:spLocks noChangeArrowheads="1"/>
            </p:cNvSpPr>
            <p:nvPr/>
          </p:nvSpPr>
          <p:spPr bwMode="auto">
            <a:xfrm>
              <a:off x="231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6" name="Rectangle 896"/>
            <p:cNvSpPr>
              <a:spLocks noChangeArrowheads="1"/>
            </p:cNvSpPr>
            <p:nvPr/>
          </p:nvSpPr>
          <p:spPr bwMode="auto">
            <a:xfrm>
              <a:off x="2582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7" name="Rectangle 897"/>
            <p:cNvSpPr>
              <a:spLocks noChangeArrowheads="1"/>
            </p:cNvSpPr>
            <p:nvPr/>
          </p:nvSpPr>
          <p:spPr bwMode="auto">
            <a:xfrm>
              <a:off x="2854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8" name="Rectangle 898"/>
            <p:cNvSpPr>
              <a:spLocks noChangeArrowheads="1"/>
            </p:cNvSpPr>
            <p:nvPr/>
          </p:nvSpPr>
          <p:spPr bwMode="auto">
            <a:xfrm>
              <a:off x="3126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19" name="Rectangle 899"/>
            <p:cNvSpPr>
              <a:spLocks noChangeArrowheads="1"/>
            </p:cNvSpPr>
            <p:nvPr/>
          </p:nvSpPr>
          <p:spPr bwMode="auto">
            <a:xfrm>
              <a:off x="1221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0" name="Rectangle 900"/>
            <p:cNvSpPr>
              <a:spLocks noChangeArrowheads="1"/>
            </p:cNvSpPr>
            <p:nvPr/>
          </p:nvSpPr>
          <p:spPr bwMode="auto">
            <a:xfrm>
              <a:off x="1493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1" name="Rectangle 901"/>
            <p:cNvSpPr>
              <a:spLocks noChangeArrowheads="1"/>
            </p:cNvSpPr>
            <p:nvPr/>
          </p:nvSpPr>
          <p:spPr bwMode="auto">
            <a:xfrm>
              <a:off x="1765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2" name="Rectangle 902"/>
            <p:cNvSpPr>
              <a:spLocks noChangeArrowheads="1"/>
            </p:cNvSpPr>
            <p:nvPr/>
          </p:nvSpPr>
          <p:spPr bwMode="auto">
            <a:xfrm>
              <a:off x="2037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3" name="Rectangle 903"/>
            <p:cNvSpPr>
              <a:spLocks noChangeArrowheads="1"/>
            </p:cNvSpPr>
            <p:nvPr/>
          </p:nvSpPr>
          <p:spPr bwMode="auto">
            <a:xfrm>
              <a:off x="231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4" name="Rectangle 904"/>
            <p:cNvSpPr>
              <a:spLocks noChangeArrowheads="1"/>
            </p:cNvSpPr>
            <p:nvPr/>
          </p:nvSpPr>
          <p:spPr bwMode="auto">
            <a:xfrm>
              <a:off x="2582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5" name="Rectangle 905"/>
            <p:cNvSpPr>
              <a:spLocks noChangeArrowheads="1"/>
            </p:cNvSpPr>
            <p:nvPr/>
          </p:nvSpPr>
          <p:spPr bwMode="auto">
            <a:xfrm>
              <a:off x="2854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6" name="Rectangle 906"/>
            <p:cNvSpPr>
              <a:spLocks noChangeArrowheads="1"/>
            </p:cNvSpPr>
            <p:nvPr/>
          </p:nvSpPr>
          <p:spPr bwMode="auto">
            <a:xfrm>
              <a:off x="3126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7" name="Rectangle 907"/>
            <p:cNvSpPr>
              <a:spLocks noChangeArrowheads="1"/>
            </p:cNvSpPr>
            <p:nvPr/>
          </p:nvSpPr>
          <p:spPr bwMode="auto">
            <a:xfrm>
              <a:off x="1221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8" name="Rectangle 908"/>
            <p:cNvSpPr>
              <a:spLocks noChangeArrowheads="1"/>
            </p:cNvSpPr>
            <p:nvPr/>
          </p:nvSpPr>
          <p:spPr bwMode="auto">
            <a:xfrm>
              <a:off x="1493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29" name="Rectangle 909"/>
            <p:cNvSpPr>
              <a:spLocks noChangeArrowheads="1"/>
            </p:cNvSpPr>
            <p:nvPr/>
          </p:nvSpPr>
          <p:spPr bwMode="auto">
            <a:xfrm>
              <a:off x="1765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0" name="Rectangle 910"/>
            <p:cNvSpPr>
              <a:spLocks noChangeArrowheads="1"/>
            </p:cNvSpPr>
            <p:nvPr/>
          </p:nvSpPr>
          <p:spPr bwMode="auto">
            <a:xfrm>
              <a:off x="2037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1" name="Rectangle 911"/>
            <p:cNvSpPr>
              <a:spLocks noChangeArrowheads="1"/>
            </p:cNvSpPr>
            <p:nvPr/>
          </p:nvSpPr>
          <p:spPr bwMode="auto">
            <a:xfrm>
              <a:off x="231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2" name="Rectangle 912"/>
            <p:cNvSpPr>
              <a:spLocks noChangeArrowheads="1"/>
            </p:cNvSpPr>
            <p:nvPr/>
          </p:nvSpPr>
          <p:spPr bwMode="auto">
            <a:xfrm>
              <a:off x="2582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3" name="Rectangle 913"/>
            <p:cNvSpPr>
              <a:spLocks noChangeArrowheads="1"/>
            </p:cNvSpPr>
            <p:nvPr/>
          </p:nvSpPr>
          <p:spPr bwMode="auto">
            <a:xfrm>
              <a:off x="2854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4" name="Rectangle 914"/>
            <p:cNvSpPr>
              <a:spLocks noChangeArrowheads="1"/>
            </p:cNvSpPr>
            <p:nvPr/>
          </p:nvSpPr>
          <p:spPr bwMode="auto">
            <a:xfrm>
              <a:off x="3126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5" name="Rectangle 915"/>
            <p:cNvSpPr>
              <a:spLocks noChangeArrowheads="1"/>
            </p:cNvSpPr>
            <p:nvPr/>
          </p:nvSpPr>
          <p:spPr bwMode="auto">
            <a:xfrm>
              <a:off x="1221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6" name="Rectangle 916"/>
            <p:cNvSpPr>
              <a:spLocks noChangeArrowheads="1"/>
            </p:cNvSpPr>
            <p:nvPr/>
          </p:nvSpPr>
          <p:spPr bwMode="auto">
            <a:xfrm>
              <a:off x="1493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7" name="Rectangle 917"/>
            <p:cNvSpPr>
              <a:spLocks noChangeArrowheads="1"/>
            </p:cNvSpPr>
            <p:nvPr/>
          </p:nvSpPr>
          <p:spPr bwMode="auto">
            <a:xfrm>
              <a:off x="1765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8" name="Rectangle 918"/>
            <p:cNvSpPr>
              <a:spLocks noChangeArrowheads="1"/>
            </p:cNvSpPr>
            <p:nvPr/>
          </p:nvSpPr>
          <p:spPr bwMode="auto">
            <a:xfrm>
              <a:off x="2037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39" name="Rectangle 919"/>
            <p:cNvSpPr>
              <a:spLocks noChangeArrowheads="1"/>
            </p:cNvSpPr>
            <p:nvPr/>
          </p:nvSpPr>
          <p:spPr bwMode="auto">
            <a:xfrm>
              <a:off x="231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0" name="Rectangle 920"/>
            <p:cNvSpPr>
              <a:spLocks noChangeArrowheads="1"/>
            </p:cNvSpPr>
            <p:nvPr/>
          </p:nvSpPr>
          <p:spPr bwMode="auto">
            <a:xfrm>
              <a:off x="2582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1" name="Rectangle 921"/>
            <p:cNvSpPr>
              <a:spLocks noChangeArrowheads="1"/>
            </p:cNvSpPr>
            <p:nvPr/>
          </p:nvSpPr>
          <p:spPr bwMode="auto">
            <a:xfrm>
              <a:off x="2854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2" name="Rectangle 922"/>
            <p:cNvSpPr>
              <a:spLocks noChangeArrowheads="1"/>
            </p:cNvSpPr>
            <p:nvPr/>
          </p:nvSpPr>
          <p:spPr bwMode="auto">
            <a:xfrm>
              <a:off x="3126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3" name="Rectangle 923"/>
            <p:cNvSpPr>
              <a:spLocks noChangeArrowheads="1"/>
            </p:cNvSpPr>
            <p:nvPr/>
          </p:nvSpPr>
          <p:spPr bwMode="auto">
            <a:xfrm>
              <a:off x="1221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4" name="Rectangle 924"/>
            <p:cNvSpPr>
              <a:spLocks noChangeArrowheads="1"/>
            </p:cNvSpPr>
            <p:nvPr/>
          </p:nvSpPr>
          <p:spPr bwMode="auto">
            <a:xfrm>
              <a:off x="1493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5" name="Rectangle 925"/>
            <p:cNvSpPr>
              <a:spLocks noChangeArrowheads="1"/>
            </p:cNvSpPr>
            <p:nvPr/>
          </p:nvSpPr>
          <p:spPr bwMode="auto">
            <a:xfrm>
              <a:off x="1765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6" name="Rectangle 926"/>
            <p:cNvSpPr>
              <a:spLocks noChangeArrowheads="1"/>
            </p:cNvSpPr>
            <p:nvPr/>
          </p:nvSpPr>
          <p:spPr bwMode="auto">
            <a:xfrm>
              <a:off x="2037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7" name="Rectangle 927"/>
            <p:cNvSpPr>
              <a:spLocks noChangeArrowheads="1"/>
            </p:cNvSpPr>
            <p:nvPr/>
          </p:nvSpPr>
          <p:spPr bwMode="auto">
            <a:xfrm>
              <a:off x="231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8" name="Rectangle 928"/>
            <p:cNvSpPr>
              <a:spLocks noChangeArrowheads="1"/>
            </p:cNvSpPr>
            <p:nvPr/>
          </p:nvSpPr>
          <p:spPr bwMode="auto">
            <a:xfrm>
              <a:off x="2582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49" name="Rectangle 929"/>
            <p:cNvSpPr>
              <a:spLocks noChangeArrowheads="1"/>
            </p:cNvSpPr>
            <p:nvPr/>
          </p:nvSpPr>
          <p:spPr bwMode="auto">
            <a:xfrm>
              <a:off x="2854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0" name="Rectangle 930"/>
            <p:cNvSpPr>
              <a:spLocks noChangeArrowheads="1"/>
            </p:cNvSpPr>
            <p:nvPr/>
          </p:nvSpPr>
          <p:spPr bwMode="auto">
            <a:xfrm>
              <a:off x="3126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1" name="Rectangle 931"/>
            <p:cNvSpPr>
              <a:spLocks noChangeArrowheads="1"/>
            </p:cNvSpPr>
            <p:nvPr/>
          </p:nvSpPr>
          <p:spPr bwMode="auto">
            <a:xfrm>
              <a:off x="3398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2" name="Rectangle 932"/>
            <p:cNvSpPr>
              <a:spLocks noChangeArrowheads="1"/>
            </p:cNvSpPr>
            <p:nvPr/>
          </p:nvSpPr>
          <p:spPr bwMode="auto">
            <a:xfrm>
              <a:off x="3670" y="2628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3" name="Rectangle 933"/>
            <p:cNvSpPr>
              <a:spLocks noChangeArrowheads="1"/>
            </p:cNvSpPr>
            <p:nvPr/>
          </p:nvSpPr>
          <p:spPr bwMode="auto">
            <a:xfrm>
              <a:off x="3398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4" name="Rectangle 934"/>
            <p:cNvSpPr>
              <a:spLocks noChangeArrowheads="1"/>
            </p:cNvSpPr>
            <p:nvPr/>
          </p:nvSpPr>
          <p:spPr bwMode="auto">
            <a:xfrm>
              <a:off x="3670" y="2356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5" name="Rectangle 935"/>
            <p:cNvSpPr>
              <a:spLocks noChangeArrowheads="1"/>
            </p:cNvSpPr>
            <p:nvPr/>
          </p:nvSpPr>
          <p:spPr bwMode="auto">
            <a:xfrm>
              <a:off x="3398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6" name="Rectangle 936"/>
            <p:cNvSpPr>
              <a:spLocks noChangeArrowheads="1"/>
            </p:cNvSpPr>
            <p:nvPr/>
          </p:nvSpPr>
          <p:spPr bwMode="auto">
            <a:xfrm>
              <a:off x="3670" y="2084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7" name="Rectangle 937"/>
            <p:cNvSpPr>
              <a:spLocks noChangeArrowheads="1"/>
            </p:cNvSpPr>
            <p:nvPr/>
          </p:nvSpPr>
          <p:spPr bwMode="auto">
            <a:xfrm>
              <a:off x="3398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8" name="Rectangle 938"/>
            <p:cNvSpPr>
              <a:spLocks noChangeArrowheads="1"/>
            </p:cNvSpPr>
            <p:nvPr/>
          </p:nvSpPr>
          <p:spPr bwMode="auto">
            <a:xfrm>
              <a:off x="3670" y="2900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59" name="Rectangle 939"/>
            <p:cNvSpPr>
              <a:spLocks noChangeArrowheads="1"/>
            </p:cNvSpPr>
            <p:nvPr/>
          </p:nvSpPr>
          <p:spPr bwMode="auto">
            <a:xfrm>
              <a:off x="3398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60" name="Rectangle 940"/>
            <p:cNvSpPr>
              <a:spLocks noChangeArrowheads="1"/>
            </p:cNvSpPr>
            <p:nvPr/>
          </p:nvSpPr>
          <p:spPr bwMode="auto">
            <a:xfrm>
              <a:off x="3670" y="1812"/>
              <a:ext cx="272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D0E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5661" name="Text Box 941"/>
            <p:cNvSpPr txBox="1">
              <a:spLocks noChangeArrowheads="1"/>
            </p:cNvSpPr>
            <p:nvPr/>
          </p:nvSpPr>
          <p:spPr bwMode="auto">
            <a:xfrm>
              <a:off x="1345" y="2867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</a:t>
              </a:r>
              <a:endParaRPr lang="en-GB" altLang="en-US"/>
            </a:p>
          </p:txBody>
        </p:sp>
        <p:sp>
          <p:nvSpPr>
            <p:cNvPr id="415662" name="Text Box 942"/>
            <p:cNvSpPr txBox="1">
              <a:spLocks noChangeArrowheads="1"/>
            </p:cNvSpPr>
            <p:nvPr/>
          </p:nvSpPr>
          <p:spPr bwMode="auto">
            <a:xfrm>
              <a:off x="2385" y="2114"/>
              <a:ext cx="2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  <a:endParaRPr lang="en-GB" altLang="en-US"/>
            </a:p>
          </p:txBody>
        </p:sp>
        <p:sp>
          <p:nvSpPr>
            <p:cNvPr id="415663" name="Text Box 943"/>
            <p:cNvSpPr txBox="1">
              <a:spLocks noChangeArrowheads="1"/>
            </p:cNvSpPr>
            <p:nvPr/>
          </p:nvSpPr>
          <p:spPr bwMode="auto">
            <a:xfrm>
              <a:off x="2537" y="2900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415664" name="Text Box 944"/>
            <p:cNvSpPr txBox="1">
              <a:spLocks noChangeArrowheads="1"/>
            </p:cNvSpPr>
            <p:nvPr/>
          </p:nvSpPr>
          <p:spPr bwMode="auto">
            <a:xfrm>
              <a:off x="1539" y="2417"/>
              <a:ext cx="5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/>
                <a:t>object</a:t>
              </a:r>
              <a:endParaRPr lang="en-GB" altLang="en-US" sz="2000"/>
            </a:p>
          </p:txBody>
        </p:sp>
        <p:sp>
          <p:nvSpPr>
            <p:cNvPr id="415665" name="Freeform 945"/>
            <p:cNvSpPr>
              <a:spLocks/>
            </p:cNvSpPr>
            <p:nvPr/>
          </p:nvSpPr>
          <p:spPr bwMode="auto">
            <a:xfrm>
              <a:off x="1494" y="235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666" name="Freeform 946"/>
            <p:cNvSpPr>
              <a:spLocks/>
            </p:cNvSpPr>
            <p:nvPr/>
          </p:nvSpPr>
          <p:spPr bwMode="auto">
            <a:xfrm>
              <a:off x="2840" y="1806"/>
              <a:ext cx="1088" cy="817"/>
            </a:xfrm>
            <a:custGeom>
              <a:avLst/>
              <a:gdLst>
                <a:gd name="T0" fmla="*/ 0 w 1088"/>
                <a:gd name="T1" fmla="*/ 817 h 817"/>
                <a:gd name="T2" fmla="*/ 1088 w 1088"/>
                <a:gd name="T3" fmla="*/ 544 h 817"/>
                <a:gd name="T4" fmla="*/ 1088 w 1088"/>
                <a:gd name="T5" fmla="*/ 0 h 817"/>
                <a:gd name="T6" fmla="*/ 0 w 1088"/>
                <a:gd name="T7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8" h="817">
                  <a:moveTo>
                    <a:pt x="0" y="817"/>
                  </a:moveTo>
                  <a:lnTo>
                    <a:pt x="1088" y="544"/>
                  </a:lnTo>
                  <a:lnTo>
                    <a:pt x="1088" y="0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80D0E8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5667" name="Group 947"/>
          <p:cNvGrpSpPr>
            <a:grpSpLocks/>
          </p:cNvGrpSpPr>
          <p:nvPr/>
        </p:nvGrpSpPr>
        <p:grpSpPr bwMode="auto">
          <a:xfrm>
            <a:off x="5501681" y="2219327"/>
            <a:ext cx="2924175" cy="1617663"/>
            <a:chOff x="2661" y="1570"/>
            <a:chExt cx="1842" cy="1019"/>
          </a:xfrm>
        </p:grpSpPr>
        <p:sp>
          <p:nvSpPr>
            <p:cNvPr id="415668" name="Text Box 948"/>
            <p:cNvSpPr txBox="1">
              <a:spLocks noChangeArrowheads="1"/>
            </p:cNvSpPr>
            <p:nvPr/>
          </p:nvSpPr>
          <p:spPr bwMode="auto">
            <a:xfrm>
              <a:off x="2661" y="2323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C’</a:t>
              </a:r>
              <a:endParaRPr lang="en-GB" altLang="en-US"/>
            </a:p>
          </p:txBody>
        </p:sp>
        <p:sp>
          <p:nvSpPr>
            <p:cNvPr id="415669" name="Text Box 949"/>
            <p:cNvSpPr txBox="1">
              <a:spLocks noChangeArrowheads="1"/>
            </p:cNvSpPr>
            <p:nvPr/>
          </p:nvSpPr>
          <p:spPr bwMode="auto">
            <a:xfrm>
              <a:off x="3701" y="1570"/>
              <a:ext cx="23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A’</a:t>
              </a:r>
              <a:endParaRPr lang="en-GB" altLang="en-US"/>
            </a:p>
          </p:txBody>
        </p:sp>
        <p:sp>
          <p:nvSpPr>
            <p:cNvPr id="415670" name="Text Box 950"/>
            <p:cNvSpPr txBox="1">
              <a:spLocks noChangeArrowheads="1"/>
            </p:cNvSpPr>
            <p:nvPr/>
          </p:nvSpPr>
          <p:spPr bwMode="auto">
            <a:xfrm>
              <a:off x="3853" y="2356"/>
              <a:ext cx="23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B’</a:t>
              </a:r>
              <a:endParaRPr lang="en-GB" altLang="en-US"/>
            </a:p>
          </p:txBody>
        </p:sp>
        <p:sp>
          <p:nvSpPr>
            <p:cNvPr id="415671" name="Text Box 951"/>
            <p:cNvSpPr txBox="1">
              <a:spLocks noChangeArrowheads="1"/>
            </p:cNvSpPr>
            <p:nvPr/>
          </p:nvSpPr>
          <p:spPr bwMode="auto">
            <a:xfrm>
              <a:off x="3987" y="1819"/>
              <a:ext cx="5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solidFill>
                    <a:srgbClr val="FF6600"/>
                  </a:solidFill>
                </a:rPr>
                <a:t>image</a:t>
              </a:r>
              <a:endParaRPr lang="en-GB" altLang="en-US" sz="2000">
                <a:solidFill>
                  <a:srgbClr val="FF6600"/>
                </a:solidFill>
              </a:endParaRPr>
            </a:p>
          </p:txBody>
        </p:sp>
      </p:grpSp>
      <p:sp>
        <p:nvSpPr>
          <p:cNvPr id="415672" name="Text Box 952"/>
          <p:cNvSpPr txBox="1">
            <a:spLocks noChangeArrowheads="1"/>
          </p:cNvSpPr>
          <p:nvPr/>
        </p:nvSpPr>
        <p:spPr bwMode="auto">
          <a:xfrm>
            <a:off x="1703513" y="5049839"/>
            <a:ext cx="8372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dirty="0">
                <a:solidFill>
                  <a:schemeClr val="bg1"/>
                </a:solidFill>
              </a:rPr>
              <a:t>Every point in the shape moves the same distance in the same direction.</a:t>
            </a:r>
            <a:endParaRPr lang="en-GB" altLang="en-US" sz="2400" dirty="0">
              <a:solidFill>
                <a:schemeClr val="bg1"/>
              </a:solidFill>
            </a:endParaRPr>
          </a:p>
        </p:txBody>
      </p:sp>
      <p:grpSp>
        <p:nvGrpSpPr>
          <p:cNvPr id="415673" name="Group 953"/>
          <p:cNvGrpSpPr>
            <a:grpSpLocks/>
          </p:cNvGrpSpPr>
          <p:nvPr/>
        </p:nvGrpSpPr>
        <p:grpSpPr bwMode="auto">
          <a:xfrm>
            <a:off x="3647481" y="2603500"/>
            <a:ext cx="3889375" cy="2159000"/>
            <a:chOff x="1493" y="1812"/>
            <a:chExt cx="2450" cy="1360"/>
          </a:xfrm>
        </p:grpSpPr>
        <p:sp>
          <p:nvSpPr>
            <p:cNvPr id="415674" name="Line 954"/>
            <p:cNvSpPr>
              <a:spLocks noChangeShapeType="1"/>
            </p:cNvSpPr>
            <p:nvPr/>
          </p:nvSpPr>
          <p:spPr bwMode="auto">
            <a:xfrm flipV="1">
              <a:off x="2582" y="2356"/>
              <a:ext cx="1361" cy="5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675" name="Line 955"/>
            <p:cNvSpPr>
              <a:spLocks noChangeShapeType="1"/>
            </p:cNvSpPr>
            <p:nvPr/>
          </p:nvSpPr>
          <p:spPr bwMode="auto">
            <a:xfrm flipV="1">
              <a:off x="2582" y="1812"/>
              <a:ext cx="1361" cy="5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5676" name="Line 956"/>
            <p:cNvSpPr>
              <a:spLocks noChangeShapeType="1"/>
            </p:cNvSpPr>
            <p:nvPr/>
          </p:nvSpPr>
          <p:spPr bwMode="auto">
            <a:xfrm flipV="1">
              <a:off x="1493" y="2628"/>
              <a:ext cx="1361" cy="5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15677" name="Text Box 957"/>
          <p:cNvSpPr txBox="1">
            <a:spLocks noChangeArrowheads="1"/>
          </p:cNvSpPr>
          <p:nvPr/>
        </p:nvSpPr>
        <p:spPr bwMode="auto">
          <a:xfrm>
            <a:off x="3717330" y="3567114"/>
            <a:ext cx="862012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solidFill>
                  <a:srgbClr val="FF6600"/>
                </a:solidFill>
              </a:rPr>
              <a:t>object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223155" y="3242470"/>
            <a:ext cx="2232248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Crawl along before you climb up or down</a:t>
            </a:r>
          </a:p>
        </p:txBody>
      </p:sp>
    </p:spTree>
    <p:extLst>
      <p:ext uri="{BB962C8B-B14F-4D97-AF65-F5344CB8AC3E}">
        <p14:creationId xmlns:p14="http://schemas.microsoft.com/office/powerpoint/2010/main" val="151229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000"/>
                                        <p:tgtEl>
                                          <p:spTgt spid="41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7" grpId="0"/>
      <p:bldP spid="415672" grpId="0"/>
      <p:bldP spid="415677" grpId="0" animBg="1"/>
      <p:bldP spid="5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7A1B-BD2F-4A9D-B6F3-200F7C7C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Translation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965B-F628-4D64-9390-8D981F9D0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Translation </a:t>
            </a:r>
          </a:p>
          <a:p>
            <a:pPr>
              <a:buFontTx/>
              <a:buChar char="-"/>
            </a:pPr>
            <a:r>
              <a:rPr lang="en-AU" sz="3600" dirty="0">
                <a:solidFill>
                  <a:schemeClr val="bg1"/>
                </a:solidFill>
              </a:rPr>
              <a:t>Is just a slide</a:t>
            </a:r>
          </a:p>
          <a:p>
            <a:pPr>
              <a:buFontTx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Describing a translation involves saying how many units a shape is shifted left, right, up or down.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791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6682916" cy="620688"/>
          </a:xfrm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Translation is just a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1021"/>
            <a:ext cx="10515600" cy="4351338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Crawl along before you climb up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008" r="71382" b="51415"/>
          <a:stretch/>
        </p:blipFill>
        <p:spPr>
          <a:xfrm>
            <a:off x="1631504" y="1241376"/>
            <a:ext cx="2376264" cy="2485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0781" t="299" r="36325" b="51116"/>
          <a:stretch/>
        </p:blipFill>
        <p:spPr>
          <a:xfrm>
            <a:off x="4835860" y="1241376"/>
            <a:ext cx="2304256" cy="2485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77130" t="2891" r="-24" b="48524"/>
          <a:stretch/>
        </p:blipFill>
        <p:spPr>
          <a:xfrm>
            <a:off x="7968208" y="1241376"/>
            <a:ext cx="2304256" cy="248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4214445"/>
            <a:ext cx="8928992" cy="24727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03512" y="3324379"/>
            <a:ext cx="223224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3 right 2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1864" y="3601378"/>
            <a:ext cx="223224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4 right 3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884" y="3571314"/>
            <a:ext cx="223224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4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4026" y="5553076"/>
            <a:ext cx="3147839" cy="533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 rot="476721">
            <a:off x="8312167" y="336688"/>
            <a:ext cx="2263639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dirty="0"/>
              <a:t>Choose </a:t>
            </a:r>
            <a:r>
              <a:rPr lang="en-AU" i="1" dirty="0"/>
              <a:t>corresponding</a:t>
            </a:r>
            <a:r>
              <a:rPr lang="en-AU" dirty="0"/>
              <a:t> corners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74A9F-2A8B-98AE-6A51-D4BD35DA124B}"/>
              </a:ext>
            </a:extLst>
          </p:cNvPr>
          <p:cNvSpPr txBox="1"/>
          <p:nvPr/>
        </p:nvSpPr>
        <p:spPr>
          <a:xfrm>
            <a:off x="2803940" y="5891279"/>
            <a:ext cx="2263639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highlight>
                  <a:srgbClr val="FFFF00"/>
                </a:highlight>
              </a:rPr>
              <a:t>Exercise books!</a:t>
            </a:r>
          </a:p>
        </p:txBody>
      </p:sp>
    </p:spTree>
    <p:extLst>
      <p:ext uri="{BB962C8B-B14F-4D97-AF65-F5344CB8AC3E}">
        <p14:creationId xmlns:p14="http://schemas.microsoft.com/office/powerpoint/2010/main" val="197444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AD62-8CFF-46E7-BE13-36D3F56FB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D0D08-6D74-4E62-92DC-1FFB01D34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>
                <a:solidFill>
                  <a:schemeClr val="bg1"/>
                </a:solidFill>
              </a:rPr>
              <a:t>Complete the task sheet provided </a:t>
            </a:r>
          </a:p>
        </p:txBody>
      </p:sp>
    </p:spTree>
    <p:extLst>
      <p:ext uri="{BB962C8B-B14F-4D97-AF65-F5344CB8AC3E}">
        <p14:creationId xmlns:p14="http://schemas.microsoft.com/office/powerpoint/2010/main" val="1414917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3863" y="122288"/>
            <a:ext cx="3743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L.O: To explain how a shape has been translated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545909"/>
            <a:ext cx="2838734" cy="15371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545909"/>
            <a:ext cx="2838734" cy="153711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545909"/>
            <a:ext cx="2838734" cy="15371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2595349"/>
            <a:ext cx="2838734" cy="153711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2595349"/>
            <a:ext cx="2838734" cy="153711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2595349"/>
            <a:ext cx="2838734" cy="153711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4631144"/>
            <a:ext cx="2838734" cy="153711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4631144"/>
            <a:ext cx="2838734" cy="153711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4631144"/>
            <a:ext cx="2838734" cy="153711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014065" y="966404"/>
            <a:ext cx="455033" cy="5633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3392887" y="776445"/>
            <a:ext cx="455033" cy="5633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1975062" y="914401"/>
            <a:ext cx="86673" cy="9100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3349550" y="730942"/>
            <a:ext cx="86673" cy="9100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1450171" y="2044977"/>
            <a:ext cx="2946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First of all, choose one corner on the first shape.</a:t>
            </a:r>
          </a:p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After that, identify the same corner on the translated shape.</a:t>
            </a:r>
          </a:p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Finally, explain how it’s been translated. </a:t>
            </a:r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one is Right 6 spaces, Up 1 space.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5569" y="1059796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4391" y="873466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085569" y="331072"/>
            <a:ext cx="403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139593" y="327461"/>
            <a:ext cx="419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07788" y="222716"/>
            <a:ext cx="3524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2321" y="215656"/>
            <a:ext cx="3524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0802" y="776444"/>
            <a:ext cx="221856" cy="753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7022931" y="1158899"/>
            <a:ext cx="221856" cy="7533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/>
          <p:cNvSpPr txBox="1"/>
          <p:nvPr/>
        </p:nvSpPr>
        <p:spPr>
          <a:xfrm>
            <a:off x="5385471" y="968141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87600" y="1345112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9" name="Isosceles Triangle 38"/>
          <p:cNvSpPr/>
          <p:nvPr/>
        </p:nvSpPr>
        <p:spPr>
          <a:xfrm>
            <a:off x="9969256" y="786448"/>
            <a:ext cx="458964" cy="74333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Isosceles Triangle 39"/>
          <p:cNvSpPr/>
          <p:nvPr/>
        </p:nvSpPr>
        <p:spPr>
          <a:xfrm>
            <a:off x="8141044" y="973447"/>
            <a:ext cx="458964" cy="74333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/>
          <p:cNvSpPr txBox="1"/>
          <p:nvPr/>
        </p:nvSpPr>
        <p:spPr>
          <a:xfrm>
            <a:off x="8212378" y="1265647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1402" y="1066132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43" name="Diamond 42"/>
          <p:cNvSpPr/>
          <p:nvPr/>
        </p:nvSpPr>
        <p:spPr>
          <a:xfrm>
            <a:off x="3162447" y="3399874"/>
            <a:ext cx="454424" cy="374234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Diamond 43"/>
          <p:cNvSpPr/>
          <p:nvPr/>
        </p:nvSpPr>
        <p:spPr>
          <a:xfrm>
            <a:off x="2246436" y="2638154"/>
            <a:ext cx="454424" cy="37423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Box 44"/>
          <p:cNvSpPr txBox="1"/>
          <p:nvPr/>
        </p:nvSpPr>
        <p:spPr>
          <a:xfrm>
            <a:off x="3240046" y="3401491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1076" y="2632463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47" name="Trapezoid 46"/>
          <p:cNvSpPr/>
          <p:nvPr/>
        </p:nvSpPr>
        <p:spPr>
          <a:xfrm>
            <a:off x="5424334" y="3586157"/>
            <a:ext cx="679023" cy="184666"/>
          </a:xfrm>
          <a:prstGeom prst="trapezoid">
            <a:avLst>
              <a:gd name="adj" fmla="val 12250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rapezoid 47"/>
          <p:cNvSpPr/>
          <p:nvPr/>
        </p:nvSpPr>
        <p:spPr>
          <a:xfrm>
            <a:off x="6343909" y="2827722"/>
            <a:ext cx="679023" cy="184666"/>
          </a:xfrm>
          <a:prstGeom prst="trapezoid">
            <a:avLst>
              <a:gd name="adj" fmla="val 12250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5606508" y="3507948"/>
            <a:ext cx="335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2084" y="2750778"/>
            <a:ext cx="335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51" name="Right Triangle 50"/>
          <p:cNvSpPr/>
          <p:nvPr/>
        </p:nvSpPr>
        <p:spPr>
          <a:xfrm>
            <a:off x="9061196" y="3399875"/>
            <a:ext cx="448374" cy="37094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ight Triangle 51"/>
          <p:cNvSpPr/>
          <p:nvPr/>
        </p:nvSpPr>
        <p:spPr>
          <a:xfrm>
            <a:off x="7916857" y="3021864"/>
            <a:ext cx="448374" cy="370949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7874139" y="3081687"/>
            <a:ext cx="335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22141" y="3461465"/>
            <a:ext cx="335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1</a:t>
            </a:r>
          </a:p>
        </p:txBody>
      </p:sp>
      <p:sp>
        <p:nvSpPr>
          <p:cNvPr id="55" name="L-Shape 54"/>
          <p:cNvSpPr/>
          <p:nvPr/>
        </p:nvSpPr>
        <p:spPr>
          <a:xfrm>
            <a:off x="3847919" y="5243716"/>
            <a:ext cx="449978" cy="559040"/>
          </a:xfrm>
          <a:prstGeom prst="corner">
            <a:avLst>
              <a:gd name="adj1" fmla="val 42066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L-Shape 55"/>
          <p:cNvSpPr/>
          <p:nvPr/>
        </p:nvSpPr>
        <p:spPr>
          <a:xfrm>
            <a:off x="1563365" y="4676008"/>
            <a:ext cx="446366" cy="559040"/>
          </a:xfrm>
          <a:prstGeom prst="corner">
            <a:avLst>
              <a:gd name="adj1" fmla="val 42066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 58"/>
          <p:cNvSpPr/>
          <p:nvPr/>
        </p:nvSpPr>
        <p:spPr>
          <a:xfrm>
            <a:off x="4731263" y="4862355"/>
            <a:ext cx="1148417" cy="567708"/>
          </a:xfrm>
          <a:custGeom>
            <a:avLst/>
            <a:gdLst>
              <a:gd name="connsiteX0" fmla="*/ 0 w 1148417"/>
              <a:gd name="connsiteY0" fmla="*/ 567708 h 567708"/>
              <a:gd name="connsiteX1" fmla="*/ 680383 w 1148417"/>
              <a:gd name="connsiteY1" fmla="*/ 0 h 567708"/>
              <a:gd name="connsiteX2" fmla="*/ 1148417 w 1148417"/>
              <a:gd name="connsiteY2" fmla="*/ 377027 h 567708"/>
              <a:gd name="connsiteX3" fmla="*/ 0 w 1148417"/>
              <a:gd name="connsiteY3" fmla="*/ 567708 h 567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8417" h="567708">
                <a:moveTo>
                  <a:pt x="0" y="567708"/>
                </a:moveTo>
                <a:lnTo>
                  <a:pt x="680383" y="0"/>
                </a:lnTo>
                <a:lnTo>
                  <a:pt x="1148417" y="377027"/>
                </a:lnTo>
                <a:lnTo>
                  <a:pt x="0" y="56770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Freeform 59"/>
          <p:cNvSpPr/>
          <p:nvPr/>
        </p:nvSpPr>
        <p:spPr>
          <a:xfrm>
            <a:off x="6104135" y="5430063"/>
            <a:ext cx="1148417" cy="567708"/>
          </a:xfrm>
          <a:custGeom>
            <a:avLst/>
            <a:gdLst>
              <a:gd name="connsiteX0" fmla="*/ 0 w 1148417"/>
              <a:gd name="connsiteY0" fmla="*/ 567708 h 567708"/>
              <a:gd name="connsiteX1" fmla="*/ 680383 w 1148417"/>
              <a:gd name="connsiteY1" fmla="*/ 0 h 567708"/>
              <a:gd name="connsiteX2" fmla="*/ 1148417 w 1148417"/>
              <a:gd name="connsiteY2" fmla="*/ 377027 h 567708"/>
              <a:gd name="connsiteX3" fmla="*/ 0 w 1148417"/>
              <a:gd name="connsiteY3" fmla="*/ 567708 h 567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8417" h="567708">
                <a:moveTo>
                  <a:pt x="0" y="567708"/>
                </a:moveTo>
                <a:lnTo>
                  <a:pt x="680383" y="0"/>
                </a:lnTo>
                <a:lnTo>
                  <a:pt x="1148417" y="377027"/>
                </a:lnTo>
                <a:lnTo>
                  <a:pt x="0" y="5677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3816816" y="5431507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8696" y="4865716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52873" y="4938601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40365" y="5519074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10198739" y="4676009"/>
            <a:ext cx="452289" cy="567708"/>
          </a:xfrm>
          <a:prstGeom prst="downArrow">
            <a:avLst>
              <a:gd name="adj1" fmla="val 50000"/>
              <a:gd name="adj2" fmla="val 4329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Down Arrow 66"/>
          <p:cNvSpPr/>
          <p:nvPr/>
        </p:nvSpPr>
        <p:spPr>
          <a:xfrm>
            <a:off x="8373864" y="5243716"/>
            <a:ext cx="452289" cy="567708"/>
          </a:xfrm>
          <a:prstGeom prst="downArrow">
            <a:avLst>
              <a:gd name="adj1" fmla="val 50000"/>
              <a:gd name="adj2" fmla="val 4329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/>
          <p:cNvSpPr txBox="1"/>
          <p:nvPr/>
        </p:nvSpPr>
        <p:spPr>
          <a:xfrm>
            <a:off x="8457208" y="5246841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78623" y="4685356"/>
            <a:ext cx="3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1013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3863" y="122288"/>
            <a:ext cx="3743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L.O: To accurately translate a shape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545909"/>
            <a:ext cx="2838734" cy="15371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545909"/>
            <a:ext cx="2838734" cy="153711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545909"/>
            <a:ext cx="2838734" cy="15371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2595349"/>
            <a:ext cx="2838734" cy="153711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2595349"/>
            <a:ext cx="2838734" cy="153711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2595349"/>
            <a:ext cx="2838734" cy="153711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4631144"/>
            <a:ext cx="2838734" cy="153711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4631144"/>
            <a:ext cx="2838734" cy="153711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4631144"/>
            <a:ext cx="2838734" cy="153711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392887" y="776445"/>
            <a:ext cx="455033" cy="5633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3349550" y="730942"/>
            <a:ext cx="86673" cy="9100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1444014" y="2102069"/>
            <a:ext cx="2946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6, Down 2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085569" y="331072"/>
            <a:ext cx="403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139593" y="327461"/>
            <a:ext cx="419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07788" y="222716"/>
            <a:ext cx="3524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2321" y="215656"/>
            <a:ext cx="3524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0802" y="973447"/>
            <a:ext cx="221856" cy="55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ight Triangle 50"/>
          <p:cNvSpPr/>
          <p:nvPr/>
        </p:nvSpPr>
        <p:spPr>
          <a:xfrm>
            <a:off x="7918667" y="3399875"/>
            <a:ext cx="448374" cy="37094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/>
          <p:cNvSpPr txBox="1"/>
          <p:nvPr/>
        </p:nvSpPr>
        <p:spPr>
          <a:xfrm>
            <a:off x="4669814" y="2102069"/>
            <a:ext cx="2946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5, Up 1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9975851" y="776444"/>
            <a:ext cx="675177" cy="372906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/>
          <p:cNvSpPr txBox="1"/>
          <p:nvPr/>
        </p:nvSpPr>
        <p:spPr>
          <a:xfrm>
            <a:off x="7801594" y="2105203"/>
            <a:ext cx="2946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7, Down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7843" y="4132459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6, Up 4</a:t>
            </a:r>
          </a:p>
        </p:txBody>
      </p:sp>
      <p:sp>
        <p:nvSpPr>
          <p:cNvPr id="5" name="Rectangle 4"/>
          <p:cNvSpPr/>
          <p:nvPr/>
        </p:nvSpPr>
        <p:spPr>
          <a:xfrm>
            <a:off x="3392887" y="3585349"/>
            <a:ext cx="905011" cy="1854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4676633" y="4132459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5, Up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20802" y="3204059"/>
            <a:ext cx="684722" cy="566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/>
          <p:cNvSpPr txBox="1"/>
          <p:nvPr/>
        </p:nvSpPr>
        <p:spPr>
          <a:xfrm>
            <a:off x="7894103" y="4132459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2, Up 2</a:t>
            </a:r>
          </a:p>
        </p:txBody>
      </p:sp>
      <p:sp>
        <p:nvSpPr>
          <p:cNvPr id="7" name="Right Triangle 6"/>
          <p:cNvSpPr/>
          <p:nvPr/>
        </p:nvSpPr>
        <p:spPr>
          <a:xfrm>
            <a:off x="1564576" y="4862355"/>
            <a:ext cx="896587" cy="381362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/>
          <p:cNvSpPr txBox="1"/>
          <p:nvPr/>
        </p:nvSpPr>
        <p:spPr>
          <a:xfrm>
            <a:off x="1546761" y="6185622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5, Down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5973" y="6185622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7, Down 4</a:t>
            </a:r>
          </a:p>
        </p:txBody>
      </p:sp>
      <p:sp>
        <p:nvSpPr>
          <p:cNvPr id="8" name="Diamond 7"/>
          <p:cNvSpPr/>
          <p:nvPr/>
        </p:nvSpPr>
        <p:spPr>
          <a:xfrm>
            <a:off x="6789717" y="4862355"/>
            <a:ext cx="469075" cy="373312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0435443" y="4678879"/>
            <a:ext cx="215585" cy="9322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/>
          <p:cNvSpPr txBox="1"/>
          <p:nvPr/>
        </p:nvSpPr>
        <p:spPr>
          <a:xfrm>
            <a:off x="7918667" y="6185622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10, Down 1</a:t>
            </a:r>
          </a:p>
        </p:txBody>
      </p:sp>
    </p:spTree>
    <p:extLst>
      <p:ext uri="{BB962C8B-B14F-4D97-AF65-F5344CB8AC3E}">
        <p14:creationId xmlns:p14="http://schemas.microsoft.com/office/powerpoint/2010/main" val="3170352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3863" y="122288"/>
            <a:ext cx="3743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L.O: To accurately translate tricky shapes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545909"/>
            <a:ext cx="2838734" cy="15371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545909"/>
            <a:ext cx="2838734" cy="153711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545909"/>
            <a:ext cx="2838734" cy="15371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2595349"/>
            <a:ext cx="2838734" cy="153711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2595349"/>
            <a:ext cx="2838734" cy="153711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7855423" y="2595349"/>
            <a:ext cx="2838734" cy="153711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1497843" y="4631144"/>
            <a:ext cx="2838734" cy="153711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676633" y="4631144"/>
            <a:ext cx="2838734" cy="15371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44014" y="2102069"/>
            <a:ext cx="2946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4, Down 1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085569" y="331072"/>
            <a:ext cx="403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139593" y="327461"/>
            <a:ext cx="419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07788" y="222716"/>
            <a:ext cx="3524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2321" y="215656"/>
            <a:ext cx="3524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9814" y="2102069"/>
            <a:ext cx="2946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5, Up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01594" y="2105203"/>
            <a:ext cx="2946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7, Down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7843" y="4132459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7, 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6633" y="4132459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5, Up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4103" y="4132459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4, Down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6761" y="6185622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Right 6, Down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5973" y="6185622"/>
            <a:ext cx="28000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Left 7, Down 2</a:t>
            </a:r>
          </a:p>
        </p:txBody>
      </p:sp>
      <p:sp>
        <p:nvSpPr>
          <p:cNvPr id="10" name="Freeform 9"/>
          <p:cNvSpPr/>
          <p:nvPr/>
        </p:nvSpPr>
        <p:spPr>
          <a:xfrm>
            <a:off x="3385783" y="595952"/>
            <a:ext cx="686937" cy="564108"/>
          </a:xfrm>
          <a:custGeom>
            <a:avLst/>
            <a:gdLst>
              <a:gd name="connsiteX0" fmla="*/ 9099 w 686937"/>
              <a:gd name="connsiteY0" fmla="*/ 191069 h 564108"/>
              <a:gd name="connsiteX1" fmla="*/ 232012 w 686937"/>
              <a:gd name="connsiteY1" fmla="*/ 0 h 564108"/>
              <a:gd name="connsiteX2" fmla="*/ 686937 w 686937"/>
              <a:gd name="connsiteY2" fmla="*/ 181970 h 564108"/>
              <a:gd name="connsiteX3" fmla="*/ 0 w 686937"/>
              <a:gd name="connsiteY3" fmla="*/ 564108 h 564108"/>
              <a:gd name="connsiteX4" fmla="*/ 9099 w 686937"/>
              <a:gd name="connsiteY4" fmla="*/ 191069 h 56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937" h="564108">
                <a:moveTo>
                  <a:pt x="9099" y="191069"/>
                </a:moveTo>
                <a:lnTo>
                  <a:pt x="232012" y="0"/>
                </a:lnTo>
                <a:lnTo>
                  <a:pt x="686937" y="181970"/>
                </a:lnTo>
                <a:lnTo>
                  <a:pt x="0" y="564108"/>
                </a:lnTo>
                <a:lnTo>
                  <a:pt x="9099" y="19106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3349550" y="730942"/>
            <a:ext cx="86673" cy="9100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5191837" y="773374"/>
            <a:ext cx="686937" cy="955343"/>
          </a:xfrm>
          <a:custGeom>
            <a:avLst/>
            <a:gdLst>
              <a:gd name="connsiteX0" fmla="*/ 682388 w 686937"/>
              <a:gd name="connsiteY0" fmla="*/ 0 h 955343"/>
              <a:gd name="connsiteX1" fmla="*/ 686937 w 686937"/>
              <a:gd name="connsiteY1" fmla="*/ 955343 h 955343"/>
              <a:gd name="connsiteX2" fmla="*/ 0 w 686937"/>
              <a:gd name="connsiteY2" fmla="*/ 191069 h 955343"/>
              <a:gd name="connsiteX3" fmla="*/ 682388 w 686937"/>
              <a:gd name="connsiteY3" fmla="*/ 0 h 955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37" h="955343">
                <a:moveTo>
                  <a:pt x="682388" y="0"/>
                </a:moveTo>
                <a:cubicBezTo>
                  <a:pt x="683904" y="318448"/>
                  <a:pt x="685421" y="636895"/>
                  <a:pt x="686937" y="955343"/>
                </a:cubicBezTo>
                <a:lnTo>
                  <a:pt x="0" y="191069"/>
                </a:lnTo>
                <a:lnTo>
                  <a:pt x="682388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9968552" y="582304"/>
            <a:ext cx="686938" cy="955344"/>
          </a:xfrm>
          <a:custGeom>
            <a:avLst/>
            <a:gdLst>
              <a:gd name="connsiteX0" fmla="*/ 227463 w 686938"/>
              <a:gd name="connsiteY0" fmla="*/ 0 h 955344"/>
              <a:gd name="connsiteX1" fmla="*/ 0 w 686938"/>
              <a:gd name="connsiteY1" fmla="*/ 195618 h 955344"/>
              <a:gd name="connsiteX2" fmla="*/ 227463 w 686938"/>
              <a:gd name="connsiteY2" fmla="*/ 955344 h 955344"/>
              <a:gd name="connsiteX3" fmla="*/ 686938 w 686938"/>
              <a:gd name="connsiteY3" fmla="*/ 764275 h 955344"/>
              <a:gd name="connsiteX4" fmla="*/ 227463 w 686938"/>
              <a:gd name="connsiteY4" fmla="*/ 0 h 95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938" h="955344">
                <a:moveTo>
                  <a:pt x="227463" y="0"/>
                </a:moveTo>
                <a:lnTo>
                  <a:pt x="0" y="195618"/>
                </a:lnTo>
                <a:lnTo>
                  <a:pt x="227463" y="955344"/>
                </a:lnTo>
                <a:lnTo>
                  <a:pt x="686938" y="764275"/>
                </a:lnTo>
                <a:lnTo>
                  <a:pt x="227463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3385783" y="3202675"/>
            <a:ext cx="909851" cy="573206"/>
          </a:xfrm>
          <a:custGeom>
            <a:avLst/>
            <a:gdLst>
              <a:gd name="connsiteX0" fmla="*/ 0 w 909851"/>
              <a:gd name="connsiteY0" fmla="*/ 573206 h 573206"/>
              <a:gd name="connsiteX1" fmla="*/ 222914 w 909851"/>
              <a:gd name="connsiteY1" fmla="*/ 0 h 573206"/>
              <a:gd name="connsiteX2" fmla="*/ 909851 w 909851"/>
              <a:gd name="connsiteY2" fmla="*/ 191068 h 573206"/>
              <a:gd name="connsiteX3" fmla="*/ 909851 w 909851"/>
              <a:gd name="connsiteY3" fmla="*/ 573206 h 573206"/>
              <a:gd name="connsiteX4" fmla="*/ 0 w 909851"/>
              <a:gd name="connsiteY4" fmla="*/ 573206 h 57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9851" h="573206">
                <a:moveTo>
                  <a:pt x="0" y="573206"/>
                </a:moveTo>
                <a:lnTo>
                  <a:pt x="222914" y="0"/>
                </a:lnTo>
                <a:lnTo>
                  <a:pt x="909851" y="191068"/>
                </a:lnTo>
                <a:lnTo>
                  <a:pt x="909851" y="573206"/>
                </a:lnTo>
                <a:lnTo>
                  <a:pt x="0" y="57320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 21"/>
          <p:cNvSpPr/>
          <p:nvPr/>
        </p:nvSpPr>
        <p:spPr>
          <a:xfrm>
            <a:off x="4964373" y="3016155"/>
            <a:ext cx="914400" cy="759726"/>
          </a:xfrm>
          <a:custGeom>
            <a:avLst/>
            <a:gdLst>
              <a:gd name="connsiteX0" fmla="*/ 909851 w 914400"/>
              <a:gd name="connsiteY0" fmla="*/ 568657 h 759726"/>
              <a:gd name="connsiteX1" fmla="*/ 686937 w 914400"/>
              <a:gd name="connsiteY1" fmla="*/ 759726 h 759726"/>
              <a:gd name="connsiteX2" fmla="*/ 0 w 914400"/>
              <a:gd name="connsiteY2" fmla="*/ 568657 h 759726"/>
              <a:gd name="connsiteX3" fmla="*/ 914400 w 914400"/>
              <a:gd name="connsiteY3" fmla="*/ 0 h 759726"/>
              <a:gd name="connsiteX4" fmla="*/ 909851 w 914400"/>
              <a:gd name="connsiteY4" fmla="*/ 568657 h 75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759726">
                <a:moveTo>
                  <a:pt x="909851" y="568657"/>
                </a:moveTo>
                <a:lnTo>
                  <a:pt x="686937" y="759726"/>
                </a:lnTo>
                <a:lnTo>
                  <a:pt x="0" y="568657"/>
                </a:lnTo>
                <a:lnTo>
                  <a:pt x="914400" y="0"/>
                </a:lnTo>
                <a:cubicBezTo>
                  <a:pt x="912884" y="191069"/>
                  <a:pt x="911367" y="382137"/>
                  <a:pt x="909851" y="568657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 23"/>
          <p:cNvSpPr/>
          <p:nvPr/>
        </p:nvSpPr>
        <p:spPr>
          <a:xfrm>
            <a:off x="8135204" y="3198126"/>
            <a:ext cx="1137313" cy="386687"/>
          </a:xfrm>
          <a:custGeom>
            <a:avLst/>
            <a:gdLst>
              <a:gd name="connsiteX0" fmla="*/ 0 w 1150961"/>
              <a:gd name="connsiteY0" fmla="*/ 382138 h 386687"/>
              <a:gd name="connsiteX1" fmla="*/ 459475 w 1150961"/>
              <a:gd name="connsiteY1" fmla="*/ 4550 h 386687"/>
              <a:gd name="connsiteX2" fmla="*/ 1150961 w 1150961"/>
              <a:gd name="connsiteY2" fmla="*/ 0 h 386687"/>
              <a:gd name="connsiteX3" fmla="*/ 691487 w 1150961"/>
              <a:gd name="connsiteY3" fmla="*/ 386687 h 386687"/>
              <a:gd name="connsiteX4" fmla="*/ 0 w 1150961"/>
              <a:gd name="connsiteY4" fmla="*/ 382138 h 38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961" h="386687">
                <a:moveTo>
                  <a:pt x="0" y="382138"/>
                </a:moveTo>
                <a:lnTo>
                  <a:pt x="459475" y="4550"/>
                </a:lnTo>
                <a:lnTo>
                  <a:pt x="1150961" y="0"/>
                </a:lnTo>
                <a:lnTo>
                  <a:pt x="691487" y="386687"/>
                </a:lnTo>
                <a:lnTo>
                  <a:pt x="0" y="38213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 26"/>
          <p:cNvSpPr/>
          <p:nvPr/>
        </p:nvSpPr>
        <p:spPr>
          <a:xfrm>
            <a:off x="1552433" y="4858604"/>
            <a:ext cx="1146412" cy="764275"/>
          </a:xfrm>
          <a:custGeom>
            <a:avLst/>
            <a:gdLst>
              <a:gd name="connsiteX0" fmla="*/ 0 w 1146412"/>
              <a:gd name="connsiteY0" fmla="*/ 0 h 764275"/>
              <a:gd name="connsiteX1" fmla="*/ 464024 w 1146412"/>
              <a:gd name="connsiteY1" fmla="*/ 0 h 764275"/>
              <a:gd name="connsiteX2" fmla="*/ 1146412 w 1146412"/>
              <a:gd name="connsiteY2" fmla="*/ 573206 h 764275"/>
              <a:gd name="connsiteX3" fmla="*/ 691486 w 1146412"/>
              <a:gd name="connsiteY3" fmla="*/ 764275 h 764275"/>
              <a:gd name="connsiteX4" fmla="*/ 0 w 1146412"/>
              <a:gd name="connsiteY4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412" h="764275">
                <a:moveTo>
                  <a:pt x="0" y="0"/>
                </a:moveTo>
                <a:lnTo>
                  <a:pt x="464024" y="0"/>
                </a:lnTo>
                <a:lnTo>
                  <a:pt x="1146412" y="573206"/>
                </a:lnTo>
                <a:lnTo>
                  <a:pt x="691486" y="7642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eform 27"/>
          <p:cNvSpPr/>
          <p:nvPr/>
        </p:nvSpPr>
        <p:spPr>
          <a:xfrm>
            <a:off x="7020636" y="4863152"/>
            <a:ext cx="459474" cy="759726"/>
          </a:xfrm>
          <a:custGeom>
            <a:avLst/>
            <a:gdLst>
              <a:gd name="connsiteX0" fmla="*/ 0 w 459474"/>
              <a:gd name="connsiteY0" fmla="*/ 186520 h 759726"/>
              <a:gd name="connsiteX1" fmla="*/ 227463 w 459474"/>
              <a:gd name="connsiteY1" fmla="*/ 0 h 759726"/>
              <a:gd name="connsiteX2" fmla="*/ 459474 w 459474"/>
              <a:gd name="connsiteY2" fmla="*/ 186520 h 759726"/>
              <a:gd name="connsiteX3" fmla="*/ 227463 w 459474"/>
              <a:gd name="connsiteY3" fmla="*/ 759726 h 759726"/>
              <a:gd name="connsiteX4" fmla="*/ 0 w 459474"/>
              <a:gd name="connsiteY4" fmla="*/ 186520 h 75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474" h="759726">
                <a:moveTo>
                  <a:pt x="0" y="186520"/>
                </a:moveTo>
                <a:lnTo>
                  <a:pt x="227463" y="0"/>
                </a:lnTo>
                <a:lnTo>
                  <a:pt x="459474" y="186520"/>
                </a:lnTo>
                <a:lnTo>
                  <a:pt x="227463" y="759726"/>
                </a:lnTo>
                <a:lnTo>
                  <a:pt x="0" y="18652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3"/>
          <a:srcRect t="24348"/>
          <a:stretch/>
        </p:blipFill>
        <p:spPr>
          <a:xfrm>
            <a:off x="8241189" y="4407161"/>
            <a:ext cx="2105882" cy="1524912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024" y="4407161"/>
            <a:ext cx="247852" cy="2472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41024" y="5956515"/>
            <a:ext cx="2814466" cy="438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8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</a:t>
            </a:r>
            <a:r>
              <a:rPr lang="en-GB" sz="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Investigate how point A has been translated</a:t>
            </a:r>
          </a:p>
          <a:p>
            <a:pPr algn="ctr">
              <a:lnSpc>
                <a:spcPct val="150000"/>
              </a:lnSpc>
            </a:pPr>
            <a:r>
              <a:rPr lang="en-GB" sz="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point B, and then do the same to the other corners.   </a:t>
            </a:r>
          </a:p>
        </p:txBody>
      </p:sp>
    </p:spTree>
    <p:extLst>
      <p:ext uri="{BB962C8B-B14F-4D97-AF65-F5344CB8AC3E}">
        <p14:creationId xmlns:p14="http://schemas.microsoft.com/office/powerpoint/2010/main" val="1545623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E3DD-F820-41DF-A44A-E8843E48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Types of view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E4EA-E8DB-4586-BC30-9FC60BA7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5335479"/>
            <a:ext cx="2956265" cy="60368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Oblique (Flat face)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B13B218-D606-4480-98E0-3FA30F1D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6" y="1604390"/>
            <a:ext cx="11496821" cy="347778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1CCBA6-13FD-4C2E-B22E-F6A96D70C98D}"/>
              </a:ext>
            </a:extLst>
          </p:cNvPr>
          <p:cNvSpPr txBox="1">
            <a:spLocks/>
          </p:cNvSpPr>
          <p:nvPr/>
        </p:nvSpPr>
        <p:spPr>
          <a:xfrm>
            <a:off x="4492663" y="5335479"/>
            <a:ext cx="3301931" cy="87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Isometric (diagonals)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CD2EAB-DC31-4E8D-9154-CB0232CB30B2}"/>
              </a:ext>
            </a:extLst>
          </p:cNvPr>
          <p:cNvSpPr txBox="1">
            <a:spLocks/>
          </p:cNvSpPr>
          <p:nvPr/>
        </p:nvSpPr>
        <p:spPr>
          <a:xfrm>
            <a:off x="8373121" y="5363591"/>
            <a:ext cx="3558467" cy="957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Orthogonal (top, front and view)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53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46BD-1323-4708-99F0-D17695F3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F010-229B-4333-B32A-F441D2D5B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If you are unsure: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Start on page 393, read and begin from question 1 – 5</a:t>
            </a:r>
          </a:p>
          <a:p>
            <a:pPr>
              <a:buFontTx/>
              <a:buChar char="-"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If you somewhat confident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- Start on page 394, question 3 – 8</a:t>
            </a:r>
          </a:p>
        </p:txBody>
      </p:sp>
    </p:spTree>
    <p:extLst>
      <p:ext uri="{BB962C8B-B14F-4D97-AF65-F5344CB8AC3E}">
        <p14:creationId xmlns:p14="http://schemas.microsoft.com/office/powerpoint/2010/main" val="172893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1281</Words>
  <Application>Microsoft Office PowerPoint</Application>
  <PresentationFormat>Widescreen</PresentationFormat>
  <Paragraphs>277</Paragraphs>
  <Slides>20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– pronumerals </vt:lpstr>
      <vt:lpstr>Daily review – pronumerals </vt:lpstr>
      <vt:lpstr>Daily review – like terms </vt:lpstr>
      <vt:lpstr>Simplify by collecting like terms  (exercise books)</vt:lpstr>
      <vt:lpstr>Types of view </vt:lpstr>
      <vt:lpstr>Types of view </vt:lpstr>
      <vt:lpstr>Co-ordinates</vt:lpstr>
      <vt:lpstr>Co-ordinates</vt:lpstr>
      <vt:lpstr>Co-ordinates</vt:lpstr>
      <vt:lpstr>Co-ordinates</vt:lpstr>
      <vt:lpstr>Translation is just a slide</vt:lpstr>
      <vt:lpstr>Translation </vt:lpstr>
      <vt:lpstr>Translation is just a slide</vt:lpstr>
      <vt:lpstr>Individual practice </vt:lpstr>
      <vt:lpstr>PowerPoint Presentation</vt:lpstr>
      <vt:lpstr>PowerPoint Presentation</vt:lpstr>
      <vt:lpstr>PowerPoint Presentation</vt:lpstr>
      <vt:lpstr>Types of view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Rhys DAVIES</dc:creator>
  <cp:lastModifiedBy>DAVIES Rhys [Busselton Senior High School]</cp:lastModifiedBy>
  <cp:revision>22</cp:revision>
  <cp:lastPrinted>2023-07-18T08:25:24Z</cp:lastPrinted>
  <dcterms:created xsi:type="dcterms:W3CDTF">2021-06-23T12:20:32Z</dcterms:created>
  <dcterms:modified xsi:type="dcterms:W3CDTF">2023-07-19T03:16:58Z</dcterms:modified>
</cp:coreProperties>
</file>
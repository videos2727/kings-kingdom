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297" r:id="rId4"/>
    <p:sldId id="298" r:id="rId5"/>
    <p:sldId id="299" r:id="rId6"/>
    <p:sldId id="301" r:id="rId7"/>
    <p:sldId id="302" r:id="rId8"/>
    <p:sldId id="303" r:id="rId9"/>
    <p:sldId id="304" r:id="rId10"/>
    <p:sldId id="30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C84B-D3BF-0C1A-B1D8-C7593FEFA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0ADCE-F793-F09B-C54C-1A23E70D3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B0B35-D9D0-CBEB-269C-C6FED46E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7AD21-6331-2BDE-B785-661C6C4B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AFE0B-242D-6A62-AED2-CD219186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08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D1D3-437F-F594-CA68-03C1F7BB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2639B-7B78-A8A7-9B82-1C238293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8E4F8-52AC-604C-361B-2A633FF69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AF9FC-D675-138F-C412-74638CCDA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7DADD-8F90-A00D-123F-B6C2AD95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2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F4E7-B493-5723-1E9C-49E76542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41333-DB46-0AC4-A6DB-3B74D260D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4CD70-AA10-C637-C151-724CE64B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B8DE0-AEC0-96C5-EB89-C495598B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8BDB7-B093-780F-FCA0-FC9F35E4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5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71BA-1978-1A6C-4236-C18E2495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290D1-D3A8-485B-1772-765353219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5BD38-B7B5-2F81-970E-E43550DA2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A91CF-F508-981B-AE78-18378CB8B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EB1FD-704E-EB85-3DAC-14539F466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912ED-B6DB-600C-14A2-42B1F07E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86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9E21-6FA3-ADDA-1A92-67F9A7A8F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73449-8035-D7BC-BB64-DBF64AF2F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6C91F-148C-C05A-0AC3-26BC5F5B1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566DA-D2C7-6BFE-E8B4-7BAECC87C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D601A2-7A8C-7D7B-9552-62404E95B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358E3-7221-3D32-7775-709226BD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7F1FD-7671-3392-8ED1-3DD7A1E9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BB791-5842-3414-D1AC-984A621B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90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B5F2-2AEC-7D58-7889-259FDD0E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CB153-A1E9-24A2-6E84-8942533D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335F5-7EA2-7B39-9799-B4C9ADAF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1FE9F-1A61-345F-3934-371B90C7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412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99646-C36B-D32D-8FB3-F006D33A3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80D4F-A181-94D9-89F5-C30BE8F5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BBB41-8CD0-3358-F611-A39708EB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304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72AB9-8D25-04B9-27B4-E96CA93A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3269-E36E-24FB-2815-6FE984377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E7AFF-66D1-408C-CF0D-AB01F3441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2E3A7-441A-5BF0-5CC3-23959B95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B7D92-84AE-8EBB-A282-E4D1F0FD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CEAA3-58E3-B5E4-752D-E23F84B4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293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9E05-81C4-8C8E-55EE-48077B56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C7BFA-4D0A-120D-6885-09C17B372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B0B7D-EE2F-98C1-EAE4-6D2ED45B9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78B99-5CBE-767C-7EF2-E6F8EA83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89503-87D2-D623-D8EE-487714E9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A0405-538B-5699-5F56-C3D18A12B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61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DCF7-3535-7083-02C8-594BD78F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1BED2-7103-89C0-3B99-E10F0E1D1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E2A8D-B6B6-E059-44F4-117F70B6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20917-6D21-1642-A26E-B010A5FD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7C9B-EE0B-A0F8-2B6B-4A11456A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934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402300-1B4A-B6A2-ED6A-22394E459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1FBC4-B0A6-DE01-8D1C-E79DB2B45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3F384-F2E9-8E8B-3946-724AAA51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1B8D8-621E-AFCD-AD6E-C3DFA688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524F1-F461-2689-B60F-0A8D2054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426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803F5-6A36-9B3A-136F-73EB17CA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E59C4-DC70-3400-AD07-D480E42B1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EBA67-7B20-A488-F615-252C8CBD5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7DBC1-1B9C-4ADB-AB6E-AE9BC7FDDAE6}" type="datetimeFigureOut">
              <a:rPr lang="en-AU" smtClean="0"/>
              <a:t>14/08/2023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B7C9D-6F8E-456D-E658-96041BC4A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82778-E2DE-4BEC-6630-511C9CEDE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3C46B-7528-4C72-B973-FAA670C2C8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862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39BE04-0271-4859-FC33-C0C94193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8C7F71-1D1B-CF7F-57A4-FE87A9A2E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Forming Expressions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Translate mathematical phrases into algebraic terms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solving equations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Forming equations </a:t>
            </a:r>
            <a:endParaRPr lang="en-AU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4DBC3-5327-2EDD-799A-8497686199F6}"/>
              </a:ext>
            </a:extLst>
          </p:cNvPr>
          <p:cNvSpPr txBox="1"/>
          <p:nvPr/>
        </p:nvSpPr>
        <p:spPr>
          <a:xfrm>
            <a:off x="7874494" y="80872"/>
            <a:ext cx="4740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Respect – listening 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Empathy – allow others to work</a:t>
            </a:r>
            <a:endParaRPr lang="en-AU" sz="2400" b="1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31B9C-A319-63E8-EB65-14982A2B764D}"/>
              </a:ext>
            </a:extLst>
          </p:cNvPr>
          <p:cNvSpPr txBox="1"/>
          <p:nvPr/>
        </p:nvSpPr>
        <p:spPr>
          <a:xfrm>
            <a:off x="4502459" y="2504916"/>
            <a:ext cx="4740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</a:p>
        </p:txBody>
      </p:sp>
    </p:spTree>
    <p:extLst>
      <p:ext uri="{BB962C8B-B14F-4D97-AF65-F5344CB8AC3E}">
        <p14:creationId xmlns:p14="http://schemas.microsoft.com/office/powerpoint/2010/main" val="29918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BD6F-4D9E-0EB6-9C18-449B3321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Re-teach </a:t>
            </a:r>
            <a:endParaRPr lang="en-A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A1AE0-C5A5-EE01-F16D-BA6A797D16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:r>
                  <a:rPr lang="en-US" sz="3600" dirty="0">
                    <a:solidFill>
                      <a:schemeClr val="bg1"/>
                    </a:solidFill>
                  </a:rPr>
                  <a:t>2x + 5 = 17 </a:t>
                </a:r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+2=6 </m:t>
                    </m:r>
                  </m:oMath>
                </a14:m>
                <a:endParaRPr lang="en-US" sz="3600" b="0" dirty="0">
                  <a:solidFill>
                    <a:schemeClr val="bg1"/>
                  </a:solidFill>
                </a:endParaRPr>
              </a:p>
              <a:p>
                <a:pPr marL="742950" indent="-742950">
                  <a:buAutoNum type="alphaLcParenR"/>
                </a:pPr>
                <a:r>
                  <a:rPr lang="en-AU" sz="3600" dirty="0">
                    <a:solidFill>
                      <a:schemeClr val="bg1"/>
                    </a:solidFill>
                  </a:rPr>
                  <a:t>7c – 18 = 31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7A1AE0-C5A5-EE01-F16D-BA6A797D1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5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6906DFD-3E99-11B0-7AA5-C8D054DAC526}"/>
              </a:ext>
            </a:extLst>
          </p:cNvPr>
          <p:cNvGrpSpPr/>
          <p:nvPr/>
        </p:nvGrpSpPr>
        <p:grpSpPr>
          <a:xfrm>
            <a:off x="5941473" y="2477976"/>
            <a:ext cx="4176464" cy="1294656"/>
            <a:chOff x="511165" y="3632076"/>
            <a:chExt cx="3468981" cy="12946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96DAB3-65AF-A396-643E-D8FCDF83B7E4}"/>
                </a:ext>
              </a:extLst>
            </p:cNvPr>
            <p:cNvSpPr/>
            <p:nvPr/>
          </p:nvSpPr>
          <p:spPr>
            <a:xfrm>
              <a:off x="511165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68DB34-5577-019D-CE98-53D625B47C39}"/>
                </a:ext>
              </a:extLst>
            </p:cNvPr>
            <p:cNvSpPr/>
            <p:nvPr/>
          </p:nvSpPr>
          <p:spPr>
            <a:xfrm>
              <a:off x="1883531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697D72-5CF5-EEA3-3BC1-67E7C7BE9826}"/>
                </a:ext>
              </a:extLst>
            </p:cNvPr>
            <p:cNvSpPr/>
            <p:nvPr/>
          </p:nvSpPr>
          <p:spPr>
            <a:xfrm>
              <a:off x="3273420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240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97E0-74ED-821E-9933-E316EB75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69959-3A52-9B65-DFEF-F98F19CB5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:r>
                  <a:rPr lang="en-US" sz="3600" dirty="0">
                    <a:solidFill>
                      <a:schemeClr val="bg1"/>
                    </a:solidFill>
                  </a:rPr>
                  <a:t>3d + 9 = 27</a:t>
                </a:r>
              </a:p>
              <a:p>
                <a:pPr marL="742950" indent="-742950">
                  <a:buAutoNum type="alphaLcParenR"/>
                </a:pPr>
                <a:r>
                  <a:rPr lang="en-US" sz="3600" dirty="0">
                    <a:solidFill>
                      <a:schemeClr val="bg1"/>
                    </a:solidFill>
                  </a:rPr>
                  <a:t>5t – 4 = 11 </a:t>
                </a:r>
              </a:p>
              <a:p>
                <a:pPr marL="742950" indent="-742950">
                  <a:buAutoNum type="alphaLcParenR"/>
                </a:pPr>
                <a:r>
                  <a:rPr lang="en-US" sz="3600" dirty="0">
                    <a:solidFill>
                      <a:schemeClr val="bg1"/>
                    </a:solidFill>
                  </a:rPr>
                  <a:t>9 + 3e = 18 </a:t>
                </a:r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+5=9 </m:t>
                    </m:r>
                  </m:oMath>
                </a14:m>
                <a:endParaRPr lang="en-US" sz="3600" b="0" dirty="0">
                  <a:solidFill>
                    <a:schemeClr val="bg1"/>
                  </a:solidFill>
                </a:endParaRPr>
              </a:p>
              <a:p>
                <a:pPr marL="742950" indent="-742950">
                  <a:buAutoNum type="alphaLcParenR"/>
                </a:pPr>
                <a:r>
                  <a:rPr lang="en-AU" sz="3600" dirty="0">
                    <a:solidFill>
                      <a:schemeClr val="bg1"/>
                    </a:solidFill>
                  </a:rPr>
                  <a:t>12 – 3x = 0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969959-3A52-9B65-DFEF-F98F19CB5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5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623EDAC0-D1F1-9B87-1A05-CFAFF31A71DD}"/>
              </a:ext>
            </a:extLst>
          </p:cNvPr>
          <p:cNvGrpSpPr/>
          <p:nvPr/>
        </p:nvGrpSpPr>
        <p:grpSpPr>
          <a:xfrm>
            <a:off x="6838118" y="2451343"/>
            <a:ext cx="4176464" cy="1294656"/>
            <a:chOff x="511165" y="3632076"/>
            <a:chExt cx="3468981" cy="12946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6B782C-A6E3-2D08-C753-41A50E534A7E}"/>
                </a:ext>
              </a:extLst>
            </p:cNvPr>
            <p:cNvSpPr/>
            <p:nvPr/>
          </p:nvSpPr>
          <p:spPr>
            <a:xfrm>
              <a:off x="511165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D85E12-2D32-9C33-44D4-51B1B8A9DBF0}"/>
                </a:ext>
              </a:extLst>
            </p:cNvPr>
            <p:cNvSpPr/>
            <p:nvPr/>
          </p:nvSpPr>
          <p:spPr>
            <a:xfrm>
              <a:off x="1883531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E5C102-B461-F5B4-FB18-06F8B1581413}"/>
                </a:ext>
              </a:extLst>
            </p:cNvPr>
            <p:cNvSpPr/>
            <p:nvPr/>
          </p:nvSpPr>
          <p:spPr>
            <a:xfrm>
              <a:off x="3273420" y="3632076"/>
              <a:ext cx="706726" cy="129465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93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326B-B00F-86C5-6918-7BEC256D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1A6CB-B522-0552-3754-E9B267C8E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D81242-E303-5CE2-8FD7-867CFAA1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2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A39B-630E-FAC4-E16D-8800D6E13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38CDC3-B30B-95DB-D6F5-B1C38C1C2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0"/>
            <a:ext cx="10515600" cy="3452994"/>
          </a:xfrm>
        </p:spPr>
      </p:pic>
    </p:spTree>
    <p:extLst>
      <p:ext uri="{BB962C8B-B14F-4D97-AF65-F5344CB8AC3E}">
        <p14:creationId xmlns:p14="http://schemas.microsoft.com/office/powerpoint/2010/main" val="184369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0407D-7125-C3D6-0502-B76BF8F0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Forming expressions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E3712-799F-7CC6-403E-20A78A594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759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>
                <a:solidFill>
                  <a:schemeClr val="bg1"/>
                </a:solidFill>
                <a:latin typeface="Trebuchet MS" panose="020B0603020202020204" pitchFamily="34" charset="0"/>
              </a:rPr>
              <a:t>‘Four more than a number’ </a:t>
            </a:r>
          </a:p>
          <a:p>
            <a:pPr marL="0" indent="0">
              <a:buNone/>
            </a:pPr>
            <a:endParaRPr lang="en-A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chemeClr val="bg1"/>
                </a:solidFill>
                <a:latin typeface="Trebuchet MS" panose="020B0603020202020204" pitchFamily="34" charset="0"/>
              </a:rPr>
              <a:t>‘Four lots of a number’ </a:t>
            </a:r>
          </a:p>
          <a:p>
            <a:pPr marL="0" indent="0">
              <a:buNone/>
            </a:pPr>
            <a:endParaRPr lang="en-A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3200" dirty="0">
                <a:solidFill>
                  <a:schemeClr val="bg1"/>
                </a:solidFill>
                <a:latin typeface="Trebuchet MS" panose="020B0603020202020204" pitchFamily="34" charset="0"/>
              </a:rPr>
              <a:t>‘A number divided by 5</a:t>
            </a:r>
            <a:r>
              <a:rPr lang="en-GB" sz="3200" dirty="0">
                <a:latin typeface="Trebuchet MS" panose="020B0603020202020204" pitchFamily="34" charset="0"/>
              </a:rPr>
              <a:t>’ </a:t>
            </a:r>
          </a:p>
          <a:p>
            <a:pPr marL="0" indent="0">
              <a:buNone/>
            </a:pPr>
            <a:endParaRPr lang="en-AU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FE047C-68F1-F478-6E68-19CB80407464}"/>
              </a:ext>
            </a:extLst>
          </p:cNvPr>
          <p:cNvSpPr txBox="1">
            <a:spLocks/>
          </p:cNvSpPr>
          <p:nvPr/>
        </p:nvSpPr>
        <p:spPr>
          <a:xfrm>
            <a:off x="6441490" y="2634973"/>
            <a:ext cx="51275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3200" dirty="0">
                <a:solidFill>
                  <a:schemeClr val="bg1"/>
                </a:solidFill>
                <a:latin typeface="Trebuchet MS" panose="020B0603020202020204" pitchFamily="34" charset="0"/>
              </a:rPr>
              <a:t>5 more than 2 times a number.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32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32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3200" dirty="0">
                <a:solidFill>
                  <a:schemeClr val="bg1"/>
                </a:solidFill>
                <a:latin typeface="Trebuchet MS" panose="020B0603020202020204" pitchFamily="34" charset="0"/>
              </a:rPr>
              <a:t>2 increased by 3 times a number. </a:t>
            </a:r>
          </a:p>
        </p:txBody>
      </p:sp>
    </p:spTree>
    <p:extLst>
      <p:ext uri="{BB962C8B-B14F-4D97-AF65-F5344CB8AC3E}">
        <p14:creationId xmlns:p14="http://schemas.microsoft.com/office/powerpoint/2010/main" val="115823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BA04-F050-3F48-FB03-1AC1D3A7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 do – phrases to algebra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4BDA-DED3-DB30-0EB2-4F49A1C5A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10 minus 4 times a number </a:t>
            </a:r>
          </a:p>
          <a:p>
            <a:pPr marL="742950" indent="-742950">
              <a:buAutoNum type="alphaLcParenR"/>
            </a:pPr>
            <a:endParaRPr lang="en-US" sz="3600" dirty="0">
              <a:solidFill>
                <a:schemeClr val="bg1"/>
              </a:solidFill>
            </a:endParaRPr>
          </a:p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5 times a number, plus 9 </a:t>
            </a:r>
          </a:p>
          <a:p>
            <a:pPr marL="742950" indent="-742950">
              <a:buAutoNum type="alphaLcParenR"/>
            </a:pPr>
            <a:endParaRPr lang="en-US" sz="3600" dirty="0">
              <a:solidFill>
                <a:schemeClr val="bg1"/>
              </a:solidFill>
            </a:endParaRPr>
          </a:p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8 divided by a number, plus 4 </a:t>
            </a:r>
          </a:p>
          <a:p>
            <a:pPr marL="742950" indent="-742950">
              <a:buAutoNum type="alphaLcParenR"/>
            </a:pPr>
            <a:endParaRPr lang="en-US" sz="3600" dirty="0">
              <a:solidFill>
                <a:schemeClr val="bg1"/>
              </a:solidFill>
            </a:endParaRPr>
          </a:p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3 times the sum of a number plus 4 </a:t>
            </a:r>
            <a:endParaRPr lang="en-A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96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C2EB-8B4E-CBC5-4A31-CC20C200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Whiteboards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32AD7-2CF9-DB70-B7A0-D75271E31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10 less than a number </a:t>
            </a:r>
          </a:p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A third of a number </a:t>
            </a:r>
          </a:p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Triple a number and subtract 8 </a:t>
            </a:r>
          </a:p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6 increased by 3 times a number </a:t>
            </a:r>
          </a:p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8 times the sum of 5 and a number </a:t>
            </a:r>
          </a:p>
          <a:p>
            <a:pPr marL="742950" indent="-742950">
              <a:buAutoNum type="alphaLcParenR"/>
            </a:pPr>
            <a:r>
              <a:rPr lang="en-US" sz="3600" dirty="0">
                <a:solidFill>
                  <a:schemeClr val="bg1"/>
                </a:solidFill>
              </a:rPr>
              <a:t>3 times the sum of 2 times a number, plus 6 </a:t>
            </a:r>
            <a:endParaRPr lang="en-A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63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2092-1DBC-A02F-9D3F-137D466F1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Individual practice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DB39E-A6E9-BE3A-5B48-C5EC72C3A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“why doesn’t an elephant smoke?”</a:t>
            </a:r>
            <a:endParaRPr lang="en-A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19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FAC4-D2C0-454C-24A9-AF2D4C63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– fist to five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A26B-FDF9-3470-C017-EBAF1E1F7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F0"/>
                </a:solidFill>
              </a:rPr>
              <a:t>Translate mathematical phrases into algebraic terms</a:t>
            </a:r>
          </a:p>
          <a:p>
            <a:pPr marL="0" indent="0">
              <a:buNone/>
            </a:pP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281735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Trebuchet MS</vt:lpstr>
      <vt:lpstr>Wingdings</vt:lpstr>
      <vt:lpstr>Office Theme</vt:lpstr>
      <vt:lpstr>Lesson objective </vt:lpstr>
      <vt:lpstr>Re-teach </vt:lpstr>
      <vt:lpstr>Whiteboards </vt:lpstr>
      <vt:lpstr>PowerPoint Presentation</vt:lpstr>
      <vt:lpstr>PowerPoint Presentation</vt:lpstr>
      <vt:lpstr>Forming expressions  </vt:lpstr>
      <vt:lpstr>We do – phrases to algebra </vt:lpstr>
      <vt:lpstr>Whiteboards </vt:lpstr>
      <vt:lpstr>Individual practice </vt:lpstr>
      <vt:lpstr>Reflection – fist to five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6</cp:revision>
  <dcterms:created xsi:type="dcterms:W3CDTF">2022-08-24T09:00:37Z</dcterms:created>
  <dcterms:modified xsi:type="dcterms:W3CDTF">2023-08-14T07:53:52Z</dcterms:modified>
</cp:coreProperties>
</file>
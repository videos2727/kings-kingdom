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7" r:id="rId10"/>
    <p:sldId id="268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78FD7-7073-BB48-9BCE-D9A3E14AA8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992434-9B22-BFD2-B983-6F529522EB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6C4DB-A28E-BB03-ABE1-9B8BEB00B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13185-CE5D-46D5-B486-38B6DA795E9A}" type="datetimeFigureOut">
              <a:rPr lang="en-AU" smtClean="0"/>
              <a:t>17/08/2023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FF9DC-9CFA-6CA6-E769-50F4F6AF5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3AB96-51B6-E087-7375-44F821422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91937-F8BD-491C-B928-4D48F250E4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4471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ABB67-9FF5-62BC-89AF-6F2A45091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3C06F-2ADE-ED85-753A-259CBC1D1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DBF7A-B59A-ADEE-528C-F6025842B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13185-CE5D-46D5-B486-38B6DA795E9A}" type="datetimeFigureOut">
              <a:rPr lang="en-AU" smtClean="0"/>
              <a:t>17/08/2023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7D7FF-DA67-7D4C-CFB2-47927B4E3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986EF-4B66-DD8A-B5CD-FF3ED22D7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91937-F8BD-491C-B928-4D48F250E4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4757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29504-AB12-3F6F-67A4-2B80FD3A9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401EE5-7945-BEAD-F642-4E4C2623A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EBCC9-F34F-9E6B-FA78-2693FD62F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13185-CE5D-46D5-B486-38B6DA795E9A}" type="datetimeFigureOut">
              <a:rPr lang="en-AU" smtClean="0"/>
              <a:t>17/08/2023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586B5-9C88-D838-4CEC-18031D462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71FE4-A0C3-454A-EA1D-AA1A3ED64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91937-F8BD-491C-B928-4D48F250E4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1860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8EF20-C9E1-D2D8-F033-118EB0BD6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36C28-DB16-F2D5-2A9A-5ECE7D1A4D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6CB4FC-D84A-DC5B-04B2-27623BBCC1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BE6C2-5FB2-3ADF-23DF-8113E2B38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13185-CE5D-46D5-B486-38B6DA795E9A}" type="datetimeFigureOut">
              <a:rPr lang="en-AU" smtClean="0"/>
              <a:t>17/08/2023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42D30-CFDB-2BA8-35B1-357F6ADD8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DFF0E-A1DD-F9C0-2A08-07613BD92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91937-F8BD-491C-B928-4D48F250E4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5283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1089B-6A4C-D1F4-7403-B7E1DF663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5C5C4D-D619-8D08-DE6B-3B9DDF5CD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0C67D0-0447-696B-C209-8770718BF9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301B73-47C6-5697-B8CA-A69FE6A291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9986F6-AA9D-0A80-531C-64C053E4C2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E7F7F0-D8B5-71C9-5955-F48F5E7B8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13185-CE5D-46D5-B486-38B6DA795E9A}" type="datetimeFigureOut">
              <a:rPr lang="en-AU" smtClean="0"/>
              <a:t>17/08/2023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5822F7-20AC-C922-DC54-CA4D29B03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FE21F1-F29D-13C4-8517-22D4061CF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91937-F8BD-491C-B928-4D48F250E4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0857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2612D-7A43-811C-29B9-F44562DCC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AA5047-5927-5B16-76A7-BDFC344EC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13185-CE5D-46D5-B486-38B6DA795E9A}" type="datetimeFigureOut">
              <a:rPr lang="en-AU" smtClean="0"/>
              <a:t>17/08/2023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1D2423-9827-F180-CAB0-D1355990A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0AC3F9-462A-4C74-3043-857B56281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91937-F8BD-491C-B928-4D48F250E4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4770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6F9070-D469-62A3-B7CD-7E65537B7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13185-CE5D-46D5-B486-38B6DA795E9A}" type="datetimeFigureOut">
              <a:rPr lang="en-AU" smtClean="0"/>
              <a:t>17/08/2023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FCB409-E341-4A4E-3324-D7DBAEEAC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9B54D-7657-152D-8C9B-5CC5914FD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91937-F8BD-491C-B928-4D48F250E4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7639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0E325-BAFB-E5F3-C738-B8F01B5E1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E5FA8-84CF-E47A-740D-8259F1555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4105DC-0831-E6EF-36F8-EFE231BFC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990FCB-9091-AF1D-3E01-DD21164C0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13185-CE5D-46D5-B486-38B6DA795E9A}" type="datetimeFigureOut">
              <a:rPr lang="en-AU" smtClean="0"/>
              <a:t>17/08/2023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10636-BF35-06F4-B8A4-950628A01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ED5793-CE02-479E-06AF-BC58E409D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91937-F8BD-491C-B928-4D48F250E4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165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DD948-D503-16F6-9590-2889C5CB4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C48898-C9CB-E68B-3C74-1BE0B3602F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852242-2537-5146-31B1-4711CE601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A0062-B927-0527-2153-9C5EECCE6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13185-CE5D-46D5-B486-38B6DA795E9A}" type="datetimeFigureOut">
              <a:rPr lang="en-AU" smtClean="0"/>
              <a:t>17/08/2023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B8DE82-CD1D-18EE-2A35-8F1BE2438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CE5C47-D45E-702D-8056-158E80E51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91937-F8BD-491C-B928-4D48F250E4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0705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F6ACD-DDF4-8D16-95E2-E50E7407A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5A5376-1C3D-9D23-CD32-3E5BB45D73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3461B-263B-EF82-E4DB-F96B545EB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13185-CE5D-46D5-B486-38B6DA795E9A}" type="datetimeFigureOut">
              <a:rPr lang="en-AU" smtClean="0"/>
              <a:t>17/08/2023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E5E72-3ADE-E4EA-FAA1-824D2A5F6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C4AA6-4738-6D56-AEBC-B5D3CF9E6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91937-F8BD-491C-B928-4D48F250E4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4069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4E0E5A-465D-206C-A11F-A83E01E66D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6227DE-6816-2097-F1C6-84D551A539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641D4-BE0A-CA0C-B607-A6E0535C6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13185-CE5D-46D5-B486-38B6DA795E9A}" type="datetimeFigureOut">
              <a:rPr lang="en-AU" smtClean="0"/>
              <a:t>17/08/2023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DC87A-0D39-9935-3295-0C52701E6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2E017-B0EF-A40B-4C25-070F717B3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91937-F8BD-491C-B928-4D48F250E4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2393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50D9CA-4DFD-1CB8-F3EE-935BF6FFB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381D94-815D-740F-E483-BEB4989EA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4B92F-D6F3-78F0-70D1-B43B722388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813185-CE5D-46D5-B486-38B6DA795E9A}" type="datetimeFigureOut">
              <a:rPr lang="en-AU" smtClean="0"/>
              <a:t>17/08/2023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4CFD9-1EB1-9884-318B-DBB1F572F5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637B9-04C5-332F-DE37-02C0975EE7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691937-F8BD-491C-B928-4D48F250E4F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7536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E93AE6-E832-4E75-B208-77FCD2F77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Lesson objective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BD110C-0F64-4B40-A8AE-4D40D579F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Title: </a:t>
            </a:r>
            <a:r>
              <a:rPr lang="en-US" sz="3600" b="1" dirty="0">
                <a:solidFill>
                  <a:srgbClr val="00B0F0"/>
                </a:solidFill>
              </a:rPr>
              <a:t>Equations Review  </a:t>
            </a:r>
          </a:p>
          <a:p>
            <a:pPr marL="0" indent="0">
              <a:buNone/>
            </a:pPr>
            <a:endParaRPr lang="en-US" sz="36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3600" b="1" dirty="0">
                <a:solidFill>
                  <a:srgbClr val="00B0F0"/>
                </a:solidFill>
              </a:rPr>
              <a:t>Aim – be able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600" b="1" dirty="0">
                <a:solidFill>
                  <a:srgbClr val="00B0F0"/>
                </a:solidFill>
              </a:rPr>
              <a:t> Identify equivalent equations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600" b="1" dirty="0">
                <a:solidFill>
                  <a:srgbClr val="00B0F0"/>
                </a:solidFill>
              </a:rPr>
              <a:t> Verify the solution of an equation </a:t>
            </a:r>
          </a:p>
          <a:p>
            <a:pPr marL="0" indent="0">
              <a:buNone/>
            </a:pPr>
            <a:r>
              <a:rPr lang="en-US" sz="3600" b="1" dirty="0">
                <a:solidFill>
                  <a:srgbClr val="00B0F0"/>
                </a:solidFill>
              </a:rPr>
              <a:t>Plan: </a:t>
            </a:r>
          </a:p>
          <a:p>
            <a:pPr>
              <a:buFontTx/>
              <a:buChar char="-"/>
            </a:pPr>
            <a:r>
              <a:rPr lang="en-AU" sz="3600" b="1" dirty="0">
                <a:solidFill>
                  <a:srgbClr val="00B0F0"/>
                </a:solidFill>
              </a:rPr>
              <a:t>Equivalent equations </a:t>
            </a:r>
          </a:p>
          <a:p>
            <a:pPr>
              <a:buFontTx/>
              <a:buChar char="-"/>
            </a:pPr>
            <a:r>
              <a:rPr lang="en-AU" sz="3600" b="1" dirty="0">
                <a:solidFill>
                  <a:srgbClr val="00B0F0"/>
                </a:solidFill>
              </a:rPr>
              <a:t>Substitute to prove</a:t>
            </a:r>
          </a:p>
          <a:p>
            <a:pPr>
              <a:buFontTx/>
              <a:buChar char="-"/>
            </a:pP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787433-55C8-48B6-B8D7-D69D51948459}"/>
              </a:ext>
            </a:extLst>
          </p:cNvPr>
          <p:cNvSpPr txBox="1"/>
          <p:nvPr/>
        </p:nvSpPr>
        <p:spPr>
          <a:xfrm>
            <a:off x="3124940" y="150920"/>
            <a:ext cx="6809173" cy="530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930FE7-62E6-4258-8DEB-1AB52BA13FFB}"/>
              </a:ext>
            </a:extLst>
          </p:cNvPr>
          <p:cNvSpPr txBox="1"/>
          <p:nvPr/>
        </p:nvSpPr>
        <p:spPr>
          <a:xfrm>
            <a:off x="4607510" y="2485747"/>
            <a:ext cx="46430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Need Whiteboards and calculators.</a:t>
            </a:r>
            <a:endParaRPr kumimoji="0" lang="en-AU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D7DBBF-D744-DB39-7026-B8CCF7009ADB}"/>
                  </a:ext>
                </a:extLst>
              </p:cNvPr>
              <p:cNvSpPr txBox="1"/>
              <p:nvPr/>
            </p:nvSpPr>
            <p:spPr>
              <a:xfrm>
                <a:off x="6720397" y="150920"/>
                <a:ext cx="3364636" cy="2103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bg1"/>
                    </a:solidFill>
                  </a:rPr>
                  <a:t>While you wait – Solve:</a:t>
                </a:r>
              </a:p>
              <a:p>
                <a:endParaRPr lang="en-US" sz="2400" b="1" dirty="0">
                  <a:solidFill>
                    <a:schemeClr val="bg1"/>
                  </a:solidFill>
                </a:endParaRPr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𝟐𝟒</m:t>
                    </m:r>
                  </m:oMath>
                </a14:m>
                <a:endParaRPr lang="en-US" sz="2400" b="1" dirty="0">
                  <a:solidFill>
                    <a:schemeClr val="bg1"/>
                  </a:solidFill>
                </a:endParaRPr>
              </a:p>
              <a:p>
                <a:pPr marL="342900" indent="-342900">
                  <a:buAutoNum type="alphaLcParenR"/>
                </a:pPr>
                <a:endParaRPr lang="en-US" sz="2400" b="1" dirty="0">
                  <a:solidFill>
                    <a:schemeClr val="bg1"/>
                  </a:solidFill>
                </a:endParaRPr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  <m:r>
                          <a:rPr lang="en-US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num>
                      <m:den>
                        <m:r>
                          <a:rPr lang="en-US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n-US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𝟐𝟒</m:t>
                    </m:r>
                  </m:oMath>
                </a14:m>
                <a:endParaRPr lang="en-US" sz="2400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D7DBBF-D744-DB39-7026-B8CCF7009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397" y="150920"/>
                <a:ext cx="3364636" cy="2103140"/>
              </a:xfrm>
              <a:prstGeom prst="rect">
                <a:avLst/>
              </a:prstGeom>
              <a:blipFill>
                <a:blip r:embed="rId2"/>
                <a:stretch>
                  <a:fillRect l="-2717" t="-231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7B14DD3-D463-2768-EBDE-26FFC6756C53}"/>
                  </a:ext>
                </a:extLst>
              </p:cNvPr>
              <p:cNvSpPr txBox="1"/>
              <p:nvPr/>
            </p:nvSpPr>
            <p:spPr>
              <a:xfrm>
                <a:off x="10405553" y="1052635"/>
                <a:ext cx="1551066" cy="1384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800" b="1" dirty="0">
                  <a:solidFill>
                    <a:schemeClr val="bg1"/>
                  </a:solidFill>
                </a:endParaRPr>
              </a:p>
              <a:p>
                <a:endParaRPr lang="en-AU" sz="2800" b="1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2800" b="1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7B14DD3-D463-2768-EBDE-26FFC6756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5553" y="1052635"/>
                <a:ext cx="1551066" cy="13849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9395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203CA-6517-4120-B5B5-AB90699B3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Choral response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DDEE3-C82F-4B40-AE37-E14427C8A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chemeClr val="bg1"/>
                </a:solidFill>
              </a:rPr>
              <a:t>The word is EQUIVALENT</a:t>
            </a:r>
          </a:p>
          <a:p>
            <a:pPr marL="0" indent="0" algn="ctr">
              <a:buNone/>
            </a:pPr>
            <a:endParaRPr lang="en-US" sz="32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3200" dirty="0">
                <a:solidFill>
                  <a:schemeClr val="bg1"/>
                </a:solidFill>
              </a:rPr>
              <a:t>Equations are </a:t>
            </a:r>
            <a:r>
              <a:rPr lang="en-US" sz="3200" b="1" i="1" dirty="0">
                <a:solidFill>
                  <a:schemeClr val="bg1"/>
                </a:solidFill>
              </a:rPr>
              <a:t>equivalent</a:t>
            </a:r>
            <a:r>
              <a:rPr lang="en-US" sz="3200" dirty="0">
                <a:solidFill>
                  <a:schemeClr val="bg1"/>
                </a:solidFill>
              </a:rPr>
              <a:t> if they have the </a:t>
            </a:r>
            <a:r>
              <a:rPr lang="en-US" sz="3200" b="1" i="1" dirty="0">
                <a:solidFill>
                  <a:schemeClr val="bg1"/>
                </a:solidFill>
              </a:rPr>
              <a:t>same</a:t>
            </a:r>
            <a:r>
              <a:rPr lang="en-US" sz="3200" dirty="0">
                <a:solidFill>
                  <a:schemeClr val="bg1"/>
                </a:solidFill>
              </a:rPr>
              <a:t> solution.</a:t>
            </a:r>
          </a:p>
          <a:p>
            <a:pPr marL="0" indent="0" algn="ctr">
              <a:buNone/>
            </a:pPr>
            <a:endParaRPr lang="en-US" sz="3200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sz="3200" dirty="0">
                <a:highlight>
                  <a:srgbClr val="FFFF00"/>
                </a:highlight>
              </a:rPr>
              <a:t>(the variable VALUE is the same)  </a:t>
            </a:r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84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CF2CA-F805-4EE6-A738-2F5CBA10A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Which is equivalent?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3431C-27D7-475D-8413-5D81AE940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Which of the following is equivalent to x + 5 = 13 </a:t>
            </a:r>
          </a:p>
          <a:p>
            <a:pPr marL="0" indent="0">
              <a:buNone/>
            </a:pPr>
            <a:endParaRPr lang="en-US" b="1" dirty="0"/>
          </a:p>
          <a:p>
            <a:pPr marL="514350" indent="-514350">
              <a:buAutoNum type="alphaLcParenR"/>
            </a:pPr>
            <a:r>
              <a:rPr lang="en-US" b="1" dirty="0"/>
              <a:t>X + 1 = 9 </a:t>
            </a:r>
          </a:p>
          <a:p>
            <a:pPr marL="514350" indent="-514350">
              <a:buAutoNum type="alphaLcParenR"/>
            </a:pPr>
            <a:r>
              <a:rPr lang="en-US" b="1" dirty="0"/>
              <a:t>4x + 2 = 42 </a:t>
            </a:r>
          </a:p>
          <a:p>
            <a:pPr marL="514350" indent="-514350">
              <a:buAutoNum type="alphaLcParenR"/>
            </a:pPr>
            <a:r>
              <a:rPr lang="en-US" b="1" dirty="0"/>
              <a:t>4x + 1 = 33 </a:t>
            </a:r>
          </a:p>
          <a:p>
            <a:pPr marL="514350" indent="-514350">
              <a:buAutoNum type="alphaLcParenR"/>
            </a:pPr>
            <a:r>
              <a:rPr lang="en-US" b="1" dirty="0"/>
              <a:t>10 – x = 2 </a:t>
            </a:r>
          </a:p>
          <a:p>
            <a:pPr marL="514350" indent="-514350">
              <a:buAutoNum type="alphaLcParenR"/>
            </a:pPr>
            <a:r>
              <a:rPr lang="en-US" b="1" dirty="0"/>
              <a:t>4 + 3x = 16 </a:t>
            </a:r>
          </a:p>
          <a:p>
            <a:pPr marL="514350" indent="-514350">
              <a:buAutoNum type="alphaLcParenR"/>
            </a:pPr>
            <a:r>
              <a:rPr lang="en-US" b="1" dirty="0"/>
              <a:t>X  - 9 = 20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121A29-AFD6-4E66-896F-B192113DD112}"/>
              </a:ext>
            </a:extLst>
          </p:cNvPr>
          <p:cNvSpPr txBox="1"/>
          <p:nvPr/>
        </p:nvSpPr>
        <p:spPr>
          <a:xfrm>
            <a:off x="7696940" y="2556769"/>
            <a:ext cx="18643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should we do first? 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637547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4CD82-426A-555D-4386-DD143AA59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Which is equivalent? TPS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EDA8A-6E93-E3A6-E2CD-13537293A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Which of the below equations are equivalent to 2x + 4 = 10?</a:t>
            </a:r>
          </a:p>
          <a:p>
            <a:pPr marL="0" indent="0">
              <a:buNone/>
            </a:pPr>
            <a:endParaRPr lang="en-US" b="1" dirty="0"/>
          </a:p>
          <a:p>
            <a:pPr marL="742950" indent="-742950">
              <a:buAutoNum type="alphaLcParenR"/>
            </a:pPr>
            <a:r>
              <a:rPr lang="en-US" sz="4000" b="1" dirty="0"/>
              <a:t>4x + 8 = 20 </a:t>
            </a:r>
          </a:p>
          <a:p>
            <a:pPr marL="742950" indent="-742950">
              <a:buAutoNum type="alphaLcParenR"/>
            </a:pPr>
            <a:r>
              <a:rPr lang="en-US" sz="4000" b="1" dirty="0"/>
              <a:t>10 + 2x = 18 </a:t>
            </a:r>
          </a:p>
          <a:p>
            <a:pPr marL="742950" indent="-742950">
              <a:buAutoNum type="alphaLcParenR"/>
            </a:pPr>
            <a:r>
              <a:rPr lang="en-US" sz="4000" b="1" dirty="0"/>
              <a:t>X  + 2 = 5 </a:t>
            </a:r>
          </a:p>
        </p:txBody>
      </p:sp>
    </p:spTree>
    <p:extLst>
      <p:ext uri="{BB962C8B-B14F-4D97-AF65-F5344CB8AC3E}">
        <p14:creationId xmlns:p14="http://schemas.microsoft.com/office/powerpoint/2010/main" val="99721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88875-AA1B-F8F4-6B21-48C60FF32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Making equivalent equations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901F7-E4CC-C922-9B26-2359C9F7C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IF the equation is 2x + 4 = 10, we solved x = 3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Making an equivalent equation means we create our own equation BUT x MUST = 3 </a:t>
            </a:r>
          </a:p>
          <a:p>
            <a:pPr marL="0" indent="0" algn="ctr">
              <a:buNone/>
            </a:pPr>
            <a:r>
              <a:rPr lang="en-US" sz="3200" b="1" dirty="0"/>
              <a:t>e.g. </a:t>
            </a:r>
          </a:p>
          <a:p>
            <a:pPr marL="0" indent="0" algn="ctr">
              <a:buNone/>
            </a:pPr>
            <a:r>
              <a:rPr lang="en-US" sz="3200" b="1" dirty="0"/>
              <a:t>3x + 5 = 14 </a:t>
            </a:r>
          </a:p>
          <a:p>
            <a:pPr marL="0" indent="0" algn="ctr">
              <a:buNone/>
            </a:pPr>
            <a:r>
              <a:rPr lang="en-US" sz="3200" b="1" dirty="0"/>
              <a:t>20 – x = 17 </a:t>
            </a:r>
          </a:p>
          <a:p>
            <a:pPr marL="0" indent="0" algn="ctr">
              <a:buNone/>
            </a:pPr>
            <a:r>
              <a:rPr lang="en-US" sz="3200" b="1" dirty="0"/>
              <a:t>100 + 3x = 109 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72042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70012-9781-9F53-23DD-3EB661722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– make your own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43496-40BC-DA7D-2206-4F685B10F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Make an equation where your x value is equal to:</a:t>
            </a:r>
          </a:p>
          <a:p>
            <a:pPr marL="0" indent="0">
              <a:buNone/>
            </a:pPr>
            <a:endParaRPr lang="en-US" b="1" dirty="0"/>
          </a:p>
          <a:p>
            <a:pPr marL="742950" indent="-742950">
              <a:buAutoNum type="alphaLcParenR"/>
            </a:pPr>
            <a:r>
              <a:rPr lang="en-US" sz="4000" b="1" dirty="0"/>
              <a:t>X = 6 </a:t>
            </a:r>
          </a:p>
          <a:p>
            <a:pPr marL="742950" indent="-742950">
              <a:buAutoNum type="alphaLcParenR"/>
            </a:pPr>
            <a:r>
              <a:rPr lang="en-US" sz="4000" b="1" dirty="0"/>
              <a:t>X = 10 </a:t>
            </a:r>
          </a:p>
          <a:p>
            <a:pPr marL="742950" indent="-742950">
              <a:buAutoNum type="alphaLcParenR"/>
            </a:pPr>
            <a:r>
              <a:rPr lang="en-US" sz="4000" b="1" dirty="0"/>
              <a:t>X = 5</a:t>
            </a:r>
            <a:endParaRPr lang="en-AU" sz="4000" b="1" dirty="0"/>
          </a:p>
        </p:txBody>
      </p:sp>
    </p:spTree>
    <p:extLst>
      <p:ext uri="{BB962C8B-B14F-4D97-AF65-F5344CB8AC3E}">
        <p14:creationId xmlns:p14="http://schemas.microsoft.com/office/powerpoint/2010/main" val="1656408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C84D9-076E-F285-12ED-616990258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Timothy and Tina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E2067-D719-833C-3D11-15E50E6FB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Tim and Tina solved the equation: 4c + 11 = 23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Tim says c = 4 </a:t>
            </a:r>
          </a:p>
          <a:p>
            <a:pPr marL="0" indent="0">
              <a:buNone/>
            </a:pPr>
            <a:r>
              <a:rPr lang="en-US" b="1" dirty="0"/>
              <a:t>Tina says c = 3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How can we prove who is right and who is wrong? 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2176668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7917C-983E-09CA-1AD5-1444BD796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Is the solution correct…..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7F6DA-115C-862F-CC1F-E8C5D5859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  <a:highlight>
                  <a:srgbClr val="000000"/>
                </a:highlight>
              </a:rPr>
              <a:t>To Verify a solution, we substitute a value and solve.</a:t>
            </a:r>
          </a:p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</a:rPr>
              <a:t>Is n = 5 a solution to…. </a:t>
            </a:r>
          </a:p>
          <a:p>
            <a:pPr marL="0" indent="0">
              <a:buNone/>
            </a:pPr>
            <a:endParaRPr lang="en-US" sz="3600" b="1" dirty="0">
              <a:solidFill>
                <a:srgbClr val="FF0000"/>
              </a:solidFill>
            </a:endParaRPr>
          </a:p>
          <a:p>
            <a:pPr marL="742950" indent="-742950">
              <a:buAutoNum type="alphaLcParenR"/>
            </a:pPr>
            <a:r>
              <a:rPr lang="en-US" sz="3600" b="1" dirty="0">
                <a:solidFill>
                  <a:schemeClr val="bg1"/>
                </a:solidFill>
              </a:rPr>
              <a:t>N + 8 = 13 </a:t>
            </a:r>
          </a:p>
          <a:p>
            <a:pPr marL="742950" indent="-742950">
              <a:buAutoNum type="alphaLcParenR"/>
            </a:pPr>
            <a:r>
              <a:rPr lang="en-US" sz="3600" b="1" dirty="0">
                <a:solidFill>
                  <a:schemeClr val="bg1"/>
                </a:solidFill>
              </a:rPr>
              <a:t>2n + 11 = 19 </a:t>
            </a:r>
          </a:p>
          <a:p>
            <a:pPr marL="742950" indent="-742950">
              <a:buAutoNum type="alphaLcParenR"/>
            </a:pPr>
            <a:r>
              <a:rPr lang="en-US" sz="3600" b="1" dirty="0">
                <a:solidFill>
                  <a:schemeClr val="bg1"/>
                </a:solidFill>
              </a:rPr>
              <a:t>10 – 2n = 0 </a:t>
            </a:r>
          </a:p>
          <a:p>
            <a:pPr marL="742950" indent="-742950">
              <a:buAutoNum type="alphaLcParenR"/>
            </a:pPr>
            <a:r>
              <a:rPr lang="en-US" sz="3600" b="1" dirty="0">
                <a:solidFill>
                  <a:schemeClr val="bg1"/>
                </a:solidFill>
              </a:rPr>
              <a:t>3n + 15 = 45 – 3n </a:t>
            </a:r>
            <a:endParaRPr lang="en-AU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2503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CD779-E7B6-A672-1E43-8B686CC65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22FA2F-B826-7A24-3AA7-9A44BEBBB4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907" y="0"/>
            <a:ext cx="12120093" cy="6362254"/>
          </a:xfrm>
        </p:spPr>
      </p:pic>
    </p:spTree>
    <p:extLst>
      <p:ext uri="{BB962C8B-B14F-4D97-AF65-F5344CB8AC3E}">
        <p14:creationId xmlns:p14="http://schemas.microsoft.com/office/powerpoint/2010/main" val="3003877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161A4-A872-3D62-E451-07C8C0930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A71C1A-B550-1A4F-4B9A-14BDE10A58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12089577" cy="4038600"/>
          </a:xfrm>
        </p:spPr>
      </p:pic>
    </p:spTree>
    <p:extLst>
      <p:ext uri="{BB962C8B-B14F-4D97-AF65-F5344CB8AC3E}">
        <p14:creationId xmlns:p14="http://schemas.microsoft.com/office/powerpoint/2010/main" val="3397985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6E5BD-32EA-0FEA-FB27-EE66A8E6A0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Equation solving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939CC-61E9-CF63-08FB-B25001FBD5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Famous Honolulu keyboarding school (year 8)</a:t>
            </a:r>
          </a:p>
          <a:p>
            <a:pPr marL="0" indent="0">
              <a:buNone/>
            </a:pPr>
            <a:r>
              <a:rPr lang="en-US" dirty="0"/>
              <a:t>“did you hear about…” (year 8)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10036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353</Words>
  <Application>Microsoft Office PowerPoint</Application>
  <PresentationFormat>Widescreen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Wingdings</vt:lpstr>
      <vt:lpstr>Office Theme</vt:lpstr>
      <vt:lpstr>Lesson objective </vt:lpstr>
      <vt:lpstr>Choral response </vt:lpstr>
      <vt:lpstr>Which is equivalent? </vt:lpstr>
      <vt:lpstr>Which is equivalent? TPS </vt:lpstr>
      <vt:lpstr>Making equivalent equations</vt:lpstr>
      <vt:lpstr>Whiteboards – make your own </vt:lpstr>
      <vt:lpstr>Timothy and Tina </vt:lpstr>
      <vt:lpstr>Is the solution correct….. </vt:lpstr>
      <vt:lpstr>PowerPoint Presentation</vt:lpstr>
      <vt:lpstr>PowerPoint Presentation</vt:lpstr>
      <vt:lpstr>Equation solving practice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9</cp:revision>
  <dcterms:created xsi:type="dcterms:W3CDTF">2022-08-30T23:55:44Z</dcterms:created>
  <dcterms:modified xsi:type="dcterms:W3CDTF">2023-08-17T00:17:44Z</dcterms:modified>
</cp:coreProperties>
</file>
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95" r:id="rId4"/>
    <p:sldId id="296" r:id="rId5"/>
    <p:sldId id="260" r:id="rId6"/>
    <p:sldId id="261" r:id="rId7"/>
    <p:sldId id="297" r:id="rId8"/>
    <p:sldId id="257" r:id="rId9"/>
    <p:sldId id="258" r:id="rId10"/>
    <p:sldId id="259" r:id="rId11"/>
    <p:sldId id="272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3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AE48"/>
    <a:srgbClr val="23408E"/>
    <a:srgbClr val="EE1C25"/>
    <a:srgbClr val="8AC580"/>
    <a:srgbClr val="E7EA7C"/>
    <a:srgbClr val="A42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2" autoAdjust="0"/>
    <p:restoredTop sz="94660"/>
  </p:normalViewPr>
  <p:slideViewPr>
    <p:cSldViewPr snapToGrid="0">
      <p:cViewPr varScale="1">
        <p:scale>
          <a:sx n="86" d="100"/>
          <a:sy n="86" d="100"/>
        </p:scale>
        <p:origin x="62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F2D2F-0CA2-4F02-83BE-D0F12A51A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2E70EE-9E5E-49D3-AE7A-55EC7C094C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FB246-2D50-4079-B2B2-B5D12544D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FEA3-A26A-4761-87B5-116DDDC423F1}" type="datetimeFigureOut">
              <a:rPr lang="en-AU" smtClean="0"/>
              <a:t>24/05/2023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EB62E-D411-4FB2-B385-3B8ABDB25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FDF38-2EEE-4B89-9501-0E7784B71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0D9C-29AA-4087-9DFB-FE54C4F301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9919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F574-6E5B-4FFA-950A-75CB209F0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DB8ED-012A-4940-9892-0C860ED11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38C66-607B-4049-A39C-1C4120890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FEA3-A26A-4761-87B5-116DDDC423F1}" type="datetimeFigureOut">
              <a:rPr lang="en-AU" smtClean="0"/>
              <a:t>24/05/2023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48D84-1BF8-4DB7-A82E-9BBA1AB2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E9DC8-7340-4B96-B8B2-BD304F65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0D9C-29AA-4087-9DFB-FE54C4F301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7813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48C5A-E29E-4A27-BE3E-BCBFE341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CCFB5-967A-41EB-87D9-A961B0252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2B9A3-A3CC-435E-BAA2-65D1DC7A6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FEA3-A26A-4761-87B5-116DDDC423F1}" type="datetimeFigureOut">
              <a:rPr lang="en-AU" smtClean="0"/>
              <a:t>24/05/2023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8EFA8-C727-42FF-BF31-79C6E230D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5FA35-005B-458C-9E34-C7898187C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0D9C-29AA-4087-9DFB-FE54C4F301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316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7E3E3-1B8C-4196-ACA9-7280A2AF1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94074-07DB-49A3-96DA-A86119003B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E4772-CD0B-4A9D-AA81-911F1F9F9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B1DED-0DFA-4392-AECF-77632E1A2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FEA3-A26A-4761-87B5-116DDDC423F1}" type="datetimeFigureOut">
              <a:rPr lang="en-AU" smtClean="0"/>
              <a:t>24/05/2023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E1956-470B-4BFA-B46F-0AE57DAEA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1F9BF-06CD-4F9F-BA15-EDA3982C7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0D9C-29AA-4087-9DFB-FE54C4F301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520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CBBFC-0808-4585-8A5F-6708C421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C8D29-C909-4F9B-AD9F-2E6DC6851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177728-B692-4FF0-90C2-FC2DEDA60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202001-BF6C-4888-8B22-C482870C1C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7BBCF9-9E5D-44AA-8E11-DD5292B756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003F36-2EF1-4542-8210-6499DACC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FEA3-A26A-4761-87B5-116DDDC423F1}" type="datetimeFigureOut">
              <a:rPr lang="en-AU" smtClean="0"/>
              <a:t>24/05/2023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A31D0D-3DD4-4C2C-A874-CE2322907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42D20-E126-4DC8-A34D-66268E5D3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0D9C-29AA-4087-9DFB-FE54C4F301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4433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A6295-CB4F-403B-A903-04326859F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AF55FB-CECC-410F-8440-257BBFCCA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FEA3-A26A-4761-87B5-116DDDC423F1}" type="datetimeFigureOut">
              <a:rPr lang="en-AU" smtClean="0"/>
              <a:t>24/05/2023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D5094B-BC45-4EF9-8163-1BAC2C629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12EF6-8763-4026-B85A-B8C128D14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0D9C-29AA-4087-9DFB-FE54C4F301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471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B66032-545A-41DC-9A36-0639476B5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FEA3-A26A-4761-87B5-116DDDC423F1}" type="datetimeFigureOut">
              <a:rPr lang="en-AU" smtClean="0"/>
              <a:t>24/05/2023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8969B-53D5-43A0-B552-DD148474C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3CEB7-CB8E-4DAB-86B9-81949B679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0D9C-29AA-4087-9DFB-FE54C4F301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8265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247CE-FCEE-4FCD-8533-989B8F560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FC98-6637-4E85-AB4C-393E3558B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37B86-9415-4466-A00A-98CAD1C8C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FE222-1811-4620-A194-5474EE2D5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FEA3-A26A-4761-87B5-116DDDC423F1}" type="datetimeFigureOut">
              <a:rPr lang="en-AU" smtClean="0"/>
              <a:t>24/05/2023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8E3F7-E838-4F26-819A-2A7F74896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02AC4-2380-4AAE-BFD1-06DCF9C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0D9C-29AA-4087-9DFB-FE54C4F301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6023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D5279-CEDB-4AA9-9341-4AE49D09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5EA104-8E66-47F9-9129-E50996821E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7267CD-301A-43CE-9A45-4B5E90F5C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7D154-2C1A-432C-91AA-B7ABD00B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FEA3-A26A-4761-87B5-116DDDC423F1}" type="datetimeFigureOut">
              <a:rPr lang="en-AU" smtClean="0"/>
              <a:t>24/05/2023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23688-404A-43D7-A51C-CB8BBF830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610CB-8E6F-4DF0-AE70-53D822B8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0D9C-29AA-4087-9DFB-FE54C4F301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3257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AB0C4-3CC8-4833-AE1E-84F3C1D9D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F489C3-CDD1-4A54-BFB8-C2E63A35A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0F0A0-FAAF-42A6-8F11-B3A14C266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FEA3-A26A-4761-87B5-116DDDC423F1}" type="datetimeFigureOut">
              <a:rPr lang="en-AU" smtClean="0"/>
              <a:t>24/05/2023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A6A5F-E229-4595-8765-9A322C3E4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FAE20-1D3C-4E9F-8F9F-330B015C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0D9C-29AA-4087-9DFB-FE54C4F301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640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BC8D8C-D629-4C26-952C-E55743313E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FAF167-3465-4AA8-943C-1FA8E10DE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B12CC-5D51-4907-A25B-16C376EC8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FEA3-A26A-4761-87B5-116DDDC423F1}" type="datetimeFigureOut">
              <a:rPr lang="en-AU" smtClean="0"/>
              <a:t>24/05/2023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6C56C-1BAE-468E-B458-7B56044B2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25341-DEA0-4FE9-A223-948E6154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0D9C-29AA-4087-9DFB-FE54C4F301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0932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ADD012-F720-4BBC-BE7A-4764A7BD0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EBCA3-CC2F-420A-952E-C52D99CA9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01812-066B-4D82-B381-F9736DDB5D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4FEA3-A26A-4761-87B5-116DDDC423F1}" type="datetimeFigureOut">
              <a:rPr lang="en-AU" smtClean="0"/>
              <a:t>24/05/2023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1CE64-9BAB-43B7-A42C-6F6819030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27A9A-80BB-4BF4-BC8B-A0A173955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70D9C-29AA-4087-9DFB-FE54C4F301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4962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E10C63-ABD0-473A-BDE7-B5EC20865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0D74E0-B1FE-4FEF-8E66-AEACD49AF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/>
              <a:t>Title: </a:t>
            </a:r>
            <a:r>
              <a:rPr lang="en-US" sz="3200" b="1" dirty="0">
                <a:solidFill>
                  <a:srgbClr val="00B0F0"/>
                </a:solidFill>
              </a:rPr>
              <a:t>Unitary method</a:t>
            </a:r>
          </a:p>
          <a:p>
            <a:pPr marL="0" indent="0">
              <a:buNone/>
            </a:pPr>
            <a:endParaRPr lang="en-US" sz="32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B0F0"/>
                </a:solidFill>
              </a:rPr>
              <a:t> Calculate product prices using unitary method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B0F0"/>
                </a:solidFill>
              </a:rPr>
              <a:t> Compare products at random weights 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rgbClr val="00B0F0"/>
                </a:solidFill>
              </a:rPr>
              <a:t>Review probability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rgbClr val="00B0F0"/>
                </a:solidFill>
              </a:rPr>
              <a:t>Costs per 100g review 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rgbClr val="00B0F0"/>
                </a:solidFill>
              </a:rPr>
              <a:t>Unitary method 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E466F-04DA-4E86-A6E9-4A4D3364466D}"/>
              </a:ext>
            </a:extLst>
          </p:cNvPr>
          <p:cNvSpPr txBox="1"/>
          <p:nvPr/>
        </p:nvSpPr>
        <p:spPr>
          <a:xfrm>
            <a:off x="8540318" y="1580225"/>
            <a:ext cx="31515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Need whiteboards and calculators </a:t>
            </a:r>
            <a:endParaRPr lang="en-AU" sz="2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59705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F1B7C-5792-FBE2-70D8-8EFB0346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497932" cy="735706"/>
          </a:xfrm>
        </p:spPr>
        <p:txBody>
          <a:bodyPr>
            <a:normAutofit/>
          </a:bodyPr>
          <a:lstStyle/>
          <a:p>
            <a:r>
              <a:rPr lang="en-US" dirty="0"/>
              <a:t>Daily </a:t>
            </a:r>
            <a:r>
              <a:rPr lang="en-US"/>
              <a:t>review – calculate area   </a:t>
            </a:r>
            <a:endParaRPr lang="en-AU" dirty="0"/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9299273A-D999-0A21-48FC-24AE77919D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111" y="1100832"/>
            <a:ext cx="8911470" cy="4337021"/>
          </a:xfrm>
        </p:spPr>
      </p:pic>
    </p:spTree>
    <p:extLst>
      <p:ext uri="{BB962C8B-B14F-4D97-AF65-F5344CB8AC3E}">
        <p14:creationId xmlns:p14="http://schemas.microsoft.com/office/powerpoint/2010/main" val="3179613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764704"/>
          </a:xfrm>
        </p:spPr>
        <p:txBody>
          <a:bodyPr>
            <a:normAutofit/>
          </a:bodyPr>
          <a:lstStyle/>
          <a:p>
            <a:pPr algn="r"/>
            <a:r>
              <a:rPr lang="en-AU" sz="3600" dirty="0"/>
              <a:t>Find the volume of these rectangular prisms?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96"/>
          <a:stretch/>
        </p:blipFill>
        <p:spPr bwMode="auto">
          <a:xfrm>
            <a:off x="2111427" y="1018828"/>
            <a:ext cx="2905125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" t="67518" r="87653" b="9494"/>
          <a:stretch/>
        </p:blipFill>
        <p:spPr bwMode="auto">
          <a:xfrm>
            <a:off x="3483026" y="709439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42" t="52321" r="66916" b="24691"/>
          <a:stretch/>
        </p:blipFill>
        <p:spPr bwMode="auto">
          <a:xfrm>
            <a:off x="2111426" y="890414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65" t="-777" r="21597" b="777"/>
          <a:stretch/>
        </p:blipFill>
        <p:spPr bwMode="auto">
          <a:xfrm>
            <a:off x="2294041" y="3128095"/>
            <a:ext cx="2975109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81" t="66093" r="46177" b="10919"/>
          <a:stretch/>
        </p:blipFill>
        <p:spPr bwMode="auto">
          <a:xfrm>
            <a:off x="3665640" y="2818706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01" t="9540" r="21543" b="68898"/>
          <a:stretch/>
        </p:blipFill>
        <p:spPr bwMode="auto">
          <a:xfrm>
            <a:off x="1776919" y="3599410"/>
            <a:ext cx="633060" cy="357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66" t="-596" r="-17070" b="596"/>
          <a:stretch/>
        </p:blipFill>
        <p:spPr bwMode="auto">
          <a:xfrm>
            <a:off x="2213078" y="5190778"/>
            <a:ext cx="2905125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05" t="81367" r="8653" b="-4355"/>
          <a:stretch/>
        </p:blipFill>
        <p:spPr bwMode="auto">
          <a:xfrm>
            <a:off x="3424406" y="6309320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05" t="81367" r="8653" b="-4355"/>
          <a:stretch/>
        </p:blipFill>
        <p:spPr bwMode="auto">
          <a:xfrm>
            <a:off x="3840214" y="5517232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05" t="81367" r="8653" b="-4355"/>
          <a:stretch/>
        </p:blipFill>
        <p:spPr bwMode="auto">
          <a:xfrm>
            <a:off x="3067218" y="4809778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05" t="81367" r="8653" b="-4355"/>
          <a:stretch/>
        </p:blipFill>
        <p:spPr bwMode="auto">
          <a:xfrm>
            <a:off x="2052791" y="5000278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05" t="81367" r="8653" b="-4355"/>
          <a:stretch/>
        </p:blipFill>
        <p:spPr bwMode="auto">
          <a:xfrm>
            <a:off x="1571051" y="5828953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9142492" y="726524"/>
            <a:ext cx="14961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DIAGRAM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NUMBERS</a:t>
            </a:r>
            <a:b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096001" y="912894"/>
                <a:ext cx="16353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𝒃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𝒉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𝒍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912894"/>
                <a:ext cx="163538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096001" y="1278783"/>
                <a:ext cx="17748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𝟒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𝟏𝟏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1278783"/>
                <a:ext cx="177484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6096001" y="1609841"/>
                <a:ext cx="1543949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𝟑𝟗𝟔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𝒄𝒎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1609841"/>
                <a:ext cx="1543949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5981354" y="3128095"/>
                <a:ext cx="16353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𝒃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𝒉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𝒍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354" y="3128095"/>
                <a:ext cx="163538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5981354" y="3493984"/>
                <a:ext cx="19127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𝟏𝟎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𝟔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𝟏𝟏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354" y="3493984"/>
                <a:ext cx="191270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5981354" y="3825042"/>
                <a:ext cx="1641731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𝟔𝟔𝟎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𝒎𝒎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354" y="3825042"/>
                <a:ext cx="1641731" cy="375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5881873" y="5346955"/>
                <a:ext cx="16353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𝒃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𝒉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𝒍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873" y="5346955"/>
                <a:ext cx="163538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5881873" y="5712844"/>
                <a:ext cx="1636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𝟗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873" y="5712844"/>
                <a:ext cx="163698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5881873" y="6043902"/>
                <a:ext cx="1641731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𝟕𝟐𝟗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𝒎𝒎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873" y="6043902"/>
                <a:ext cx="1641731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8040217" y="4116356"/>
            <a:ext cx="24587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Don’t times them all, just the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Height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5526" y="116633"/>
            <a:ext cx="34015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3884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764704"/>
          </a:xfrm>
        </p:spPr>
        <p:txBody>
          <a:bodyPr>
            <a:normAutofit/>
          </a:bodyPr>
          <a:lstStyle/>
          <a:p>
            <a:pPr algn="r"/>
            <a:r>
              <a:rPr lang="en-AU" sz="3600" dirty="0"/>
              <a:t>Find the volume of these rectangular prisms?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96"/>
          <a:stretch/>
        </p:blipFill>
        <p:spPr bwMode="auto">
          <a:xfrm>
            <a:off x="2111427" y="1018828"/>
            <a:ext cx="2905125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" t="67518" r="87653" b="9494"/>
          <a:stretch/>
        </p:blipFill>
        <p:spPr bwMode="auto">
          <a:xfrm>
            <a:off x="3483026" y="709439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42" t="52321" r="66916" b="24691"/>
          <a:stretch/>
        </p:blipFill>
        <p:spPr bwMode="auto">
          <a:xfrm>
            <a:off x="2111426" y="890414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65" t="-777" r="21597" b="777"/>
          <a:stretch/>
        </p:blipFill>
        <p:spPr bwMode="auto">
          <a:xfrm>
            <a:off x="2294041" y="3128095"/>
            <a:ext cx="2975109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81" t="66093" r="46177" b="10919"/>
          <a:stretch/>
        </p:blipFill>
        <p:spPr bwMode="auto">
          <a:xfrm>
            <a:off x="3665640" y="2818706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01" t="9540" r="21543" b="68898"/>
          <a:stretch/>
        </p:blipFill>
        <p:spPr bwMode="auto">
          <a:xfrm>
            <a:off x="1776919" y="3599410"/>
            <a:ext cx="633060" cy="357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66" t="-596" r="-17070" b="596"/>
          <a:stretch/>
        </p:blipFill>
        <p:spPr bwMode="auto">
          <a:xfrm>
            <a:off x="2213078" y="5190778"/>
            <a:ext cx="2905125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05" t="81367" r="8653" b="-4355"/>
          <a:stretch/>
        </p:blipFill>
        <p:spPr bwMode="auto">
          <a:xfrm>
            <a:off x="3424406" y="6309320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05" t="81367" r="8653" b="-4355"/>
          <a:stretch/>
        </p:blipFill>
        <p:spPr bwMode="auto">
          <a:xfrm>
            <a:off x="3840214" y="5517232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05" t="81367" r="8653" b="-4355"/>
          <a:stretch/>
        </p:blipFill>
        <p:spPr bwMode="auto">
          <a:xfrm>
            <a:off x="3067218" y="4809778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05" t="81367" r="8653" b="-4355"/>
          <a:stretch/>
        </p:blipFill>
        <p:spPr bwMode="auto">
          <a:xfrm>
            <a:off x="2052791" y="5000278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05" t="81367" r="8653" b="-4355"/>
          <a:stretch/>
        </p:blipFill>
        <p:spPr bwMode="auto">
          <a:xfrm>
            <a:off x="1571051" y="5828953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9142492" y="726524"/>
            <a:ext cx="14961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DIAGRAM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NUMBERS</a:t>
            </a:r>
            <a:b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096001" y="912894"/>
                <a:ext cx="16353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𝒃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𝒉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𝒍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912894"/>
                <a:ext cx="163538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5981354" y="3128095"/>
                <a:ext cx="16353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𝒃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𝒉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𝒍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354" y="3128095"/>
                <a:ext cx="163538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8040217" y="4116356"/>
            <a:ext cx="24587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Don’t times them all, just the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Height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5526" y="116633"/>
            <a:ext cx="34015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17102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59E7B-E84E-4192-80AF-7ABEFC91C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Review probability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2A839E-FE97-4C34-9D32-4B7D42ED3E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100" y="1843380"/>
                <a:ext cx="11353800" cy="4351338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Sample space is a list of all possible outcomes.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Probability of an event (something happening)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h𝑜𝑤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𝑚𝑎𝑛𝑦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𝑤𝑎𝑦𝑠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𝐶𝐴𝑁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h𝑎𝑝𝑝𝑒𝑛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𝑇𝑜𝑡𝑎𝑙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𝑝𝑜𝑠𝑠𝑖𝑏𝑖𝑙𝑖𝑡𝑖𝑒𝑠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WHITEBOARDS</a:t>
                </a:r>
              </a:p>
              <a:p>
                <a:pPr marL="0" indent="0">
                  <a:buNone/>
                </a:pPr>
                <a:r>
                  <a:rPr lang="en-US" dirty="0"/>
                  <a:t>Rolling an 8-sided die:</a:t>
                </a:r>
              </a:p>
              <a:p>
                <a:pPr marL="0" indent="0">
                  <a:buNone/>
                </a:pPr>
                <a:r>
                  <a:rPr lang="en-US" dirty="0"/>
                  <a:t>What is the sample space?</a:t>
                </a:r>
              </a:p>
              <a:p>
                <a:pPr marL="0" indent="0">
                  <a:buNone/>
                </a:pPr>
                <a:r>
                  <a:rPr lang="en-US" dirty="0"/>
                  <a:t>Probability of rolling a 7? </a:t>
                </a:r>
              </a:p>
              <a:p>
                <a:pPr marL="0" indent="0">
                  <a:buNone/>
                </a:pPr>
                <a:r>
                  <a:rPr lang="en-US" dirty="0"/>
                  <a:t>Probability of rolling a number less than 5?  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2A839E-FE97-4C34-9D32-4B7D42ED3E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100" y="1843380"/>
                <a:ext cx="11353800" cy="4351338"/>
              </a:xfrm>
              <a:blipFill>
                <a:blip r:embed="rId2"/>
                <a:stretch>
                  <a:fillRect l="-1128" t="-2241" b="-21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48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14E4D-45C5-4A0B-9AEC-9800BCF89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Probability: 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16193-7182-4DEB-B3D6-C337D5E0D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the sample space?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P(green)?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P(red or green)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P(not purple) 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B6A48A-4782-479C-8757-A0EEF673C52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730" y="1825625"/>
            <a:ext cx="5299470" cy="4528979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F04CB3A-C048-4C7B-AA59-8026D7E5E0C1}"/>
              </a:ext>
            </a:extLst>
          </p:cNvPr>
          <p:cNvSpPr/>
          <p:nvPr/>
        </p:nvSpPr>
        <p:spPr>
          <a:xfrm>
            <a:off x="9090734" y="2610035"/>
            <a:ext cx="355107" cy="390617"/>
          </a:xfrm>
          <a:prstGeom prst="rect">
            <a:avLst/>
          </a:prstGeom>
          <a:solidFill>
            <a:srgbClr val="EE1C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5ADCA5-D186-475D-AFA7-0340FD3E1972}"/>
              </a:ext>
            </a:extLst>
          </p:cNvPr>
          <p:cNvSpPr/>
          <p:nvPr/>
        </p:nvSpPr>
        <p:spPr>
          <a:xfrm>
            <a:off x="10068758" y="3233691"/>
            <a:ext cx="355107" cy="390617"/>
          </a:xfrm>
          <a:prstGeom prst="rect">
            <a:avLst/>
          </a:prstGeom>
          <a:solidFill>
            <a:srgbClr val="E7EA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68B835-AA7F-4B10-BC54-2613D2448712}"/>
              </a:ext>
            </a:extLst>
          </p:cNvPr>
          <p:cNvSpPr/>
          <p:nvPr/>
        </p:nvSpPr>
        <p:spPr>
          <a:xfrm>
            <a:off x="10068758" y="4415901"/>
            <a:ext cx="355107" cy="39061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9CF6F7-8025-4FD6-9036-57D3A0454B9B}"/>
              </a:ext>
            </a:extLst>
          </p:cNvPr>
          <p:cNvSpPr/>
          <p:nvPr/>
        </p:nvSpPr>
        <p:spPr>
          <a:xfrm>
            <a:off x="9090734" y="5090604"/>
            <a:ext cx="355107" cy="390617"/>
          </a:xfrm>
          <a:prstGeom prst="rect">
            <a:avLst/>
          </a:prstGeom>
          <a:solidFill>
            <a:srgbClr val="8AC5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6F2055-41CB-4364-915A-ACA947DA1B88}"/>
              </a:ext>
            </a:extLst>
          </p:cNvPr>
          <p:cNvSpPr/>
          <p:nvPr/>
        </p:nvSpPr>
        <p:spPr>
          <a:xfrm>
            <a:off x="7824188" y="4835370"/>
            <a:ext cx="355107" cy="390617"/>
          </a:xfrm>
          <a:prstGeom prst="rect">
            <a:avLst/>
          </a:prstGeom>
          <a:solidFill>
            <a:srgbClr val="A423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92878E-D609-441B-B966-2DB232DD9EE6}"/>
              </a:ext>
            </a:extLst>
          </p:cNvPr>
          <p:cNvSpPr/>
          <p:nvPr/>
        </p:nvSpPr>
        <p:spPr>
          <a:xfrm>
            <a:off x="7824188" y="2939880"/>
            <a:ext cx="355107" cy="390617"/>
          </a:xfrm>
          <a:prstGeom prst="rect">
            <a:avLst/>
          </a:prstGeom>
          <a:solidFill>
            <a:srgbClr val="3DAE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2A5BA0-2B59-4BCC-A3DA-61CFC58839E9}"/>
              </a:ext>
            </a:extLst>
          </p:cNvPr>
          <p:cNvSpPr/>
          <p:nvPr/>
        </p:nvSpPr>
        <p:spPr>
          <a:xfrm>
            <a:off x="7264894" y="3894805"/>
            <a:ext cx="355107" cy="390617"/>
          </a:xfrm>
          <a:prstGeom prst="rect">
            <a:avLst/>
          </a:prstGeom>
          <a:solidFill>
            <a:srgbClr val="234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1355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E7B4D-E6A5-8476-E85F-640F8BDB6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expectations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C18B9-28B8-9023-0D1D-96F132E8B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5 marbles in a bag. Blue and yellow are equally likely and there is only 1 red marble.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we were to do 20 experiments, how many of each </a:t>
            </a:r>
            <a:r>
              <a:rPr lang="en-US" dirty="0" err="1"/>
              <a:t>colour</a:t>
            </a:r>
            <a:r>
              <a:rPr lang="en-US" dirty="0"/>
              <a:t> would we expect to see?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 did we choose this as distribution? </a:t>
            </a:r>
            <a:endParaRPr lang="en-AU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14C64C7-CBAB-55EF-AC44-2EF01C1F3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560509"/>
              </p:ext>
            </p:extLst>
          </p:nvPr>
        </p:nvGraphicFramePr>
        <p:xfrm>
          <a:off x="2165165" y="4270734"/>
          <a:ext cx="812800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782236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9778543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7335821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449611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Colour</a:t>
                      </a:r>
                      <a:r>
                        <a:rPr lang="en-US" sz="2000" b="1" dirty="0"/>
                        <a:t> 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Red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Blue 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Yellow</a:t>
                      </a:r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861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Frequency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664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0215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D4AC6-BE33-4979-8E9F-D24097FB6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Which item is the best buy?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72BB33-749D-4BAB-817B-B359D8BDF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Option A</a:t>
            </a:r>
            <a:endParaRPr lang="en-AU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CD97EAD-6567-4B0C-B0FC-5C22BE7543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416184" y="2505075"/>
            <a:ext cx="4004993" cy="3863402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394AD3-14AD-40E8-AADA-CC27D4B152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Option B </a:t>
            </a:r>
            <a:endParaRPr lang="en-AU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4AE34D1-D477-48F3-9D26-99BE3E2A98E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154115" y="2505075"/>
            <a:ext cx="4004993" cy="3897908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5350E79-7DD9-47C2-A838-44513B5A594B}"/>
              </a:ext>
            </a:extLst>
          </p:cNvPr>
          <p:cNvSpPr/>
          <p:nvPr/>
        </p:nvSpPr>
        <p:spPr>
          <a:xfrm>
            <a:off x="1961965" y="4021584"/>
            <a:ext cx="119848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9F3676-4F33-4128-A293-4BF370A06F24}"/>
              </a:ext>
            </a:extLst>
          </p:cNvPr>
          <p:cNvSpPr/>
          <p:nvPr/>
        </p:nvSpPr>
        <p:spPr>
          <a:xfrm>
            <a:off x="7636275" y="4021584"/>
            <a:ext cx="119848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3077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96883-AEEF-4AC4-8960-77C3AFE66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Which option?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5FF5C-E042-473B-9E3F-DD9917453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You want to buy a new car that costs $8000.</a:t>
            </a:r>
          </a:p>
          <a:p>
            <a:pPr>
              <a:buFontTx/>
              <a:buChar char="-"/>
            </a:pPr>
            <a:r>
              <a:rPr lang="en-AU" sz="4400" dirty="0"/>
              <a:t>You can wait to save $8000 OR </a:t>
            </a:r>
          </a:p>
          <a:p>
            <a:pPr>
              <a:buFontTx/>
              <a:buChar char="-"/>
            </a:pPr>
            <a:r>
              <a:rPr lang="en-US" sz="4400" dirty="0"/>
              <a:t>Pay $300 for 29 weeks. </a:t>
            </a:r>
          </a:p>
          <a:p>
            <a:pPr marL="0" indent="0">
              <a:buNone/>
            </a:pPr>
            <a:r>
              <a:rPr lang="en-US" sz="4400" dirty="0"/>
              <a:t>How much more expensive is option 2? </a:t>
            </a:r>
          </a:p>
        </p:txBody>
      </p:sp>
    </p:spTree>
    <p:extLst>
      <p:ext uri="{BB962C8B-B14F-4D97-AF65-F5344CB8AC3E}">
        <p14:creationId xmlns:p14="http://schemas.microsoft.com/office/powerpoint/2010/main" val="2783359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5DD56-B4AA-4778-8636-384C7AF9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Cost per 100g revision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3DB33-A5D1-4666-98B4-0B4277229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Chocolate costs $9.50 for 500g. How much is it for 100g? 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Cheese costs $11 for 300g. How much is it per 100g? 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Cat food costs $42 for 1400g. How much is it for 100g?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06464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FDEAF-A03D-4AB0-A912-78B571C34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can we EASILY compare?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8143DA-A154-4882-AB21-D7A48B2CAC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133817"/>
            <a:ext cx="5181600" cy="304314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100g of chocolate costs $3.20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100g cheese costs $4.50 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967838-B49C-4FBE-A676-9898C7A1F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133815"/>
            <a:ext cx="5181600" cy="3043147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600g of chocolate cost $20.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400g cheese costs $17.50 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3E013F-F06F-4E3B-B9AB-2B647D5F3452}"/>
              </a:ext>
            </a:extLst>
          </p:cNvPr>
          <p:cNvSpPr txBox="1"/>
          <p:nvPr/>
        </p:nvSpPr>
        <p:spPr>
          <a:xfrm>
            <a:off x="3950563" y="1690688"/>
            <a:ext cx="47140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Which is the cheaper option and by how much? </a:t>
            </a:r>
            <a:endParaRPr lang="en-AU" sz="28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BAF57D-92BC-BDF5-B07D-FB84BAEADA3B}"/>
              </a:ext>
            </a:extLst>
          </p:cNvPr>
          <p:cNvSpPr/>
          <p:nvPr/>
        </p:nvSpPr>
        <p:spPr>
          <a:xfrm>
            <a:off x="932155" y="4660777"/>
            <a:ext cx="9721049" cy="3994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8670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D23D4-CAA3-411D-B42D-635C28A4E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Unitary method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57CA7E-9D89-4604-B88B-214E05E30D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742950" indent="-742950">
                  <a:buAutoNum type="arabicPeriod"/>
                </a:pPr>
                <a:r>
                  <a:rPr lang="en-US" sz="3600" b="1" dirty="0">
                    <a:solidFill>
                      <a:srgbClr val="00B0F0"/>
                    </a:solidFill>
                  </a:rPr>
                  <a:t>Find and write the groups ($$ and Quantity) </a:t>
                </a:r>
              </a:p>
              <a:p>
                <a:pPr marL="742950" indent="-742950">
                  <a:buAutoNum type="arabicPeriod"/>
                </a:pPr>
                <a14:m>
                  <m:oMath xmlns:m="http://schemas.openxmlformats.org/officeDocument/2006/math">
                    <m:r>
                      <a:rPr lang="en-US" sz="36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𝒄𝒐𝒔𝒕</m:t>
                    </m:r>
                    <m:r>
                      <a:rPr lang="en-US" sz="36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÷</m:t>
                    </m:r>
                    <m:r>
                      <a:rPr lang="en-US" sz="36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𝒒𝒖𝒂𝒏𝒕𝒊𝒕𝒚</m:t>
                    </m:r>
                    <m:r>
                      <a:rPr lang="en-US" sz="36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600" b="1" dirty="0">
                  <a:solidFill>
                    <a:srgbClr val="00B0F0"/>
                  </a:solidFill>
                  <a:ea typeface="Cambria Math" panose="02040503050406030204" pitchFamily="18" charset="0"/>
                </a:endParaRPr>
              </a:p>
              <a:p>
                <a:pPr marL="742950" indent="-742950">
                  <a:buAutoNum type="arabicPeriod"/>
                </a:pPr>
                <a:r>
                  <a:rPr lang="en-AU" sz="3600" b="1" dirty="0">
                    <a:solidFill>
                      <a:srgbClr val="00B0F0"/>
                    </a:solidFill>
                  </a:rPr>
                  <a:t>Answer as a statement per unit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57CA7E-9D89-4604-B88B-214E05E30D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7" t="-35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4208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35768-F564-4CDE-A026-F687148B7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Unit price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BA0C7-15D6-4F70-9DAC-0F6788565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Chocolate costs $12 for 850 grams. What is the cost for 1g</a:t>
            </a:r>
            <a:endParaRPr lang="en-A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15771A-ED8B-4DBD-8F39-9EE8B5AD77C8}"/>
                  </a:ext>
                </a:extLst>
              </p:cNvPr>
              <p:cNvSpPr txBox="1"/>
              <p:nvPr/>
            </p:nvSpPr>
            <p:spPr>
              <a:xfrm>
                <a:off x="7927759" y="79899"/>
                <a:ext cx="376413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indent="-742950">
                  <a:buAutoNum type="arabicPeriod"/>
                </a:pPr>
                <a:r>
                  <a:rPr lang="en-US" sz="1800" b="1" dirty="0">
                    <a:solidFill>
                      <a:srgbClr val="00B0F0"/>
                    </a:solidFill>
                  </a:rPr>
                  <a:t>Find and write the groups ($$ and Quantity) </a:t>
                </a:r>
              </a:p>
              <a:p>
                <a:pPr marL="742950" indent="-742950"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𝒄𝒐𝒔𝒕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÷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𝒒𝒖𝒂𝒏𝒕𝒊𝒕𝒚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800" b="1" dirty="0">
                  <a:solidFill>
                    <a:srgbClr val="00B0F0"/>
                  </a:solidFill>
                  <a:ea typeface="Cambria Math" panose="02040503050406030204" pitchFamily="18" charset="0"/>
                </a:endParaRPr>
              </a:p>
              <a:p>
                <a:pPr marL="742950" indent="-742950">
                  <a:buAutoNum type="arabicPeriod"/>
                </a:pPr>
                <a:r>
                  <a:rPr lang="en-AU" sz="1800" b="1" dirty="0">
                    <a:solidFill>
                      <a:srgbClr val="00B0F0"/>
                    </a:solidFill>
                  </a:rPr>
                  <a:t>Answer as a statement per unit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15771A-ED8B-4DBD-8F39-9EE8B5AD7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759" y="79899"/>
                <a:ext cx="3764132" cy="1754326"/>
              </a:xfrm>
              <a:prstGeom prst="rect">
                <a:avLst/>
              </a:prstGeom>
              <a:blipFill>
                <a:blip r:embed="rId2"/>
                <a:stretch>
                  <a:fillRect l="-1294" t="-1736" r="-12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BE915D1-5B5D-4E30-B307-B3A801AD1035}"/>
              </a:ext>
            </a:extLst>
          </p:cNvPr>
          <p:cNvSpPr txBox="1"/>
          <p:nvPr/>
        </p:nvSpPr>
        <p:spPr>
          <a:xfrm>
            <a:off x="683581" y="230188"/>
            <a:ext cx="25656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Copy on whiteboards - </a:t>
            </a:r>
            <a:r>
              <a:rPr lang="en-US" sz="2800" b="1" dirty="0">
                <a:highlight>
                  <a:srgbClr val="FF0000"/>
                </a:highlight>
              </a:rPr>
              <a:t>RECORD</a:t>
            </a:r>
            <a:r>
              <a:rPr lang="en-US" sz="2800" b="1" dirty="0">
                <a:highlight>
                  <a:srgbClr val="FFFF00"/>
                </a:highlight>
              </a:rPr>
              <a:t> </a:t>
            </a:r>
            <a:endParaRPr lang="en-AU" sz="2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14867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35768-F564-4CDE-A026-F687148B7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Unit price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BA0C7-15D6-4F70-9DAC-0F6788565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Cookies cost $15.50 for 650g. How much is 1g? </a:t>
            </a:r>
            <a:endParaRPr lang="en-A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15771A-ED8B-4DBD-8F39-9EE8B5AD77C8}"/>
                  </a:ext>
                </a:extLst>
              </p:cNvPr>
              <p:cNvSpPr txBox="1"/>
              <p:nvPr/>
            </p:nvSpPr>
            <p:spPr>
              <a:xfrm>
                <a:off x="7927759" y="79899"/>
                <a:ext cx="376413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indent="-742950">
                  <a:buAutoNum type="arabicPeriod"/>
                </a:pPr>
                <a:r>
                  <a:rPr lang="en-US" sz="1800" b="1" dirty="0">
                    <a:solidFill>
                      <a:srgbClr val="00B0F0"/>
                    </a:solidFill>
                  </a:rPr>
                  <a:t>Find and write the groups ($$ and Quantity) </a:t>
                </a:r>
              </a:p>
              <a:p>
                <a:pPr marL="742950" indent="-742950"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𝒄𝒐𝒔𝒕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÷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𝒒𝒖𝒂𝒏𝒕𝒊𝒕𝒚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800" b="1" dirty="0">
                  <a:solidFill>
                    <a:srgbClr val="00B0F0"/>
                  </a:solidFill>
                  <a:ea typeface="Cambria Math" panose="02040503050406030204" pitchFamily="18" charset="0"/>
                </a:endParaRPr>
              </a:p>
              <a:p>
                <a:pPr marL="742950" indent="-742950">
                  <a:buAutoNum type="arabicPeriod"/>
                </a:pPr>
                <a:r>
                  <a:rPr lang="en-AU" sz="1800" b="1" dirty="0">
                    <a:solidFill>
                      <a:srgbClr val="00B0F0"/>
                    </a:solidFill>
                  </a:rPr>
                  <a:t>Answer as a statement per unit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15771A-ED8B-4DBD-8F39-9EE8B5AD7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759" y="79899"/>
                <a:ext cx="3764132" cy="1754326"/>
              </a:xfrm>
              <a:prstGeom prst="rect">
                <a:avLst/>
              </a:prstGeom>
              <a:blipFill>
                <a:blip r:embed="rId2"/>
                <a:stretch>
                  <a:fillRect l="-1294" t="-1736" r="-12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CE8095D-A92D-425C-B83C-E3C6BB15F74C}"/>
              </a:ext>
            </a:extLst>
          </p:cNvPr>
          <p:cNvSpPr txBox="1"/>
          <p:nvPr/>
        </p:nvSpPr>
        <p:spPr>
          <a:xfrm>
            <a:off x="683581" y="230188"/>
            <a:ext cx="25656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Copy on whiteboards </a:t>
            </a:r>
            <a:endParaRPr lang="en-AU" sz="2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67146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35768-F564-4CDE-A026-F687148B7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Unit price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BA0C7-15D6-4F70-9DAC-0F6788565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200g of chips costs $3.40. How much is 1g? </a:t>
            </a:r>
            <a:endParaRPr lang="en-A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15771A-ED8B-4DBD-8F39-9EE8B5AD77C8}"/>
                  </a:ext>
                </a:extLst>
              </p:cNvPr>
              <p:cNvSpPr txBox="1"/>
              <p:nvPr/>
            </p:nvSpPr>
            <p:spPr>
              <a:xfrm>
                <a:off x="7927759" y="79899"/>
                <a:ext cx="376413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indent="-742950">
                  <a:buAutoNum type="arabicPeriod"/>
                </a:pPr>
                <a:r>
                  <a:rPr lang="en-US" sz="1800" b="1" dirty="0">
                    <a:solidFill>
                      <a:srgbClr val="00B0F0"/>
                    </a:solidFill>
                  </a:rPr>
                  <a:t>Find and write the groups ($$ and Quantity) </a:t>
                </a:r>
              </a:p>
              <a:p>
                <a:pPr marL="742950" indent="-742950"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𝒄𝒐𝒔𝒕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÷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𝒒𝒖𝒂𝒏𝒕𝒊𝒕𝒚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800" b="1" dirty="0">
                  <a:solidFill>
                    <a:srgbClr val="00B0F0"/>
                  </a:solidFill>
                  <a:ea typeface="Cambria Math" panose="02040503050406030204" pitchFamily="18" charset="0"/>
                </a:endParaRPr>
              </a:p>
              <a:p>
                <a:pPr marL="742950" indent="-742950">
                  <a:buAutoNum type="arabicPeriod"/>
                </a:pPr>
                <a:r>
                  <a:rPr lang="en-AU" sz="1800" b="1" dirty="0">
                    <a:solidFill>
                      <a:srgbClr val="00B0F0"/>
                    </a:solidFill>
                  </a:rPr>
                  <a:t>Answer as a statement per unit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15771A-ED8B-4DBD-8F39-9EE8B5AD7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759" y="79899"/>
                <a:ext cx="3764132" cy="1754326"/>
              </a:xfrm>
              <a:prstGeom prst="rect">
                <a:avLst/>
              </a:prstGeom>
              <a:blipFill>
                <a:blip r:embed="rId2"/>
                <a:stretch>
                  <a:fillRect l="-1294" t="-1736" r="-12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0E30BE7-9FCC-4802-AF63-FFDF9932A8C3}"/>
              </a:ext>
            </a:extLst>
          </p:cNvPr>
          <p:cNvSpPr txBox="1"/>
          <p:nvPr/>
        </p:nvSpPr>
        <p:spPr>
          <a:xfrm>
            <a:off x="683581" y="230188"/>
            <a:ext cx="2565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On whiteboards </a:t>
            </a:r>
            <a:endParaRPr lang="en-AU" sz="2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33810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35768-F564-4CDE-A026-F687148B7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Unit price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BA0C7-15D6-4F70-9DAC-0F6788565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A 24 pack of sprite costs $15.60, how much is 1 can? </a:t>
            </a:r>
            <a:endParaRPr lang="en-A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15771A-ED8B-4DBD-8F39-9EE8B5AD77C8}"/>
                  </a:ext>
                </a:extLst>
              </p:cNvPr>
              <p:cNvSpPr txBox="1"/>
              <p:nvPr/>
            </p:nvSpPr>
            <p:spPr>
              <a:xfrm>
                <a:off x="7927759" y="79899"/>
                <a:ext cx="376413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indent="-742950">
                  <a:buAutoNum type="arabicPeriod"/>
                </a:pPr>
                <a:r>
                  <a:rPr lang="en-US" sz="1800" b="1" dirty="0">
                    <a:solidFill>
                      <a:srgbClr val="00B0F0"/>
                    </a:solidFill>
                  </a:rPr>
                  <a:t>Find and write the groups ($$ and Quantity) </a:t>
                </a:r>
              </a:p>
              <a:p>
                <a:pPr marL="742950" indent="-742950"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𝒄𝒐𝒔𝒕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÷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𝒒𝒖𝒂𝒏𝒕𝒊𝒕𝒚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800" b="1" dirty="0">
                  <a:solidFill>
                    <a:srgbClr val="00B0F0"/>
                  </a:solidFill>
                  <a:ea typeface="Cambria Math" panose="02040503050406030204" pitchFamily="18" charset="0"/>
                </a:endParaRPr>
              </a:p>
              <a:p>
                <a:pPr marL="742950" indent="-742950">
                  <a:buAutoNum type="arabicPeriod"/>
                </a:pPr>
                <a:r>
                  <a:rPr lang="en-AU" sz="1800" b="1" dirty="0">
                    <a:solidFill>
                      <a:srgbClr val="00B0F0"/>
                    </a:solidFill>
                  </a:rPr>
                  <a:t>Answer as a statement per unit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15771A-ED8B-4DBD-8F39-9EE8B5AD7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759" y="79899"/>
                <a:ext cx="3764132" cy="1754326"/>
              </a:xfrm>
              <a:prstGeom prst="rect">
                <a:avLst/>
              </a:prstGeom>
              <a:blipFill>
                <a:blip r:embed="rId2"/>
                <a:stretch>
                  <a:fillRect l="-1294" t="-1736" r="-12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6E0D8ED-5BDA-4EAA-9FBD-E7CBE5469736}"/>
              </a:ext>
            </a:extLst>
          </p:cNvPr>
          <p:cNvSpPr txBox="1"/>
          <p:nvPr/>
        </p:nvSpPr>
        <p:spPr>
          <a:xfrm>
            <a:off x="683581" y="230188"/>
            <a:ext cx="2565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On whiteboards </a:t>
            </a:r>
            <a:endParaRPr lang="en-AU" sz="2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52151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35768-F564-4CDE-A026-F687148B7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Unit price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BA0C7-15D6-4F70-9DAC-0F6788565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1000g of potatoes costs $6.60. How much is 1g? </a:t>
            </a:r>
            <a:endParaRPr lang="en-A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15771A-ED8B-4DBD-8F39-9EE8B5AD77C8}"/>
                  </a:ext>
                </a:extLst>
              </p:cNvPr>
              <p:cNvSpPr txBox="1"/>
              <p:nvPr/>
            </p:nvSpPr>
            <p:spPr>
              <a:xfrm>
                <a:off x="7927759" y="79899"/>
                <a:ext cx="376413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indent="-742950">
                  <a:buAutoNum type="arabicPeriod"/>
                </a:pPr>
                <a:r>
                  <a:rPr lang="en-US" sz="1800" b="1" dirty="0">
                    <a:solidFill>
                      <a:srgbClr val="00B0F0"/>
                    </a:solidFill>
                  </a:rPr>
                  <a:t>Find and write the groups ($$ and Quantity) </a:t>
                </a:r>
              </a:p>
              <a:p>
                <a:pPr marL="742950" indent="-742950"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𝒄𝒐𝒔𝒕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÷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𝒒𝒖𝒂𝒏𝒕𝒊𝒕𝒚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800" b="1" dirty="0">
                  <a:solidFill>
                    <a:srgbClr val="00B0F0"/>
                  </a:solidFill>
                  <a:ea typeface="Cambria Math" panose="02040503050406030204" pitchFamily="18" charset="0"/>
                </a:endParaRPr>
              </a:p>
              <a:p>
                <a:pPr marL="742950" indent="-742950">
                  <a:buAutoNum type="arabicPeriod"/>
                </a:pPr>
                <a:r>
                  <a:rPr lang="en-AU" sz="1800" b="1" dirty="0">
                    <a:solidFill>
                      <a:srgbClr val="00B0F0"/>
                    </a:solidFill>
                  </a:rPr>
                  <a:t>Answer as a statement per unit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15771A-ED8B-4DBD-8F39-9EE8B5AD7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759" y="79899"/>
                <a:ext cx="3764132" cy="1754326"/>
              </a:xfrm>
              <a:prstGeom prst="rect">
                <a:avLst/>
              </a:prstGeom>
              <a:blipFill>
                <a:blip r:embed="rId2"/>
                <a:stretch>
                  <a:fillRect l="-1294" t="-1736" r="-12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D08C072-77CE-463C-91B1-2E4B4F24DC8A}"/>
              </a:ext>
            </a:extLst>
          </p:cNvPr>
          <p:cNvSpPr txBox="1"/>
          <p:nvPr/>
        </p:nvSpPr>
        <p:spPr>
          <a:xfrm>
            <a:off x="683581" y="230188"/>
            <a:ext cx="2565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On whiteboards </a:t>
            </a:r>
            <a:endParaRPr lang="en-AU" sz="2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38092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A18EC-05F4-4AF3-9925-EA824426B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4295"/>
            <a:ext cx="10515600" cy="50639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Comparing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ECD2E-008B-4C71-9C73-420A092526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300g of chocolate for $4.30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97B11A0-1F0A-4F38-936F-27D142908C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550g of chocolate for $6.10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E4744B-C24E-44D3-9CD0-5A7EBE8ED5D6}"/>
              </a:ext>
            </a:extLst>
          </p:cNvPr>
          <p:cNvSpPr txBox="1"/>
          <p:nvPr/>
        </p:nvSpPr>
        <p:spPr>
          <a:xfrm>
            <a:off x="683581" y="230188"/>
            <a:ext cx="25656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Copy on whiteboards </a:t>
            </a:r>
            <a:endParaRPr lang="en-AU" sz="2800" b="1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7E6F2-C33F-48AB-B453-849C8A449E8F}"/>
              </a:ext>
            </a:extLst>
          </p:cNvPr>
          <p:cNvSpPr txBox="1"/>
          <p:nvPr/>
        </p:nvSpPr>
        <p:spPr>
          <a:xfrm>
            <a:off x="8202967" y="230188"/>
            <a:ext cx="2565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highlight>
                  <a:srgbClr val="FFFF00"/>
                </a:highlight>
              </a:rPr>
              <a:t>I do</a:t>
            </a:r>
            <a:endParaRPr lang="en-AU" sz="2800" b="1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71188F-07AF-4CF4-9653-F8B1700A7834}"/>
                  </a:ext>
                </a:extLst>
              </p:cNvPr>
              <p:cNvSpPr txBox="1"/>
              <p:nvPr/>
            </p:nvSpPr>
            <p:spPr>
              <a:xfrm>
                <a:off x="3665738" y="80872"/>
                <a:ext cx="768806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indent="-742950">
                  <a:buAutoNum type="arabicPeriod"/>
                </a:pPr>
                <a:r>
                  <a:rPr lang="en-US" sz="1800" b="1" dirty="0">
                    <a:solidFill>
                      <a:srgbClr val="00B0F0"/>
                    </a:solidFill>
                  </a:rPr>
                  <a:t>Find and write the groups ($$ and Quantity) </a:t>
                </a:r>
              </a:p>
              <a:p>
                <a:pPr marL="742950" indent="-742950"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𝒄𝒐𝒔𝒕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÷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𝒒𝒖𝒂𝒏𝒕𝒊𝒕𝒚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800" b="1" dirty="0">
                  <a:solidFill>
                    <a:srgbClr val="00B0F0"/>
                  </a:solidFill>
                  <a:ea typeface="Cambria Math" panose="02040503050406030204" pitchFamily="18" charset="0"/>
                </a:endParaRPr>
              </a:p>
              <a:p>
                <a:pPr marL="742950" indent="-742950">
                  <a:buAutoNum type="arabicPeriod"/>
                </a:pPr>
                <a:r>
                  <a:rPr lang="en-AU" sz="1800" b="1" dirty="0">
                    <a:solidFill>
                      <a:srgbClr val="00B0F0"/>
                    </a:solidFill>
                  </a:rPr>
                  <a:t>Answer as a statement per unit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71188F-07AF-4CF4-9653-F8B1700A7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5738" y="80872"/>
                <a:ext cx="7688062" cy="1200329"/>
              </a:xfrm>
              <a:prstGeom prst="rect">
                <a:avLst/>
              </a:prstGeom>
              <a:blipFill>
                <a:blip r:embed="rId2"/>
                <a:stretch>
                  <a:fillRect l="-634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4967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71188F-07AF-4CF4-9653-F8B1700A7834}"/>
                  </a:ext>
                </a:extLst>
              </p:cNvPr>
              <p:cNvSpPr txBox="1"/>
              <p:nvPr/>
            </p:nvSpPr>
            <p:spPr>
              <a:xfrm>
                <a:off x="3665738" y="80872"/>
                <a:ext cx="768806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indent="-742950">
                  <a:buAutoNum type="arabicPeriod"/>
                </a:pPr>
                <a:r>
                  <a:rPr lang="en-US" sz="1800" b="1" dirty="0">
                    <a:solidFill>
                      <a:srgbClr val="00B0F0"/>
                    </a:solidFill>
                  </a:rPr>
                  <a:t>Find and write the groups ($$ and Quantity) </a:t>
                </a:r>
              </a:p>
              <a:p>
                <a:pPr marL="742950" indent="-742950"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𝒄𝒐𝒔𝒕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÷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𝒒𝒖𝒂𝒏𝒕𝒊𝒕𝒚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800" b="1" dirty="0">
                  <a:solidFill>
                    <a:srgbClr val="00B0F0"/>
                  </a:solidFill>
                  <a:ea typeface="Cambria Math" panose="02040503050406030204" pitchFamily="18" charset="0"/>
                </a:endParaRPr>
              </a:p>
              <a:p>
                <a:pPr marL="742950" indent="-742950">
                  <a:buAutoNum type="arabicPeriod"/>
                </a:pPr>
                <a:r>
                  <a:rPr lang="en-AU" sz="1800" b="1" dirty="0">
                    <a:solidFill>
                      <a:srgbClr val="00B0F0"/>
                    </a:solidFill>
                  </a:rPr>
                  <a:t>Answer as a statement per unit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71188F-07AF-4CF4-9653-F8B1700A7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5738" y="80872"/>
                <a:ext cx="7688062" cy="1200329"/>
              </a:xfrm>
              <a:prstGeom prst="rect">
                <a:avLst/>
              </a:prstGeom>
              <a:blipFill>
                <a:blip r:embed="rId2"/>
                <a:stretch>
                  <a:fillRect l="-634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CFA18EC-05F4-4AF3-9925-EA824426B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4295"/>
            <a:ext cx="10515600" cy="50639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Comparing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ECD2E-008B-4C71-9C73-420A092526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250g of cheese for $2.30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97B11A0-1F0A-4F38-936F-27D142908C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620g of cheese for $5.15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E4744B-C24E-44D3-9CD0-5A7EBE8ED5D6}"/>
              </a:ext>
            </a:extLst>
          </p:cNvPr>
          <p:cNvSpPr txBox="1"/>
          <p:nvPr/>
        </p:nvSpPr>
        <p:spPr>
          <a:xfrm>
            <a:off x="683581" y="230188"/>
            <a:ext cx="2565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On whiteboards </a:t>
            </a:r>
            <a:endParaRPr lang="en-AU" sz="2800" b="1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7E6F2-C33F-48AB-B453-849C8A449E8F}"/>
              </a:ext>
            </a:extLst>
          </p:cNvPr>
          <p:cNvSpPr txBox="1"/>
          <p:nvPr/>
        </p:nvSpPr>
        <p:spPr>
          <a:xfrm>
            <a:off x="8202967" y="230188"/>
            <a:ext cx="2565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highlight>
                  <a:srgbClr val="FFFF00"/>
                </a:highlight>
              </a:rPr>
              <a:t>We do</a:t>
            </a:r>
            <a:endParaRPr lang="en-AU" sz="2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61148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71188F-07AF-4CF4-9653-F8B1700A7834}"/>
                  </a:ext>
                </a:extLst>
              </p:cNvPr>
              <p:cNvSpPr txBox="1"/>
              <p:nvPr/>
            </p:nvSpPr>
            <p:spPr>
              <a:xfrm>
                <a:off x="3665738" y="80872"/>
                <a:ext cx="768806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42950" indent="-742950">
                  <a:buAutoNum type="arabicPeriod"/>
                </a:pPr>
                <a:r>
                  <a:rPr lang="en-US" sz="1800" b="1" dirty="0">
                    <a:solidFill>
                      <a:srgbClr val="00B0F0"/>
                    </a:solidFill>
                  </a:rPr>
                  <a:t>Find and write the groups ($$ and Quantity) </a:t>
                </a:r>
              </a:p>
              <a:p>
                <a:pPr marL="742950" indent="-742950"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𝒄𝒐𝒔𝒕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÷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𝒒𝒖𝒂𝒏𝒕𝒊𝒕𝒚</m:t>
                    </m:r>
                    <m:r>
                      <a:rPr lang="en-US" sz="18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800" b="1" dirty="0">
                  <a:solidFill>
                    <a:srgbClr val="00B0F0"/>
                  </a:solidFill>
                  <a:ea typeface="Cambria Math" panose="02040503050406030204" pitchFamily="18" charset="0"/>
                </a:endParaRPr>
              </a:p>
              <a:p>
                <a:pPr marL="742950" indent="-742950">
                  <a:buAutoNum type="arabicPeriod"/>
                </a:pPr>
                <a:r>
                  <a:rPr lang="en-AU" sz="1800" b="1" dirty="0">
                    <a:solidFill>
                      <a:srgbClr val="00B0F0"/>
                    </a:solidFill>
                  </a:rPr>
                  <a:t>Answer as a statement per unit 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71188F-07AF-4CF4-9653-F8B1700A7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5738" y="80872"/>
                <a:ext cx="7688062" cy="1200329"/>
              </a:xfrm>
              <a:prstGeom prst="rect">
                <a:avLst/>
              </a:prstGeom>
              <a:blipFill>
                <a:blip r:embed="rId2"/>
                <a:stretch>
                  <a:fillRect l="-634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CFA18EC-05F4-4AF3-9925-EA824426B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4295"/>
            <a:ext cx="10515600" cy="50639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Comparing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ECD2E-008B-4C71-9C73-420A092526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310g of vegemite for $5.60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97B11A0-1F0A-4F38-936F-27D142908C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850g of vegemite for $16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E4744B-C24E-44D3-9CD0-5A7EBE8ED5D6}"/>
              </a:ext>
            </a:extLst>
          </p:cNvPr>
          <p:cNvSpPr txBox="1"/>
          <p:nvPr/>
        </p:nvSpPr>
        <p:spPr>
          <a:xfrm>
            <a:off x="683581" y="230188"/>
            <a:ext cx="2565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On whiteboards </a:t>
            </a:r>
            <a:endParaRPr lang="en-AU" sz="2800" b="1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7E6F2-C33F-48AB-B453-849C8A449E8F}"/>
              </a:ext>
            </a:extLst>
          </p:cNvPr>
          <p:cNvSpPr txBox="1"/>
          <p:nvPr/>
        </p:nvSpPr>
        <p:spPr>
          <a:xfrm>
            <a:off x="8202967" y="230188"/>
            <a:ext cx="2565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highlight>
                  <a:srgbClr val="FFFF00"/>
                </a:highlight>
              </a:rPr>
              <a:t>you do</a:t>
            </a:r>
            <a:endParaRPr lang="en-AU" sz="2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25387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E52F51-6526-4555-9BBD-349BE6E33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task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9D6538-DF2F-4369-BD93-71E7F3E95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Complete tasks provided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66962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FA8EBC-B93D-41ED-BA5E-45E879E73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Fist to five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50A3DE-5589-415A-BAB0-706E77B66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B0F0"/>
                </a:solidFill>
              </a:rPr>
              <a:t> Calculate product prices using unitary method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B0F0"/>
                </a:solidFill>
              </a:rPr>
              <a:t> Compare products at random weights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36061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748</Words>
  <Application>Microsoft Office PowerPoint</Application>
  <PresentationFormat>Widescreen</PresentationFormat>
  <Paragraphs>163</Paragraphs>
  <Slides>22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Daily review – calculate area   </vt:lpstr>
      <vt:lpstr>Find the volume of these rectangular prisms?</vt:lpstr>
      <vt:lpstr>Find the volume of these rectangular prisms?</vt:lpstr>
      <vt:lpstr>Review probability </vt:lpstr>
      <vt:lpstr>Probability: whiteboards </vt:lpstr>
      <vt:lpstr>Probability expectations </vt:lpstr>
      <vt:lpstr>Which item is the best buy? </vt:lpstr>
      <vt:lpstr>Which option? </vt:lpstr>
      <vt:lpstr>Cost per 100g revision </vt:lpstr>
      <vt:lpstr>How can we EASILY compare? </vt:lpstr>
      <vt:lpstr>Unitary method </vt:lpstr>
      <vt:lpstr>Unit price </vt:lpstr>
      <vt:lpstr>Unit price </vt:lpstr>
      <vt:lpstr>Unit price </vt:lpstr>
      <vt:lpstr>Unit price </vt:lpstr>
      <vt:lpstr>Unit price </vt:lpstr>
      <vt:lpstr>Comparing </vt:lpstr>
      <vt:lpstr>Comparing </vt:lpstr>
      <vt:lpstr>Comparing </vt:lpstr>
      <vt:lpstr>Individual task </vt:lpstr>
      <vt:lpstr>Fist to five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12</cp:revision>
  <dcterms:created xsi:type="dcterms:W3CDTF">2022-05-25T11:22:41Z</dcterms:created>
  <dcterms:modified xsi:type="dcterms:W3CDTF">2023-05-24T00:35:10Z</dcterms:modified>
</cp:coreProperties>
</file>
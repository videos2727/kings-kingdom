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5"/>
  </p:notesMasterIdLst>
  <p:sldIdLst>
    <p:sldId id="256" r:id="rId3"/>
    <p:sldId id="282" r:id="rId4"/>
    <p:sldId id="288" r:id="rId5"/>
    <p:sldId id="286" r:id="rId6"/>
    <p:sldId id="283" r:id="rId7"/>
    <p:sldId id="287" r:id="rId8"/>
    <p:sldId id="285" r:id="rId9"/>
    <p:sldId id="289" r:id="rId10"/>
    <p:sldId id="264" r:id="rId11"/>
    <p:sldId id="307" r:id="rId12"/>
    <p:sldId id="290" r:id="rId13"/>
    <p:sldId id="294" r:id="rId14"/>
  </p:sldIdLst>
  <p:sldSz cx="12192000" cy="6858000"/>
  <p:notesSz cx="6794500" cy="9931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82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82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F96EDB-1297-4455-B275-5D8D210FD4EB}" type="datetimeFigureOut">
              <a:rPr lang="en-AU" smtClean="0"/>
              <a:t>15/11/2023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19100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9486"/>
            <a:ext cx="5435600" cy="391048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3107"/>
            <a:ext cx="2944283" cy="4982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645" y="9433107"/>
            <a:ext cx="2944283" cy="4982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C482F0-DA1B-4BF9-8E48-A46437B43E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75801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6178C01D-2614-42EE-9C20-EABC40C383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89FB204-A1C8-49E3-88FB-1453E1ABDA29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C2E6460E-6186-47C2-A296-872CCB8ACDB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8DF4ABA1-F4CF-460A-8EDD-A7D33CEC15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GB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>
            <a:extLst>
              <a:ext uri="{FF2B5EF4-FFF2-40B4-BE49-F238E27FC236}">
                <a16:creationId xmlns:a16="http://schemas.microsoft.com/office/drawing/2014/main" id="{07B8BDF7-529A-4DAF-A6DF-E7B0583915D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49F178C-F0AE-48D0-8570-1AA94CCFF5CD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12477F5F-9AD6-4E74-8A46-F0B6FAF510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F5357240-BEB5-4CA2-937C-E0583E0C5D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GB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DC83CBC8-1E9D-479C-B691-9AD963DBE27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1D717BA-C25E-45FB-AED7-E8FD22BB1050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6D656CBD-A0AE-4072-8A52-C3CCE743B9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5EDF7545-4F2E-44F3-949B-F9CAF2B20C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GB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5B62B-ECD2-9BB7-2E6A-3D35847330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3F2CDC-F52F-BD55-0F07-BDE46D7FE5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3DCAE0-2C25-EB5B-E3C5-FAEA96767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04518-5AD8-4038-AAC1-9A7FD548B9F8}" type="datetimeFigureOut">
              <a:rPr lang="en-AU" smtClean="0"/>
              <a:t>15/11/2023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F28780-E083-7395-4179-A043AC9FA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99E20-03A6-B214-081F-C9DD1726F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60A7A-971D-4D0F-B815-8F7D06AF85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63469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94DBF-9B6B-CE02-7714-6D7964C21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B9037C-6D70-9B72-C476-3A76B23D2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7A84A-11F9-617B-9FD0-B75464F98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04518-5AD8-4038-AAC1-9A7FD548B9F8}" type="datetimeFigureOut">
              <a:rPr lang="en-AU" smtClean="0"/>
              <a:t>15/11/2023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FE1AC4-F544-1022-1C31-714C6B0F3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3D7167-E979-4DB6-2710-22E525954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60A7A-971D-4D0F-B815-8F7D06AF85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4726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563BC-0304-894E-79D4-705C9023F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439C70-C905-5DF3-FC4A-0E85D5A699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B1EB73-D324-691E-CEAC-4BF66D988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04518-5AD8-4038-AAC1-9A7FD548B9F8}" type="datetimeFigureOut">
              <a:rPr lang="en-AU" smtClean="0"/>
              <a:t>15/11/2023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0D33CC-AF32-A070-C418-E3CB480FD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C0EDF9-FA3D-0802-9E9A-1A0386795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60A7A-971D-4D0F-B815-8F7D06AF85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63475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17D70-C87F-C41B-0761-4EDB340E8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386FD-D694-DCC7-08C1-F76F9DC0E0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676856-398C-93C9-0E41-84C6BE1902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0309DD-149E-E4E0-27B5-6BE59D310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04518-5AD8-4038-AAC1-9A7FD548B9F8}" type="datetimeFigureOut">
              <a:rPr lang="en-AU" smtClean="0"/>
              <a:t>15/11/2023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3F0516-591B-AD54-149D-6D56A30A8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ACB35F-98D6-34C0-6812-66ACCB5D5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60A7A-971D-4D0F-B815-8F7D06AF85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75340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04649-C015-7D09-3A4D-C7D2C5FFB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124D91-1E1A-1294-1EC6-E487E28E34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4585F3-CEB7-B9AF-F622-FEB46B740D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40F364-4E60-173C-182B-AB7D6CF17D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3078F2-8920-0145-1185-A4A7D155BD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7CFD2C-0463-1BA3-53BF-00E9D1711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04518-5AD8-4038-AAC1-9A7FD548B9F8}" type="datetimeFigureOut">
              <a:rPr lang="en-AU" smtClean="0"/>
              <a:t>15/11/2023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1799D5-185C-F13D-3AB4-A9FDB30CF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5C7010-F392-7F3C-215D-D5851A4AD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60A7A-971D-4D0F-B815-8F7D06AF85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97491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68DDB-392F-75EF-B011-8BE1C260B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068FEC-5BEB-488B-4BD4-E93F908F7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04518-5AD8-4038-AAC1-9A7FD548B9F8}" type="datetimeFigureOut">
              <a:rPr lang="en-AU" smtClean="0"/>
              <a:t>15/11/2023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01F3A9-6D4D-6682-9CD1-C2FC97AB3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CC14D6-9DC1-C0A4-584C-C8F5D2E50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60A7A-971D-4D0F-B815-8F7D06AF85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79412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6CB874-2653-B05C-B806-6B8CCD3AB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04518-5AD8-4038-AAC1-9A7FD548B9F8}" type="datetimeFigureOut">
              <a:rPr lang="en-AU" smtClean="0"/>
              <a:t>15/11/2023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4CC1A7-5BCF-C7F9-51E8-E729D8F81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DE114E-A557-AA52-0A92-A6DE1471A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60A7A-971D-4D0F-B815-8F7D06AF85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86410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28C0-EE7B-0D6B-3F90-0D1D2F4D0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62991-734A-A78A-6F71-9ACCFC63F8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CDF04D-6CDE-AE8F-B215-0626DC4842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14D126-08CF-81E1-73F1-E12ECCF9C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04518-5AD8-4038-AAC1-9A7FD548B9F8}" type="datetimeFigureOut">
              <a:rPr lang="en-AU" smtClean="0"/>
              <a:t>15/11/2023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CEC832-B0E1-A4EA-4B58-31CBE51C0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4A88B8-E846-127A-21C6-445E68A0F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60A7A-971D-4D0F-B815-8F7D06AF85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38646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A1D8D-9B99-4C71-4096-F5AB82686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3A8F64-3EC0-AE28-2437-0483258F3C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D73CC2-A093-F52D-8E60-14CEEF3062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EA9081-52A0-0920-B29F-C725A5430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04518-5AD8-4038-AAC1-9A7FD548B9F8}" type="datetimeFigureOut">
              <a:rPr lang="en-AU" smtClean="0"/>
              <a:t>15/11/2023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E3FC98-9364-7512-6847-77EE2C909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29F0CF-9B7F-50AA-0C6F-755C4C850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60A7A-971D-4D0F-B815-8F7D06AF85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62301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17771-A0D9-8B81-B712-812A7815B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951A47-E768-B613-936A-0D311960FF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5C3C5C-8C7E-80BE-2B85-6BA4BADA4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04518-5AD8-4038-AAC1-9A7FD548B9F8}" type="datetimeFigureOut">
              <a:rPr lang="en-AU" smtClean="0"/>
              <a:t>15/11/2023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9A362B-F336-AA9B-2392-42B05DC73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2A6DE-1F15-11C2-464B-25680BAAE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60A7A-971D-4D0F-B815-8F7D06AF85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0848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683D82-23F1-399A-BD6D-1D37BCB53F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3E3CCC-0689-088F-A289-942A8A5286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19A8C-64C4-9D98-D11E-5FD6937D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04518-5AD8-4038-AAC1-9A7FD548B9F8}" type="datetimeFigureOut">
              <a:rPr lang="en-AU" smtClean="0"/>
              <a:t>15/11/2023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68C098-B209-C7C3-37CE-F90A54C55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3CA65D-0A49-3D8D-B642-5B5C3C118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60A7A-971D-4D0F-B815-8F7D06AF85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70644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CDD6DDE-CB4C-4E20-93F3-D4AD93A6EA8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10C24A3-3173-4A6E-AD92-5FD3AA62EA8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A8ED64F-854D-4D1C-B09E-9BE9073DAA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00566B-D617-4A0D-AB52-F7475C364AB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3298634"/>
      </p:ext>
    </p:extLst>
  </p:cSld>
  <p:clrMapOvr>
    <a:masterClrMapping/>
  </p:clrMapOvr>
  <p:transition>
    <p:blinds dir="vert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DA0BFF4-C918-42F5-9334-22913101AEC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D618905-2750-40C7-A05A-51FE792367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41A73A1-3C2D-4162-84D2-E6BFBD715D2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287B5A-34D1-4FF3-8841-4AF5F10E318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42454236"/>
      </p:ext>
    </p:extLst>
  </p:cSld>
  <p:clrMapOvr>
    <a:masterClrMapping/>
  </p:clrMapOvr>
  <p:transition>
    <p:blinds dir="vert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64D3970-3EC8-485D-A9BA-04FBA5D97CE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8424631-45C3-4A53-9D31-D33D56EEFAD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2C4ECA8-C102-42A0-A466-5A217F5C27C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DFE30F6-C17B-44A9-B935-BB2CC2C786C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2616273"/>
      </p:ext>
    </p:extLst>
  </p:cSld>
  <p:clrMapOvr>
    <a:masterClrMapping/>
  </p:clrMapOvr>
  <p:transition>
    <p:blinds dir="vert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63371D-D21F-4F91-ACFF-8ECE85768E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8CD155-42B5-4B05-B01E-A1FFC86356A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44FCCB-48F0-4659-956D-04691D3AF4B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36BA406-3415-4FA1-B092-E444CB11BAC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07300941"/>
      </p:ext>
    </p:extLst>
  </p:cSld>
  <p:clrMapOvr>
    <a:masterClrMapping/>
  </p:clrMapOvr>
  <p:transition>
    <p:blinds dir="vert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1AA7FCA-8E49-40BB-A49A-EC2968B2096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AB9B2F3-BD6E-44EC-B84D-B218956A24A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1A95771F-FD37-4731-A79B-77537F95895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5DAB29-2E89-423F-9EC7-F73543E4226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04450882"/>
      </p:ext>
    </p:extLst>
  </p:cSld>
  <p:clrMapOvr>
    <a:masterClrMapping/>
  </p:clrMapOvr>
  <p:transition>
    <p:blinds dir="vert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452DE2A9-78D8-4EB8-90D5-539B75EB4BC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01856E8-7C10-4C71-95EA-EF908227618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55C294E-1743-43F5-88F1-731BB6F770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7B1636C-D93F-40C7-9143-81838EF0470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3916791"/>
      </p:ext>
    </p:extLst>
  </p:cSld>
  <p:clrMapOvr>
    <a:masterClrMapping/>
  </p:clrMapOvr>
  <p:transition>
    <p:blinds dir="vert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F8EA16D4-05CC-4539-A0CA-86DA831E70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011470D-21BF-48DC-A348-22393CBF35D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D830D8E-8B59-424F-80F1-CE02C4F482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78F686-10E8-42CC-A72B-30E8C5534DE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49062044"/>
      </p:ext>
    </p:extLst>
  </p:cSld>
  <p:clrMapOvr>
    <a:masterClrMapping/>
  </p:clrMapOvr>
  <p:transition>
    <p:blinds dir="vert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C0C228-E985-4C56-86AE-71F056B8176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D06320-671E-481B-A67B-BFDC62209CE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AD52DF-8903-426F-85D0-969745B53A4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20FB4E5-27AB-47D7-A2E2-ADA4D936ED1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6740536"/>
      </p:ext>
    </p:extLst>
  </p:cSld>
  <p:clrMapOvr>
    <a:masterClrMapping/>
  </p:clrMapOvr>
  <p:transition>
    <p:blinds dir="vert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175802-F21E-42C6-88C2-F1699F2DE9A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7CA0B0-3DFD-47F6-952B-3370B0B972D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5FFBAF-7482-4C61-8108-6EAE1D5C331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BE5EA8-E98E-4FDF-8C36-CBABE2E3D15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57493365"/>
      </p:ext>
    </p:extLst>
  </p:cSld>
  <p:clrMapOvr>
    <a:masterClrMapping/>
  </p:clrMapOvr>
  <p:transition>
    <p:blinds dir="vert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45AAC16-566E-4AF3-ACCC-A618F4F749F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D66C3DE-4665-4765-837D-0B0EDED26C3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4A99C83-DFA5-4B37-9F3B-FE6F508EB82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21E633B-4699-4646-BB03-5627E37533F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33729067"/>
      </p:ext>
    </p:extLst>
  </p:cSld>
  <p:clrMapOvr>
    <a:masterClrMapping/>
  </p:clrMapOvr>
  <p:transition>
    <p:blinds dir="vert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8DD7144-7AA5-4DC8-93E5-9BE2D3FCE29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E14560A-42AA-4D71-8D5C-F5B9FB67F9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0D1D193-0049-4E72-A247-30352B7B1CD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DE76002-8FA0-4617-AAA5-54C07F4F6B0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84327019"/>
      </p:ext>
    </p:extLst>
  </p:cSld>
  <p:clrMapOvr>
    <a:masterClrMapping/>
  </p:clrMapOvr>
  <p:transition>
    <p:blinds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646896-507F-E424-87DC-B0E0ECA55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422053-8427-6866-6CCC-84D76A6DBF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638178-CF82-401B-8FEE-CC51B8E5C3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104518-5AD8-4038-AAC1-9A7FD548B9F8}" type="datetimeFigureOut">
              <a:rPr lang="en-AU" smtClean="0"/>
              <a:t>15/11/2023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91584D-94BD-F8B3-BA47-1A8D13C988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F6F9AF-7D31-710F-3C59-3F50AB5F3A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760A7A-971D-4D0F-B815-8F7D06AF85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7676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A298CB0-F2BC-45DC-AE26-A9ED2209A6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3BCF496-FC83-483D-94A0-20E5F63783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ED4CD57-908F-47D0-8ED9-512F747C82F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4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30470BE-9904-4296-BAAC-3F7EBDBB1AF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217AE5D-0001-4A58-85B8-796706205C0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2744EB2B-3385-480F-8C96-0F6086750D5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78481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blinds dir="vert"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E17D7F-0EBE-6183-FE41-4BA6EED90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440"/>
            <a:ext cx="10515600" cy="586597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Lesson objective </a:t>
            </a:r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7383E9D-D7EC-102B-52C7-0DF2A6A228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4400"/>
            <a:ext cx="10515600" cy="52625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Title: data comparison </a:t>
            </a:r>
          </a:p>
          <a:p>
            <a:pPr marL="0" indent="0">
              <a:buNone/>
            </a:pPr>
            <a:endParaRPr lang="en-US" sz="32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Aim – be able to: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200" b="1" dirty="0">
                <a:solidFill>
                  <a:schemeClr val="bg1"/>
                </a:solidFill>
              </a:rPr>
              <a:t>Represent comparative data in back-to-back stem and leaf diagrams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200" b="1" dirty="0">
                <a:solidFill>
                  <a:schemeClr val="bg1"/>
                </a:solidFill>
              </a:rPr>
              <a:t>Compare central tendencies of data sets</a:t>
            </a:r>
          </a:p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US" sz="3200" b="1" dirty="0">
                <a:solidFill>
                  <a:schemeClr val="bg1"/>
                </a:solidFill>
              </a:rPr>
              <a:t>Averages from stem and leaf</a:t>
            </a:r>
          </a:p>
          <a:p>
            <a:pPr>
              <a:buFontTx/>
              <a:buChar char="-"/>
            </a:pPr>
            <a:r>
              <a:rPr lang="en-US" sz="3200" b="1" dirty="0">
                <a:solidFill>
                  <a:schemeClr val="bg1"/>
                </a:solidFill>
              </a:rPr>
              <a:t>B2B stem and leaf  </a:t>
            </a:r>
          </a:p>
          <a:p>
            <a:pPr>
              <a:buFontTx/>
              <a:buChar char="-"/>
            </a:pPr>
            <a:r>
              <a:rPr lang="en-US" sz="3200" b="1" dirty="0">
                <a:solidFill>
                  <a:schemeClr val="bg1"/>
                </a:solidFill>
              </a:rPr>
              <a:t>Outliers and comparisons of data  </a:t>
            </a:r>
            <a:endParaRPr lang="en-AU" sz="3200" b="1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A0D350-94B6-FF68-E73D-90653E01F8B5}"/>
              </a:ext>
            </a:extLst>
          </p:cNvPr>
          <p:cNvSpPr txBox="1"/>
          <p:nvPr/>
        </p:nvSpPr>
        <p:spPr>
          <a:xfrm>
            <a:off x="6484776" y="839755"/>
            <a:ext cx="337768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Need calculators. </a:t>
            </a:r>
          </a:p>
          <a:p>
            <a:endParaRPr lang="en-US" b="1" dirty="0"/>
          </a:p>
          <a:p>
            <a:r>
              <a:rPr lang="en-US" b="1" dirty="0" err="1">
                <a:highlight>
                  <a:srgbClr val="00FF00"/>
                </a:highlight>
              </a:rPr>
              <a:t>PBiS</a:t>
            </a:r>
            <a:r>
              <a:rPr lang="en-US" b="1" dirty="0">
                <a:highlight>
                  <a:srgbClr val="00FF00"/>
                </a:highlight>
              </a:rPr>
              <a:t> focus: EMPATHY</a:t>
            </a:r>
          </a:p>
          <a:p>
            <a:r>
              <a:rPr lang="en-US" b="1" dirty="0">
                <a:highlight>
                  <a:srgbClr val="00FF00"/>
                </a:highlight>
              </a:rPr>
              <a:t>- Accept and understand differences</a:t>
            </a:r>
            <a:endParaRPr lang="en-AU" b="1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395753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441" name="Group 169">
            <a:extLst>
              <a:ext uri="{FF2B5EF4-FFF2-40B4-BE49-F238E27FC236}">
                <a16:creationId xmlns:a16="http://schemas.microsoft.com/office/drawing/2014/main" id="{A6ED7D7D-7FF2-4194-B06F-5E2FB9D4C642}"/>
              </a:ext>
            </a:extLst>
          </p:cNvPr>
          <p:cNvGraphicFramePr>
            <a:graphicFrameLocks noGrp="1"/>
          </p:cNvGraphicFramePr>
          <p:nvPr/>
        </p:nvGraphicFramePr>
        <p:xfrm>
          <a:off x="2000250" y="787400"/>
          <a:ext cx="3829050" cy="2101852"/>
        </p:xfrm>
        <a:graphic>
          <a:graphicData uri="http://schemas.openxmlformats.org/drawingml/2006/table">
            <a:tbl>
              <a:tblPr/>
              <a:tblGrid>
                <a:gridCol w="547688">
                  <a:extLst>
                    <a:ext uri="{9D8B030D-6E8A-4147-A177-3AD203B41FA5}">
                      <a16:colId xmlns:a16="http://schemas.microsoft.com/office/drawing/2014/main" val="3081913127"/>
                    </a:ext>
                  </a:extLst>
                </a:gridCol>
                <a:gridCol w="546100">
                  <a:extLst>
                    <a:ext uri="{9D8B030D-6E8A-4147-A177-3AD203B41FA5}">
                      <a16:colId xmlns:a16="http://schemas.microsoft.com/office/drawing/2014/main" val="1596252887"/>
                    </a:ext>
                  </a:extLst>
                </a:gridCol>
                <a:gridCol w="547687">
                  <a:extLst>
                    <a:ext uri="{9D8B030D-6E8A-4147-A177-3AD203B41FA5}">
                      <a16:colId xmlns:a16="http://schemas.microsoft.com/office/drawing/2014/main" val="3772681971"/>
                    </a:ext>
                  </a:extLst>
                </a:gridCol>
                <a:gridCol w="546100">
                  <a:extLst>
                    <a:ext uri="{9D8B030D-6E8A-4147-A177-3AD203B41FA5}">
                      <a16:colId xmlns:a16="http://schemas.microsoft.com/office/drawing/2014/main" val="1465339045"/>
                    </a:ext>
                  </a:extLst>
                </a:gridCol>
                <a:gridCol w="547688">
                  <a:extLst>
                    <a:ext uri="{9D8B030D-6E8A-4147-A177-3AD203B41FA5}">
                      <a16:colId xmlns:a16="http://schemas.microsoft.com/office/drawing/2014/main" val="1113035221"/>
                    </a:ext>
                  </a:extLst>
                </a:gridCol>
                <a:gridCol w="546100">
                  <a:extLst>
                    <a:ext uri="{9D8B030D-6E8A-4147-A177-3AD203B41FA5}">
                      <a16:colId xmlns:a16="http://schemas.microsoft.com/office/drawing/2014/main" val="4282249469"/>
                    </a:ext>
                  </a:extLst>
                </a:gridCol>
                <a:gridCol w="547687">
                  <a:extLst>
                    <a:ext uri="{9D8B030D-6E8A-4147-A177-3AD203B41FA5}">
                      <a16:colId xmlns:a16="http://schemas.microsoft.com/office/drawing/2014/main" val="1871853934"/>
                    </a:ext>
                  </a:extLst>
                </a:gridCol>
              </a:tblGrid>
              <a:tr h="5254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mic Sans MS" panose="030F0702030302020204" pitchFamily="66" charset="0"/>
                        </a:rPr>
                        <a:t>2</a:t>
                      </a:r>
                    </a:p>
                  </a:txBody>
                  <a:tcPr marL="90000" marR="90000" marT="46800" marB="46800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2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4</a:t>
                      </a: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7</a:t>
                      </a: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9</a:t>
                      </a: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563447"/>
                  </a:ext>
                </a:extLst>
              </a:tr>
              <a:tr h="5254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mic Sans MS" panose="030F0702030302020204" pitchFamily="66" charset="0"/>
                        </a:rPr>
                        <a:t>3</a:t>
                      </a:r>
                    </a:p>
                  </a:txBody>
                  <a:tcPr marL="90000" marR="90000" marT="46800" marB="46800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2</a:t>
                      </a: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5</a:t>
                      </a: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5</a:t>
                      </a: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7</a:t>
                      </a: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9</a:t>
                      </a: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8249285"/>
                  </a:ext>
                </a:extLst>
              </a:tr>
              <a:tr h="5254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mic Sans MS" panose="030F0702030302020204" pitchFamily="66" charset="0"/>
                        </a:rPr>
                        <a:t>4</a:t>
                      </a:r>
                    </a:p>
                  </a:txBody>
                  <a:tcPr marL="90000" marR="90000" marT="46800" marB="46800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4</a:t>
                      </a: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4</a:t>
                      </a: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7</a:t>
                      </a: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5504827"/>
                  </a:ext>
                </a:extLst>
              </a:tr>
              <a:tr h="5254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mic Sans MS" panose="030F0702030302020204" pitchFamily="66" charset="0"/>
                        </a:rPr>
                        <a:t>5</a:t>
                      </a:r>
                    </a:p>
                  </a:txBody>
                  <a:tcPr marL="90000" marR="90000" marT="46800" marB="46800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2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7</a:t>
                      </a: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9</a:t>
                      </a: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0618319"/>
                  </a:ext>
                </a:extLst>
              </a:tr>
            </a:tbl>
          </a:graphicData>
        </a:graphic>
      </p:graphicFrame>
      <p:sp>
        <p:nvSpPr>
          <p:cNvPr id="4131" name="Text Box 158">
            <a:extLst>
              <a:ext uri="{FF2B5EF4-FFF2-40B4-BE49-F238E27FC236}">
                <a16:creationId xmlns:a16="http://schemas.microsoft.com/office/drawing/2014/main" id="{7A60E239-4DFA-4C47-B67E-A52103A4E9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6450" y="838200"/>
            <a:ext cx="3638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BFEC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505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Key   36 years = 3</a:t>
            </a:r>
            <a:r>
              <a:rPr kumimoji="0" lang="en-GB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505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  <a:sym typeface="Symbol" panose="05050102010706020507" pitchFamily="18" charset="2"/>
              </a:rPr>
              <a:t>6</a:t>
            </a:r>
            <a:endParaRPr kumimoji="0" lang="en-GB" altLang="en-US" sz="2400" b="0" i="0" u="none" strike="noStrike" kern="1200" cap="none" spc="0" normalizeH="0" baseline="0" noProof="0">
              <a:ln>
                <a:noFill/>
              </a:ln>
              <a:solidFill>
                <a:srgbClr val="FF5050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  <p:sp>
        <p:nvSpPr>
          <p:cNvPr id="4132" name="Text Box 159">
            <a:extLst>
              <a:ext uri="{FF2B5EF4-FFF2-40B4-BE49-F238E27FC236}">
                <a16:creationId xmlns:a16="http://schemas.microsoft.com/office/drawing/2014/main" id="{952E888F-780E-42CD-8A18-CDAD66F7C7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66700"/>
            <a:ext cx="5505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Ages of teachers</a:t>
            </a:r>
          </a:p>
        </p:txBody>
      </p:sp>
      <p:sp>
        <p:nvSpPr>
          <p:cNvPr id="4133" name="Text Box 160">
            <a:extLst>
              <a:ext uri="{FF2B5EF4-FFF2-40B4-BE49-F238E27FC236}">
                <a16:creationId xmlns:a16="http://schemas.microsoft.com/office/drawing/2014/main" id="{DB90F1D4-02CB-4D9C-BB65-886BBA1593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3181350"/>
            <a:ext cx="737235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5000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Find the range of ages.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5000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Find the modal age.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5000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Find the median age.</a:t>
            </a:r>
          </a:p>
        </p:txBody>
      </p:sp>
      <p:sp>
        <p:nvSpPr>
          <p:cNvPr id="54433" name="Text Box 161">
            <a:extLst>
              <a:ext uri="{FF2B5EF4-FFF2-40B4-BE49-F238E27FC236}">
                <a16:creationId xmlns:a16="http://schemas.microsoft.com/office/drawing/2014/main" id="{ECD7257E-68AD-48B2-85F7-AA05E92737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5450" y="3086100"/>
            <a:ext cx="5162550" cy="457200"/>
          </a:xfrm>
          <a:prstGeom prst="rect">
            <a:avLst/>
          </a:prstGeom>
          <a:solidFill>
            <a:srgbClr val="99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Range = 59 – 22 = 37</a:t>
            </a:r>
          </a:p>
        </p:txBody>
      </p:sp>
      <p:sp>
        <p:nvSpPr>
          <p:cNvPr id="54434" name="Text Box 162">
            <a:extLst>
              <a:ext uri="{FF2B5EF4-FFF2-40B4-BE49-F238E27FC236}">
                <a16:creationId xmlns:a16="http://schemas.microsoft.com/office/drawing/2014/main" id="{67113B35-BBA2-4035-B8BF-EBE231A960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3829050"/>
            <a:ext cx="5181600" cy="457200"/>
          </a:xfrm>
          <a:prstGeom prst="rect">
            <a:avLst/>
          </a:prstGeom>
          <a:solidFill>
            <a:srgbClr val="99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Modal value = 35 and 44</a:t>
            </a:r>
          </a:p>
        </p:txBody>
      </p:sp>
      <p:sp>
        <p:nvSpPr>
          <p:cNvPr id="54435" name="Text Box 163">
            <a:extLst>
              <a:ext uri="{FF2B5EF4-FFF2-40B4-BE49-F238E27FC236}">
                <a16:creationId xmlns:a16="http://schemas.microsoft.com/office/drawing/2014/main" id="{EC0E6C02-F598-456F-825F-4B0C66BEC9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4572001"/>
            <a:ext cx="5181600" cy="1200329"/>
          </a:xfrm>
          <a:prstGeom prst="rect">
            <a:avLst/>
          </a:prstGeom>
          <a:solidFill>
            <a:srgbClr val="99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17 numbers :–  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Median = ( 17 + 1 ) </a:t>
            </a:r>
            <a:r>
              <a:rPr kumimoji="0" lang="en-GB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Arial" panose="020B0604020202020204" pitchFamily="34" charset="0"/>
              </a:rPr>
              <a:t>÷ 2 = 9</a:t>
            </a:r>
            <a:r>
              <a:rPr kumimoji="0" lang="en-GB" altLang="en-US" sz="24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Arial" panose="020B0604020202020204" pitchFamily="34" charset="0"/>
              </a:rPr>
              <a:t>th</a:t>
            </a:r>
            <a:r>
              <a:rPr kumimoji="0" lang="en-GB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Arial" panose="020B0604020202020204" pitchFamily="34" charset="0"/>
              </a:rPr>
              <a:t> value</a:t>
            </a:r>
            <a:r>
              <a:rPr kumimoji="0" lang="en-GB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Median = 37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54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54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3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"/>
                                        <p:tgtEl>
                                          <p:spTgt spid="5443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"/>
                                        <p:tgtEl>
                                          <p:spTgt spid="54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"/>
                                        <p:tgtEl>
                                          <p:spTgt spid="54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"/>
                                        <p:tgtEl>
                                          <p:spTgt spid="54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433" grpId="0" animBg="1" autoUpdateAnimBg="0"/>
      <p:bldP spid="54434" grpId="0" animBg="1" autoUpdateAnimBg="0"/>
      <p:bldP spid="54435" grpId="0" build="p" animBg="1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564AB79-15D1-4B13-BA6A-E4F4124C689A}"/>
              </a:ext>
            </a:extLst>
          </p:cNvPr>
          <p:cNvSpPr txBox="1">
            <a:spLocks/>
          </p:cNvSpPr>
          <p:nvPr/>
        </p:nvSpPr>
        <p:spPr bwMode="auto">
          <a:xfrm>
            <a:off x="1524000" y="552451"/>
            <a:ext cx="91440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GB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When comparing two sets of data, it can be useful to draw a back-to-back stem and leaf diagram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GB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GB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Back-to-Back stem and leaf diagrams share the same ‘stem’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GB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GB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Numbers closest to the ‘stem’ are smaller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Box 1">
            <a:extLst>
              <a:ext uri="{FF2B5EF4-FFF2-40B4-BE49-F238E27FC236}">
                <a16:creationId xmlns:a16="http://schemas.microsoft.com/office/drawing/2014/main" id="{9042DF06-6D28-42A2-AE07-1C7FA9FA29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"/>
            <a:ext cx="9144000" cy="354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Ages of teachers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Female Data: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22	24	27	29	31	32	35	35	37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39	40	44	44	47	52	57	59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Male data: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23	27	30	31	32	36	39	42	43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45	47	48	48	50	51	52	59	</a:t>
            </a:r>
          </a:p>
        </p:txBody>
      </p:sp>
      <p:graphicFrame>
        <p:nvGraphicFramePr>
          <p:cNvPr id="3" name="Group 140">
            <a:extLst>
              <a:ext uri="{FF2B5EF4-FFF2-40B4-BE49-F238E27FC236}">
                <a16:creationId xmlns:a16="http://schemas.microsoft.com/office/drawing/2014/main" id="{13B5D149-6C11-424D-B5B6-2158AFEE5CB7}"/>
              </a:ext>
            </a:extLst>
          </p:cNvPr>
          <p:cNvGraphicFramePr>
            <a:graphicFrameLocks noGrp="1"/>
          </p:cNvGraphicFramePr>
          <p:nvPr/>
        </p:nvGraphicFramePr>
        <p:xfrm>
          <a:off x="2314576" y="4243388"/>
          <a:ext cx="7115175" cy="2101852"/>
        </p:xfrm>
        <a:graphic>
          <a:graphicData uri="http://schemas.openxmlformats.org/drawingml/2006/table">
            <a:tbl>
              <a:tblPr/>
              <a:tblGrid>
                <a:gridCol w="547688">
                  <a:extLst>
                    <a:ext uri="{9D8B030D-6E8A-4147-A177-3AD203B41FA5}">
                      <a16:colId xmlns:a16="http://schemas.microsoft.com/office/drawing/2014/main" val="3881267034"/>
                    </a:ext>
                  </a:extLst>
                </a:gridCol>
                <a:gridCol w="547687">
                  <a:extLst>
                    <a:ext uri="{9D8B030D-6E8A-4147-A177-3AD203B41FA5}">
                      <a16:colId xmlns:a16="http://schemas.microsoft.com/office/drawing/2014/main" val="3867565214"/>
                    </a:ext>
                  </a:extLst>
                </a:gridCol>
                <a:gridCol w="547688">
                  <a:extLst>
                    <a:ext uri="{9D8B030D-6E8A-4147-A177-3AD203B41FA5}">
                      <a16:colId xmlns:a16="http://schemas.microsoft.com/office/drawing/2014/main" val="1161613390"/>
                    </a:ext>
                  </a:extLst>
                </a:gridCol>
                <a:gridCol w="547687">
                  <a:extLst>
                    <a:ext uri="{9D8B030D-6E8A-4147-A177-3AD203B41FA5}">
                      <a16:colId xmlns:a16="http://schemas.microsoft.com/office/drawing/2014/main" val="2798073878"/>
                    </a:ext>
                  </a:extLst>
                </a:gridCol>
                <a:gridCol w="547688">
                  <a:extLst>
                    <a:ext uri="{9D8B030D-6E8A-4147-A177-3AD203B41FA5}">
                      <a16:colId xmlns:a16="http://schemas.microsoft.com/office/drawing/2014/main" val="2465513999"/>
                    </a:ext>
                  </a:extLst>
                </a:gridCol>
                <a:gridCol w="547687">
                  <a:extLst>
                    <a:ext uri="{9D8B030D-6E8A-4147-A177-3AD203B41FA5}">
                      <a16:colId xmlns:a16="http://schemas.microsoft.com/office/drawing/2014/main" val="1876826981"/>
                    </a:ext>
                  </a:extLst>
                </a:gridCol>
                <a:gridCol w="547688">
                  <a:extLst>
                    <a:ext uri="{9D8B030D-6E8A-4147-A177-3AD203B41FA5}">
                      <a16:colId xmlns:a16="http://schemas.microsoft.com/office/drawing/2014/main" val="632407020"/>
                    </a:ext>
                  </a:extLst>
                </a:gridCol>
                <a:gridCol w="546100">
                  <a:extLst>
                    <a:ext uri="{9D8B030D-6E8A-4147-A177-3AD203B41FA5}">
                      <a16:colId xmlns:a16="http://schemas.microsoft.com/office/drawing/2014/main" val="2133214200"/>
                    </a:ext>
                  </a:extLst>
                </a:gridCol>
                <a:gridCol w="547687">
                  <a:extLst>
                    <a:ext uri="{9D8B030D-6E8A-4147-A177-3AD203B41FA5}">
                      <a16:colId xmlns:a16="http://schemas.microsoft.com/office/drawing/2014/main" val="3785262967"/>
                    </a:ext>
                  </a:extLst>
                </a:gridCol>
                <a:gridCol w="546100">
                  <a:extLst>
                    <a:ext uri="{9D8B030D-6E8A-4147-A177-3AD203B41FA5}">
                      <a16:colId xmlns:a16="http://schemas.microsoft.com/office/drawing/2014/main" val="2853893624"/>
                    </a:ext>
                  </a:extLst>
                </a:gridCol>
                <a:gridCol w="547688">
                  <a:extLst>
                    <a:ext uri="{9D8B030D-6E8A-4147-A177-3AD203B41FA5}">
                      <a16:colId xmlns:a16="http://schemas.microsoft.com/office/drawing/2014/main" val="3225025242"/>
                    </a:ext>
                  </a:extLst>
                </a:gridCol>
                <a:gridCol w="546100">
                  <a:extLst>
                    <a:ext uri="{9D8B030D-6E8A-4147-A177-3AD203B41FA5}">
                      <a16:colId xmlns:a16="http://schemas.microsoft.com/office/drawing/2014/main" val="1238996943"/>
                    </a:ext>
                  </a:extLst>
                </a:gridCol>
                <a:gridCol w="547687">
                  <a:extLst>
                    <a:ext uri="{9D8B030D-6E8A-4147-A177-3AD203B41FA5}">
                      <a16:colId xmlns:a16="http://schemas.microsoft.com/office/drawing/2014/main" val="1113551892"/>
                    </a:ext>
                  </a:extLst>
                </a:gridCol>
              </a:tblGrid>
              <a:tr h="5254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0" marR="90000" marT="46800" marB="4680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0" marR="90000" marT="46800" marB="46800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mic Sans MS" panose="030F0702030302020204" pitchFamily="66" charset="0"/>
                        </a:rPr>
                        <a:t>2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4977463"/>
                  </a:ext>
                </a:extLst>
              </a:tr>
              <a:tr h="5254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0" marR="90000" marT="46800" marB="46800" anchor="ctr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0" marR="90000" marT="46800" marB="46800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mic Sans MS" panose="030F0702030302020204" pitchFamily="66" charset="0"/>
                        </a:rPr>
                        <a:t>3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3553650"/>
                  </a:ext>
                </a:extLst>
              </a:tr>
              <a:tr h="5254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0" marR="90000" marT="46800" marB="46800" anchor="ctr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0" marR="90000" marT="46800" marB="46800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mic Sans MS" panose="030F0702030302020204" pitchFamily="66" charset="0"/>
                        </a:rPr>
                        <a:t>4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0762711"/>
                  </a:ext>
                </a:extLst>
              </a:tr>
              <a:tr h="5254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0" marR="90000" marT="46800" marB="46800" anchor="ctr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0" marR="90000" marT="46800" marB="46800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mic Sans MS" panose="030F0702030302020204" pitchFamily="66" charset="0"/>
                        </a:rPr>
                        <a:t>5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3353549"/>
                  </a:ext>
                </a:extLst>
              </a:tr>
            </a:tbl>
          </a:graphicData>
        </a:graphic>
      </p:graphicFrame>
      <p:sp>
        <p:nvSpPr>
          <p:cNvPr id="4" name="Text Box 133">
            <a:extLst>
              <a:ext uri="{FF2B5EF4-FFF2-40B4-BE49-F238E27FC236}">
                <a16:creationId xmlns:a16="http://schemas.microsoft.com/office/drawing/2014/main" id="{D4B9E170-4F82-414A-8109-B0C86FF8EA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6500" y="3794125"/>
            <a:ext cx="1866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Males</a:t>
            </a:r>
          </a:p>
        </p:txBody>
      </p:sp>
      <p:sp>
        <p:nvSpPr>
          <p:cNvPr id="5" name="Text Box 134">
            <a:extLst>
              <a:ext uri="{FF2B5EF4-FFF2-40B4-BE49-F238E27FC236}">
                <a16:creationId xmlns:a16="http://schemas.microsoft.com/office/drawing/2014/main" id="{EB01251D-6AD5-4416-A821-7115AD25E5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1750" y="3800475"/>
            <a:ext cx="1866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Females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460" name="Group 140">
            <a:extLst>
              <a:ext uri="{FF2B5EF4-FFF2-40B4-BE49-F238E27FC236}">
                <a16:creationId xmlns:a16="http://schemas.microsoft.com/office/drawing/2014/main" id="{FB287DBC-BF12-4A19-9A90-8F02493D4C8D}"/>
              </a:ext>
            </a:extLst>
          </p:cNvPr>
          <p:cNvGraphicFramePr>
            <a:graphicFrameLocks noGrp="1"/>
          </p:cNvGraphicFramePr>
          <p:nvPr/>
        </p:nvGraphicFramePr>
        <p:xfrm>
          <a:off x="2476501" y="939800"/>
          <a:ext cx="7115175" cy="2101852"/>
        </p:xfrm>
        <a:graphic>
          <a:graphicData uri="http://schemas.openxmlformats.org/drawingml/2006/table">
            <a:tbl>
              <a:tblPr/>
              <a:tblGrid>
                <a:gridCol w="547688">
                  <a:extLst>
                    <a:ext uri="{9D8B030D-6E8A-4147-A177-3AD203B41FA5}">
                      <a16:colId xmlns:a16="http://schemas.microsoft.com/office/drawing/2014/main" val="3881267034"/>
                    </a:ext>
                  </a:extLst>
                </a:gridCol>
                <a:gridCol w="547687">
                  <a:extLst>
                    <a:ext uri="{9D8B030D-6E8A-4147-A177-3AD203B41FA5}">
                      <a16:colId xmlns:a16="http://schemas.microsoft.com/office/drawing/2014/main" val="3867565214"/>
                    </a:ext>
                  </a:extLst>
                </a:gridCol>
                <a:gridCol w="547688">
                  <a:extLst>
                    <a:ext uri="{9D8B030D-6E8A-4147-A177-3AD203B41FA5}">
                      <a16:colId xmlns:a16="http://schemas.microsoft.com/office/drawing/2014/main" val="1161613390"/>
                    </a:ext>
                  </a:extLst>
                </a:gridCol>
                <a:gridCol w="547687">
                  <a:extLst>
                    <a:ext uri="{9D8B030D-6E8A-4147-A177-3AD203B41FA5}">
                      <a16:colId xmlns:a16="http://schemas.microsoft.com/office/drawing/2014/main" val="2798073878"/>
                    </a:ext>
                  </a:extLst>
                </a:gridCol>
                <a:gridCol w="547688">
                  <a:extLst>
                    <a:ext uri="{9D8B030D-6E8A-4147-A177-3AD203B41FA5}">
                      <a16:colId xmlns:a16="http://schemas.microsoft.com/office/drawing/2014/main" val="2465513999"/>
                    </a:ext>
                  </a:extLst>
                </a:gridCol>
                <a:gridCol w="547687">
                  <a:extLst>
                    <a:ext uri="{9D8B030D-6E8A-4147-A177-3AD203B41FA5}">
                      <a16:colId xmlns:a16="http://schemas.microsoft.com/office/drawing/2014/main" val="1876826981"/>
                    </a:ext>
                  </a:extLst>
                </a:gridCol>
                <a:gridCol w="547688">
                  <a:extLst>
                    <a:ext uri="{9D8B030D-6E8A-4147-A177-3AD203B41FA5}">
                      <a16:colId xmlns:a16="http://schemas.microsoft.com/office/drawing/2014/main" val="632407020"/>
                    </a:ext>
                  </a:extLst>
                </a:gridCol>
                <a:gridCol w="546100">
                  <a:extLst>
                    <a:ext uri="{9D8B030D-6E8A-4147-A177-3AD203B41FA5}">
                      <a16:colId xmlns:a16="http://schemas.microsoft.com/office/drawing/2014/main" val="2133214200"/>
                    </a:ext>
                  </a:extLst>
                </a:gridCol>
                <a:gridCol w="547687">
                  <a:extLst>
                    <a:ext uri="{9D8B030D-6E8A-4147-A177-3AD203B41FA5}">
                      <a16:colId xmlns:a16="http://schemas.microsoft.com/office/drawing/2014/main" val="3785262967"/>
                    </a:ext>
                  </a:extLst>
                </a:gridCol>
                <a:gridCol w="546100">
                  <a:extLst>
                    <a:ext uri="{9D8B030D-6E8A-4147-A177-3AD203B41FA5}">
                      <a16:colId xmlns:a16="http://schemas.microsoft.com/office/drawing/2014/main" val="2853893624"/>
                    </a:ext>
                  </a:extLst>
                </a:gridCol>
                <a:gridCol w="547688">
                  <a:extLst>
                    <a:ext uri="{9D8B030D-6E8A-4147-A177-3AD203B41FA5}">
                      <a16:colId xmlns:a16="http://schemas.microsoft.com/office/drawing/2014/main" val="3225025242"/>
                    </a:ext>
                  </a:extLst>
                </a:gridCol>
                <a:gridCol w="546100">
                  <a:extLst>
                    <a:ext uri="{9D8B030D-6E8A-4147-A177-3AD203B41FA5}">
                      <a16:colId xmlns:a16="http://schemas.microsoft.com/office/drawing/2014/main" val="1238996943"/>
                    </a:ext>
                  </a:extLst>
                </a:gridCol>
                <a:gridCol w="547687">
                  <a:extLst>
                    <a:ext uri="{9D8B030D-6E8A-4147-A177-3AD203B41FA5}">
                      <a16:colId xmlns:a16="http://schemas.microsoft.com/office/drawing/2014/main" val="1113551892"/>
                    </a:ext>
                  </a:extLst>
                </a:gridCol>
              </a:tblGrid>
              <a:tr h="5254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0" marR="90000" marT="46800" marB="4680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7</a:t>
                      </a: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3</a:t>
                      </a:r>
                    </a:p>
                  </a:txBody>
                  <a:tcPr marL="90000" marR="90000" marT="46800" marB="46800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mic Sans MS" panose="030F0702030302020204" pitchFamily="66" charset="0"/>
                        </a:rPr>
                        <a:t>2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2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4</a:t>
                      </a: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7</a:t>
                      </a: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9</a:t>
                      </a: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4977463"/>
                  </a:ext>
                </a:extLst>
              </a:tr>
              <a:tr h="5254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0" marR="90000" marT="46800" marB="46800" anchor="ctr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9</a:t>
                      </a: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6</a:t>
                      </a: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2</a:t>
                      </a: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mic Sans MS" panose="030F0702030302020204" pitchFamily="66" charset="0"/>
                        </a:rPr>
                        <a:t>3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2</a:t>
                      </a: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5</a:t>
                      </a: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5</a:t>
                      </a: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7</a:t>
                      </a: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9</a:t>
                      </a: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3553650"/>
                  </a:ext>
                </a:extLst>
              </a:tr>
              <a:tr h="5254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8</a:t>
                      </a:r>
                    </a:p>
                  </a:txBody>
                  <a:tcPr marL="90000" marR="90000" marT="46800" marB="46800" anchor="ctr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8</a:t>
                      </a: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7</a:t>
                      </a: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5</a:t>
                      </a: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3</a:t>
                      </a: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2</a:t>
                      </a:r>
                    </a:p>
                  </a:txBody>
                  <a:tcPr marL="90000" marR="90000" marT="46800" marB="46800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mic Sans MS" panose="030F0702030302020204" pitchFamily="66" charset="0"/>
                        </a:rPr>
                        <a:t>4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4</a:t>
                      </a: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4</a:t>
                      </a: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7</a:t>
                      </a: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0762711"/>
                  </a:ext>
                </a:extLst>
              </a:tr>
              <a:tr h="5254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0" marR="90000" marT="46800" marB="46800" anchor="ctr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9</a:t>
                      </a: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2</a:t>
                      </a: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mic Sans MS" panose="030F0702030302020204" pitchFamily="66" charset="0"/>
                        </a:rPr>
                        <a:t>5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2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7</a:t>
                      </a: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9</a:t>
                      </a: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3353549"/>
                  </a:ext>
                </a:extLst>
              </a:tr>
            </a:tbl>
          </a:graphicData>
        </a:graphic>
      </p:graphicFrame>
      <p:sp>
        <p:nvSpPr>
          <p:cNvPr id="10300" name="Text Box 133">
            <a:extLst>
              <a:ext uri="{FF2B5EF4-FFF2-40B4-BE49-F238E27FC236}">
                <a16:creationId xmlns:a16="http://schemas.microsoft.com/office/drawing/2014/main" id="{356453AC-9EA0-429D-84BE-101B0EF863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266700"/>
            <a:ext cx="1866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Males</a:t>
            </a:r>
          </a:p>
        </p:txBody>
      </p:sp>
      <p:sp>
        <p:nvSpPr>
          <p:cNvPr id="10301" name="Text Box 134">
            <a:extLst>
              <a:ext uri="{FF2B5EF4-FFF2-40B4-BE49-F238E27FC236}">
                <a16:creationId xmlns:a16="http://schemas.microsoft.com/office/drawing/2014/main" id="{4C119872-0E58-45CF-9DD7-B3978FD05F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2850" y="273050"/>
            <a:ext cx="1866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Females</a:t>
            </a:r>
          </a:p>
        </p:txBody>
      </p:sp>
      <p:sp>
        <p:nvSpPr>
          <p:cNvPr id="10302" name="Text Box 135">
            <a:extLst>
              <a:ext uri="{FF2B5EF4-FFF2-40B4-BE49-F238E27FC236}">
                <a16:creationId xmlns:a16="http://schemas.microsoft.com/office/drawing/2014/main" id="{D5B5D8DD-ABCC-429E-B351-669C20B9E9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6389" y="3021014"/>
            <a:ext cx="3716337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BFEC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505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Key   36 years = 3</a:t>
            </a:r>
            <a:r>
              <a:rPr kumimoji="0" lang="en-GB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505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  <a:sym typeface="Symbol" panose="05050102010706020507" pitchFamily="18" charset="2"/>
              </a:rPr>
              <a:t>6</a:t>
            </a:r>
            <a:endParaRPr kumimoji="0" lang="en-GB" altLang="en-US" sz="2400" b="0" i="0" u="none" strike="noStrike" kern="1200" cap="none" spc="0" normalizeH="0" baseline="0" noProof="0">
              <a:ln>
                <a:noFill/>
              </a:ln>
              <a:solidFill>
                <a:srgbClr val="FF5050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  <p:sp>
        <p:nvSpPr>
          <p:cNvPr id="10303" name="Text Box 141">
            <a:extLst>
              <a:ext uri="{FF2B5EF4-FFF2-40B4-BE49-F238E27FC236}">
                <a16:creationId xmlns:a16="http://schemas.microsoft.com/office/drawing/2014/main" id="{EFA44B05-A858-40F8-AD2E-41C4A6D829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367665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Compare the age of the males and females</a:t>
            </a:r>
          </a:p>
        </p:txBody>
      </p:sp>
      <p:graphicFrame>
        <p:nvGraphicFramePr>
          <p:cNvPr id="56488" name="Group 168">
            <a:extLst>
              <a:ext uri="{FF2B5EF4-FFF2-40B4-BE49-F238E27FC236}">
                <a16:creationId xmlns:a16="http://schemas.microsoft.com/office/drawing/2014/main" id="{CCCB11FB-E987-4EF3-8C16-B72B066EFD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716065"/>
              </p:ext>
            </p:extLst>
          </p:nvPr>
        </p:nvGraphicFramePr>
        <p:xfrm>
          <a:off x="2476500" y="4330701"/>
          <a:ext cx="6996112" cy="1952625"/>
        </p:xfrm>
        <a:graphic>
          <a:graphicData uri="http://schemas.openxmlformats.org/drawingml/2006/table">
            <a:tbl>
              <a:tblPr/>
              <a:tblGrid>
                <a:gridCol w="1749028">
                  <a:extLst>
                    <a:ext uri="{9D8B030D-6E8A-4147-A177-3AD203B41FA5}">
                      <a16:colId xmlns:a16="http://schemas.microsoft.com/office/drawing/2014/main" val="671067328"/>
                    </a:ext>
                  </a:extLst>
                </a:gridCol>
                <a:gridCol w="1749028">
                  <a:extLst>
                    <a:ext uri="{9D8B030D-6E8A-4147-A177-3AD203B41FA5}">
                      <a16:colId xmlns:a16="http://schemas.microsoft.com/office/drawing/2014/main" val="2895924203"/>
                    </a:ext>
                  </a:extLst>
                </a:gridCol>
                <a:gridCol w="1749028">
                  <a:extLst>
                    <a:ext uri="{9D8B030D-6E8A-4147-A177-3AD203B41FA5}">
                      <a16:colId xmlns:a16="http://schemas.microsoft.com/office/drawing/2014/main" val="1018428057"/>
                    </a:ext>
                  </a:extLst>
                </a:gridCol>
                <a:gridCol w="1749028">
                  <a:extLst>
                    <a:ext uri="{9D8B030D-6E8A-4147-A177-3AD203B41FA5}">
                      <a16:colId xmlns:a16="http://schemas.microsoft.com/office/drawing/2014/main" val="894828828"/>
                    </a:ext>
                  </a:extLst>
                </a:gridCol>
              </a:tblGrid>
              <a:tr h="6508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omic Sans MS" panose="030F0702030302020204" pitchFamily="66" charset="0"/>
                      </a:endParaRPr>
                    </a:p>
                  </a:txBody>
                  <a:tcPr marL="89990" marR="8999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Mode</a:t>
                      </a:r>
                    </a:p>
                  </a:txBody>
                  <a:tcPr marL="89990" marR="8999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Median</a:t>
                      </a:r>
                    </a:p>
                  </a:txBody>
                  <a:tcPr marL="89990" marR="8999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Range</a:t>
                      </a:r>
                    </a:p>
                  </a:txBody>
                  <a:tcPr marL="89990" marR="8999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6609065"/>
                  </a:ext>
                </a:extLst>
              </a:tr>
              <a:tr h="6508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Males</a:t>
                      </a:r>
                    </a:p>
                  </a:txBody>
                  <a:tcPr marL="89990" marR="8999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89990" marR="8999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89990" marR="8999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89990" marR="8999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1198214"/>
                  </a:ext>
                </a:extLst>
              </a:tr>
              <a:tr h="6508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Females</a:t>
                      </a:r>
                    </a:p>
                  </a:txBody>
                  <a:tcPr marL="89990" marR="8999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89990" marR="8999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89990" marR="8999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89990" marR="8999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7559132"/>
                  </a:ext>
                </a:extLst>
              </a:tr>
            </a:tbl>
          </a:graphicData>
        </a:graphic>
      </p:graphicFrame>
      <p:sp>
        <p:nvSpPr>
          <p:cNvPr id="10326" name="Text Box 135">
            <a:extLst>
              <a:ext uri="{FF2B5EF4-FFF2-40B4-BE49-F238E27FC236}">
                <a16:creationId xmlns:a16="http://schemas.microsoft.com/office/drawing/2014/main" id="{A14A1138-76A4-40F8-AA44-FCE79E3F03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9000" y="3067051"/>
            <a:ext cx="371633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BFEC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505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Key   36 years = 6</a:t>
            </a:r>
            <a:r>
              <a:rPr kumimoji="0" lang="en-GB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505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  <a:sym typeface="Symbol" panose="05050102010706020507" pitchFamily="18" charset="2"/>
              </a:rPr>
              <a:t>3</a:t>
            </a:r>
            <a:endParaRPr kumimoji="0" lang="en-GB" altLang="en-US" sz="2400" b="0" i="0" u="none" strike="noStrike" kern="1200" cap="none" spc="0" normalizeH="0" baseline="0" noProof="0">
              <a:ln>
                <a:noFill/>
              </a:ln>
              <a:solidFill>
                <a:srgbClr val="FF5050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  <p:sp>
        <p:nvSpPr>
          <p:cNvPr id="10327" name="Text Box 141">
            <a:extLst>
              <a:ext uri="{FF2B5EF4-FFF2-40B4-BE49-F238E27FC236}">
                <a16:creationId xmlns:a16="http://schemas.microsoft.com/office/drawing/2014/main" id="{9FEB79AD-9384-4250-A87F-EEC47EA7BC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2088" y="6400800"/>
            <a:ext cx="9144001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Write a sentence for each column.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23582E-2F50-4B5F-A8B4-E465BDED69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2750" y="5076826"/>
            <a:ext cx="18113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48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A800AE-E6CF-4FEB-BC89-03493A7F3F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2750" y="5734051"/>
            <a:ext cx="18113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35 and 44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31159B-AA17-4E03-8581-6C4A2F3EAF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2014" y="5078414"/>
            <a:ext cx="181133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43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AAAF37-B779-4EB8-81C5-283484FE3E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2014" y="5735638"/>
            <a:ext cx="18113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37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53F38F-EB1C-4D77-9CC4-52284EEF3B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6825" y="5076826"/>
            <a:ext cx="18113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36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CF187E-DF12-4E58-B6C1-15CA7B9A52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6825" y="5734051"/>
            <a:ext cx="18113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37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6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/>
      <p:bldP spid="12" grpId="0"/>
      <p:bldP spid="13" grpId="0"/>
      <p:bldP spid="14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Box 1">
            <a:extLst>
              <a:ext uri="{FF2B5EF4-FFF2-40B4-BE49-F238E27FC236}">
                <a16:creationId xmlns:a16="http://schemas.microsoft.com/office/drawing/2014/main" id="{ABD27A0B-CB2D-498C-A82C-E4C994EDBC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0"/>
            <a:ext cx="9144000" cy="440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Heights of students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Female Data: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142	144	147	151	152	156	157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157	160	165	168	169	175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Male data: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146	150	153	155	159	161	163	164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167	167	168	170	172	172	179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	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CE39E147-6319-4E7C-AC88-AC3EC0BD9F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6500" y="4073525"/>
            <a:ext cx="1866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Males</a:t>
            </a:r>
          </a:p>
        </p:txBody>
      </p:sp>
      <p:sp>
        <p:nvSpPr>
          <p:cNvPr id="5" name="Text Box 134">
            <a:extLst>
              <a:ext uri="{FF2B5EF4-FFF2-40B4-BE49-F238E27FC236}">
                <a16:creationId xmlns:a16="http://schemas.microsoft.com/office/drawing/2014/main" id="{E0001944-1214-42F0-957A-216B9AEC9B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1750" y="4079875"/>
            <a:ext cx="1866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Females</a:t>
            </a:r>
          </a:p>
        </p:txBody>
      </p:sp>
      <p:graphicFrame>
        <p:nvGraphicFramePr>
          <p:cNvPr id="6" name="Group 140">
            <a:extLst>
              <a:ext uri="{FF2B5EF4-FFF2-40B4-BE49-F238E27FC236}">
                <a16:creationId xmlns:a16="http://schemas.microsoft.com/office/drawing/2014/main" id="{9C5EC1EF-3DF0-47F0-A909-656BD63E7ED2}"/>
              </a:ext>
            </a:extLst>
          </p:cNvPr>
          <p:cNvGraphicFramePr>
            <a:graphicFrameLocks noGrp="1"/>
          </p:cNvGraphicFramePr>
          <p:nvPr/>
        </p:nvGraphicFramePr>
        <p:xfrm>
          <a:off x="2379664" y="4492625"/>
          <a:ext cx="7432677" cy="2101852"/>
        </p:xfrm>
        <a:graphic>
          <a:graphicData uri="http://schemas.openxmlformats.org/drawingml/2006/table">
            <a:tbl>
              <a:tblPr/>
              <a:tblGrid>
                <a:gridCol w="517188">
                  <a:extLst>
                    <a:ext uri="{9D8B030D-6E8A-4147-A177-3AD203B41FA5}">
                      <a16:colId xmlns:a16="http://schemas.microsoft.com/office/drawing/2014/main" val="3881267034"/>
                    </a:ext>
                  </a:extLst>
                </a:gridCol>
                <a:gridCol w="517188">
                  <a:extLst>
                    <a:ext uri="{9D8B030D-6E8A-4147-A177-3AD203B41FA5}">
                      <a16:colId xmlns:a16="http://schemas.microsoft.com/office/drawing/2014/main" val="3867565214"/>
                    </a:ext>
                  </a:extLst>
                </a:gridCol>
                <a:gridCol w="517188">
                  <a:extLst>
                    <a:ext uri="{9D8B030D-6E8A-4147-A177-3AD203B41FA5}">
                      <a16:colId xmlns:a16="http://schemas.microsoft.com/office/drawing/2014/main" val="1161613390"/>
                    </a:ext>
                  </a:extLst>
                </a:gridCol>
                <a:gridCol w="517188">
                  <a:extLst>
                    <a:ext uri="{9D8B030D-6E8A-4147-A177-3AD203B41FA5}">
                      <a16:colId xmlns:a16="http://schemas.microsoft.com/office/drawing/2014/main" val="2798073878"/>
                    </a:ext>
                  </a:extLst>
                </a:gridCol>
                <a:gridCol w="517188">
                  <a:extLst>
                    <a:ext uri="{9D8B030D-6E8A-4147-A177-3AD203B41FA5}">
                      <a16:colId xmlns:a16="http://schemas.microsoft.com/office/drawing/2014/main" val="2465513999"/>
                    </a:ext>
                  </a:extLst>
                </a:gridCol>
                <a:gridCol w="517188">
                  <a:extLst>
                    <a:ext uri="{9D8B030D-6E8A-4147-A177-3AD203B41FA5}">
                      <a16:colId xmlns:a16="http://schemas.microsoft.com/office/drawing/2014/main" val="1876826981"/>
                    </a:ext>
                  </a:extLst>
                </a:gridCol>
                <a:gridCol w="901763">
                  <a:extLst>
                    <a:ext uri="{9D8B030D-6E8A-4147-A177-3AD203B41FA5}">
                      <a16:colId xmlns:a16="http://schemas.microsoft.com/office/drawing/2014/main" val="632407020"/>
                    </a:ext>
                  </a:extLst>
                </a:gridCol>
                <a:gridCol w="570468">
                  <a:extLst>
                    <a:ext uri="{9D8B030D-6E8A-4147-A177-3AD203B41FA5}">
                      <a16:colId xmlns:a16="http://schemas.microsoft.com/office/drawing/2014/main" val="2133214200"/>
                    </a:ext>
                  </a:extLst>
                </a:gridCol>
                <a:gridCol w="572127">
                  <a:extLst>
                    <a:ext uri="{9D8B030D-6E8A-4147-A177-3AD203B41FA5}">
                      <a16:colId xmlns:a16="http://schemas.microsoft.com/office/drawing/2014/main" val="3785262967"/>
                    </a:ext>
                  </a:extLst>
                </a:gridCol>
                <a:gridCol w="570468">
                  <a:extLst>
                    <a:ext uri="{9D8B030D-6E8A-4147-A177-3AD203B41FA5}">
                      <a16:colId xmlns:a16="http://schemas.microsoft.com/office/drawing/2014/main" val="2853893624"/>
                    </a:ext>
                  </a:extLst>
                </a:gridCol>
                <a:gridCol w="572128">
                  <a:extLst>
                    <a:ext uri="{9D8B030D-6E8A-4147-A177-3AD203B41FA5}">
                      <a16:colId xmlns:a16="http://schemas.microsoft.com/office/drawing/2014/main" val="3225025242"/>
                    </a:ext>
                  </a:extLst>
                </a:gridCol>
                <a:gridCol w="570468">
                  <a:extLst>
                    <a:ext uri="{9D8B030D-6E8A-4147-A177-3AD203B41FA5}">
                      <a16:colId xmlns:a16="http://schemas.microsoft.com/office/drawing/2014/main" val="1238996943"/>
                    </a:ext>
                  </a:extLst>
                </a:gridCol>
                <a:gridCol w="572127">
                  <a:extLst>
                    <a:ext uri="{9D8B030D-6E8A-4147-A177-3AD203B41FA5}">
                      <a16:colId xmlns:a16="http://schemas.microsoft.com/office/drawing/2014/main" val="1113551892"/>
                    </a:ext>
                  </a:extLst>
                </a:gridCol>
              </a:tblGrid>
              <a:tr h="5254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89990" marR="89990" marT="46800" marB="4680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89990" marR="89990" marT="46800" marB="4680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89990" marR="89990" marT="46800" marB="4680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89990" marR="89990" marT="46800" marB="4680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89990" marR="89990" marT="46800" marB="4680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89990" marR="89990" marT="46800" marB="46800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mic Sans MS" panose="030F0702030302020204" pitchFamily="66" charset="0"/>
                        </a:rPr>
                        <a:t>14</a:t>
                      </a:r>
                    </a:p>
                  </a:txBody>
                  <a:tcPr marL="89990" marR="8999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89990" marR="8999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89990" marR="89990" marT="46800" marB="4680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89990" marR="89990" marT="46800" marB="4680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89990" marR="89990" marT="46800" marB="4680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89990" marR="89990" marT="46800" marB="4680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89990" marR="89990" marT="46800" marB="4680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4977463"/>
                  </a:ext>
                </a:extLst>
              </a:tr>
              <a:tr h="5254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89990" marR="89990" marT="46800" marB="46800" anchor="ctr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89990" marR="89990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89990" marR="89990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89990" marR="89990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89990" marR="89990" marT="46800" marB="46800"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89990" marR="89990" marT="46800" marB="46800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mic Sans MS" panose="030F0702030302020204" pitchFamily="66" charset="0"/>
                        </a:rPr>
                        <a:t>15</a:t>
                      </a:r>
                    </a:p>
                  </a:txBody>
                  <a:tcPr marL="89990" marR="8999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89990" marR="8999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89990" marR="89990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89990" marR="89990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89990" marR="89990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89990" marR="89990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89990" marR="89990" marT="46800" marB="46800"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3553650"/>
                  </a:ext>
                </a:extLst>
              </a:tr>
              <a:tr h="5254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89990" marR="89990" marT="46800" marB="46800" anchor="ctr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89990" marR="89990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89990" marR="89990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89990" marR="89990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89990" marR="89990" marT="46800" marB="46800"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89990" marR="89990" marT="46800" marB="46800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mic Sans MS" panose="030F0702030302020204" pitchFamily="66" charset="0"/>
                        </a:rPr>
                        <a:t>16</a:t>
                      </a:r>
                    </a:p>
                  </a:txBody>
                  <a:tcPr marL="89990" marR="8999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89990" marR="8999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89990" marR="89990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89990" marR="89990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89990" marR="89990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89990" marR="89990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89990" marR="89990" marT="46800" marB="46800"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0762711"/>
                  </a:ext>
                </a:extLst>
              </a:tr>
              <a:tr h="525463"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89990" marR="89990" marT="46800" marB="46800" anchor="ctr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89990" marR="89990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89990" marR="89990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89990" marR="89990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89990" marR="89990" marT="46800" marB="46800"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89990" marR="89990" marT="46800" marB="46800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mic Sans MS" panose="030F0702030302020204" pitchFamily="66" charset="0"/>
                        </a:rPr>
                        <a:t>17</a:t>
                      </a:r>
                    </a:p>
                  </a:txBody>
                  <a:tcPr marL="89990" marR="8999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89990" marR="8999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89990" marR="89990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89990" marR="89990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89990" marR="89990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89990" marR="89990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89990" marR="89990" marT="46800" marB="46800"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3353549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460" name="Group 140">
            <a:extLst>
              <a:ext uri="{FF2B5EF4-FFF2-40B4-BE49-F238E27FC236}">
                <a16:creationId xmlns:a16="http://schemas.microsoft.com/office/drawing/2014/main" id="{E0E562C5-B2F8-40FB-8A40-50463E85DA63}"/>
              </a:ext>
            </a:extLst>
          </p:cNvPr>
          <p:cNvGraphicFramePr>
            <a:graphicFrameLocks noGrp="1"/>
          </p:cNvGraphicFramePr>
          <p:nvPr/>
        </p:nvGraphicFramePr>
        <p:xfrm>
          <a:off x="2157413" y="939800"/>
          <a:ext cx="7434262" cy="2101852"/>
        </p:xfrm>
        <a:graphic>
          <a:graphicData uri="http://schemas.openxmlformats.org/drawingml/2006/table">
            <a:tbl>
              <a:tblPr/>
              <a:tblGrid>
                <a:gridCol w="517298">
                  <a:extLst>
                    <a:ext uri="{9D8B030D-6E8A-4147-A177-3AD203B41FA5}">
                      <a16:colId xmlns:a16="http://schemas.microsoft.com/office/drawing/2014/main" val="3881267034"/>
                    </a:ext>
                  </a:extLst>
                </a:gridCol>
                <a:gridCol w="517298">
                  <a:extLst>
                    <a:ext uri="{9D8B030D-6E8A-4147-A177-3AD203B41FA5}">
                      <a16:colId xmlns:a16="http://schemas.microsoft.com/office/drawing/2014/main" val="3867565214"/>
                    </a:ext>
                  </a:extLst>
                </a:gridCol>
                <a:gridCol w="517298">
                  <a:extLst>
                    <a:ext uri="{9D8B030D-6E8A-4147-A177-3AD203B41FA5}">
                      <a16:colId xmlns:a16="http://schemas.microsoft.com/office/drawing/2014/main" val="1161613390"/>
                    </a:ext>
                  </a:extLst>
                </a:gridCol>
                <a:gridCol w="517298">
                  <a:extLst>
                    <a:ext uri="{9D8B030D-6E8A-4147-A177-3AD203B41FA5}">
                      <a16:colId xmlns:a16="http://schemas.microsoft.com/office/drawing/2014/main" val="2798073878"/>
                    </a:ext>
                  </a:extLst>
                </a:gridCol>
                <a:gridCol w="517298">
                  <a:extLst>
                    <a:ext uri="{9D8B030D-6E8A-4147-A177-3AD203B41FA5}">
                      <a16:colId xmlns:a16="http://schemas.microsoft.com/office/drawing/2014/main" val="2465513999"/>
                    </a:ext>
                  </a:extLst>
                </a:gridCol>
                <a:gridCol w="517298">
                  <a:extLst>
                    <a:ext uri="{9D8B030D-6E8A-4147-A177-3AD203B41FA5}">
                      <a16:colId xmlns:a16="http://schemas.microsoft.com/office/drawing/2014/main" val="1876826981"/>
                    </a:ext>
                  </a:extLst>
                </a:gridCol>
                <a:gridCol w="901956">
                  <a:extLst>
                    <a:ext uri="{9D8B030D-6E8A-4147-A177-3AD203B41FA5}">
                      <a16:colId xmlns:a16="http://schemas.microsoft.com/office/drawing/2014/main" val="632407020"/>
                    </a:ext>
                  </a:extLst>
                </a:gridCol>
                <a:gridCol w="570590">
                  <a:extLst>
                    <a:ext uri="{9D8B030D-6E8A-4147-A177-3AD203B41FA5}">
                      <a16:colId xmlns:a16="http://schemas.microsoft.com/office/drawing/2014/main" val="2133214200"/>
                    </a:ext>
                  </a:extLst>
                </a:gridCol>
                <a:gridCol w="572249">
                  <a:extLst>
                    <a:ext uri="{9D8B030D-6E8A-4147-A177-3AD203B41FA5}">
                      <a16:colId xmlns:a16="http://schemas.microsoft.com/office/drawing/2014/main" val="3785262967"/>
                    </a:ext>
                  </a:extLst>
                </a:gridCol>
                <a:gridCol w="570590">
                  <a:extLst>
                    <a:ext uri="{9D8B030D-6E8A-4147-A177-3AD203B41FA5}">
                      <a16:colId xmlns:a16="http://schemas.microsoft.com/office/drawing/2014/main" val="2853893624"/>
                    </a:ext>
                  </a:extLst>
                </a:gridCol>
                <a:gridCol w="572250">
                  <a:extLst>
                    <a:ext uri="{9D8B030D-6E8A-4147-A177-3AD203B41FA5}">
                      <a16:colId xmlns:a16="http://schemas.microsoft.com/office/drawing/2014/main" val="3225025242"/>
                    </a:ext>
                  </a:extLst>
                </a:gridCol>
                <a:gridCol w="570590">
                  <a:extLst>
                    <a:ext uri="{9D8B030D-6E8A-4147-A177-3AD203B41FA5}">
                      <a16:colId xmlns:a16="http://schemas.microsoft.com/office/drawing/2014/main" val="1238996943"/>
                    </a:ext>
                  </a:extLst>
                </a:gridCol>
                <a:gridCol w="572249">
                  <a:extLst>
                    <a:ext uri="{9D8B030D-6E8A-4147-A177-3AD203B41FA5}">
                      <a16:colId xmlns:a16="http://schemas.microsoft.com/office/drawing/2014/main" val="1113551892"/>
                    </a:ext>
                  </a:extLst>
                </a:gridCol>
              </a:tblGrid>
              <a:tr h="5254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9" marR="90009" marT="46800" marB="4680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9" marR="90009" marT="46800" marB="4680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9" marR="90009" marT="46800" marB="4680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9" marR="90009" marT="46800" marB="4680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9" marR="90009" marT="46800" marB="4680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6</a:t>
                      </a:r>
                    </a:p>
                  </a:txBody>
                  <a:tcPr marL="90009" marR="90009" marT="46800" marB="46800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mic Sans MS" panose="030F0702030302020204" pitchFamily="66" charset="0"/>
                        </a:rPr>
                        <a:t>14</a:t>
                      </a:r>
                    </a:p>
                  </a:txBody>
                  <a:tcPr marL="90009" marR="90009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2</a:t>
                      </a:r>
                    </a:p>
                  </a:txBody>
                  <a:tcPr marL="90009" marR="90009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4</a:t>
                      </a:r>
                    </a:p>
                  </a:txBody>
                  <a:tcPr marL="90009" marR="90009" marT="46800" marB="4680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7</a:t>
                      </a:r>
                    </a:p>
                  </a:txBody>
                  <a:tcPr marL="90009" marR="90009" marT="46800" marB="4680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9" marR="90009" marT="46800" marB="4680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9" marR="90009" marT="46800" marB="4680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9" marR="90009" marT="46800" marB="4680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4977463"/>
                  </a:ext>
                </a:extLst>
              </a:tr>
              <a:tr h="5254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9" marR="90009" marT="46800" marB="46800" anchor="ctr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9" marR="90009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9</a:t>
                      </a:r>
                    </a:p>
                  </a:txBody>
                  <a:tcPr marL="90009" marR="90009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5</a:t>
                      </a:r>
                    </a:p>
                  </a:txBody>
                  <a:tcPr marL="90009" marR="90009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3</a:t>
                      </a:r>
                    </a:p>
                  </a:txBody>
                  <a:tcPr marL="90009" marR="90009" marT="46800" marB="46800"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0</a:t>
                      </a:r>
                    </a:p>
                  </a:txBody>
                  <a:tcPr marL="90009" marR="90009" marT="46800" marB="46800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mic Sans MS" panose="030F0702030302020204" pitchFamily="66" charset="0"/>
                        </a:rPr>
                        <a:t>15</a:t>
                      </a:r>
                    </a:p>
                  </a:txBody>
                  <a:tcPr marL="90009" marR="90009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1</a:t>
                      </a:r>
                    </a:p>
                  </a:txBody>
                  <a:tcPr marL="90009" marR="90009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2</a:t>
                      </a:r>
                    </a:p>
                  </a:txBody>
                  <a:tcPr marL="90009" marR="90009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6</a:t>
                      </a:r>
                    </a:p>
                  </a:txBody>
                  <a:tcPr marL="90009" marR="90009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7</a:t>
                      </a:r>
                    </a:p>
                  </a:txBody>
                  <a:tcPr marL="90009" marR="90009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7</a:t>
                      </a:r>
                    </a:p>
                  </a:txBody>
                  <a:tcPr marL="90009" marR="90009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9" marR="90009" marT="46800" marB="46800"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3553650"/>
                  </a:ext>
                </a:extLst>
              </a:tr>
              <a:tr h="5254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8</a:t>
                      </a:r>
                    </a:p>
                  </a:txBody>
                  <a:tcPr marL="90009" marR="90009" marT="46800" marB="46800" anchor="ctr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7</a:t>
                      </a:r>
                    </a:p>
                  </a:txBody>
                  <a:tcPr marL="90009" marR="90009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7</a:t>
                      </a:r>
                    </a:p>
                  </a:txBody>
                  <a:tcPr marL="90009" marR="90009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4</a:t>
                      </a:r>
                    </a:p>
                  </a:txBody>
                  <a:tcPr marL="90009" marR="90009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3</a:t>
                      </a:r>
                    </a:p>
                  </a:txBody>
                  <a:tcPr marL="90009" marR="90009" marT="46800" marB="46800"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1</a:t>
                      </a:r>
                    </a:p>
                  </a:txBody>
                  <a:tcPr marL="90009" marR="90009" marT="46800" marB="46800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mic Sans MS" panose="030F0702030302020204" pitchFamily="66" charset="0"/>
                        </a:rPr>
                        <a:t>16</a:t>
                      </a:r>
                    </a:p>
                  </a:txBody>
                  <a:tcPr marL="90009" marR="90009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0</a:t>
                      </a:r>
                    </a:p>
                  </a:txBody>
                  <a:tcPr marL="90009" marR="90009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5</a:t>
                      </a:r>
                    </a:p>
                  </a:txBody>
                  <a:tcPr marL="90009" marR="90009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8</a:t>
                      </a:r>
                    </a:p>
                  </a:txBody>
                  <a:tcPr marL="90009" marR="90009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9</a:t>
                      </a:r>
                    </a:p>
                  </a:txBody>
                  <a:tcPr marL="90009" marR="90009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9" marR="90009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9" marR="90009" marT="46800" marB="46800"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0762711"/>
                  </a:ext>
                </a:extLst>
              </a:tr>
              <a:tr h="525463"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0009" marR="90009" marT="46800" marB="46800" anchor="ctr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9" marR="90009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9</a:t>
                      </a:r>
                    </a:p>
                  </a:txBody>
                  <a:tcPr marL="90009" marR="90009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2</a:t>
                      </a:r>
                    </a:p>
                  </a:txBody>
                  <a:tcPr marL="90009" marR="90009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2</a:t>
                      </a:r>
                    </a:p>
                  </a:txBody>
                  <a:tcPr marL="90009" marR="90009" marT="46800" marB="46800"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0</a:t>
                      </a:r>
                    </a:p>
                  </a:txBody>
                  <a:tcPr marL="90009" marR="90009" marT="46800" marB="46800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mic Sans MS" panose="030F0702030302020204" pitchFamily="66" charset="0"/>
                        </a:rPr>
                        <a:t>17</a:t>
                      </a:r>
                    </a:p>
                  </a:txBody>
                  <a:tcPr marL="90009" marR="90009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5</a:t>
                      </a:r>
                    </a:p>
                  </a:txBody>
                  <a:tcPr marL="90009" marR="90009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9" marR="90009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9" marR="90009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9" marR="90009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9" marR="90009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9" marR="90009" marT="46800" marB="46800"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3353549"/>
                  </a:ext>
                </a:extLst>
              </a:tr>
            </a:tbl>
          </a:graphicData>
        </a:graphic>
      </p:graphicFrame>
      <p:sp>
        <p:nvSpPr>
          <p:cNvPr id="13372" name="Text Box 133">
            <a:extLst>
              <a:ext uri="{FF2B5EF4-FFF2-40B4-BE49-F238E27FC236}">
                <a16:creationId xmlns:a16="http://schemas.microsoft.com/office/drawing/2014/main" id="{BCB2C892-C538-42B2-A8B5-EC48A039BB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266700"/>
            <a:ext cx="1866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Males</a:t>
            </a:r>
          </a:p>
        </p:txBody>
      </p:sp>
      <p:sp>
        <p:nvSpPr>
          <p:cNvPr id="13373" name="Text Box 134">
            <a:extLst>
              <a:ext uri="{FF2B5EF4-FFF2-40B4-BE49-F238E27FC236}">
                <a16:creationId xmlns:a16="http://schemas.microsoft.com/office/drawing/2014/main" id="{EF73ECB5-0FD8-4546-B228-291F22EE2F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2850" y="273050"/>
            <a:ext cx="1866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Females</a:t>
            </a:r>
          </a:p>
        </p:txBody>
      </p:sp>
      <p:sp>
        <p:nvSpPr>
          <p:cNvPr id="13374" name="Text Box 135">
            <a:extLst>
              <a:ext uri="{FF2B5EF4-FFF2-40B4-BE49-F238E27FC236}">
                <a16:creationId xmlns:a16="http://schemas.microsoft.com/office/drawing/2014/main" id="{5BA6BCE6-F740-4A03-B2C1-6B6E0D6B7F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9300" y="3208338"/>
            <a:ext cx="3568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BFEC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505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Key   146 cm  = 14</a:t>
            </a:r>
            <a:r>
              <a:rPr kumimoji="0" lang="en-GB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505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  <a:sym typeface="Symbol" panose="05050102010706020507" pitchFamily="18" charset="2"/>
              </a:rPr>
              <a:t>6</a:t>
            </a:r>
            <a:endParaRPr kumimoji="0" lang="en-GB" altLang="en-US" sz="2400" b="0" i="0" u="none" strike="noStrike" kern="1200" cap="none" spc="0" normalizeH="0" baseline="0" noProof="0">
              <a:ln>
                <a:noFill/>
              </a:ln>
              <a:solidFill>
                <a:srgbClr val="FF5050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  <p:sp>
        <p:nvSpPr>
          <p:cNvPr id="13375" name="Text Box 141">
            <a:extLst>
              <a:ext uri="{FF2B5EF4-FFF2-40B4-BE49-F238E27FC236}">
                <a16:creationId xmlns:a16="http://schemas.microsoft.com/office/drawing/2014/main" id="{EAC16E62-2BED-4165-B7C9-DB465E8CD6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3676650"/>
            <a:ext cx="830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Compare the heights of the males and females</a:t>
            </a:r>
          </a:p>
        </p:txBody>
      </p:sp>
      <p:graphicFrame>
        <p:nvGraphicFramePr>
          <p:cNvPr id="56488" name="Group 168">
            <a:extLst>
              <a:ext uri="{FF2B5EF4-FFF2-40B4-BE49-F238E27FC236}">
                <a16:creationId xmlns:a16="http://schemas.microsoft.com/office/drawing/2014/main" id="{1BBBE63C-20B4-45EC-BB70-B166388DEA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2639821"/>
              </p:ext>
            </p:extLst>
          </p:nvPr>
        </p:nvGraphicFramePr>
        <p:xfrm>
          <a:off x="2362200" y="4330701"/>
          <a:ext cx="7421564" cy="1952625"/>
        </p:xfrm>
        <a:graphic>
          <a:graphicData uri="http://schemas.openxmlformats.org/drawingml/2006/table">
            <a:tbl>
              <a:tblPr/>
              <a:tblGrid>
                <a:gridCol w="1855391">
                  <a:extLst>
                    <a:ext uri="{9D8B030D-6E8A-4147-A177-3AD203B41FA5}">
                      <a16:colId xmlns:a16="http://schemas.microsoft.com/office/drawing/2014/main" val="671067328"/>
                    </a:ext>
                  </a:extLst>
                </a:gridCol>
                <a:gridCol w="1855391">
                  <a:extLst>
                    <a:ext uri="{9D8B030D-6E8A-4147-A177-3AD203B41FA5}">
                      <a16:colId xmlns:a16="http://schemas.microsoft.com/office/drawing/2014/main" val="2895924203"/>
                    </a:ext>
                  </a:extLst>
                </a:gridCol>
                <a:gridCol w="1855391">
                  <a:extLst>
                    <a:ext uri="{9D8B030D-6E8A-4147-A177-3AD203B41FA5}">
                      <a16:colId xmlns:a16="http://schemas.microsoft.com/office/drawing/2014/main" val="1018428057"/>
                    </a:ext>
                  </a:extLst>
                </a:gridCol>
                <a:gridCol w="1855391">
                  <a:extLst>
                    <a:ext uri="{9D8B030D-6E8A-4147-A177-3AD203B41FA5}">
                      <a16:colId xmlns:a16="http://schemas.microsoft.com/office/drawing/2014/main" val="894828828"/>
                    </a:ext>
                  </a:extLst>
                </a:gridCol>
              </a:tblGrid>
              <a:tr h="6508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omic Sans MS" panose="030F0702030302020204" pitchFamily="66" charset="0"/>
                      </a:endParaRPr>
                    </a:p>
                  </a:txBody>
                  <a:tcPr marL="90008" marR="90008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Mode</a:t>
                      </a:r>
                    </a:p>
                  </a:txBody>
                  <a:tcPr marL="90008" marR="90008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Median</a:t>
                      </a:r>
                    </a:p>
                  </a:txBody>
                  <a:tcPr marL="90008" marR="90008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Range</a:t>
                      </a:r>
                    </a:p>
                  </a:txBody>
                  <a:tcPr marL="90008" marR="90008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6609065"/>
                  </a:ext>
                </a:extLst>
              </a:tr>
              <a:tr h="6508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Males</a:t>
                      </a:r>
                    </a:p>
                  </a:txBody>
                  <a:tcPr marL="90008" marR="90008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8" marR="90008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8" marR="90008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8" marR="90008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1198214"/>
                  </a:ext>
                </a:extLst>
              </a:tr>
              <a:tr h="6508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Females</a:t>
                      </a:r>
                    </a:p>
                  </a:txBody>
                  <a:tcPr marL="90008" marR="90008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8" marR="90008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8" marR="90008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8" marR="90008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7559132"/>
                  </a:ext>
                </a:extLst>
              </a:tr>
            </a:tbl>
          </a:graphicData>
        </a:graphic>
      </p:graphicFrame>
      <p:sp>
        <p:nvSpPr>
          <p:cNvPr id="13398" name="Text Box 135">
            <a:extLst>
              <a:ext uri="{FF2B5EF4-FFF2-40B4-BE49-F238E27FC236}">
                <a16:creationId xmlns:a16="http://schemas.microsoft.com/office/drawing/2014/main" id="{7A44EC09-D70E-4E0E-891E-51D3DB8AF7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5800" y="3208338"/>
            <a:ext cx="3568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BFEC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505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Key   146 cm  = 6</a:t>
            </a:r>
            <a:r>
              <a:rPr kumimoji="0" lang="en-GB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505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  <a:sym typeface="Symbol" panose="05050102010706020507" pitchFamily="18" charset="2"/>
              </a:rPr>
              <a:t>14</a:t>
            </a:r>
            <a:endParaRPr kumimoji="0" lang="en-GB" altLang="en-US" sz="2400" b="0" i="0" u="none" strike="noStrike" kern="1200" cap="none" spc="0" normalizeH="0" baseline="0" noProof="0">
              <a:ln>
                <a:noFill/>
              </a:ln>
              <a:solidFill>
                <a:srgbClr val="FF5050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  <p:sp>
        <p:nvSpPr>
          <p:cNvPr id="13399" name="Text Box 141">
            <a:extLst>
              <a:ext uri="{FF2B5EF4-FFF2-40B4-BE49-F238E27FC236}">
                <a16:creationId xmlns:a16="http://schemas.microsoft.com/office/drawing/2014/main" id="{31FF8D19-AD51-4E59-A11E-B7EC3D1A95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2088" y="6400800"/>
            <a:ext cx="9144001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Write a sentence for each column.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F600CF-94FB-4008-85B0-1412535C27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2750" y="5076826"/>
            <a:ext cx="18113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167and 157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10573C-CFC6-492B-A0C8-848B960BE7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2750" y="5734051"/>
            <a:ext cx="18113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157 cm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62655C-9320-426D-B6A5-6B490F2BBB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1075" y="5078414"/>
            <a:ext cx="18113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164 cm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CBC01A-7110-47E2-95DB-C79ED4F7B6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1075" y="5735638"/>
            <a:ext cx="18113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157 cm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754D8E-F76F-4E4A-A18A-FF81B4026C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2100" y="5076826"/>
            <a:ext cx="18097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33 cm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782E3D-533E-4770-A078-41A3DD3959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2100" y="5734051"/>
            <a:ext cx="18097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33 cm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6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540E3953-E0EB-4874-B015-E76FB4460B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9688" y="1"/>
            <a:ext cx="300831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</a:tabLst>
              <a:defRPr/>
            </a:pPr>
            <a:r>
              <a:rPr kumimoji="0" lang="en-GB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Times New Roman" panose="02020603050405020304" pitchFamily="18" charset="0"/>
                <a:cs typeface="Arial" panose="020B0604020202020204" pitchFamily="34" charset="0"/>
              </a:rPr>
              <a:t>Key:</a:t>
            </a:r>
            <a:endParaRPr kumimoji="0" lang="en-GB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</a:tabLst>
              <a:defRPr/>
            </a:pPr>
            <a:r>
              <a:rPr kumimoji="0" lang="en-GB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Times New Roman" panose="02020603050405020304" pitchFamily="18" charset="0"/>
                <a:cs typeface="Arial" panose="020B0604020202020204" pitchFamily="34" charset="0"/>
              </a:rPr>
              <a:t>   2  |  3 means 23 mph 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9BBDE62-DDCC-4964-8222-771F4BF943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001964"/>
            <a:ext cx="9144000" cy="1201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</a:tabLst>
              <a:defRPr/>
            </a:pPr>
            <a:r>
              <a:rPr kumimoji="0" lang="en-GB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Times New Roman" panose="02020603050405020304" pitchFamily="18" charset="0"/>
                <a:cs typeface="Arial" panose="020B0604020202020204" pitchFamily="34" charset="0"/>
              </a:rPr>
              <a:t>The above presented data is the speed of cars on two different roads.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</a:tabLst>
              <a:defRPr/>
            </a:pPr>
            <a:r>
              <a:rPr kumimoji="0" lang="en-GB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Times New Roman" panose="02020603050405020304" pitchFamily="18" charset="0"/>
                <a:cs typeface="Arial" panose="020B0604020202020204" pitchFamily="34" charset="0"/>
              </a:rPr>
              <a:t>Complete the following table</a:t>
            </a:r>
          </a:p>
        </p:txBody>
      </p:sp>
      <p:sp>
        <p:nvSpPr>
          <p:cNvPr id="15364" name="Rectangle 2">
            <a:extLst>
              <a:ext uri="{FF2B5EF4-FFF2-40B4-BE49-F238E27FC236}">
                <a16:creationId xmlns:a16="http://schemas.microsoft.com/office/drawing/2014/main" id="{A2D429BD-3263-431F-B7DB-3618E41C58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1"/>
            <a:ext cx="300831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</a:tabLst>
              <a:defRPr/>
            </a:pPr>
            <a:r>
              <a:rPr kumimoji="0" lang="en-GB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Times New Roman" panose="02020603050405020304" pitchFamily="18" charset="0"/>
                <a:cs typeface="Arial" panose="020B0604020202020204" pitchFamily="34" charset="0"/>
              </a:rPr>
              <a:t>Key:</a:t>
            </a:r>
            <a:endParaRPr kumimoji="0" lang="en-GB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</a:tabLst>
              <a:defRPr/>
            </a:pPr>
            <a:r>
              <a:rPr kumimoji="0" lang="en-GB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Times New Roman" panose="02020603050405020304" pitchFamily="18" charset="0"/>
                <a:cs typeface="Arial" panose="020B0604020202020204" pitchFamily="34" charset="0"/>
              </a:rPr>
              <a:t>   3  |  2 means 23 mph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2233497-5EA5-461B-812A-89402E917671}"/>
              </a:ext>
            </a:extLst>
          </p:cNvPr>
          <p:cNvGraphicFramePr>
            <a:graphicFrameLocks noGrp="1"/>
          </p:cNvGraphicFramePr>
          <p:nvPr/>
        </p:nvGraphicFramePr>
        <p:xfrm>
          <a:off x="1760538" y="915988"/>
          <a:ext cx="8907456" cy="18780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968">
                  <a:extLst>
                    <a:ext uri="{9D8B030D-6E8A-4147-A177-3AD203B41FA5}">
                      <a16:colId xmlns:a16="http://schemas.microsoft.com/office/drawing/2014/main" val="2207488568"/>
                    </a:ext>
                  </a:extLst>
                </a:gridCol>
                <a:gridCol w="523968">
                  <a:extLst>
                    <a:ext uri="{9D8B030D-6E8A-4147-A177-3AD203B41FA5}">
                      <a16:colId xmlns:a16="http://schemas.microsoft.com/office/drawing/2014/main" val="2582859816"/>
                    </a:ext>
                  </a:extLst>
                </a:gridCol>
                <a:gridCol w="523968">
                  <a:extLst>
                    <a:ext uri="{9D8B030D-6E8A-4147-A177-3AD203B41FA5}">
                      <a16:colId xmlns:a16="http://schemas.microsoft.com/office/drawing/2014/main" val="2622485264"/>
                    </a:ext>
                  </a:extLst>
                </a:gridCol>
                <a:gridCol w="523968">
                  <a:extLst>
                    <a:ext uri="{9D8B030D-6E8A-4147-A177-3AD203B41FA5}">
                      <a16:colId xmlns:a16="http://schemas.microsoft.com/office/drawing/2014/main" val="2329419850"/>
                    </a:ext>
                  </a:extLst>
                </a:gridCol>
                <a:gridCol w="523968">
                  <a:extLst>
                    <a:ext uri="{9D8B030D-6E8A-4147-A177-3AD203B41FA5}">
                      <a16:colId xmlns:a16="http://schemas.microsoft.com/office/drawing/2014/main" val="2579165491"/>
                    </a:ext>
                  </a:extLst>
                </a:gridCol>
                <a:gridCol w="523968">
                  <a:extLst>
                    <a:ext uri="{9D8B030D-6E8A-4147-A177-3AD203B41FA5}">
                      <a16:colId xmlns:a16="http://schemas.microsoft.com/office/drawing/2014/main" val="3544615164"/>
                    </a:ext>
                  </a:extLst>
                </a:gridCol>
                <a:gridCol w="523968">
                  <a:extLst>
                    <a:ext uri="{9D8B030D-6E8A-4147-A177-3AD203B41FA5}">
                      <a16:colId xmlns:a16="http://schemas.microsoft.com/office/drawing/2014/main" val="228020728"/>
                    </a:ext>
                  </a:extLst>
                </a:gridCol>
                <a:gridCol w="523968">
                  <a:extLst>
                    <a:ext uri="{9D8B030D-6E8A-4147-A177-3AD203B41FA5}">
                      <a16:colId xmlns:a16="http://schemas.microsoft.com/office/drawing/2014/main" val="1729320521"/>
                    </a:ext>
                  </a:extLst>
                </a:gridCol>
                <a:gridCol w="523968">
                  <a:extLst>
                    <a:ext uri="{9D8B030D-6E8A-4147-A177-3AD203B41FA5}">
                      <a16:colId xmlns:a16="http://schemas.microsoft.com/office/drawing/2014/main" val="823957668"/>
                    </a:ext>
                  </a:extLst>
                </a:gridCol>
                <a:gridCol w="523968">
                  <a:extLst>
                    <a:ext uri="{9D8B030D-6E8A-4147-A177-3AD203B41FA5}">
                      <a16:colId xmlns:a16="http://schemas.microsoft.com/office/drawing/2014/main" val="3006920394"/>
                    </a:ext>
                  </a:extLst>
                </a:gridCol>
                <a:gridCol w="523968">
                  <a:extLst>
                    <a:ext uri="{9D8B030D-6E8A-4147-A177-3AD203B41FA5}">
                      <a16:colId xmlns:a16="http://schemas.microsoft.com/office/drawing/2014/main" val="3537695993"/>
                    </a:ext>
                  </a:extLst>
                </a:gridCol>
                <a:gridCol w="523968">
                  <a:extLst>
                    <a:ext uri="{9D8B030D-6E8A-4147-A177-3AD203B41FA5}">
                      <a16:colId xmlns:a16="http://schemas.microsoft.com/office/drawing/2014/main" val="3771754361"/>
                    </a:ext>
                  </a:extLst>
                </a:gridCol>
                <a:gridCol w="523968">
                  <a:extLst>
                    <a:ext uri="{9D8B030D-6E8A-4147-A177-3AD203B41FA5}">
                      <a16:colId xmlns:a16="http://schemas.microsoft.com/office/drawing/2014/main" val="1289101728"/>
                    </a:ext>
                  </a:extLst>
                </a:gridCol>
                <a:gridCol w="523968">
                  <a:extLst>
                    <a:ext uri="{9D8B030D-6E8A-4147-A177-3AD203B41FA5}">
                      <a16:colId xmlns:a16="http://schemas.microsoft.com/office/drawing/2014/main" val="890367332"/>
                    </a:ext>
                  </a:extLst>
                </a:gridCol>
                <a:gridCol w="523968">
                  <a:extLst>
                    <a:ext uri="{9D8B030D-6E8A-4147-A177-3AD203B41FA5}">
                      <a16:colId xmlns:a16="http://schemas.microsoft.com/office/drawing/2014/main" val="507695760"/>
                    </a:ext>
                  </a:extLst>
                </a:gridCol>
                <a:gridCol w="523968">
                  <a:extLst>
                    <a:ext uri="{9D8B030D-6E8A-4147-A177-3AD203B41FA5}">
                      <a16:colId xmlns:a16="http://schemas.microsoft.com/office/drawing/2014/main" val="3851866162"/>
                    </a:ext>
                  </a:extLst>
                </a:gridCol>
                <a:gridCol w="523968">
                  <a:extLst>
                    <a:ext uri="{9D8B030D-6E8A-4147-A177-3AD203B41FA5}">
                      <a16:colId xmlns:a16="http://schemas.microsoft.com/office/drawing/2014/main" val="1210833893"/>
                    </a:ext>
                  </a:extLst>
                </a:gridCol>
              </a:tblGrid>
              <a:tr h="626004"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endParaRPr lang="en-GB" sz="2200" b="0" dirty="0">
                        <a:solidFill>
                          <a:schemeClr val="tx1"/>
                        </a:solidFill>
                        <a:latin typeface="Comic Sans MS" panose="030F0702030302020204" pitchFamily="66" charset="0"/>
                      </a:endParaRPr>
                    </a:p>
                  </a:txBody>
                  <a:tcPr marL="91434" marR="91434" marT="45706" marB="4570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endParaRPr lang="en-GB" sz="2200" b="0" dirty="0">
                        <a:solidFill>
                          <a:schemeClr val="tx1"/>
                        </a:solidFill>
                        <a:latin typeface="Comic Sans MS" panose="030F0702030302020204" pitchFamily="66" charset="0"/>
                      </a:endParaRPr>
                    </a:p>
                  </a:txBody>
                  <a:tcPr marL="91434" marR="91434" marT="45706" marB="4570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endParaRPr lang="en-GB" sz="2200" b="0" dirty="0">
                        <a:solidFill>
                          <a:schemeClr val="tx1"/>
                        </a:solidFill>
                        <a:latin typeface="Comic Sans MS" panose="030F0702030302020204" pitchFamily="66" charset="0"/>
                      </a:endParaRPr>
                    </a:p>
                  </a:txBody>
                  <a:tcPr marL="91434" marR="91434" marT="45706" marB="4570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endParaRPr lang="en-GB" sz="2200" b="0" dirty="0">
                        <a:solidFill>
                          <a:schemeClr val="tx1"/>
                        </a:solidFill>
                        <a:latin typeface="Comic Sans MS" panose="030F0702030302020204" pitchFamily="66" charset="0"/>
                      </a:endParaRPr>
                    </a:p>
                  </a:txBody>
                  <a:tcPr marL="91434" marR="91434" marT="45706" marB="4570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endParaRPr lang="en-GB" sz="2200" b="0" dirty="0">
                        <a:solidFill>
                          <a:schemeClr val="tx1"/>
                        </a:solidFill>
                        <a:latin typeface="Comic Sans MS" panose="030F0702030302020204" pitchFamily="66" charset="0"/>
                      </a:endParaRPr>
                    </a:p>
                  </a:txBody>
                  <a:tcPr marL="91434" marR="91434" marT="45706" marB="4570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endParaRPr lang="en-GB" sz="2200" b="0" dirty="0">
                        <a:solidFill>
                          <a:schemeClr val="tx1"/>
                        </a:solidFill>
                        <a:latin typeface="Comic Sans MS" panose="030F0702030302020204" pitchFamily="66" charset="0"/>
                      </a:endParaRPr>
                    </a:p>
                  </a:txBody>
                  <a:tcPr marL="91434" marR="91434" marT="45706" marB="4570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endParaRPr lang="en-GB" sz="2200" b="0" dirty="0">
                        <a:solidFill>
                          <a:schemeClr val="tx1"/>
                        </a:solidFill>
                        <a:latin typeface="Comic Sans MS" panose="030F0702030302020204" pitchFamily="66" charset="0"/>
                      </a:endParaRPr>
                    </a:p>
                  </a:txBody>
                  <a:tcPr marL="91434" marR="91434" marT="45706" marB="4570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2400" b="1" dirty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rPr>
                        <a:t>2</a:t>
                      </a:r>
                    </a:p>
                  </a:txBody>
                  <a:tcPr marL="91434" marR="91434" marT="45706" marB="457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2200" b="0" dirty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rPr>
                        <a:t>3</a:t>
                      </a:r>
                    </a:p>
                  </a:txBody>
                  <a:tcPr marL="91434" marR="91434" marT="45706" marB="457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2200" b="0" dirty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rPr>
                        <a:t>4</a:t>
                      </a:r>
                    </a:p>
                  </a:txBody>
                  <a:tcPr marL="91434" marR="91434" marT="45706" marB="4570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2200" b="0" dirty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rPr>
                        <a:t>4</a:t>
                      </a:r>
                    </a:p>
                  </a:txBody>
                  <a:tcPr marL="91434" marR="91434" marT="45706" marB="4570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2200" b="0" dirty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rPr>
                        <a:t>4</a:t>
                      </a:r>
                    </a:p>
                  </a:txBody>
                  <a:tcPr marL="91434" marR="91434" marT="45706" marB="4570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2200" b="0" dirty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rPr>
                        <a:t>6</a:t>
                      </a:r>
                    </a:p>
                  </a:txBody>
                  <a:tcPr marL="91434" marR="91434" marT="45706" marB="4570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2200" b="0" dirty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rPr>
                        <a:t>7</a:t>
                      </a:r>
                    </a:p>
                  </a:txBody>
                  <a:tcPr marL="91434" marR="91434" marT="45706" marB="4570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2200" b="0" dirty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rPr>
                        <a:t>8</a:t>
                      </a:r>
                    </a:p>
                  </a:txBody>
                  <a:tcPr marL="91434" marR="91434" marT="45706" marB="4570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2200" b="0" dirty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rPr>
                        <a:t>8</a:t>
                      </a:r>
                    </a:p>
                  </a:txBody>
                  <a:tcPr marL="91434" marR="91434" marT="45706" marB="4570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endParaRPr lang="en-GB" sz="2200" b="0" dirty="0">
                        <a:solidFill>
                          <a:schemeClr val="tx1"/>
                        </a:solidFill>
                        <a:latin typeface="Comic Sans MS" panose="030F0702030302020204" pitchFamily="66" charset="0"/>
                      </a:endParaRPr>
                    </a:p>
                  </a:txBody>
                  <a:tcPr marL="91434" marR="91434" marT="45706" marB="4570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039282"/>
                  </a:ext>
                </a:extLst>
              </a:tr>
              <a:tr h="626004"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2200" b="0" dirty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rPr>
                        <a:t>9</a:t>
                      </a:r>
                    </a:p>
                  </a:txBody>
                  <a:tcPr marL="91434" marR="91434" marT="45706" marB="4570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2200" b="0" dirty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rPr>
                        <a:t>8</a:t>
                      </a:r>
                    </a:p>
                  </a:txBody>
                  <a:tcPr marL="91434" marR="91434" marT="45706" marB="4570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2200" b="0" dirty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rPr>
                        <a:t>6</a:t>
                      </a:r>
                    </a:p>
                  </a:txBody>
                  <a:tcPr marL="91434" marR="91434" marT="45706" marB="4570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2200" b="0" dirty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rPr>
                        <a:t>5</a:t>
                      </a:r>
                    </a:p>
                  </a:txBody>
                  <a:tcPr marL="91434" marR="91434" marT="45706" marB="4570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2200" b="0" dirty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rPr>
                        <a:t>4</a:t>
                      </a:r>
                    </a:p>
                  </a:txBody>
                  <a:tcPr marL="91434" marR="91434" marT="45706" marB="4570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2200" b="0" dirty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rPr>
                        <a:t>2</a:t>
                      </a:r>
                    </a:p>
                  </a:txBody>
                  <a:tcPr marL="91434" marR="91434" marT="45706" marB="4570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2200" b="0" dirty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rPr>
                        <a:t>0</a:t>
                      </a:r>
                    </a:p>
                  </a:txBody>
                  <a:tcPr marL="91434" marR="91434" marT="45706" marB="4570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2400" b="1" dirty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rPr>
                        <a:t>3</a:t>
                      </a:r>
                    </a:p>
                  </a:txBody>
                  <a:tcPr marL="91434" marR="91434" marT="45706" marB="457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2200" b="0" dirty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rPr>
                        <a:t>0</a:t>
                      </a:r>
                    </a:p>
                  </a:txBody>
                  <a:tcPr marL="91434" marR="91434" marT="45706" marB="457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2200" b="0" dirty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rPr>
                        <a:t>0</a:t>
                      </a:r>
                    </a:p>
                  </a:txBody>
                  <a:tcPr marL="91434" marR="91434" marT="45706" marB="4570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2200" b="0" dirty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rPr>
                        <a:t>1</a:t>
                      </a:r>
                    </a:p>
                  </a:txBody>
                  <a:tcPr marL="91434" marR="91434" marT="45706" marB="4570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2200" b="0" dirty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rPr>
                        <a:t>2</a:t>
                      </a:r>
                    </a:p>
                  </a:txBody>
                  <a:tcPr marL="91434" marR="91434" marT="45706" marB="4570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2200" b="0" dirty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rPr>
                        <a:t>5</a:t>
                      </a:r>
                    </a:p>
                  </a:txBody>
                  <a:tcPr marL="91434" marR="91434" marT="45706" marB="4570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2200" b="0" dirty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rPr>
                        <a:t>7</a:t>
                      </a:r>
                    </a:p>
                  </a:txBody>
                  <a:tcPr marL="91434" marR="91434" marT="45706" marB="4570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endParaRPr lang="en-GB" sz="2200" b="0" dirty="0">
                        <a:solidFill>
                          <a:schemeClr val="tx1"/>
                        </a:solidFill>
                        <a:latin typeface="Comic Sans MS" panose="030F0702030302020204" pitchFamily="66" charset="0"/>
                      </a:endParaRPr>
                    </a:p>
                  </a:txBody>
                  <a:tcPr marL="91434" marR="91434" marT="45706" marB="4570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endParaRPr lang="en-GB" sz="2200" b="0" dirty="0">
                        <a:solidFill>
                          <a:schemeClr val="tx1"/>
                        </a:solidFill>
                        <a:latin typeface="Comic Sans MS" panose="030F0702030302020204" pitchFamily="66" charset="0"/>
                      </a:endParaRPr>
                    </a:p>
                  </a:txBody>
                  <a:tcPr marL="91434" marR="91434" marT="45706" marB="4570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endParaRPr lang="en-GB" sz="2200" b="0" dirty="0">
                        <a:solidFill>
                          <a:schemeClr val="tx1"/>
                        </a:solidFill>
                        <a:latin typeface="Comic Sans MS" panose="030F0702030302020204" pitchFamily="66" charset="0"/>
                      </a:endParaRPr>
                    </a:p>
                  </a:txBody>
                  <a:tcPr marL="91434" marR="91434" marT="45706" marB="4570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3860444"/>
                  </a:ext>
                </a:extLst>
              </a:tr>
              <a:tr h="626004"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endParaRPr lang="en-GB" sz="2200" b="0" dirty="0">
                        <a:solidFill>
                          <a:schemeClr val="tx1"/>
                        </a:solidFill>
                        <a:latin typeface="Comic Sans MS" panose="030F0702030302020204" pitchFamily="66" charset="0"/>
                      </a:endParaRPr>
                    </a:p>
                  </a:txBody>
                  <a:tcPr marL="91434" marR="91434" marT="45706" marB="4570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2200" b="0" dirty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rPr>
                        <a:t>6</a:t>
                      </a:r>
                    </a:p>
                  </a:txBody>
                  <a:tcPr marL="91434" marR="91434" marT="45706" marB="4570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2200" b="0" dirty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rPr>
                        <a:t>4</a:t>
                      </a:r>
                    </a:p>
                  </a:txBody>
                  <a:tcPr marL="91434" marR="91434" marT="45706" marB="4570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2200" b="0" dirty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rPr>
                        <a:t>4</a:t>
                      </a:r>
                    </a:p>
                  </a:txBody>
                  <a:tcPr marL="91434" marR="91434" marT="45706" marB="4570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2200" b="0" dirty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rPr>
                        <a:t>4</a:t>
                      </a:r>
                    </a:p>
                  </a:txBody>
                  <a:tcPr marL="91434" marR="91434" marT="45706" marB="4570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2200" b="0" dirty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rPr>
                        <a:t>3</a:t>
                      </a:r>
                    </a:p>
                  </a:txBody>
                  <a:tcPr marL="91434" marR="91434" marT="45706" marB="4570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2200" b="0" dirty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rPr>
                        <a:t>1</a:t>
                      </a:r>
                    </a:p>
                  </a:txBody>
                  <a:tcPr marL="91434" marR="91434" marT="45706" marB="4570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2400" b="1" dirty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rPr>
                        <a:t>4</a:t>
                      </a:r>
                    </a:p>
                  </a:txBody>
                  <a:tcPr marL="91434" marR="91434" marT="45706" marB="457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2200" b="0" dirty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rPr>
                        <a:t>0</a:t>
                      </a:r>
                    </a:p>
                  </a:txBody>
                  <a:tcPr marL="91434" marR="91434" marT="45706" marB="457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endParaRPr lang="en-GB" sz="2200" b="0" dirty="0">
                        <a:solidFill>
                          <a:schemeClr val="tx1"/>
                        </a:solidFill>
                        <a:latin typeface="Comic Sans MS" panose="030F0702030302020204" pitchFamily="66" charset="0"/>
                      </a:endParaRPr>
                    </a:p>
                  </a:txBody>
                  <a:tcPr marL="91434" marR="91434" marT="45706" marB="4570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endParaRPr lang="en-GB" sz="2200" b="0" dirty="0">
                        <a:solidFill>
                          <a:schemeClr val="tx1"/>
                        </a:solidFill>
                        <a:latin typeface="Comic Sans MS" panose="030F0702030302020204" pitchFamily="66" charset="0"/>
                      </a:endParaRPr>
                    </a:p>
                  </a:txBody>
                  <a:tcPr marL="91434" marR="91434" marT="45706" marB="4570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endParaRPr lang="en-GB" sz="2200" b="0" dirty="0">
                        <a:solidFill>
                          <a:schemeClr val="tx1"/>
                        </a:solidFill>
                        <a:latin typeface="Comic Sans MS" panose="030F0702030302020204" pitchFamily="66" charset="0"/>
                      </a:endParaRPr>
                    </a:p>
                  </a:txBody>
                  <a:tcPr marL="91434" marR="91434" marT="45706" marB="4570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endParaRPr lang="en-GB" sz="2200" b="0" dirty="0">
                        <a:solidFill>
                          <a:schemeClr val="tx1"/>
                        </a:solidFill>
                        <a:latin typeface="Comic Sans MS" panose="030F0702030302020204" pitchFamily="66" charset="0"/>
                      </a:endParaRPr>
                    </a:p>
                  </a:txBody>
                  <a:tcPr marL="91434" marR="91434" marT="45706" marB="4570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endParaRPr lang="en-GB" sz="2200" b="0" dirty="0">
                        <a:solidFill>
                          <a:schemeClr val="tx1"/>
                        </a:solidFill>
                        <a:latin typeface="Comic Sans MS" panose="030F0702030302020204" pitchFamily="66" charset="0"/>
                      </a:endParaRPr>
                    </a:p>
                  </a:txBody>
                  <a:tcPr marL="91434" marR="91434" marT="45706" marB="4570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endParaRPr lang="en-GB" sz="2200" b="0" dirty="0">
                        <a:solidFill>
                          <a:schemeClr val="tx1"/>
                        </a:solidFill>
                        <a:latin typeface="Comic Sans MS" panose="030F0702030302020204" pitchFamily="66" charset="0"/>
                      </a:endParaRPr>
                    </a:p>
                  </a:txBody>
                  <a:tcPr marL="91434" marR="91434" marT="45706" marB="4570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endParaRPr lang="en-GB" sz="2200" b="0" dirty="0">
                        <a:solidFill>
                          <a:schemeClr val="tx1"/>
                        </a:solidFill>
                        <a:latin typeface="Comic Sans MS" panose="030F0702030302020204" pitchFamily="66" charset="0"/>
                      </a:endParaRPr>
                    </a:p>
                  </a:txBody>
                  <a:tcPr marL="91434" marR="91434" marT="45706" marB="4570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endParaRPr lang="en-GB" sz="2200" b="0" dirty="0">
                        <a:solidFill>
                          <a:schemeClr val="tx1"/>
                        </a:solidFill>
                        <a:latin typeface="Comic Sans MS" panose="030F0702030302020204" pitchFamily="66" charset="0"/>
                      </a:endParaRPr>
                    </a:p>
                  </a:txBody>
                  <a:tcPr marL="91434" marR="91434" marT="45706" marB="4570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8275689"/>
                  </a:ext>
                </a:extLst>
              </a:tr>
            </a:tbl>
          </a:graphicData>
        </a:graphic>
      </p:graphicFrame>
      <p:graphicFrame>
        <p:nvGraphicFramePr>
          <p:cNvPr id="8" name="Group 168">
            <a:extLst>
              <a:ext uri="{FF2B5EF4-FFF2-40B4-BE49-F238E27FC236}">
                <a16:creationId xmlns:a16="http://schemas.microsoft.com/office/drawing/2014/main" id="{F8BFBACB-8E67-4440-94E7-2569F19769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8637216"/>
              </p:ext>
            </p:extLst>
          </p:nvPr>
        </p:nvGraphicFramePr>
        <p:xfrm>
          <a:off x="1524000" y="4203701"/>
          <a:ext cx="9144000" cy="1952625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671067328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8959242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1018428057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894828828"/>
                    </a:ext>
                  </a:extLst>
                </a:gridCol>
              </a:tblGrid>
              <a:tr h="6508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omic Sans MS" panose="030F0702030302020204" pitchFamily="66" charset="0"/>
                      </a:endParaRP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Mode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Median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Range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6609065"/>
                  </a:ext>
                </a:extLst>
              </a:tr>
              <a:tr h="6508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Road 1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1198214"/>
                  </a:ext>
                </a:extLst>
              </a:tr>
              <a:tr h="6508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Road 2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7559132"/>
                  </a:ext>
                </a:extLst>
              </a:tr>
            </a:tbl>
          </a:graphicData>
        </a:graphic>
      </p:graphicFrame>
      <p:sp>
        <p:nvSpPr>
          <p:cNvPr id="15445" name="Text Box 141">
            <a:extLst>
              <a:ext uri="{FF2B5EF4-FFF2-40B4-BE49-F238E27FC236}">
                <a16:creationId xmlns:a16="http://schemas.microsoft.com/office/drawing/2014/main" id="{08779F57-D416-45DD-A84D-01D67B35E2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2088" y="6400800"/>
            <a:ext cx="9144001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Write a sentence about each road.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5F8C7F-84BE-4153-8A90-24413EC9AB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5713" y="4987926"/>
            <a:ext cx="23304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44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E7C6E5-0111-4076-8CD7-D43EDB6D1B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5713" y="5646739"/>
            <a:ext cx="23304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4C65DA-E6A2-4EB2-83F6-74248C6F08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1076" y="4989513"/>
            <a:ext cx="23352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39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618173-FF77-4C72-BC25-F3EB8F148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1076" y="5648326"/>
            <a:ext cx="233521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28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AEFF6E-90DF-417D-B88C-8282459462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42326" y="4987926"/>
            <a:ext cx="21637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16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AA393F-00F8-4EB6-A130-0561105DAA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42326" y="5646739"/>
            <a:ext cx="216376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17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9E2AE0-7E54-4885-2224-31AD86E58BDC}"/>
              </a:ext>
            </a:extLst>
          </p:cNvPr>
          <p:cNvSpPr txBox="1"/>
          <p:nvPr/>
        </p:nvSpPr>
        <p:spPr>
          <a:xfrm>
            <a:off x="3028157" y="1038779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ROAD 1</a:t>
            </a:r>
            <a:endParaRPr lang="en-A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E83EF1-B1EE-13FE-58D2-9D653A2462AC}"/>
              </a:ext>
            </a:extLst>
          </p:cNvPr>
          <p:cNvSpPr txBox="1"/>
          <p:nvPr/>
        </p:nvSpPr>
        <p:spPr>
          <a:xfrm>
            <a:off x="7659688" y="2325729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ROAD 2</a:t>
            </a:r>
            <a:endParaRPr lang="en-AU" dirty="0"/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CF8F4CC-AFDF-4446-7E38-1985C917705C}"/>
                  </a:ext>
                </a:extLst>
              </p:cNvPr>
              <p:cNvSpPr txBox="1"/>
              <p:nvPr/>
            </p:nvSpPr>
            <p:spPr>
              <a:xfrm>
                <a:off x="410451" y="437566"/>
                <a:ext cx="11371097" cy="35913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1" i="0" u="sng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Outlier</a:t>
                </a: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: </a:t>
                </a:r>
                <a:r>
                  <a:rPr kumimoji="0" lang="en-GB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is a data point that lies outside the overall pattern in a distribution.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Set 1:                     1, 2, 3, 1, 2, 3, 8, 1, 2, 3, 1, 2, 3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Ordered set 1:     1, 1, 1, 1, 2, 2, 2, 2, 3, 3, 3, 3, 8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Mean: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32</m:t>
                        </m:r>
                      </m:num>
                      <m:den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13</m:t>
                        </m:r>
                      </m:den>
                    </m:f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=2.46</m:t>
                    </m:r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Median=2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CF8F4CC-AFDF-4446-7E38-1985C91770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451" y="437566"/>
                <a:ext cx="11371097" cy="3591368"/>
              </a:xfrm>
              <a:prstGeom prst="rect">
                <a:avLst/>
              </a:prstGeom>
              <a:blipFill>
                <a:blip r:embed="rId2"/>
                <a:stretch>
                  <a:fillRect l="-804" t="-1358" b="-288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9D78F8B-D730-A0D0-C634-773D083F8F60}"/>
                  </a:ext>
                </a:extLst>
              </p:cNvPr>
              <p:cNvSpPr txBox="1"/>
              <p:nvPr/>
            </p:nvSpPr>
            <p:spPr>
              <a:xfrm>
                <a:off x="6664462" y="2541247"/>
                <a:ext cx="4762734" cy="13533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Without the outlier: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Mean</a:t>
                </a:r>
                <a14:m>
                  <m:oMath xmlns:m="http://schemas.openxmlformats.org/officeDocument/2006/math">
                    <m:r>
                      <a:rPr kumimoji="0" lang="en-AU" sz="24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24</m:t>
                        </m:r>
                      </m:num>
                      <m:den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12</m:t>
                        </m:r>
                      </m:den>
                    </m:f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=2</m:t>
                    </m:r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Median </a:t>
                </a:r>
                <a14:m>
                  <m:oMath xmlns:m="http://schemas.openxmlformats.org/officeDocument/2006/math"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=2</m:t>
                    </m:r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9D78F8B-D730-A0D0-C634-773D083F8F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4462" y="2541247"/>
                <a:ext cx="4762734" cy="1353319"/>
              </a:xfrm>
              <a:prstGeom prst="rect">
                <a:avLst/>
              </a:prstGeom>
              <a:blipFill>
                <a:blip r:embed="rId3"/>
                <a:stretch>
                  <a:fillRect l="-1918" t="-3604" b="-945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Multiplication Sign 8">
            <a:extLst>
              <a:ext uri="{FF2B5EF4-FFF2-40B4-BE49-F238E27FC236}">
                <a16:creationId xmlns:a16="http://schemas.microsoft.com/office/drawing/2014/main" id="{E941FA9D-0804-1FC7-8C31-58155CDDC5B7}"/>
              </a:ext>
            </a:extLst>
          </p:cNvPr>
          <p:cNvSpPr/>
          <p:nvPr/>
        </p:nvSpPr>
        <p:spPr>
          <a:xfrm>
            <a:off x="6095999" y="2233250"/>
            <a:ext cx="314150" cy="387078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1" i="0" u="none" strike="noStrike" kern="1200" cap="none" spc="0" normalizeH="0" baseline="0" noProof="0" dirty="0">
              <a:ln w="22225">
                <a:solidFill>
                  <a:srgbClr val="ED7D31"/>
                </a:solidFill>
                <a:prstDash val="solid"/>
              </a:ln>
              <a:solidFill>
                <a:srgbClr val="ED7D31">
                  <a:lumMod val="40000"/>
                  <a:lumOff val="6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401888-D8BF-C9A0-0EB2-F4BA9858269E}"/>
              </a:ext>
            </a:extLst>
          </p:cNvPr>
          <p:cNvSpPr txBox="1"/>
          <p:nvPr/>
        </p:nvSpPr>
        <p:spPr>
          <a:xfrm>
            <a:off x="634845" y="4185858"/>
            <a:ext cx="82903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Which average is effected more by the outlier?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Mean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does the outlier do to the mean compared to the median?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It increases it</a:t>
            </a:r>
          </a:p>
        </p:txBody>
      </p:sp>
    </p:spTree>
    <p:extLst>
      <p:ext uri="{BB962C8B-B14F-4D97-AF65-F5344CB8AC3E}">
        <p14:creationId xmlns:p14="http://schemas.microsoft.com/office/powerpoint/2010/main" val="3546386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9" grpId="0" animBg="1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Dot Plots - Unit 1 Lesson 1 - Tom Kurtz | Library | Formative">
            <a:extLst>
              <a:ext uri="{FF2B5EF4-FFF2-40B4-BE49-F238E27FC236}">
                <a16:creationId xmlns:a16="http://schemas.microsoft.com/office/drawing/2014/main" id="{37A5A4DA-D5FD-A9BF-55DF-3AB5FAAA1C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3916" y="2970163"/>
            <a:ext cx="8504168" cy="3316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B155E08-0E23-67DB-93C2-0F5736C26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92"/>
            <a:ext cx="10515600" cy="39031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Think, pair and share.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25011B-D863-329C-C483-9FBF6D4736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710" y="57144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What is the outlier? </a:t>
            </a:r>
          </a:p>
          <a:p>
            <a:pPr marL="0" indent="0">
              <a:buNone/>
            </a:pPr>
            <a:r>
              <a:rPr lang="en-US" dirty="0"/>
              <a:t>How do you think it will affect the mean?</a:t>
            </a:r>
          </a:p>
          <a:p>
            <a:pPr marL="0" indent="0">
              <a:buNone/>
            </a:pPr>
            <a:r>
              <a:rPr lang="en-US" dirty="0"/>
              <a:t>With a partner, calculate the mean with AND without the outlier. </a:t>
            </a:r>
          </a:p>
          <a:p>
            <a:pPr marL="0" indent="0">
              <a:buNone/>
            </a:pPr>
            <a:r>
              <a:rPr lang="en-US" dirty="0"/>
              <a:t>IF there is an outlier, which measure of center is more accurate?</a:t>
            </a:r>
          </a:p>
          <a:p>
            <a:pPr marL="514350" indent="-514350">
              <a:buAutoNum type="alphaLcParenR"/>
            </a:pPr>
            <a:r>
              <a:rPr lang="en-US" dirty="0"/>
              <a:t>Mean</a:t>
            </a:r>
          </a:p>
          <a:p>
            <a:pPr marL="514350" indent="-514350">
              <a:buAutoNum type="alphaLcParenR"/>
            </a:pPr>
            <a:r>
              <a:rPr lang="en-US" dirty="0"/>
              <a:t>Median 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81361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>
            <a:extLst>
              <a:ext uri="{FF2B5EF4-FFF2-40B4-BE49-F238E27FC236}">
                <a16:creationId xmlns:a16="http://schemas.microsoft.com/office/drawing/2014/main" id="{9262D464-EF18-4DC7-A126-72E8C1985B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0"/>
            <a:ext cx="9144000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Draw a back to back Stem and leaf diagram to compare the battery life of two mobile phone brands, in your </a:t>
            </a:r>
            <a:r>
              <a:rPr kumimoji="0" lang="en-GB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exercise book.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8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Brand A: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7	10	15	15	17	17	19	20	22	22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26	27	30	32	34	36	38	56	75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32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Brand B: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5	7	8	8	10	11	14	17	19	21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22	22	22	22	30	32	34	36	38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53AEC-1C74-20E2-E2FD-124866DAF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the battery life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8ACE5-4913-1CA9-2D47-F2198B673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Which brand is better? – justify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(extension, identify the outlier and its affect on the mean in your justification) 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4DDF9E-9E0C-A9A9-1487-C00A9E9404CB}"/>
              </a:ext>
            </a:extLst>
          </p:cNvPr>
          <p:cNvSpPr txBox="1"/>
          <p:nvPr/>
        </p:nvSpPr>
        <p:spPr>
          <a:xfrm>
            <a:off x="6354147" y="5001208"/>
            <a:ext cx="44600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Finish MMMR practice sheet from today </a:t>
            </a:r>
            <a:r>
              <a:rPr lang="en-US"/>
              <a:t>and yesterday. 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386872"/>
      </p:ext>
    </p:extLst>
  </p:cSld>
  <p:clrMapOvr>
    <a:masterClrMapping/>
  </p:clrMapOvr>
  <p:transition>
    <p:blinds dir="vert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CC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E2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889</Words>
  <Application>Microsoft Office PowerPoint</Application>
  <PresentationFormat>Widescreen</PresentationFormat>
  <Paragraphs>272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Comic Sans MS</vt:lpstr>
      <vt:lpstr>Times New Roman</vt:lpstr>
      <vt:lpstr>Wingdings</vt:lpstr>
      <vt:lpstr>Office Theme</vt:lpstr>
      <vt:lpstr>Default Design</vt:lpstr>
      <vt:lpstr>Lesson objective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Think, pair and share. </vt:lpstr>
      <vt:lpstr>PowerPoint Presentation</vt:lpstr>
      <vt:lpstr>Comparing the battery life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 </dc:title>
  <dc:creator>DAVIES Rhys [Busselton Senior High School]</dc:creator>
  <cp:lastModifiedBy>DAVIES Rhys [Busselton Senior High School]</cp:lastModifiedBy>
  <cp:revision>9</cp:revision>
  <cp:lastPrinted>2023-11-15T00:11:03Z</cp:lastPrinted>
  <dcterms:created xsi:type="dcterms:W3CDTF">2023-11-14T00:45:58Z</dcterms:created>
  <dcterms:modified xsi:type="dcterms:W3CDTF">2023-11-15T01:30:23Z</dcterms:modified>
</cp:coreProperties>
</file>
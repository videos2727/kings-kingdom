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44" r:id="rId4"/>
    <p:sldId id="261" r:id="rId5"/>
    <p:sldId id="264" r:id="rId6"/>
    <p:sldId id="267" r:id="rId7"/>
    <p:sldId id="351" r:id="rId8"/>
    <p:sldId id="263" r:id="rId9"/>
    <p:sldId id="262" r:id="rId10"/>
    <p:sldId id="259" r:id="rId11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3EEE6-A33B-6A1A-7941-4E69DAA86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CE0E66-3F2F-C563-EDD3-5EDE67B02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E3FC1-D740-5A79-FC5B-0AAFC422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3C246-AF02-4F1D-B131-B50A6D27AC41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C09A9-959A-A237-8D87-838D639A7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7D2B7-6256-FB60-4449-5CEB01FF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BE1D-24B9-4571-B9CB-DB5DBA4516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700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9E2B-CDC7-EFAE-9B5D-E25B17E50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3F81B-1029-6ED5-F98E-406A92A11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4674D-273E-766D-572F-4869D73C5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3C246-AF02-4F1D-B131-B50A6D27AC41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FC09B-1413-5685-268F-25A86C25E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6B3F2-285B-6CBC-CAAE-C9383198F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BE1D-24B9-4571-B9CB-DB5DBA4516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153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66B0F-7911-A49A-42FE-CE0FB3814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82E99-A016-365E-8538-0B8B913CF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600B7-15A5-F200-4E6A-D8289C16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3C246-AF02-4F1D-B131-B50A6D27AC41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C2156-4F37-5EB6-D0C5-0B709685D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53A69-5FFC-682C-2AD4-C908B411E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BE1D-24B9-4571-B9CB-DB5DBA4516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5568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3B344-FBE8-CFB0-EB8E-73DE40ED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E493C-E99B-042C-4707-F5DD0B798A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16DE0-7847-32E9-5FF6-424B3C8F1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1957C-617D-56EA-D23A-86152DF1F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3C246-AF02-4F1D-B131-B50A6D27AC41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CB623-7C47-95ED-ECFC-5BD90DBC7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66C45-B5FF-B498-DEAF-1EB120D25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BE1D-24B9-4571-B9CB-DB5DBA4516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2972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5A734-1FDE-4543-C161-AE6AB92C7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F1CF9-0651-405F-6E5E-267665A9F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D3025-FA39-4FEF-913F-AD298C473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A0B7F2-CA46-017B-7753-27E8F4683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F4FF4F-52AE-D5E1-5FD0-F601C7999E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07EE61-DAA4-6F66-BEFC-DC42D5F27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3C246-AF02-4F1D-B131-B50A6D27AC41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5E230-4D4A-27CF-AD08-AD0909944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11624-DD00-6CCD-B340-03F0DC7AB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BE1D-24B9-4571-B9CB-DB5DBA4516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0659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8C34D-1E8C-E915-97DF-3CBF8EC43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E846C-78E8-A1C2-9FF4-4978A77F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3C246-AF02-4F1D-B131-B50A6D27AC41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EFC9B9-09E1-C8CF-7C2A-8B091DBF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09687-5E2D-2708-67AA-DD65588CA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BE1D-24B9-4571-B9CB-DB5DBA4516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7344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606692-5A0D-CC25-CC9C-6BA4E50C5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3C246-AF02-4F1D-B131-B50A6D27AC41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E74D3C-0E79-2CED-67F4-5E8A827ED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543C1-6629-BD46-94EC-BA62DF1A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BE1D-24B9-4571-B9CB-DB5DBA4516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8767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51E1E-FFAA-0F41-9CE4-3CB224C4B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15711-B449-181A-C0D2-7E2A390ED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7BDD6-F82D-02A4-9E3D-089B857B3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469EE-9B84-6CEA-7E7F-4EC7A40ED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3C246-AF02-4F1D-B131-B50A6D27AC41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83B51-8B36-FA0B-68DB-0FDE6B39B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81297-985F-3241-2759-BF8F6DEA6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BE1D-24B9-4571-B9CB-DB5DBA4516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4111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163DA-5A30-E86B-66B0-5FECF038E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66DCC1-AE4A-6D7C-5844-AF55CE9F0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B6598-EACC-E2F7-4BF8-61E30EA05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101C2-9A21-0B11-41A2-447F633D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3C246-AF02-4F1D-B131-B50A6D27AC41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67F69-1B31-15E4-81DE-81EF13935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CDD54-FAB1-588C-385A-C8DD69DF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BE1D-24B9-4571-B9CB-DB5DBA4516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7259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86301-DC6F-A76C-E9FB-31EE79E04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C3B9C-3282-C2E9-FB0F-8A447C02E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6062A-62BA-0283-72BE-6F353CCD8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3C246-AF02-4F1D-B131-B50A6D27AC41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C9592-0311-0813-3028-CF646773E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770E4-FB8E-23CA-BFF4-9FCDB8DB7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BE1D-24B9-4571-B9CB-DB5DBA4516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4825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117537-254B-3EA2-4212-03BE8EB24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65D64-D0D6-7A74-D70C-4A43CF775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0120E-61E1-FFCA-15DE-D94040CEA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3C246-AF02-4F1D-B131-B50A6D27AC41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ADAB0-F7C7-467C-4403-CFC701FDF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F2013-E432-EF2E-CB68-61FDBF557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5BE1D-24B9-4571-B9CB-DB5DBA4516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6298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017F47-FCF3-2F3C-545F-419C7479F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BBCDF-AF5D-6160-BBB4-7FE5E228F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9FAF6-A285-0BF6-A036-A0B91CCE4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3C246-AF02-4F1D-B131-B50A6D27AC41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FD5CF-468F-84A6-C2A5-26E88F1DA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C16FA-D750-FA75-94A8-7D96F2B5A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5BE1D-24B9-4571-B9CB-DB5DBA4516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648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2.png"/><Relationship Id="rId7" Type="http://schemas.openxmlformats.org/officeDocument/2006/relationships/image" Target="NUL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FEBC2-D218-FB37-4419-A361473F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D7339-87D8-691E-6C2B-10758B958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02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Title: </a:t>
            </a:r>
            <a:r>
              <a:rPr lang="en-US" sz="3200" b="1" dirty="0">
                <a:solidFill>
                  <a:schemeClr val="bg1"/>
                </a:solidFill>
              </a:rPr>
              <a:t>Representing Linear  relationships </a:t>
            </a:r>
          </a:p>
          <a:p>
            <a:pPr marL="0" indent="0">
              <a:buNone/>
            </a:pPr>
            <a:endParaRPr lang="en-US" sz="3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Aim – be able to: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chemeClr val="bg1"/>
                </a:solidFill>
              </a:rPr>
              <a:t> Determine numbers in a sequence from rules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chemeClr val="bg1"/>
                </a:solidFill>
              </a:rPr>
              <a:t> Plot linear relationships from a table of values 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chemeClr val="bg1"/>
                </a:solidFill>
              </a:rPr>
              <a:t>Review rules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chemeClr val="bg1"/>
                </a:solidFill>
              </a:rPr>
              <a:t>Spatial patterns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chemeClr val="bg1"/>
                </a:solidFill>
              </a:rPr>
              <a:t>Plotting </a:t>
            </a:r>
            <a:endParaRPr lang="en-AU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C1AE74-AEDC-FA13-E5A1-BB932A8394ED}"/>
              </a:ext>
            </a:extLst>
          </p:cNvPr>
          <p:cNvSpPr txBox="1"/>
          <p:nvPr/>
        </p:nvSpPr>
        <p:spPr>
          <a:xfrm>
            <a:off x="7936637" y="452761"/>
            <a:ext cx="2663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highlight>
                  <a:srgbClr val="FFFF00"/>
                </a:highlight>
              </a:rPr>
              <a:t>Need whiteboards and calculators.  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79422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A808-73C3-17FD-42B5-3F4639CF1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Starter</a:t>
            </a:r>
            <a:r>
              <a:rPr lang="en-US" dirty="0"/>
              <a:t>: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F171A-8E4F-D74B-0896-90EA4004E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Whiteboards – Write the first 5 terms in the sequence for these rules: 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514350" indent="-514350">
              <a:buAutoNum type="alphaLcParenR"/>
            </a:pPr>
            <a:r>
              <a:rPr lang="en-US" dirty="0">
                <a:solidFill>
                  <a:schemeClr val="bg1"/>
                </a:solidFill>
              </a:rPr>
              <a:t>First term is 7, increase by 10 </a:t>
            </a:r>
          </a:p>
          <a:p>
            <a:pPr marL="514350" indent="-514350">
              <a:buAutoNum type="alphaLcParenR"/>
            </a:pPr>
            <a:endParaRPr lang="en-US" dirty="0">
              <a:solidFill>
                <a:schemeClr val="bg1"/>
              </a:solidFill>
            </a:endParaRPr>
          </a:p>
          <a:p>
            <a:pPr marL="514350" indent="-514350">
              <a:buAutoNum type="alphaLcParenR"/>
            </a:pPr>
            <a:r>
              <a:rPr lang="en-US" dirty="0">
                <a:solidFill>
                  <a:schemeClr val="bg1"/>
                </a:solidFill>
              </a:rPr>
              <a:t>First term is 100, decrease by 10. </a:t>
            </a:r>
          </a:p>
          <a:p>
            <a:pPr marL="514350" indent="-514350">
              <a:buAutoNum type="alphaLcParenR"/>
            </a:pPr>
            <a:endParaRPr lang="en-US" dirty="0">
              <a:solidFill>
                <a:schemeClr val="bg1"/>
              </a:solidFill>
            </a:endParaRPr>
          </a:p>
          <a:p>
            <a:pPr marL="514350" indent="-514350">
              <a:buAutoNum type="alphaLcParenR"/>
            </a:pPr>
            <a:r>
              <a:rPr lang="en-US" dirty="0">
                <a:solidFill>
                  <a:schemeClr val="bg1"/>
                </a:solidFill>
              </a:rPr>
              <a:t>Add 5, the third term is 11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8D02DE-C7C3-7584-14E3-8F1B2F8127FF}"/>
              </a:ext>
            </a:extLst>
          </p:cNvPr>
          <p:cNvSpPr txBox="1"/>
          <p:nvPr/>
        </p:nvSpPr>
        <p:spPr>
          <a:xfrm>
            <a:off x="5379868" y="3420122"/>
            <a:ext cx="5113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_____, _____, _____, _____, ______</a:t>
            </a:r>
            <a:endParaRPr lang="en-AU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2A2081-DC33-974E-08D5-DF87DFE80BD8}"/>
              </a:ext>
            </a:extLst>
          </p:cNvPr>
          <p:cNvSpPr txBox="1"/>
          <p:nvPr/>
        </p:nvSpPr>
        <p:spPr>
          <a:xfrm>
            <a:off x="5379868" y="4451412"/>
            <a:ext cx="5113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_____, _____, _____, _____, ______</a:t>
            </a:r>
            <a:endParaRPr lang="en-AU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B847EB-311C-4803-1CDF-F5A2415D7283}"/>
              </a:ext>
            </a:extLst>
          </p:cNvPr>
          <p:cNvSpPr txBox="1"/>
          <p:nvPr/>
        </p:nvSpPr>
        <p:spPr>
          <a:xfrm>
            <a:off x="5379868" y="5482702"/>
            <a:ext cx="5113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_____, _____, _____, _____, ______</a:t>
            </a:r>
            <a:endParaRPr lang="en-A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25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0362-E9D4-4E15-91D7-4375B6C9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the angle? </a:t>
            </a:r>
            <a:endParaRPr lang="en-AU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90DD07-0962-44E5-95AD-A2D296FD5107}"/>
              </a:ext>
            </a:extLst>
          </p:cNvPr>
          <p:cNvCxnSpPr/>
          <p:nvPr/>
        </p:nvCxnSpPr>
        <p:spPr>
          <a:xfrm>
            <a:off x="838200" y="3630967"/>
            <a:ext cx="346229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F7EFBDD-B2FD-475E-8E79-B657E2E2F697}"/>
              </a:ext>
            </a:extLst>
          </p:cNvPr>
          <p:cNvCxnSpPr/>
          <p:nvPr/>
        </p:nvCxnSpPr>
        <p:spPr>
          <a:xfrm flipV="1">
            <a:off x="2249750" y="2052961"/>
            <a:ext cx="1269507" cy="157800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9C6126-F651-46AE-93F9-66A62885E3D3}"/>
              </a:ext>
            </a:extLst>
          </p:cNvPr>
          <p:cNvCxnSpPr>
            <a:cxnSpLocks/>
          </p:cNvCxnSpPr>
          <p:nvPr/>
        </p:nvCxnSpPr>
        <p:spPr>
          <a:xfrm>
            <a:off x="7954393" y="1890944"/>
            <a:ext cx="3124940" cy="16068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D9255E-808E-42AF-BB9D-AEA39C381A2D}"/>
              </a:ext>
            </a:extLst>
          </p:cNvPr>
          <p:cNvCxnSpPr>
            <a:cxnSpLocks/>
          </p:cNvCxnSpPr>
          <p:nvPr/>
        </p:nvCxnSpPr>
        <p:spPr>
          <a:xfrm flipV="1">
            <a:off x="7617041" y="1953088"/>
            <a:ext cx="2823099" cy="160685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3C75E8-6DDE-4D40-881F-023E1516CDE2}"/>
              </a:ext>
            </a:extLst>
          </p:cNvPr>
          <p:cNvCxnSpPr/>
          <p:nvPr/>
        </p:nvCxnSpPr>
        <p:spPr>
          <a:xfrm>
            <a:off x="1615736" y="5930283"/>
            <a:ext cx="436781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36DAD9-3F29-431D-A5CD-091D036FC543}"/>
              </a:ext>
            </a:extLst>
          </p:cNvPr>
          <p:cNvCxnSpPr/>
          <p:nvPr/>
        </p:nvCxnSpPr>
        <p:spPr>
          <a:xfrm>
            <a:off x="1537317" y="5035118"/>
            <a:ext cx="436781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51793E9-E501-4A92-BD76-EEE4DEE2C07A}"/>
              </a:ext>
            </a:extLst>
          </p:cNvPr>
          <p:cNvCxnSpPr>
            <a:cxnSpLocks/>
          </p:cNvCxnSpPr>
          <p:nvPr/>
        </p:nvCxnSpPr>
        <p:spPr>
          <a:xfrm flipV="1">
            <a:off x="2512381" y="4492101"/>
            <a:ext cx="1788111" cy="200077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8DBEBF-EF60-4139-8E38-E45315431695}"/>
                  </a:ext>
                </a:extLst>
              </p:cNvPr>
              <p:cNvSpPr txBox="1"/>
              <p:nvPr/>
            </p:nvSpPr>
            <p:spPr>
              <a:xfrm>
                <a:off x="8189650" y="2438177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AU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8DBEBF-EF60-4139-8E38-E45315431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9650" y="2438177"/>
                <a:ext cx="114521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0ED0F35-FC16-49EF-9357-4FC05C270295}"/>
                  </a:ext>
                </a:extLst>
              </p:cNvPr>
              <p:cNvSpPr txBox="1"/>
              <p:nvPr/>
            </p:nvSpPr>
            <p:spPr>
              <a:xfrm>
                <a:off x="2374038" y="3227605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0ED0F35-FC16-49EF-9357-4FC05C270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038" y="3227605"/>
                <a:ext cx="114521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5F08F37-9E33-445F-B5A1-97A44C1E049A}"/>
                  </a:ext>
                </a:extLst>
              </p:cNvPr>
              <p:cNvSpPr txBox="1"/>
              <p:nvPr/>
            </p:nvSpPr>
            <p:spPr>
              <a:xfrm>
                <a:off x="2833826" y="5035117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5F08F37-9E33-445F-B5A1-97A44C1E0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826" y="5035117"/>
                <a:ext cx="114521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6E927C6-5848-451C-B77F-892B1B43A034}"/>
              </a:ext>
            </a:extLst>
          </p:cNvPr>
          <p:cNvSpPr txBox="1"/>
          <p:nvPr/>
        </p:nvSpPr>
        <p:spPr>
          <a:xfrm>
            <a:off x="1939771" y="3193575"/>
            <a:ext cx="1145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64CCF4-9C52-4EFB-9816-31D5D6E9C2B5}"/>
              </a:ext>
            </a:extLst>
          </p:cNvPr>
          <p:cNvSpPr txBox="1"/>
          <p:nvPr/>
        </p:nvSpPr>
        <p:spPr>
          <a:xfrm>
            <a:off x="9621174" y="2400502"/>
            <a:ext cx="1145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F66E2C-19E4-4C42-865F-C7425173944D}"/>
              </a:ext>
            </a:extLst>
          </p:cNvPr>
          <p:cNvSpPr txBox="1"/>
          <p:nvPr/>
        </p:nvSpPr>
        <p:spPr>
          <a:xfrm>
            <a:off x="3384983" y="5571246"/>
            <a:ext cx="1145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9A502A-6769-451A-A904-231872C2C8B4}"/>
              </a:ext>
            </a:extLst>
          </p:cNvPr>
          <p:cNvSpPr txBox="1"/>
          <p:nvPr/>
        </p:nvSpPr>
        <p:spPr>
          <a:xfrm>
            <a:off x="3732321" y="5035117"/>
            <a:ext cx="1145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CD34788-5E14-FAD0-EEC8-BFF3267CCE67}"/>
              </a:ext>
            </a:extLst>
          </p:cNvPr>
          <p:cNvCxnSpPr/>
          <p:nvPr/>
        </p:nvCxnSpPr>
        <p:spPr>
          <a:xfrm>
            <a:off x="7883371" y="4572000"/>
            <a:ext cx="2692893" cy="35510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5A9933F-C350-AE9A-9588-039AA11C13C8}"/>
              </a:ext>
            </a:extLst>
          </p:cNvPr>
          <p:cNvCxnSpPr/>
          <p:nvPr/>
        </p:nvCxnSpPr>
        <p:spPr>
          <a:xfrm>
            <a:off x="7891510" y="4580878"/>
            <a:ext cx="409111" cy="144706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93289F-73AA-16C6-605D-E79B2A49B890}"/>
              </a:ext>
            </a:extLst>
          </p:cNvPr>
          <p:cNvCxnSpPr/>
          <p:nvPr/>
        </p:nvCxnSpPr>
        <p:spPr>
          <a:xfrm>
            <a:off x="8327254" y="6027937"/>
            <a:ext cx="1686758" cy="46493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C94D904-05F0-C980-34FC-6E1276F1B451}"/>
              </a:ext>
            </a:extLst>
          </p:cNvPr>
          <p:cNvCxnSpPr/>
          <p:nvPr/>
        </p:nvCxnSpPr>
        <p:spPr>
          <a:xfrm flipV="1">
            <a:off x="10014012" y="4927107"/>
            <a:ext cx="562252" cy="156576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91B4BE3-A0B6-4732-5BDF-3791BBD48756}"/>
                  </a:ext>
                </a:extLst>
              </p:cNvPr>
              <p:cNvSpPr txBox="1"/>
              <p:nvPr/>
            </p:nvSpPr>
            <p:spPr>
              <a:xfrm>
                <a:off x="9621173" y="4947599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7</m:t>
                      </m:r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91B4BE3-A0B6-4732-5BDF-3791BBD48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1173" y="4947599"/>
                <a:ext cx="114521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E06D1BA-F902-2655-21DB-8E62E8976380}"/>
                  </a:ext>
                </a:extLst>
              </p:cNvPr>
              <p:cNvSpPr txBox="1"/>
              <p:nvPr/>
            </p:nvSpPr>
            <p:spPr>
              <a:xfrm>
                <a:off x="7960311" y="4634144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mbria Math" panose="02040503050406030204" pitchFamily="18" charset="0"/>
                    <a:cs typeface="+mn-cs"/>
                  </a:rPr>
                  <a:t>56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E06D1BA-F902-2655-21DB-8E62E8976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0311" y="4634144"/>
                <a:ext cx="1145219" cy="369332"/>
              </a:xfrm>
              <a:prstGeom prst="rect">
                <a:avLst/>
              </a:prstGeom>
              <a:blipFill>
                <a:blip r:embed="rId6"/>
                <a:stretch>
                  <a:fillRect l="-478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E08C78-4849-9951-BC99-3BA92E47DF97}"/>
                  </a:ext>
                </a:extLst>
              </p:cNvPr>
              <p:cNvSpPr txBox="1"/>
              <p:nvPr/>
            </p:nvSpPr>
            <p:spPr>
              <a:xfrm>
                <a:off x="9270510" y="6039662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90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E08C78-4849-9951-BC99-3BA92E47D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0510" y="6039662"/>
                <a:ext cx="114521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B57BAA3-25F7-EBE4-6E0B-75A56594256E}"/>
                  </a:ext>
                </a:extLst>
              </p:cNvPr>
              <p:cNvSpPr txBox="1"/>
              <p:nvPr/>
            </p:nvSpPr>
            <p:spPr>
              <a:xfrm>
                <a:off x="7854522" y="5667485"/>
                <a:ext cx="11452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E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B57BAA3-25F7-EBE4-6E0B-75A565942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522" y="5667485"/>
                <a:ext cx="114521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itle 1">
            <a:extLst>
              <a:ext uri="{FF2B5EF4-FFF2-40B4-BE49-F238E27FC236}">
                <a16:creationId xmlns:a16="http://schemas.microsoft.com/office/drawing/2014/main" id="{BF037DEC-872F-EAB9-6031-E81B6FB3FED4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 Light" panose="020F0302020204030204"/>
                <a:ea typeface="+mj-ea"/>
                <a:cs typeface="+mj-cs"/>
              </a:rPr>
              <a:t>Whiteboards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87265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7C6A-ADB8-475F-8C27-656E0A142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Increasing scale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35BB4-D287-462E-B1A4-7B5D36F55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5740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Typically, graphs increase in two dimensions. On this graph, going up the Y axis means an increase in weight. Going across on the X axis is an increase in height.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Who is taller, A or B?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Who is heavier? </a:t>
            </a:r>
            <a:endParaRPr lang="en-A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5F419E6-0D3C-4123-BFDA-4306BCDB5F95}"/>
              </a:ext>
            </a:extLst>
          </p:cNvPr>
          <p:cNvCxnSpPr>
            <a:cxnSpLocks/>
          </p:cNvCxnSpPr>
          <p:nvPr/>
        </p:nvCxnSpPr>
        <p:spPr>
          <a:xfrm flipV="1">
            <a:off x="7421731" y="2325950"/>
            <a:ext cx="0" cy="33202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15F015D-A5C3-4325-B640-B6804F0AA02B}"/>
              </a:ext>
            </a:extLst>
          </p:cNvPr>
          <p:cNvCxnSpPr/>
          <p:nvPr/>
        </p:nvCxnSpPr>
        <p:spPr>
          <a:xfrm>
            <a:off x="7430608" y="5663954"/>
            <a:ext cx="333800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4A079C6-7805-4899-80DF-E3CF6E8A8913}"/>
              </a:ext>
            </a:extLst>
          </p:cNvPr>
          <p:cNvSpPr txBox="1"/>
          <p:nvPr/>
        </p:nvSpPr>
        <p:spPr>
          <a:xfrm>
            <a:off x="7190913" y="1823653"/>
            <a:ext cx="1269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Weight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D821D2-1351-41DD-85C2-3AD5AD422F4E}"/>
              </a:ext>
            </a:extLst>
          </p:cNvPr>
          <p:cNvSpPr txBox="1"/>
          <p:nvPr/>
        </p:nvSpPr>
        <p:spPr>
          <a:xfrm>
            <a:off x="10922495" y="5415365"/>
            <a:ext cx="1269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Height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1AEF0A-7FB8-4B11-B35D-ECBFC40C5124}"/>
              </a:ext>
            </a:extLst>
          </p:cNvPr>
          <p:cNvSpPr txBox="1"/>
          <p:nvPr/>
        </p:nvSpPr>
        <p:spPr>
          <a:xfrm>
            <a:off x="9405892" y="4838491"/>
            <a:ext cx="594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  <a:endParaRPr lang="en-AU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78505-D1AF-4388-84DA-FEC45D99E82C}"/>
              </a:ext>
            </a:extLst>
          </p:cNvPr>
          <p:cNvSpPr txBox="1"/>
          <p:nvPr/>
        </p:nvSpPr>
        <p:spPr>
          <a:xfrm>
            <a:off x="8364247" y="3095893"/>
            <a:ext cx="594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768759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604DC-566A-4413-9B21-99D639DDF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Who’s who?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301CC-0162-4446-9E55-7D66E3D0F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410" y="1823653"/>
            <a:ext cx="589107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the graph we are looking at student effort against the score they got on a test.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Who put in the most effort? </a:t>
            </a:r>
          </a:p>
          <a:p>
            <a:pPr marL="0" indent="0">
              <a:buNone/>
            </a:pPr>
            <a:r>
              <a:rPr lang="en-US" dirty="0"/>
              <a:t>Who put in the least effort? </a:t>
            </a:r>
          </a:p>
          <a:p>
            <a:pPr marL="0" indent="0">
              <a:buNone/>
            </a:pPr>
            <a:r>
              <a:rPr lang="en-US" dirty="0"/>
              <a:t>Who scored the highest?  </a:t>
            </a:r>
            <a:endParaRPr lang="en-AU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840712C-D3F5-47E5-A9E8-F4AA9DCCD4A3}"/>
              </a:ext>
            </a:extLst>
          </p:cNvPr>
          <p:cNvCxnSpPr>
            <a:cxnSpLocks/>
          </p:cNvCxnSpPr>
          <p:nvPr/>
        </p:nvCxnSpPr>
        <p:spPr>
          <a:xfrm flipV="1">
            <a:off x="7421731" y="2325950"/>
            <a:ext cx="0" cy="33202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B7672AB-5391-4C26-8EB2-516A4C93FD80}"/>
              </a:ext>
            </a:extLst>
          </p:cNvPr>
          <p:cNvCxnSpPr/>
          <p:nvPr/>
        </p:nvCxnSpPr>
        <p:spPr>
          <a:xfrm>
            <a:off x="7430608" y="5663954"/>
            <a:ext cx="333800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9B4D0EE-D909-4B2F-8101-7C5899DAC633}"/>
              </a:ext>
            </a:extLst>
          </p:cNvPr>
          <p:cNvSpPr txBox="1"/>
          <p:nvPr/>
        </p:nvSpPr>
        <p:spPr>
          <a:xfrm>
            <a:off x="7190913" y="1823653"/>
            <a:ext cx="1269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Effort </a:t>
            </a:r>
            <a:endParaRPr lang="en-AU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8D7FFC-6AB6-424C-8F6B-38DA4965597B}"/>
              </a:ext>
            </a:extLst>
          </p:cNvPr>
          <p:cNvSpPr txBox="1"/>
          <p:nvPr/>
        </p:nvSpPr>
        <p:spPr>
          <a:xfrm>
            <a:off x="10922495" y="5415365"/>
            <a:ext cx="1269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Score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E15D9-DD7B-45CB-B3C7-CD280D1CE26C}"/>
              </a:ext>
            </a:extLst>
          </p:cNvPr>
          <p:cNvSpPr txBox="1"/>
          <p:nvPr/>
        </p:nvSpPr>
        <p:spPr>
          <a:xfrm>
            <a:off x="9405892" y="4838491"/>
            <a:ext cx="594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  <a:endParaRPr lang="en-AU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E8BA5F-E185-4743-837D-4C82E96338F4}"/>
              </a:ext>
            </a:extLst>
          </p:cNvPr>
          <p:cNvSpPr txBox="1"/>
          <p:nvPr/>
        </p:nvSpPr>
        <p:spPr>
          <a:xfrm>
            <a:off x="8364247" y="3095893"/>
            <a:ext cx="594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41175E-CBC2-4652-8F71-44A3FFF16125}"/>
              </a:ext>
            </a:extLst>
          </p:cNvPr>
          <p:cNvSpPr txBox="1"/>
          <p:nvPr/>
        </p:nvSpPr>
        <p:spPr>
          <a:xfrm>
            <a:off x="10147179" y="5184532"/>
            <a:ext cx="594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0463CA-FD03-4445-A77D-4B152F1276A5}"/>
              </a:ext>
            </a:extLst>
          </p:cNvPr>
          <p:cNvSpPr txBox="1"/>
          <p:nvPr/>
        </p:nvSpPr>
        <p:spPr>
          <a:xfrm>
            <a:off x="7935161" y="4501098"/>
            <a:ext cx="594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CB57C5-8D1F-4842-B11D-F9689E8905DC}"/>
              </a:ext>
            </a:extLst>
          </p:cNvPr>
          <p:cNvSpPr txBox="1"/>
          <p:nvPr/>
        </p:nvSpPr>
        <p:spPr>
          <a:xfrm>
            <a:off x="8839203" y="2452329"/>
            <a:ext cx="594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05432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424D8-01B9-4EB0-A844-F3413675A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Review 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5410D-46E8-4844-946C-209449EFB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1562101"/>
            <a:ext cx="6934200" cy="16653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74842D-2B5B-4F1E-9645-13AED4EEB3DD}"/>
              </a:ext>
            </a:extLst>
          </p:cNvPr>
          <p:cNvSpPr txBox="1"/>
          <p:nvPr/>
        </p:nvSpPr>
        <p:spPr>
          <a:xfrm>
            <a:off x="552450" y="685800"/>
            <a:ext cx="19526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Draw the next shape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a table of values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a rule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Determine 8 shapes and 20 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018F82F-F947-49EF-85C3-74329CC71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892578"/>
              </p:ext>
            </p:extLst>
          </p:nvPr>
        </p:nvGraphicFramePr>
        <p:xfrm>
          <a:off x="1108060" y="3664610"/>
          <a:ext cx="997588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985">
                  <a:extLst>
                    <a:ext uri="{9D8B030D-6E8A-4147-A177-3AD203B41FA5}">
                      <a16:colId xmlns:a16="http://schemas.microsoft.com/office/drawing/2014/main" val="2922449174"/>
                    </a:ext>
                  </a:extLst>
                </a:gridCol>
                <a:gridCol w="1246985">
                  <a:extLst>
                    <a:ext uri="{9D8B030D-6E8A-4147-A177-3AD203B41FA5}">
                      <a16:colId xmlns:a16="http://schemas.microsoft.com/office/drawing/2014/main" val="2566555026"/>
                    </a:ext>
                  </a:extLst>
                </a:gridCol>
                <a:gridCol w="1246985">
                  <a:extLst>
                    <a:ext uri="{9D8B030D-6E8A-4147-A177-3AD203B41FA5}">
                      <a16:colId xmlns:a16="http://schemas.microsoft.com/office/drawing/2014/main" val="3221495877"/>
                    </a:ext>
                  </a:extLst>
                </a:gridCol>
                <a:gridCol w="1246985">
                  <a:extLst>
                    <a:ext uri="{9D8B030D-6E8A-4147-A177-3AD203B41FA5}">
                      <a16:colId xmlns:a16="http://schemas.microsoft.com/office/drawing/2014/main" val="1390723959"/>
                    </a:ext>
                  </a:extLst>
                </a:gridCol>
                <a:gridCol w="1246985">
                  <a:extLst>
                    <a:ext uri="{9D8B030D-6E8A-4147-A177-3AD203B41FA5}">
                      <a16:colId xmlns:a16="http://schemas.microsoft.com/office/drawing/2014/main" val="1422220523"/>
                    </a:ext>
                  </a:extLst>
                </a:gridCol>
                <a:gridCol w="1246985">
                  <a:extLst>
                    <a:ext uri="{9D8B030D-6E8A-4147-A177-3AD203B41FA5}">
                      <a16:colId xmlns:a16="http://schemas.microsoft.com/office/drawing/2014/main" val="4009244551"/>
                    </a:ext>
                  </a:extLst>
                </a:gridCol>
                <a:gridCol w="1246985">
                  <a:extLst>
                    <a:ext uri="{9D8B030D-6E8A-4147-A177-3AD203B41FA5}">
                      <a16:colId xmlns:a16="http://schemas.microsoft.com/office/drawing/2014/main" val="196746858"/>
                    </a:ext>
                  </a:extLst>
                </a:gridCol>
                <a:gridCol w="1246985">
                  <a:extLst>
                    <a:ext uri="{9D8B030D-6E8A-4147-A177-3AD203B41FA5}">
                      <a16:colId xmlns:a16="http://schemas.microsoft.com/office/drawing/2014/main" val="2674451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Number of shapes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b="1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350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Number of matches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7351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6EE0FA0-E4D2-41C7-868D-5AA95FD22933}"/>
              </a:ext>
            </a:extLst>
          </p:cNvPr>
          <p:cNvSpPr txBox="1"/>
          <p:nvPr/>
        </p:nvSpPr>
        <p:spPr>
          <a:xfrm>
            <a:off x="256174" y="6041977"/>
            <a:ext cx="5027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RULE:____________________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6163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Graph Paper to Print - 1cm Squared Paper PDF">
            <a:extLst>
              <a:ext uri="{FF2B5EF4-FFF2-40B4-BE49-F238E27FC236}">
                <a16:creationId xmlns:a16="http://schemas.microsoft.com/office/drawing/2014/main" id="{039AEDE6-F456-84E5-B875-775806108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308773" y="-475577"/>
            <a:ext cx="5776479" cy="8160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06562B5-5FDB-D9C7-AC6A-0C4E36DD9A42}"/>
              </a:ext>
            </a:extLst>
          </p:cNvPr>
          <p:cNvCxnSpPr>
            <a:cxnSpLocks/>
          </p:cNvCxnSpPr>
          <p:nvPr/>
        </p:nvCxnSpPr>
        <p:spPr>
          <a:xfrm>
            <a:off x="821742" y="914400"/>
            <a:ext cx="0" cy="5402127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C44045A-E75C-0F9C-59DF-B7482E00EE4C}"/>
              </a:ext>
            </a:extLst>
          </p:cNvPr>
          <p:cNvCxnSpPr>
            <a:cxnSpLocks/>
          </p:cNvCxnSpPr>
          <p:nvPr/>
        </p:nvCxnSpPr>
        <p:spPr>
          <a:xfrm>
            <a:off x="116800" y="5642776"/>
            <a:ext cx="7926369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8DA941F-C96B-BB2A-3889-ACF5244360AC}"/>
              </a:ext>
            </a:extLst>
          </p:cNvPr>
          <p:cNvSpPr txBox="1"/>
          <p:nvPr/>
        </p:nvSpPr>
        <p:spPr>
          <a:xfrm>
            <a:off x="8442664" y="1305017"/>
            <a:ext cx="3169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Match the line to the table of values.</a:t>
            </a:r>
            <a:endParaRPr lang="en-AU" dirty="0"/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AA96CD34-45CA-13DB-9C0E-75B4FC344E6C}"/>
              </a:ext>
            </a:extLst>
          </p:cNvPr>
          <p:cNvGraphicFramePr>
            <a:graphicFrameLocks noGrp="1"/>
          </p:cNvGraphicFramePr>
          <p:nvPr/>
        </p:nvGraphicFramePr>
        <p:xfrm>
          <a:off x="7614665" y="1973228"/>
          <a:ext cx="4460535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107">
                  <a:extLst>
                    <a:ext uri="{9D8B030D-6E8A-4147-A177-3AD203B41FA5}">
                      <a16:colId xmlns:a16="http://schemas.microsoft.com/office/drawing/2014/main" val="728339805"/>
                    </a:ext>
                  </a:extLst>
                </a:gridCol>
                <a:gridCol w="892107">
                  <a:extLst>
                    <a:ext uri="{9D8B030D-6E8A-4147-A177-3AD203B41FA5}">
                      <a16:colId xmlns:a16="http://schemas.microsoft.com/office/drawing/2014/main" val="671434413"/>
                    </a:ext>
                  </a:extLst>
                </a:gridCol>
                <a:gridCol w="892107">
                  <a:extLst>
                    <a:ext uri="{9D8B030D-6E8A-4147-A177-3AD203B41FA5}">
                      <a16:colId xmlns:a16="http://schemas.microsoft.com/office/drawing/2014/main" val="1122473069"/>
                    </a:ext>
                  </a:extLst>
                </a:gridCol>
                <a:gridCol w="892107">
                  <a:extLst>
                    <a:ext uri="{9D8B030D-6E8A-4147-A177-3AD203B41FA5}">
                      <a16:colId xmlns:a16="http://schemas.microsoft.com/office/drawing/2014/main" val="1938265155"/>
                    </a:ext>
                  </a:extLst>
                </a:gridCol>
                <a:gridCol w="892107">
                  <a:extLst>
                    <a:ext uri="{9D8B030D-6E8A-4147-A177-3AD203B41FA5}">
                      <a16:colId xmlns:a16="http://schemas.microsoft.com/office/drawing/2014/main" val="1134907617"/>
                    </a:ext>
                  </a:extLst>
                </a:gridCol>
              </a:tblGrid>
              <a:tr h="32316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X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340611"/>
                  </a:ext>
                </a:extLst>
              </a:tr>
              <a:tr h="32316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y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</a:t>
                      </a:r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72117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157A250-D284-6C6E-4732-8990D0DDAF09}"/>
              </a:ext>
            </a:extLst>
          </p:cNvPr>
          <p:cNvGraphicFramePr>
            <a:graphicFrameLocks noGrp="1"/>
          </p:cNvGraphicFramePr>
          <p:nvPr/>
        </p:nvGraphicFramePr>
        <p:xfrm>
          <a:off x="7614665" y="3208181"/>
          <a:ext cx="4460535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107">
                  <a:extLst>
                    <a:ext uri="{9D8B030D-6E8A-4147-A177-3AD203B41FA5}">
                      <a16:colId xmlns:a16="http://schemas.microsoft.com/office/drawing/2014/main" val="728339805"/>
                    </a:ext>
                  </a:extLst>
                </a:gridCol>
                <a:gridCol w="892107">
                  <a:extLst>
                    <a:ext uri="{9D8B030D-6E8A-4147-A177-3AD203B41FA5}">
                      <a16:colId xmlns:a16="http://schemas.microsoft.com/office/drawing/2014/main" val="671434413"/>
                    </a:ext>
                  </a:extLst>
                </a:gridCol>
                <a:gridCol w="892107">
                  <a:extLst>
                    <a:ext uri="{9D8B030D-6E8A-4147-A177-3AD203B41FA5}">
                      <a16:colId xmlns:a16="http://schemas.microsoft.com/office/drawing/2014/main" val="1122473069"/>
                    </a:ext>
                  </a:extLst>
                </a:gridCol>
                <a:gridCol w="892107">
                  <a:extLst>
                    <a:ext uri="{9D8B030D-6E8A-4147-A177-3AD203B41FA5}">
                      <a16:colId xmlns:a16="http://schemas.microsoft.com/office/drawing/2014/main" val="1938265155"/>
                    </a:ext>
                  </a:extLst>
                </a:gridCol>
                <a:gridCol w="892107">
                  <a:extLst>
                    <a:ext uri="{9D8B030D-6E8A-4147-A177-3AD203B41FA5}">
                      <a16:colId xmlns:a16="http://schemas.microsoft.com/office/drawing/2014/main" val="1134907617"/>
                    </a:ext>
                  </a:extLst>
                </a:gridCol>
              </a:tblGrid>
              <a:tr h="32316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X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</a:t>
                      </a:r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340611"/>
                  </a:ext>
                </a:extLst>
              </a:tr>
              <a:tr h="32316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y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6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8</a:t>
                      </a:r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721173"/>
                  </a:ext>
                </a:extLst>
              </a:tr>
            </a:tbl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2397C99-0544-7076-2693-4FE3BD40982F}"/>
              </a:ext>
            </a:extLst>
          </p:cNvPr>
          <p:cNvCxnSpPr/>
          <p:nvPr/>
        </p:nvCxnSpPr>
        <p:spPr>
          <a:xfrm flipV="1">
            <a:off x="821742" y="914400"/>
            <a:ext cx="4478227" cy="4465468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BD26CCD-3103-E1C5-EFA7-1E47C1A7A706}"/>
              </a:ext>
            </a:extLst>
          </p:cNvPr>
          <p:cNvCxnSpPr/>
          <p:nvPr/>
        </p:nvCxnSpPr>
        <p:spPr>
          <a:xfrm flipV="1">
            <a:off x="821742" y="914400"/>
            <a:ext cx="2383362" cy="472837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F3A8D6-614A-4890-86B7-CA2CD4A695CC}"/>
              </a:ext>
            </a:extLst>
          </p:cNvPr>
          <p:cNvCxnSpPr/>
          <p:nvPr/>
        </p:nvCxnSpPr>
        <p:spPr>
          <a:xfrm flipV="1">
            <a:off x="821742" y="994299"/>
            <a:ext cx="7132650" cy="40926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714697D-6E09-EDF0-3F94-A0B2B008A07F}"/>
              </a:ext>
            </a:extLst>
          </p:cNvPr>
          <p:cNvSpPr txBox="1"/>
          <p:nvPr/>
        </p:nvSpPr>
        <p:spPr>
          <a:xfrm>
            <a:off x="5087629" y="503556"/>
            <a:ext cx="153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1470BE-B6D2-2B30-D104-D87287FCB81E}"/>
              </a:ext>
            </a:extLst>
          </p:cNvPr>
          <p:cNvSpPr txBox="1"/>
          <p:nvPr/>
        </p:nvSpPr>
        <p:spPr>
          <a:xfrm>
            <a:off x="3021241" y="532633"/>
            <a:ext cx="153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CE03F5-EBFD-5C65-4777-9E11E381472B}"/>
              </a:ext>
            </a:extLst>
          </p:cNvPr>
          <p:cNvSpPr txBox="1"/>
          <p:nvPr/>
        </p:nvSpPr>
        <p:spPr>
          <a:xfrm>
            <a:off x="7893195" y="584720"/>
            <a:ext cx="153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970627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89E83-5730-4898-8ABA-550F2C263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9650" y="365125"/>
            <a:ext cx="6534149" cy="1325563"/>
          </a:xfrm>
        </p:spPr>
        <p:txBody>
          <a:bodyPr/>
          <a:lstStyle/>
          <a:p>
            <a:pPr algn="ctr"/>
            <a:r>
              <a:rPr lang="en-US" dirty="0"/>
              <a:t>Patterns and pictures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F01C61-4E29-4554-A630-A288B67C45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9651" y="1962985"/>
            <a:ext cx="6915150" cy="207767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3D31CC-4109-4BD4-BBB6-6736136E263E}"/>
              </a:ext>
            </a:extLst>
          </p:cNvPr>
          <p:cNvSpPr txBox="1"/>
          <p:nvPr/>
        </p:nvSpPr>
        <p:spPr>
          <a:xfrm>
            <a:off x="363985" y="365125"/>
            <a:ext cx="377300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shapes represent desks and chairs arranged in pattern.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Complete a table of values to solve how many chairs would be needed for 6 tables </a:t>
            </a:r>
          </a:p>
          <a:p>
            <a:pPr marL="342900" indent="-342900">
              <a:buAutoNum type="arabicPeriod"/>
            </a:pPr>
            <a:r>
              <a:rPr lang="en-US" dirty="0"/>
              <a:t>Generate a rule describing the relationship between tables and chairs </a:t>
            </a:r>
          </a:p>
          <a:p>
            <a:pPr marL="342900" indent="-342900">
              <a:buAutoNum type="arabicPeriod"/>
            </a:pPr>
            <a:r>
              <a:rPr lang="en-US" dirty="0"/>
              <a:t>Use this rule to determine how many chairs would be needed for:</a:t>
            </a:r>
          </a:p>
          <a:p>
            <a:pPr marL="857250" lvl="1" indent="-400050">
              <a:buAutoNum type="romanLcPeriod"/>
            </a:pPr>
            <a:r>
              <a:rPr lang="en-US" dirty="0"/>
              <a:t>10 tables </a:t>
            </a:r>
          </a:p>
          <a:p>
            <a:pPr marL="857250" lvl="1" indent="-400050">
              <a:buAutoNum type="romanLcPeriod"/>
            </a:pPr>
            <a:r>
              <a:rPr lang="en-US" dirty="0"/>
              <a:t>20 tables </a:t>
            </a:r>
            <a:endParaRPr lang="en-AU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F3FB2DC-C3CA-4FFC-9239-CF27DD944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136274"/>
              </p:ext>
            </p:extLst>
          </p:nvPr>
        </p:nvGraphicFramePr>
        <p:xfrm>
          <a:off x="4912862" y="4040659"/>
          <a:ext cx="6915153" cy="1153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879">
                  <a:extLst>
                    <a:ext uri="{9D8B030D-6E8A-4147-A177-3AD203B41FA5}">
                      <a16:colId xmlns:a16="http://schemas.microsoft.com/office/drawing/2014/main" val="475100096"/>
                    </a:ext>
                  </a:extLst>
                </a:gridCol>
                <a:gridCol w="987879">
                  <a:extLst>
                    <a:ext uri="{9D8B030D-6E8A-4147-A177-3AD203B41FA5}">
                      <a16:colId xmlns:a16="http://schemas.microsoft.com/office/drawing/2014/main" val="2508140266"/>
                    </a:ext>
                  </a:extLst>
                </a:gridCol>
                <a:gridCol w="987879">
                  <a:extLst>
                    <a:ext uri="{9D8B030D-6E8A-4147-A177-3AD203B41FA5}">
                      <a16:colId xmlns:a16="http://schemas.microsoft.com/office/drawing/2014/main" val="6267810"/>
                    </a:ext>
                  </a:extLst>
                </a:gridCol>
                <a:gridCol w="987879">
                  <a:extLst>
                    <a:ext uri="{9D8B030D-6E8A-4147-A177-3AD203B41FA5}">
                      <a16:colId xmlns:a16="http://schemas.microsoft.com/office/drawing/2014/main" val="849367488"/>
                    </a:ext>
                  </a:extLst>
                </a:gridCol>
                <a:gridCol w="987879">
                  <a:extLst>
                    <a:ext uri="{9D8B030D-6E8A-4147-A177-3AD203B41FA5}">
                      <a16:colId xmlns:a16="http://schemas.microsoft.com/office/drawing/2014/main" val="2696345459"/>
                    </a:ext>
                  </a:extLst>
                </a:gridCol>
                <a:gridCol w="987879">
                  <a:extLst>
                    <a:ext uri="{9D8B030D-6E8A-4147-A177-3AD203B41FA5}">
                      <a16:colId xmlns:a16="http://schemas.microsoft.com/office/drawing/2014/main" val="1052178744"/>
                    </a:ext>
                  </a:extLst>
                </a:gridCol>
                <a:gridCol w="987879">
                  <a:extLst>
                    <a:ext uri="{9D8B030D-6E8A-4147-A177-3AD203B41FA5}">
                      <a16:colId xmlns:a16="http://schemas.microsoft.com/office/drawing/2014/main" val="476797714"/>
                    </a:ext>
                  </a:extLst>
                </a:gridCol>
              </a:tblGrid>
              <a:tr h="576762">
                <a:tc>
                  <a:txBody>
                    <a:bodyPr/>
                    <a:lstStyle/>
                    <a:p>
                      <a:r>
                        <a:rPr lang="en-US" sz="2400" b="1" dirty="0"/>
                        <a:t>Tables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5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233994"/>
                  </a:ext>
                </a:extLst>
              </a:tr>
              <a:tr h="576762">
                <a:tc>
                  <a:txBody>
                    <a:bodyPr/>
                    <a:lstStyle/>
                    <a:p>
                      <a:r>
                        <a:rPr lang="en-US" sz="2400" b="1" dirty="0"/>
                        <a:t>Chairs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64845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085357-2DFF-B5E6-D4AA-E70058FC6747}"/>
              </a:ext>
            </a:extLst>
          </p:cNvPr>
          <p:cNvSpPr txBox="1"/>
          <p:nvPr/>
        </p:nvSpPr>
        <p:spPr>
          <a:xfrm>
            <a:off x="1249975" y="5953006"/>
            <a:ext cx="2001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Yr8 Rule:__________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52D813-327C-5AC7-FD41-BBF3C5305880}"/>
              </a:ext>
            </a:extLst>
          </p:cNvPr>
          <p:cNvSpPr txBox="1"/>
          <p:nvPr/>
        </p:nvSpPr>
        <p:spPr>
          <a:xfrm>
            <a:off x="7297511" y="5352841"/>
            <a:ext cx="2928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many chairs for:</a:t>
            </a:r>
          </a:p>
          <a:p>
            <a:pPr marL="342900" indent="-342900">
              <a:buAutoNum type="alphaLcParenR"/>
            </a:pPr>
            <a:r>
              <a:rPr lang="en-AU" dirty="0"/>
              <a:t>10 tables?</a:t>
            </a:r>
          </a:p>
          <a:p>
            <a:pPr marL="342900" indent="-342900">
              <a:buAutoNum type="alphaLcParenR"/>
            </a:pPr>
            <a:endParaRPr lang="en-AU" dirty="0"/>
          </a:p>
          <a:p>
            <a:pPr marL="342900" indent="-342900">
              <a:buAutoNum type="alphaLcParenR"/>
            </a:pPr>
            <a:r>
              <a:rPr lang="en-AU" dirty="0"/>
              <a:t>20 tables?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137625-84A8-8D04-7C1B-D01931E34955}"/>
              </a:ext>
            </a:extLst>
          </p:cNvPr>
          <p:cNvSpPr txBox="1"/>
          <p:nvPr/>
        </p:nvSpPr>
        <p:spPr>
          <a:xfrm>
            <a:off x="715348" y="5477569"/>
            <a:ext cx="631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Number of chairs = ______ x Number of tables + _______</a:t>
            </a:r>
          </a:p>
        </p:txBody>
      </p:sp>
    </p:spTree>
    <p:extLst>
      <p:ext uri="{BB962C8B-B14F-4D97-AF65-F5344CB8AC3E}">
        <p14:creationId xmlns:p14="http://schemas.microsoft.com/office/powerpoint/2010/main" val="3376192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AC26-1A38-C7F6-2F41-36EEFE0CE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0549"/>
          </a:xfrm>
        </p:spPr>
        <p:txBody>
          <a:bodyPr>
            <a:normAutofit fontScale="90000"/>
          </a:bodyPr>
          <a:lstStyle/>
          <a:p>
            <a:r>
              <a:rPr lang="en-US" dirty="0"/>
              <a:t>What’s the story? </a:t>
            </a:r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81E8F28-4C6C-CDAA-8026-DB29B7DD34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3881500"/>
              </p:ext>
            </p:extLst>
          </p:nvPr>
        </p:nvGraphicFramePr>
        <p:xfrm>
          <a:off x="922175" y="837922"/>
          <a:ext cx="1051559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27796897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0053567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9460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Story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482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1. Connor is 5 years younger than Declan 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Connor’s age 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Declan’ age 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565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2. Liam earns $5 for every car he washes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Number of cars washed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Amount ($) earned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470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3. Jayce and 4 friends share some lollies 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Total number of lollies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Number of lollies each person gets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10177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DBE3E2A-3374-48B5-A3B5-41EC13376BD0}"/>
              </a:ext>
            </a:extLst>
          </p:cNvPr>
          <p:cNvSpPr txBox="1"/>
          <p:nvPr/>
        </p:nvSpPr>
        <p:spPr>
          <a:xfrm>
            <a:off x="275201" y="3943474"/>
            <a:ext cx="72848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Create a table of values for:</a:t>
            </a:r>
          </a:p>
          <a:p>
            <a:r>
              <a:rPr lang="en-US" sz="2400" b="1" dirty="0"/>
              <a:t>Story 1</a:t>
            </a:r>
          </a:p>
          <a:p>
            <a:endParaRPr lang="en-US" sz="2400" b="1" dirty="0"/>
          </a:p>
          <a:p>
            <a:r>
              <a:rPr lang="en-US" sz="2400" b="1" dirty="0"/>
              <a:t>Story 2 </a:t>
            </a:r>
          </a:p>
          <a:p>
            <a:endParaRPr lang="en-US" sz="2400" b="1" dirty="0"/>
          </a:p>
          <a:p>
            <a:r>
              <a:rPr lang="en-US" sz="2400" b="1" dirty="0"/>
              <a:t>Story 3 </a:t>
            </a:r>
            <a:endParaRPr lang="en-AU" sz="2400" b="1" dirty="0"/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472B6857-E23F-89C8-6999-28AF40C48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245640"/>
              </p:ext>
            </p:extLst>
          </p:nvPr>
        </p:nvGraphicFramePr>
        <p:xfrm>
          <a:off x="4405860" y="3944112"/>
          <a:ext cx="7380310" cy="963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629">
                  <a:extLst>
                    <a:ext uri="{9D8B030D-6E8A-4147-A177-3AD203B41FA5}">
                      <a16:colId xmlns:a16="http://schemas.microsoft.com/office/drawing/2014/main" val="475100096"/>
                    </a:ext>
                  </a:extLst>
                </a:gridCol>
                <a:gridCol w="848031">
                  <a:extLst>
                    <a:ext uri="{9D8B030D-6E8A-4147-A177-3AD203B41FA5}">
                      <a16:colId xmlns:a16="http://schemas.microsoft.com/office/drawing/2014/main" val="2508140266"/>
                    </a:ext>
                  </a:extLst>
                </a:gridCol>
                <a:gridCol w="1054330">
                  <a:extLst>
                    <a:ext uri="{9D8B030D-6E8A-4147-A177-3AD203B41FA5}">
                      <a16:colId xmlns:a16="http://schemas.microsoft.com/office/drawing/2014/main" val="6267810"/>
                    </a:ext>
                  </a:extLst>
                </a:gridCol>
                <a:gridCol w="1054330">
                  <a:extLst>
                    <a:ext uri="{9D8B030D-6E8A-4147-A177-3AD203B41FA5}">
                      <a16:colId xmlns:a16="http://schemas.microsoft.com/office/drawing/2014/main" val="849367488"/>
                    </a:ext>
                  </a:extLst>
                </a:gridCol>
                <a:gridCol w="1054330">
                  <a:extLst>
                    <a:ext uri="{9D8B030D-6E8A-4147-A177-3AD203B41FA5}">
                      <a16:colId xmlns:a16="http://schemas.microsoft.com/office/drawing/2014/main" val="2696345459"/>
                    </a:ext>
                  </a:extLst>
                </a:gridCol>
                <a:gridCol w="1054330">
                  <a:extLst>
                    <a:ext uri="{9D8B030D-6E8A-4147-A177-3AD203B41FA5}">
                      <a16:colId xmlns:a16="http://schemas.microsoft.com/office/drawing/2014/main" val="1052178744"/>
                    </a:ext>
                  </a:extLst>
                </a:gridCol>
                <a:gridCol w="1054330">
                  <a:extLst>
                    <a:ext uri="{9D8B030D-6E8A-4147-A177-3AD203B41FA5}">
                      <a16:colId xmlns:a16="http://schemas.microsoft.com/office/drawing/2014/main" val="476797714"/>
                    </a:ext>
                  </a:extLst>
                </a:gridCol>
              </a:tblGrid>
              <a:tr h="481895">
                <a:tc>
                  <a:txBody>
                    <a:bodyPr/>
                    <a:lstStyle/>
                    <a:p>
                      <a:r>
                        <a:rPr lang="en-US" sz="2400" b="1" dirty="0"/>
                        <a:t>INPUT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5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233994"/>
                  </a:ext>
                </a:extLst>
              </a:tr>
              <a:tr h="481895">
                <a:tc>
                  <a:txBody>
                    <a:bodyPr/>
                    <a:lstStyle/>
                    <a:p>
                      <a:r>
                        <a:rPr lang="en-US" sz="2400" b="1" dirty="0"/>
                        <a:t>OUTPUT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648459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185793E-9101-9227-7C75-115CD4235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031570"/>
              </p:ext>
            </p:extLst>
          </p:nvPr>
        </p:nvGraphicFramePr>
        <p:xfrm>
          <a:off x="4405860" y="4907902"/>
          <a:ext cx="7380310" cy="963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629">
                  <a:extLst>
                    <a:ext uri="{9D8B030D-6E8A-4147-A177-3AD203B41FA5}">
                      <a16:colId xmlns:a16="http://schemas.microsoft.com/office/drawing/2014/main" val="475100096"/>
                    </a:ext>
                  </a:extLst>
                </a:gridCol>
                <a:gridCol w="848031">
                  <a:extLst>
                    <a:ext uri="{9D8B030D-6E8A-4147-A177-3AD203B41FA5}">
                      <a16:colId xmlns:a16="http://schemas.microsoft.com/office/drawing/2014/main" val="2508140266"/>
                    </a:ext>
                  </a:extLst>
                </a:gridCol>
                <a:gridCol w="1054330">
                  <a:extLst>
                    <a:ext uri="{9D8B030D-6E8A-4147-A177-3AD203B41FA5}">
                      <a16:colId xmlns:a16="http://schemas.microsoft.com/office/drawing/2014/main" val="6267810"/>
                    </a:ext>
                  </a:extLst>
                </a:gridCol>
                <a:gridCol w="1054330">
                  <a:extLst>
                    <a:ext uri="{9D8B030D-6E8A-4147-A177-3AD203B41FA5}">
                      <a16:colId xmlns:a16="http://schemas.microsoft.com/office/drawing/2014/main" val="849367488"/>
                    </a:ext>
                  </a:extLst>
                </a:gridCol>
                <a:gridCol w="1054330">
                  <a:extLst>
                    <a:ext uri="{9D8B030D-6E8A-4147-A177-3AD203B41FA5}">
                      <a16:colId xmlns:a16="http://schemas.microsoft.com/office/drawing/2014/main" val="2696345459"/>
                    </a:ext>
                  </a:extLst>
                </a:gridCol>
                <a:gridCol w="1054330">
                  <a:extLst>
                    <a:ext uri="{9D8B030D-6E8A-4147-A177-3AD203B41FA5}">
                      <a16:colId xmlns:a16="http://schemas.microsoft.com/office/drawing/2014/main" val="1052178744"/>
                    </a:ext>
                  </a:extLst>
                </a:gridCol>
                <a:gridCol w="1054330">
                  <a:extLst>
                    <a:ext uri="{9D8B030D-6E8A-4147-A177-3AD203B41FA5}">
                      <a16:colId xmlns:a16="http://schemas.microsoft.com/office/drawing/2014/main" val="476797714"/>
                    </a:ext>
                  </a:extLst>
                </a:gridCol>
              </a:tblGrid>
              <a:tr h="481895">
                <a:tc>
                  <a:txBody>
                    <a:bodyPr/>
                    <a:lstStyle/>
                    <a:p>
                      <a:r>
                        <a:rPr lang="en-US" sz="2400" b="1" dirty="0"/>
                        <a:t>INPUT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5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233994"/>
                  </a:ext>
                </a:extLst>
              </a:tr>
              <a:tr h="481895">
                <a:tc>
                  <a:txBody>
                    <a:bodyPr/>
                    <a:lstStyle/>
                    <a:p>
                      <a:r>
                        <a:rPr lang="en-US" sz="2400" b="1" dirty="0"/>
                        <a:t>OUTPUT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64845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41DB3F-5548-B4F6-7789-C3BD28FA9D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159548"/>
              </p:ext>
            </p:extLst>
          </p:nvPr>
        </p:nvGraphicFramePr>
        <p:xfrm>
          <a:off x="4405860" y="5871692"/>
          <a:ext cx="7380310" cy="963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629">
                  <a:extLst>
                    <a:ext uri="{9D8B030D-6E8A-4147-A177-3AD203B41FA5}">
                      <a16:colId xmlns:a16="http://schemas.microsoft.com/office/drawing/2014/main" val="475100096"/>
                    </a:ext>
                  </a:extLst>
                </a:gridCol>
                <a:gridCol w="848031">
                  <a:extLst>
                    <a:ext uri="{9D8B030D-6E8A-4147-A177-3AD203B41FA5}">
                      <a16:colId xmlns:a16="http://schemas.microsoft.com/office/drawing/2014/main" val="2508140266"/>
                    </a:ext>
                  </a:extLst>
                </a:gridCol>
                <a:gridCol w="1054330">
                  <a:extLst>
                    <a:ext uri="{9D8B030D-6E8A-4147-A177-3AD203B41FA5}">
                      <a16:colId xmlns:a16="http://schemas.microsoft.com/office/drawing/2014/main" val="6267810"/>
                    </a:ext>
                  </a:extLst>
                </a:gridCol>
                <a:gridCol w="1054330">
                  <a:extLst>
                    <a:ext uri="{9D8B030D-6E8A-4147-A177-3AD203B41FA5}">
                      <a16:colId xmlns:a16="http://schemas.microsoft.com/office/drawing/2014/main" val="849367488"/>
                    </a:ext>
                  </a:extLst>
                </a:gridCol>
                <a:gridCol w="1054330">
                  <a:extLst>
                    <a:ext uri="{9D8B030D-6E8A-4147-A177-3AD203B41FA5}">
                      <a16:colId xmlns:a16="http://schemas.microsoft.com/office/drawing/2014/main" val="2696345459"/>
                    </a:ext>
                  </a:extLst>
                </a:gridCol>
                <a:gridCol w="1054330">
                  <a:extLst>
                    <a:ext uri="{9D8B030D-6E8A-4147-A177-3AD203B41FA5}">
                      <a16:colId xmlns:a16="http://schemas.microsoft.com/office/drawing/2014/main" val="1052178744"/>
                    </a:ext>
                  </a:extLst>
                </a:gridCol>
                <a:gridCol w="1054330">
                  <a:extLst>
                    <a:ext uri="{9D8B030D-6E8A-4147-A177-3AD203B41FA5}">
                      <a16:colId xmlns:a16="http://schemas.microsoft.com/office/drawing/2014/main" val="476797714"/>
                    </a:ext>
                  </a:extLst>
                </a:gridCol>
              </a:tblGrid>
              <a:tr h="481895">
                <a:tc>
                  <a:txBody>
                    <a:bodyPr/>
                    <a:lstStyle/>
                    <a:p>
                      <a:r>
                        <a:rPr lang="en-US" sz="2400" b="1" dirty="0"/>
                        <a:t>INPUT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5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233994"/>
                  </a:ext>
                </a:extLst>
              </a:tr>
              <a:tr h="481895">
                <a:tc>
                  <a:txBody>
                    <a:bodyPr/>
                    <a:lstStyle/>
                    <a:p>
                      <a:r>
                        <a:rPr lang="en-US" sz="2400" b="1" dirty="0"/>
                        <a:t>OUTPUT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64845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9D8CDFA-7424-1939-3A79-C782F0035E29}"/>
              </a:ext>
            </a:extLst>
          </p:cNvPr>
          <p:cNvCxnSpPr/>
          <p:nvPr/>
        </p:nvCxnSpPr>
        <p:spPr>
          <a:xfrm flipV="1">
            <a:off x="1343608" y="4426007"/>
            <a:ext cx="2836506" cy="108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B18335-4885-05E6-4A85-9724A3D78A6C}"/>
              </a:ext>
            </a:extLst>
          </p:cNvPr>
          <p:cNvCxnSpPr/>
          <p:nvPr/>
        </p:nvCxnSpPr>
        <p:spPr>
          <a:xfrm>
            <a:off x="1278294" y="5262465"/>
            <a:ext cx="2985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1659E7-6E3C-59B4-4738-29EAA145F1E4}"/>
              </a:ext>
            </a:extLst>
          </p:cNvPr>
          <p:cNvCxnSpPr/>
          <p:nvPr/>
        </p:nvCxnSpPr>
        <p:spPr>
          <a:xfrm>
            <a:off x="1343608" y="6055567"/>
            <a:ext cx="2836506" cy="298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49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9CD0-042D-0FA9-17C2-0690AC088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the following :</a:t>
            </a:r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1F00CD1-5B94-9C02-0C11-DA27C0EDD1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3385725"/>
              </p:ext>
            </p:extLst>
          </p:nvPr>
        </p:nvGraphicFramePr>
        <p:xfrm>
          <a:off x="838200" y="1825625"/>
          <a:ext cx="1051559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86582710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46862395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1536645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89902732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02628208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1639059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571730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X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5</a:t>
                      </a:r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3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y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5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7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9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11</a:t>
                      </a:r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08013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B0D116-216F-2051-7CF0-4EE8CADAD4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0144324"/>
              </p:ext>
            </p:extLst>
          </p:nvPr>
        </p:nvGraphicFramePr>
        <p:xfrm>
          <a:off x="838200" y="3717308"/>
          <a:ext cx="1051559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86582710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46862395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1536645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89902732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02628208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1639059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571730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X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6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8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10</a:t>
                      </a:r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3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y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15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13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11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9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7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5</a:t>
                      </a:r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0801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FED58E1-F04D-A111-EB2E-F8823B271E6A}"/>
              </a:ext>
            </a:extLst>
          </p:cNvPr>
          <p:cNvSpPr txBox="1"/>
          <p:nvPr/>
        </p:nvSpPr>
        <p:spPr>
          <a:xfrm>
            <a:off x="763479" y="2840854"/>
            <a:ext cx="3986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Is it linear? What is the rule? 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2365B4-4EAC-1C70-CE2F-89888BDA349C}"/>
              </a:ext>
            </a:extLst>
          </p:cNvPr>
          <p:cNvSpPr txBox="1"/>
          <p:nvPr/>
        </p:nvSpPr>
        <p:spPr>
          <a:xfrm>
            <a:off x="763479" y="4803403"/>
            <a:ext cx="3986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Is it linear? What is the rule? </a:t>
            </a:r>
            <a:endParaRPr lang="en-AU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0E13AA-B41D-962A-7916-928620A7B006}"/>
              </a:ext>
            </a:extLst>
          </p:cNvPr>
          <p:cNvSpPr txBox="1"/>
          <p:nvPr/>
        </p:nvSpPr>
        <p:spPr>
          <a:xfrm>
            <a:off x="763479" y="5548543"/>
            <a:ext cx="102803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John is a plumber that charges $50 per hour and a $50 call out fee.</a:t>
            </a:r>
          </a:p>
          <a:p>
            <a:r>
              <a:rPr lang="en-US" sz="2400" b="1" dirty="0"/>
              <a:t>1. Make a rule </a:t>
            </a:r>
          </a:p>
          <a:p>
            <a:r>
              <a:rPr lang="en-US" sz="2400" b="1" dirty="0"/>
              <a:t>2. Create a table of values for the first 6 hours and plot the graph.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361358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564</Words>
  <Application>Microsoft Office PowerPoint</Application>
  <PresentationFormat>Widescreen</PresentationFormat>
  <Paragraphs>196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Starter: </vt:lpstr>
      <vt:lpstr>What is the angle? </vt:lpstr>
      <vt:lpstr>Increasing scale </vt:lpstr>
      <vt:lpstr>Who’s who?</vt:lpstr>
      <vt:lpstr>Review </vt:lpstr>
      <vt:lpstr>PowerPoint Presentation</vt:lpstr>
      <vt:lpstr>Patterns and pictures </vt:lpstr>
      <vt:lpstr>What’s the story? </vt:lpstr>
      <vt:lpstr>Plot the following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11</cp:revision>
  <dcterms:created xsi:type="dcterms:W3CDTF">2022-11-08T03:51:38Z</dcterms:created>
  <dcterms:modified xsi:type="dcterms:W3CDTF">2023-10-31T06:06:17Z</dcterms:modified>
</cp:coreProperties>
</file>
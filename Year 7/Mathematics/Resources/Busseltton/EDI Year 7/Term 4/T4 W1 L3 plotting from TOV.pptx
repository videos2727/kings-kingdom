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69" r:id="rId4"/>
    <p:sldId id="270" r:id="rId5"/>
    <p:sldId id="261" r:id="rId6"/>
    <p:sldId id="260" r:id="rId7"/>
    <p:sldId id="263" r:id="rId8"/>
    <p:sldId id="264" r:id="rId9"/>
    <p:sldId id="267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7132B6-55AC-40DD-A9FB-8EA1E9728B77}" type="datetimeFigureOut">
              <a:rPr lang="en-AU" smtClean="0"/>
              <a:t>12/10/2023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FD418-3374-46BC-956F-64075814F6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9602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draw the next shape in the pattern on their whiteboards.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FD418-3374-46BC-956F-64075814F6F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3448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Have students draw the next shape in the pattern on their whiteboards.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FD418-3374-46BC-956F-64075814F6F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1632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Have students draw the next shape in the pattern on their whiteboards.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FD418-3374-46BC-956F-64075814F6F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1826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5AC7-28D7-72CD-83CB-4AC2F4E2A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C707A-CE88-1770-A86F-88CA50C8E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BEB44-B5E5-46A3-C707-1661755A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E8BF-2C58-4E10-B172-8E2B381EA68D}" type="datetimeFigureOut">
              <a:rPr lang="en-AU" smtClean="0"/>
              <a:t>12/10/2023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69478-B2FA-C1E0-9380-FCB92FDC5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3DC4C-A4D4-BBA4-0EEB-B3B98679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0AD1-25D0-4221-9BC4-A174D6CC2F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8553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BD077-A054-3353-158F-16AFFCDF6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60831-F3FB-F644-2233-F2D229852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016F-B474-3D81-EFBB-00E68862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E8BF-2C58-4E10-B172-8E2B381EA68D}" type="datetimeFigureOut">
              <a:rPr lang="en-AU" smtClean="0"/>
              <a:t>12/10/2023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BC2A4-822B-D10C-D25C-207C1CF71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9F236-43F7-CAB3-9E6F-DD3E846C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0AD1-25D0-4221-9BC4-A174D6CC2F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7671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B1814-2135-E870-539A-3836FA796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4403F-1F50-0725-7043-E20FC6BAC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D219F-5303-D70F-2641-F183FF21C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E8BF-2C58-4E10-B172-8E2B381EA68D}" type="datetimeFigureOut">
              <a:rPr lang="en-AU" smtClean="0"/>
              <a:t>12/10/2023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7395F-E1A9-3CE8-F043-B9F6B2E0F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CB01D-307B-92A2-C1A7-CE7B3883A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0AD1-25D0-4221-9BC4-A174D6CC2F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394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B908-39AA-0EED-1CD6-194F39132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01269-0E46-CEFC-2172-2D31F427C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CE751-001F-5969-9C18-B05721BB1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521D6-44DD-0DF1-C404-DF9A24E37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E8BF-2C58-4E10-B172-8E2B381EA68D}" type="datetimeFigureOut">
              <a:rPr lang="en-AU" smtClean="0"/>
              <a:t>12/10/2023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3CEC6-E2C7-6BF3-F1EF-FA23486D5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D7058-E881-87F0-3D97-EC8126BA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0AD1-25D0-4221-9BC4-A174D6CC2F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2782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96C3-81DC-54D5-ED21-42631484F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0BC4C-ED74-E541-D505-6CB6F0F82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A67AF-A990-6344-117D-400471695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018003-D932-A31F-6117-229599E88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B4CB96-571D-EA47-CEFF-13A54AA51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0E858A-90D9-2AAD-9B87-2A4AB2266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E8BF-2C58-4E10-B172-8E2B381EA68D}" type="datetimeFigureOut">
              <a:rPr lang="en-AU" smtClean="0"/>
              <a:t>12/10/2023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E1FBD5-AE5E-ACA8-4CCB-75E07A1A6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515E9-BD16-F412-C429-09607920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0AD1-25D0-4221-9BC4-A174D6CC2F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841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6139E-53DB-2BD2-E51B-C06C7973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098A11-2021-AEEC-2758-01F93FDBE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E8BF-2C58-4E10-B172-8E2B381EA68D}" type="datetimeFigureOut">
              <a:rPr lang="en-AU" smtClean="0"/>
              <a:t>12/10/2023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3D079B-1B9F-3F4D-78AF-F82B6E9B7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9A728-5B6F-F252-37EB-B5F31BE0B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0AD1-25D0-4221-9BC4-A174D6CC2F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994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FA9D9D-15A3-797D-9246-D23A9703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E8BF-2C58-4E10-B172-8E2B381EA68D}" type="datetimeFigureOut">
              <a:rPr lang="en-AU" smtClean="0"/>
              <a:t>12/10/2023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A02B1-5B0B-E60F-298C-D0B9DFDA8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5113D-574B-D38A-8CDF-DEFE251D2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0AD1-25D0-4221-9BC4-A174D6CC2F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178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E446-4F77-F9E0-D8D7-521B0C623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D332D-EBEE-7473-75D0-63E50EF56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A5629-A015-9AB9-9781-981575057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C1747-3892-A9E3-BD1F-24E0D8B6C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E8BF-2C58-4E10-B172-8E2B381EA68D}" type="datetimeFigureOut">
              <a:rPr lang="en-AU" smtClean="0"/>
              <a:t>12/10/2023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CC1DE-580B-E666-D013-B14C3E98E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BA795-496A-73D6-3E5D-4D2EA60AA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0AD1-25D0-4221-9BC4-A174D6CC2F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9054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3E493-903D-6E8A-89F9-9BC17395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430032-2B6B-E8B6-36C4-B229D416A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721CF-D164-40A7-99DD-A5820A220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BC492-E385-DFF6-D9B2-07D94DBF1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E8BF-2C58-4E10-B172-8E2B381EA68D}" type="datetimeFigureOut">
              <a:rPr lang="en-AU" smtClean="0"/>
              <a:t>12/10/2023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4375F-061D-8446-6727-641687BDB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AF8E2-811D-0278-A825-6418E1F7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0AD1-25D0-4221-9BC4-A174D6CC2F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696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73DBE-8A82-4A13-5CF9-54348B6A1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258FB-5BBE-26AA-06DC-55F9BE205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8A485-A9F1-DAE5-14DA-34C8518E4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E8BF-2C58-4E10-B172-8E2B381EA68D}" type="datetimeFigureOut">
              <a:rPr lang="en-AU" smtClean="0"/>
              <a:t>12/10/2023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460DA-CF12-5266-38B7-8AD082241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16E27-3D97-174C-201F-A1883D47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0AD1-25D0-4221-9BC4-A174D6CC2F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3056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83AEA4-D780-CB5E-D4C5-BA4DD13157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3B54-BCD5-88A4-DEE0-5144B6608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EA38-802E-5DD3-D85C-6C215A66A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E8BF-2C58-4E10-B172-8E2B381EA68D}" type="datetimeFigureOut">
              <a:rPr lang="en-AU" smtClean="0"/>
              <a:t>12/10/2023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5CB68-EC49-6A52-86F6-C6D172E4D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6A5AF-3CE7-C3A4-FD46-6E4475BF0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0AD1-25D0-4221-9BC4-A174D6CC2F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5925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A3807F-F8FD-43D8-1272-EFFB20C43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85F3B-9287-F7DF-F995-2CA635370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68C37-B411-09B9-FCCA-1E408E73F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1E8BF-2C58-4E10-B172-8E2B381EA68D}" type="datetimeFigureOut">
              <a:rPr lang="en-AU" smtClean="0"/>
              <a:t>12/10/2023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7C994-87CB-9B85-8731-351BF8FD5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ACD49-E255-764F-FB65-6E5C87A167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50AD1-25D0-4221-9BC4-A174D6CC2F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0020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E6EF7F-0F8E-FBCB-2E49-EC7844131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AE3D76-41F1-4CED-7AE5-DAE894D40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Title: </a:t>
            </a:r>
            <a:r>
              <a:rPr lang="en-US" b="1" dirty="0">
                <a:solidFill>
                  <a:schemeClr val="bg1"/>
                </a:solidFill>
              </a:rPr>
              <a:t>Linear sequences 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</a:rPr>
              <a:t> Determine if a sequence is linear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</a:rPr>
              <a:t> Plot graphs from sequences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chemeClr val="bg1"/>
                </a:solidFill>
              </a:rPr>
              <a:t>Review rules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chemeClr val="bg1"/>
                </a:solidFill>
              </a:rPr>
              <a:t>Plotting graphs </a:t>
            </a:r>
            <a:endParaRPr lang="en-AU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489D7F-0178-F8BD-7161-6D0052239372}"/>
              </a:ext>
            </a:extLst>
          </p:cNvPr>
          <p:cNvSpPr txBox="1"/>
          <p:nvPr/>
        </p:nvSpPr>
        <p:spPr>
          <a:xfrm>
            <a:off x="7421732" y="1233996"/>
            <a:ext cx="3497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highlight>
                  <a:srgbClr val="FFFF00"/>
                </a:highlight>
              </a:rPr>
              <a:t>Need rulers and </a:t>
            </a:r>
            <a:r>
              <a:rPr lang="en-US" sz="2000" b="1" dirty="0">
                <a:highlight>
                  <a:srgbClr val="FFFF00"/>
                </a:highlight>
              </a:rPr>
              <a:t>calculators. 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0643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37B10-A2CD-1425-6555-414550155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3F29FC-C946-1A0B-308F-C5CDB9CF2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3206" y="527289"/>
            <a:ext cx="10835503" cy="2901711"/>
          </a:xfr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81220C3-57AB-A812-CBBB-24A0CC669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726838"/>
              </p:ext>
            </p:extLst>
          </p:nvPr>
        </p:nvGraphicFramePr>
        <p:xfrm>
          <a:off x="1650260" y="3746950"/>
          <a:ext cx="8576814" cy="1695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9469">
                  <a:extLst>
                    <a:ext uri="{9D8B030D-6E8A-4147-A177-3AD203B41FA5}">
                      <a16:colId xmlns:a16="http://schemas.microsoft.com/office/drawing/2014/main" val="1334507056"/>
                    </a:ext>
                  </a:extLst>
                </a:gridCol>
                <a:gridCol w="1429469">
                  <a:extLst>
                    <a:ext uri="{9D8B030D-6E8A-4147-A177-3AD203B41FA5}">
                      <a16:colId xmlns:a16="http://schemas.microsoft.com/office/drawing/2014/main" val="1523138986"/>
                    </a:ext>
                  </a:extLst>
                </a:gridCol>
                <a:gridCol w="1429469">
                  <a:extLst>
                    <a:ext uri="{9D8B030D-6E8A-4147-A177-3AD203B41FA5}">
                      <a16:colId xmlns:a16="http://schemas.microsoft.com/office/drawing/2014/main" val="698171661"/>
                    </a:ext>
                  </a:extLst>
                </a:gridCol>
                <a:gridCol w="1429469">
                  <a:extLst>
                    <a:ext uri="{9D8B030D-6E8A-4147-A177-3AD203B41FA5}">
                      <a16:colId xmlns:a16="http://schemas.microsoft.com/office/drawing/2014/main" val="1559281217"/>
                    </a:ext>
                  </a:extLst>
                </a:gridCol>
                <a:gridCol w="1429469">
                  <a:extLst>
                    <a:ext uri="{9D8B030D-6E8A-4147-A177-3AD203B41FA5}">
                      <a16:colId xmlns:a16="http://schemas.microsoft.com/office/drawing/2014/main" val="1051353218"/>
                    </a:ext>
                  </a:extLst>
                </a:gridCol>
                <a:gridCol w="1429469">
                  <a:extLst>
                    <a:ext uri="{9D8B030D-6E8A-4147-A177-3AD203B41FA5}">
                      <a16:colId xmlns:a16="http://schemas.microsoft.com/office/drawing/2014/main" val="1216876782"/>
                    </a:ext>
                  </a:extLst>
                </a:gridCol>
              </a:tblGrid>
              <a:tr h="84753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Term number 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891456"/>
                  </a:ext>
                </a:extLst>
              </a:tr>
              <a:tr h="84753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Number of matches 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422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858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2A14-85CF-E023-6787-44176B0F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99F8BB-2AEA-008F-3328-4352F02A6A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1496" y="572930"/>
            <a:ext cx="11202277" cy="2235515"/>
          </a:xfr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E25733E-0F77-9D9B-5459-977D5323B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338102"/>
              </p:ext>
            </p:extLst>
          </p:nvPr>
        </p:nvGraphicFramePr>
        <p:xfrm>
          <a:off x="1650260" y="3746950"/>
          <a:ext cx="8576814" cy="1695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9469">
                  <a:extLst>
                    <a:ext uri="{9D8B030D-6E8A-4147-A177-3AD203B41FA5}">
                      <a16:colId xmlns:a16="http://schemas.microsoft.com/office/drawing/2014/main" val="1334507056"/>
                    </a:ext>
                  </a:extLst>
                </a:gridCol>
                <a:gridCol w="1429469">
                  <a:extLst>
                    <a:ext uri="{9D8B030D-6E8A-4147-A177-3AD203B41FA5}">
                      <a16:colId xmlns:a16="http://schemas.microsoft.com/office/drawing/2014/main" val="1523138986"/>
                    </a:ext>
                  </a:extLst>
                </a:gridCol>
                <a:gridCol w="1429469">
                  <a:extLst>
                    <a:ext uri="{9D8B030D-6E8A-4147-A177-3AD203B41FA5}">
                      <a16:colId xmlns:a16="http://schemas.microsoft.com/office/drawing/2014/main" val="698171661"/>
                    </a:ext>
                  </a:extLst>
                </a:gridCol>
                <a:gridCol w="1429469">
                  <a:extLst>
                    <a:ext uri="{9D8B030D-6E8A-4147-A177-3AD203B41FA5}">
                      <a16:colId xmlns:a16="http://schemas.microsoft.com/office/drawing/2014/main" val="1559281217"/>
                    </a:ext>
                  </a:extLst>
                </a:gridCol>
                <a:gridCol w="1429469">
                  <a:extLst>
                    <a:ext uri="{9D8B030D-6E8A-4147-A177-3AD203B41FA5}">
                      <a16:colId xmlns:a16="http://schemas.microsoft.com/office/drawing/2014/main" val="1051353218"/>
                    </a:ext>
                  </a:extLst>
                </a:gridCol>
                <a:gridCol w="1429469">
                  <a:extLst>
                    <a:ext uri="{9D8B030D-6E8A-4147-A177-3AD203B41FA5}">
                      <a16:colId xmlns:a16="http://schemas.microsoft.com/office/drawing/2014/main" val="1216876782"/>
                    </a:ext>
                  </a:extLst>
                </a:gridCol>
              </a:tblGrid>
              <a:tr h="84753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Term number 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891456"/>
                  </a:ext>
                </a:extLst>
              </a:tr>
              <a:tr h="84753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Number of matches 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422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6318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5EE02-14D8-CE57-5425-6E30AE94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98E158-A8F8-1B7F-2DB6-F7CC85D6D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1275" y="365125"/>
            <a:ext cx="11970725" cy="2304595"/>
          </a:xfr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EDF4D0E-F4A2-8D8C-5ECA-41AA0B90A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338102"/>
              </p:ext>
            </p:extLst>
          </p:nvPr>
        </p:nvGraphicFramePr>
        <p:xfrm>
          <a:off x="1650260" y="3746950"/>
          <a:ext cx="8576814" cy="1695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9469">
                  <a:extLst>
                    <a:ext uri="{9D8B030D-6E8A-4147-A177-3AD203B41FA5}">
                      <a16:colId xmlns:a16="http://schemas.microsoft.com/office/drawing/2014/main" val="1334507056"/>
                    </a:ext>
                  </a:extLst>
                </a:gridCol>
                <a:gridCol w="1429469">
                  <a:extLst>
                    <a:ext uri="{9D8B030D-6E8A-4147-A177-3AD203B41FA5}">
                      <a16:colId xmlns:a16="http://schemas.microsoft.com/office/drawing/2014/main" val="1523138986"/>
                    </a:ext>
                  </a:extLst>
                </a:gridCol>
                <a:gridCol w="1429469">
                  <a:extLst>
                    <a:ext uri="{9D8B030D-6E8A-4147-A177-3AD203B41FA5}">
                      <a16:colId xmlns:a16="http://schemas.microsoft.com/office/drawing/2014/main" val="698171661"/>
                    </a:ext>
                  </a:extLst>
                </a:gridCol>
                <a:gridCol w="1429469">
                  <a:extLst>
                    <a:ext uri="{9D8B030D-6E8A-4147-A177-3AD203B41FA5}">
                      <a16:colId xmlns:a16="http://schemas.microsoft.com/office/drawing/2014/main" val="1559281217"/>
                    </a:ext>
                  </a:extLst>
                </a:gridCol>
                <a:gridCol w="1429469">
                  <a:extLst>
                    <a:ext uri="{9D8B030D-6E8A-4147-A177-3AD203B41FA5}">
                      <a16:colId xmlns:a16="http://schemas.microsoft.com/office/drawing/2014/main" val="1051353218"/>
                    </a:ext>
                  </a:extLst>
                </a:gridCol>
                <a:gridCol w="1429469">
                  <a:extLst>
                    <a:ext uri="{9D8B030D-6E8A-4147-A177-3AD203B41FA5}">
                      <a16:colId xmlns:a16="http://schemas.microsoft.com/office/drawing/2014/main" val="1216876782"/>
                    </a:ext>
                  </a:extLst>
                </a:gridCol>
              </a:tblGrid>
              <a:tr h="84753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Term number 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891456"/>
                  </a:ext>
                </a:extLst>
              </a:tr>
              <a:tr h="84753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Number of matches 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422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243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3A5B-1FDC-4445-99AD-8F5F189B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linear?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5F2D5-A1A3-4269-A156-B1810A42F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An equation or sequence is </a:t>
            </a:r>
            <a:r>
              <a:rPr lang="en-US" b="1" i="1" dirty="0">
                <a:solidFill>
                  <a:srgbClr val="FF0000"/>
                </a:solidFill>
              </a:rPr>
              <a:t>linear</a:t>
            </a:r>
            <a:r>
              <a:rPr lang="en-US" dirty="0">
                <a:solidFill>
                  <a:srgbClr val="FF0000"/>
                </a:solidFill>
              </a:rPr>
              <a:t> if its graph forms a </a:t>
            </a:r>
            <a:r>
              <a:rPr lang="en-US" b="1" i="1" dirty="0">
                <a:solidFill>
                  <a:srgbClr val="FF0000"/>
                </a:solidFill>
              </a:rPr>
              <a:t>straight</a:t>
            </a:r>
            <a:r>
              <a:rPr lang="en-US" dirty="0">
                <a:solidFill>
                  <a:srgbClr val="FF0000"/>
                </a:solidFill>
              </a:rPr>
              <a:t> line. 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An equation or sequence is </a:t>
            </a:r>
            <a:r>
              <a:rPr lang="en-US" b="1" i="1" dirty="0"/>
              <a:t>_____</a:t>
            </a:r>
            <a:r>
              <a:rPr lang="en-US" dirty="0"/>
              <a:t> if its graph forms a </a:t>
            </a:r>
            <a:r>
              <a:rPr lang="en-US" b="1" i="1" dirty="0"/>
              <a:t>straight</a:t>
            </a:r>
            <a:r>
              <a:rPr lang="en-US" dirty="0"/>
              <a:t> line.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 equation or sequence is </a:t>
            </a:r>
            <a:r>
              <a:rPr lang="en-US" b="1" i="1" dirty="0"/>
              <a:t>_____</a:t>
            </a:r>
            <a:r>
              <a:rPr lang="en-US" dirty="0"/>
              <a:t> if its graph forms a </a:t>
            </a:r>
            <a:r>
              <a:rPr lang="en-US" b="1" i="1" dirty="0"/>
              <a:t>_______</a:t>
            </a:r>
            <a:r>
              <a:rPr lang="en-US" dirty="0"/>
              <a:t> line.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an equation forms a straight line on a graph it is said to be……..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65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04CA-6791-4569-88A2-484C6F25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Plotting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682AE-DEF2-439B-AB3B-F6821E62E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Your expectations: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Listen and copy on to your sheet as we go along.</a:t>
            </a:r>
          </a:p>
          <a:p>
            <a:pPr marL="514350" indent="-514350">
              <a:buAutoNum type="arabicPeriod"/>
            </a:pPr>
            <a:endParaRPr lang="en-AU" dirty="0"/>
          </a:p>
        </p:txBody>
      </p:sp>
      <p:pic>
        <p:nvPicPr>
          <p:cNvPr id="4" name="Picture 2" descr="Graph Paper to Print - 1cm Squared Paper PDF">
            <a:extLst>
              <a:ext uri="{FF2B5EF4-FFF2-40B4-BE49-F238E27FC236}">
                <a16:creationId xmlns:a16="http://schemas.microsoft.com/office/drawing/2014/main" id="{682EF5E7-517C-4EDE-B70A-613DC55FD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79522" y="-1758045"/>
            <a:ext cx="7142247" cy="1008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02E42B-B113-429B-BBD8-39980DA6195D}"/>
              </a:ext>
            </a:extLst>
          </p:cNvPr>
          <p:cNvSpPr txBox="1"/>
          <p:nvPr/>
        </p:nvSpPr>
        <p:spPr>
          <a:xfrm>
            <a:off x="9916357" y="852256"/>
            <a:ext cx="21306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Draw x and y axis and number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table of values as co-ordinates and plot each dot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we draw a line connecting all these dots, is it linear?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52090F-FA05-4709-9037-1BA5645873F7}"/>
              </a:ext>
            </a:extLst>
          </p:cNvPr>
          <p:cNvCxnSpPr/>
          <p:nvPr/>
        </p:nvCxnSpPr>
        <p:spPr>
          <a:xfrm>
            <a:off x="1642369" y="365125"/>
            <a:ext cx="0" cy="6492875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943B2B4-03EA-4BAF-B24A-BC27247E3585}"/>
              </a:ext>
            </a:extLst>
          </p:cNvPr>
          <p:cNvCxnSpPr/>
          <p:nvPr/>
        </p:nvCxnSpPr>
        <p:spPr>
          <a:xfrm>
            <a:off x="213064" y="4447712"/>
            <a:ext cx="9463597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0F96A4AB-DA3C-4F63-B74F-4179E56A1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842712"/>
              </p:ext>
            </p:extLst>
          </p:nvPr>
        </p:nvGraphicFramePr>
        <p:xfrm>
          <a:off x="2267506" y="4776788"/>
          <a:ext cx="812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219218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878882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647510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9752073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94863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X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914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Y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?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5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7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01810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9A00AE5-7373-D5FA-844F-E65BB2426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706" y="5795254"/>
            <a:ext cx="449580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66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04CA-6791-4569-88A2-484C6F25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Plotting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682AE-DEF2-439B-AB3B-F6821E62E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Your expectations: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Listen and copy on to your whiteboards as we go along.</a:t>
            </a:r>
          </a:p>
          <a:p>
            <a:pPr marL="514350" indent="-514350">
              <a:buAutoNum type="arabicPeriod"/>
            </a:pPr>
            <a:endParaRPr lang="en-AU" dirty="0"/>
          </a:p>
        </p:txBody>
      </p:sp>
      <p:pic>
        <p:nvPicPr>
          <p:cNvPr id="4" name="Picture 2" descr="Graph Paper to Print - 1cm Squared Paper PDF">
            <a:extLst>
              <a:ext uri="{FF2B5EF4-FFF2-40B4-BE49-F238E27FC236}">
                <a16:creationId xmlns:a16="http://schemas.microsoft.com/office/drawing/2014/main" id="{682EF5E7-517C-4EDE-B70A-613DC55FD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473798" y="-1473797"/>
            <a:ext cx="7142247" cy="1008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02E42B-B113-429B-BBD8-39980DA6195D}"/>
              </a:ext>
            </a:extLst>
          </p:cNvPr>
          <p:cNvSpPr txBox="1"/>
          <p:nvPr/>
        </p:nvSpPr>
        <p:spPr>
          <a:xfrm>
            <a:off x="9916357" y="852256"/>
            <a:ext cx="21306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Draw x and y axis and number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table of values as co-ordinates and plot each dot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we draw a line connecting all these dots, is it linear?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52090F-FA05-4709-9037-1BA5645873F7}"/>
              </a:ext>
            </a:extLst>
          </p:cNvPr>
          <p:cNvCxnSpPr/>
          <p:nvPr/>
        </p:nvCxnSpPr>
        <p:spPr>
          <a:xfrm>
            <a:off x="1633491" y="324686"/>
            <a:ext cx="0" cy="6492875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943B2B4-03EA-4BAF-B24A-BC27247E3585}"/>
              </a:ext>
            </a:extLst>
          </p:cNvPr>
          <p:cNvCxnSpPr/>
          <p:nvPr/>
        </p:nvCxnSpPr>
        <p:spPr>
          <a:xfrm>
            <a:off x="328474" y="4438835"/>
            <a:ext cx="9463597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0F96A4AB-DA3C-4F63-B74F-4179E56A13E1}"/>
              </a:ext>
            </a:extLst>
          </p:cNvPr>
          <p:cNvGraphicFramePr>
            <a:graphicFrameLocks noGrp="1"/>
          </p:cNvGraphicFramePr>
          <p:nvPr/>
        </p:nvGraphicFramePr>
        <p:xfrm>
          <a:off x="1961843" y="5215123"/>
          <a:ext cx="812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219218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878882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647510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9752073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94863932"/>
                    </a:ext>
                  </a:extLst>
                </a:gridCol>
              </a:tblGrid>
              <a:tr h="27897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X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914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Y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10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14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018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435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04CA-6791-4569-88A2-484C6F25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Plotting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682AE-DEF2-439B-AB3B-F6821E62E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Your expectations: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Listen and copy on to your whiteboards as we go along.</a:t>
            </a:r>
          </a:p>
          <a:p>
            <a:pPr marL="514350" indent="-514350">
              <a:buAutoNum type="arabicPeriod"/>
            </a:pPr>
            <a:endParaRPr lang="en-AU" dirty="0"/>
          </a:p>
        </p:txBody>
      </p:sp>
      <p:pic>
        <p:nvPicPr>
          <p:cNvPr id="4" name="Picture 2" descr="Graph Paper to Print - 1cm Squared Paper PDF">
            <a:extLst>
              <a:ext uri="{FF2B5EF4-FFF2-40B4-BE49-F238E27FC236}">
                <a16:creationId xmlns:a16="http://schemas.microsoft.com/office/drawing/2014/main" id="{682EF5E7-517C-4EDE-B70A-613DC55FD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473798" y="-1473797"/>
            <a:ext cx="7142247" cy="1008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02E42B-B113-429B-BBD8-39980DA6195D}"/>
              </a:ext>
            </a:extLst>
          </p:cNvPr>
          <p:cNvSpPr txBox="1"/>
          <p:nvPr/>
        </p:nvSpPr>
        <p:spPr>
          <a:xfrm>
            <a:off x="9916357" y="852256"/>
            <a:ext cx="21306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Draw x and y axis and number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table of values as co-ordinates and plot each dot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we draw a line connecting all these dots, is it linear?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52090F-FA05-4709-9037-1BA5645873F7}"/>
              </a:ext>
            </a:extLst>
          </p:cNvPr>
          <p:cNvCxnSpPr/>
          <p:nvPr/>
        </p:nvCxnSpPr>
        <p:spPr>
          <a:xfrm>
            <a:off x="1633491" y="365125"/>
            <a:ext cx="0" cy="6492875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943B2B4-03EA-4BAF-B24A-BC27247E3585}"/>
              </a:ext>
            </a:extLst>
          </p:cNvPr>
          <p:cNvCxnSpPr/>
          <p:nvPr/>
        </p:nvCxnSpPr>
        <p:spPr>
          <a:xfrm>
            <a:off x="257452" y="4731798"/>
            <a:ext cx="9463597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0F96A4AB-DA3C-4F63-B74F-4179E56A13E1}"/>
              </a:ext>
            </a:extLst>
          </p:cNvPr>
          <p:cNvGraphicFramePr>
            <a:graphicFrameLocks noGrp="1"/>
          </p:cNvGraphicFramePr>
          <p:nvPr/>
        </p:nvGraphicFramePr>
        <p:xfrm>
          <a:off x="2039275" y="5479823"/>
          <a:ext cx="812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219218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878882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647510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9752073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94863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X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914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Y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7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11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018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967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04CA-6791-4569-88A2-484C6F25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Plotting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682AE-DEF2-439B-AB3B-F6821E62E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Your expectations: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Listen and copy on to your whiteboards as we go along.</a:t>
            </a:r>
          </a:p>
          <a:p>
            <a:pPr marL="514350" indent="-514350">
              <a:buAutoNum type="arabicPeriod"/>
            </a:pPr>
            <a:endParaRPr lang="en-AU" dirty="0"/>
          </a:p>
        </p:txBody>
      </p:sp>
      <p:pic>
        <p:nvPicPr>
          <p:cNvPr id="4" name="Picture 2" descr="Graph Paper to Print - 1cm Squared Paper PDF">
            <a:extLst>
              <a:ext uri="{FF2B5EF4-FFF2-40B4-BE49-F238E27FC236}">
                <a16:creationId xmlns:a16="http://schemas.microsoft.com/office/drawing/2014/main" id="{682EF5E7-517C-4EDE-B70A-613DC55FD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473798" y="-1473797"/>
            <a:ext cx="7142247" cy="1008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02E42B-B113-429B-BBD8-39980DA6195D}"/>
              </a:ext>
            </a:extLst>
          </p:cNvPr>
          <p:cNvSpPr txBox="1"/>
          <p:nvPr/>
        </p:nvSpPr>
        <p:spPr>
          <a:xfrm>
            <a:off x="9916357" y="852256"/>
            <a:ext cx="21306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Draw x and y axis and number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table of values as co-ordinates and plot each dot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we draw a line connecting all these dots, is it linear?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52090F-FA05-4709-9037-1BA5645873F7}"/>
              </a:ext>
            </a:extLst>
          </p:cNvPr>
          <p:cNvCxnSpPr/>
          <p:nvPr/>
        </p:nvCxnSpPr>
        <p:spPr>
          <a:xfrm>
            <a:off x="4678532" y="281709"/>
            <a:ext cx="0" cy="6492875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943B2B4-03EA-4BAF-B24A-BC27247E3585}"/>
              </a:ext>
            </a:extLst>
          </p:cNvPr>
          <p:cNvCxnSpPr/>
          <p:nvPr/>
        </p:nvCxnSpPr>
        <p:spPr>
          <a:xfrm>
            <a:off x="257452" y="3420122"/>
            <a:ext cx="9463597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0F96A4AB-DA3C-4F63-B74F-4179E56A13E1}"/>
              </a:ext>
            </a:extLst>
          </p:cNvPr>
          <p:cNvGraphicFramePr>
            <a:graphicFrameLocks noGrp="1"/>
          </p:cNvGraphicFramePr>
          <p:nvPr/>
        </p:nvGraphicFramePr>
        <p:xfrm>
          <a:off x="3918998" y="5719763"/>
          <a:ext cx="812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219218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7878882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647510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9752073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94863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X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914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Y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-4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018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208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C86A8-38B0-A022-EF33-FC8399B9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564BE-C4D9-1D9D-AFE0-D452EB3A0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will need 1 piece of grid paper.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Page 130 </a:t>
            </a:r>
          </a:p>
          <a:p>
            <a:pPr marL="0" indent="0">
              <a:buNone/>
            </a:pPr>
            <a:r>
              <a:rPr lang="en-US" dirty="0"/>
              <a:t>Questions 1 - 10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5190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415</Words>
  <Application>Microsoft Office PowerPoint</Application>
  <PresentationFormat>Widescreen</PresentationFormat>
  <Paragraphs>118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Lesson objective </vt:lpstr>
      <vt:lpstr>PowerPoint Presentation</vt:lpstr>
      <vt:lpstr>PowerPoint Presentation</vt:lpstr>
      <vt:lpstr>PowerPoint Presentation</vt:lpstr>
      <vt:lpstr>What is linear? </vt:lpstr>
      <vt:lpstr>Plotting </vt:lpstr>
      <vt:lpstr>Plotting </vt:lpstr>
      <vt:lpstr>Plotting </vt:lpstr>
      <vt:lpstr>Plotting </vt:lpstr>
      <vt:lpstr>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8</cp:revision>
  <dcterms:created xsi:type="dcterms:W3CDTF">2022-11-01T00:05:06Z</dcterms:created>
  <dcterms:modified xsi:type="dcterms:W3CDTF">2023-10-12T01:48:25Z</dcterms:modified>
</cp:coreProperties>
</file>
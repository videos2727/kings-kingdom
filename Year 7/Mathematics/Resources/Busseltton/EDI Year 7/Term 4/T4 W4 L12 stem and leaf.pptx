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91" r:id="rId3"/>
    <p:sldId id="257" r:id="rId4"/>
    <p:sldId id="295" r:id="rId5"/>
    <p:sldId id="274" r:id="rId6"/>
    <p:sldId id="275" r:id="rId7"/>
    <p:sldId id="276" r:id="rId8"/>
    <p:sldId id="277" r:id="rId9"/>
    <p:sldId id="280" r:id="rId10"/>
    <p:sldId id="281" r:id="rId11"/>
    <p:sldId id="293" r:id="rId12"/>
    <p:sldId id="285" r:id="rId13"/>
    <p:sldId id="294" r:id="rId14"/>
    <p:sldId id="287" r:id="rId15"/>
    <p:sldId id="288" r:id="rId16"/>
    <p:sldId id="289" r:id="rId17"/>
    <p:sldId id="269" r:id="rId18"/>
    <p:sldId id="290" r:id="rId19"/>
    <p:sldId id="292" r:id="rId20"/>
  </p:sldIdLst>
  <p:sldSz cx="9144000" cy="6858000" type="screen4x3"/>
  <p:notesSz cx="6794500" cy="99314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30C31134-AAD8-4D6E-B296-2CAA77412A72}">
          <p14:sldIdLst>
            <p14:sldId id="291"/>
            <p14:sldId id="257"/>
            <p14:sldId id="295"/>
            <p14:sldId id="274"/>
            <p14:sldId id="275"/>
            <p14:sldId id="276"/>
            <p14:sldId id="277"/>
            <p14:sldId id="280"/>
          </p14:sldIdLst>
        </p14:section>
        <p14:section name="Untitled Section" id="{A8CAC9CE-E50B-40A0-AA96-4A828E0A2CD4}">
          <p14:sldIdLst>
            <p14:sldId id="281"/>
            <p14:sldId id="293"/>
            <p14:sldId id="285"/>
            <p14:sldId id="294"/>
            <p14:sldId id="287"/>
            <p14:sldId id="288"/>
            <p14:sldId id="289"/>
            <p14:sldId id="269"/>
            <p14:sldId id="290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8000"/>
    <a:srgbClr val="FF0000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642BA1C-57EF-4007-953F-9E27FE2E4C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283" cy="496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85A93D0-823F-4682-B658-B67D879E7C2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8645" y="0"/>
            <a:ext cx="2944283" cy="496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4BB8EA73-1C27-4D1F-8EE5-6D87443E3B7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8E114114-225B-4704-BD8A-4C602FFE1BD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7415"/>
            <a:ext cx="5435600" cy="4469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5C67A351-9A66-4257-B1F6-EC6D705A46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3106"/>
            <a:ext cx="2944283" cy="496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18148822-CB31-4395-A183-D976A667C9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645" y="9433106"/>
            <a:ext cx="2944283" cy="496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9BDA91C-5C49-43E5-98D1-16E08F585E5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C8423C0-8E0F-4BDE-83CB-73A37F9813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F3BB45-BE02-490B-AE93-31BD376DDA3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3679915-9CCD-44D6-947D-D9B40DF0E7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89F0BE5-06FB-4D5A-B09A-6E3132C0D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197A83C-AB2D-48C5-A3D3-AE6D13CC5F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A87D1C-4710-4E23-9B6D-17E7DFC563D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5A30E785-35C4-43D2-9B63-B3D1917BAB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C60E242-7074-4E0D-B08F-5318F9632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583A298-8BCD-4FFB-8770-ADCFA1B62B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04F28D-B3EC-469F-B464-0FB94E71BD8F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81BD8B29-8BDD-4CD5-BF09-3E9E11CC92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8F28808-6DC0-43AF-B5CF-C2A953AAA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EB2D219-6305-493A-9B8F-CAAD6E172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E8A03A-5136-4264-8DD0-A7BA303C8DDF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7D790158-3999-4C16-9BBB-3474E67FDF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CE153C0E-5F5B-4B2A-97D7-7E8FAF58AD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09CAF69-3014-4B7F-A567-086C128544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E216B4-C4D4-4458-90FF-BC3935A84745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253E6579-19BA-4E30-BB9D-DDA07B5A80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8FD7DF7-118A-457E-BF31-696E38C15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E0156D5-F228-4612-ADF4-7286D99D56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BC9043-B323-40A0-AB69-A8C50BBCD9E9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B05BE60D-DDC9-4EB3-8EA2-4208E43793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BBE8A95-DB09-4D35-865C-CA59B3260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E0156D5-F228-4612-ADF4-7286D99D56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BC9043-B323-40A0-AB69-A8C50BBCD9E9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B05BE60D-DDC9-4EB3-8EA2-4208E43793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BBE8A95-DB09-4D35-865C-CA59B3260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143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9A49A5F-E2A4-4150-9EEA-19607022A6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A00953-9767-4D33-8BD7-1F41A8B5A0D0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8A1366D4-2A89-43D4-BA8E-2B2736EE00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AE9B509A-94F7-41EA-8255-5F625F9EB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9A49A5F-E2A4-4150-9EEA-19607022A6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A00953-9767-4D33-8BD7-1F41A8B5A0D0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8A1366D4-2A89-43D4-BA8E-2B2736EE00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AE9B509A-94F7-41EA-8255-5F625F9EB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2770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676345B-A6BE-4E49-B73B-BA3F3F7EEB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E6FF9B-98AC-465A-BF17-FFB0E0D773D5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C71C7FF2-E9DA-4AF4-8425-4D5F16B432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25917CD9-366E-4962-AC15-4BDADAFD0E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D041FBC-5C53-46B8-ACC7-8F234F0F5D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04C028-67FB-4A05-BB95-F67335D93CE6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C933EE67-350D-4DA7-B32A-097409EE1B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BFFC301D-A7A5-42CA-8725-C280C3EFE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CD82C97-ADB7-4290-8B86-F9F94831B4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2D0E12-D87A-4AF6-AE93-CF6CB85E1F54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9223C59C-6E66-4BA0-8AAD-14E78EB7C1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D3249DD-F6D0-41F1-B5BC-B80E40E98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18AD854-0D0F-4CB7-A4BF-573EBD9FC6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5C8752-E158-4465-84D0-43D7E479A8BF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822292B9-9056-43DD-82CE-79996BCBCA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001299F-676A-4E14-AF70-77485476F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107C25F-9A66-4F3B-90CE-1A250FA4D0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4A409E-B779-47DD-9590-64D840CCB9F4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2965F853-475F-4491-AC69-E8AE7C4EDA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EB5F48D-F2FB-490F-9A84-6A2CCDDAD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2182-2BD1-41E4-B137-59235D49F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67AAA-E41B-4552-91D9-528B7A1BB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D4E70-7CF7-40C8-AD60-1F89DC96B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485CD-BCE4-4D6C-A921-9365A208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83E16-C6B0-4B09-8E2B-4C6B4313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31ACB0-AA1A-4ED2-B6CE-276F19C4CA3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6876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28F47-E063-4E1A-8F5F-F0FC7F32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F621B-09FD-436D-8B0C-71E31954D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0EC45-FA5E-4367-9993-4714182F9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3027C-FD47-4075-AEFA-9D36FC2C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82290-DB9A-414B-99B5-D3A6911D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1A333F-A2AE-4194-9C4E-FDC5ADF8433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4534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EB28-17AD-45ED-8AE9-02BD8C451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9AC9-6A56-4961-96EF-5DAF38554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DC505-F649-43B9-BC1E-BD4B5506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7C745-2E5D-4C9E-8764-634B0077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19801-FBDF-45E3-B0EE-7C0F21885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AEBFA2-F3B8-4BC9-9031-D0981793355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97335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2E8A-801A-4A82-A93D-B5C8803A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564FA-2BB4-48B5-878A-6678F4A3C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0D43C-B28B-427D-B519-BB52EA2FC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22EB1-31A4-4D48-908E-4CAAEA93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2CF8B-677B-459C-AC1E-85F6D753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EE304-ADE1-48AE-934D-376EC2D9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3E35F7-3DAD-411E-B2D7-44DFCB457EF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188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6079-7779-40A8-8B88-BD2820C8E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23079-D550-45DA-977E-CFB0DEFCF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F9129-4994-4BAF-8D29-9BBE2D0F1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A75C66-F483-4176-8FE4-5019A5C25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0839BD-32F1-4274-9F3D-11E6D98003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71E102-8187-4404-BCA8-FE92B7D0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6C9A1-69F8-4271-979C-1F39E66A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C0A311-5A3D-4308-B37B-B7ADCCCD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EE1D8-9270-433E-B7A0-8F951DE389B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39358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AA68-AF06-47EB-AEED-0CE32BEF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49A3E-4116-4480-BA97-C5ADA23F8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54BDF-A2C2-41BD-A72C-9F090DB7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A1F7D-1405-465F-B597-F8103477F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662905-9F9D-4229-B53C-6810F360FED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8495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7E39E-08EF-4C8D-A214-5AA541BF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A61BB-38B8-4383-AB95-E628E6F2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9B89C-4C01-421C-82B0-976E0BBF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ED05DB-B3CC-46BB-895D-136412B13F2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9535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CA29-0F60-448F-B19B-5C43812A0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0B828-B218-435A-9D1C-E375C83DE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73A4E-58FB-46B0-AD51-B1294DADD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C825D-33EE-40DE-B20B-2B7F89D1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08283-0EF7-491F-A527-93D123BF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1C280-4796-418F-A656-E2EFBAA2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3568-97A2-43F4-8CB6-B039C206605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220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DE289-CBAA-43BC-B646-1E6792AED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D1FD-F228-4704-86DC-3F81D88F1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6A9D6-69D5-4CA7-AA0C-5E92E8F68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AA5B4-6FAE-4E14-8F55-3D72C3ED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31AAB-0FE5-4AC2-AD0E-6A9DAFFEB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6F56D-5785-4216-B6CF-02FA2898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0821D-1501-4D14-859C-E916007AEEA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25060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E1FC-5EBC-4C65-BCB0-EE255A0A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FFBFC-B08F-4B8B-BD2A-305D1FA8E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AAE29-1690-4F0B-AD75-B0984B3E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CEB89-D0E3-4B1E-AEB7-DE3B183F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B5F44-8DD2-444D-98F7-F82DE5D5D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7F6B8-3F17-4D2C-AF03-545E763EB26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88990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9F82A8-91A7-4595-9C07-14BC6A62C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DE729-A136-483F-A202-AB120545E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A8B00-6A3A-405D-AF40-BDB40F78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BE43C-032D-4756-B498-36A151CF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7183A-DAC0-44DB-9F6C-158E38213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4D3696-0322-4792-BD9D-E42C7323C77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71583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28FB-8BDA-4EF8-B217-16BD88FD4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6B34B-4465-4476-893C-0C2930E47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352BC-95FE-4996-ADCC-28A24664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25B1F-D577-424E-BDB9-1F1C4703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62AAC-350C-4BA2-B3F1-4B0E39FC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3810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3273-C5E5-4530-B28E-476BD3AB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BE3E8-5952-43B9-9BA7-522C07850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FDC00-5C09-4B8B-9E17-E1EE740E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B738B-872F-43CB-8779-4365092FE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CF2DE-3A97-4BA6-BDFB-5386E7AD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6548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10B62-53AB-42E2-8D2E-DBFD3E8F8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6212E-F81D-4F62-8D75-0CE76F50A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DBF29-927E-47F9-9D3E-F61EE62C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AC11D-249D-4FE1-B6BC-5C8C0F2C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AC523-5B4B-40A5-90DB-9F23E1038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9143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D4F-B700-440A-BC69-EA34B295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EBCE3-D40B-468C-923C-C12131299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BF739-662F-4050-8F19-37ED70C59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4C7BC-78DD-48DE-92F8-05AA7FB27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A4AAE-3B76-4C1C-AF88-7585698C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6CF1-670A-4A83-BEDF-64AB13D8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4870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C53E-0102-4C24-8B3D-D46319023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3676B-E604-41E9-B70E-3F2183C27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53ED8-8A38-4D32-A09A-5FF7199C0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69461-7438-46FE-8841-D1566B155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07FC3-511E-4D2A-BBD8-04F09C15E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E048B9-2525-4C3C-85F9-B65A01875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2C5CC4-2566-45BA-AC5A-F452C7DEA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9EEEB-B69D-4D84-8F1B-50D07DB6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3279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25F4-4059-4EFB-AEAA-DFB975A1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CCF9A-18BE-43EC-ADD3-52FB6C9C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875B3-4AC5-491E-BAD7-D6CD0656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919CF-9B19-4D47-BB46-C2829363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73637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8641D-E4CD-4E7B-B74A-AD600A4F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CB1C3-BB32-442C-9128-25DA0675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5DB0B-A125-4890-986C-6D2DDC53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00928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F966-9486-47E8-AB6F-271965D3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9CD3F-2E23-4423-B43A-4A7F5E03B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121CF-EA71-468D-BF34-F5873541B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A501A-15DE-4388-BC32-C85FEE13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7D05C-F72E-4C24-B771-1E6DB384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69E36-2D5A-4166-92B0-A751F25D7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09199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5E68A-2ECF-4462-BCB8-DADADDD7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C0888-E40A-47F0-A3B7-95CEEB691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99629-F664-4B50-A932-7D8B81D53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8E8A5-8303-47CD-BF4B-12E28A0A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CF06B-D559-41B6-8692-016E56175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BEF02-F6D9-4BD5-BA03-E676BBD4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4630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D555-5326-42BC-AB32-E9467B15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834C9-7BE3-492A-BF62-1E33A79A1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1070D-F586-462A-BEB0-6111233F4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E0D4-67CC-46FD-9477-F2C1F182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7E7A1-6D90-42BD-BD66-DECE28F04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59028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095EC8-532B-44A5-9148-176D6CF5C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566F5-3F43-4F4B-816D-9F2D3498C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A21BC-0562-49D6-9534-E52859D6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FD874-4CB9-49A5-8401-82CEB744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95D02-D63F-46EA-A1C8-DD0AC01B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954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A584E92-25ED-4C18-B50C-BB058F095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3B49181-FBBC-4C46-AA05-DC2A4A60C7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0CB4188-55F6-4F75-936E-E7D20BB5904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E73D42B-379D-44BE-A96D-FFA7A0D0C1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0CFDE04-960B-451F-86B9-8E1B875D4D5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45C77DC-8F2C-44A1-B313-45CAA5906127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DB3D4-5812-4BF3-A281-5CBC17FC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E726E-BC00-46D5-823F-B15C9BD0D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11291-04B9-47F8-9113-40FFC38ED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CB426-1E56-459E-9E6C-EC1523557FB0}" type="datetimeFigureOut">
              <a:rPr lang="en-AU" smtClean="0"/>
              <a:t>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33782-906E-454D-8B0E-9642B382D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E4F56-780F-4DC8-B827-BF20EB364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5B5C0-06CF-4942-B5DD-A626F2CAAE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3241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415C2-3E95-4A49-95E7-335957FA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9CACF-16CC-4308-8585-4A801AA8B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Title: Stem and leaf diagrams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 To be able to construct a stem and leaf diagram.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Calculate mean and median.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Plan: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- Daily review: matching activity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10 Q warm up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Stem and leaf </a:t>
            </a:r>
            <a:endParaRPr lang="en-AU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277ED-738D-438F-9FC4-35141C8BC2C8}"/>
              </a:ext>
            </a:extLst>
          </p:cNvPr>
          <p:cNvSpPr txBox="1"/>
          <p:nvPr/>
        </p:nvSpPr>
        <p:spPr>
          <a:xfrm>
            <a:off x="7000153" y="4872159"/>
            <a:ext cx="2160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calculators.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696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AA609-4608-4648-954C-B0E48E6E2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review: matching activity 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7FFEC-97D6-4A46-92DC-AE347A65B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Statistical measures 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8B99ED-6FD8-416D-A2E1-366B5005AB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Mean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Mode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Median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Range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6C0ED3-274F-4847-A724-84DA4BC02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Description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B9B229-5BDF-4765-B677-3BC34A4422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Spread of data. Highest take lowest.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Middle number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Most occurring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average, sum of data points, divided by number of 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56D83C-637A-4423-93F2-05DC1F06003A}"/>
              </a:ext>
            </a:extLst>
          </p:cNvPr>
          <p:cNvCxnSpPr>
            <a:cxnSpLocks/>
          </p:cNvCxnSpPr>
          <p:nvPr/>
        </p:nvCxnSpPr>
        <p:spPr>
          <a:xfrm>
            <a:off x="1298359" y="2901334"/>
            <a:ext cx="3273641" cy="23998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8C43B7-D8B5-4CDA-811D-19BB34B0DD8E}"/>
              </a:ext>
            </a:extLst>
          </p:cNvPr>
          <p:cNvCxnSpPr>
            <a:cxnSpLocks/>
            <a:endCxn id="5" idx="3"/>
          </p:cNvCxnSpPr>
          <p:nvPr/>
        </p:nvCxnSpPr>
        <p:spPr>
          <a:xfrm>
            <a:off x="1475656" y="3501008"/>
            <a:ext cx="3022526" cy="846361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6370FB-9711-4807-832A-BAB73CC95A1D}"/>
              </a:ext>
            </a:extLst>
          </p:cNvPr>
          <p:cNvCxnSpPr>
            <a:cxnSpLocks/>
          </p:cNvCxnSpPr>
          <p:nvPr/>
        </p:nvCxnSpPr>
        <p:spPr>
          <a:xfrm flipV="1">
            <a:off x="1544714" y="3789040"/>
            <a:ext cx="3027286" cy="45726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73F76E-3AFD-4B92-85B3-2D765ED518B5}"/>
              </a:ext>
            </a:extLst>
          </p:cNvPr>
          <p:cNvCxnSpPr>
            <a:cxnSpLocks/>
          </p:cNvCxnSpPr>
          <p:nvPr/>
        </p:nvCxnSpPr>
        <p:spPr>
          <a:xfrm flipV="1">
            <a:off x="1475656" y="2901334"/>
            <a:ext cx="3096344" cy="20398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07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AA609-4608-4648-954C-B0E48E6E2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review: matching activity 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7FFEC-97D6-4A46-92DC-AE347A65B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Statistical measures 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8B99ED-6FD8-416D-A2E1-366B5005AB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Mean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Mode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Median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Range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6C0ED3-274F-4847-A724-84DA4BC02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Description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B9B229-5BDF-4765-B677-3BC34A4422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Spread of data. Highest take lowest.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Middle number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Most occurring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average, sum of data points, divided by number of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111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951ABA2-5D79-44C6-83FA-2B041F33FF8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77788" y="311086"/>
            <a:ext cx="7772400" cy="1143000"/>
          </a:xfrm>
        </p:spPr>
        <p:txBody>
          <a:bodyPr anchor="ctr"/>
          <a:lstStyle/>
          <a:p>
            <a:br>
              <a:rPr lang="en-GB" altLang="en-US" sz="5400" dirty="0">
                <a:solidFill>
                  <a:schemeClr val="accent2"/>
                </a:solidFill>
                <a:latin typeface="Comic Sans MS" panose="030F0702030302020204" pitchFamily="66" charset="0"/>
              </a:rPr>
            </a:br>
            <a:r>
              <a:rPr lang="en-GB" altLang="en-US" sz="5400" dirty="0">
                <a:solidFill>
                  <a:schemeClr val="accent2"/>
                </a:solidFill>
                <a:latin typeface="Comic Sans MS" panose="030F0702030302020204" pitchFamily="66" charset="0"/>
              </a:rPr>
              <a:t>An 8 Question Warm Up…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39921A-40B4-49AF-8115-3C2C567419AC}"/>
              </a:ext>
            </a:extLst>
          </p:cNvPr>
          <p:cNvSpPr txBox="1"/>
          <p:nvPr/>
        </p:nvSpPr>
        <p:spPr>
          <a:xfrm>
            <a:off x="467544" y="2132856"/>
            <a:ext cx="7416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1.		</a:t>
            </a:r>
          </a:p>
          <a:p>
            <a:r>
              <a:rPr lang="en-US" sz="3600" b="1" dirty="0"/>
              <a:t>2.</a:t>
            </a:r>
          </a:p>
          <a:p>
            <a:r>
              <a:rPr lang="en-US" sz="3600" b="1" dirty="0"/>
              <a:t>3.</a:t>
            </a:r>
          </a:p>
          <a:p>
            <a:r>
              <a:rPr lang="en-US" sz="3600" b="1" dirty="0"/>
              <a:t>4. </a:t>
            </a:r>
          </a:p>
          <a:p>
            <a:r>
              <a:rPr lang="en-US" sz="3600" b="1" dirty="0"/>
              <a:t>5.</a:t>
            </a:r>
          </a:p>
          <a:p>
            <a:r>
              <a:rPr lang="en-US" sz="3600" b="1" dirty="0"/>
              <a:t>6.</a:t>
            </a:r>
          </a:p>
          <a:p>
            <a:r>
              <a:rPr lang="en-US" sz="3600" b="1" dirty="0"/>
              <a:t>7.</a:t>
            </a:r>
          </a:p>
          <a:p>
            <a:r>
              <a:rPr lang="en-US" sz="3600" b="1" dirty="0"/>
              <a:t>8.</a:t>
            </a:r>
            <a:endParaRPr lang="en-AU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C60FA5C-645E-4693-B39D-94EB4D452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Find the median of the following numbers:-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EFEC628-6CC4-413D-A8E3-105B71B35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229600" cy="4525963"/>
          </a:xfrm>
        </p:spPr>
        <p:txBody>
          <a:bodyPr/>
          <a:lstStyle/>
          <a:p>
            <a:pPr marL="990600" lvl="1" indent="-533400">
              <a:buFontTx/>
              <a:buNone/>
            </a:pPr>
            <a:r>
              <a:rPr lang="en-GB" altLang="en-US" sz="4800" dirty="0">
                <a:solidFill>
                  <a:schemeClr val="accent2"/>
                </a:solidFill>
              </a:rPr>
              <a:t>1)</a:t>
            </a:r>
            <a:r>
              <a:rPr lang="en-GB" altLang="en-US" sz="4800" dirty="0"/>
              <a:t>    3, 5, 6</a:t>
            </a:r>
          </a:p>
          <a:p>
            <a:pPr marL="1371600" lvl="1" indent="-914400">
              <a:buFontTx/>
              <a:buAutoNum type="arabicParenR" startAt="2"/>
            </a:pPr>
            <a:r>
              <a:rPr lang="en-GB" altLang="en-US" sz="4800" dirty="0"/>
              <a:t>1, 2, 4, 9, 10</a:t>
            </a:r>
          </a:p>
          <a:p>
            <a:pPr marL="1371600" lvl="1" indent="-914400">
              <a:buFontTx/>
              <a:buAutoNum type="arabicParenR" startAt="2"/>
            </a:pPr>
            <a:r>
              <a:rPr lang="en-GB" altLang="en-US" sz="4800" dirty="0"/>
              <a:t>2, 5, 9, 12, 15, 21, 35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543E3E-42EE-4899-A2F8-3913E2100F24}"/>
              </a:ext>
            </a:extLst>
          </p:cNvPr>
          <p:cNvSpPr txBox="1"/>
          <p:nvPr/>
        </p:nvSpPr>
        <p:spPr>
          <a:xfrm>
            <a:off x="468313" y="5877272"/>
            <a:ext cx="31675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highlight>
                  <a:srgbClr val="FFFF00"/>
                </a:highlight>
              </a:rPr>
              <a:t>45 seconds </a:t>
            </a:r>
            <a:endParaRPr lang="en-AU" sz="40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5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5DCC387-EC28-4AF0-9AE7-6D0262023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Find the range of the following numbers:-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5331856-8886-4CCB-A5E6-F3B8ECF81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5400"/>
              <a:t>   </a:t>
            </a:r>
            <a:r>
              <a:rPr lang="en-GB" altLang="en-US" sz="5400">
                <a:solidFill>
                  <a:schemeClr val="accent2"/>
                </a:solidFill>
              </a:rPr>
              <a:t>4)</a:t>
            </a:r>
            <a:r>
              <a:rPr lang="en-GB" altLang="en-US" sz="5400"/>
              <a:t>    50, 60, 70, 90</a:t>
            </a:r>
          </a:p>
          <a:p>
            <a:pPr>
              <a:buFontTx/>
              <a:buNone/>
            </a:pPr>
            <a:r>
              <a:rPr lang="en-GB" altLang="en-US" sz="5400">
                <a:solidFill>
                  <a:schemeClr val="accent2"/>
                </a:solidFill>
              </a:rPr>
              <a:t>   5)</a:t>
            </a:r>
            <a:r>
              <a:rPr lang="en-GB" altLang="en-US" sz="5400"/>
              <a:t>    22, 35, 20, 18, 27</a:t>
            </a:r>
          </a:p>
          <a:p>
            <a:pPr>
              <a:buFontTx/>
              <a:buNone/>
            </a:pPr>
            <a:r>
              <a:rPr lang="en-GB" altLang="en-US" sz="5400"/>
              <a:t>   </a:t>
            </a:r>
            <a:r>
              <a:rPr lang="en-GB" altLang="en-US" sz="5400">
                <a:solidFill>
                  <a:schemeClr val="accent2"/>
                </a:solidFill>
              </a:rPr>
              <a:t>6)</a:t>
            </a:r>
            <a:r>
              <a:rPr lang="en-GB" altLang="en-US" sz="5400"/>
              <a:t>    2, 1, 5, 9, 11, 3</a:t>
            </a:r>
          </a:p>
          <a:p>
            <a:pPr>
              <a:buFontTx/>
              <a:buNone/>
            </a:pPr>
            <a:endParaRPr lang="en-GB" altLang="en-US" sz="5400"/>
          </a:p>
          <a:p>
            <a:pPr>
              <a:buFontTx/>
              <a:buNone/>
            </a:pPr>
            <a:endParaRPr lang="en-GB" altLang="en-US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ED919-4C1F-4637-ABBA-5E6C4924540E}"/>
              </a:ext>
            </a:extLst>
          </p:cNvPr>
          <p:cNvSpPr txBox="1"/>
          <p:nvPr/>
        </p:nvSpPr>
        <p:spPr>
          <a:xfrm>
            <a:off x="468313" y="5877272"/>
            <a:ext cx="31675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highlight>
                  <a:srgbClr val="FFFF00"/>
                </a:highlight>
              </a:rPr>
              <a:t>40 seconds </a:t>
            </a:r>
            <a:endParaRPr lang="en-AU" sz="40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35CBF5B-76E5-4F84-A3B6-ACDBF20491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Find the mean of these numbers:-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4979A53-B9E0-4BD1-A3F9-6BFFF03DFC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229600" cy="4525962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5400"/>
              <a:t>  </a:t>
            </a:r>
            <a:r>
              <a:rPr lang="en-GB" altLang="en-US" sz="5400">
                <a:solidFill>
                  <a:schemeClr val="accent2"/>
                </a:solidFill>
              </a:rPr>
              <a:t>7)</a:t>
            </a:r>
            <a:r>
              <a:rPr lang="en-GB" altLang="en-US" sz="5400"/>
              <a:t>    2, 4, 5, 1 </a:t>
            </a:r>
          </a:p>
          <a:p>
            <a:pPr>
              <a:buFontTx/>
              <a:buNone/>
            </a:pPr>
            <a:r>
              <a:rPr lang="en-GB" altLang="en-US" sz="5400"/>
              <a:t>  </a:t>
            </a:r>
            <a:r>
              <a:rPr lang="en-GB" altLang="en-US" sz="5400">
                <a:solidFill>
                  <a:schemeClr val="accent2"/>
                </a:solidFill>
              </a:rPr>
              <a:t>8)</a:t>
            </a:r>
            <a:r>
              <a:rPr lang="en-GB" altLang="en-US" sz="5400"/>
              <a:t>   5, 1, 2, 4, 2, 4, </a:t>
            </a:r>
          </a:p>
          <a:p>
            <a:pPr>
              <a:buFontTx/>
              <a:buNone/>
            </a:pPr>
            <a:endParaRPr lang="en-GB" altLang="en-US" sz="5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16E9C5-5414-48D4-8E27-874C81001860}"/>
              </a:ext>
            </a:extLst>
          </p:cNvPr>
          <p:cNvSpPr txBox="1"/>
          <p:nvPr/>
        </p:nvSpPr>
        <p:spPr>
          <a:xfrm>
            <a:off x="468313" y="5877272"/>
            <a:ext cx="31675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highlight>
                  <a:srgbClr val="FFFF00"/>
                </a:highlight>
              </a:rPr>
              <a:t>45 seconds </a:t>
            </a:r>
            <a:endParaRPr lang="en-AU" sz="40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0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640C6C33-4AA3-423B-BD7F-CE104F7DD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28600"/>
            <a:ext cx="50292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6000">
                <a:solidFill>
                  <a:srgbClr val="FF0000"/>
                </a:solidFill>
                <a:latin typeface="Comic Sans MS" panose="030F0702030302020204" pitchFamily="66" charset="0"/>
              </a:rPr>
              <a:t>Answers:-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95EB41EF-A8BF-44A7-B291-E5CC413B9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66800"/>
            <a:ext cx="769620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arenR"/>
            </a:pPr>
            <a:r>
              <a:rPr lang="en-GB" altLang="en-US" sz="2400" dirty="0">
                <a:latin typeface="Times New Roman" panose="02020603050405020304" pitchFamily="18" charset="0"/>
              </a:rPr>
              <a:t>5</a:t>
            </a:r>
          </a:p>
          <a:p>
            <a:pPr>
              <a:spcBef>
                <a:spcPct val="50000"/>
              </a:spcBef>
              <a:buFontTx/>
              <a:buAutoNum type="arabicParenR"/>
            </a:pPr>
            <a:r>
              <a:rPr lang="en-GB" altLang="en-US" sz="2400" dirty="0">
                <a:latin typeface="Times New Roman" panose="02020603050405020304" pitchFamily="18" charset="0"/>
              </a:rPr>
              <a:t>4</a:t>
            </a:r>
          </a:p>
          <a:p>
            <a:pPr>
              <a:spcBef>
                <a:spcPct val="50000"/>
              </a:spcBef>
              <a:buFontTx/>
              <a:buAutoNum type="arabicParenR"/>
            </a:pPr>
            <a:r>
              <a:rPr lang="en-GB" altLang="en-US" sz="2400" dirty="0">
                <a:latin typeface="Times New Roman" panose="02020603050405020304" pitchFamily="18" charset="0"/>
              </a:rPr>
              <a:t>12</a:t>
            </a:r>
          </a:p>
          <a:p>
            <a:pPr>
              <a:spcBef>
                <a:spcPct val="50000"/>
              </a:spcBef>
              <a:buFontTx/>
              <a:buAutoNum type="arabicParenR"/>
            </a:pPr>
            <a:r>
              <a:rPr lang="en-GB" altLang="en-US" sz="2400" dirty="0">
                <a:latin typeface="Times New Roman" panose="02020603050405020304" pitchFamily="18" charset="0"/>
              </a:rPr>
              <a:t>40</a:t>
            </a:r>
          </a:p>
          <a:p>
            <a:pPr>
              <a:spcBef>
                <a:spcPct val="50000"/>
              </a:spcBef>
              <a:buFontTx/>
              <a:buAutoNum type="arabicParenR"/>
            </a:pPr>
            <a:r>
              <a:rPr lang="en-GB" altLang="en-US" sz="2400" dirty="0">
                <a:latin typeface="Times New Roman" panose="02020603050405020304" pitchFamily="18" charset="0"/>
              </a:rPr>
              <a:t>17</a:t>
            </a:r>
          </a:p>
          <a:p>
            <a:pPr>
              <a:spcBef>
                <a:spcPct val="50000"/>
              </a:spcBef>
              <a:buFontTx/>
              <a:buAutoNum type="arabicParenR"/>
            </a:pPr>
            <a:r>
              <a:rPr lang="en-GB" altLang="en-US" sz="2400" dirty="0">
                <a:latin typeface="Times New Roman" panose="02020603050405020304" pitchFamily="18" charset="0"/>
              </a:rPr>
              <a:t>10</a:t>
            </a:r>
          </a:p>
          <a:p>
            <a:pPr>
              <a:spcBef>
                <a:spcPct val="50000"/>
              </a:spcBef>
              <a:buFontTx/>
              <a:buAutoNum type="arabicParenR"/>
            </a:pPr>
            <a:r>
              <a:rPr lang="en-GB" altLang="en-US" sz="2400" dirty="0">
                <a:latin typeface="Times New Roman" panose="02020603050405020304" pitchFamily="18" charset="0"/>
              </a:rPr>
              <a:t>3</a:t>
            </a:r>
          </a:p>
          <a:p>
            <a:pPr>
              <a:spcBef>
                <a:spcPct val="50000"/>
              </a:spcBef>
              <a:buFontTx/>
              <a:buAutoNum type="arabicParenR"/>
            </a:pPr>
            <a:r>
              <a:rPr lang="en-GB" altLang="en-US" sz="2400" dirty="0">
                <a:latin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E0A9051-5DED-4DE9-BA45-ADF4AACB0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476250"/>
            <a:ext cx="8229600" cy="5473700"/>
          </a:xfrm>
        </p:spPr>
        <p:txBody>
          <a:bodyPr/>
          <a:lstStyle/>
          <a:p>
            <a:pPr marL="609600" indent="-609600" algn="ctr">
              <a:lnSpc>
                <a:spcPct val="80000"/>
              </a:lnSpc>
              <a:buFontTx/>
              <a:buNone/>
            </a:pPr>
            <a:r>
              <a:rPr lang="en-GB" altLang="en-US" sz="2400" b="1" u="sng" dirty="0">
                <a:latin typeface="Comic Sans MS" panose="030F0702030302020204" pitchFamily="66" charset="0"/>
              </a:rPr>
              <a:t>Stem and Leaf Diagrams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000" b="1" u="sng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How to Draw One: 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	</a:t>
            </a:r>
            <a:r>
              <a:rPr lang="en-GB" altLang="en-US" sz="20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1.</a:t>
            </a:r>
            <a:r>
              <a:rPr lang="en-GB" altLang="en-US" sz="2000" dirty="0">
                <a:latin typeface="Comic Sans MS" panose="030F0702030302020204" pitchFamily="66" charset="0"/>
              </a:rPr>
              <a:t> Put the </a:t>
            </a:r>
            <a:r>
              <a:rPr lang="en-GB" altLang="en-US" sz="2000" b="1" dirty="0">
                <a:solidFill>
                  <a:srgbClr val="00B0F0"/>
                </a:solidFill>
                <a:latin typeface="Comic Sans MS" panose="030F0702030302020204" pitchFamily="66" charset="0"/>
              </a:rPr>
              <a:t>first digits</a:t>
            </a:r>
            <a:r>
              <a:rPr lang="en-GB" altLang="en-US" sz="2000" dirty="0">
                <a:solidFill>
                  <a:srgbClr val="00B0F0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sz="2000" dirty="0">
                <a:latin typeface="Comic Sans MS" panose="030F0702030302020204" pitchFamily="66" charset="0"/>
              </a:rPr>
              <a:t>of each piece of data in </a:t>
            </a:r>
            <a:r>
              <a:rPr lang="en-GB" altLang="en-US" sz="2000" b="1" dirty="0">
                <a:solidFill>
                  <a:srgbClr val="00B0F0"/>
                </a:solidFill>
                <a:latin typeface="Comic Sans MS" panose="030F0702030302020204" pitchFamily="66" charset="0"/>
              </a:rPr>
              <a:t>numerical order</a:t>
            </a:r>
            <a:r>
              <a:rPr lang="en-GB" altLang="en-US" sz="2000" dirty="0">
                <a:solidFill>
                  <a:srgbClr val="00B0F0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sz="2000" dirty="0">
                <a:latin typeface="Comic Sans MS" panose="030F0702030302020204" pitchFamily="66" charset="0"/>
              </a:rPr>
              <a:t>down the left-hand side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000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000" dirty="0">
                <a:latin typeface="Comic Sans MS" panose="030F0702030302020204" pitchFamily="66" charset="0"/>
              </a:rPr>
              <a:t>	</a:t>
            </a:r>
            <a:r>
              <a:rPr lang="en-GB" altLang="en-US" sz="20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2.</a:t>
            </a:r>
            <a:r>
              <a:rPr lang="en-GB" altLang="en-US" sz="2000" dirty="0">
                <a:latin typeface="Comic Sans MS" panose="030F0702030302020204" pitchFamily="66" charset="0"/>
              </a:rPr>
              <a:t> Go through each piece of data in turn and put the remaining digits in the proper row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000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000" dirty="0">
                <a:latin typeface="Comic Sans MS" panose="030F0702030302020204" pitchFamily="66" charset="0"/>
              </a:rPr>
              <a:t>	</a:t>
            </a:r>
            <a:r>
              <a:rPr lang="en-GB" altLang="en-US" sz="20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3.</a:t>
            </a:r>
            <a:r>
              <a:rPr lang="en-GB" altLang="en-US" sz="2000" dirty="0">
                <a:latin typeface="Comic Sans MS" panose="030F0702030302020204" pitchFamily="66" charset="0"/>
              </a:rPr>
              <a:t> Re-draw the diagram putting the pieces of data in the </a:t>
            </a:r>
            <a:r>
              <a:rPr lang="en-GB" altLang="en-US" sz="2000" b="1" dirty="0">
                <a:solidFill>
                  <a:srgbClr val="00B0F0"/>
                </a:solidFill>
                <a:latin typeface="Comic Sans MS" panose="030F0702030302020204" pitchFamily="66" charset="0"/>
              </a:rPr>
              <a:t>right order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000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000" dirty="0">
                <a:latin typeface="Comic Sans MS" panose="030F0702030302020204" pitchFamily="66" charset="0"/>
              </a:rPr>
              <a:t>	</a:t>
            </a:r>
            <a:r>
              <a:rPr lang="en-GB" altLang="en-US" sz="20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4.</a:t>
            </a:r>
            <a:r>
              <a:rPr lang="en-GB" altLang="en-US" sz="2000" dirty="0">
                <a:latin typeface="Comic Sans MS" panose="030F0702030302020204" pitchFamily="66" charset="0"/>
              </a:rPr>
              <a:t> Add a </a:t>
            </a:r>
            <a:r>
              <a:rPr lang="en-GB" altLang="en-US" sz="2000" b="1" dirty="0">
                <a:solidFill>
                  <a:srgbClr val="00B0F0"/>
                </a:solidFill>
                <a:latin typeface="Comic Sans MS" panose="030F0702030302020204" pitchFamily="66" charset="0"/>
              </a:rPr>
              <a:t>key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000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000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000" dirty="0">
                <a:latin typeface="Comic Sans MS" panose="030F0702030302020204" pitchFamily="66" charset="0"/>
              </a:rPr>
              <a:t>	</a:t>
            </a:r>
          </a:p>
        </p:txBody>
      </p:sp>
      <p:pic>
        <p:nvPicPr>
          <p:cNvPr id="29699" name="Picture 3">
            <a:extLst>
              <a:ext uri="{FF2B5EF4-FFF2-40B4-BE49-F238E27FC236}">
                <a16:creationId xmlns:a16="http://schemas.microsoft.com/office/drawing/2014/main" id="{3AEAA72D-1586-4E9C-A984-14BC73EB706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60350"/>
            <a:ext cx="1122363" cy="90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0" name="Picture 4">
            <a:extLst>
              <a:ext uri="{FF2B5EF4-FFF2-40B4-BE49-F238E27FC236}">
                <a16:creationId xmlns:a16="http://schemas.microsoft.com/office/drawing/2014/main" id="{68DC31A1-5268-4EB7-8FD6-43A8695F55B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260350"/>
            <a:ext cx="1122362" cy="90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1" name="Picture 5">
            <a:extLst>
              <a:ext uri="{FF2B5EF4-FFF2-40B4-BE49-F238E27FC236}">
                <a16:creationId xmlns:a16="http://schemas.microsoft.com/office/drawing/2014/main" id="{E152BC27-918C-45DB-8CE7-E651CAF7824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5300663"/>
            <a:ext cx="1122362" cy="90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2" name="Picture 6">
            <a:extLst>
              <a:ext uri="{FF2B5EF4-FFF2-40B4-BE49-F238E27FC236}">
                <a16:creationId xmlns:a16="http://schemas.microsoft.com/office/drawing/2014/main" id="{97B5AAC4-2015-4D35-B090-2DC90421C2B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5589588"/>
            <a:ext cx="1122363" cy="90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9CA204-CF3C-4650-BC07-F0FDEDE56BAA}"/>
              </a:ext>
            </a:extLst>
          </p:cNvPr>
          <p:cNvSpPr txBox="1"/>
          <p:nvPr/>
        </p:nvSpPr>
        <p:spPr>
          <a:xfrm>
            <a:off x="-144213" y="4650641"/>
            <a:ext cx="4176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highlight>
                  <a:srgbClr val="FFFF00"/>
                </a:highlight>
              </a:rPr>
              <a:t>Fill in the blanks and glue into your exercise books.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44FBC5-8F90-9E83-6C1E-4A243444D1D9}"/>
              </a:ext>
            </a:extLst>
          </p:cNvPr>
          <p:cNvSpPr txBox="1"/>
          <p:nvPr/>
        </p:nvSpPr>
        <p:spPr>
          <a:xfrm>
            <a:off x="3923928" y="4306302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E.g. 	12, 13, 14, 21, 25, 27, 32, 35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E4DC63-C14E-B725-EA36-FE9E82A6C19A}"/>
              </a:ext>
            </a:extLst>
          </p:cNvPr>
          <p:cNvCxnSpPr/>
          <p:nvPr/>
        </p:nvCxnSpPr>
        <p:spPr>
          <a:xfrm>
            <a:off x="5148064" y="5206541"/>
            <a:ext cx="2016224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89BA36-3578-B3A4-DA36-B92E6B678967}"/>
              </a:ext>
            </a:extLst>
          </p:cNvPr>
          <p:cNvCxnSpPr>
            <a:cxnSpLocks/>
          </p:cNvCxnSpPr>
          <p:nvPr/>
        </p:nvCxnSpPr>
        <p:spPr>
          <a:xfrm>
            <a:off x="5436096" y="4976917"/>
            <a:ext cx="0" cy="1526313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E0A9051-5DED-4DE9-BA45-ADF4AACB0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476250"/>
            <a:ext cx="8229600" cy="5473700"/>
          </a:xfrm>
        </p:spPr>
        <p:txBody>
          <a:bodyPr/>
          <a:lstStyle/>
          <a:p>
            <a:pPr marL="609600" indent="-609600" algn="ctr">
              <a:lnSpc>
                <a:spcPct val="80000"/>
              </a:lnSpc>
              <a:buFontTx/>
              <a:buNone/>
            </a:pPr>
            <a:r>
              <a:rPr lang="en-GB" altLang="en-US" sz="2400" b="1" u="sng" dirty="0">
                <a:latin typeface="Comic Sans MS" panose="030F0702030302020204" pitchFamily="66" charset="0"/>
              </a:rPr>
              <a:t>Stem and Leaf Diagrams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000" b="1" u="sng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How to Draw One: 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	</a:t>
            </a:r>
            <a:r>
              <a:rPr lang="en-GB" altLang="en-US" sz="24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1.</a:t>
            </a:r>
            <a:r>
              <a:rPr lang="en-GB" altLang="en-US" sz="2400" dirty="0">
                <a:latin typeface="Comic Sans MS" panose="030F0702030302020204" pitchFamily="66" charset="0"/>
              </a:rPr>
              <a:t> Put the </a:t>
            </a:r>
            <a:r>
              <a:rPr lang="en-GB" altLang="en-US" sz="2400" b="1" dirty="0">
                <a:solidFill>
                  <a:srgbClr val="00B0F0"/>
                </a:solidFill>
                <a:latin typeface="Comic Sans MS" panose="030F0702030302020204" pitchFamily="66" charset="0"/>
              </a:rPr>
              <a:t>            </a:t>
            </a:r>
            <a:r>
              <a:rPr lang="en-GB" altLang="en-US" sz="2400" dirty="0">
                <a:latin typeface="Comic Sans MS" panose="030F0702030302020204" pitchFamily="66" charset="0"/>
              </a:rPr>
              <a:t>of each piece of data in </a:t>
            </a:r>
            <a:r>
              <a:rPr lang="en-GB" altLang="en-US" sz="2400" b="1" dirty="0">
                <a:solidFill>
                  <a:srgbClr val="00B0F0"/>
                </a:solidFill>
                <a:latin typeface="Comic Sans MS" panose="030F0702030302020204" pitchFamily="66" charset="0"/>
              </a:rPr>
              <a:t>               			</a:t>
            </a:r>
            <a:r>
              <a:rPr lang="en-GB" altLang="en-US" sz="2400" dirty="0">
                <a:latin typeface="Comic Sans MS" panose="030F0702030302020204" pitchFamily="66" charset="0"/>
              </a:rPr>
              <a:t>down the left-hand side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400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400" dirty="0">
                <a:latin typeface="Comic Sans MS" panose="030F0702030302020204" pitchFamily="66" charset="0"/>
              </a:rPr>
              <a:t>	</a:t>
            </a:r>
            <a:r>
              <a:rPr lang="en-GB" altLang="en-US" sz="24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2.</a:t>
            </a:r>
            <a:r>
              <a:rPr lang="en-GB" altLang="en-US" sz="2400" dirty="0">
                <a:latin typeface="Comic Sans MS" panose="030F0702030302020204" pitchFamily="66" charset="0"/>
              </a:rPr>
              <a:t> Go through each piece of data in turn and put the remaining digits in the proper row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400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400" dirty="0">
                <a:latin typeface="Comic Sans MS" panose="030F0702030302020204" pitchFamily="66" charset="0"/>
              </a:rPr>
              <a:t>	</a:t>
            </a:r>
            <a:r>
              <a:rPr lang="en-GB" altLang="en-US" sz="24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3.</a:t>
            </a:r>
            <a:r>
              <a:rPr lang="en-GB" altLang="en-US" sz="2400" dirty="0">
                <a:latin typeface="Comic Sans MS" panose="030F0702030302020204" pitchFamily="66" charset="0"/>
              </a:rPr>
              <a:t> Re-draw the diagram putting the pieces of data in the </a:t>
            </a:r>
            <a:endParaRPr lang="en-GB" altLang="en-US" sz="2400" b="1" dirty="0">
              <a:solidFill>
                <a:srgbClr val="00B0F0"/>
              </a:solidFill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400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400" dirty="0">
                <a:latin typeface="Comic Sans MS" panose="030F0702030302020204" pitchFamily="66" charset="0"/>
              </a:rPr>
              <a:t>	</a:t>
            </a:r>
            <a:r>
              <a:rPr lang="en-GB" altLang="en-US" sz="24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4.</a:t>
            </a:r>
            <a:r>
              <a:rPr lang="en-GB" altLang="en-US" sz="2400" dirty="0">
                <a:latin typeface="Comic Sans MS" panose="030F0702030302020204" pitchFamily="66" charset="0"/>
              </a:rPr>
              <a:t> Add a </a:t>
            </a:r>
            <a:endParaRPr lang="en-GB" altLang="en-US" sz="2400" b="1" dirty="0">
              <a:solidFill>
                <a:srgbClr val="00B0F0"/>
              </a:solidFill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000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GB" altLang="en-US" sz="2000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GB" altLang="en-US" sz="2000" dirty="0">
                <a:latin typeface="Comic Sans MS" panose="030F0702030302020204" pitchFamily="66" charset="0"/>
              </a:rPr>
              <a:t>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4D7CB-1DBE-3668-FAE7-941D4523CE22}"/>
              </a:ext>
            </a:extLst>
          </p:cNvPr>
          <p:cNvSpPr txBox="1"/>
          <p:nvPr/>
        </p:nvSpPr>
        <p:spPr>
          <a:xfrm>
            <a:off x="3347864" y="4321709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E.g. 	12, 13, 14, 21, 25, 27, 32, 35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ACE079-6A9B-ADD7-FBAA-21AD51D67E66}"/>
              </a:ext>
            </a:extLst>
          </p:cNvPr>
          <p:cNvCxnSpPr/>
          <p:nvPr/>
        </p:nvCxnSpPr>
        <p:spPr>
          <a:xfrm>
            <a:off x="4572000" y="5221948"/>
            <a:ext cx="2016224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6CC641-0A33-19A0-0A48-3CCD80D91C4C}"/>
              </a:ext>
            </a:extLst>
          </p:cNvPr>
          <p:cNvCxnSpPr>
            <a:cxnSpLocks/>
          </p:cNvCxnSpPr>
          <p:nvPr/>
        </p:nvCxnSpPr>
        <p:spPr>
          <a:xfrm>
            <a:off x="4860032" y="4992324"/>
            <a:ext cx="0" cy="1526313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09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D95415B2-D4DC-4285-BD78-765E1F80F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25538"/>
            <a:ext cx="8820150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marks gained by 30 students in an examination:</a:t>
            </a:r>
          </a:p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63   58   61   52   59   65   69   75   70   54   57   63   76   81   64</a:t>
            </a:r>
          </a:p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68   59   40   65   74   80   44   47   53   70   81   68   49   57   61</a:t>
            </a:r>
          </a:p>
          <a:p>
            <a:pPr>
              <a:spcBef>
                <a:spcPct val="50000"/>
              </a:spcBef>
            </a:pPr>
            <a:endParaRPr lang="en-US" altLang="en-US" sz="22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03B77FAC-B8B5-49D6-BE25-F70EDBFE7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708275"/>
            <a:ext cx="882015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Write the tens figures in the left hand column of a diagram.</a:t>
            </a:r>
          </a:p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These are the ‘STEMS’</a:t>
            </a:r>
            <a:endParaRPr lang="en-US" altLang="en-US" sz="22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EADB8F9A-7571-45CE-8FA8-247C21E71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33797" name="Picture 5">
            <a:extLst>
              <a:ext uri="{FF2B5EF4-FFF2-40B4-BE49-F238E27FC236}">
                <a16:creationId xmlns:a16="http://schemas.microsoft.com/office/drawing/2014/main" id="{C3A141BD-A566-45BE-90A1-C7930EB4ECD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0"/>
            <a:ext cx="1122363" cy="90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8" name="Line 6">
            <a:extLst>
              <a:ext uri="{FF2B5EF4-FFF2-40B4-BE49-F238E27FC236}">
                <a16:creationId xmlns:a16="http://schemas.microsoft.com/office/drawing/2014/main" id="{22A46AE1-6FF0-4A7D-B31D-36F742658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3638550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3799" name="Text Box 7">
            <a:extLst>
              <a:ext uri="{FF2B5EF4-FFF2-40B4-BE49-F238E27FC236}">
                <a16:creationId xmlns:a16="http://schemas.microsoft.com/office/drawing/2014/main" id="{D1D4ED6A-5945-4C71-903E-0C96EDF74BB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176338" y="5043487"/>
            <a:ext cx="31765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795" grpId="0"/>
      <p:bldP spid="33795" grpId="1"/>
      <p:bldP spid="3379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ext Box 3">
            <a:extLst>
              <a:ext uri="{FF2B5EF4-FFF2-40B4-BE49-F238E27FC236}">
                <a16:creationId xmlns:a16="http://schemas.microsoft.com/office/drawing/2014/main" id="{03B77FAC-B8B5-49D6-BE25-F70EDBFE7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897975"/>
            <a:ext cx="88201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200" b="1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Write the leaves in the correct order: lowest to highest </a:t>
            </a:r>
            <a:endParaRPr lang="en-US" altLang="en-US" sz="2200" b="1" dirty="0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EADB8F9A-7571-45CE-8FA8-247C21E71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3798" name="Line 6">
            <a:extLst>
              <a:ext uri="{FF2B5EF4-FFF2-40B4-BE49-F238E27FC236}">
                <a16:creationId xmlns:a16="http://schemas.microsoft.com/office/drawing/2014/main" id="{22A46AE1-6FF0-4A7D-B31D-36F742658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3638550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3799" name="Text Box 7">
            <a:extLst>
              <a:ext uri="{FF2B5EF4-FFF2-40B4-BE49-F238E27FC236}">
                <a16:creationId xmlns:a16="http://schemas.microsoft.com/office/drawing/2014/main" id="{D1D4ED6A-5945-4C71-903E-0C96EDF74BB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176338" y="5043487"/>
            <a:ext cx="31765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8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5" grpId="1"/>
      <p:bldP spid="3379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92983472-81D5-49F5-910E-AE159B110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25538"/>
            <a:ext cx="8820150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marks gained by 30 students in an examination:</a:t>
            </a:r>
          </a:p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63   58   61   52   59   65   69   75   70   54   57   63   76   81   64</a:t>
            </a:r>
          </a:p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68   59   40   65   74   80   44   47   53   70   81   68   49   57   61</a:t>
            </a:r>
          </a:p>
          <a:p>
            <a:pPr>
              <a:spcBef>
                <a:spcPct val="50000"/>
              </a:spcBef>
            </a:pPr>
            <a:endParaRPr lang="en-US" altLang="en-US" sz="22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D91D7548-1113-413F-94E8-54F038A8A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35844" name="Picture 4">
            <a:extLst>
              <a:ext uri="{FF2B5EF4-FFF2-40B4-BE49-F238E27FC236}">
                <a16:creationId xmlns:a16="http://schemas.microsoft.com/office/drawing/2014/main" id="{B0E46DA6-A3E5-4700-BF3B-0DFC47FC003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0"/>
            <a:ext cx="1122363" cy="90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5" name="Line 5">
            <a:extLst>
              <a:ext uri="{FF2B5EF4-FFF2-40B4-BE49-F238E27FC236}">
                <a16:creationId xmlns:a16="http://schemas.microsoft.com/office/drawing/2014/main" id="{F83137F9-5634-417A-9182-10F5E065B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3638550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BC6459E1-64BE-4A1A-A876-1F874FCBF78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176338" y="5064125"/>
            <a:ext cx="3176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7981A350-09AE-419D-966E-8E8B2D51A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81288"/>
            <a:ext cx="8820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6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588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20875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43163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003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3575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8147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719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When all the marks are entered the diagram will look like this:</a:t>
            </a:r>
            <a:endParaRPr lang="en-US" altLang="en-US" sz="22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48" name="Text Box 8">
            <a:extLst>
              <a:ext uri="{FF2B5EF4-FFF2-40B4-BE49-F238E27FC236}">
                <a16:creationId xmlns:a16="http://schemas.microsoft.com/office/drawing/2014/main" id="{DEDBE5E8-0CBD-45B4-8AA8-5E1F56B9CEE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009900" y="5054601"/>
            <a:ext cx="611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 3 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49" name="Text Box 9">
            <a:extLst>
              <a:ext uri="{FF2B5EF4-FFF2-40B4-BE49-F238E27FC236}">
                <a16:creationId xmlns:a16="http://schemas.microsoft.com/office/drawing/2014/main" id="{395AA715-B5A8-4891-974A-4C31AA9FB4D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084513" y="4410075"/>
            <a:ext cx="611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 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0" name="Text Box 10">
            <a:extLst>
              <a:ext uri="{FF2B5EF4-FFF2-40B4-BE49-F238E27FC236}">
                <a16:creationId xmlns:a16="http://schemas.microsoft.com/office/drawing/2014/main" id="{3DEB0BE9-AC12-4527-840E-9E0C628664E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570288" y="5051425"/>
            <a:ext cx="611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 1 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1" name="Text Box 11">
            <a:extLst>
              <a:ext uri="{FF2B5EF4-FFF2-40B4-BE49-F238E27FC236}">
                <a16:creationId xmlns:a16="http://schemas.microsoft.com/office/drawing/2014/main" id="{63CF4ED7-8D04-47BB-8451-FF431A1B7D0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552157" y="2342356"/>
            <a:ext cx="611188" cy="321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0   4   7   9</a:t>
            </a:r>
            <a:endParaRPr lang="en-US" altLang="en-US" sz="2800" b="1" dirty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2" name="Text Box 12">
            <a:extLst>
              <a:ext uri="{FF2B5EF4-FFF2-40B4-BE49-F238E27FC236}">
                <a16:creationId xmlns:a16="http://schemas.microsoft.com/office/drawing/2014/main" id="{AF96D2B8-1F44-4DF5-8FC5-76BDDC424AE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518944" y="2512219"/>
            <a:ext cx="611188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2   9   4   7   9   3   7 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3" name="Text Box 13">
            <a:extLst>
              <a:ext uri="{FF2B5EF4-FFF2-40B4-BE49-F238E27FC236}">
                <a16:creationId xmlns:a16="http://schemas.microsoft.com/office/drawing/2014/main" id="{745DC244-A42E-49E1-A894-1495779F70F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034881" y="3151982"/>
            <a:ext cx="611187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5   9   3   4   8   5   8   1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4" name="Text Box 14">
            <a:extLst>
              <a:ext uri="{FF2B5EF4-FFF2-40B4-BE49-F238E27FC236}">
                <a16:creationId xmlns:a16="http://schemas.microsoft.com/office/drawing/2014/main" id="{6CE40E94-CBEF-4D4F-9921-32873AA8552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980781" y="3788569"/>
            <a:ext cx="611188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5   0   6   4   0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5855" name="Text Box 15">
            <a:extLst>
              <a:ext uri="{FF2B5EF4-FFF2-40B4-BE49-F238E27FC236}">
                <a16:creationId xmlns:a16="http://schemas.microsoft.com/office/drawing/2014/main" id="{90C8045B-9496-4629-AC42-635A07692B3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006181" y="4447382"/>
            <a:ext cx="611187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1   0   1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/>
      <p:bldP spid="35851" grpId="0"/>
      <p:bldP spid="35852" grpId="0"/>
      <p:bldP spid="35853" grpId="0"/>
      <p:bldP spid="35854" grpId="0"/>
      <p:bldP spid="358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6886D731-FF27-4F3B-B3FE-F173A1E85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25538"/>
            <a:ext cx="8820150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marks gained by 30 students in an examination:</a:t>
            </a:r>
          </a:p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63   58   61   52   59   65   69   75   70   54   57   63   76   81   64</a:t>
            </a:r>
          </a:p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68   59   40   65   74   80   44   47   53   70   81   68   49   57   61</a:t>
            </a:r>
          </a:p>
          <a:p>
            <a:pPr>
              <a:spcBef>
                <a:spcPct val="50000"/>
              </a:spcBef>
            </a:pPr>
            <a:endParaRPr lang="en-US" altLang="en-US" sz="22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B12E3EFB-9D9F-43C1-947D-B2E23512A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CF451571-D752-4854-9AB2-B11B51D9BF4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0"/>
            <a:ext cx="1122363" cy="90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869" name="Line 5">
            <a:extLst>
              <a:ext uri="{FF2B5EF4-FFF2-40B4-BE49-F238E27FC236}">
                <a16:creationId xmlns:a16="http://schemas.microsoft.com/office/drawing/2014/main" id="{4C5E31AF-B044-4E78-88A0-5D6230FA79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3638550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94DB036F-2C42-4840-98AD-501FEF3D9B7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176338" y="5064125"/>
            <a:ext cx="3176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E58DA4BF-B5DE-43B0-BAEF-4C4E94CE3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81288"/>
            <a:ext cx="88201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6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588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20875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43163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003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3575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8147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719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Rewrite the diagram so that the units figures in each row are in order:</a:t>
            </a:r>
            <a:endParaRPr lang="en-US" altLang="en-US" sz="22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2" name="Text Box 8">
            <a:extLst>
              <a:ext uri="{FF2B5EF4-FFF2-40B4-BE49-F238E27FC236}">
                <a16:creationId xmlns:a16="http://schemas.microsoft.com/office/drawing/2014/main" id="{B91863AB-B9D1-43FE-B9A1-A29D18A7988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552157" y="2342356"/>
            <a:ext cx="611188" cy="321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0   4   7   9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3" name="Text Box 9">
            <a:extLst>
              <a:ext uri="{FF2B5EF4-FFF2-40B4-BE49-F238E27FC236}">
                <a16:creationId xmlns:a16="http://schemas.microsoft.com/office/drawing/2014/main" id="{DE8062C6-7E56-4821-9376-D1B861A2FFC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028406" y="2482057"/>
            <a:ext cx="611187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2   3   4   7   7   8   9   9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4" name="Text Box 10">
            <a:extLst>
              <a:ext uri="{FF2B5EF4-FFF2-40B4-BE49-F238E27FC236}">
                <a16:creationId xmlns:a16="http://schemas.microsoft.com/office/drawing/2014/main" id="{A78F630B-2D7D-49D0-BA8B-9A8DB7390BD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547519" y="2601119"/>
            <a:ext cx="611188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1   1   3   3   4   5   5   8   8   9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5" name="Text Box 11">
            <a:extLst>
              <a:ext uri="{FF2B5EF4-FFF2-40B4-BE49-F238E27FC236}">
                <a16:creationId xmlns:a16="http://schemas.microsoft.com/office/drawing/2014/main" id="{46E60492-61E1-4B04-B676-276EEA3E9FC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980781" y="3788569"/>
            <a:ext cx="611188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0   0   4   5   6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6876" name="Text Box 12">
            <a:extLst>
              <a:ext uri="{FF2B5EF4-FFF2-40B4-BE49-F238E27FC236}">
                <a16:creationId xmlns:a16="http://schemas.microsoft.com/office/drawing/2014/main" id="{E8438DF0-2C8F-473F-A130-DBFB94C6675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006181" y="4447382"/>
            <a:ext cx="611187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0   1   1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4F13C4FB-E208-4C7D-87B8-DC6EA23F4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25538"/>
            <a:ext cx="8820150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marks gained by 30 students in an examination:</a:t>
            </a:r>
          </a:p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63   58   61   52   59   65   69   75   70   54   57   63   76   81   64</a:t>
            </a:r>
          </a:p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68   59   40   65   74   80   44   47   53   70   81   68   49   57   61</a:t>
            </a:r>
          </a:p>
          <a:p>
            <a:pPr>
              <a:spcBef>
                <a:spcPct val="50000"/>
              </a:spcBef>
            </a:pPr>
            <a:endParaRPr lang="en-US" altLang="en-US" sz="22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49B41F74-977E-472F-87D4-8E703824C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158750"/>
            <a:ext cx="6859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pic>
        <p:nvPicPr>
          <p:cNvPr id="37892" name="Picture 4">
            <a:extLst>
              <a:ext uri="{FF2B5EF4-FFF2-40B4-BE49-F238E27FC236}">
                <a16:creationId xmlns:a16="http://schemas.microsoft.com/office/drawing/2014/main" id="{DACC6C37-F75F-4822-BED3-A23B7EA954E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0"/>
            <a:ext cx="1122363" cy="90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3" name="Line 5">
            <a:extLst>
              <a:ext uri="{FF2B5EF4-FFF2-40B4-BE49-F238E27FC236}">
                <a16:creationId xmlns:a16="http://schemas.microsoft.com/office/drawing/2014/main" id="{C58B8747-E475-42A3-A13F-F54FC90E25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3638550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2C0040FF-4D50-4401-8423-54503722963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176338" y="5064125"/>
            <a:ext cx="3176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4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7 </a:t>
            </a:r>
          </a:p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C66A881F-BCAE-4F7E-B1CD-A6997F72F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81288"/>
            <a:ext cx="8820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6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588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20875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43163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003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3575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8147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719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Add a KEY:</a:t>
            </a:r>
            <a:endParaRPr lang="en-US" altLang="en-US" sz="22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05559958-6ADB-4C99-8D1D-973D7253983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552157" y="2342356"/>
            <a:ext cx="611188" cy="321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0   4   7   9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87944271-71D0-4975-B96B-8A4401420A3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028406" y="2482057"/>
            <a:ext cx="611187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2   3   4   7   7   8   9   9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0487ACFC-E2DC-40B9-9081-E97856874AC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547519" y="2601119"/>
            <a:ext cx="611188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1   1   3   3   4   5   5   8   8   9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9" name="Text Box 11">
            <a:extLst>
              <a:ext uri="{FF2B5EF4-FFF2-40B4-BE49-F238E27FC236}">
                <a16:creationId xmlns:a16="http://schemas.microsoft.com/office/drawing/2014/main" id="{2828A77E-438F-4AE5-9F9C-BED07E41D7C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980781" y="3788569"/>
            <a:ext cx="611188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0   0   4   5   6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900" name="Text Box 12">
            <a:extLst>
              <a:ext uri="{FF2B5EF4-FFF2-40B4-BE49-F238E27FC236}">
                <a16:creationId xmlns:a16="http://schemas.microsoft.com/office/drawing/2014/main" id="{AADB8F42-FF72-4FA2-8FE0-6AE1E517651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006181" y="4447382"/>
            <a:ext cx="611187" cy="41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0   1   1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901" name="Rectangle 13">
            <a:extLst>
              <a:ext uri="{FF2B5EF4-FFF2-40B4-BE49-F238E27FC236}">
                <a16:creationId xmlns:a16="http://schemas.microsoft.com/office/drawing/2014/main" id="{C89ECDA3-7B37-44B7-B1A4-CFAF5F169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" y="4083050"/>
            <a:ext cx="1874838" cy="838200"/>
          </a:xfrm>
          <a:prstGeom prst="rect">
            <a:avLst/>
          </a:prstGeom>
          <a:solidFill>
            <a:schemeClr val="bg1"/>
          </a:solidFill>
          <a:ln w="28575">
            <a:solidFill>
              <a:srgbClr val="66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3200" b="1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5</a:t>
            </a:r>
            <a:r>
              <a:rPr lang="en-US" altLang="en-US" sz="3200" b="1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|2 = 52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/>
      <p:bldP spid="3790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F1DDC85-C9DF-40C9-9232-2F3211CF8C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476250"/>
            <a:ext cx="8229600" cy="5473700"/>
          </a:xfrm>
        </p:spPr>
        <p:txBody>
          <a:bodyPr/>
          <a:lstStyle/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GB" altLang="en-US" sz="2400" b="1" u="sng" dirty="0">
                <a:latin typeface="Comic Sans MS" panose="030F0702030302020204" pitchFamily="66" charset="0"/>
              </a:rPr>
              <a:t>Stem and Leaf Diagrams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GB" altLang="en-US" sz="2000" b="1" u="sng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alt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Remember: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altLang="en-US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	</a:t>
            </a:r>
            <a:r>
              <a:rPr lang="en-GB" altLang="en-US" sz="2000" dirty="0">
                <a:latin typeface="Comic Sans MS" panose="030F0702030302020204" pitchFamily="66" charset="0"/>
              </a:rPr>
              <a:t>- Always put in a </a:t>
            </a:r>
            <a:r>
              <a:rPr lang="en-GB" altLang="en-US" sz="2000" b="1" dirty="0">
                <a:solidFill>
                  <a:srgbClr val="008000"/>
                </a:solidFill>
                <a:latin typeface="Comic Sans MS" panose="030F0702030302020204" pitchFamily="66" charset="0"/>
              </a:rPr>
              <a:t>Key.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altLang="en-US" sz="2000" b="1" dirty="0">
                <a:latin typeface="Comic Sans MS" panose="030F0702030302020204" pitchFamily="66" charset="0"/>
              </a:rPr>
              <a:t>	</a:t>
            </a:r>
            <a:r>
              <a:rPr lang="en-GB" altLang="en-US" sz="2000" dirty="0">
                <a:latin typeface="Comic Sans MS" panose="030F0702030302020204" pitchFamily="66" charset="0"/>
              </a:rPr>
              <a:t>- Always put your data in </a:t>
            </a:r>
            <a:r>
              <a:rPr lang="en-GB" altLang="en-US" sz="2000" b="1" dirty="0">
                <a:solidFill>
                  <a:srgbClr val="660033"/>
                </a:solidFill>
                <a:latin typeface="Comic Sans MS" panose="030F0702030302020204" pitchFamily="66" charset="0"/>
              </a:rPr>
              <a:t>Order.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GB" altLang="en-US" sz="2000" dirty="0">
              <a:latin typeface="Comic Sans MS" panose="030F0702030302020204" pitchFamily="66" charset="0"/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alt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Median: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altLang="en-US" sz="2000" dirty="0">
                <a:latin typeface="Comic Sans MS" panose="030F0702030302020204" pitchFamily="66" charset="0"/>
              </a:rPr>
              <a:t>	- to work out the median, you must find the middle value.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altLang="en-US" sz="2000" dirty="0">
                <a:latin typeface="Comic Sans MS" panose="030F0702030302020204" pitchFamily="66" charset="0"/>
              </a:rPr>
              <a:t>	- if there are two middle values, you need the average of </a:t>
            </a:r>
            <a:r>
              <a:rPr lang="en-GB" altLang="en-US" sz="2000" i="1" dirty="0">
                <a:latin typeface="Comic Sans MS" panose="030F0702030302020204" pitchFamily="66" charset="0"/>
              </a:rPr>
              <a:t>those </a:t>
            </a:r>
            <a:r>
              <a:rPr lang="en-GB" altLang="en-US" sz="2000" dirty="0">
                <a:latin typeface="Comic Sans MS" panose="030F0702030302020204" pitchFamily="66" charset="0"/>
              </a:rPr>
              <a:t>values.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altLang="en-US" sz="2000" b="1" dirty="0">
                <a:latin typeface="Comic Sans MS" panose="030F0702030302020204" pitchFamily="66" charset="0"/>
              </a:rPr>
              <a:t>	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alt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Range: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altLang="en-US" sz="2000" dirty="0">
                <a:latin typeface="Comic Sans MS" panose="030F0702030302020204" pitchFamily="66" charset="0"/>
              </a:rPr>
              <a:t>	- to work out the Range, subtract the smallest number from the biggest.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altLang="en-US" sz="2000" dirty="0">
                <a:latin typeface="Comic Sans MS" panose="030F0702030302020204" pitchFamily="66" charset="0"/>
              </a:rPr>
              <a:t>		</a:t>
            </a:r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26BF65C4-8EE5-46F1-9BE1-A42DB7182F8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60350"/>
            <a:ext cx="1122363" cy="90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D908CEC6-67D8-4DEF-8F1F-FD0DA7100DE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260350"/>
            <a:ext cx="1122362" cy="90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3" name="Picture 5">
            <a:extLst>
              <a:ext uri="{FF2B5EF4-FFF2-40B4-BE49-F238E27FC236}">
                <a16:creationId xmlns:a16="http://schemas.microsoft.com/office/drawing/2014/main" id="{335D603A-53CF-4704-822F-A48075D01B2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5300663"/>
            <a:ext cx="1122362" cy="90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F00C14EC-8896-4D76-930F-C20E1E9E0A2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5589588"/>
            <a:ext cx="1122363" cy="90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638216EF-4248-4871-9C35-F28EB08B3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28600"/>
            <a:ext cx="4953000" cy="466725"/>
          </a:xfrm>
          <a:prstGeom prst="rect">
            <a:avLst/>
          </a:prstGeom>
          <a:gradFill rotWithShape="0">
            <a:gsLst>
              <a:gs pos="0">
                <a:srgbClr val="FFFFCC">
                  <a:gamma/>
                  <a:shade val="66275"/>
                  <a:invGamma/>
                </a:srgbClr>
              </a:gs>
              <a:gs pos="50000">
                <a:srgbClr val="FFFFCC"/>
              </a:gs>
              <a:gs pos="100000">
                <a:srgbClr val="FFFFCC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Stem and Leaf Diagrams</a:t>
            </a:r>
          </a:p>
        </p:txBody>
      </p:sp>
      <p:grpSp>
        <p:nvGrpSpPr>
          <p:cNvPr id="38915" name="Group 3">
            <a:extLst>
              <a:ext uri="{FF2B5EF4-FFF2-40B4-BE49-F238E27FC236}">
                <a16:creationId xmlns:a16="http://schemas.microsoft.com/office/drawing/2014/main" id="{255A3393-1F08-4A84-8371-33898AF99390}"/>
              </a:ext>
            </a:extLst>
          </p:cNvPr>
          <p:cNvGrpSpPr>
            <a:grpSpLocks/>
          </p:cNvGrpSpPr>
          <p:nvPr/>
        </p:nvGrpSpPr>
        <p:grpSpPr bwMode="auto">
          <a:xfrm>
            <a:off x="266700" y="933450"/>
            <a:ext cx="8648700" cy="5321300"/>
            <a:chOff x="168" y="588"/>
            <a:chExt cx="5448" cy="3352"/>
          </a:xfrm>
        </p:grpSpPr>
        <p:sp>
          <p:nvSpPr>
            <p:cNvPr id="38916" name="Text Box 4">
              <a:extLst>
                <a:ext uri="{FF2B5EF4-FFF2-40B4-BE49-F238E27FC236}">
                  <a16:creationId xmlns:a16="http://schemas.microsoft.com/office/drawing/2014/main" id="{7409359F-BD59-4DF9-A30D-014CDF062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" y="588"/>
              <a:ext cx="5448" cy="1101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dirty="0">
                  <a:latin typeface="Comic Sans MS" panose="030F0702030302020204" pitchFamily="66" charset="0"/>
                </a:rPr>
                <a:t>The stem &amp; leaf diagram below shows the </a:t>
              </a:r>
              <a:r>
                <a:rPr lang="en-GB" altLang="en-US" dirty="0">
                  <a:solidFill>
                    <a:schemeClr val="accent2"/>
                  </a:solidFill>
                  <a:latin typeface="Comic Sans MS" panose="030F0702030302020204" pitchFamily="66" charset="0"/>
                </a:rPr>
                <a:t>masses</a:t>
              </a:r>
              <a:r>
                <a:rPr lang="en-GB" altLang="en-US" dirty="0">
                  <a:latin typeface="Comic Sans MS" panose="030F0702030302020204" pitchFamily="66" charset="0"/>
                </a:rPr>
                <a:t> in kg of some people in a lift.</a:t>
              </a:r>
            </a:p>
            <a:p>
              <a:pPr>
                <a:spcBef>
                  <a:spcPct val="50000"/>
                </a:spcBef>
                <a:buFontTx/>
                <a:buAutoNum type="alphaLcParenBoth"/>
              </a:pPr>
              <a:r>
                <a:rPr lang="en-GB" altLang="en-US" sz="2000" dirty="0">
                  <a:latin typeface="Comic Sans MS" panose="030F0702030302020204" pitchFamily="66" charset="0"/>
                </a:rPr>
                <a:t>How many people were weighed?</a:t>
              </a:r>
            </a:p>
            <a:p>
              <a:pPr>
                <a:spcBef>
                  <a:spcPct val="50000"/>
                </a:spcBef>
                <a:buFontTx/>
                <a:buAutoNum type="alphaLcParenBoth"/>
              </a:pPr>
              <a:r>
                <a:rPr lang="en-GB" altLang="en-US" sz="2000" dirty="0">
                  <a:latin typeface="Comic Sans MS" panose="030F0702030302020204" pitchFamily="66" charset="0"/>
                </a:rPr>
                <a:t>What is the range of the masses?</a:t>
              </a:r>
            </a:p>
            <a:p>
              <a:pPr>
                <a:spcBef>
                  <a:spcPct val="50000"/>
                </a:spcBef>
                <a:buFontTx/>
                <a:buAutoNum type="alphaLcParenBoth"/>
              </a:pPr>
              <a:r>
                <a:rPr lang="en-GB" altLang="en-US" sz="2000" dirty="0">
                  <a:latin typeface="Comic Sans MS" panose="030F0702030302020204" pitchFamily="66" charset="0"/>
                </a:rPr>
                <a:t>How can we find the median?</a:t>
              </a:r>
            </a:p>
          </p:txBody>
        </p:sp>
        <p:grpSp>
          <p:nvGrpSpPr>
            <p:cNvPr id="38917" name="Group 5">
              <a:extLst>
                <a:ext uri="{FF2B5EF4-FFF2-40B4-BE49-F238E27FC236}">
                  <a16:creationId xmlns:a16="http://schemas.microsoft.com/office/drawing/2014/main" id="{85BA650D-1EE6-42EB-97C3-D6A917DCAB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" y="1956"/>
              <a:ext cx="3887" cy="1984"/>
              <a:chOff x="188" y="1956"/>
              <a:chExt cx="3887" cy="1984"/>
            </a:xfrm>
          </p:grpSpPr>
          <p:grpSp>
            <p:nvGrpSpPr>
              <p:cNvPr id="38918" name="Group 6">
                <a:extLst>
                  <a:ext uri="{FF2B5EF4-FFF2-40B4-BE49-F238E27FC236}">
                    <a16:creationId xmlns:a16="http://schemas.microsoft.com/office/drawing/2014/main" id="{70D43EFC-E2B8-4BF9-BCC2-04E229AEDD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8" y="1956"/>
                <a:ext cx="1728" cy="1920"/>
                <a:chOff x="1184" y="2208"/>
                <a:chExt cx="1728" cy="1920"/>
              </a:xfrm>
            </p:grpSpPr>
            <p:sp>
              <p:nvSpPr>
                <p:cNvPr id="38919" name="Line 7">
                  <a:extLst>
                    <a:ext uri="{FF2B5EF4-FFF2-40B4-BE49-F238E27FC236}">
                      <a16:creationId xmlns:a16="http://schemas.microsoft.com/office/drawing/2014/main" id="{94D0A817-13AC-4C4A-9015-7278E634AE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8" y="2208"/>
                  <a:ext cx="0" cy="1920"/>
                </a:xfrm>
                <a:prstGeom prst="line">
                  <a:avLst/>
                </a:prstGeom>
                <a:noFill/>
                <a:ln w="57150">
                  <a:solidFill>
                    <a:srgbClr val="726E7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38920" name="Text Box 8">
                  <a:extLst>
                    <a:ext uri="{FF2B5EF4-FFF2-40B4-BE49-F238E27FC236}">
                      <a16:creationId xmlns:a16="http://schemas.microsoft.com/office/drawing/2014/main" id="{03764CCA-FA75-44FE-993C-13EFB12355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4" y="2208"/>
                  <a:ext cx="768" cy="237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GB" altLang="en-US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Stem</a:t>
                  </a:r>
                </a:p>
              </p:txBody>
            </p:sp>
            <p:sp>
              <p:nvSpPr>
                <p:cNvPr id="38921" name="Text Box 9">
                  <a:extLst>
                    <a:ext uri="{FF2B5EF4-FFF2-40B4-BE49-F238E27FC236}">
                      <a16:creationId xmlns:a16="http://schemas.microsoft.com/office/drawing/2014/main" id="{9173E95F-ED45-4A6C-8B7F-1A093781A2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44" y="2208"/>
                  <a:ext cx="768" cy="231"/>
                </a:xfrm>
                <a:prstGeom prst="rect">
                  <a:avLst/>
                </a:prstGeom>
                <a:solidFill>
                  <a:srgbClr val="00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GB" altLang="en-US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Leaf</a:t>
                  </a:r>
                </a:p>
              </p:txBody>
            </p:sp>
          </p:grpSp>
          <p:grpSp>
            <p:nvGrpSpPr>
              <p:cNvPr id="38922" name="Group 10">
                <a:extLst>
                  <a:ext uri="{FF2B5EF4-FFF2-40B4-BE49-F238E27FC236}">
                    <a16:creationId xmlns:a16="http://schemas.microsoft.com/office/drawing/2014/main" id="{A9D537B8-0EA3-4286-BE3C-97F94637DB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2" y="2244"/>
                <a:ext cx="480" cy="1696"/>
                <a:chOff x="1328" y="2496"/>
                <a:chExt cx="480" cy="1696"/>
              </a:xfrm>
            </p:grpSpPr>
            <p:sp>
              <p:nvSpPr>
                <p:cNvPr id="38923" name="Text Box 11">
                  <a:extLst>
                    <a:ext uri="{FF2B5EF4-FFF2-40B4-BE49-F238E27FC236}">
                      <a16:creationId xmlns:a16="http://schemas.microsoft.com/office/drawing/2014/main" id="{9522CF77-45DF-4514-BFDB-F41CCAD4C6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2496"/>
                  <a:ext cx="480" cy="250"/>
                </a:xfrm>
                <a:prstGeom prst="rect">
                  <a:avLst/>
                </a:prstGeom>
                <a:solidFill>
                  <a:srgbClr val="5A533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FFFFCC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3</a:t>
                  </a:r>
                </a:p>
              </p:txBody>
            </p:sp>
            <p:sp>
              <p:nvSpPr>
                <p:cNvPr id="38924" name="Text Box 12">
                  <a:extLst>
                    <a:ext uri="{FF2B5EF4-FFF2-40B4-BE49-F238E27FC236}">
                      <a16:creationId xmlns:a16="http://schemas.microsoft.com/office/drawing/2014/main" id="{4562792E-56CD-424A-B5F6-B13E5803C0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2784"/>
                  <a:ext cx="480" cy="256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4</a:t>
                  </a:r>
                </a:p>
              </p:txBody>
            </p:sp>
            <p:sp>
              <p:nvSpPr>
                <p:cNvPr id="38925" name="Text Box 13">
                  <a:extLst>
                    <a:ext uri="{FF2B5EF4-FFF2-40B4-BE49-F238E27FC236}">
                      <a16:creationId xmlns:a16="http://schemas.microsoft.com/office/drawing/2014/main" id="{31BA3E6D-6954-4B15-BF3B-522A2B8719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3072"/>
                  <a:ext cx="480" cy="256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5</a:t>
                  </a:r>
                </a:p>
              </p:txBody>
            </p:sp>
            <p:sp>
              <p:nvSpPr>
                <p:cNvPr id="38926" name="Text Box 14">
                  <a:extLst>
                    <a:ext uri="{FF2B5EF4-FFF2-40B4-BE49-F238E27FC236}">
                      <a16:creationId xmlns:a16="http://schemas.microsoft.com/office/drawing/2014/main" id="{2606EE74-062E-4CB5-BFC6-991E1B8661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3360"/>
                  <a:ext cx="480" cy="256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6</a:t>
                  </a:r>
                </a:p>
              </p:txBody>
            </p:sp>
            <p:sp>
              <p:nvSpPr>
                <p:cNvPr id="38927" name="Text Box 15">
                  <a:extLst>
                    <a:ext uri="{FF2B5EF4-FFF2-40B4-BE49-F238E27FC236}">
                      <a16:creationId xmlns:a16="http://schemas.microsoft.com/office/drawing/2014/main" id="{8358F0D4-6A28-4C47-8F7B-6590B568D1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3648"/>
                  <a:ext cx="480" cy="256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7</a:t>
                  </a:r>
                </a:p>
              </p:txBody>
            </p:sp>
            <p:sp>
              <p:nvSpPr>
                <p:cNvPr id="38928" name="Text Box 16">
                  <a:extLst>
                    <a:ext uri="{FF2B5EF4-FFF2-40B4-BE49-F238E27FC236}">
                      <a16:creationId xmlns:a16="http://schemas.microsoft.com/office/drawing/2014/main" id="{CE1AC3FB-447C-4796-A869-010963ABAF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8" y="3936"/>
                  <a:ext cx="480" cy="256"/>
                </a:xfrm>
                <a:prstGeom prst="rect">
                  <a:avLst/>
                </a:prstGeom>
                <a:solidFill>
                  <a:srgbClr val="5A5338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GB" altLang="en-US" sz="2000" b="1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8</a:t>
                  </a:r>
                </a:p>
              </p:txBody>
            </p:sp>
          </p:grpSp>
          <p:sp>
            <p:nvSpPr>
              <p:cNvPr id="38929" name="Text Box 17">
                <a:extLst>
                  <a:ext uri="{FF2B5EF4-FFF2-40B4-BE49-F238E27FC236}">
                    <a16:creationId xmlns:a16="http://schemas.microsoft.com/office/drawing/2014/main" id="{743CEF88-FAB9-4319-84F6-5FF32193F0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0" y="2240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1</a:t>
                </a:r>
              </a:p>
            </p:txBody>
          </p:sp>
          <p:sp>
            <p:nvSpPr>
              <p:cNvPr id="38930" name="Text Box 18">
                <a:extLst>
                  <a:ext uri="{FF2B5EF4-FFF2-40B4-BE49-F238E27FC236}">
                    <a16:creationId xmlns:a16="http://schemas.microsoft.com/office/drawing/2014/main" id="{B11AA928-ECF9-416B-A160-FD025DA783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0" y="2236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38931" name="Text Box 19">
                <a:extLst>
                  <a:ext uri="{FF2B5EF4-FFF2-40B4-BE49-F238E27FC236}">
                    <a16:creationId xmlns:a16="http://schemas.microsoft.com/office/drawing/2014/main" id="{9B6D0F80-2DF0-476C-9CAB-86CBE00DB2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7" y="2533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3</a:t>
                </a:r>
              </a:p>
            </p:txBody>
          </p:sp>
          <p:sp>
            <p:nvSpPr>
              <p:cNvPr id="38932" name="Text Box 20">
                <a:extLst>
                  <a:ext uri="{FF2B5EF4-FFF2-40B4-BE49-F238E27FC236}">
                    <a16:creationId xmlns:a16="http://schemas.microsoft.com/office/drawing/2014/main" id="{84F9141B-C0A4-4482-A405-729D94E7EC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5" y="2537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3</a:t>
                </a:r>
              </a:p>
            </p:txBody>
          </p:sp>
          <p:sp>
            <p:nvSpPr>
              <p:cNvPr id="38933" name="Text Box 21">
                <a:extLst>
                  <a:ext uri="{FF2B5EF4-FFF2-40B4-BE49-F238E27FC236}">
                    <a16:creationId xmlns:a16="http://schemas.microsoft.com/office/drawing/2014/main" id="{465C78E7-37E5-43CD-BA7D-4DD40F7279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9" y="2537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6</a:t>
                </a:r>
              </a:p>
            </p:txBody>
          </p:sp>
          <p:sp>
            <p:nvSpPr>
              <p:cNvPr id="38934" name="Text Box 22">
                <a:extLst>
                  <a:ext uri="{FF2B5EF4-FFF2-40B4-BE49-F238E27FC236}">
                    <a16:creationId xmlns:a16="http://schemas.microsoft.com/office/drawing/2014/main" id="{8C0A9D64-FA0C-4365-9109-9450B1277A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0" y="2824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0</a:t>
                </a:r>
              </a:p>
            </p:txBody>
          </p:sp>
          <p:sp>
            <p:nvSpPr>
              <p:cNvPr id="38935" name="Text Box 23">
                <a:extLst>
                  <a:ext uri="{FF2B5EF4-FFF2-40B4-BE49-F238E27FC236}">
                    <a16:creationId xmlns:a16="http://schemas.microsoft.com/office/drawing/2014/main" id="{770B2CEF-2E11-4C54-9D5F-1FE5E3C28F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4" y="2821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3</a:t>
                </a:r>
              </a:p>
            </p:txBody>
          </p:sp>
          <p:sp>
            <p:nvSpPr>
              <p:cNvPr id="38936" name="Text Box 24">
                <a:extLst>
                  <a:ext uri="{FF2B5EF4-FFF2-40B4-BE49-F238E27FC236}">
                    <a16:creationId xmlns:a16="http://schemas.microsoft.com/office/drawing/2014/main" id="{E62B65D5-3933-45FB-93FD-123A3012BD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3" y="2817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38937" name="Text Box 25">
                <a:extLst>
                  <a:ext uri="{FF2B5EF4-FFF2-40B4-BE49-F238E27FC236}">
                    <a16:creationId xmlns:a16="http://schemas.microsoft.com/office/drawing/2014/main" id="{8E5C0F9D-5462-476A-A841-6809D39AB3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5" y="2812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8</a:t>
                </a:r>
              </a:p>
            </p:txBody>
          </p:sp>
          <p:sp>
            <p:nvSpPr>
              <p:cNvPr id="38938" name="Text Box 26">
                <a:extLst>
                  <a:ext uri="{FF2B5EF4-FFF2-40B4-BE49-F238E27FC236}">
                    <a16:creationId xmlns:a16="http://schemas.microsoft.com/office/drawing/2014/main" id="{1FBDD020-D743-48C7-A94B-B178389EB5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9" y="3109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1</a:t>
                </a:r>
              </a:p>
            </p:txBody>
          </p:sp>
          <p:sp>
            <p:nvSpPr>
              <p:cNvPr id="38939" name="Text Box 27">
                <a:extLst>
                  <a:ext uri="{FF2B5EF4-FFF2-40B4-BE49-F238E27FC236}">
                    <a16:creationId xmlns:a16="http://schemas.microsoft.com/office/drawing/2014/main" id="{F0A630A3-98DE-4D04-A6DD-A2C79708AF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4" y="3401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2</a:t>
                </a:r>
              </a:p>
            </p:txBody>
          </p:sp>
          <p:sp>
            <p:nvSpPr>
              <p:cNvPr id="38940" name="Text Box 28">
                <a:extLst>
                  <a:ext uri="{FF2B5EF4-FFF2-40B4-BE49-F238E27FC236}">
                    <a16:creationId xmlns:a16="http://schemas.microsoft.com/office/drawing/2014/main" id="{F1222A19-08E6-4CE1-855E-5E9252FA8F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9" y="3394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2</a:t>
                </a:r>
              </a:p>
            </p:txBody>
          </p:sp>
          <p:sp>
            <p:nvSpPr>
              <p:cNvPr id="38941" name="Text Box 29">
                <a:extLst>
                  <a:ext uri="{FF2B5EF4-FFF2-40B4-BE49-F238E27FC236}">
                    <a16:creationId xmlns:a16="http://schemas.microsoft.com/office/drawing/2014/main" id="{033B0012-14CD-46FE-A72C-744D2FD0E2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4" y="3392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7</a:t>
                </a:r>
              </a:p>
            </p:txBody>
          </p:sp>
          <p:sp>
            <p:nvSpPr>
              <p:cNvPr id="38942" name="Text Box 30">
                <a:extLst>
                  <a:ext uri="{FF2B5EF4-FFF2-40B4-BE49-F238E27FC236}">
                    <a16:creationId xmlns:a16="http://schemas.microsoft.com/office/drawing/2014/main" id="{5DC0BC80-0115-43BA-B793-CC17E9BC16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3" y="3684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1</a:t>
                </a:r>
              </a:p>
            </p:txBody>
          </p:sp>
          <p:sp>
            <p:nvSpPr>
              <p:cNvPr id="38943" name="Text Box 31">
                <a:extLst>
                  <a:ext uri="{FF2B5EF4-FFF2-40B4-BE49-F238E27FC236}">
                    <a16:creationId xmlns:a16="http://schemas.microsoft.com/office/drawing/2014/main" id="{5912EBFD-40A2-4415-BA33-5CEBEB145B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2" y="3682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6</a:t>
                </a:r>
              </a:p>
            </p:txBody>
          </p:sp>
          <p:sp>
            <p:nvSpPr>
              <p:cNvPr id="38944" name="Text Box 32">
                <a:extLst>
                  <a:ext uri="{FF2B5EF4-FFF2-40B4-BE49-F238E27FC236}">
                    <a16:creationId xmlns:a16="http://schemas.microsoft.com/office/drawing/2014/main" id="{D9BD737D-6C0E-439F-8273-EF7DD582B8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0" y="3107"/>
                <a:ext cx="480" cy="25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000" b="1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2</a:t>
                </a:r>
              </a:p>
            </p:txBody>
          </p:sp>
          <p:sp>
            <p:nvSpPr>
              <p:cNvPr id="38945" name="Text Box 33">
                <a:extLst>
                  <a:ext uri="{FF2B5EF4-FFF2-40B4-BE49-F238E27FC236}">
                    <a16:creationId xmlns:a16="http://schemas.microsoft.com/office/drawing/2014/main" id="{0473B891-77C7-4AC6-B4DD-D41949E1C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" y="2220"/>
                <a:ext cx="552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altLang="en-US" sz="2400">
                    <a:latin typeface="Comic Sans MS" panose="030F0702030302020204" pitchFamily="66" charset="0"/>
                  </a:rPr>
                  <a:t>tens</a:t>
                </a:r>
              </a:p>
            </p:txBody>
          </p:sp>
          <p:sp>
            <p:nvSpPr>
              <p:cNvPr id="38946" name="Text Box 34">
                <a:extLst>
                  <a:ext uri="{FF2B5EF4-FFF2-40B4-BE49-F238E27FC236}">
                    <a16:creationId xmlns:a16="http://schemas.microsoft.com/office/drawing/2014/main" id="{75D02835-7419-44FE-9BB7-5011FD74DD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0" y="2184"/>
                <a:ext cx="756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2400">
                    <a:latin typeface="Comic Sans MS" panose="030F0702030302020204" pitchFamily="66" charset="0"/>
                  </a:rPr>
                  <a:t>units</a:t>
                </a:r>
              </a:p>
            </p:txBody>
          </p:sp>
        </p:grpSp>
      </p:grpSp>
      <p:sp>
        <p:nvSpPr>
          <p:cNvPr id="38947" name="Text Box 35">
            <a:extLst>
              <a:ext uri="{FF2B5EF4-FFF2-40B4-BE49-F238E27FC236}">
                <a16:creationId xmlns:a16="http://schemas.microsoft.com/office/drawing/2014/main" id="{3D873794-B0AC-4EE3-B60E-59578C612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2700" y="4953000"/>
            <a:ext cx="2181225" cy="376238"/>
          </a:xfrm>
          <a:prstGeom prst="rect">
            <a:avLst/>
          </a:prstGeom>
          <a:gradFill rotWithShape="0">
            <a:gsLst>
              <a:gs pos="0">
                <a:srgbClr val="CCFFFF">
                  <a:gamma/>
                  <a:shade val="66275"/>
                  <a:invGamma/>
                </a:srgbClr>
              </a:gs>
              <a:gs pos="50000">
                <a:srgbClr val="CCFFFF"/>
              </a:gs>
              <a:gs pos="100000">
                <a:srgbClr val="CCFFFF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>
                <a:solidFill>
                  <a:schemeClr val="accent2"/>
                </a:solidFill>
                <a:latin typeface="Comic Sans MS" panose="030F0702030302020204" pitchFamily="66" charset="0"/>
              </a:rPr>
              <a:t>(a)</a:t>
            </a:r>
            <a:r>
              <a:rPr lang="en-GB" altLang="en-US">
                <a:latin typeface="Comic Sans MS" panose="030F0702030302020204" pitchFamily="66" charset="0"/>
              </a:rPr>
              <a:t> 16 people.</a:t>
            </a:r>
          </a:p>
        </p:txBody>
      </p:sp>
      <p:sp>
        <p:nvSpPr>
          <p:cNvPr id="38948" name="Text Box 36">
            <a:extLst>
              <a:ext uri="{FF2B5EF4-FFF2-40B4-BE49-F238E27FC236}">
                <a16:creationId xmlns:a16="http://schemas.microsoft.com/office/drawing/2014/main" id="{DEF122DE-EF9B-4CA7-95A4-CCF21A4D9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2700" y="5505450"/>
            <a:ext cx="2209800" cy="376238"/>
          </a:xfrm>
          <a:prstGeom prst="rect">
            <a:avLst/>
          </a:prstGeom>
          <a:gradFill rotWithShape="0">
            <a:gsLst>
              <a:gs pos="0">
                <a:srgbClr val="CCFFFF">
                  <a:gamma/>
                  <a:shade val="66275"/>
                  <a:invGamma/>
                </a:srgbClr>
              </a:gs>
              <a:gs pos="50000">
                <a:srgbClr val="CCFFFF"/>
              </a:gs>
              <a:gs pos="100000">
                <a:srgbClr val="CCFFFF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>
                <a:solidFill>
                  <a:schemeClr val="accent2"/>
                </a:solidFill>
                <a:latin typeface="Comic Sans MS" panose="030F0702030302020204" pitchFamily="66" charset="0"/>
              </a:rPr>
              <a:t>(b)</a:t>
            </a:r>
            <a:r>
              <a:rPr lang="en-GB" altLang="en-US">
                <a:latin typeface="Comic Sans MS" panose="030F0702030302020204" pitchFamily="66" charset="0"/>
              </a:rPr>
              <a:t> 86 – 31 = 55 kg</a:t>
            </a:r>
          </a:p>
        </p:txBody>
      </p:sp>
      <p:grpSp>
        <p:nvGrpSpPr>
          <p:cNvPr id="38949" name="Group 37">
            <a:extLst>
              <a:ext uri="{FF2B5EF4-FFF2-40B4-BE49-F238E27FC236}">
                <a16:creationId xmlns:a16="http://schemas.microsoft.com/office/drawing/2014/main" id="{4D63EEEB-8E0F-4A5C-A91E-99265891992D}"/>
              </a:ext>
            </a:extLst>
          </p:cNvPr>
          <p:cNvGrpSpPr>
            <a:grpSpLocks/>
          </p:cNvGrpSpPr>
          <p:nvPr/>
        </p:nvGrpSpPr>
        <p:grpSpPr bwMode="auto">
          <a:xfrm>
            <a:off x="4603750" y="3549650"/>
            <a:ext cx="3968750" cy="2903538"/>
            <a:chOff x="2900" y="2236"/>
            <a:chExt cx="2500" cy="1829"/>
          </a:xfrm>
        </p:grpSpPr>
        <p:sp>
          <p:nvSpPr>
            <p:cNvPr id="38950" name="Oval 38">
              <a:extLst>
                <a:ext uri="{FF2B5EF4-FFF2-40B4-BE49-F238E27FC236}">
                  <a16:creationId xmlns:a16="http://schemas.microsoft.com/office/drawing/2014/main" id="{4EEB9DAE-B3A8-4FDD-AA83-CF87FDD85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0" y="2748"/>
              <a:ext cx="1204" cy="36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38951" name="Freeform 39">
              <a:extLst>
                <a:ext uri="{FF2B5EF4-FFF2-40B4-BE49-F238E27FC236}">
                  <a16:creationId xmlns:a16="http://schemas.microsoft.com/office/drawing/2014/main" id="{459D736F-2ECE-419D-8630-981E848CBF06}"/>
                </a:ext>
              </a:extLst>
            </p:cNvPr>
            <p:cNvSpPr>
              <a:spLocks/>
            </p:cNvSpPr>
            <p:nvPr/>
          </p:nvSpPr>
          <p:spPr bwMode="auto">
            <a:xfrm rot="-7260444">
              <a:off x="4344" y="2584"/>
              <a:ext cx="1" cy="452"/>
            </a:xfrm>
            <a:custGeom>
              <a:avLst/>
              <a:gdLst>
                <a:gd name="T0" fmla="*/ 0 w 1"/>
                <a:gd name="T1" fmla="*/ 452 h 452"/>
                <a:gd name="T2" fmla="*/ 0 w 1"/>
                <a:gd name="T3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52">
                  <a:moveTo>
                    <a:pt x="0" y="452"/>
                  </a:moveTo>
                  <a:lnTo>
                    <a:pt x="0" y="0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952" name="Text Box 40">
              <a:extLst>
                <a:ext uri="{FF2B5EF4-FFF2-40B4-BE49-F238E27FC236}">
                  <a16:creationId xmlns:a16="http://schemas.microsoft.com/office/drawing/2014/main" id="{26718BE9-E644-4B39-A160-385A9AE59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0" y="2236"/>
              <a:ext cx="1020" cy="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1600">
                  <a:latin typeface="Comic Sans MS" panose="030F0702030302020204" pitchFamily="66" charset="0"/>
                </a:rPr>
                <a:t>Median is the mean of the  8</a:t>
              </a:r>
              <a:r>
                <a:rPr lang="en-GB" altLang="en-US" sz="1600" baseline="30000">
                  <a:latin typeface="Comic Sans MS" panose="030F0702030302020204" pitchFamily="66" charset="0"/>
                </a:rPr>
                <a:t>th</a:t>
              </a:r>
              <a:r>
                <a:rPr lang="en-GB" altLang="en-US" sz="1600">
                  <a:latin typeface="Comic Sans MS" panose="030F0702030302020204" pitchFamily="66" charset="0"/>
                </a:rPr>
                <a:t> and 9</a:t>
              </a:r>
              <a:r>
                <a:rPr lang="en-GB" altLang="en-US" sz="1600" baseline="30000">
                  <a:latin typeface="Comic Sans MS" panose="030F0702030302020204" pitchFamily="66" charset="0"/>
                </a:rPr>
                <a:t>th</a:t>
              </a:r>
              <a:r>
                <a:rPr lang="en-GB" altLang="en-US" sz="1600">
                  <a:latin typeface="Comic Sans MS" panose="030F0702030302020204" pitchFamily="66" charset="0"/>
                </a:rPr>
                <a:t> data values.</a:t>
              </a:r>
            </a:p>
          </p:txBody>
        </p:sp>
        <p:sp>
          <p:nvSpPr>
            <p:cNvPr id="38953" name="Text Box 41">
              <a:extLst>
                <a:ext uri="{FF2B5EF4-FFF2-40B4-BE49-F238E27FC236}">
                  <a16:creationId xmlns:a16="http://schemas.microsoft.com/office/drawing/2014/main" id="{5DAF8C32-4AD8-48FA-8015-F8D0D68134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" y="3828"/>
              <a:ext cx="1392" cy="237"/>
            </a:xfrm>
            <a:prstGeom prst="rect">
              <a:avLst/>
            </a:prstGeom>
            <a:gradFill rotWithShape="0">
              <a:gsLst>
                <a:gs pos="0">
                  <a:srgbClr val="CCFFFF">
                    <a:gamma/>
                    <a:shade val="66275"/>
                    <a:invGamma/>
                  </a:srgbClr>
                </a:gs>
                <a:gs pos="50000">
                  <a:srgbClr val="CCFFFF"/>
                </a:gs>
                <a:gs pos="100000">
                  <a:srgbClr val="CCFFFF">
                    <a:gamma/>
                    <a:shade val="66275"/>
                    <a:invGamma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>
                  <a:solidFill>
                    <a:schemeClr val="accent2"/>
                  </a:solidFill>
                  <a:latin typeface="Comic Sans MS" panose="030F0702030302020204" pitchFamily="66" charset="0"/>
                </a:rPr>
                <a:t>(c)</a:t>
              </a:r>
              <a:r>
                <a:rPr lang="en-GB" altLang="en-US">
                  <a:latin typeface="Comic Sans MS" panose="030F0702030302020204" pitchFamily="66" charset="0"/>
                </a:rPr>
                <a:t> 56 kg</a:t>
              </a:r>
            </a:p>
          </p:txBody>
        </p:sp>
      </p:grpSp>
      <p:sp>
        <p:nvSpPr>
          <p:cNvPr id="38954" name="Rectangle 42">
            <a:extLst>
              <a:ext uri="{FF2B5EF4-FFF2-40B4-BE49-F238E27FC236}">
                <a16:creationId xmlns:a16="http://schemas.microsoft.com/office/drawing/2014/main" id="{9AD204FC-1505-499B-931F-21F5A7029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2540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47" grpId="0" animBg="1" autoUpdateAnimBg="0"/>
      <p:bldP spid="38948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865E9-3A33-470B-A6CA-0194F5BD9C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A4F5B-499E-479D-9384-FEF0482164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Textbook </a:t>
            </a:r>
          </a:p>
          <a:p>
            <a:pPr marL="0" indent="0" algn="ctr">
              <a:buNone/>
            </a:pPr>
            <a:r>
              <a:rPr lang="en-US" dirty="0"/>
              <a:t>Page 330</a:t>
            </a:r>
          </a:p>
          <a:p>
            <a:pPr marL="0" indent="0" algn="ctr">
              <a:buNone/>
            </a:pPr>
            <a:r>
              <a:rPr lang="en-US" dirty="0"/>
              <a:t>Questions 1 – 13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302439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1031</Words>
  <Application>Microsoft Office PowerPoint</Application>
  <PresentationFormat>On-screen Show (4:3)</PresentationFormat>
  <Paragraphs>241</Paragraphs>
  <Slides>18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Comic Sans MS</vt:lpstr>
      <vt:lpstr>Kristen ITC</vt:lpstr>
      <vt:lpstr>Times New Roman</vt:lpstr>
      <vt:lpstr>Wingdings</vt:lpstr>
      <vt:lpstr>Default Design</vt:lpstr>
      <vt:lpstr>Office Theme</vt:lpstr>
      <vt:lpstr>Lesson objective</vt:lpstr>
      <vt:lpstr>Daily review: matching activity  </vt:lpstr>
      <vt:lpstr>Daily review: matching activity  </vt:lpstr>
      <vt:lpstr> An 8 Question Warm Up…</vt:lpstr>
      <vt:lpstr>Find the median of the following numbers:-</vt:lpstr>
      <vt:lpstr>Find the range of the following numbers:-</vt:lpstr>
      <vt:lpstr>Find the mean of these numbers:-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Individual practice</vt:lpstr>
    </vt:vector>
  </TitlesOfParts>
  <Company>Student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Wonderful World of C1  Part One: Algebraic Processing Skills</dc:title>
  <dc:creator>mrbartonmaths.com</dc:creator>
  <cp:lastModifiedBy>DAVIES Rhys [Busselton Senior High School]</cp:lastModifiedBy>
  <cp:revision>56</cp:revision>
  <cp:lastPrinted>2023-11-03T00:19:43Z</cp:lastPrinted>
  <dcterms:created xsi:type="dcterms:W3CDTF">2005-09-06T18:54:43Z</dcterms:created>
  <dcterms:modified xsi:type="dcterms:W3CDTF">2023-11-03T02:57:28Z</dcterms:modified>
</cp:coreProperties>
</file>
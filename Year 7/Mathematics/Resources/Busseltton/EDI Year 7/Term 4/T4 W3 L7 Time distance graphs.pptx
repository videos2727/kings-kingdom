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0" r:id="rId2"/>
  </p:sldMasterIdLst>
  <p:notesMasterIdLst>
    <p:notesMasterId r:id="rId13"/>
  </p:notesMasterIdLst>
  <p:sldIdLst>
    <p:sldId id="355" r:id="rId3"/>
    <p:sldId id="339" r:id="rId4"/>
    <p:sldId id="342" r:id="rId5"/>
    <p:sldId id="343" r:id="rId6"/>
    <p:sldId id="347" r:id="rId7"/>
    <p:sldId id="349" r:id="rId8"/>
    <p:sldId id="348" r:id="rId9"/>
    <p:sldId id="350" r:id="rId10"/>
    <p:sldId id="341" r:id="rId11"/>
    <p:sldId id="356" r:id="rId12"/>
  </p:sldIdLst>
  <p:sldSz cx="9144000" cy="5143500" type="screen16x9"/>
  <p:notesSz cx="6794500" cy="99314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P3" id="{AD917F9D-4B44-594E-A6C9-B2A378EA660A}">
          <p14:sldIdLst/>
        </p14:section>
        <p14:section name="Content" id="{66C9C7BF-DCB8-0B42-9E5A-A47210286444}">
          <p14:sldIdLst>
            <p14:sldId id="355"/>
            <p14:sldId id="339"/>
            <p14:sldId id="342"/>
            <p14:sldId id="343"/>
            <p14:sldId id="347"/>
            <p14:sldId id="349"/>
            <p14:sldId id="348"/>
            <p14:sldId id="350"/>
            <p14:sldId id="341"/>
            <p14:sldId id="3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D500"/>
    <a:srgbClr val="0432FF"/>
    <a:srgbClr val="FFFFFF"/>
    <a:srgbClr val="97DFFE"/>
    <a:srgbClr val="C2FBC2"/>
    <a:srgbClr val="B5FBB4"/>
    <a:srgbClr val="FED9FD"/>
    <a:srgbClr val="FECEFD"/>
    <a:srgbClr val="73FDD6"/>
    <a:srgbClr val="9CFD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76"/>
    <p:restoredTop sz="92600"/>
  </p:normalViewPr>
  <p:slideViewPr>
    <p:cSldViewPr snapToGrid="0" snapToObjects="1">
      <p:cViewPr varScale="1">
        <p:scale>
          <a:sx n="101" d="100"/>
          <a:sy n="101" d="100"/>
        </p:scale>
        <p:origin x="118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0:36:44.991"/>
    </inkml:context>
    <inkml:brush xml:id="br0">
      <inkml:brushProperty name="width" value="0.2" units="cm"/>
      <inkml:brushProperty name="height" value="0.2"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0:36:55.685"/>
    </inkml:context>
    <inkml:brush xml:id="br0">
      <inkml:brushProperty name="width" value="0.2" units="cm"/>
      <inkml:brushProperty name="height" value="0.2"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0:36:57.820"/>
    </inkml:context>
    <inkml:brush xml:id="br0">
      <inkml:brushProperty name="width" value="0.2" units="cm"/>
      <inkml:brushProperty name="height" value="0.2"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0:37:01.423"/>
    </inkml:context>
    <inkml:brush xml:id="br0">
      <inkml:brushProperty name="width" value="0.2" units="cm"/>
      <inkml:brushProperty name="height" value="0.2"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0:37:10.346"/>
    </inkml:context>
    <inkml:brush xml:id="br0">
      <inkml:brushProperty name="width" value="0.2" units="cm"/>
      <inkml:brushProperty name="height" value="0.2" units="cm"/>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0:42:34.465"/>
    </inkml:context>
    <inkml:brush xml:id="br0">
      <inkml:brushProperty name="width" value="0.2" units="cm"/>
      <inkml:brushProperty name="height" value="0.2" units="cm"/>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0:42:35.476"/>
    </inkml:context>
    <inkml:brush xml:id="br0">
      <inkml:brushProperty name="width" value="0.2" units="cm"/>
      <inkml:brushProperty name="height" value="0.2" units="cm"/>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0T10:42:39.926"/>
    </inkml:context>
    <inkml:brush xml:id="br0">
      <inkml:brushProperty name="width" value="0.2" units="cm"/>
      <inkml:brushProperty name="height" value="0.2"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E6F61483-72D0-394C-AC95-0368E97CFE03}" type="datetimeFigureOut">
              <a:rPr lang="en-GB" smtClean="0"/>
              <a:t>25/10/2023</a:t>
            </a:fld>
            <a:endParaRPr lang="en-GB"/>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D5D9377F-1BD6-9941-B405-1638211A94BD}" type="slidenum">
              <a:rPr lang="en-GB" smtClean="0"/>
              <a:t>‹#›</a:t>
            </a:fld>
            <a:endParaRPr lang="en-GB"/>
          </a:p>
        </p:txBody>
      </p:sp>
    </p:spTree>
    <p:extLst>
      <p:ext uri="{BB962C8B-B14F-4D97-AF65-F5344CB8AC3E}">
        <p14:creationId xmlns:p14="http://schemas.microsoft.com/office/powerpoint/2010/main" val="184852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Clipart for the car used: http://</a:t>
            </a:r>
            <a:r>
              <a:rPr lang="en-GB" dirty="0" err="1"/>
              <a:t>www.clker.com</a:t>
            </a:r>
            <a:r>
              <a:rPr lang="en-GB" dirty="0"/>
              <a:t>/clipart-red-car-top-view-8.html</a:t>
            </a:r>
          </a:p>
        </p:txBody>
      </p:sp>
      <p:sp>
        <p:nvSpPr>
          <p:cNvPr id="4" name="Slide Number Placeholder 3"/>
          <p:cNvSpPr>
            <a:spLocks noGrp="1"/>
          </p:cNvSpPr>
          <p:nvPr>
            <p:ph type="sldNum" sz="quarter" idx="5"/>
          </p:nvPr>
        </p:nvSpPr>
        <p:spPr/>
        <p:txBody>
          <a:bodyPr/>
          <a:lstStyle/>
          <a:p>
            <a:fld id="{D5D9377F-1BD6-9941-B405-1638211A94BD}" type="slidenum">
              <a:rPr lang="en-GB" smtClean="0"/>
              <a:t>2</a:t>
            </a:fld>
            <a:endParaRPr lang="en-GB"/>
          </a:p>
        </p:txBody>
      </p:sp>
    </p:spTree>
    <p:extLst>
      <p:ext uri="{BB962C8B-B14F-4D97-AF65-F5344CB8AC3E}">
        <p14:creationId xmlns:p14="http://schemas.microsoft.com/office/powerpoint/2010/main" val="726130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Animation inspired by GeoGebra Traffic!</a:t>
            </a:r>
          </a:p>
        </p:txBody>
      </p:sp>
      <p:sp>
        <p:nvSpPr>
          <p:cNvPr id="4" name="Slide Number Placeholder 3"/>
          <p:cNvSpPr>
            <a:spLocks noGrp="1"/>
          </p:cNvSpPr>
          <p:nvPr>
            <p:ph type="sldNum" sz="quarter" idx="5"/>
          </p:nvPr>
        </p:nvSpPr>
        <p:spPr/>
        <p:txBody>
          <a:bodyPr/>
          <a:lstStyle/>
          <a:p>
            <a:fld id="{D5D9377F-1BD6-9941-B405-1638211A94BD}" type="slidenum">
              <a:rPr lang="en-GB" smtClean="0"/>
              <a:t>3</a:t>
            </a:fld>
            <a:endParaRPr lang="en-GB"/>
          </a:p>
        </p:txBody>
      </p:sp>
    </p:spTree>
    <p:extLst>
      <p:ext uri="{BB962C8B-B14F-4D97-AF65-F5344CB8AC3E}">
        <p14:creationId xmlns:p14="http://schemas.microsoft.com/office/powerpoint/2010/main" val="3429021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4</a:t>
            </a:fld>
            <a:endParaRPr lang="en-GB"/>
          </a:p>
        </p:txBody>
      </p:sp>
    </p:spTree>
    <p:extLst>
      <p:ext uri="{BB962C8B-B14F-4D97-AF65-F5344CB8AC3E}">
        <p14:creationId xmlns:p14="http://schemas.microsoft.com/office/powerpoint/2010/main" val="821353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5</a:t>
            </a:fld>
            <a:endParaRPr lang="en-GB"/>
          </a:p>
        </p:txBody>
      </p:sp>
    </p:spTree>
    <p:extLst>
      <p:ext uri="{BB962C8B-B14F-4D97-AF65-F5344CB8AC3E}">
        <p14:creationId xmlns:p14="http://schemas.microsoft.com/office/powerpoint/2010/main" val="62122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6</a:t>
            </a:fld>
            <a:endParaRPr lang="en-GB"/>
          </a:p>
        </p:txBody>
      </p:sp>
    </p:spTree>
    <p:extLst>
      <p:ext uri="{BB962C8B-B14F-4D97-AF65-F5344CB8AC3E}">
        <p14:creationId xmlns:p14="http://schemas.microsoft.com/office/powerpoint/2010/main" val="2883450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7</a:t>
            </a:fld>
            <a:endParaRPr lang="en-GB"/>
          </a:p>
        </p:txBody>
      </p:sp>
    </p:spTree>
    <p:extLst>
      <p:ext uri="{BB962C8B-B14F-4D97-AF65-F5344CB8AC3E}">
        <p14:creationId xmlns:p14="http://schemas.microsoft.com/office/powerpoint/2010/main" val="3513431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Question inspired by </a:t>
            </a:r>
            <a:r>
              <a:rPr lang="en-GB" dirty="0" err="1"/>
              <a:t>CorbettMaths</a:t>
            </a:r>
            <a:r>
              <a:rPr lang="en-GB" dirty="0"/>
              <a:t>!</a:t>
            </a:r>
          </a:p>
        </p:txBody>
      </p:sp>
      <p:sp>
        <p:nvSpPr>
          <p:cNvPr id="4" name="Slide Number Placeholder 3"/>
          <p:cNvSpPr>
            <a:spLocks noGrp="1"/>
          </p:cNvSpPr>
          <p:nvPr>
            <p:ph type="sldNum" sz="quarter" idx="5"/>
          </p:nvPr>
        </p:nvSpPr>
        <p:spPr/>
        <p:txBody>
          <a:bodyPr/>
          <a:lstStyle/>
          <a:p>
            <a:fld id="{D5D9377F-1BD6-9941-B405-1638211A94BD}" type="slidenum">
              <a:rPr lang="en-GB" smtClean="0"/>
              <a:t>8</a:t>
            </a:fld>
            <a:endParaRPr lang="en-GB"/>
          </a:p>
        </p:txBody>
      </p:sp>
    </p:spTree>
    <p:extLst>
      <p:ext uri="{BB962C8B-B14F-4D97-AF65-F5344CB8AC3E}">
        <p14:creationId xmlns:p14="http://schemas.microsoft.com/office/powerpoint/2010/main" val="3832453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D9377F-1BD6-9941-B405-1638211A94BD}" type="slidenum">
              <a:rPr lang="en-GB" smtClean="0"/>
              <a:t>9</a:t>
            </a:fld>
            <a:endParaRPr lang="en-GB"/>
          </a:p>
        </p:txBody>
      </p:sp>
    </p:spTree>
    <p:extLst>
      <p:ext uri="{BB962C8B-B14F-4D97-AF65-F5344CB8AC3E}">
        <p14:creationId xmlns:p14="http://schemas.microsoft.com/office/powerpoint/2010/main" val="2189857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P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0807F-CC69-D64A-8CA7-DE7A689C7297}"/>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CD0F4EBC-0EB9-5144-B113-E3C84F3D49F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320822" y="418107"/>
            <a:ext cx="2502359" cy="2908460"/>
          </a:xfrm>
          <a:prstGeom prst="rect">
            <a:avLst/>
          </a:prstGeom>
        </p:spPr>
      </p:pic>
      <p:sp>
        <p:nvSpPr>
          <p:cNvPr id="8" name="TextBox 7">
            <a:extLst>
              <a:ext uri="{FF2B5EF4-FFF2-40B4-BE49-F238E27FC236}">
                <a16:creationId xmlns:a16="http://schemas.microsoft.com/office/drawing/2014/main" id="{6C2C3470-A77D-3F4F-BA21-9D2139540AE8}"/>
              </a:ext>
            </a:extLst>
          </p:cNvPr>
          <p:cNvSpPr txBox="1"/>
          <p:nvPr userDrawn="1"/>
        </p:nvSpPr>
        <p:spPr>
          <a:xfrm>
            <a:off x="2846275" y="3386567"/>
            <a:ext cx="3451522" cy="1131720"/>
          </a:xfrm>
          <a:prstGeom prst="rect">
            <a:avLst/>
          </a:prstGeom>
          <a:noFill/>
        </p:spPr>
        <p:txBody>
          <a:bodyPr wrap="none" rtlCol="0">
            <a:spAutoFit/>
          </a:bodyPr>
          <a:lstStyle/>
          <a:p>
            <a:pPr algn="ctr"/>
            <a:r>
              <a:rPr lang="en-GB" sz="1351" spc="300" dirty="0"/>
              <a:t>Mathematics</a:t>
            </a:r>
          </a:p>
          <a:p>
            <a:pPr algn="ctr"/>
            <a:r>
              <a:rPr lang="en-GB" sz="1351" b="1" spc="300" dirty="0"/>
              <a:t>DISTANCE-TIME GRAPHS</a:t>
            </a:r>
          </a:p>
          <a:p>
            <a:pPr algn="ctr"/>
            <a:r>
              <a:rPr lang="en-GB" sz="1351" b="1" spc="300" dirty="0"/>
              <a:t>TES: </a:t>
            </a:r>
            <a:r>
              <a:rPr lang="en-GB" sz="1351" spc="300" dirty="0"/>
              <a:t>cparkinson3</a:t>
            </a:r>
          </a:p>
          <a:p>
            <a:pPr algn="ctr"/>
            <a:endParaRPr lang="en-GB" sz="1351" spc="300" dirty="0"/>
          </a:p>
          <a:p>
            <a:pPr algn="ctr"/>
            <a:r>
              <a:rPr lang="en-GB" sz="1351" b="1" spc="300" dirty="0"/>
              <a:t>Last updated: 31</a:t>
            </a:r>
            <a:r>
              <a:rPr lang="en-GB" sz="1351" b="1" spc="300" baseline="30000" dirty="0"/>
              <a:t>st</a:t>
            </a:r>
            <a:r>
              <a:rPr lang="en-GB" sz="1351" b="1" spc="300" dirty="0"/>
              <a:t> March 2019</a:t>
            </a:r>
          </a:p>
        </p:txBody>
      </p:sp>
      <p:grpSp>
        <p:nvGrpSpPr>
          <p:cNvPr id="19" name="Group 18">
            <a:extLst>
              <a:ext uri="{FF2B5EF4-FFF2-40B4-BE49-F238E27FC236}">
                <a16:creationId xmlns:a16="http://schemas.microsoft.com/office/drawing/2014/main" id="{6E0BBCA1-B637-DA48-9AEB-73D453E7CEF3}"/>
              </a:ext>
            </a:extLst>
          </p:cNvPr>
          <p:cNvGrpSpPr/>
          <p:nvPr userDrawn="1"/>
        </p:nvGrpSpPr>
        <p:grpSpPr>
          <a:xfrm>
            <a:off x="-761023" y="0"/>
            <a:ext cx="677108" cy="3067219"/>
            <a:chOff x="-948661" y="62818"/>
            <a:chExt cx="901230" cy="4082469"/>
          </a:xfrm>
        </p:grpSpPr>
        <p:sp>
          <p:nvSpPr>
            <p:cNvPr id="10" name="Rectangle 9">
              <a:extLst>
                <a:ext uri="{FF2B5EF4-FFF2-40B4-BE49-F238E27FC236}">
                  <a16:creationId xmlns:a16="http://schemas.microsoft.com/office/drawing/2014/main" id="{6E55D352-BAB1-EF49-A53C-E90574CEB9A2}"/>
                </a:ext>
              </a:extLst>
            </p:cNvPr>
            <p:cNvSpPr/>
            <p:nvPr userDrawn="1"/>
          </p:nvSpPr>
          <p:spPr>
            <a:xfrm rot="16200000">
              <a:off x="-2539281" y="1653438"/>
              <a:ext cx="4082469" cy="901230"/>
            </a:xfrm>
            <a:prstGeom prst="rect">
              <a:avLst/>
            </a:prstGeom>
            <a:solidFill>
              <a:schemeClr val="bg1"/>
            </a:solidFill>
            <a:ln w="12700">
              <a:solidFill>
                <a:schemeClr val="tx1">
                  <a:lumMod val="75000"/>
                  <a:lumOff val="25000"/>
                </a:schemeClr>
              </a:solidFill>
            </a:ln>
          </p:spPr>
          <p:txBody>
            <a:bodyPr wrap="square">
              <a:spAutoFit/>
            </a:bodyPr>
            <a:lstStyle/>
            <a:p>
              <a:pPr algn="ctr"/>
              <a:r>
                <a:rPr lang="en-GB" sz="1200" dirty="0">
                  <a:latin typeface="Calibri" charset="0"/>
                  <a:ea typeface="Calibri" charset="0"/>
                  <a:cs typeface="Calibri" charset="0"/>
                </a:rPr>
                <a:t>The main colours used in this PowerPoint.</a:t>
              </a:r>
            </a:p>
            <a:p>
              <a:pPr algn="ctr"/>
              <a:endParaRPr lang="en-GB" sz="1400" dirty="0">
                <a:latin typeface="Calibri" charset="0"/>
                <a:ea typeface="Calibri" charset="0"/>
                <a:cs typeface="Calibri" charset="0"/>
              </a:endParaRPr>
            </a:p>
            <a:p>
              <a:pPr algn="ctr"/>
              <a:endParaRPr lang="en-GB" sz="1100" dirty="0"/>
            </a:p>
          </p:txBody>
        </p:sp>
        <p:sp>
          <p:nvSpPr>
            <p:cNvPr id="11" name="Rectangle 10">
              <a:extLst>
                <a:ext uri="{FF2B5EF4-FFF2-40B4-BE49-F238E27FC236}">
                  <a16:creationId xmlns:a16="http://schemas.microsoft.com/office/drawing/2014/main" id="{33B2B14E-DC1A-5E4C-928B-D4217526D917}"/>
                </a:ext>
              </a:extLst>
            </p:cNvPr>
            <p:cNvSpPr/>
            <p:nvPr userDrawn="1"/>
          </p:nvSpPr>
          <p:spPr>
            <a:xfrm>
              <a:off x="-558935" y="257838"/>
              <a:ext cx="374469" cy="374469"/>
            </a:xfrm>
            <a:prstGeom prst="rect">
              <a:avLst/>
            </a:prstGeom>
            <a:solidFill>
              <a:srgbClr val="FFFD9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2" name="Rectangle 11">
              <a:extLst>
                <a:ext uri="{FF2B5EF4-FFF2-40B4-BE49-F238E27FC236}">
                  <a16:creationId xmlns:a16="http://schemas.microsoft.com/office/drawing/2014/main" id="{BAC70C96-CE7C-C644-B399-67BE1A82A085}"/>
                </a:ext>
              </a:extLst>
            </p:cNvPr>
            <p:cNvSpPr/>
            <p:nvPr userDrawn="1"/>
          </p:nvSpPr>
          <p:spPr>
            <a:xfrm>
              <a:off x="-558935" y="731833"/>
              <a:ext cx="374469" cy="374469"/>
            </a:xfrm>
            <a:prstGeom prst="rect">
              <a:avLst/>
            </a:prstGeom>
            <a:solidFill>
              <a:srgbClr val="97E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Rectangle 12">
              <a:extLst>
                <a:ext uri="{FF2B5EF4-FFF2-40B4-BE49-F238E27FC236}">
                  <a16:creationId xmlns:a16="http://schemas.microsoft.com/office/drawing/2014/main" id="{8A999F51-BD50-C049-90A9-1B6231CB9857}"/>
                </a:ext>
              </a:extLst>
            </p:cNvPr>
            <p:cNvSpPr/>
            <p:nvPr userDrawn="1"/>
          </p:nvSpPr>
          <p:spPr>
            <a:xfrm>
              <a:off x="-558935" y="1205828"/>
              <a:ext cx="374469" cy="374469"/>
            </a:xfrm>
            <a:prstGeom prst="rect">
              <a:avLst/>
            </a:prstGeom>
            <a:solidFill>
              <a:srgbClr val="BEFCB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a:extLst>
                <a:ext uri="{FF2B5EF4-FFF2-40B4-BE49-F238E27FC236}">
                  <a16:creationId xmlns:a16="http://schemas.microsoft.com/office/drawing/2014/main" id="{6CC2D869-022F-E840-89BC-12DD971DC573}"/>
                </a:ext>
              </a:extLst>
            </p:cNvPr>
            <p:cNvSpPr/>
            <p:nvPr userDrawn="1"/>
          </p:nvSpPr>
          <p:spPr>
            <a:xfrm>
              <a:off x="-558935" y="1679823"/>
              <a:ext cx="374469" cy="374469"/>
            </a:xfrm>
            <a:prstGeom prst="rect">
              <a:avLst/>
            </a:prstGeom>
            <a:solidFill>
              <a:srgbClr val="FFE7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5" name="Rectangle 14">
              <a:extLst>
                <a:ext uri="{FF2B5EF4-FFF2-40B4-BE49-F238E27FC236}">
                  <a16:creationId xmlns:a16="http://schemas.microsoft.com/office/drawing/2014/main" id="{EE8AFE88-59C2-B045-B530-3C553F00279C}"/>
                </a:ext>
              </a:extLst>
            </p:cNvPr>
            <p:cNvSpPr/>
            <p:nvPr userDrawn="1"/>
          </p:nvSpPr>
          <p:spPr>
            <a:xfrm>
              <a:off x="-558935" y="2153818"/>
              <a:ext cx="374469" cy="374469"/>
            </a:xfrm>
            <a:prstGeom prst="rect">
              <a:avLst/>
            </a:prstGeom>
            <a:solidFill>
              <a:srgbClr val="FFDBD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6" name="Rectangle 15">
              <a:extLst>
                <a:ext uri="{FF2B5EF4-FFF2-40B4-BE49-F238E27FC236}">
                  <a16:creationId xmlns:a16="http://schemas.microsoft.com/office/drawing/2014/main" id="{2CD1061D-2441-E04D-9676-B653DF83E2F4}"/>
                </a:ext>
              </a:extLst>
            </p:cNvPr>
            <p:cNvSpPr/>
            <p:nvPr userDrawn="1"/>
          </p:nvSpPr>
          <p:spPr>
            <a:xfrm>
              <a:off x="-558935" y="2627813"/>
              <a:ext cx="374469" cy="374469"/>
            </a:xfrm>
            <a:prstGeom prst="rect">
              <a:avLst/>
            </a:prstGeom>
            <a:solidFill>
              <a:srgbClr val="FEB5BB"/>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7" name="Rectangle 16">
              <a:extLst>
                <a:ext uri="{FF2B5EF4-FFF2-40B4-BE49-F238E27FC236}">
                  <a16:creationId xmlns:a16="http://schemas.microsoft.com/office/drawing/2014/main" id="{C5FBBDF0-4A29-224B-929A-32C4CB949376}"/>
                </a:ext>
              </a:extLst>
            </p:cNvPr>
            <p:cNvSpPr/>
            <p:nvPr userDrawn="1"/>
          </p:nvSpPr>
          <p:spPr>
            <a:xfrm>
              <a:off x="-558935" y="3575802"/>
              <a:ext cx="374469" cy="374469"/>
            </a:xfrm>
            <a:prstGeom prst="rect">
              <a:avLst/>
            </a:prstGeom>
            <a:solidFill>
              <a:srgbClr val="D3B3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8" name="Rectangle 17">
              <a:extLst>
                <a:ext uri="{FF2B5EF4-FFF2-40B4-BE49-F238E27FC236}">
                  <a16:creationId xmlns:a16="http://schemas.microsoft.com/office/drawing/2014/main" id="{8D0DA461-5D30-5344-8AA2-02873BB7BFE1}"/>
                </a:ext>
              </a:extLst>
            </p:cNvPr>
            <p:cNvSpPr/>
            <p:nvPr userDrawn="1"/>
          </p:nvSpPr>
          <p:spPr>
            <a:xfrm>
              <a:off x="-558935" y="3101808"/>
              <a:ext cx="374469" cy="374469"/>
            </a:xfrm>
            <a:prstGeom prst="rect">
              <a:avLst/>
            </a:prstGeom>
            <a:solidFill>
              <a:srgbClr val="D9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grpSp>
    </p:spTree>
    <p:extLst>
      <p:ext uri="{BB962C8B-B14F-4D97-AF65-F5344CB8AC3E}">
        <p14:creationId xmlns:p14="http://schemas.microsoft.com/office/powerpoint/2010/main" val="12193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ntrols&amp;Layout">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53A38F-A006-2D4A-8143-E8B42B9BC24A}"/>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05EF21D-6DDF-A64B-A2DF-AE1F1279CCC8}"/>
              </a:ext>
            </a:extLst>
          </p:cNvPr>
          <p:cNvSpPr txBox="1"/>
          <p:nvPr userDrawn="1"/>
        </p:nvSpPr>
        <p:spPr>
          <a:xfrm>
            <a:off x="66356" y="578058"/>
            <a:ext cx="8264568" cy="553998"/>
          </a:xfrm>
          <a:prstGeom prst="rect">
            <a:avLst/>
          </a:prstGeom>
          <a:noFill/>
        </p:spPr>
        <p:txBody>
          <a:bodyPr wrap="square" rtlCol="0">
            <a:spAutoFit/>
          </a:bodyPr>
          <a:lstStyle/>
          <a:p>
            <a:pPr algn="l"/>
            <a:r>
              <a:rPr lang="en-GB" sz="1500" spc="300" dirty="0"/>
              <a:t>Some textboxes [controls] throughout this PowerPoint have been set up to ‘trigger’ animations when clicked. These are detailed below.</a:t>
            </a:r>
          </a:p>
        </p:txBody>
      </p:sp>
      <p:grpSp>
        <p:nvGrpSpPr>
          <p:cNvPr id="6" name="Group 5">
            <a:extLst>
              <a:ext uri="{FF2B5EF4-FFF2-40B4-BE49-F238E27FC236}">
                <a16:creationId xmlns:a16="http://schemas.microsoft.com/office/drawing/2014/main" id="{45924C19-4218-D940-974A-7AAAA82013D3}"/>
              </a:ext>
            </a:extLst>
          </p:cNvPr>
          <p:cNvGrpSpPr/>
          <p:nvPr userDrawn="1"/>
        </p:nvGrpSpPr>
        <p:grpSpPr>
          <a:xfrm>
            <a:off x="151963" y="1289098"/>
            <a:ext cx="8903805" cy="784830"/>
            <a:chOff x="1820342" y="1466572"/>
            <a:chExt cx="8903805" cy="784830"/>
          </a:xfrm>
        </p:grpSpPr>
        <p:grpSp>
          <p:nvGrpSpPr>
            <p:cNvPr id="2" name="Group 1">
              <a:extLst>
                <a:ext uri="{FF2B5EF4-FFF2-40B4-BE49-F238E27FC236}">
                  <a16:creationId xmlns:a16="http://schemas.microsoft.com/office/drawing/2014/main" id="{A3350D4A-F062-5044-BB59-334D9E4F30FE}"/>
                </a:ext>
              </a:extLst>
            </p:cNvPr>
            <p:cNvGrpSpPr/>
            <p:nvPr userDrawn="1"/>
          </p:nvGrpSpPr>
          <p:grpSpPr>
            <a:xfrm>
              <a:off x="1820342" y="1504138"/>
              <a:ext cx="2660074" cy="709699"/>
              <a:chOff x="1820342" y="1545283"/>
              <a:chExt cx="2660074" cy="709699"/>
            </a:xfrm>
          </p:grpSpPr>
          <p:sp>
            <p:nvSpPr>
              <p:cNvPr id="24" name="TextBox 4">
                <a:extLst>
                  <a:ext uri="{FF2B5EF4-FFF2-40B4-BE49-F238E27FC236}">
                    <a16:creationId xmlns:a16="http://schemas.microsoft.com/office/drawing/2014/main" id="{FA70328D-10AC-B54A-897C-F9AEA2E0874B}"/>
                  </a:ext>
                </a:extLst>
              </p:cNvPr>
              <p:cNvSpPr txBox="1">
                <a:spLocks/>
              </p:cNvSpPr>
              <p:nvPr userDrawn="1"/>
            </p:nvSpPr>
            <p:spPr bwMode="auto">
              <a:xfrm>
                <a:off x="1820342" y="1945382"/>
                <a:ext cx="2660074" cy="3096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LEARNING OBJECTIVE</a:t>
                </a:r>
              </a:p>
            </p:txBody>
          </p:sp>
          <p:sp>
            <p:nvSpPr>
              <p:cNvPr id="25" name="TextBox 9">
                <a:extLst>
                  <a:ext uri="{FF2B5EF4-FFF2-40B4-BE49-F238E27FC236}">
                    <a16:creationId xmlns:a16="http://schemas.microsoft.com/office/drawing/2014/main" id="{3241E8D5-E77F-A448-9572-34FE3F91F72F}"/>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26" name="TextBox 3">
                <a:extLst>
                  <a:ext uri="{FF2B5EF4-FFF2-40B4-BE49-F238E27FC236}">
                    <a16:creationId xmlns:a16="http://schemas.microsoft.com/office/drawing/2014/main" id="{8D743310-9ADD-6D49-B1C8-CE5DBB93D6E0}"/>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5" name="Group 4">
              <a:extLst>
                <a:ext uri="{FF2B5EF4-FFF2-40B4-BE49-F238E27FC236}">
                  <a16:creationId xmlns:a16="http://schemas.microsoft.com/office/drawing/2014/main" id="{26C40E73-C315-864E-B58B-A4EC41A0690E}"/>
                </a:ext>
              </a:extLst>
            </p:cNvPr>
            <p:cNvGrpSpPr/>
            <p:nvPr userDrawn="1"/>
          </p:nvGrpSpPr>
          <p:grpSpPr>
            <a:xfrm>
              <a:off x="4628967" y="1466572"/>
              <a:ext cx="6095180" cy="784830"/>
              <a:chOff x="4628967" y="1462993"/>
              <a:chExt cx="6095180" cy="784830"/>
            </a:xfrm>
          </p:grpSpPr>
          <p:sp>
            <p:nvSpPr>
              <p:cNvPr id="23" name="TextBox 22">
                <a:extLst>
                  <a:ext uri="{FF2B5EF4-FFF2-40B4-BE49-F238E27FC236}">
                    <a16:creationId xmlns:a16="http://schemas.microsoft.com/office/drawing/2014/main" id="{E6EB34EC-1B19-414E-93B2-2D0301C311A9}"/>
                  </a:ext>
                </a:extLst>
              </p:cNvPr>
              <p:cNvSpPr txBox="1"/>
              <p:nvPr userDrawn="1"/>
            </p:nvSpPr>
            <p:spPr>
              <a:xfrm>
                <a:off x="4655598" y="1462993"/>
                <a:ext cx="6068549" cy="553998"/>
              </a:xfrm>
              <a:prstGeom prst="rect">
                <a:avLst/>
              </a:prstGeom>
              <a:noFill/>
            </p:spPr>
            <p:txBody>
              <a:bodyPr wrap="square" rtlCol="0">
                <a:spAutoFit/>
              </a:bodyPr>
              <a:lstStyle/>
              <a:p>
                <a:pPr algn="l"/>
                <a:r>
                  <a:rPr lang="en-GB" sz="1500" spc="300" dirty="0"/>
                  <a:t>The date, title and learning objective are displayed at the top of the slide in the format to the left.</a:t>
                </a:r>
              </a:p>
            </p:txBody>
          </p:sp>
          <p:cxnSp>
            <p:nvCxnSpPr>
              <p:cNvPr id="4" name="Straight Connector 3">
                <a:extLst>
                  <a:ext uri="{FF2B5EF4-FFF2-40B4-BE49-F238E27FC236}">
                    <a16:creationId xmlns:a16="http://schemas.microsoft.com/office/drawing/2014/main" id="{76C952C1-5B60-354D-8932-4CA13924694E}"/>
                  </a:ext>
                </a:extLst>
              </p:cNvPr>
              <p:cNvCxnSpPr>
                <a:cxnSpLocks/>
              </p:cNvCxnSpPr>
              <p:nvPr userDrawn="1"/>
            </p:nvCxnSpPr>
            <p:spPr>
              <a:xfrm>
                <a:off x="4628967"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68ADD22D-EA5E-B241-AFB5-D9C97504938B}"/>
              </a:ext>
            </a:extLst>
          </p:cNvPr>
          <p:cNvSpPr txBox="1"/>
          <p:nvPr userDrawn="1"/>
        </p:nvSpPr>
        <p:spPr>
          <a:xfrm>
            <a:off x="66356" y="75603"/>
            <a:ext cx="3920107" cy="584775"/>
          </a:xfrm>
          <a:prstGeom prst="rect">
            <a:avLst/>
          </a:prstGeom>
          <a:noFill/>
        </p:spPr>
        <p:txBody>
          <a:bodyPr wrap="square" rtlCol="0">
            <a:spAutoFit/>
          </a:bodyPr>
          <a:lstStyle/>
          <a:p>
            <a:pPr algn="l"/>
            <a:r>
              <a:rPr lang="en-GB" sz="3200" b="1" spc="300" dirty="0"/>
              <a:t>Controls &amp; layout</a:t>
            </a:r>
          </a:p>
        </p:txBody>
      </p:sp>
      <p:cxnSp>
        <p:nvCxnSpPr>
          <p:cNvPr id="37" name="Straight Connector 36">
            <a:extLst>
              <a:ext uri="{FF2B5EF4-FFF2-40B4-BE49-F238E27FC236}">
                <a16:creationId xmlns:a16="http://schemas.microsoft.com/office/drawing/2014/main" id="{B21CEB9F-8260-0A40-A91D-D64E181A1844}"/>
              </a:ext>
            </a:extLst>
          </p:cNvPr>
          <p:cNvCxnSpPr>
            <a:cxnSpLocks/>
          </p:cNvCxnSpPr>
          <p:nvPr userDrawn="1"/>
        </p:nvCxnSpPr>
        <p:spPr>
          <a:xfrm>
            <a:off x="66356" y="1171257"/>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55FB869-FA68-0348-A0B3-A6A7ED058E3D}"/>
              </a:ext>
            </a:extLst>
          </p:cNvPr>
          <p:cNvCxnSpPr>
            <a:cxnSpLocks/>
          </p:cNvCxnSpPr>
          <p:nvPr userDrawn="1"/>
        </p:nvCxnSpPr>
        <p:spPr>
          <a:xfrm>
            <a:off x="66356" y="2193049"/>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E86D0D19-A691-2D42-A577-DC2C5D9B44C4}"/>
              </a:ext>
            </a:extLst>
          </p:cNvPr>
          <p:cNvGrpSpPr/>
          <p:nvPr userDrawn="1"/>
        </p:nvGrpSpPr>
        <p:grpSpPr>
          <a:xfrm>
            <a:off x="151963" y="2307486"/>
            <a:ext cx="8903805" cy="1708160"/>
            <a:chOff x="1820342" y="1466572"/>
            <a:chExt cx="8903805" cy="1708160"/>
          </a:xfrm>
        </p:grpSpPr>
        <p:grpSp>
          <p:nvGrpSpPr>
            <p:cNvPr id="29" name="Group 28">
              <a:extLst>
                <a:ext uri="{FF2B5EF4-FFF2-40B4-BE49-F238E27FC236}">
                  <a16:creationId xmlns:a16="http://schemas.microsoft.com/office/drawing/2014/main" id="{B1C10E65-2ACF-0348-8100-AF39CE803DD7}"/>
                </a:ext>
              </a:extLst>
            </p:cNvPr>
            <p:cNvGrpSpPr/>
            <p:nvPr userDrawn="1"/>
          </p:nvGrpSpPr>
          <p:grpSpPr>
            <a:xfrm>
              <a:off x="1820342" y="1504138"/>
              <a:ext cx="2660074" cy="709699"/>
              <a:chOff x="1820342" y="1545283"/>
              <a:chExt cx="2660074" cy="709699"/>
            </a:xfrm>
          </p:grpSpPr>
          <p:sp>
            <p:nvSpPr>
              <p:cNvPr id="33" name="TextBox 4">
                <a:extLst>
                  <a:ext uri="{FF2B5EF4-FFF2-40B4-BE49-F238E27FC236}">
                    <a16:creationId xmlns:a16="http://schemas.microsoft.com/office/drawing/2014/main" id="{92721DFE-88DE-D84A-9D2B-2B626493B5F9}"/>
                  </a:ext>
                </a:extLst>
              </p:cNvPr>
              <p:cNvSpPr txBox="1">
                <a:spLocks/>
              </p:cNvSpPr>
              <p:nvPr userDrawn="1"/>
            </p:nvSpPr>
            <p:spPr bwMode="auto">
              <a:xfrm>
                <a:off x="1820342" y="1945382"/>
                <a:ext cx="2660074" cy="309600"/>
              </a:xfrm>
              <a:prstGeom prst="rect">
                <a:avLst/>
              </a:prstGeom>
              <a:solidFill>
                <a:schemeClr val="tx2"/>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spc="300" dirty="0">
                    <a:latin typeface="Calibri" charset="0"/>
                    <a:ea typeface="Calibri" charset="0"/>
                    <a:cs typeface="Calibri" charset="0"/>
                  </a:rPr>
                  <a:t>KEY TERMS</a:t>
                </a:r>
              </a:p>
            </p:txBody>
          </p:sp>
          <p:sp>
            <p:nvSpPr>
              <p:cNvPr id="34" name="TextBox 9">
                <a:extLst>
                  <a:ext uri="{FF2B5EF4-FFF2-40B4-BE49-F238E27FC236}">
                    <a16:creationId xmlns:a16="http://schemas.microsoft.com/office/drawing/2014/main" id="{484E0F6D-BFC2-484B-B722-17638277FB12}"/>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spc="300" dirty="0">
                    <a:latin typeface="Calibri" charset="0"/>
                    <a:ea typeface="Calibri" charset="0"/>
                    <a:cs typeface="Calibri" charset="0"/>
                  </a:rPr>
                  <a:t>DATE</a:t>
                </a:r>
                <a:endParaRPr lang="en-US" sz="1400" b="1" spc="300" dirty="0">
                  <a:latin typeface="Calibri" charset="0"/>
                  <a:ea typeface="Calibri" charset="0"/>
                  <a:cs typeface="Calibri" charset="0"/>
                </a:endParaRPr>
              </a:p>
            </p:txBody>
          </p:sp>
          <p:sp>
            <p:nvSpPr>
              <p:cNvPr id="35" name="TextBox 3">
                <a:extLst>
                  <a:ext uri="{FF2B5EF4-FFF2-40B4-BE49-F238E27FC236}">
                    <a16:creationId xmlns:a16="http://schemas.microsoft.com/office/drawing/2014/main" id="{32C3C2D2-F91D-7241-B45F-464BD4B284A4}"/>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b="1" spc="300" dirty="0">
                    <a:latin typeface="Calibri" charset="0"/>
                    <a:ea typeface="Calibri" charset="0"/>
                    <a:cs typeface="Calibri" charset="0"/>
                  </a:rPr>
                  <a:t>TITLE</a:t>
                </a:r>
              </a:p>
            </p:txBody>
          </p:sp>
        </p:grpSp>
        <p:grpSp>
          <p:nvGrpSpPr>
            <p:cNvPr id="30" name="Group 29">
              <a:extLst>
                <a:ext uri="{FF2B5EF4-FFF2-40B4-BE49-F238E27FC236}">
                  <a16:creationId xmlns:a16="http://schemas.microsoft.com/office/drawing/2014/main" id="{A7B047A2-CE3D-134E-8E59-58E7A29C6D8C}"/>
                </a:ext>
              </a:extLst>
            </p:cNvPr>
            <p:cNvGrpSpPr/>
            <p:nvPr userDrawn="1"/>
          </p:nvGrpSpPr>
          <p:grpSpPr>
            <a:xfrm>
              <a:off x="4628967" y="1466572"/>
              <a:ext cx="6095180" cy="1708160"/>
              <a:chOff x="4628967" y="1462993"/>
              <a:chExt cx="6095180" cy="1708160"/>
            </a:xfrm>
          </p:grpSpPr>
          <p:sp>
            <p:nvSpPr>
              <p:cNvPr id="31" name="TextBox 30">
                <a:extLst>
                  <a:ext uri="{FF2B5EF4-FFF2-40B4-BE49-F238E27FC236}">
                    <a16:creationId xmlns:a16="http://schemas.microsoft.com/office/drawing/2014/main" id="{67DE6CA1-D0E7-884C-9AFA-77EFD5EB6037}"/>
                  </a:ext>
                </a:extLst>
              </p:cNvPr>
              <p:cNvSpPr txBox="1"/>
              <p:nvPr userDrawn="1"/>
            </p:nvSpPr>
            <p:spPr>
              <a:xfrm>
                <a:off x="4655598" y="1462993"/>
                <a:ext cx="6068549" cy="170816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500" spc="300" dirty="0"/>
                  <a:t>Click on the key terms control to show/hide the lesson’s key terms. The key terms textbox will replace the learning objective when shown. The key terms control is displayed in the bottom right hand corner of the slide. </a:t>
                </a:r>
                <a:r>
                  <a:rPr lang="en-GB" sz="1500" b="1" spc="300" dirty="0"/>
                  <a:t>Note: </a:t>
                </a:r>
                <a:r>
                  <a:rPr lang="en-GB" sz="1500" spc="300" dirty="0"/>
                  <a:t>As you move onto the next slide the key terms textbox will be replaced by the learning objective textbox.</a:t>
                </a:r>
              </a:p>
            </p:txBody>
          </p:sp>
          <p:cxnSp>
            <p:nvCxnSpPr>
              <p:cNvPr id="32" name="Straight Connector 31">
                <a:extLst>
                  <a:ext uri="{FF2B5EF4-FFF2-40B4-BE49-F238E27FC236}">
                    <a16:creationId xmlns:a16="http://schemas.microsoft.com/office/drawing/2014/main" id="{0C4F4C72-B359-F148-B3E7-89A1E826ADB4}"/>
                  </a:ext>
                </a:extLst>
              </p:cNvPr>
              <p:cNvCxnSpPr>
                <a:cxnSpLocks/>
              </p:cNvCxnSpPr>
              <p:nvPr userDrawn="1"/>
            </p:nvCxnSpPr>
            <p:spPr>
              <a:xfrm>
                <a:off x="4628967" y="1462993"/>
                <a:ext cx="0" cy="17081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0" name="TextBox 39">
            <a:extLst>
              <a:ext uri="{FF2B5EF4-FFF2-40B4-BE49-F238E27FC236}">
                <a16:creationId xmlns:a16="http://schemas.microsoft.com/office/drawing/2014/main" id="{E94B164F-2AED-F544-8BBE-B48ABDE56ECA}"/>
              </a:ext>
            </a:extLst>
          </p:cNvPr>
          <p:cNvSpPr txBox="1"/>
          <p:nvPr userDrawn="1"/>
        </p:nvSpPr>
        <p:spPr>
          <a:xfrm>
            <a:off x="2127895" y="3773628"/>
            <a:ext cx="683860" cy="196551"/>
          </a:xfrm>
          <a:prstGeom prst="rect">
            <a:avLst/>
          </a:prstGeom>
          <a:solidFill>
            <a:schemeClr val="accent6">
              <a:lumMod val="90000"/>
            </a:schemeClr>
          </a:solidFill>
          <a:ln w="12700">
            <a:solidFill>
              <a:schemeClr val="tx1"/>
            </a:solidFill>
          </a:ln>
        </p:spPr>
        <p:txBody>
          <a:bodyPr wrap="none" rtlCol="0" anchor="ctr">
            <a:spAutoFit/>
          </a:bodyPr>
          <a:lstStyle/>
          <a:p>
            <a:pPr algn="ctr"/>
            <a:r>
              <a:rPr lang="en-GB" sz="1050" dirty="0"/>
              <a:t>KEY TERMS</a:t>
            </a:r>
          </a:p>
        </p:txBody>
      </p:sp>
      <p:cxnSp>
        <p:nvCxnSpPr>
          <p:cNvPr id="49" name="Straight Connector 48">
            <a:extLst>
              <a:ext uri="{FF2B5EF4-FFF2-40B4-BE49-F238E27FC236}">
                <a16:creationId xmlns:a16="http://schemas.microsoft.com/office/drawing/2014/main" id="{10DB2AF2-DE73-844E-B6FB-70B8E68C139D}"/>
              </a:ext>
            </a:extLst>
          </p:cNvPr>
          <p:cNvCxnSpPr>
            <a:cxnSpLocks/>
          </p:cNvCxnSpPr>
          <p:nvPr userDrawn="1"/>
        </p:nvCxnSpPr>
        <p:spPr>
          <a:xfrm>
            <a:off x="66356" y="4144943"/>
            <a:ext cx="89894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AF0745E-FF13-B842-9A47-5DA624498451}"/>
              </a:ext>
            </a:extLst>
          </p:cNvPr>
          <p:cNvGrpSpPr/>
          <p:nvPr userDrawn="1"/>
        </p:nvGrpSpPr>
        <p:grpSpPr>
          <a:xfrm>
            <a:off x="151963" y="4270067"/>
            <a:ext cx="8903805" cy="784830"/>
            <a:chOff x="151963" y="4204754"/>
            <a:chExt cx="8903805" cy="784830"/>
          </a:xfrm>
        </p:grpSpPr>
        <p:grpSp>
          <p:nvGrpSpPr>
            <p:cNvPr id="43" name="Group 42">
              <a:extLst>
                <a:ext uri="{FF2B5EF4-FFF2-40B4-BE49-F238E27FC236}">
                  <a16:creationId xmlns:a16="http://schemas.microsoft.com/office/drawing/2014/main" id="{BF097B06-3F7C-4E42-9395-239B18628089}"/>
                </a:ext>
              </a:extLst>
            </p:cNvPr>
            <p:cNvGrpSpPr/>
            <p:nvPr userDrawn="1"/>
          </p:nvGrpSpPr>
          <p:grpSpPr>
            <a:xfrm>
              <a:off x="1041844" y="4204754"/>
              <a:ext cx="8013924" cy="784830"/>
              <a:chOff x="2923539" y="1462993"/>
              <a:chExt cx="7800608" cy="784830"/>
            </a:xfrm>
          </p:grpSpPr>
          <p:sp>
            <p:nvSpPr>
              <p:cNvPr id="44" name="TextBox 43">
                <a:extLst>
                  <a:ext uri="{FF2B5EF4-FFF2-40B4-BE49-F238E27FC236}">
                    <a16:creationId xmlns:a16="http://schemas.microsoft.com/office/drawing/2014/main" id="{B08AEA2E-8BC0-4D4F-A0BE-DBD8FE7C2D12}"/>
                  </a:ext>
                </a:extLst>
              </p:cNvPr>
              <p:cNvSpPr txBox="1"/>
              <p:nvPr userDrawn="1"/>
            </p:nvSpPr>
            <p:spPr>
              <a:xfrm>
                <a:off x="2955752" y="1462993"/>
                <a:ext cx="7768395" cy="784830"/>
              </a:xfrm>
              <a:prstGeom prst="rect">
                <a:avLst/>
              </a:prstGeom>
              <a:noFill/>
            </p:spPr>
            <p:txBody>
              <a:bodyPr wrap="square" rtlCol="0">
                <a:spAutoFit/>
              </a:bodyPr>
              <a:lstStyle/>
              <a:p>
                <a:pPr algn="l"/>
                <a:r>
                  <a:rPr lang="en-GB" sz="1500" spc="300" dirty="0"/>
                  <a:t>Click on the solution control to show/hide a solution to a question. These controls are often, but not always, rotated </a:t>
                </a:r>
                <a:r>
                  <a:rPr lang="en-GB" sz="1500" spc="300" dirty="0" err="1"/>
                  <a:t>90</a:t>
                </a:r>
                <a:r>
                  <a:rPr lang="en-GB" sz="1500" spc="300" baseline="30000" dirty="0" err="1"/>
                  <a:t>o</a:t>
                </a:r>
                <a:r>
                  <a:rPr lang="en-GB" sz="1500" spc="300" dirty="0"/>
                  <a:t> anti-clockwise to make greater use of space for questions.</a:t>
                </a:r>
              </a:p>
            </p:txBody>
          </p:sp>
          <p:cxnSp>
            <p:nvCxnSpPr>
              <p:cNvPr id="45" name="Straight Connector 44">
                <a:extLst>
                  <a:ext uri="{FF2B5EF4-FFF2-40B4-BE49-F238E27FC236}">
                    <a16:creationId xmlns:a16="http://schemas.microsoft.com/office/drawing/2014/main" id="{05EA8D9A-B0DC-BF48-9813-4893BBC57B97}"/>
                  </a:ext>
                </a:extLst>
              </p:cNvPr>
              <p:cNvCxnSpPr>
                <a:cxnSpLocks/>
              </p:cNvCxnSpPr>
              <p:nvPr userDrawn="1"/>
            </p:nvCxnSpPr>
            <p:spPr>
              <a:xfrm>
                <a:off x="2923539"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F6B2249C-CE64-CE4A-BD2A-DB21FB39A501}"/>
                </a:ext>
              </a:extLst>
            </p:cNvPr>
            <p:cNvSpPr txBox="1"/>
            <p:nvPr userDrawn="1"/>
          </p:nvSpPr>
          <p:spPr>
            <a:xfrm>
              <a:off x="151963" y="4253694"/>
              <a:ext cx="738343" cy="267766"/>
            </a:xfrm>
            <a:prstGeom prst="rect">
              <a:avLst/>
            </a:prstGeom>
            <a:solidFill>
              <a:schemeClr val="accent3"/>
            </a:solidFill>
            <a:ln w="12700">
              <a:solidFill>
                <a:schemeClr val="tx1"/>
              </a:solidFill>
            </a:ln>
          </p:spPr>
          <p:txBody>
            <a:bodyPr wrap="none" lIns="45720" tIns="18288" rIns="45720" bIns="18288" rtlCol="0">
              <a:spAutoFit/>
            </a:bodyPr>
            <a:lstStyle/>
            <a:p>
              <a:pPr algn="ctr"/>
              <a:r>
                <a:rPr lang="en-GB" sz="1500" dirty="0"/>
                <a:t>Solution</a:t>
              </a:r>
            </a:p>
          </p:txBody>
        </p:sp>
      </p:grpSp>
      <p:pic>
        <p:nvPicPr>
          <p:cNvPr id="39" name="Picture 38">
            <a:extLst>
              <a:ext uri="{FF2B5EF4-FFF2-40B4-BE49-F238E27FC236}">
                <a16:creationId xmlns:a16="http://schemas.microsoft.com/office/drawing/2014/main" id="{A1B53C23-9949-CE4C-BC8F-13541023545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243838" y="160321"/>
            <a:ext cx="724844" cy="842477"/>
          </a:xfrm>
          <a:prstGeom prst="rect">
            <a:avLst/>
          </a:prstGeom>
        </p:spPr>
      </p:pic>
    </p:spTree>
    <p:extLst>
      <p:ext uri="{BB962C8B-B14F-4D97-AF65-F5344CB8AC3E}">
        <p14:creationId xmlns:p14="http://schemas.microsoft.com/office/powerpoint/2010/main" val="2432378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_Basic">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10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B90E3-6C7E-80DB-76CE-8B821CBD7722}"/>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AU"/>
          </a:p>
        </p:txBody>
      </p:sp>
      <p:sp>
        <p:nvSpPr>
          <p:cNvPr id="3" name="Subtitle 2">
            <a:extLst>
              <a:ext uri="{FF2B5EF4-FFF2-40B4-BE49-F238E27FC236}">
                <a16:creationId xmlns:a16="http://schemas.microsoft.com/office/drawing/2014/main" id="{5DD391C3-5016-D42F-69EC-73281AFB720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F8EB48C-A04D-5C5E-3C64-3BBF112517B4}"/>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5" name="Footer Placeholder 4">
            <a:extLst>
              <a:ext uri="{FF2B5EF4-FFF2-40B4-BE49-F238E27FC236}">
                <a16:creationId xmlns:a16="http://schemas.microsoft.com/office/drawing/2014/main" id="{EB895CBD-F037-F378-81D4-8BB28DCF69B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03DD871-19F4-0283-C2A3-21B6141F39D7}"/>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1939387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DA11F-D6CD-0B6F-EA64-549AC6D063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65E7775-8663-75E1-B850-C5772D8013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8E44124-5AFB-4556-8092-ABB81B87B3D5}"/>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5" name="Footer Placeholder 4">
            <a:extLst>
              <a:ext uri="{FF2B5EF4-FFF2-40B4-BE49-F238E27FC236}">
                <a16:creationId xmlns:a16="http://schemas.microsoft.com/office/drawing/2014/main" id="{B763EBB6-160A-9F01-4979-911F6785810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226A9B3-E230-B8B0-1C26-6775CFFB5D18}"/>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4178140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F899F-DE58-AB35-9753-62103BC632D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EEDF16D-08DF-477F-96A9-452B064D509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7D8EE4-E005-378E-0D8C-7C93100B1E00}"/>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5" name="Footer Placeholder 4">
            <a:extLst>
              <a:ext uri="{FF2B5EF4-FFF2-40B4-BE49-F238E27FC236}">
                <a16:creationId xmlns:a16="http://schemas.microsoft.com/office/drawing/2014/main" id="{E4305C65-A7F0-0ACE-A1C4-62414C6ED85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5A4C2E6-82C1-8313-EA3A-AD0A2FDFE8E1}"/>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860931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8CBA7-901E-792C-16A1-1DC7D738DD1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8E26B81-69E5-D552-88AF-795EA20FA40D}"/>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1904F1C8-2318-1572-A699-D88E118ED1E5}"/>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9C46C013-973F-3A36-CCC8-EE59228BCD69}"/>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6" name="Footer Placeholder 5">
            <a:extLst>
              <a:ext uri="{FF2B5EF4-FFF2-40B4-BE49-F238E27FC236}">
                <a16:creationId xmlns:a16="http://schemas.microsoft.com/office/drawing/2014/main" id="{DB1ED2A2-6E0E-F8D1-D64C-46C8D17EFD8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26C4AEA-FCF6-F8A8-A3E0-79C5A18FF3D0}"/>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4283394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8061F-6ED8-6BF0-C796-20B0CC7D70D6}"/>
              </a:ext>
            </a:extLst>
          </p:cNvPr>
          <p:cNvSpPr>
            <a:spLocks noGrp="1"/>
          </p:cNvSpPr>
          <p:nvPr>
            <p:ph type="title"/>
          </p:nvPr>
        </p:nvSpPr>
        <p:spPr>
          <a:xfrm>
            <a:off x="629841" y="273844"/>
            <a:ext cx="7886700" cy="994172"/>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CE20E52-C0D1-57D2-E13B-7F50F8D52111}"/>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8BA1D47-870C-4032-CEF4-6146896B684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A02DDB5-C1C4-9D31-6701-33D3738BDF97}"/>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3AE7AA5-142D-FA8C-800F-57D1A32C693B}"/>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CA012003-25D5-3CEC-7A86-0D8C6C592FCE}"/>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8" name="Footer Placeholder 7">
            <a:extLst>
              <a:ext uri="{FF2B5EF4-FFF2-40B4-BE49-F238E27FC236}">
                <a16:creationId xmlns:a16="http://schemas.microsoft.com/office/drawing/2014/main" id="{78C4B8E8-1DF0-8C48-EF51-D315B7DB548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E8A18F2-C124-8447-F492-49BEB61B979A}"/>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1922720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C9AA3-0CBC-36DD-2BA4-7425B9083D6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1A28C32-B7BF-AEC5-3BB4-D4CF22DCD32B}"/>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4" name="Footer Placeholder 3">
            <a:extLst>
              <a:ext uri="{FF2B5EF4-FFF2-40B4-BE49-F238E27FC236}">
                <a16:creationId xmlns:a16="http://schemas.microsoft.com/office/drawing/2014/main" id="{AB37F1E3-A3C4-A9DB-A76F-754A1B5A771E}"/>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31D32FFE-F4DD-D273-086C-774A709B5780}"/>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284459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769BD7-DFC5-0C30-017D-3EDBC03959A6}"/>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3" name="Footer Placeholder 2">
            <a:extLst>
              <a:ext uri="{FF2B5EF4-FFF2-40B4-BE49-F238E27FC236}">
                <a16:creationId xmlns:a16="http://schemas.microsoft.com/office/drawing/2014/main" id="{21BF7B7B-CB40-AA9F-1514-9AD2DF540C3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BBDFE99-B71F-B826-E75B-57DA323FAC92}"/>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854806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12E9-695D-FD29-DA2E-57B6D62F94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B502AAF-52D6-3537-558B-A515AAC6DA2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0C19F290-239A-7DA9-C98F-0247FDD808EE}"/>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68224EA-AE6E-5668-583C-CBFBA9C66121}"/>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6" name="Footer Placeholder 5">
            <a:extLst>
              <a:ext uri="{FF2B5EF4-FFF2-40B4-BE49-F238E27FC236}">
                <a16:creationId xmlns:a16="http://schemas.microsoft.com/office/drawing/2014/main" id="{20B4BFDB-2E09-A048-F927-0ECB8799F93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7EC7AF5-C6D7-FC3F-4D1E-779876A31EEA}"/>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775914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C413-4DD4-3B55-CAC7-89130AA26EC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1560A6BA-ECAC-79CA-40F3-AF1F5F432137}"/>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a:extLst>
              <a:ext uri="{FF2B5EF4-FFF2-40B4-BE49-F238E27FC236}">
                <a16:creationId xmlns:a16="http://schemas.microsoft.com/office/drawing/2014/main" id="{D41A5944-80A7-86AF-7A9B-E55A969D126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929545A-7EBF-55BE-E3ED-AE76A07C9B65}"/>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6" name="Footer Placeholder 5">
            <a:extLst>
              <a:ext uri="{FF2B5EF4-FFF2-40B4-BE49-F238E27FC236}">
                <a16:creationId xmlns:a16="http://schemas.microsoft.com/office/drawing/2014/main" id="{3F74196A-2746-0DFF-A99A-A480AB56951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309BEAF-256C-F323-966A-F1563FCAAEBE}"/>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27915226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E39C8-E532-30A0-E74F-77DF97DABDF0}"/>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B336E16-8DCF-923D-17BD-3BB663FE05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A1C10ED-AFB2-A2AB-ACDE-EDEEF4CEF21C}"/>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5" name="Footer Placeholder 4">
            <a:extLst>
              <a:ext uri="{FF2B5EF4-FFF2-40B4-BE49-F238E27FC236}">
                <a16:creationId xmlns:a16="http://schemas.microsoft.com/office/drawing/2014/main" id="{1CF827BE-007E-6202-CE75-CCC1D2958B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F5EB63-FE84-1B8A-3938-EBEB0158E149}"/>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1611413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6BC898-EB11-192C-01C5-06D4B2F6702C}"/>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DBBEB1A-A4A5-2E69-3465-0F275B1EB5DE}"/>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4D0253F-FAE9-AE3A-125E-356FD9D82318}"/>
              </a:ext>
            </a:extLst>
          </p:cNvPr>
          <p:cNvSpPr>
            <a:spLocks noGrp="1"/>
          </p:cNvSpPr>
          <p:nvPr>
            <p:ph type="dt" sz="half" idx="10"/>
          </p:nvPr>
        </p:nvSpPr>
        <p:spPr/>
        <p:txBody>
          <a:bodyPr/>
          <a:lstStyle/>
          <a:p>
            <a:fld id="{2C80A351-23A8-4748-8DF1-06BCC797FA0F}" type="datetimeFigureOut">
              <a:rPr lang="en-AU" smtClean="0"/>
              <a:t>25/10/2023</a:t>
            </a:fld>
            <a:endParaRPr lang="en-AU"/>
          </a:p>
        </p:txBody>
      </p:sp>
      <p:sp>
        <p:nvSpPr>
          <p:cNvPr id="5" name="Footer Placeholder 4">
            <a:extLst>
              <a:ext uri="{FF2B5EF4-FFF2-40B4-BE49-F238E27FC236}">
                <a16:creationId xmlns:a16="http://schemas.microsoft.com/office/drawing/2014/main" id="{5B1C9D0A-1CA8-6E9A-03BE-1B81B32DEEF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2A91A5C-9B27-FD16-A825-8AC868F0454A}"/>
              </a:ext>
            </a:extLst>
          </p:cNvPr>
          <p:cNvSpPr>
            <a:spLocks noGrp="1"/>
          </p:cNvSpPr>
          <p:nvPr>
            <p:ph type="sldNum" sz="quarter" idx="12"/>
          </p:nvPr>
        </p:nvSpPr>
        <p:spPr/>
        <p:txBody>
          <a:bodyPr/>
          <a:lstStyle/>
          <a:p>
            <a:fld id="{D420226F-35F1-4827-8659-E5CD43BE2857}" type="slidenum">
              <a:rPr lang="en-AU" smtClean="0"/>
              <a:t>‹#›</a:t>
            </a:fld>
            <a:endParaRPr lang="en-AU"/>
          </a:p>
        </p:txBody>
      </p:sp>
    </p:spTree>
    <p:extLst>
      <p:ext uri="{BB962C8B-B14F-4D97-AF65-F5344CB8AC3E}">
        <p14:creationId xmlns:p14="http://schemas.microsoft.com/office/powerpoint/2010/main" val="25346043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1D2E028-A820-384C-809A-72BE9005B3B2}"/>
              </a:ext>
            </a:extLst>
          </p:cNvPr>
          <p:cNvSpPr txBox="1">
            <a:spLocks/>
          </p:cNvSpPr>
          <p:nvPr userDrawn="1"/>
        </p:nvSpPr>
        <p:spPr bwMode="auto">
          <a:xfrm>
            <a:off x="76311" y="488434"/>
            <a:ext cx="8984564" cy="3096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400" b="1" dirty="0">
                <a:latin typeface="Calibri" charset="0"/>
                <a:ea typeface="Calibri" charset="0"/>
                <a:cs typeface="Calibri" charset="0"/>
              </a:rPr>
              <a:t>We are learning to:  </a:t>
            </a:r>
            <a:r>
              <a:rPr lang="en-GB" sz="1400" b="0" noProof="0" dirty="0">
                <a:latin typeface="Calibri" charset="0"/>
                <a:ea typeface="Calibri" charset="0"/>
                <a:cs typeface="Calibri" charset="0"/>
              </a:rPr>
              <a:t>Interpret and draw distance-time graphs in context.</a:t>
            </a:r>
            <a:endParaRPr lang="en-US" sz="1400" b="0" dirty="0">
              <a:latin typeface="Calibri" charset="0"/>
              <a:ea typeface="Calibri" charset="0"/>
              <a:cs typeface="Calibri" charset="0"/>
            </a:endParaRPr>
          </a:p>
        </p:txBody>
      </p:sp>
      <p:sp>
        <p:nvSpPr>
          <p:cNvPr id="3" name="TextBox 9">
            <a:extLst>
              <a:ext uri="{FF2B5EF4-FFF2-40B4-BE49-F238E27FC236}">
                <a16:creationId xmlns:a16="http://schemas.microsoft.com/office/drawing/2014/main" id="{6B21F474-0336-AB40-BBFF-B5EB883AD2DC}"/>
              </a:ext>
            </a:extLst>
          </p:cNvPr>
          <p:cNvSpPr txBox="1">
            <a:spLocks/>
          </p:cNvSpPr>
          <p:nvPr userDrawn="1"/>
        </p:nvSpPr>
        <p:spPr bwMode="auto">
          <a:xfrm>
            <a:off x="76311" y="88335"/>
            <a:ext cx="2880000"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31CA1613-C89A-4644-A77A-4C72E9291592}" type="datetime2">
              <a:rPr lang="en-GB" sz="1400" b="1" smtClean="0">
                <a:latin typeface="Calibri" charset="0"/>
                <a:ea typeface="Calibri" charset="0"/>
                <a:cs typeface="Calibri" charset="0"/>
              </a:rPr>
              <a:t>Wednesday, 25 October 2023</a:t>
            </a:fld>
            <a:endParaRPr lang="en-US" sz="1400" b="1" dirty="0">
              <a:latin typeface="Calibri" charset="0"/>
              <a:ea typeface="Calibri" charset="0"/>
              <a:cs typeface="Calibri" charset="0"/>
            </a:endParaRPr>
          </a:p>
        </p:txBody>
      </p:sp>
      <p:sp>
        <p:nvSpPr>
          <p:cNvPr id="4" name="TextBox 3">
            <a:extLst>
              <a:ext uri="{FF2B5EF4-FFF2-40B4-BE49-F238E27FC236}">
                <a16:creationId xmlns:a16="http://schemas.microsoft.com/office/drawing/2014/main" id="{2D765288-31B0-7D46-ADA1-7D75CB44BB17}"/>
              </a:ext>
            </a:extLst>
          </p:cNvPr>
          <p:cNvSpPr txBox="1">
            <a:spLocks/>
          </p:cNvSpPr>
          <p:nvPr userDrawn="1"/>
        </p:nvSpPr>
        <p:spPr bwMode="auto">
          <a:xfrm>
            <a:off x="3059084" y="88335"/>
            <a:ext cx="6001789" cy="309600"/>
          </a:xfrm>
          <a:prstGeom prst="rect">
            <a:avLst/>
          </a:prstGeom>
          <a:solidFill>
            <a:schemeClr val="accent2"/>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400" b="1" noProof="0" dirty="0">
                <a:latin typeface="Calibri" charset="0"/>
                <a:ea typeface="Calibri" charset="0"/>
                <a:cs typeface="Calibri" charset="0"/>
              </a:rPr>
              <a:t>We are learning about: </a:t>
            </a:r>
            <a:r>
              <a:rPr lang="en-GB" sz="1400" b="0" spc="0" noProof="0" dirty="0">
                <a:latin typeface="Calibri" charset="0"/>
                <a:ea typeface="Calibri" charset="0"/>
                <a:cs typeface="Calibri" charset="0"/>
              </a:rPr>
              <a:t> Distance-time graphs</a:t>
            </a:r>
            <a:endParaRPr lang="en-GB" sz="1400" spc="0" noProof="0" dirty="0">
              <a:latin typeface="Calibri" charset="0"/>
              <a:ea typeface="Calibri" charset="0"/>
              <a:cs typeface="Calibri" charset="0"/>
            </a:endParaRPr>
          </a:p>
        </p:txBody>
      </p:sp>
      <p:cxnSp>
        <p:nvCxnSpPr>
          <p:cNvPr id="5" name="Straight Connector 4">
            <a:extLst>
              <a:ext uri="{FF2B5EF4-FFF2-40B4-BE49-F238E27FC236}">
                <a16:creationId xmlns:a16="http://schemas.microsoft.com/office/drawing/2014/main" id="{FA91A4BE-1372-D845-A343-3EB045B018EA}"/>
              </a:ext>
            </a:extLst>
          </p:cNvPr>
          <p:cNvCxnSpPr>
            <a:cxnSpLocks/>
          </p:cNvCxnSpPr>
          <p:nvPr userDrawn="1"/>
        </p:nvCxnSpPr>
        <p:spPr>
          <a:xfrm>
            <a:off x="0" y="891681"/>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4">
            <a:extLst>
              <a:ext uri="{FF2B5EF4-FFF2-40B4-BE49-F238E27FC236}">
                <a16:creationId xmlns:a16="http://schemas.microsoft.com/office/drawing/2014/main" id="{ECD868C6-9926-0A4B-BBFA-CAFCA5221881}"/>
              </a:ext>
            </a:extLst>
          </p:cNvPr>
          <p:cNvSpPr txBox="1">
            <a:spLocks/>
          </p:cNvSpPr>
          <p:nvPr userDrawn="1"/>
        </p:nvSpPr>
        <p:spPr bwMode="auto">
          <a:xfrm>
            <a:off x="76311" y="488434"/>
            <a:ext cx="8984564" cy="309600"/>
          </a:xfrm>
          <a:prstGeom prst="rect">
            <a:avLst/>
          </a:prstGeom>
          <a:solidFill>
            <a:schemeClr val="tx2"/>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GB" sz="1400" b="1" noProof="0" dirty="0">
                <a:latin typeface="Calibri" charset="0"/>
                <a:ea typeface="Calibri" charset="0"/>
                <a:cs typeface="Calibri" charset="0"/>
              </a:rPr>
              <a:t>Key terms:</a:t>
            </a:r>
            <a:r>
              <a:rPr lang="en-GB" sz="1400" b="0" baseline="0" noProof="0" dirty="0">
                <a:latin typeface="Calibri" charset="0"/>
                <a:ea typeface="Calibri" charset="0"/>
                <a:cs typeface="Calibri" charset="0"/>
              </a:rPr>
              <a:t>  Co</a:t>
            </a:r>
            <a:r>
              <a:rPr lang="en-GB" sz="1400" b="0" dirty="0" err="1">
                <a:latin typeface="Calibri" charset="0"/>
                <a:ea typeface="Calibri" charset="0"/>
                <a:cs typeface="Calibri" charset="0"/>
              </a:rPr>
              <a:t>nstant</a:t>
            </a:r>
            <a:r>
              <a:rPr lang="en-GB" sz="1400" b="0" dirty="0">
                <a:latin typeface="Calibri" charset="0"/>
                <a:ea typeface="Calibri" charset="0"/>
                <a:cs typeface="Calibri" charset="0"/>
              </a:rPr>
              <a:t>,</a:t>
            </a:r>
            <a:r>
              <a:rPr lang="en-GB" sz="1400" b="0" baseline="0" dirty="0">
                <a:latin typeface="Calibri" charset="0"/>
                <a:ea typeface="Calibri" charset="0"/>
                <a:cs typeface="Calibri" charset="0"/>
              </a:rPr>
              <a:t> distance, divide, gradient, scale, </a:t>
            </a:r>
            <a:r>
              <a:rPr lang="en-GB" sz="1400" b="0" dirty="0">
                <a:latin typeface="Calibri" charset="0"/>
                <a:ea typeface="Calibri" charset="0"/>
                <a:cs typeface="Calibri" charset="0"/>
              </a:rPr>
              <a:t>speed, time, units</a:t>
            </a:r>
            <a:endParaRPr lang="en-GB" sz="1400" b="0" noProof="0" dirty="0">
              <a:latin typeface="Calibri" charset="0"/>
              <a:ea typeface="Calibri" charset="0"/>
              <a:cs typeface="Calibri" charset="0"/>
            </a:endParaRPr>
          </a:p>
        </p:txBody>
      </p:sp>
      <p:sp>
        <p:nvSpPr>
          <p:cNvPr id="7" name="TextBox 6">
            <a:extLst>
              <a:ext uri="{FF2B5EF4-FFF2-40B4-BE49-F238E27FC236}">
                <a16:creationId xmlns:a16="http://schemas.microsoft.com/office/drawing/2014/main" id="{DEF70ACC-FC36-3A47-AAFD-F601EE139B53}"/>
              </a:ext>
            </a:extLst>
          </p:cNvPr>
          <p:cNvSpPr txBox="1"/>
          <p:nvPr userDrawn="1"/>
        </p:nvSpPr>
        <p:spPr>
          <a:xfrm>
            <a:off x="8114810" y="4583884"/>
            <a:ext cx="974947" cy="300082"/>
          </a:xfrm>
          <a:prstGeom prst="rect">
            <a:avLst/>
          </a:prstGeom>
          <a:solidFill>
            <a:schemeClr val="accent6">
              <a:lumMod val="90000"/>
            </a:schemeClr>
          </a:solidFill>
          <a:ln w="12700">
            <a:solidFill>
              <a:schemeClr val="tx1"/>
            </a:solidFill>
          </a:ln>
        </p:spPr>
        <p:txBody>
          <a:bodyPr wrap="none" rtlCol="0">
            <a:spAutoFit/>
          </a:bodyPr>
          <a:lstStyle/>
          <a:p>
            <a:pPr algn="ctr"/>
            <a:r>
              <a:rPr lang="en-GB" dirty="0"/>
              <a:t>KEY TERMS</a:t>
            </a:r>
          </a:p>
        </p:txBody>
      </p:sp>
      <p:sp>
        <p:nvSpPr>
          <p:cNvPr id="8" name="TextBox 7">
            <a:extLst>
              <a:ext uri="{FF2B5EF4-FFF2-40B4-BE49-F238E27FC236}">
                <a16:creationId xmlns:a16="http://schemas.microsoft.com/office/drawing/2014/main" id="{E949F5F1-665A-C04E-A669-71FD4AEE79EA}"/>
              </a:ext>
            </a:extLst>
          </p:cNvPr>
          <p:cNvSpPr txBox="1"/>
          <p:nvPr userDrawn="1"/>
        </p:nvSpPr>
        <p:spPr>
          <a:xfrm>
            <a:off x="8114810" y="4583884"/>
            <a:ext cx="974947" cy="300082"/>
          </a:xfrm>
          <a:prstGeom prst="rect">
            <a:avLst/>
          </a:prstGeom>
          <a:solidFill>
            <a:schemeClr val="accent2">
              <a:lumMod val="90000"/>
            </a:schemeClr>
          </a:solidFill>
          <a:ln w="12700">
            <a:solidFill>
              <a:schemeClr val="tx1"/>
            </a:solidFill>
          </a:ln>
        </p:spPr>
        <p:txBody>
          <a:bodyPr wrap="none" rtlCol="0">
            <a:spAutoFit/>
          </a:bodyPr>
          <a:lstStyle/>
          <a:p>
            <a:pPr algn="ctr"/>
            <a:r>
              <a:rPr lang="en-GB" dirty="0"/>
              <a:t>KEY TERMS</a:t>
            </a:r>
          </a:p>
        </p:txBody>
      </p:sp>
      <p:sp>
        <p:nvSpPr>
          <p:cNvPr id="10" name="Rectangle 9">
            <a:extLst>
              <a:ext uri="{FF2B5EF4-FFF2-40B4-BE49-F238E27FC236}">
                <a16:creationId xmlns:a16="http://schemas.microsoft.com/office/drawing/2014/main" id="{4E63769C-FE9E-9F46-BD65-E961F9D36AE5}"/>
              </a:ext>
            </a:extLst>
          </p:cNvPr>
          <p:cNvSpPr/>
          <p:nvPr userDrawn="1"/>
        </p:nvSpPr>
        <p:spPr>
          <a:xfrm>
            <a:off x="-2683" y="4516221"/>
            <a:ext cx="9146683" cy="646331"/>
          </a:xfrm>
          <a:prstGeom prst="rect">
            <a:avLst/>
          </a:prstGeom>
        </p:spPr>
        <p:txBody>
          <a:bodyPr wrap="square" anchor="b">
            <a:spAutoFit/>
          </a:bodyPr>
          <a:lstStyle/>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Developing learners will be able to interpret information from distance-time graphs.</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Secure learners will be able to identify the scale used on distance-time graphs.</a:t>
            </a:r>
          </a:p>
          <a:p>
            <a:pPr marL="138110" indent="-138110">
              <a:buFont typeface="Arial" panose="020B0604020202020204" pitchFamily="34" charset="0"/>
              <a:buChar char="•"/>
            </a:pPr>
            <a:r>
              <a:rPr lang="en-GB" sz="1200" dirty="0">
                <a:solidFill>
                  <a:schemeClr val="bg1">
                    <a:lumMod val="50000"/>
                  </a:schemeClr>
                </a:solidFill>
                <a:latin typeface="Calibri" charset="0"/>
                <a:ea typeface="Calibri" charset="0"/>
                <a:cs typeface="Calibri" charset="0"/>
              </a:rPr>
              <a:t>Excelling learners will be able to plot information onto a distance-time graph.</a:t>
            </a:r>
          </a:p>
        </p:txBody>
      </p:sp>
      <p:cxnSp>
        <p:nvCxnSpPr>
          <p:cNvPr id="13" name="Straight Connector 12">
            <a:extLst>
              <a:ext uri="{FF2B5EF4-FFF2-40B4-BE49-F238E27FC236}">
                <a16:creationId xmlns:a16="http://schemas.microsoft.com/office/drawing/2014/main" id="{F8755F17-9300-5B4E-9FB7-AA7507610099}"/>
              </a:ext>
            </a:extLst>
          </p:cNvPr>
          <p:cNvCxnSpPr>
            <a:cxnSpLocks/>
          </p:cNvCxnSpPr>
          <p:nvPr userDrawn="1"/>
        </p:nvCxnSpPr>
        <p:spPr>
          <a:xfrm>
            <a:off x="0" y="4507299"/>
            <a:ext cx="9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872915"/>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88" r:id="rId3"/>
  </p:sldLayoutIdLs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9" presetClass="exit" presetSubtype="0" fill="hold" grpId="1" nodeType="withEffect">
                                  <p:stCondLst>
                                    <p:cond delay="0"/>
                                  </p:stCondLst>
                                  <p:childTnLst>
                                    <p:animEffect transition="out" filter="dissolv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9" presetClass="exit" presetSubtype="0" fill="hold" grpId="1" nodeType="withEffect">
                                  <p:stCondLst>
                                    <p:cond delay="0"/>
                                  </p:stCondLst>
                                  <p:childTnLst>
                                    <p:animEffect transition="out" filter="dissolv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6" grpId="16" animBg="1"/>
      <p:bldP spid="6" grpId="17" animBg="1"/>
      <p:bldP spid="6" grpId="18" animBg="1"/>
      <p:bldP spid="6" grpId="19" animBg="1"/>
      <p:bldP spid="6" grpId="20" animBg="1"/>
      <p:bldP spid="6" grpId="21"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8" grpId="21" animBg="1"/>
    </p:bldLst>
  </p:timing>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369641-CFF9-8718-4F67-B0E1E0AB21B9}"/>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8BF95B3-9027-4785-E4C6-E8575EEEA99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86CE7D-AC75-9CE4-3415-1B8DB4731DE7}"/>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C80A351-23A8-4748-8DF1-06BCC797FA0F}" type="datetimeFigureOut">
              <a:rPr lang="en-AU" smtClean="0"/>
              <a:t>25/10/2023</a:t>
            </a:fld>
            <a:endParaRPr lang="en-AU"/>
          </a:p>
        </p:txBody>
      </p:sp>
      <p:sp>
        <p:nvSpPr>
          <p:cNvPr id="5" name="Footer Placeholder 4">
            <a:extLst>
              <a:ext uri="{FF2B5EF4-FFF2-40B4-BE49-F238E27FC236}">
                <a16:creationId xmlns:a16="http://schemas.microsoft.com/office/drawing/2014/main" id="{87E2EE0E-788B-1930-3F35-285C15DCCEF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681350D4-DFBA-6A2B-2D86-BEAE87DE9D8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420226F-35F1-4827-8659-E5CD43BE2857}" type="slidenum">
              <a:rPr lang="en-AU" smtClean="0"/>
              <a:t>‹#›</a:t>
            </a:fld>
            <a:endParaRPr lang="en-AU"/>
          </a:p>
        </p:txBody>
      </p:sp>
    </p:spTree>
    <p:extLst>
      <p:ext uri="{BB962C8B-B14F-4D97-AF65-F5344CB8AC3E}">
        <p14:creationId xmlns:p14="http://schemas.microsoft.com/office/powerpoint/2010/main" val="304590543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customXml" Target="../ink/ink1.xml"/><Relationship Id="rId7" Type="http://schemas.openxmlformats.org/officeDocument/2006/relationships/customXml" Target="../ink/ink4.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customXml" Target="../ink/ink8.xml"/><Relationship Id="rId5" Type="http://schemas.openxmlformats.org/officeDocument/2006/relationships/customXml" Target="../ink/ink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D49112-C930-ED3D-26A6-0C70BADB14B1}"/>
              </a:ext>
            </a:extLst>
          </p:cNvPr>
          <p:cNvSpPr>
            <a:spLocks noGrp="1"/>
          </p:cNvSpPr>
          <p:nvPr>
            <p:ph type="title"/>
          </p:nvPr>
        </p:nvSpPr>
        <p:spPr/>
        <p:txBody>
          <a:bodyPr/>
          <a:lstStyle/>
          <a:p>
            <a:r>
              <a:rPr lang="en-US" dirty="0">
                <a:solidFill>
                  <a:schemeClr val="bg1"/>
                </a:solidFill>
              </a:rPr>
              <a:t>Lesson objective </a:t>
            </a:r>
            <a:endParaRPr lang="en-AU" dirty="0">
              <a:solidFill>
                <a:schemeClr val="bg1"/>
              </a:solidFill>
            </a:endParaRPr>
          </a:p>
        </p:txBody>
      </p:sp>
      <p:sp>
        <p:nvSpPr>
          <p:cNvPr id="5" name="Content Placeholder 4">
            <a:extLst>
              <a:ext uri="{FF2B5EF4-FFF2-40B4-BE49-F238E27FC236}">
                <a16:creationId xmlns:a16="http://schemas.microsoft.com/office/drawing/2014/main" id="{2D79D231-4196-D9FA-4B5A-37E9C35868A0}"/>
              </a:ext>
            </a:extLst>
          </p:cNvPr>
          <p:cNvSpPr>
            <a:spLocks noGrp="1"/>
          </p:cNvSpPr>
          <p:nvPr>
            <p:ph idx="1"/>
          </p:nvPr>
        </p:nvSpPr>
        <p:spPr/>
        <p:txBody>
          <a:bodyPr>
            <a:normAutofit/>
          </a:bodyPr>
          <a:lstStyle/>
          <a:p>
            <a:pPr marL="0" indent="0">
              <a:buNone/>
            </a:pPr>
            <a:r>
              <a:rPr lang="en-US" dirty="0">
                <a:solidFill>
                  <a:schemeClr val="bg1"/>
                </a:solidFill>
              </a:rPr>
              <a:t>Title: Distance and time graphs </a:t>
            </a:r>
          </a:p>
          <a:p>
            <a:pPr marL="0" indent="0">
              <a:buNone/>
            </a:pPr>
            <a:endParaRPr lang="en-US" dirty="0">
              <a:solidFill>
                <a:schemeClr val="bg1"/>
              </a:solidFill>
            </a:endParaRPr>
          </a:p>
          <a:p>
            <a:pPr marL="0" indent="0">
              <a:buNone/>
            </a:pPr>
            <a:r>
              <a:rPr lang="en-US" dirty="0">
                <a:solidFill>
                  <a:schemeClr val="bg1"/>
                </a:solidFill>
              </a:rPr>
              <a:t>Aim: </a:t>
            </a:r>
          </a:p>
          <a:p>
            <a:pPr>
              <a:buFont typeface="Wingdings" panose="05000000000000000000" pitchFamily="2" charset="2"/>
              <a:buChar char="q"/>
            </a:pPr>
            <a:r>
              <a:rPr lang="en-US" dirty="0">
                <a:solidFill>
                  <a:schemeClr val="bg1"/>
                </a:solidFill>
              </a:rPr>
              <a:t> Use a distance-time graph to solve related problems </a:t>
            </a:r>
          </a:p>
          <a:p>
            <a:pPr marL="0" indent="0">
              <a:buNone/>
            </a:pPr>
            <a:r>
              <a:rPr lang="en-US" dirty="0">
                <a:solidFill>
                  <a:schemeClr val="bg1"/>
                </a:solidFill>
              </a:rPr>
              <a:t>Plan:</a:t>
            </a:r>
            <a:endParaRPr lang="en-AU" dirty="0">
              <a:solidFill>
                <a:schemeClr val="bg1"/>
              </a:solidFill>
            </a:endParaRPr>
          </a:p>
          <a:p>
            <a:pPr marL="0" indent="0">
              <a:buNone/>
            </a:pPr>
            <a:r>
              <a:rPr lang="en-AU" dirty="0">
                <a:solidFill>
                  <a:schemeClr val="bg1"/>
                </a:solidFill>
              </a:rPr>
              <a:t>- Interpreting line graphs </a:t>
            </a:r>
            <a:endParaRPr lang="en-US" dirty="0">
              <a:solidFill>
                <a:schemeClr val="bg1"/>
              </a:solidFill>
            </a:endParaRPr>
          </a:p>
        </p:txBody>
      </p:sp>
      <p:sp>
        <p:nvSpPr>
          <p:cNvPr id="7" name="TextBox 6">
            <a:extLst>
              <a:ext uri="{FF2B5EF4-FFF2-40B4-BE49-F238E27FC236}">
                <a16:creationId xmlns:a16="http://schemas.microsoft.com/office/drawing/2014/main" id="{F5055BA1-0F0C-5A6E-1A9F-4D9495D10E1D}"/>
              </a:ext>
            </a:extLst>
          </p:cNvPr>
          <p:cNvSpPr txBox="1"/>
          <p:nvPr/>
        </p:nvSpPr>
        <p:spPr>
          <a:xfrm>
            <a:off x="5680600" y="273844"/>
            <a:ext cx="3463400" cy="784830"/>
          </a:xfrm>
          <a:prstGeom prst="rect">
            <a:avLst/>
          </a:prstGeom>
          <a:noFill/>
        </p:spPr>
        <p:txBody>
          <a:bodyPr wrap="square" rtlCol="0">
            <a:spAutoFit/>
          </a:bodyPr>
          <a:lstStyle/>
          <a:p>
            <a:r>
              <a:rPr lang="en-US" sz="1500" b="1" dirty="0" err="1">
                <a:solidFill>
                  <a:prstClr val="black"/>
                </a:solidFill>
                <a:highlight>
                  <a:srgbClr val="00FF00"/>
                </a:highlight>
                <a:latin typeface="Calibri" panose="020F0502020204030204"/>
              </a:rPr>
              <a:t>PBiS</a:t>
            </a:r>
            <a:r>
              <a:rPr lang="en-US" sz="1500" b="1" dirty="0">
                <a:solidFill>
                  <a:prstClr val="black"/>
                </a:solidFill>
                <a:highlight>
                  <a:srgbClr val="00FF00"/>
                </a:highlight>
                <a:latin typeface="Calibri" panose="020F0502020204030204"/>
              </a:rPr>
              <a:t> Focus</a:t>
            </a:r>
          </a:p>
          <a:p>
            <a:r>
              <a:rPr lang="en-US" sz="1500" b="1" dirty="0">
                <a:solidFill>
                  <a:prstClr val="black"/>
                </a:solidFill>
                <a:highlight>
                  <a:srgbClr val="00FF00"/>
                </a:highlight>
                <a:latin typeface="Calibri" panose="020F0502020204030204"/>
              </a:rPr>
              <a:t>Respect – listening </a:t>
            </a:r>
          </a:p>
          <a:p>
            <a:r>
              <a:rPr lang="en-US" sz="1500" b="1" dirty="0">
                <a:solidFill>
                  <a:prstClr val="black"/>
                </a:solidFill>
                <a:highlight>
                  <a:srgbClr val="00FF00"/>
                </a:highlight>
                <a:latin typeface="Calibri" panose="020F0502020204030204"/>
              </a:rPr>
              <a:t>Empathy – allow others to work</a:t>
            </a:r>
          </a:p>
        </p:txBody>
      </p:sp>
    </p:spTree>
    <p:extLst>
      <p:ext uri="{BB962C8B-B14F-4D97-AF65-F5344CB8AC3E}">
        <p14:creationId xmlns:p14="http://schemas.microsoft.com/office/powerpoint/2010/main" val="767866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336A596-F120-8047-92E0-5BC0239427DA}"/>
              </a:ext>
            </a:extLst>
          </p:cNvPr>
          <p:cNvGrpSpPr/>
          <p:nvPr/>
        </p:nvGrpSpPr>
        <p:grpSpPr>
          <a:xfrm>
            <a:off x="87669" y="986173"/>
            <a:ext cx="8962291" cy="738664"/>
            <a:chOff x="90855" y="1068782"/>
            <a:chExt cx="8962291" cy="738664"/>
          </a:xfrm>
        </p:grpSpPr>
        <p:sp>
          <p:nvSpPr>
            <p:cNvPr id="2" name="Rectangle 1">
              <a:extLst>
                <a:ext uri="{FF2B5EF4-FFF2-40B4-BE49-F238E27FC236}">
                  <a16:creationId xmlns:a16="http://schemas.microsoft.com/office/drawing/2014/main" id="{7A4DB987-41DB-B14F-BB58-8C0C66AA2380}"/>
                </a:ext>
              </a:extLst>
            </p:cNvPr>
            <p:cNvSpPr/>
            <p:nvPr/>
          </p:nvSpPr>
          <p:spPr>
            <a:xfrm>
              <a:off x="3258017" y="1098779"/>
              <a:ext cx="5506110" cy="33066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94698620-ACC1-874A-81A6-143C9214BE22}"/>
                </a:ext>
              </a:extLst>
            </p:cNvPr>
            <p:cNvSpPr/>
            <p:nvPr/>
          </p:nvSpPr>
          <p:spPr>
            <a:xfrm>
              <a:off x="3285557" y="1454516"/>
              <a:ext cx="3140464" cy="33066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TextBox 134">
              <a:extLst>
                <a:ext uri="{FF2B5EF4-FFF2-40B4-BE49-F238E27FC236}">
                  <a16:creationId xmlns:a16="http://schemas.microsoft.com/office/drawing/2014/main" id="{27A2052A-023A-254B-892A-02019C7A819E}"/>
                </a:ext>
              </a:extLst>
            </p:cNvPr>
            <p:cNvSpPr txBox="1"/>
            <p:nvPr/>
          </p:nvSpPr>
          <p:spPr>
            <a:xfrm>
              <a:off x="90855" y="1068782"/>
              <a:ext cx="8962291" cy="738664"/>
            </a:xfrm>
            <a:prstGeom prst="rect">
              <a:avLst/>
            </a:prstGeom>
            <a:noFill/>
          </p:spPr>
          <p:txBody>
            <a:bodyPr wrap="square" lIns="36000" tIns="0" rIns="0" bIns="0" rtlCol="0">
              <a:spAutoFit/>
            </a:bodyPr>
            <a:lstStyle/>
            <a:p>
              <a:pPr algn="ctr">
                <a:defRPr/>
              </a:pPr>
              <a:r>
                <a:rPr lang="en-GB" altLang="en-US" sz="2400" dirty="0"/>
                <a:t>A distance-time graph  </a:t>
              </a:r>
              <a:r>
                <a:rPr lang="en-GB" altLang="en-US" sz="2400" b="1" dirty="0"/>
                <a:t>plots the distance an object travels against</a:t>
              </a:r>
              <a:br>
                <a:rPr lang="en-GB" altLang="en-US" sz="2400" b="1" dirty="0"/>
              </a:br>
              <a:r>
                <a:rPr lang="en-GB" altLang="en-US" sz="2400" dirty="0"/>
                <a:t>the  </a:t>
              </a:r>
              <a:r>
                <a:rPr lang="en-GB" altLang="en-US" sz="2400" b="1" dirty="0"/>
                <a:t>time it takes it to travel</a:t>
              </a:r>
              <a:r>
                <a:rPr lang="en-GB" altLang="en-US" sz="2400" dirty="0"/>
                <a:t>.</a:t>
              </a:r>
            </a:p>
          </p:txBody>
        </p:sp>
      </p:grpSp>
      <p:pic>
        <p:nvPicPr>
          <p:cNvPr id="4" name="Picture 3">
            <a:extLst>
              <a:ext uri="{FF2B5EF4-FFF2-40B4-BE49-F238E27FC236}">
                <a16:creationId xmlns:a16="http://schemas.microsoft.com/office/drawing/2014/main" id="{8213A446-6127-AC4E-B324-D1E7F094EFB9}"/>
              </a:ext>
            </a:extLst>
          </p:cNvPr>
          <p:cNvPicPr>
            <a:picLocks noChangeAspect="1"/>
          </p:cNvPicPr>
          <p:nvPr/>
        </p:nvPicPr>
        <p:blipFill>
          <a:blip r:embed="rId3"/>
          <a:stretch>
            <a:fillRect/>
          </a:stretch>
        </p:blipFill>
        <p:spPr>
          <a:xfrm rot="16200000">
            <a:off x="-411897" y="2192071"/>
            <a:ext cx="2862526" cy="1431255"/>
          </a:xfrm>
          <a:prstGeom prst="rect">
            <a:avLst/>
          </a:prstGeom>
        </p:spPr>
      </p:pic>
    </p:spTree>
    <p:extLst>
      <p:ext uri="{BB962C8B-B14F-4D97-AF65-F5344CB8AC3E}">
        <p14:creationId xmlns:p14="http://schemas.microsoft.com/office/powerpoint/2010/main" val="4191492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2CFCB41-4CA4-7440-9633-75323473BA24}"/>
              </a:ext>
            </a:extLst>
          </p:cNvPr>
          <p:cNvGrpSpPr/>
          <p:nvPr/>
        </p:nvGrpSpPr>
        <p:grpSpPr>
          <a:xfrm>
            <a:off x="94040" y="1724837"/>
            <a:ext cx="438732" cy="2674733"/>
            <a:chOff x="808602" y="1702576"/>
            <a:chExt cx="642347" cy="2733398"/>
          </a:xfrm>
        </p:grpSpPr>
        <p:sp>
          <p:nvSpPr>
            <p:cNvPr id="5" name="Rectangle 4">
              <a:extLst>
                <a:ext uri="{FF2B5EF4-FFF2-40B4-BE49-F238E27FC236}">
                  <a16:creationId xmlns:a16="http://schemas.microsoft.com/office/drawing/2014/main" id="{1037CA09-BEED-F34F-B93B-1CCD515BE987}"/>
                </a:ext>
              </a:extLst>
            </p:cNvPr>
            <p:cNvSpPr/>
            <p:nvPr/>
          </p:nvSpPr>
          <p:spPr>
            <a:xfrm>
              <a:off x="808602" y="1702576"/>
              <a:ext cx="642347" cy="2733398"/>
            </a:xfrm>
            <a:prstGeom prst="rect">
              <a:avLst/>
            </a:prstGeom>
            <a:solidFill>
              <a:schemeClr val="bg1">
                <a:lumMod val="5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2735C08B-ECFF-4E41-B61F-48D3309ED967}"/>
                </a:ext>
              </a:extLst>
            </p:cNvPr>
            <p:cNvCxnSpPr>
              <a:cxnSpLocks/>
            </p:cNvCxnSpPr>
            <p:nvPr/>
          </p:nvCxnSpPr>
          <p:spPr>
            <a:xfrm>
              <a:off x="1129776" y="1735759"/>
              <a:ext cx="0" cy="2667031"/>
            </a:xfrm>
            <a:prstGeom prst="line">
              <a:avLst/>
            </a:prstGeom>
            <a:ln w="12700" cap="rnd">
              <a:solidFill>
                <a:schemeClr val="bg1"/>
              </a:solidFill>
              <a:prstDash val="dash"/>
              <a:round/>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4336A596-F120-8047-92E0-5BC0239427DA}"/>
              </a:ext>
            </a:extLst>
          </p:cNvPr>
          <p:cNvGrpSpPr/>
          <p:nvPr/>
        </p:nvGrpSpPr>
        <p:grpSpPr>
          <a:xfrm>
            <a:off x="40250" y="90271"/>
            <a:ext cx="8962291" cy="738664"/>
            <a:chOff x="90855" y="1068782"/>
            <a:chExt cx="8962291" cy="738664"/>
          </a:xfrm>
        </p:grpSpPr>
        <p:sp>
          <p:nvSpPr>
            <p:cNvPr id="2" name="Rectangle 1">
              <a:extLst>
                <a:ext uri="{FF2B5EF4-FFF2-40B4-BE49-F238E27FC236}">
                  <a16:creationId xmlns:a16="http://schemas.microsoft.com/office/drawing/2014/main" id="{7A4DB987-41DB-B14F-BB58-8C0C66AA2380}"/>
                </a:ext>
              </a:extLst>
            </p:cNvPr>
            <p:cNvSpPr/>
            <p:nvPr/>
          </p:nvSpPr>
          <p:spPr>
            <a:xfrm>
              <a:off x="3258017" y="1098779"/>
              <a:ext cx="5506110" cy="33066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94698620-ACC1-874A-81A6-143C9214BE22}"/>
                </a:ext>
              </a:extLst>
            </p:cNvPr>
            <p:cNvSpPr/>
            <p:nvPr/>
          </p:nvSpPr>
          <p:spPr>
            <a:xfrm>
              <a:off x="3285557" y="1454516"/>
              <a:ext cx="3140464" cy="33066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5" name="TextBox 134">
              <a:extLst>
                <a:ext uri="{FF2B5EF4-FFF2-40B4-BE49-F238E27FC236}">
                  <a16:creationId xmlns:a16="http://schemas.microsoft.com/office/drawing/2014/main" id="{27A2052A-023A-254B-892A-02019C7A819E}"/>
                </a:ext>
              </a:extLst>
            </p:cNvPr>
            <p:cNvSpPr txBox="1"/>
            <p:nvPr/>
          </p:nvSpPr>
          <p:spPr>
            <a:xfrm>
              <a:off x="90855" y="1068782"/>
              <a:ext cx="8962291" cy="738664"/>
            </a:xfrm>
            <a:prstGeom prst="rect">
              <a:avLst/>
            </a:prstGeom>
            <a:noFill/>
          </p:spPr>
          <p:txBody>
            <a:bodyPr wrap="square" lIns="36000" tIns="0" rIns="0" bIns="0" rtlCol="0">
              <a:spAutoFit/>
            </a:bodyPr>
            <a:lstStyle/>
            <a:p>
              <a:pPr algn="ctr">
                <a:defRPr/>
              </a:pPr>
              <a:r>
                <a:rPr lang="en-GB" altLang="en-US" sz="2400" dirty="0"/>
                <a:t>A distance-time graph  </a:t>
              </a:r>
              <a:r>
                <a:rPr lang="en-GB" altLang="en-US" sz="2400" b="1" dirty="0"/>
                <a:t>plots the distance an object travels against</a:t>
              </a:r>
              <a:br>
                <a:rPr lang="en-GB" altLang="en-US" sz="2400" b="1" dirty="0"/>
              </a:br>
              <a:r>
                <a:rPr lang="en-GB" altLang="en-US" sz="2400" dirty="0"/>
                <a:t>the  </a:t>
              </a:r>
              <a:r>
                <a:rPr lang="en-GB" altLang="en-US" sz="2400" b="1" dirty="0"/>
                <a:t>time it takes it to travel</a:t>
              </a:r>
              <a:r>
                <a:rPr lang="en-GB" altLang="en-US" sz="2400" dirty="0"/>
                <a:t>.</a:t>
              </a:r>
            </a:p>
          </p:txBody>
        </p:sp>
      </p:grpSp>
      <p:pic>
        <p:nvPicPr>
          <p:cNvPr id="4" name="Picture 3">
            <a:extLst>
              <a:ext uri="{FF2B5EF4-FFF2-40B4-BE49-F238E27FC236}">
                <a16:creationId xmlns:a16="http://schemas.microsoft.com/office/drawing/2014/main" id="{8213A446-6127-AC4E-B324-D1E7F094EFB9}"/>
              </a:ext>
            </a:extLst>
          </p:cNvPr>
          <p:cNvPicPr>
            <a:picLocks noChangeAspect="1"/>
          </p:cNvPicPr>
          <p:nvPr/>
        </p:nvPicPr>
        <p:blipFill>
          <a:blip r:embed="rId3"/>
          <a:stretch>
            <a:fillRect/>
          </a:stretch>
        </p:blipFill>
        <p:spPr>
          <a:xfrm rot="16200000">
            <a:off x="43157" y="4134650"/>
            <a:ext cx="319681" cy="159840"/>
          </a:xfrm>
          <a:prstGeom prst="rect">
            <a:avLst/>
          </a:prstGeom>
        </p:spPr>
      </p:pic>
      <p:graphicFrame>
        <p:nvGraphicFramePr>
          <p:cNvPr id="6" name="Table 5">
            <a:extLst>
              <a:ext uri="{FF2B5EF4-FFF2-40B4-BE49-F238E27FC236}">
                <a16:creationId xmlns:a16="http://schemas.microsoft.com/office/drawing/2014/main" id="{8E629866-F387-704D-B7DE-527424B5AFB6}"/>
              </a:ext>
            </a:extLst>
          </p:cNvPr>
          <p:cNvGraphicFramePr>
            <a:graphicFrameLocks noGrp="1"/>
          </p:cNvGraphicFramePr>
          <p:nvPr>
            <p:extLst>
              <p:ext uri="{D42A27DB-BD31-4B8C-83A1-F6EECF244321}">
                <p14:modId xmlns:p14="http://schemas.microsoft.com/office/powerpoint/2010/main" val="3442148460"/>
              </p:ext>
            </p:extLst>
          </p:nvPr>
        </p:nvGraphicFramePr>
        <p:xfrm>
          <a:off x="1227486" y="1851852"/>
          <a:ext cx="4580016" cy="2381951"/>
        </p:xfrm>
        <a:graphic>
          <a:graphicData uri="http://schemas.openxmlformats.org/drawingml/2006/table">
            <a:tbl>
              <a:tblPr firstRow="1" bandRow="1">
                <a:tableStyleId>{5C22544A-7EE6-4342-B048-85BDC9FD1C3A}</a:tableStyleId>
              </a:tblPr>
              <a:tblGrid>
                <a:gridCol w="381668">
                  <a:extLst>
                    <a:ext uri="{9D8B030D-6E8A-4147-A177-3AD203B41FA5}">
                      <a16:colId xmlns:a16="http://schemas.microsoft.com/office/drawing/2014/main" val="3421182426"/>
                    </a:ext>
                  </a:extLst>
                </a:gridCol>
                <a:gridCol w="381668">
                  <a:extLst>
                    <a:ext uri="{9D8B030D-6E8A-4147-A177-3AD203B41FA5}">
                      <a16:colId xmlns:a16="http://schemas.microsoft.com/office/drawing/2014/main" val="3036076137"/>
                    </a:ext>
                  </a:extLst>
                </a:gridCol>
                <a:gridCol w="381668">
                  <a:extLst>
                    <a:ext uri="{9D8B030D-6E8A-4147-A177-3AD203B41FA5}">
                      <a16:colId xmlns:a16="http://schemas.microsoft.com/office/drawing/2014/main" val="2042505113"/>
                    </a:ext>
                  </a:extLst>
                </a:gridCol>
                <a:gridCol w="381668">
                  <a:extLst>
                    <a:ext uri="{9D8B030D-6E8A-4147-A177-3AD203B41FA5}">
                      <a16:colId xmlns:a16="http://schemas.microsoft.com/office/drawing/2014/main" val="3832758630"/>
                    </a:ext>
                  </a:extLst>
                </a:gridCol>
                <a:gridCol w="381668">
                  <a:extLst>
                    <a:ext uri="{9D8B030D-6E8A-4147-A177-3AD203B41FA5}">
                      <a16:colId xmlns:a16="http://schemas.microsoft.com/office/drawing/2014/main" val="1574983318"/>
                    </a:ext>
                  </a:extLst>
                </a:gridCol>
                <a:gridCol w="381668">
                  <a:extLst>
                    <a:ext uri="{9D8B030D-6E8A-4147-A177-3AD203B41FA5}">
                      <a16:colId xmlns:a16="http://schemas.microsoft.com/office/drawing/2014/main" val="4158283698"/>
                    </a:ext>
                  </a:extLst>
                </a:gridCol>
                <a:gridCol w="381668">
                  <a:extLst>
                    <a:ext uri="{9D8B030D-6E8A-4147-A177-3AD203B41FA5}">
                      <a16:colId xmlns:a16="http://schemas.microsoft.com/office/drawing/2014/main" val="2421740572"/>
                    </a:ext>
                  </a:extLst>
                </a:gridCol>
                <a:gridCol w="381668">
                  <a:extLst>
                    <a:ext uri="{9D8B030D-6E8A-4147-A177-3AD203B41FA5}">
                      <a16:colId xmlns:a16="http://schemas.microsoft.com/office/drawing/2014/main" val="3544690168"/>
                    </a:ext>
                  </a:extLst>
                </a:gridCol>
                <a:gridCol w="381668">
                  <a:extLst>
                    <a:ext uri="{9D8B030D-6E8A-4147-A177-3AD203B41FA5}">
                      <a16:colId xmlns:a16="http://schemas.microsoft.com/office/drawing/2014/main" val="1179266206"/>
                    </a:ext>
                  </a:extLst>
                </a:gridCol>
                <a:gridCol w="381668">
                  <a:extLst>
                    <a:ext uri="{9D8B030D-6E8A-4147-A177-3AD203B41FA5}">
                      <a16:colId xmlns:a16="http://schemas.microsoft.com/office/drawing/2014/main" val="771099140"/>
                    </a:ext>
                  </a:extLst>
                </a:gridCol>
                <a:gridCol w="381668">
                  <a:extLst>
                    <a:ext uri="{9D8B030D-6E8A-4147-A177-3AD203B41FA5}">
                      <a16:colId xmlns:a16="http://schemas.microsoft.com/office/drawing/2014/main" val="929265344"/>
                    </a:ext>
                  </a:extLst>
                </a:gridCol>
                <a:gridCol w="381668">
                  <a:extLst>
                    <a:ext uri="{9D8B030D-6E8A-4147-A177-3AD203B41FA5}">
                      <a16:colId xmlns:a16="http://schemas.microsoft.com/office/drawing/2014/main" val="2811668218"/>
                    </a:ext>
                  </a:extLst>
                </a:gridCol>
              </a:tblGrid>
              <a:tr h="216541">
                <a:tc>
                  <a:txBody>
                    <a:bodyPr/>
                    <a:lstStyle/>
                    <a:p>
                      <a:endParaRPr lang="en-GB" sz="100" b="0" dirty="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882400"/>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7479000"/>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0752284"/>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549961"/>
                  </a:ext>
                </a:extLst>
              </a:tr>
              <a:tr h="216541">
                <a:tc>
                  <a:txBody>
                    <a:bodyPr/>
                    <a:lstStyle/>
                    <a:p>
                      <a:endParaRPr lang="en-GB" sz="100" b="0" dirty="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0201677"/>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31071"/>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649161"/>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181725"/>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6003197"/>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433261"/>
                  </a:ext>
                </a:extLst>
              </a:tr>
              <a:tr h="216541">
                <a:tc>
                  <a:txBody>
                    <a:bodyPr/>
                    <a:lstStyle/>
                    <a:p>
                      <a:endParaRPr lang="en-GB" sz="100" b="0">
                        <a:solidFill>
                          <a:schemeClr val="tx1"/>
                        </a:solidFill>
                      </a:endParaRPr>
                    </a:p>
                  </a:txBody>
                  <a:tcPr marL="68700" marR="68700">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68700" marR="6870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176172"/>
                  </a:ext>
                </a:extLst>
              </a:tr>
            </a:tbl>
          </a:graphicData>
        </a:graphic>
      </p:graphicFrame>
      <p:sp>
        <p:nvSpPr>
          <p:cNvPr id="11" name="TextBox 10">
            <a:extLst>
              <a:ext uri="{FF2B5EF4-FFF2-40B4-BE49-F238E27FC236}">
                <a16:creationId xmlns:a16="http://schemas.microsoft.com/office/drawing/2014/main" id="{7FF4DD5F-3081-2845-B90C-750398DE9EC5}"/>
              </a:ext>
            </a:extLst>
          </p:cNvPr>
          <p:cNvSpPr txBox="1"/>
          <p:nvPr/>
        </p:nvSpPr>
        <p:spPr>
          <a:xfrm rot="16200000">
            <a:off x="-412587" y="2935106"/>
            <a:ext cx="2334695" cy="215444"/>
          </a:xfrm>
          <a:prstGeom prst="rect">
            <a:avLst/>
          </a:prstGeom>
          <a:noFill/>
        </p:spPr>
        <p:txBody>
          <a:bodyPr wrap="square" lIns="0" tIns="0" rIns="0" bIns="0" rtlCol="0" anchor="ctr" anchorCtr="0">
            <a:spAutoFit/>
          </a:bodyPr>
          <a:lstStyle/>
          <a:p>
            <a:pPr algn="ctr">
              <a:defRPr/>
            </a:pPr>
            <a:r>
              <a:rPr lang="en-GB" altLang="en-US" sz="1400" b="1" dirty="0"/>
              <a:t>Distance along road </a:t>
            </a:r>
            <a:r>
              <a:rPr lang="en-GB" altLang="en-US" sz="1400" dirty="0"/>
              <a:t>(metres)</a:t>
            </a:r>
          </a:p>
        </p:txBody>
      </p:sp>
      <p:sp>
        <p:nvSpPr>
          <p:cNvPr id="12" name="TextBox 11">
            <a:extLst>
              <a:ext uri="{FF2B5EF4-FFF2-40B4-BE49-F238E27FC236}">
                <a16:creationId xmlns:a16="http://schemas.microsoft.com/office/drawing/2014/main" id="{AEA1E90D-A02F-FA45-A603-263296215657}"/>
              </a:ext>
            </a:extLst>
          </p:cNvPr>
          <p:cNvSpPr txBox="1"/>
          <p:nvPr/>
        </p:nvSpPr>
        <p:spPr>
          <a:xfrm>
            <a:off x="5148564" y="4256239"/>
            <a:ext cx="1317875" cy="215444"/>
          </a:xfrm>
          <a:prstGeom prst="rect">
            <a:avLst/>
          </a:prstGeom>
          <a:noFill/>
        </p:spPr>
        <p:txBody>
          <a:bodyPr wrap="square" lIns="0" tIns="0" rIns="0" bIns="0" rtlCol="0" anchor="ctr" anchorCtr="0">
            <a:spAutoFit/>
          </a:bodyPr>
          <a:lstStyle/>
          <a:p>
            <a:pPr algn="ctr">
              <a:defRPr/>
            </a:pPr>
            <a:r>
              <a:rPr lang="en-GB" altLang="en-US" sz="1400" b="1" dirty="0"/>
              <a:t>Time </a:t>
            </a:r>
            <a:r>
              <a:rPr lang="en-GB" altLang="en-US" sz="1400" dirty="0"/>
              <a:t>(seconds)</a:t>
            </a:r>
          </a:p>
        </p:txBody>
      </p:sp>
      <p:sp>
        <p:nvSpPr>
          <p:cNvPr id="13" name="TextBox 12">
            <a:extLst>
              <a:ext uri="{FF2B5EF4-FFF2-40B4-BE49-F238E27FC236}">
                <a16:creationId xmlns:a16="http://schemas.microsoft.com/office/drawing/2014/main" id="{097F4FF5-E61E-DB46-BF42-063740EC935B}"/>
              </a:ext>
            </a:extLst>
          </p:cNvPr>
          <p:cNvSpPr txBox="1"/>
          <p:nvPr/>
        </p:nvSpPr>
        <p:spPr>
          <a:xfrm>
            <a:off x="1084083" y="4252372"/>
            <a:ext cx="286806" cy="184666"/>
          </a:xfrm>
          <a:prstGeom prst="rect">
            <a:avLst/>
          </a:prstGeom>
          <a:noFill/>
        </p:spPr>
        <p:txBody>
          <a:bodyPr wrap="square" lIns="0" tIns="0" rIns="0" bIns="0" rtlCol="0" anchor="ctr" anchorCtr="0">
            <a:spAutoFit/>
          </a:bodyPr>
          <a:lstStyle/>
          <a:p>
            <a:pPr algn="ctr">
              <a:defRPr/>
            </a:pPr>
            <a:r>
              <a:rPr lang="en-GB" altLang="en-US" sz="1200" dirty="0"/>
              <a:t>0</a:t>
            </a:r>
          </a:p>
        </p:txBody>
      </p:sp>
      <p:sp>
        <p:nvSpPr>
          <p:cNvPr id="14" name="TextBox 13">
            <a:extLst>
              <a:ext uri="{FF2B5EF4-FFF2-40B4-BE49-F238E27FC236}">
                <a16:creationId xmlns:a16="http://schemas.microsoft.com/office/drawing/2014/main" id="{BA822E97-89C2-EA4D-92FF-0575FC253999}"/>
              </a:ext>
            </a:extLst>
          </p:cNvPr>
          <p:cNvSpPr txBox="1"/>
          <p:nvPr/>
        </p:nvSpPr>
        <p:spPr>
          <a:xfrm>
            <a:off x="1468796" y="4252372"/>
            <a:ext cx="286806" cy="184666"/>
          </a:xfrm>
          <a:prstGeom prst="rect">
            <a:avLst/>
          </a:prstGeom>
          <a:noFill/>
        </p:spPr>
        <p:txBody>
          <a:bodyPr wrap="square" lIns="0" tIns="0" rIns="0" bIns="0" rtlCol="0" anchor="ctr" anchorCtr="0">
            <a:spAutoFit/>
          </a:bodyPr>
          <a:lstStyle/>
          <a:p>
            <a:pPr algn="ctr">
              <a:defRPr/>
            </a:pPr>
            <a:r>
              <a:rPr lang="en-GB" altLang="en-US" sz="1200" dirty="0"/>
              <a:t>1</a:t>
            </a:r>
          </a:p>
        </p:txBody>
      </p:sp>
      <p:sp>
        <p:nvSpPr>
          <p:cNvPr id="15" name="TextBox 14">
            <a:extLst>
              <a:ext uri="{FF2B5EF4-FFF2-40B4-BE49-F238E27FC236}">
                <a16:creationId xmlns:a16="http://schemas.microsoft.com/office/drawing/2014/main" id="{FB4CD675-D7C2-E446-A18A-5B0F53F2E067}"/>
              </a:ext>
            </a:extLst>
          </p:cNvPr>
          <p:cNvSpPr txBox="1"/>
          <p:nvPr/>
        </p:nvSpPr>
        <p:spPr>
          <a:xfrm>
            <a:off x="1850371" y="4252372"/>
            <a:ext cx="286806" cy="184666"/>
          </a:xfrm>
          <a:prstGeom prst="rect">
            <a:avLst/>
          </a:prstGeom>
          <a:noFill/>
        </p:spPr>
        <p:txBody>
          <a:bodyPr wrap="square" lIns="0" tIns="0" rIns="0" bIns="0" rtlCol="0" anchor="ctr" anchorCtr="0">
            <a:spAutoFit/>
          </a:bodyPr>
          <a:lstStyle/>
          <a:p>
            <a:pPr algn="ctr">
              <a:defRPr/>
            </a:pPr>
            <a:r>
              <a:rPr lang="en-GB" altLang="en-US" sz="1200" dirty="0"/>
              <a:t>2</a:t>
            </a:r>
          </a:p>
        </p:txBody>
      </p:sp>
      <p:sp>
        <p:nvSpPr>
          <p:cNvPr id="16" name="TextBox 15">
            <a:extLst>
              <a:ext uri="{FF2B5EF4-FFF2-40B4-BE49-F238E27FC236}">
                <a16:creationId xmlns:a16="http://schemas.microsoft.com/office/drawing/2014/main" id="{37911FF9-2D44-1444-8157-5DCE74AF7B54}"/>
              </a:ext>
            </a:extLst>
          </p:cNvPr>
          <p:cNvSpPr txBox="1"/>
          <p:nvPr/>
        </p:nvSpPr>
        <p:spPr>
          <a:xfrm>
            <a:off x="2231946" y="4252372"/>
            <a:ext cx="286806" cy="184666"/>
          </a:xfrm>
          <a:prstGeom prst="rect">
            <a:avLst/>
          </a:prstGeom>
          <a:noFill/>
        </p:spPr>
        <p:txBody>
          <a:bodyPr wrap="square" lIns="0" tIns="0" rIns="0" bIns="0" rtlCol="0" anchor="ctr" anchorCtr="0">
            <a:spAutoFit/>
          </a:bodyPr>
          <a:lstStyle/>
          <a:p>
            <a:pPr algn="ctr">
              <a:defRPr/>
            </a:pPr>
            <a:r>
              <a:rPr lang="en-GB" altLang="en-US" sz="1200" dirty="0"/>
              <a:t>3</a:t>
            </a:r>
          </a:p>
        </p:txBody>
      </p:sp>
      <p:sp>
        <p:nvSpPr>
          <p:cNvPr id="17" name="TextBox 16">
            <a:extLst>
              <a:ext uri="{FF2B5EF4-FFF2-40B4-BE49-F238E27FC236}">
                <a16:creationId xmlns:a16="http://schemas.microsoft.com/office/drawing/2014/main" id="{770B27CD-485A-FE42-9124-BFD745E7ADD7}"/>
              </a:ext>
            </a:extLst>
          </p:cNvPr>
          <p:cNvSpPr txBox="1"/>
          <p:nvPr/>
        </p:nvSpPr>
        <p:spPr>
          <a:xfrm>
            <a:off x="2613521" y="4252372"/>
            <a:ext cx="286806" cy="184666"/>
          </a:xfrm>
          <a:prstGeom prst="rect">
            <a:avLst/>
          </a:prstGeom>
          <a:noFill/>
        </p:spPr>
        <p:txBody>
          <a:bodyPr wrap="square" lIns="0" tIns="0" rIns="0" bIns="0" rtlCol="0" anchor="ctr" anchorCtr="0">
            <a:spAutoFit/>
          </a:bodyPr>
          <a:lstStyle/>
          <a:p>
            <a:pPr algn="ctr">
              <a:defRPr/>
            </a:pPr>
            <a:r>
              <a:rPr lang="en-GB" altLang="en-US" sz="1200" dirty="0"/>
              <a:t>4</a:t>
            </a:r>
          </a:p>
        </p:txBody>
      </p:sp>
      <p:sp>
        <p:nvSpPr>
          <p:cNvPr id="18" name="TextBox 17">
            <a:extLst>
              <a:ext uri="{FF2B5EF4-FFF2-40B4-BE49-F238E27FC236}">
                <a16:creationId xmlns:a16="http://schemas.microsoft.com/office/drawing/2014/main" id="{05015FDB-4D5C-2A4F-ADE3-16D8EFA3F819}"/>
              </a:ext>
            </a:extLst>
          </p:cNvPr>
          <p:cNvSpPr txBox="1"/>
          <p:nvPr/>
        </p:nvSpPr>
        <p:spPr>
          <a:xfrm>
            <a:off x="2995096" y="4252372"/>
            <a:ext cx="286806" cy="184666"/>
          </a:xfrm>
          <a:prstGeom prst="rect">
            <a:avLst/>
          </a:prstGeom>
          <a:noFill/>
        </p:spPr>
        <p:txBody>
          <a:bodyPr wrap="square" lIns="0" tIns="0" rIns="0" bIns="0" rtlCol="0" anchor="ctr" anchorCtr="0">
            <a:spAutoFit/>
          </a:bodyPr>
          <a:lstStyle/>
          <a:p>
            <a:pPr algn="ctr">
              <a:defRPr/>
            </a:pPr>
            <a:r>
              <a:rPr lang="en-GB" altLang="en-US" sz="1200" dirty="0"/>
              <a:t>5</a:t>
            </a:r>
          </a:p>
        </p:txBody>
      </p:sp>
      <p:sp>
        <p:nvSpPr>
          <p:cNvPr id="19" name="TextBox 18">
            <a:extLst>
              <a:ext uri="{FF2B5EF4-FFF2-40B4-BE49-F238E27FC236}">
                <a16:creationId xmlns:a16="http://schemas.microsoft.com/office/drawing/2014/main" id="{19E8BCF9-BA69-1D4A-B4D2-BE9770898135}"/>
              </a:ext>
            </a:extLst>
          </p:cNvPr>
          <p:cNvSpPr txBox="1"/>
          <p:nvPr/>
        </p:nvSpPr>
        <p:spPr>
          <a:xfrm>
            <a:off x="3376671" y="4252372"/>
            <a:ext cx="286806" cy="184666"/>
          </a:xfrm>
          <a:prstGeom prst="rect">
            <a:avLst/>
          </a:prstGeom>
          <a:noFill/>
        </p:spPr>
        <p:txBody>
          <a:bodyPr wrap="square" lIns="0" tIns="0" rIns="0" bIns="0" rtlCol="0" anchor="ctr" anchorCtr="0">
            <a:spAutoFit/>
          </a:bodyPr>
          <a:lstStyle/>
          <a:p>
            <a:pPr algn="ctr">
              <a:defRPr/>
            </a:pPr>
            <a:r>
              <a:rPr lang="en-GB" altLang="en-US" sz="1200" dirty="0"/>
              <a:t>6</a:t>
            </a:r>
          </a:p>
        </p:txBody>
      </p:sp>
      <p:sp>
        <p:nvSpPr>
          <p:cNvPr id="20" name="TextBox 19">
            <a:extLst>
              <a:ext uri="{FF2B5EF4-FFF2-40B4-BE49-F238E27FC236}">
                <a16:creationId xmlns:a16="http://schemas.microsoft.com/office/drawing/2014/main" id="{9814A7A8-8F2F-C743-AB1E-387157E5A862}"/>
              </a:ext>
            </a:extLst>
          </p:cNvPr>
          <p:cNvSpPr txBox="1"/>
          <p:nvPr/>
        </p:nvSpPr>
        <p:spPr>
          <a:xfrm>
            <a:off x="3758246" y="4252372"/>
            <a:ext cx="286806" cy="184666"/>
          </a:xfrm>
          <a:prstGeom prst="rect">
            <a:avLst/>
          </a:prstGeom>
          <a:noFill/>
        </p:spPr>
        <p:txBody>
          <a:bodyPr wrap="square" lIns="0" tIns="0" rIns="0" bIns="0" rtlCol="0" anchor="ctr" anchorCtr="0">
            <a:spAutoFit/>
          </a:bodyPr>
          <a:lstStyle/>
          <a:p>
            <a:pPr algn="ctr">
              <a:defRPr/>
            </a:pPr>
            <a:r>
              <a:rPr lang="en-GB" altLang="en-US" sz="1200" dirty="0"/>
              <a:t>7</a:t>
            </a:r>
          </a:p>
        </p:txBody>
      </p:sp>
      <p:sp>
        <p:nvSpPr>
          <p:cNvPr id="21" name="TextBox 20">
            <a:extLst>
              <a:ext uri="{FF2B5EF4-FFF2-40B4-BE49-F238E27FC236}">
                <a16:creationId xmlns:a16="http://schemas.microsoft.com/office/drawing/2014/main" id="{3FA6E583-7945-6A41-9164-C53E4943D2C0}"/>
              </a:ext>
            </a:extLst>
          </p:cNvPr>
          <p:cNvSpPr txBox="1"/>
          <p:nvPr/>
        </p:nvSpPr>
        <p:spPr>
          <a:xfrm>
            <a:off x="4139821" y="4252372"/>
            <a:ext cx="286806" cy="184666"/>
          </a:xfrm>
          <a:prstGeom prst="rect">
            <a:avLst/>
          </a:prstGeom>
          <a:noFill/>
        </p:spPr>
        <p:txBody>
          <a:bodyPr wrap="square" lIns="0" tIns="0" rIns="0" bIns="0" rtlCol="0" anchor="ctr" anchorCtr="0">
            <a:spAutoFit/>
          </a:bodyPr>
          <a:lstStyle/>
          <a:p>
            <a:pPr algn="ctr">
              <a:defRPr/>
            </a:pPr>
            <a:r>
              <a:rPr lang="en-GB" altLang="en-US" sz="1200" dirty="0"/>
              <a:t>8</a:t>
            </a:r>
          </a:p>
        </p:txBody>
      </p:sp>
      <p:sp>
        <p:nvSpPr>
          <p:cNvPr id="22" name="TextBox 21">
            <a:extLst>
              <a:ext uri="{FF2B5EF4-FFF2-40B4-BE49-F238E27FC236}">
                <a16:creationId xmlns:a16="http://schemas.microsoft.com/office/drawing/2014/main" id="{1AAC3B2C-4F2F-1B49-B4BA-23A8EF33AA9A}"/>
              </a:ext>
            </a:extLst>
          </p:cNvPr>
          <p:cNvSpPr txBox="1"/>
          <p:nvPr/>
        </p:nvSpPr>
        <p:spPr>
          <a:xfrm>
            <a:off x="4521396" y="4252372"/>
            <a:ext cx="286806" cy="184666"/>
          </a:xfrm>
          <a:prstGeom prst="rect">
            <a:avLst/>
          </a:prstGeom>
          <a:noFill/>
        </p:spPr>
        <p:txBody>
          <a:bodyPr wrap="square" lIns="0" tIns="0" rIns="0" bIns="0" rtlCol="0" anchor="ctr" anchorCtr="0">
            <a:spAutoFit/>
          </a:bodyPr>
          <a:lstStyle/>
          <a:p>
            <a:pPr algn="ctr">
              <a:defRPr/>
            </a:pPr>
            <a:r>
              <a:rPr lang="en-GB" altLang="en-US" sz="1200" dirty="0"/>
              <a:t>9</a:t>
            </a:r>
          </a:p>
        </p:txBody>
      </p:sp>
      <p:sp>
        <p:nvSpPr>
          <p:cNvPr id="23" name="TextBox 22">
            <a:extLst>
              <a:ext uri="{FF2B5EF4-FFF2-40B4-BE49-F238E27FC236}">
                <a16:creationId xmlns:a16="http://schemas.microsoft.com/office/drawing/2014/main" id="{D18C0661-944C-0A4C-AABB-534C71AEC348}"/>
              </a:ext>
            </a:extLst>
          </p:cNvPr>
          <p:cNvSpPr txBox="1"/>
          <p:nvPr/>
        </p:nvSpPr>
        <p:spPr>
          <a:xfrm>
            <a:off x="4902968" y="4252372"/>
            <a:ext cx="286806" cy="184666"/>
          </a:xfrm>
          <a:prstGeom prst="rect">
            <a:avLst/>
          </a:prstGeom>
          <a:noFill/>
        </p:spPr>
        <p:txBody>
          <a:bodyPr wrap="square" lIns="0" tIns="0" rIns="0" bIns="0" rtlCol="0" anchor="ctr" anchorCtr="0">
            <a:spAutoFit/>
          </a:bodyPr>
          <a:lstStyle/>
          <a:p>
            <a:pPr algn="ctr">
              <a:defRPr/>
            </a:pPr>
            <a:r>
              <a:rPr lang="en-GB" altLang="en-US" sz="1200" dirty="0"/>
              <a:t>10</a:t>
            </a:r>
          </a:p>
        </p:txBody>
      </p:sp>
      <p:sp>
        <p:nvSpPr>
          <p:cNvPr id="24" name="TextBox 23">
            <a:extLst>
              <a:ext uri="{FF2B5EF4-FFF2-40B4-BE49-F238E27FC236}">
                <a16:creationId xmlns:a16="http://schemas.microsoft.com/office/drawing/2014/main" id="{770E5BA3-D3D5-824E-9075-31A729AB336E}"/>
              </a:ext>
            </a:extLst>
          </p:cNvPr>
          <p:cNvSpPr txBox="1"/>
          <p:nvPr/>
        </p:nvSpPr>
        <p:spPr>
          <a:xfrm>
            <a:off x="857340" y="4144032"/>
            <a:ext cx="329665" cy="184666"/>
          </a:xfrm>
          <a:prstGeom prst="rect">
            <a:avLst/>
          </a:prstGeom>
          <a:noFill/>
        </p:spPr>
        <p:txBody>
          <a:bodyPr wrap="square" lIns="0" tIns="0" rIns="0" bIns="0" rtlCol="0" anchor="ctr" anchorCtr="0">
            <a:spAutoFit/>
          </a:bodyPr>
          <a:lstStyle/>
          <a:p>
            <a:pPr algn="r">
              <a:defRPr/>
            </a:pPr>
            <a:r>
              <a:rPr lang="en-GB" altLang="en-US" sz="1200" dirty="0"/>
              <a:t>0</a:t>
            </a:r>
          </a:p>
        </p:txBody>
      </p:sp>
      <p:sp>
        <p:nvSpPr>
          <p:cNvPr id="25" name="TextBox 24">
            <a:extLst>
              <a:ext uri="{FF2B5EF4-FFF2-40B4-BE49-F238E27FC236}">
                <a16:creationId xmlns:a16="http://schemas.microsoft.com/office/drawing/2014/main" id="{E1FEA400-3B93-304A-9659-99722E920389}"/>
              </a:ext>
            </a:extLst>
          </p:cNvPr>
          <p:cNvSpPr txBox="1"/>
          <p:nvPr/>
        </p:nvSpPr>
        <p:spPr>
          <a:xfrm>
            <a:off x="857340" y="3927094"/>
            <a:ext cx="329665" cy="184666"/>
          </a:xfrm>
          <a:prstGeom prst="rect">
            <a:avLst/>
          </a:prstGeom>
          <a:noFill/>
        </p:spPr>
        <p:txBody>
          <a:bodyPr wrap="square" lIns="0" tIns="0" rIns="0" bIns="0" rtlCol="0" anchor="ctr" anchorCtr="0">
            <a:spAutoFit/>
          </a:bodyPr>
          <a:lstStyle/>
          <a:p>
            <a:pPr algn="r">
              <a:defRPr/>
            </a:pPr>
            <a:r>
              <a:rPr lang="en-GB" altLang="en-US" sz="1200" dirty="0"/>
              <a:t>20</a:t>
            </a:r>
          </a:p>
        </p:txBody>
      </p:sp>
      <p:sp>
        <p:nvSpPr>
          <p:cNvPr id="26" name="TextBox 25">
            <a:extLst>
              <a:ext uri="{FF2B5EF4-FFF2-40B4-BE49-F238E27FC236}">
                <a16:creationId xmlns:a16="http://schemas.microsoft.com/office/drawing/2014/main" id="{A55B945D-20FD-A947-9F62-43A56955025A}"/>
              </a:ext>
            </a:extLst>
          </p:cNvPr>
          <p:cNvSpPr txBox="1"/>
          <p:nvPr/>
        </p:nvSpPr>
        <p:spPr>
          <a:xfrm>
            <a:off x="857340" y="3710152"/>
            <a:ext cx="329665" cy="184666"/>
          </a:xfrm>
          <a:prstGeom prst="rect">
            <a:avLst/>
          </a:prstGeom>
          <a:noFill/>
        </p:spPr>
        <p:txBody>
          <a:bodyPr wrap="square" lIns="0" tIns="0" rIns="0" bIns="0" rtlCol="0" anchor="ctr" anchorCtr="0">
            <a:spAutoFit/>
          </a:bodyPr>
          <a:lstStyle/>
          <a:p>
            <a:pPr algn="r">
              <a:defRPr/>
            </a:pPr>
            <a:r>
              <a:rPr lang="en-GB" altLang="en-US" sz="1200" dirty="0"/>
              <a:t>40</a:t>
            </a:r>
          </a:p>
        </p:txBody>
      </p:sp>
      <p:sp>
        <p:nvSpPr>
          <p:cNvPr id="27" name="TextBox 26">
            <a:extLst>
              <a:ext uri="{FF2B5EF4-FFF2-40B4-BE49-F238E27FC236}">
                <a16:creationId xmlns:a16="http://schemas.microsoft.com/office/drawing/2014/main" id="{00CCB209-0ED4-754A-BACA-2E3834CFE45B}"/>
              </a:ext>
            </a:extLst>
          </p:cNvPr>
          <p:cNvSpPr txBox="1"/>
          <p:nvPr/>
        </p:nvSpPr>
        <p:spPr>
          <a:xfrm>
            <a:off x="857340" y="3493210"/>
            <a:ext cx="329665" cy="184666"/>
          </a:xfrm>
          <a:prstGeom prst="rect">
            <a:avLst/>
          </a:prstGeom>
          <a:noFill/>
        </p:spPr>
        <p:txBody>
          <a:bodyPr wrap="square" lIns="0" tIns="0" rIns="0" bIns="0" rtlCol="0" anchor="ctr" anchorCtr="0">
            <a:spAutoFit/>
          </a:bodyPr>
          <a:lstStyle/>
          <a:p>
            <a:pPr algn="r">
              <a:defRPr/>
            </a:pPr>
            <a:r>
              <a:rPr lang="en-GB" altLang="en-US" sz="1200" dirty="0"/>
              <a:t>60</a:t>
            </a:r>
          </a:p>
        </p:txBody>
      </p:sp>
      <p:sp>
        <p:nvSpPr>
          <p:cNvPr id="28" name="TextBox 27">
            <a:extLst>
              <a:ext uri="{FF2B5EF4-FFF2-40B4-BE49-F238E27FC236}">
                <a16:creationId xmlns:a16="http://schemas.microsoft.com/office/drawing/2014/main" id="{5CA66CBD-0AC9-8848-B9FD-C64B28B15700}"/>
              </a:ext>
            </a:extLst>
          </p:cNvPr>
          <p:cNvSpPr txBox="1"/>
          <p:nvPr/>
        </p:nvSpPr>
        <p:spPr>
          <a:xfrm>
            <a:off x="857340" y="3276268"/>
            <a:ext cx="329665" cy="184666"/>
          </a:xfrm>
          <a:prstGeom prst="rect">
            <a:avLst/>
          </a:prstGeom>
          <a:noFill/>
        </p:spPr>
        <p:txBody>
          <a:bodyPr wrap="square" lIns="0" tIns="0" rIns="0" bIns="0" rtlCol="0" anchor="ctr" anchorCtr="0">
            <a:spAutoFit/>
          </a:bodyPr>
          <a:lstStyle/>
          <a:p>
            <a:pPr algn="r">
              <a:defRPr/>
            </a:pPr>
            <a:r>
              <a:rPr lang="en-GB" altLang="en-US" sz="1200" dirty="0"/>
              <a:t>80</a:t>
            </a:r>
          </a:p>
        </p:txBody>
      </p:sp>
      <p:sp>
        <p:nvSpPr>
          <p:cNvPr id="29" name="TextBox 28">
            <a:extLst>
              <a:ext uri="{FF2B5EF4-FFF2-40B4-BE49-F238E27FC236}">
                <a16:creationId xmlns:a16="http://schemas.microsoft.com/office/drawing/2014/main" id="{73B769CC-578F-0145-942A-0F65C945D63B}"/>
              </a:ext>
            </a:extLst>
          </p:cNvPr>
          <p:cNvSpPr txBox="1"/>
          <p:nvPr/>
        </p:nvSpPr>
        <p:spPr>
          <a:xfrm>
            <a:off x="857340" y="3059326"/>
            <a:ext cx="329665" cy="184666"/>
          </a:xfrm>
          <a:prstGeom prst="rect">
            <a:avLst/>
          </a:prstGeom>
          <a:noFill/>
        </p:spPr>
        <p:txBody>
          <a:bodyPr wrap="square" lIns="0" tIns="0" rIns="0" bIns="0" rtlCol="0" anchor="ctr" anchorCtr="0">
            <a:spAutoFit/>
          </a:bodyPr>
          <a:lstStyle/>
          <a:p>
            <a:pPr algn="r">
              <a:defRPr/>
            </a:pPr>
            <a:r>
              <a:rPr lang="en-GB" altLang="en-US" sz="1200" dirty="0"/>
              <a:t>100</a:t>
            </a:r>
          </a:p>
        </p:txBody>
      </p:sp>
      <p:sp>
        <p:nvSpPr>
          <p:cNvPr id="30" name="TextBox 29">
            <a:extLst>
              <a:ext uri="{FF2B5EF4-FFF2-40B4-BE49-F238E27FC236}">
                <a16:creationId xmlns:a16="http://schemas.microsoft.com/office/drawing/2014/main" id="{B174CC91-3E78-0D47-8D8F-DCF5975258C9}"/>
              </a:ext>
            </a:extLst>
          </p:cNvPr>
          <p:cNvSpPr txBox="1"/>
          <p:nvPr/>
        </p:nvSpPr>
        <p:spPr>
          <a:xfrm>
            <a:off x="857340" y="2842384"/>
            <a:ext cx="329665" cy="184666"/>
          </a:xfrm>
          <a:prstGeom prst="rect">
            <a:avLst/>
          </a:prstGeom>
          <a:noFill/>
        </p:spPr>
        <p:txBody>
          <a:bodyPr wrap="square" lIns="0" tIns="0" rIns="0" bIns="0" rtlCol="0" anchor="ctr" anchorCtr="0">
            <a:spAutoFit/>
          </a:bodyPr>
          <a:lstStyle/>
          <a:p>
            <a:pPr algn="r">
              <a:defRPr/>
            </a:pPr>
            <a:r>
              <a:rPr lang="en-GB" altLang="en-US" sz="1200" dirty="0"/>
              <a:t>120</a:t>
            </a:r>
          </a:p>
        </p:txBody>
      </p:sp>
      <p:sp>
        <p:nvSpPr>
          <p:cNvPr id="31" name="TextBox 30">
            <a:extLst>
              <a:ext uri="{FF2B5EF4-FFF2-40B4-BE49-F238E27FC236}">
                <a16:creationId xmlns:a16="http://schemas.microsoft.com/office/drawing/2014/main" id="{3DD8D772-A9F6-7E44-B606-AFCE9DA4C533}"/>
              </a:ext>
            </a:extLst>
          </p:cNvPr>
          <p:cNvSpPr txBox="1"/>
          <p:nvPr/>
        </p:nvSpPr>
        <p:spPr>
          <a:xfrm>
            <a:off x="857340" y="2625442"/>
            <a:ext cx="329665" cy="184666"/>
          </a:xfrm>
          <a:prstGeom prst="rect">
            <a:avLst/>
          </a:prstGeom>
          <a:noFill/>
        </p:spPr>
        <p:txBody>
          <a:bodyPr wrap="square" lIns="0" tIns="0" rIns="0" bIns="0" rtlCol="0" anchor="ctr" anchorCtr="0">
            <a:spAutoFit/>
          </a:bodyPr>
          <a:lstStyle/>
          <a:p>
            <a:pPr algn="r">
              <a:defRPr/>
            </a:pPr>
            <a:r>
              <a:rPr lang="en-GB" altLang="en-US" sz="1200" dirty="0"/>
              <a:t>140</a:t>
            </a:r>
          </a:p>
        </p:txBody>
      </p:sp>
      <p:sp>
        <p:nvSpPr>
          <p:cNvPr id="32" name="TextBox 31">
            <a:extLst>
              <a:ext uri="{FF2B5EF4-FFF2-40B4-BE49-F238E27FC236}">
                <a16:creationId xmlns:a16="http://schemas.microsoft.com/office/drawing/2014/main" id="{0F9DA588-7304-494A-A909-E0143E520AE1}"/>
              </a:ext>
            </a:extLst>
          </p:cNvPr>
          <p:cNvSpPr txBox="1"/>
          <p:nvPr/>
        </p:nvSpPr>
        <p:spPr>
          <a:xfrm>
            <a:off x="857340" y="2408500"/>
            <a:ext cx="329665" cy="184666"/>
          </a:xfrm>
          <a:prstGeom prst="rect">
            <a:avLst/>
          </a:prstGeom>
          <a:noFill/>
        </p:spPr>
        <p:txBody>
          <a:bodyPr wrap="square" lIns="0" tIns="0" rIns="0" bIns="0" rtlCol="0" anchor="ctr" anchorCtr="0">
            <a:spAutoFit/>
          </a:bodyPr>
          <a:lstStyle/>
          <a:p>
            <a:pPr algn="r">
              <a:defRPr/>
            </a:pPr>
            <a:r>
              <a:rPr lang="en-GB" altLang="en-US" sz="1200" dirty="0"/>
              <a:t>160</a:t>
            </a:r>
          </a:p>
        </p:txBody>
      </p:sp>
      <p:sp>
        <p:nvSpPr>
          <p:cNvPr id="33" name="TextBox 32">
            <a:extLst>
              <a:ext uri="{FF2B5EF4-FFF2-40B4-BE49-F238E27FC236}">
                <a16:creationId xmlns:a16="http://schemas.microsoft.com/office/drawing/2014/main" id="{1C25AC39-895D-4547-9FD0-9D42CCDD44AC}"/>
              </a:ext>
            </a:extLst>
          </p:cNvPr>
          <p:cNvSpPr txBox="1"/>
          <p:nvPr/>
        </p:nvSpPr>
        <p:spPr>
          <a:xfrm>
            <a:off x="857340" y="2191558"/>
            <a:ext cx="329665" cy="184666"/>
          </a:xfrm>
          <a:prstGeom prst="rect">
            <a:avLst/>
          </a:prstGeom>
          <a:noFill/>
        </p:spPr>
        <p:txBody>
          <a:bodyPr wrap="square" lIns="0" tIns="0" rIns="0" bIns="0" rtlCol="0" anchor="ctr" anchorCtr="0">
            <a:spAutoFit/>
          </a:bodyPr>
          <a:lstStyle/>
          <a:p>
            <a:pPr algn="r">
              <a:defRPr/>
            </a:pPr>
            <a:r>
              <a:rPr lang="en-GB" altLang="en-US" sz="1200" dirty="0"/>
              <a:t>180</a:t>
            </a:r>
          </a:p>
        </p:txBody>
      </p:sp>
      <p:sp>
        <p:nvSpPr>
          <p:cNvPr id="34" name="TextBox 33">
            <a:extLst>
              <a:ext uri="{FF2B5EF4-FFF2-40B4-BE49-F238E27FC236}">
                <a16:creationId xmlns:a16="http://schemas.microsoft.com/office/drawing/2014/main" id="{104C3E1C-B221-7A46-BBEF-96015100FECA}"/>
              </a:ext>
            </a:extLst>
          </p:cNvPr>
          <p:cNvSpPr txBox="1"/>
          <p:nvPr/>
        </p:nvSpPr>
        <p:spPr>
          <a:xfrm>
            <a:off x="857340" y="1974616"/>
            <a:ext cx="329665" cy="184666"/>
          </a:xfrm>
          <a:prstGeom prst="rect">
            <a:avLst/>
          </a:prstGeom>
          <a:noFill/>
        </p:spPr>
        <p:txBody>
          <a:bodyPr wrap="square" lIns="0" tIns="0" rIns="0" bIns="0" rtlCol="0" anchor="ctr" anchorCtr="0">
            <a:spAutoFit/>
          </a:bodyPr>
          <a:lstStyle/>
          <a:p>
            <a:pPr algn="r">
              <a:defRPr/>
            </a:pPr>
            <a:r>
              <a:rPr lang="en-GB" altLang="en-US" sz="1200" dirty="0"/>
              <a:t>200</a:t>
            </a:r>
          </a:p>
        </p:txBody>
      </p:sp>
      <p:sp>
        <p:nvSpPr>
          <p:cNvPr id="35" name="TextBox 34">
            <a:extLst>
              <a:ext uri="{FF2B5EF4-FFF2-40B4-BE49-F238E27FC236}">
                <a16:creationId xmlns:a16="http://schemas.microsoft.com/office/drawing/2014/main" id="{8C29F887-3955-7742-8626-7FDBF7E5FEC1}"/>
              </a:ext>
            </a:extLst>
          </p:cNvPr>
          <p:cNvSpPr txBox="1"/>
          <p:nvPr/>
        </p:nvSpPr>
        <p:spPr>
          <a:xfrm>
            <a:off x="857340" y="1757674"/>
            <a:ext cx="329665" cy="184666"/>
          </a:xfrm>
          <a:prstGeom prst="rect">
            <a:avLst/>
          </a:prstGeom>
          <a:noFill/>
        </p:spPr>
        <p:txBody>
          <a:bodyPr wrap="square" lIns="0" tIns="0" rIns="0" bIns="0" rtlCol="0" anchor="ctr" anchorCtr="0">
            <a:spAutoFit/>
          </a:bodyPr>
          <a:lstStyle/>
          <a:p>
            <a:pPr algn="r">
              <a:defRPr/>
            </a:pPr>
            <a:r>
              <a:rPr lang="en-GB" altLang="en-US" sz="1200" dirty="0"/>
              <a:t>220</a:t>
            </a:r>
          </a:p>
        </p:txBody>
      </p:sp>
      <p:sp>
        <p:nvSpPr>
          <p:cNvPr id="81" name="TextBox 80">
            <a:extLst>
              <a:ext uri="{FF2B5EF4-FFF2-40B4-BE49-F238E27FC236}">
                <a16:creationId xmlns:a16="http://schemas.microsoft.com/office/drawing/2014/main" id="{E05DAFCB-9462-4344-B0E0-DC897C0CB305}"/>
              </a:ext>
            </a:extLst>
          </p:cNvPr>
          <p:cNvSpPr txBox="1"/>
          <p:nvPr/>
        </p:nvSpPr>
        <p:spPr>
          <a:xfrm>
            <a:off x="6428285" y="584057"/>
            <a:ext cx="2715715" cy="553998"/>
          </a:xfrm>
          <a:prstGeom prst="rect">
            <a:avLst/>
          </a:prstGeom>
          <a:noFill/>
        </p:spPr>
        <p:txBody>
          <a:bodyPr wrap="square" lIns="36000" tIns="0" rIns="0" bIns="0" rtlCol="0" anchor="t">
            <a:spAutoFit/>
          </a:bodyPr>
          <a:lstStyle/>
          <a:p>
            <a:pPr>
              <a:defRPr/>
            </a:pPr>
            <a:r>
              <a:rPr lang="en-GB" altLang="en-US" sz="1800" dirty="0"/>
              <a:t>The following distance-time graph shows a car’s journey.</a:t>
            </a:r>
          </a:p>
        </p:txBody>
      </p:sp>
      <p:cxnSp>
        <p:nvCxnSpPr>
          <p:cNvPr id="9" name="Straight Connector 8">
            <a:extLst>
              <a:ext uri="{FF2B5EF4-FFF2-40B4-BE49-F238E27FC236}">
                <a16:creationId xmlns:a16="http://schemas.microsoft.com/office/drawing/2014/main" id="{E84FD576-EEED-0E4C-BB8F-5523C5819A88}"/>
              </a:ext>
            </a:extLst>
          </p:cNvPr>
          <p:cNvCxnSpPr/>
          <p:nvPr/>
        </p:nvCxnSpPr>
        <p:spPr>
          <a:xfrm flipV="1">
            <a:off x="1227486" y="3365679"/>
            <a:ext cx="1526588" cy="868124"/>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0F6BFE-F098-8E45-B814-1B9AD8CCFB42}"/>
              </a:ext>
            </a:extLst>
          </p:cNvPr>
          <p:cNvCxnSpPr>
            <a:cxnSpLocks/>
          </p:cNvCxnSpPr>
          <p:nvPr/>
        </p:nvCxnSpPr>
        <p:spPr>
          <a:xfrm>
            <a:off x="2754074" y="3365679"/>
            <a:ext cx="764146" cy="0"/>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46C4101-4B09-AF4E-BB74-1A807E6C0A8A}"/>
              </a:ext>
            </a:extLst>
          </p:cNvPr>
          <p:cNvCxnSpPr>
            <a:cxnSpLocks/>
          </p:cNvCxnSpPr>
          <p:nvPr/>
        </p:nvCxnSpPr>
        <p:spPr>
          <a:xfrm flipV="1">
            <a:off x="3518220" y="2286000"/>
            <a:ext cx="763706" cy="1079679"/>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B1FA164-BC5B-3D4A-9428-C21FDA92534C}"/>
              </a:ext>
            </a:extLst>
          </p:cNvPr>
          <p:cNvCxnSpPr>
            <a:cxnSpLocks/>
          </p:cNvCxnSpPr>
          <p:nvPr/>
        </p:nvCxnSpPr>
        <p:spPr>
          <a:xfrm flipV="1">
            <a:off x="4280662" y="1849726"/>
            <a:ext cx="765410" cy="436274"/>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679433C-897E-8487-663D-3F02EB70D736}"/>
              </a:ext>
            </a:extLst>
          </p:cNvPr>
          <p:cNvSpPr txBox="1"/>
          <p:nvPr/>
        </p:nvSpPr>
        <p:spPr>
          <a:xfrm>
            <a:off x="5997807" y="1352917"/>
            <a:ext cx="2715715" cy="3108543"/>
          </a:xfrm>
          <a:prstGeom prst="rect">
            <a:avLst/>
          </a:prstGeom>
          <a:noFill/>
        </p:spPr>
        <p:txBody>
          <a:bodyPr wrap="square" rtlCol="0">
            <a:spAutoFit/>
          </a:bodyPr>
          <a:lstStyle/>
          <a:p>
            <a:pPr marL="342900" indent="-342900">
              <a:buAutoNum type="alphaLcParenR"/>
            </a:pPr>
            <a:r>
              <a:rPr lang="en-US" sz="1400" b="1" dirty="0"/>
              <a:t>What is the total distance the car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After 4 seconds how far had the car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After 6 seconds how far had the car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What happened between 4 and 6 seconds? </a:t>
            </a:r>
            <a:endParaRPr lang="en-AU" sz="1400" b="1" dirty="0"/>
          </a:p>
        </p:txBody>
      </p:sp>
    </p:spTree>
    <p:extLst>
      <p:ext uri="{BB962C8B-B14F-4D97-AF65-F5344CB8AC3E}">
        <p14:creationId xmlns:p14="http://schemas.microsoft.com/office/powerpoint/2010/main" val="632644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4400"/>
                                        <p:tgtEl>
                                          <p:spTgt spid="9"/>
                                        </p:tgtEl>
                                      </p:cBhvr>
                                    </p:animEffect>
                                  </p:childTnLst>
                                </p:cTn>
                              </p:par>
                              <p:par>
                                <p:cTn id="8" presetID="42" presetClass="path" presetSubtype="0" fill="hold" nodeType="withEffect">
                                  <p:stCondLst>
                                    <p:cond delay="0"/>
                                  </p:stCondLst>
                                  <p:childTnLst>
                                    <p:animMotion origin="layout" path="M -2.22222E-6 -4.44444E-6 L -2.22222E-6 -0.16419 " pathEditMode="relative" rAng="0" ptsTypes="AA">
                                      <p:cBhvr>
                                        <p:cTn id="9" dur="4000" fill="hold"/>
                                        <p:tgtEl>
                                          <p:spTgt spid="4"/>
                                        </p:tgtEl>
                                        <p:attrNameLst>
                                          <p:attrName>ppt_x</p:attrName>
                                          <p:attrName>ppt_y</p:attrName>
                                        </p:attrNameLst>
                                      </p:cBhvr>
                                      <p:rCtr x="0" y="-8210"/>
                                    </p:animMotion>
                                  </p:childTnLst>
                                </p:cTn>
                              </p:par>
                            </p:childTnLst>
                          </p:cTn>
                        </p:par>
                        <p:par>
                          <p:cTn id="10" fill="hold">
                            <p:stCondLst>
                              <p:cond delay="4400"/>
                            </p:stCondLst>
                            <p:childTnLst>
                              <p:par>
                                <p:cTn id="11" presetID="22" presetClass="entr" presetSubtype="8" fill="hold" nodeType="after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2000"/>
                                        <p:tgtEl>
                                          <p:spTgt spid="38"/>
                                        </p:tgtEl>
                                      </p:cBhvr>
                                    </p:animEffect>
                                  </p:childTnLst>
                                </p:cTn>
                              </p:par>
                            </p:childTnLst>
                          </p:cTn>
                        </p:par>
                        <p:par>
                          <p:cTn id="14" fill="hold">
                            <p:stCondLst>
                              <p:cond delay="6400"/>
                            </p:stCondLst>
                            <p:childTnLst>
                              <p:par>
                                <p:cTn id="15" presetID="42" presetClass="path" presetSubtype="0" fill="hold" nodeType="afterEffect">
                                  <p:stCondLst>
                                    <p:cond delay="0"/>
                                  </p:stCondLst>
                                  <p:childTnLst>
                                    <p:animMotion origin="layout" path="M -2.22222E-6 -0.16419 L -2.22222E-6 -0.37129 " pathEditMode="relative" rAng="0" ptsTypes="AA">
                                      <p:cBhvr>
                                        <p:cTn id="16" dur="2000" fill="hold"/>
                                        <p:tgtEl>
                                          <p:spTgt spid="4"/>
                                        </p:tgtEl>
                                        <p:attrNameLst>
                                          <p:attrName>ppt_x</p:attrName>
                                          <p:attrName>ppt_y</p:attrName>
                                        </p:attrNameLst>
                                      </p:cBhvr>
                                      <p:rCtr x="0" y="-10370"/>
                                    </p:animMotion>
                                  </p:childTnLst>
                                </p:cTn>
                              </p:par>
                              <p:par>
                                <p:cTn id="17" presetID="22" presetClass="entr" presetSubtype="8"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wipe(left)">
                                      <p:cBhvr>
                                        <p:cTn id="19" dur="2200"/>
                                        <p:tgtEl>
                                          <p:spTgt spid="41"/>
                                        </p:tgtEl>
                                      </p:cBhvr>
                                    </p:animEffect>
                                  </p:childTnLst>
                                </p:cTn>
                              </p:par>
                            </p:childTnLst>
                          </p:cTn>
                        </p:par>
                        <p:par>
                          <p:cTn id="20" fill="hold">
                            <p:stCondLst>
                              <p:cond delay="8600"/>
                            </p:stCondLst>
                            <p:childTnLst>
                              <p:par>
                                <p:cTn id="21" presetID="42" presetClass="path" presetSubtype="0" fill="hold" nodeType="afterEffect">
                                  <p:stCondLst>
                                    <p:cond delay="0"/>
                                  </p:stCondLst>
                                  <p:childTnLst>
                                    <p:animMotion origin="layout" path="M -2.22222E-6 -0.37129 L -2.22222E-6 -0.44784 " pathEditMode="relative" rAng="0" ptsTypes="AA">
                                      <p:cBhvr>
                                        <p:cTn id="22" dur="2000" fill="hold"/>
                                        <p:tgtEl>
                                          <p:spTgt spid="4"/>
                                        </p:tgtEl>
                                        <p:attrNameLst>
                                          <p:attrName>ppt_x</p:attrName>
                                          <p:attrName>ppt_y</p:attrName>
                                        </p:attrNameLst>
                                      </p:cBhvr>
                                      <p:rCtr x="0" y="-3827"/>
                                    </p:animMotion>
                                  </p:childTnLst>
                                </p:cTn>
                              </p:par>
                              <p:par>
                                <p:cTn id="23" presetID="22" presetClass="entr" presetSubtype="8"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wipe(left)">
                                      <p:cBhvr>
                                        <p:cTn id="25" dur="22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E629866-F387-704D-B7DE-527424B5AFB6}"/>
              </a:ext>
            </a:extLst>
          </p:cNvPr>
          <p:cNvGraphicFramePr>
            <a:graphicFrameLocks noGrp="1"/>
          </p:cNvGraphicFramePr>
          <p:nvPr>
            <p:extLst>
              <p:ext uri="{D42A27DB-BD31-4B8C-83A1-F6EECF244321}">
                <p14:modId xmlns:p14="http://schemas.microsoft.com/office/powerpoint/2010/main" val="203417949"/>
              </p:ext>
            </p:extLst>
          </p:nvPr>
        </p:nvGraphicFramePr>
        <p:xfrm>
          <a:off x="5510845" y="1224139"/>
          <a:ext cx="3232726" cy="2622336"/>
        </p:xfrm>
        <a:graphic>
          <a:graphicData uri="http://schemas.openxmlformats.org/drawingml/2006/table">
            <a:tbl>
              <a:tblPr firstRow="1" bandRow="1">
                <a:tableStyleId>{5C22544A-7EE6-4342-B048-85BDC9FD1C3A}</a:tableStyleId>
              </a:tblPr>
              <a:tblGrid>
                <a:gridCol w="230909">
                  <a:extLst>
                    <a:ext uri="{9D8B030D-6E8A-4147-A177-3AD203B41FA5}">
                      <a16:colId xmlns:a16="http://schemas.microsoft.com/office/drawing/2014/main" val="3421182426"/>
                    </a:ext>
                  </a:extLst>
                </a:gridCol>
                <a:gridCol w="230909">
                  <a:extLst>
                    <a:ext uri="{9D8B030D-6E8A-4147-A177-3AD203B41FA5}">
                      <a16:colId xmlns:a16="http://schemas.microsoft.com/office/drawing/2014/main" val="3036076137"/>
                    </a:ext>
                  </a:extLst>
                </a:gridCol>
                <a:gridCol w="230909">
                  <a:extLst>
                    <a:ext uri="{9D8B030D-6E8A-4147-A177-3AD203B41FA5}">
                      <a16:colId xmlns:a16="http://schemas.microsoft.com/office/drawing/2014/main" val="2042505113"/>
                    </a:ext>
                  </a:extLst>
                </a:gridCol>
                <a:gridCol w="230909">
                  <a:extLst>
                    <a:ext uri="{9D8B030D-6E8A-4147-A177-3AD203B41FA5}">
                      <a16:colId xmlns:a16="http://schemas.microsoft.com/office/drawing/2014/main" val="3832758630"/>
                    </a:ext>
                  </a:extLst>
                </a:gridCol>
                <a:gridCol w="230909">
                  <a:extLst>
                    <a:ext uri="{9D8B030D-6E8A-4147-A177-3AD203B41FA5}">
                      <a16:colId xmlns:a16="http://schemas.microsoft.com/office/drawing/2014/main" val="1574983318"/>
                    </a:ext>
                  </a:extLst>
                </a:gridCol>
                <a:gridCol w="230909">
                  <a:extLst>
                    <a:ext uri="{9D8B030D-6E8A-4147-A177-3AD203B41FA5}">
                      <a16:colId xmlns:a16="http://schemas.microsoft.com/office/drawing/2014/main" val="4158283698"/>
                    </a:ext>
                  </a:extLst>
                </a:gridCol>
                <a:gridCol w="230909">
                  <a:extLst>
                    <a:ext uri="{9D8B030D-6E8A-4147-A177-3AD203B41FA5}">
                      <a16:colId xmlns:a16="http://schemas.microsoft.com/office/drawing/2014/main" val="2421740572"/>
                    </a:ext>
                  </a:extLst>
                </a:gridCol>
                <a:gridCol w="230909">
                  <a:extLst>
                    <a:ext uri="{9D8B030D-6E8A-4147-A177-3AD203B41FA5}">
                      <a16:colId xmlns:a16="http://schemas.microsoft.com/office/drawing/2014/main" val="1223140520"/>
                    </a:ext>
                  </a:extLst>
                </a:gridCol>
                <a:gridCol w="230909">
                  <a:extLst>
                    <a:ext uri="{9D8B030D-6E8A-4147-A177-3AD203B41FA5}">
                      <a16:colId xmlns:a16="http://schemas.microsoft.com/office/drawing/2014/main" val="4205342466"/>
                    </a:ext>
                  </a:extLst>
                </a:gridCol>
                <a:gridCol w="230909">
                  <a:extLst>
                    <a:ext uri="{9D8B030D-6E8A-4147-A177-3AD203B41FA5}">
                      <a16:colId xmlns:a16="http://schemas.microsoft.com/office/drawing/2014/main" val="1143907110"/>
                    </a:ext>
                  </a:extLst>
                </a:gridCol>
                <a:gridCol w="230909">
                  <a:extLst>
                    <a:ext uri="{9D8B030D-6E8A-4147-A177-3AD203B41FA5}">
                      <a16:colId xmlns:a16="http://schemas.microsoft.com/office/drawing/2014/main" val="2953269273"/>
                    </a:ext>
                  </a:extLst>
                </a:gridCol>
                <a:gridCol w="230909">
                  <a:extLst>
                    <a:ext uri="{9D8B030D-6E8A-4147-A177-3AD203B41FA5}">
                      <a16:colId xmlns:a16="http://schemas.microsoft.com/office/drawing/2014/main" val="2364064426"/>
                    </a:ext>
                  </a:extLst>
                </a:gridCol>
                <a:gridCol w="230909">
                  <a:extLst>
                    <a:ext uri="{9D8B030D-6E8A-4147-A177-3AD203B41FA5}">
                      <a16:colId xmlns:a16="http://schemas.microsoft.com/office/drawing/2014/main" val="374087557"/>
                    </a:ext>
                  </a:extLst>
                </a:gridCol>
                <a:gridCol w="230909">
                  <a:extLst>
                    <a:ext uri="{9D8B030D-6E8A-4147-A177-3AD203B41FA5}">
                      <a16:colId xmlns:a16="http://schemas.microsoft.com/office/drawing/2014/main" val="1100712732"/>
                    </a:ext>
                  </a:extLst>
                </a:gridCol>
              </a:tblGrid>
              <a:tr h="327792">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1430021"/>
                  </a:ext>
                </a:extLst>
              </a:tr>
              <a:tr h="327792">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017997"/>
                  </a:ext>
                </a:extLst>
              </a:tr>
              <a:tr h="327792">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31071"/>
                  </a:ext>
                </a:extLst>
              </a:tr>
              <a:tr h="327792">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649161"/>
                  </a:ext>
                </a:extLst>
              </a:tr>
              <a:tr h="327792">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181725"/>
                  </a:ext>
                </a:extLst>
              </a:tr>
              <a:tr h="327792">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6003197"/>
                  </a:ext>
                </a:extLst>
              </a:tr>
              <a:tr h="327792">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433261"/>
                  </a:ext>
                </a:extLst>
              </a:tr>
              <a:tr h="327792">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176172"/>
                  </a:ext>
                </a:extLst>
              </a:tr>
            </a:tbl>
          </a:graphicData>
        </a:graphic>
      </p:graphicFrame>
      <p:sp>
        <p:nvSpPr>
          <p:cNvPr id="76" name="TextBox 75">
            <a:extLst>
              <a:ext uri="{FF2B5EF4-FFF2-40B4-BE49-F238E27FC236}">
                <a16:creationId xmlns:a16="http://schemas.microsoft.com/office/drawing/2014/main" id="{E972EA4E-F219-D24B-B41D-9ED89149BD47}"/>
              </a:ext>
            </a:extLst>
          </p:cNvPr>
          <p:cNvSpPr txBox="1"/>
          <p:nvPr/>
        </p:nvSpPr>
        <p:spPr>
          <a:xfrm>
            <a:off x="39060" y="954523"/>
            <a:ext cx="513302" cy="276999"/>
          </a:xfrm>
          <a:prstGeom prst="rect">
            <a:avLst/>
          </a:prstGeom>
          <a:noFill/>
        </p:spPr>
        <p:txBody>
          <a:bodyPr wrap="square" lIns="36000" tIns="0" rIns="0" bIns="0" rtlCol="0">
            <a:spAutoFit/>
          </a:bodyPr>
          <a:lstStyle/>
          <a:p>
            <a:r>
              <a:rPr lang="en-GB" sz="1800" b="1" dirty="0"/>
              <a:t>Ex2</a:t>
            </a:r>
          </a:p>
        </p:txBody>
      </p:sp>
      <p:sp>
        <p:nvSpPr>
          <p:cNvPr id="77" name="TextBox 76">
            <a:extLst>
              <a:ext uri="{FF2B5EF4-FFF2-40B4-BE49-F238E27FC236}">
                <a16:creationId xmlns:a16="http://schemas.microsoft.com/office/drawing/2014/main" id="{1A948131-C908-7740-9A2E-AEB74ACC7E64}"/>
              </a:ext>
            </a:extLst>
          </p:cNvPr>
          <p:cNvSpPr txBox="1"/>
          <p:nvPr/>
        </p:nvSpPr>
        <p:spPr>
          <a:xfrm>
            <a:off x="460691" y="952519"/>
            <a:ext cx="3982540" cy="553998"/>
          </a:xfrm>
          <a:prstGeom prst="rect">
            <a:avLst/>
          </a:prstGeom>
          <a:noFill/>
        </p:spPr>
        <p:txBody>
          <a:bodyPr wrap="square" lIns="36000" tIns="0" rIns="0" bIns="0" rtlCol="0" anchor="t">
            <a:spAutoFit/>
          </a:bodyPr>
          <a:lstStyle/>
          <a:p>
            <a:pPr>
              <a:defRPr/>
            </a:pPr>
            <a:r>
              <a:rPr lang="en-GB" altLang="en-US" sz="1800" dirty="0"/>
              <a:t>The graph shows a cyclist’s journey, from home, to a café and back.</a:t>
            </a:r>
          </a:p>
        </p:txBody>
      </p:sp>
      <p:sp>
        <p:nvSpPr>
          <p:cNvPr id="78" name="Rectangle 77">
            <a:extLst>
              <a:ext uri="{FF2B5EF4-FFF2-40B4-BE49-F238E27FC236}">
                <a16:creationId xmlns:a16="http://schemas.microsoft.com/office/drawing/2014/main" id="{3A100F80-352F-C74D-825C-8DBE01CB7184}"/>
              </a:ext>
            </a:extLst>
          </p:cNvPr>
          <p:cNvSpPr/>
          <p:nvPr/>
        </p:nvSpPr>
        <p:spPr>
          <a:xfrm rot="16200000">
            <a:off x="-91979" y="1451619"/>
            <a:ext cx="640770"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1" name="TextBox 10">
            <a:extLst>
              <a:ext uri="{FF2B5EF4-FFF2-40B4-BE49-F238E27FC236}">
                <a16:creationId xmlns:a16="http://schemas.microsoft.com/office/drawing/2014/main" id="{7FF4DD5F-3081-2845-B90C-750398DE9EC5}"/>
              </a:ext>
            </a:extLst>
          </p:cNvPr>
          <p:cNvSpPr txBox="1"/>
          <p:nvPr/>
        </p:nvSpPr>
        <p:spPr>
          <a:xfrm rot="16200000">
            <a:off x="3612288" y="2395500"/>
            <a:ext cx="2824983" cy="246221"/>
          </a:xfrm>
          <a:prstGeom prst="rect">
            <a:avLst/>
          </a:prstGeom>
          <a:noFill/>
        </p:spPr>
        <p:txBody>
          <a:bodyPr wrap="square" lIns="0" tIns="0" rIns="0" bIns="0" rtlCol="0" anchor="ctr" anchorCtr="0">
            <a:spAutoFit/>
          </a:bodyPr>
          <a:lstStyle/>
          <a:p>
            <a:pPr algn="ctr">
              <a:defRPr/>
            </a:pPr>
            <a:r>
              <a:rPr lang="en-GB" altLang="en-US" sz="1600" b="1" dirty="0"/>
              <a:t>Distance from home </a:t>
            </a:r>
            <a:r>
              <a:rPr lang="en-GB" altLang="en-US" sz="1600" dirty="0"/>
              <a:t>(miles)</a:t>
            </a:r>
          </a:p>
        </p:txBody>
      </p:sp>
      <p:sp>
        <p:nvSpPr>
          <p:cNvPr id="12" name="TextBox 11">
            <a:extLst>
              <a:ext uri="{FF2B5EF4-FFF2-40B4-BE49-F238E27FC236}">
                <a16:creationId xmlns:a16="http://schemas.microsoft.com/office/drawing/2014/main" id="{AEA1E90D-A02F-FA45-A603-263296215657}"/>
              </a:ext>
            </a:extLst>
          </p:cNvPr>
          <p:cNvSpPr txBox="1"/>
          <p:nvPr/>
        </p:nvSpPr>
        <p:spPr>
          <a:xfrm>
            <a:off x="6534416" y="4075062"/>
            <a:ext cx="1261529" cy="246221"/>
          </a:xfrm>
          <a:prstGeom prst="rect">
            <a:avLst/>
          </a:prstGeom>
          <a:noFill/>
        </p:spPr>
        <p:txBody>
          <a:bodyPr wrap="square" lIns="0" tIns="0" rIns="0" bIns="0" rtlCol="0" anchor="ctr" anchorCtr="0">
            <a:spAutoFit/>
          </a:bodyPr>
          <a:lstStyle/>
          <a:p>
            <a:pPr algn="ctr">
              <a:defRPr/>
            </a:pPr>
            <a:r>
              <a:rPr lang="en-GB" altLang="en-US" sz="1600" b="1" dirty="0"/>
              <a:t>Time </a:t>
            </a:r>
            <a:r>
              <a:rPr lang="en-GB" altLang="en-US" sz="1600" dirty="0"/>
              <a:t>(hours)</a:t>
            </a:r>
          </a:p>
        </p:txBody>
      </p:sp>
      <p:sp>
        <p:nvSpPr>
          <p:cNvPr id="13" name="TextBox 12">
            <a:extLst>
              <a:ext uri="{FF2B5EF4-FFF2-40B4-BE49-F238E27FC236}">
                <a16:creationId xmlns:a16="http://schemas.microsoft.com/office/drawing/2014/main" id="{097F4FF5-E61E-DB46-BF42-063740EC935B}"/>
              </a:ext>
            </a:extLst>
          </p:cNvPr>
          <p:cNvSpPr txBox="1"/>
          <p:nvPr/>
        </p:nvSpPr>
        <p:spPr>
          <a:xfrm>
            <a:off x="5375299" y="3875576"/>
            <a:ext cx="347035" cy="246221"/>
          </a:xfrm>
          <a:prstGeom prst="rect">
            <a:avLst/>
          </a:prstGeom>
          <a:noFill/>
        </p:spPr>
        <p:txBody>
          <a:bodyPr wrap="square" lIns="0" tIns="0" rIns="0" bIns="0" rtlCol="0" anchor="ctr" anchorCtr="0">
            <a:spAutoFit/>
          </a:bodyPr>
          <a:lstStyle/>
          <a:p>
            <a:pPr algn="ctr">
              <a:defRPr/>
            </a:pPr>
            <a:r>
              <a:rPr lang="en-GB" altLang="en-US" sz="1600" dirty="0"/>
              <a:t>0</a:t>
            </a:r>
          </a:p>
        </p:txBody>
      </p:sp>
      <p:sp>
        <p:nvSpPr>
          <p:cNvPr id="14" name="TextBox 13">
            <a:extLst>
              <a:ext uri="{FF2B5EF4-FFF2-40B4-BE49-F238E27FC236}">
                <a16:creationId xmlns:a16="http://schemas.microsoft.com/office/drawing/2014/main" id="{BA822E97-89C2-EA4D-92FF-0575FC253999}"/>
              </a:ext>
            </a:extLst>
          </p:cNvPr>
          <p:cNvSpPr txBox="1"/>
          <p:nvPr/>
        </p:nvSpPr>
        <p:spPr>
          <a:xfrm>
            <a:off x="5840802" y="3875576"/>
            <a:ext cx="347035" cy="246221"/>
          </a:xfrm>
          <a:prstGeom prst="rect">
            <a:avLst/>
          </a:prstGeom>
          <a:noFill/>
        </p:spPr>
        <p:txBody>
          <a:bodyPr wrap="square" lIns="0" tIns="0" rIns="0" bIns="0" rtlCol="0" anchor="ctr" anchorCtr="0">
            <a:spAutoFit/>
          </a:bodyPr>
          <a:lstStyle/>
          <a:p>
            <a:pPr algn="ctr">
              <a:defRPr/>
            </a:pPr>
            <a:r>
              <a:rPr lang="en-GB" altLang="en-US" sz="1600" dirty="0"/>
              <a:t>1</a:t>
            </a:r>
          </a:p>
        </p:txBody>
      </p:sp>
      <p:sp>
        <p:nvSpPr>
          <p:cNvPr id="15" name="TextBox 14">
            <a:extLst>
              <a:ext uri="{FF2B5EF4-FFF2-40B4-BE49-F238E27FC236}">
                <a16:creationId xmlns:a16="http://schemas.microsoft.com/office/drawing/2014/main" id="{FB4CD675-D7C2-E446-A18A-5B0F53F2E067}"/>
              </a:ext>
            </a:extLst>
          </p:cNvPr>
          <p:cNvSpPr txBox="1"/>
          <p:nvPr/>
        </p:nvSpPr>
        <p:spPr>
          <a:xfrm>
            <a:off x="6302005" y="3875576"/>
            <a:ext cx="347035" cy="246221"/>
          </a:xfrm>
          <a:prstGeom prst="rect">
            <a:avLst/>
          </a:prstGeom>
          <a:noFill/>
        </p:spPr>
        <p:txBody>
          <a:bodyPr wrap="square" lIns="0" tIns="0" rIns="0" bIns="0" rtlCol="0" anchor="ctr" anchorCtr="0">
            <a:spAutoFit/>
          </a:bodyPr>
          <a:lstStyle/>
          <a:p>
            <a:pPr algn="ctr">
              <a:defRPr/>
            </a:pPr>
            <a:r>
              <a:rPr lang="en-GB" altLang="en-US" sz="1600" dirty="0"/>
              <a:t>2</a:t>
            </a:r>
          </a:p>
        </p:txBody>
      </p:sp>
      <p:sp>
        <p:nvSpPr>
          <p:cNvPr id="16" name="TextBox 15">
            <a:extLst>
              <a:ext uri="{FF2B5EF4-FFF2-40B4-BE49-F238E27FC236}">
                <a16:creationId xmlns:a16="http://schemas.microsoft.com/office/drawing/2014/main" id="{37911FF9-2D44-1444-8157-5DCE74AF7B54}"/>
              </a:ext>
            </a:extLst>
          </p:cNvPr>
          <p:cNvSpPr txBox="1"/>
          <p:nvPr/>
        </p:nvSpPr>
        <p:spPr>
          <a:xfrm>
            <a:off x="6763209" y="3875576"/>
            <a:ext cx="347035" cy="246221"/>
          </a:xfrm>
          <a:prstGeom prst="rect">
            <a:avLst/>
          </a:prstGeom>
          <a:noFill/>
        </p:spPr>
        <p:txBody>
          <a:bodyPr wrap="square" lIns="0" tIns="0" rIns="0" bIns="0" rtlCol="0" anchor="ctr" anchorCtr="0">
            <a:spAutoFit/>
          </a:bodyPr>
          <a:lstStyle/>
          <a:p>
            <a:pPr algn="ctr">
              <a:defRPr/>
            </a:pPr>
            <a:r>
              <a:rPr lang="en-GB" altLang="en-US" sz="1600" dirty="0"/>
              <a:t>3</a:t>
            </a:r>
          </a:p>
        </p:txBody>
      </p:sp>
      <p:sp>
        <p:nvSpPr>
          <p:cNvPr id="17" name="TextBox 16">
            <a:extLst>
              <a:ext uri="{FF2B5EF4-FFF2-40B4-BE49-F238E27FC236}">
                <a16:creationId xmlns:a16="http://schemas.microsoft.com/office/drawing/2014/main" id="{770B27CD-485A-FE42-9124-BFD745E7ADD7}"/>
              </a:ext>
            </a:extLst>
          </p:cNvPr>
          <p:cNvSpPr txBox="1"/>
          <p:nvPr/>
        </p:nvSpPr>
        <p:spPr>
          <a:xfrm>
            <a:off x="7224413" y="3875576"/>
            <a:ext cx="347035" cy="246221"/>
          </a:xfrm>
          <a:prstGeom prst="rect">
            <a:avLst/>
          </a:prstGeom>
          <a:noFill/>
        </p:spPr>
        <p:txBody>
          <a:bodyPr wrap="square" lIns="0" tIns="0" rIns="0" bIns="0" rtlCol="0" anchor="ctr" anchorCtr="0">
            <a:spAutoFit/>
          </a:bodyPr>
          <a:lstStyle/>
          <a:p>
            <a:pPr algn="ctr">
              <a:defRPr/>
            </a:pPr>
            <a:r>
              <a:rPr lang="en-GB" altLang="en-US" sz="1600" dirty="0"/>
              <a:t>4</a:t>
            </a:r>
          </a:p>
        </p:txBody>
      </p:sp>
      <p:sp>
        <p:nvSpPr>
          <p:cNvPr id="18" name="TextBox 17">
            <a:extLst>
              <a:ext uri="{FF2B5EF4-FFF2-40B4-BE49-F238E27FC236}">
                <a16:creationId xmlns:a16="http://schemas.microsoft.com/office/drawing/2014/main" id="{05015FDB-4D5C-2A4F-ADE3-16D8EFA3F819}"/>
              </a:ext>
            </a:extLst>
          </p:cNvPr>
          <p:cNvSpPr txBox="1"/>
          <p:nvPr/>
        </p:nvSpPr>
        <p:spPr>
          <a:xfrm>
            <a:off x="7685617" y="3875576"/>
            <a:ext cx="347035" cy="246221"/>
          </a:xfrm>
          <a:prstGeom prst="rect">
            <a:avLst/>
          </a:prstGeom>
          <a:noFill/>
        </p:spPr>
        <p:txBody>
          <a:bodyPr wrap="square" lIns="0" tIns="0" rIns="0" bIns="0" rtlCol="0" anchor="ctr" anchorCtr="0">
            <a:spAutoFit/>
          </a:bodyPr>
          <a:lstStyle/>
          <a:p>
            <a:pPr algn="ctr">
              <a:defRPr/>
            </a:pPr>
            <a:r>
              <a:rPr lang="en-GB" altLang="en-US" sz="1600" dirty="0"/>
              <a:t>5</a:t>
            </a:r>
          </a:p>
        </p:txBody>
      </p:sp>
      <p:sp>
        <p:nvSpPr>
          <p:cNvPr id="19" name="TextBox 18">
            <a:extLst>
              <a:ext uri="{FF2B5EF4-FFF2-40B4-BE49-F238E27FC236}">
                <a16:creationId xmlns:a16="http://schemas.microsoft.com/office/drawing/2014/main" id="{19E8BCF9-BA69-1D4A-B4D2-BE9770898135}"/>
              </a:ext>
            </a:extLst>
          </p:cNvPr>
          <p:cNvSpPr txBox="1"/>
          <p:nvPr/>
        </p:nvSpPr>
        <p:spPr>
          <a:xfrm>
            <a:off x="8146820" y="3875576"/>
            <a:ext cx="347035" cy="246221"/>
          </a:xfrm>
          <a:prstGeom prst="rect">
            <a:avLst/>
          </a:prstGeom>
          <a:noFill/>
        </p:spPr>
        <p:txBody>
          <a:bodyPr wrap="square" lIns="0" tIns="0" rIns="0" bIns="0" rtlCol="0" anchor="ctr" anchorCtr="0">
            <a:spAutoFit/>
          </a:bodyPr>
          <a:lstStyle/>
          <a:p>
            <a:pPr algn="ctr">
              <a:defRPr/>
            </a:pPr>
            <a:r>
              <a:rPr lang="en-GB" altLang="en-US" sz="1600" dirty="0"/>
              <a:t>6</a:t>
            </a:r>
          </a:p>
        </p:txBody>
      </p:sp>
      <p:sp>
        <p:nvSpPr>
          <p:cNvPr id="24" name="TextBox 23">
            <a:extLst>
              <a:ext uri="{FF2B5EF4-FFF2-40B4-BE49-F238E27FC236}">
                <a16:creationId xmlns:a16="http://schemas.microsoft.com/office/drawing/2014/main" id="{770E5BA3-D3D5-824E-9075-31A729AB336E}"/>
              </a:ext>
            </a:extLst>
          </p:cNvPr>
          <p:cNvSpPr txBox="1"/>
          <p:nvPr/>
        </p:nvSpPr>
        <p:spPr>
          <a:xfrm>
            <a:off x="5042286" y="3708392"/>
            <a:ext cx="398895" cy="246221"/>
          </a:xfrm>
          <a:prstGeom prst="rect">
            <a:avLst/>
          </a:prstGeom>
          <a:noFill/>
        </p:spPr>
        <p:txBody>
          <a:bodyPr wrap="square" lIns="0" tIns="0" rIns="0" bIns="0" rtlCol="0" anchor="ctr" anchorCtr="0">
            <a:spAutoFit/>
          </a:bodyPr>
          <a:lstStyle/>
          <a:p>
            <a:pPr algn="r">
              <a:defRPr/>
            </a:pPr>
            <a:r>
              <a:rPr lang="en-GB" altLang="en-US" sz="1600" dirty="0"/>
              <a:t>0</a:t>
            </a:r>
          </a:p>
        </p:txBody>
      </p:sp>
      <p:sp>
        <p:nvSpPr>
          <p:cNvPr id="25" name="TextBox 24">
            <a:extLst>
              <a:ext uri="{FF2B5EF4-FFF2-40B4-BE49-F238E27FC236}">
                <a16:creationId xmlns:a16="http://schemas.microsoft.com/office/drawing/2014/main" id="{E1FEA400-3B93-304A-9659-99722E920389}"/>
              </a:ext>
            </a:extLst>
          </p:cNvPr>
          <p:cNvSpPr txBox="1"/>
          <p:nvPr/>
        </p:nvSpPr>
        <p:spPr>
          <a:xfrm>
            <a:off x="5042286" y="3056273"/>
            <a:ext cx="398895" cy="246221"/>
          </a:xfrm>
          <a:prstGeom prst="rect">
            <a:avLst/>
          </a:prstGeom>
          <a:noFill/>
        </p:spPr>
        <p:txBody>
          <a:bodyPr wrap="square" lIns="0" tIns="0" rIns="0" bIns="0" rtlCol="0" anchor="ctr" anchorCtr="0">
            <a:spAutoFit/>
          </a:bodyPr>
          <a:lstStyle/>
          <a:p>
            <a:pPr algn="r">
              <a:defRPr/>
            </a:pPr>
            <a:r>
              <a:rPr lang="en-GB" altLang="en-US" sz="1600" dirty="0"/>
              <a:t>10</a:t>
            </a:r>
          </a:p>
        </p:txBody>
      </p:sp>
      <p:sp>
        <p:nvSpPr>
          <p:cNvPr id="26" name="TextBox 25">
            <a:extLst>
              <a:ext uri="{FF2B5EF4-FFF2-40B4-BE49-F238E27FC236}">
                <a16:creationId xmlns:a16="http://schemas.microsoft.com/office/drawing/2014/main" id="{A55B945D-20FD-A947-9F62-43A56955025A}"/>
              </a:ext>
            </a:extLst>
          </p:cNvPr>
          <p:cNvSpPr txBox="1"/>
          <p:nvPr/>
        </p:nvSpPr>
        <p:spPr>
          <a:xfrm>
            <a:off x="5042286" y="2400345"/>
            <a:ext cx="398895" cy="246221"/>
          </a:xfrm>
          <a:prstGeom prst="rect">
            <a:avLst/>
          </a:prstGeom>
          <a:noFill/>
        </p:spPr>
        <p:txBody>
          <a:bodyPr wrap="square" lIns="0" tIns="0" rIns="0" bIns="0" rtlCol="0" anchor="ctr" anchorCtr="0">
            <a:spAutoFit/>
          </a:bodyPr>
          <a:lstStyle/>
          <a:p>
            <a:pPr algn="r">
              <a:defRPr/>
            </a:pPr>
            <a:r>
              <a:rPr lang="en-GB" altLang="en-US" sz="1600" dirty="0"/>
              <a:t>20</a:t>
            </a:r>
          </a:p>
        </p:txBody>
      </p:sp>
      <p:sp>
        <p:nvSpPr>
          <p:cNvPr id="27" name="TextBox 26">
            <a:extLst>
              <a:ext uri="{FF2B5EF4-FFF2-40B4-BE49-F238E27FC236}">
                <a16:creationId xmlns:a16="http://schemas.microsoft.com/office/drawing/2014/main" id="{00CCB209-0ED4-754A-BACA-2E3834CFE45B}"/>
              </a:ext>
            </a:extLst>
          </p:cNvPr>
          <p:cNvSpPr txBox="1"/>
          <p:nvPr/>
        </p:nvSpPr>
        <p:spPr>
          <a:xfrm>
            <a:off x="5042286" y="1744416"/>
            <a:ext cx="398895" cy="246221"/>
          </a:xfrm>
          <a:prstGeom prst="rect">
            <a:avLst/>
          </a:prstGeom>
          <a:noFill/>
        </p:spPr>
        <p:txBody>
          <a:bodyPr wrap="square" lIns="0" tIns="0" rIns="0" bIns="0" rtlCol="0" anchor="ctr" anchorCtr="0">
            <a:spAutoFit/>
          </a:bodyPr>
          <a:lstStyle/>
          <a:p>
            <a:pPr algn="r">
              <a:defRPr/>
            </a:pPr>
            <a:r>
              <a:rPr lang="en-GB" altLang="en-US" sz="1600" dirty="0"/>
              <a:t>30</a:t>
            </a:r>
          </a:p>
        </p:txBody>
      </p:sp>
      <p:sp>
        <p:nvSpPr>
          <p:cNvPr id="28" name="TextBox 27">
            <a:extLst>
              <a:ext uri="{FF2B5EF4-FFF2-40B4-BE49-F238E27FC236}">
                <a16:creationId xmlns:a16="http://schemas.microsoft.com/office/drawing/2014/main" id="{5CA66CBD-0AC9-8848-B9FD-C64B28B15700}"/>
              </a:ext>
            </a:extLst>
          </p:cNvPr>
          <p:cNvSpPr txBox="1"/>
          <p:nvPr/>
        </p:nvSpPr>
        <p:spPr>
          <a:xfrm>
            <a:off x="5042286" y="1088487"/>
            <a:ext cx="398895" cy="246221"/>
          </a:xfrm>
          <a:prstGeom prst="rect">
            <a:avLst/>
          </a:prstGeom>
          <a:noFill/>
        </p:spPr>
        <p:txBody>
          <a:bodyPr wrap="square" lIns="0" tIns="0" rIns="0" bIns="0" rtlCol="0" anchor="ctr" anchorCtr="0">
            <a:spAutoFit/>
          </a:bodyPr>
          <a:lstStyle/>
          <a:p>
            <a:pPr algn="r">
              <a:defRPr/>
            </a:pPr>
            <a:r>
              <a:rPr lang="en-GB" altLang="en-US" sz="1600" dirty="0"/>
              <a:t>40</a:t>
            </a:r>
          </a:p>
        </p:txBody>
      </p:sp>
      <p:cxnSp>
        <p:nvCxnSpPr>
          <p:cNvPr id="9" name="Straight Connector 8">
            <a:extLst>
              <a:ext uri="{FF2B5EF4-FFF2-40B4-BE49-F238E27FC236}">
                <a16:creationId xmlns:a16="http://schemas.microsoft.com/office/drawing/2014/main" id="{E84FD576-EEED-0E4C-BB8F-5523C5819A88}"/>
              </a:ext>
            </a:extLst>
          </p:cNvPr>
          <p:cNvCxnSpPr>
            <a:cxnSpLocks/>
          </p:cNvCxnSpPr>
          <p:nvPr/>
        </p:nvCxnSpPr>
        <p:spPr>
          <a:xfrm flipV="1">
            <a:off x="5512676" y="2860972"/>
            <a:ext cx="693014" cy="978558"/>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0F6BFE-F098-8E45-B814-1B9AD8CCFB42}"/>
              </a:ext>
            </a:extLst>
          </p:cNvPr>
          <p:cNvCxnSpPr>
            <a:cxnSpLocks/>
          </p:cNvCxnSpPr>
          <p:nvPr/>
        </p:nvCxnSpPr>
        <p:spPr>
          <a:xfrm>
            <a:off x="6212423" y="2860972"/>
            <a:ext cx="215093" cy="0"/>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56D1D5FE-E783-5C4F-9233-F22EF37A952C}"/>
              </a:ext>
            </a:extLst>
          </p:cNvPr>
          <p:cNvSpPr txBox="1"/>
          <p:nvPr/>
        </p:nvSpPr>
        <p:spPr>
          <a:xfrm>
            <a:off x="8608028" y="3875576"/>
            <a:ext cx="347035" cy="246221"/>
          </a:xfrm>
          <a:prstGeom prst="rect">
            <a:avLst/>
          </a:prstGeom>
          <a:noFill/>
        </p:spPr>
        <p:txBody>
          <a:bodyPr wrap="square" lIns="0" tIns="0" rIns="0" bIns="0" rtlCol="0" anchor="ctr" anchorCtr="0">
            <a:spAutoFit/>
          </a:bodyPr>
          <a:lstStyle/>
          <a:p>
            <a:pPr algn="ctr">
              <a:defRPr/>
            </a:pPr>
            <a:r>
              <a:rPr lang="en-GB" altLang="en-US" sz="1600" dirty="0"/>
              <a:t>7</a:t>
            </a:r>
          </a:p>
        </p:txBody>
      </p:sp>
      <p:cxnSp>
        <p:nvCxnSpPr>
          <p:cNvPr id="114" name="Straight Connector 113">
            <a:extLst>
              <a:ext uri="{FF2B5EF4-FFF2-40B4-BE49-F238E27FC236}">
                <a16:creationId xmlns:a16="http://schemas.microsoft.com/office/drawing/2014/main" id="{D4544E3B-4B6C-0342-9B1B-F68EBC248BC9}"/>
              </a:ext>
            </a:extLst>
          </p:cNvPr>
          <p:cNvCxnSpPr>
            <a:cxnSpLocks/>
          </p:cNvCxnSpPr>
          <p:nvPr/>
        </p:nvCxnSpPr>
        <p:spPr>
          <a:xfrm>
            <a:off x="6900820" y="1550504"/>
            <a:ext cx="458437" cy="1"/>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B1FA164-BC5B-3D4A-9428-C21FDA92534C}"/>
              </a:ext>
            </a:extLst>
          </p:cNvPr>
          <p:cNvCxnSpPr>
            <a:cxnSpLocks/>
          </p:cNvCxnSpPr>
          <p:nvPr/>
        </p:nvCxnSpPr>
        <p:spPr>
          <a:xfrm>
            <a:off x="7359257" y="1550504"/>
            <a:ext cx="1156489" cy="2289026"/>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46C4101-4B09-AF4E-BB74-1A807E6C0A8A}"/>
              </a:ext>
            </a:extLst>
          </p:cNvPr>
          <p:cNvCxnSpPr>
            <a:cxnSpLocks/>
          </p:cNvCxnSpPr>
          <p:nvPr/>
        </p:nvCxnSpPr>
        <p:spPr>
          <a:xfrm flipV="1">
            <a:off x="6431131" y="1550504"/>
            <a:ext cx="469689" cy="1305805"/>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14A813FE-9A94-B53F-B35F-7DFC6C105EC6}"/>
              </a:ext>
            </a:extLst>
          </p:cNvPr>
          <p:cNvSpPr txBox="1"/>
          <p:nvPr/>
        </p:nvSpPr>
        <p:spPr>
          <a:xfrm>
            <a:off x="692510" y="1612849"/>
            <a:ext cx="2715715" cy="2893100"/>
          </a:xfrm>
          <a:prstGeom prst="rect">
            <a:avLst/>
          </a:prstGeom>
          <a:noFill/>
        </p:spPr>
        <p:txBody>
          <a:bodyPr wrap="square" rtlCol="0">
            <a:spAutoFit/>
          </a:bodyPr>
          <a:lstStyle/>
          <a:p>
            <a:pPr marL="342900" indent="-342900">
              <a:buAutoNum type="alphaLcParenR"/>
            </a:pPr>
            <a:r>
              <a:rPr lang="en-US" sz="1400" b="1" dirty="0"/>
              <a:t>How long was the cyclist’s journey in total?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When did the cyclist have a break and for how long?</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Which part was quicker, to the café or back home? How can you tell? </a:t>
            </a:r>
          </a:p>
          <a:p>
            <a:pPr marL="342900" indent="-342900">
              <a:buAutoNum type="alphaLcParenR"/>
            </a:pPr>
            <a:endParaRPr lang="en-US" sz="1400" b="1" dirty="0"/>
          </a:p>
          <a:p>
            <a:pPr marL="342900" indent="-342900">
              <a:buAutoNum type="alphaLcParenR"/>
            </a:pPr>
            <a:endParaRPr lang="en-AU" sz="1400" b="1" dirty="0"/>
          </a:p>
        </p:txBody>
      </p:sp>
    </p:spTree>
    <p:extLst>
      <p:ext uri="{BB962C8B-B14F-4D97-AF65-F5344CB8AC3E}">
        <p14:creationId xmlns:p14="http://schemas.microsoft.com/office/powerpoint/2010/main" val="2912162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 name="TextBox 75">
            <a:extLst>
              <a:ext uri="{FF2B5EF4-FFF2-40B4-BE49-F238E27FC236}">
                <a16:creationId xmlns:a16="http://schemas.microsoft.com/office/drawing/2014/main" id="{E972EA4E-F219-D24B-B41D-9ED89149BD47}"/>
              </a:ext>
            </a:extLst>
          </p:cNvPr>
          <p:cNvSpPr txBox="1"/>
          <p:nvPr/>
        </p:nvSpPr>
        <p:spPr>
          <a:xfrm>
            <a:off x="39060" y="954523"/>
            <a:ext cx="513302" cy="246221"/>
          </a:xfrm>
          <a:prstGeom prst="rect">
            <a:avLst/>
          </a:prstGeom>
          <a:noFill/>
        </p:spPr>
        <p:txBody>
          <a:bodyPr wrap="square" lIns="36000" tIns="0" rIns="0" bIns="0" rtlCol="0">
            <a:spAutoFit/>
          </a:bodyPr>
          <a:lstStyle/>
          <a:p>
            <a:r>
              <a:rPr lang="en-GB" sz="1600" b="1" dirty="0"/>
              <a:t>Q2</a:t>
            </a:r>
          </a:p>
        </p:txBody>
      </p:sp>
      <p:sp>
        <p:nvSpPr>
          <p:cNvPr id="77" name="TextBox 76">
            <a:extLst>
              <a:ext uri="{FF2B5EF4-FFF2-40B4-BE49-F238E27FC236}">
                <a16:creationId xmlns:a16="http://schemas.microsoft.com/office/drawing/2014/main" id="{1A948131-C908-7740-9A2E-AEB74ACC7E64}"/>
              </a:ext>
            </a:extLst>
          </p:cNvPr>
          <p:cNvSpPr txBox="1"/>
          <p:nvPr/>
        </p:nvSpPr>
        <p:spPr>
          <a:xfrm>
            <a:off x="440667" y="952519"/>
            <a:ext cx="4963811" cy="492443"/>
          </a:xfrm>
          <a:prstGeom prst="rect">
            <a:avLst/>
          </a:prstGeom>
          <a:noFill/>
        </p:spPr>
        <p:txBody>
          <a:bodyPr wrap="square" lIns="36000" tIns="0" rIns="0" bIns="0" rtlCol="0" anchor="t">
            <a:spAutoFit/>
          </a:bodyPr>
          <a:lstStyle/>
          <a:p>
            <a:pPr>
              <a:defRPr/>
            </a:pPr>
            <a:r>
              <a:rPr lang="en-GB" altLang="en-US" sz="1600" dirty="0"/>
              <a:t>Callum cycles from his home to the supermarket and back.</a:t>
            </a:r>
          </a:p>
          <a:p>
            <a:pPr>
              <a:defRPr/>
            </a:pPr>
            <a:r>
              <a:rPr lang="en-GB" altLang="en-US" sz="1600" dirty="0"/>
              <a:t>The following distance-time graph describes his journey.</a:t>
            </a:r>
          </a:p>
        </p:txBody>
      </p:sp>
      <p:sp>
        <p:nvSpPr>
          <p:cNvPr id="78" name="Rectangle 77">
            <a:extLst>
              <a:ext uri="{FF2B5EF4-FFF2-40B4-BE49-F238E27FC236}">
                <a16:creationId xmlns:a16="http://schemas.microsoft.com/office/drawing/2014/main" id="{3A100F80-352F-C74D-825C-8DBE01CB7184}"/>
              </a:ext>
            </a:extLst>
          </p:cNvPr>
          <p:cNvSpPr/>
          <p:nvPr/>
        </p:nvSpPr>
        <p:spPr>
          <a:xfrm rot="16200000">
            <a:off x="-127098" y="1451619"/>
            <a:ext cx="640770"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aphicFrame>
        <p:nvGraphicFramePr>
          <p:cNvPr id="3" name="Table 2">
            <a:extLst>
              <a:ext uri="{FF2B5EF4-FFF2-40B4-BE49-F238E27FC236}">
                <a16:creationId xmlns:a16="http://schemas.microsoft.com/office/drawing/2014/main" id="{C0BD70A4-70E0-0447-BB1E-3C1408DAEC6A}"/>
              </a:ext>
            </a:extLst>
          </p:cNvPr>
          <p:cNvGraphicFramePr>
            <a:graphicFrameLocks noGrp="1"/>
          </p:cNvGraphicFramePr>
          <p:nvPr>
            <p:extLst>
              <p:ext uri="{D42A27DB-BD31-4B8C-83A1-F6EECF244321}">
                <p14:modId xmlns:p14="http://schemas.microsoft.com/office/powerpoint/2010/main" val="1484680683"/>
              </p:ext>
            </p:extLst>
          </p:nvPr>
        </p:nvGraphicFramePr>
        <p:xfrm>
          <a:off x="5283376" y="1574707"/>
          <a:ext cx="3500208" cy="2480860"/>
        </p:xfrm>
        <a:graphic>
          <a:graphicData uri="http://schemas.openxmlformats.org/drawingml/2006/table">
            <a:tbl>
              <a:tblPr firstRow="1" bandRow="1">
                <a:tableStyleId>{5C22544A-7EE6-4342-B048-85BDC9FD1C3A}</a:tableStyleId>
              </a:tblPr>
              <a:tblGrid>
                <a:gridCol w="145842">
                  <a:extLst>
                    <a:ext uri="{9D8B030D-6E8A-4147-A177-3AD203B41FA5}">
                      <a16:colId xmlns:a16="http://schemas.microsoft.com/office/drawing/2014/main" val="1270148755"/>
                    </a:ext>
                  </a:extLst>
                </a:gridCol>
                <a:gridCol w="145842">
                  <a:extLst>
                    <a:ext uri="{9D8B030D-6E8A-4147-A177-3AD203B41FA5}">
                      <a16:colId xmlns:a16="http://schemas.microsoft.com/office/drawing/2014/main" val="3783459499"/>
                    </a:ext>
                  </a:extLst>
                </a:gridCol>
                <a:gridCol w="145842">
                  <a:extLst>
                    <a:ext uri="{9D8B030D-6E8A-4147-A177-3AD203B41FA5}">
                      <a16:colId xmlns:a16="http://schemas.microsoft.com/office/drawing/2014/main" val="4128696717"/>
                    </a:ext>
                  </a:extLst>
                </a:gridCol>
                <a:gridCol w="145842">
                  <a:extLst>
                    <a:ext uri="{9D8B030D-6E8A-4147-A177-3AD203B41FA5}">
                      <a16:colId xmlns:a16="http://schemas.microsoft.com/office/drawing/2014/main" val="3307348456"/>
                    </a:ext>
                  </a:extLst>
                </a:gridCol>
                <a:gridCol w="145842">
                  <a:extLst>
                    <a:ext uri="{9D8B030D-6E8A-4147-A177-3AD203B41FA5}">
                      <a16:colId xmlns:a16="http://schemas.microsoft.com/office/drawing/2014/main" val="1156892432"/>
                    </a:ext>
                  </a:extLst>
                </a:gridCol>
                <a:gridCol w="145842">
                  <a:extLst>
                    <a:ext uri="{9D8B030D-6E8A-4147-A177-3AD203B41FA5}">
                      <a16:colId xmlns:a16="http://schemas.microsoft.com/office/drawing/2014/main" val="4201249390"/>
                    </a:ext>
                  </a:extLst>
                </a:gridCol>
                <a:gridCol w="145842">
                  <a:extLst>
                    <a:ext uri="{9D8B030D-6E8A-4147-A177-3AD203B41FA5}">
                      <a16:colId xmlns:a16="http://schemas.microsoft.com/office/drawing/2014/main" val="2751314097"/>
                    </a:ext>
                  </a:extLst>
                </a:gridCol>
                <a:gridCol w="145842">
                  <a:extLst>
                    <a:ext uri="{9D8B030D-6E8A-4147-A177-3AD203B41FA5}">
                      <a16:colId xmlns:a16="http://schemas.microsoft.com/office/drawing/2014/main" val="3184397963"/>
                    </a:ext>
                  </a:extLst>
                </a:gridCol>
                <a:gridCol w="145842">
                  <a:extLst>
                    <a:ext uri="{9D8B030D-6E8A-4147-A177-3AD203B41FA5}">
                      <a16:colId xmlns:a16="http://schemas.microsoft.com/office/drawing/2014/main" val="1043988533"/>
                    </a:ext>
                  </a:extLst>
                </a:gridCol>
                <a:gridCol w="145842">
                  <a:extLst>
                    <a:ext uri="{9D8B030D-6E8A-4147-A177-3AD203B41FA5}">
                      <a16:colId xmlns:a16="http://schemas.microsoft.com/office/drawing/2014/main" val="3253339136"/>
                    </a:ext>
                  </a:extLst>
                </a:gridCol>
                <a:gridCol w="145842">
                  <a:extLst>
                    <a:ext uri="{9D8B030D-6E8A-4147-A177-3AD203B41FA5}">
                      <a16:colId xmlns:a16="http://schemas.microsoft.com/office/drawing/2014/main" val="3902358949"/>
                    </a:ext>
                  </a:extLst>
                </a:gridCol>
                <a:gridCol w="145842">
                  <a:extLst>
                    <a:ext uri="{9D8B030D-6E8A-4147-A177-3AD203B41FA5}">
                      <a16:colId xmlns:a16="http://schemas.microsoft.com/office/drawing/2014/main" val="2321979432"/>
                    </a:ext>
                  </a:extLst>
                </a:gridCol>
                <a:gridCol w="145842">
                  <a:extLst>
                    <a:ext uri="{9D8B030D-6E8A-4147-A177-3AD203B41FA5}">
                      <a16:colId xmlns:a16="http://schemas.microsoft.com/office/drawing/2014/main" val="1020774701"/>
                    </a:ext>
                  </a:extLst>
                </a:gridCol>
                <a:gridCol w="145842">
                  <a:extLst>
                    <a:ext uri="{9D8B030D-6E8A-4147-A177-3AD203B41FA5}">
                      <a16:colId xmlns:a16="http://schemas.microsoft.com/office/drawing/2014/main" val="2170654072"/>
                    </a:ext>
                  </a:extLst>
                </a:gridCol>
                <a:gridCol w="145842">
                  <a:extLst>
                    <a:ext uri="{9D8B030D-6E8A-4147-A177-3AD203B41FA5}">
                      <a16:colId xmlns:a16="http://schemas.microsoft.com/office/drawing/2014/main" val="286840904"/>
                    </a:ext>
                  </a:extLst>
                </a:gridCol>
                <a:gridCol w="145842">
                  <a:extLst>
                    <a:ext uri="{9D8B030D-6E8A-4147-A177-3AD203B41FA5}">
                      <a16:colId xmlns:a16="http://schemas.microsoft.com/office/drawing/2014/main" val="2181014591"/>
                    </a:ext>
                  </a:extLst>
                </a:gridCol>
                <a:gridCol w="145842">
                  <a:extLst>
                    <a:ext uri="{9D8B030D-6E8A-4147-A177-3AD203B41FA5}">
                      <a16:colId xmlns:a16="http://schemas.microsoft.com/office/drawing/2014/main" val="742789519"/>
                    </a:ext>
                  </a:extLst>
                </a:gridCol>
                <a:gridCol w="145842">
                  <a:extLst>
                    <a:ext uri="{9D8B030D-6E8A-4147-A177-3AD203B41FA5}">
                      <a16:colId xmlns:a16="http://schemas.microsoft.com/office/drawing/2014/main" val="2513794939"/>
                    </a:ext>
                  </a:extLst>
                </a:gridCol>
                <a:gridCol w="145842">
                  <a:extLst>
                    <a:ext uri="{9D8B030D-6E8A-4147-A177-3AD203B41FA5}">
                      <a16:colId xmlns:a16="http://schemas.microsoft.com/office/drawing/2014/main" val="1772977806"/>
                    </a:ext>
                  </a:extLst>
                </a:gridCol>
                <a:gridCol w="145842">
                  <a:extLst>
                    <a:ext uri="{9D8B030D-6E8A-4147-A177-3AD203B41FA5}">
                      <a16:colId xmlns:a16="http://schemas.microsoft.com/office/drawing/2014/main" val="692260600"/>
                    </a:ext>
                  </a:extLst>
                </a:gridCol>
                <a:gridCol w="145842">
                  <a:extLst>
                    <a:ext uri="{9D8B030D-6E8A-4147-A177-3AD203B41FA5}">
                      <a16:colId xmlns:a16="http://schemas.microsoft.com/office/drawing/2014/main" val="576935711"/>
                    </a:ext>
                  </a:extLst>
                </a:gridCol>
                <a:gridCol w="145842">
                  <a:extLst>
                    <a:ext uri="{9D8B030D-6E8A-4147-A177-3AD203B41FA5}">
                      <a16:colId xmlns:a16="http://schemas.microsoft.com/office/drawing/2014/main" val="1513052785"/>
                    </a:ext>
                  </a:extLst>
                </a:gridCol>
                <a:gridCol w="145842">
                  <a:extLst>
                    <a:ext uri="{9D8B030D-6E8A-4147-A177-3AD203B41FA5}">
                      <a16:colId xmlns:a16="http://schemas.microsoft.com/office/drawing/2014/main" val="1532687260"/>
                    </a:ext>
                  </a:extLst>
                </a:gridCol>
                <a:gridCol w="145842">
                  <a:extLst>
                    <a:ext uri="{9D8B030D-6E8A-4147-A177-3AD203B41FA5}">
                      <a16:colId xmlns:a16="http://schemas.microsoft.com/office/drawing/2014/main" val="4194632636"/>
                    </a:ext>
                  </a:extLst>
                </a:gridCol>
              </a:tblGrid>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823678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8025147"/>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0292656"/>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1364698"/>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659521"/>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876547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7001403"/>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77055"/>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3732328"/>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187724"/>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956313"/>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0136527"/>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944031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499468"/>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2829116"/>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85216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187195"/>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9531262"/>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593991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57486"/>
                  </a:ext>
                </a:extLst>
              </a:tr>
            </a:tbl>
          </a:graphicData>
        </a:graphic>
      </p:graphicFrame>
      <p:sp>
        <p:nvSpPr>
          <p:cNvPr id="21" name="TextBox 20">
            <a:extLst>
              <a:ext uri="{FF2B5EF4-FFF2-40B4-BE49-F238E27FC236}">
                <a16:creationId xmlns:a16="http://schemas.microsoft.com/office/drawing/2014/main" id="{922F6687-72B1-E141-8002-E9E312BD7B6B}"/>
              </a:ext>
            </a:extLst>
          </p:cNvPr>
          <p:cNvSpPr txBox="1"/>
          <p:nvPr/>
        </p:nvSpPr>
        <p:spPr>
          <a:xfrm rot="16200000">
            <a:off x="3665074" y="2707415"/>
            <a:ext cx="2568166" cy="215444"/>
          </a:xfrm>
          <a:prstGeom prst="rect">
            <a:avLst/>
          </a:prstGeom>
          <a:noFill/>
        </p:spPr>
        <p:txBody>
          <a:bodyPr wrap="square" lIns="0" tIns="0" rIns="0" bIns="0" rtlCol="0" anchor="ctr" anchorCtr="0">
            <a:spAutoFit/>
          </a:bodyPr>
          <a:lstStyle/>
          <a:p>
            <a:pPr algn="ctr">
              <a:defRPr/>
            </a:pPr>
            <a:r>
              <a:rPr lang="en-GB" altLang="en-US" sz="1400" b="1" dirty="0"/>
              <a:t>Distance from home </a:t>
            </a:r>
            <a:r>
              <a:rPr lang="en-GB" altLang="en-US" sz="1400" dirty="0"/>
              <a:t>(miles)</a:t>
            </a:r>
          </a:p>
        </p:txBody>
      </p:sp>
      <p:sp>
        <p:nvSpPr>
          <p:cNvPr id="22" name="TextBox 21">
            <a:extLst>
              <a:ext uri="{FF2B5EF4-FFF2-40B4-BE49-F238E27FC236}">
                <a16:creationId xmlns:a16="http://schemas.microsoft.com/office/drawing/2014/main" id="{CECF8652-D9CF-4849-A4CF-677728B1BEA6}"/>
              </a:ext>
            </a:extLst>
          </p:cNvPr>
          <p:cNvSpPr txBox="1"/>
          <p:nvPr/>
        </p:nvSpPr>
        <p:spPr>
          <a:xfrm>
            <a:off x="6402716" y="4269419"/>
            <a:ext cx="1261529" cy="215444"/>
          </a:xfrm>
          <a:prstGeom prst="rect">
            <a:avLst/>
          </a:prstGeom>
          <a:noFill/>
        </p:spPr>
        <p:txBody>
          <a:bodyPr wrap="square" lIns="0" tIns="0" rIns="0" bIns="0" rtlCol="0" anchor="ctr" anchorCtr="0">
            <a:spAutoFit/>
          </a:bodyPr>
          <a:lstStyle/>
          <a:p>
            <a:pPr algn="ctr">
              <a:defRPr/>
            </a:pPr>
            <a:r>
              <a:rPr lang="en-GB" altLang="en-US" sz="1400" b="1" dirty="0"/>
              <a:t>Time</a:t>
            </a:r>
            <a:endParaRPr lang="en-GB" altLang="en-US" sz="1400" dirty="0"/>
          </a:p>
        </p:txBody>
      </p:sp>
      <p:sp>
        <p:nvSpPr>
          <p:cNvPr id="23" name="TextBox 22">
            <a:extLst>
              <a:ext uri="{FF2B5EF4-FFF2-40B4-BE49-F238E27FC236}">
                <a16:creationId xmlns:a16="http://schemas.microsoft.com/office/drawing/2014/main" id="{81F707CB-EC4D-2C4D-A7D3-AC08388C3E89}"/>
              </a:ext>
            </a:extLst>
          </p:cNvPr>
          <p:cNvSpPr txBox="1"/>
          <p:nvPr/>
        </p:nvSpPr>
        <p:spPr>
          <a:xfrm>
            <a:off x="4973281" y="4076759"/>
            <a:ext cx="614793" cy="215444"/>
          </a:xfrm>
          <a:prstGeom prst="rect">
            <a:avLst/>
          </a:prstGeom>
          <a:noFill/>
        </p:spPr>
        <p:txBody>
          <a:bodyPr wrap="square" lIns="0" tIns="0" rIns="0" bIns="0" rtlCol="0" anchor="ctr" anchorCtr="0">
            <a:spAutoFit/>
          </a:bodyPr>
          <a:lstStyle/>
          <a:p>
            <a:pPr algn="ctr">
              <a:defRPr/>
            </a:pPr>
            <a:r>
              <a:rPr lang="en-GB" altLang="en-US" sz="1400" dirty="0"/>
              <a:t>11:30</a:t>
            </a:r>
          </a:p>
        </p:txBody>
      </p:sp>
      <p:sp>
        <p:nvSpPr>
          <p:cNvPr id="25" name="TextBox 24">
            <a:extLst>
              <a:ext uri="{FF2B5EF4-FFF2-40B4-BE49-F238E27FC236}">
                <a16:creationId xmlns:a16="http://schemas.microsoft.com/office/drawing/2014/main" id="{3D645C31-3933-9945-A6E5-96BBB005877C}"/>
              </a:ext>
            </a:extLst>
          </p:cNvPr>
          <p:cNvSpPr txBox="1"/>
          <p:nvPr/>
        </p:nvSpPr>
        <p:spPr>
          <a:xfrm>
            <a:off x="4827242" y="1467032"/>
            <a:ext cx="398895" cy="215444"/>
          </a:xfrm>
          <a:prstGeom prst="rect">
            <a:avLst/>
          </a:prstGeom>
          <a:noFill/>
        </p:spPr>
        <p:txBody>
          <a:bodyPr wrap="square" lIns="0" tIns="0" rIns="0" bIns="0" rtlCol="0" anchor="ctr" anchorCtr="0">
            <a:spAutoFit/>
          </a:bodyPr>
          <a:lstStyle/>
          <a:p>
            <a:pPr algn="r">
              <a:defRPr/>
            </a:pPr>
            <a:r>
              <a:rPr lang="en-GB" altLang="en-US" sz="1400" dirty="0"/>
              <a:t>5</a:t>
            </a:r>
          </a:p>
        </p:txBody>
      </p:sp>
      <p:sp>
        <p:nvSpPr>
          <p:cNvPr id="26" name="TextBox 25">
            <a:extLst>
              <a:ext uri="{FF2B5EF4-FFF2-40B4-BE49-F238E27FC236}">
                <a16:creationId xmlns:a16="http://schemas.microsoft.com/office/drawing/2014/main" id="{7C1DD69F-B81B-6740-9C5B-744EF01AE5E2}"/>
              </a:ext>
            </a:extLst>
          </p:cNvPr>
          <p:cNvSpPr txBox="1"/>
          <p:nvPr/>
        </p:nvSpPr>
        <p:spPr>
          <a:xfrm>
            <a:off x="5848834" y="4076759"/>
            <a:ext cx="613800" cy="215444"/>
          </a:xfrm>
          <a:prstGeom prst="rect">
            <a:avLst/>
          </a:prstGeom>
          <a:noFill/>
        </p:spPr>
        <p:txBody>
          <a:bodyPr wrap="square" lIns="0" tIns="0" rIns="0" bIns="0" rtlCol="0" anchor="ctr" anchorCtr="0">
            <a:spAutoFit/>
          </a:bodyPr>
          <a:lstStyle/>
          <a:p>
            <a:pPr algn="ctr">
              <a:defRPr/>
            </a:pPr>
            <a:r>
              <a:rPr lang="en-GB" altLang="en-US" sz="1400" dirty="0"/>
              <a:t>12:00</a:t>
            </a:r>
          </a:p>
        </p:txBody>
      </p:sp>
      <p:sp>
        <p:nvSpPr>
          <p:cNvPr id="27" name="TextBox 26">
            <a:extLst>
              <a:ext uri="{FF2B5EF4-FFF2-40B4-BE49-F238E27FC236}">
                <a16:creationId xmlns:a16="http://schemas.microsoft.com/office/drawing/2014/main" id="{FAD59404-A2D5-2F4C-8C07-791D3486B8A7}"/>
              </a:ext>
            </a:extLst>
          </p:cNvPr>
          <p:cNvSpPr txBox="1"/>
          <p:nvPr/>
        </p:nvSpPr>
        <p:spPr>
          <a:xfrm>
            <a:off x="6723439" y="4076759"/>
            <a:ext cx="613800" cy="215444"/>
          </a:xfrm>
          <a:prstGeom prst="rect">
            <a:avLst/>
          </a:prstGeom>
          <a:noFill/>
        </p:spPr>
        <p:txBody>
          <a:bodyPr wrap="square" lIns="0" tIns="0" rIns="0" bIns="0" rtlCol="0" anchor="ctr" anchorCtr="0">
            <a:spAutoFit/>
          </a:bodyPr>
          <a:lstStyle/>
          <a:p>
            <a:pPr algn="ctr">
              <a:defRPr/>
            </a:pPr>
            <a:r>
              <a:rPr lang="en-GB" altLang="en-US" sz="1400" dirty="0"/>
              <a:t>12:30</a:t>
            </a:r>
          </a:p>
        </p:txBody>
      </p:sp>
      <p:sp>
        <p:nvSpPr>
          <p:cNvPr id="28" name="TextBox 27">
            <a:extLst>
              <a:ext uri="{FF2B5EF4-FFF2-40B4-BE49-F238E27FC236}">
                <a16:creationId xmlns:a16="http://schemas.microsoft.com/office/drawing/2014/main" id="{A568829B-2607-8F42-84E1-4D6FD6D1976B}"/>
              </a:ext>
            </a:extLst>
          </p:cNvPr>
          <p:cNvSpPr txBox="1"/>
          <p:nvPr/>
        </p:nvSpPr>
        <p:spPr>
          <a:xfrm>
            <a:off x="8472649" y="4076759"/>
            <a:ext cx="613800" cy="215444"/>
          </a:xfrm>
          <a:prstGeom prst="rect">
            <a:avLst/>
          </a:prstGeom>
          <a:noFill/>
        </p:spPr>
        <p:txBody>
          <a:bodyPr wrap="square" lIns="0" tIns="0" rIns="0" bIns="0" rtlCol="0" anchor="ctr" anchorCtr="0">
            <a:spAutoFit/>
          </a:bodyPr>
          <a:lstStyle/>
          <a:p>
            <a:pPr algn="ctr">
              <a:defRPr/>
            </a:pPr>
            <a:r>
              <a:rPr lang="en-GB" altLang="en-US" sz="1400" dirty="0"/>
              <a:t>13:30</a:t>
            </a:r>
          </a:p>
        </p:txBody>
      </p:sp>
      <p:sp>
        <p:nvSpPr>
          <p:cNvPr id="29" name="TextBox 28">
            <a:extLst>
              <a:ext uri="{FF2B5EF4-FFF2-40B4-BE49-F238E27FC236}">
                <a16:creationId xmlns:a16="http://schemas.microsoft.com/office/drawing/2014/main" id="{A3C92635-0533-AD4F-AB74-2490E31E9F53}"/>
              </a:ext>
            </a:extLst>
          </p:cNvPr>
          <p:cNvSpPr txBox="1"/>
          <p:nvPr/>
        </p:nvSpPr>
        <p:spPr>
          <a:xfrm>
            <a:off x="4827242" y="1963868"/>
            <a:ext cx="398895" cy="215444"/>
          </a:xfrm>
          <a:prstGeom prst="rect">
            <a:avLst/>
          </a:prstGeom>
          <a:noFill/>
        </p:spPr>
        <p:txBody>
          <a:bodyPr wrap="square" lIns="0" tIns="0" rIns="0" bIns="0" rtlCol="0" anchor="ctr" anchorCtr="0">
            <a:spAutoFit/>
          </a:bodyPr>
          <a:lstStyle/>
          <a:p>
            <a:pPr algn="r">
              <a:defRPr/>
            </a:pPr>
            <a:r>
              <a:rPr lang="en-GB" altLang="en-US" sz="1400" dirty="0"/>
              <a:t>4</a:t>
            </a:r>
          </a:p>
        </p:txBody>
      </p:sp>
      <p:sp>
        <p:nvSpPr>
          <p:cNvPr id="30" name="TextBox 29">
            <a:extLst>
              <a:ext uri="{FF2B5EF4-FFF2-40B4-BE49-F238E27FC236}">
                <a16:creationId xmlns:a16="http://schemas.microsoft.com/office/drawing/2014/main" id="{D5DF19DB-094C-A84B-AFF3-ADA845AD0461}"/>
              </a:ext>
            </a:extLst>
          </p:cNvPr>
          <p:cNvSpPr txBox="1"/>
          <p:nvPr/>
        </p:nvSpPr>
        <p:spPr>
          <a:xfrm>
            <a:off x="4827242" y="2957542"/>
            <a:ext cx="398895" cy="215444"/>
          </a:xfrm>
          <a:prstGeom prst="rect">
            <a:avLst/>
          </a:prstGeom>
          <a:noFill/>
        </p:spPr>
        <p:txBody>
          <a:bodyPr wrap="square" lIns="0" tIns="0" rIns="0" bIns="0" rtlCol="0" anchor="ctr" anchorCtr="0">
            <a:spAutoFit/>
          </a:bodyPr>
          <a:lstStyle/>
          <a:p>
            <a:pPr algn="r">
              <a:defRPr/>
            </a:pPr>
            <a:r>
              <a:rPr lang="en-GB" altLang="en-US" sz="1400" dirty="0"/>
              <a:t>2</a:t>
            </a:r>
          </a:p>
        </p:txBody>
      </p:sp>
      <p:sp>
        <p:nvSpPr>
          <p:cNvPr id="31" name="TextBox 30">
            <a:extLst>
              <a:ext uri="{FF2B5EF4-FFF2-40B4-BE49-F238E27FC236}">
                <a16:creationId xmlns:a16="http://schemas.microsoft.com/office/drawing/2014/main" id="{DBA25CF0-9B55-8346-9A5E-EE23CE303A00}"/>
              </a:ext>
            </a:extLst>
          </p:cNvPr>
          <p:cNvSpPr txBox="1"/>
          <p:nvPr/>
        </p:nvSpPr>
        <p:spPr>
          <a:xfrm>
            <a:off x="4827242" y="3454378"/>
            <a:ext cx="398895" cy="215444"/>
          </a:xfrm>
          <a:prstGeom prst="rect">
            <a:avLst/>
          </a:prstGeom>
          <a:noFill/>
        </p:spPr>
        <p:txBody>
          <a:bodyPr wrap="square" lIns="0" tIns="0" rIns="0" bIns="0" rtlCol="0" anchor="ctr" anchorCtr="0">
            <a:spAutoFit/>
          </a:bodyPr>
          <a:lstStyle/>
          <a:p>
            <a:pPr algn="r">
              <a:defRPr/>
            </a:pPr>
            <a:r>
              <a:rPr lang="en-GB" altLang="en-US" sz="1400" dirty="0"/>
              <a:t>1</a:t>
            </a:r>
          </a:p>
        </p:txBody>
      </p:sp>
      <p:sp>
        <p:nvSpPr>
          <p:cNvPr id="32" name="TextBox 31">
            <a:extLst>
              <a:ext uri="{FF2B5EF4-FFF2-40B4-BE49-F238E27FC236}">
                <a16:creationId xmlns:a16="http://schemas.microsoft.com/office/drawing/2014/main" id="{927422C0-0E80-D04A-B2B1-23282AE16EA0}"/>
              </a:ext>
            </a:extLst>
          </p:cNvPr>
          <p:cNvSpPr txBox="1"/>
          <p:nvPr/>
        </p:nvSpPr>
        <p:spPr>
          <a:xfrm>
            <a:off x="4827242" y="3935146"/>
            <a:ext cx="398895" cy="215444"/>
          </a:xfrm>
          <a:prstGeom prst="rect">
            <a:avLst/>
          </a:prstGeom>
          <a:noFill/>
        </p:spPr>
        <p:txBody>
          <a:bodyPr wrap="square" lIns="0" tIns="0" rIns="0" bIns="0" rtlCol="0" anchor="ctr" anchorCtr="0">
            <a:spAutoFit/>
          </a:bodyPr>
          <a:lstStyle/>
          <a:p>
            <a:pPr algn="r">
              <a:defRPr/>
            </a:pPr>
            <a:r>
              <a:rPr lang="en-GB" altLang="en-US" sz="1400" dirty="0"/>
              <a:t>0</a:t>
            </a:r>
          </a:p>
        </p:txBody>
      </p:sp>
      <p:cxnSp>
        <p:nvCxnSpPr>
          <p:cNvPr id="7" name="Straight Connector 6">
            <a:extLst>
              <a:ext uri="{FF2B5EF4-FFF2-40B4-BE49-F238E27FC236}">
                <a16:creationId xmlns:a16="http://schemas.microsoft.com/office/drawing/2014/main" id="{36CD34EA-F5FC-794C-A7F0-51CD7A094ADC}"/>
              </a:ext>
            </a:extLst>
          </p:cNvPr>
          <p:cNvCxnSpPr>
            <a:cxnSpLocks/>
          </p:cNvCxnSpPr>
          <p:nvPr/>
        </p:nvCxnSpPr>
        <p:spPr>
          <a:xfrm flipV="1">
            <a:off x="5574391" y="1823514"/>
            <a:ext cx="870278" cy="2220544"/>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E143F7D-1C2B-FC4F-B305-AA581B55981E}"/>
              </a:ext>
            </a:extLst>
          </p:cNvPr>
          <p:cNvSpPr txBox="1"/>
          <p:nvPr/>
        </p:nvSpPr>
        <p:spPr>
          <a:xfrm>
            <a:off x="4827242" y="2460705"/>
            <a:ext cx="398895" cy="215444"/>
          </a:xfrm>
          <a:prstGeom prst="rect">
            <a:avLst/>
          </a:prstGeom>
          <a:noFill/>
        </p:spPr>
        <p:txBody>
          <a:bodyPr wrap="square" lIns="0" tIns="0" rIns="0" bIns="0" rtlCol="0" anchor="ctr" anchorCtr="0">
            <a:spAutoFit/>
          </a:bodyPr>
          <a:lstStyle/>
          <a:p>
            <a:pPr algn="r">
              <a:defRPr/>
            </a:pPr>
            <a:r>
              <a:rPr lang="en-GB" altLang="en-US" sz="1400" dirty="0"/>
              <a:t>3</a:t>
            </a:r>
          </a:p>
        </p:txBody>
      </p:sp>
      <p:sp>
        <p:nvSpPr>
          <p:cNvPr id="85" name="TextBox 84">
            <a:extLst>
              <a:ext uri="{FF2B5EF4-FFF2-40B4-BE49-F238E27FC236}">
                <a16:creationId xmlns:a16="http://schemas.microsoft.com/office/drawing/2014/main" id="{D5ED6C82-00D2-444C-BC55-ED7126DA424E}"/>
              </a:ext>
            </a:extLst>
          </p:cNvPr>
          <p:cNvSpPr txBox="1"/>
          <p:nvPr/>
        </p:nvSpPr>
        <p:spPr>
          <a:xfrm>
            <a:off x="7598044" y="4076759"/>
            <a:ext cx="613800" cy="215444"/>
          </a:xfrm>
          <a:prstGeom prst="rect">
            <a:avLst/>
          </a:prstGeom>
          <a:noFill/>
        </p:spPr>
        <p:txBody>
          <a:bodyPr wrap="square" lIns="0" tIns="0" rIns="0" bIns="0" rtlCol="0" anchor="ctr" anchorCtr="0">
            <a:spAutoFit/>
          </a:bodyPr>
          <a:lstStyle/>
          <a:p>
            <a:pPr algn="ctr">
              <a:defRPr/>
            </a:pPr>
            <a:r>
              <a:rPr lang="en-GB" altLang="en-US" sz="1400" dirty="0"/>
              <a:t>13:00</a:t>
            </a:r>
          </a:p>
        </p:txBody>
      </p:sp>
      <p:cxnSp>
        <p:nvCxnSpPr>
          <p:cNvPr id="86" name="Straight Connector 85">
            <a:extLst>
              <a:ext uri="{FF2B5EF4-FFF2-40B4-BE49-F238E27FC236}">
                <a16:creationId xmlns:a16="http://schemas.microsoft.com/office/drawing/2014/main" id="{92D8972B-4F9D-4245-BEB1-629867881240}"/>
              </a:ext>
            </a:extLst>
          </p:cNvPr>
          <p:cNvCxnSpPr>
            <a:cxnSpLocks/>
          </p:cNvCxnSpPr>
          <p:nvPr/>
        </p:nvCxnSpPr>
        <p:spPr>
          <a:xfrm>
            <a:off x="6442738" y="1823514"/>
            <a:ext cx="1318032" cy="0"/>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12928DD-1EAC-EA4A-A672-E09BB80E0CAC}"/>
              </a:ext>
            </a:extLst>
          </p:cNvPr>
          <p:cNvCxnSpPr>
            <a:cxnSpLocks/>
          </p:cNvCxnSpPr>
          <p:nvPr/>
        </p:nvCxnSpPr>
        <p:spPr>
          <a:xfrm>
            <a:off x="7760770" y="1823514"/>
            <a:ext cx="729406" cy="2230502"/>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D1601CD-FF24-B155-8301-34951B60D2C1}"/>
              </a:ext>
            </a:extLst>
          </p:cNvPr>
          <p:cNvSpPr txBox="1"/>
          <p:nvPr/>
        </p:nvSpPr>
        <p:spPr>
          <a:xfrm>
            <a:off x="656203" y="1467032"/>
            <a:ext cx="2715715" cy="3108543"/>
          </a:xfrm>
          <a:prstGeom prst="rect">
            <a:avLst/>
          </a:prstGeom>
          <a:noFill/>
        </p:spPr>
        <p:txBody>
          <a:bodyPr wrap="square" rtlCol="0">
            <a:spAutoFit/>
          </a:bodyPr>
          <a:lstStyle/>
          <a:p>
            <a:pPr marL="342900" indent="-342900">
              <a:buAutoNum type="alphaLcParenR"/>
            </a:pPr>
            <a:r>
              <a:rPr lang="en-US" sz="1400" b="1" dirty="0"/>
              <a:t>What is the total distance Callum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After 15 minutes how far had he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After 45 minutes how far had the he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What happened between 12:15 and 12:45? </a:t>
            </a:r>
            <a:endParaRPr lang="en-AU" sz="1400" b="1" dirty="0"/>
          </a:p>
        </p:txBody>
      </p:sp>
      <p:cxnSp>
        <p:nvCxnSpPr>
          <p:cNvPr id="11" name="Straight Arrow Connector 10">
            <a:extLst>
              <a:ext uri="{FF2B5EF4-FFF2-40B4-BE49-F238E27FC236}">
                <a16:creationId xmlns:a16="http://schemas.microsoft.com/office/drawing/2014/main" id="{DD160619-8253-9B4A-BAE4-8C9F3BC177E5}"/>
              </a:ext>
            </a:extLst>
          </p:cNvPr>
          <p:cNvCxnSpPr/>
          <p:nvPr/>
        </p:nvCxnSpPr>
        <p:spPr>
          <a:xfrm flipH="1">
            <a:off x="6442738" y="1823514"/>
            <a:ext cx="19896" cy="21116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022085C-CADC-2C1B-ED48-F9E1B3D2C2B6}"/>
              </a:ext>
            </a:extLst>
          </p:cNvPr>
          <p:cNvCxnSpPr/>
          <p:nvPr/>
        </p:nvCxnSpPr>
        <p:spPr>
          <a:xfrm flipH="1">
            <a:off x="7740874" y="1808365"/>
            <a:ext cx="19896" cy="21116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1E382CCB-5E45-98B5-7464-B2DB2BCFFD4B}"/>
                  </a:ext>
                </a:extLst>
              </p14:cNvPr>
              <p14:cNvContentPartPr/>
              <p14:nvPr/>
            </p14:nvContentPartPr>
            <p14:xfrm>
              <a:off x="6168320" y="4034800"/>
              <a:ext cx="360" cy="360"/>
            </p14:xfrm>
          </p:contentPart>
        </mc:Choice>
        <mc:Fallback xmlns="">
          <p:pic>
            <p:nvPicPr>
              <p:cNvPr id="12" name="Ink 11">
                <a:extLst>
                  <a:ext uri="{FF2B5EF4-FFF2-40B4-BE49-F238E27FC236}">
                    <a16:creationId xmlns:a16="http://schemas.microsoft.com/office/drawing/2014/main" id="{1E382CCB-5E45-98B5-7464-B2DB2BCFFD4B}"/>
                  </a:ext>
                </a:extLst>
              </p:cNvPr>
              <p:cNvPicPr/>
              <p:nvPr/>
            </p:nvPicPr>
            <p:blipFill>
              <a:blip r:embed="rId4"/>
              <a:stretch>
                <a:fillRect/>
              </a:stretch>
            </p:blipFill>
            <p:spPr>
              <a:xfrm>
                <a:off x="6132320" y="39988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05F6AC14-1457-60F8-2849-5EEC51662BA8}"/>
                  </a:ext>
                </a:extLst>
              </p14:cNvPr>
              <p14:cNvContentPartPr/>
              <p14:nvPr/>
            </p14:nvContentPartPr>
            <p14:xfrm>
              <a:off x="5283080" y="4042000"/>
              <a:ext cx="360" cy="360"/>
            </p14:xfrm>
          </p:contentPart>
        </mc:Choice>
        <mc:Fallback xmlns="">
          <p:pic>
            <p:nvPicPr>
              <p:cNvPr id="13" name="Ink 12">
                <a:extLst>
                  <a:ext uri="{FF2B5EF4-FFF2-40B4-BE49-F238E27FC236}">
                    <a16:creationId xmlns:a16="http://schemas.microsoft.com/office/drawing/2014/main" id="{05F6AC14-1457-60F8-2849-5EEC51662BA8}"/>
                  </a:ext>
                </a:extLst>
              </p:cNvPr>
              <p:cNvPicPr/>
              <p:nvPr/>
            </p:nvPicPr>
            <p:blipFill>
              <a:blip r:embed="rId4"/>
              <a:stretch>
                <a:fillRect/>
              </a:stretch>
            </p:blipFill>
            <p:spPr>
              <a:xfrm>
                <a:off x="5247080" y="40060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A8740A7D-20AE-19C8-E328-DC76C55B3236}"/>
                  </a:ext>
                </a:extLst>
              </p14:cNvPr>
              <p14:cNvContentPartPr/>
              <p14:nvPr/>
            </p14:nvContentPartPr>
            <p14:xfrm>
              <a:off x="7024760" y="4042000"/>
              <a:ext cx="360" cy="360"/>
            </p14:xfrm>
          </p:contentPart>
        </mc:Choice>
        <mc:Fallback xmlns="">
          <p:pic>
            <p:nvPicPr>
              <p:cNvPr id="17" name="Ink 16">
                <a:extLst>
                  <a:ext uri="{FF2B5EF4-FFF2-40B4-BE49-F238E27FC236}">
                    <a16:creationId xmlns:a16="http://schemas.microsoft.com/office/drawing/2014/main" id="{A8740A7D-20AE-19C8-E328-DC76C55B3236}"/>
                  </a:ext>
                </a:extLst>
              </p:cNvPr>
              <p:cNvPicPr/>
              <p:nvPr/>
            </p:nvPicPr>
            <p:blipFill>
              <a:blip r:embed="rId4"/>
              <a:stretch>
                <a:fillRect/>
              </a:stretch>
            </p:blipFill>
            <p:spPr>
              <a:xfrm>
                <a:off x="6988760" y="40060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12CEA6E6-F7A6-FADA-CBAF-39F4F9A3839F}"/>
                  </a:ext>
                </a:extLst>
              </p14:cNvPr>
              <p14:cNvContentPartPr/>
              <p14:nvPr/>
            </p14:nvContentPartPr>
            <p14:xfrm>
              <a:off x="7895600" y="4042000"/>
              <a:ext cx="360" cy="360"/>
            </p14:xfrm>
          </p:contentPart>
        </mc:Choice>
        <mc:Fallback xmlns="">
          <p:pic>
            <p:nvPicPr>
              <p:cNvPr id="18" name="Ink 17">
                <a:extLst>
                  <a:ext uri="{FF2B5EF4-FFF2-40B4-BE49-F238E27FC236}">
                    <a16:creationId xmlns:a16="http://schemas.microsoft.com/office/drawing/2014/main" id="{12CEA6E6-F7A6-FADA-CBAF-39F4F9A3839F}"/>
                  </a:ext>
                </a:extLst>
              </p:cNvPr>
              <p:cNvPicPr/>
              <p:nvPr/>
            </p:nvPicPr>
            <p:blipFill>
              <a:blip r:embed="rId4"/>
              <a:stretch>
                <a:fillRect/>
              </a:stretch>
            </p:blipFill>
            <p:spPr>
              <a:xfrm>
                <a:off x="7859600" y="40060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58F06D15-9510-DB73-E892-E2BDCF94F710}"/>
                  </a:ext>
                </a:extLst>
              </p14:cNvPr>
              <p14:cNvContentPartPr/>
              <p14:nvPr/>
            </p14:nvContentPartPr>
            <p14:xfrm>
              <a:off x="8780840" y="4034800"/>
              <a:ext cx="360" cy="360"/>
            </p14:xfrm>
          </p:contentPart>
        </mc:Choice>
        <mc:Fallback xmlns="">
          <p:pic>
            <p:nvPicPr>
              <p:cNvPr id="20" name="Ink 19">
                <a:extLst>
                  <a:ext uri="{FF2B5EF4-FFF2-40B4-BE49-F238E27FC236}">
                    <a16:creationId xmlns:a16="http://schemas.microsoft.com/office/drawing/2014/main" id="{58F06D15-9510-DB73-E892-E2BDCF94F710}"/>
                  </a:ext>
                </a:extLst>
              </p:cNvPr>
              <p:cNvPicPr/>
              <p:nvPr/>
            </p:nvPicPr>
            <p:blipFill>
              <a:blip r:embed="rId4"/>
              <a:stretch>
                <a:fillRect/>
              </a:stretch>
            </p:blipFill>
            <p:spPr>
              <a:xfrm>
                <a:off x="8744840" y="3998800"/>
                <a:ext cx="72000" cy="72000"/>
              </a:xfrm>
              <a:prstGeom prst="rect">
                <a:avLst/>
              </a:prstGeom>
            </p:spPr>
          </p:pic>
        </mc:Fallback>
      </mc:AlternateContent>
      <p:sp>
        <p:nvSpPr>
          <p:cNvPr id="33" name="TextBox 32">
            <a:extLst>
              <a:ext uri="{FF2B5EF4-FFF2-40B4-BE49-F238E27FC236}">
                <a16:creationId xmlns:a16="http://schemas.microsoft.com/office/drawing/2014/main" id="{4C19937D-54A2-E5AA-52C7-64308B2AF59E}"/>
              </a:ext>
            </a:extLst>
          </p:cNvPr>
          <p:cNvSpPr txBox="1"/>
          <p:nvPr/>
        </p:nvSpPr>
        <p:spPr>
          <a:xfrm>
            <a:off x="6484191" y="954523"/>
            <a:ext cx="1988458" cy="338554"/>
          </a:xfrm>
          <a:prstGeom prst="rect">
            <a:avLst/>
          </a:prstGeom>
          <a:noFill/>
        </p:spPr>
        <p:txBody>
          <a:bodyPr wrap="square" rtlCol="0">
            <a:spAutoFit/>
          </a:bodyPr>
          <a:lstStyle/>
          <a:p>
            <a:r>
              <a:rPr lang="en-US" sz="1600" b="1" dirty="0"/>
              <a:t>1 square is 5 minutes </a:t>
            </a:r>
            <a:endParaRPr lang="en-AU" sz="1600" b="1" dirty="0"/>
          </a:p>
        </p:txBody>
      </p:sp>
    </p:spTree>
    <p:extLst>
      <p:ext uri="{BB962C8B-B14F-4D97-AF65-F5344CB8AC3E}">
        <p14:creationId xmlns:p14="http://schemas.microsoft.com/office/powerpoint/2010/main" val="3299405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 name="TextBox 75">
            <a:extLst>
              <a:ext uri="{FF2B5EF4-FFF2-40B4-BE49-F238E27FC236}">
                <a16:creationId xmlns:a16="http://schemas.microsoft.com/office/drawing/2014/main" id="{E972EA4E-F219-D24B-B41D-9ED89149BD47}"/>
              </a:ext>
            </a:extLst>
          </p:cNvPr>
          <p:cNvSpPr txBox="1"/>
          <p:nvPr/>
        </p:nvSpPr>
        <p:spPr>
          <a:xfrm>
            <a:off x="39060" y="954523"/>
            <a:ext cx="513302" cy="246221"/>
          </a:xfrm>
          <a:prstGeom prst="rect">
            <a:avLst/>
          </a:prstGeom>
          <a:noFill/>
        </p:spPr>
        <p:txBody>
          <a:bodyPr wrap="square" lIns="36000" tIns="0" rIns="0" bIns="0" rtlCol="0">
            <a:spAutoFit/>
          </a:bodyPr>
          <a:lstStyle/>
          <a:p>
            <a:r>
              <a:rPr lang="en-GB" sz="1600" b="1" dirty="0"/>
              <a:t>Q3</a:t>
            </a:r>
          </a:p>
        </p:txBody>
      </p:sp>
      <p:sp>
        <p:nvSpPr>
          <p:cNvPr id="77" name="TextBox 76">
            <a:extLst>
              <a:ext uri="{FF2B5EF4-FFF2-40B4-BE49-F238E27FC236}">
                <a16:creationId xmlns:a16="http://schemas.microsoft.com/office/drawing/2014/main" id="{1A948131-C908-7740-9A2E-AEB74ACC7E64}"/>
              </a:ext>
            </a:extLst>
          </p:cNvPr>
          <p:cNvSpPr txBox="1"/>
          <p:nvPr/>
        </p:nvSpPr>
        <p:spPr>
          <a:xfrm>
            <a:off x="440667" y="952519"/>
            <a:ext cx="5618301" cy="492443"/>
          </a:xfrm>
          <a:prstGeom prst="rect">
            <a:avLst/>
          </a:prstGeom>
          <a:noFill/>
        </p:spPr>
        <p:txBody>
          <a:bodyPr wrap="square" lIns="36000" tIns="0" rIns="0" bIns="0" rtlCol="0" anchor="t">
            <a:spAutoFit/>
          </a:bodyPr>
          <a:lstStyle/>
          <a:p>
            <a:pPr>
              <a:defRPr/>
            </a:pPr>
            <a:r>
              <a:rPr lang="en-GB" altLang="en-US" sz="1600" dirty="0"/>
              <a:t>Paul travels to his parents’ house and then returns home.</a:t>
            </a:r>
          </a:p>
          <a:p>
            <a:pPr>
              <a:defRPr/>
            </a:pPr>
            <a:r>
              <a:rPr lang="en-GB" altLang="en-US" sz="1600" dirty="0"/>
              <a:t>The distance-time graph shows information about Paul’s journey.</a:t>
            </a:r>
          </a:p>
        </p:txBody>
      </p:sp>
      <p:sp>
        <p:nvSpPr>
          <p:cNvPr id="78" name="Rectangle 77">
            <a:extLst>
              <a:ext uri="{FF2B5EF4-FFF2-40B4-BE49-F238E27FC236}">
                <a16:creationId xmlns:a16="http://schemas.microsoft.com/office/drawing/2014/main" id="{3A100F80-352F-C74D-825C-8DBE01CB7184}"/>
              </a:ext>
            </a:extLst>
          </p:cNvPr>
          <p:cNvSpPr/>
          <p:nvPr/>
        </p:nvSpPr>
        <p:spPr>
          <a:xfrm rot="16200000">
            <a:off x="-127098" y="1451619"/>
            <a:ext cx="640770"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aphicFrame>
        <p:nvGraphicFramePr>
          <p:cNvPr id="3" name="Table 2">
            <a:extLst>
              <a:ext uri="{FF2B5EF4-FFF2-40B4-BE49-F238E27FC236}">
                <a16:creationId xmlns:a16="http://schemas.microsoft.com/office/drawing/2014/main" id="{C0BD70A4-70E0-0447-BB1E-3C1408DAEC6A}"/>
              </a:ext>
            </a:extLst>
          </p:cNvPr>
          <p:cNvGraphicFramePr>
            <a:graphicFrameLocks noGrp="1"/>
          </p:cNvGraphicFramePr>
          <p:nvPr>
            <p:extLst>
              <p:ext uri="{D42A27DB-BD31-4B8C-83A1-F6EECF244321}">
                <p14:modId xmlns:p14="http://schemas.microsoft.com/office/powerpoint/2010/main" val="1245860842"/>
              </p:ext>
            </p:extLst>
          </p:nvPr>
        </p:nvGraphicFramePr>
        <p:xfrm>
          <a:off x="5283375" y="1574706"/>
          <a:ext cx="3484608" cy="2474784"/>
        </p:xfrm>
        <a:graphic>
          <a:graphicData uri="http://schemas.openxmlformats.org/drawingml/2006/table">
            <a:tbl>
              <a:tblPr firstRow="1" bandRow="1">
                <a:tableStyleId>{5C22544A-7EE6-4342-B048-85BDC9FD1C3A}</a:tableStyleId>
              </a:tblPr>
              <a:tblGrid>
                <a:gridCol w="290384">
                  <a:extLst>
                    <a:ext uri="{9D8B030D-6E8A-4147-A177-3AD203B41FA5}">
                      <a16:colId xmlns:a16="http://schemas.microsoft.com/office/drawing/2014/main" val="1270148755"/>
                    </a:ext>
                  </a:extLst>
                </a:gridCol>
                <a:gridCol w="290384">
                  <a:extLst>
                    <a:ext uri="{9D8B030D-6E8A-4147-A177-3AD203B41FA5}">
                      <a16:colId xmlns:a16="http://schemas.microsoft.com/office/drawing/2014/main" val="3783459499"/>
                    </a:ext>
                  </a:extLst>
                </a:gridCol>
                <a:gridCol w="290384">
                  <a:extLst>
                    <a:ext uri="{9D8B030D-6E8A-4147-A177-3AD203B41FA5}">
                      <a16:colId xmlns:a16="http://schemas.microsoft.com/office/drawing/2014/main" val="4128696717"/>
                    </a:ext>
                  </a:extLst>
                </a:gridCol>
                <a:gridCol w="290384">
                  <a:extLst>
                    <a:ext uri="{9D8B030D-6E8A-4147-A177-3AD203B41FA5}">
                      <a16:colId xmlns:a16="http://schemas.microsoft.com/office/drawing/2014/main" val="3307348456"/>
                    </a:ext>
                  </a:extLst>
                </a:gridCol>
                <a:gridCol w="290384">
                  <a:extLst>
                    <a:ext uri="{9D8B030D-6E8A-4147-A177-3AD203B41FA5}">
                      <a16:colId xmlns:a16="http://schemas.microsoft.com/office/drawing/2014/main" val="1156892432"/>
                    </a:ext>
                  </a:extLst>
                </a:gridCol>
                <a:gridCol w="290384">
                  <a:extLst>
                    <a:ext uri="{9D8B030D-6E8A-4147-A177-3AD203B41FA5}">
                      <a16:colId xmlns:a16="http://schemas.microsoft.com/office/drawing/2014/main" val="4201249390"/>
                    </a:ext>
                  </a:extLst>
                </a:gridCol>
                <a:gridCol w="290384">
                  <a:extLst>
                    <a:ext uri="{9D8B030D-6E8A-4147-A177-3AD203B41FA5}">
                      <a16:colId xmlns:a16="http://schemas.microsoft.com/office/drawing/2014/main" val="2751314097"/>
                    </a:ext>
                  </a:extLst>
                </a:gridCol>
                <a:gridCol w="290384">
                  <a:extLst>
                    <a:ext uri="{9D8B030D-6E8A-4147-A177-3AD203B41FA5}">
                      <a16:colId xmlns:a16="http://schemas.microsoft.com/office/drawing/2014/main" val="3184397963"/>
                    </a:ext>
                  </a:extLst>
                </a:gridCol>
                <a:gridCol w="290384">
                  <a:extLst>
                    <a:ext uri="{9D8B030D-6E8A-4147-A177-3AD203B41FA5}">
                      <a16:colId xmlns:a16="http://schemas.microsoft.com/office/drawing/2014/main" val="1043988533"/>
                    </a:ext>
                  </a:extLst>
                </a:gridCol>
                <a:gridCol w="290384">
                  <a:extLst>
                    <a:ext uri="{9D8B030D-6E8A-4147-A177-3AD203B41FA5}">
                      <a16:colId xmlns:a16="http://schemas.microsoft.com/office/drawing/2014/main" val="3253339136"/>
                    </a:ext>
                  </a:extLst>
                </a:gridCol>
                <a:gridCol w="290384">
                  <a:extLst>
                    <a:ext uri="{9D8B030D-6E8A-4147-A177-3AD203B41FA5}">
                      <a16:colId xmlns:a16="http://schemas.microsoft.com/office/drawing/2014/main" val="3902358949"/>
                    </a:ext>
                  </a:extLst>
                </a:gridCol>
                <a:gridCol w="290384">
                  <a:extLst>
                    <a:ext uri="{9D8B030D-6E8A-4147-A177-3AD203B41FA5}">
                      <a16:colId xmlns:a16="http://schemas.microsoft.com/office/drawing/2014/main" val="2321979432"/>
                    </a:ext>
                  </a:extLst>
                </a:gridCol>
              </a:tblGrid>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659521"/>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8765470"/>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7001403"/>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77055"/>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3732328"/>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187724"/>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956313"/>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0136527"/>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9440310"/>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499468"/>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2829116"/>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852160"/>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187195"/>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9531262"/>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5939910"/>
                  </a:ext>
                </a:extLst>
              </a:tr>
              <a:tr h="154674">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57486"/>
                  </a:ext>
                </a:extLst>
              </a:tr>
            </a:tbl>
          </a:graphicData>
        </a:graphic>
      </p:graphicFrame>
      <p:sp>
        <p:nvSpPr>
          <p:cNvPr id="21" name="TextBox 20">
            <a:extLst>
              <a:ext uri="{FF2B5EF4-FFF2-40B4-BE49-F238E27FC236}">
                <a16:creationId xmlns:a16="http://schemas.microsoft.com/office/drawing/2014/main" id="{922F6687-72B1-E141-8002-E9E312BD7B6B}"/>
              </a:ext>
            </a:extLst>
          </p:cNvPr>
          <p:cNvSpPr txBox="1"/>
          <p:nvPr/>
        </p:nvSpPr>
        <p:spPr>
          <a:xfrm rot="16200000">
            <a:off x="3671559" y="2707415"/>
            <a:ext cx="2568166" cy="215444"/>
          </a:xfrm>
          <a:prstGeom prst="rect">
            <a:avLst/>
          </a:prstGeom>
          <a:noFill/>
        </p:spPr>
        <p:txBody>
          <a:bodyPr wrap="square" lIns="0" tIns="0" rIns="0" bIns="0" rtlCol="0" anchor="ctr" anchorCtr="0">
            <a:spAutoFit/>
          </a:bodyPr>
          <a:lstStyle/>
          <a:p>
            <a:pPr algn="ctr">
              <a:defRPr/>
            </a:pPr>
            <a:r>
              <a:rPr lang="en-GB" altLang="en-US" sz="1400" b="1" dirty="0"/>
              <a:t>Distance from home </a:t>
            </a:r>
            <a:r>
              <a:rPr lang="en-GB" altLang="en-US" sz="1400" dirty="0"/>
              <a:t>(miles)</a:t>
            </a:r>
          </a:p>
        </p:txBody>
      </p:sp>
      <p:sp>
        <p:nvSpPr>
          <p:cNvPr id="22" name="TextBox 21">
            <a:extLst>
              <a:ext uri="{FF2B5EF4-FFF2-40B4-BE49-F238E27FC236}">
                <a16:creationId xmlns:a16="http://schemas.microsoft.com/office/drawing/2014/main" id="{CECF8652-D9CF-4849-A4CF-677728B1BEA6}"/>
              </a:ext>
            </a:extLst>
          </p:cNvPr>
          <p:cNvSpPr txBox="1"/>
          <p:nvPr/>
        </p:nvSpPr>
        <p:spPr>
          <a:xfrm>
            <a:off x="6402716" y="4269419"/>
            <a:ext cx="1261529" cy="215444"/>
          </a:xfrm>
          <a:prstGeom prst="rect">
            <a:avLst/>
          </a:prstGeom>
          <a:noFill/>
        </p:spPr>
        <p:txBody>
          <a:bodyPr wrap="square" lIns="0" tIns="0" rIns="0" bIns="0" rtlCol="0" anchor="ctr" anchorCtr="0">
            <a:spAutoFit/>
          </a:bodyPr>
          <a:lstStyle/>
          <a:p>
            <a:pPr algn="ctr">
              <a:defRPr/>
            </a:pPr>
            <a:r>
              <a:rPr lang="en-GB" altLang="en-US" sz="1400" b="1" dirty="0"/>
              <a:t>Time</a:t>
            </a:r>
            <a:endParaRPr lang="en-GB" altLang="en-US" sz="1400" dirty="0"/>
          </a:p>
        </p:txBody>
      </p:sp>
      <p:sp>
        <p:nvSpPr>
          <p:cNvPr id="23" name="TextBox 22">
            <a:extLst>
              <a:ext uri="{FF2B5EF4-FFF2-40B4-BE49-F238E27FC236}">
                <a16:creationId xmlns:a16="http://schemas.microsoft.com/office/drawing/2014/main" id="{81F707CB-EC4D-2C4D-A7D3-AC08388C3E89}"/>
              </a:ext>
            </a:extLst>
          </p:cNvPr>
          <p:cNvSpPr txBox="1"/>
          <p:nvPr/>
        </p:nvSpPr>
        <p:spPr>
          <a:xfrm>
            <a:off x="5001226" y="4076759"/>
            <a:ext cx="558903" cy="215444"/>
          </a:xfrm>
          <a:prstGeom prst="rect">
            <a:avLst/>
          </a:prstGeom>
          <a:noFill/>
        </p:spPr>
        <p:txBody>
          <a:bodyPr wrap="square" lIns="0" tIns="0" rIns="0" bIns="0" rtlCol="0" anchor="ctr" anchorCtr="0">
            <a:spAutoFit/>
          </a:bodyPr>
          <a:lstStyle/>
          <a:p>
            <a:pPr algn="ctr">
              <a:defRPr/>
            </a:pPr>
            <a:r>
              <a:rPr lang="en-GB" altLang="en-US" sz="1400" dirty="0"/>
              <a:t>12:30</a:t>
            </a:r>
          </a:p>
        </p:txBody>
      </p:sp>
      <p:sp>
        <p:nvSpPr>
          <p:cNvPr id="25" name="TextBox 24">
            <a:extLst>
              <a:ext uri="{FF2B5EF4-FFF2-40B4-BE49-F238E27FC236}">
                <a16:creationId xmlns:a16="http://schemas.microsoft.com/office/drawing/2014/main" id="{3D645C31-3933-9945-A6E5-96BBB005877C}"/>
              </a:ext>
            </a:extLst>
          </p:cNvPr>
          <p:cNvSpPr txBox="1"/>
          <p:nvPr/>
        </p:nvSpPr>
        <p:spPr>
          <a:xfrm>
            <a:off x="5021943" y="1467032"/>
            <a:ext cx="204194" cy="215444"/>
          </a:xfrm>
          <a:prstGeom prst="rect">
            <a:avLst/>
          </a:prstGeom>
          <a:noFill/>
        </p:spPr>
        <p:txBody>
          <a:bodyPr wrap="square" lIns="0" tIns="0" rIns="0" bIns="0" rtlCol="0" anchor="ctr" anchorCtr="0">
            <a:spAutoFit/>
          </a:bodyPr>
          <a:lstStyle/>
          <a:p>
            <a:pPr algn="r">
              <a:defRPr/>
            </a:pPr>
            <a:r>
              <a:rPr lang="en-GB" altLang="en-US" sz="1400" dirty="0"/>
              <a:t>8</a:t>
            </a:r>
          </a:p>
        </p:txBody>
      </p:sp>
      <p:sp>
        <p:nvSpPr>
          <p:cNvPr id="28" name="TextBox 27">
            <a:extLst>
              <a:ext uri="{FF2B5EF4-FFF2-40B4-BE49-F238E27FC236}">
                <a16:creationId xmlns:a16="http://schemas.microsoft.com/office/drawing/2014/main" id="{A568829B-2607-8F42-84E1-4D6FD6D1976B}"/>
              </a:ext>
            </a:extLst>
          </p:cNvPr>
          <p:cNvSpPr txBox="1"/>
          <p:nvPr/>
        </p:nvSpPr>
        <p:spPr>
          <a:xfrm>
            <a:off x="8487937" y="4076759"/>
            <a:ext cx="558000" cy="215444"/>
          </a:xfrm>
          <a:prstGeom prst="rect">
            <a:avLst/>
          </a:prstGeom>
          <a:noFill/>
        </p:spPr>
        <p:txBody>
          <a:bodyPr wrap="square" lIns="0" tIns="0" rIns="0" bIns="0" rtlCol="0" anchor="ctr" anchorCtr="0">
            <a:spAutoFit/>
          </a:bodyPr>
          <a:lstStyle/>
          <a:p>
            <a:pPr algn="ctr">
              <a:defRPr/>
            </a:pPr>
            <a:r>
              <a:rPr lang="en-GB" altLang="en-US" sz="1400" dirty="0"/>
              <a:t>14:30</a:t>
            </a:r>
          </a:p>
        </p:txBody>
      </p:sp>
      <p:sp>
        <p:nvSpPr>
          <p:cNvPr id="30" name="TextBox 29">
            <a:extLst>
              <a:ext uri="{FF2B5EF4-FFF2-40B4-BE49-F238E27FC236}">
                <a16:creationId xmlns:a16="http://schemas.microsoft.com/office/drawing/2014/main" id="{D5DF19DB-094C-A84B-AFF3-ADA845AD0461}"/>
              </a:ext>
            </a:extLst>
          </p:cNvPr>
          <p:cNvSpPr txBox="1"/>
          <p:nvPr/>
        </p:nvSpPr>
        <p:spPr>
          <a:xfrm>
            <a:off x="5021943" y="2704314"/>
            <a:ext cx="204194" cy="215444"/>
          </a:xfrm>
          <a:prstGeom prst="rect">
            <a:avLst/>
          </a:prstGeom>
          <a:noFill/>
        </p:spPr>
        <p:txBody>
          <a:bodyPr wrap="square" lIns="0" tIns="0" rIns="0" bIns="0" rtlCol="0" anchor="ctr" anchorCtr="0">
            <a:spAutoFit/>
          </a:bodyPr>
          <a:lstStyle/>
          <a:p>
            <a:pPr algn="r">
              <a:defRPr/>
            </a:pPr>
            <a:r>
              <a:rPr lang="en-GB" altLang="en-US" sz="1400" dirty="0"/>
              <a:t>4</a:t>
            </a:r>
          </a:p>
        </p:txBody>
      </p:sp>
      <p:sp>
        <p:nvSpPr>
          <p:cNvPr id="31" name="TextBox 30">
            <a:extLst>
              <a:ext uri="{FF2B5EF4-FFF2-40B4-BE49-F238E27FC236}">
                <a16:creationId xmlns:a16="http://schemas.microsoft.com/office/drawing/2014/main" id="{DBA25CF0-9B55-8346-9A5E-EE23CE303A00}"/>
              </a:ext>
            </a:extLst>
          </p:cNvPr>
          <p:cNvSpPr txBox="1"/>
          <p:nvPr/>
        </p:nvSpPr>
        <p:spPr>
          <a:xfrm>
            <a:off x="5021943" y="3322954"/>
            <a:ext cx="204194" cy="215444"/>
          </a:xfrm>
          <a:prstGeom prst="rect">
            <a:avLst/>
          </a:prstGeom>
          <a:noFill/>
        </p:spPr>
        <p:txBody>
          <a:bodyPr wrap="square" lIns="0" tIns="0" rIns="0" bIns="0" rtlCol="0" anchor="ctr" anchorCtr="0">
            <a:spAutoFit/>
          </a:bodyPr>
          <a:lstStyle/>
          <a:p>
            <a:pPr algn="r">
              <a:defRPr/>
            </a:pPr>
            <a:r>
              <a:rPr lang="en-GB" altLang="en-US" sz="1400" dirty="0"/>
              <a:t>2</a:t>
            </a:r>
          </a:p>
        </p:txBody>
      </p:sp>
      <p:sp>
        <p:nvSpPr>
          <p:cNvPr id="32" name="TextBox 31">
            <a:extLst>
              <a:ext uri="{FF2B5EF4-FFF2-40B4-BE49-F238E27FC236}">
                <a16:creationId xmlns:a16="http://schemas.microsoft.com/office/drawing/2014/main" id="{927422C0-0E80-D04A-B2B1-23282AE16EA0}"/>
              </a:ext>
            </a:extLst>
          </p:cNvPr>
          <p:cNvSpPr txBox="1"/>
          <p:nvPr/>
        </p:nvSpPr>
        <p:spPr>
          <a:xfrm>
            <a:off x="5021943" y="3935146"/>
            <a:ext cx="204194" cy="215444"/>
          </a:xfrm>
          <a:prstGeom prst="rect">
            <a:avLst/>
          </a:prstGeom>
          <a:noFill/>
        </p:spPr>
        <p:txBody>
          <a:bodyPr wrap="square" lIns="0" tIns="0" rIns="0" bIns="0" rtlCol="0" anchor="ctr" anchorCtr="0">
            <a:spAutoFit/>
          </a:bodyPr>
          <a:lstStyle/>
          <a:p>
            <a:pPr algn="r">
              <a:defRPr/>
            </a:pPr>
            <a:r>
              <a:rPr lang="en-GB" altLang="en-US" sz="1400" dirty="0"/>
              <a:t>0</a:t>
            </a:r>
          </a:p>
        </p:txBody>
      </p:sp>
      <p:cxnSp>
        <p:nvCxnSpPr>
          <p:cNvPr id="7" name="Straight Connector 6">
            <a:extLst>
              <a:ext uri="{FF2B5EF4-FFF2-40B4-BE49-F238E27FC236}">
                <a16:creationId xmlns:a16="http://schemas.microsoft.com/office/drawing/2014/main" id="{36CD34EA-F5FC-794C-A7F0-51CD7A094ADC}"/>
              </a:ext>
            </a:extLst>
          </p:cNvPr>
          <p:cNvCxnSpPr>
            <a:cxnSpLocks/>
          </p:cNvCxnSpPr>
          <p:nvPr/>
        </p:nvCxnSpPr>
        <p:spPr>
          <a:xfrm flipV="1">
            <a:off x="5574391" y="2812036"/>
            <a:ext cx="578999" cy="1232026"/>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E143F7D-1C2B-FC4F-B305-AA581B55981E}"/>
              </a:ext>
            </a:extLst>
          </p:cNvPr>
          <p:cNvSpPr txBox="1"/>
          <p:nvPr/>
        </p:nvSpPr>
        <p:spPr>
          <a:xfrm>
            <a:off x="5021943" y="2085673"/>
            <a:ext cx="204194" cy="215444"/>
          </a:xfrm>
          <a:prstGeom prst="rect">
            <a:avLst/>
          </a:prstGeom>
          <a:noFill/>
        </p:spPr>
        <p:txBody>
          <a:bodyPr wrap="square" lIns="0" tIns="0" rIns="0" bIns="0" rtlCol="0" anchor="ctr" anchorCtr="0">
            <a:spAutoFit/>
          </a:bodyPr>
          <a:lstStyle/>
          <a:p>
            <a:pPr algn="r">
              <a:defRPr/>
            </a:pPr>
            <a:r>
              <a:rPr lang="en-GB" altLang="en-US" sz="1400" dirty="0"/>
              <a:t>6</a:t>
            </a:r>
          </a:p>
        </p:txBody>
      </p:sp>
      <p:cxnSp>
        <p:nvCxnSpPr>
          <p:cNvPr id="86" name="Straight Connector 85">
            <a:extLst>
              <a:ext uri="{FF2B5EF4-FFF2-40B4-BE49-F238E27FC236}">
                <a16:creationId xmlns:a16="http://schemas.microsoft.com/office/drawing/2014/main" id="{92D8972B-4F9D-4245-BEB1-629867881240}"/>
              </a:ext>
            </a:extLst>
          </p:cNvPr>
          <p:cNvCxnSpPr>
            <a:cxnSpLocks/>
          </p:cNvCxnSpPr>
          <p:nvPr/>
        </p:nvCxnSpPr>
        <p:spPr>
          <a:xfrm>
            <a:off x="6153390" y="2812036"/>
            <a:ext cx="290953" cy="0"/>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12928DD-1EAC-EA4A-A672-E09BB80E0CAC}"/>
              </a:ext>
            </a:extLst>
          </p:cNvPr>
          <p:cNvCxnSpPr>
            <a:cxnSpLocks/>
          </p:cNvCxnSpPr>
          <p:nvPr/>
        </p:nvCxnSpPr>
        <p:spPr>
          <a:xfrm>
            <a:off x="8185849" y="1885677"/>
            <a:ext cx="582134" cy="2158385"/>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BC6D5A9-813C-AA48-95D3-00A1821E845B}"/>
              </a:ext>
            </a:extLst>
          </p:cNvPr>
          <p:cNvCxnSpPr>
            <a:cxnSpLocks/>
          </p:cNvCxnSpPr>
          <p:nvPr/>
        </p:nvCxnSpPr>
        <p:spPr>
          <a:xfrm flipH="1">
            <a:off x="6444343" y="1881699"/>
            <a:ext cx="579912" cy="926414"/>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1D50700-2C5E-4C4F-828A-1C10102766FC}"/>
              </a:ext>
            </a:extLst>
          </p:cNvPr>
          <p:cNvSpPr txBox="1"/>
          <p:nvPr/>
        </p:nvSpPr>
        <p:spPr>
          <a:xfrm>
            <a:off x="6746679" y="4076759"/>
            <a:ext cx="558000" cy="215444"/>
          </a:xfrm>
          <a:prstGeom prst="rect">
            <a:avLst/>
          </a:prstGeom>
          <a:noFill/>
        </p:spPr>
        <p:txBody>
          <a:bodyPr wrap="square" lIns="0" tIns="0" rIns="0" bIns="0" rtlCol="0" anchor="ctr" anchorCtr="0">
            <a:spAutoFit/>
          </a:bodyPr>
          <a:lstStyle/>
          <a:p>
            <a:pPr algn="ctr">
              <a:defRPr/>
            </a:pPr>
            <a:r>
              <a:rPr lang="en-GB" altLang="en-US" sz="1400" dirty="0"/>
              <a:t>13:30</a:t>
            </a:r>
          </a:p>
        </p:txBody>
      </p:sp>
      <p:cxnSp>
        <p:nvCxnSpPr>
          <p:cNvPr id="65" name="Straight Connector 64">
            <a:extLst>
              <a:ext uri="{FF2B5EF4-FFF2-40B4-BE49-F238E27FC236}">
                <a16:creationId xmlns:a16="http://schemas.microsoft.com/office/drawing/2014/main" id="{08E6CBDD-493B-4F45-BC37-BA77E524E6B9}"/>
              </a:ext>
            </a:extLst>
          </p:cNvPr>
          <p:cNvCxnSpPr>
            <a:cxnSpLocks/>
          </p:cNvCxnSpPr>
          <p:nvPr/>
        </p:nvCxnSpPr>
        <p:spPr>
          <a:xfrm>
            <a:off x="7026442" y="1881699"/>
            <a:ext cx="1159407" cy="0"/>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64D96710-11B5-CA19-9575-84CBF7C70B2D}"/>
                  </a:ext>
                </a:extLst>
              </p:cNvPr>
              <p:cNvSpPr txBox="1"/>
              <p:nvPr/>
            </p:nvSpPr>
            <p:spPr>
              <a:xfrm>
                <a:off x="656203" y="1467032"/>
                <a:ext cx="3288564" cy="2893100"/>
              </a:xfrm>
              <a:prstGeom prst="rect">
                <a:avLst/>
              </a:prstGeom>
              <a:noFill/>
            </p:spPr>
            <p:txBody>
              <a:bodyPr wrap="square" rtlCol="0">
                <a:spAutoFit/>
              </a:bodyPr>
              <a:lstStyle/>
              <a:p>
                <a:pPr marL="342900" indent="-342900">
                  <a:buAutoNum type="alphaLcParenR"/>
                </a:pPr>
                <a:r>
                  <a:rPr lang="en-US" sz="1400" b="1" dirty="0"/>
                  <a:t>What is the total distance Paul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What time did Paul get to his parents?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How long was he at his parents for?</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What was Paul’s speed home? (</a:t>
                </a:r>
                <a14:m>
                  <m:oMath xmlns:m="http://schemas.openxmlformats.org/officeDocument/2006/math">
                    <m:r>
                      <a:rPr lang="en-US" sz="1400" b="1" i="1" dirty="0" smtClean="0">
                        <a:latin typeface="Cambria Math" panose="02040503050406030204" pitchFamily="18" charset="0"/>
                      </a:rPr>
                      <m:t>𝑺𝒑𝒆𝒆𝒅</m:t>
                    </m:r>
                    <m:r>
                      <a:rPr lang="en-US" sz="1400" b="1" i="1" dirty="0" smtClean="0">
                        <a:latin typeface="Cambria Math" panose="02040503050406030204" pitchFamily="18" charset="0"/>
                      </a:rPr>
                      <m:t> =</m:t>
                    </m:r>
                    <m:r>
                      <a:rPr lang="en-AU" sz="1400" b="1" i="1" dirty="0" smtClean="0">
                        <a:latin typeface="Cambria Math" panose="02040503050406030204" pitchFamily="18" charset="0"/>
                      </a:rPr>
                      <m:t>𝑫𝒊𝒔𝒕𝒂𝒏𝒄𝒆</m:t>
                    </m:r>
                    <m:r>
                      <a:rPr lang="en-AU" sz="1400" b="1" i="1" dirty="0" smtClean="0">
                        <a:latin typeface="Cambria Math" panose="02040503050406030204" pitchFamily="18" charset="0"/>
                      </a:rPr>
                      <m:t> ÷</m:t>
                    </m:r>
                    <m:r>
                      <a:rPr lang="en-AU" sz="1400" b="1" i="1" dirty="0" smtClean="0">
                        <a:latin typeface="Cambria Math" panose="02040503050406030204" pitchFamily="18" charset="0"/>
                        <a:ea typeface="Cambria Math" panose="02040503050406030204" pitchFamily="18" charset="0"/>
                      </a:rPr>
                      <m:t>𝒕𝒊𝒎𝒆</m:t>
                    </m:r>
                  </m:oMath>
                </a14:m>
                <a:endParaRPr lang="en-AU" sz="1400" b="1" dirty="0"/>
              </a:p>
            </p:txBody>
          </p:sp>
        </mc:Choice>
        <mc:Fallback>
          <p:sp>
            <p:nvSpPr>
              <p:cNvPr id="38" name="TextBox 37">
                <a:extLst>
                  <a:ext uri="{FF2B5EF4-FFF2-40B4-BE49-F238E27FC236}">
                    <a16:creationId xmlns:a16="http://schemas.microsoft.com/office/drawing/2014/main" id="{64D96710-11B5-CA19-9575-84CBF7C70B2D}"/>
                  </a:ext>
                </a:extLst>
              </p:cNvPr>
              <p:cNvSpPr txBox="1">
                <a:spLocks noRot="1" noChangeAspect="1" noMove="1" noResize="1" noEditPoints="1" noAdjustHandles="1" noChangeArrowheads="1" noChangeShapeType="1" noTextEdit="1"/>
              </p:cNvSpPr>
              <p:nvPr/>
            </p:nvSpPr>
            <p:spPr>
              <a:xfrm>
                <a:off x="656203" y="1467032"/>
                <a:ext cx="3288564" cy="2893100"/>
              </a:xfrm>
              <a:prstGeom prst="rect">
                <a:avLst/>
              </a:prstGeom>
              <a:blipFill>
                <a:blip r:embed="rId3"/>
                <a:stretch>
                  <a:fillRect l="-742" t="-633" b="-1266"/>
                </a:stretch>
              </a:blipFill>
            </p:spPr>
            <p:txBody>
              <a:bodyPr/>
              <a:lstStyle/>
              <a:p>
                <a:r>
                  <a:rPr lang="en-AU">
                    <a:noFill/>
                  </a:rPr>
                  <a:t> </a:t>
                </a:r>
              </a:p>
            </p:txBody>
          </p:sp>
        </mc:Fallback>
      </mc:AlternateContent>
    </p:spTree>
    <p:extLst>
      <p:ext uri="{BB962C8B-B14F-4D97-AF65-F5344CB8AC3E}">
        <p14:creationId xmlns:p14="http://schemas.microsoft.com/office/powerpoint/2010/main" val="91222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 name="TextBox 75">
            <a:extLst>
              <a:ext uri="{FF2B5EF4-FFF2-40B4-BE49-F238E27FC236}">
                <a16:creationId xmlns:a16="http://schemas.microsoft.com/office/drawing/2014/main" id="{E972EA4E-F219-D24B-B41D-9ED89149BD47}"/>
              </a:ext>
            </a:extLst>
          </p:cNvPr>
          <p:cNvSpPr txBox="1"/>
          <p:nvPr/>
        </p:nvSpPr>
        <p:spPr>
          <a:xfrm>
            <a:off x="39060" y="954523"/>
            <a:ext cx="513302" cy="246221"/>
          </a:xfrm>
          <a:prstGeom prst="rect">
            <a:avLst/>
          </a:prstGeom>
          <a:noFill/>
        </p:spPr>
        <p:txBody>
          <a:bodyPr wrap="square" lIns="36000" tIns="0" rIns="0" bIns="0" rtlCol="0">
            <a:spAutoFit/>
          </a:bodyPr>
          <a:lstStyle/>
          <a:p>
            <a:r>
              <a:rPr lang="en-GB" sz="1600" b="1" dirty="0"/>
              <a:t>Q4</a:t>
            </a:r>
          </a:p>
        </p:txBody>
      </p:sp>
      <p:sp>
        <p:nvSpPr>
          <p:cNvPr id="77" name="TextBox 76">
            <a:extLst>
              <a:ext uri="{FF2B5EF4-FFF2-40B4-BE49-F238E27FC236}">
                <a16:creationId xmlns:a16="http://schemas.microsoft.com/office/drawing/2014/main" id="{1A948131-C908-7740-9A2E-AEB74ACC7E64}"/>
              </a:ext>
            </a:extLst>
          </p:cNvPr>
          <p:cNvSpPr txBox="1"/>
          <p:nvPr/>
        </p:nvSpPr>
        <p:spPr>
          <a:xfrm>
            <a:off x="552362" y="259582"/>
            <a:ext cx="5120010" cy="492443"/>
          </a:xfrm>
          <a:prstGeom prst="rect">
            <a:avLst/>
          </a:prstGeom>
          <a:noFill/>
        </p:spPr>
        <p:txBody>
          <a:bodyPr wrap="square" lIns="36000" tIns="0" rIns="0" bIns="0" rtlCol="0" anchor="t">
            <a:spAutoFit/>
          </a:bodyPr>
          <a:lstStyle/>
          <a:p>
            <a:pPr>
              <a:defRPr/>
            </a:pPr>
            <a:r>
              <a:rPr lang="en-GB" altLang="en-US" sz="1600" dirty="0"/>
              <a:t>A remote control car travels in a straight line.</a:t>
            </a:r>
            <a:br>
              <a:rPr lang="en-GB" altLang="en-US" sz="1600" dirty="0"/>
            </a:br>
            <a:r>
              <a:rPr lang="en-GB" altLang="en-US" sz="1600" dirty="0"/>
              <a:t>The following graph describes its distance travelled over time.</a:t>
            </a:r>
          </a:p>
        </p:txBody>
      </p:sp>
      <p:sp>
        <p:nvSpPr>
          <p:cNvPr id="78" name="Rectangle 77">
            <a:extLst>
              <a:ext uri="{FF2B5EF4-FFF2-40B4-BE49-F238E27FC236}">
                <a16:creationId xmlns:a16="http://schemas.microsoft.com/office/drawing/2014/main" id="{3A100F80-352F-C74D-825C-8DBE01CB7184}"/>
              </a:ext>
            </a:extLst>
          </p:cNvPr>
          <p:cNvSpPr/>
          <p:nvPr/>
        </p:nvSpPr>
        <p:spPr>
          <a:xfrm rot="16200000">
            <a:off x="-127098" y="1451619"/>
            <a:ext cx="640770"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aphicFrame>
        <p:nvGraphicFramePr>
          <p:cNvPr id="3" name="Table 2">
            <a:extLst>
              <a:ext uri="{FF2B5EF4-FFF2-40B4-BE49-F238E27FC236}">
                <a16:creationId xmlns:a16="http://schemas.microsoft.com/office/drawing/2014/main" id="{C0BD70A4-70E0-0447-BB1E-3C1408DAEC6A}"/>
              </a:ext>
            </a:extLst>
          </p:cNvPr>
          <p:cNvGraphicFramePr>
            <a:graphicFrameLocks noGrp="1"/>
          </p:cNvGraphicFramePr>
          <p:nvPr>
            <p:extLst>
              <p:ext uri="{D42A27DB-BD31-4B8C-83A1-F6EECF244321}">
                <p14:modId xmlns:p14="http://schemas.microsoft.com/office/powerpoint/2010/main" val="4092264099"/>
              </p:ext>
            </p:extLst>
          </p:nvPr>
        </p:nvGraphicFramePr>
        <p:xfrm>
          <a:off x="5283376" y="1574707"/>
          <a:ext cx="3500205" cy="2480860"/>
        </p:xfrm>
        <a:graphic>
          <a:graphicData uri="http://schemas.openxmlformats.org/drawingml/2006/table">
            <a:tbl>
              <a:tblPr firstRow="1" bandRow="1">
                <a:tableStyleId>{5C22544A-7EE6-4342-B048-85BDC9FD1C3A}</a:tableStyleId>
              </a:tblPr>
              <a:tblGrid>
                <a:gridCol w="233347">
                  <a:extLst>
                    <a:ext uri="{9D8B030D-6E8A-4147-A177-3AD203B41FA5}">
                      <a16:colId xmlns:a16="http://schemas.microsoft.com/office/drawing/2014/main" val="1270148755"/>
                    </a:ext>
                  </a:extLst>
                </a:gridCol>
                <a:gridCol w="233347">
                  <a:extLst>
                    <a:ext uri="{9D8B030D-6E8A-4147-A177-3AD203B41FA5}">
                      <a16:colId xmlns:a16="http://schemas.microsoft.com/office/drawing/2014/main" val="3783459499"/>
                    </a:ext>
                  </a:extLst>
                </a:gridCol>
                <a:gridCol w="233347">
                  <a:extLst>
                    <a:ext uri="{9D8B030D-6E8A-4147-A177-3AD203B41FA5}">
                      <a16:colId xmlns:a16="http://schemas.microsoft.com/office/drawing/2014/main" val="4128696717"/>
                    </a:ext>
                  </a:extLst>
                </a:gridCol>
                <a:gridCol w="233347">
                  <a:extLst>
                    <a:ext uri="{9D8B030D-6E8A-4147-A177-3AD203B41FA5}">
                      <a16:colId xmlns:a16="http://schemas.microsoft.com/office/drawing/2014/main" val="3307348456"/>
                    </a:ext>
                  </a:extLst>
                </a:gridCol>
                <a:gridCol w="233347">
                  <a:extLst>
                    <a:ext uri="{9D8B030D-6E8A-4147-A177-3AD203B41FA5}">
                      <a16:colId xmlns:a16="http://schemas.microsoft.com/office/drawing/2014/main" val="1156892432"/>
                    </a:ext>
                  </a:extLst>
                </a:gridCol>
                <a:gridCol w="233347">
                  <a:extLst>
                    <a:ext uri="{9D8B030D-6E8A-4147-A177-3AD203B41FA5}">
                      <a16:colId xmlns:a16="http://schemas.microsoft.com/office/drawing/2014/main" val="4201249390"/>
                    </a:ext>
                  </a:extLst>
                </a:gridCol>
                <a:gridCol w="233347">
                  <a:extLst>
                    <a:ext uri="{9D8B030D-6E8A-4147-A177-3AD203B41FA5}">
                      <a16:colId xmlns:a16="http://schemas.microsoft.com/office/drawing/2014/main" val="2751314097"/>
                    </a:ext>
                  </a:extLst>
                </a:gridCol>
                <a:gridCol w="233347">
                  <a:extLst>
                    <a:ext uri="{9D8B030D-6E8A-4147-A177-3AD203B41FA5}">
                      <a16:colId xmlns:a16="http://schemas.microsoft.com/office/drawing/2014/main" val="3184397963"/>
                    </a:ext>
                  </a:extLst>
                </a:gridCol>
                <a:gridCol w="233347">
                  <a:extLst>
                    <a:ext uri="{9D8B030D-6E8A-4147-A177-3AD203B41FA5}">
                      <a16:colId xmlns:a16="http://schemas.microsoft.com/office/drawing/2014/main" val="1043988533"/>
                    </a:ext>
                  </a:extLst>
                </a:gridCol>
                <a:gridCol w="233347">
                  <a:extLst>
                    <a:ext uri="{9D8B030D-6E8A-4147-A177-3AD203B41FA5}">
                      <a16:colId xmlns:a16="http://schemas.microsoft.com/office/drawing/2014/main" val="3253339136"/>
                    </a:ext>
                  </a:extLst>
                </a:gridCol>
                <a:gridCol w="233347">
                  <a:extLst>
                    <a:ext uri="{9D8B030D-6E8A-4147-A177-3AD203B41FA5}">
                      <a16:colId xmlns:a16="http://schemas.microsoft.com/office/drawing/2014/main" val="3902358949"/>
                    </a:ext>
                  </a:extLst>
                </a:gridCol>
                <a:gridCol w="233347">
                  <a:extLst>
                    <a:ext uri="{9D8B030D-6E8A-4147-A177-3AD203B41FA5}">
                      <a16:colId xmlns:a16="http://schemas.microsoft.com/office/drawing/2014/main" val="2321979432"/>
                    </a:ext>
                  </a:extLst>
                </a:gridCol>
                <a:gridCol w="233347">
                  <a:extLst>
                    <a:ext uri="{9D8B030D-6E8A-4147-A177-3AD203B41FA5}">
                      <a16:colId xmlns:a16="http://schemas.microsoft.com/office/drawing/2014/main" val="1020774701"/>
                    </a:ext>
                  </a:extLst>
                </a:gridCol>
                <a:gridCol w="233347">
                  <a:extLst>
                    <a:ext uri="{9D8B030D-6E8A-4147-A177-3AD203B41FA5}">
                      <a16:colId xmlns:a16="http://schemas.microsoft.com/office/drawing/2014/main" val="2170654072"/>
                    </a:ext>
                  </a:extLst>
                </a:gridCol>
                <a:gridCol w="233347">
                  <a:extLst>
                    <a:ext uri="{9D8B030D-6E8A-4147-A177-3AD203B41FA5}">
                      <a16:colId xmlns:a16="http://schemas.microsoft.com/office/drawing/2014/main" val="286840904"/>
                    </a:ext>
                  </a:extLst>
                </a:gridCol>
              </a:tblGrid>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823678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8025147"/>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0292656"/>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1364698"/>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659521"/>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876547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7001403"/>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77055"/>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3732328"/>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187724"/>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956313"/>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0136527"/>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944031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499468"/>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2829116"/>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85216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187195"/>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9531262"/>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5939910"/>
                  </a:ext>
                </a:extLst>
              </a:tr>
              <a:tr h="124043">
                <a:tc>
                  <a:txBody>
                    <a:bodyPr/>
                    <a:lstStyle/>
                    <a:p>
                      <a:pPr algn="ctr"/>
                      <a:endParaRPr lang="en-GB" sz="100" dirty="0"/>
                    </a:p>
                  </a:txBody>
                  <a:tcPr marL="0" marR="0" marT="0" marB="0" anchor="ctr">
                    <a:lnL w="19050" cap="flat" cmpd="sng" algn="ctr">
                      <a:solidFill>
                        <a:schemeClr val="tx1"/>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9525"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00" dirty="0"/>
                    </a:p>
                  </a:txBody>
                  <a:tcPr marL="0" marR="0" marT="0" marB="0" anchor="ctr">
                    <a:lnL w="63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57486"/>
                  </a:ext>
                </a:extLst>
              </a:tr>
            </a:tbl>
          </a:graphicData>
        </a:graphic>
      </p:graphicFrame>
      <p:sp>
        <p:nvSpPr>
          <p:cNvPr id="21" name="TextBox 20">
            <a:extLst>
              <a:ext uri="{FF2B5EF4-FFF2-40B4-BE49-F238E27FC236}">
                <a16:creationId xmlns:a16="http://schemas.microsoft.com/office/drawing/2014/main" id="{922F6687-72B1-E141-8002-E9E312BD7B6B}"/>
              </a:ext>
            </a:extLst>
          </p:cNvPr>
          <p:cNvSpPr txBox="1"/>
          <p:nvPr/>
        </p:nvSpPr>
        <p:spPr>
          <a:xfrm rot="16200000">
            <a:off x="3599341" y="2788102"/>
            <a:ext cx="2568166" cy="215444"/>
          </a:xfrm>
          <a:prstGeom prst="rect">
            <a:avLst/>
          </a:prstGeom>
          <a:noFill/>
        </p:spPr>
        <p:txBody>
          <a:bodyPr wrap="square" lIns="0" tIns="0" rIns="0" bIns="0" rtlCol="0" anchor="ctr" anchorCtr="0">
            <a:spAutoFit/>
          </a:bodyPr>
          <a:lstStyle/>
          <a:p>
            <a:pPr algn="ctr">
              <a:defRPr/>
            </a:pPr>
            <a:r>
              <a:rPr lang="en-GB" altLang="en-US" sz="1400" b="1" dirty="0"/>
              <a:t>Distance travelled </a:t>
            </a:r>
            <a:r>
              <a:rPr lang="en-GB" altLang="en-US" sz="1400" dirty="0"/>
              <a:t>(metres)</a:t>
            </a:r>
          </a:p>
        </p:txBody>
      </p:sp>
      <p:sp>
        <p:nvSpPr>
          <p:cNvPr id="22" name="TextBox 21">
            <a:extLst>
              <a:ext uri="{FF2B5EF4-FFF2-40B4-BE49-F238E27FC236}">
                <a16:creationId xmlns:a16="http://schemas.microsoft.com/office/drawing/2014/main" id="{CECF8652-D9CF-4849-A4CF-677728B1BEA6}"/>
              </a:ext>
            </a:extLst>
          </p:cNvPr>
          <p:cNvSpPr txBox="1"/>
          <p:nvPr/>
        </p:nvSpPr>
        <p:spPr>
          <a:xfrm>
            <a:off x="6402716" y="4269419"/>
            <a:ext cx="1261529" cy="215444"/>
          </a:xfrm>
          <a:prstGeom prst="rect">
            <a:avLst/>
          </a:prstGeom>
          <a:noFill/>
        </p:spPr>
        <p:txBody>
          <a:bodyPr wrap="square" lIns="0" tIns="0" rIns="0" bIns="0" rtlCol="0" anchor="ctr" anchorCtr="0">
            <a:spAutoFit/>
          </a:bodyPr>
          <a:lstStyle/>
          <a:p>
            <a:pPr algn="ctr">
              <a:defRPr/>
            </a:pPr>
            <a:r>
              <a:rPr lang="en-GB" altLang="en-US" sz="1400" b="1" dirty="0"/>
              <a:t>Time </a:t>
            </a:r>
            <a:r>
              <a:rPr lang="en-GB" altLang="en-US" sz="1400" dirty="0"/>
              <a:t>(seconds)</a:t>
            </a:r>
          </a:p>
        </p:txBody>
      </p:sp>
      <p:sp>
        <p:nvSpPr>
          <p:cNvPr id="23" name="TextBox 22">
            <a:extLst>
              <a:ext uri="{FF2B5EF4-FFF2-40B4-BE49-F238E27FC236}">
                <a16:creationId xmlns:a16="http://schemas.microsoft.com/office/drawing/2014/main" id="{81F707CB-EC4D-2C4D-A7D3-AC08388C3E89}"/>
              </a:ext>
            </a:extLst>
          </p:cNvPr>
          <p:cNvSpPr txBox="1"/>
          <p:nvPr/>
        </p:nvSpPr>
        <p:spPr>
          <a:xfrm>
            <a:off x="5167449" y="4076759"/>
            <a:ext cx="237029" cy="215444"/>
          </a:xfrm>
          <a:prstGeom prst="rect">
            <a:avLst/>
          </a:prstGeom>
          <a:noFill/>
        </p:spPr>
        <p:txBody>
          <a:bodyPr wrap="square" lIns="0" tIns="0" rIns="0" bIns="0" rtlCol="0" anchor="ctr" anchorCtr="0">
            <a:spAutoFit/>
          </a:bodyPr>
          <a:lstStyle/>
          <a:p>
            <a:pPr algn="ctr">
              <a:defRPr/>
            </a:pPr>
            <a:r>
              <a:rPr lang="en-GB" altLang="en-US" sz="1400" dirty="0"/>
              <a:t>0</a:t>
            </a:r>
          </a:p>
        </p:txBody>
      </p:sp>
      <p:sp>
        <p:nvSpPr>
          <p:cNvPr id="25" name="TextBox 24">
            <a:extLst>
              <a:ext uri="{FF2B5EF4-FFF2-40B4-BE49-F238E27FC236}">
                <a16:creationId xmlns:a16="http://schemas.microsoft.com/office/drawing/2014/main" id="{3D645C31-3933-9945-A6E5-96BBB005877C}"/>
              </a:ext>
            </a:extLst>
          </p:cNvPr>
          <p:cNvSpPr txBox="1"/>
          <p:nvPr/>
        </p:nvSpPr>
        <p:spPr>
          <a:xfrm>
            <a:off x="4827242" y="1467032"/>
            <a:ext cx="398895" cy="215444"/>
          </a:xfrm>
          <a:prstGeom prst="rect">
            <a:avLst/>
          </a:prstGeom>
          <a:noFill/>
        </p:spPr>
        <p:txBody>
          <a:bodyPr wrap="square" lIns="0" tIns="0" rIns="0" bIns="0" rtlCol="0" anchor="ctr" anchorCtr="0">
            <a:spAutoFit/>
          </a:bodyPr>
          <a:lstStyle/>
          <a:p>
            <a:pPr algn="r">
              <a:defRPr/>
            </a:pPr>
            <a:r>
              <a:rPr lang="en-GB" altLang="en-US" sz="1400" dirty="0"/>
              <a:t>20</a:t>
            </a:r>
          </a:p>
        </p:txBody>
      </p:sp>
      <p:sp>
        <p:nvSpPr>
          <p:cNvPr id="26" name="TextBox 25">
            <a:extLst>
              <a:ext uri="{FF2B5EF4-FFF2-40B4-BE49-F238E27FC236}">
                <a16:creationId xmlns:a16="http://schemas.microsoft.com/office/drawing/2014/main" id="{7C1DD69F-B81B-6740-9C5B-744EF01AE5E2}"/>
              </a:ext>
            </a:extLst>
          </p:cNvPr>
          <p:cNvSpPr txBox="1"/>
          <p:nvPr/>
        </p:nvSpPr>
        <p:spPr>
          <a:xfrm>
            <a:off x="6171508" y="4076759"/>
            <a:ext cx="558903" cy="215444"/>
          </a:xfrm>
          <a:prstGeom prst="rect">
            <a:avLst/>
          </a:prstGeom>
          <a:noFill/>
        </p:spPr>
        <p:txBody>
          <a:bodyPr wrap="square" lIns="0" tIns="0" rIns="0" bIns="0" rtlCol="0" anchor="ctr" anchorCtr="0">
            <a:spAutoFit/>
          </a:bodyPr>
          <a:lstStyle/>
          <a:p>
            <a:pPr algn="ctr">
              <a:defRPr/>
            </a:pPr>
            <a:r>
              <a:rPr lang="en-GB" altLang="en-US" sz="1400" dirty="0"/>
              <a:t>5</a:t>
            </a:r>
          </a:p>
        </p:txBody>
      </p:sp>
      <p:sp>
        <p:nvSpPr>
          <p:cNvPr id="27" name="TextBox 26">
            <a:extLst>
              <a:ext uri="{FF2B5EF4-FFF2-40B4-BE49-F238E27FC236}">
                <a16:creationId xmlns:a16="http://schemas.microsoft.com/office/drawing/2014/main" id="{FAD59404-A2D5-2F4C-8C07-791D3486B8A7}"/>
              </a:ext>
            </a:extLst>
          </p:cNvPr>
          <p:cNvSpPr txBox="1"/>
          <p:nvPr/>
        </p:nvSpPr>
        <p:spPr>
          <a:xfrm>
            <a:off x="7339122" y="4076759"/>
            <a:ext cx="558903" cy="215444"/>
          </a:xfrm>
          <a:prstGeom prst="rect">
            <a:avLst/>
          </a:prstGeom>
          <a:noFill/>
        </p:spPr>
        <p:txBody>
          <a:bodyPr wrap="square" lIns="0" tIns="0" rIns="0" bIns="0" rtlCol="0" anchor="ctr" anchorCtr="0">
            <a:spAutoFit/>
          </a:bodyPr>
          <a:lstStyle/>
          <a:p>
            <a:pPr algn="ctr">
              <a:defRPr/>
            </a:pPr>
            <a:r>
              <a:rPr lang="en-GB" altLang="en-US" sz="1400" dirty="0"/>
              <a:t>10</a:t>
            </a:r>
          </a:p>
        </p:txBody>
      </p:sp>
      <p:sp>
        <p:nvSpPr>
          <p:cNvPr id="28" name="TextBox 27">
            <a:extLst>
              <a:ext uri="{FF2B5EF4-FFF2-40B4-BE49-F238E27FC236}">
                <a16:creationId xmlns:a16="http://schemas.microsoft.com/office/drawing/2014/main" id="{A568829B-2607-8F42-84E1-4D6FD6D1976B}"/>
              </a:ext>
            </a:extLst>
          </p:cNvPr>
          <p:cNvSpPr txBox="1"/>
          <p:nvPr/>
        </p:nvSpPr>
        <p:spPr>
          <a:xfrm>
            <a:off x="8506735" y="4076759"/>
            <a:ext cx="558903" cy="215444"/>
          </a:xfrm>
          <a:prstGeom prst="rect">
            <a:avLst/>
          </a:prstGeom>
          <a:noFill/>
        </p:spPr>
        <p:txBody>
          <a:bodyPr wrap="square" lIns="0" tIns="0" rIns="0" bIns="0" rtlCol="0" anchor="ctr" anchorCtr="0">
            <a:spAutoFit/>
          </a:bodyPr>
          <a:lstStyle/>
          <a:p>
            <a:pPr algn="ctr">
              <a:defRPr/>
            </a:pPr>
            <a:r>
              <a:rPr lang="en-GB" altLang="en-US" sz="1400" dirty="0"/>
              <a:t>15</a:t>
            </a:r>
          </a:p>
        </p:txBody>
      </p:sp>
      <p:sp>
        <p:nvSpPr>
          <p:cNvPr id="29" name="TextBox 28">
            <a:extLst>
              <a:ext uri="{FF2B5EF4-FFF2-40B4-BE49-F238E27FC236}">
                <a16:creationId xmlns:a16="http://schemas.microsoft.com/office/drawing/2014/main" id="{A3C92635-0533-AD4F-AB74-2490E31E9F53}"/>
              </a:ext>
            </a:extLst>
          </p:cNvPr>
          <p:cNvSpPr txBox="1"/>
          <p:nvPr/>
        </p:nvSpPr>
        <p:spPr>
          <a:xfrm>
            <a:off x="4827242" y="1963868"/>
            <a:ext cx="398895" cy="215444"/>
          </a:xfrm>
          <a:prstGeom prst="rect">
            <a:avLst/>
          </a:prstGeom>
          <a:noFill/>
        </p:spPr>
        <p:txBody>
          <a:bodyPr wrap="square" lIns="0" tIns="0" rIns="0" bIns="0" rtlCol="0" anchor="ctr" anchorCtr="0">
            <a:spAutoFit/>
          </a:bodyPr>
          <a:lstStyle/>
          <a:p>
            <a:pPr algn="r">
              <a:defRPr/>
            </a:pPr>
            <a:r>
              <a:rPr lang="en-GB" altLang="en-US" sz="1400" dirty="0"/>
              <a:t>16</a:t>
            </a:r>
          </a:p>
        </p:txBody>
      </p:sp>
      <p:sp>
        <p:nvSpPr>
          <p:cNvPr id="30" name="TextBox 29">
            <a:extLst>
              <a:ext uri="{FF2B5EF4-FFF2-40B4-BE49-F238E27FC236}">
                <a16:creationId xmlns:a16="http://schemas.microsoft.com/office/drawing/2014/main" id="{D5DF19DB-094C-A84B-AFF3-ADA845AD0461}"/>
              </a:ext>
            </a:extLst>
          </p:cNvPr>
          <p:cNvSpPr txBox="1"/>
          <p:nvPr/>
        </p:nvSpPr>
        <p:spPr>
          <a:xfrm>
            <a:off x="4827242" y="2957542"/>
            <a:ext cx="398895" cy="215444"/>
          </a:xfrm>
          <a:prstGeom prst="rect">
            <a:avLst/>
          </a:prstGeom>
          <a:noFill/>
        </p:spPr>
        <p:txBody>
          <a:bodyPr wrap="square" lIns="0" tIns="0" rIns="0" bIns="0" rtlCol="0" anchor="ctr" anchorCtr="0">
            <a:spAutoFit/>
          </a:bodyPr>
          <a:lstStyle/>
          <a:p>
            <a:pPr algn="r">
              <a:defRPr/>
            </a:pPr>
            <a:r>
              <a:rPr lang="en-GB" altLang="en-US" sz="1400" dirty="0"/>
              <a:t>8</a:t>
            </a:r>
          </a:p>
        </p:txBody>
      </p:sp>
      <p:sp>
        <p:nvSpPr>
          <p:cNvPr id="31" name="TextBox 30">
            <a:extLst>
              <a:ext uri="{FF2B5EF4-FFF2-40B4-BE49-F238E27FC236}">
                <a16:creationId xmlns:a16="http://schemas.microsoft.com/office/drawing/2014/main" id="{DBA25CF0-9B55-8346-9A5E-EE23CE303A00}"/>
              </a:ext>
            </a:extLst>
          </p:cNvPr>
          <p:cNvSpPr txBox="1"/>
          <p:nvPr/>
        </p:nvSpPr>
        <p:spPr>
          <a:xfrm>
            <a:off x="4827242" y="3454378"/>
            <a:ext cx="398895" cy="215444"/>
          </a:xfrm>
          <a:prstGeom prst="rect">
            <a:avLst/>
          </a:prstGeom>
          <a:noFill/>
        </p:spPr>
        <p:txBody>
          <a:bodyPr wrap="square" lIns="0" tIns="0" rIns="0" bIns="0" rtlCol="0" anchor="ctr" anchorCtr="0">
            <a:spAutoFit/>
          </a:bodyPr>
          <a:lstStyle/>
          <a:p>
            <a:pPr algn="r">
              <a:defRPr/>
            </a:pPr>
            <a:r>
              <a:rPr lang="en-GB" altLang="en-US" sz="1400" dirty="0"/>
              <a:t>4</a:t>
            </a:r>
          </a:p>
        </p:txBody>
      </p:sp>
      <p:sp>
        <p:nvSpPr>
          <p:cNvPr id="32" name="TextBox 31">
            <a:extLst>
              <a:ext uri="{FF2B5EF4-FFF2-40B4-BE49-F238E27FC236}">
                <a16:creationId xmlns:a16="http://schemas.microsoft.com/office/drawing/2014/main" id="{927422C0-0E80-D04A-B2B1-23282AE16EA0}"/>
              </a:ext>
            </a:extLst>
          </p:cNvPr>
          <p:cNvSpPr txBox="1"/>
          <p:nvPr/>
        </p:nvSpPr>
        <p:spPr>
          <a:xfrm>
            <a:off x="4827242" y="3935146"/>
            <a:ext cx="398895" cy="215444"/>
          </a:xfrm>
          <a:prstGeom prst="rect">
            <a:avLst/>
          </a:prstGeom>
          <a:noFill/>
        </p:spPr>
        <p:txBody>
          <a:bodyPr wrap="square" lIns="0" tIns="0" rIns="0" bIns="0" rtlCol="0" anchor="ctr" anchorCtr="0">
            <a:spAutoFit/>
          </a:bodyPr>
          <a:lstStyle/>
          <a:p>
            <a:pPr algn="r">
              <a:defRPr/>
            </a:pPr>
            <a:r>
              <a:rPr lang="en-GB" altLang="en-US" sz="1400" dirty="0"/>
              <a:t>0</a:t>
            </a:r>
          </a:p>
        </p:txBody>
      </p:sp>
      <p:cxnSp>
        <p:nvCxnSpPr>
          <p:cNvPr id="7" name="Straight Connector 6">
            <a:extLst>
              <a:ext uri="{FF2B5EF4-FFF2-40B4-BE49-F238E27FC236}">
                <a16:creationId xmlns:a16="http://schemas.microsoft.com/office/drawing/2014/main" id="{36CD34EA-F5FC-794C-A7F0-51CD7A094ADC}"/>
              </a:ext>
            </a:extLst>
          </p:cNvPr>
          <p:cNvCxnSpPr>
            <a:cxnSpLocks/>
          </p:cNvCxnSpPr>
          <p:nvPr/>
        </p:nvCxnSpPr>
        <p:spPr>
          <a:xfrm flipV="1">
            <a:off x="5287387" y="3312476"/>
            <a:ext cx="1159667" cy="731580"/>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19F6F48-948C-674A-B78A-7AC64CD86064}"/>
              </a:ext>
            </a:extLst>
          </p:cNvPr>
          <p:cNvCxnSpPr>
            <a:cxnSpLocks/>
          </p:cNvCxnSpPr>
          <p:nvPr/>
        </p:nvCxnSpPr>
        <p:spPr>
          <a:xfrm flipV="1">
            <a:off x="6447054" y="2938889"/>
            <a:ext cx="234826" cy="373587"/>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0E40CAF-00A2-F946-AE08-660B0B407360}"/>
              </a:ext>
            </a:extLst>
          </p:cNvPr>
          <p:cNvCxnSpPr>
            <a:cxnSpLocks/>
          </p:cNvCxnSpPr>
          <p:nvPr/>
        </p:nvCxnSpPr>
        <p:spPr>
          <a:xfrm flipV="1">
            <a:off x="6681880" y="2689830"/>
            <a:ext cx="928632" cy="249059"/>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E143F7D-1C2B-FC4F-B305-AA581B55981E}"/>
              </a:ext>
            </a:extLst>
          </p:cNvPr>
          <p:cNvSpPr txBox="1"/>
          <p:nvPr/>
        </p:nvSpPr>
        <p:spPr>
          <a:xfrm>
            <a:off x="4827242" y="2460705"/>
            <a:ext cx="398895" cy="215444"/>
          </a:xfrm>
          <a:prstGeom prst="rect">
            <a:avLst/>
          </a:prstGeom>
          <a:noFill/>
        </p:spPr>
        <p:txBody>
          <a:bodyPr wrap="square" lIns="0" tIns="0" rIns="0" bIns="0" rtlCol="0" anchor="ctr" anchorCtr="0">
            <a:spAutoFit/>
          </a:bodyPr>
          <a:lstStyle/>
          <a:p>
            <a:pPr algn="r">
              <a:defRPr/>
            </a:pPr>
            <a:r>
              <a:rPr lang="en-GB" altLang="en-US" sz="1400" dirty="0"/>
              <a:t>12</a:t>
            </a:r>
          </a:p>
        </p:txBody>
      </p:sp>
      <p:cxnSp>
        <p:nvCxnSpPr>
          <p:cNvPr id="44" name="Straight Connector 43">
            <a:extLst>
              <a:ext uri="{FF2B5EF4-FFF2-40B4-BE49-F238E27FC236}">
                <a16:creationId xmlns:a16="http://schemas.microsoft.com/office/drawing/2014/main" id="{C8C44F02-E9AE-B841-B9E8-8665361DA80A}"/>
              </a:ext>
            </a:extLst>
          </p:cNvPr>
          <p:cNvCxnSpPr>
            <a:cxnSpLocks/>
          </p:cNvCxnSpPr>
          <p:nvPr/>
        </p:nvCxnSpPr>
        <p:spPr>
          <a:xfrm flipV="1">
            <a:off x="7610512" y="1821684"/>
            <a:ext cx="466860" cy="868147"/>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7D993A2-192A-3442-AD50-629D545995D7}"/>
              </a:ext>
            </a:extLst>
          </p:cNvPr>
          <p:cNvCxnSpPr>
            <a:cxnSpLocks/>
          </p:cNvCxnSpPr>
          <p:nvPr/>
        </p:nvCxnSpPr>
        <p:spPr>
          <a:xfrm flipV="1">
            <a:off x="8077372" y="1572626"/>
            <a:ext cx="468888" cy="249058"/>
          </a:xfrm>
          <a:prstGeom prst="line">
            <a:avLst/>
          </a:prstGeom>
          <a:ln w="19050" cap="rnd">
            <a:solidFill>
              <a:schemeClr val="bg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D2E30882-A5B7-7EE4-0D32-4F10732F1F2C}"/>
              </a:ext>
            </a:extLst>
          </p:cNvPr>
          <p:cNvSpPr txBox="1"/>
          <p:nvPr/>
        </p:nvSpPr>
        <p:spPr>
          <a:xfrm>
            <a:off x="656203" y="1510992"/>
            <a:ext cx="2715715" cy="2893100"/>
          </a:xfrm>
          <a:prstGeom prst="rect">
            <a:avLst/>
          </a:prstGeom>
          <a:noFill/>
        </p:spPr>
        <p:txBody>
          <a:bodyPr wrap="square" rtlCol="0">
            <a:spAutoFit/>
          </a:bodyPr>
          <a:lstStyle/>
          <a:p>
            <a:pPr marL="342900" indent="-342900">
              <a:buAutoNum type="alphaLcParenR"/>
            </a:pPr>
            <a:r>
              <a:rPr lang="en-US" sz="1400" b="1" dirty="0"/>
              <a:t>What is the total distance the car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After 4 seconds how far had the car travelled?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What happened did the car do between 10 and 12 seconds? </a:t>
            </a:r>
          </a:p>
          <a:p>
            <a:pPr marL="342900" indent="-342900">
              <a:buAutoNum type="alphaLcParenR"/>
            </a:pPr>
            <a:endParaRPr lang="en-US" sz="1400" b="1" dirty="0"/>
          </a:p>
          <a:p>
            <a:pPr marL="342900" indent="-342900">
              <a:buAutoNum type="alphaLcParenR"/>
            </a:pPr>
            <a:r>
              <a:rPr lang="en-US" sz="1400" b="1" dirty="0"/>
              <a:t>Was the car ever stopped? </a:t>
            </a:r>
            <a:endParaRPr lang="en-AU" sz="1400" b="1" dirty="0"/>
          </a:p>
        </p:txBody>
      </p:sp>
    </p:spTree>
    <p:extLst>
      <p:ext uri="{BB962C8B-B14F-4D97-AF65-F5344CB8AC3E}">
        <p14:creationId xmlns:p14="http://schemas.microsoft.com/office/powerpoint/2010/main" val="1891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 name="TextBox 75">
            <a:extLst>
              <a:ext uri="{FF2B5EF4-FFF2-40B4-BE49-F238E27FC236}">
                <a16:creationId xmlns:a16="http://schemas.microsoft.com/office/drawing/2014/main" id="{E972EA4E-F219-D24B-B41D-9ED89149BD47}"/>
              </a:ext>
            </a:extLst>
          </p:cNvPr>
          <p:cNvSpPr txBox="1"/>
          <p:nvPr/>
        </p:nvSpPr>
        <p:spPr>
          <a:xfrm>
            <a:off x="39060" y="954523"/>
            <a:ext cx="513302" cy="246221"/>
          </a:xfrm>
          <a:prstGeom prst="rect">
            <a:avLst/>
          </a:prstGeom>
          <a:noFill/>
        </p:spPr>
        <p:txBody>
          <a:bodyPr wrap="square" lIns="36000" tIns="0" rIns="0" bIns="0" rtlCol="0">
            <a:spAutoFit/>
          </a:bodyPr>
          <a:lstStyle/>
          <a:p>
            <a:r>
              <a:rPr lang="en-GB" sz="1600" b="1" dirty="0"/>
              <a:t>Q5</a:t>
            </a:r>
          </a:p>
        </p:txBody>
      </p:sp>
      <p:sp>
        <p:nvSpPr>
          <p:cNvPr id="77" name="TextBox 76">
            <a:extLst>
              <a:ext uri="{FF2B5EF4-FFF2-40B4-BE49-F238E27FC236}">
                <a16:creationId xmlns:a16="http://schemas.microsoft.com/office/drawing/2014/main" id="{1A948131-C908-7740-9A2E-AEB74ACC7E64}"/>
              </a:ext>
            </a:extLst>
          </p:cNvPr>
          <p:cNvSpPr txBox="1"/>
          <p:nvPr/>
        </p:nvSpPr>
        <p:spPr>
          <a:xfrm>
            <a:off x="440667" y="952519"/>
            <a:ext cx="3326674" cy="984885"/>
          </a:xfrm>
          <a:prstGeom prst="rect">
            <a:avLst/>
          </a:prstGeom>
          <a:noFill/>
        </p:spPr>
        <p:txBody>
          <a:bodyPr wrap="square" lIns="36000" tIns="0" rIns="0" bIns="0" rtlCol="0" anchor="t">
            <a:spAutoFit/>
          </a:bodyPr>
          <a:lstStyle/>
          <a:p>
            <a:pPr>
              <a:defRPr/>
            </a:pPr>
            <a:r>
              <a:rPr lang="en-GB" altLang="en-US" sz="1600" dirty="0"/>
              <a:t>Five distance-time graphs are shown.</a:t>
            </a:r>
          </a:p>
          <a:p>
            <a:pPr>
              <a:defRPr/>
            </a:pPr>
            <a:r>
              <a:rPr lang="en-GB" altLang="en-US" sz="1600" dirty="0"/>
              <a:t>Each box below describes one graph.</a:t>
            </a:r>
          </a:p>
          <a:p>
            <a:pPr>
              <a:defRPr/>
            </a:pPr>
            <a:r>
              <a:rPr lang="en-GB" altLang="en-US" sz="1600" dirty="0"/>
              <a:t>Write the letter of the correct graph next to its description.</a:t>
            </a:r>
          </a:p>
        </p:txBody>
      </p:sp>
      <p:sp>
        <p:nvSpPr>
          <p:cNvPr id="78" name="Rectangle 77">
            <a:extLst>
              <a:ext uri="{FF2B5EF4-FFF2-40B4-BE49-F238E27FC236}">
                <a16:creationId xmlns:a16="http://schemas.microsoft.com/office/drawing/2014/main" id="{3A100F80-352F-C74D-825C-8DBE01CB7184}"/>
              </a:ext>
            </a:extLst>
          </p:cNvPr>
          <p:cNvSpPr/>
          <p:nvPr/>
        </p:nvSpPr>
        <p:spPr>
          <a:xfrm rot="16200000">
            <a:off x="-127098" y="1451619"/>
            <a:ext cx="640770"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grpSp>
        <p:nvGrpSpPr>
          <p:cNvPr id="17" name="Group 16">
            <a:extLst>
              <a:ext uri="{FF2B5EF4-FFF2-40B4-BE49-F238E27FC236}">
                <a16:creationId xmlns:a16="http://schemas.microsoft.com/office/drawing/2014/main" id="{E04A298B-BC16-BF42-9D1B-2A0B71FF1B5C}"/>
              </a:ext>
            </a:extLst>
          </p:cNvPr>
          <p:cNvGrpSpPr/>
          <p:nvPr/>
        </p:nvGrpSpPr>
        <p:grpSpPr>
          <a:xfrm>
            <a:off x="4730195" y="1451469"/>
            <a:ext cx="1759978" cy="1107272"/>
            <a:chOff x="4430734" y="1014571"/>
            <a:chExt cx="1599980" cy="1217999"/>
          </a:xfrm>
        </p:grpSpPr>
        <p:cxnSp>
          <p:nvCxnSpPr>
            <p:cNvPr id="130" name="Straight Connector 129">
              <a:extLst>
                <a:ext uri="{FF2B5EF4-FFF2-40B4-BE49-F238E27FC236}">
                  <a16:creationId xmlns:a16="http://schemas.microsoft.com/office/drawing/2014/main" id="{2874EA77-06B1-0445-9837-E2C042173A32}"/>
                </a:ext>
              </a:extLst>
            </p:cNvPr>
            <p:cNvCxnSpPr>
              <a:cxnSpLocks/>
            </p:cNvCxnSpPr>
            <p:nvPr/>
          </p:nvCxnSpPr>
          <p:spPr>
            <a:xfrm flipH="1" flipV="1">
              <a:off x="5727442" y="1608816"/>
              <a:ext cx="125696" cy="394493"/>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2F2B822-8B44-7740-9110-C2008FFBAFAA}"/>
                </a:ext>
              </a:extLst>
            </p:cNvPr>
            <p:cNvCxnSpPr>
              <a:cxnSpLocks/>
            </p:cNvCxnSpPr>
            <p:nvPr/>
          </p:nvCxnSpPr>
          <p:spPr>
            <a:xfrm flipV="1">
              <a:off x="5167980" y="1608816"/>
              <a:ext cx="276324" cy="395723"/>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81F8DC7D-AE13-8841-A3D9-C442D05C5D10}"/>
                </a:ext>
              </a:extLst>
            </p:cNvPr>
            <p:cNvGrpSpPr/>
            <p:nvPr/>
          </p:nvGrpSpPr>
          <p:grpSpPr>
            <a:xfrm>
              <a:off x="4430734" y="1014571"/>
              <a:ext cx="1599980" cy="1217999"/>
              <a:chOff x="4430734" y="1014571"/>
              <a:chExt cx="1599980" cy="1217999"/>
            </a:xfrm>
          </p:grpSpPr>
          <p:sp>
            <p:nvSpPr>
              <p:cNvPr id="65" name="TextBox 64">
                <a:extLst>
                  <a:ext uri="{FF2B5EF4-FFF2-40B4-BE49-F238E27FC236}">
                    <a16:creationId xmlns:a16="http://schemas.microsoft.com/office/drawing/2014/main" id="{F2BD001E-2251-A443-8FCA-5B364313C94E}"/>
                  </a:ext>
                </a:extLst>
              </p:cNvPr>
              <p:cNvSpPr txBox="1"/>
              <p:nvPr/>
            </p:nvSpPr>
            <p:spPr>
              <a:xfrm>
                <a:off x="4430734" y="1077633"/>
                <a:ext cx="655341" cy="553998"/>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Distance</a:t>
                </a:r>
              </a:p>
              <a:p>
                <a:pPr algn="r">
                  <a:defRPr/>
                </a:pPr>
                <a:r>
                  <a:rPr lang="en-GB" altLang="en-US" sz="1200" b="1" dirty="0">
                    <a:solidFill>
                      <a:schemeClr val="accent5">
                        <a:lumMod val="50000"/>
                      </a:schemeClr>
                    </a:solidFill>
                  </a:rPr>
                  <a:t>from</a:t>
                </a:r>
              </a:p>
              <a:p>
                <a:pPr algn="r">
                  <a:defRPr/>
                </a:pPr>
                <a:r>
                  <a:rPr lang="en-GB" altLang="en-US" sz="1200" b="1" dirty="0">
                    <a:solidFill>
                      <a:schemeClr val="accent5">
                        <a:lumMod val="50000"/>
                      </a:schemeClr>
                    </a:solidFill>
                  </a:rPr>
                  <a:t>home</a:t>
                </a:r>
              </a:p>
            </p:txBody>
          </p:sp>
          <p:sp>
            <p:nvSpPr>
              <p:cNvPr id="66" name="TextBox 65">
                <a:extLst>
                  <a:ext uri="{FF2B5EF4-FFF2-40B4-BE49-F238E27FC236}">
                    <a16:creationId xmlns:a16="http://schemas.microsoft.com/office/drawing/2014/main" id="{01079CAD-1FAC-5F41-A7AE-04AE8D908A7A}"/>
                  </a:ext>
                </a:extLst>
              </p:cNvPr>
              <p:cNvSpPr txBox="1"/>
              <p:nvPr/>
            </p:nvSpPr>
            <p:spPr>
              <a:xfrm>
                <a:off x="5375373" y="2047904"/>
                <a:ext cx="655341" cy="184666"/>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Time</a:t>
                </a:r>
              </a:p>
            </p:txBody>
          </p:sp>
          <p:sp>
            <p:nvSpPr>
              <p:cNvPr id="67" name="TextBox 66">
                <a:extLst>
                  <a:ext uri="{FF2B5EF4-FFF2-40B4-BE49-F238E27FC236}">
                    <a16:creationId xmlns:a16="http://schemas.microsoft.com/office/drawing/2014/main" id="{B9C07651-6CF2-394D-946B-956920ED92BC}"/>
                  </a:ext>
                </a:extLst>
              </p:cNvPr>
              <p:cNvSpPr txBox="1"/>
              <p:nvPr/>
            </p:nvSpPr>
            <p:spPr>
              <a:xfrm>
                <a:off x="5267443" y="1014571"/>
                <a:ext cx="655341" cy="184666"/>
              </a:xfrm>
              <a:prstGeom prst="rect">
                <a:avLst/>
              </a:prstGeom>
              <a:noFill/>
            </p:spPr>
            <p:txBody>
              <a:bodyPr wrap="square" lIns="0" tIns="0" rIns="0" bIns="0" rtlCol="0" anchor="ctr" anchorCtr="0">
                <a:spAutoFit/>
              </a:bodyPr>
              <a:lstStyle/>
              <a:p>
                <a:pPr algn="ctr">
                  <a:defRPr/>
                </a:pPr>
                <a:r>
                  <a:rPr lang="en-GB" altLang="en-US" sz="1200" b="1" dirty="0">
                    <a:solidFill>
                      <a:schemeClr val="tx2">
                        <a:lumMod val="50000"/>
                      </a:schemeClr>
                    </a:solidFill>
                  </a:rPr>
                  <a:t>Graph A</a:t>
                </a:r>
              </a:p>
            </p:txBody>
          </p:sp>
          <p:sp>
            <p:nvSpPr>
              <p:cNvPr id="4" name="Freeform 3">
                <a:extLst>
                  <a:ext uri="{FF2B5EF4-FFF2-40B4-BE49-F238E27FC236}">
                    <a16:creationId xmlns:a16="http://schemas.microsoft.com/office/drawing/2014/main" id="{49123CE8-6FEA-1E40-8A04-5DBFB6C437F6}"/>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31" name="Straight Connector 130">
              <a:extLst>
                <a:ext uri="{FF2B5EF4-FFF2-40B4-BE49-F238E27FC236}">
                  <a16:creationId xmlns:a16="http://schemas.microsoft.com/office/drawing/2014/main" id="{3418DB58-675C-E843-8CAB-B3C189A428A1}"/>
                </a:ext>
              </a:extLst>
            </p:cNvPr>
            <p:cNvCxnSpPr>
              <a:cxnSpLocks/>
            </p:cNvCxnSpPr>
            <p:nvPr/>
          </p:nvCxnSpPr>
          <p:spPr>
            <a:xfrm>
              <a:off x="5444304" y="1608816"/>
              <a:ext cx="283138"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BB3421FE-1C7E-E74F-A5EB-64B5B95B4279}"/>
              </a:ext>
            </a:extLst>
          </p:cNvPr>
          <p:cNvGrpSpPr/>
          <p:nvPr/>
        </p:nvGrpSpPr>
        <p:grpSpPr>
          <a:xfrm>
            <a:off x="6371450" y="1058665"/>
            <a:ext cx="1759978" cy="1107272"/>
            <a:chOff x="4430734" y="1014571"/>
            <a:chExt cx="1599980" cy="1217999"/>
          </a:xfrm>
        </p:grpSpPr>
        <p:cxnSp>
          <p:nvCxnSpPr>
            <p:cNvPr id="91" name="Straight Connector 90">
              <a:extLst>
                <a:ext uri="{FF2B5EF4-FFF2-40B4-BE49-F238E27FC236}">
                  <a16:creationId xmlns:a16="http://schemas.microsoft.com/office/drawing/2014/main" id="{D385DE20-09F3-BD42-ACE4-74DECB10E64B}"/>
                </a:ext>
              </a:extLst>
            </p:cNvPr>
            <p:cNvCxnSpPr>
              <a:cxnSpLocks/>
            </p:cNvCxnSpPr>
            <p:nvPr/>
          </p:nvCxnSpPr>
          <p:spPr>
            <a:xfrm flipV="1">
              <a:off x="5167980" y="1337734"/>
              <a:ext cx="692646" cy="666804"/>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322817C6-AF5E-C544-B571-4BB924855D35}"/>
                </a:ext>
              </a:extLst>
            </p:cNvPr>
            <p:cNvGrpSpPr/>
            <p:nvPr/>
          </p:nvGrpSpPr>
          <p:grpSpPr>
            <a:xfrm>
              <a:off x="4430734" y="1014571"/>
              <a:ext cx="1599980" cy="1217999"/>
              <a:chOff x="4430734" y="1014571"/>
              <a:chExt cx="1599980" cy="1217999"/>
            </a:xfrm>
          </p:grpSpPr>
          <p:sp>
            <p:nvSpPr>
              <p:cNvPr id="93" name="Freeform 92">
                <a:extLst>
                  <a:ext uri="{FF2B5EF4-FFF2-40B4-BE49-F238E27FC236}">
                    <a16:creationId xmlns:a16="http://schemas.microsoft.com/office/drawing/2014/main" id="{9F524964-BC96-C240-92A7-B9AC9601FAF8}"/>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TextBox 93">
                <a:extLst>
                  <a:ext uri="{FF2B5EF4-FFF2-40B4-BE49-F238E27FC236}">
                    <a16:creationId xmlns:a16="http://schemas.microsoft.com/office/drawing/2014/main" id="{BC686751-2787-B446-B510-9D2D3916DC02}"/>
                  </a:ext>
                </a:extLst>
              </p:cNvPr>
              <p:cNvSpPr txBox="1"/>
              <p:nvPr/>
            </p:nvSpPr>
            <p:spPr>
              <a:xfrm>
                <a:off x="4430734" y="1077633"/>
                <a:ext cx="655341" cy="553998"/>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Distance</a:t>
                </a:r>
              </a:p>
              <a:p>
                <a:pPr algn="r">
                  <a:defRPr/>
                </a:pPr>
                <a:r>
                  <a:rPr lang="en-GB" altLang="en-US" sz="1200" b="1" dirty="0">
                    <a:solidFill>
                      <a:schemeClr val="accent5">
                        <a:lumMod val="50000"/>
                      </a:schemeClr>
                    </a:solidFill>
                  </a:rPr>
                  <a:t>from</a:t>
                </a:r>
              </a:p>
              <a:p>
                <a:pPr algn="r">
                  <a:defRPr/>
                </a:pPr>
                <a:r>
                  <a:rPr lang="en-GB" altLang="en-US" sz="1200" b="1" dirty="0">
                    <a:solidFill>
                      <a:schemeClr val="accent5">
                        <a:lumMod val="50000"/>
                      </a:schemeClr>
                    </a:solidFill>
                  </a:rPr>
                  <a:t>home</a:t>
                </a:r>
              </a:p>
            </p:txBody>
          </p:sp>
          <p:sp>
            <p:nvSpPr>
              <p:cNvPr id="95" name="TextBox 94">
                <a:extLst>
                  <a:ext uri="{FF2B5EF4-FFF2-40B4-BE49-F238E27FC236}">
                    <a16:creationId xmlns:a16="http://schemas.microsoft.com/office/drawing/2014/main" id="{AD955028-DBA3-3E40-BBD0-417A5846F984}"/>
                  </a:ext>
                </a:extLst>
              </p:cNvPr>
              <p:cNvSpPr txBox="1"/>
              <p:nvPr/>
            </p:nvSpPr>
            <p:spPr>
              <a:xfrm>
                <a:off x="5375373" y="2047904"/>
                <a:ext cx="655341" cy="184666"/>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Time</a:t>
                </a:r>
              </a:p>
            </p:txBody>
          </p:sp>
          <p:sp>
            <p:nvSpPr>
              <p:cNvPr id="96" name="TextBox 95">
                <a:extLst>
                  <a:ext uri="{FF2B5EF4-FFF2-40B4-BE49-F238E27FC236}">
                    <a16:creationId xmlns:a16="http://schemas.microsoft.com/office/drawing/2014/main" id="{5781E853-0DFD-7D48-90E8-74C91D31F2D0}"/>
                  </a:ext>
                </a:extLst>
              </p:cNvPr>
              <p:cNvSpPr txBox="1"/>
              <p:nvPr/>
            </p:nvSpPr>
            <p:spPr>
              <a:xfrm>
                <a:off x="5267443" y="1014571"/>
                <a:ext cx="655341" cy="184666"/>
              </a:xfrm>
              <a:prstGeom prst="rect">
                <a:avLst/>
              </a:prstGeom>
              <a:noFill/>
            </p:spPr>
            <p:txBody>
              <a:bodyPr wrap="square" lIns="0" tIns="0" rIns="0" bIns="0" rtlCol="0" anchor="ctr" anchorCtr="0">
                <a:spAutoFit/>
              </a:bodyPr>
              <a:lstStyle/>
              <a:p>
                <a:pPr algn="ctr">
                  <a:defRPr/>
                </a:pPr>
                <a:r>
                  <a:rPr lang="en-GB" altLang="en-US" sz="1200" b="1" dirty="0">
                    <a:solidFill>
                      <a:schemeClr val="tx2">
                        <a:lumMod val="50000"/>
                      </a:schemeClr>
                    </a:solidFill>
                  </a:rPr>
                  <a:t>Graph C</a:t>
                </a:r>
              </a:p>
            </p:txBody>
          </p:sp>
        </p:grpSp>
      </p:grpSp>
      <p:grpSp>
        <p:nvGrpSpPr>
          <p:cNvPr id="97" name="Group 96">
            <a:extLst>
              <a:ext uri="{FF2B5EF4-FFF2-40B4-BE49-F238E27FC236}">
                <a16:creationId xmlns:a16="http://schemas.microsoft.com/office/drawing/2014/main" id="{E3CF259C-F62A-DD49-83C6-ADD94AC339F0}"/>
              </a:ext>
            </a:extLst>
          </p:cNvPr>
          <p:cNvGrpSpPr/>
          <p:nvPr/>
        </p:nvGrpSpPr>
        <p:grpSpPr>
          <a:xfrm>
            <a:off x="6470749" y="3291246"/>
            <a:ext cx="1759978" cy="1124899"/>
            <a:chOff x="4430734" y="995182"/>
            <a:chExt cx="1599980" cy="1237388"/>
          </a:xfrm>
        </p:grpSpPr>
        <p:cxnSp>
          <p:nvCxnSpPr>
            <p:cNvPr id="98" name="Straight Connector 97">
              <a:extLst>
                <a:ext uri="{FF2B5EF4-FFF2-40B4-BE49-F238E27FC236}">
                  <a16:creationId xmlns:a16="http://schemas.microsoft.com/office/drawing/2014/main" id="{8158999D-CDF3-6B4B-BB28-11CE6C7AD71A}"/>
                </a:ext>
              </a:extLst>
            </p:cNvPr>
            <p:cNvCxnSpPr>
              <a:cxnSpLocks/>
            </p:cNvCxnSpPr>
            <p:nvPr/>
          </p:nvCxnSpPr>
          <p:spPr>
            <a:xfrm flipV="1">
              <a:off x="5167980" y="1783236"/>
              <a:ext cx="267858" cy="221302"/>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99" name="Group 98">
              <a:extLst>
                <a:ext uri="{FF2B5EF4-FFF2-40B4-BE49-F238E27FC236}">
                  <a16:creationId xmlns:a16="http://schemas.microsoft.com/office/drawing/2014/main" id="{C25479EE-7FD4-E949-8D0B-5F9189AEBD7E}"/>
                </a:ext>
              </a:extLst>
            </p:cNvPr>
            <p:cNvGrpSpPr/>
            <p:nvPr/>
          </p:nvGrpSpPr>
          <p:grpSpPr>
            <a:xfrm>
              <a:off x="4430734" y="995182"/>
              <a:ext cx="1599980" cy="1237388"/>
              <a:chOff x="4430734" y="995182"/>
              <a:chExt cx="1599980" cy="1237388"/>
            </a:xfrm>
          </p:grpSpPr>
          <p:sp>
            <p:nvSpPr>
              <p:cNvPr id="100" name="Freeform 99">
                <a:extLst>
                  <a:ext uri="{FF2B5EF4-FFF2-40B4-BE49-F238E27FC236}">
                    <a16:creationId xmlns:a16="http://schemas.microsoft.com/office/drawing/2014/main" id="{07A1C518-6191-C748-840E-809600B36C80}"/>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TextBox 100">
                <a:extLst>
                  <a:ext uri="{FF2B5EF4-FFF2-40B4-BE49-F238E27FC236}">
                    <a16:creationId xmlns:a16="http://schemas.microsoft.com/office/drawing/2014/main" id="{368542DA-8A31-2E4E-8DDD-5FF43F018DE7}"/>
                  </a:ext>
                </a:extLst>
              </p:cNvPr>
              <p:cNvSpPr txBox="1"/>
              <p:nvPr/>
            </p:nvSpPr>
            <p:spPr>
              <a:xfrm>
                <a:off x="4430734" y="1077633"/>
                <a:ext cx="655341" cy="553998"/>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Distance</a:t>
                </a:r>
              </a:p>
              <a:p>
                <a:pPr algn="r">
                  <a:defRPr/>
                </a:pPr>
                <a:r>
                  <a:rPr lang="en-GB" altLang="en-US" sz="1200" b="1" dirty="0">
                    <a:solidFill>
                      <a:schemeClr val="accent5">
                        <a:lumMod val="50000"/>
                      </a:schemeClr>
                    </a:solidFill>
                  </a:rPr>
                  <a:t>from</a:t>
                </a:r>
              </a:p>
              <a:p>
                <a:pPr algn="r">
                  <a:defRPr/>
                </a:pPr>
                <a:r>
                  <a:rPr lang="en-GB" altLang="en-US" sz="1200" b="1" dirty="0">
                    <a:solidFill>
                      <a:schemeClr val="accent5">
                        <a:lumMod val="50000"/>
                      </a:schemeClr>
                    </a:solidFill>
                  </a:rPr>
                  <a:t>home</a:t>
                </a:r>
              </a:p>
            </p:txBody>
          </p:sp>
          <p:sp>
            <p:nvSpPr>
              <p:cNvPr id="102" name="TextBox 101">
                <a:extLst>
                  <a:ext uri="{FF2B5EF4-FFF2-40B4-BE49-F238E27FC236}">
                    <a16:creationId xmlns:a16="http://schemas.microsoft.com/office/drawing/2014/main" id="{145F4937-FE38-4848-AFA6-0CA1525F1163}"/>
                  </a:ext>
                </a:extLst>
              </p:cNvPr>
              <p:cNvSpPr txBox="1"/>
              <p:nvPr/>
            </p:nvSpPr>
            <p:spPr>
              <a:xfrm>
                <a:off x="5375373" y="2047904"/>
                <a:ext cx="655341" cy="184666"/>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Time</a:t>
                </a:r>
              </a:p>
            </p:txBody>
          </p:sp>
          <p:sp>
            <p:nvSpPr>
              <p:cNvPr id="103" name="TextBox 102">
                <a:extLst>
                  <a:ext uri="{FF2B5EF4-FFF2-40B4-BE49-F238E27FC236}">
                    <a16:creationId xmlns:a16="http://schemas.microsoft.com/office/drawing/2014/main" id="{AF2299B0-0499-B948-868C-95A8ACB65F74}"/>
                  </a:ext>
                </a:extLst>
              </p:cNvPr>
              <p:cNvSpPr txBox="1"/>
              <p:nvPr/>
            </p:nvSpPr>
            <p:spPr>
              <a:xfrm>
                <a:off x="5267443" y="995182"/>
                <a:ext cx="655341" cy="223446"/>
              </a:xfrm>
              <a:prstGeom prst="rect">
                <a:avLst/>
              </a:prstGeom>
              <a:noFill/>
            </p:spPr>
            <p:txBody>
              <a:bodyPr wrap="square" lIns="0" tIns="0" rIns="0" bIns="0" rtlCol="0" anchor="ctr" anchorCtr="0">
                <a:spAutoFit/>
              </a:bodyPr>
              <a:lstStyle/>
              <a:p>
                <a:pPr algn="ctr">
                  <a:defRPr/>
                </a:pPr>
                <a:r>
                  <a:rPr lang="en-GB" altLang="en-US" sz="1200" b="1" dirty="0">
                    <a:solidFill>
                      <a:schemeClr val="tx2">
                        <a:lumMod val="50000"/>
                      </a:schemeClr>
                    </a:solidFill>
                  </a:rPr>
                  <a:t>Graph D</a:t>
                </a:r>
              </a:p>
            </p:txBody>
          </p:sp>
        </p:grpSp>
        <p:cxnSp>
          <p:nvCxnSpPr>
            <p:cNvPr id="127" name="Straight Connector 126">
              <a:extLst>
                <a:ext uri="{FF2B5EF4-FFF2-40B4-BE49-F238E27FC236}">
                  <a16:creationId xmlns:a16="http://schemas.microsoft.com/office/drawing/2014/main" id="{990D0913-55C1-DC47-8D58-8A30D6EF8230}"/>
                </a:ext>
              </a:extLst>
            </p:cNvPr>
            <p:cNvCxnSpPr>
              <a:cxnSpLocks/>
            </p:cNvCxnSpPr>
            <p:nvPr/>
          </p:nvCxnSpPr>
          <p:spPr>
            <a:xfrm>
              <a:off x="5444304" y="1783236"/>
              <a:ext cx="69999"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C74B013-0147-044B-8BBB-A2B0FE06B46D}"/>
                </a:ext>
              </a:extLst>
            </p:cNvPr>
            <p:cNvCxnSpPr>
              <a:cxnSpLocks/>
            </p:cNvCxnSpPr>
            <p:nvPr/>
          </p:nvCxnSpPr>
          <p:spPr>
            <a:xfrm flipV="1">
              <a:off x="5522769" y="1380585"/>
              <a:ext cx="243031" cy="402651"/>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1F57C4E6-A356-C14B-A326-6947C9F5DA5B}"/>
              </a:ext>
            </a:extLst>
          </p:cNvPr>
          <p:cNvGrpSpPr/>
          <p:nvPr/>
        </p:nvGrpSpPr>
        <p:grpSpPr>
          <a:xfrm>
            <a:off x="7273875" y="2271144"/>
            <a:ext cx="1759978" cy="1124899"/>
            <a:chOff x="4430734" y="995182"/>
            <a:chExt cx="1599980" cy="1237388"/>
          </a:xfrm>
        </p:grpSpPr>
        <p:cxnSp>
          <p:nvCxnSpPr>
            <p:cNvPr id="105" name="Straight Connector 104">
              <a:extLst>
                <a:ext uri="{FF2B5EF4-FFF2-40B4-BE49-F238E27FC236}">
                  <a16:creationId xmlns:a16="http://schemas.microsoft.com/office/drawing/2014/main" id="{FF19DCA5-7C71-B54E-8126-A53DCF0414DD}"/>
                </a:ext>
              </a:extLst>
            </p:cNvPr>
            <p:cNvCxnSpPr>
              <a:cxnSpLocks/>
            </p:cNvCxnSpPr>
            <p:nvPr/>
          </p:nvCxnSpPr>
          <p:spPr>
            <a:xfrm>
              <a:off x="5159514" y="1561934"/>
              <a:ext cx="763270" cy="442604"/>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EF4BA187-AE6D-6E43-A23E-3B61AD958DE1}"/>
                </a:ext>
              </a:extLst>
            </p:cNvPr>
            <p:cNvGrpSpPr/>
            <p:nvPr/>
          </p:nvGrpSpPr>
          <p:grpSpPr>
            <a:xfrm>
              <a:off x="4430734" y="995182"/>
              <a:ext cx="1599980" cy="1237388"/>
              <a:chOff x="4430734" y="995182"/>
              <a:chExt cx="1599980" cy="1237388"/>
            </a:xfrm>
          </p:grpSpPr>
          <p:sp>
            <p:nvSpPr>
              <p:cNvPr id="107" name="Freeform 106">
                <a:extLst>
                  <a:ext uri="{FF2B5EF4-FFF2-40B4-BE49-F238E27FC236}">
                    <a16:creationId xmlns:a16="http://schemas.microsoft.com/office/drawing/2014/main" id="{12648B77-993B-E24C-96F0-47530DA6CEEB}"/>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TextBox 107">
                <a:extLst>
                  <a:ext uri="{FF2B5EF4-FFF2-40B4-BE49-F238E27FC236}">
                    <a16:creationId xmlns:a16="http://schemas.microsoft.com/office/drawing/2014/main" id="{45004B40-2524-3542-B7C6-AFD17DAC7D5B}"/>
                  </a:ext>
                </a:extLst>
              </p:cNvPr>
              <p:cNvSpPr txBox="1"/>
              <p:nvPr/>
            </p:nvSpPr>
            <p:spPr>
              <a:xfrm>
                <a:off x="4430734" y="1077633"/>
                <a:ext cx="655341" cy="553998"/>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Distance</a:t>
                </a:r>
              </a:p>
              <a:p>
                <a:pPr algn="r">
                  <a:defRPr/>
                </a:pPr>
                <a:r>
                  <a:rPr lang="en-GB" altLang="en-US" sz="1200" b="1" dirty="0">
                    <a:solidFill>
                      <a:schemeClr val="accent5">
                        <a:lumMod val="50000"/>
                      </a:schemeClr>
                    </a:solidFill>
                  </a:rPr>
                  <a:t>from</a:t>
                </a:r>
              </a:p>
              <a:p>
                <a:pPr algn="r">
                  <a:defRPr/>
                </a:pPr>
                <a:r>
                  <a:rPr lang="en-GB" altLang="en-US" sz="1200" b="1" dirty="0">
                    <a:solidFill>
                      <a:schemeClr val="accent5">
                        <a:lumMod val="50000"/>
                      </a:schemeClr>
                    </a:solidFill>
                  </a:rPr>
                  <a:t>home</a:t>
                </a:r>
              </a:p>
            </p:txBody>
          </p:sp>
          <p:sp>
            <p:nvSpPr>
              <p:cNvPr id="109" name="TextBox 108">
                <a:extLst>
                  <a:ext uri="{FF2B5EF4-FFF2-40B4-BE49-F238E27FC236}">
                    <a16:creationId xmlns:a16="http://schemas.microsoft.com/office/drawing/2014/main" id="{7C36AEE0-8465-824B-9D10-F73B0DD1E335}"/>
                  </a:ext>
                </a:extLst>
              </p:cNvPr>
              <p:cNvSpPr txBox="1"/>
              <p:nvPr/>
            </p:nvSpPr>
            <p:spPr>
              <a:xfrm>
                <a:off x="5375373" y="2047904"/>
                <a:ext cx="655341" cy="184666"/>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Time</a:t>
                </a:r>
              </a:p>
            </p:txBody>
          </p:sp>
          <p:sp>
            <p:nvSpPr>
              <p:cNvPr id="110" name="TextBox 109">
                <a:extLst>
                  <a:ext uri="{FF2B5EF4-FFF2-40B4-BE49-F238E27FC236}">
                    <a16:creationId xmlns:a16="http://schemas.microsoft.com/office/drawing/2014/main" id="{30268707-7524-2049-8FC5-D39FBC278DA2}"/>
                  </a:ext>
                </a:extLst>
              </p:cNvPr>
              <p:cNvSpPr txBox="1"/>
              <p:nvPr/>
            </p:nvSpPr>
            <p:spPr>
              <a:xfrm>
                <a:off x="5267443" y="995182"/>
                <a:ext cx="655341" cy="223446"/>
              </a:xfrm>
              <a:prstGeom prst="rect">
                <a:avLst/>
              </a:prstGeom>
              <a:noFill/>
            </p:spPr>
            <p:txBody>
              <a:bodyPr wrap="square" lIns="0" tIns="0" rIns="0" bIns="0" rtlCol="0" anchor="ctr" anchorCtr="0">
                <a:spAutoFit/>
              </a:bodyPr>
              <a:lstStyle/>
              <a:p>
                <a:pPr algn="ctr">
                  <a:defRPr/>
                </a:pPr>
                <a:r>
                  <a:rPr lang="en-GB" altLang="en-US" sz="1200" b="1" dirty="0">
                    <a:solidFill>
                      <a:schemeClr val="tx2">
                        <a:lumMod val="50000"/>
                      </a:schemeClr>
                    </a:solidFill>
                  </a:rPr>
                  <a:t>Graph E</a:t>
                </a:r>
              </a:p>
            </p:txBody>
          </p:sp>
        </p:grpSp>
      </p:grpSp>
      <p:graphicFrame>
        <p:nvGraphicFramePr>
          <p:cNvPr id="19" name="Table 18">
            <a:extLst>
              <a:ext uri="{FF2B5EF4-FFF2-40B4-BE49-F238E27FC236}">
                <a16:creationId xmlns:a16="http://schemas.microsoft.com/office/drawing/2014/main" id="{27BF24E2-7AF9-534E-A530-13763DE24605}"/>
              </a:ext>
            </a:extLst>
          </p:cNvPr>
          <p:cNvGraphicFramePr>
            <a:graphicFrameLocks noGrp="1"/>
          </p:cNvGraphicFramePr>
          <p:nvPr>
            <p:extLst>
              <p:ext uri="{D42A27DB-BD31-4B8C-83A1-F6EECF244321}">
                <p14:modId xmlns:p14="http://schemas.microsoft.com/office/powerpoint/2010/main" val="1628723374"/>
              </p:ext>
            </p:extLst>
          </p:nvPr>
        </p:nvGraphicFramePr>
        <p:xfrm>
          <a:off x="193286" y="2040581"/>
          <a:ext cx="2318094" cy="518160"/>
        </p:xfrm>
        <a:graphic>
          <a:graphicData uri="http://schemas.openxmlformats.org/drawingml/2006/table">
            <a:tbl>
              <a:tblPr firstRow="1" bandRow="1">
                <a:tableStyleId>{5C22544A-7EE6-4342-B048-85BDC9FD1C3A}</a:tableStyleId>
              </a:tblPr>
              <a:tblGrid>
                <a:gridCol w="240123">
                  <a:extLst>
                    <a:ext uri="{9D8B030D-6E8A-4147-A177-3AD203B41FA5}">
                      <a16:colId xmlns:a16="http://schemas.microsoft.com/office/drawing/2014/main" val="1006971324"/>
                    </a:ext>
                  </a:extLst>
                </a:gridCol>
                <a:gridCol w="2077971">
                  <a:extLst>
                    <a:ext uri="{9D8B030D-6E8A-4147-A177-3AD203B41FA5}">
                      <a16:colId xmlns:a16="http://schemas.microsoft.com/office/drawing/2014/main" val="1561107285"/>
                    </a:ext>
                  </a:extLst>
                </a:gridCol>
              </a:tblGrid>
              <a:tr h="370840">
                <a:tc>
                  <a:txBody>
                    <a:bodyPr/>
                    <a:lstStyle/>
                    <a:p>
                      <a:pPr algn="ctr"/>
                      <a:r>
                        <a:rPr lang="en-GB" sz="1400" dirty="0">
                          <a:solidFill>
                            <a:schemeClr val="tx1"/>
                          </a:solidFill>
                        </a:rPr>
                        <a:t>1</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400" b="0" dirty="0">
                          <a:solidFill>
                            <a:schemeClr val="tx1"/>
                          </a:solidFill>
                        </a:rPr>
                        <a:t>Khalid walked home slowly from his friend’s house.</a:t>
                      </a:r>
                    </a:p>
                  </a:txBody>
                  <a:tcPr marL="3600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graphicFrame>
        <p:nvGraphicFramePr>
          <p:cNvPr id="126" name="Table 125">
            <a:extLst>
              <a:ext uri="{FF2B5EF4-FFF2-40B4-BE49-F238E27FC236}">
                <a16:creationId xmlns:a16="http://schemas.microsoft.com/office/drawing/2014/main" id="{7A624382-73EE-6F47-AB28-87EEFA7B16EB}"/>
              </a:ext>
            </a:extLst>
          </p:cNvPr>
          <p:cNvGraphicFramePr>
            <a:graphicFrameLocks noGrp="1"/>
          </p:cNvGraphicFramePr>
          <p:nvPr>
            <p:extLst>
              <p:ext uri="{D42A27DB-BD31-4B8C-83A1-F6EECF244321}">
                <p14:modId xmlns:p14="http://schemas.microsoft.com/office/powerpoint/2010/main" val="1926194642"/>
              </p:ext>
            </p:extLst>
          </p:nvPr>
        </p:nvGraphicFramePr>
        <p:xfrm>
          <a:off x="193286" y="2653413"/>
          <a:ext cx="2529743" cy="944880"/>
        </p:xfrm>
        <a:graphic>
          <a:graphicData uri="http://schemas.openxmlformats.org/drawingml/2006/table">
            <a:tbl>
              <a:tblPr firstRow="1" bandRow="1">
                <a:tableStyleId>{5C22544A-7EE6-4342-B048-85BDC9FD1C3A}</a:tableStyleId>
              </a:tblPr>
              <a:tblGrid>
                <a:gridCol w="240967">
                  <a:extLst>
                    <a:ext uri="{9D8B030D-6E8A-4147-A177-3AD203B41FA5}">
                      <a16:colId xmlns:a16="http://schemas.microsoft.com/office/drawing/2014/main" val="1006971324"/>
                    </a:ext>
                  </a:extLst>
                </a:gridCol>
                <a:gridCol w="2288776">
                  <a:extLst>
                    <a:ext uri="{9D8B030D-6E8A-4147-A177-3AD203B41FA5}">
                      <a16:colId xmlns:a16="http://schemas.microsoft.com/office/drawing/2014/main" val="1561107285"/>
                    </a:ext>
                  </a:extLst>
                </a:gridCol>
              </a:tblGrid>
              <a:tr h="370840">
                <a:tc>
                  <a:txBody>
                    <a:bodyPr/>
                    <a:lstStyle/>
                    <a:p>
                      <a:pPr algn="ctr"/>
                      <a:r>
                        <a:rPr lang="en-GB" sz="1400" dirty="0">
                          <a:solidFill>
                            <a:schemeClr val="tx1"/>
                          </a:solidFill>
                        </a:rPr>
                        <a:t>3</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400" b="0" dirty="0">
                          <a:solidFill>
                            <a:schemeClr val="tx1"/>
                          </a:solidFill>
                        </a:rPr>
                        <a:t>Sophie walked to school, stopped to look at her watch, realised she was late and then started running.</a:t>
                      </a:r>
                    </a:p>
                  </a:txBody>
                  <a:tcPr marL="3600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graphicFrame>
        <p:nvGraphicFramePr>
          <p:cNvPr id="129" name="Table 128">
            <a:extLst>
              <a:ext uri="{FF2B5EF4-FFF2-40B4-BE49-F238E27FC236}">
                <a16:creationId xmlns:a16="http://schemas.microsoft.com/office/drawing/2014/main" id="{6CCCFB6A-D903-E143-B038-F3CE9BC80540}"/>
              </a:ext>
            </a:extLst>
          </p:cNvPr>
          <p:cNvGraphicFramePr>
            <a:graphicFrameLocks noGrp="1"/>
          </p:cNvGraphicFramePr>
          <p:nvPr>
            <p:extLst>
              <p:ext uri="{D42A27DB-BD31-4B8C-83A1-F6EECF244321}">
                <p14:modId xmlns:p14="http://schemas.microsoft.com/office/powerpoint/2010/main" val="3701802319"/>
              </p:ext>
            </p:extLst>
          </p:nvPr>
        </p:nvGraphicFramePr>
        <p:xfrm>
          <a:off x="193286" y="3692966"/>
          <a:ext cx="2529743" cy="731520"/>
        </p:xfrm>
        <a:graphic>
          <a:graphicData uri="http://schemas.openxmlformats.org/drawingml/2006/table">
            <a:tbl>
              <a:tblPr firstRow="1" bandRow="1">
                <a:tableStyleId>{5C22544A-7EE6-4342-B048-85BDC9FD1C3A}</a:tableStyleId>
              </a:tblPr>
              <a:tblGrid>
                <a:gridCol w="240123">
                  <a:extLst>
                    <a:ext uri="{9D8B030D-6E8A-4147-A177-3AD203B41FA5}">
                      <a16:colId xmlns:a16="http://schemas.microsoft.com/office/drawing/2014/main" val="1006971324"/>
                    </a:ext>
                  </a:extLst>
                </a:gridCol>
                <a:gridCol w="2289620">
                  <a:extLst>
                    <a:ext uri="{9D8B030D-6E8A-4147-A177-3AD203B41FA5}">
                      <a16:colId xmlns:a16="http://schemas.microsoft.com/office/drawing/2014/main" val="1561107285"/>
                    </a:ext>
                  </a:extLst>
                </a:gridCol>
              </a:tblGrid>
              <a:tr h="370840">
                <a:tc>
                  <a:txBody>
                    <a:bodyPr/>
                    <a:lstStyle/>
                    <a:p>
                      <a:pPr algn="ctr"/>
                      <a:r>
                        <a:rPr lang="en-GB" sz="1400" dirty="0">
                          <a:solidFill>
                            <a:schemeClr val="tx1"/>
                          </a:solidFill>
                        </a:rPr>
                        <a:t>4</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400" b="0" dirty="0">
                          <a:solidFill>
                            <a:schemeClr val="tx1"/>
                          </a:solidFill>
                        </a:rPr>
                        <a:t>David walked to his local gym. Stayed there for a workout and then ran home.</a:t>
                      </a:r>
                    </a:p>
                  </a:txBody>
                  <a:tcPr marL="3600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graphicFrame>
        <p:nvGraphicFramePr>
          <p:cNvPr id="132" name="Table 131">
            <a:extLst>
              <a:ext uri="{FF2B5EF4-FFF2-40B4-BE49-F238E27FC236}">
                <a16:creationId xmlns:a16="http://schemas.microsoft.com/office/drawing/2014/main" id="{2C635539-A674-8E41-A244-2BDBEC5F75AE}"/>
              </a:ext>
            </a:extLst>
          </p:cNvPr>
          <p:cNvGraphicFramePr>
            <a:graphicFrameLocks noGrp="1"/>
          </p:cNvGraphicFramePr>
          <p:nvPr>
            <p:extLst>
              <p:ext uri="{D42A27DB-BD31-4B8C-83A1-F6EECF244321}">
                <p14:modId xmlns:p14="http://schemas.microsoft.com/office/powerpoint/2010/main" val="2829469619"/>
              </p:ext>
            </p:extLst>
          </p:nvPr>
        </p:nvGraphicFramePr>
        <p:xfrm>
          <a:off x="2601254" y="2040581"/>
          <a:ext cx="1817141" cy="518160"/>
        </p:xfrm>
        <a:graphic>
          <a:graphicData uri="http://schemas.openxmlformats.org/drawingml/2006/table">
            <a:tbl>
              <a:tblPr firstRow="1" bandRow="1">
                <a:tableStyleId>{5C22544A-7EE6-4342-B048-85BDC9FD1C3A}</a:tableStyleId>
              </a:tblPr>
              <a:tblGrid>
                <a:gridCol w="240123">
                  <a:extLst>
                    <a:ext uri="{9D8B030D-6E8A-4147-A177-3AD203B41FA5}">
                      <a16:colId xmlns:a16="http://schemas.microsoft.com/office/drawing/2014/main" val="1006971324"/>
                    </a:ext>
                  </a:extLst>
                </a:gridCol>
                <a:gridCol w="1577018">
                  <a:extLst>
                    <a:ext uri="{9D8B030D-6E8A-4147-A177-3AD203B41FA5}">
                      <a16:colId xmlns:a16="http://schemas.microsoft.com/office/drawing/2014/main" val="1561107285"/>
                    </a:ext>
                  </a:extLst>
                </a:gridCol>
              </a:tblGrid>
              <a:tr h="370840">
                <a:tc>
                  <a:txBody>
                    <a:bodyPr/>
                    <a:lstStyle/>
                    <a:p>
                      <a:pPr algn="ctr"/>
                      <a:r>
                        <a:rPr lang="en-GB" sz="1400" dirty="0">
                          <a:solidFill>
                            <a:schemeClr val="tx1"/>
                          </a:solidFill>
                        </a:rPr>
                        <a:t>2</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400" b="0" dirty="0">
                          <a:solidFill>
                            <a:schemeClr val="tx1"/>
                          </a:solidFill>
                        </a:rPr>
                        <a:t>Natalie walked steadily to the park.</a:t>
                      </a:r>
                    </a:p>
                  </a:txBody>
                  <a:tcPr marL="3600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grpSp>
        <p:nvGrpSpPr>
          <p:cNvPr id="133" name="Group 132">
            <a:extLst>
              <a:ext uri="{FF2B5EF4-FFF2-40B4-BE49-F238E27FC236}">
                <a16:creationId xmlns:a16="http://schemas.microsoft.com/office/drawing/2014/main" id="{6F03E6C8-4948-3A4C-8965-3CF5D0BD01EE}"/>
              </a:ext>
            </a:extLst>
          </p:cNvPr>
          <p:cNvGrpSpPr/>
          <p:nvPr/>
        </p:nvGrpSpPr>
        <p:grpSpPr>
          <a:xfrm>
            <a:off x="4767278" y="2749724"/>
            <a:ext cx="1759978" cy="1115666"/>
            <a:chOff x="4430734" y="1005338"/>
            <a:chExt cx="1599980" cy="1227232"/>
          </a:xfrm>
        </p:grpSpPr>
        <p:cxnSp>
          <p:nvCxnSpPr>
            <p:cNvPr id="136" name="Straight Connector 135">
              <a:extLst>
                <a:ext uri="{FF2B5EF4-FFF2-40B4-BE49-F238E27FC236}">
                  <a16:creationId xmlns:a16="http://schemas.microsoft.com/office/drawing/2014/main" id="{FD7F6635-300B-1B4D-8574-CAB95E6981F6}"/>
                </a:ext>
              </a:extLst>
            </p:cNvPr>
            <p:cNvCxnSpPr>
              <a:cxnSpLocks/>
            </p:cNvCxnSpPr>
            <p:nvPr/>
          </p:nvCxnSpPr>
          <p:spPr>
            <a:xfrm>
              <a:off x="5436311" y="1783236"/>
              <a:ext cx="117498" cy="220077"/>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2B3B3A9-29CE-434C-8F21-5D353AEFCEFC}"/>
                </a:ext>
              </a:extLst>
            </p:cNvPr>
            <p:cNvCxnSpPr>
              <a:cxnSpLocks/>
            </p:cNvCxnSpPr>
            <p:nvPr/>
          </p:nvCxnSpPr>
          <p:spPr>
            <a:xfrm flipV="1">
              <a:off x="5570268" y="1473124"/>
              <a:ext cx="167662" cy="535045"/>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7A2F4A3-21FB-CE45-81C0-433C74131F52}"/>
                </a:ext>
              </a:extLst>
            </p:cNvPr>
            <p:cNvCxnSpPr>
              <a:cxnSpLocks/>
            </p:cNvCxnSpPr>
            <p:nvPr/>
          </p:nvCxnSpPr>
          <p:spPr>
            <a:xfrm flipV="1">
              <a:off x="5167980" y="1783236"/>
              <a:ext cx="267858" cy="221302"/>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135" name="Group 134">
              <a:extLst>
                <a:ext uri="{FF2B5EF4-FFF2-40B4-BE49-F238E27FC236}">
                  <a16:creationId xmlns:a16="http://schemas.microsoft.com/office/drawing/2014/main" id="{59E3529D-E883-8348-B845-397F86A2016B}"/>
                </a:ext>
              </a:extLst>
            </p:cNvPr>
            <p:cNvGrpSpPr/>
            <p:nvPr/>
          </p:nvGrpSpPr>
          <p:grpSpPr>
            <a:xfrm>
              <a:off x="4430734" y="1005338"/>
              <a:ext cx="1599980" cy="1227232"/>
              <a:chOff x="4430734" y="1005338"/>
              <a:chExt cx="1599980" cy="1227232"/>
            </a:xfrm>
          </p:grpSpPr>
          <p:sp>
            <p:nvSpPr>
              <p:cNvPr id="139" name="TextBox 138">
                <a:extLst>
                  <a:ext uri="{FF2B5EF4-FFF2-40B4-BE49-F238E27FC236}">
                    <a16:creationId xmlns:a16="http://schemas.microsoft.com/office/drawing/2014/main" id="{AB456F5E-AC52-9545-955E-ED03E42AC9A6}"/>
                  </a:ext>
                </a:extLst>
              </p:cNvPr>
              <p:cNvSpPr txBox="1"/>
              <p:nvPr/>
            </p:nvSpPr>
            <p:spPr>
              <a:xfrm>
                <a:off x="4430734" y="1077633"/>
                <a:ext cx="655341" cy="553998"/>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Distance</a:t>
                </a:r>
              </a:p>
              <a:p>
                <a:pPr algn="r">
                  <a:defRPr/>
                </a:pPr>
                <a:r>
                  <a:rPr lang="en-GB" altLang="en-US" sz="1200" b="1" dirty="0">
                    <a:solidFill>
                      <a:schemeClr val="accent5">
                        <a:lumMod val="50000"/>
                      </a:schemeClr>
                    </a:solidFill>
                  </a:rPr>
                  <a:t>from</a:t>
                </a:r>
              </a:p>
              <a:p>
                <a:pPr algn="r">
                  <a:defRPr/>
                </a:pPr>
                <a:r>
                  <a:rPr lang="en-GB" altLang="en-US" sz="1200" b="1" dirty="0">
                    <a:solidFill>
                      <a:schemeClr val="accent5">
                        <a:lumMod val="50000"/>
                      </a:schemeClr>
                    </a:solidFill>
                  </a:rPr>
                  <a:t>home</a:t>
                </a:r>
              </a:p>
            </p:txBody>
          </p:sp>
          <p:sp>
            <p:nvSpPr>
              <p:cNvPr id="140" name="TextBox 139">
                <a:extLst>
                  <a:ext uri="{FF2B5EF4-FFF2-40B4-BE49-F238E27FC236}">
                    <a16:creationId xmlns:a16="http://schemas.microsoft.com/office/drawing/2014/main" id="{E76A3F27-358D-E545-9B2A-BD881036747B}"/>
                  </a:ext>
                </a:extLst>
              </p:cNvPr>
              <p:cNvSpPr txBox="1"/>
              <p:nvPr/>
            </p:nvSpPr>
            <p:spPr>
              <a:xfrm>
                <a:off x="5375373" y="2047904"/>
                <a:ext cx="655341" cy="184666"/>
              </a:xfrm>
              <a:prstGeom prst="rect">
                <a:avLst/>
              </a:prstGeom>
              <a:noFill/>
            </p:spPr>
            <p:txBody>
              <a:bodyPr wrap="square" lIns="0" tIns="0" rIns="0" bIns="0" rtlCol="0" anchor="ctr" anchorCtr="0">
                <a:spAutoFit/>
              </a:bodyPr>
              <a:lstStyle/>
              <a:p>
                <a:pPr algn="r">
                  <a:defRPr/>
                </a:pPr>
                <a:r>
                  <a:rPr lang="en-GB" altLang="en-US" sz="1200" b="1" dirty="0">
                    <a:solidFill>
                      <a:schemeClr val="accent5">
                        <a:lumMod val="50000"/>
                      </a:schemeClr>
                    </a:solidFill>
                  </a:rPr>
                  <a:t>Time</a:t>
                </a:r>
              </a:p>
            </p:txBody>
          </p:sp>
          <p:sp>
            <p:nvSpPr>
              <p:cNvPr id="141" name="TextBox 140">
                <a:extLst>
                  <a:ext uri="{FF2B5EF4-FFF2-40B4-BE49-F238E27FC236}">
                    <a16:creationId xmlns:a16="http://schemas.microsoft.com/office/drawing/2014/main" id="{90A05E97-AA69-F345-9B2E-E40E4798AB6D}"/>
                  </a:ext>
                </a:extLst>
              </p:cNvPr>
              <p:cNvSpPr txBox="1"/>
              <p:nvPr/>
            </p:nvSpPr>
            <p:spPr>
              <a:xfrm>
                <a:off x="5267443" y="1005338"/>
                <a:ext cx="655341" cy="203132"/>
              </a:xfrm>
              <a:prstGeom prst="rect">
                <a:avLst/>
              </a:prstGeom>
              <a:noFill/>
            </p:spPr>
            <p:txBody>
              <a:bodyPr wrap="square" lIns="0" tIns="0" rIns="0" bIns="0" rtlCol="0" anchor="ctr" anchorCtr="0">
                <a:spAutoFit/>
              </a:bodyPr>
              <a:lstStyle/>
              <a:p>
                <a:pPr algn="ctr">
                  <a:defRPr/>
                </a:pPr>
                <a:r>
                  <a:rPr lang="en-GB" altLang="en-US" sz="1200" b="1" dirty="0">
                    <a:solidFill>
                      <a:schemeClr val="tx2">
                        <a:lumMod val="50000"/>
                      </a:schemeClr>
                    </a:solidFill>
                  </a:rPr>
                  <a:t>Graph B</a:t>
                </a:r>
              </a:p>
            </p:txBody>
          </p:sp>
          <p:sp>
            <p:nvSpPr>
              <p:cNvPr id="138" name="Freeform 137">
                <a:extLst>
                  <a:ext uri="{FF2B5EF4-FFF2-40B4-BE49-F238E27FC236}">
                    <a16:creationId xmlns:a16="http://schemas.microsoft.com/office/drawing/2014/main" id="{26940514-7C0E-6D43-9D44-24135335D25B}"/>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aphicFrame>
        <p:nvGraphicFramePr>
          <p:cNvPr id="142" name="Table 141">
            <a:extLst>
              <a:ext uri="{FF2B5EF4-FFF2-40B4-BE49-F238E27FC236}">
                <a16:creationId xmlns:a16="http://schemas.microsoft.com/office/drawing/2014/main" id="{D640866E-EB7E-A742-A6B9-E745A945133C}"/>
              </a:ext>
            </a:extLst>
          </p:cNvPr>
          <p:cNvGraphicFramePr>
            <a:graphicFrameLocks noGrp="1"/>
          </p:cNvGraphicFramePr>
          <p:nvPr>
            <p:extLst>
              <p:ext uri="{D42A27DB-BD31-4B8C-83A1-F6EECF244321}">
                <p14:modId xmlns:p14="http://schemas.microsoft.com/office/powerpoint/2010/main" val="3295062285"/>
              </p:ext>
            </p:extLst>
          </p:nvPr>
        </p:nvGraphicFramePr>
        <p:xfrm>
          <a:off x="2821701" y="2653413"/>
          <a:ext cx="1822870" cy="1798320"/>
        </p:xfrm>
        <a:graphic>
          <a:graphicData uri="http://schemas.openxmlformats.org/drawingml/2006/table">
            <a:tbl>
              <a:tblPr firstRow="1" bandRow="1">
                <a:tableStyleId>{5C22544A-7EE6-4342-B048-85BDC9FD1C3A}</a:tableStyleId>
              </a:tblPr>
              <a:tblGrid>
                <a:gridCol w="240123">
                  <a:extLst>
                    <a:ext uri="{9D8B030D-6E8A-4147-A177-3AD203B41FA5}">
                      <a16:colId xmlns:a16="http://schemas.microsoft.com/office/drawing/2014/main" val="1006971324"/>
                    </a:ext>
                  </a:extLst>
                </a:gridCol>
                <a:gridCol w="1582747">
                  <a:extLst>
                    <a:ext uri="{9D8B030D-6E8A-4147-A177-3AD203B41FA5}">
                      <a16:colId xmlns:a16="http://schemas.microsoft.com/office/drawing/2014/main" val="1561107285"/>
                    </a:ext>
                  </a:extLst>
                </a:gridCol>
              </a:tblGrid>
              <a:tr h="157051">
                <a:tc>
                  <a:txBody>
                    <a:bodyPr/>
                    <a:lstStyle/>
                    <a:p>
                      <a:pPr algn="ctr"/>
                      <a:r>
                        <a:rPr lang="en-GB" sz="1400" dirty="0">
                          <a:solidFill>
                            <a:schemeClr val="tx1"/>
                          </a:solidFill>
                        </a:rPr>
                        <a:t>5</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400" b="0" dirty="0">
                          <a:solidFill>
                            <a:schemeClr val="tx1"/>
                          </a:solidFill>
                        </a:rPr>
                        <a:t>Michael went out with his friends, realised he had left his wallet at home.</a:t>
                      </a:r>
                      <a:br>
                        <a:rPr lang="en-GB" sz="1400" b="0" dirty="0">
                          <a:solidFill>
                            <a:schemeClr val="tx1"/>
                          </a:solidFill>
                        </a:rPr>
                      </a:br>
                      <a:r>
                        <a:rPr lang="en-GB" sz="1400" b="0" dirty="0">
                          <a:solidFill>
                            <a:schemeClr val="tx1"/>
                          </a:solidFill>
                        </a:rPr>
                        <a:t>He ran home to get it and then ran again to catch up with his friends.</a:t>
                      </a:r>
                    </a:p>
                  </a:txBody>
                  <a:tcPr marL="3600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spTree>
    <p:extLst>
      <p:ext uri="{BB962C8B-B14F-4D97-AF65-F5344CB8AC3E}">
        <p14:creationId xmlns:p14="http://schemas.microsoft.com/office/powerpoint/2010/main" val="2270542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E25FF7EE-5926-6743-953A-35D44C4F333C}"/>
              </a:ext>
            </a:extLst>
          </p:cNvPr>
          <p:cNvGraphicFramePr>
            <a:graphicFrameLocks noGrp="1"/>
          </p:cNvGraphicFramePr>
          <p:nvPr>
            <p:extLst>
              <p:ext uri="{D42A27DB-BD31-4B8C-83A1-F6EECF244321}">
                <p14:modId xmlns:p14="http://schemas.microsoft.com/office/powerpoint/2010/main" val="2910676139"/>
              </p:ext>
            </p:extLst>
          </p:nvPr>
        </p:nvGraphicFramePr>
        <p:xfrm>
          <a:off x="5510845" y="1224139"/>
          <a:ext cx="3232726" cy="2615124"/>
        </p:xfrm>
        <a:graphic>
          <a:graphicData uri="http://schemas.openxmlformats.org/drawingml/2006/table">
            <a:tbl>
              <a:tblPr firstRow="1" bandRow="1">
                <a:tableStyleId>{5C22544A-7EE6-4342-B048-85BDC9FD1C3A}</a:tableStyleId>
              </a:tblPr>
              <a:tblGrid>
                <a:gridCol w="230909">
                  <a:extLst>
                    <a:ext uri="{9D8B030D-6E8A-4147-A177-3AD203B41FA5}">
                      <a16:colId xmlns:a16="http://schemas.microsoft.com/office/drawing/2014/main" val="3421182426"/>
                    </a:ext>
                  </a:extLst>
                </a:gridCol>
                <a:gridCol w="230909">
                  <a:extLst>
                    <a:ext uri="{9D8B030D-6E8A-4147-A177-3AD203B41FA5}">
                      <a16:colId xmlns:a16="http://schemas.microsoft.com/office/drawing/2014/main" val="3036076137"/>
                    </a:ext>
                  </a:extLst>
                </a:gridCol>
                <a:gridCol w="230909">
                  <a:extLst>
                    <a:ext uri="{9D8B030D-6E8A-4147-A177-3AD203B41FA5}">
                      <a16:colId xmlns:a16="http://schemas.microsoft.com/office/drawing/2014/main" val="2042505113"/>
                    </a:ext>
                  </a:extLst>
                </a:gridCol>
                <a:gridCol w="230909">
                  <a:extLst>
                    <a:ext uri="{9D8B030D-6E8A-4147-A177-3AD203B41FA5}">
                      <a16:colId xmlns:a16="http://schemas.microsoft.com/office/drawing/2014/main" val="3832758630"/>
                    </a:ext>
                  </a:extLst>
                </a:gridCol>
                <a:gridCol w="230909">
                  <a:extLst>
                    <a:ext uri="{9D8B030D-6E8A-4147-A177-3AD203B41FA5}">
                      <a16:colId xmlns:a16="http://schemas.microsoft.com/office/drawing/2014/main" val="1574983318"/>
                    </a:ext>
                  </a:extLst>
                </a:gridCol>
                <a:gridCol w="230909">
                  <a:extLst>
                    <a:ext uri="{9D8B030D-6E8A-4147-A177-3AD203B41FA5}">
                      <a16:colId xmlns:a16="http://schemas.microsoft.com/office/drawing/2014/main" val="4158283698"/>
                    </a:ext>
                  </a:extLst>
                </a:gridCol>
                <a:gridCol w="230909">
                  <a:extLst>
                    <a:ext uri="{9D8B030D-6E8A-4147-A177-3AD203B41FA5}">
                      <a16:colId xmlns:a16="http://schemas.microsoft.com/office/drawing/2014/main" val="2421740572"/>
                    </a:ext>
                  </a:extLst>
                </a:gridCol>
                <a:gridCol w="230909">
                  <a:extLst>
                    <a:ext uri="{9D8B030D-6E8A-4147-A177-3AD203B41FA5}">
                      <a16:colId xmlns:a16="http://schemas.microsoft.com/office/drawing/2014/main" val="1223140520"/>
                    </a:ext>
                  </a:extLst>
                </a:gridCol>
                <a:gridCol w="230909">
                  <a:extLst>
                    <a:ext uri="{9D8B030D-6E8A-4147-A177-3AD203B41FA5}">
                      <a16:colId xmlns:a16="http://schemas.microsoft.com/office/drawing/2014/main" val="4205342466"/>
                    </a:ext>
                  </a:extLst>
                </a:gridCol>
                <a:gridCol w="230909">
                  <a:extLst>
                    <a:ext uri="{9D8B030D-6E8A-4147-A177-3AD203B41FA5}">
                      <a16:colId xmlns:a16="http://schemas.microsoft.com/office/drawing/2014/main" val="1143907110"/>
                    </a:ext>
                  </a:extLst>
                </a:gridCol>
                <a:gridCol w="230909">
                  <a:extLst>
                    <a:ext uri="{9D8B030D-6E8A-4147-A177-3AD203B41FA5}">
                      <a16:colId xmlns:a16="http://schemas.microsoft.com/office/drawing/2014/main" val="2953269273"/>
                    </a:ext>
                  </a:extLst>
                </a:gridCol>
                <a:gridCol w="230909">
                  <a:extLst>
                    <a:ext uri="{9D8B030D-6E8A-4147-A177-3AD203B41FA5}">
                      <a16:colId xmlns:a16="http://schemas.microsoft.com/office/drawing/2014/main" val="2364064426"/>
                    </a:ext>
                  </a:extLst>
                </a:gridCol>
                <a:gridCol w="230909">
                  <a:extLst>
                    <a:ext uri="{9D8B030D-6E8A-4147-A177-3AD203B41FA5}">
                      <a16:colId xmlns:a16="http://schemas.microsoft.com/office/drawing/2014/main" val="374087557"/>
                    </a:ext>
                  </a:extLst>
                </a:gridCol>
                <a:gridCol w="230909">
                  <a:extLst>
                    <a:ext uri="{9D8B030D-6E8A-4147-A177-3AD203B41FA5}">
                      <a16:colId xmlns:a16="http://schemas.microsoft.com/office/drawing/2014/main" val="1100712732"/>
                    </a:ext>
                  </a:extLst>
                </a:gridCol>
              </a:tblGrid>
              <a:tr h="217927">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1430021"/>
                  </a:ext>
                </a:extLst>
              </a:tr>
              <a:tr h="217927">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7428539"/>
                  </a:ext>
                </a:extLst>
              </a:tr>
              <a:tr h="217927">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1498904"/>
                  </a:ext>
                </a:extLst>
              </a:tr>
              <a:tr h="217927">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9807859"/>
                  </a:ext>
                </a:extLst>
              </a:tr>
              <a:tr h="217927">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1084276"/>
                  </a:ext>
                </a:extLst>
              </a:tr>
              <a:tr h="217927">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017997"/>
                  </a:ext>
                </a:extLst>
              </a:tr>
              <a:tr h="217927">
                <a:tc>
                  <a:txBody>
                    <a:bodyPr/>
                    <a:lstStyle/>
                    <a:p>
                      <a:endParaRPr lang="en-GB" sz="100" b="0" dirty="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31071"/>
                  </a:ext>
                </a:extLst>
              </a:tr>
              <a:tr h="217927">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649161"/>
                  </a:ext>
                </a:extLst>
              </a:tr>
              <a:tr h="217927">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181725"/>
                  </a:ext>
                </a:extLst>
              </a:tr>
              <a:tr h="217927">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6003197"/>
                  </a:ext>
                </a:extLst>
              </a:tr>
              <a:tr h="217927">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433261"/>
                  </a:ext>
                </a:extLst>
              </a:tr>
              <a:tr h="217927">
                <a:tc>
                  <a:txBody>
                    <a:bodyPr/>
                    <a:lstStyle/>
                    <a:p>
                      <a:endParaRPr lang="en-GB" sz="100" b="0">
                        <a:solidFill>
                          <a:schemeClr val="tx1"/>
                        </a:solidFill>
                      </a:endParaRPr>
                    </a:p>
                  </a:txBody>
                  <a:tcPr marL="83127" marR="83127" marT="50292" marB="50292">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19050"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83127" marR="83127" marT="50292" marB="50292">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176172"/>
                  </a:ext>
                </a:extLst>
              </a:tr>
            </a:tbl>
          </a:graphicData>
        </a:graphic>
      </p:graphicFrame>
      <p:sp>
        <p:nvSpPr>
          <p:cNvPr id="7" name="TextBox 6">
            <a:extLst>
              <a:ext uri="{FF2B5EF4-FFF2-40B4-BE49-F238E27FC236}">
                <a16:creationId xmlns:a16="http://schemas.microsoft.com/office/drawing/2014/main" id="{C1E19D30-7618-2949-9292-A80A4FB76054}"/>
              </a:ext>
            </a:extLst>
          </p:cNvPr>
          <p:cNvSpPr txBox="1"/>
          <p:nvPr/>
        </p:nvSpPr>
        <p:spPr>
          <a:xfrm>
            <a:off x="39060" y="954523"/>
            <a:ext cx="513302" cy="276999"/>
          </a:xfrm>
          <a:prstGeom prst="rect">
            <a:avLst/>
          </a:prstGeom>
          <a:noFill/>
        </p:spPr>
        <p:txBody>
          <a:bodyPr wrap="square" lIns="36000" tIns="0" rIns="0" bIns="0" rtlCol="0">
            <a:spAutoFit/>
          </a:bodyPr>
          <a:lstStyle/>
          <a:p>
            <a:r>
              <a:rPr lang="en-GB" sz="1800" b="1" dirty="0"/>
              <a:t>Ex3</a:t>
            </a:r>
          </a:p>
        </p:txBody>
      </p:sp>
      <p:sp>
        <p:nvSpPr>
          <p:cNvPr id="8" name="TextBox 7">
            <a:extLst>
              <a:ext uri="{FF2B5EF4-FFF2-40B4-BE49-F238E27FC236}">
                <a16:creationId xmlns:a16="http://schemas.microsoft.com/office/drawing/2014/main" id="{E2E8E920-A27F-A441-8B68-55D29D9CA9ED}"/>
              </a:ext>
            </a:extLst>
          </p:cNvPr>
          <p:cNvSpPr txBox="1"/>
          <p:nvPr/>
        </p:nvSpPr>
        <p:spPr>
          <a:xfrm>
            <a:off x="460691" y="952519"/>
            <a:ext cx="3982540" cy="553998"/>
          </a:xfrm>
          <a:prstGeom prst="rect">
            <a:avLst/>
          </a:prstGeom>
          <a:noFill/>
        </p:spPr>
        <p:txBody>
          <a:bodyPr wrap="square" lIns="36000" tIns="0" rIns="0" bIns="0" rtlCol="0" anchor="t">
            <a:spAutoFit/>
          </a:bodyPr>
          <a:lstStyle/>
          <a:p>
            <a:pPr>
              <a:defRPr/>
            </a:pPr>
            <a:r>
              <a:rPr lang="en-GB" altLang="en-US" sz="1800" dirty="0"/>
              <a:t>The graph shows part of Matthew’s journey to the gym and back.</a:t>
            </a:r>
          </a:p>
        </p:txBody>
      </p:sp>
      <p:sp>
        <p:nvSpPr>
          <p:cNvPr id="9" name="Rectangle 8">
            <a:extLst>
              <a:ext uri="{FF2B5EF4-FFF2-40B4-BE49-F238E27FC236}">
                <a16:creationId xmlns:a16="http://schemas.microsoft.com/office/drawing/2014/main" id="{6A490057-C707-DE47-9E82-620CF0234DF2}"/>
              </a:ext>
            </a:extLst>
          </p:cNvPr>
          <p:cNvSpPr/>
          <p:nvPr/>
        </p:nvSpPr>
        <p:spPr>
          <a:xfrm rot="16200000">
            <a:off x="-85923" y="1451619"/>
            <a:ext cx="640770" cy="202298"/>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dirty="0">
                <a:solidFill>
                  <a:schemeClr val="tx1"/>
                </a:solidFill>
              </a:rPr>
              <a:t>Solution</a:t>
            </a:r>
          </a:p>
        </p:txBody>
      </p:sp>
      <p:sp>
        <p:nvSpPr>
          <p:cNvPr id="10" name="TextBox 9">
            <a:extLst>
              <a:ext uri="{FF2B5EF4-FFF2-40B4-BE49-F238E27FC236}">
                <a16:creationId xmlns:a16="http://schemas.microsoft.com/office/drawing/2014/main" id="{84A9E0D8-B018-ED46-A93D-C139EA8848D1}"/>
              </a:ext>
            </a:extLst>
          </p:cNvPr>
          <p:cNvSpPr txBox="1"/>
          <p:nvPr/>
        </p:nvSpPr>
        <p:spPr>
          <a:xfrm rot="16200000">
            <a:off x="3756833" y="2395500"/>
            <a:ext cx="2568166" cy="246221"/>
          </a:xfrm>
          <a:prstGeom prst="rect">
            <a:avLst/>
          </a:prstGeom>
          <a:noFill/>
        </p:spPr>
        <p:txBody>
          <a:bodyPr wrap="square" lIns="0" tIns="0" rIns="0" bIns="0" rtlCol="0" anchor="ctr" anchorCtr="0">
            <a:spAutoFit/>
          </a:bodyPr>
          <a:lstStyle/>
          <a:p>
            <a:pPr algn="ctr">
              <a:defRPr/>
            </a:pPr>
            <a:r>
              <a:rPr lang="en-GB" altLang="en-US" sz="1600" b="1" dirty="0"/>
              <a:t>Distance from home </a:t>
            </a:r>
            <a:r>
              <a:rPr lang="en-GB" altLang="en-US" sz="1600" dirty="0"/>
              <a:t>(km)</a:t>
            </a:r>
          </a:p>
        </p:txBody>
      </p:sp>
      <p:sp>
        <p:nvSpPr>
          <p:cNvPr id="11" name="TextBox 10">
            <a:extLst>
              <a:ext uri="{FF2B5EF4-FFF2-40B4-BE49-F238E27FC236}">
                <a16:creationId xmlns:a16="http://schemas.microsoft.com/office/drawing/2014/main" id="{16591C59-538B-A04C-A344-E89C2EFC6CA9}"/>
              </a:ext>
            </a:extLst>
          </p:cNvPr>
          <p:cNvSpPr txBox="1"/>
          <p:nvPr/>
        </p:nvSpPr>
        <p:spPr>
          <a:xfrm>
            <a:off x="6534416" y="4075062"/>
            <a:ext cx="1261529" cy="246221"/>
          </a:xfrm>
          <a:prstGeom prst="rect">
            <a:avLst/>
          </a:prstGeom>
          <a:noFill/>
        </p:spPr>
        <p:txBody>
          <a:bodyPr wrap="square" lIns="0" tIns="0" rIns="0" bIns="0" rtlCol="0" anchor="ctr" anchorCtr="0">
            <a:spAutoFit/>
          </a:bodyPr>
          <a:lstStyle/>
          <a:p>
            <a:pPr algn="ctr">
              <a:defRPr/>
            </a:pPr>
            <a:r>
              <a:rPr lang="en-GB" altLang="en-US" sz="1600" b="1" dirty="0"/>
              <a:t>Time </a:t>
            </a:r>
            <a:r>
              <a:rPr lang="en-GB" altLang="en-US" sz="1600" dirty="0"/>
              <a:t>(hours)</a:t>
            </a:r>
          </a:p>
        </p:txBody>
      </p:sp>
      <p:sp>
        <p:nvSpPr>
          <p:cNvPr id="12" name="TextBox 11">
            <a:extLst>
              <a:ext uri="{FF2B5EF4-FFF2-40B4-BE49-F238E27FC236}">
                <a16:creationId xmlns:a16="http://schemas.microsoft.com/office/drawing/2014/main" id="{D2F5298D-26B2-B94D-B3A3-2C497C4F20E9}"/>
              </a:ext>
            </a:extLst>
          </p:cNvPr>
          <p:cNvSpPr txBox="1"/>
          <p:nvPr/>
        </p:nvSpPr>
        <p:spPr>
          <a:xfrm>
            <a:off x="5334911" y="3870948"/>
            <a:ext cx="347035" cy="246221"/>
          </a:xfrm>
          <a:prstGeom prst="rect">
            <a:avLst/>
          </a:prstGeom>
          <a:noFill/>
        </p:spPr>
        <p:txBody>
          <a:bodyPr wrap="square" lIns="0" tIns="0" rIns="0" bIns="0" rtlCol="0" anchor="ctr" anchorCtr="0">
            <a:spAutoFit/>
          </a:bodyPr>
          <a:lstStyle/>
          <a:p>
            <a:pPr algn="ctr">
              <a:defRPr/>
            </a:pPr>
            <a:r>
              <a:rPr lang="en-GB" altLang="en-US" sz="1600" dirty="0"/>
              <a:t>0</a:t>
            </a:r>
          </a:p>
        </p:txBody>
      </p:sp>
      <p:sp>
        <p:nvSpPr>
          <p:cNvPr id="14" name="TextBox 13">
            <a:extLst>
              <a:ext uri="{FF2B5EF4-FFF2-40B4-BE49-F238E27FC236}">
                <a16:creationId xmlns:a16="http://schemas.microsoft.com/office/drawing/2014/main" id="{AAB4847D-3506-964D-B142-F22FF9FFC6E2}"/>
              </a:ext>
            </a:extLst>
          </p:cNvPr>
          <p:cNvSpPr txBox="1"/>
          <p:nvPr/>
        </p:nvSpPr>
        <p:spPr>
          <a:xfrm>
            <a:off x="6260180" y="3867826"/>
            <a:ext cx="347035" cy="246221"/>
          </a:xfrm>
          <a:prstGeom prst="rect">
            <a:avLst/>
          </a:prstGeom>
          <a:noFill/>
        </p:spPr>
        <p:txBody>
          <a:bodyPr wrap="square" lIns="0" tIns="0" rIns="0" bIns="0" rtlCol="0" anchor="ctr" anchorCtr="0">
            <a:spAutoFit/>
          </a:bodyPr>
          <a:lstStyle/>
          <a:p>
            <a:pPr algn="ctr">
              <a:defRPr/>
            </a:pPr>
            <a:r>
              <a:rPr lang="en-GB" altLang="en-US" sz="1600" dirty="0"/>
              <a:t>1</a:t>
            </a:r>
          </a:p>
        </p:txBody>
      </p:sp>
      <p:sp>
        <p:nvSpPr>
          <p:cNvPr id="16" name="TextBox 15">
            <a:extLst>
              <a:ext uri="{FF2B5EF4-FFF2-40B4-BE49-F238E27FC236}">
                <a16:creationId xmlns:a16="http://schemas.microsoft.com/office/drawing/2014/main" id="{956961A8-5079-5449-92DA-B33FB3F3C60D}"/>
              </a:ext>
            </a:extLst>
          </p:cNvPr>
          <p:cNvSpPr txBox="1"/>
          <p:nvPr/>
        </p:nvSpPr>
        <p:spPr>
          <a:xfrm>
            <a:off x="7181791" y="3867826"/>
            <a:ext cx="347035" cy="246221"/>
          </a:xfrm>
          <a:prstGeom prst="rect">
            <a:avLst/>
          </a:prstGeom>
          <a:noFill/>
        </p:spPr>
        <p:txBody>
          <a:bodyPr wrap="square" lIns="0" tIns="0" rIns="0" bIns="0" rtlCol="0" anchor="ctr" anchorCtr="0">
            <a:spAutoFit/>
          </a:bodyPr>
          <a:lstStyle/>
          <a:p>
            <a:pPr algn="ctr">
              <a:defRPr/>
            </a:pPr>
            <a:r>
              <a:rPr lang="en-GB" altLang="en-US" sz="1600" dirty="0"/>
              <a:t>2</a:t>
            </a:r>
          </a:p>
        </p:txBody>
      </p:sp>
      <p:sp>
        <p:nvSpPr>
          <p:cNvPr id="18" name="TextBox 17">
            <a:extLst>
              <a:ext uri="{FF2B5EF4-FFF2-40B4-BE49-F238E27FC236}">
                <a16:creationId xmlns:a16="http://schemas.microsoft.com/office/drawing/2014/main" id="{D708F174-1E63-ED4A-B969-60B9A80DDE88}"/>
              </a:ext>
            </a:extLst>
          </p:cNvPr>
          <p:cNvSpPr txBox="1"/>
          <p:nvPr/>
        </p:nvSpPr>
        <p:spPr>
          <a:xfrm>
            <a:off x="8107277" y="3870948"/>
            <a:ext cx="347035" cy="246221"/>
          </a:xfrm>
          <a:prstGeom prst="rect">
            <a:avLst/>
          </a:prstGeom>
          <a:noFill/>
        </p:spPr>
        <p:txBody>
          <a:bodyPr wrap="square" lIns="0" tIns="0" rIns="0" bIns="0" rtlCol="0" anchor="ctr" anchorCtr="0">
            <a:spAutoFit/>
          </a:bodyPr>
          <a:lstStyle/>
          <a:p>
            <a:pPr algn="ctr">
              <a:defRPr/>
            </a:pPr>
            <a:r>
              <a:rPr lang="en-GB" altLang="en-US" sz="1600" dirty="0"/>
              <a:t>3</a:t>
            </a:r>
          </a:p>
        </p:txBody>
      </p:sp>
      <p:sp>
        <p:nvSpPr>
          <p:cNvPr id="19" name="TextBox 18">
            <a:extLst>
              <a:ext uri="{FF2B5EF4-FFF2-40B4-BE49-F238E27FC236}">
                <a16:creationId xmlns:a16="http://schemas.microsoft.com/office/drawing/2014/main" id="{D0DAA19A-2C16-844A-80D6-1FA310BDFFFC}"/>
              </a:ext>
            </a:extLst>
          </p:cNvPr>
          <p:cNvSpPr txBox="1"/>
          <p:nvPr/>
        </p:nvSpPr>
        <p:spPr>
          <a:xfrm>
            <a:off x="5042286" y="3708392"/>
            <a:ext cx="398895" cy="246221"/>
          </a:xfrm>
          <a:prstGeom prst="rect">
            <a:avLst/>
          </a:prstGeom>
          <a:noFill/>
        </p:spPr>
        <p:txBody>
          <a:bodyPr wrap="square" lIns="0" tIns="0" rIns="0" bIns="0" rtlCol="0" anchor="ctr" anchorCtr="0">
            <a:spAutoFit/>
          </a:bodyPr>
          <a:lstStyle/>
          <a:p>
            <a:pPr algn="r">
              <a:defRPr/>
            </a:pPr>
            <a:r>
              <a:rPr lang="en-GB" altLang="en-US" sz="1600" dirty="0"/>
              <a:t>0</a:t>
            </a:r>
          </a:p>
        </p:txBody>
      </p:sp>
      <p:sp>
        <p:nvSpPr>
          <p:cNvPr id="20" name="TextBox 19">
            <a:extLst>
              <a:ext uri="{FF2B5EF4-FFF2-40B4-BE49-F238E27FC236}">
                <a16:creationId xmlns:a16="http://schemas.microsoft.com/office/drawing/2014/main" id="{3275B49F-369D-0349-AAAB-4879BD46AC38}"/>
              </a:ext>
            </a:extLst>
          </p:cNvPr>
          <p:cNvSpPr txBox="1"/>
          <p:nvPr/>
        </p:nvSpPr>
        <p:spPr>
          <a:xfrm>
            <a:off x="5042286" y="3282169"/>
            <a:ext cx="398895" cy="246221"/>
          </a:xfrm>
          <a:prstGeom prst="rect">
            <a:avLst/>
          </a:prstGeom>
          <a:noFill/>
        </p:spPr>
        <p:txBody>
          <a:bodyPr wrap="square" lIns="0" tIns="0" rIns="0" bIns="0" rtlCol="0" anchor="ctr" anchorCtr="0">
            <a:spAutoFit/>
          </a:bodyPr>
          <a:lstStyle/>
          <a:p>
            <a:pPr algn="r">
              <a:defRPr/>
            </a:pPr>
            <a:r>
              <a:rPr lang="en-GB" altLang="en-US" sz="1600" dirty="0"/>
              <a:t>2</a:t>
            </a:r>
          </a:p>
        </p:txBody>
      </p:sp>
      <p:sp>
        <p:nvSpPr>
          <p:cNvPr id="21" name="TextBox 20">
            <a:extLst>
              <a:ext uri="{FF2B5EF4-FFF2-40B4-BE49-F238E27FC236}">
                <a16:creationId xmlns:a16="http://schemas.microsoft.com/office/drawing/2014/main" id="{68700465-BE14-B042-AD12-89B5AEB47C3D}"/>
              </a:ext>
            </a:extLst>
          </p:cNvPr>
          <p:cNvSpPr txBox="1"/>
          <p:nvPr/>
        </p:nvSpPr>
        <p:spPr>
          <a:xfrm>
            <a:off x="5042286" y="2412519"/>
            <a:ext cx="398895" cy="246221"/>
          </a:xfrm>
          <a:prstGeom prst="rect">
            <a:avLst/>
          </a:prstGeom>
          <a:noFill/>
        </p:spPr>
        <p:txBody>
          <a:bodyPr wrap="square" lIns="0" tIns="0" rIns="0" bIns="0" rtlCol="0" anchor="ctr" anchorCtr="0">
            <a:spAutoFit/>
          </a:bodyPr>
          <a:lstStyle/>
          <a:p>
            <a:pPr algn="r">
              <a:defRPr/>
            </a:pPr>
            <a:r>
              <a:rPr lang="en-GB" altLang="en-US" sz="1600" dirty="0"/>
              <a:t>6</a:t>
            </a:r>
          </a:p>
        </p:txBody>
      </p:sp>
      <p:sp>
        <p:nvSpPr>
          <p:cNvPr id="22" name="TextBox 21">
            <a:extLst>
              <a:ext uri="{FF2B5EF4-FFF2-40B4-BE49-F238E27FC236}">
                <a16:creationId xmlns:a16="http://schemas.microsoft.com/office/drawing/2014/main" id="{34D4F1FE-14F4-2148-9C63-CE50A8FC7DB5}"/>
              </a:ext>
            </a:extLst>
          </p:cNvPr>
          <p:cNvSpPr txBox="1"/>
          <p:nvPr/>
        </p:nvSpPr>
        <p:spPr>
          <a:xfrm>
            <a:off x="5042286" y="1977695"/>
            <a:ext cx="398895" cy="246221"/>
          </a:xfrm>
          <a:prstGeom prst="rect">
            <a:avLst/>
          </a:prstGeom>
          <a:noFill/>
        </p:spPr>
        <p:txBody>
          <a:bodyPr wrap="square" lIns="0" tIns="0" rIns="0" bIns="0" rtlCol="0" anchor="ctr" anchorCtr="0">
            <a:spAutoFit/>
          </a:bodyPr>
          <a:lstStyle/>
          <a:p>
            <a:pPr algn="r">
              <a:defRPr/>
            </a:pPr>
            <a:r>
              <a:rPr lang="en-GB" altLang="en-US" sz="1600" dirty="0"/>
              <a:t>8</a:t>
            </a:r>
          </a:p>
        </p:txBody>
      </p:sp>
      <p:sp>
        <p:nvSpPr>
          <p:cNvPr id="23" name="TextBox 22">
            <a:extLst>
              <a:ext uri="{FF2B5EF4-FFF2-40B4-BE49-F238E27FC236}">
                <a16:creationId xmlns:a16="http://schemas.microsoft.com/office/drawing/2014/main" id="{B53C2D63-5257-3D4E-B3AF-162DF9BFE12F}"/>
              </a:ext>
            </a:extLst>
          </p:cNvPr>
          <p:cNvSpPr txBox="1"/>
          <p:nvPr/>
        </p:nvSpPr>
        <p:spPr>
          <a:xfrm>
            <a:off x="5042286" y="1108047"/>
            <a:ext cx="398895" cy="246221"/>
          </a:xfrm>
          <a:prstGeom prst="rect">
            <a:avLst/>
          </a:prstGeom>
          <a:noFill/>
        </p:spPr>
        <p:txBody>
          <a:bodyPr wrap="square" lIns="0" tIns="0" rIns="0" bIns="0" rtlCol="0" anchor="ctr" anchorCtr="0">
            <a:spAutoFit/>
          </a:bodyPr>
          <a:lstStyle/>
          <a:p>
            <a:pPr algn="r">
              <a:defRPr/>
            </a:pPr>
            <a:r>
              <a:rPr lang="en-GB" altLang="en-US" sz="1600" dirty="0"/>
              <a:t>12</a:t>
            </a:r>
          </a:p>
        </p:txBody>
      </p:sp>
      <p:sp>
        <p:nvSpPr>
          <p:cNvPr id="70" name="TextBox 69">
            <a:extLst>
              <a:ext uri="{FF2B5EF4-FFF2-40B4-BE49-F238E27FC236}">
                <a16:creationId xmlns:a16="http://schemas.microsoft.com/office/drawing/2014/main" id="{34A66484-0BDF-D74C-889D-9B555D8138BA}"/>
              </a:ext>
            </a:extLst>
          </p:cNvPr>
          <p:cNvSpPr txBox="1"/>
          <p:nvPr/>
        </p:nvSpPr>
        <p:spPr>
          <a:xfrm>
            <a:off x="5042286" y="2847343"/>
            <a:ext cx="398895" cy="246221"/>
          </a:xfrm>
          <a:prstGeom prst="rect">
            <a:avLst/>
          </a:prstGeom>
          <a:noFill/>
        </p:spPr>
        <p:txBody>
          <a:bodyPr wrap="square" lIns="0" tIns="0" rIns="0" bIns="0" rtlCol="0" anchor="ctr" anchorCtr="0">
            <a:spAutoFit/>
          </a:bodyPr>
          <a:lstStyle/>
          <a:p>
            <a:pPr algn="r">
              <a:defRPr/>
            </a:pPr>
            <a:r>
              <a:rPr lang="en-GB" altLang="en-US" sz="1600" dirty="0"/>
              <a:t>4</a:t>
            </a:r>
          </a:p>
        </p:txBody>
      </p:sp>
      <p:sp>
        <p:nvSpPr>
          <p:cNvPr id="71" name="TextBox 70">
            <a:extLst>
              <a:ext uri="{FF2B5EF4-FFF2-40B4-BE49-F238E27FC236}">
                <a16:creationId xmlns:a16="http://schemas.microsoft.com/office/drawing/2014/main" id="{C6F88F64-2BC8-4643-8906-12D0A33067E1}"/>
              </a:ext>
            </a:extLst>
          </p:cNvPr>
          <p:cNvSpPr txBox="1"/>
          <p:nvPr/>
        </p:nvSpPr>
        <p:spPr>
          <a:xfrm>
            <a:off x="5042286" y="1542871"/>
            <a:ext cx="398895" cy="246221"/>
          </a:xfrm>
          <a:prstGeom prst="rect">
            <a:avLst/>
          </a:prstGeom>
          <a:noFill/>
        </p:spPr>
        <p:txBody>
          <a:bodyPr wrap="square" lIns="0" tIns="0" rIns="0" bIns="0" rtlCol="0" anchor="ctr" anchorCtr="0">
            <a:spAutoFit/>
          </a:bodyPr>
          <a:lstStyle/>
          <a:p>
            <a:pPr algn="r">
              <a:defRPr/>
            </a:pPr>
            <a:r>
              <a:rPr lang="en-GB" altLang="en-US" sz="1600" dirty="0"/>
              <a:t>10</a:t>
            </a:r>
          </a:p>
        </p:txBody>
      </p:sp>
      <p:cxnSp>
        <p:nvCxnSpPr>
          <p:cNvPr id="75" name="Straight Connector 74">
            <a:extLst>
              <a:ext uri="{FF2B5EF4-FFF2-40B4-BE49-F238E27FC236}">
                <a16:creationId xmlns:a16="http://schemas.microsoft.com/office/drawing/2014/main" id="{CD7DF1BD-07D8-8B4C-ADAA-DEA54F3C4468}"/>
              </a:ext>
            </a:extLst>
          </p:cNvPr>
          <p:cNvCxnSpPr>
            <a:cxnSpLocks/>
          </p:cNvCxnSpPr>
          <p:nvPr/>
        </p:nvCxnSpPr>
        <p:spPr>
          <a:xfrm flipH="1" flipV="1">
            <a:off x="8265580" y="1232720"/>
            <a:ext cx="485942" cy="2584488"/>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4A0FDA8-FA2D-E44F-AC92-4245BDACD709}"/>
              </a:ext>
            </a:extLst>
          </p:cNvPr>
          <p:cNvCxnSpPr>
            <a:cxnSpLocks/>
          </p:cNvCxnSpPr>
          <p:nvPr/>
        </p:nvCxnSpPr>
        <p:spPr>
          <a:xfrm>
            <a:off x="6681323" y="1441344"/>
            <a:ext cx="423420" cy="213285"/>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978F846-7694-DF42-81D0-729DBE1316DF}"/>
              </a:ext>
            </a:extLst>
          </p:cNvPr>
          <p:cNvCxnSpPr>
            <a:cxnSpLocks/>
          </p:cNvCxnSpPr>
          <p:nvPr/>
        </p:nvCxnSpPr>
        <p:spPr>
          <a:xfrm flipV="1">
            <a:off x="5517662" y="1441344"/>
            <a:ext cx="1139215" cy="2392102"/>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5187F01-64F0-684A-9A3F-3885F1AAE629}"/>
              </a:ext>
            </a:extLst>
          </p:cNvPr>
          <p:cNvSpPr/>
          <p:nvPr/>
        </p:nvSpPr>
        <p:spPr>
          <a:xfrm>
            <a:off x="1086338" y="3579446"/>
            <a:ext cx="855785" cy="247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246CF7E2-FF46-974A-9CAE-62501FD93E8F}"/>
              </a:ext>
            </a:extLst>
          </p:cNvPr>
          <p:cNvSpPr/>
          <p:nvPr/>
        </p:nvSpPr>
        <p:spPr>
          <a:xfrm>
            <a:off x="2078892" y="3579446"/>
            <a:ext cx="855785" cy="247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B7AD9B09-8019-1944-B515-A6D8DF98B6E2}"/>
              </a:ext>
            </a:extLst>
          </p:cNvPr>
          <p:cNvSpPr/>
          <p:nvPr/>
        </p:nvSpPr>
        <p:spPr>
          <a:xfrm>
            <a:off x="3083170" y="3583780"/>
            <a:ext cx="855785" cy="247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1" name="Straight Connector 50">
            <a:extLst>
              <a:ext uri="{FF2B5EF4-FFF2-40B4-BE49-F238E27FC236}">
                <a16:creationId xmlns:a16="http://schemas.microsoft.com/office/drawing/2014/main" id="{707AF651-AA38-A830-AD67-311CAF89BD9B}"/>
              </a:ext>
            </a:extLst>
          </p:cNvPr>
          <p:cNvCxnSpPr>
            <a:cxnSpLocks/>
          </p:cNvCxnSpPr>
          <p:nvPr/>
        </p:nvCxnSpPr>
        <p:spPr>
          <a:xfrm flipV="1">
            <a:off x="7127208" y="1234527"/>
            <a:ext cx="471021" cy="431454"/>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F652C08-705D-937D-7B53-30CBE56AE35B}"/>
              </a:ext>
            </a:extLst>
          </p:cNvPr>
          <p:cNvCxnSpPr>
            <a:cxnSpLocks/>
          </p:cNvCxnSpPr>
          <p:nvPr/>
        </p:nvCxnSpPr>
        <p:spPr>
          <a:xfrm flipV="1">
            <a:off x="7628933" y="1234527"/>
            <a:ext cx="612201" cy="405"/>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27" name="Ink 26">
                <a:extLst>
                  <a:ext uri="{FF2B5EF4-FFF2-40B4-BE49-F238E27FC236}">
                    <a16:creationId xmlns:a16="http://schemas.microsoft.com/office/drawing/2014/main" id="{C6DC4818-E995-9C55-5917-2BDE1CBAC17A}"/>
                  </a:ext>
                </a:extLst>
              </p14:cNvPr>
              <p14:cNvContentPartPr/>
              <p14:nvPr/>
            </p14:nvContentPartPr>
            <p14:xfrm>
              <a:off x="6444080" y="3817000"/>
              <a:ext cx="360" cy="360"/>
            </p14:xfrm>
          </p:contentPart>
        </mc:Choice>
        <mc:Fallback xmlns="">
          <p:pic>
            <p:nvPicPr>
              <p:cNvPr id="27" name="Ink 26">
                <a:extLst>
                  <a:ext uri="{FF2B5EF4-FFF2-40B4-BE49-F238E27FC236}">
                    <a16:creationId xmlns:a16="http://schemas.microsoft.com/office/drawing/2014/main" id="{C6DC4818-E995-9C55-5917-2BDE1CBAC17A}"/>
                  </a:ext>
                </a:extLst>
              </p:cNvPr>
              <p:cNvPicPr/>
              <p:nvPr/>
            </p:nvPicPr>
            <p:blipFill>
              <a:blip r:embed="rId4"/>
              <a:stretch>
                <a:fillRect/>
              </a:stretch>
            </p:blipFill>
            <p:spPr>
              <a:xfrm>
                <a:off x="6408440" y="37810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8" name="Ink 27">
                <a:extLst>
                  <a:ext uri="{FF2B5EF4-FFF2-40B4-BE49-F238E27FC236}">
                    <a16:creationId xmlns:a16="http://schemas.microsoft.com/office/drawing/2014/main" id="{14486E0C-9230-F0A6-4F7E-5011402154C2}"/>
                  </a:ext>
                </a:extLst>
              </p14:cNvPr>
              <p14:cNvContentPartPr/>
              <p14:nvPr/>
            </p14:nvContentPartPr>
            <p14:xfrm>
              <a:off x="7365680" y="3824200"/>
              <a:ext cx="360" cy="360"/>
            </p14:xfrm>
          </p:contentPart>
        </mc:Choice>
        <mc:Fallback xmlns="">
          <p:pic>
            <p:nvPicPr>
              <p:cNvPr id="28" name="Ink 27">
                <a:extLst>
                  <a:ext uri="{FF2B5EF4-FFF2-40B4-BE49-F238E27FC236}">
                    <a16:creationId xmlns:a16="http://schemas.microsoft.com/office/drawing/2014/main" id="{14486E0C-9230-F0A6-4F7E-5011402154C2}"/>
                  </a:ext>
                </a:extLst>
              </p:cNvPr>
              <p:cNvPicPr/>
              <p:nvPr/>
            </p:nvPicPr>
            <p:blipFill>
              <a:blip r:embed="rId4"/>
              <a:stretch>
                <a:fillRect/>
              </a:stretch>
            </p:blipFill>
            <p:spPr>
              <a:xfrm>
                <a:off x="7330040" y="37882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8" name="Ink 37">
                <a:extLst>
                  <a:ext uri="{FF2B5EF4-FFF2-40B4-BE49-F238E27FC236}">
                    <a16:creationId xmlns:a16="http://schemas.microsoft.com/office/drawing/2014/main" id="{22B3652E-EC75-CF8B-558D-29DEEC2F1188}"/>
                  </a:ext>
                </a:extLst>
              </p14:cNvPr>
              <p14:cNvContentPartPr/>
              <p14:nvPr/>
            </p14:nvContentPartPr>
            <p14:xfrm>
              <a:off x="8272880" y="3824200"/>
              <a:ext cx="360" cy="360"/>
            </p14:xfrm>
          </p:contentPart>
        </mc:Choice>
        <mc:Fallback xmlns="">
          <p:pic>
            <p:nvPicPr>
              <p:cNvPr id="38" name="Ink 37">
                <a:extLst>
                  <a:ext uri="{FF2B5EF4-FFF2-40B4-BE49-F238E27FC236}">
                    <a16:creationId xmlns:a16="http://schemas.microsoft.com/office/drawing/2014/main" id="{22B3652E-EC75-CF8B-558D-29DEEC2F1188}"/>
                  </a:ext>
                </a:extLst>
              </p:cNvPr>
              <p:cNvPicPr/>
              <p:nvPr/>
            </p:nvPicPr>
            <p:blipFill>
              <a:blip r:embed="rId4"/>
              <a:stretch>
                <a:fillRect/>
              </a:stretch>
            </p:blipFill>
            <p:spPr>
              <a:xfrm>
                <a:off x="8237240" y="3788200"/>
                <a:ext cx="72000" cy="72000"/>
              </a:xfrm>
              <a:prstGeom prst="rect">
                <a:avLst/>
              </a:prstGeom>
            </p:spPr>
          </p:pic>
        </mc:Fallback>
      </mc:AlternateContent>
      <p:sp>
        <p:nvSpPr>
          <p:cNvPr id="61" name="TextBox 60">
            <a:extLst>
              <a:ext uri="{FF2B5EF4-FFF2-40B4-BE49-F238E27FC236}">
                <a16:creationId xmlns:a16="http://schemas.microsoft.com/office/drawing/2014/main" id="{26F80E80-33AE-BDFB-2BD4-517958C65179}"/>
              </a:ext>
            </a:extLst>
          </p:cNvPr>
          <p:cNvSpPr txBox="1"/>
          <p:nvPr/>
        </p:nvSpPr>
        <p:spPr>
          <a:xfrm>
            <a:off x="6444439" y="830719"/>
            <a:ext cx="2323577" cy="338554"/>
          </a:xfrm>
          <a:prstGeom prst="rect">
            <a:avLst/>
          </a:prstGeom>
          <a:noFill/>
        </p:spPr>
        <p:txBody>
          <a:bodyPr wrap="square" rtlCol="0">
            <a:spAutoFit/>
          </a:bodyPr>
          <a:lstStyle/>
          <a:p>
            <a:r>
              <a:rPr lang="en-US" sz="1600" b="1" dirty="0"/>
              <a:t>1 square is 15 minutes </a:t>
            </a:r>
            <a:endParaRPr lang="en-AU" sz="1600" b="1" dirty="0"/>
          </a:p>
        </p:txBody>
      </p:sp>
      <p:sp>
        <p:nvSpPr>
          <p:cNvPr id="62" name="TextBox 61">
            <a:extLst>
              <a:ext uri="{FF2B5EF4-FFF2-40B4-BE49-F238E27FC236}">
                <a16:creationId xmlns:a16="http://schemas.microsoft.com/office/drawing/2014/main" id="{4710C7C6-392C-ED22-F15F-5575E88692F3}"/>
              </a:ext>
            </a:extLst>
          </p:cNvPr>
          <p:cNvSpPr txBox="1"/>
          <p:nvPr/>
        </p:nvSpPr>
        <p:spPr>
          <a:xfrm>
            <a:off x="679488" y="1559720"/>
            <a:ext cx="2715715" cy="2893100"/>
          </a:xfrm>
          <a:prstGeom prst="rect">
            <a:avLst/>
          </a:prstGeom>
          <a:noFill/>
        </p:spPr>
        <p:txBody>
          <a:bodyPr wrap="square" rtlCol="0">
            <a:spAutoFit/>
          </a:bodyPr>
          <a:lstStyle/>
          <a:p>
            <a:pPr marL="342900" indent="-342900">
              <a:buAutoNum type="alphaLcParenR"/>
            </a:pPr>
            <a:r>
              <a:rPr lang="en-US" sz="1400" b="1" dirty="0"/>
              <a:t>What long did it take for Mathew to get to the gym?</a:t>
            </a:r>
          </a:p>
          <a:p>
            <a:pPr marL="342900" indent="-342900">
              <a:buAutoNum type="alphaLcParenR"/>
            </a:pPr>
            <a:endParaRPr lang="en-US" sz="1400" b="1" dirty="0"/>
          </a:p>
          <a:p>
            <a:pPr marL="342900" indent="-342900">
              <a:buAutoNum type="alphaLcParenR"/>
            </a:pPr>
            <a:r>
              <a:rPr lang="en-US" sz="1400" b="1" dirty="0"/>
              <a:t>How long was Mathew at the gym?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Describe what happened at 1 hour and 15 minutes. </a:t>
            </a:r>
          </a:p>
          <a:p>
            <a:pPr marL="342900" indent="-342900">
              <a:buAutoNum type="alphaLcParenR"/>
            </a:pPr>
            <a:endParaRPr lang="en-US" sz="1400" b="1" dirty="0"/>
          </a:p>
          <a:p>
            <a:pPr marL="342900" indent="-342900">
              <a:buAutoNum type="alphaLcParenR"/>
            </a:pPr>
            <a:endParaRPr lang="en-US" sz="1400" b="1" dirty="0"/>
          </a:p>
          <a:p>
            <a:pPr marL="342900" indent="-342900">
              <a:buAutoNum type="alphaLcParenR"/>
            </a:pPr>
            <a:r>
              <a:rPr lang="en-US" sz="1400" b="1" dirty="0"/>
              <a:t>How far did Mathew travel in total?  </a:t>
            </a:r>
            <a:endParaRPr lang="en-AU" sz="1400" b="1" dirty="0"/>
          </a:p>
        </p:txBody>
      </p:sp>
    </p:spTree>
    <p:extLst>
      <p:ext uri="{BB962C8B-B14F-4D97-AF65-F5344CB8AC3E}">
        <p14:creationId xmlns:p14="http://schemas.microsoft.com/office/powerpoint/2010/main" val="3690609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370EA-BD78-72ED-B79F-054CE758E13B}"/>
              </a:ext>
            </a:extLst>
          </p:cNvPr>
          <p:cNvSpPr>
            <a:spLocks noGrp="1"/>
          </p:cNvSpPr>
          <p:nvPr>
            <p:ph type="ctrTitle"/>
          </p:nvPr>
        </p:nvSpPr>
        <p:spPr/>
        <p:txBody>
          <a:bodyPr/>
          <a:lstStyle/>
          <a:p>
            <a:pPr algn="ctr"/>
            <a:r>
              <a:rPr lang="en-US" dirty="0"/>
              <a:t>Individual practice  </a:t>
            </a:r>
            <a:endParaRPr lang="en-AU" dirty="0"/>
          </a:p>
        </p:txBody>
      </p:sp>
      <p:sp>
        <p:nvSpPr>
          <p:cNvPr id="3" name="Content Placeholder 2">
            <a:extLst>
              <a:ext uri="{FF2B5EF4-FFF2-40B4-BE49-F238E27FC236}">
                <a16:creationId xmlns:a16="http://schemas.microsoft.com/office/drawing/2014/main" id="{21D46D6D-D3FE-B623-4BA0-DCD89B37DD4B}"/>
              </a:ext>
            </a:extLst>
          </p:cNvPr>
          <p:cNvSpPr>
            <a:spLocks noGrp="1"/>
          </p:cNvSpPr>
          <p:nvPr>
            <p:ph type="subTitle" idx="1"/>
          </p:nvPr>
        </p:nvSpPr>
        <p:spPr/>
        <p:txBody>
          <a:bodyPr>
            <a:normAutofit/>
          </a:bodyPr>
          <a:lstStyle/>
          <a:p>
            <a:pPr marL="0" indent="0">
              <a:buNone/>
            </a:pPr>
            <a:r>
              <a:rPr lang="en-US" dirty="0"/>
              <a:t>“what’s green and eats porridge?” 106</a:t>
            </a:r>
          </a:p>
          <a:p>
            <a:pPr marL="0" indent="0">
              <a:buNone/>
            </a:pPr>
            <a:r>
              <a:rPr lang="en-US" dirty="0"/>
              <a:t>“why is an island like a “T”? 67 </a:t>
            </a:r>
            <a:endParaRPr lang="en-AU" dirty="0"/>
          </a:p>
        </p:txBody>
      </p:sp>
    </p:spTree>
    <p:extLst>
      <p:ext uri="{BB962C8B-B14F-4D97-AF65-F5344CB8AC3E}">
        <p14:creationId xmlns:p14="http://schemas.microsoft.com/office/powerpoint/2010/main" val="467877641"/>
      </p:ext>
    </p:extLst>
  </p:cSld>
  <p:clrMapOvr>
    <a:masterClrMapping/>
  </p:clrMapOvr>
</p:sld>
</file>

<file path=ppt/theme/theme1.xml><?xml version="1.0" encoding="utf-8"?>
<a:theme xmlns:a="http://schemas.openxmlformats.org/drawingml/2006/main" name="Office Theme">
  <a:themeElements>
    <a:clrScheme name="CP3 1">
      <a:dk1>
        <a:srgbClr val="000000"/>
      </a:dk1>
      <a:lt1>
        <a:srgbClr val="FFFFFF"/>
      </a:lt1>
      <a:dk2>
        <a:srgbClr val="D3B3FF"/>
      </a:dk2>
      <a:lt2>
        <a:srgbClr val="D9CBFE"/>
      </a:lt2>
      <a:accent1>
        <a:srgbClr val="97DFFE"/>
      </a:accent1>
      <a:accent2>
        <a:srgbClr val="BEFCB5"/>
      </a:accent2>
      <a:accent3>
        <a:srgbClr val="FFFD90"/>
      </a:accent3>
      <a:accent4>
        <a:srgbClr val="FEE699"/>
      </a:accent4>
      <a:accent5>
        <a:srgbClr val="FEDADB"/>
      </a:accent5>
      <a:accent6>
        <a:srgbClr val="FFB7AC"/>
      </a:accent6>
      <a:hlink>
        <a:srgbClr val="D9CBFE"/>
      </a:hlink>
      <a:folHlink>
        <a:srgbClr val="D3B3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 Factorising to double brackets.potx" id="{2ABD0240-5869-D742-8569-1FD3318009AF}" vid="{BA2D123A-C9E9-3043-B567-4DED4C6E3B9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7341</TotalTime>
  <Words>752</Words>
  <Application>Microsoft Office PowerPoint</Application>
  <PresentationFormat>On-screen Show (16:9)</PresentationFormat>
  <Paragraphs>229</Paragraphs>
  <Slides>10</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Calibri</vt:lpstr>
      <vt:lpstr>Calibri Light</vt:lpstr>
      <vt:lpstr>Cambria Math</vt:lpstr>
      <vt:lpstr>Wingdings</vt:lpstr>
      <vt:lpstr>Office Theme</vt:lpstr>
      <vt:lpstr>1_Office Theme</vt:lpstr>
      <vt:lpstr>Lesson objective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Individual practice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Distance-Time Graphs</dc:title>
  <dc:subject>Mathematics</dc:subject>
  <dc:creator>CP3</dc:creator>
  <cp:keywords/>
  <dc:description/>
  <cp:lastModifiedBy>DAVIES Rhys [Busselton Senior High School]</cp:lastModifiedBy>
  <cp:revision>1150</cp:revision>
  <cp:lastPrinted>2022-09-07T08:02:23Z</cp:lastPrinted>
  <dcterms:created xsi:type="dcterms:W3CDTF">2018-09-23T11:32:36Z</dcterms:created>
  <dcterms:modified xsi:type="dcterms:W3CDTF">2023-10-25T01:13:40Z</dcterms:modified>
  <cp:category/>
</cp:coreProperties>
</file>
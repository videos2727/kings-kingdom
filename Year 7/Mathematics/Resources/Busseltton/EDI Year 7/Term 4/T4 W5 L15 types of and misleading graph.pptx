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7" r:id="rId2"/>
  </p:sldMasterIdLst>
  <p:sldIdLst>
    <p:sldId id="266" r:id="rId3"/>
    <p:sldId id="276" r:id="rId4"/>
    <p:sldId id="257" r:id="rId5"/>
    <p:sldId id="270" r:id="rId6"/>
    <p:sldId id="258" r:id="rId7"/>
    <p:sldId id="259" r:id="rId8"/>
    <p:sldId id="267" r:id="rId9"/>
    <p:sldId id="262" r:id="rId10"/>
    <p:sldId id="268" r:id="rId11"/>
    <p:sldId id="277" r:id="rId12"/>
    <p:sldId id="334" r:id="rId13"/>
    <p:sldId id="335" r:id="rId14"/>
    <p:sldId id="337" r:id="rId15"/>
    <p:sldId id="336" r:id="rId16"/>
    <p:sldId id="278" r:id="rId17"/>
    <p:sldId id="338" r:id="rId18"/>
  </p:sldIdLst>
  <p:sldSz cx="12192000" cy="6858000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9/11/2023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0450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9/11/2023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42350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9/11/2023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79583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9/11/2023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630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9/11/2023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4103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9/11/2023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14096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9/11/2023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9141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9/11/2023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0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9/11/2023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29319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9/11/2023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0822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9/11/2023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19418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9/11/2023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50279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9/11/2023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67030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9/11/2023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121980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9/11/2023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75716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1588E-D072-4317-B878-3E9FE8CEA541}" type="datetimeFigureOut">
              <a:rPr lang="en-AU" smtClean="0"/>
              <a:t>9/11/2023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812474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A934B-0094-4099-9E75-4D3311D5C0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8A18DE-7B4A-470C-A94D-B466C0F341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6C78D-10A0-4BE1-9E6B-25C0579FF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97CF-1E8C-40B3-BDF4-BE84B8D868C8}" type="datetimeFigureOut">
              <a:rPr lang="en-AU" smtClean="0"/>
              <a:t>9/11/2023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D5251-03B0-4713-8D1B-7E3F8A145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F32DA-7484-432A-95BF-4CECE5BA7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6059-A45C-4581-BBCA-38D9722363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1301274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0EC7A-AFBB-43CD-AEBA-6A1758654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AC12AC-33DF-4820-88CA-E349692A00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A5622-8FF1-46C6-9742-AA86D1105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97CF-1E8C-40B3-BDF4-BE84B8D868C8}" type="datetimeFigureOut">
              <a:rPr lang="en-AU" smtClean="0"/>
              <a:t>9/11/2023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F2AE61-A3BB-448D-A042-EAF599BEE3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5479D6-2961-410A-95D9-BD4E7FAF2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6059-A45C-4581-BBCA-38D9722363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2985889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B2FB4-1F2C-4563-B357-222ABA3B0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8C83AB-3F93-446E-B498-3B8E74CC4D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BAD01-7EE6-4E4A-9019-EE2922531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97CF-1E8C-40B3-BDF4-BE84B8D868C8}" type="datetimeFigureOut">
              <a:rPr lang="en-AU" smtClean="0"/>
              <a:t>9/11/2023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21FB6E-7603-4FFE-8EB3-6E54FF405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A4E36-5DC6-43C1-990E-186160398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6059-A45C-4581-BBCA-38D9722363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523731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0004D-966D-4C5D-95A8-85DFB41F26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BDE66-C445-4BFA-A407-A80D7EB807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6D4FA2-409F-4D9A-8E83-1F69EDFCDF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5604C7-059E-4AFC-8799-856ABC34C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97CF-1E8C-40B3-BDF4-BE84B8D868C8}" type="datetimeFigureOut">
              <a:rPr lang="en-AU" smtClean="0"/>
              <a:t>9/11/2023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79DE7-1F59-4FE2-9809-5B2F9B124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21A5EE-C49A-4E86-B091-3C4DBFCB3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6059-A45C-4581-BBCA-38D9722363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676260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EA249-7FEC-4891-9DBB-D84BDE9C62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128DB-21D4-41CC-A8BC-9B2E94DA30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5CEAF5-E454-4B3A-BAD2-14C86CD6A3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20BF89-CBD6-421C-A08E-99D826986C6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50C61B-4D0B-4F68-9EC4-533481F8FF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CB58BC-51F9-4D6E-94EC-61A3FE470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97CF-1E8C-40B3-BDF4-BE84B8D868C8}" type="datetimeFigureOut">
              <a:rPr lang="en-AU" smtClean="0"/>
              <a:t>9/11/2023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261FAD-A0C3-40C9-A6BF-3E272C78D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A317FC-6AF8-498B-881B-6DF1EB3F1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6059-A45C-4581-BBCA-38D9722363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420374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85067-1218-4C1C-8E32-8E31ADC60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180DB2-0A72-47DC-96F9-7F3CED557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97CF-1E8C-40B3-BDF4-BE84B8D868C8}" type="datetimeFigureOut">
              <a:rPr lang="en-AU" smtClean="0"/>
              <a:t>9/11/2023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6A487C-13E8-4015-9F24-F9854CC2FE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C69EA9-D1CD-4859-9959-0BF31C356E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6059-A45C-4581-BBCA-38D9722363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275046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8E5D32-0323-4E84-A77B-01CE29C73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97CF-1E8C-40B3-BDF4-BE84B8D868C8}" type="datetimeFigureOut">
              <a:rPr lang="en-AU" smtClean="0"/>
              <a:t>9/11/2023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B295BE-F9B0-4FA4-BA9C-D4140F9D71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B050AD-A6B2-44DF-9713-486EB2E36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6059-A45C-4581-BBCA-38D9722363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8720259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5F607-0D24-4CFA-A789-418D406EF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9B43C-52E0-464D-B53B-4963D9EDDF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DAFDA5-3296-465B-A0C5-A15BF11A5F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D3C26B-CCCA-440F-BFF6-5FA8FC13C4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97CF-1E8C-40B3-BDF4-BE84B8D868C8}" type="datetimeFigureOut">
              <a:rPr lang="en-AU" smtClean="0"/>
              <a:t>9/11/2023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34EE2A-9A9B-4CAA-A536-75CD604ED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09A63-AEF3-4D99-A877-0E2991685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6059-A45C-4581-BBCA-38D9722363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968328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91D45-473A-48A5-80AF-F71F3A3CD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5D92AE-09B9-485E-8F46-0C980BD1BA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B1B30D-49EA-41BB-93C5-76F27B744D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9E9262-413F-475C-A40B-8313DBB550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97CF-1E8C-40B3-BDF4-BE84B8D868C8}" type="datetimeFigureOut">
              <a:rPr lang="en-AU" smtClean="0"/>
              <a:t>9/11/2023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CD0CD4-DA29-46E2-A650-376D7FECD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DDE795-59C8-4E9C-A125-305694B92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6059-A45C-4581-BBCA-38D9722363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8192246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33AD7-B1AF-4591-95D7-72B26552E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3A85EB-8EAA-4A86-91CE-0ED24C6090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9232FD-48DD-43A4-8D62-A0459CBA7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97CF-1E8C-40B3-BDF4-BE84B8D868C8}" type="datetimeFigureOut">
              <a:rPr lang="en-AU" smtClean="0"/>
              <a:t>9/11/2023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2540F8-047C-4F57-A6C0-AAD577656C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63405C-5F42-4595-A5F7-9AB530FB6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6059-A45C-4581-BBCA-38D9722363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038140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936583-5C2F-44D4-8D3F-ABDF49EE87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9174D0-B356-49DF-B062-5B1487E54F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F91EEC-FDA7-4E2F-9C00-04D43442C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0A97CF-1E8C-40B3-BDF4-BE84B8D868C8}" type="datetimeFigureOut">
              <a:rPr lang="en-AU" smtClean="0"/>
              <a:t>9/11/2023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27790-786F-4458-8342-D56010EBF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2963A0-9325-4F64-8306-F983997AB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C96059-A45C-4581-BBCA-38D9722363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477071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1588E-D072-4317-B878-3E9FE8CEA541}" type="datetimeFigureOut">
              <a:rPr lang="en-AU" smtClean="0"/>
              <a:t>9/11/2023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3A1687A-42AA-4307-A2D2-AD0216DEBFA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7125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F26B43"/>
          </p15:clr>
        </p15:guide>
        <p15:guide id="2" pos="9216">
          <p15:clr>
            <a:srgbClr val="F26B43"/>
          </p15:clr>
        </p15:guide>
        <p15:guide id="3" pos="1248">
          <p15:clr>
            <a:srgbClr val="F26B43"/>
          </p15:clr>
        </p15:guide>
        <p15:guide id="4" pos="1152">
          <p15:clr>
            <a:srgbClr val="F26B43"/>
          </p15:clr>
        </p15:guide>
        <p15:guide id="5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B20CBB4-6BA9-4786-B141-7D2FBFA2E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23EFF7-EEC4-4BE4-B4E7-D5B3BC8EB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AC3FD5-80D5-481E-95DD-4E8AAEB669C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0A97CF-1E8C-40B3-BDF4-BE84B8D868C8}" type="datetimeFigureOut">
              <a:rPr lang="en-AU" smtClean="0"/>
              <a:t>9/11/2023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31BB5B-ACB8-4571-BFE3-47BE9330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A194E-9621-4CE5-A96F-5C00AF5825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C96059-A45C-4581-BBCA-38D97223639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967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E91bGT9BjYk" TargetMode="External"/><Relationship Id="rId1" Type="http://schemas.openxmlformats.org/officeDocument/2006/relationships/slideLayout" Target="../slideLayouts/slideLayout1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69005-3B2C-AED6-9EB2-AD34B7905A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Lesson objective </a:t>
            </a:r>
            <a:endParaRPr lang="en-AU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254B31-41A2-A06D-6DA3-81759CC0AC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6139" y="1509204"/>
            <a:ext cx="10520039" cy="510466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Title: </a:t>
            </a:r>
            <a:r>
              <a:rPr lang="en-US" sz="2400" b="1" dirty="0">
                <a:solidFill>
                  <a:schemeClr val="bg1"/>
                </a:solidFill>
              </a:rPr>
              <a:t>Data collection </a:t>
            </a:r>
          </a:p>
          <a:p>
            <a:endParaRPr lang="en-US" sz="2400" b="1" dirty="0">
              <a:solidFill>
                <a:schemeClr val="bg1"/>
              </a:solidFill>
            </a:endParaRPr>
          </a:p>
          <a:p>
            <a:r>
              <a:rPr lang="en-US" sz="2400" b="1" dirty="0">
                <a:solidFill>
                  <a:schemeClr val="bg1"/>
                </a:solidFill>
              </a:rPr>
              <a:t>Aim – be able to: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400" b="1" dirty="0">
                <a:solidFill>
                  <a:schemeClr val="bg1"/>
                </a:solidFill>
              </a:rPr>
              <a:t>Identify different types of data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GB" sz="2400" b="1" dirty="0">
                <a:solidFill>
                  <a:schemeClr val="bg1"/>
                </a:solidFill>
              </a:rPr>
              <a:t>Identify errors in representations of data </a:t>
            </a:r>
          </a:p>
          <a:p>
            <a:pPr marL="0" indent="0"/>
            <a:endParaRPr lang="en-AU" sz="2400" b="1" dirty="0">
              <a:solidFill>
                <a:schemeClr val="bg1"/>
              </a:solidFill>
            </a:endParaRPr>
          </a:p>
          <a:p>
            <a:pPr marL="0" indent="0"/>
            <a:r>
              <a:rPr lang="en-AU" sz="2400" b="1" dirty="0">
                <a:solidFill>
                  <a:schemeClr val="bg1"/>
                </a:solidFill>
              </a:rPr>
              <a:t>Plan: </a:t>
            </a:r>
          </a:p>
          <a:p>
            <a:pPr marL="285750" indent="-285750">
              <a:buFontTx/>
              <a:buChar char="-"/>
            </a:pPr>
            <a:r>
              <a:rPr lang="en-AU" sz="2400" b="1" dirty="0">
                <a:solidFill>
                  <a:schemeClr val="bg1"/>
                </a:solidFill>
              </a:rPr>
              <a:t>Census Vs. Sample </a:t>
            </a:r>
          </a:p>
          <a:p>
            <a:pPr marL="285750" indent="-285750">
              <a:buFontTx/>
              <a:buChar char="-"/>
            </a:pPr>
            <a:r>
              <a:rPr lang="en-AU" sz="2400" b="1" dirty="0">
                <a:solidFill>
                  <a:schemeClr val="bg1"/>
                </a:solidFill>
              </a:rPr>
              <a:t>Representing data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B60269-D36D-77AC-5ADB-019B3BDF2E08}"/>
              </a:ext>
            </a:extLst>
          </p:cNvPr>
          <p:cNvSpPr txBox="1"/>
          <p:nvPr/>
        </p:nvSpPr>
        <p:spPr>
          <a:xfrm>
            <a:off x="7548465" y="503853"/>
            <a:ext cx="21460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highlight>
                  <a:srgbClr val="FFFF00"/>
                </a:highlight>
              </a:rPr>
              <a:t>Need calculators.</a:t>
            </a:r>
            <a:endParaRPr lang="en-AU" sz="24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6068762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245C5-6376-95C9-69C2-7D96E3DF9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6178" y="233492"/>
            <a:ext cx="8911687" cy="1280890"/>
          </a:xfrm>
        </p:spPr>
        <p:txBody>
          <a:bodyPr/>
          <a:lstStyle/>
          <a:p>
            <a:pPr algn="ctr"/>
            <a:r>
              <a:rPr lang="en-US" dirty="0"/>
              <a:t>Daily review: You try </a:t>
            </a:r>
            <a:endParaRPr lang="en-AU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90F5E8-FF9C-5AC5-BAE1-E8C365CBB9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07650" y="2364420"/>
            <a:ext cx="4313864" cy="377762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Calculate the mean. </a:t>
            </a:r>
            <a:endParaRPr lang="en-AU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7887E3F-FBCA-959E-A33D-E2DE506AC7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939068" y="2364420"/>
            <a:ext cx="4313864" cy="3777622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/>
              <a:t>Calculate the mode </a:t>
            </a:r>
            <a:endParaRPr lang="en-AU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4CC0D9F5-F334-CAFB-380D-1C11F27FD107}"/>
              </a:ext>
            </a:extLst>
          </p:cNvPr>
          <p:cNvSpPr txBox="1">
            <a:spLocks/>
          </p:cNvSpPr>
          <p:nvPr/>
        </p:nvSpPr>
        <p:spPr>
          <a:xfrm>
            <a:off x="7695802" y="2364420"/>
            <a:ext cx="4313864" cy="37776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Char char="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A53010"/>
              </a:buClr>
              <a:buSzTx/>
              <a:buFont typeface="Wingdings 3" charset="2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Calculate the median 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FB8520-4749-4386-233B-6874A51C76BB}"/>
              </a:ext>
            </a:extLst>
          </p:cNvPr>
          <p:cNvSpPr txBox="1"/>
          <p:nvPr/>
        </p:nvSpPr>
        <p:spPr>
          <a:xfrm>
            <a:off x="1903630" y="1207338"/>
            <a:ext cx="82523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21, 24, 76, 32, 24, 18, 52, 45, 67, </a:t>
            </a:r>
            <a:r>
              <a:rPr lang="en-US" sz="2400" dirty="0">
                <a:solidFill>
                  <a:prstClr val="black"/>
                </a:solidFill>
                <a:latin typeface="Century Gothic" panose="020B0502020202020204"/>
              </a:rPr>
              <a:t>110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, 45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rPr>
              <a:t>In order:</a:t>
            </a:r>
            <a:endParaRPr kumimoji="0" lang="en-AU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163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Survey or Census?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96075" y="2187767"/>
            <a:ext cx="8915400" cy="3777622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GB" dirty="0"/>
              <a:t>We use a census for the population </a:t>
            </a:r>
            <a:r>
              <a:rPr lang="en-GB" sz="2000" b="1" dirty="0">
                <a:solidFill>
                  <a:srgbClr val="00B0F0"/>
                </a:solidFill>
              </a:rPr>
              <a:t>(all the people in the group).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We use a survey for a sample </a:t>
            </a:r>
            <a:r>
              <a:rPr lang="en-GB" sz="2000" b="1" dirty="0">
                <a:solidFill>
                  <a:srgbClr val="00B0F0"/>
                </a:solidFill>
              </a:rPr>
              <a:t>(some of the people in the group).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We should select people at random when we choose a sample in order to </a:t>
            </a:r>
            <a:r>
              <a:rPr lang="en-GB" sz="2000" b="1" dirty="0">
                <a:solidFill>
                  <a:srgbClr val="00B0F0"/>
                </a:solidFill>
              </a:rPr>
              <a:t>reduce bias (unfairness).</a:t>
            </a:r>
          </a:p>
          <a:p>
            <a:endParaRPr lang="en-GB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696E2E2-B408-AF75-549D-22B5AE40AC3D}"/>
              </a:ext>
            </a:extLst>
          </p:cNvPr>
          <p:cNvGrpSpPr/>
          <p:nvPr/>
        </p:nvGrpSpPr>
        <p:grpSpPr>
          <a:xfrm>
            <a:off x="6240008" y="3743018"/>
            <a:ext cx="4176464" cy="1944216"/>
            <a:chOff x="3647728" y="2780928"/>
            <a:chExt cx="4176464" cy="1944216"/>
          </a:xfrm>
        </p:grpSpPr>
        <p:sp>
          <p:nvSpPr>
            <p:cNvPr id="4" name="Rectangle 3"/>
            <p:cNvSpPr/>
            <p:nvPr/>
          </p:nvSpPr>
          <p:spPr>
            <a:xfrm>
              <a:off x="3647728" y="2780928"/>
              <a:ext cx="4176464" cy="1944216"/>
            </a:xfrm>
            <a:prstGeom prst="rect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Population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4007494" y="2928211"/>
              <a:ext cx="3537759" cy="1410638"/>
            </a:xfrm>
            <a:custGeom>
              <a:avLst/>
              <a:gdLst>
                <a:gd name="connsiteX0" fmla="*/ 0 w 2448272"/>
                <a:gd name="connsiteY0" fmla="*/ 540060 h 1080120"/>
                <a:gd name="connsiteX1" fmla="*/ 1224136 w 2448272"/>
                <a:gd name="connsiteY1" fmla="*/ 0 h 1080120"/>
                <a:gd name="connsiteX2" fmla="*/ 2448272 w 2448272"/>
                <a:gd name="connsiteY2" fmla="*/ 540060 h 1080120"/>
                <a:gd name="connsiteX3" fmla="*/ 1224136 w 2448272"/>
                <a:gd name="connsiteY3" fmla="*/ 1080120 h 1080120"/>
                <a:gd name="connsiteX4" fmla="*/ 0 w 2448272"/>
                <a:gd name="connsiteY4" fmla="*/ 540060 h 1080120"/>
                <a:gd name="connsiteX0" fmla="*/ 245 w 2448517"/>
                <a:gd name="connsiteY0" fmla="*/ 284137 h 824197"/>
                <a:gd name="connsiteX1" fmla="*/ 1306677 w 2448517"/>
                <a:gd name="connsiteY1" fmla="*/ 109 h 824197"/>
                <a:gd name="connsiteX2" fmla="*/ 2448517 w 2448517"/>
                <a:gd name="connsiteY2" fmla="*/ 284137 h 824197"/>
                <a:gd name="connsiteX3" fmla="*/ 1224381 w 2448517"/>
                <a:gd name="connsiteY3" fmla="*/ 824197 h 824197"/>
                <a:gd name="connsiteX4" fmla="*/ 245 w 2448517"/>
                <a:gd name="connsiteY4" fmla="*/ 284137 h 824197"/>
                <a:gd name="connsiteX0" fmla="*/ 14458 w 2485433"/>
                <a:gd name="connsiteY0" fmla="*/ 494340 h 1034400"/>
                <a:gd name="connsiteX1" fmla="*/ 1970114 w 2485433"/>
                <a:gd name="connsiteY1" fmla="*/ 0 h 1034400"/>
                <a:gd name="connsiteX2" fmla="*/ 2462730 w 2485433"/>
                <a:gd name="connsiteY2" fmla="*/ 494340 h 1034400"/>
                <a:gd name="connsiteX3" fmla="*/ 1238594 w 2485433"/>
                <a:gd name="connsiteY3" fmla="*/ 1034400 h 1034400"/>
                <a:gd name="connsiteX4" fmla="*/ 14458 w 2485433"/>
                <a:gd name="connsiteY4" fmla="*/ 494340 h 1034400"/>
                <a:gd name="connsiteX0" fmla="*/ 11716 w 2935476"/>
                <a:gd name="connsiteY0" fmla="*/ 495563 h 1038693"/>
                <a:gd name="connsiteX1" fmla="*/ 1967372 w 2935476"/>
                <a:gd name="connsiteY1" fmla="*/ 1223 h 1038693"/>
                <a:gd name="connsiteX2" fmla="*/ 2935476 w 2935476"/>
                <a:gd name="connsiteY2" fmla="*/ 641867 h 1038693"/>
                <a:gd name="connsiteX3" fmla="*/ 1235852 w 2935476"/>
                <a:gd name="connsiteY3" fmla="*/ 1035623 h 1038693"/>
                <a:gd name="connsiteX4" fmla="*/ 11716 w 2935476"/>
                <a:gd name="connsiteY4" fmla="*/ 495563 h 1038693"/>
                <a:gd name="connsiteX0" fmla="*/ 11716 w 2935476"/>
                <a:gd name="connsiteY0" fmla="*/ 495563 h 1039867"/>
                <a:gd name="connsiteX1" fmla="*/ 1967372 w 2935476"/>
                <a:gd name="connsiteY1" fmla="*/ 1223 h 1039867"/>
                <a:gd name="connsiteX2" fmla="*/ 2935476 w 2935476"/>
                <a:gd name="connsiteY2" fmla="*/ 641867 h 1039867"/>
                <a:gd name="connsiteX3" fmla="*/ 1235852 w 2935476"/>
                <a:gd name="connsiteY3" fmla="*/ 1035623 h 1039867"/>
                <a:gd name="connsiteX4" fmla="*/ 11716 w 2935476"/>
                <a:gd name="connsiteY4" fmla="*/ 495563 h 1039867"/>
                <a:gd name="connsiteX0" fmla="*/ 8238 w 3416630"/>
                <a:gd name="connsiteY0" fmla="*/ 372014 h 1050774"/>
                <a:gd name="connsiteX1" fmla="*/ 2448526 w 3416630"/>
                <a:gd name="connsiteY1" fmla="*/ 5690 h 1050774"/>
                <a:gd name="connsiteX2" fmla="*/ 3416630 w 3416630"/>
                <a:gd name="connsiteY2" fmla="*/ 646334 h 1050774"/>
                <a:gd name="connsiteX3" fmla="*/ 1717006 w 3416630"/>
                <a:gd name="connsiteY3" fmla="*/ 1040090 h 1050774"/>
                <a:gd name="connsiteX4" fmla="*/ 8238 w 3416630"/>
                <a:gd name="connsiteY4" fmla="*/ 372014 h 1050774"/>
                <a:gd name="connsiteX0" fmla="*/ 41739 w 3450131"/>
                <a:gd name="connsiteY0" fmla="*/ 370166 h 1048926"/>
                <a:gd name="connsiteX1" fmla="*/ 2482027 w 3450131"/>
                <a:gd name="connsiteY1" fmla="*/ 3842 h 1048926"/>
                <a:gd name="connsiteX2" fmla="*/ 3450131 w 3450131"/>
                <a:gd name="connsiteY2" fmla="*/ 644486 h 1048926"/>
                <a:gd name="connsiteX3" fmla="*/ 1750507 w 3450131"/>
                <a:gd name="connsiteY3" fmla="*/ 1038242 h 1048926"/>
                <a:gd name="connsiteX4" fmla="*/ 41739 w 3450131"/>
                <a:gd name="connsiteY4" fmla="*/ 370166 h 1048926"/>
                <a:gd name="connsiteX0" fmla="*/ 38902 w 3463565"/>
                <a:gd name="connsiteY0" fmla="*/ 370166 h 1234761"/>
                <a:gd name="connsiteX1" fmla="*/ 2479190 w 3463565"/>
                <a:gd name="connsiteY1" fmla="*/ 3842 h 1234761"/>
                <a:gd name="connsiteX2" fmla="*/ 3447294 w 3463565"/>
                <a:gd name="connsiteY2" fmla="*/ 644486 h 1234761"/>
                <a:gd name="connsiteX3" fmla="*/ 2683783 w 3463565"/>
                <a:gd name="connsiteY3" fmla="*/ 1214275 h 1234761"/>
                <a:gd name="connsiteX4" fmla="*/ 1747670 w 3463565"/>
                <a:gd name="connsiteY4" fmla="*/ 1038242 h 1234761"/>
                <a:gd name="connsiteX5" fmla="*/ 38902 w 3463565"/>
                <a:gd name="connsiteY5" fmla="*/ 370166 h 1234761"/>
                <a:gd name="connsiteX0" fmla="*/ 94813 w 3519476"/>
                <a:gd name="connsiteY0" fmla="*/ 371756 h 1229602"/>
                <a:gd name="connsiteX1" fmla="*/ 2535101 w 3519476"/>
                <a:gd name="connsiteY1" fmla="*/ 5432 h 1229602"/>
                <a:gd name="connsiteX2" fmla="*/ 3503205 w 3519476"/>
                <a:gd name="connsiteY2" fmla="*/ 646076 h 1229602"/>
                <a:gd name="connsiteX3" fmla="*/ 2739694 w 3519476"/>
                <a:gd name="connsiteY3" fmla="*/ 1215865 h 1229602"/>
                <a:gd name="connsiteX4" fmla="*/ 715445 w 3519476"/>
                <a:gd name="connsiteY4" fmla="*/ 957536 h 1229602"/>
                <a:gd name="connsiteX5" fmla="*/ 94813 w 3519476"/>
                <a:gd name="connsiteY5" fmla="*/ 371756 h 1229602"/>
                <a:gd name="connsiteX0" fmla="*/ 19699 w 3440488"/>
                <a:gd name="connsiteY0" fmla="*/ 563682 h 1421528"/>
                <a:gd name="connsiteX1" fmla="*/ 1228971 w 3440488"/>
                <a:gd name="connsiteY1" fmla="*/ 17903 h 1421528"/>
                <a:gd name="connsiteX2" fmla="*/ 2459987 w 3440488"/>
                <a:gd name="connsiteY2" fmla="*/ 197358 h 1421528"/>
                <a:gd name="connsiteX3" fmla="*/ 3428091 w 3440488"/>
                <a:gd name="connsiteY3" fmla="*/ 838002 h 1421528"/>
                <a:gd name="connsiteX4" fmla="*/ 2664580 w 3440488"/>
                <a:gd name="connsiteY4" fmla="*/ 1407791 h 1421528"/>
                <a:gd name="connsiteX5" fmla="*/ 640331 w 3440488"/>
                <a:gd name="connsiteY5" fmla="*/ 1149462 h 1421528"/>
                <a:gd name="connsiteX6" fmla="*/ 19699 w 3440488"/>
                <a:gd name="connsiteY6" fmla="*/ 563682 h 1421528"/>
                <a:gd name="connsiteX0" fmla="*/ 19699 w 3539909"/>
                <a:gd name="connsiteY0" fmla="*/ 559720 h 1417566"/>
                <a:gd name="connsiteX1" fmla="*/ 1228971 w 3539909"/>
                <a:gd name="connsiteY1" fmla="*/ 13941 h 1417566"/>
                <a:gd name="connsiteX2" fmla="*/ 2459987 w 3539909"/>
                <a:gd name="connsiteY2" fmla="*/ 193396 h 1417566"/>
                <a:gd name="connsiteX3" fmla="*/ 3528675 w 3539909"/>
                <a:gd name="connsiteY3" fmla="*/ 532288 h 1417566"/>
                <a:gd name="connsiteX4" fmla="*/ 2664580 w 3539909"/>
                <a:gd name="connsiteY4" fmla="*/ 1403829 h 1417566"/>
                <a:gd name="connsiteX5" fmla="*/ 640331 w 3539909"/>
                <a:gd name="connsiteY5" fmla="*/ 1145500 h 1417566"/>
                <a:gd name="connsiteX6" fmla="*/ 19699 w 3539909"/>
                <a:gd name="connsiteY6" fmla="*/ 559720 h 1417566"/>
                <a:gd name="connsiteX0" fmla="*/ 19699 w 3538683"/>
                <a:gd name="connsiteY0" fmla="*/ 552792 h 1410638"/>
                <a:gd name="connsiteX1" fmla="*/ 1228971 w 3538683"/>
                <a:gd name="connsiteY1" fmla="*/ 7013 h 1410638"/>
                <a:gd name="connsiteX2" fmla="*/ 2350259 w 3538683"/>
                <a:gd name="connsiteY2" fmla="*/ 387636 h 1410638"/>
                <a:gd name="connsiteX3" fmla="*/ 3528675 w 3538683"/>
                <a:gd name="connsiteY3" fmla="*/ 525360 h 1410638"/>
                <a:gd name="connsiteX4" fmla="*/ 2664580 w 3538683"/>
                <a:gd name="connsiteY4" fmla="*/ 1396901 h 1410638"/>
                <a:gd name="connsiteX5" fmla="*/ 640331 w 3538683"/>
                <a:gd name="connsiteY5" fmla="*/ 1138572 h 1410638"/>
                <a:gd name="connsiteX6" fmla="*/ 19699 w 3538683"/>
                <a:gd name="connsiteY6" fmla="*/ 552792 h 1410638"/>
                <a:gd name="connsiteX0" fmla="*/ 19699 w 3528675"/>
                <a:gd name="connsiteY0" fmla="*/ 552792 h 1410638"/>
                <a:gd name="connsiteX1" fmla="*/ 1228971 w 3528675"/>
                <a:gd name="connsiteY1" fmla="*/ 7013 h 1410638"/>
                <a:gd name="connsiteX2" fmla="*/ 2350259 w 3528675"/>
                <a:gd name="connsiteY2" fmla="*/ 387636 h 1410638"/>
                <a:gd name="connsiteX3" fmla="*/ 3528675 w 3528675"/>
                <a:gd name="connsiteY3" fmla="*/ 525360 h 1410638"/>
                <a:gd name="connsiteX4" fmla="*/ 2664580 w 3528675"/>
                <a:gd name="connsiteY4" fmla="*/ 1396901 h 1410638"/>
                <a:gd name="connsiteX5" fmla="*/ 640331 w 3528675"/>
                <a:gd name="connsiteY5" fmla="*/ 1138572 h 1410638"/>
                <a:gd name="connsiteX6" fmla="*/ 19699 w 3528675"/>
                <a:gd name="connsiteY6" fmla="*/ 552792 h 1410638"/>
                <a:gd name="connsiteX0" fmla="*/ 19699 w 3537759"/>
                <a:gd name="connsiteY0" fmla="*/ 552792 h 1410638"/>
                <a:gd name="connsiteX1" fmla="*/ 1228971 w 3537759"/>
                <a:gd name="connsiteY1" fmla="*/ 7013 h 1410638"/>
                <a:gd name="connsiteX2" fmla="*/ 2350259 w 3537759"/>
                <a:gd name="connsiteY2" fmla="*/ 387636 h 1410638"/>
                <a:gd name="connsiteX3" fmla="*/ 3528675 w 3537759"/>
                <a:gd name="connsiteY3" fmla="*/ 525360 h 1410638"/>
                <a:gd name="connsiteX4" fmla="*/ 2664580 w 3537759"/>
                <a:gd name="connsiteY4" fmla="*/ 1396901 h 1410638"/>
                <a:gd name="connsiteX5" fmla="*/ 640331 w 3537759"/>
                <a:gd name="connsiteY5" fmla="*/ 1138572 h 1410638"/>
                <a:gd name="connsiteX6" fmla="*/ 19699 w 3537759"/>
                <a:gd name="connsiteY6" fmla="*/ 552792 h 1410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37759" h="1410638">
                  <a:moveTo>
                    <a:pt x="19699" y="552792"/>
                  </a:moveTo>
                  <a:cubicBezTo>
                    <a:pt x="117806" y="364199"/>
                    <a:pt x="822256" y="68067"/>
                    <a:pt x="1228971" y="7013"/>
                  </a:cubicBezTo>
                  <a:cubicBezTo>
                    <a:pt x="1635686" y="-54041"/>
                    <a:pt x="1966975" y="301245"/>
                    <a:pt x="2350259" y="387636"/>
                  </a:cubicBezTo>
                  <a:cubicBezTo>
                    <a:pt x="2733543" y="474027"/>
                    <a:pt x="3296456" y="245897"/>
                    <a:pt x="3528675" y="525360"/>
                  </a:cubicBezTo>
                  <a:cubicBezTo>
                    <a:pt x="3623734" y="713383"/>
                    <a:pt x="2947851" y="1331275"/>
                    <a:pt x="2664580" y="1396901"/>
                  </a:cubicBezTo>
                  <a:cubicBezTo>
                    <a:pt x="2381309" y="1462527"/>
                    <a:pt x="1081144" y="1279257"/>
                    <a:pt x="640331" y="1138572"/>
                  </a:cubicBezTo>
                  <a:cubicBezTo>
                    <a:pt x="199518" y="997887"/>
                    <a:pt x="-78408" y="741385"/>
                    <a:pt x="19699" y="552792"/>
                  </a:cubicBezTo>
                  <a:close/>
                </a:path>
              </a:pathLst>
            </a:cu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283328" y="3568370"/>
              <a:ext cx="11727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Sample</a:t>
              </a:r>
            </a:p>
          </p:txBody>
        </p:sp>
        <p:sp>
          <p:nvSpPr>
            <p:cNvPr id="8" name="Smiley Face 7"/>
            <p:cNvSpPr/>
            <p:nvPr/>
          </p:nvSpPr>
          <p:spPr>
            <a:xfrm>
              <a:off x="4511824" y="3429000"/>
              <a:ext cx="204530" cy="204530"/>
            </a:xfrm>
            <a:prstGeom prst="smileyFac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9" name="Smiley Face 8"/>
            <p:cNvSpPr/>
            <p:nvPr/>
          </p:nvSpPr>
          <p:spPr>
            <a:xfrm>
              <a:off x="5078798" y="3226151"/>
              <a:ext cx="204530" cy="204530"/>
            </a:xfrm>
            <a:prstGeom prst="smileyFac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0" name="Smiley Face 9"/>
            <p:cNvSpPr/>
            <p:nvPr/>
          </p:nvSpPr>
          <p:spPr>
            <a:xfrm>
              <a:off x="5571842" y="3189261"/>
              <a:ext cx="204530" cy="204530"/>
            </a:xfrm>
            <a:prstGeom prst="smileyFac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1" name="Smiley Face 10"/>
            <p:cNvSpPr/>
            <p:nvPr/>
          </p:nvSpPr>
          <p:spPr>
            <a:xfrm>
              <a:off x="4976533" y="3733172"/>
              <a:ext cx="204530" cy="204530"/>
            </a:xfrm>
            <a:prstGeom prst="smileyFac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2" name="Smiley Face 11"/>
            <p:cNvSpPr/>
            <p:nvPr/>
          </p:nvSpPr>
          <p:spPr>
            <a:xfrm>
              <a:off x="6353775" y="3630907"/>
              <a:ext cx="204530" cy="204530"/>
            </a:xfrm>
            <a:prstGeom prst="smileyFac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3" name="Smiley Face 12"/>
            <p:cNvSpPr/>
            <p:nvPr/>
          </p:nvSpPr>
          <p:spPr>
            <a:xfrm>
              <a:off x="6558305" y="3960897"/>
              <a:ext cx="204530" cy="204530"/>
            </a:xfrm>
            <a:prstGeom prst="smileyFac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4" name="Smiley Face 13"/>
            <p:cNvSpPr/>
            <p:nvPr/>
          </p:nvSpPr>
          <p:spPr>
            <a:xfrm>
              <a:off x="5951299" y="3960897"/>
              <a:ext cx="204530" cy="204530"/>
            </a:xfrm>
            <a:prstGeom prst="smileyFac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5" name="Smiley Face 14"/>
            <p:cNvSpPr/>
            <p:nvPr/>
          </p:nvSpPr>
          <p:spPr>
            <a:xfrm>
              <a:off x="6918345" y="3568370"/>
              <a:ext cx="204530" cy="204530"/>
            </a:xfrm>
            <a:prstGeom prst="smileyFac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6" name="Smiley Face 15"/>
            <p:cNvSpPr/>
            <p:nvPr/>
          </p:nvSpPr>
          <p:spPr>
            <a:xfrm>
              <a:off x="7248128" y="4337482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7" name="Smiley Face 16"/>
            <p:cNvSpPr/>
            <p:nvPr/>
          </p:nvSpPr>
          <p:spPr>
            <a:xfrm>
              <a:off x="7442131" y="3960897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8" name="Smiley Face 17"/>
            <p:cNvSpPr/>
            <p:nvPr/>
          </p:nvSpPr>
          <p:spPr>
            <a:xfrm>
              <a:off x="6827187" y="4428047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9" name="Smiley Face 18"/>
            <p:cNvSpPr/>
            <p:nvPr/>
          </p:nvSpPr>
          <p:spPr>
            <a:xfrm>
              <a:off x="7043598" y="2928211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0" name="Smiley Face 19"/>
            <p:cNvSpPr/>
            <p:nvPr/>
          </p:nvSpPr>
          <p:spPr>
            <a:xfrm>
              <a:off x="3980828" y="4345929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1" name="Smiley Face 20"/>
            <p:cNvSpPr/>
            <p:nvPr/>
          </p:nvSpPr>
          <p:spPr>
            <a:xfrm>
              <a:off x="4630994" y="4345929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2" name="Smiley Face 21"/>
            <p:cNvSpPr/>
            <p:nvPr/>
          </p:nvSpPr>
          <p:spPr>
            <a:xfrm>
              <a:off x="3783292" y="3088855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3" name="Smiley Face 22"/>
            <p:cNvSpPr/>
            <p:nvPr/>
          </p:nvSpPr>
          <p:spPr>
            <a:xfrm>
              <a:off x="4185358" y="2873364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4" name="Smiley Face 23"/>
            <p:cNvSpPr/>
            <p:nvPr/>
          </p:nvSpPr>
          <p:spPr>
            <a:xfrm>
              <a:off x="6259271" y="2948358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5" name="Smiley Face 24"/>
            <p:cNvSpPr/>
            <p:nvPr/>
          </p:nvSpPr>
          <p:spPr>
            <a:xfrm>
              <a:off x="7465446" y="2986590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6" name="Smiley Face 25"/>
            <p:cNvSpPr/>
            <p:nvPr/>
          </p:nvSpPr>
          <p:spPr>
            <a:xfrm>
              <a:off x="3802963" y="3858632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00548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Survey or Census?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96075" y="2187767"/>
            <a:ext cx="8915400" cy="3777622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GB" dirty="0"/>
              <a:t>We use a census for the population 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We use a survey for a sample 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We should select people at random when we choose a sample in order to…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696E2E2-B408-AF75-549D-22B5AE40AC3D}"/>
              </a:ext>
            </a:extLst>
          </p:cNvPr>
          <p:cNvGrpSpPr/>
          <p:nvPr/>
        </p:nvGrpSpPr>
        <p:grpSpPr>
          <a:xfrm>
            <a:off x="6240008" y="3743018"/>
            <a:ext cx="4176464" cy="1944216"/>
            <a:chOff x="3647728" y="2780928"/>
            <a:chExt cx="4176464" cy="1944216"/>
          </a:xfrm>
        </p:grpSpPr>
        <p:sp>
          <p:nvSpPr>
            <p:cNvPr id="4" name="Rectangle 3"/>
            <p:cNvSpPr/>
            <p:nvPr/>
          </p:nvSpPr>
          <p:spPr>
            <a:xfrm>
              <a:off x="3647728" y="2780928"/>
              <a:ext cx="4176464" cy="1944216"/>
            </a:xfrm>
            <a:prstGeom prst="rect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Population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4007494" y="2928211"/>
              <a:ext cx="3537759" cy="1410638"/>
            </a:xfrm>
            <a:custGeom>
              <a:avLst/>
              <a:gdLst>
                <a:gd name="connsiteX0" fmla="*/ 0 w 2448272"/>
                <a:gd name="connsiteY0" fmla="*/ 540060 h 1080120"/>
                <a:gd name="connsiteX1" fmla="*/ 1224136 w 2448272"/>
                <a:gd name="connsiteY1" fmla="*/ 0 h 1080120"/>
                <a:gd name="connsiteX2" fmla="*/ 2448272 w 2448272"/>
                <a:gd name="connsiteY2" fmla="*/ 540060 h 1080120"/>
                <a:gd name="connsiteX3" fmla="*/ 1224136 w 2448272"/>
                <a:gd name="connsiteY3" fmla="*/ 1080120 h 1080120"/>
                <a:gd name="connsiteX4" fmla="*/ 0 w 2448272"/>
                <a:gd name="connsiteY4" fmla="*/ 540060 h 1080120"/>
                <a:gd name="connsiteX0" fmla="*/ 245 w 2448517"/>
                <a:gd name="connsiteY0" fmla="*/ 284137 h 824197"/>
                <a:gd name="connsiteX1" fmla="*/ 1306677 w 2448517"/>
                <a:gd name="connsiteY1" fmla="*/ 109 h 824197"/>
                <a:gd name="connsiteX2" fmla="*/ 2448517 w 2448517"/>
                <a:gd name="connsiteY2" fmla="*/ 284137 h 824197"/>
                <a:gd name="connsiteX3" fmla="*/ 1224381 w 2448517"/>
                <a:gd name="connsiteY3" fmla="*/ 824197 h 824197"/>
                <a:gd name="connsiteX4" fmla="*/ 245 w 2448517"/>
                <a:gd name="connsiteY4" fmla="*/ 284137 h 824197"/>
                <a:gd name="connsiteX0" fmla="*/ 14458 w 2485433"/>
                <a:gd name="connsiteY0" fmla="*/ 494340 h 1034400"/>
                <a:gd name="connsiteX1" fmla="*/ 1970114 w 2485433"/>
                <a:gd name="connsiteY1" fmla="*/ 0 h 1034400"/>
                <a:gd name="connsiteX2" fmla="*/ 2462730 w 2485433"/>
                <a:gd name="connsiteY2" fmla="*/ 494340 h 1034400"/>
                <a:gd name="connsiteX3" fmla="*/ 1238594 w 2485433"/>
                <a:gd name="connsiteY3" fmla="*/ 1034400 h 1034400"/>
                <a:gd name="connsiteX4" fmla="*/ 14458 w 2485433"/>
                <a:gd name="connsiteY4" fmla="*/ 494340 h 1034400"/>
                <a:gd name="connsiteX0" fmla="*/ 11716 w 2935476"/>
                <a:gd name="connsiteY0" fmla="*/ 495563 h 1038693"/>
                <a:gd name="connsiteX1" fmla="*/ 1967372 w 2935476"/>
                <a:gd name="connsiteY1" fmla="*/ 1223 h 1038693"/>
                <a:gd name="connsiteX2" fmla="*/ 2935476 w 2935476"/>
                <a:gd name="connsiteY2" fmla="*/ 641867 h 1038693"/>
                <a:gd name="connsiteX3" fmla="*/ 1235852 w 2935476"/>
                <a:gd name="connsiteY3" fmla="*/ 1035623 h 1038693"/>
                <a:gd name="connsiteX4" fmla="*/ 11716 w 2935476"/>
                <a:gd name="connsiteY4" fmla="*/ 495563 h 1038693"/>
                <a:gd name="connsiteX0" fmla="*/ 11716 w 2935476"/>
                <a:gd name="connsiteY0" fmla="*/ 495563 h 1039867"/>
                <a:gd name="connsiteX1" fmla="*/ 1967372 w 2935476"/>
                <a:gd name="connsiteY1" fmla="*/ 1223 h 1039867"/>
                <a:gd name="connsiteX2" fmla="*/ 2935476 w 2935476"/>
                <a:gd name="connsiteY2" fmla="*/ 641867 h 1039867"/>
                <a:gd name="connsiteX3" fmla="*/ 1235852 w 2935476"/>
                <a:gd name="connsiteY3" fmla="*/ 1035623 h 1039867"/>
                <a:gd name="connsiteX4" fmla="*/ 11716 w 2935476"/>
                <a:gd name="connsiteY4" fmla="*/ 495563 h 1039867"/>
                <a:gd name="connsiteX0" fmla="*/ 8238 w 3416630"/>
                <a:gd name="connsiteY0" fmla="*/ 372014 h 1050774"/>
                <a:gd name="connsiteX1" fmla="*/ 2448526 w 3416630"/>
                <a:gd name="connsiteY1" fmla="*/ 5690 h 1050774"/>
                <a:gd name="connsiteX2" fmla="*/ 3416630 w 3416630"/>
                <a:gd name="connsiteY2" fmla="*/ 646334 h 1050774"/>
                <a:gd name="connsiteX3" fmla="*/ 1717006 w 3416630"/>
                <a:gd name="connsiteY3" fmla="*/ 1040090 h 1050774"/>
                <a:gd name="connsiteX4" fmla="*/ 8238 w 3416630"/>
                <a:gd name="connsiteY4" fmla="*/ 372014 h 1050774"/>
                <a:gd name="connsiteX0" fmla="*/ 41739 w 3450131"/>
                <a:gd name="connsiteY0" fmla="*/ 370166 h 1048926"/>
                <a:gd name="connsiteX1" fmla="*/ 2482027 w 3450131"/>
                <a:gd name="connsiteY1" fmla="*/ 3842 h 1048926"/>
                <a:gd name="connsiteX2" fmla="*/ 3450131 w 3450131"/>
                <a:gd name="connsiteY2" fmla="*/ 644486 h 1048926"/>
                <a:gd name="connsiteX3" fmla="*/ 1750507 w 3450131"/>
                <a:gd name="connsiteY3" fmla="*/ 1038242 h 1048926"/>
                <a:gd name="connsiteX4" fmla="*/ 41739 w 3450131"/>
                <a:gd name="connsiteY4" fmla="*/ 370166 h 1048926"/>
                <a:gd name="connsiteX0" fmla="*/ 38902 w 3463565"/>
                <a:gd name="connsiteY0" fmla="*/ 370166 h 1234761"/>
                <a:gd name="connsiteX1" fmla="*/ 2479190 w 3463565"/>
                <a:gd name="connsiteY1" fmla="*/ 3842 h 1234761"/>
                <a:gd name="connsiteX2" fmla="*/ 3447294 w 3463565"/>
                <a:gd name="connsiteY2" fmla="*/ 644486 h 1234761"/>
                <a:gd name="connsiteX3" fmla="*/ 2683783 w 3463565"/>
                <a:gd name="connsiteY3" fmla="*/ 1214275 h 1234761"/>
                <a:gd name="connsiteX4" fmla="*/ 1747670 w 3463565"/>
                <a:gd name="connsiteY4" fmla="*/ 1038242 h 1234761"/>
                <a:gd name="connsiteX5" fmla="*/ 38902 w 3463565"/>
                <a:gd name="connsiteY5" fmla="*/ 370166 h 1234761"/>
                <a:gd name="connsiteX0" fmla="*/ 94813 w 3519476"/>
                <a:gd name="connsiteY0" fmla="*/ 371756 h 1229602"/>
                <a:gd name="connsiteX1" fmla="*/ 2535101 w 3519476"/>
                <a:gd name="connsiteY1" fmla="*/ 5432 h 1229602"/>
                <a:gd name="connsiteX2" fmla="*/ 3503205 w 3519476"/>
                <a:gd name="connsiteY2" fmla="*/ 646076 h 1229602"/>
                <a:gd name="connsiteX3" fmla="*/ 2739694 w 3519476"/>
                <a:gd name="connsiteY3" fmla="*/ 1215865 h 1229602"/>
                <a:gd name="connsiteX4" fmla="*/ 715445 w 3519476"/>
                <a:gd name="connsiteY4" fmla="*/ 957536 h 1229602"/>
                <a:gd name="connsiteX5" fmla="*/ 94813 w 3519476"/>
                <a:gd name="connsiteY5" fmla="*/ 371756 h 1229602"/>
                <a:gd name="connsiteX0" fmla="*/ 19699 w 3440488"/>
                <a:gd name="connsiteY0" fmla="*/ 563682 h 1421528"/>
                <a:gd name="connsiteX1" fmla="*/ 1228971 w 3440488"/>
                <a:gd name="connsiteY1" fmla="*/ 17903 h 1421528"/>
                <a:gd name="connsiteX2" fmla="*/ 2459987 w 3440488"/>
                <a:gd name="connsiteY2" fmla="*/ 197358 h 1421528"/>
                <a:gd name="connsiteX3" fmla="*/ 3428091 w 3440488"/>
                <a:gd name="connsiteY3" fmla="*/ 838002 h 1421528"/>
                <a:gd name="connsiteX4" fmla="*/ 2664580 w 3440488"/>
                <a:gd name="connsiteY4" fmla="*/ 1407791 h 1421528"/>
                <a:gd name="connsiteX5" fmla="*/ 640331 w 3440488"/>
                <a:gd name="connsiteY5" fmla="*/ 1149462 h 1421528"/>
                <a:gd name="connsiteX6" fmla="*/ 19699 w 3440488"/>
                <a:gd name="connsiteY6" fmla="*/ 563682 h 1421528"/>
                <a:gd name="connsiteX0" fmla="*/ 19699 w 3539909"/>
                <a:gd name="connsiteY0" fmla="*/ 559720 h 1417566"/>
                <a:gd name="connsiteX1" fmla="*/ 1228971 w 3539909"/>
                <a:gd name="connsiteY1" fmla="*/ 13941 h 1417566"/>
                <a:gd name="connsiteX2" fmla="*/ 2459987 w 3539909"/>
                <a:gd name="connsiteY2" fmla="*/ 193396 h 1417566"/>
                <a:gd name="connsiteX3" fmla="*/ 3528675 w 3539909"/>
                <a:gd name="connsiteY3" fmla="*/ 532288 h 1417566"/>
                <a:gd name="connsiteX4" fmla="*/ 2664580 w 3539909"/>
                <a:gd name="connsiteY4" fmla="*/ 1403829 h 1417566"/>
                <a:gd name="connsiteX5" fmla="*/ 640331 w 3539909"/>
                <a:gd name="connsiteY5" fmla="*/ 1145500 h 1417566"/>
                <a:gd name="connsiteX6" fmla="*/ 19699 w 3539909"/>
                <a:gd name="connsiteY6" fmla="*/ 559720 h 1417566"/>
                <a:gd name="connsiteX0" fmla="*/ 19699 w 3538683"/>
                <a:gd name="connsiteY0" fmla="*/ 552792 h 1410638"/>
                <a:gd name="connsiteX1" fmla="*/ 1228971 w 3538683"/>
                <a:gd name="connsiteY1" fmla="*/ 7013 h 1410638"/>
                <a:gd name="connsiteX2" fmla="*/ 2350259 w 3538683"/>
                <a:gd name="connsiteY2" fmla="*/ 387636 h 1410638"/>
                <a:gd name="connsiteX3" fmla="*/ 3528675 w 3538683"/>
                <a:gd name="connsiteY3" fmla="*/ 525360 h 1410638"/>
                <a:gd name="connsiteX4" fmla="*/ 2664580 w 3538683"/>
                <a:gd name="connsiteY4" fmla="*/ 1396901 h 1410638"/>
                <a:gd name="connsiteX5" fmla="*/ 640331 w 3538683"/>
                <a:gd name="connsiteY5" fmla="*/ 1138572 h 1410638"/>
                <a:gd name="connsiteX6" fmla="*/ 19699 w 3538683"/>
                <a:gd name="connsiteY6" fmla="*/ 552792 h 1410638"/>
                <a:gd name="connsiteX0" fmla="*/ 19699 w 3528675"/>
                <a:gd name="connsiteY0" fmla="*/ 552792 h 1410638"/>
                <a:gd name="connsiteX1" fmla="*/ 1228971 w 3528675"/>
                <a:gd name="connsiteY1" fmla="*/ 7013 h 1410638"/>
                <a:gd name="connsiteX2" fmla="*/ 2350259 w 3528675"/>
                <a:gd name="connsiteY2" fmla="*/ 387636 h 1410638"/>
                <a:gd name="connsiteX3" fmla="*/ 3528675 w 3528675"/>
                <a:gd name="connsiteY3" fmla="*/ 525360 h 1410638"/>
                <a:gd name="connsiteX4" fmla="*/ 2664580 w 3528675"/>
                <a:gd name="connsiteY4" fmla="*/ 1396901 h 1410638"/>
                <a:gd name="connsiteX5" fmla="*/ 640331 w 3528675"/>
                <a:gd name="connsiteY5" fmla="*/ 1138572 h 1410638"/>
                <a:gd name="connsiteX6" fmla="*/ 19699 w 3528675"/>
                <a:gd name="connsiteY6" fmla="*/ 552792 h 1410638"/>
                <a:gd name="connsiteX0" fmla="*/ 19699 w 3537759"/>
                <a:gd name="connsiteY0" fmla="*/ 552792 h 1410638"/>
                <a:gd name="connsiteX1" fmla="*/ 1228971 w 3537759"/>
                <a:gd name="connsiteY1" fmla="*/ 7013 h 1410638"/>
                <a:gd name="connsiteX2" fmla="*/ 2350259 w 3537759"/>
                <a:gd name="connsiteY2" fmla="*/ 387636 h 1410638"/>
                <a:gd name="connsiteX3" fmla="*/ 3528675 w 3537759"/>
                <a:gd name="connsiteY3" fmla="*/ 525360 h 1410638"/>
                <a:gd name="connsiteX4" fmla="*/ 2664580 w 3537759"/>
                <a:gd name="connsiteY4" fmla="*/ 1396901 h 1410638"/>
                <a:gd name="connsiteX5" fmla="*/ 640331 w 3537759"/>
                <a:gd name="connsiteY5" fmla="*/ 1138572 h 1410638"/>
                <a:gd name="connsiteX6" fmla="*/ 19699 w 3537759"/>
                <a:gd name="connsiteY6" fmla="*/ 552792 h 14106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37759" h="1410638">
                  <a:moveTo>
                    <a:pt x="19699" y="552792"/>
                  </a:moveTo>
                  <a:cubicBezTo>
                    <a:pt x="117806" y="364199"/>
                    <a:pt x="822256" y="68067"/>
                    <a:pt x="1228971" y="7013"/>
                  </a:cubicBezTo>
                  <a:cubicBezTo>
                    <a:pt x="1635686" y="-54041"/>
                    <a:pt x="1966975" y="301245"/>
                    <a:pt x="2350259" y="387636"/>
                  </a:cubicBezTo>
                  <a:cubicBezTo>
                    <a:pt x="2733543" y="474027"/>
                    <a:pt x="3296456" y="245897"/>
                    <a:pt x="3528675" y="525360"/>
                  </a:cubicBezTo>
                  <a:cubicBezTo>
                    <a:pt x="3623734" y="713383"/>
                    <a:pt x="2947851" y="1331275"/>
                    <a:pt x="2664580" y="1396901"/>
                  </a:cubicBezTo>
                  <a:cubicBezTo>
                    <a:pt x="2381309" y="1462527"/>
                    <a:pt x="1081144" y="1279257"/>
                    <a:pt x="640331" y="1138572"/>
                  </a:cubicBezTo>
                  <a:cubicBezTo>
                    <a:pt x="199518" y="997887"/>
                    <a:pt x="-78408" y="741385"/>
                    <a:pt x="19699" y="552792"/>
                  </a:cubicBezTo>
                  <a:close/>
                </a:path>
              </a:pathLst>
            </a:cu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5283328" y="3568370"/>
              <a:ext cx="117271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entury Gothic" panose="020B0502020202020204"/>
                  <a:ea typeface="+mn-ea"/>
                  <a:cs typeface="+mn-cs"/>
                </a:rPr>
                <a:t>Sample</a:t>
              </a:r>
            </a:p>
          </p:txBody>
        </p:sp>
        <p:sp>
          <p:nvSpPr>
            <p:cNvPr id="8" name="Smiley Face 7"/>
            <p:cNvSpPr/>
            <p:nvPr/>
          </p:nvSpPr>
          <p:spPr>
            <a:xfrm>
              <a:off x="4511824" y="3429000"/>
              <a:ext cx="204530" cy="204530"/>
            </a:xfrm>
            <a:prstGeom prst="smileyFac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9" name="Smiley Face 8"/>
            <p:cNvSpPr/>
            <p:nvPr/>
          </p:nvSpPr>
          <p:spPr>
            <a:xfrm>
              <a:off x="5078798" y="3226151"/>
              <a:ext cx="204530" cy="204530"/>
            </a:xfrm>
            <a:prstGeom prst="smileyFac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0" name="Smiley Face 9"/>
            <p:cNvSpPr/>
            <p:nvPr/>
          </p:nvSpPr>
          <p:spPr>
            <a:xfrm>
              <a:off x="5571842" y="3189261"/>
              <a:ext cx="204530" cy="204530"/>
            </a:xfrm>
            <a:prstGeom prst="smileyFac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1" name="Smiley Face 10"/>
            <p:cNvSpPr/>
            <p:nvPr/>
          </p:nvSpPr>
          <p:spPr>
            <a:xfrm>
              <a:off x="4976533" y="3733172"/>
              <a:ext cx="204530" cy="204530"/>
            </a:xfrm>
            <a:prstGeom prst="smileyFac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2" name="Smiley Face 11"/>
            <p:cNvSpPr/>
            <p:nvPr/>
          </p:nvSpPr>
          <p:spPr>
            <a:xfrm>
              <a:off x="6353775" y="3630907"/>
              <a:ext cx="204530" cy="204530"/>
            </a:xfrm>
            <a:prstGeom prst="smileyFac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3" name="Smiley Face 12"/>
            <p:cNvSpPr/>
            <p:nvPr/>
          </p:nvSpPr>
          <p:spPr>
            <a:xfrm>
              <a:off x="6558305" y="3960897"/>
              <a:ext cx="204530" cy="204530"/>
            </a:xfrm>
            <a:prstGeom prst="smileyFac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4" name="Smiley Face 13"/>
            <p:cNvSpPr/>
            <p:nvPr/>
          </p:nvSpPr>
          <p:spPr>
            <a:xfrm>
              <a:off x="5951299" y="3960897"/>
              <a:ext cx="204530" cy="204530"/>
            </a:xfrm>
            <a:prstGeom prst="smileyFac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5" name="Smiley Face 14"/>
            <p:cNvSpPr/>
            <p:nvPr/>
          </p:nvSpPr>
          <p:spPr>
            <a:xfrm>
              <a:off x="6918345" y="3568370"/>
              <a:ext cx="204530" cy="204530"/>
            </a:xfrm>
            <a:prstGeom prst="smileyFace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6" name="Smiley Face 15"/>
            <p:cNvSpPr/>
            <p:nvPr/>
          </p:nvSpPr>
          <p:spPr>
            <a:xfrm>
              <a:off x="7248128" y="4337482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7" name="Smiley Face 16"/>
            <p:cNvSpPr/>
            <p:nvPr/>
          </p:nvSpPr>
          <p:spPr>
            <a:xfrm>
              <a:off x="7442131" y="3960897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8" name="Smiley Face 17"/>
            <p:cNvSpPr/>
            <p:nvPr/>
          </p:nvSpPr>
          <p:spPr>
            <a:xfrm>
              <a:off x="6827187" y="4428047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19" name="Smiley Face 18"/>
            <p:cNvSpPr/>
            <p:nvPr/>
          </p:nvSpPr>
          <p:spPr>
            <a:xfrm>
              <a:off x="7043598" y="2928211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0" name="Smiley Face 19"/>
            <p:cNvSpPr/>
            <p:nvPr/>
          </p:nvSpPr>
          <p:spPr>
            <a:xfrm>
              <a:off x="3980828" y="4345929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1" name="Smiley Face 20"/>
            <p:cNvSpPr/>
            <p:nvPr/>
          </p:nvSpPr>
          <p:spPr>
            <a:xfrm>
              <a:off x="4630994" y="4345929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2" name="Smiley Face 21"/>
            <p:cNvSpPr/>
            <p:nvPr/>
          </p:nvSpPr>
          <p:spPr>
            <a:xfrm>
              <a:off x="3783292" y="3088855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3" name="Smiley Face 22"/>
            <p:cNvSpPr/>
            <p:nvPr/>
          </p:nvSpPr>
          <p:spPr>
            <a:xfrm>
              <a:off x="4185358" y="2873364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4" name="Smiley Face 23"/>
            <p:cNvSpPr/>
            <p:nvPr/>
          </p:nvSpPr>
          <p:spPr>
            <a:xfrm>
              <a:off x="6259271" y="2948358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5" name="Smiley Face 24"/>
            <p:cNvSpPr/>
            <p:nvPr/>
          </p:nvSpPr>
          <p:spPr>
            <a:xfrm>
              <a:off x="7465446" y="2986590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  <p:sp>
          <p:nvSpPr>
            <p:cNvPr id="26" name="Smiley Face 25"/>
            <p:cNvSpPr/>
            <p:nvPr/>
          </p:nvSpPr>
          <p:spPr>
            <a:xfrm>
              <a:off x="3802963" y="3858632"/>
              <a:ext cx="204530" cy="204530"/>
            </a:xfrm>
            <a:prstGeom prst="smileyFace">
              <a:avLst/>
            </a:prstGeom>
            <a:ln>
              <a:solidFill>
                <a:srgbClr val="7030A0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entury Gothic" panose="020B0502020202020204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3329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to select a Random Sample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/>
            <a:r>
              <a:rPr lang="en-GB" dirty="0"/>
              <a:t>Examples: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Names out of a hat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Assigning numbers to people and selecting every 5</a:t>
            </a:r>
            <a:r>
              <a:rPr lang="en-GB" baseline="30000" dirty="0"/>
              <a:t>th</a:t>
            </a:r>
            <a:r>
              <a:rPr lang="en-GB" dirty="0"/>
              <a:t> number for example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Using a random name generator on the computer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Drawing straws</a:t>
            </a:r>
          </a:p>
          <a:p>
            <a:pPr>
              <a:buFont typeface="Arial" pitchFamily="34" charset="0"/>
              <a:buChar char="•"/>
            </a:pPr>
            <a:r>
              <a:rPr lang="en-GB" dirty="0"/>
              <a:t>Rolling a dice and select everyone who rolls a 6</a:t>
            </a:r>
          </a:p>
          <a:p>
            <a:pPr marL="0" indent="0"/>
            <a:endParaRPr lang="en-GB" dirty="0"/>
          </a:p>
          <a:p>
            <a:pPr marL="0" indent="0"/>
            <a:r>
              <a:rPr lang="en-GB" dirty="0"/>
              <a:t>There are many other examples you could use, but the idea is that you do not know who you are picking until those people are selected.</a:t>
            </a:r>
          </a:p>
        </p:txBody>
      </p:sp>
    </p:spTree>
    <p:extLst>
      <p:ext uri="{BB962C8B-B14F-4D97-AF65-F5344CB8AC3E}">
        <p14:creationId xmlns:p14="http://schemas.microsoft.com/office/powerpoint/2010/main" val="22144758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Categorical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076" y="2133600"/>
            <a:ext cx="10421536" cy="3777622"/>
          </a:xfrm>
        </p:spPr>
        <p:txBody>
          <a:bodyPr/>
          <a:lstStyle/>
          <a:p>
            <a:r>
              <a:rPr lang="en-GB" sz="2000" b="1" dirty="0">
                <a:solidFill>
                  <a:srgbClr val="FF0000"/>
                </a:solidFill>
              </a:rPr>
              <a:t>Categorical Data</a:t>
            </a:r>
            <a:r>
              <a:rPr lang="en-GB" sz="2000" b="1" dirty="0"/>
              <a:t> – 	</a:t>
            </a:r>
            <a:r>
              <a:rPr lang="en-GB" sz="2000" b="1" dirty="0">
                <a:solidFill>
                  <a:srgbClr val="00B0F0"/>
                </a:solidFill>
              </a:rPr>
              <a:t>This means data which can be placed into categories (can be </a:t>
            </a:r>
            <a:r>
              <a:rPr lang="en-GB" sz="2000" b="1" u="sng" dirty="0">
                <a:solidFill>
                  <a:srgbClr val="00B0F0"/>
                </a:solidFill>
              </a:rPr>
              <a:t>described using words</a:t>
            </a:r>
            <a:r>
              <a:rPr lang="en-GB" sz="2000" b="1" dirty="0">
                <a:solidFill>
                  <a:srgbClr val="00B0F0"/>
                </a:solidFill>
              </a:rPr>
              <a:t>).</a:t>
            </a:r>
          </a:p>
          <a:p>
            <a:endParaRPr lang="en-GB" sz="2000" b="1" dirty="0">
              <a:solidFill>
                <a:srgbClr val="FF0000"/>
              </a:solidFill>
            </a:endParaRPr>
          </a:p>
          <a:p>
            <a:r>
              <a:rPr lang="en-GB" sz="2000" b="1" dirty="0">
                <a:solidFill>
                  <a:srgbClr val="FF0000"/>
                </a:solidFill>
              </a:rPr>
              <a:t>Examples </a:t>
            </a:r>
            <a:r>
              <a:rPr lang="en-GB" sz="2000" b="1" dirty="0"/>
              <a:t>-	</a:t>
            </a:r>
            <a:r>
              <a:rPr lang="en-GB" sz="2000" b="1" dirty="0">
                <a:solidFill>
                  <a:srgbClr val="00B0F0"/>
                </a:solidFill>
              </a:rPr>
              <a:t>Eye colour, favourite food, brand of cereal you eat, places you go to shop, which football team you support, where you were born.</a:t>
            </a:r>
          </a:p>
          <a:p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5354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Categorical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83076" y="2133600"/>
            <a:ext cx="10421536" cy="3777622"/>
          </a:xfrm>
        </p:spPr>
        <p:txBody>
          <a:bodyPr/>
          <a:lstStyle/>
          <a:p>
            <a:r>
              <a:rPr lang="en-GB" sz="2000" b="1" dirty="0">
                <a:solidFill>
                  <a:srgbClr val="FF0000"/>
                </a:solidFill>
              </a:rPr>
              <a:t>Categorical Data</a:t>
            </a:r>
            <a:r>
              <a:rPr lang="en-GB" sz="2000" b="1" dirty="0"/>
              <a:t> – </a:t>
            </a:r>
            <a:r>
              <a:rPr lang="en-GB" sz="2000" b="1" dirty="0">
                <a:solidFill>
                  <a:srgbClr val="00B0F0"/>
                </a:solidFill>
              </a:rPr>
              <a:t>This means _____ which can be placed into ______________</a:t>
            </a:r>
          </a:p>
          <a:p>
            <a:pPr marL="0" indent="0">
              <a:buNone/>
            </a:pPr>
            <a:r>
              <a:rPr lang="en-GB" sz="2000" b="1" dirty="0">
                <a:solidFill>
                  <a:srgbClr val="00B0F0"/>
                </a:solidFill>
              </a:rPr>
              <a:t> (</a:t>
            </a:r>
            <a:r>
              <a:rPr lang="en-GB" sz="2000" b="1" u="sng" dirty="0">
                <a:solidFill>
                  <a:srgbClr val="00B0F0"/>
                </a:solidFill>
              </a:rPr>
              <a:t>________________________)</a:t>
            </a:r>
            <a:endParaRPr lang="en-GB" sz="2000" b="1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GB" sz="2000" b="1" dirty="0"/>
          </a:p>
          <a:p>
            <a:endParaRPr lang="en-GB" sz="2000" b="1" dirty="0">
              <a:solidFill>
                <a:srgbClr val="FF0000"/>
              </a:solidFill>
            </a:endParaRPr>
          </a:p>
          <a:p>
            <a:endParaRPr lang="en-GB" sz="2000" b="1" dirty="0">
              <a:solidFill>
                <a:srgbClr val="FF0000"/>
              </a:solidFill>
            </a:endParaRPr>
          </a:p>
          <a:p>
            <a:endParaRPr lang="en-GB" sz="2000" b="1" dirty="0">
              <a:solidFill>
                <a:srgbClr val="FF0000"/>
              </a:solidFill>
            </a:endParaRPr>
          </a:p>
          <a:p>
            <a:r>
              <a:rPr lang="en-GB" sz="2000" b="1" dirty="0">
                <a:solidFill>
                  <a:srgbClr val="FF0000"/>
                </a:solidFill>
              </a:rPr>
              <a:t>Examples </a:t>
            </a:r>
            <a:r>
              <a:rPr lang="en-GB" sz="2000" b="1" dirty="0"/>
              <a:t>-	</a:t>
            </a:r>
            <a:endParaRPr lang="en-GB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0201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Numerical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7464" y="2133600"/>
            <a:ext cx="10377148" cy="3777622"/>
          </a:xfrm>
        </p:spPr>
        <p:txBody>
          <a:bodyPr>
            <a:normAutofit/>
          </a:bodyPr>
          <a:lstStyle/>
          <a:p>
            <a:r>
              <a:rPr lang="en-GB" sz="2400" b="1" dirty="0">
                <a:solidFill>
                  <a:srgbClr val="FF0000"/>
                </a:solidFill>
              </a:rPr>
              <a:t>Numerical Data</a:t>
            </a:r>
            <a:r>
              <a:rPr lang="en-GB" sz="2400" b="1" dirty="0"/>
              <a:t> – </a:t>
            </a:r>
            <a:r>
              <a:rPr lang="en-GB" sz="2400" b="1" dirty="0">
                <a:solidFill>
                  <a:srgbClr val="00B0F0"/>
                </a:solidFill>
              </a:rPr>
              <a:t>This means data which is in </a:t>
            </a:r>
            <a:r>
              <a:rPr lang="en-GB" sz="2400" b="1" u="sng" dirty="0">
                <a:solidFill>
                  <a:srgbClr val="00B0F0"/>
                </a:solidFill>
              </a:rPr>
              <a:t>number form </a:t>
            </a:r>
            <a:r>
              <a:rPr lang="en-GB" sz="2400" b="1" dirty="0">
                <a:solidFill>
                  <a:srgbClr val="00B0F0"/>
                </a:solidFill>
              </a:rPr>
              <a:t>(can be quantified).</a:t>
            </a:r>
          </a:p>
          <a:p>
            <a:endParaRPr lang="en-GB" sz="2400" b="1" dirty="0"/>
          </a:p>
          <a:p>
            <a:r>
              <a:rPr lang="en-GB" sz="2400" b="1" dirty="0">
                <a:solidFill>
                  <a:srgbClr val="FF0000"/>
                </a:solidFill>
              </a:rPr>
              <a:t>Examples </a:t>
            </a:r>
            <a:r>
              <a:rPr lang="en-GB" sz="2400" b="1" dirty="0"/>
              <a:t>-	</a:t>
            </a:r>
            <a:r>
              <a:rPr lang="en-GB" sz="2400" b="1" dirty="0">
                <a:solidFill>
                  <a:srgbClr val="00B0F0"/>
                </a:solidFill>
              </a:rPr>
              <a:t>Shoe size, height, number of siblings, annual income, number of pens in your pencil case.</a:t>
            </a:r>
          </a:p>
        </p:txBody>
      </p:sp>
    </p:spTree>
    <p:extLst>
      <p:ext uri="{BB962C8B-B14F-4D97-AF65-F5344CB8AC3E}">
        <p14:creationId xmlns:p14="http://schemas.microsoft.com/office/powerpoint/2010/main" val="98439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Numerical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7464" y="2133600"/>
            <a:ext cx="10377148" cy="3777622"/>
          </a:xfrm>
        </p:spPr>
        <p:txBody>
          <a:bodyPr>
            <a:normAutofit/>
          </a:bodyPr>
          <a:lstStyle/>
          <a:p>
            <a:r>
              <a:rPr lang="en-GB" sz="2400" b="1" dirty="0">
                <a:solidFill>
                  <a:srgbClr val="FF0000"/>
                </a:solidFill>
              </a:rPr>
              <a:t>Numerical Data</a:t>
            </a:r>
            <a:r>
              <a:rPr lang="en-GB" sz="2400" b="1" dirty="0"/>
              <a:t> – </a:t>
            </a:r>
            <a:r>
              <a:rPr lang="en-GB" sz="2400" b="1" dirty="0">
                <a:solidFill>
                  <a:srgbClr val="00B0F0"/>
                </a:solidFill>
              </a:rPr>
              <a:t>This means _____ which is </a:t>
            </a:r>
            <a:r>
              <a:rPr lang="en-GB" sz="2400" b="1">
                <a:solidFill>
                  <a:srgbClr val="00B0F0"/>
                </a:solidFill>
              </a:rPr>
              <a:t>in </a:t>
            </a:r>
            <a:r>
              <a:rPr lang="en-GB" sz="2400" b="1" u="sng">
                <a:solidFill>
                  <a:srgbClr val="00B0F0"/>
                </a:solidFill>
              </a:rPr>
              <a:t>________________ </a:t>
            </a:r>
            <a:r>
              <a:rPr lang="en-GB" sz="2400" b="1">
                <a:solidFill>
                  <a:srgbClr val="00B0F0"/>
                </a:solidFill>
              </a:rPr>
              <a:t>(</a:t>
            </a:r>
            <a:r>
              <a:rPr lang="en-GB" sz="2400" b="1" dirty="0">
                <a:solidFill>
                  <a:srgbClr val="00B0F0"/>
                </a:solidFill>
              </a:rPr>
              <a:t>can be quantified).</a:t>
            </a:r>
          </a:p>
          <a:p>
            <a:r>
              <a:rPr lang="en-GB" sz="2400" b="1" dirty="0"/>
              <a:t>	</a:t>
            </a:r>
          </a:p>
          <a:p>
            <a:endParaRPr lang="en-GB" sz="2400" b="1" dirty="0"/>
          </a:p>
          <a:p>
            <a:endParaRPr lang="en-GB" sz="2400" b="1" dirty="0"/>
          </a:p>
          <a:p>
            <a:pPr marL="0" indent="0">
              <a:buNone/>
            </a:pPr>
            <a:endParaRPr lang="en-GB" sz="2400" b="1" dirty="0"/>
          </a:p>
          <a:p>
            <a:r>
              <a:rPr lang="en-GB" sz="2400" b="1" dirty="0">
                <a:solidFill>
                  <a:srgbClr val="FF0000"/>
                </a:solidFill>
              </a:rPr>
              <a:t>Examples </a:t>
            </a:r>
            <a:r>
              <a:rPr lang="en-GB" sz="2400" b="1" dirty="0"/>
              <a:t>-	</a:t>
            </a:r>
            <a:endParaRPr lang="en-GB" sz="2400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08339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707748-BF97-6B7D-A2CC-CB8155DA12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Practice task</a:t>
            </a:r>
            <a:endParaRPr lang="en-AU" dirty="0"/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B5529A71-69CF-2F5D-CDAB-DABD89B41FB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Continue worksheet in booklet.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62069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DF451-8FDD-4E9A-AF1C-6D33A3A20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does it need?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E40DD3-6E12-41B1-B850-ACB9D76C1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/>
              <a:t>The following graph is missing something. Can you spot what it is? </a:t>
            </a:r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/>
              <a:t>Hint: look at the questions – can you answer them accurately?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506874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F879AC3-D4CE-493C-ADC7-06205677F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 w="0"/>
              <a:solidFill>
                <a:srgbClr val="4472C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36F0DFD-0954-464F-BF12-DD2E6F6E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983504" cy="6858000"/>
          </a:xfrm>
          <a:custGeom>
            <a:avLst/>
            <a:gdLst>
              <a:gd name="connsiteX0" fmla="*/ 0 w 1983504"/>
              <a:gd name="connsiteY0" fmla="*/ 0 h 6858000"/>
              <a:gd name="connsiteX1" fmla="*/ 1376658 w 1983504"/>
              <a:gd name="connsiteY1" fmla="*/ 0 h 6858000"/>
              <a:gd name="connsiteX2" fmla="*/ 1690650 w 1983504"/>
              <a:gd name="connsiteY2" fmla="*/ 110269 h 6858000"/>
              <a:gd name="connsiteX3" fmla="*/ 1645361 w 1983504"/>
              <a:gd name="connsiteY3" fmla="*/ 135168 h 6858000"/>
              <a:gd name="connsiteX4" fmla="*/ 1373640 w 1983504"/>
              <a:gd name="connsiteY4" fmla="*/ 71141 h 6858000"/>
              <a:gd name="connsiteX5" fmla="*/ 1319295 w 1983504"/>
              <a:gd name="connsiteY5" fmla="*/ 88927 h 6858000"/>
              <a:gd name="connsiteX6" fmla="*/ 1346468 w 1983504"/>
              <a:gd name="connsiteY6" fmla="*/ 163625 h 6858000"/>
              <a:gd name="connsiteX7" fmla="*/ 1464213 w 1983504"/>
              <a:gd name="connsiteY7" fmla="*/ 192082 h 6858000"/>
              <a:gd name="connsiteX8" fmla="*/ 1648381 w 1983504"/>
              <a:gd name="connsiteY8" fmla="*/ 373491 h 6858000"/>
              <a:gd name="connsiteX9" fmla="*/ 1370620 w 1983504"/>
              <a:gd name="connsiteY9" fmla="*/ 352148 h 6858000"/>
              <a:gd name="connsiteX10" fmla="*/ 1322314 w 1983504"/>
              <a:gd name="connsiteY10" fmla="*/ 394834 h 6858000"/>
              <a:gd name="connsiteX11" fmla="*/ 1304199 w 1983504"/>
              <a:gd name="connsiteY11" fmla="*/ 451747 h 6858000"/>
              <a:gd name="connsiteX12" fmla="*/ 1222682 w 1983504"/>
              <a:gd name="connsiteY12" fmla="*/ 359262 h 6858000"/>
              <a:gd name="connsiteX13" fmla="*/ 1153242 w 1983504"/>
              <a:gd name="connsiteY13" fmla="*/ 334364 h 6858000"/>
              <a:gd name="connsiteX14" fmla="*/ 1132108 w 1983504"/>
              <a:gd name="connsiteY14" fmla="*/ 416176 h 6858000"/>
              <a:gd name="connsiteX15" fmla="*/ 1195509 w 1983504"/>
              <a:gd name="connsiteY15" fmla="*/ 505101 h 6858000"/>
              <a:gd name="connsiteX16" fmla="*/ 1364582 w 1983504"/>
              <a:gd name="connsiteY16" fmla="*/ 558458 h 6858000"/>
              <a:gd name="connsiteX17" fmla="*/ 1183434 w 1983504"/>
              <a:gd name="connsiteY17" fmla="*/ 558458 h 6858000"/>
              <a:gd name="connsiteX18" fmla="*/ 975114 w 1983504"/>
              <a:gd name="connsiteY18" fmla="*/ 522887 h 6858000"/>
              <a:gd name="connsiteX19" fmla="*/ 754716 w 1983504"/>
              <a:gd name="connsiteY19" fmla="*/ 533558 h 6858000"/>
              <a:gd name="connsiteX20" fmla="*/ 546395 w 1983504"/>
              <a:gd name="connsiteY20" fmla="*/ 462417 h 6858000"/>
              <a:gd name="connsiteX21" fmla="*/ 335056 w 1983504"/>
              <a:gd name="connsiteY21" fmla="*/ 465975 h 6858000"/>
              <a:gd name="connsiteX22" fmla="*/ 1270988 w 1983504"/>
              <a:gd name="connsiteY22" fmla="*/ 910606 h 6858000"/>
              <a:gd name="connsiteX23" fmla="*/ 1225701 w 1983504"/>
              <a:gd name="connsiteY23" fmla="*/ 921277 h 6858000"/>
              <a:gd name="connsiteX24" fmla="*/ 1165318 w 1983504"/>
              <a:gd name="connsiteY24" fmla="*/ 949734 h 6858000"/>
              <a:gd name="connsiteX25" fmla="*/ 1210606 w 1983504"/>
              <a:gd name="connsiteY25" fmla="*/ 1006647 h 6858000"/>
              <a:gd name="connsiteX26" fmla="*/ 1455156 w 1983504"/>
              <a:gd name="connsiteY26" fmla="*/ 1113358 h 6858000"/>
              <a:gd name="connsiteX27" fmla="*/ 1515538 w 1983504"/>
              <a:gd name="connsiteY27" fmla="*/ 1220069 h 6858000"/>
              <a:gd name="connsiteX28" fmla="*/ 1440060 w 1983504"/>
              <a:gd name="connsiteY28" fmla="*/ 1209399 h 6858000"/>
              <a:gd name="connsiteX29" fmla="*/ 1373640 w 1983504"/>
              <a:gd name="connsiteY29" fmla="*/ 1230741 h 6858000"/>
              <a:gd name="connsiteX30" fmla="*/ 1400810 w 1983504"/>
              <a:gd name="connsiteY30" fmla="*/ 1365909 h 6858000"/>
              <a:gd name="connsiteX31" fmla="*/ 1748012 w 1983504"/>
              <a:gd name="connsiteY31" fmla="*/ 1540204 h 6858000"/>
              <a:gd name="connsiteX32" fmla="*/ 1778203 w 1983504"/>
              <a:gd name="connsiteY32" fmla="*/ 1597117 h 6858000"/>
              <a:gd name="connsiteX33" fmla="*/ 1735936 w 1983504"/>
              <a:gd name="connsiteY33" fmla="*/ 1636245 h 6858000"/>
              <a:gd name="connsiteX34" fmla="*/ 1624228 w 1983504"/>
              <a:gd name="connsiteY34" fmla="*/ 1657587 h 6858000"/>
              <a:gd name="connsiteX35" fmla="*/ 1781223 w 1983504"/>
              <a:gd name="connsiteY35" fmla="*/ 1849668 h 6858000"/>
              <a:gd name="connsiteX36" fmla="*/ 1838587 w 1983504"/>
              <a:gd name="connsiteY36" fmla="*/ 1903025 h 6858000"/>
              <a:gd name="connsiteX37" fmla="*/ 1938218 w 1983504"/>
              <a:gd name="connsiteY37" fmla="*/ 1984836 h 6858000"/>
              <a:gd name="connsiteX38" fmla="*/ 1938218 w 1983504"/>
              <a:gd name="connsiteY38" fmla="*/ 2013292 h 6858000"/>
              <a:gd name="connsiteX39" fmla="*/ 1805376 w 1983504"/>
              <a:gd name="connsiteY39" fmla="*/ 2102219 h 6858000"/>
              <a:gd name="connsiteX40" fmla="*/ 1563844 w 1983504"/>
              <a:gd name="connsiteY40" fmla="*/ 2077320 h 6858000"/>
              <a:gd name="connsiteX41" fmla="*/ 1920104 w 1983504"/>
              <a:gd name="connsiteY41" fmla="*/ 2208931 h 6858000"/>
              <a:gd name="connsiteX42" fmla="*/ 766792 w 1983504"/>
              <a:gd name="connsiteY42" fmla="*/ 1892353 h 6858000"/>
              <a:gd name="connsiteX43" fmla="*/ 839252 w 1983504"/>
              <a:gd name="connsiteY43" fmla="*/ 1974165 h 6858000"/>
              <a:gd name="connsiteX44" fmla="*/ 1243816 w 1983504"/>
              <a:gd name="connsiteY44" fmla="*/ 2191146 h 6858000"/>
              <a:gd name="connsiteX45" fmla="*/ 1358543 w 1983504"/>
              <a:gd name="connsiteY45" fmla="*/ 2326314 h 6858000"/>
              <a:gd name="connsiteX46" fmla="*/ 1479310 w 1983504"/>
              <a:gd name="connsiteY46" fmla="*/ 2401012 h 6858000"/>
              <a:gd name="connsiteX47" fmla="*/ 1648381 w 1983504"/>
              <a:gd name="connsiteY47" fmla="*/ 2401012 h 6858000"/>
              <a:gd name="connsiteX48" fmla="*/ 1769146 w 1983504"/>
              <a:gd name="connsiteY48" fmla="*/ 2518395 h 6858000"/>
              <a:gd name="connsiteX49" fmla="*/ 1645361 w 1983504"/>
              <a:gd name="connsiteY49" fmla="*/ 2543294 h 6858000"/>
              <a:gd name="connsiteX50" fmla="*/ 1500444 w 1983504"/>
              <a:gd name="connsiteY50" fmla="*/ 2525509 h 6858000"/>
              <a:gd name="connsiteX51" fmla="*/ 1337410 w 1983504"/>
              <a:gd name="connsiteY51" fmla="*/ 2564636 h 6858000"/>
              <a:gd name="connsiteX52" fmla="*/ 1186452 w 1983504"/>
              <a:gd name="connsiteY52" fmla="*/ 2532623 h 6858000"/>
              <a:gd name="connsiteX53" fmla="*/ 1005304 w 1983504"/>
              <a:gd name="connsiteY53" fmla="*/ 2553965 h 6858000"/>
              <a:gd name="connsiteX54" fmla="*/ 947940 w 1983504"/>
              <a:gd name="connsiteY54" fmla="*/ 2692689 h 6858000"/>
              <a:gd name="connsiteX55" fmla="*/ 929826 w 1983504"/>
              <a:gd name="connsiteY55" fmla="*/ 2703362 h 6858000"/>
              <a:gd name="connsiteX56" fmla="*/ 594701 w 1983504"/>
              <a:gd name="connsiteY56" fmla="*/ 2923898 h 6858000"/>
              <a:gd name="connsiteX57" fmla="*/ 501108 w 1983504"/>
              <a:gd name="connsiteY57" fmla="*/ 2941684 h 6858000"/>
              <a:gd name="connsiteX58" fmla="*/ 1053610 w 1983504"/>
              <a:gd name="connsiteY58" fmla="*/ 3329402 h 6858000"/>
              <a:gd name="connsiteX59" fmla="*/ 682256 w 1983504"/>
              <a:gd name="connsiteY59" fmla="*/ 3229805 h 6858000"/>
              <a:gd name="connsiteX60" fmla="*/ 630932 w 1983504"/>
              <a:gd name="connsiteY60" fmla="*/ 3393429 h 6858000"/>
              <a:gd name="connsiteX61" fmla="*/ 806041 w 1983504"/>
              <a:gd name="connsiteY61" fmla="*/ 3539269 h 6858000"/>
              <a:gd name="connsiteX62" fmla="*/ 869444 w 1983504"/>
              <a:gd name="connsiteY62" fmla="*/ 3827390 h 6858000"/>
              <a:gd name="connsiteX63" fmla="*/ 839252 w 1983504"/>
              <a:gd name="connsiteY63" fmla="*/ 4090612 h 6858000"/>
              <a:gd name="connsiteX64" fmla="*/ 763774 w 1983504"/>
              <a:gd name="connsiteY64" fmla="*/ 4172424 h 6858000"/>
              <a:gd name="connsiteX65" fmla="*/ 655085 w 1983504"/>
              <a:gd name="connsiteY65" fmla="*/ 4321821 h 6858000"/>
              <a:gd name="connsiteX66" fmla="*/ 588662 w 1983504"/>
              <a:gd name="connsiteY66" fmla="*/ 4414305 h 6858000"/>
              <a:gd name="connsiteX67" fmla="*/ 356189 w 1983504"/>
              <a:gd name="connsiteY67" fmla="*/ 4378734 h 6858000"/>
              <a:gd name="connsiteX68" fmla="*/ 667160 w 1983504"/>
              <a:gd name="connsiteY68" fmla="*/ 4613499 h 6858000"/>
              <a:gd name="connsiteX69" fmla="*/ 416573 w 1983504"/>
              <a:gd name="connsiteY69" fmla="*/ 4585042 h 6858000"/>
              <a:gd name="connsiteX70" fmla="*/ 335056 w 1983504"/>
              <a:gd name="connsiteY70" fmla="*/ 4602828 h 6858000"/>
              <a:gd name="connsiteX71" fmla="*/ 380342 w 1983504"/>
              <a:gd name="connsiteY71" fmla="*/ 4677526 h 6858000"/>
              <a:gd name="connsiteX72" fmla="*/ 564510 w 1983504"/>
              <a:gd name="connsiteY72" fmla="*/ 4805580 h 6858000"/>
              <a:gd name="connsiteX73" fmla="*/ 944922 w 1983504"/>
              <a:gd name="connsiteY73" fmla="*/ 5154171 h 6858000"/>
              <a:gd name="connsiteX74" fmla="*/ 576586 w 1983504"/>
              <a:gd name="connsiteY74" fmla="*/ 4994104 h 6858000"/>
              <a:gd name="connsiteX75" fmla="*/ 963036 w 1983504"/>
              <a:gd name="connsiteY75" fmla="*/ 5353367 h 6858000"/>
              <a:gd name="connsiteX76" fmla="*/ 1047572 w 1983504"/>
              <a:gd name="connsiteY76" fmla="*/ 5474306 h 6858000"/>
              <a:gd name="connsiteX77" fmla="*/ 1222682 w 1983504"/>
              <a:gd name="connsiteY77" fmla="*/ 5769542 h 6858000"/>
              <a:gd name="connsiteX78" fmla="*/ 1213626 w 1983504"/>
              <a:gd name="connsiteY78" fmla="*/ 5801555 h 6858000"/>
              <a:gd name="connsiteX79" fmla="*/ 1014361 w 1983504"/>
              <a:gd name="connsiteY79" fmla="*/ 5755314 h 6858000"/>
              <a:gd name="connsiteX80" fmla="*/ 1274008 w 1983504"/>
              <a:gd name="connsiteY80" fmla="*/ 6004307 h 6858000"/>
              <a:gd name="connsiteX81" fmla="*/ 1542711 w 1983504"/>
              <a:gd name="connsiteY81" fmla="*/ 6196388 h 6858000"/>
              <a:gd name="connsiteX82" fmla="*/ 1352504 w 1983504"/>
              <a:gd name="connsiteY82" fmla="*/ 6167932 h 6858000"/>
              <a:gd name="connsiteX83" fmla="*/ 1089840 w 1983504"/>
              <a:gd name="connsiteY83" fmla="*/ 6057663 h 6858000"/>
              <a:gd name="connsiteX84" fmla="*/ 999266 w 1983504"/>
              <a:gd name="connsiteY84" fmla="*/ 6100347 h 6858000"/>
              <a:gd name="connsiteX85" fmla="*/ 1246836 w 1983504"/>
              <a:gd name="connsiteY85" fmla="*/ 6281757 h 6858000"/>
              <a:gd name="connsiteX86" fmla="*/ 1388735 w 1983504"/>
              <a:gd name="connsiteY86" fmla="*/ 6367127 h 6858000"/>
              <a:gd name="connsiteX87" fmla="*/ 1446099 w 1983504"/>
              <a:gd name="connsiteY87" fmla="*/ 6431153 h 6858000"/>
              <a:gd name="connsiteX88" fmla="*/ 1609132 w 1983504"/>
              <a:gd name="connsiteY88" fmla="*/ 6658805 h 6858000"/>
              <a:gd name="connsiteX89" fmla="*/ 1983504 w 1983504"/>
              <a:gd name="connsiteY89" fmla="*/ 6858000 h 6858000"/>
              <a:gd name="connsiteX90" fmla="*/ 0 w 1983504"/>
              <a:gd name="connsiteY9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1983504" h="6858000">
                <a:moveTo>
                  <a:pt x="0" y="0"/>
                </a:moveTo>
                <a:lnTo>
                  <a:pt x="1376658" y="0"/>
                </a:lnTo>
                <a:cubicBezTo>
                  <a:pt x="1482328" y="35571"/>
                  <a:pt x="1584980" y="78255"/>
                  <a:pt x="1690650" y="110269"/>
                </a:cubicBezTo>
                <a:cubicBezTo>
                  <a:pt x="1675553" y="145839"/>
                  <a:pt x="1660458" y="138725"/>
                  <a:pt x="1645361" y="135168"/>
                </a:cubicBezTo>
                <a:cubicBezTo>
                  <a:pt x="1554788" y="120941"/>
                  <a:pt x="1461194" y="110269"/>
                  <a:pt x="1373640" y="71141"/>
                </a:cubicBezTo>
                <a:cubicBezTo>
                  <a:pt x="1352504" y="64027"/>
                  <a:pt x="1328352" y="64027"/>
                  <a:pt x="1319295" y="88927"/>
                </a:cubicBezTo>
                <a:cubicBezTo>
                  <a:pt x="1304199" y="124497"/>
                  <a:pt x="1325332" y="145839"/>
                  <a:pt x="1346468" y="163625"/>
                </a:cubicBezTo>
                <a:cubicBezTo>
                  <a:pt x="1382696" y="195638"/>
                  <a:pt x="1424964" y="188525"/>
                  <a:pt x="1464213" y="192082"/>
                </a:cubicBezTo>
                <a:cubicBezTo>
                  <a:pt x="1572902" y="209867"/>
                  <a:pt x="1624228" y="259665"/>
                  <a:pt x="1648381" y="373491"/>
                </a:cubicBezTo>
                <a:cubicBezTo>
                  <a:pt x="1554788" y="327250"/>
                  <a:pt x="1461194" y="384162"/>
                  <a:pt x="1370620" y="352148"/>
                </a:cubicBezTo>
                <a:cubicBezTo>
                  <a:pt x="1346468" y="345034"/>
                  <a:pt x="1310237" y="355706"/>
                  <a:pt x="1322314" y="394834"/>
                </a:cubicBezTo>
                <a:cubicBezTo>
                  <a:pt x="1334390" y="430405"/>
                  <a:pt x="1373640" y="458860"/>
                  <a:pt x="1304199" y="451747"/>
                </a:cubicBezTo>
                <a:cubicBezTo>
                  <a:pt x="1252873" y="448189"/>
                  <a:pt x="1237778" y="405504"/>
                  <a:pt x="1222682" y="359262"/>
                </a:cubicBezTo>
                <a:cubicBezTo>
                  <a:pt x="1210606" y="334364"/>
                  <a:pt x="1177395" y="320135"/>
                  <a:pt x="1153242" y="334364"/>
                </a:cubicBezTo>
                <a:cubicBezTo>
                  <a:pt x="1123051" y="348592"/>
                  <a:pt x="1132108" y="387720"/>
                  <a:pt x="1132108" y="416176"/>
                </a:cubicBezTo>
                <a:cubicBezTo>
                  <a:pt x="1129088" y="469532"/>
                  <a:pt x="1153242" y="494431"/>
                  <a:pt x="1195509" y="505101"/>
                </a:cubicBezTo>
                <a:cubicBezTo>
                  <a:pt x="1246836" y="519330"/>
                  <a:pt x="1298160" y="537116"/>
                  <a:pt x="1364582" y="558458"/>
                </a:cubicBezTo>
                <a:cubicBezTo>
                  <a:pt x="1292122" y="594028"/>
                  <a:pt x="1237778" y="586915"/>
                  <a:pt x="1183434" y="558458"/>
                </a:cubicBezTo>
                <a:cubicBezTo>
                  <a:pt x="1117012" y="526444"/>
                  <a:pt x="1029458" y="483759"/>
                  <a:pt x="975114" y="522887"/>
                </a:cubicBezTo>
                <a:cubicBezTo>
                  <a:pt x="893597" y="579800"/>
                  <a:pt x="827176" y="544229"/>
                  <a:pt x="754716" y="533558"/>
                </a:cubicBezTo>
                <a:cubicBezTo>
                  <a:pt x="603758" y="512216"/>
                  <a:pt x="697352" y="480203"/>
                  <a:pt x="546395" y="462417"/>
                </a:cubicBezTo>
                <a:cubicBezTo>
                  <a:pt x="486012" y="455303"/>
                  <a:pt x="422610" y="426847"/>
                  <a:pt x="335056" y="465975"/>
                </a:cubicBezTo>
                <a:cubicBezTo>
                  <a:pt x="730563" y="672284"/>
                  <a:pt x="917750" y="658055"/>
                  <a:pt x="1270988" y="910606"/>
                </a:cubicBezTo>
                <a:cubicBezTo>
                  <a:pt x="1255893" y="935506"/>
                  <a:pt x="1240798" y="924835"/>
                  <a:pt x="1225701" y="921277"/>
                </a:cubicBezTo>
                <a:cubicBezTo>
                  <a:pt x="1201548" y="917720"/>
                  <a:pt x="1171356" y="903491"/>
                  <a:pt x="1165318" y="949734"/>
                </a:cubicBezTo>
                <a:cubicBezTo>
                  <a:pt x="1162298" y="985305"/>
                  <a:pt x="1180415" y="1003089"/>
                  <a:pt x="1210606" y="1006647"/>
                </a:cubicBezTo>
                <a:cubicBezTo>
                  <a:pt x="1298160" y="1020875"/>
                  <a:pt x="1376658" y="1070674"/>
                  <a:pt x="1455156" y="1113358"/>
                </a:cubicBezTo>
                <a:cubicBezTo>
                  <a:pt x="1491385" y="1131144"/>
                  <a:pt x="1530634" y="1156043"/>
                  <a:pt x="1515538" y="1220069"/>
                </a:cubicBezTo>
                <a:cubicBezTo>
                  <a:pt x="1485348" y="1237855"/>
                  <a:pt x="1464213" y="1212955"/>
                  <a:pt x="1440060" y="1209399"/>
                </a:cubicBezTo>
                <a:cubicBezTo>
                  <a:pt x="1415907" y="1205842"/>
                  <a:pt x="1358543" y="1220069"/>
                  <a:pt x="1373640" y="1230741"/>
                </a:cubicBezTo>
                <a:cubicBezTo>
                  <a:pt x="1443080" y="1269868"/>
                  <a:pt x="1316276" y="1365909"/>
                  <a:pt x="1400810" y="1365909"/>
                </a:cubicBezTo>
                <a:cubicBezTo>
                  <a:pt x="1539691" y="1365909"/>
                  <a:pt x="1615170" y="1536647"/>
                  <a:pt x="1748012" y="1540204"/>
                </a:cubicBezTo>
                <a:cubicBezTo>
                  <a:pt x="1769146" y="1540204"/>
                  <a:pt x="1778203" y="1572219"/>
                  <a:pt x="1778203" y="1597117"/>
                </a:cubicBezTo>
                <a:cubicBezTo>
                  <a:pt x="1778203" y="1629132"/>
                  <a:pt x="1757070" y="1632688"/>
                  <a:pt x="1735936" y="1636245"/>
                </a:cubicBezTo>
                <a:cubicBezTo>
                  <a:pt x="1702725" y="1639802"/>
                  <a:pt x="1666496" y="1597117"/>
                  <a:pt x="1624228" y="1657587"/>
                </a:cubicBezTo>
                <a:cubicBezTo>
                  <a:pt x="1702725" y="1693158"/>
                  <a:pt x="1784242" y="1728729"/>
                  <a:pt x="1781223" y="1849668"/>
                </a:cubicBezTo>
                <a:cubicBezTo>
                  <a:pt x="1781223" y="1881683"/>
                  <a:pt x="1814434" y="1895910"/>
                  <a:pt x="1838587" y="1903025"/>
                </a:cubicBezTo>
                <a:cubicBezTo>
                  <a:pt x="1880854" y="1917252"/>
                  <a:pt x="1914065" y="1938595"/>
                  <a:pt x="1938218" y="1984836"/>
                </a:cubicBezTo>
                <a:cubicBezTo>
                  <a:pt x="1938218" y="1995507"/>
                  <a:pt x="1938218" y="2002622"/>
                  <a:pt x="1938218" y="2013292"/>
                </a:cubicBezTo>
                <a:cubicBezTo>
                  <a:pt x="1932180" y="2123562"/>
                  <a:pt x="1871798" y="2120004"/>
                  <a:pt x="1805376" y="2102219"/>
                </a:cubicBezTo>
                <a:cubicBezTo>
                  <a:pt x="1726878" y="2080877"/>
                  <a:pt x="1648381" y="2038192"/>
                  <a:pt x="1563844" y="2077320"/>
                </a:cubicBezTo>
                <a:cubicBezTo>
                  <a:pt x="1681592" y="2130676"/>
                  <a:pt x="1811414" y="2134233"/>
                  <a:pt x="1920104" y="2208931"/>
                </a:cubicBezTo>
                <a:cubicBezTo>
                  <a:pt x="1515538" y="2223159"/>
                  <a:pt x="1159280" y="1984836"/>
                  <a:pt x="766792" y="1892353"/>
                </a:cubicBezTo>
                <a:cubicBezTo>
                  <a:pt x="778869" y="1952823"/>
                  <a:pt x="812080" y="1967051"/>
                  <a:pt x="839252" y="1974165"/>
                </a:cubicBezTo>
                <a:cubicBezTo>
                  <a:pt x="984170" y="2020407"/>
                  <a:pt x="1110974" y="2112891"/>
                  <a:pt x="1243816" y="2191146"/>
                </a:cubicBezTo>
                <a:cubicBezTo>
                  <a:pt x="1298160" y="2223159"/>
                  <a:pt x="1337410" y="2258731"/>
                  <a:pt x="1358543" y="2326314"/>
                </a:cubicBezTo>
                <a:cubicBezTo>
                  <a:pt x="1376658" y="2390340"/>
                  <a:pt x="1412888" y="2418796"/>
                  <a:pt x="1479310" y="2401012"/>
                </a:cubicBezTo>
                <a:cubicBezTo>
                  <a:pt x="1533654" y="2386784"/>
                  <a:pt x="1591018" y="2393898"/>
                  <a:pt x="1648381" y="2401012"/>
                </a:cubicBezTo>
                <a:cubicBezTo>
                  <a:pt x="1711782" y="2408126"/>
                  <a:pt x="1784242" y="2479267"/>
                  <a:pt x="1769146" y="2518395"/>
                </a:cubicBezTo>
                <a:cubicBezTo>
                  <a:pt x="1738956" y="2582422"/>
                  <a:pt x="1687630" y="2550408"/>
                  <a:pt x="1645361" y="2543294"/>
                </a:cubicBezTo>
                <a:cubicBezTo>
                  <a:pt x="1594036" y="2536181"/>
                  <a:pt x="1500444" y="2518395"/>
                  <a:pt x="1500444" y="2525509"/>
                </a:cubicBezTo>
                <a:cubicBezTo>
                  <a:pt x="1467232" y="2685576"/>
                  <a:pt x="1391754" y="2564636"/>
                  <a:pt x="1337410" y="2564636"/>
                </a:cubicBezTo>
                <a:cubicBezTo>
                  <a:pt x="1286084" y="2564636"/>
                  <a:pt x="1234759" y="2546851"/>
                  <a:pt x="1186452" y="2532623"/>
                </a:cubicBezTo>
                <a:cubicBezTo>
                  <a:pt x="1123051" y="2514837"/>
                  <a:pt x="1065688" y="2546851"/>
                  <a:pt x="1005304" y="2553965"/>
                </a:cubicBezTo>
                <a:cubicBezTo>
                  <a:pt x="950960" y="2561080"/>
                  <a:pt x="981150" y="2653563"/>
                  <a:pt x="947940" y="2692689"/>
                </a:cubicBezTo>
                <a:cubicBezTo>
                  <a:pt x="941903" y="2703362"/>
                  <a:pt x="935864" y="2703362"/>
                  <a:pt x="929826" y="2703362"/>
                </a:cubicBezTo>
                <a:cubicBezTo>
                  <a:pt x="911711" y="2980812"/>
                  <a:pt x="594701" y="2913227"/>
                  <a:pt x="594701" y="2923898"/>
                </a:cubicBezTo>
                <a:cubicBezTo>
                  <a:pt x="567529" y="2941684"/>
                  <a:pt x="534318" y="2899000"/>
                  <a:pt x="501108" y="2941684"/>
                </a:cubicBezTo>
                <a:cubicBezTo>
                  <a:pt x="643007" y="3137322"/>
                  <a:pt x="860386" y="3183563"/>
                  <a:pt x="1053610" y="3329402"/>
                </a:cubicBezTo>
                <a:cubicBezTo>
                  <a:pt x="893597" y="3379202"/>
                  <a:pt x="800002" y="3208463"/>
                  <a:pt x="682256" y="3229805"/>
                </a:cubicBezTo>
                <a:cubicBezTo>
                  <a:pt x="624893" y="3283162"/>
                  <a:pt x="796984" y="3368530"/>
                  <a:pt x="630932" y="3393429"/>
                </a:cubicBezTo>
                <a:cubicBezTo>
                  <a:pt x="703390" y="3439672"/>
                  <a:pt x="754716" y="3485914"/>
                  <a:pt x="806041" y="3539269"/>
                </a:cubicBezTo>
                <a:cubicBezTo>
                  <a:pt x="893597" y="3635309"/>
                  <a:pt x="911711" y="3699337"/>
                  <a:pt x="869444" y="3827390"/>
                </a:cubicBezTo>
                <a:cubicBezTo>
                  <a:pt x="842270" y="3912759"/>
                  <a:pt x="803022" y="3991015"/>
                  <a:pt x="839252" y="4090612"/>
                </a:cubicBezTo>
                <a:cubicBezTo>
                  <a:pt x="863405" y="4158196"/>
                  <a:pt x="854347" y="4204438"/>
                  <a:pt x="763774" y="4172424"/>
                </a:cubicBezTo>
                <a:cubicBezTo>
                  <a:pt x="667160" y="4140411"/>
                  <a:pt x="630932" y="4200882"/>
                  <a:pt x="655085" y="4321821"/>
                </a:cubicBezTo>
                <a:cubicBezTo>
                  <a:pt x="670179" y="4400076"/>
                  <a:pt x="655085" y="4424975"/>
                  <a:pt x="588662" y="4414305"/>
                </a:cubicBezTo>
                <a:cubicBezTo>
                  <a:pt x="516204" y="4403633"/>
                  <a:pt x="446764" y="4353835"/>
                  <a:pt x="356189" y="4378734"/>
                </a:cubicBezTo>
                <a:cubicBezTo>
                  <a:pt x="428648" y="4521016"/>
                  <a:pt x="582626" y="4478331"/>
                  <a:pt x="667160" y="4613499"/>
                </a:cubicBezTo>
                <a:cubicBezTo>
                  <a:pt x="567529" y="4613499"/>
                  <a:pt x="489031" y="4613499"/>
                  <a:pt x="416573" y="4585042"/>
                </a:cubicBezTo>
                <a:cubicBezTo>
                  <a:pt x="386381" y="4574373"/>
                  <a:pt x="353170" y="4560144"/>
                  <a:pt x="335056" y="4602828"/>
                </a:cubicBezTo>
                <a:cubicBezTo>
                  <a:pt x="313920" y="4652628"/>
                  <a:pt x="356189" y="4670412"/>
                  <a:pt x="380342" y="4677526"/>
                </a:cubicBezTo>
                <a:cubicBezTo>
                  <a:pt x="449784" y="4702425"/>
                  <a:pt x="504126" y="4759339"/>
                  <a:pt x="564510" y="4805580"/>
                </a:cubicBezTo>
                <a:cubicBezTo>
                  <a:pt x="694332" y="4905177"/>
                  <a:pt x="836233" y="4990547"/>
                  <a:pt x="944922" y="5154171"/>
                </a:cubicBezTo>
                <a:cubicBezTo>
                  <a:pt x="809060" y="5111487"/>
                  <a:pt x="706410" y="5011889"/>
                  <a:pt x="576586" y="4994104"/>
                </a:cubicBezTo>
                <a:cubicBezTo>
                  <a:pt x="688296" y="5143500"/>
                  <a:pt x="830194" y="5243097"/>
                  <a:pt x="963036" y="5353367"/>
                </a:cubicBezTo>
                <a:cubicBezTo>
                  <a:pt x="1002286" y="5385379"/>
                  <a:pt x="1041534" y="5406721"/>
                  <a:pt x="1047572" y="5474306"/>
                </a:cubicBezTo>
                <a:cubicBezTo>
                  <a:pt x="1065688" y="5605917"/>
                  <a:pt x="1113992" y="5712629"/>
                  <a:pt x="1222682" y="5769542"/>
                </a:cubicBezTo>
                <a:cubicBezTo>
                  <a:pt x="1222682" y="5769542"/>
                  <a:pt x="1216644" y="5790884"/>
                  <a:pt x="1213626" y="5801555"/>
                </a:cubicBezTo>
                <a:cubicBezTo>
                  <a:pt x="1147203" y="5805112"/>
                  <a:pt x="1095878" y="5726858"/>
                  <a:pt x="1014361" y="5755314"/>
                </a:cubicBezTo>
                <a:cubicBezTo>
                  <a:pt x="1095878" y="5862025"/>
                  <a:pt x="1162298" y="5954508"/>
                  <a:pt x="1274008" y="6004307"/>
                </a:cubicBezTo>
                <a:cubicBezTo>
                  <a:pt x="1364582" y="6043434"/>
                  <a:pt x="1476290" y="6068335"/>
                  <a:pt x="1542711" y="6196388"/>
                </a:cubicBezTo>
                <a:cubicBezTo>
                  <a:pt x="1467232" y="6221287"/>
                  <a:pt x="1409868" y="6189274"/>
                  <a:pt x="1352504" y="6167932"/>
                </a:cubicBezTo>
                <a:cubicBezTo>
                  <a:pt x="1264950" y="6132361"/>
                  <a:pt x="1177395" y="6093234"/>
                  <a:pt x="1089840" y="6057663"/>
                </a:cubicBezTo>
                <a:cubicBezTo>
                  <a:pt x="1056628" y="6043434"/>
                  <a:pt x="1020400" y="6036320"/>
                  <a:pt x="999266" y="6100347"/>
                </a:cubicBezTo>
                <a:cubicBezTo>
                  <a:pt x="1110974" y="6114575"/>
                  <a:pt x="1177395" y="6199945"/>
                  <a:pt x="1246836" y="6281757"/>
                </a:cubicBezTo>
                <a:cubicBezTo>
                  <a:pt x="1286084" y="6327999"/>
                  <a:pt x="1319295" y="6388469"/>
                  <a:pt x="1388735" y="6367127"/>
                </a:cubicBezTo>
                <a:cubicBezTo>
                  <a:pt x="1424964" y="6356456"/>
                  <a:pt x="1449118" y="6388469"/>
                  <a:pt x="1446099" y="6431153"/>
                </a:cubicBezTo>
                <a:cubicBezTo>
                  <a:pt x="1431002" y="6580550"/>
                  <a:pt x="1518558" y="6630349"/>
                  <a:pt x="1609132" y="6658805"/>
                </a:cubicBezTo>
                <a:cubicBezTo>
                  <a:pt x="1741974" y="6701489"/>
                  <a:pt x="1859720" y="6786859"/>
                  <a:pt x="198350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0EC75A7-EEFD-4F64-B102-56DAF93FD2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33638" y="255058"/>
            <a:ext cx="8094244" cy="634788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9417AF3A-CA93-4972-9DC8-42D9939A675F}"/>
              </a:ext>
            </a:extLst>
          </p:cNvPr>
          <p:cNvSpPr/>
          <p:nvPr/>
        </p:nvSpPr>
        <p:spPr>
          <a:xfrm>
            <a:off x="3952875" y="238125"/>
            <a:ext cx="8096250" cy="9958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5268406-5407-4DE2-AD3A-C7930F5595E0}"/>
              </a:ext>
            </a:extLst>
          </p:cNvPr>
          <p:cNvSpPr/>
          <p:nvPr/>
        </p:nvSpPr>
        <p:spPr>
          <a:xfrm rot="16200000">
            <a:off x="679236" y="2554959"/>
            <a:ext cx="8096250" cy="17311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CC3A9D3-3427-44E4-AA2C-A7C0FF7FB9C6}"/>
              </a:ext>
            </a:extLst>
          </p:cNvPr>
          <p:cNvSpPr/>
          <p:nvPr/>
        </p:nvSpPr>
        <p:spPr>
          <a:xfrm>
            <a:off x="4259868" y="5255617"/>
            <a:ext cx="8096250" cy="14748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AU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11AB56-2657-4DD1-9AB0-7CAE5E53684D}"/>
              </a:ext>
            </a:extLst>
          </p:cNvPr>
          <p:cNvSpPr txBox="1"/>
          <p:nvPr/>
        </p:nvSpPr>
        <p:spPr>
          <a:xfrm>
            <a:off x="568171" y="674703"/>
            <a:ext cx="4492101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tall is Jess?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Who is the tallest? 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What is the height of the shortest person?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How much taller is Tim than Jess? </a:t>
            </a:r>
            <a:endParaRPr kumimoji="0" lang="en-AU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7503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DAC0DA-7CE4-B659-4145-EB9852FA4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Misleading data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127712-5B6F-AFBA-CCA4-F0EDAEA9E2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>
                <a:hlinkClick r:id="rId2"/>
              </a:rPr>
              <a:t>https://www.youtube.com/watch?v=E91bGT9BjYk</a:t>
            </a:r>
            <a:br>
              <a:rPr lang="en-AU" dirty="0"/>
            </a:br>
            <a:endParaRPr lang="en-AU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Think: what does the video tell you to look out for? </a:t>
            </a:r>
          </a:p>
        </p:txBody>
      </p:sp>
    </p:spTree>
    <p:extLst>
      <p:ext uri="{BB962C8B-B14F-4D97-AF65-F5344CB8AC3E}">
        <p14:creationId xmlns:p14="http://schemas.microsoft.com/office/powerpoint/2010/main" val="5355340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F42A1B-0E5A-400B-8D97-BD8424F80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What must a graph have?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5CE45-1EBF-4578-8B72-B6724BD60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T_____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L______</a:t>
            </a:r>
          </a:p>
          <a:p>
            <a:pPr marL="0" indent="0">
              <a:buNone/>
            </a:pPr>
            <a:endParaRPr lang="en-AU" dirty="0"/>
          </a:p>
          <a:p>
            <a:pPr marL="0" indent="0">
              <a:buNone/>
            </a:pPr>
            <a:r>
              <a:rPr lang="en-AU" dirty="0"/>
              <a:t>S______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B2F63C-9FF7-4F0D-91B3-F6EB3F189155}"/>
              </a:ext>
            </a:extLst>
          </p:cNvPr>
          <p:cNvSpPr txBox="1"/>
          <p:nvPr/>
        </p:nvSpPr>
        <p:spPr>
          <a:xfrm>
            <a:off x="1083076" y="2814222"/>
            <a:ext cx="15891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itle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B83689-90CE-4264-9F09-250B46C914B0}"/>
              </a:ext>
            </a:extLst>
          </p:cNvPr>
          <p:cNvSpPr txBox="1"/>
          <p:nvPr/>
        </p:nvSpPr>
        <p:spPr>
          <a:xfrm>
            <a:off x="1020931" y="3816083"/>
            <a:ext cx="21572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abelled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axis  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F2E6FF-B111-4931-A253-2F50FE8B25D4}"/>
              </a:ext>
            </a:extLst>
          </p:cNvPr>
          <p:cNvSpPr txBox="1"/>
          <p:nvPr/>
        </p:nvSpPr>
        <p:spPr>
          <a:xfrm>
            <a:off x="1020931" y="4817944"/>
            <a:ext cx="15891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cale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endParaRPr kumimoji="0" lang="en-AU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65450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A32229-69AB-1B61-832F-3FB5A5901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6180" y="197982"/>
            <a:ext cx="4509210" cy="108928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Misleading representations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5CFDDE-DEF6-AE09-9DDA-A10381127E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9911" y="2133600"/>
            <a:ext cx="5146089" cy="3777622"/>
          </a:xfrm>
        </p:spPr>
        <p:txBody>
          <a:bodyPr>
            <a:normAutofit/>
          </a:bodyPr>
          <a:lstStyle/>
          <a:p>
            <a:r>
              <a:rPr lang="en-US" sz="2000" b="1" dirty="0"/>
              <a:t>What is wrong with this graph? </a:t>
            </a:r>
          </a:p>
          <a:p>
            <a:endParaRPr lang="en-US" sz="2000" b="1" dirty="0"/>
          </a:p>
          <a:p>
            <a:r>
              <a:rPr lang="en-US" sz="2000" b="1" dirty="0"/>
              <a:t>What is it missing? </a:t>
            </a:r>
            <a:endParaRPr lang="en-AU" sz="2000" b="1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E8C590B9-E0CC-21A7-D665-9A7CB8B73397}"/>
              </a:ext>
            </a:extLst>
          </p:cNvPr>
          <p:cNvGrpSpPr/>
          <p:nvPr/>
        </p:nvGrpSpPr>
        <p:grpSpPr>
          <a:xfrm>
            <a:off x="7417645" y="406078"/>
            <a:ext cx="4362859" cy="6045843"/>
            <a:chOff x="6318025" y="219441"/>
            <a:chExt cx="4362859" cy="6045843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22D4326D-4EC8-8749-A73B-1C401C2750B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-1" b="-263"/>
            <a:stretch/>
          </p:blipFill>
          <p:spPr>
            <a:xfrm rot="16200000">
              <a:off x="5296222" y="2434205"/>
              <a:ext cx="4860032" cy="2802126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0F89FBE-D987-F580-9D47-385542111A0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4425" b="-263"/>
            <a:stretch/>
          </p:blipFill>
          <p:spPr>
            <a:xfrm rot="16200000">
              <a:off x="6911655" y="2496054"/>
              <a:ext cx="4860032" cy="2678427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49EC180-12E1-3A01-FEBD-ED7F9BAFFA5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5988" t="10644" r="-5823" b="46552"/>
            <a:stretch/>
          </p:blipFill>
          <p:spPr>
            <a:xfrm>
              <a:off x="6318025" y="219441"/>
              <a:ext cx="4253456" cy="1196248"/>
            </a:xfrm>
            <a:prstGeom prst="rect">
              <a:avLst/>
            </a:prstGeom>
          </p:spPr>
        </p:pic>
      </p:grp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9B37B26-D7C8-F01B-0734-FCACFF21AA1E}"/>
              </a:ext>
            </a:extLst>
          </p:cNvPr>
          <p:cNvCxnSpPr/>
          <p:nvPr/>
        </p:nvCxnSpPr>
        <p:spPr>
          <a:xfrm flipV="1">
            <a:off x="8218544" y="2016830"/>
            <a:ext cx="388566" cy="259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7FDF914-F97A-A180-B61F-EAE732C6F55D}"/>
              </a:ext>
            </a:extLst>
          </p:cNvPr>
          <p:cNvCxnSpPr/>
          <p:nvPr/>
        </p:nvCxnSpPr>
        <p:spPr>
          <a:xfrm flipV="1">
            <a:off x="8198447" y="2010850"/>
            <a:ext cx="0" cy="3982443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FD28516-5315-61FD-5B21-4939641A97B5}"/>
              </a:ext>
            </a:extLst>
          </p:cNvPr>
          <p:cNvCxnSpPr/>
          <p:nvPr/>
        </p:nvCxnSpPr>
        <p:spPr>
          <a:xfrm flipV="1">
            <a:off x="8576740" y="2010850"/>
            <a:ext cx="0" cy="3973435"/>
          </a:xfrm>
          <a:prstGeom prst="line">
            <a:avLst/>
          </a:prstGeom>
          <a:ln w="381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0B0E29D-B01E-B064-AE2A-348404DA5413}"/>
              </a:ext>
            </a:extLst>
          </p:cNvPr>
          <p:cNvCxnSpPr/>
          <p:nvPr/>
        </p:nvCxnSpPr>
        <p:spPr>
          <a:xfrm flipV="1">
            <a:off x="8985631" y="3600760"/>
            <a:ext cx="388566" cy="259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A0A82CF-0DD5-27C2-5243-0C673A3AB372}"/>
              </a:ext>
            </a:extLst>
          </p:cNvPr>
          <p:cNvCxnSpPr/>
          <p:nvPr/>
        </p:nvCxnSpPr>
        <p:spPr>
          <a:xfrm flipH="1" flipV="1">
            <a:off x="8985631" y="3620257"/>
            <a:ext cx="0" cy="2378037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A763C7B-8103-D38D-53FA-93BFCDF85951}"/>
              </a:ext>
            </a:extLst>
          </p:cNvPr>
          <p:cNvCxnSpPr/>
          <p:nvPr/>
        </p:nvCxnSpPr>
        <p:spPr>
          <a:xfrm flipH="1" flipV="1">
            <a:off x="9374112" y="3600759"/>
            <a:ext cx="0" cy="2390116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4494FC4-DA3F-9935-BAF3-66AA120BEDDD}"/>
              </a:ext>
            </a:extLst>
          </p:cNvPr>
          <p:cNvCxnSpPr/>
          <p:nvPr/>
        </p:nvCxnSpPr>
        <p:spPr>
          <a:xfrm flipV="1">
            <a:off x="9760870" y="2403816"/>
            <a:ext cx="388566" cy="259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530133E-FFFE-EE19-56D3-4BC52EAF7722}"/>
              </a:ext>
            </a:extLst>
          </p:cNvPr>
          <p:cNvCxnSpPr/>
          <p:nvPr/>
        </p:nvCxnSpPr>
        <p:spPr>
          <a:xfrm flipV="1">
            <a:off x="9756087" y="2403815"/>
            <a:ext cx="0" cy="3594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59D2C61-8CF4-C70B-8A70-A076DBAA4372}"/>
              </a:ext>
            </a:extLst>
          </p:cNvPr>
          <p:cNvCxnSpPr/>
          <p:nvPr/>
        </p:nvCxnSpPr>
        <p:spPr>
          <a:xfrm flipV="1">
            <a:off x="10136012" y="2396671"/>
            <a:ext cx="0" cy="3594204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7DF6303-57C4-2A2A-0E0F-8945914C6A33}"/>
              </a:ext>
            </a:extLst>
          </p:cNvPr>
          <p:cNvCxnSpPr/>
          <p:nvPr/>
        </p:nvCxnSpPr>
        <p:spPr>
          <a:xfrm flipV="1">
            <a:off x="10538552" y="1438668"/>
            <a:ext cx="388566" cy="259"/>
          </a:xfrm>
          <a:prstGeom prst="line">
            <a:avLst/>
          </a:prstGeom>
          <a:ln w="38100" cmpd="dbl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2FF9F33-4897-B694-83DD-16F8F86839FE}"/>
              </a:ext>
            </a:extLst>
          </p:cNvPr>
          <p:cNvCxnSpPr/>
          <p:nvPr/>
        </p:nvCxnSpPr>
        <p:spPr>
          <a:xfrm flipV="1">
            <a:off x="10522223" y="1438668"/>
            <a:ext cx="0" cy="4545617"/>
          </a:xfrm>
          <a:prstGeom prst="line">
            <a:avLst/>
          </a:prstGeom>
          <a:ln w="38100" cmpd="dbl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2B5BC88-4BB7-C5E2-95A4-13055ECA5234}"/>
              </a:ext>
            </a:extLst>
          </p:cNvPr>
          <p:cNvCxnSpPr/>
          <p:nvPr/>
        </p:nvCxnSpPr>
        <p:spPr>
          <a:xfrm flipV="1">
            <a:off x="10904216" y="1438668"/>
            <a:ext cx="0" cy="4545617"/>
          </a:xfrm>
          <a:prstGeom prst="line">
            <a:avLst/>
          </a:prstGeom>
          <a:ln w="38100" cmpd="dbl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C313B45-EF49-A1C4-CD1B-F82C44785C59}"/>
              </a:ext>
            </a:extLst>
          </p:cNvPr>
          <p:cNvCxnSpPr/>
          <p:nvPr/>
        </p:nvCxnSpPr>
        <p:spPr>
          <a:xfrm flipV="1">
            <a:off x="11304027" y="3419869"/>
            <a:ext cx="388566" cy="259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1E7C5B3-C8DB-0826-AAA1-6D41284072CC}"/>
              </a:ext>
            </a:extLst>
          </p:cNvPr>
          <p:cNvCxnSpPr/>
          <p:nvPr/>
        </p:nvCxnSpPr>
        <p:spPr>
          <a:xfrm flipV="1">
            <a:off x="11304027" y="3435591"/>
            <a:ext cx="0" cy="255528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1F81268-E8E3-B121-A6CA-E67BF803E3A8}"/>
              </a:ext>
            </a:extLst>
          </p:cNvPr>
          <p:cNvCxnSpPr/>
          <p:nvPr/>
        </p:nvCxnSpPr>
        <p:spPr>
          <a:xfrm flipV="1">
            <a:off x="11678251" y="3429000"/>
            <a:ext cx="0" cy="2555285"/>
          </a:xfrm>
          <a:prstGeom prst="line">
            <a:avLst/>
          </a:prstGeom>
          <a:ln w="38100"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95C0D45-160E-4A86-51E3-735146F8B344}"/>
              </a:ext>
            </a:extLst>
          </p:cNvPr>
          <p:cNvSpPr txBox="1"/>
          <p:nvPr/>
        </p:nvSpPr>
        <p:spPr>
          <a:xfrm>
            <a:off x="7127332" y="5813353"/>
            <a:ext cx="2406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AC3DA80-653F-BC5E-60E8-6B831576F93E}"/>
              </a:ext>
            </a:extLst>
          </p:cNvPr>
          <p:cNvSpPr txBox="1"/>
          <p:nvPr/>
        </p:nvSpPr>
        <p:spPr>
          <a:xfrm>
            <a:off x="7118417" y="5035782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4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257921-7520-3A1E-4209-B71FDC515126}"/>
              </a:ext>
            </a:extLst>
          </p:cNvPr>
          <p:cNvSpPr txBox="1"/>
          <p:nvPr/>
        </p:nvSpPr>
        <p:spPr>
          <a:xfrm>
            <a:off x="7105530" y="425821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A9D0F0-8AC3-75A9-182C-36C194AEAD55}"/>
              </a:ext>
            </a:extLst>
          </p:cNvPr>
          <p:cNvSpPr txBox="1"/>
          <p:nvPr/>
        </p:nvSpPr>
        <p:spPr>
          <a:xfrm>
            <a:off x="7011284" y="1948934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Calibri"/>
              </a:rPr>
              <a:t>9</a:t>
            </a:r>
            <a:endParaRPr kumimoji="0" lang="en-AU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54513FF-6C0E-7897-D483-A6F2BB4242EF}"/>
              </a:ext>
            </a:extLst>
          </p:cNvPr>
          <p:cNvSpPr txBox="1"/>
          <p:nvPr/>
        </p:nvSpPr>
        <p:spPr>
          <a:xfrm>
            <a:off x="6998941" y="121290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47666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3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  <p:bldP spid="26" grpId="0"/>
      <p:bldP spid="2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FC2A6-5EAB-838D-5849-F894B5532B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dirty="0"/>
              <a:t>Individual practice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F7A65B-B2FE-CCDE-A691-D7A64D17DB0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HAESE 7 </a:t>
            </a:r>
          </a:p>
          <a:p>
            <a:r>
              <a:rPr lang="en-US" dirty="0"/>
              <a:t>Page 320 </a:t>
            </a:r>
          </a:p>
          <a:p>
            <a:r>
              <a:rPr lang="en-US" dirty="0"/>
              <a:t>Questions 4 - 13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96715452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</TotalTime>
  <Words>511</Words>
  <Application>Microsoft Office PowerPoint</Application>
  <PresentationFormat>Widescreen</PresentationFormat>
  <Paragraphs>112</Paragraphs>
  <Slides>16</Slides>
  <Notes>0</Notes>
  <HiddenSlides>3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Calibri Light</vt:lpstr>
      <vt:lpstr>Century Gothic</vt:lpstr>
      <vt:lpstr>Wingdings</vt:lpstr>
      <vt:lpstr>Wingdings 3</vt:lpstr>
      <vt:lpstr>Wisp</vt:lpstr>
      <vt:lpstr>Office Theme</vt:lpstr>
      <vt:lpstr>Lesson objective </vt:lpstr>
      <vt:lpstr>Daily review: You try </vt:lpstr>
      <vt:lpstr>Survey or Census?</vt:lpstr>
      <vt:lpstr>Survey or Census?</vt:lpstr>
      <vt:lpstr>How to select a Random Sample</vt:lpstr>
      <vt:lpstr>Categorical Data</vt:lpstr>
      <vt:lpstr>Categorical Data</vt:lpstr>
      <vt:lpstr>Numerical Data</vt:lpstr>
      <vt:lpstr>Numerical Data</vt:lpstr>
      <vt:lpstr>Practice task</vt:lpstr>
      <vt:lpstr>What does it need? </vt:lpstr>
      <vt:lpstr>PowerPoint Presentation</vt:lpstr>
      <vt:lpstr>Misleading data </vt:lpstr>
      <vt:lpstr>What must a graph have? </vt:lpstr>
      <vt:lpstr>Misleading representations </vt:lpstr>
      <vt:lpstr>Individual practice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objective</dc:title>
  <dc:creator>DAVIES Rhys [Busselton Senior High School]</dc:creator>
  <cp:lastModifiedBy>DAVIES Rhys [Busselton Senior High School]</cp:lastModifiedBy>
  <cp:revision>9</cp:revision>
  <cp:lastPrinted>2023-11-09T00:24:16Z</cp:lastPrinted>
  <dcterms:created xsi:type="dcterms:W3CDTF">2022-11-29T11:22:25Z</dcterms:created>
  <dcterms:modified xsi:type="dcterms:W3CDTF">2023-11-09T01:55:31Z</dcterms:modified>
</cp:coreProperties>
</file>
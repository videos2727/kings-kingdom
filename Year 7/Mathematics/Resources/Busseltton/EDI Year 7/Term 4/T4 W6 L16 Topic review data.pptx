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82" r:id="rId6"/>
    <p:sldId id="342" r:id="rId7"/>
    <p:sldId id="269" r:id="rId8"/>
    <p:sldId id="259" r:id="rId9"/>
    <p:sldId id="260" r:id="rId10"/>
    <p:sldId id="338" r:id="rId11"/>
    <p:sldId id="337" r:id="rId12"/>
    <p:sldId id="339" r:id="rId13"/>
    <p:sldId id="340" r:id="rId14"/>
    <p:sldId id="34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04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0 24575,'2'96'0,"-4"105"0,0-187-100,-1 0 0,-1-1-1,0 1 1,-9 20 0,8-22-764,-3 7-5962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08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24575,'34'-1'0,"19"1"0,0 1 0,80 13 0,-71 1 60,26 4-1485,-69-17-5401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11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24575,'1'0'0,"0"0"0,-1 0 0,1 1 0,0-1 0,0 0 0,-1 1 0,1-1 0,0 0 0,0 1 0,-1-1 0,1 1 0,0-1 0,-1 1 0,1 0 0,-1-1 0,1 1 0,-1 0 0,1-1 0,-1 1 0,1 0 0,-1 0 0,0-1 0,1 2 0,8 24 0,-7-16 0,5 11 8,-2 1-1,0-1 0,-1 1 1,0 32-1,-4 92-181,-2-61-1054,2-64-5598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14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627 52 24575,'0'-1'0,"-1"0"0,1 0 0,0 0 0,-1 0 0,1 0 0,-1 0 0,1 0 0,-1 0 0,1 1 0,-1-1 0,0 0 0,1 0 0,-1 1 0,0-1 0,0 0 0,1 1 0,-1-1 0,0 1 0,0-1 0,0 1 0,0-1 0,0 1 0,0 0 0,0-1 0,0 1 0,0 0 0,-1 0 0,-36-6 0,27 5 0,-38-8 0,21 3 0,0 1 0,-34 0 0,15 4 0,-1 2 0,-90 15 0,72-10 107,-5 3-1579,52-4-5354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17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 24575,'0'3'0,"-5"141"0,3-119 0,-2-1 0,0 0 0,-15 44 0,10-45-227,1 1-1,2-1 1,0 2-1,1-1 1,-2 37-1,7-40-6598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20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0 24575,'-1'19'0,"-1"1"0,-8 33 0,-2 25 0,10 81 15,3-93-1395,-1-45-5446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30.0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24575,'47'0'0,"9"1"0,-1-2 0,85-14 0,-91 9-29,1 2 0,93 3 0,-65 3-1249,-57-2-5548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32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24575,'52'2'0,"0"3"0,65 15 0,-14-3 0,-91-16 0,0-1 0,1 0 0,-1-1 0,0 0 0,0-1 0,15-4 0,-17 3 0,1 0 0,0 1 0,0 1 0,0 0 0,0 0 0,0 1 0,0 0 0,17 4 0,53 14-1365,-62-16-5461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35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24575,'58'2'0,"0"3"0,0 3 0,0 2 0,82 25 0,-72-19 0,35 13 0,-92-26-114,-1 0 1,1 0-1,0-1 0,-1-1 0,1 0 1,0 0-1,0-1 0,0 0 0,0-1 1,-1 0-1,20-5 0,-9 1-6712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30T04:41:37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24575,'23'0'0,"-1"1"0,1 1 0,0 1 0,-1 1 0,0 0 0,0 2 0,0 1 0,-1 1 0,0 0 0,28 16 0,-36-17 0,1-1 0,0 0 0,0-1 0,1 0 0,26 4 0,-26-6 0,1 0 0,-1 1 0,0 1 0,28 14 0,11 7-16,-42-22-134,-1 1 0,0 1 0,-1-1 0,1 2 0,-1-1 1,0 1-1,0 1 0,8 9 0,-5-1-6676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EDE9-E23E-6724-535C-62A8930F4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9C66-729B-E6EA-EFF8-505DFD293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C87EB-85E0-6FBC-B547-30953E49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EF331-18BD-A0B5-4AE7-3B20FC9A9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E13B3-E475-3D66-CCD2-9BA6F6C2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882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ACB2-74D3-7D89-DC5A-9BE9DFA9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0365-CCA1-2438-8612-C1DF72FD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2CF4B-125A-D710-809A-78833AC8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22CF1-29D7-22CD-FF7A-73D90174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39A2-5CE7-742F-0FD5-B4ABDDEF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0149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8978B-8B9B-1717-D422-6C449F14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F9B31-CA9B-26D9-8385-B2473A044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C7668-319C-0EF7-256E-DDDCE2F8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D4D2-24D0-85E7-D477-3F85ED29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A98FE-57CC-5D1C-DDEA-2BEB90B5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97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57ADA-2247-5543-80EE-E67C1A85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05D4-F092-DDAE-3800-8CFA78770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7A31A-7727-AFC7-59AE-0D567541F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6C75F-0292-7A40-B081-B1177CC8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B3D2A-B79B-86FC-ED73-49D5C3C8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9A078-9513-7472-563A-711B8698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001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5FFBA-F6DA-70F5-3B8C-3141FE0F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6DFC4-C95C-24D2-E525-BFE3D89F0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5C1AC-42B7-4BB0-7344-6D07C433A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93406-A07B-9A4D-C2DE-9FDCE8B8A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1B481-2133-FEC5-4615-8ADD78D413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23A5CC-0715-3018-ED1D-FBA3C3C6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9E1EB-E0E2-1E00-BD7A-5A71E455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66A12-2B04-68DC-6F0F-2BBD55C4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46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0A25-A4BC-49CA-5E73-224FAA5E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98EFCC-7E2F-6440-BC62-F459BADA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796EC-CB04-D343-569D-A4B821AE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4FE62-C0CE-D3A3-160B-0CA595C7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393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D5E68-FB30-CE36-1F2A-4212007FE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A7B67-ED5C-8350-A9B5-A3A42297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23C-9485-E6AC-058F-0AE8E548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74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2A15-33AA-90C7-11EF-7FF0D514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F84EA-C53B-E72E-C0A3-9378FDD7D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E35DD-6DB8-6B31-0017-AE3724BBB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8E035-634E-270D-AD4C-BB7731B1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A66E2-BBB3-5974-6288-28722DB2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9800C-09AF-24D2-DF5B-8DEEBD7F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5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6888-4C49-D151-52D0-B214F1C1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2A3C6-84D4-3B76-B768-3106CF384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08133-4F56-33AA-6F1B-D16404B80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A9E13-9165-3FCB-1D66-21A4581A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81792-B4A0-FC93-CB9D-2F7A48B7B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66A65-3540-821F-B52B-0070F3CA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75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61DE-89F3-1410-80E5-1E238832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9321B5-8D3B-E3F4-178F-0EDA9CEB1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709C3-10A6-23EB-C378-B1AE010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EF0D-F59D-68C3-4D62-28D989B1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9481A-78AF-7711-7A96-D6BAF023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65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F94991-8DD8-DB58-CFF6-08AB64303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3A161-E235-4479-5202-FE5C71E8F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00EA2-59E1-2BA9-3FC2-7B8D8511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41365-F9A1-804D-D871-14044F0E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4E4D0-81FA-9395-8715-9BFC93E0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407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2025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7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881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831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168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346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3919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88168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5537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8282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27495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25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29154-1318-8F06-5B8A-762FA3CA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4CE1E-4E11-BB04-2D2C-7B9301CE5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173B4-B4A8-C18B-2A3C-5BBBD8CAF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281F2-F163-4271-9339-73DA03ABA2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2A5A1-ABFE-C269-A444-583F0741C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CBD3C-F4EE-00EB-7231-6FF0DB0B8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9D9D7-F9C8-4C4C-9A3D-B5767148D94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38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AD577-FEE9-4F71-8BB1-E3A0AC9C4BD4}" type="datetimeFigureOut">
              <a:rPr lang="en-AU" smtClean="0"/>
              <a:t>14/11/2023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E4CD-47AA-40C7-B537-49FB7D088D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7730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AA214E-4FE3-BDD8-383E-E76EE2A3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EE6165-E7D3-D450-96A7-F9CFC56F2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6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Topic review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Determine best average to use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Identify spread of data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Review shapes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Survey issues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Outliers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64100D-1649-89C6-C56C-6929193822EE}"/>
              </a:ext>
            </a:extLst>
          </p:cNvPr>
          <p:cNvSpPr txBox="1"/>
          <p:nvPr/>
        </p:nvSpPr>
        <p:spPr>
          <a:xfrm>
            <a:off x="7156580" y="653143"/>
            <a:ext cx="441337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calculators.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focus: Empathy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- Accept and understand differences 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5103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90AA-1ACC-9DA5-7A13-32760CFA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Name that shape! </a:t>
            </a:r>
            <a:endParaRPr lang="en-AU" dirty="0"/>
          </a:p>
        </p:txBody>
      </p:sp>
      <p:pic>
        <p:nvPicPr>
          <p:cNvPr id="1026" name="Picture 2" descr="Quadrilaterals - Square, Rectangle, Rhombus, Trapezoid, Parallelogram">
            <a:extLst>
              <a:ext uri="{FF2B5EF4-FFF2-40B4-BE49-F238E27FC236}">
                <a16:creationId xmlns:a16="http://schemas.microsoft.com/office/drawing/2014/main" id="{18478504-FB1E-DB55-E29D-08CA49CDD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609" y="1557338"/>
            <a:ext cx="10808191" cy="228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00FDA2-270B-95FC-553C-AA60DCDCE2AC}"/>
              </a:ext>
            </a:extLst>
          </p:cNvPr>
          <p:cNvSpPr/>
          <p:nvPr/>
        </p:nvSpPr>
        <p:spPr>
          <a:xfrm>
            <a:off x="452761" y="3036163"/>
            <a:ext cx="11193630" cy="9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33F30-6760-FDC6-BD23-0D3223FFAB10}"/>
              </a:ext>
            </a:extLst>
          </p:cNvPr>
          <p:cNvSpPr/>
          <p:nvPr/>
        </p:nvSpPr>
        <p:spPr>
          <a:xfrm>
            <a:off x="512313" y="2505214"/>
            <a:ext cx="11193630" cy="9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58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2142-EBCB-3863-8825-9399CCA4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90850" cy="1325563"/>
          </a:xfrm>
        </p:spPr>
        <p:txBody>
          <a:bodyPr/>
          <a:lstStyle/>
          <a:p>
            <a:pPr algn="ctr"/>
            <a:r>
              <a:rPr lang="en-US" dirty="0"/>
              <a:t>What’s the difference? 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BF12CC-05F1-099B-AE45-06561D2D3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5115" y="849482"/>
            <a:ext cx="8890709" cy="56433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FF7A67-0877-0F9A-164C-D8D3FC409C0F}"/>
              </a:ext>
            </a:extLst>
          </p:cNvPr>
          <p:cNvSpPr/>
          <p:nvPr/>
        </p:nvSpPr>
        <p:spPr>
          <a:xfrm>
            <a:off x="3518610" y="3465074"/>
            <a:ext cx="8578140" cy="3392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5F6C7BD-17CB-02EF-EC20-7DAAC33F837A}"/>
                  </a:ext>
                </a:extLst>
              </p14:cNvPr>
              <p14:cNvContentPartPr/>
              <p14:nvPr/>
            </p14:nvContentPartPr>
            <p14:xfrm>
              <a:off x="5915793" y="1784066"/>
              <a:ext cx="15120" cy="150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5F6C7BD-17CB-02EF-EC20-7DAAC33F83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7793" y="1766066"/>
                <a:ext cx="507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B73DF9-1475-1F05-78C4-6202AEB55BB5}"/>
                  </a:ext>
                </a:extLst>
              </p14:cNvPr>
              <p14:cNvContentPartPr/>
              <p14:nvPr/>
            </p14:nvContentPartPr>
            <p14:xfrm>
              <a:off x="6231873" y="2635826"/>
              <a:ext cx="159120" cy="18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B73DF9-1475-1F05-78C4-6202AEB55BB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3873" y="2618186"/>
                <a:ext cx="1947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1CAFCC4-882D-2EA7-3A4E-EEE1FD562FB4}"/>
                  </a:ext>
                </a:extLst>
              </p14:cNvPr>
              <p14:cNvContentPartPr/>
              <p14:nvPr/>
            </p14:nvContentPartPr>
            <p14:xfrm>
              <a:off x="4784673" y="3319826"/>
              <a:ext cx="18720" cy="159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1CAFCC4-882D-2EA7-3A4E-EEE1FD562F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67033" y="3302186"/>
                <a:ext cx="543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2D8CEE2-19FF-21EB-974C-26F144B6BA36}"/>
                  </a:ext>
                </a:extLst>
              </p14:cNvPr>
              <p14:cNvContentPartPr/>
              <p14:nvPr/>
            </p14:nvContentPartPr>
            <p14:xfrm>
              <a:off x="4274913" y="2600186"/>
              <a:ext cx="225720" cy="18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2D8CEE2-19FF-21EB-974C-26F144B6BA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57273" y="2582546"/>
                <a:ext cx="261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4E01FA9-5A74-6A6E-F534-C4F9D05A0C29}"/>
                  </a:ext>
                </a:extLst>
              </p14:cNvPr>
              <p14:cNvContentPartPr/>
              <p14:nvPr/>
            </p14:nvContentPartPr>
            <p14:xfrm>
              <a:off x="10474833" y="1792706"/>
              <a:ext cx="27360" cy="176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4E01FA9-5A74-6A6E-F534-C4F9D05A0C2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57193" y="1775066"/>
                <a:ext cx="630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3388593-1E76-84FA-CCE3-5CBF829E3FC9}"/>
                  </a:ext>
                </a:extLst>
              </p14:cNvPr>
              <p14:cNvContentPartPr/>
              <p14:nvPr/>
            </p14:nvContentPartPr>
            <p14:xfrm>
              <a:off x="9613713" y="3293546"/>
              <a:ext cx="9720" cy="150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3388593-1E76-84FA-CCE3-5CBF829E3FC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95713" y="3275546"/>
                <a:ext cx="453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ECA6F0C-CFB7-2EC5-14E9-24214BBE3CB0}"/>
                  </a:ext>
                </a:extLst>
              </p14:cNvPr>
              <p14:cNvContentPartPr/>
              <p14:nvPr/>
            </p14:nvContentPartPr>
            <p14:xfrm>
              <a:off x="11416233" y="2564906"/>
              <a:ext cx="230400" cy="10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ECA6F0C-CFB7-2EC5-14E9-24214BBE3C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398233" y="2546906"/>
                <a:ext cx="2660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1FC8F2A-B70C-7BBE-88E9-340A1BCA2FED}"/>
                  </a:ext>
                </a:extLst>
              </p14:cNvPr>
              <p14:cNvContentPartPr/>
              <p14:nvPr/>
            </p14:nvContentPartPr>
            <p14:xfrm>
              <a:off x="11478153" y="2458706"/>
              <a:ext cx="230400" cy="17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1FC8F2A-B70C-7BBE-88E9-340A1BCA2FE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460513" y="2441066"/>
                <a:ext cx="2660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ADBA65C1-9F1B-F3BF-9A51-85F46F6B51C3}"/>
              </a:ext>
            </a:extLst>
          </p:cNvPr>
          <p:cNvGrpSpPr/>
          <p:nvPr/>
        </p:nvGrpSpPr>
        <p:grpSpPr>
          <a:xfrm>
            <a:off x="8575473" y="2343506"/>
            <a:ext cx="298440" cy="167400"/>
            <a:chOff x="8575473" y="2343506"/>
            <a:chExt cx="298440" cy="1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EF0E78-E268-AB5D-BE1F-FBFA2778F1B9}"/>
                    </a:ext>
                  </a:extLst>
                </p14:cNvPr>
                <p14:cNvContentPartPr/>
                <p14:nvPr/>
              </p14:nvContentPartPr>
              <p14:xfrm>
                <a:off x="8575473" y="2467706"/>
                <a:ext cx="256680" cy="43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EF0E78-E268-AB5D-BE1F-FBFA2778F1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57833" y="2449706"/>
                  <a:ext cx="2923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69FC88-D037-30A1-DE69-635DF53500F3}"/>
                    </a:ext>
                  </a:extLst>
                </p14:cNvPr>
                <p14:cNvContentPartPr/>
                <p14:nvPr/>
              </p14:nvContentPartPr>
              <p14:xfrm>
                <a:off x="8637753" y="2343506"/>
                <a:ext cx="236160" cy="88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69FC88-D037-30A1-DE69-635DF53500F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19753" y="2325506"/>
                  <a:ext cx="271800" cy="12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237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Which graph?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692696"/>
            <a:ext cx="9144000" cy="6165304"/>
          </a:xfrm>
        </p:spPr>
        <p:txBody>
          <a:bodyPr>
            <a:normAutofit/>
          </a:bodyPr>
          <a:lstStyle/>
          <a:p>
            <a:r>
              <a:rPr lang="en-AU" sz="2800" dirty="0"/>
              <a:t>Where there is a </a:t>
            </a:r>
            <a:r>
              <a:rPr lang="en-AU" sz="2800" u="sng" dirty="0">
                <a:solidFill>
                  <a:srgbClr val="00B0F0"/>
                </a:solidFill>
              </a:rPr>
              <a:t>large range </a:t>
            </a:r>
            <a:r>
              <a:rPr lang="en-AU" sz="2800" dirty="0"/>
              <a:t>and </a:t>
            </a:r>
            <a:r>
              <a:rPr lang="en-AU" sz="2800" u="sng" dirty="0">
                <a:solidFill>
                  <a:srgbClr val="00B0F0"/>
                </a:solidFill>
              </a:rPr>
              <a:t>few repeats</a:t>
            </a:r>
            <a:r>
              <a:rPr lang="en-AU" sz="2800" dirty="0"/>
              <a:t>, a Stem and Leaf is more informative.</a:t>
            </a:r>
          </a:p>
          <a:p>
            <a:endParaRPr lang="en-AU" sz="2800" dirty="0"/>
          </a:p>
          <a:p>
            <a:r>
              <a:rPr lang="en-AU" sz="2800" dirty="0"/>
              <a:t>When the leaves contain </a:t>
            </a:r>
            <a:r>
              <a:rPr lang="en-AU" sz="2800" u="sng" dirty="0">
                <a:solidFill>
                  <a:srgbClr val="00B0F0"/>
                </a:solidFill>
              </a:rPr>
              <a:t>one digit each</a:t>
            </a:r>
            <a:r>
              <a:rPr lang="en-AU" sz="2800" dirty="0"/>
              <a:t>, are </a:t>
            </a:r>
            <a:r>
              <a:rPr lang="en-AU" sz="2800" u="sng" dirty="0">
                <a:solidFill>
                  <a:srgbClr val="00B0F0"/>
                </a:solidFill>
              </a:rPr>
              <a:t>put in order</a:t>
            </a:r>
            <a:r>
              <a:rPr lang="en-AU" sz="2800" dirty="0"/>
              <a:t>, are </a:t>
            </a:r>
            <a:r>
              <a:rPr lang="en-AU" sz="2800" u="sng" dirty="0">
                <a:solidFill>
                  <a:srgbClr val="00B0F0"/>
                </a:solidFill>
              </a:rPr>
              <a:t>lined up in a grid</a:t>
            </a:r>
            <a:r>
              <a:rPr lang="en-AU" sz="2800" dirty="0"/>
              <a:t>, and </a:t>
            </a:r>
            <a:r>
              <a:rPr lang="en-AU" sz="2800" u="sng" dirty="0">
                <a:solidFill>
                  <a:srgbClr val="00B0F0"/>
                </a:solidFill>
              </a:rPr>
              <a:t>there is a key</a:t>
            </a:r>
            <a:r>
              <a:rPr lang="en-AU" sz="2800" dirty="0"/>
              <a:t>, it is a Stem and Leaf diagram.</a:t>
            </a:r>
          </a:p>
          <a:p>
            <a:endParaRPr lang="en-AU" sz="2800" dirty="0"/>
          </a:p>
          <a:p>
            <a:r>
              <a:rPr lang="en-AU" sz="2800" dirty="0"/>
              <a:t>Where there is a </a:t>
            </a:r>
            <a:r>
              <a:rPr lang="en-AU" sz="2800" u="sng" dirty="0">
                <a:solidFill>
                  <a:srgbClr val="00B0F0"/>
                </a:solidFill>
              </a:rPr>
              <a:t>small range</a:t>
            </a:r>
            <a:r>
              <a:rPr lang="en-AU" sz="2800" dirty="0">
                <a:solidFill>
                  <a:srgbClr val="00B0F0"/>
                </a:solidFill>
              </a:rPr>
              <a:t> </a:t>
            </a:r>
            <a:r>
              <a:rPr lang="en-AU" sz="2800" dirty="0"/>
              <a:t>and </a:t>
            </a:r>
            <a:r>
              <a:rPr lang="en-AU" sz="2800" u="sng" dirty="0">
                <a:solidFill>
                  <a:srgbClr val="00B0F0"/>
                </a:solidFill>
              </a:rPr>
              <a:t>lots of repeats</a:t>
            </a:r>
            <a:r>
              <a:rPr lang="en-AU" sz="2800" dirty="0"/>
              <a:t>, a Dot Plot is more informative. </a:t>
            </a:r>
          </a:p>
          <a:p>
            <a:endParaRPr lang="en-AU" sz="2800" dirty="0"/>
          </a:p>
          <a:p>
            <a:r>
              <a:rPr lang="en-AU" sz="2800" dirty="0"/>
              <a:t>When there is a scale at the bottom, and </a:t>
            </a:r>
            <a:r>
              <a:rPr lang="en-AU" sz="2800" u="sng" dirty="0">
                <a:solidFill>
                  <a:srgbClr val="00B0F0"/>
                </a:solidFill>
              </a:rPr>
              <a:t>the dots are lined up</a:t>
            </a:r>
            <a:r>
              <a:rPr lang="en-AU" sz="2800" dirty="0"/>
              <a:t> on the grid, it is a Dot Plot.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97"/>
          <a:stretch/>
        </p:blipFill>
        <p:spPr bwMode="auto">
          <a:xfrm>
            <a:off x="6521615" y="5971106"/>
            <a:ext cx="2078014" cy="91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/>
          <p:cNvGrpSpPr/>
          <p:nvPr/>
        </p:nvGrpSpPr>
        <p:grpSpPr>
          <a:xfrm>
            <a:off x="6312024" y="3151452"/>
            <a:ext cx="3672408" cy="915649"/>
            <a:chOff x="4788024" y="3151451"/>
            <a:chExt cx="3672408" cy="915649"/>
          </a:xfrm>
        </p:grpSpPr>
        <p:pic>
          <p:nvPicPr>
            <p:cNvPr id="9" name="Picture 6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7CB"/>
                </a:clrFrom>
                <a:clrTo>
                  <a:srgbClr val="FFF7C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06" t="68054" r="-7481" b="3060"/>
            <a:stretch/>
          </p:blipFill>
          <p:spPr bwMode="auto">
            <a:xfrm>
              <a:off x="4788024" y="3151451"/>
              <a:ext cx="3672408" cy="9156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pic>
          <p:nvPicPr>
            <p:cNvPr id="10" name="Picture 6"/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7CB"/>
                </a:clrFrom>
                <a:clrTo>
                  <a:srgbClr val="FFF7C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24" t="78252" r="67155" b="13334"/>
            <a:stretch/>
          </p:blipFill>
          <p:spPr bwMode="auto">
            <a:xfrm>
              <a:off x="7668344" y="3169835"/>
              <a:ext cx="510540" cy="266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7121078" y="3158987"/>
              <a:ext cx="547266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200" dirty="0">
                  <a:solidFill>
                    <a:prstClr val="black"/>
                  </a:solidFill>
                  <a:latin typeface="Calibri"/>
                </a:rPr>
                <a:t>Scale: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07090" y="3432942"/>
              <a:ext cx="91563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AU" sz="1200" dirty="0">
                  <a:solidFill>
                    <a:prstClr val="black"/>
                  </a:solidFill>
                  <a:latin typeface="Calibri"/>
                </a:rPr>
                <a:t>means 23m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461495" y="1655279"/>
            <a:ext cx="645721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10, 36, 23, 31, 25, 33, 16, 34, 27, 34, 37, 36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0348" y="4908392"/>
            <a:ext cx="599074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25, 28, 23, 24, 23, 24, 27, 26, 25, 25, 22, 22, 20, 29, 25, 26, 27,</a:t>
            </a:r>
          </a:p>
          <a:p>
            <a:r>
              <a:rPr lang="en-AU" dirty="0">
                <a:solidFill>
                  <a:prstClr val="black"/>
                </a:solidFill>
                <a:latin typeface="Calibri"/>
              </a:rPr>
              <a:t>26, 28, 21, 25, 25, 27, 21, 25, 27, 26, 27, 22, 26, 23, 20, 22, 28</a:t>
            </a:r>
          </a:p>
        </p:txBody>
      </p:sp>
    </p:spTree>
    <p:extLst>
      <p:ext uri="{BB962C8B-B14F-4D97-AF65-F5344CB8AC3E}">
        <p14:creationId xmlns:p14="http://schemas.microsoft.com/office/powerpoint/2010/main" val="226030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5D3A1-88C8-1A83-80B0-E6BF9576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Which graph?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CC0CD-56A9-1DFD-0D0F-6D15D62E7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4000" b="1" dirty="0"/>
              <a:t>Where there is a </a:t>
            </a:r>
            <a:r>
              <a:rPr lang="en-AU" sz="4000" b="1" u="sng" dirty="0"/>
              <a:t>large range </a:t>
            </a:r>
            <a:r>
              <a:rPr lang="en-AU" sz="4000" b="1" dirty="0"/>
              <a:t>and </a:t>
            </a:r>
            <a:r>
              <a:rPr lang="en-AU" sz="4000" b="1" u="sng" dirty="0"/>
              <a:t>few repeats </a:t>
            </a:r>
          </a:p>
          <a:p>
            <a:pPr marL="0" indent="0" algn="ctr">
              <a:buNone/>
            </a:pPr>
            <a:r>
              <a:rPr lang="en-AU" sz="4000" b="1" dirty="0"/>
              <a:t>A Stem and Leaf is more informative.</a:t>
            </a:r>
          </a:p>
          <a:p>
            <a:pPr marL="0" indent="0" algn="ctr">
              <a:buNone/>
            </a:pPr>
            <a:endParaRPr lang="en-AU" sz="4000" b="1" dirty="0"/>
          </a:p>
          <a:p>
            <a:pPr marL="0" indent="0" algn="ctr">
              <a:buNone/>
            </a:pPr>
            <a:r>
              <a:rPr lang="en-AU" sz="4000" b="1" dirty="0"/>
              <a:t>Where there is a </a:t>
            </a:r>
            <a:r>
              <a:rPr lang="en-AU" sz="4000" b="1" u="sng" dirty="0"/>
              <a:t>small range</a:t>
            </a:r>
            <a:r>
              <a:rPr lang="en-AU" sz="4000" b="1" dirty="0"/>
              <a:t> and </a:t>
            </a:r>
            <a:r>
              <a:rPr lang="en-AU" sz="4000" b="1" u="sng" dirty="0"/>
              <a:t>lots of repeats</a:t>
            </a:r>
            <a:r>
              <a:rPr lang="en-AU" sz="4000" b="1" dirty="0"/>
              <a:t>, </a:t>
            </a:r>
          </a:p>
          <a:p>
            <a:pPr marL="0" indent="0" algn="ctr">
              <a:buNone/>
            </a:pPr>
            <a:r>
              <a:rPr lang="en-AU" sz="4000" b="1" dirty="0"/>
              <a:t>A Dot Plot is more informative. </a:t>
            </a:r>
          </a:p>
          <a:p>
            <a:pPr marL="0" indent="0" algn="ctr">
              <a:buNone/>
            </a:pPr>
            <a:endParaRPr lang="en-AU" sz="4000" b="1" dirty="0"/>
          </a:p>
          <a:p>
            <a:pPr marL="0" indent="0" algn="ctr">
              <a:buNone/>
            </a:pPr>
            <a:endParaRPr lang="en-AU" sz="4000" b="1" dirty="0"/>
          </a:p>
        </p:txBody>
      </p:sp>
    </p:spTree>
    <p:extLst>
      <p:ext uri="{BB962C8B-B14F-4D97-AF65-F5344CB8AC3E}">
        <p14:creationId xmlns:p14="http://schemas.microsoft.com/office/powerpoint/2010/main" val="409478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616" y="0"/>
            <a:ext cx="8028384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Dot Plot or Stem-and-Leaf?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67" b="89404"/>
          <a:stretch/>
        </p:blipFill>
        <p:spPr bwMode="auto">
          <a:xfrm>
            <a:off x="1775206" y="2295503"/>
            <a:ext cx="8403536" cy="446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5" r="28763" b="70199"/>
          <a:stretch/>
        </p:blipFill>
        <p:spPr bwMode="auto">
          <a:xfrm>
            <a:off x="1469521" y="5103734"/>
            <a:ext cx="8932261" cy="44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971931" y="3541550"/>
            <a:ext cx="9806183" cy="319406"/>
            <a:chOff x="819150" y="2940050"/>
            <a:chExt cx="15011400" cy="48895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819150" y="2940050"/>
              <a:ext cx="750570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8324850" y="2940050"/>
              <a:ext cx="750570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1524000" y="1212741"/>
            <a:ext cx="8877782" cy="319406"/>
            <a:chOff x="0" y="572294"/>
            <a:chExt cx="15355144" cy="552450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/>
          </p:blipFill>
          <p:spPr bwMode="auto">
            <a:xfrm>
              <a:off x="0" y="572294"/>
              <a:ext cx="782955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6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/>
            <a:stretch/>
          </p:blipFill>
          <p:spPr bwMode="auto">
            <a:xfrm>
              <a:off x="7525594" y="572294"/>
              <a:ext cx="782955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TextBox 12"/>
          <p:cNvSpPr txBox="1"/>
          <p:nvPr/>
        </p:nvSpPr>
        <p:spPr>
          <a:xfrm>
            <a:off x="1609403" y="10025"/>
            <a:ext cx="2185278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b="1" dirty="0"/>
              <a:t>How many repeats?</a:t>
            </a:r>
          </a:p>
          <a:p>
            <a:r>
              <a:rPr lang="en-AU" b="1" dirty="0"/>
              <a:t>Small or large range?</a:t>
            </a:r>
          </a:p>
        </p:txBody>
      </p:sp>
    </p:spTree>
    <p:extLst>
      <p:ext uri="{BB962C8B-B14F-4D97-AF65-F5344CB8AC3E}">
        <p14:creationId xmlns:p14="http://schemas.microsoft.com/office/powerpoint/2010/main" val="164729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9442-7710-7C44-3DEE-2B36794B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Census Vs. Sample survey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F4AE-5700-EBE7-017F-9EBE4DC68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A census records data from </a:t>
            </a:r>
            <a:r>
              <a:rPr lang="en-US" sz="3200" b="1" dirty="0">
                <a:solidFill>
                  <a:srgbClr val="FF0000"/>
                </a:solidFill>
              </a:rPr>
              <a:t>everyone</a:t>
            </a:r>
            <a:r>
              <a:rPr lang="en-US" sz="3200" dirty="0">
                <a:solidFill>
                  <a:srgbClr val="FF0000"/>
                </a:solidFill>
              </a:rPr>
              <a:t> in a target population, a sample is a </a:t>
            </a:r>
            <a:r>
              <a:rPr lang="en-US" sz="3200" b="1" dirty="0">
                <a:solidFill>
                  <a:srgbClr val="FF0000"/>
                </a:solidFill>
              </a:rPr>
              <a:t>small part </a:t>
            </a:r>
            <a:r>
              <a:rPr lang="en-US" sz="3200" dirty="0">
                <a:solidFill>
                  <a:srgbClr val="FF0000"/>
                </a:solidFill>
              </a:rPr>
              <a:t>of the population. 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A census records data from </a:t>
            </a:r>
            <a:r>
              <a:rPr lang="en-US" sz="3200" b="1" dirty="0">
                <a:solidFill>
                  <a:srgbClr val="FF0000"/>
                </a:solidFill>
              </a:rPr>
              <a:t>_______</a:t>
            </a:r>
            <a:r>
              <a:rPr lang="en-US" sz="3200" dirty="0">
                <a:solidFill>
                  <a:srgbClr val="FF0000"/>
                </a:solidFill>
              </a:rPr>
              <a:t> in a target population, a sample is a </a:t>
            </a:r>
            <a:r>
              <a:rPr lang="en-US" sz="3200" b="1" dirty="0">
                <a:solidFill>
                  <a:srgbClr val="FF0000"/>
                </a:solidFill>
              </a:rPr>
              <a:t>small part </a:t>
            </a:r>
            <a:r>
              <a:rPr lang="en-US" sz="3200" dirty="0">
                <a:solidFill>
                  <a:srgbClr val="FF0000"/>
                </a:solidFill>
              </a:rPr>
              <a:t>of the population. </a:t>
            </a:r>
            <a:endParaRPr lang="en-AU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A census records data from </a:t>
            </a:r>
            <a:r>
              <a:rPr lang="en-US" sz="3200" b="1" dirty="0">
                <a:solidFill>
                  <a:srgbClr val="FF0000"/>
                </a:solidFill>
              </a:rPr>
              <a:t>_______</a:t>
            </a:r>
            <a:r>
              <a:rPr lang="en-US" sz="3200" dirty="0">
                <a:solidFill>
                  <a:srgbClr val="FF0000"/>
                </a:solidFill>
              </a:rPr>
              <a:t> in a target population, a sample is a </a:t>
            </a:r>
            <a:r>
              <a:rPr lang="en-US" sz="3200" b="1" dirty="0">
                <a:solidFill>
                  <a:srgbClr val="FF0000"/>
                </a:solidFill>
              </a:rPr>
              <a:t>________ </a:t>
            </a:r>
            <a:r>
              <a:rPr lang="en-US" sz="3200" dirty="0">
                <a:solidFill>
                  <a:srgbClr val="FF0000"/>
                </a:solidFill>
              </a:rPr>
              <a:t>of the population. </a:t>
            </a:r>
            <a:endParaRPr lang="en-AU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55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841F6-9E7E-92A5-1075-D2B20454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Issues with census and samples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B98F3-B03C-8218-6681-39A3425F6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876549"/>
            <a:ext cx="5181600" cy="330041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Census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0D05B4-F8CD-7751-E780-B3D87F85F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76549"/>
            <a:ext cx="5181600" cy="330041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Sample survey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409DB-C65D-340C-2545-6983103A737A}"/>
              </a:ext>
            </a:extLst>
          </p:cNvPr>
          <p:cNvSpPr txBox="1"/>
          <p:nvPr/>
        </p:nvSpPr>
        <p:spPr>
          <a:xfrm>
            <a:off x="1171852" y="2095131"/>
            <a:ext cx="9916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We want to measure the height of every student in the school… what are some issues we might come across? </a:t>
            </a:r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2714846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F08C97-F501-89AA-7BDB-66945CBA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outliers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BBA0B4-4AC7-E501-2CB1-41582F530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an outlier?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averages does an outlier affect?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there is an outlier, what is more accurate, mean or median?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92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FD266-0F61-3818-95B6-E0D26282F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2622"/>
          </a:xfrm>
        </p:spPr>
        <p:txBody>
          <a:bodyPr>
            <a:normAutofit fontScale="90000"/>
          </a:bodyPr>
          <a:lstStyle/>
          <a:p>
            <a:r>
              <a:rPr lang="en-US" dirty="0"/>
              <a:t>In pairs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CFB43-3CA1-A0B9-7476-6CA1F08E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5698"/>
            <a:ext cx="10515600" cy="5141265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Outlier </a:t>
            </a:r>
          </a:p>
          <a:p>
            <a:pPr marL="514350" indent="-514350">
              <a:buAutoNum type="arabicPeriod"/>
            </a:pPr>
            <a:r>
              <a:rPr lang="en-US" dirty="0"/>
              <a:t>Mean and median with (person A)</a:t>
            </a:r>
          </a:p>
          <a:p>
            <a:pPr marL="514350" indent="-514350">
              <a:buAutoNum type="arabicPeriod"/>
            </a:pPr>
            <a:r>
              <a:rPr lang="en-US" dirty="0"/>
              <a:t>Mean and median without (Person B) </a:t>
            </a:r>
          </a:p>
        </p:txBody>
      </p:sp>
      <p:pic>
        <p:nvPicPr>
          <p:cNvPr id="1026" name="Picture 2" descr="Comparing Dot Plots Visually">
            <a:extLst>
              <a:ext uri="{FF2B5EF4-FFF2-40B4-BE49-F238E27FC236}">
                <a16:creationId xmlns:a16="http://schemas.microsoft.com/office/drawing/2014/main" id="{EEC4818B-68B5-DE12-E3F8-612FE9FA3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615360"/>
            <a:ext cx="10582275" cy="349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7553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7898-CBA8-3D9D-B7FD-51F40C296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Spread of data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6341-A0B1-132F-E47E-BAC551EAD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Range of the data 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Small range (spread) </a:t>
            </a:r>
            <a:r>
              <a:rPr lang="en-US" dirty="0">
                <a:sym typeface="Wingdings" panose="05000000000000000000" pitchFamily="2" charset="2"/>
              </a:rPr>
              <a:t> more consistent </a:t>
            </a:r>
          </a:p>
          <a:p>
            <a:pPr>
              <a:buFontTx/>
              <a:buChar char="-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dirty="0">
                <a:sym typeface="Wingdings" panose="05000000000000000000" pitchFamily="2" charset="2"/>
              </a:rPr>
              <a:t>Large range (spread)  less consistent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2075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EF18-53D8-5636-4987-D9DDD5F8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has a higher spread?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D557A-1947-8491-2D74-0CD5E590F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EE12F-FC0F-6F1B-28F9-B5A48A59D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3" r="1801" b="2378"/>
          <a:stretch/>
        </p:blipFill>
        <p:spPr>
          <a:xfrm>
            <a:off x="603503" y="2638004"/>
            <a:ext cx="4483402" cy="3369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04E26C-01E3-6677-10EB-65858960AB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63" b="2877"/>
          <a:stretch/>
        </p:blipFill>
        <p:spPr>
          <a:xfrm>
            <a:off x="6096000" y="1982502"/>
            <a:ext cx="5122111" cy="42019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9822C5-1E3F-AC09-7436-2237FE13EDEE}"/>
              </a:ext>
            </a:extLst>
          </p:cNvPr>
          <p:cNvSpPr txBox="1"/>
          <p:nvPr/>
        </p:nvSpPr>
        <p:spPr>
          <a:xfrm>
            <a:off x="3559945" y="5488231"/>
            <a:ext cx="195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10 6 = 106 </a:t>
            </a:r>
            <a:endParaRPr lang="en-AU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F7BF3-7245-FA59-6972-27BF35F7DB6F}"/>
              </a:ext>
            </a:extLst>
          </p:cNvPr>
          <p:cNvSpPr txBox="1"/>
          <p:nvPr/>
        </p:nvSpPr>
        <p:spPr>
          <a:xfrm>
            <a:off x="9468557" y="5414963"/>
            <a:ext cx="1953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 2 = 42 </a:t>
            </a:r>
            <a:endParaRPr lang="en-AU" sz="2400" b="1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AE6C11-3F4F-3093-E9FB-5C8BD75F4F60}"/>
              </a:ext>
            </a:extLst>
          </p:cNvPr>
          <p:cNvCxnSpPr/>
          <p:nvPr/>
        </p:nvCxnSpPr>
        <p:spPr>
          <a:xfrm>
            <a:off x="3994952" y="5539665"/>
            <a:ext cx="0" cy="432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0F8035-04B4-E801-AC6C-C398DA395F04}"/>
              </a:ext>
            </a:extLst>
          </p:cNvPr>
          <p:cNvCxnSpPr/>
          <p:nvPr/>
        </p:nvCxnSpPr>
        <p:spPr>
          <a:xfrm>
            <a:off x="9758039" y="5444049"/>
            <a:ext cx="0" cy="4325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96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47018-7AEA-CDA0-574A-33DE83618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check – can you….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40A6-124D-BB8E-2D48-E62DB2E7B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Calculate mean, mode, median and range? </a:t>
            </a:r>
          </a:p>
          <a:p>
            <a:pPr>
              <a:buFontTx/>
              <a:buChar char="-"/>
            </a:pPr>
            <a:r>
              <a:rPr lang="en-US" dirty="0"/>
              <a:t>Identify outliers and say what they do? </a:t>
            </a:r>
          </a:p>
          <a:p>
            <a:pPr>
              <a:buFontTx/>
              <a:buChar char="-"/>
            </a:pPr>
            <a:r>
              <a:rPr lang="en-US" dirty="0"/>
              <a:t>Know how to make a dot plot and a stem and leaf? </a:t>
            </a:r>
          </a:p>
          <a:p>
            <a:pPr>
              <a:buFontTx/>
              <a:buChar char="-"/>
            </a:pPr>
            <a:r>
              <a:rPr lang="en-US" dirty="0"/>
              <a:t>Know when do use these? </a:t>
            </a:r>
          </a:p>
          <a:p>
            <a:pPr>
              <a:buFontTx/>
              <a:buChar char="-"/>
            </a:pPr>
            <a:r>
              <a:rPr lang="en-US" dirty="0"/>
              <a:t>Identify errors on a graph?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6B155-FFB3-B8C0-D0C2-0FD83FFAEACC}"/>
              </a:ext>
            </a:extLst>
          </p:cNvPr>
          <p:cNvSpPr txBox="1"/>
          <p:nvPr/>
        </p:nvSpPr>
        <p:spPr>
          <a:xfrm>
            <a:off x="6372808" y="4002833"/>
            <a:ext cx="46279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Page 315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Questions 7 – 14</a:t>
            </a:r>
          </a:p>
          <a:p>
            <a:endParaRPr lang="en-US" sz="2400" b="1" dirty="0">
              <a:highlight>
                <a:srgbClr val="FFFF00"/>
              </a:highlight>
            </a:endParaRPr>
          </a:p>
          <a:p>
            <a:r>
              <a:rPr lang="en-US" sz="2400" b="1" dirty="0" err="1">
                <a:highlight>
                  <a:srgbClr val="FFFF00"/>
                </a:highlight>
              </a:rPr>
              <a:t>Maths</a:t>
            </a:r>
            <a:r>
              <a:rPr lang="en-US" sz="2400" b="1" dirty="0">
                <a:highlight>
                  <a:srgbClr val="FFFF00"/>
                </a:highlight>
              </a:rPr>
              <a:t> 4 Everyone.com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Ref: G621. 1E1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9749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541</Words>
  <Application>Microsoft Office PowerPoint</Application>
  <PresentationFormat>Widescreen</PresentationFormat>
  <Paragraphs>80</Paragraphs>
  <Slides>13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1_Office Theme</vt:lpstr>
      <vt:lpstr>Lesson objective </vt:lpstr>
      <vt:lpstr>Name that shape! </vt:lpstr>
      <vt:lpstr>What’s the difference?  </vt:lpstr>
      <vt:lpstr>Which graph?</vt:lpstr>
      <vt:lpstr>Which graph?</vt:lpstr>
      <vt:lpstr>Dot Plot or Stem-and-Leaf?</vt:lpstr>
      <vt:lpstr>Census Vs. Sample survey </vt:lpstr>
      <vt:lpstr>Issues with census and samples </vt:lpstr>
      <vt:lpstr>Review: outliers </vt:lpstr>
      <vt:lpstr>In pairs</vt:lpstr>
      <vt:lpstr>Spread of data </vt:lpstr>
      <vt:lpstr>Which has a higher spread? </vt:lpstr>
      <vt:lpstr>Skills check – can you….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8</cp:revision>
  <dcterms:created xsi:type="dcterms:W3CDTF">2022-11-30T04:30:13Z</dcterms:created>
  <dcterms:modified xsi:type="dcterms:W3CDTF">2023-11-14T03:33:48Z</dcterms:modified>
</cp:coreProperties>
</file>
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</p:sldMasterIdLst>
  <p:notesMasterIdLst>
    <p:notesMasterId r:id="rId29"/>
  </p:notesMasterIdLst>
  <p:sldIdLst>
    <p:sldId id="285" r:id="rId4"/>
    <p:sldId id="287" r:id="rId5"/>
    <p:sldId id="286" r:id="rId6"/>
    <p:sldId id="288" r:id="rId7"/>
    <p:sldId id="289" r:id="rId8"/>
    <p:sldId id="291" r:id="rId9"/>
    <p:sldId id="257" r:id="rId10"/>
    <p:sldId id="256" r:id="rId11"/>
    <p:sldId id="258" r:id="rId12"/>
    <p:sldId id="261" r:id="rId13"/>
    <p:sldId id="259" r:id="rId14"/>
    <p:sldId id="290" r:id="rId15"/>
    <p:sldId id="262" r:id="rId16"/>
    <p:sldId id="292" r:id="rId17"/>
    <p:sldId id="260" r:id="rId18"/>
    <p:sldId id="263" r:id="rId19"/>
    <p:sldId id="264" r:id="rId20"/>
    <p:sldId id="281" r:id="rId21"/>
    <p:sldId id="293" r:id="rId22"/>
    <p:sldId id="282" r:id="rId23"/>
    <p:sldId id="294" r:id="rId24"/>
    <p:sldId id="283" r:id="rId25"/>
    <p:sldId id="284" r:id="rId26"/>
    <p:sldId id="279" r:id="rId27"/>
    <p:sldId id="280" r:id="rId28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00"/>
    <a:srgbClr val="FFFF99"/>
    <a:srgbClr val="A6FCA8"/>
    <a:srgbClr val="FACAF1"/>
    <a:srgbClr val="F8AEE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9" autoAdjust="0"/>
    <p:restoredTop sz="94660"/>
  </p:normalViewPr>
  <p:slideViewPr>
    <p:cSldViewPr>
      <p:cViewPr varScale="1">
        <p:scale>
          <a:sx n="78" d="100"/>
          <a:sy n="78" d="100"/>
        </p:scale>
        <p:origin x="152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8F8C4-0A8C-47CD-9534-0857F7D24349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E7EBD-54C4-42DA-B4A9-7140151535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92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E7EBD-54C4-42DA-B4A9-7140151535D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19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E7EBD-54C4-42DA-B4A9-7140151535D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47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4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514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1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57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68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51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8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29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47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976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6921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C440A-F93C-4058-A030-BFEA6FD9A1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135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07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393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833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219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983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008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746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662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716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257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9837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CF03-9EBE-43B3-B73B-DCB794C23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26E94-C0CE-4BE1-BC92-7113DF60D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3C61-9719-4DC8-8FD2-A55F49C6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5A78D-1789-4DA2-809A-DE5DF37C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CF719-F8D3-47ED-8593-7A66D004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970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E792-C502-48A3-B2CB-1E917F9F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2053-66BC-4FEF-9E2D-EC7D0B06B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B062E-7E07-4A66-9892-59AA55A0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40F63-07A9-49DF-9AD9-4C848F74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0A8A-2359-422B-9A9B-5CE0A926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2236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FBAD-9C25-44F9-B084-ECFE06CF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9E882-8480-4C09-AC21-7C8F70EF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2396C-8134-45CF-8DF4-CFA40170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8322-D400-4F81-8736-C7C128D0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1341-5910-4926-9C12-E8865D51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3653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834D-C98C-4C5C-85E6-AB958902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AA2A-05FD-40B8-958B-936B6A1C1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D76FC-F36A-4F69-9F17-19F1583A7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DC4E2-E675-4139-A1EA-7317C2C2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1B99-2951-4338-AA8A-BDB861DE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EB83-E853-4C5A-9DBA-BA800118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2718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3F31-AA76-451A-8230-B1F04C4E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FC2D8-7573-4091-B41A-F72E6010D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9ABF6-B383-40C6-8ABA-3913F4867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265B6-84A6-4DF0-952A-09BA83D8D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3CAA1-D289-4120-AD5F-B818E758B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3C220-EF27-455B-B0E2-D149BACB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0FFB7-9F4B-451D-A192-6BEE3A43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3AE4A-78E1-4AD2-8069-3056C92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2022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2811-3468-4373-86DD-C727AAE7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D98B7-7174-45AB-9C67-027EF9BE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D3280-1801-400B-9F75-7B070208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B3866-8BB6-4EBD-8083-4A20FC8B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2787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4F027-F93C-40BF-8F2E-A725C005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0B27E-7380-4EF7-ACCA-ACC81D48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0AEF3-DC0B-4049-B5B7-F7589FD4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1704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8615-4167-45B7-ABF2-80A258F4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A440-673D-463F-812C-A2861060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4E9BF-B39C-413A-8AFE-65B60A817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27963-7F7E-4C6F-939C-4270A705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DB9C-DE1F-4FAC-BAF2-9AF86C63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F5F91-B5B1-4A33-B191-DA78894A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6044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2DA8-55DA-4B77-A816-38219985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ED18E-64B0-4156-8ECE-B817A4D76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41479-90CB-4085-8395-4B68D3DE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8EF33-9B69-428C-812A-91B10113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59E6E-B818-4D97-92E4-B43E917D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115B-75D1-496E-82A5-D084E73A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6734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2DF2-96C8-4852-922D-940EFDE0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46D20-5D06-4007-B69C-2E6E0FAF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21B14-3F7F-4070-B95D-0F717E5F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DACB-07ED-4F40-8E67-38F74F41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EE59-B096-43C8-A4AE-1714C091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382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656A3-75E5-4F45-A7CF-7DF021663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F0937-8923-4CB3-A21B-942E94EDA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4DD3A-6802-4DAF-B757-07E372EF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CF47C-1AA7-411E-9CE8-21146824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21527-75A1-4C35-89F1-6C6083D7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74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E0617-F71D-47F5-914F-56DA3B726BCB}" type="datetimeFigureOut">
              <a:rPr lang="en-GB" smtClean="0"/>
              <a:t>11/10/2023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EA764-27DB-4879-9ACD-7B2EE92641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93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56469-9FFC-4F87-A3BF-9AC6D3FF6A8D}" type="datetimeFigureOut">
              <a:rPr lang="en-GB" smtClean="0"/>
              <a:t>11/10/2023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86332-820B-4DDB-86BC-B18F51A404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37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80DEC-9E46-4285-A2FC-E3B9916D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7B059-4EED-4827-9BBC-0D7E758C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5C7CA-018B-4DE4-8C66-55F0AB95D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C2DE-702F-4605-9A48-8110AC3724BD}" type="datetimeFigureOut">
              <a:rPr lang="en-AU" smtClean="0"/>
              <a:t>11/10/2023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1878-F310-4340-B1A3-0075E2EA5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4918-2F11-4BBE-A365-C9A867E0F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7BEEA-6F37-4846-9BA2-7846BAFF7E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65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2.wav"/><Relationship Id="rId7" Type="http://schemas.openxmlformats.org/officeDocument/2006/relationships/image" Target="../media/image4.gif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0" Type="http://schemas.openxmlformats.org/officeDocument/2006/relationships/image" Target="../media/image7.jpeg"/><Relationship Id="rId4" Type="http://schemas.openxmlformats.org/officeDocument/2006/relationships/audio" Target="../media/audio3.wav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jpeg"/><Relationship Id="rId4" Type="http://schemas.openxmlformats.org/officeDocument/2006/relationships/image" Target="../media/image12.png"/><Relationship Id="rId9" Type="http://schemas.openxmlformats.org/officeDocument/2006/relationships/hyperlink" Target="http://www.shutterstock.com/pic-60726190/stock-photo-country-garden-with-wooden-fence-and-log-cabin-in-background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jpeg"/><Relationship Id="rId7" Type="http://schemas.openxmlformats.org/officeDocument/2006/relationships/image" Target="../media/image2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0.png"/><Relationship Id="rId18" Type="http://schemas.openxmlformats.org/officeDocument/2006/relationships/image" Target="../media/image17.jpeg"/><Relationship Id="rId3" Type="http://schemas.openxmlformats.org/officeDocument/2006/relationships/audio" Target="../media/audio1.wav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hyperlink" Target="http://www.shutterstock.com/pic-60726190/stock-photo-country-garden-with-wooden-fence-and-log-cabin-in-background.html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audio" Target="../media/audio5.wav"/><Relationship Id="rId15" Type="http://schemas.openxmlformats.org/officeDocument/2006/relationships/image" Target="../media/image32.jpeg"/><Relationship Id="rId10" Type="http://schemas.openxmlformats.org/officeDocument/2006/relationships/image" Target="../media/image14.png"/><Relationship Id="rId19" Type="http://schemas.openxmlformats.org/officeDocument/2006/relationships/image" Target="../media/image4.gif"/><Relationship Id="rId4" Type="http://schemas.openxmlformats.org/officeDocument/2006/relationships/audio" Target="../media/audio4.wav"/><Relationship Id="rId9" Type="http://schemas.openxmlformats.org/officeDocument/2006/relationships/image" Target="../media/image13.png"/><Relationship Id="rId1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jpeg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image" Target="../media/image21.jp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FF75-FDC9-9BA0-3C96-58475254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DA6AB-A62C-1669-B651-829B5D230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531460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Title: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bg1"/>
                    </a:solidFill>
                  </a:rPr>
                  <a:t> term </a:t>
                </a:r>
              </a:p>
              <a:p>
                <a:pPr marL="0" indent="0">
                  <a:buNone/>
                </a:pPr>
                <a:endParaRPr lang="en-AU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AU" b="1" dirty="0">
                    <a:solidFill>
                      <a:schemeClr val="bg1"/>
                    </a:solidFill>
                  </a:rPr>
                  <a:t>Aim – be able to: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b="1" dirty="0">
                    <a:solidFill>
                      <a:schemeClr val="bg1"/>
                    </a:solidFill>
                  </a:rPr>
                  <a:t> Determine a sequence rule from a table of values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b="1" dirty="0">
                    <a:solidFill>
                      <a:schemeClr val="bg1"/>
                    </a:solidFill>
                  </a:rPr>
                  <a:t> Use rule to generate a term in the sequence </a:t>
                </a:r>
              </a:p>
              <a:p>
                <a:pPr marL="0" indent="0">
                  <a:buNone/>
                </a:pPr>
                <a:r>
                  <a:rPr lang="en-AU" b="1" dirty="0">
                    <a:solidFill>
                      <a:schemeClr val="bg1"/>
                    </a:solidFill>
                  </a:rPr>
                  <a:t>Plan: </a:t>
                </a:r>
              </a:p>
              <a:p>
                <a:pPr>
                  <a:buFontTx/>
                  <a:buChar char="-"/>
                </a:pPr>
                <a:r>
                  <a:rPr lang="en-AU" b="1" dirty="0">
                    <a:solidFill>
                      <a:schemeClr val="bg1"/>
                    </a:solidFill>
                  </a:rPr>
                  <a:t>Spatial patterns</a:t>
                </a:r>
              </a:p>
              <a:p>
                <a:pPr>
                  <a:buFontTx/>
                  <a:buChar char="-"/>
                </a:pPr>
                <a:r>
                  <a:rPr lang="en-AU" b="1" dirty="0">
                    <a:solidFill>
                      <a:schemeClr val="bg1"/>
                    </a:solidFill>
                  </a:rPr>
                  <a:t>Algebra revision </a:t>
                </a:r>
              </a:p>
              <a:p>
                <a:pPr>
                  <a:buFontTx/>
                  <a:buChar char="-"/>
                </a:pPr>
                <a:r>
                  <a:rPr lang="en-AU" b="1" dirty="0">
                    <a:solidFill>
                      <a:schemeClr val="bg1"/>
                    </a:solidFill>
                  </a:rPr>
                  <a:t>Creating rules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FDA6AB-A62C-1669-B651-829B5D230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314602"/>
              </a:xfrm>
              <a:blipFill>
                <a:blip r:embed="rId2"/>
                <a:stretch>
                  <a:fillRect l="-1926" t="-1950" r="-296" b="-3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D7BFDB-086E-600C-B410-596AFA3F9301}"/>
              </a:ext>
            </a:extLst>
          </p:cNvPr>
          <p:cNvSpPr txBox="1"/>
          <p:nvPr/>
        </p:nvSpPr>
        <p:spPr>
          <a:xfrm>
            <a:off x="4860032" y="1844824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Need whiteboards and calculators.</a:t>
            </a:r>
            <a:endParaRPr lang="en-AU" sz="24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5391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Key words:</a:t>
            </a:r>
          </a:p>
          <a:p>
            <a:endParaRPr lang="en-GB" dirty="0"/>
          </a:p>
          <a:p>
            <a:r>
              <a:rPr lang="en-GB" u="sng" dirty="0">
                <a:solidFill>
                  <a:srgbClr val="FF0000"/>
                </a:solidFill>
              </a:rPr>
              <a:t>Sequence</a:t>
            </a:r>
            <a:r>
              <a:rPr lang="en-GB" dirty="0"/>
              <a:t> –</a:t>
            </a:r>
          </a:p>
          <a:p>
            <a:endParaRPr lang="en-GB" dirty="0"/>
          </a:p>
          <a:p>
            <a:r>
              <a:rPr lang="en-GB" u="sng" dirty="0">
                <a:solidFill>
                  <a:srgbClr val="FF0000"/>
                </a:solidFill>
              </a:rPr>
              <a:t>Term</a:t>
            </a:r>
            <a:r>
              <a:rPr lang="en-GB" dirty="0"/>
              <a:t> – </a:t>
            </a:r>
          </a:p>
          <a:p>
            <a:endParaRPr lang="en-GB" dirty="0"/>
          </a:p>
          <a:p>
            <a:r>
              <a:rPr lang="en-GB" u="sng" dirty="0">
                <a:solidFill>
                  <a:srgbClr val="FF0000"/>
                </a:solidFill>
              </a:rPr>
              <a:t>Common Difference</a:t>
            </a:r>
            <a:r>
              <a:rPr lang="en-GB" dirty="0"/>
              <a:t> – 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789802" y="2304673"/>
            <a:ext cx="4212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400" b="1" dirty="0">
                <a:latin typeface="Calibri"/>
              </a:rPr>
              <a:t>A list of numbers or shapes that follow some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1720" y="3318234"/>
            <a:ext cx="495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400" b="1" dirty="0">
                <a:latin typeface="Calibri"/>
              </a:rPr>
              <a:t>A number or shape in the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5896" y="4260534"/>
            <a:ext cx="42844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2800" b="1" dirty="0">
                <a:latin typeface="Calibri"/>
              </a:rPr>
              <a:t>The constant rate at which a sequence increases or decreases</a:t>
            </a:r>
          </a:p>
        </p:txBody>
      </p:sp>
    </p:spTree>
    <p:extLst>
      <p:ext uri="{BB962C8B-B14F-4D97-AF65-F5344CB8AC3E}">
        <p14:creationId xmlns:p14="http://schemas.microsoft.com/office/powerpoint/2010/main" val="238072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4AF7-CA74-0C7E-4E25-24460100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05B1-89C5-F625-FFFB-456406F8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795320" cy="4525963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Draw the next term in the sequence </a:t>
            </a:r>
          </a:p>
          <a:p>
            <a:pPr marL="514350" indent="-514350">
              <a:buAutoNum type="alphaLcParenR"/>
            </a:pPr>
            <a:r>
              <a:rPr lang="en-AU" dirty="0"/>
              <a:t>Write the number pattern (how many matches)</a:t>
            </a:r>
          </a:p>
          <a:p>
            <a:pPr marL="514350" indent="-514350">
              <a:buAutoNum type="alphaLcParenR"/>
            </a:pPr>
            <a:r>
              <a:rPr lang="en-AU" dirty="0"/>
              <a:t>Describe a rule in words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E505A-006E-68AF-AD20-AE0CA8A3D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975593"/>
            <a:ext cx="6649159" cy="128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8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E3B7-4D21-4D9F-8CB3-EFB54069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(I do)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9C115-BDE9-4DC5-92BA-A7B017AD8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To </a:t>
            </a:r>
            <a:r>
              <a:rPr lang="en-US" sz="2800" b="1" i="1" dirty="0"/>
              <a:t>evaluate </a:t>
            </a:r>
            <a:r>
              <a:rPr lang="en-US" sz="2800" b="1" dirty="0"/>
              <a:t>an expression, we substitute (replace) the pronumeral with a given value. 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E.g. If d = 7, evaluate </a:t>
            </a:r>
          </a:p>
          <a:p>
            <a:pPr marL="0" indent="0">
              <a:buNone/>
            </a:pPr>
            <a:endParaRPr lang="en-US" sz="2800" b="1" dirty="0"/>
          </a:p>
          <a:p>
            <a:pPr marL="385763" indent="-385763">
              <a:buAutoNum type="alphaLcParenR"/>
            </a:pPr>
            <a:r>
              <a:rPr lang="en-US" sz="2800" b="1" dirty="0"/>
              <a:t>4d </a:t>
            </a:r>
          </a:p>
          <a:p>
            <a:pPr marL="385763" indent="-385763">
              <a:buAutoNum type="alphaLcParenR"/>
            </a:pPr>
            <a:r>
              <a:rPr lang="en-US" sz="2800" b="1" dirty="0"/>
              <a:t>2d + 9 </a:t>
            </a:r>
          </a:p>
          <a:p>
            <a:pPr marL="385763" indent="-385763">
              <a:buAutoNum type="alphaLcParenR"/>
            </a:pPr>
            <a:r>
              <a:rPr lang="en-US" sz="2800" b="1" dirty="0"/>
              <a:t>20 – 3d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17278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EEBF-F660-4998-BEF7-229220BF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4610"/>
            <a:ext cx="7886700" cy="631883"/>
          </a:xfrm>
        </p:spPr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55D40E-0F85-423D-BC7D-25C41C29FD0D}"/>
              </a:ext>
            </a:extLst>
          </p:cNvPr>
          <p:cNvSpPr/>
          <p:nvPr/>
        </p:nvSpPr>
        <p:spPr>
          <a:xfrm>
            <a:off x="243068" y="3290437"/>
            <a:ext cx="2665071" cy="301888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6D6756-4441-42ED-9093-E5F68C001E65}"/>
              </a:ext>
            </a:extLst>
          </p:cNvPr>
          <p:cNvSpPr/>
          <p:nvPr/>
        </p:nvSpPr>
        <p:spPr>
          <a:xfrm>
            <a:off x="3239465" y="3290437"/>
            <a:ext cx="2665071" cy="3018882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/>
              <p:nvPr/>
            </p:nvSpPr>
            <p:spPr>
              <a:xfrm>
                <a:off x="2040200" y="1456493"/>
                <a:ext cx="620420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Evaluate the following if: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a = 5 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b = 3 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00" y="1456493"/>
                <a:ext cx="6204208" cy="1569660"/>
              </a:xfrm>
              <a:prstGeom prst="rect">
                <a:avLst/>
              </a:prstGeom>
              <a:blipFill>
                <a:blip r:embed="rId2"/>
                <a:stretch>
                  <a:fillRect l="-1573" t="-3113" b="-8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AF7086-B186-4DF5-93CF-40C9457EC9C3}"/>
              </a:ext>
            </a:extLst>
          </p:cNvPr>
          <p:cNvSpPr txBox="1"/>
          <p:nvPr/>
        </p:nvSpPr>
        <p:spPr>
          <a:xfrm>
            <a:off x="472736" y="3523476"/>
            <a:ext cx="21772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5a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9 + b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10 +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88C11-2FF7-4B49-BC43-0E2F1527FDB5}"/>
              </a:ext>
            </a:extLst>
          </p:cNvPr>
          <p:cNvSpPr txBox="1"/>
          <p:nvPr/>
        </p:nvSpPr>
        <p:spPr>
          <a:xfrm>
            <a:off x="3524435" y="3518758"/>
            <a:ext cx="21772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3a + 4b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10b –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2a +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12D0D-8C5F-43B3-B2B7-6C8042F15834}"/>
              </a:ext>
            </a:extLst>
          </p:cNvPr>
          <p:cNvSpPr txBox="1"/>
          <p:nvPr/>
        </p:nvSpPr>
        <p:spPr>
          <a:xfrm>
            <a:off x="1735936" y="3518758"/>
            <a:ext cx="104312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25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12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6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E6527-78E0-45BF-A3D8-1E6D9207FBDB}"/>
              </a:ext>
            </a:extLst>
          </p:cNvPr>
          <p:cNvSpPr txBox="1"/>
          <p:nvPr/>
        </p:nvSpPr>
        <p:spPr>
          <a:xfrm>
            <a:off x="4861410" y="3518758"/>
            <a:ext cx="104312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27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34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6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B718C79-E52F-4A9B-8B7E-B720F1CB6F46}"/>
              </a:ext>
            </a:extLst>
          </p:cNvPr>
          <p:cNvSpPr/>
          <p:nvPr/>
        </p:nvSpPr>
        <p:spPr>
          <a:xfrm>
            <a:off x="6235861" y="3290437"/>
            <a:ext cx="2665071" cy="3018883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/>
              <p:nvPr/>
            </p:nvSpPr>
            <p:spPr>
              <a:xfrm>
                <a:off x="6401910" y="3515149"/>
                <a:ext cx="2269354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−(−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𝟗𝟕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910" y="3515149"/>
                <a:ext cx="2269354" cy="2215991"/>
              </a:xfrm>
              <a:prstGeom prst="rect">
                <a:avLst/>
              </a:prstGeom>
              <a:blipFill>
                <a:blip r:embed="rId3"/>
                <a:stretch>
                  <a:fillRect l="-4032" t="-2479" r="-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43BFD1B-BFE1-4F93-8730-1114EECE1B0D}"/>
              </a:ext>
            </a:extLst>
          </p:cNvPr>
          <p:cNvSpPr txBox="1"/>
          <p:nvPr/>
        </p:nvSpPr>
        <p:spPr>
          <a:xfrm>
            <a:off x="7046833" y="3831276"/>
            <a:ext cx="1043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30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3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12.5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590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uiExpand="1" build="p"/>
      <p:bldP spid="1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EEBF-F660-4998-BEF7-229220BF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4610"/>
            <a:ext cx="7886700" cy="631883"/>
          </a:xfrm>
        </p:spPr>
        <p:txBody>
          <a:bodyPr/>
          <a:lstStyle/>
          <a:p>
            <a:pPr algn="ctr"/>
            <a:r>
              <a:rPr lang="en-US" dirty="0"/>
              <a:t>Your turn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55D40E-0F85-423D-BC7D-25C41C29FD0D}"/>
              </a:ext>
            </a:extLst>
          </p:cNvPr>
          <p:cNvSpPr/>
          <p:nvPr/>
        </p:nvSpPr>
        <p:spPr>
          <a:xfrm>
            <a:off x="243068" y="3290437"/>
            <a:ext cx="2665071" cy="301888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6D6756-4441-42ED-9093-E5F68C001E65}"/>
              </a:ext>
            </a:extLst>
          </p:cNvPr>
          <p:cNvSpPr/>
          <p:nvPr/>
        </p:nvSpPr>
        <p:spPr>
          <a:xfrm>
            <a:off x="3239465" y="3290437"/>
            <a:ext cx="2665071" cy="3018882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/>
              <p:nvPr/>
            </p:nvSpPr>
            <p:spPr>
              <a:xfrm>
                <a:off x="2040200" y="1456493"/>
                <a:ext cx="620420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Evaluate the following if: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a = 5 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b = 3 </a:t>
                </a:r>
              </a:p>
              <a:p>
                <a:pPr defTabSz="685800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A0490-8A10-4B4A-AE8C-10FDC7FB7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00" y="1456493"/>
                <a:ext cx="6204208" cy="1569660"/>
              </a:xfrm>
              <a:prstGeom prst="rect">
                <a:avLst/>
              </a:prstGeom>
              <a:blipFill>
                <a:blip r:embed="rId2"/>
                <a:stretch>
                  <a:fillRect l="-1573" t="-3113" b="-81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AF7086-B186-4DF5-93CF-40C9457EC9C3}"/>
              </a:ext>
            </a:extLst>
          </p:cNvPr>
          <p:cNvSpPr txBox="1"/>
          <p:nvPr/>
        </p:nvSpPr>
        <p:spPr>
          <a:xfrm>
            <a:off x="472736" y="3523476"/>
            <a:ext cx="21772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5a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9 + b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10 +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88C11-2FF7-4B49-BC43-0E2F1527FDB5}"/>
              </a:ext>
            </a:extLst>
          </p:cNvPr>
          <p:cNvSpPr txBox="1"/>
          <p:nvPr/>
        </p:nvSpPr>
        <p:spPr>
          <a:xfrm>
            <a:off x="3524435" y="3518758"/>
            <a:ext cx="21772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3a + 4b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10b –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lphaLcParenR"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2a + c </a:t>
            </a:r>
          </a:p>
          <a:p>
            <a:pPr marL="257175" indent="-257175" defTabSz="685800">
              <a:buFontTx/>
              <a:buAutoNum type="alphaLcParenR"/>
              <a:defRPr/>
            </a:pP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B718C79-E52F-4A9B-8B7E-B720F1CB6F46}"/>
              </a:ext>
            </a:extLst>
          </p:cNvPr>
          <p:cNvSpPr/>
          <p:nvPr/>
        </p:nvSpPr>
        <p:spPr>
          <a:xfrm>
            <a:off x="6235861" y="3290437"/>
            <a:ext cx="2665071" cy="3018883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AU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/>
              <p:nvPr/>
            </p:nvSpPr>
            <p:spPr>
              <a:xfrm>
                <a:off x="6401910" y="3515149"/>
                <a:ext cx="2269354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−(−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𝟗𝟕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57175" indent="-257175" defTabSz="685800">
                  <a:buFontTx/>
                  <a:buAutoNum type="alphaLcParenR"/>
                  <a:defRPr/>
                </a:pPr>
                <a:endParaRPr lang="en-US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AA6E5-99F8-47BA-ABB9-14A573B9C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910" y="3515149"/>
                <a:ext cx="2269354" cy="2215991"/>
              </a:xfrm>
              <a:prstGeom prst="rect">
                <a:avLst/>
              </a:prstGeom>
              <a:blipFill>
                <a:blip r:embed="rId3"/>
                <a:stretch>
                  <a:fillRect l="-4032" t="-2479" r="-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48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bestclipartblog.com/clipart-pics/farmer-clip-art-4.gif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0"/>
          <a:stretch/>
        </p:blipFill>
        <p:spPr bwMode="auto">
          <a:xfrm>
            <a:off x="611560" y="188640"/>
            <a:ext cx="2920317" cy="449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frpic.com/vectors/vector-grass/vector-grass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8" y="3283869"/>
            <a:ext cx="3643484" cy="139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11960" y="513546"/>
            <a:ext cx="38264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Farmer Barleymow</a:t>
            </a:r>
          </a:p>
        </p:txBody>
      </p:sp>
      <p:pic>
        <p:nvPicPr>
          <p:cNvPr id="2058" name="Picture 10" descr="http://free.clipartof.com/54-Free-Cartoon-Sheep-Clipart-Illustration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544" y="180143"/>
            <a:ext cx="1557082" cy="166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http://free.clipartof.com/54-Free-Cartoon-Sheep-Clipart-Illustration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111" y="45766"/>
            <a:ext cx="1557082" cy="166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912" y="57867"/>
            <a:ext cx="1547788" cy="1656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80" y="4811340"/>
            <a:ext cx="1531274" cy="1810792"/>
          </a:xfrm>
          <a:prstGeom prst="rect">
            <a:avLst/>
          </a:prstGeom>
        </p:spPr>
      </p:pic>
      <p:pic>
        <p:nvPicPr>
          <p:cNvPr id="2061" name="Picture 13" descr="http://bestclipartblog.com/clipart-pics/goat-clipart-2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65" y="4837101"/>
            <a:ext cx="1522350" cy="178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11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411 C -0.01164 -0.00115 -0.05191 -0.01595 -0.06598 -0.01595 C -0.15521 -0.01595 -0.24688 0.22058 -0.24688 0.45688 C -0.24688 0.33781 -0.29271 0.22012 -0.33611 0.22012 C -0.38195 0.22012 -0.42535 0.3392 -0.42535 0.45688 C -0.42535 0.39815 -0.44827 0.33781 -0.47118 0.33781 C -0.4941 0.33781 -0.51702 0.39631 -0.51702 0.45688 C -0.51702 0.42659 -0.52848 0.39815 -0.53993 0.39815 C -0.55139 0.39815 -0.56285 0.42844 -0.56285 0.45688 C -0.56285 0.44139 -0.56893 0.42659 -0.57431 0.42659 C -0.57743 0.42659 -0.58577 0.44185 -0.58577 0.45688 C -0.58577 0.44925 -0.58889 0.44139 -0.59184 0.44139 C -0.59184 0.43977 -0.59775 0.44879 -0.59775 0.45688 C -0.59775 0.45272 -0.59775 0.44925 -0.60087 0.44925 C -0.60087 0.4511 -0.60382 0.45318 -0.60382 0.45688 C -0.60382 0.45503 -0.60382 0.45272 -0.60382 0.4511 C -0.60677 0.4511 -0.60677 0.45272 -0.60677 0.45503 C -0.60973 0.45503 -0.60973 0.45318 -0.60973 0.4511 C -0.61268 0.4511 -0.61268 0.45272 -0.61268 0.45503 " pathEditMode="relative" rAng="0" ptsTypes="fffffffffffffffffff">
                                      <p:cBhvr>
                                        <p:cTn id="6" dur="3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42" y="2062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aasheep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.01457 C -0.01163 -0.00092 -0.05225 -0.01595 -0.06632 -0.01595 C -0.15607 -0.01595 -0.24826 0.22497 -0.24826 0.46567 C -0.24826 0.34428 -0.29444 0.22451 -0.33802 0.22451 C -0.38403 0.22451 -0.42778 0.34567 -0.42778 0.46567 C -0.42778 0.40578 -0.45087 0.34428 -0.47378 0.34428 C -0.49687 0.34428 -0.51996 0.40416 -0.51996 0.46567 C -0.51996 0.43492 -0.53142 0.40578 -0.54305 0.40578 C -0.55451 0.40578 -0.56614 0.43653 -0.56614 0.46567 C -0.56614 0.44994 -0.57205 0.43492 -0.5776 0.43492 C -0.58055 0.43492 -0.58923 0.45041 -0.58923 0.46567 C -0.58923 0.45804 -0.59219 0.44994 -0.59514 0.44994 C -0.59514 0.44809 -0.60121 0.45757 -0.60121 0.46567 C -0.60121 0.46151 -0.60121 0.45804 -0.60416 0.45804 C -0.60416 0.45966 -0.60729 0.46197 -0.60729 0.46567 C -0.60729 0.46382 -0.60729 0.46151 -0.60729 0.45966 C -0.61024 0.45966 -0.61024 0.46151 -0.61024 0.46382 C -0.61319 0.46382 -0.61319 0.46197 -0.61319 0.45966 C -0.61614 0.45966 -0.61614 0.46151 -0.61614 0.46382 " pathEditMode="relative" rAng="0" ptsTypes="fffffffffffffffffff">
                                      <p:cBhvr>
                                        <p:cTn id="10" dur="3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16" y="2101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aaa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185 C -0.01163 -0.01457 -0.05087 -0.02983 -0.06441 -0.02983 C -0.15139 -0.02983 -0.24045 0.22266 -0.24045 0.47537 C -0.24045 0.34774 -0.28524 0.22219 -0.32726 0.22219 C -0.37205 0.22219 -0.41423 0.34913 -0.41423 0.47537 C -0.41423 0.41225 -0.43663 0.34774 -0.45885 0.34774 C -0.48125 0.34774 -0.50347 0.41063 -0.50347 0.47537 C -0.50347 0.443 -0.51458 0.41225 -0.52587 0.41225 C -0.53698 0.41225 -0.54809 0.44462 -0.54809 0.47537 C -0.54809 0.45873 -0.55399 0.443 -0.55937 0.443 C -0.56215 0.443 -0.57048 0.45942 -0.57048 0.47537 C -0.57048 0.46728 -0.57344 0.45873 -0.57639 0.45873 C -0.57639 0.45664 -0.58212 0.46659 -0.58212 0.47537 C -0.58212 0.47098 -0.58212 0.46728 -0.58507 0.46728 C -0.58507 0.4689 -0.58802 0.47121 -0.58802 0.47537 C -0.58802 0.47306 -0.58802 0.47098 -0.58802 0.4689 C -0.5908 0.4689 -0.5908 0.47098 -0.5908 0.47306 C -0.59375 0.47306 -0.59375 0.47121 -0.59375 0.4689 C -0.59635 0.4689 -0.59635 0.47098 -0.59635 0.47306 " pathEditMode="relative" rAng="0" ptsTypes="fffffffffffffffffff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26" y="2208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heepSound_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ound Effect - Goat Ble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ound Effect - Goat Bleet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355033" y="1078690"/>
            <a:ext cx="1889615" cy="1809187"/>
            <a:chOff x="4740891" y="221890"/>
            <a:chExt cx="3551862" cy="3456724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2014914"/>
              <a:ext cx="1560513" cy="166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891" y="1088740"/>
              <a:ext cx="1560513" cy="166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221890"/>
              <a:ext cx="1547813" cy="1658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118" y="2293878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2127712" y="244380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5238821" y="181175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2127712" y="588215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5244648" y="516207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>
            <a:off x="249849" y="313724"/>
            <a:ext cx="271853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7" t="55995" r="30479" b="35886"/>
          <a:stretch/>
        </p:blipFill>
        <p:spPr bwMode="auto">
          <a:xfrm>
            <a:off x="305938" y="657559"/>
            <a:ext cx="1943775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/>
          <p:cNvGrpSpPr/>
          <p:nvPr/>
        </p:nvGrpSpPr>
        <p:grpSpPr>
          <a:xfrm>
            <a:off x="402249" y="5661248"/>
            <a:ext cx="8495051" cy="862996"/>
            <a:chOff x="249849" y="181175"/>
            <a:chExt cx="8495051" cy="862996"/>
          </a:xfrm>
        </p:grpSpPr>
        <p:grpSp>
          <p:nvGrpSpPr>
            <p:cNvPr id="33" name="Group 32"/>
            <p:cNvGrpSpPr/>
            <p:nvPr/>
          </p:nvGrpSpPr>
          <p:grpSpPr>
            <a:xfrm>
              <a:off x="2127712" y="181175"/>
              <a:ext cx="6617188" cy="862996"/>
              <a:chOff x="1604907" y="213648"/>
              <a:chExt cx="6617188" cy="862996"/>
            </a:xfrm>
          </p:grpSpPr>
          <p:pic>
            <p:nvPicPr>
              <p:cNvPr id="36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1604907" y="276853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4716016" y="213648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1604907" y="620688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4721843" y="548680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" name="Picture 4" descr="http://hilarymetcalf.files.wordpress.com/2012/05/barbed-wire7.png?w=500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06" t="55995" r="14212" b="35886"/>
            <a:stretch/>
          </p:blipFill>
          <p:spPr bwMode="auto">
            <a:xfrm>
              <a:off x="249849" y="313724"/>
              <a:ext cx="2718539" cy="38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http://hilarymetcalf.files.wordpress.com/2012/05/barbed-wire7.png?w=500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07" t="55995" r="30479" b="35886"/>
            <a:stretch/>
          </p:blipFill>
          <p:spPr bwMode="auto">
            <a:xfrm>
              <a:off x="305938" y="657559"/>
              <a:ext cx="1943775" cy="38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 rot="16200000">
            <a:off x="-770181" y="3599111"/>
            <a:ext cx="2415518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4" r="13133" b="87004"/>
          <a:stretch/>
        </p:blipFill>
        <p:spPr bwMode="auto">
          <a:xfrm rot="16200000">
            <a:off x="-898436" y="1517190"/>
            <a:ext cx="2415518" cy="32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 rot="16200000">
            <a:off x="-465779" y="5199423"/>
            <a:ext cx="187605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7139" r="13133" b="87004"/>
          <a:stretch/>
        </p:blipFill>
        <p:spPr bwMode="auto">
          <a:xfrm rot="16200000">
            <a:off x="-1068286" y="1540647"/>
            <a:ext cx="2415518" cy="27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49" r="13133" b="87814"/>
          <a:stretch/>
        </p:blipFill>
        <p:spPr bwMode="auto">
          <a:xfrm rot="16200000">
            <a:off x="-1041024" y="3854900"/>
            <a:ext cx="2415518" cy="28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t="9168" r="13133" b="87814"/>
          <a:stretch/>
        </p:blipFill>
        <p:spPr bwMode="auto">
          <a:xfrm rot="16200000">
            <a:off x="-839264" y="5218536"/>
            <a:ext cx="2181858" cy="1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991" y="157546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838" y="245250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9629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 rot="16200000">
            <a:off x="7525236" y="3446769"/>
            <a:ext cx="2415518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4" r="13133" b="87004"/>
          <a:stretch/>
        </p:blipFill>
        <p:spPr bwMode="auto">
          <a:xfrm rot="16200000">
            <a:off x="7396981" y="1364848"/>
            <a:ext cx="2415518" cy="32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 rot="16200000">
            <a:off x="7829638" y="5181836"/>
            <a:ext cx="187605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7622" r="13133" b="87004"/>
          <a:stretch/>
        </p:blipFill>
        <p:spPr bwMode="auto">
          <a:xfrm rot="16200000">
            <a:off x="7238636" y="1399809"/>
            <a:ext cx="2415518" cy="25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49" r="13133" b="87814"/>
          <a:stretch/>
        </p:blipFill>
        <p:spPr bwMode="auto">
          <a:xfrm rot="16200000">
            <a:off x="7254393" y="3702558"/>
            <a:ext cx="2415518" cy="28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t="9168" r="13133" b="87814"/>
          <a:stretch/>
        </p:blipFill>
        <p:spPr bwMode="auto">
          <a:xfrm rot="16200000">
            <a:off x="7456153" y="5066194"/>
            <a:ext cx="2181858" cy="1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340895" y="181175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146274" y="147391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561572" y="57763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316906" y="75808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479810" y="5648894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285189" y="5615110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676456" y="5516218"/>
            <a:ext cx="152400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477799" y="5516218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78690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61" y="145928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949" y="2293878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240" y="473145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57" y="355696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960" y="4890074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274" y="4233870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532" y="340462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83" y="3896862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071" y="473145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555" y="354847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078" y="4487333"/>
            <a:ext cx="765637" cy="905396"/>
          </a:xfrm>
          <a:prstGeom prst="rect">
            <a:avLst/>
          </a:prstGeom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68" y="4805175"/>
            <a:ext cx="725991" cy="85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 flipV="1">
            <a:off x="458338" y="3344805"/>
            <a:ext cx="8046679" cy="119644"/>
          </a:xfrm>
          <a:prstGeom prst="line">
            <a:avLst/>
          </a:prstGeom>
          <a:ln w="44450">
            <a:solidFill>
              <a:srgbClr val="CC66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00069" y="2674150"/>
            <a:ext cx="1449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14m</a:t>
            </a:r>
          </a:p>
        </p:txBody>
      </p:sp>
      <p:pic>
        <p:nvPicPr>
          <p:cNvPr id="1026" name="Picture 2" descr="http://thumb10.shutterstock.com/thumb_small/420568/420568,1302960584,1/stock-photo-wooden-gate-green-weathered-aged-isolated-garden-fence-entrance-old-rustic-retro-vintage-picket-75356278.jpg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8" r="16391"/>
          <a:stretch/>
        </p:blipFill>
        <p:spPr bwMode="auto">
          <a:xfrm>
            <a:off x="4644008" y="222536"/>
            <a:ext cx="833403" cy="68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ttp://thumb10.shutterstock.com/thumb_small/420568/420568,1302960584,1/stock-photo-wooden-gate-green-weathered-aged-isolated-garden-fence-entrance-old-rustic-retro-vintage-picket-75356278.jpg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t="-1093" r="18842" b="1093"/>
          <a:stretch/>
        </p:blipFill>
        <p:spPr bwMode="auto">
          <a:xfrm>
            <a:off x="1363214" y="5793797"/>
            <a:ext cx="774935" cy="64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07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818790" y="498858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2498458" y="4988583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1586283" y="5121185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1586282" y="4221088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07504" y="3429000"/>
            <a:ext cx="39275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1m section of fence</a:t>
            </a:r>
          </a:p>
        </p:txBody>
      </p:sp>
      <p:pic>
        <p:nvPicPr>
          <p:cNvPr id="2054" name="Picture 6" descr="http://icons.iconarchive.com/icons/iconleak/atrous/256/hammer-ico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21088"/>
            <a:ext cx="949024" cy="94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355976" y="3430741"/>
            <a:ext cx="39275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2m section of fence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3803841" y="498858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5554850" y="4981665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4571334" y="5121185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4571333" y="4221088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7211701" y="4988583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6299526" y="5121185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6299525" y="4221088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5104790" y="973352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5680328" y="325651"/>
            <a:ext cx="79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3578">
            <a:off x="0" y="42321"/>
            <a:ext cx="4391148" cy="3326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664121" y="1518998"/>
            <a:ext cx="6283455" cy="2478495"/>
            <a:chOff x="2664121" y="1518998"/>
            <a:chExt cx="6283455" cy="247849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6250" y="1518998"/>
              <a:ext cx="2841326" cy="1910002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2664121" y="1689169"/>
              <a:ext cx="3383709" cy="2308324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2400" b="1" i="1" dirty="0">
                  <a:solidFill>
                    <a:srgbClr val="FF0000"/>
                  </a:solidFill>
                  <a:latin typeface="Arial Black" pitchFamily="34" charset="0"/>
                </a:rPr>
                <a:t>Task: </a:t>
              </a:r>
            </a:p>
            <a:p>
              <a:r>
                <a:rPr lang="en-GB" sz="2400" dirty="0">
                  <a:latin typeface="Arial Black" pitchFamily="34" charset="0"/>
                </a:rPr>
                <a:t>Draw the pattern for a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3m section </a:t>
              </a:r>
              <a:r>
                <a:rPr lang="en-GB" sz="2400" dirty="0">
                  <a:latin typeface="Arial Black" pitchFamily="34" charset="0"/>
                </a:rPr>
                <a:t>of fence and count how many pieces of wood are used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46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51520" y="178318"/>
            <a:ext cx="39275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3m section of fence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56865" y="967568"/>
            <a:ext cx="5485349" cy="1807436"/>
            <a:chOff x="356865" y="967568"/>
            <a:chExt cx="5485349" cy="1807436"/>
          </a:xfrm>
        </p:grpSpPr>
        <p:pic>
          <p:nvPicPr>
            <p:cNvPr id="22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-410627" y="1741977"/>
              <a:ext cx="1800198" cy="26521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1340382" y="1735061"/>
              <a:ext cx="1800198" cy="26521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356866" y="1874581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356865" y="974484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2997233" y="1741979"/>
              <a:ext cx="1800198" cy="26521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2085058" y="1874581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2085057" y="974484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4809507" y="1742299"/>
              <a:ext cx="1800198" cy="26521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3897332" y="1874901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3897331" y="974804"/>
              <a:ext cx="1944882" cy="24548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Rectangle 25"/>
          <p:cNvSpPr/>
          <p:nvPr/>
        </p:nvSpPr>
        <p:spPr>
          <a:xfrm>
            <a:off x="6012160" y="1473732"/>
            <a:ext cx="271677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10m of wood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9472" y="2871370"/>
            <a:ext cx="4969862" cy="2088232"/>
            <a:chOff x="489472" y="2871370"/>
            <a:chExt cx="4969862" cy="2088232"/>
          </a:xfrm>
        </p:grpSpPr>
        <p:sp>
          <p:nvSpPr>
            <p:cNvPr id="2" name="Cloud Callout 1"/>
            <p:cNvSpPr/>
            <p:nvPr/>
          </p:nvSpPr>
          <p:spPr>
            <a:xfrm>
              <a:off x="489472" y="2871370"/>
              <a:ext cx="4969862" cy="2088232"/>
            </a:xfrm>
            <a:prstGeom prst="cloudCallou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6485" y="3315321"/>
              <a:ext cx="4380301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How much wood for </a:t>
              </a:r>
            </a:p>
            <a:p>
              <a:pPr algn="ctr"/>
              <a:r>
                <a:rPr lang="en-US" sz="3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14m of fencing?</a:t>
              </a:r>
            </a:p>
          </p:txBody>
        </p:sp>
      </p:grpSp>
      <p:pic>
        <p:nvPicPr>
          <p:cNvPr id="17" name="Picture 2" descr="http://bestclipartblog.com/clipart-pics/farmer-clip-art-4.gif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18"/>
          <a:stretch/>
        </p:blipFill>
        <p:spPr bwMode="auto">
          <a:xfrm>
            <a:off x="-313710" y="4959602"/>
            <a:ext cx="2209565" cy="153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6" t="640" r="12655" b="1798"/>
          <a:stretch/>
        </p:blipFill>
        <p:spPr bwMode="auto">
          <a:xfrm>
            <a:off x="5163213" y="3951826"/>
            <a:ext cx="3925943" cy="288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97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150"/>
          <p:cNvGrpSpPr/>
          <p:nvPr/>
        </p:nvGrpSpPr>
        <p:grpSpPr>
          <a:xfrm>
            <a:off x="1724958" y="2014101"/>
            <a:ext cx="720603" cy="1367895"/>
            <a:chOff x="1724958" y="2014101"/>
            <a:chExt cx="720603" cy="1367895"/>
          </a:xfrm>
        </p:grpSpPr>
        <p:sp>
          <p:nvSpPr>
            <p:cNvPr id="150" name="Dodecagon 149"/>
            <p:cNvSpPr/>
            <p:nvPr/>
          </p:nvSpPr>
          <p:spPr>
            <a:xfrm>
              <a:off x="1751698" y="2014101"/>
              <a:ext cx="693863" cy="563290"/>
            </a:xfrm>
            <a:prstGeom prst="dodecagon">
              <a:avLst/>
            </a:prstGeom>
            <a:solidFill>
              <a:srgbClr val="F8AEEA"/>
            </a:solidFill>
            <a:ln>
              <a:solidFill>
                <a:srgbClr val="F8AE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Dodecagon 148"/>
            <p:cNvSpPr/>
            <p:nvPr/>
          </p:nvSpPr>
          <p:spPr>
            <a:xfrm>
              <a:off x="1724958" y="2818706"/>
              <a:ext cx="693863" cy="563290"/>
            </a:xfrm>
            <a:prstGeom prst="dodecagon">
              <a:avLst/>
            </a:prstGeom>
            <a:solidFill>
              <a:srgbClr val="F8AEEA"/>
            </a:solidFill>
            <a:ln>
              <a:solidFill>
                <a:srgbClr val="F8AE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5" name="Oval 134"/>
          <p:cNvSpPr/>
          <p:nvPr/>
        </p:nvSpPr>
        <p:spPr>
          <a:xfrm>
            <a:off x="0" y="1036126"/>
            <a:ext cx="1595466" cy="89870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76364" y="4509120"/>
            <a:ext cx="2941494" cy="2088232"/>
            <a:chOff x="-313710" y="2871370"/>
            <a:chExt cx="5773044" cy="3627815"/>
          </a:xfrm>
        </p:grpSpPr>
        <p:grpSp>
          <p:nvGrpSpPr>
            <p:cNvPr id="9" name="Group 8"/>
            <p:cNvGrpSpPr/>
            <p:nvPr/>
          </p:nvGrpSpPr>
          <p:grpSpPr>
            <a:xfrm>
              <a:off x="489472" y="2871370"/>
              <a:ext cx="4969862" cy="2088232"/>
              <a:chOff x="489472" y="2871370"/>
              <a:chExt cx="4969862" cy="2088232"/>
            </a:xfrm>
          </p:grpSpPr>
          <p:sp>
            <p:nvSpPr>
              <p:cNvPr id="10" name="Cloud Callout 9"/>
              <p:cNvSpPr/>
              <p:nvPr/>
            </p:nvSpPr>
            <p:spPr>
              <a:xfrm>
                <a:off x="489472" y="2871370"/>
                <a:ext cx="4969862" cy="2088232"/>
              </a:xfrm>
              <a:prstGeom prst="cloudCallou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796383" y="3467853"/>
                <a:ext cx="4380302" cy="11228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gradFill>
                      <a:gsLst>
                        <a:gs pos="0">
                          <a:schemeClr val="accent1">
                            <a:tint val="40000"/>
                            <a:satMod val="250000"/>
                          </a:schemeClr>
                        </a:gs>
                        <a:gs pos="9000">
                          <a:schemeClr val="accent1">
                            <a:tint val="52000"/>
                            <a:satMod val="300000"/>
                          </a:schemeClr>
                        </a:gs>
                        <a:gs pos="50000">
                          <a:schemeClr val="accent1">
                            <a:shade val="20000"/>
                            <a:satMod val="300000"/>
                          </a:schemeClr>
                        </a:gs>
                        <a:gs pos="79000">
                          <a:schemeClr val="accent1">
                            <a:tint val="52000"/>
                            <a:satMod val="300000"/>
                          </a:schemeClr>
                        </a:gs>
                        <a:gs pos="100000">
                          <a:schemeClr val="accent1">
                            <a:tint val="40000"/>
                            <a:satMod val="250000"/>
                          </a:schemeClr>
                        </a:gs>
                      </a:gsLst>
                      <a:lin ang="5400000"/>
                    </a:gradFill>
                    <a:effectLst/>
                  </a:rPr>
                  <a:t>How much wood for </a:t>
                </a:r>
              </a:p>
              <a:p>
                <a:pPr algn="ctr"/>
                <a:r>
                  <a:rPr lang="en-US" b="1" cap="none" spc="0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gradFill>
                      <a:gsLst>
                        <a:gs pos="0">
                          <a:schemeClr val="accent1">
                            <a:tint val="40000"/>
                            <a:satMod val="250000"/>
                          </a:schemeClr>
                        </a:gs>
                        <a:gs pos="9000">
                          <a:schemeClr val="accent1">
                            <a:tint val="52000"/>
                            <a:satMod val="300000"/>
                          </a:schemeClr>
                        </a:gs>
                        <a:gs pos="50000">
                          <a:schemeClr val="accent1">
                            <a:shade val="20000"/>
                            <a:satMod val="300000"/>
                          </a:schemeClr>
                        </a:gs>
                        <a:gs pos="79000">
                          <a:schemeClr val="accent1">
                            <a:tint val="52000"/>
                            <a:satMod val="300000"/>
                          </a:schemeClr>
                        </a:gs>
                        <a:gs pos="100000">
                          <a:schemeClr val="accent1">
                            <a:tint val="40000"/>
                            <a:satMod val="250000"/>
                          </a:schemeClr>
                        </a:gs>
                      </a:gsLst>
                      <a:lin ang="5400000"/>
                    </a:gradFill>
                    <a:effectLst/>
                  </a:rPr>
                  <a:t>14m of fencing?</a:t>
                </a:r>
              </a:p>
            </p:txBody>
          </p:sp>
        </p:grpSp>
        <p:pic>
          <p:nvPicPr>
            <p:cNvPr id="12" name="Picture 2" descr="http://bestclipartblog.com/clipart-pics/farmer-clip-art-4.gif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918"/>
            <a:stretch/>
          </p:blipFill>
          <p:spPr bwMode="auto">
            <a:xfrm>
              <a:off x="-313710" y="4959602"/>
              <a:ext cx="2209565" cy="1539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1796796" y="385500"/>
            <a:ext cx="6780273" cy="575034"/>
            <a:chOff x="1187624" y="764704"/>
            <a:chExt cx="7704856" cy="653445"/>
          </a:xfrm>
        </p:grpSpPr>
        <p:grpSp>
          <p:nvGrpSpPr>
            <p:cNvPr id="4" name="Group 3"/>
            <p:cNvGrpSpPr/>
            <p:nvPr/>
          </p:nvGrpSpPr>
          <p:grpSpPr>
            <a:xfrm>
              <a:off x="1187624" y="782565"/>
              <a:ext cx="648072" cy="621891"/>
              <a:chOff x="1979712" y="1124744"/>
              <a:chExt cx="1584179" cy="1584180"/>
            </a:xfrm>
          </p:grpSpPr>
          <p:pic>
            <p:nvPicPr>
              <p:cNvPr id="5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2441794" y="790885"/>
              <a:ext cx="1194102" cy="627264"/>
              <a:chOff x="2247212" y="790885"/>
              <a:chExt cx="1194102" cy="62726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2247212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9" name="Group 18"/>
              <p:cNvGrpSpPr/>
              <p:nvPr/>
            </p:nvGrpSpPr>
            <p:grpSpPr>
              <a:xfrm>
                <a:off x="2793242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5" name="Group 64"/>
            <p:cNvGrpSpPr/>
            <p:nvPr/>
          </p:nvGrpSpPr>
          <p:grpSpPr>
            <a:xfrm>
              <a:off x="4211960" y="790885"/>
              <a:ext cx="1767466" cy="627264"/>
              <a:chOff x="4089386" y="790885"/>
              <a:chExt cx="1767466" cy="62726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089386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 33"/>
              <p:cNvGrpSpPr/>
              <p:nvPr/>
            </p:nvGrpSpPr>
            <p:grpSpPr>
              <a:xfrm>
                <a:off x="4649083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9" name="Group 38"/>
              <p:cNvGrpSpPr/>
              <p:nvPr/>
            </p:nvGrpSpPr>
            <p:grpSpPr>
              <a:xfrm>
                <a:off x="5208780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6" name="Group 65"/>
            <p:cNvGrpSpPr/>
            <p:nvPr/>
          </p:nvGrpSpPr>
          <p:grpSpPr>
            <a:xfrm>
              <a:off x="6588224" y="764704"/>
              <a:ext cx="2304256" cy="627264"/>
              <a:chOff x="6516216" y="764704"/>
              <a:chExt cx="2304256" cy="627264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6516216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9" name="Group 48"/>
              <p:cNvGrpSpPr/>
              <p:nvPr/>
            </p:nvGrpSpPr>
            <p:grpSpPr>
              <a:xfrm>
                <a:off x="7075913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4" name="Group 53"/>
              <p:cNvGrpSpPr/>
              <p:nvPr/>
            </p:nvGrpSpPr>
            <p:grpSpPr>
              <a:xfrm>
                <a:off x="7635610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9" name="Group 58"/>
              <p:cNvGrpSpPr/>
              <p:nvPr/>
            </p:nvGrpSpPr>
            <p:grpSpPr>
              <a:xfrm>
                <a:off x="8172400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6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3" name="Rectangle 2"/>
          <p:cNvSpPr/>
          <p:nvPr/>
        </p:nvSpPr>
        <p:spPr>
          <a:xfrm>
            <a:off x="107504" y="980728"/>
            <a:ext cx="1362874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  <a:p>
            <a:pPr algn="ctr"/>
            <a:r>
              <a:rPr lang="en-US" sz="2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number</a:t>
            </a:r>
            <a:endParaRPr lang="en-US" sz="2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87654" y="2014101"/>
            <a:ext cx="12025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Wood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804028" y="1844824"/>
            <a:ext cx="3798769" cy="936104"/>
            <a:chOff x="1804028" y="1844824"/>
            <a:chExt cx="3798769" cy="936104"/>
          </a:xfrm>
        </p:grpSpPr>
        <p:sp>
          <p:nvSpPr>
            <p:cNvPr id="81" name="Rectangle 80"/>
            <p:cNvSpPr/>
            <p:nvPr/>
          </p:nvSpPr>
          <p:spPr>
            <a:xfrm>
              <a:off x="1804028" y="1844824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059832" y="1857598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7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716016" y="1857598"/>
              <a:ext cx="88678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10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7141603" y="185759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07504" y="260648"/>
            <a:ext cx="8796114" cy="2384975"/>
            <a:chOff x="107504" y="260648"/>
            <a:chExt cx="8796114" cy="2384975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129067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29067" y="2645623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15389" y="1052736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8878802" y="260648"/>
              <a:ext cx="24816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5388" y="1916832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595466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627784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164768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253000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107504" y="260648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 94"/>
          <p:cNvSpPr/>
          <p:nvPr/>
        </p:nvSpPr>
        <p:spPr>
          <a:xfrm>
            <a:off x="107504" y="385500"/>
            <a:ext cx="12862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1835696" y="1036126"/>
            <a:ext cx="5976664" cy="952714"/>
            <a:chOff x="1835696" y="1036126"/>
            <a:chExt cx="5976664" cy="952714"/>
          </a:xfrm>
        </p:grpSpPr>
        <p:sp>
          <p:nvSpPr>
            <p:cNvPr id="96" name="Rectangle 95"/>
            <p:cNvSpPr/>
            <p:nvPr/>
          </p:nvSpPr>
          <p:spPr>
            <a:xfrm>
              <a:off x="1835696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092535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900372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3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7276636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</p:grpSp>
      <p:sp>
        <p:nvSpPr>
          <p:cNvPr id="127" name="Freeform 126"/>
          <p:cNvSpPr/>
          <p:nvPr/>
        </p:nvSpPr>
        <p:spPr>
          <a:xfrm>
            <a:off x="2002652" y="1740742"/>
            <a:ext cx="1357745" cy="388186"/>
          </a:xfrm>
          <a:custGeom>
            <a:avLst/>
            <a:gdLst>
              <a:gd name="connsiteX0" fmla="*/ 0 w 1357745"/>
              <a:gd name="connsiteY0" fmla="*/ 524434 h 524434"/>
              <a:gd name="connsiteX1" fmla="*/ 249382 w 1357745"/>
              <a:gd name="connsiteY1" fmla="*/ 178070 h 524434"/>
              <a:gd name="connsiteX2" fmla="*/ 609600 w 1357745"/>
              <a:gd name="connsiteY2" fmla="*/ 11815 h 524434"/>
              <a:gd name="connsiteX3" fmla="*/ 942109 w 1357745"/>
              <a:gd name="connsiteY3" fmla="*/ 39524 h 524434"/>
              <a:gd name="connsiteX4" fmla="*/ 1233054 w 1357745"/>
              <a:gd name="connsiteY4" fmla="*/ 247343 h 524434"/>
              <a:gd name="connsiteX5" fmla="*/ 1357745 w 1357745"/>
              <a:gd name="connsiteY5" fmla="*/ 441306 h 52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7745" h="524434">
                <a:moveTo>
                  <a:pt x="0" y="524434"/>
                </a:moveTo>
                <a:cubicBezTo>
                  <a:pt x="73891" y="393970"/>
                  <a:pt x="147782" y="263506"/>
                  <a:pt x="249382" y="178070"/>
                </a:cubicBezTo>
                <a:cubicBezTo>
                  <a:pt x="350982" y="92633"/>
                  <a:pt x="494145" y="34906"/>
                  <a:pt x="609600" y="11815"/>
                </a:cubicBezTo>
                <a:cubicBezTo>
                  <a:pt x="725055" y="-11276"/>
                  <a:pt x="838200" y="269"/>
                  <a:pt x="942109" y="39524"/>
                </a:cubicBezTo>
                <a:cubicBezTo>
                  <a:pt x="1046018" y="78779"/>
                  <a:pt x="1163781" y="180379"/>
                  <a:pt x="1233054" y="247343"/>
                </a:cubicBezTo>
                <a:cubicBezTo>
                  <a:pt x="1302327" y="314307"/>
                  <a:pt x="1330036" y="377806"/>
                  <a:pt x="1357745" y="44130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Freeform 127"/>
          <p:cNvSpPr/>
          <p:nvPr/>
        </p:nvSpPr>
        <p:spPr>
          <a:xfrm>
            <a:off x="3514936" y="1697477"/>
            <a:ext cx="1513579" cy="363371"/>
          </a:xfrm>
          <a:custGeom>
            <a:avLst/>
            <a:gdLst>
              <a:gd name="connsiteX0" fmla="*/ 0 w 1357745"/>
              <a:gd name="connsiteY0" fmla="*/ 524434 h 524434"/>
              <a:gd name="connsiteX1" fmla="*/ 249382 w 1357745"/>
              <a:gd name="connsiteY1" fmla="*/ 178070 h 524434"/>
              <a:gd name="connsiteX2" fmla="*/ 609600 w 1357745"/>
              <a:gd name="connsiteY2" fmla="*/ 11815 h 524434"/>
              <a:gd name="connsiteX3" fmla="*/ 942109 w 1357745"/>
              <a:gd name="connsiteY3" fmla="*/ 39524 h 524434"/>
              <a:gd name="connsiteX4" fmla="*/ 1233054 w 1357745"/>
              <a:gd name="connsiteY4" fmla="*/ 247343 h 524434"/>
              <a:gd name="connsiteX5" fmla="*/ 1357745 w 1357745"/>
              <a:gd name="connsiteY5" fmla="*/ 441306 h 52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7745" h="524434">
                <a:moveTo>
                  <a:pt x="0" y="524434"/>
                </a:moveTo>
                <a:cubicBezTo>
                  <a:pt x="73891" y="393970"/>
                  <a:pt x="147782" y="263506"/>
                  <a:pt x="249382" y="178070"/>
                </a:cubicBezTo>
                <a:cubicBezTo>
                  <a:pt x="350982" y="92633"/>
                  <a:pt x="494145" y="34906"/>
                  <a:pt x="609600" y="11815"/>
                </a:cubicBezTo>
                <a:cubicBezTo>
                  <a:pt x="725055" y="-11276"/>
                  <a:pt x="838200" y="269"/>
                  <a:pt x="942109" y="39524"/>
                </a:cubicBezTo>
                <a:cubicBezTo>
                  <a:pt x="1046018" y="78779"/>
                  <a:pt x="1163781" y="180379"/>
                  <a:pt x="1233054" y="247343"/>
                </a:cubicBezTo>
                <a:cubicBezTo>
                  <a:pt x="1302327" y="314307"/>
                  <a:pt x="1330036" y="377806"/>
                  <a:pt x="1357745" y="44130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Freeform 128"/>
          <p:cNvSpPr/>
          <p:nvPr/>
        </p:nvSpPr>
        <p:spPr>
          <a:xfrm>
            <a:off x="5456881" y="1628800"/>
            <a:ext cx="1851423" cy="388187"/>
          </a:xfrm>
          <a:custGeom>
            <a:avLst/>
            <a:gdLst>
              <a:gd name="connsiteX0" fmla="*/ 0 w 1357745"/>
              <a:gd name="connsiteY0" fmla="*/ 524434 h 524434"/>
              <a:gd name="connsiteX1" fmla="*/ 249382 w 1357745"/>
              <a:gd name="connsiteY1" fmla="*/ 178070 h 524434"/>
              <a:gd name="connsiteX2" fmla="*/ 609600 w 1357745"/>
              <a:gd name="connsiteY2" fmla="*/ 11815 h 524434"/>
              <a:gd name="connsiteX3" fmla="*/ 942109 w 1357745"/>
              <a:gd name="connsiteY3" fmla="*/ 39524 h 524434"/>
              <a:gd name="connsiteX4" fmla="*/ 1233054 w 1357745"/>
              <a:gd name="connsiteY4" fmla="*/ 247343 h 524434"/>
              <a:gd name="connsiteX5" fmla="*/ 1357745 w 1357745"/>
              <a:gd name="connsiteY5" fmla="*/ 441306 h 52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7745" h="524434">
                <a:moveTo>
                  <a:pt x="0" y="524434"/>
                </a:moveTo>
                <a:cubicBezTo>
                  <a:pt x="73891" y="393970"/>
                  <a:pt x="147782" y="263506"/>
                  <a:pt x="249382" y="178070"/>
                </a:cubicBezTo>
                <a:cubicBezTo>
                  <a:pt x="350982" y="92633"/>
                  <a:pt x="494145" y="34906"/>
                  <a:pt x="609600" y="11815"/>
                </a:cubicBezTo>
                <a:cubicBezTo>
                  <a:pt x="725055" y="-11276"/>
                  <a:pt x="838200" y="269"/>
                  <a:pt x="942109" y="39524"/>
                </a:cubicBezTo>
                <a:cubicBezTo>
                  <a:pt x="1046018" y="78779"/>
                  <a:pt x="1163781" y="180379"/>
                  <a:pt x="1233054" y="247343"/>
                </a:cubicBezTo>
                <a:cubicBezTo>
                  <a:pt x="1302327" y="314307"/>
                  <a:pt x="1330036" y="377806"/>
                  <a:pt x="1357745" y="44130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/>
          <p:cNvSpPr/>
          <p:nvPr/>
        </p:nvSpPr>
        <p:spPr>
          <a:xfrm>
            <a:off x="1835696" y="264808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  <a:effectLst/>
              </a:rPr>
              <a:t>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059832" y="263691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  <a:effectLst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895993" y="263691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  <a:effectLst/>
              </a:rPr>
              <a:t>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168770" y="2649686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  <a:effectLst/>
              </a:rPr>
              <a:t>12</a:t>
            </a:r>
          </a:p>
        </p:txBody>
      </p:sp>
      <p:grpSp>
        <p:nvGrpSpPr>
          <p:cNvPr id="139" name="Group 138"/>
          <p:cNvGrpSpPr/>
          <p:nvPr/>
        </p:nvGrpSpPr>
        <p:grpSpPr>
          <a:xfrm>
            <a:off x="2523812" y="1844357"/>
            <a:ext cx="4352444" cy="462132"/>
            <a:chOff x="2523812" y="1844357"/>
            <a:chExt cx="4352444" cy="462132"/>
          </a:xfrm>
        </p:grpSpPr>
        <p:sp>
          <p:nvSpPr>
            <p:cNvPr id="136" name="TextBox 135"/>
            <p:cNvSpPr txBox="1"/>
            <p:nvPr/>
          </p:nvSpPr>
          <p:spPr>
            <a:xfrm>
              <a:off x="2523812" y="1844357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+3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139952" y="1844824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+3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382210" y="1844824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+3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-1836712" y="886457"/>
            <a:ext cx="1595466" cy="1107996"/>
            <a:chOff x="-1836712" y="886457"/>
            <a:chExt cx="1595466" cy="1107996"/>
          </a:xfrm>
        </p:grpSpPr>
        <p:sp>
          <p:nvSpPr>
            <p:cNvPr id="140" name="Oval 139"/>
            <p:cNvSpPr/>
            <p:nvPr/>
          </p:nvSpPr>
          <p:spPr>
            <a:xfrm>
              <a:off x="-1836712" y="1077820"/>
              <a:ext cx="1595466" cy="89870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-1358137" y="886457"/>
              <a:ext cx="638315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n</a:t>
              </a:r>
            </a:p>
          </p:txBody>
        </p:sp>
      </p:grpSp>
      <p:sp>
        <p:nvSpPr>
          <p:cNvPr id="143" name="Rectangle 142"/>
          <p:cNvSpPr/>
          <p:nvPr/>
        </p:nvSpPr>
        <p:spPr>
          <a:xfrm>
            <a:off x="368600" y="3636313"/>
            <a:ext cx="33525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term-to-term rule: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802041" y="3429000"/>
            <a:ext cx="1037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+ 3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187624" y="4356393"/>
            <a:ext cx="25595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</a:t>
            </a:r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 term rule: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851920" y="4161854"/>
            <a:ext cx="907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3n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4750646" y="4161854"/>
            <a:ext cx="1037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+ 1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1048521" y="2415976"/>
            <a:ext cx="826044" cy="729903"/>
            <a:chOff x="1048521" y="2415976"/>
            <a:chExt cx="826044" cy="729903"/>
          </a:xfrm>
        </p:grpSpPr>
        <p:sp>
          <p:nvSpPr>
            <p:cNvPr id="153" name="Freeform 152"/>
            <p:cNvSpPr/>
            <p:nvPr/>
          </p:nvSpPr>
          <p:spPr>
            <a:xfrm>
              <a:off x="1523078" y="2415976"/>
              <a:ext cx="351487" cy="729903"/>
            </a:xfrm>
            <a:custGeom>
              <a:avLst/>
              <a:gdLst>
                <a:gd name="connsiteX0" fmla="*/ 118688 w 249316"/>
                <a:gd name="connsiteY0" fmla="*/ 729903 h 729903"/>
                <a:gd name="connsiteX1" fmla="*/ 31602 w 249316"/>
                <a:gd name="connsiteY1" fmla="*/ 555732 h 729903"/>
                <a:gd name="connsiteX2" fmla="*/ 2573 w 249316"/>
                <a:gd name="connsiteY2" fmla="*/ 192875 h 729903"/>
                <a:gd name="connsiteX3" fmla="*/ 89659 w 249316"/>
                <a:gd name="connsiteY3" fmla="*/ 47732 h 729903"/>
                <a:gd name="connsiteX4" fmla="*/ 205773 w 249316"/>
                <a:gd name="connsiteY4" fmla="*/ 4189 h 729903"/>
                <a:gd name="connsiteX5" fmla="*/ 249316 w 249316"/>
                <a:gd name="connsiteY5" fmla="*/ 4189 h 7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316" h="729903">
                  <a:moveTo>
                    <a:pt x="118688" y="729903"/>
                  </a:moveTo>
                  <a:cubicBezTo>
                    <a:pt x="84821" y="687570"/>
                    <a:pt x="50954" y="645237"/>
                    <a:pt x="31602" y="555732"/>
                  </a:cubicBezTo>
                  <a:cubicBezTo>
                    <a:pt x="12249" y="466227"/>
                    <a:pt x="-7103" y="277542"/>
                    <a:pt x="2573" y="192875"/>
                  </a:cubicBezTo>
                  <a:cubicBezTo>
                    <a:pt x="12249" y="108208"/>
                    <a:pt x="55792" y="79180"/>
                    <a:pt x="89659" y="47732"/>
                  </a:cubicBezTo>
                  <a:cubicBezTo>
                    <a:pt x="123526" y="16284"/>
                    <a:pt x="179163" y="11446"/>
                    <a:pt x="205773" y="4189"/>
                  </a:cubicBezTo>
                  <a:cubicBezTo>
                    <a:pt x="232383" y="-3068"/>
                    <a:pt x="240849" y="560"/>
                    <a:pt x="249316" y="4189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048521" y="2557096"/>
              <a:ext cx="5469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b="1" dirty="0">
                  <a:solidFill>
                    <a:srgbClr val="FF0000"/>
                  </a:solidFill>
                </a:rPr>
                <a:t>+1</a:t>
              </a:r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4979375" y="3009834"/>
            <a:ext cx="4063447" cy="1703188"/>
            <a:chOff x="4986708" y="3797186"/>
            <a:chExt cx="4063447" cy="1703188"/>
          </a:xfrm>
        </p:grpSpPr>
        <p:sp>
          <p:nvSpPr>
            <p:cNvPr id="156" name="Cloud Callout 155"/>
            <p:cNvSpPr/>
            <p:nvPr/>
          </p:nvSpPr>
          <p:spPr>
            <a:xfrm rot="21055513" flipH="1">
              <a:off x="4986708" y="3797186"/>
              <a:ext cx="4063447" cy="1703188"/>
            </a:xfrm>
            <a:prstGeom prst="cloudCallout">
              <a:avLst/>
            </a:prstGeom>
            <a:solidFill>
              <a:srgbClr val="FACAF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5394514" y="4161854"/>
              <a:ext cx="3294683" cy="107721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What else goes up</a:t>
              </a:r>
            </a:p>
            <a:p>
              <a:pPr algn="ctr"/>
              <a:r>
                <a:rPr lang="en-US" sz="32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 in 3s ??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5034079" y="4900518"/>
            <a:ext cx="3542990" cy="1421721"/>
            <a:chOff x="4242087" y="5173514"/>
            <a:chExt cx="3542990" cy="1421721"/>
          </a:xfrm>
        </p:grpSpPr>
        <p:sp>
          <p:nvSpPr>
            <p:cNvPr id="159" name="Cloud Callout 158"/>
            <p:cNvSpPr/>
            <p:nvPr/>
          </p:nvSpPr>
          <p:spPr>
            <a:xfrm>
              <a:off x="4242087" y="5173514"/>
              <a:ext cx="3542990" cy="1421721"/>
            </a:xfrm>
            <a:prstGeom prst="cloudCallout">
              <a:avLst/>
            </a:prstGeom>
            <a:solidFill>
              <a:srgbClr val="A6FCA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4510773" y="5465193"/>
              <a:ext cx="300627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3 times tables!</a:t>
              </a:r>
            </a:p>
          </p:txBody>
        </p:sp>
      </p:grpSp>
      <p:sp>
        <p:nvSpPr>
          <p:cNvPr id="163" name="Rectangle 162"/>
          <p:cNvSpPr/>
          <p:nvPr/>
        </p:nvSpPr>
        <p:spPr>
          <a:xfrm>
            <a:off x="280003" y="2649686"/>
            <a:ext cx="907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  <a:effectLst/>
              </a:rPr>
              <a:t>3n</a:t>
            </a:r>
          </a:p>
        </p:txBody>
      </p:sp>
    </p:spTree>
    <p:extLst>
      <p:ext uri="{BB962C8B-B14F-4D97-AF65-F5344CB8AC3E}">
        <p14:creationId xmlns:p14="http://schemas.microsoft.com/office/powerpoint/2010/main" val="144315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33526E-6 L 0.0007 0.33619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16809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79769E-6 L -0.00399 0.34173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170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81503E-6 L 0.20399 -0.00024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3" grpId="0"/>
      <p:bldP spid="68" grpId="0"/>
      <p:bldP spid="84" grpId="0"/>
      <p:bldP spid="95" grpId="0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/>
      <p:bldP spid="132" grpId="0"/>
      <p:bldP spid="133" grpId="0"/>
      <p:bldP spid="134" grpId="0"/>
      <p:bldP spid="143" grpId="0"/>
      <p:bldP spid="143" grpId="1"/>
      <p:bldP spid="145" grpId="0"/>
      <p:bldP spid="145" grpId="1"/>
      <p:bldP spid="146" grpId="0"/>
      <p:bldP spid="147" grpId="0"/>
      <p:bldP spid="148" grpId="0"/>
      <p:bldP spid="1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val 134"/>
          <p:cNvSpPr/>
          <p:nvPr/>
        </p:nvSpPr>
        <p:spPr>
          <a:xfrm>
            <a:off x="0" y="1036126"/>
            <a:ext cx="1595466" cy="89870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1796796" y="385500"/>
            <a:ext cx="6780273" cy="575034"/>
            <a:chOff x="1187624" y="764704"/>
            <a:chExt cx="7704856" cy="653445"/>
          </a:xfrm>
        </p:grpSpPr>
        <p:grpSp>
          <p:nvGrpSpPr>
            <p:cNvPr id="4" name="Group 3"/>
            <p:cNvGrpSpPr/>
            <p:nvPr/>
          </p:nvGrpSpPr>
          <p:grpSpPr>
            <a:xfrm>
              <a:off x="1187624" y="782565"/>
              <a:ext cx="648072" cy="621891"/>
              <a:chOff x="1979712" y="1124744"/>
              <a:chExt cx="1584179" cy="1584180"/>
            </a:xfrm>
          </p:grpSpPr>
          <p:pic>
            <p:nvPicPr>
              <p:cNvPr id="5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2441794" y="790885"/>
              <a:ext cx="1194102" cy="627264"/>
              <a:chOff x="2247212" y="790885"/>
              <a:chExt cx="1194102" cy="62726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2247212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9" name="Group 18"/>
              <p:cNvGrpSpPr/>
              <p:nvPr/>
            </p:nvGrpSpPr>
            <p:grpSpPr>
              <a:xfrm>
                <a:off x="2793242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5" name="Group 64"/>
            <p:cNvGrpSpPr/>
            <p:nvPr/>
          </p:nvGrpSpPr>
          <p:grpSpPr>
            <a:xfrm>
              <a:off x="4211960" y="790885"/>
              <a:ext cx="1767466" cy="627264"/>
              <a:chOff x="4089386" y="790885"/>
              <a:chExt cx="1767466" cy="62726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089386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 33"/>
              <p:cNvGrpSpPr/>
              <p:nvPr/>
            </p:nvGrpSpPr>
            <p:grpSpPr>
              <a:xfrm>
                <a:off x="4649083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9" name="Group 38"/>
              <p:cNvGrpSpPr/>
              <p:nvPr/>
            </p:nvGrpSpPr>
            <p:grpSpPr>
              <a:xfrm>
                <a:off x="5208780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6" name="Group 65"/>
            <p:cNvGrpSpPr/>
            <p:nvPr/>
          </p:nvGrpSpPr>
          <p:grpSpPr>
            <a:xfrm>
              <a:off x="6588224" y="764704"/>
              <a:ext cx="2304256" cy="627264"/>
              <a:chOff x="6516216" y="764704"/>
              <a:chExt cx="2304256" cy="627264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6516216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9" name="Group 48"/>
              <p:cNvGrpSpPr/>
              <p:nvPr/>
            </p:nvGrpSpPr>
            <p:grpSpPr>
              <a:xfrm>
                <a:off x="7075913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4" name="Group 53"/>
              <p:cNvGrpSpPr/>
              <p:nvPr/>
            </p:nvGrpSpPr>
            <p:grpSpPr>
              <a:xfrm>
                <a:off x="7635610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9" name="Group 58"/>
              <p:cNvGrpSpPr/>
              <p:nvPr/>
            </p:nvGrpSpPr>
            <p:grpSpPr>
              <a:xfrm>
                <a:off x="8172400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6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68" name="Rectangle 67"/>
          <p:cNvSpPr/>
          <p:nvPr/>
        </p:nvSpPr>
        <p:spPr>
          <a:xfrm>
            <a:off x="187654" y="2014101"/>
            <a:ext cx="12025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Wood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107504" y="260648"/>
            <a:ext cx="8796114" cy="2384975"/>
            <a:chOff x="107504" y="260648"/>
            <a:chExt cx="8796114" cy="2384975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129067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29067" y="2645623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15389" y="1052736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8878802" y="260648"/>
              <a:ext cx="24816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5388" y="1916832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595466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627784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164768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253000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107504" y="260648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 94"/>
          <p:cNvSpPr/>
          <p:nvPr/>
        </p:nvSpPr>
        <p:spPr>
          <a:xfrm>
            <a:off x="107504" y="385500"/>
            <a:ext cx="12862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94587" y="6012577"/>
            <a:ext cx="33525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term-to-term rule: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187624" y="4356393"/>
            <a:ext cx="25595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</a:t>
            </a:r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 term rule: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6E7B84A-6543-69C0-C475-D079E0521930}"/>
              </a:ext>
            </a:extLst>
          </p:cNvPr>
          <p:cNvSpPr/>
          <p:nvPr/>
        </p:nvSpPr>
        <p:spPr>
          <a:xfrm>
            <a:off x="107504" y="980728"/>
            <a:ext cx="1362874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  <a:p>
            <a:pPr algn="ctr"/>
            <a:r>
              <a:rPr lang="en-US" sz="2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number</a:t>
            </a:r>
            <a:endParaRPr lang="en-US" sz="2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109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7126004" y="1154662"/>
            <a:ext cx="896915" cy="1492578"/>
            <a:chOff x="7126004" y="1154662"/>
            <a:chExt cx="896915" cy="1492578"/>
          </a:xfrm>
        </p:grpSpPr>
        <p:sp>
          <p:nvSpPr>
            <p:cNvPr id="120" name="Dodecagon 119"/>
            <p:cNvSpPr/>
            <p:nvPr/>
          </p:nvSpPr>
          <p:spPr>
            <a:xfrm>
              <a:off x="7126004" y="1154662"/>
              <a:ext cx="858631" cy="686258"/>
            </a:xfrm>
            <a:prstGeom prst="dodecagon">
              <a:avLst/>
            </a:prstGeom>
            <a:solidFill>
              <a:srgbClr val="F8AEEA"/>
            </a:solidFill>
            <a:ln>
              <a:solidFill>
                <a:srgbClr val="F8AE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Dodecagon 120"/>
            <p:cNvSpPr/>
            <p:nvPr/>
          </p:nvSpPr>
          <p:spPr>
            <a:xfrm>
              <a:off x="7164288" y="1960982"/>
              <a:ext cx="858631" cy="686258"/>
            </a:xfrm>
            <a:prstGeom prst="dodecagon">
              <a:avLst/>
            </a:prstGeom>
            <a:solidFill>
              <a:srgbClr val="F8AEEA"/>
            </a:solidFill>
            <a:ln>
              <a:solidFill>
                <a:srgbClr val="F8AE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1796796" y="385500"/>
            <a:ext cx="6780273" cy="575034"/>
            <a:chOff x="1187624" y="764704"/>
            <a:chExt cx="7704856" cy="653445"/>
          </a:xfrm>
        </p:grpSpPr>
        <p:grpSp>
          <p:nvGrpSpPr>
            <p:cNvPr id="4" name="Group 3"/>
            <p:cNvGrpSpPr/>
            <p:nvPr/>
          </p:nvGrpSpPr>
          <p:grpSpPr>
            <a:xfrm>
              <a:off x="1187624" y="782565"/>
              <a:ext cx="648072" cy="621891"/>
              <a:chOff x="1979712" y="1124744"/>
              <a:chExt cx="1584179" cy="1584180"/>
            </a:xfrm>
          </p:grpSpPr>
          <p:pic>
            <p:nvPicPr>
              <p:cNvPr id="5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2441794" y="790885"/>
              <a:ext cx="1194102" cy="627264"/>
              <a:chOff x="2247212" y="790885"/>
              <a:chExt cx="1194102" cy="62726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2247212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9" name="Group 18"/>
              <p:cNvGrpSpPr/>
              <p:nvPr/>
            </p:nvGrpSpPr>
            <p:grpSpPr>
              <a:xfrm>
                <a:off x="2793242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5" name="Group 64"/>
            <p:cNvGrpSpPr/>
            <p:nvPr/>
          </p:nvGrpSpPr>
          <p:grpSpPr>
            <a:xfrm>
              <a:off x="4211960" y="790885"/>
              <a:ext cx="1767466" cy="627264"/>
              <a:chOff x="4089386" y="790885"/>
              <a:chExt cx="1767466" cy="62726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089386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 33"/>
              <p:cNvGrpSpPr/>
              <p:nvPr/>
            </p:nvGrpSpPr>
            <p:grpSpPr>
              <a:xfrm>
                <a:off x="4649083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9" name="Group 38"/>
              <p:cNvGrpSpPr/>
              <p:nvPr/>
            </p:nvGrpSpPr>
            <p:grpSpPr>
              <a:xfrm>
                <a:off x="5208780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6" name="Group 65"/>
            <p:cNvGrpSpPr/>
            <p:nvPr/>
          </p:nvGrpSpPr>
          <p:grpSpPr>
            <a:xfrm>
              <a:off x="6588224" y="764704"/>
              <a:ext cx="2304256" cy="627264"/>
              <a:chOff x="6516216" y="764704"/>
              <a:chExt cx="2304256" cy="627264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6516216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9" name="Group 48"/>
              <p:cNvGrpSpPr/>
              <p:nvPr/>
            </p:nvGrpSpPr>
            <p:grpSpPr>
              <a:xfrm>
                <a:off x="7075913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4" name="Group 53"/>
              <p:cNvGrpSpPr/>
              <p:nvPr/>
            </p:nvGrpSpPr>
            <p:grpSpPr>
              <a:xfrm>
                <a:off x="7635610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9" name="Group 58"/>
              <p:cNvGrpSpPr/>
              <p:nvPr/>
            </p:nvGrpSpPr>
            <p:grpSpPr>
              <a:xfrm>
                <a:off x="8172400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6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68" name="Rectangle 67"/>
          <p:cNvSpPr/>
          <p:nvPr/>
        </p:nvSpPr>
        <p:spPr>
          <a:xfrm>
            <a:off x="187654" y="2014101"/>
            <a:ext cx="12025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Wood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804028" y="1844824"/>
            <a:ext cx="3798769" cy="936104"/>
            <a:chOff x="1804028" y="1844824"/>
            <a:chExt cx="3798769" cy="936104"/>
          </a:xfrm>
        </p:grpSpPr>
        <p:sp>
          <p:nvSpPr>
            <p:cNvPr id="81" name="Rectangle 80"/>
            <p:cNvSpPr/>
            <p:nvPr/>
          </p:nvSpPr>
          <p:spPr>
            <a:xfrm>
              <a:off x="1804028" y="1844824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059832" y="1857598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7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716016" y="1857598"/>
              <a:ext cx="88678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10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7141603" y="185759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07504" y="260648"/>
            <a:ext cx="8796114" cy="2384975"/>
            <a:chOff x="107504" y="260648"/>
            <a:chExt cx="8796114" cy="2384975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129067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29067" y="2645623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15389" y="1052736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8878802" y="260648"/>
              <a:ext cx="24816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5388" y="1916832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595466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627784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164768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253000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107504" y="260648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 94"/>
          <p:cNvSpPr/>
          <p:nvPr/>
        </p:nvSpPr>
        <p:spPr>
          <a:xfrm>
            <a:off x="107504" y="385500"/>
            <a:ext cx="12862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1835696" y="1036126"/>
            <a:ext cx="5976664" cy="952714"/>
            <a:chOff x="1835696" y="1036126"/>
            <a:chExt cx="5976664" cy="952714"/>
          </a:xfrm>
        </p:grpSpPr>
        <p:sp>
          <p:nvSpPr>
            <p:cNvPr id="96" name="Rectangle 95"/>
            <p:cNvSpPr/>
            <p:nvPr/>
          </p:nvSpPr>
          <p:spPr>
            <a:xfrm>
              <a:off x="1835696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092535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900372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3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7276636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</p:grpSp>
      <p:sp>
        <p:nvSpPr>
          <p:cNvPr id="141" name="Rectangle 140"/>
          <p:cNvSpPr/>
          <p:nvPr/>
        </p:nvSpPr>
        <p:spPr>
          <a:xfrm>
            <a:off x="467544" y="836712"/>
            <a:ext cx="6383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8469" y="2899396"/>
            <a:ext cx="25595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</a:t>
            </a:r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 term rule: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84515" y="2636912"/>
            <a:ext cx="907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3n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3683241" y="2636912"/>
            <a:ext cx="1037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+ 1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902" y="3853091"/>
            <a:ext cx="3979711" cy="3014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 101"/>
          <p:cNvGrpSpPr/>
          <p:nvPr/>
        </p:nvGrpSpPr>
        <p:grpSpPr>
          <a:xfrm>
            <a:off x="128728" y="3732938"/>
            <a:ext cx="5859875" cy="2707954"/>
            <a:chOff x="2303190" y="2325175"/>
            <a:chExt cx="5859875" cy="2707954"/>
          </a:xfrm>
        </p:grpSpPr>
        <p:sp>
          <p:nvSpPr>
            <p:cNvPr id="105" name="TextBox 104"/>
            <p:cNvSpPr txBox="1"/>
            <p:nvPr/>
          </p:nvSpPr>
          <p:spPr>
            <a:xfrm>
              <a:off x="2303190" y="2355473"/>
              <a:ext cx="3383709" cy="2677656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2400" b="1" i="1" dirty="0">
                  <a:solidFill>
                    <a:srgbClr val="FF0000"/>
                  </a:solidFill>
                  <a:latin typeface="Arial Black" pitchFamily="34" charset="0"/>
                </a:rPr>
                <a:t>Task: </a:t>
              </a:r>
            </a:p>
            <a:p>
              <a:r>
                <a:rPr lang="en-GB" sz="2400" dirty="0">
                  <a:latin typeface="Arial Black" pitchFamily="34" charset="0"/>
                </a:rPr>
                <a:t>Use the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nth term rule </a:t>
              </a:r>
              <a:r>
                <a:rPr lang="en-GB" sz="2400" dirty="0">
                  <a:latin typeface="Arial Black" pitchFamily="34" charset="0"/>
                </a:rPr>
                <a:t>to calculate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how many</a:t>
              </a:r>
              <a:r>
                <a:rPr lang="en-GB" sz="2400" dirty="0">
                  <a:latin typeface="Arial Black" pitchFamily="34" charset="0"/>
                </a:rPr>
                <a:t> pieces of wood are needed for a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14m section</a:t>
              </a:r>
              <a:r>
                <a:rPr lang="en-GB" sz="2400" dirty="0">
                  <a:latin typeface="Arial Black" pitchFamily="34" charset="0"/>
                </a:rPr>
                <a:t> of fence</a:t>
              </a:r>
            </a:p>
          </p:txBody>
        </p:sp>
        <p:pic>
          <p:nvPicPr>
            <p:cNvPr id="104" name="Picture 10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6652" y="2325175"/>
              <a:ext cx="2426413" cy="1631088"/>
            </a:xfrm>
            <a:prstGeom prst="rect">
              <a:avLst/>
            </a:prstGeom>
          </p:spPr>
        </p:pic>
      </p:grpSp>
      <p:sp>
        <p:nvSpPr>
          <p:cNvPr id="31" name="Rounded Rectangle 30"/>
          <p:cNvSpPr/>
          <p:nvPr/>
        </p:nvSpPr>
        <p:spPr>
          <a:xfrm>
            <a:off x="4359666" y="3473490"/>
            <a:ext cx="4676829" cy="32571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/>
          <p:cNvSpPr txBox="1"/>
          <p:nvPr/>
        </p:nvSpPr>
        <p:spPr>
          <a:xfrm>
            <a:off x="6301082" y="3597116"/>
            <a:ext cx="1495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  <a:cs typeface="MV Boli" pitchFamily="2" charset="0"/>
              </a:rPr>
              <a:t>n=14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21336" y="4225317"/>
            <a:ext cx="1899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3n+1 =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81552" y="4871648"/>
            <a:ext cx="265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(3</a:t>
            </a:r>
            <a:r>
              <a:rPr lang="en-GB" sz="3200" dirty="0">
                <a:latin typeface="Segoe Print" pitchFamily="2" charset="0"/>
              </a:rPr>
              <a:t>x</a:t>
            </a:r>
            <a:r>
              <a:rPr lang="en-GB" sz="3600" dirty="0">
                <a:latin typeface="Segoe Print" pitchFamily="2" charset="0"/>
              </a:rPr>
              <a:t>14)+1=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98081" y="5405256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=</a:t>
            </a:r>
            <a:r>
              <a:rPr lang="en-GB" sz="4800" u="sng" dirty="0">
                <a:latin typeface="Segoe Print" pitchFamily="2" charset="0"/>
              </a:rPr>
              <a:t>43</a:t>
            </a:r>
          </a:p>
        </p:txBody>
      </p:sp>
      <p:pic>
        <p:nvPicPr>
          <p:cNvPr id="1026" name="Picture 2" descr="C:\Users\David\AppData\Local\Microsoft\Windows\Temporary Internet Files\Content.IE5\KV9LD3FI\MC900434713[1]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694" y="5895287"/>
            <a:ext cx="623432" cy="65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bestclipartblog.com/clipart-pics/farmer-clip-art-4.gif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18"/>
          <a:stretch/>
        </p:blipFill>
        <p:spPr bwMode="auto">
          <a:xfrm>
            <a:off x="2777984" y="5341522"/>
            <a:ext cx="1673836" cy="128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66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1796796" y="385500"/>
            <a:ext cx="6780273" cy="575034"/>
            <a:chOff x="1187624" y="764704"/>
            <a:chExt cx="7704856" cy="653445"/>
          </a:xfrm>
        </p:grpSpPr>
        <p:grpSp>
          <p:nvGrpSpPr>
            <p:cNvPr id="4" name="Group 3"/>
            <p:cNvGrpSpPr/>
            <p:nvPr/>
          </p:nvGrpSpPr>
          <p:grpSpPr>
            <a:xfrm>
              <a:off x="1187624" y="782565"/>
              <a:ext cx="648072" cy="621891"/>
              <a:chOff x="1979712" y="1124744"/>
              <a:chExt cx="1584179" cy="1584180"/>
            </a:xfrm>
          </p:grpSpPr>
          <p:pic>
            <p:nvPicPr>
              <p:cNvPr id="5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63"/>
            <p:cNvGrpSpPr/>
            <p:nvPr/>
          </p:nvGrpSpPr>
          <p:grpSpPr>
            <a:xfrm>
              <a:off x="2441794" y="790885"/>
              <a:ext cx="1194102" cy="627264"/>
              <a:chOff x="2247212" y="790885"/>
              <a:chExt cx="1194102" cy="62726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2247212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9" name="Group 18"/>
              <p:cNvGrpSpPr/>
              <p:nvPr/>
            </p:nvGrpSpPr>
            <p:grpSpPr>
              <a:xfrm>
                <a:off x="2793242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5" name="Group 64"/>
            <p:cNvGrpSpPr/>
            <p:nvPr/>
          </p:nvGrpSpPr>
          <p:grpSpPr>
            <a:xfrm>
              <a:off x="4211960" y="790885"/>
              <a:ext cx="1767466" cy="627264"/>
              <a:chOff x="4089386" y="790885"/>
              <a:chExt cx="1767466" cy="62726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089386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2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 33"/>
              <p:cNvGrpSpPr/>
              <p:nvPr/>
            </p:nvGrpSpPr>
            <p:grpSpPr>
              <a:xfrm>
                <a:off x="4649083" y="790885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3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9" name="Group 38"/>
              <p:cNvGrpSpPr/>
              <p:nvPr/>
            </p:nvGrpSpPr>
            <p:grpSpPr>
              <a:xfrm>
                <a:off x="5208780" y="796258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6" name="Group 65"/>
            <p:cNvGrpSpPr/>
            <p:nvPr/>
          </p:nvGrpSpPr>
          <p:grpSpPr>
            <a:xfrm>
              <a:off x="6588224" y="764704"/>
              <a:ext cx="2304256" cy="627264"/>
              <a:chOff x="6516216" y="764704"/>
              <a:chExt cx="2304256" cy="627264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6516216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4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9" name="Group 48"/>
              <p:cNvGrpSpPr/>
              <p:nvPr/>
            </p:nvGrpSpPr>
            <p:grpSpPr>
              <a:xfrm>
                <a:off x="7075913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4" name="Group 53"/>
              <p:cNvGrpSpPr/>
              <p:nvPr/>
            </p:nvGrpSpPr>
            <p:grpSpPr>
              <a:xfrm>
                <a:off x="7635610" y="770077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55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8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9" name="Group 58"/>
              <p:cNvGrpSpPr/>
              <p:nvPr/>
            </p:nvGrpSpPr>
            <p:grpSpPr>
              <a:xfrm>
                <a:off x="8172400" y="764704"/>
                <a:ext cx="648072" cy="621891"/>
                <a:chOff x="1979712" y="1124744"/>
                <a:chExt cx="1584179" cy="1584180"/>
              </a:xfrm>
            </p:grpSpPr>
            <p:pic>
              <p:nvPicPr>
                <p:cNvPr id="6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1295636" y="180882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 rot="5400000">
                  <a:off x="2663788" y="1808822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3" y="1916831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032" t="36112" r="41212" b="53814"/>
                <a:stretch/>
              </p:blipFill>
              <p:spPr bwMode="auto">
                <a:xfrm>
                  <a:off x="1979712" y="1124744"/>
                  <a:ext cx="1584178" cy="216025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68" name="Rectangle 67"/>
          <p:cNvSpPr/>
          <p:nvPr/>
        </p:nvSpPr>
        <p:spPr>
          <a:xfrm>
            <a:off x="187654" y="2014101"/>
            <a:ext cx="12025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Wood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804028" y="1844824"/>
            <a:ext cx="3798769" cy="936104"/>
            <a:chOff x="1804028" y="1844824"/>
            <a:chExt cx="3798769" cy="936104"/>
          </a:xfrm>
        </p:grpSpPr>
        <p:sp>
          <p:nvSpPr>
            <p:cNvPr id="81" name="Rectangle 80"/>
            <p:cNvSpPr/>
            <p:nvPr/>
          </p:nvSpPr>
          <p:spPr>
            <a:xfrm>
              <a:off x="1804028" y="1844824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059832" y="1857598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7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716016" y="1857598"/>
              <a:ext cx="88678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10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7141603" y="185759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13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107504" y="260648"/>
            <a:ext cx="8796114" cy="2384975"/>
            <a:chOff x="107504" y="260648"/>
            <a:chExt cx="8796114" cy="2384975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129067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29067" y="2645623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15389" y="1052736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8878802" y="260648"/>
              <a:ext cx="24816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5388" y="1916832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595466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627784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164768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253000" y="260648"/>
              <a:ext cx="0" cy="23849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107504" y="260648"/>
              <a:ext cx="876341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 94"/>
          <p:cNvSpPr/>
          <p:nvPr/>
        </p:nvSpPr>
        <p:spPr>
          <a:xfrm>
            <a:off x="107504" y="385500"/>
            <a:ext cx="12862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Pattern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1835696" y="1036126"/>
            <a:ext cx="5976664" cy="952714"/>
            <a:chOff x="1835696" y="1036126"/>
            <a:chExt cx="5976664" cy="952714"/>
          </a:xfrm>
        </p:grpSpPr>
        <p:sp>
          <p:nvSpPr>
            <p:cNvPr id="96" name="Rectangle 95"/>
            <p:cNvSpPr/>
            <p:nvPr/>
          </p:nvSpPr>
          <p:spPr>
            <a:xfrm>
              <a:off x="1835696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092535" y="1036126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900372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3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7276636" y="1065510"/>
              <a:ext cx="5357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4</a:t>
              </a:r>
            </a:p>
          </p:txBody>
        </p:sp>
      </p:grpSp>
      <p:sp>
        <p:nvSpPr>
          <p:cNvPr id="141" name="Rectangle 140"/>
          <p:cNvSpPr/>
          <p:nvPr/>
        </p:nvSpPr>
        <p:spPr>
          <a:xfrm>
            <a:off x="467544" y="836712"/>
            <a:ext cx="6383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8469" y="2899396"/>
            <a:ext cx="25595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n</a:t>
            </a:r>
            <a:r>
              <a:rPr lang="en-US" sz="32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 term rule: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84515" y="2636912"/>
            <a:ext cx="907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3n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3683241" y="2636912"/>
            <a:ext cx="1037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+ 1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128728" y="3732938"/>
            <a:ext cx="5859875" cy="2707954"/>
            <a:chOff x="2303190" y="2325175"/>
            <a:chExt cx="5859875" cy="2707954"/>
          </a:xfrm>
        </p:grpSpPr>
        <p:sp>
          <p:nvSpPr>
            <p:cNvPr id="105" name="TextBox 104"/>
            <p:cNvSpPr txBox="1"/>
            <p:nvPr/>
          </p:nvSpPr>
          <p:spPr>
            <a:xfrm>
              <a:off x="2303190" y="2355473"/>
              <a:ext cx="3383709" cy="2677656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2400" b="1" i="1" dirty="0">
                  <a:solidFill>
                    <a:srgbClr val="FF0000"/>
                  </a:solidFill>
                  <a:latin typeface="Arial Black" pitchFamily="34" charset="0"/>
                </a:rPr>
                <a:t>Task: </a:t>
              </a:r>
            </a:p>
            <a:p>
              <a:r>
                <a:rPr lang="en-GB" sz="2400" dirty="0">
                  <a:latin typeface="Arial Black" pitchFamily="34" charset="0"/>
                </a:rPr>
                <a:t>Use the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nth term rule </a:t>
              </a:r>
              <a:r>
                <a:rPr lang="en-GB" sz="2400" dirty="0">
                  <a:latin typeface="Arial Black" pitchFamily="34" charset="0"/>
                </a:rPr>
                <a:t>to calculate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how many</a:t>
              </a:r>
              <a:r>
                <a:rPr lang="en-GB" sz="2400" dirty="0">
                  <a:latin typeface="Arial Black" pitchFamily="34" charset="0"/>
                </a:rPr>
                <a:t> pieces of wood are needed for a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14m section</a:t>
              </a:r>
              <a:r>
                <a:rPr lang="en-GB" sz="2400" dirty="0">
                  <a:latin typeface="Arial Black" pitchFamily="34" charset="0"/>
                </a:rPr>
                <a:t> of fence</a:t>
              </a:r>
            </a:p>
          </p:txBody>
        </p:sp>
        <p:pic>
          <p:nvPicPr>
            <p:cNvPr id="104" name="Picture 10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6652" y="2325175"/>
              <a:ext cx="2426413" cy="1631088"/>
            </a:xfrm>
            <a:prstGeom prst="rect">
              <a:avLst/>
            </a:prstGeom>
          </p:spPr>
        </p:pic>
      </p:grpSp>
      <p:sp>
        <p:nvSpPr>
          <p:cNvPr id="31" name="Rounded Rectangle 30"/>
          <p:cNvSpPr/>
          <p:nvPr/>
        </p:nvSpPr>
        <p:spPr>
          <a:xfrm>
            <a:off x="3562107" y="3484171"/>
            <a:ext cx="4676829" cy="32571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/>
          <p:cNvSpPr txBox="1"/>
          <p:nvPr/>
        </p:nvSpPr>
        <p:spPr>
          <a:xfrm>
            <a:off x="5112359" y="3617859"/>
            <a:ext cx="1495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  <a:cs typeface="MV Boli" pitchFamily="2" charset="0"/>
              </a:rPr>
              <a:t>n=14</a:t>
            </a:r>
          </a:p>
        </p:txBody>
      </p:sp>
    </p:spTree>
    <p:extLst>
      <p:ext uri="{BB962C8B-B14F-4D97-AF65-F5344CB8AC3E}">
        <p14:creationId xmlns:p14="http://schemas.microsoft.com/office/powerpoint/2010/main" val="283442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444" y="2017126"/>
            <a:ext cx="830204" cy="87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33" y="1532384"/>
            <a:ext cx="830204" cy="87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517" y="1078690"/>
            <a:ext cx="823447" cy="868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118" y="2293878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2127712" y="244380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5238821" y="181175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2127712" y="588215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>
            <a:off x="5244648" y="516207"/>
            <a:ext cx="3500252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>
            <a:off x="249849" y="313724"/>
            <a:ext cx="271853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7" t="55995" r="30479" b="35886"/>
          <a:stretch/>
        </p:blipFill>
        <p:spPr bwMode="auto">
          <a:xfrm>
            <a:off x="305938" y="657559"/>
            <a:ext cx="1943775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/>
          <p:cNvGrpSpPr/>
          <p:nvPr/>
        </p:nvGrpSpPr>
        <p:grpSpPr>
          <a:xfrm>
            <a:off x="402249" y="5661248"/>
            <a:ext cx="8495051" cy="862996"/>
            <a:chOff x="249849" y="181175"/>
            <a:chExt cx="8495051" cy="862996"/>
          </a:xfrm>
        </p:grpSpPr>
        <p:grpSp>
          <p:nvGrpSpPr>
            <p:cNvPr id="33" name="Group 32"/>
            <p:cNvGrpSpPr/>
            <p:nvPr/>
          </p:nvGrpSpPr>
          <p:grpSpPr>
            <a:xfrm>
              <a:off x="2127712" y="181175"/>
              <a:ext cx="6617188" cy="862996"/>
              <a:chOff x="1604907" y="213648"/>
              <a:chExt cx="6617188" cy="862996"/>
            </a:xfrm>
          </p:grpSpPr>
          <p:pic>
            <p:nvPicPr>
              <p:cNvPr id="36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1604907" y="276853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4716016" y="213648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1604907" y="620688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4" descr="http://hilarymetcalf.files.wordpress.com/2012/05/barbed-wire7.png?w=500"/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371" t="6150" r="13133" b="84276"/>
              <a:stretch/>
            </p:blipFill>
            <p:spPr bwMode="auto">
              <a:xfrm>
                <a:off x="4721843" y="548680"/>
                <a:ext cx="3500252" cy="4559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" name="Picture 4" descr="http://hilarymetcalf.files.wordpress.com/2012/05/barbed-wire7.png?w=500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06" t="55995" r="14212" b="35886"/>
            <a:stretch/>
          </p:blipFill>
          <p:spPr bwMode="auto">
            <a:xfrm>
              <a:off x="249849" y="313724"/>
              <a:ext cx="2718539" cy="38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http://hilarymetcalf.files.wordpress.com/2012/05/barbed-wire7.png?w=500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07" t="55995" r="30479" b="35886"/>
            <a:stretch/>
          </p:blipFill>
          <p:spPr bwMode="auto">
            <a:xfrm>
              <a:off x="305938" y="657559"/>
              <a:ext cx="1943775" cy="38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 rot="16200000">
            <a:off x="-770181" y="3599111"/>
            <a:ext cx="2415518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4" r="13133" b="87004"/>
          <a:stretch/>
        </p:blipFill>
        <p:spPr bwMode="auto">
          <a:xfrm rot="16200000">
            <a:off x="-898436" y="1517190"/>
            <a:ext cx="2415518" cy="32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 rot="16200000">
            <a:off x="-465779" y="5199423"/>
            <a:ext cx="187605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7139" r="13133" b="87004"/>
          <a:stretch/>
        </p:blipFill>
        <p:spPr bwMode="auto">
          <a:xfrm rot="16200000">
            <a:off x="-1068286" y="1540647"/>
            <a:ext cx="2415518" cy="27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49" r="13133" b="87814"/>
          <a:stretch/>
        </p:blipFill>
        <p:spPr bwMode="auto">
          <a:xfrm rot="16200000">
            <a:off x="-1041024" y="3854900"/>
            <a:ext cx="2415518" cy="28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t="9168" r="13133" b="87814"/>
          <a:stretch/>
        </p:blipFill>
        <p:spPr bwMode="auto">
          <a:xfrm rot="16200000">
            <a:off x="-839264" y="5218536"/>
            <a:ext cx="2181858" cy="1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991" y="157546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838" y="245250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9629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0" r="13133" b="84276"/>
          <a:stretch/>
        </p:blipFill>
        <p:spPr bwMode="auto">
          <a:xfrm rot="16200000">
            <a:off x="7525236" y="3446769"/>
            <a:ext cx="2415518" cy="45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54" r="13133" b="87004"/>
          <a:stretch/>
        </p:blipFill>
        <p:spPr bwMode="auto">
          <a:xfrm rot="16200000">
            <a:off x="7396981" y="1364848"/>
            <a:ext cx="2415518" cy="32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6" t="55995" r="14212" b="35886"/>
          <a:stretch/>
        </p:blipFill>
        <p:spPr bwMode="auto">
          <a:xfrm rot="16200000">
            <a:off x="7829638" y="5181836"/>
            <a:ext cx="1876059" cy="38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7622" r="13133" b="87004"/>
          <a:stretch/>
        </p:blipFill>
        <p:spPr bwMode="auto">
          <a:xfrm rot="16200000">
            <a:off x="7238636" y="1399809"/>
            <a:ext cx="2415518" cy="25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1" t="6149" r="13133" b="87814"/>
          <a:stretch/>
        </p:blipFill>
        <p:spPr bwMode="auto">
          <a:xfrm rot="16200000">
            <a:off x="7254393" y="3702558"/>
            <a:ext cx="2415518" cy="28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 descr="http://hilarymetcalf.files.wordpress.com/2012/05/barbed-wire7.png?w=500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t="9168" r="13133" b="87814"/>
          <a:stretch/>
        </p:blipFill>
        <p:spPr bwMode="auto">
          <a:xfrm rot="16200000">
            <a:off x="7456153" y="5066194"/>
            <a:ext cx="2181858" cy="14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340895" y="181175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146274" y="147391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561572" y="57763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316906" y="75808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479810" y="5648894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285189" y="5615110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676456" y="5516218"/>
            <a:ext cx="152400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 descr="http://www.alphaerosionproducts.com/images/products/wood_post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t="10935" r="45482" b="47433"/>
          <a:stretch/>
        </p:blipFill>
        <p:spPr bwMode="auto">
          <a:xfrm>
            <a:off x="8477799" y="5516218"/>
            <a:ext cx="126649" cy="7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78690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61" y="145928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949" y="2293878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240" y="473145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57" y="3556969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960" y="4890074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274" y="4233870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532" y="340462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83" y="3896862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071" y="4731451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555" y="3548477"/>
            <a:ext cx="529031" cy="4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078" y="4487333"/>
            <a:ext cx="765637" cy="905396"/>
          </a:xfrm>
          <a:prstGeom prst="rect">
            <a:avLst/>
          </a:prstGeom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68" y="4805175"/>
            <a:ext cx="725991" cy="85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428999" y="2935076"/>
            <a:ext cx="8098537" cy="660853"/>
            <a:chOff x="428999" y="2935076"/>
            <a:chExt cx="8098537" cy="660853"/>
          </a:xfrm>
        </p:grpSpPr>
        <p:grpSp>
          <p:nvGrpSpPr>
            <p:cNvPr id="84" name="Group 83"/>
            <p:cNvGrpSpPr/>
            <p:nvPr/>
          </p:nvGrpSpPr>
          <p:grpSpPr>
            <a:xfrm>
              <a:off x="428999" y="2974038"/>
              <a:ext cx="648072" cy="621891"/>
              <a:chOff x="1979712" y="1124744"/>
              <a:chExt cx="1584179" cy="1584180"/>
            </a:xfrm>
          </p:grpSpPr>
          <p:pic>
            <p:nvPicPr>
              <p:cNvPr id="8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9" name="Group 88"/>
            <p:cNvGrpSpPr/>
            <p:nvPr/>
          </p:nvGrpSpPr>
          <p:grpSpPr>
            <a:xfrm>
              <a:off x="1538326" y="2963315"/>
              <a:ext cx="648072" cy="621891"/>
              <a:chOff x="1979712" y="1124744"/>
              <a:chExt cx="1584179" cy="1584180"/>
            </a:xfrm>
          </p:grpSpPr>
          <p:pic>
            <p:nvPicPr>
              <p:cNvPr id="9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4" name="Group 93"/>
            <p:cNvGrpSpPr/>
            <p:nvPr/>
          </p:nvGrpSpPr>
          <p:grpSpPr>
            <a:xfrm>
              <a:off x="3273679" y="2963313"/>
              <a:ext cx="648072" cy="621891"/>
              <a:chOff x="1979712" y="1124744"/>
              <a:chExt cx="1584179" cy="1584180"/>
            </a:xfrm>
          </p:grpSpPr>
          <p:pic>
            <p:nvPicPr>
              <p:cNvPr id="9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9" name="Group 98"/>
            <p:cNvGrpSpPr/>
            <p:nvPr/>
          </p:nvGrpSpPr>
          <p:grpSpPr>
            <a:xfrm>
              <a:off x="2123728" y="2951125"/>
              <a:ext cx="648072" cy="621891"/>
              <a:chOff x="1979712" y="1124744"/>
              <a:chExt cx="1584179" cy="1584180"/>
            </a:xfrm>
          </p:grpSpPr>
          <p:pic>
            <p:nvPicPr>
              <p:cNvPr id="100" name="Picture 2"/>
              <p:cNvPicPr>
                <a:picLocks noChangeAspect="1" noChangeArrowheads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4" name="Group 103"/>
            <p:cNvGrpSpPr/>
            <p:nvPr/>
          </p:nvGrpSpPr>
          <p:grpSpPr>
            <a:xfrm>
              <a:off x="2698130" y="2951123"/>
              <a:ext cx="648072" cy="621891"/>
              <a:chOff x="1979712" y="1124744"/>
              <a:chExt cx="1584179" cy="1584180"/>
            </a:xfrm>
          </p:grpSpPr>
          <p:pic>
            <p:nvPicPr>
              <p:cNvPr id="10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9" name="Group 108"/>
            <p:cNvGrpSpPr/>
            <p:nvPr/>
          </p:nvGrpSpPr>
          <p:grpSpPr>
            <a:xfrm>
              <a:off x="5582845" y="2951121"/>
              <a:ext cx="648072" cy="621891"/>
              <a:chOff x="1979712" y="1124744"/>
              <a:chExt cx="1584179" cy="1584180"/>
            </a:xfrm>
          </p:grpSpPr>
          <p:pic>
            <p:nvPicPr>
              <p:cNvPr id="11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4" name="Group 113"/>
            <p:cNvGrpSpPr/>
            <p:nvPr/>
          </p:nvGrpSpPr>
          <p:grpSpPr>
            <a:xfrm>
              <a:off x="3851920" y="2951125"/>
              <a:ext cx="648072" cy="621891"/>
              <a:chOff x="1979712" y="1124744"/>
              <a:chExt cx="1584179" cy="1584180"/>
            </a:xfrm>
          </p:grpSpPr>
          <p:pic>
            <p:nvPicPr>
              <p:cNvPr id="11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9" name="Group 118"/>
            <p:cNvGrpSpPr/>
            <p:nvPr/>
          </p:nvGrpSpPr>
          <p:grpSpPr>
            <a:xfrm>
              <a:off x="4455804" y="2935078"/>
              <a:ext cx="648072" cy="621891"/>
              <a:chOff x="1979712" y="1124744"/>
              <a:chExt cx="1584179" cy="158418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4" name="Group 123"/>
            <p:cNvGrpSpPr/>
            <p:nvPr/>
          </p:nvGrpSpPr>
          <p:grpSpPr>
            <a:xfrm>
              <a:off x="5015501" y="2951125"/>
              <a:ext cx="648072" cy="621891"/>
              <a:chOff x="1979712" y="1124744"/>
              <a:chExt cx="1584179" cy="1584180"/>
            </a:xfrm>
          </p:grpSpPr>
          <p:pic>
            <p:nvPicPr>
              <p:cNvPr id="12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9" name="Group 128"/>
            <p:cNvGrpSpPr/>
            <p:nvPr/>
          </p:nvGrpSpPr>
          <p:grpSpPr>
            <a:xfrm>
              <a:off x="981538" y="2974038"/>
              <a:ext cx="648072" cy="621891"/>
              <a:chOff x="1979712" y="1124744"/>
              <a:chExt cx="1584179" cy="1584180"/>
            </a:xfrm>
          </p:grpSpPr>
          <p:pic>
            <p:nvPicPr>
              <p:cNvPr id="13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4" name="Group 133"/>
            <p:cNvGrpSpPr/>
            <p:nvPr/>
          </p:nvGrpSpPr>
          <p:grpSpPr>
            <a:xfrm>
              <a:off x="6156176" y="2951125"/>
              <a:ext cx="648072" cy="621891"/>
              <a:chOff x="1979712" y="1124744"/>
              <a:chExt cx="1584179" cy="1584180"/>
            </a:xfrm>
          </p:grpSpPr>
          <p:pic>
            <p:nvPicPr>
              <p:cNvPr id="13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9" name="Group 138"/>
            <p:cNvGrpSpPr/>
            <p:nvPr/>
          </p:nvGrpSpPr>
          <p:grpSpPr>
            <a:xfrm>
              <a:off x="6732240" y="2951125"/>
              <a:ext cx="648072" cy="621891"/>
              <a:chOff x="1979712" y="1124744"/>
              <a:chExt cx="1584179" cy="1584180"/>
            </a:xfrm>
          </p:grpSpPr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4" name="Group 143"/>
            <p:cNvGrpSpPr/>
            <p:nvPr/>
          </p:nvGrpSpPr>
          <p:grpSpPr>
            <a:xfrm>
              <a:off x="7291937" y="2951125"/>
              <a:ext cx="648072" cy="621891"/>
              <a:chOff x="1979712" y="1124744"/>
              <a:chExt cx="1584179" cy="1584180"/>
            </a:xfrm>
          </p:grpSpPr>
          <p:pic>
            <p:nvPicPr>
              <p:cNvPr id="145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7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8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9" name="Group 148"/>
            <p:cNvGrpSpPr/>
            <p:nvPr/>
          </p:nvGrpSpPr>
          <p:grpSpPr>
            <a:xfrm>
              <a:off x="7879464" y="2935076"/>
              <a:ext cx="648072" cy="621891"/>
              <a:chOff x="1979712" y="1124744"/>
              <a:chExt cx="1584179" cy="1584180"/>
            </a:xfrm>
          </p:grpSpPr>
          <p:pic>
            <p:nvPicPr>
              <p:cNvPr id="150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1295636" y="180882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1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 rot="5400000">
                <a:off x="2663788" y="1808822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2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3" y="1916831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" name="Picture 2"/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32" t="36112" r="41212" b="53814"/>
              <a:stretch/>
            </p:blipFill>
            <p:spPr bwMode="auto">
              <a:xfrm>
                <a:off x="1979712" y="1124744"/>
                <a:ext cx="1584178" cy="21602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" name="Group 2"/>
          <p:cNvGrpSpPr/>
          <p:nvPr/>
        </p:nvGrpSpPr>
        <p:grpSpPr>
          <a:xfrm>
            <a:off x="1787462" y="4056659"/>
            <a:ext cx="4212376" cy="849753"/>
            <a:chOff x="1787462" y="4056659"/>
            <a:chExt cx="4212376" cy="849753"/>
          </a:xfrm>
        </p:grpSpPr>
        <p:pic>
          <p:nvPicPr>
            <p:cNvPr id="2050" name="Picture 2" descr="http://upload.wikimedia.org/wikipedia/commons/2/2e/Exclamation_mark_red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915" y="4129168"/>
              <a:ext cx="760906" cy="76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4" name="Picture 2" descr="http://upload.wikimedia.org/wikipedia/commons/2/2e/Exclamation_mark_red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224393">
              <a:off x="1787462" y="4116778"/>
              <a:ext cx="760906" cy="76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5" name="Picture 2" descr="http://upload.wikimedia.org/wikipedia/commons/2/2e/Exclamation_mark_red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3150">
              <a:off x="5238932" y="4145506"/>
              <a:ext cx="760906" cy="76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 descr="http://upload.wikimedia.org/wikipedia/commons/2/2e/Exclamation_mark_red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3251" y="4056659"/>
              <a:ext cx="760906" cy="76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7" name="Picture 2" descr="http://thumb10.shutterstock.com/thumb_small/420568/420568,1302960584,1/stock-photo-wooden-gate-green-weathered-aged-isolated-garden-fence-entrance-old-rustic-retro-vintage-picket-75356278.jpg">
            <a:hlinkClick r:id="rId17"/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8" r="16391"/>
          <a:stretch/>
        </p:blipFill>
        <p:spPr bwMode="auto">
          <a:xfrm>
            <a:off x="4644008" y="222536"/>
            <a:ext cx="833403" cy="68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4" descr="http://thumb10.shutterstock.com/thumb_small/420568/420568,1302960584,1/stock-photo-wooden-gate-green-weathered-aged-isolated-garden-fence-entrance-old-rustic-retro-vintage-picket-75356278.jpg">
            <a:hlinkClick r:id="rId17"/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t="-1093" r="18842" b="1093"/>
          <a:stretch/>
        </p:blipFill>
        <p:spPr bwMode="auto">
          <a:xfrm>
            <a:off x="1363214" y="5793797"/>
            <a:ext cx="774935" cy="64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9" name="Group 158"/>
          <p:cNvGrpSpPr/>
          <p:nvPr/>
        </p:nvGrpSpPr>
        <p:grpSpPr>
          <a:xfrm flipH="1">
            <a:off x="4230777" y="3426899"/>
            <a:ext cx="4027545" cy="1864881"/>
            <a:chOff x="489472" y="2871370"/>
            <a:chExt cx="4969862" cy="2088232"/>
          </a:xfrm>
        </p:grpSpPr>
        <p:sp>
          <p:nvSpPr>
            <p:cNvPr id="160" name="Cloud Callout 159"/>
            <p:cNvSpPr/>
            <p:nvPr/>
          </p:nvSpPr>
          <p:spPr>
            <a:xfrm>
              <a:off x="489472" y="2871370"/>
              <a:ext cx="4969862" cy="2088232"/>
            </a:xfrm>
            <a:prstGeom prst="cloudCallou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716485" y="3315321"/>
              <a:ext cx="4380301" cy="12003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I need a taller </a:t>
              </a:r>
            </a:p>
            <a:p>
              <a:pPr algn="ctr"/>
              <a:r>
                <a:rPr lang="en-US" sz="3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fence!!</a:t>
              </a:r>
            </a:p>
          </p:txBody>
        </p:sp>
      </p:grpSp>
      <p:pic>
        <p:nvPicPr>
          <p:cNvPr id="162" name="Picture 2" descr="http://bestclipartblog.com/clipart-pics/farmer-clip-art-4.gif"/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18"/>
          <a:stretch/>
        </p:blipFill>
        <p:spPr bwMode="auto">
          <a:xfrm>
            <a:off x="6469183" y="5138057"/>
            <a:ext cx="2209565" cy="153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80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C -0.00261 -0.00856 -0.01112 -0.01666 -0.01407 -0.01666 C -0.03316 -0.01666 -0.05278 0.11505 -0.05278 0.24676 C -0.05278 0.18033 -0.0625 0.11505 -0.07171 0.11505 C -0.0816 0.11505 -0.0908 0.18102 -0.0908 0.24676 C -0.0908 0.21366 -0.09566 0.18033 -0.10053 0.18033 C -0.10539 0.18033 -0.11042 0.21297 -0.11042 0.24676 C -0.11042 0.22963 -0.11285 0.21366 -0.11528 0.21366 C -0.11771 0.21366 -0.12014 0.23079 -0.12014 0.24676 C -0.12014 0.23797 -0.12136 0.22963 -0.1224 0.22963 C -0.1231 0.22963 -0.125 0.2382 -0.125 0.24676 C -0.125 0.24236 -0.1257 0.23797 -0.12639 0.23797 C -0.12639 0.23704 -0.12761 0.24213 -0.12761 0.24676 C -0.12761 0.24445 -0.12761 0.24236 -0.1283 0.24236 C -0.1283 0.24329 -0.12882 0.24468 -0.12882 0.24676 C -0.12882 0.24561 -0.12882 0.24445 -0.12882 0.24329 C -0.12952 0.24329 -0.12952 0.24445 -0.12952 0.24561 C -0.13021 0.24561 -0.13021 0.24468 -0.13021 0.24329 C -0.13056 0.24329 -0.13056 0.24445 -0.13056 0.24561 " pathEditMode="relative" rAng="0" ptsTypes="fffffffffffffffffff">
                                      <p:cBhvr>
                                        <p:cTn id="11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8" y="1150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aasheep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ound Effect - Goat Ble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ound Effect - Goat Ble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27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ound Effect - Goat Bleet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2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29" dur="2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ound Effect - Goat Bleet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-123304" y="314490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1556364" y="3144903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644187" y="2996952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644147" y="1844824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-123304" y="1465699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1556364" y="146570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644188" y="698206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1219725" y="34272"/>
            <a:ext cx="79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39750" y="46365"/>
            <a:ext cx="7938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2m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82651" y="4221088"/>
            <a:ext cx="6283455" cy="2478495"/>
            <a:chOff x="2664121" y="1518998"/>
            <a:chExt cx="6283455" cy="2478495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6250" y="1518998"/>
              <a:ext cx="2841326" cy="191000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2664121" y="1689169"/>
              <a:ext cx="3383709" cy="2308324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2400" b="1" i="1" dirty="0">
                  <a:solidFill>
                    <a:srgbClr val="FF0000"/>
                  </a:solidFill>
                  <a:latin typeface="Arial Black" pitchFamily="34" charset="0"/>
                </a:rPr>
                <a:t>Task: </a:t>
              </a:r>
            </a:p>
            <a:p>
              <a:r>
                <a:rPr lang="en-GB" sz="2400" dirty="0">
                  <a:latin typeface="Arial Black" pitchFamily="34" charset="0"/>
                </a:rPr>
                <a:t>Draw the pattern for a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3m section </a:t>
              </a:r>
              <a:r>
                <a:rPr lang="en-GB" sz="2400" dirty="0">
                  <a:latin typeface="Arial Black" pitchFamily="34" charset="0"/>
                </a:rPr>
                <a:t>of fence and count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how many pieces </a:t>
              </a:r>
              <a:r>
                <a:rPr lang="en-GB" sz="2400" dirty="0">
                  <a:latin typeface="Arial Black" pitchFamily="34" charset="0"/>
                </a:rPr>
                <a:t>of wood are used</a:t>
              </a:r>
            </a:p>
          </p:txBody>
        </p:sp>
      </p:grpSp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2953790" y="318838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4633458" y="3188383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3721281" y="3040432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3721241" y="1888304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2953790" y="1509179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4633458" y="1509181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3721282" y="741686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5400951" y="755785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6313128" y="1564208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 rot="5400000">
            <a:off x="6319376" y="3260389"/>
            <a:ext cx="1800198" cy="265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5407199" y="1887374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36112" r="41212" b="53814"/>
          <a:stretch/>
        </p:blipFill>
        <p:spPr bwMode="auto">
          <a:xfrm>
            <a:off x="5407199" y="3040432"/>
            <a:ext cx="1944882" cy="2454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05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4816330" y="983563"/>
            <a:ext cx="3651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17 pieces of wood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59566" y="392666"/>
            <a:ext cx="3504387" cy="2376264"/>
            <a:chOff x="611560" y="404664"/>
            <a:chExt cx="3504387" cy="2376264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1165003" y="2089887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1165003" y="958996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90223" y="2056893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611560" y="1979529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611560" y="1187441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90223" y="926002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611560" y="404664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2265273" y="2081742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1711829" y="2000838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1711829" y="1187441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2265273" y="950851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1711829" y="404664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3424906" y="2081742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2871462" y="2000838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2871462" y="1208750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 rot="5400000">
              <a:off x="3424906" y="950851"/>
              <a:ext cx="1212378" cy="16970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32" t="36112" r="41212" b="53814"/>
            <a:stretch/>
          </p:blipFill>
          <p:spPr bwMode="auto">
            <a:xfrm>
              <a:off x="2871462" y="404664"/>
              <a:ext cx="1244485" cy="1653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ectangle 22"/>
          <p:cNvSpPr/>
          <p:nvPr/>
        </p:nvSpPr>
        <p:spPr>
          <a:xfrm>
            <a:off x="4741233" y="355412"/>
            <a:ext cx="22797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3m section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92941" y="3140968"/>
            <a:ext cx="8796114" cy="2483203"/>
            <a:chOff x="192941" y="3140968"/>
            <a:chExt cx="8796114" cy="2483203"/>
          </a:xfrm>
        </p:grpSpPr>
        <p:grpSp>
          <p:nvGrpSpPr>
            <p:cNvPr id="24" name="Group 23"/>
            <p:cNvGrpSpPr/>
            <p:nvPr/>
          </p:nvGrpSpPr>
          <p:grpSpPr>
            <a:xfrm>
              <a:off x="192941" y="3140968"/>
              <a:ext cx="8796114" cy="2483203"/>
              <a:chOff x="107504" y="162420"/>
              <a:chExt cx="8796114" cy="2483203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129067" y="162420"/>
                <a:ext cx="0" cy="24832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129067" y="2645623"/>
                <a:ext cx="87634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115389" y="1098524"/>
                <a:ext cx="87634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8878801" y="162420"/>
                <a:ext cx="24817" cy="24832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15388" y="1916832"/>
                <a:ext cx="87634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595466" y="162420"/>
                <a:ext cx="0" cy="24832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H="1">
                <a:off x="3766483" y="162420"/>
                <a:ext cx="356" cy="24832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6253000" y="162420"/>
                <a:ext cx="0" cy="24832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107504" y="162420"/>
                <a:ext cx="87634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 34"/>
            <p:cNvSpPr/>
            <p:nvPr/>
          </p:nvSpPr>
          <p:spPr>
            <a:xfrm>
              <a:off x="345091" y="4963432"/>
              <a:ext cx="120257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Wood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61413" y="3349053"/>
              <a:ext cx="128625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Pattern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1317" y="3888260"/>
              <a:ext cx="638315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600" b="1" cap="none" spc="0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n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2420590" y="400506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29841" y="401783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80312" y="401783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3124475" y="132753"/>
            <a:ext cx="5739720" cy="3084511"/>
            <a:chOff x="2423345" y="2325175"/>
            <a:chExt cx="5739720" cy="3084511"/>
          </a:xfrm>
        </p:grpSpPr>
        <p:sp>
          <p:nvSpPr>
            <p:cNvPr id="107" name="TextBox 106"/>
            <p:cNvSpPr txBox="1"/>
            <p:nvPr/>
          </p:nvSpPr>
          <p:spPr>
            <a:xfrm>
              <a:off x="2423345" y="2362698"/>
              <a:ext cx="3383709" cy="304698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2400" b="1" i="1" dirty="0">
                  <a:solidFill>
                    <a:srgbClr val="FF0000"/>
                  </a:solidFill>
                  <a:latin typeface="Arial Black" pitchFamily="34" charset="0"/>
                </a:rPr>
                <a:t>Task: </a:t>
              </a:r>
            </a:p>
            <a:p>
              <a:r>
                <a:rPr lang="en-GB" sz="2400" dirty="0">
                  <a:latin typeface="Arial Black" pitchFamily="34" charset="0"/>
                </a:rPr>
                <a:t>Calculate the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nth term rule</a:t>
              </a:r>
              <a:r>
                <a:rPr lang="en-GB" sz="2400" dirty="0">
                  <a:latin typeface="Arial Black" pitchFamily="34" charset="0"/>
                </a:rPr>
                <a:t> for this sequence and use to work out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how much wood</a:t>
              </a:r>
              <a:r>
                <a:rPr lang="en-GB" sz="2400" dirty="0">
                  <a:latin typeface="Arial Black" pitchFamily="34" charset="0"/>
                </a:rPr>
                <a:t> is needed for a </a:t>
              </a:r>
              <a:r>
                <a:rPr lang="en-GB" sz="2400" dirty="0">
                  <a:solidFill>
                    <a:srgbClr val="0000FF"/>
                  </a:solidFill>
                  <a:latin typeface="Arial Black" pitchFamily="34" charset="0"/>
                </a:rPr>
                <a:t>14m</a:t>
              </a:r>
              <a:r>
                <a:rPr lang="en-GB" sz="2400" dirty="0">
                  <a:latin typeface="Arial Black" pitchFamily="34" charset="0"/>
                </a:rPr>
                <a:t> section of fencing</a:t>
              </a:r>
            </a:p>
          </p:txBody>
        </p:sp>
        <p:pic>
          <p:nvPicPr>
            <p:cNvPr id="108" name="Picture 10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6652" y="2325175"/>
              <a:ext cx="2426413" cy="1631088"/>
            </a:xfrm>
            <a:prstGeom prst="rect">
              <a:avLst/>
            </a:prstGeom>
          </p:spPr>
        </p:pic>
      </p:grpSp>
      <p:sp>
        <p:nvSpPr>
          <p:cNvPr id="109" name="Rectangle 108"/>
          <p:cNvSpPr/>
          <p:nvPr/>
        </p:nvSpPr>
        <p:spPr>
          <a:xfrm>
            <a:off x="2411760" y="48099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99992" y="4794154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64288" y="479338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17</a:t>
            </a:r>
          </a:p>
        </p:txBody>
      </p:sp>
      <p:grpSp>
        <p:nvGrpSpPr>
          <p:cNvPr id="120" name="Group 119"/>
          <p:cNvGrpSpPr/>
          <p:nvPr/>
        </p:nvGrpSpPr>
        <p:grpSpPr>
          <a:xfrm>
            <a:off x="2977084" y="4769339"/>
            <a:ext cx="1597563" cy="514854"/>
            <a:chOff x="2977084" y="4769339"/>
            <a:chExt cx="1597563" cy="514854"/>
          </a:xfrm>
        </p:grpSpPr>
        <p:sp>
          <p:nvSpPr>
            <p:cNvPr id="113" name="Freeform 112"/>
            <p:cNvSpPr/>
            <p:nvPr/>
          </p:nvSpPr>
          <p:spPr>
            <a:xfrm>
              <a:off x="2977084" y="4769339"/>
              <a:ext cx="1597563" cy="388186"/>
            </a:xfrm>
            <a:custGeom>
              <a:avLst/>
              <a:gdLst>
                <a:gd name="connsiteX0" fmla="*/ 0 w 1357745"/>
                <a:gd name="connsiteY0" fmla="*/ 524434 h 524434"/>
                <a:gd name="connsiteX1" fmla="*/ 249382 w 1357745"/>
                <a:gd name="connsiteY1" fmla="*/ 178070 h 524434"/>
                <a:gd name="connsiteX2" fmla="*/ 609600 w 1357745"/>
                <a:gd name="connsiteY2" fmla="*/ 11815 h 524434"/>
                <a:gd name="connsiteX3" fmla="*/ 942109 w 1357745"/>
                <a:gd name="connsiteY3" fmla="*/ 39524 h 524434"/>
                <a:gd name="connsiteX4" fmla="*/ 1233054 w 1357745"/>
                <a:gd name="connsiteY4" fmla="*/ 247343 h 524434"/>
                <a:gd name="connsiteX5" fmla="*/ 1357745 w 1357745"/>
                <a:gd name="connsiteY5" fmla="*/ 441306 h 52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7745" h="524434">
                  <a:moveTo>
                    <a:pt x="0" y="524434"/>
                  </a:moveTo>
                  <a:cubicBezTo>
                    <a:pt x="73891" y="393970"/>
                    <a:pt x="147782" y="263506"/>
                    <a:pt x="249382" y="178070"/>
                  </a:cubicBezTo>
                  <a:cubicBezTo>
                    <a:pt x="350982" y="92633"/>
                    <a:pt x="494145" y="34906"/>
                    <a:pt x="609600" y="11815"/>
                  </a:cubicBezTo>
                  <a:cubicBezTo>
                    <a:pt x="725055" y="-11276"/>
                    <a:pt x="838200" y="269"/>
                    <a:pt x="942109" y="39524"/>
                  </a:cubicBezTo>
                  <a:cubicBezTo>
                    <a:pt x="1046018" y="78779"/>
                    <a:pt x="1163781" y="180379"/>
                    <a:pt x="1233054" y="247343"/>
                  </a:cubicBezTo>
                  <a:cubicBezTo>
                    <a:pt x="1302327" y="314307"/>
                    <a:pt x="1330036" y="377806"/>
                    <a:pt x="1357745" y="441306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358230" y="4822528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+5</a:t>
              </a: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5386773" y="4759482"/>
            <a:ext cx="1708453" cy="541726"/>
            <a:chOff x="5386773" y="4759482"/>
            <a:chExt cx="1708453" cy="541726"/>
          </a:xfrm>
        </p:grpSpPr>
        <p:sp>
          <p:nvSpPr>
            <p:cNvPr id="114" name="Freeform 113"/>
            <p:cNvSpPr/>
            <p:nvPr/>
          </p:nvSpPr>
          <p:spPr>
            <a:xfrm>
              <a:off x="5386773" y="4759482"/>
              <a:ext cx="1708453" cy="363371"/>
            </a:xfrm>
            <a:custGeom>
              <a:avLst/>
              <a:gdLst>
                <a:gd name="connsiteX0" fmla="*/ 0 w 1357745"/>
                <a:gd name="connsiteY0" fmla="*/ 524434 h 524434"/>
                <a:gd name="connsiteX1" fmla="*/ 249382 w 1357745"/>
                <a:gd name="connsiteY1" fmla="*/ 178070 h 524434"/>
                <a:gd name="connsiteX2" fmla="*/ 609600 w 1357745"/>
                <a:gd name="connsiteY2" fmla="*/ 11815 h 524434"/>
                <a:gd name="connsiteX3" fmla="*/ 942109 w 1357745"/>
                <a:gd name="connsiteY3" fmla="*/ 39524 h 524434"/>
                <a:gd name="connsiteX4" fmla="*/ 1233054 w 1357745"/>
                <a:gd name="connsiteY4" fmla="*/ 247343 h 524434"/>
                <a:gd name="connsiteX5" fmla="*/ 1357745 w 1357745"/>
                <a:gd name="connsiteY5" fmla="*/ 441306 h 52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7745" h="524434">
                  <a:moveTo>
                    <a:pt x="0" y="524434"/>
                  </a:moveTo>
                  <a:cubicBezTo>
                    <a:pt x="73891" y="393970"/>
                    <a:pt x="147782" y="263506"/>
                    <a:pt x="249382" y="178070"/>
                  </a:cubicBezTo>
                  <a:cubicBezTo>
                    <a:pt x="350982" y="92633"/>
                    <a:pt x="494145" y="34906"/>
                    <a:pt x="609600" y="11815"/>
                  </a:cubicBezTo>
                  <a:cubicBezTo>
                    <a:pt x="725055" y="-11276"/>
                    <a:pt x="838200" y="269"/>
                    <a:pt x="942109" y="39524"/>
                  </a:cubicBezTo>
                  <a:cubicBezTo>
                    <a:pt x="1046018" y="78779"/>
                    <a:pt x="1163781" y="180379"/>
                    <a:pt x="1233054" y="247343"/>
                  </a:cubicBezTo>
                  <a:cubicBezTo>
                    <a:pt x="1302327" y="314307"/>
                    <a:pt x="1330036" y="377806"/>
                    <a:pt x="1357745" y="441306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817394" y="4839543"/>
              <a:ext cx="4940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+5</a:t>
              </a:r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5403819" y="5746030"/>
            <a:ext cx="907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5n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981200" y="44624"/>
            <a:ext cx="4676829" cy="31584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0" name="TextBox 129"/>
          <p:cNvSpPr txBox="1"/>
          <p:nvPr/>
        </p:nvSpPr>
        <p:spPr>
          <a:xfrm>
            <a:off x="2444761" y="210768"/>
            <a:ext cx="3299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  <a:cs typeface="MV Boli" pitchFamily="2" charset="0"/>
              </a:rPr>
              <a:t>Rule is 5n+2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84721" y="838969"/>
            <a:ext cx="3821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For 14m fence,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03087" y="1485300"/>
            <a:ext cx="265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(5</a:t>
            </a:r>
            <a:r>
              <a:rPr lang="en-GB" sz="3200" dirty="0">
                <a:latin typeface="Segoe Print" pitchFamily="2" charset="0"/>
              </a:rPr>
              <a:t>x</a:t>
            </a:r>
            <a:r>
              <a:rPr lang="en-GB" sz="3600" dirty="0">
                <a:latin typeface="Segoe Print" pitchFamily="2" charset="0"/>
              </a:rPr>
              <a:t>14)+2=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319616" y="2018908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Segoe Print" pitchFamily="2" charset="0"/>
              </a:rPr>
              <a:t>=</a:t>
            </a:r>
            <a:r>
              <a:rPr lang="en-GB" sz="4800" u="sng" dirty="0">
                <a:latin typeface="Segoe Print" pitchFamily="2" charset="0"/>
              </a:rPr>
              <a:t>72</a:t>
            </a:r>
          </a:p>
        </p:txBody>
      </p:sp>
      <p:pic>
        <p:nvPicPr>
          <p:cNvPr id="134" name="Picture 2" descr="C:\Users\David\AppData\Local\Microsoft\Windows\Temporary Internet Files\Content.IE5\KV9LD3FI\MC900434713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229" y="2508939"/>
            <a:ext cx="623432" cy="65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03065"/>
            <a:ext cx="790563" cy="80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780" y="3180578"/>
            <a:ext cx="491304" cy="881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220" y="3217264"/>
            <a:ext cx="1078783" cy="74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3" name="Group 82"/>
          <p:cNvGrpSpPr/>
          <p:nvPr/>
        </p:nvGrpSpPr>
        <p:grpSpPr>
          <a:xfrm>
            <a:off x="394902" y="5713516"/>
            <a:ext cx="4870663" cy="923330"/>
            <a:chOff x="394902" y="5713516"/>
            <a:chExt cx="4870663" cy="923330"/>
          </a:xfrm>
        </p:grpSpPr>
        <p:sp>
          <p:nvSpPr>
            <p:cNvPr id="156" name="Rectangle 155"/>
            <p:cNvSpPr/>
            <p:nvPr/>
          </p:nvSpPr>
          <p:spPr>
            <a:xfrm>
              <a:off x="394902" y="5713516"/>
              <a:ext cx="425103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nth term rule </a:t>
              </a:r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 flipV="1">
              <a:off x="4572000" y="6175181"/>
              <a:ext cx="693565" cy="20001"/>
            </a:xfrm>
            <a:prstGeom prst="straightConnector1">
              <a:avLst/>
            </a:prstGeom>
            <a:ln w="50800">
              <a:solidFill>
                <a:srgbClr val="CC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Rectangle 156"/>
          <p:cNvSpPr/>
          <p:nvPr/>
        </p:nvSpPr>
        <p:spPr>
          <a:xfrm>
            <a:off x="6156176" y="5746030"/>
            <a:ext cx="8803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+2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1432560" y="4248670"/>
            <a:ext cx="1097280" cy="719570"/>
            <a:chOff x="1432560" y="4248670"/>
            <a:chExt cx="1097280" cy="719570"/>
          </a:xfrm>
        </p:grpSpPr>
        <p:sp>
          <p:nvSpPr>
            <p:cNvPr id="84" name="Freeform 83"/>
            <p:cNvSpPr/>
            <p:nvPr/>
          </p:nvSpPr>
          <p:spPr>
            <a:xfrm>
              <a:off x="1432560" y="4646772"/>
              <a:ext cx="1097280" cy="321468"/>
            </a:xfrm>
            <a:custGeom>
              <a:avLst/>
              <a:gdLst>
                <a:gd name="connsiteX0" fmla="*/ 1097280 w 1097280"/>
                <a:gd name="connsiteY0" fmla="*/ 321468 h 321468"/>
                <a:gd name="connsiteX1" fmla="*/ 883920 w 1097280"/>
                <a:gd name="connsiteY1" fmla="*/ 47148 h 321468"/>
                <a:gd name="connsiteX2" fmla="*/ 533400 w 1097280"/>
                <a:gd name="connsiteY2" fmla="*/ 1428 h 321468"/>
                <a:gd name="connsiteX3" fmla="*/ 182880 w 1097280"/>
                <a:gd name="connsiteY3" fmla="*/ 62388 h 321468"/>
                <a:gd name="connsiteX4" fmla="*/ 0 w 1097280"/>
                <a:gd name="connsiteY4" fmla="*/ 306228 h 32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7280" h="321468">
                  <a:moveTo>
                    <a:pt x="1097280" y="321468"/>
                  </a:moveTo>
                  <a:cubicBezTo>
                    <a:pt x="1037590" y="210978"/>
                    <a:pt x="977900" y="100488"/>
                    <a:pt x="883920" y="47148"/>
                  </a:cubicBezTo>
                  <a:cubicBezTo>
                    <a:pt x="789940" y="-6192"/>
                    <a:pt x="650240" y="-1112"/>
                    <a:pt x="533400" y="1428"/>
                  </a:cubicBezTo>
                  <a:cubicBezTo>
                    <a:pt x="416560" y="3968"/>
                    <a:pt x="271780" y="11588"/>
                    <a:pt x="182880" y="62388"/>
                  </a:cubicBezTo>
                  <a:cubicBezTo>
                    <a:pt x="93980" y="113188"/>
                    <a:pt x="46990" y="209708"/>
                    <a:pt x="0" y="306228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725911" y="4248670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solidFill>
                    <a:srgbClr val="FF0000"/>
                  </a:solidFill>
                </a:rPr>
                <a:t>-5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593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23" grpId="0"/>
      <p:bldP spid="93" grpId="0"/>
      <p:bldP spid="99" grpId="0"/>
      <p:bldP spid="105" grpId="0"/>
      <p:bldP spid="109" grpId="0"/>
      <p:bldP spid="110" grpId="0"/>
      <p:bldP spid="112" grpId="0"/>
      <p:bldP spid="122" grpId="0"/>
      <p:bldP spid="129" grpId="0" animBg="1"/>
      <p:bldP spid="130" grpId="0"/>
      <p:bldP spid="1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3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31485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66886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98" name="Picture 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78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99" name="Picture 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0" name="Picture 8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2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1" name="Picture 8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2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16118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3" name="Picture 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19658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5" name="Picture 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5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6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50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7" name="Picture 8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3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8" name="Picture 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229605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9" name="Picture 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265006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0" name="Picture 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1" name="Picture 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8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2" name="Picture 9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85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3" name="Picture 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08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4" name="Picture 9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369940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5" name="Picture 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405341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6" name="Picture 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10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7" name="Picture 9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69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8" name="Picture 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94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9" name="Picture 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4383619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0" name="Picture 1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4737631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9" name="Picture 1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8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0" name="Picture 1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7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1" name="Picture 1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0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2" name="Picture 1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51043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3" name="Picture 1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54583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4" name="Picture 1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10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5" name="Picture 1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65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6" name="Picture 1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19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7" name="Picture 1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44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8" name="Picture 1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6244169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9" name="Picture 1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6598181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0" name="Picture 1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869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1" name="Picture 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831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2" name="Picture 1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056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3" name="Picture 1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6928381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4" name="Picture 1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7282394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5" name="Picture 1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5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6" name="Picture 1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55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7" name="Picture 1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78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8" name="Picture 1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764910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9" name="Picture 1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800311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0" name="Picture 1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7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1" name="Picture 1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6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2" name="Picture 1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9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3" name="Picture 1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83682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4" name="Picture 1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87222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297" name="Group 17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639685026"/>
              </p:ext>
            </p:extLst>
          </p:nvPr>
        </p:nvGraphicFramePr>
        <p:xfrm>
          <a:off x="530756" y="2735728"/>
          <a:ext cx="8145462" cy="1519237"/>
        </p:xfrm>
        <a:graphic>
          <a:graphicData uri="http://schemas.openxmlformats.org/drawingml/2006/table">
            <a:tbl>
              <a:tblPr/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Number of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huts </a:t>
                      </a:r>
                      <a: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(n)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Matches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00" name="Text Box 180"/>
          <p:cNvSpPr txBox="1">
            <a:spLocks noChangeArrowheads="1"/>
          </p:cNvSpPr>
          <p:nvPr/>
        </p:nvSpPr>
        <p:spPr bwMode="auto">
          <a:xfrm>
            <a:off x="2762781" y="3605678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6</a:t>
            </a:r>
          </a:p>
        </p:txBody>
      </p:sp>
      <p:sp>
        <p:nvSpPr>
          <p:cNvPr id="5301" name="Text Box 181"/>
          <p:cNvSpPr txBox="1">
            <a:spLocks noChangeArrowheads="1"/>
          </p:cNvSpPr>
          <p:nvPr/>
        </p:nvSpPr>
        <p:spPr bwMode="auto">
          <a:xfrm>
            <a:off x="4202644" y="359932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11</a:t>
            </a:r>
          </a:p>
        </p:txBody>
      </p:sp>
      <p:sp>
        <p:nvSpPr>
          <p:cNvPr id="5302" name="Text Box 182"/>
          <p:cNvSpPr txBox="1">
            <a:spLocks noChangeArrowheads="1"/>
          </p:cNvSpPr>
          <p:nvPr/>
        </p:nvSpPr>
        <p:spPr bwMode="auto">
          <a:xfrm>
            <a:off x="5886981" y="359932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16</a:t>
            </a:r>
          </a:p>
        </p:txBody>
      </p:sp>
      <p:sp>
        <p:nvSpPr>
          <p:cNvPr id="5303" name="Text Box 183"/>
          <p:cNvSpPr txBox="1">
            <a:spLocks noChangeArrowheads="1"/>
          </p:cNvSpPr>
          <p:nvPr/>
        </p:nvSpPr>
        <p:spPr bwMode="auto">
          <a:xfrm>
            <a:off x="7471306" y="3599328"/>
            <a:ext cx="692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21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996144" y="4247028"/>
            <a:ext cx="1393825" cy="1146175"/>
            <a:chOff x="2934040" y="4292600"/>
            <a:chExt cx="1393145" cy="1146128"/>
          </a:xfrm>
        </p:grpSpPr>
        <p:sp>
          <p:nvSpPr>
            <p:cNvPr id="3" name="Freeform 2"/>
            <p:cNvSpPr/>
            <p:nvPr/>
          </p:nvSpPr>
          <p:spPr>
            <a:xfrm>
              <a:off x="2934040" y="4292600"/>
              <a:ext cx="1393145" cy="500041"/>
            </a:xfrm>
            <a:custGeom>
              <a:avLst/>
              <a:gdLst>
                <a:gd name="connsiteX0" fmla="*/ 0 w 1625491"/>
                <a:gd name="connsiteY0" fmla="*/ 0 h 741595"/>
                <a:gd name="connsiteX1" fmla="*/ 391886 w 1625491"/>
                <a:gd name="connsiteY1" fmla="*/ 620486 h 741595"/>
                <a:gd name="connsiteX2" fmla="*/ 1045028 w 1625491"/>
                <a:gd name="connsiteY2" fmla="*/ 696686 h 741595"/>
                <a:gd name="connsiteX3" fmla="*/ 1567543 w 1625491"/>
                <a:gd name="connsiteY3" fmla="*/ 97972 h 741595"/>
                <a:gd name="connsiteX4" fmla="*/ 1589314 w 1625491"/>
                <a:gd name="connsiteY4" fmla="*/ 108858 h 74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491" h="741595">
                  <a:moveTo>
                    <a:pt x="0" y="0"/>
                  </a:moveTo>
                  <a:cubicBezTo>
                    <a:pt x="108857" y="252186"/>
                    <a:pt x="217715" y="504372"/>
                    <a:pt x="391886" y="620486"/>
                  </a:cubicBezTo>
                  <a:cubicBezTo>
                    <a:pt x="566057" y="736600"/>
                    <a:pt x="849085" y="783772"/>
                    <a:pt x="1045028" y="696686"/>
                  </a:cubicBezTo>
                  <a:cubicBezTo>
                    <a:pt x="1240971" y="609600"/>
                    <a:pt x="1476829" y="195943"/>
                    <a:pt x="1567543" y="97972"/>
                  </a:cubicBezTo>
                  <a:cubicBezTo>
                    <a:pt x="1658257" y="1"/>
                    <a:pt x="1623785" y="54429"/>
                    <a:pt x="1589314" y="108858"/>
                  </a:cubicBezTo>
                </a:path>
              </a:pathLst>
            </a:custGeom>
            <a:noFill/>
            <a:ln w="44450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44" name="TextBox 3"/>
            <p:cNvSpPr txBox="1">
              <a:spLocks noChangeArrowheads="1"/>
            </p:cNvSpPr>
            <p:nvPr/>
          </p:nvSpPr>
          <p:spPr bwMode="auto">
            <a:xfrm>
              <a:off x="3342062" y="4792397"/>
              <a:ext cx="7104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3600" b="1"/>
                <a:t>+5</a:t>
              </a:r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4683656" y="4247028"/>
            <a:ext cx="1393825" cy="1146175"/>
            <a:chOff x="4621213" y="4293096"/>
            <a:chExt cx="1393145" cy="1146128"/>
          </a:xfrm>
        </p:grpSpPr>
        <p:sp>
          <p:nvSpPr>
            <p:cNvPr id="96" name="Freeform 95"/>
            <p:cNvSpPr/>
            <p:nvPr/>
          </p:nvSpPr>
          <p:spPr>
            <a:xfrm>
              <a:off x="4621213" y="4293096"/>
              <a:ext cx="1393145" cy="500041"/>
            </a:xfrm>
            <a:custGeom>
              <a:avLst/>
              <a:gdLst>
                <a:gd name="connsiteX0" fmla="*/ 0 w 1625491"/>
                <a:gd name="connsiteY0" fmla="*/ 0 h 741595"/>
                <a:gd name="connsiteX1" fmla="*/ 391886 w 1625491"/>
                <a:gd name="connsiteY1" fmla="*/ 620486 h 741595"/>
                <a:gd name="connsiteX2" fmla="*/ 1045028 w 1625491"/>
                <a:gd name="connsiteY2" fmla="*/ 696686 h 741595"/>
                <a:gd name="connsiteX3" fmla="*/ 1567543 w 1625491"/>
                <a:gd name="connsiteY3" fmla="*/ 97972 h 741595"/>
                <a:gd name="connsiteX4" fmla="*/ 1589314 w 1625491"/>
                <a:gd name="connsiteY4" fmla="*/ 108858 h 74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491" h="741595">
                  <a:moveTo>
                    <a:pt x="0" y="0"/>
                  </a:moveTo>
                  <a:cubicBezTo>
                    <a:pt x="108857" y="252186"/>
                    <a:pt x="217715" y="504372"/>
                    <a:pt x="391886" y="620486"/>
                  </a:cubicBezTo>
                  <a:cubicBezTo>
                    <a:pt x="566057" y="736600"/>
                    <a:pt x="849085" y="783772"/>
                    <a:pt x="1045028" y="696686"/>
                  </a:cubicBezTo>
                  <a:cubicBezTo>
                    <a:pt x="1240971" y="609600"/>
                    <a:pt x="1476829" y="195943"/>
                    <a:pt x="1567543" y="97972"/>
                  </a:cubicBezTo>
                  <a:cubicBezTo>
                    <a:pt x="1658257" y="1"/>
                    <a:pt x="1623785" y="54429"/>
                    <a:pt x="1589314" y="108858"/>
                  </a:cubicBezTo>
                </a:path>
              </a:pathLst>
            </a:custGeom>
            <a:noFill/>
            <a:ln w="44450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42" name="TextBox 98"/>
            <p:cNvSpPr txBox="1">
              <a:spLocks noChangeArrowheads="1"/>
            </p:cNvSpPr>
            <p:nvPr/>
          </p:nvSpPr>
          <p:spPr bwMode="auto">
            <a:xfrm>
              <a:off x="4949442" y="4792893"/>
              <a:ext cx="7104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3600" b="1"/>
                <a:t>+5</a:t>
              </a: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6507694" y="4318465"/>
            <a:ext cx="1392237" cy="1074738"/>
            <a:chOff x="6444493" y="4365104"/>
            <a:chExt cx="1393145" cy="1074120"/>
          </a:xfrm>
        </p:grpSpPr>
        <p:sp>
          <p:nvSpPr>
            <p:cNvPr id="97" name="Freeform 96"/>
            <p:cNvSpPr/>
            <p:nvPr/>
          </p:nvSpPr>
          <p:spPr>
            <a:xfrm>
              <a:off x="6444493" y="4365104"/>
              <a:ext cx="1393145" cy="499775"/>
            </a:xfrm>
            <a:custGeom>
              <a:avLst/>
              <a:gdLst>
                <a:gd name="connsiteX0" fmla="*/ 0 w 1625491"/>
                <a:gd name="connsiteY0" fmla="*/ 0 h 741595"/>
                <a:gd name="connsiteX1" fmla="*/ 391886 w 1625491"/>
                <a:gd name="connsiteY1" fmla="*/ 620486 h 741595"/>
                <a:gd name="connsiteX2" fmla="*/ 1045028 w 1625491"/>
                <a:gd name="connsiteY2" fmla="*/ 696686 h 741595"/>
                <a:gd name="connsiteX3" fmla="*/ 1567543 w 1625491"/>
                <a:gd name="connsiteY3" fmla="*/ 97972 h 741595"/>
                <a:gd name="connsiteX4" fmla="*/ 1589314 w 1625491"/>
                <a:gd name="connsiteY4" fmla="*/ 108858 h 74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491" h="741595">
                  <a:moveTo>
                    <a:pt x="0" y="0"/>
                  </a:moveTo>
                  <a:cubicBezTo>
                    <a:pt x="108857" y="252186"/>
                    <a:pt x="217715" y="504372"/>
                    <a:pt x="391886" y="620486"/>
                  </a:cubicBezTo>
                  <a:cubicBezTo>
                    <a:pt x="566057" y="736600"/>
                    <a:pt x="849085" y="783772"/>
                    <a:pt x="1045028" y="696686"/>
                  </a:cubicBezTo>
                  <a:cubicBezTo>
                    <a:pt x="1240971" y="609600"/>
                    <a:pt x="1476829" y="195943"/>
                    <a:pt x="1567543" y="97972"/>
                  </a:cubicBezTo>
                  <a:cubicBezTo>
                    <a:pt x="1658257" y="1"/>
                    <a:pt x="1623785" y="54429"/>
                    <a:pt x="1589314" y="108858"/>
                  </a:cubicBezTo>
                </a:path>
              </a:pathLst>
            </a:custGeom>
            <a:noFill/>
            <a:ln w="44450">
              <a:solidFill>
                <a:schemeClr val="tx1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40" name="TextBox 99"/>
            <p:cNvSpPr txBox="1">
              <a:spLocks noChangeArrowheads="1"/>
            </p:cNvSpPr>
            <p:nvPr/>
          </p:nvSpPr>
          <p:spPr bwMode="auto">
            <a:xfrm>
              <a:off x="6699250" y="4792893"/>
              <a:ext cx="7104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3600" b="1"/>
                <a:t>+5</a:t>
              </a:r>
            </a:p>
          </p:txBody>
        </p:sp>
      </p:grp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637119" y="5529728"/>
            <a:ext cx="25186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Rule is: 5n</a:t>
            </a:r>
          </a:p>
        </p:txBody>
      </p:sp>
      <p:sp>
        <p:nvSpPr>
          <p:cNvPr id="103" name="Text Box 180"/>
          <p:cNvSpPr txBox="1">
            <a:spLocks noChangeArrowheads="1"/>
          </p:cNvSpPr>
          <p:nvPr/>
        </p:nvSpPr>
        <p:spPr bwMode="auto">
          <a:xfrm>
            <a:off x="1213381" y="410574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1</a:t>
            </a:r>
          </a:p>
        </p:txBody>
      </p:sp>
      <p:sp>
        <p:nvSpPr>
          <p:cNvPr id="104" name="Text Box 180"/>
          <p:cNvSpPr txBox="1">
            <a:spLocks noChangeArrowheads="1"/>
          </p:cNvSpPr>
          <p:nvPr/>
        </p:nvSpPr>
        <p:spPr bwMode="auto">
          <a:xfrm>
            <a:off x="3131840" y="5517232"/>
            <a:ext cx="83978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+ 1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432456" y="3675528"/>
            <a:ext cx="1393825" cy="649287"/>
            <a:chOff x="1370352" y="3722026"/>
            <a:chExt cx="1393145" cy="648958"/>
          </a:xfrm>
        </p:grpSpPr>
        <p:sp>
          <p:nvSpPr>
            <p:cNvPr id="102" name="Freeform 101"/>
            <p:cNvSpPr/>
            <p:nvPr/>
          </p:nvSpPr>
          <p:spPr>
            <a:xfrm rot="10800000">
              <a:off x="1370352" y="3722026"/>
              <a:ext cx="1393145" cy="499809"/>
            </a:xfrm>
            <a:custGeom>
              <a:avLst/>
              <a:gdLst>
                <a:gd name="connsiteX0" fmla="*/ 0 w 1625491"/>
                <a:gd name="connsiteY0" fmla="*/ 0 h 741595"/>
                <a:gd name="connsiteX1" fmla="*/ 391886 w 1625491"/>
                <a:gd name="connsiteY1" fmla="*/ 620486 h 741595"/>
                <a:gd name="connsiteX2" fmla="*/ 1045028 w 1625491"/>
                <a:gd name="connsiteY2" fmla="*/ 696686 h 741595"/>
                <a:gd name="connsiteX3" fmla="*/ 1567543 w 1625491"/>
                <a:gd name="connsiteY3" fmla="*/ 97972 h 741595"/>
                <a:gd name="connsiteX4" fmla="*/ 1589314 w 1625491"/>
                <a:gd name="connsiteY4" fmla="*/ 108858 h 74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491" h="741595">
                  <a:moveTo>
                    <a:pt x="0" y="0"/>
                  </a:moveTo>
                  <a:cubicBezTo>
                    <a:pt x="108857" y="252186"/>
                    <a:pt x="217715" y="504372"/>
                    <a:pt x="391886" y="620486"/>
                  </a:cubicBezTo>
                  <a:cubicBezTo>
                    <a:pt x="566057" y="736600"/>
                    <a:pt x="849085" y="783772"/>
                    <a:pt x="1045028" y="696686"/>
                  </a:cubicBezTo>
                  <a:cubicBezTo>
                    <a:pt x="1240971" y="609600"/>
                    <a:pt x="1476829" y="195943"/>
                    <a:pt x="1567543" y="97972"/>
                  </a:cubicBezTo>
                  <a:cubicBezTo>
                    <a:pt x="1658257" y="1"/>
                    <a:pt x="1623785" y="54429"/>
                    <a:pt x="1589314" y="108858"/>
                  </a:cubicBezTo>
                </a:path>
              </a:pathLst>
            </a:custGeom>
            <a:noFill/>
            <a:ln w="44450">
              <a:solidFill>
                <a:srgbClr val="FF0000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2138" name="TextBox 104"/>
            <p:cNvSpPr txBox="1">
              <a:spLocks noChangeArrowheads="1"/>
            </p:cNvSpPr>
            <p:nvPr/>
          </p:nvSpPr>
          <p:spPr bwMode="auto">
            <a:xfrm>
              <a:off x="1757050" y="3724653"/>
              <a:ext cx="7232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3600" b="1">
                  <a:solidFill>
                    <a:srgbClr val="FF0000"/>
                  </a:solidFill>
                </a:rPr>
                <a:t>- 5</a:t>
              </a:r>
            </a:p>
          </p:txBody>
        </p:sp>
      </p:grpSp>
      <p:sp>
        <p:nvSpPr>
          <p:cNvPr id="80" name="Rectangle 79"/>
          <p:cNvSpPr/>
          <p:nvPr/>
        </p:nvSpPr>
        <p:spPr>
          <a:xfrm>
            <a:off x="160849" y="190380"/>
            <a:ext cx="39791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Matchstick Patterns</a:t>
            </a:r>
          </a:p>
        </p:txBody>
      </p:sp>
    </p:spTree>
    <p:extLst>
      <p:ext uri="{BB962C8B-B14F-4D97-AF65-F5344CB8AC3E}">
        <p14:creationId xmlns:p14="http://schemas.microsoft.com/office/powerpoint/2010/main" val="422394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4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0" grpId="0"/>
      <p:bldP spid="5301" grpId="0"/>
      <p:bldP spid="5302" grpId="0"/>
      <p:bldP spid="5303" grpId="0"/>
      <p:bldP spid="101" grpId="0"/>
      <p:bldP spid="103" grpId="0"/>
      <p:bldP spid="10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3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31485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66886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98" name="Picture 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78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99" name="Picture 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0" name="Picture 8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2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1" name="Picture 8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2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16118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3" name="Picture 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19658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5" name="Picture 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5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6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50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7" name="Picture 8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3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8" name="Picture 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229605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09" name="Picture 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265006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0" name="Picture 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4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1" name="Picture 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8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2" name="Picture 9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85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3" name="Picture 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08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4" name="Picture 9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369940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5" name="Picture 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405341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6" name="Picture 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10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7" name="Picture 9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69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8" name="Picture 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94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19" name="Picture 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4383619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0" name="Picture 1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4737631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9" name="Picture 1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8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0" name="Picture 1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7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1" name="Picture 1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0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2" name="Picture 1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51043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3" name="Picture 1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54583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4" name="Picture 1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10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5" name="Picture 1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656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6" name="Picture 1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19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7" name="Picture 1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44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8" name="Picture 1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6244169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39" name="Picture 1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6598181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0" name="Picture 1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869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1" name="Picture 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831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2" name="Picture 1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056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3" name="Picture 1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6928381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4" name="Picture 1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7282394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5" name="Picture 1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594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6" name="Picture 1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556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7" name="Picture 1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781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8" name="Picture 1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7649106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49" name="Picture 1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8003119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0" name="Picture 1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731" y="1573678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1" name="Picture 1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694" y="2168990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2" name="Picture 1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919" y="1465728"/>
            <a:ext cx="673100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3" name="Picture 1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4762">
            <a:off x="8368244" y="924390"/>
            <a:ext cx="1333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54" name="Picture 1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07465">
            <a:off x="8722256" y="903753"/>
            <a:ext cx="13335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297" name="Group 177"/>
          <p:cNvGraphicFramePr>
            <a:graphicFrameLocks noGrp="1"/>
          </p:cNvGraphicFramePr>
          <p:nvPr>
            <p:ph/>
          </p:nvPr>
        </p:nvGraphicFramePr>
        <p:xfrm>
          <a:off x="530756" y="2735728"/>
          <a:ext cx="8145462" cy="1519237"/>
        </p:xfrm>
        <a:graphic>
          <a:graphicData uri="http://schemas.openxmlformats.org/drawingml/2006/table">
            <a:tbl>
              <a:tblPr/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Number of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huts </a:t>
                      </a:r>
                      <a: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(n)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Matches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637119" y="5529728"/>
            <a:ext cx="18517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Rule is: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849" y="190380"/>
            <a:ext cx="39791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Matchstick Patterns</a:t>
            </a:r>
          </a:p>
        </p:txBody>
      </p:sp>
    </p:spTree>
    <p:extLst>
      <p:ext uri="{BB962C8B-B14F-4D97-AF65-F5344CB8AC3E}">
        <p14:creationId xmlns:p14="http://schemas.microsoft.com/office/powerpoint/2010/main" val="332628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4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92"/>
          <p:cNvGrpSpPr>
            <a:grpSpLocks/>
          </p:cNvGrpSpPr>
          <p:nvPr/>
        </p:nvGrpSpPr>
        <p:grpSpPr bwMode="auto">
          <a:xfrm>
            <a:off x="323850" y="404813"/>
            <a:ext cx="6121400" cy="1008062"/>
            <a:chOff x="113" y="391"/>
            <a:chExt cx="5534" cy="873"/>
          </a:xfrm>
        </p:grpSpPr>
        <p:pic>
          <p:nvPicPr>
            <p:cNvPr id="308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0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24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88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5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11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6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7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8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127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9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141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0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005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1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1228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2" name="Picture 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3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58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4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72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5" name="Picture 1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436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1659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7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8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7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9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42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0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56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1" name="Picture 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2320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2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2543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3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4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73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5" name="Picture 2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87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6" name="Picture 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2751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7" name="Picture 2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2974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8" name="Picture 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2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9" name="Picture 3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27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0" name="Picture 3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41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1" name="Picture 3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3205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2" name="Picture 3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3428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3" name="Picture 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4" name="Picture 3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0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5" name="Picture 3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045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6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059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7" name="Picture 3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3923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8" name="Picture 4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146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9" name="Picture 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1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0" name="Picture 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476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1" name="Picture 4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490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2" name="Picture 4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4354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3" name="Picture 4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577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4" name="Picture 4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5" name="Picture 4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30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6" name="Picture 4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44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7" name="Picture 4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4808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8" name="Picture 5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5031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9" name="Picture 5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0" name="Picture 5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383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1" name="Picture 5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397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2" name="Picture 5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5261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3" name="Picture 5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5484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54" name="Text Box 86"/>
          <p:cNvSpPr txBox="1">
            <a:spLocks noChangeArrowheads="1"/>
          </p:cNvSpPr>
          <p:nvPr/>
        </p:nvSpPr>
        <p:spPr bwMode="auto">
          <a:xfrm>
            <a:off x="5240338" y="1773238"/>
            <a:ext cx="15055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5n + 1</a:t>
            </a:r>
          </a:p>
        </p:txBody>
      </p:sp>
      <p:sp>
        <p:nvSpPr>
          <p:cNvPr id="7262" name="Text Box 94"/>
          <p:cNvSpPr txBox="1">
            <a:spLocks noChangeArrowheads="1"/>
          </p:cNvSpPr>
          <p:nvPr/>
        </p:nvSpPr>
        <p:spPr bwMode="auto">
          <a:xfrm>
            <a:off x="323850" y="1773238"/>
            <a:ext cx="4845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Number of matches =</a:t>
            </a:r>
          </a:p>
        </p:txBody>
      </p:sp>
      <p:sp>
        <p:nvSpPr>
          <p:cNvPr id="7263" name="Text Box 95"/>
          <p:cNvSpPr txBox="1">
            <a:spLocks noChangeArrowheads="1"/>
          </p:cNvSpPr>
          <p:nvPr/>
        </p:nvSpPr>
        <p:spPr bwMode="auto">
          <a:xfrm>
            <a:off x="323850" y="3074988"/>
            <a:ext cx="8388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How many matches need for 50 huts?</a:t>
            </a:r>
          </a:p>
        </p:txBody>
      </p:sp>
      <p:sp>
        <p:nvSpPr>
          <p:cNvPr id="7264" name="Text Box 96"/>
          <p:cNvSpPr txBox="1">
            <a:spLocks noChangeArrowheads="1"/>
          </p:cNvSpPr>
          <p:nvPr/>
        </p:nvSpPr>
        <p:spPr bwMode="auto">
          <a:xfrm>
            <a:off x="323850" y="4005263"/>
            <a:ext cx="518636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Matches = (5 x 50) + 1  </a:t>
            </a:r>
          </a:p>
        </p:txBody>
      </p:sp>
      <p:sp>
        <p:nvSpPr>
          <p:cNvPr id="7265" name="Text Box 97"/>
          <p:cNvSpPr txBox="1">
            <a:spLocks noChangeArrowheads="1"/>
          </p:cNvSpPr>
          <p:nvPr/>
        </p:nvSpPr>
        <p:spPr bwMode="auto">
          <a:xfrm>
            <a:off x="5283200" y="4011613"/>
            <a:ext cx="16081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= 251  </a:t>
            </a:r>
          </a:p>
        </p:txBody>
      </p:sp>
    </p:spTree>
    <p:extLst>
      <p:ext uri="{BB962C8B-B14F-4D97-AF65-F5344CB8AC3E}">
        <p14:creationId xmlns:p14="http://schemas.microsoft.com/office/powerpoint/2010/main" val="8852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4" grpId="0"/>
      <p:bldP spid="7262" grpId="0"/>
      <p:bldP spid="7263" grpId="0"/>
      <p:bldP spid="7264" grpId="0"/>
      <p:bldP spid="726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92"/>
          <p:cNvGrpSpPr>
            <a:grpSpLocks/>
          </p:cNvGrpSpPr>
          <p:nvPr/>
        </p:nvGrpSpPr>
        <p:grpSpPr bwMode="auto">
          <a:xfrm>
            <a:off x="323850" y="404813"/>
            <a:ext cx="6121400" cy="1008062"/>
            <a:chOff x="113" y="391"/>
            <a:chExt cx="5534" cy="873"/>
          </a:xfrm>
        </p:grpSpPr>
        <p:pic>
          <p:nvPicPr>
            <p:cNvPr id="308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0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24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88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5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11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6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7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8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127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9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141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0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005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1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1228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2" name="Picture 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3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58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4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72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5" name="Picture 1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1436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1659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7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8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7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99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42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0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56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1" name="Picture 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2320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2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2543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3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4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73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5" name="Picture 2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87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6" name="Picture 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2751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7" name="Picture 2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2974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8" name="Picture 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2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09" name="Picture 3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27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0" name="Picture 3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41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1" name="Picture 3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3205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2" name="Picture 3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3428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3" name="Picture 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4" name="Picture 3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0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5" name="Picture 3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045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6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059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7" name="Picture 3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3923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8" name="Picture 4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146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19" name="Picture 4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1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0" name="Picture 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476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1" name="Picture 4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490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2" name="Picture 4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4354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3" name="Picture 4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4577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4" name="Picture 4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5" name="Picture 4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30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6" name="Picture 4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44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7" name="Picture 4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4808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8" name="Picture 5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5031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29" name="Picture 5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8" y="813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0" name="Picture 5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383" y="1014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1" name="Picture 5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397" y="571"/>
              <a:ext cx="76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2" name="Picture 5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64762">
              <a:off x="5261" y="40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33" name="Picture 5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692535">
              <a:off x="5484" y="39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254" name="Text Box 86"/>
          <p:cNvSpPr txBox="1">
            <a:spLocks noChangeArrowheads="1"/>
          </p:cNvSpPr>
          <p:nvPr/>
        </p:nvSpPr>
        <p:spPr bwMode="auto">
          <a:xfrm>
            <a:off x="5240338" y="1773238"/>
            <a:ext cx="15055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5n + 1</a:t>
            </a:r>
          </a:p>
        </p:txBody>
      </p:sp>
      <p:sp>
        <p:nvSpPr>
          <p:cNvPr id="7262" name="Text Box 94"/>
          <p:cNvSpPr txBox="1">
            <a:spLocks noChangeArrowheads="1"/>
          </p:cNvSpPr>
          <p:nvPr/>
        </p:nvSpPr>
        <p:spPr bwMode="auto">
          <a:xfrm>
            <a:off x="323850" y="1773238"/>
            <a:ext cx="4845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Number of matches =</a:t>
            </a:r>
          </a:p>
        </p:txBody>
      </p:sp>
      <p:sp>
        <p:nvSpPr>
          <p:cNvPr id="7263" name="Text Box 95"/>
          <p:cNvSpPr txBox="1">
            <a:spLocks noChangeArrowheads="1"/>
          </p:cNvSpPr>
          <p:nvPr/>
        </p:nvSpPr>
        <p:spPr bwMode="auto">
          <a:xfrm>
            <a:off x="323850" y="3074988"/>
            <a:ext cx="8388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/>
              <a:t>How many matches need for 50 huts?</a:t>
            </a:r>
          </a:p>
        </p:txBody>
      </p:sp>
      <p:sp>
        <p:nvSpPr>
          <p:cNvPr id="7264" name="Text Box 96"/>
          <p:cNvSpPr txBox="1">
            <a:spLocks noChangeArrowheads="1"/>
          </p:cNvSpPr>
          <p:nvPr/>
        </p:nvSpPr>
        <p:spPr bwMode="auto">
          <a:xfrm>
            <a:off x="323850" y="4005263"/>
            <a:ext cx="64043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3600" b="1" dirty="0"/>
              <a:t>Matches = ______________  </a:t>
            </a:r>
          </a:p>
        </p:txBody>
      </p:sp>
    </p:spTree>
    <p:extLst>
      <p:ext uri="{BB962C8B-B14F-4D97-AF65-F5344CB8AC3E}">
        <p14:creationId xmlns:p14="http://schemas.microsoft.com/office/powerpoint/2010/main" val="384770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4" grpId="0"/>
      <p:bldP spid="7262" grpId="0"/>
      <p:bldP spid="7263" grpId="0"/>
      <p:bldP spid="72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"/>
          <p:cNvSpPr txBox="1">
            <a:spLocks noChangeArrowheads="1"/>
          </p:cNvSpPr>
          <p:nvPr/>
        </p:nvSpPr>
        <p:spPr bwMode="auto">
          <a:xfrm>
            <a:off x="380181" y="1094437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1.</a:t>
            </a:r>
          </a:p>
        </p:txBody>
      </p:sp>
      <p:sp>
        <p:nvSpPr>
          <p:cNvPr id="5" name="Text Box 54"/>
          <p:cNvSpPr txBox="1">
            <a:spLocks noChangeArrowheads="1"/>
          </p:cNvSpPr>
          <p:nvPr/>
        </p:nvSpPr>
        <p:spPr bwMode="auto">
          <a:xfrm>
            <a:off x="323528" y="3291320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2.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287336" y="4994852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3.</a:t>
            </a:r>
          </a:p>
        </p:txBody>
      </p:sp>
      <p:pic>
        <p:nvPicPr>
          <p:cNvPr id="41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1700213"/>
            <a:ext cx="758825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711200"/>
            <a:ext cx="3335338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25" y="3140968"/>
            <a:ext cx="411638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7504" y="63029"/>
            <a:ext cx="88931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Find the n</a:t>
            </a:r>
            <a:r>
              <a:rPr lang="en-GB" altLang="en-US" sz="2000" b="1" baseline="30000" dirty="0">
                <a:latin typeface="Segoe Print" panose="02000600000000000000" pitchFamily="2" charset="0"/>
              </a:rPr>
              <a:t>th </a:t>
            </a:r>
            <a:r>
              <a:rPr lang="en-GB" altLang="en-US" sz="2000" b="1" dirty="0">
                <a:latin typeface="Segoe Print" panose="02000600000000000000" pitchFamily="2" charset="0"/>
              </a:rPr>
              <a:t>term rule and use it to work out how many matches</a:t>
            </a:r>
          </a:p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are needed for the 50</a:t>
            </a:r>
            <a:r>
              <a:rPr lang="en-GB" altLang="en-US" sz="2000" b="1" baseline="30000" dirty="0">
                <a:latin typeface="Segoe Print" panose="02000600000000000000" pitchFamily="2" charset="0"/>
              </a:rPr>
              <a:t>th</a:t>
            </a:r>
            <a:r>
              <a:rPr lang="en-GB" altLang="en-US" sz="2000" b="1" dirty="0">
                <a:latin typeface="Segoe Print" panose="02000600000000000000" pitchFamily="2" charset="0"/>
              </a:rPr>
              <a:t> pattern in these sequences:</a:t>
            </a:r>
          </a:p>
        </p:txBody>
      </p:sp>
      <p:pic>
        <p:nvPicPr>
          <p:cNvPr id="41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418" y="4949032"/>
            <a:ext cx="3294062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8288" y="2427288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4913" y="249872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ounded Rectangle 11"/>
          <p:cNvSpPr/>
          <p:nvPr/>
        </p:nvSpPr>
        <p:spPr>
          <a:xfrm>
            <a:off x="2699792" y="249289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/>
          <p:cNvSpPr/>
          <p:nvPr/>
        </p:nvSpPr>
        <p:spPr>
          <a:xfrm>
            <a:off x="4173215" y="249289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6040008" y="1124744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7363" y="1959223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9310" y="981417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ounded Rectangle 16"/>
          <p:cNvSpPr/>
          <p:nvPr/>
        </p:nvSpPr>
        <p:spPr>
          <a:xfrm>
            <a:off x="7289310" y="1924392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04312" y="3906689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0937" y="397812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ounded Rectangle 19"/>
          <p:cNvSpPr/>
          <p:nvPr/>
        </p:nvSpPr>
        <p:spPr>
          <a:xfrm>
            <a:off x="2589039" y="3972297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4283968" y="3972297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2996952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1402" y="3287038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8757" y="4121517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0704" y="3143711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7460704" y="4086686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/>
          <p:cNvCxnSpPr/>
          <p:nvPr/>
        </p:nvCxnSpPr>
        <p:spPr>
          <a:xfrm>
            <a:off x="-56653" y="4797152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9695" y="5667648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6320" y="573908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ounded Rectangle 32"/>
          <p:cNvSpPr/>
          <p:nvPr/>
        </p:nvSpPr>
        <p:spPr>
          <a:xfrm>
            <a:off x="2179762" y="573908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ounded Rectangle 33"/>
          <p:cNvSpPr/>
          <p:nvPr/>
        </p:nvSpPr>
        <p:spPr>
          <a:xfrm>
            <a:off x="3355797" y="573325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/>
          <p:cNvSpPr txBox="1"/>
          <p:nvPr/>
        </p:nvSpPr>
        <p:spPr>
          <a:xfrm>
            <a:off x="6309872" y="5081390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7227" y="5915869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9174" y="4938063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ounded Rectangle 37"/>
          <p:cNvSpPr/>
          <p:nvPr/>
        </p:nvSpPr>
        <p:spPr>
          <a:xfrm>
            <a:off x="7559174" y="5881038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>
          <a:xfrm>
            <a:off x="251520" y="6309320"/>
            <a:ext cx="2133600" cy="365125"/>
          </a:xfrm>
        </p:spPr>
        <p:txBody>
          <a:bodyPr/>
          <a:lstStyle/>
          <a:p>
            <a:pPr>
              <a:defRPr/>
            </a:pPr>
            <a:fld id="{6BF6973D-BDC4-4B99-8C3E-B863BCF9D41C}" type="datetime1">
              <a:rPr lang="en-GB" smtClean="0">
                <a:latin typeface="Segoe Print" panose="02000600000000000000" pitchFamily="2" charset="0"/>
              </a:rPr>
              <a:t>11/10/2023</a:t>
            </a:fld>
            <a:endParaRPr lang="en-GB" dirty="0">
              <a:latin typeface="Segoe Print" panose="02000600000000000000" pitchFamily="2" charset="0"/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251520" y="6481142"/>
            <a:ext cx="8753899" cy="476250"/>
          </a:xfrm>
        </p:spPr>
        <p:txBody>
          <a:bodyPr/>
          <a:lstStyle/>
          <a:p>
            <a:pPr algn="l">
              <a:defRPr/>
            </a:pPr>
            <a:r>
              <a:rPr lang="en-GB" sz="1200" dirty="0">
                <a:latin typeface="Segoe Print" panose="02000600000000000000" pitchFamily="2" charset="0"/>
              </a:rPr>
              <a:t>L.O. </a:t>
            </a:r>
            <a:r>
              <a:rPr lang="en-GB" dirty="0">
                <a:latin typeface="Segoe Print" panose="02000600000000000000" pitchFamily="2" charset="0"/>
              </a:rPr>
              <a:t>Find the nth term rule for a patterned sequence and use it to generate terms in that sequence (Level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7834" y="2503344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1800" y="249289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2256" y="2457177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6296" y="981417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6n-2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7773" y="1945007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298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652" y="3975447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4762" y="3975447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541" y="3975447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8617" y="3183359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3n+1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33293" y="4107301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1189" y="5703366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92909" y="5703366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3888" y="5703639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4328" y="4955522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2n+1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96336" y="5919663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332144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44130" y="225152"/>
            <a:ext cx="5969778" cy="863600"/>
            <a:chOff x="1044129" y="225152"/>
            <a:chExt cx="7056437" cy="863600"/>
          </a:xfrm>
        </p:grpSpPr>
        <p:grpSp>
          <p:nvGrpSpPr>
            <p:cNvPr id="5123" name="Group 13"/>
            <p:cNvGrpSpPr>
              <a:grpSpLocks/>
            </p:cNvGrpSpPr>
            <p:nvPr/>
          </p:nvGrpSpPr>
          <p:grpSpPr bwMode="auto">
            <a:xfrm>
              <a:off x="1044129" y="225152"/>
              <a:ext cx="349250" cy="863600"/>
              <a:chOff x="619" y="391"/>
              <a:chExt cx="349" cy="705"/>
            </a:xfrm>
          </p:grpSpPr>
          <p:pic>
            <p:nvPicPr>
              <p:cNvPr id="5246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7" name="Picture 1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8" name="Picture 1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4" name="Group 14"/>
            <p:cNvGrpSpPr>
              <a:grpSpLocks/>
            </p:cNvGrpSpPr>
            <p:nvPr/>
          </p:nvGrpSpPr>
          <p:grpSpPr bwMode="auto">
            <a:xfrm>
              <a:off x="2206179" y="225152"/>
              <a:ext cx="349250" cy="863600"/>
              <a:chOff x="619" y="391"/>
              <a:chExt cx="349" cy="705"/>
            </a:xfrm>
          </p:grpSpPr>
          <p:pic>
            <p:nvPicPr>
              <p:cNvPr id="5243" name="Picture 1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4" name="Picture 1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5" name="Picture 1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5" name="Group 18"/>
            <p:cNvGrpSpPr>
              <a:grpSpLocks/>
            </p:cNvGrpSpPr>
            <p:nvPr/>
          </p:nvGrpSpPr>
          <p:grpSpPr bwMode="auto">
            <a:xfrm>
              <a:off x="2771329" y="225152"/>
              <a:ext cx="349250" cy="863600"/>
              <a:chOff x="619" y="391"/>
              <a:chExt cx="349" cy="705"/>
            </a:xfrm>
          </p:grpSpPr>
          <p:pic>
            <p:nvPicPr>
              <p:cNvPr id="5240" name="Picture 1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1" name="Picture 2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2" name="Picture 2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6" name="Group 26"/>
            <p:cNvGrpSpPr>
              <a:grpSpLocks/>
            </p:cNvGrpSpPr>
            <p:nvPr/>
          </p:nvGrpSpPr>
          <p:grpSpPr bwMode="auto">
            <a:xfrm>
              <a:off x="6055866" y="225152"/>
              <a:ext cx="349250" cy="863600"/>
              <a:chOff x="619" y="391"/>
              <a:chExt cx="349" cy="705"/>
            </a:xfrm>
          </p:grpSpPr>
          <p:pic>
            <p:nvPicPr>
              <p:cNvPr id="5237" name="Picture 2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8" name="Picture 2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9" name="Picture 2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7" name="Group 30"/>
            <p:cNvGrpSpPr>
              <a:grpSpLocks/>
            </p:cNvGrpSpPr>
            <p:nvPr/>
          </p:nvGrpSpPr>
          <p:grpSpPr bwMode="auto">
            <a:xfrm>
              <a:off x="6621016" y="225152"/>
              <a:ext cx="349250" cy="863600"/>
              <a:chOff x="619" y="391"/>
              <a:chExt cx="349" cy="705"/>
            </a:xfrm>
          </p:grpSpPr>
          <p:pic>
            <p:nvPicPr>
              <p:cNvPr id="5234" name="Picture 3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5" name="Picture 3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6" name="Picture 3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8" name="Group 34"/>
            <p:cNvGrpSpPr>
              <a:grpSpLocks/>
            </p:cNvGrpSpPr>
            <p:nvPr/>
          </p:nvGrpSpPr>
          <p:grpSpPr bwMode="auto">
            <a:xfrm>
              <a:off x="7186166" y="225152"/>
              <a:ext cx="349250" cy="863600"/>
              <a:chOff x="619" y="391"/>
              <a:chExt cx="349" cy="705"/>
            </a:xfrm>
          </p:grpSpPr>
          <p:pic>
            <p:nvPicPr>
              <p:cNvPr id="5231" name="Picture 3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2" name="Picture 3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3" name="Picture 3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9" name="Group 38"/>
            <p:cNvGrpSpPr>
              <a:grpSpLocks/>
            </p:cNvGrpSpPr>
            <p:nvPr/>
          </p:nvGrpSpPr>
          <p:grpSpPr bwMode="auto">
            <a:xfrm>
              <a:off x="7751316" y="225152"/>
              <a:ext cx="349250" cy="863600"/>
              <a:chOff x="619" y="391"/>
              <a:chExt cx="349" cy="705"/>
            </a:xfrm>
          </p:grpSpPr>
          <p:pic>
            <p:nvPicPr>
              <p:cNvPr id="5228" name="Picture 3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9" name="Picture 4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0" name="Picture 4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0" name="Group 42"/>
            <p:cNvGrpSpPr>
              <a:grpSpLocks/>
            </p:cNvGrpSpPr>
            <p:nvPr/>
          </p:nvGrpSpPr>
          <p:grpSpPr bwMode="auto">
            <a:xfrm>
              <a:off x="3995291" y="225152"/>
              <a:ext cx="349250" cy="863600"/>
              <a:chOff x="619" y="391"/>
              <a:chExt cx="349" cy="705"/>
            </a:xfrm>
          </p:grpSpPr>
          <p:pic>
            <p:nvPicPr>
              <p:cNvPr id="5225" name="Picture 4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6" name="Picture 4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7" name="Picture 4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1" name="Group 46"/>
            <p:cNvGrpSpPr>
              <a:grpSpLocks/>
            </p:cNvGrpSpPr>
            <p:nvPr/>
          </p:nvGrpSpPr>
          <p:grpSpPr bwMode="auto">
            <a:xfrm>
              <a:off x="4560441" y="225152"/>
              <a:ext cx="349250" cy="863600"/>
              <a:chOff x="619" y="391"/>
              <a:chExt cx="349" cy="705"/>
            </a:xfrm>
          </p:grpSpPr>
          <p:pic>
            <p:nvPicPr>
              <p:cNvPr id="5222" name="Picture 4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3" name="Picture 4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4" name="Picture 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2" name="Group 50"/>
            <p:cNvGrpSpPr>
              <a:grpSpLocks/>
            </p:cNvGrpSpPr>
            <p:nvPr/>
          </p:nvGrpSpPr>
          <p:grpSpPr bwMode="auto">
            <a:xfrm>
              <a:off x="5125591" y="225152"/>
              <a:ext cx="349250" cy="863600"/>
              <a:chOff x="619" y="391"/>
              <a:chExt cx="349" cy="705"/>
            </a:xfrm>
          </p:grpSpPr>
          <p:pic>
            <p:nvPicPr>
              <p:cNvPr id="5219" name="Picture 5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0" name="Picture 5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1" name="Picture 5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8246" name="Text Box 54"/>
          <p:cNvSpPr txBox="1">
            <a:spLocks noChangeArrowheads="1"/>
          </p:cNvSpPr>
          <p:nvPr/>
        </p:nvSpPr>
        <p:spPr bwMode="auto">
          <a:xfrm>
            <a:off x="107504" y="188640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4.</a:t>
            </a:r>
          </a:p>
        </p:txBody>
      </p:sp>
      <p:sp>
        <p:nvSpPr>
          <p:cNvPr id="8247" name="Text Box 55"/>
          <p:cNvSpPr txBox="1">
            <a:spLocks noChangeArrowheads="1"/>
          </p:cNvSpPr>
          <p:nvPr/>
        </p:nvSpPr>
        <p:spPr bwMode="auto">
          <a:xfrm>
            <a:off x="132867" y="1889669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5.</a:t>
            </a:r>
          </a:p>
        </p:txBody>
      </p:sp>
      <p:grpSp>
        <p:nvGrpSpPr>
          <p:cNvPr id="5135" name="Group 93"/>
          <p:cNvGrpSpPr>
            <a:grpSpLocks/>
          </p:cNvGrpSpPr>
          <p:nvPr/>
        </p:nvGrpSpPr>
        <p:grpSpPr bwMode="auto">
          <a:xfrm>
            <a:off x="1008681" y="1755672"/>
            <a:ext cx="5842691" cy="1316807"/>
            <a:chOff x="603" y="981"/>
            <a:chExt cx="4825" cy="1270"/>
          </a:xfrm>
        </p:grpSpPr>
        <p:pic>
          <p:nvPicPr>
            <p:cNvPr id="5183" name="Picture 5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" y="1480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4" name="Picture 5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1480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5" name="Picture 5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" y="1855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6" name="Picture 5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" y="141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7" name="Picture 6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3" y="148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8" name="Picture 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" y="148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9" name="Picture 6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185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0" name="Picture 6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" y="141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1" name="Picture 6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" y="145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2" name="Picture 6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145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3" name="Picture 6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" y="183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4" name="Picture 6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" y="1389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5" name="Picture 6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7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6" name="Picture 6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9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7" name="Picture 7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0" y="178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8" name="Picture 7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" y="134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9" name="Picture 7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0" y="143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0" name="Picture 7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2" y="143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1" name="Picture 7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3" y="181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2" name="Picture 7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7" y="1369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3" name="Picture 7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4" name="Picture 7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5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5" name="Picture 7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6" y="178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6" name="Picture 7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0" y="134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7" name="Picture 8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2116" y="107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8" name="Picture 8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3833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9" name="Picture 8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4694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0" name="Picture 8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2342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1" name="Picture 8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4059" y="98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2" name="Picture 8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4921" y="100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3" name="Picture 8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2109" y="186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4" name="Picture 8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3839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5" name="Picture 8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4656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6" name="Picture 9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2342" y="184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7" name="Picture 9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4059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8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4876" y="179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286" name="Text Box 94"/>
          <p:cNvSpPr txBox="1">
            <a:spLocks noChangeArrowheads="1"/>
          </p:cNvSpPr>
          <p:nvPr/>
        </p:nvSpPr>
        <p:spPr bwMode="auto">
          <a:xfrm>
            <a:off x="107504" y="3680197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6.</a:t>
            </a:r>
          </a:p>
        </p:txBody>
      </p:sp>
      <p:grpSp>
        <p:nvGrpSpPr>
          <p:cNvPr id="5137" name="Group 143"/>
          <p:cNvGrpSpPr>
            <a:grpSpLocks/>
          </p:cNvGrpSpPr>
          <p:nvPr/>
        </p:nvGrpSpPr>
        <p:grpSpPr bwMode="auto">
          <a:xfrm>
            <a:off x="693801" y="3752540"/>
            <a:ext cx="6513897" cy="934898"/>
            <a:chOff x="476" y="2750"/>
            <a:chExt cx="5307" cy="1134"/>
          </a:xfrm>
        </p:grpSpPr>
        <p:pic>
          <p:nvPicPr>
            <p:cNvPr id="5138" name="Picture 9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39" name="Picture 9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1006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0" name="Picture 9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839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1" name="Picture 10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931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2" name="Picture 10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845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3" name="Picture 10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1012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4" name="Picture 10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53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5" name="Picture 10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599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6" name="Picture 10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5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7" name="Picture 10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2321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8" name="Picture 10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2154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9" name="Picture 10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46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0" name="Picture 10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2160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1" name="Picture 1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2327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2" name="Picture 1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568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3" name="Picture 1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914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4" name="Picture 11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5" name="Picture 11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2956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6" name="Picture 11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2789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7" name="Picture 1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881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8" name="Picture 11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2795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9" name="Picture 11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2962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0" name="Picture 1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203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1" name="Picture 12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4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2" name="Picture 1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4090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3" name="Picture 1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3923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4" name="Picture 12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015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5" name="Picture 12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3929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6" name="Picture 12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4096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7" name="Picture 12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337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8" name="Picture 1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683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9" name="Picture 12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0" name="Picture 13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4725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1" name="Picture 1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4558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2" name="Picture 13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650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3" name="Picture 13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4564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4" name="Picture 13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4731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5" name="Picture 1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72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6" name="Picture 13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4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7" name="Picture 13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5360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8" name="Picture 13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5193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9" name="Picture 13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5285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0" name="Picture 14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5199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1" name="Picture 1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5366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2" name="Picture 1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607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9" name="TextBox 128"/>
          <p:cNvSpPr txBox="1"/>
          <p:nvPr/>
        </p:nvSpPr>
        <p:spPr>
          <a:xfrm>
            <a:off x="26983" y="1106977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04863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ounded Rectangle 130"/>
          <p:cNvSpPr/>
          <p:nvPr/>
        </p:nvSpPr>
        <p:spPr>
          <a:xfrm>
            <a:off x="2012975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Rounded Rectangle 131"/>
          <p:cNvSpPr/>
          <p:nvPr/>
        </p:nvSpPr>
        <p:spPr>
          <a:xfrm>
            <a:off x="3813175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-84051" y="1676641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5853074" y="117841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TextBox 135"/>
          <p:cNvSpPr txBox="1"/>
          <p:nvPr/>
        </p:nvSpPr>
        <p:spPr>
          <a:xfrm>
            <a:off x="7297029" y="152256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00803" y="1017114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825732" y="429255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ounded Rectangle 138"/>
          <p:cNvSpPr/>
          <p:nvPr/>
        </p:nvSpPr>
        <p:spPr>
          <a:xfrm>
            <a:off x="8341214" y="982283"/>
            <a:ext cx="731350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/>
          <p:cNvSpPr txBox="1"/>
          <p:nvPr/>
        </p:nvSpPr>
        <p:spPr>
          <a:xfrm>
            <a:off x="53811" y="2995124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31691" y="3054711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ounded Rectangle 141"/>
          <p:cNvSpPr/>
          <p:nvPr/>
        </p:nvSpPr>
        <p:spPr>
          <a:xfrm>
            <a:off x="2661047" y="3054711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ounded Rectangle 142"/>
          <p:cNvSpPr/>
          <p:nvPr/>
        </p:nvSpPr>
        <p:spPr>
          <a:xfrm>
            <a:off x="5198750" y="3071082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-57223" y="3564788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7227631" y="2905261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316416" y="2870430"/>
            <a:ext cx="713829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TextBox 147"/>
          <p:cNvSpPr txBox="1"/>
          <p:nvPr/>
        </p:nvSpPr>
        <p:spPr>
          <a:xfrm>
            <a:off x="7274313" y="1880973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803016" y="2157972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0" name="TextBox 149"/>
          <p:cNvSpPr txBox="1"/>
          <p:nvPr/>
        </p:nvSpPr>
        <p:spPr>
          <a:xfrm>
            <a:off x="107367" y="4685112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85247" y="4744699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ounded Rectangle 151"/>
          <p:cNvSpPr/>
          <p:nvPr/>
        </p:nvSpPr>
        <p:spPr>
          <a:xfrm>
            <a:off x="2877071" y="472514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ounded Rectangle 152"/>
          <p:cNvSpPr/>
          <p:nvPr/>
        </p:nvSpPr>
        <p:spPr>
          <a:xfrm>
            <a:off x="5469359" y="472514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TextBox 153"/>
          <p:cNvSpPr txBox="1"/>
          <p:nvPr/>
        </p:nvSpPr>
        <p:spPr>
          <a:xfrm>
            <a:off x="7274313" y="4777099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388424" y="4742268"/>
            <a:ext cx="720080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TextBox 155"/>
          <p:cNvSpPr txBox="1"/>
          <p:nvPr/>
        </p:nvSpPr>
        <p:spPr>
          <a:xfrm>
            <a:off x="7320995" y="3752811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849698" y="4029810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Text Box 94"/>
          <p:cNvSpPr txBox="1">
            <a:spLocks noChangeArrowheads="1"/>
          </p:cNvSpPr>
          <p:nvPr/>
        </p:nvSpPr>
        <p:spPr bwMode="auto">
          <a:xfrm>
            <a:off x="96792" y="5373216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7.</a:t>
            </a:r>
          </a:p>
        </p:txBody>
      </p:sp>
      <p:pic>
        <p:nvPicPr>
          <p:cNvPr id="5249" name="Picture 12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60" t="32287" r="24941" b="53973"/>
          <a:stretch/>
        </p:blipFill>
        <p:spPr bwMode="auto">
          <a:xfrm>
            <a:off x="1129452" y="5373216"/>
            <a:ext cx="4126379" cy="904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" name="TextBox 162"/>
          <p:cNvSpPr txBox="1"/>
          <p:nvPr/>
        </p:nvSpPr>
        <p:spPr>
          <a:xfrm>
            <a:off x="26983" y="5693873"/>
            <a:ext cx="1082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connecting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rods in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each shape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101853" y="635927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ounded Rectangle 164"/>
          <p:cNvSpPr/>
          <p:nvPr/>
        </p:nvSpPr>
        <p:spPr>
          <a:xfrm>
            <a:off x="2267744" y="6339720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ounded Rectangle 165"/>
          <p:cNvSpPr/>
          <p:nvPr/>
        </p:nvSpPr>
        <p:spPr>
          <a:xfrm>
            <a:off x="3923928" y="6339720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TextBox 166"/>
          <p:cNvSpPr txBox="1"/>
          <p:nvPr/>
        </p:nvSpPr>
        <p:spPr>
          <a:xfrm>
            <a:off x="7260514" y="5408445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164288" y="6273303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rods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25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789217" y="5685444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ounded Rectangle 169"/>
          <p:cNvSpPr/>
          <p:nvPr/>
        </p:nvSpPr>
        <p:spPr>
          <a:xfrm>
            <a:off x="8316416" y="6238472"/>
            <a:ext cx="75614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1" name="Straight Connector 170"/>
          <p:cNvCxnSpPr/>
          <p:nvPr/>
        </p:nvCxnSpPr>
        <p:spPr>
          <a:xfrm>
            <a:off x="-98110" y="5373216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141096" y="1130845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203566" y="1124744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6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023478" y="1142695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940152" y="1130845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093664" y="38354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50577" y="1023119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150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71879" y="3002717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699792" y="3019717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299984" y="3065919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20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12360" y="2132856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8n-4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252312" y="2942359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396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67536" y="4725144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8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923720" y="4687438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516008" y="4695527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22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880324" y="3992041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7n+1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341213" y="4785987"/>
            <a:ext cx="107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351</a:t>
            </a:r>
          </a:p>
        </p:txBody>
      </p:sp>
      <p:sp>
        <p:nvSpPr>
          <p:cNvPr id="3" name="Oval 2"/>
          <p:cNvSpPr/>
          <p:nvPr/>
        </p:nvSpPr>
        <p:spPr>
          <a:xfrm>
            <a:off x="1691680" y="5408445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Oval 189"/>
          <p:cNvSpPr/>
          <p:nvPr/>
        </p:nvSpPr>
        <p:spPr>
          <a:xfrm>
            <a:off x="1123520" y="5393490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Oval 190"/>
          <p:cNvSpPr/>
          <p:nvPr/>
        </p:nvSpPr>
        <p:spPr>
          <a:xfrm>
            <a:off x="1127141" y="6093152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Oval 191"/>
          <p:cNvSpPr/>
          <p:nvPr/>
        </p:nvSpPr>
        <p:spPr>
          <a:xfrm>
            <a:off x="1666881" y="6102882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Oval 192"/>
          <p:cNvSpPr/>
          <p:nvPr/>
        </p:nvSpPr>
        <p:spPr>
          <a:xfrm>
            <a:off x="2033663" y="541063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Oval 193"/>
          <p:cNvSpPr/>
          <p:nvPr/>
        </p:nvSpPr>
        <p:spPr>
          <a:xfrm>
            <a:off x="2568414" y="541212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Oval 194"/>
          <p:cNvSpPr/>
          <p:nvPr/>
        </p:nvSpPr>
        <p:spPr>
          <a:xfrm>
            <a:off x="3100927" y="5404224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Oval 195"/>
          <p:cNvSpPr/>
          <p:nvPr/>
        </p:nvSpPr>
        <p:spPr>
          <a:xfrm>
            <a:off x="2027984" y="610328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Oval 196"/>
          <p:cNvSpPr/>
          <p:nvPr/>
        </p:nvSpPr>
        <p:spPr>
          <a:xfrm>
            <a:off x="2584339" y="609921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Oval 197"/>
          <p:cNvSpPr/>
          <p:nvPr/>
        </p:nvSpPr>
        <p:spPr>
          <a:xfrm>
            <a:off x="3117671" y="6129685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9" name="Oval 198"/>
          <p:cNvSpPr/>
          <p:nvPr/>
        </p:nvSpPr>
        <p:spPr>
          <a:xfrm>
            <a:off x="3457198" y="540914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Oval 199"/>
          <p:cNvSpPr/>
          <p:nvPr/>
        </p:nvSpPr>
        <p:spPr>
          <a:xfrm>
            <a:off x="3991949" y="541063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Oval 200"/>
          <p:cNvSpPr/>
          <p:nvPr/>
        </p:nvSpPr>
        <p:spPr>
          <a:xfrm>
            <a:off x="4543379" y="541212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Oval 201"/>
          <p:cNvSpPr/>
          <p:nvPr/>
        </p:nvSpPr>
        <p:spPr>
          <a:xfrm>
            <a:off x="3455254" y="611829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Oval 202"/>
          <p:cNvSpPr/>
          <p:nvPr/>
        </p:nvSpPr>
        <p:spPr>
          <a:xfrm>
            <a:off x="4001483" y="6118292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4" name="Oval 203"/>
          <p:cNvSpPr/>
          <p:nvPr/>
        </p:nvSpPr>
        <p:spPr>
          <a:xfrm>
            <a:off x="4554091" y="6118291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" name="Oval 204"/>
          <p:cNvSpPr/>
          <p:nvPr/>
        </p:nvSpPr>
        <p:spPr>
          <a:xfrm>
            <a:off x="5093923" y="5407512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" name="Oval 205"/>
          <p:cNvSpPr/>
          <p:nvPr/>
        </p:nvSpPr>
        <p:spPr>
          <a:xfrm>
            <a:off x="5104635" y="6113675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7" name="TextBox 206"/>
          <p:cNvSpPr txBox="1"/>
          <p:nvPr/>
        </p:nvSpPr>
        <p:spPr>
          <a:xfrm>
            <a:off x="1267225" y="6324441"/>
            <a:ext cx="49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5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445787" y="6324441"/>
            <a:ext cx="49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9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042105" y="6309320"/>
            <a:ext cx="714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862775" y="5656626"/>
            <a:ext cx="1209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4n+1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316416" y="6309320"/>
            <a:ext cx="1209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Segoe Print" panose="02000600000000000000" pitchFamily="2" charset="0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6798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188" grpId="0"/>
      <p:bldP spid="207" grpId="0"/>
      <p:bldP spid="209" grpId="0"/>
      <p:bldP spid="210" grpId="0"/>
      <p:bldP spid="211" grpId="0"/>
      <p:bldP spid="2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"/>
          <p:cNvSpPr txBox="1">
            <a:spLocks noChangeArrowheads="1"/>
          </p:cNvSpPr>
          <p:nvPr/>
        </p:nvSpPr>
        <p:spPr bwMode="auto">
          <a:xfrm>
            <a:off x="380181" y="1094437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1.</a:t>
            </a:r>
          </a:p>
        </p:txBody>
      </p:sp>
      <p:sp>
        <p:nvSpPr>
          <p:cNvPr id="5" name="Text Box 54"/>
          <p:cNvSpPr txBox="1">
            <a:spLocks noChangeArrowheads="1"/>
          </p:cNvSpPr>
          <p:nvPr/>
        </p:nvSpPr>
        <p:spPr bwMode="auto">
          <a:xfrm>
            <a:off x="323528" y="3291320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2.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287336" y="4994852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3.</a:t>
            </a:r>
          </a:p>
        </p:txBody>
      </p:sp>
      <p:pic>
        <p:nvPicPr>
          <p:cNvPr id="41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1700213"/>
            <a:ext cx="758825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711200"/>
            <a:ext cx="3335338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25" y="3140968"/>
            <a:ext cx="411638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7504" y="63029"/>
            <a:ext cx="88931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Find the n</a:t>
            </a:r>
            <a:r>
              <a:rPr lang="en-GB" altLang="en-US" sz="2000" b="1" baseline="30000" dirty="0">
                <a:latin typeface="Segoe Print" panose="02000600000000000000" pitchFamily="2" charset="0"/>
              </a:rPr>
              <a:t>th </a:t>
            </a:r>
            <a:r>
              <a:rPr lang="en-GB" altLang="en-US" sz="2000" b="1" dirty="0">
                <a:latin typeface="Segoe Print" panose="02000600000000000000" pitchFamily="2" charset="0"/>
              </a:rPr>
              <a:t>term rule and use it to work out how many matches</a:t>
            </a:r>
          </a:p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are needed for the 50</a:t>
            </a:r>
            <a:r>
              <a:rPr lang="en-GB" altLang="en-US" sz="2000" b="1" baseline="30000" dirty="0">
                <a:latin typeface="Segoe Print" panose="02000600000000000000" pitchFamily="2" charset="0"/>
              </a:rPr>
              <a:t>th</a:t>
            </a:r>
            <a:r>
              <a:rPr lang="en-GB" altLang="en-US" sz="2000" b="1" dirty="0">
                <a:latin typeface="Segoe Print" panose="02000600000000000000" pitchFamily="2" charset="0"/>
              </a:rPr>
              <a:t> pattern in these sequences:</a:t>
            </a:r>
          </a:p>
        </p:txBody>
      </p:sp>
      <p:pic>
        <p:nvPicPr>
          <p:cNvPr id="41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418" y="4949032"/>
            <a:ext cx="3294062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8288" y="2427288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4913" y="249872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ounded Rectangle 11"/>
          <p:cNvSpPr/>
          <p:nvPr/>
        </p:nvSpPr>
        <p:spPr>
          <a:xfrm>
            <a:off x="2699792" y="249289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/>
          <p:cNvSpPr/>
          <p:nvPr/>
        </p:nvSpPr>
        <p:spPr>
          <a:xfrm>
            <a:off x="4173215" y="249289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6040008" y="1124744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7363" y="1959223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9310" y="981417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ounded Rectangle 16"/>
          <p:cNvSpPr/>
          <p:nvPr/>
        </p:nvSpPr>
        <p:spPr>
          <a:xfrm>
            <a:off x="7289310" y="1924392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04312" y="3906689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0937" y="397812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ounded Rectangle 19"/>
          <p:cNvSpPr/>
          <p:nvPr/>
        </p:nvSpPr>
        <p:spPr>
          <a:xfrm>
            <a:off x="2589039" y="3972297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4283968" y="3972297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2996952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1402" y="3287038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8757" y="4121517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0704" y="3143711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7460704" y="4086686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/>
          <p:cNvCxnSpPr/>
          <p:nvPr/>
        </p:nvCxnSpPr>
        <p:spPr>
          <a:xfrm>
            <a:off x="-56653" y="4797152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9695" y="5667648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6320" y="573908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ounded Rectangle 32"/>
          <p:cNvSpPr/>
          <p:nvPr/>
        </p:nvSpPr>
        <p:spPr>
          <a:xfrm>
            <a:off x="2179762" y="573908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ounded Rectangle 33"/>
          <p:cNvSpPr/>
          <p:nvPr/>
        </p:nvSpPr>
        <p:spPr>
          <a:xfrm>
            <a:off x="3355797" y="5733256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/>
          <p:cNvSpPr txBox="1"/>
          <p:nvPr/>
        </p:nvSpPr>
        <p:spPr>
          <a:xfrm>
            <a:off x="6309872" y="5081390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7227" y="5915869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9174" y="4938063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ounded Rectangle 37"/>
          <p:cNvSpPr/>
          <p:nvPr/>
        </p:nvSpPr>
        <p:spPr>
          <a:xfrm>
            <a:off x="7559174" y="5881038"/>
            <a:ext cx="955098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>
          <a:xfrm>
            <a:off x="62136" y="6356350"/>
            <a:ext cx="2133600" cy="365125"/>
          </a:xfrm>
        </p:spPr>
        <p:txBody>
          <a:bodyPr/>
          <a:lstStyle/>
          <a:p>
            <a:pPr>
              <a:defRPr/>
            </a:pPr>
            <a:fld id="{6BF6973D-BDC4-4B99-8C3E-B863BCF9D41C}" type="datetime1">
              <a:rPr lang="en-GB" smtClean="0">
                <a:latin typeface="Segoe Print" panose="02000600000000000000" pitchFamily="2" charset="0"/>
              </a:rPr>
              <a:t>11/10/2023</a:t>
            </a:fld>
            <a:endParaRPr lang="en-GB" dirty="0">
              <a:latin typeface="Segoe Print" panose="02000600000000000000" pitchFamily="2" charset="0"/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-36513" y="6481142"/>
            <a:ext cx="8852525" cy="476250"/>
          </a:xfrm>
        </p:spPr>
        <p:txBody>
          <a:bodyPr/>
          <a:lstStyle/>
          <a:p>
            <a:pPr>
              <a:defRPr/>
            </a:pPr>
            <a:r>
              <a:rPr lang="en-GB" sz="1200" dirty="0">
                <a:latin typeface="Segoe Print" panose="02000600000000000000" pitchFamily="2" charset="0"/>
              </a:rPr>
              <a:t>L.O. Find the nth term rule for a patterned sequence and use it to generate terms in that sequence (Level 6</a:t>
            </a:r>
            <a:r>
              <a:rPr lang="en-GB" dirty="0">
                <a:latin typeface="Segoe Print" panose="02000600000000000000" pitchFamily="2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 rot="5400000">
            <a:off x="7606587" y="1602862"/>
            <a:ext cx="241885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Segoe Print" panose="02000600000000000000" pitchFamily="2" charset="0"/>
              </a:rPr>
              <a:t>Name:</a:t>
            </a:r>
          </a:p>
        </p:txBody>
      </p:sp>
    </p:spTree>
    <p:extLst>
      <p:ext uri="{BB962C8B-B14F-4D97-AF65-F5344CB8AC3E}">
        <p14:creationId xmlns:p14="http://schemas.microsoft.com/office/powerpoint/2010/main" val="323870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44130" y="225152"/>
            <a:ext cx="5969778" cy="863600"/>
            <a:chOff x="1044129" y="225152"/>
            <a:chExt cx="7056437" cy="863600"/>
          </a:xfrm>
        </p:grpSpPr>
        <p:grpSp>
          <p:nvGrpSpPr>
            <p:cNvPr id="5123" name="Group 13"/>
            <p:cNvGrpSpPr>
              <a:grpSpLocks/>
            </p:cNvGrpSpPr>
            <p:nvPr/>
          </p:nvGrpSpPr>
          <p:grpSpPr bwMode="auto">
            <a:xfrm>
              <a:off x="1044129" y="225152"/>
              <a:ext cx="349250" cy="863600"/>
              <a:chOff x="619" y="391"/>
              <a:chExt cx="349" cy="705"/>
            </a:xfrm>
          </p:grpSpPr>
          <p:pic>
            <p:nvPicPr>
              <p:cNvPr id="5246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7" name="Picture 1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8" name="Picture 1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4" name="Group 14"/>
            <p:cNvGrpSpPr>
              <a:grpSpLocks/>
            </p:cNvGrpSpPr>
            <p:nvPr/>
          </p:nvGrpSpPr>
          <p:grpSpPr bwMode="auto">
            <a:xfrm>
              <a:off x="2206179" y="225152"/>
              <a:ext cx="349250" cy="863600"/>
              <a:chOff x="619" y="391"/>
              <a:chExt cx="349" cy="705"/>
            </a:xfrm>
          </p:grpSpPr>
          <p:pic>
            <p:nvPicPr>
              <p:cNvPr id="5243" name="Picture 1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4" name="Picture 1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5" name="Picture 1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5" name="Group 18"/>
            <p:cNvGrpSpPr>
              <a:grpSpLocks/>
            </p:cNvGrpSpPr>
            <p:nvPr/>
          </p:nvGrpSpPr>
          <p:grpSpPr bwMode="auto">
            <a:xfrm>
              <a:off x="2771329" y="225152"/>
              <a:ext cx="349250" cy="863600"/>
              <a:chOff x="619" y="391"/>
              <a:chExt cx="349" cy="705"/>
            </a:xfrm>
          </p:grpSpPr>
          <p:pic>
            <p:nvPicPr>
              <p:cNvPr id="5240" name="Picture 1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1" name="Picture 2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42" name="Picture 2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6" name="Group 26"/>
            <p:cNvGrpSpPr>
              <a:grpSpLocks/>
            </p:cNvGrpSpPr>
            <p:nvPr/>
          </p:nvGrpSpPr>
          <p:grpSpPr bwMode="auto">
            <a:xfrm>
              <a:off x="6055866" y="225152"/>
              <a:ext cx="349250" cy="863600"/>
              <a:chOff x="619" y="391"/>
              <a:chExt cx="349" cy="705"/>
            </a:xfrm>
          </p:grpSpPr>
          <p:pic>
            <p:nvPicPr>
              <p:cNvPr id="5237" name="Picture 2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8" name="Picture 2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9" name="Picture 2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7" name="Group 30"/>
            <p:cNvGrpSpPr>
              <a:grpSpLocks/>
            </p:cNvGrpSpPr>
            <p:nvPr/>
          </p:nvGrpSpPr>
          <p:grpSpPr bwMode="auto">
            <a:xfrm>
              <a:off x="6621016" y="225152"/>
              <a:ext cx="349250" cy="863600"/>
              <a:chOff x="619" y="391"/>
              <a:chExt cx="349" cy="705"/>
            </a:xfrm>
          </p:grpSpPr>
          <p:pic>
            <p:nvPicPr>
              <p:cNvPr id="5234" name="Picture 3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5" name="Picture 3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6" name="Picture 3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8" name="Group 34"/>
            <p:cNvGrpSpPr>
              <a:grpSpLocks/>
            </p:cNvGrpSpPr>
            <p:nvPr/>
          </p:nvGrpSpPr>
          <p:grpSpPr bwMode="auto">
            <a:xfrm>
              <a:off x="7186166" y="225152"/>
              <a:ext cx="349250" cy="863600"/>
              <a:chOff x="619" y="391"/>
              <a:chExt cx="349" cy="705"/>
            </a:xfrm>
          </p:grpSpPr>
          <p:pic>
            <p:nvPicPr>
              <p:cNvPr id="5231" name="Picture 3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2" name="Picture 3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3" name="Picture 3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9" name="Group 38"/>
            <p:cNvGrpSpPr>
              <a:grpSpLocks/>
            </p:cNvGrpSpPr>
            <p:nvPr/>
          </p:nvGrpSpPr>
          <p:grpSpPr bwMode="auto">
            <a:xfrm>
              <a:off x="7751316" y="225152"/>
              <a:ext cx="349250" cy="863600"/>
              <a:chOff x="619" y="391"/>
              <a:chExt cx="349" cy="705"/>
            </a:xfrm>
          </p:grpSpPr>
          <p:pic>
            <p:nvPicPr>
              <p:cNvPr id="5228" name="Picture 3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9" name="Picture 4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30" name="Picture 4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0" name="Group 42"/>
            <p:cNvGrpSpPr>
              <a:grpSpLocks/>
            </p:cNvGrpSpPr>
            <p:nvPr/>
          </p:nvGrpSpPr>
          <p:grpSpPr bwMode="auto">
            <a:xfrm>
              <a:off x="3995291" y="225152"/>
              <a:ext cx="349250" cy="863600"/>
              <a:chOff x="619" y="391"/>
              <a:chExt cx="349" cy="705"/>
            </a:xfrm>
          </p:grpSpPr>
          <p:pic>
            <p:nvPicPr>
              <p:cNvPr id="5225" name="Picture 4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6" name="Picture 4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7" name="Picture 4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1" name="Group 46"/>
            <p:cNvGrpSpPr>
              <a:grpSpLocks/>
            </p:cNvGrpSpPr>
            <p:nvPr/>
          </p:nvGrpSpPr>
          <p:grpSpPr bwMode="auto">
            <a:xfrm>
              <a:off x="4560441" y="225152"/>
              <a:ext cx="349250" cy="863600"/>
              <a:chOff x="619" y="391"/>
              <a:chExt cx="349" cy="705"/>
            </a:xfrm>
          </p:grpSpPr>
          <p:pic>
            <p:nvPicPr>
              <p:cNvPr id="5222" name="Picture 4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3" name="Picture 4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4" name="Picture 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2" name="Group 50"/>
            <p:cNvGrpSpPr>
              <a:grpSpLocks/>
            </p:cNvGrpSpPr>
            <p:nvPr/>
          </p:nvGrpSpPr>
          <p:grpSpPr bwMode="auto">
            <a:xfrm>
              <a:off x="5125591" y="225152"/>
              <a:ext cx="349250" cy="863600"/>
              <a:chOff x="619" y="391"/>
              <a:chExt cx="349" cy="705"/>
            </a:xfrm>
          </p:grpSpPr>
          <p:pic>
            <p:nvPicPr>
              <p:cNvPr id="5219" name="Picture 5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" y="709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0" name="Picture 5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1437">
                <a:off x="884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221" name="Picture 5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718563" flipH="1">
                <a:off x="619" y="391"/>
                <a:ext cx="8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8246" name="Text Box 54"/>
          <p:cNvSpPr txBox="1">
            <a:spLocks noChangeArrowheads="1"/>
          </p:cNvSpPr>
          <p:nvPr/>
        </p:nvSpPr>
        <p:spPr bwMode="auto">
          <a:xfrm>
            <a:off x="107504" y="188640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4.</a:t>
            </a:r>
          </a:p>
        </p:txBody>
      </p:sp>
      <p:sp>
        <p:nvSpPr>
          <p:cNvPr id="8247" name="Text Box 55"/>
          <p:cNvSpPr txBox="1">
            <a:spLocks noChangeArrowheads="1"/>
          </p:cNvSpPr>
          <p:nvPr/>
        </p:nvSpPr>
        <p:spPr bwMode="auto">
          <a:xfrm>
            <a:off x="132867" y="1889669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5.</a:t>
            </a:r>
          </a:p>
        </p:txBody>
      </p:sp>
      <p:grpSp>
        <p:nvGrpSpPr>
          <p:cNvPr id="5135" name="Group 93"/>
          <p:cNvGrpSpPr>
            <a:grpSpLocks/>
          </p:cNvGrpSpPr>
          <p:nvPr/>
        </p:nvGrpSpPr>
        <p:grpSpPr bwMode="auto">
          <a:xfrm>
            <a:off x="1008681" y="1755672"/>
            <a:ext cx="5842691" cy="1316807"/>
            <a:chOff x="603" y="981"/>
            <a:chExt cx="4825" cy="1270"/>
          </a:xfrm>
        </p:grpSpPr>
        <p:pic>
          <p:nvPicPr>
            <p:cNvPr id="5183" name="Picture 5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" y="1480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4" name="Picture 5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1480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5" name="Picture 5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" y="1855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6" name="Picture 5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" y="141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7" name="Picture 6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3" y="148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8" name="Picture 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" y="148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9" name="Picture 6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185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0" name="Picture 6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" y="141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1" name="Picture 6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" y="145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2" name="Picture 6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145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3" name="Picture 6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9" y="183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4" name="Picture 6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" y="1389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5" name="Picture 6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7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6" name="Picture 6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9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7" name="Picture 7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0" y="178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8" name="Picture 7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" y="134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99" name="Picture 7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0" y="143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0" name="Picture 7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2" y="143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1" name="Picture 7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3" y="1812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2" name="Picture 7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7" y="1369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3" name="Picture 7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4" name="Picture 7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5" y="141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5" name="Picture 7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6" y="1787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6" name="Picture 7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0" y="1344"/>
              <a:ext cx="424" cy="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7" name="Picture 8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2116" y="107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8" name="Picture 8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3833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09" name="Picture 8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865">
              <a:off x="4694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0" name="Picture 8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2342" y="1026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1" name="Picture 8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4059" y="981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2" name="Picture 8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H="1">
              <a:off x="4921" y="100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3" name="Picture 8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2109" y="1864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4" name="Picture 8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3839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5" name="Picture 8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48135" flipV="1">
              <a:off x="4656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6" name="Picture 9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2342" y="1842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7" name="Picture 9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4059" y="1819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218" name="Picture 9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26466" flipH="1" flipV="1">
              <a:off x="4876" y="1797"/>
              <a:ext cx="84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286" name="Text Box 94"/>
          <p:cNvSpPr txBox="1">
            <a:spLocks noChangeArrowheads="1"/>
          </p:cNvSpPr>
          <p:nvPr/>
        </p:nvSpPr>
        <p:spPr bwMode="auto">
          <a:xfrm>
            <a:off x="107504" y="3680197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6.</a:t>
            </a:r>
          </a:p>
        </p:txBody>
      </p:sp>
      <p:grpSp>
        <p:nvGrpSpPr>
          <p:cNvPr id="5137" name="Group 143"/>
          <p:cNvGrpSpPr>
            <a:grpSpLocks/>
          </p:cNvGrpSpPr>
          <p:nvPr/>
        </p:nvGrpSpPr>
        <p:grpSpPr bwMode="auto">
          <a:xfrm>
            <a:off x="693801" y="3752540"/>
            <a:ext cx="6513897" cy="934898"/>
            <a:chOff x="476" y="2750"/>
            <a:chExt cx="5307" cy="1134"/>
          </a:xfrm>
        </p:grpSpPr>
        <p:pic>
          <p:nvPicPr>
            <p:cNvPr id="5138" name="Picture 9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39" name="Picture 9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1006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0" name="Picture 9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839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1" name="Picture 10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931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2" name="Picture 10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845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3" name="Picture 10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1012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4" name="Picture 10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53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5" name="Picture 10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599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6" name="Picture 10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5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7" name="Picture 10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2321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8" name="Picture 10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2154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49" name="Picture 10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246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0" name="Picture 10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2160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1" name="Picture 1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2327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2" name="Picture 1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568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3" name="Picture 1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914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4" name="Picture 11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5" name="Picture 11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2956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6" name="Picture 11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2789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7" name="Picture 1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881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8" name="Picture 11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2795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59" name="Picture 11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2962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0" name="Picture 1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203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1" name="Picture 12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4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2" name="Picture 1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4090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3" name="Picture 1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3923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4" name="Picture 12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015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5" name="Picture 12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3929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6" name="Picture 12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4096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7" name="Picture 12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337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8" name="Picture 1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683" y="3171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69" name="Picture 12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0" name="Picture 13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4725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1" name="Picture 1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4558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2" name="Picture 13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650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3" name="Picture 13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4564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4" name="Picture 13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4731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5" name="Picture 13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972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6" name="Picture 13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4" y="3585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7" name="Picture 13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1437">
              <a:off x="5360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8" name="Picture 13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718563" flipH="1">
              <a:off x="5193" y="3294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79" name="Picture 13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5285" y="2750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0" name="Picture 14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8918563">
              <a:off x="5199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1" name="Picture 1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18563" flipH="1">
              <a:off x="5366" y="3039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82" name="Picture 1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607" y="3163"/>
              <a:ext cx="5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9" name="TextBox 128"/>
          <p:cNvSpPr txBox="1"/>
          <p:nvPr/>
        </p:nvSpPr>
        <p:spPr>
          <a:xfrm>
            <a:off x="26983" y="1106977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04863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ounded Rectangle 130"/>
          <p:cNvSpPr/>
          <p:nvPr/>
        </p:nvSpPr>
        <p:spPr>
          <a:xfrm>
            <a:off x="2012975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Rounded Rectangle 131"/>
          <p:cNvSpPr/>
          <p:nvPr/>
        </p:nvSpPr>
        <p:spPr>
          <a:xfrm>
            <a:off x="3813175" y="116656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-84051" y="1676641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5853074" y="117841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TextBox 135"/>
          <p:cNvSpPr txBox="1"/>
          <p:nvPr/>
        </p:nvSpPr>
        <p:spPr>
          <a:xfrm>
            <a:off x="7297029" y="152256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00803" y="1017114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825732" y="429255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ounded Rectangle 138"/>
          <p:cNvSpPr/>
          <p:nvPr/>
        </p:nvSpPr>
        <p:spPr>
          <a:xfrm>
            <a:off x="8502750" y="982283"/>
            <a:ext cx="569813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/>
          <p:cNvSpPr txBox="1"/>
          <p:nvPr/>
        </p:nvSpPr>
        <p:spPr>
          <a:xfrm>
            <a:off x="53811" y="2995124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31691" y="3054711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ounded Rectangle 141"/>
          <p:cNvSpPr/>
          <p:nvPr/>
        </p:nvSpPr>
        <p:spPr>
          <a:xfrm>
            <a:off x="2661047" y="3054711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ounded Rectangle 142"/>
          <p:cNvSpPr/>
          <p:nvPr/>
        </p:nvSpPr>
        <p:spPr>
          <a:xfrm>
            <a:off x="5198750" y="3071082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-57223" y="3564788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7227631" y="2905261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460432" y="2870430"/>
            <a:ext cx="569813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TextBox 147"/>
          <p:cNvSpPr txBox="1"/>
          <p:nvPr/>
        </p:nvSpPr>
        <p:spPr>
          <a:xfrm>
            <a:off x="7274313" y="1880973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803016" y="2157972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0" name="TextBox 149"/>
          <p:cNvSpPr txBox="1"/>
          <p:nvPr/>
        </p:nvSpPr>
        <p:spPr>
          <a:xfrm>
            <a:off x="107367" y="4685112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matches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85247" y="4744699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ounded Rectangle 151"/>
          <p:cNvSpPr/>
          <p:nvPr/>
        </p:nvSpPr>
        <p:spPr>
          <a:xfrm>
            <a:off x="2877071" y="472514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ounded Rectangle 152"/>
          <p:cNvSpPr/>
          <p:nvPr/>
        </p:nvSpPr>
        <p:spPr>
          <a:xfrm>
            <a:off x="5469359" y="4725144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TextBox 153"/>
          <p:cNvSpPr txBox="1"/>
          <p:nvPr/>
        </p:nvSpPr>
        <p:spPr>
          <a:xfrm>
            <a:off x="7274313" y="4777099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Matches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50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388424" y="4742268"/>
            <a:ext cx="569813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TextBox 155"/>
          <p:cNvSpPr txBox="1"/>
          <p:nvPr/>
        </p:nvSpPr>
        <p:spPr>
          <a:xfrm>
            <a:off x="7320995" y="3752811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849698" y="4029810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Text Box 94"/>
          <p:cNvSpPr txBox="1">
            <a:spLocks noChangeArrowheads="1"/>
          </p:cNvSpPr>
          <p:nvPr/>
        </p:nvSpPr>
        <p:spPr bwMode="auto">
          <a:xfrm>
            <a:off x="96792" y="5373216"/>
            <a:ext cx="8893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 dirty="0">
                <a:latin typeface="Segoe Print" panose="02000600000000000000" pitchFamily="2" charset="0"/>
              </a:rPr>
              <a:t>7.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101853" y="6359275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ounded Rectangle 164"/>
          <p:cNvSpPr/>
          <p:nvPr/>
        </p:nvSpPr>
        <p:spPr>
          <a:xfrm>
            <a:off x="2267744" y="6339720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ounded Rectangle 165"/>
          <p:cNvSpPr/>
          <p:nvPr/>
        </p:nvSpPr>
        <p:spPr>
          <a:xfrm>
            <a:off x="3923928" y="6339720"/>
            <a:ext cx="758825" cy="3902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TextBox 166"/>
          <p:cNvSpPr txBox="1"/>
          <p:nvPr/>
        </p:nvSpPr>
        <p:spPr>
          <a:xfrm>
            <a:off x="7260514" y="5408445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term rule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164288" y="6273303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lines in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25</a:t>
            </a:r>
            <a:r>
              <a:rPr lang="en-GB" sz="1200" baseline="30000" dirty="0">
                <a:latin typeface="Segoe Print" panose="02000600000000000000" pitchFamily="2" charset="0"/>
              </a:rPr>
              <a:t>th</a:t>
            </a:r>
            <a:r>
              <a:rPr lang="en-GB" sz="1200" dirty="0">
                <a:latin typeface="Segoe Print" panose="02000600000000000000" pitchFamily="2" charset="0"/>
              </a:rPr>
              <a:t> pattern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789217" y="5685444"/>
            <a:ext cx="1174948" cy="4077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ounded Rectangle 169"/>
          <p:cNvSpPr/>
          <p:nvPr/>
        </p:nvSpPr>
        <p:spPr>
          <a:xfrm>
            <a:off x="8316416" y="6238472"/>
            <a:ext cx="569813" cy="502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1" name="Straight Connector 170"/>
          <p:cNvCxnSpPr/>
          <p:nvPr/>
        </p:nvCxnSpPr>
        <p:spPr>
          <a:xfrm>
            <a:off x="-98110" y="5373216"/>
            <a:ext cx="92733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Picture 12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60" t="32287" r="24941" b="53973"/>
          <a:stretch/>
        </p:blipFill>
        <p:spPr bwMode="auto">
          <a:xfrm>
            <a:off x="1129452" y="5404591"/>
            <a:ext cx="4126379" cy="904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" name="Oval 173"/>
          <p:cNvSpPr/>
          <p:nvPr/>
        </p:nvSpPr>
        <p:spPr>
          <a:xfrm>
            <a:off x="1691680" y="5439820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Oval 174"/>
          <p:cNvSpPr/>
          <p:nvPr/>
        </p:nvSpPr>
        <p:spPr>
          <a:xfrm>
            <a:off x="1123520" y="5424865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Oval 175"/>
          <p:cNvSpPr/>
          <p:nvPr/>
        </p:nvSpPr>
        <p:spPr>
          <a:xfrm>
            <a:off x="1127141" y="6124527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Oval 176"/>
          <p:cNvSpPr/>
          <p:nvPr/>
        </p:nvSpPr>
        <p:spPr>
          <a:xfrm>
            <a:off x="1666881" y="6134257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Oval 177"/>
          <p:cNvSpPr/>
          <p:nvPr/>
        </p:nvSpPr>
        <p:spPr>
          <a:xfrm>
            <a:off x="2033663" y="544201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Oval 178"/>
          <p:cNvSpPr/>
          <p:nvPr/>
        </p:nvSpPr>
        <p:spPr>
          <a:xfrm>
            <a:off x="2568414" y="544350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Oval 179"/>
          <p:cNvSpPr/>
          <p:nvPr/>
        </p:nvSpPr>
        <p:spPr>
          <a:xfrm>
            <a:off x="3100927" y="5435599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Oval 180"/>
          <p:cNvSpPr/>
          <p:nvPr/>
        </p:nvSpPr>
        <p:spPr>
          <a:xfrm>
            <a:off x="2027984" y="613465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Oval 181"/>
          <p:cNvSpPr/>
          <p:nvPr/>
        </p:nvSpPr>
        <p:spPr>
          <a:xfrm>
            <a:off x="2584339" y="613058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Oval 182"/>
          <p:cNvSpPr/>
          <p:nvPr/>
        </p:nvSpPr>
        <p:spPr>
          <a:xfrm>
            <a:off x="3117671" y="6161060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Oval 183"/>
          <p:cNvSpPr/>
          <p:nvPr/>
        </p:nvSpPr>
        <p:spPr>
          <a:xfrm>
            <a:off x="3457198" y="544052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Oval 184"/>
          <p:cNvSpPr/>
          <p:nvPr/>
        </p:nvSpPr>
        <p:spPr>
          <a:xfrm>
            <a:off x="3991949" y="544201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Oval 185"/>
          <p:cNvSpPr/>
          <p:nvPr/>
        </p:nvSpPr>
        <p:spPr>
          <a:xfrm>
            <a:off x="4543379" y="5443503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Oval 186"/>
          <p:cNvSpPr/>
          <p:nvPr/>
        </p:nvSpPr>
        <p:spPr>
          <a:xfrm>
            <a:off x="3455254" y="6149668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Oval 187"/>
          <p:cNvSpPr/>
          <p:nvPr/>
        </p:nvSpPr>
        <p:spPr>
          <a:xfrm>
            <a:off x="4001483" y="6149667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Oval 188"/>
          <p:cNvSpPr/>
          <p:nvPr/>
        </p:nvSpPr>
        <p:spPr>
          <a:xfrm>
            <a:off x="4554091" y="6149666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Oval 189"/>
          <p:cNvSpPr/>
          <p:nvPr/>
        </p:nvSpPr>
        <p:spPr>
          <a:xfrm>
            <a:off x="5093923" y="5438887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Oval 190"/>
          <p:cNvSpPr/>
          <p:nvPr/>
        </p:nvSpPr>
        <p:spPr>
          <a:xfrm>
            <a:off x="5104635" y="6145050"/>
            <a:ext cx="144016" cy="10878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TextBox 191"/>
          <p:cNvSpPr txBox="1"/>
          <p:nvPr/>
        </p:nvSpPr>
        <p:spPr>
          <a:xfrm>
            <a:off x="26983" y="5693873"/>
            <a:ext cx="1082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Segoe Print" panose="02000600000000000000" pitchFamily="2" charset="0"/>
              </a:rPr>
              <a:t>Number of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connecting 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rods in</a:t>
            </a:r>
          </a:p>
          <a:p>
            <a:r>
              <a:rPr lang="en-GB" sz="1200" dirty="0">
                <a:latin typeface="Segoe Print" panose="02000600000000000000" pitchFamily="2" charset="0"/>
              </a:rPr>
              <a:t>each shape</a:t>
            </a:r>
          </a:p>
        </p:txBody>
      </p:sp>
    </p:spTree>
    <p:extLst>
      <p:ext uri="{BB962C8B-B14F-4D97-AF65-F5344CB8AC3E}">
        <p14:creationId xmlns:p14="http://schemas.microsoft.com/office/powerpoint/2010/main" val="12680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6" grpId="0"/>
      <p:bldP spid="8247" grpId="0"/>
      <p:bldP spid="8286" grpId="0"/>
      <p:bldP spid="15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983</Words>
  <Application>Microsoft Office PowerPoint</Application>
  <PresentationFormat>On-screen Show (4:3)</PresentationFormat>
  <Paragraphs>378</Paragraphs>
  <Slides>25</Slides>
  <Notes>2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Cambria Math</vt:lpstr>
      <vt:lpstr>Segoe Print</vt:lpstr>
      <vt:lpstr>Wingdings</vt:lpstr>
      <vt:lpstr>Office Theme</vt:lpstr>
      <vt:lpstr>1_Office Theme</vt:lpstr>
      <vt:lpstr>2_Office Theme</vt:lpstr>
      <vt:lpstr>Lesson objective </vt:lpstr>
      <vt:lpstr>Sequences</vt:lpstr>
      <vt:lpstr>Whiteboards </vt:lpstr>
      <vt:lpstr>Daily review (I do) </vt:lpstr>
      <vt:lpstr>Your turn</vt:lpstr>
      <vt:lpstr>Your turn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DAVIES Rhys [Busselton Senior High School]</cp:lastModifiedBy>
  <cp:revision>205</cp:revision>
  <cp:lastPrinted>2023-10-11T00:00:57Z</cp:lastPrinted>
  <dcterms:created xsi:type="dcterms:W3CDTF">2012-12-01T05:54:22Z</dcterms:created>
  <dcterms:modified xsi:type="dcterms:W3CDTF">2023-10-11T00:16:38Z</dcterms:modified>
</cp:coreProperties>
</file>
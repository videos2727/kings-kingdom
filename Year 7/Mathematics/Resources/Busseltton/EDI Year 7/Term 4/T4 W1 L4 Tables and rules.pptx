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7" r:id="rId9"/>
    <p:sldId id="284" r:id="rId10"/>
    <p:sldId id="262" r:id="rId11"/>
    <p:sldId id="263" r:id="rId12"/>
    <p:sldId id="285" r:id="rId13"/>
    <p:sldId id="286" r:id="rId14"/>
    <p:sldId id="287" r:id="rId15"/>
    <p:sldId id="28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89C66-7D23-7988-44C6-6576D08A6C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8F9DC7-DA70-A3F4-23CE-D99FCEB666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30FBA-0BB0-4A48-179D-33EAADA0E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63E3D-8A45-4C0A-A789-BF38C78BF7A5}" type="datetimeFigureOut">
              <a:rPr lang="en-AU" smtClean="0"/>
              <a:t>13/10/2023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B24A8-D06B-B6EC-1072-C31875CB6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0032D-5FBF-9DDB-089C-DF0579C4A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E609-BFAE-4852-99F6-904E5534B9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3413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E22C6-FEBD-7547-6752-AD940E675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E1454-4BD5-A9B6-B6E1-23657BA35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59B40-D7A1-6AE1-60C7-27BC981EE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63E3D-8A45-4C0A-A789-BF38C78BF7A5}" type="datetimeFigureOut">
              <a:rPr lang="en-AU" smtClean="0"/>
              <a:t>13/10/2023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D29E5-0500-EAAF-9398-989E5419D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B9297-6EBA-3C2A-0C1A-502465092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E609-BFAE-4852-99F6-904E5534B9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0503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C6C5D-0712-C55A-F29D-7538566E0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E4FB4E-14B6-8658-A444-F041EB07E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13792-BFC2-2AFB-1144-50EC46B31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63E3D-8A45-4C0A-A789-BF38C78BF7A5}" type="datetimeFigureOut">
              <a:rPr lang="en-AU" smtClean="0"/>
              <a:t>13/10/2023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00416-3398-AF22-57EB-BF243A0A7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3B21D-E0F2-3E6B-278E-BF932C31F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E609-BFAE-4852-99F6-904E5534B9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994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F0C6E-1F7A-017D-555B-AB7A71E81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4F963-508A-2108-AB84-7C9721BAC3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F31E34-4A38-00DC-FB88-A38205DC13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876723-1BD8-38C9-1081-215A4E905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63E3D-8A45-4C0A-A789-BF38C78BF7A5}" type="datetimeFigureOut">
              <a:rPr lang="en-AU" smtClean="0"/>
              <a:t>13/10/2023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10E906-C713-2F3E-6BD6-F2B9D5B26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ABDC94-4D81-7EB3-F378-E623C6B5F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E609-BFAE-4852-99F6-904E5534B9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7610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D9181-8D20-9472-503F-EFD257CD7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934791-EDAB-0214-8580-628BE0C71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FDF73C-9FBB-CE78-CF5D-99D9A7F8D1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80CEC6-9C8F-A34A-940D-F8E4CF68E9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C1FA2D-8009-E74F-8E6D-DF0F5BA3EA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B20F3A-948D-A2A5-3E12-6C7C9CAAF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63E3D-8A45-4C0A-A789-BF38C78BF7A5}" type="datetimeFigureOut">
              <a:rPr lang="en-AU" smtClean="0"/>
              <a:t>13/10/2023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AF252D-861C-0532-1945-AC562C114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22184C-5508-1790-F9F0-21ED9AF8B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E609-BFAE-4852-99F6-904E5534B9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5733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78A8A-1190-1A8D-7565-64B4CE0E9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285CDC-BD36-26FF-3A62-05829B85B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63E3D-8A45-4C0A-A789-BF38C78BF7A5}" type="datetimeFigureOut">
              <a:rPr lang="en-AU" smtClean="0"/>
              <a:t>13/10/2023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5FF249-E3FE-7B5A-C582-ED0F7211E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5B155B-854B-47AB-4638-C3F8577E3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E609-BFAE-4852-99F6-904E5534B9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5199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B34FE2-81BB-D43B-304A-BAA68649A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63E3D-8A45-4C0A-A789-BF38C78BF7A5}" type="datetimeFigureOut">
              <a:rPr lang="en-AU" smtClean="0"/>
              <a:t>13/10/2023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B60D40-E5F2-36BA-DF31-7A437843F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5207D-F05A-52E6-E818-D175E5A64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E609-BFAE-4852-99F6-904E5534B9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5346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7D205-22C9-FA82-7C6E-8556ECE80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4DF06-E875-17DE-13CE-9F68390D8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747FC2-1997-7535-B412-611272BFF0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B9A744-15A9-A790-B5AF-919DCCB0C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63E3D-8A45-4C0A-A789-BF38C78BF7A5}" type="datetimeFigureOut">
              <a:rPr lang="en-AU" smtClean="0"/>
              <a:t>13/10/2023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9201A1-A861-7A41-AC27-F5415FB8F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46BBD-3CEC-2F99-E8C3-AB8A80790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E609-BFAE-4852-99F6-904E5534B9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3386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F7066-A47C-B0E5-1597-89DB04876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E710B4-D4AF-B48C-752A-F885B522EC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243964-C267-76CA-D845-16A594F9C6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985845-E2E5-8860-7126-057503EA6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63E3D-8A45-4C0A-A789-BF38C78BF7A5}" type="datetimeFigureOut">
              <a:rPr lang="en-AU" smtClean="0"/>
              <a:t>13/10/2023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DA9C16-CA02-6419-1293-7627E485E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1646D8-C810-8A05-D556-CBC4D14C3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E609-BFAE-4852-99F6-904E5534B9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6517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8D574-E7FA-D086-CFE7-E7DC3B1A1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9833BB-DA4B-A63C-84EF-FE9F4D0007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CDC5C-AC06-C68E-31AA-43E5087EB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63E3D-8A45-4C0A-A789-BF38C78BF7A5}" type="datetimeFigureOut">
              <a:rPr lang="en-AU" smtClean="0"/>
              <a:t>13/10/2023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57235-5076-9473-B466-4B79C6270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64966-7739-64B6-1780-6BFD09D6D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E609-BFAE-4852-99F6-904E5534B9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4463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981288-F7E8-D2CD-750F-EB4A07C224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73371E-607F-70E2-7804-E27FC7F9F6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A8A27-697A-5A44-8BE1-68D462726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63E3D-8A45-4C0A-A789-BF38C78BF7A5}" type="datetimeFigureOut">
              <a:rPr lang="en-AU" smtClean="0"/>
              <a:t>13/10/2023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43D28-CE30-813B-EE30-3DBCD6F7C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6526D-03B1-9645-ACFB-642A1D6FF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E609-BFAE-4852-99F6-904E5534B9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76194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906" name="Group 2">
            <a:extLst>
              <a:ext uri="{FF2B5EF4-FFF2-40B4-BE49-F238E27FC236}">
                <a16:creationId xmlns:a16="http://schemas.microsoft.com/office/drawing/2014/main" id="{26FC094F-F2A9-4C61-AAE6-22B76AF92323}"/>
              </a:ext>
            </a:extLst>
          </p:cNvPr>
          <p:cNvGrpSpPr>
            <a:grpSpLocks/>
          </p:cNvGrpSpPr>
          <p:nvPr/>
        </p:nvGrpSpPr>
        <p:grpSpPr bwMode="auto">
          <a:xfrm>
            <a:off x="0" y="927100"/>
            <a:ext cx="11988800" cy="4495800"/>
            <a:chOff x="0" y="584"/>
            <a:chExt cx="5664" cy="2832"/>
          </a:xfrm>
        </p:grpSpPr>
        <p:sp>
          <p:nvSpPr>
            <p:cNvPr id="251907" name="AutoShape 3">
              <a:extLst>
                <a:ext uri="{FF2B5EF4-FFF2-40B4-BE49-F238E27FC236}">
                  <a16:creationId xmlns:a16="http://schemas.microsoft.com/office/drawing/2014/main" id="{A812E439-899E-4FFB-A635-224E212B01E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32" y="1304"/>
              <a:ext cx="4656" cy="2112"/>
            </a:xfrm>
            <a:prstGeom prst="roundRect">
              <a:avLst>
                <a:gd name="adj" fmla="val 16667"/>
              </a:avLst>
            </a:prstGeom>
            <a:noFill/>
            <a:ln w="508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cy-GB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51908" name="Rectangle 4">
              <a:extLst>
                <a:ext uri="{FF2B5EF4-FFF2-40B4-BE49-F238E27FC236}">
                  <a16:creationId xmlns:a16="http://schemas.microsoft.com/office/drawing/2014/main" id="{E56FF478-CCC9-4D82-BBED-206D1ABF252B}"/>
                </a:ext>
              </a:extLst>
            </p:cNvPr>
            <p:cNvSpPr>
              <a:spLocks noChangeArrowheads="1"/>
            </p:cNvSpPr>
            <p:nvPr userDrawn="1"/>
          </p:nvSpPr>
          <p:spPr bwMode="blackWhite">
            <a:xfrm>
              <a:off x="144" y="584"/>
              <a:ext cx="4512" cy="624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cy-GB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51909" name="AutoShape 5">
              <a:extLst>
                <a:ext uri="{FF2B5EF4-FFF2-40B4-BE49-F238E27FC236}">
                  <a16:creationId xmlns:a16="http://schemas.microsoft.com/office/drawing/2014/main" id="{E598ECE2-AF26-4E73-B800-5510B42DEC2B}"/>
                </a:ext>
              </a:extLst>
            </p:cNvPr>
            <p:cNvSpPr>
              <a:spLocks noChangeArrowheads="1"/>
            </p:cNvSpPr>
            <p:nvPr userDrawn="1"/>
          </p:nvSpPr>
          <p:spPr bwMode="blackWhite">
            <a:xfrm>
              <a:off x="0" y="872"/>
              <a:ext cx="5664" cy="1152"/>
            </a:xfrm>
            <a:custGeom>
              <a:avLst/>
              <a:gdLst>
                <a:gd name="G0" fmla="+- 1000 0 0"/>
                <a:gd name="G1" fmla="+- 1000 0 0"/>
                <a:gd name="G2" fmla="+- G0 0 G1"/>
                <a:gd name="G3" fmla="*/ G1 1 2"/>
                <a:gd name="G4" fmla="+- G0 0 G3"/>
                <a:gd name="T0" fmla="*/ 0 w 1000"/>
                <a:gd name="T1" fmla="*/ 0 h 1000"/>
                <a:gd name="T2" fmla="*/ 4417 w 1000"/>
                <a:gd name="T3" fmla="*/ 0 h 1000"/>
                <a:gd name="T4" fmla="*/ 4917 w 1000"/>
                <a:gd name="T5" fmla="*/ 500 h 1000"/>
                <a:gd name="T6" fmla="*/ 4417 w 1000"/>
                <a:gd name="T7" fmla="*/ 1000 h 1000"/>
                <a:gd name="T8" fmla="*/ 0 w 1000"/>
                <a:gd name="T9" fmla="*/ 1000 h 1000"/>
                <a:gd name="T10" fmla="*/ 0 w 1000"/>
                <a:gd name="T11" fmla="*/ 0 h 1000"/>
                <a:gd name="T12" fmla="*/ G4 w 1000"/>
                <a:gd name="T13" fmla="*/ G1 h 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4917" h="1000">
                  <a:moveTo>
                    <a:pt x="0" y="0"/>
                  </a:moveTo>
                  <a:lnTo>
                    <a:pt x="4417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1000"/>
                    <a:pt x="4417" y="1000"/>
                  </a:cubicBezTo>
                  <a:lnTo>
                    <a:pt x="0" y="100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y-GB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51910" name="Line 6">
              <a:extLst>
                <a:ext uri="{FF2B5EF4-FFF2-40B4-BE49-F238E27FC236}">
                  <a16:creationId xmlns:a16="http://schemas.microsoft.com/office/drawing/2014/main" id="{15BA6704-FC6A-4F9D-9487-B1215376F3B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0" y="1928"/>
              <a:ext cx="5232" cy="0"/>
            </a:xfrm>
            <a:prstGeom prst="line">
              <a:avLst/>
            </a:prstGeom>
            <a:noFill/>
            <a:ln w="508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 sz="1800"/>
            </a:p>
          </p:txBody>
        </p:sp>
      </p:grpSp>
      <p:sp>
        <p:nvSpPr>
          <p:cNvPr id="251911" name="Rectangle 7">
            <a:extLst>
              <a:ext uri="{FF2B5EF4-FFF2-40B4-BE49-F238E27FC236}">
                <a16:creationId xmlns:a16="http://schemas.microsoft.com/office/drawing/2014/main" id="{19B8C4AD-56A8-44B0-8A7C-12B0A4EEB11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1427164"/>
            <a:ext cx="10769600" cy="1609725"/>
          </a:xfrm>
        </p:spPr>
        <p:txBody>
          <a:bodyPr/>
          <a:lstStyle>
            <a:lvl1pPr>
              <a:defRPr sz="4600"/>
            </a:lvl1pPr>
          </a:lstStyle>
          <a:p>
            <a:pPr lvl="0"/>
            <a:r>
              <a:rPr lang="cy-GB" altLang="en-US" noProof="0"/>
              <a:t>Click to edit Master title style</a:t>
            </a:r>
          </a:p>
        </p:txBody>
      </p:sp>
      <p:sp>
        <p:nvSpPr>
          <p:cNvPr id="251912" name="Rectangle 8">
            <a:extLst>
              <a:ext uri="{FF2B5EF4-FFF2-40B4-BE49-F238E27FC236}">
                <a16:creationId xmlns:a16="http://schemas.microsoft.com/office/drawing/2014/main" id="{842C7C53-4808-4A33-924D-D8BBEC99F90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422400" y="3441700"/>
            <a:ext cx="8839200" cy="16764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cy-GB" altLang="en-US" noProof="0"/>
              <a:t>Click to edit Master subtitle style</a:t>
            </a:r>
          </a:p>
        </p:txBody>
      </p:sp>
      <p:sp>
        <p:nvSpPr>
          <p:cNvPr id="251913" name="Rectangle 9">
            <a:extLst>
              <a:ext uri="{FF2B5EF4-FFF2-40B4-BE49-F238E27FC236}">
                <a16:creationId xmlns:a16="http://schemas.microsoft.com/office/drawing/2014/main" id="{0BAB7E74-2F24-4917-8BF5-5DA7B29E85A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8400"/>
            <a:ext cx="2844800" cy="471488"/>
          </a:xfrm>
        </p:spPr>
        <p:txBody>
          <a:bodyPr/>
          <a:lstStyle>
            <a:lvl1pPr>
              <a:defRPr/>
            </a:lvl1pPr>
          </a:lstStyle>
          <a:p>
            <a:endParaRPr lang="cy-GB" altLang="en-US"/>
          </a:p>
        </p:txBody>
      </p:sp>
      <p:sp>
        <p:nvSpPr>
          <p:cNvPr id="251914" name="Rectangle 10">
            <a:extLst>
              <a:ext uri="{FF2B5EF4-FFF2-40B4-BE49-F238E27FC236}">
                <a16:creationId xmlns:a16="http://schemas.microsoft.com/office/drawing/2014/main" id="{51F6F383-68B9-4B8E-9818-1C0A78063BD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53163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cy-GB" altLang="en-US"/>
          </a:p>
        </p:txBody>
      </p:sp>
      <p:sp>
        <p:nvSpPr>
          <p:cNvPr id="251915" name="Rectangle 11">
            <a:extLst>
              <a:ext uri="{FF2B5EF4-FFF2-40B4-BE49-F238E27FC236}">
                <a16:creationId xmlns:a16="http://schemas.microsoft.com/office/drawing/2014/main" id="{C3C0DA4F-8978-407F-82B0-C9E608C93DF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8400"/>
            <a:ext cx="2844800" cy="471488"/>
          </a:xfrm>
        </p:spPr>
        <p:txBody>
          <a:bodyPr/>
          <a:lstStyle>
            <a:lvl1pPr>
              <a:defRPr/>
            </a:lvl1pPr>
          </a:lstStyle>
          <a:p>
            <a:fld id="{E7D0D52A-2D06-47F4-ACDC-10FB2E48D283}" type="slidenum">
              <a:rPr lang="cy-GB" altLang="en-US"/>
              <a:pPr/>
              <a:t>‹#›</a:t>
            </a:fld>
            <a:endParaRPr lang="cy-GB" altLang="en-US"/>
          </a:p>
        </p:txBody>
      </p:sp>
    </p:spTree>
    <p:extLst>
      <p:ext uri="{BB962C8B-B14F-4D97-AF65-F5344CB8AC3E}">
        <p14:creationId xmlns:p14="http://schemas.microsoft.com/office/powerpoint/2010/main" val="3512479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A71AD-E38B-499D-AB39-9457FB144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73723-BA8F-43A5-8E86-53F2129CF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D0366D-A372-40C6-9764-FB702FDA5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cy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0C247-9FCB-4F9C-A6B4-7AD795450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cy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827960-D292-46ED-8F5E-4F3DA9B53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C04D91-D17B-4E08-9197-3D231532731C}" type="slidenum">
              <a:rPr lang="cy-GB" altLang="en-US"/>
              <a:pPr/>
              <a:t>‹#›</a:t>
            </a:fld>
            <a:endParaRPr lang="cy-GB" altLang="en-US"/>
          </a:p>
        </p:txBody>
      </p:sp>
    </p:spTree>
    <p:extLst>
      <p:ext uri="{BB962C8B-B14F-4D97-AF65-F5344CB8AC3E}">
        <p14:creationId xmlns:p14="http://schemas.microsoft.com/office/powerpoint/2010/main" val="1898084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23A48-1206-43A4-959B-921FE23A7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018D56-3125-4FA5-8796-EF972F9F3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CCBDC-EF1C-4F67-B7BA-BC19B3D20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cy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4A5BB-706E-400D-A3B0-F81768B78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cy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410BC-6EE2-421B-BA8C-C9CAE8CB2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105855-2083-4BE4-BFB5-AAF91B0574E7}" type="slidenum">
              <a:rPr lang="cy-GB" altLang="en-US"/>
              <a:pPr/>
              <a:t>‹#›</a:t>
            </a:fld>
            <a:endParaRPr lang="cy-GB" altLang="en-US"/>
          </a:p>
        </p:txBody>
      </p:sp>
    </p:spTree>
    <p:extLst>
      <p:ext uri="{BB962C8B-B14F-4D97-AF65-F5344CB8AC3E}">
        <p14:creationId xmlns:p14="http://schemas.microsoft.com/office/powerpoint/2010/main" val="3850780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1A087-70D9-4903-808C-2AD5A8F3C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2383C-8813-4E10-90A7-1EB79EDE9A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2800" y="1600200"/>
            <a:ext cx="51816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E37447-35A6-47C9-B448-20304B98F1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1816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20AA60-4B02-4A6A-8F01-52B7190A9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cy-GB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05984A-0C3B-4608-9EFB-1AA1EEAD6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cy-GB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9F8F3F-5E85-4A79-8011-7D872FA9B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5583D5-4E57-46E1-ACE5-91C93658E487}" type="slidenum">
              <a:rPr lang="cy-GB" altLang="en-US"/>
              <a:pPr/>
              <a:t>‹#›</a:t>
            </a:fld>
            <a:endParaRPr lang="cy-GB" altLang="en-US"/>
          </a:p>
        </p:txBody>
      </p:sp>
    </p:spTree>
    <p:extLst>
      <p:ext uri="{BB962C8B-B14F-4D97-AF65-F5344CB8AC3E}">
        <p14:creationId xmlns:p14="http://schemas.microsoft.com/office/powerpoint/2010/main" val="32310286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0BD6C-5E02-4EDC-A7B0-132AA11BA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190BF4-3610-420D-95BF-B43D09C16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DEFF86-AE7A-4DF0-9083-3FA9EA5B5C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39100B-6BB9-42C8-958B-C449BC55B4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A99EE1-B3AD-4B71-BAC0-BD3A21EC40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5B7D65-77B3-4164-A232-A01AE0E41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cy-GB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98A071-AD98-46E8-8571-F90A7C02A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cy-GB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9B9CEC-9104-4946-A68D-93ABE329C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7326A1-1C4D-415A-AFE9-6D1EFD57AE4A}" type="slidenum">
              <a:rPr lang="cy-GB" altLang="en-US"/>
              <a:pPr/>
              <a:t>‹#›</a:t>
            </a:fld>
            <a:endParaRPr lang="cy-GB" altLang="en-US"/>
          </a:p>
        </p:txBody>
      </p:sp>
    </p:spTree>
    <p:extLst>
      <p:ext uri="{BB962C8B-B14F-4D97-AF65-F5344CB8AC3E}">
        <p14:creationId xmlns:p14="http://schemas.microsoft.com/office/powerpoint/2010/main" val="14052097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30FC3-923E-457B-8050-2141D2E1D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4E1A43-493E-45B1-8F43-BC84CFDF6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cy-GB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5C820D-03E5-431C-AB33-727951BDE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cy-GB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192D8E-52F9-4EFB-982C-D3DFC3A3D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FDF6D7-8C9C-41AD-B504-14464FC65069}" type="slidenum">
              <a:rPr lang="cy-GB" altLang="en-US"/>
              <a:pPr/>
              <a:t>‹#›</a:t>
            </a:fld>
            <a:endParaRPr lang="cy-GB" altLang="en-US"/>
          </a:p>
        </p:txBody>
      </p:sp>
    </p:spTree>
    <p:extLst>
      <p:ext uri="{BB962C8B-B14F-4D97-AF65-F5344CB8AC3E}">
        <p14:creationId xmlns:p14="http://schemas.microsoft.com/office/powerpoint/2010/main" val="34265156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CD73FD-35DD-41B5-BDBB-0022E91D2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cy-GB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9377B8-AED4-4E2A-9822-776133EE6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cy-GB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67ADD-5C3B-4B86-B9D8-07ADE8FCA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D9A647-5E67-4504-BC20-787A8359BC59}" type="slidenum">
              <a:rPr lang="cy-GB" altLang="en-US"/>
              <a:pPr/>
              <a:t>‹#›</a:t>
            </a:fld>
            <a:endParaRPr lang="cy-GB" altLang="en-US"/>
          </a:p>
        </p:txBody>
      </p:sp>
    </p:spTree>
    <p:extLst>
      <p:ext uri="{BB962C8B-B14F-4D97-AF65-F5344CB8AC3E}">
        <p14:creationId xmlns:p14="http://schemas.microsoft.com/office/powerpoint/2010/main" val="9839209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EC5B9-7940-469E-BE75-B93DEE78E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C48B4-F43E-4476-89B8-CB1643797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9C0595-5E7E-4EE9-B318-A9F717269B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94DAA9-DCC6-47E5-9B01-A2B77E1D0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cy-GB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DE87B0-3DE4-4191-9D8C-187FE3358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cy-GB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8EF80D-33D6-4BBA-887A-DC6BEB1ED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B10A6C-690C-43A2-8C45-EAB2C751EE92}" type="slidenum">
              <a:rPr lang="cy-GB" altLang="en-US"/>
              <a:pPr/>
              <a:t>‹#›</a:t>
            </a:fld>
            <a:endParaRPr lang="cy-GB" altLang="en-US"/>
          </a:p>
        </p:txBody>
      </p:sp>
    </p:spTree>
    <p:extLst>
      <p:ext uri="{BB962C8B-B14F-4D97-AF65-F5344CB8AC3E}">
        <p14:creationId xmlns:p14="http://schemas.microsoft.com/office/powerpoint/2010/main" val="27732962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FD130-CA54-46D4-A56B-B9C1ADEC9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603972-B1D1-4EEC-84FC-C95668A008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A3AF70-8E63-4EDC-B2AD-284E6852DF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FE6F3B-AB05-4F03-B135-4D976E867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cy-GB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9193D4-171F-45C9-B7AE-052B62C26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cy-GB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F6B73E-BD3C-4836-ADA4-1BF4D58EB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008FEE-59CC-4A8B-AF7E-B03EB5C3A1AE}" type="slidenum">
              <a:rPr lang="cy-GB" altLang="en-US"/>
              <a:pPr/>
              <a:t>‹#›</a:t>
            </a:fld>
            <a:endParaRPr lang="cy-GB" altLang="en-US"/>
          </a:p>
        </p:txBody>
      </p:sp>
    </p:spTree>
    <p:extLst>
      <p:ext uri="{BB962C8B-B14F-4D97-AF65-F5344CB8AC3E}">
        <p14:creationId xmlns:p14="http://schemas.microsoft.com/office/powerpoint/2010/main" val="13494657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67453-4290-4CCC-9145-DAC618998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C1D751-B296-4DE9-A67E-56F24B7E9B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45C84-0746-480B-ABA7-2752352F2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cy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218E1-BA25-4DE4-BB83-CAF4DADA6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cy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51560-A636-4415-A112-ADDBA051D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080081-C74A-4A15-B7E7-0C72B9B07A4F}" type="slidenum">
              <a:rPr lang="cy-GB" altLang="en-US"/>
              <a:pPr/>
              <a:t>‹#›</a:t>
            </a:fld>
            <a:endParaRPr lang="cy-GB" altLang="en-US"/>
          </a:p>
        </p:txBody>
      </p:sp>
    </p:spTree>
    <p:extLst>
      <p:ext uri="{BB962C8B-B14F-4D97-AF65-F5344CB8AC3E}">
        <p14:creationId xmlns:p14="http://schemas.microsoft.com/office/powerpoint/2010/main" val="25883492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58B8F4-2678-4F26-9675-BB6B647634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00018" y="228600"/>
            <a:ext cx="2779183" cy="5791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12226F-0CCC-4A88-A35B-2F742CA07D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60351" y="228600"/>
            <a:ext cx="8136467" cy="5791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85883-10DC-4B27-98E6-D7FF05B7C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cy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698DA-06BC-4CA5-81D6-E389285D7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cy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6EB53-652A-4ED9-8F00-28C231559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DE8AC9-9A4B-4818-984E-D5958E85AA2F}" type="slidenum">
              <a:rPr lang="cy-GB" altLang="en-US"/>
              <a:pPr/>
              <a:t>‹#›</a:t>
            </a:fld>
            <a:endParaRPr lang="cy-GB" altLang="en-US"/>
          </a:p>
        </p:txBody>
      </p:sp>
    </p:spTree>
    <p:extLst>
      <p:ext uri="{BB962C8B-B14F-4D97-AF65-F5344CB8AC3E}">
        <p14:creationId xmlns:p14="http://schemas.microsoft.com/office/powerpoint/2010/main" val="3373273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E27714-2F3C-CAE9-E401-8B107ED3D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1CAF7-A6D5-028E-8EB8-D4B426DC1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E2DE4-AA29-1983-C2CD-9E0F65715E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863E3D-8A45-4C0A-A789-BF38C78BF7A5}" type="datetimeFigureOut">
              <a:rPr lang="en-AU" smtClean="0"/>
              <a:t>13/10/2023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0E3EC-4A12-F367-6139-4EA467D34F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C2BE3-A42D-EAD1-69B0-2F92329781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0E609-BFAE-4852-99F6-904E5534B9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2190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882" name="Group 2">
            <a:extLst>
              <a:ext uri="{FF2B5EF4-FFF2-40B4-BE49-F238E27FC236}">
                <a16:creationId xmlns:a16="http://schemas.microsoft.com/office/drawing/2014/main" id="{52B71C65-1BBF-4665-AACA-03A800F18565}"/>
              </a:ext>
            </a:extLst>
          </p:cNvPr>
          <p:cNvGrpSpPr>
            <a:grpSpLocks/>
          </p:cNvGrpSpPr>
          <p:nvPr/>
        </p:nvGrpSpPr>
        <p:grpSpPr bwMode="auto">
          <a:xfrm>
            <a:off x="0" y="152400"/>
            <a:ext cx="11582400" cy="6096000"/>
            <a:chOff x="0" y="96"/>
            <a:chExt cx="5472" cy="3840"/>
          </a:xfrm>
        </p:grpSpPr>
        <p:sp>
          <p:nvSpPr>
            <p:cNvPr id="250883" name="AutoShape 3">
              <a:extLst>
                <a:ext uri="{FF2B5EF4-FFF2-40B4-BE49-F238E27FC236}">
                  <a16:creationId xmlns:a16="http://schemas.microsoft.com/office/drawing/2014/main" id="{10996343-DD0F-4E8C-8EC8-DF769B28ED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336"/>
              <a:ext cx="5232" cy="3600"/>
            </a:xfrm>
            <a:prstGeom prst="roundRect">
              <a:avLst>
                <a:gd name="adj" fmla="val 13727"/>
              </a:avLst>
            </a:prstGeom>
            <a:noFill/>
            <a:ln w="508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cy-GB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50884" name="AutoShape 4">
              <a:extLst>
                <a:ext uri="{FF2B5EF4-FFF2-40B4-BE49-F238E27FC236}">
                  <a16:creationId xmlns:a16="http://schemas.microsoft.com/office/drawing/2014/main" id="{19C66D62-680C-4697-B6A3-886A5C9256DB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0" y="96"/>
              <a:ext cx="5376" cy="768"/>
            </a:xfrm>
            <a:custGeom>
              <a:avLst/>
              <a:gdLst>
                <a:gd name="G0" fmla="+- 1000 0 0"/>
                <a:gd name="G1" fmla="+- 1000 0 0"/>
                <a:gd name="G2" fmla="+- G0 0 G1"/>
                <a:gd name="G3" fmla="*/ G1 1 2"/>
                <a:gd name="G4" fmla="+- G0 0 G3"/>
                <a:gd name="T0" fmla="*/ 0 w 1000"/>
                <a:gd name="T1" fmla="*/ 0 h 1000"/>
                <a:gd name="T2" fmla="*/ 6500 w 1000"/>
                <a:gd name="T3" fmla="*/ 0 h 1000"/>
                <a:gd name="T4" fmla="*/ 7000 w 1000"/>
                <a:gd name="T5" fmla="*/ 500 h 1000"/>
                <a:gd name="T6" fmla="*/ 6500 w 1000"/>
                <a:gd name="T7" fmla="*/ 1000 h 1000"/>
                <a:gd name="T8" fmla="*/ 0 w 1000"/>
                <a:gd name="T9" fmla="*/ 1000 h 1000"/>
                <a:gd name="T10" fmla="*/ 0 w 1000"/>
                <a:gd name="T11" fmla="*/ 0 h 1000"/>
                <a:gd name="T12" fmla="*/ G4 w 1000"/>
                <a:gd name="T13" fmla="*/ G1 h 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7000" h="1000">
                  <a:moveTo>
                    <a:pt x="0" y="0"/>
                  </a:moveTo>
                  <a:lnTo>
                    <a:pt x="6500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1000"/>
                    <a:pt x="6500" y="1000"/>
                  </a:cubicBezTo>
                  <a:lnTo>
                    <a:pt x="0" y="100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y-GB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50885" name="Line 5">
              <a:extLst>
                <a:ext uri="{FF2B5EF4-FFF2-40B4-BE49-F238E27FC236}">
                  <a16:creationId xmlns:a16="http://schemas.microsoft.com/office/drawing/2014/main" id="{F52BA684-D327-4609-A933-BD9DDF1102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768"/>
              <a:ext cx="5088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 sz="1800"/>
            </a:p>
          </p:txBody>
        </p:sp>
      </p:grpSp>
      <p:sp>
        <p:nvSpPr>
          <p:cNvPr id="250886" name="Rectangle 6">
            <a:extLst>
              <a:ext uri="{FF2B5EF4-FFF2-40B4-BE49-F238E27FC236}">
                <a16:creationId xmlns:a16="http://schemas.microsoft.com/office/drawing/2014/main" id="{7B041AA3-C7F7-4E95-9285-1A82BC27B3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60352" y="228600"/>
            <a:ext cx="10687049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cy-GB" altLang="en-US"/>
              <a:t>Click to edit Master title style</a:t>
            </a:r>
          </a:p>
        </p:txBody>
      </p:sp>
      <p:sp>
        <p:nvSpPr>
          <p:cNvPr id="250887" name="Rectangle 7">
            <a:extLst>
              <a:ext uri="{FF2B5EF4-FFF2-40B4-BE49-F238E27FC236}">
                <a16:creationId xmlns:a16="http://schemas.microsoft.com/office/drawing/2014/main" id="{3324454C-384C-4E6F-B9FF-83482BA529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600200"/>
            <a:ext cx="105664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y-GB" altLang="en-US"/>
              <a:t>Click to edit Master text styles</a:t>
            </a:r>
          </a:p>
          <a:p>
            <a:pPr lvl="1"/>
            <a:r>
              <a:rPr lang="cy-GB" altLang="en-US"/>
              <a:t>Second level</a:t>
            </a:r>
          </a:p>
          <a:p>
            <a:pPr lvl="2"/>
            <a:r>
              <a:rPr lang="cy-GB" altLang="en-US"/>
              <a:t>Third level</a:t>
            </a:r>
          </a:p>
          <a:p>
            <a:pPr lvl="3"/>
            <a:r>
              <a:rPr lang="cy-GB" altLang="en-US"/>
              <a:t>Fourth level</a:t>
            </a:r>
          </a:p>
          <a:p>
            <a:pPr lvl="4"/>
            <a:r>
              <a:rPr lang="cy-GB" altLang="en-US"/>
              <a:t>Fifth level</a:t>
            </a:r>
          </a:p>
        </p:txBody>
      </p:sp>
      <p:sp>
        <p:nvSpPr>
          <p:cNvPr id="250888" name="Rectangle 8">
            <a:extLst>
              <a:ext uri="{FF2B5EF4-FFF2-40B4-BE49-F238E27FC236}">
                <a16:creationId xmlns:a16="http://schemas.microsoft.com/office/drawing/2014/main" id="{6BF39DDB-EC0E-4220-A930-242ABB5FA4D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cy-GB" altLang="en-US"/>
          </a:p>
        </p:txBody>
      </p:sp>
      <p:sp>
        <p:nvSpPr>
          <p:cNvPr id="250889" name="Rectangle 9">
            <a:extLst>
              <a:ext uri="{FF2B5EF4-FFF2-40B4-BE49-F238E27FC236}">
                <a16:creationId xmlns:a16="http://schemas.microsoft.com/office/drawing/2014/main" id="{F8547BB7-A824-4194-8CA9-EFE6213D4D2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endParaRPr lang="cy-GB" altLang="en-US"/>
          </a:p>
        </p:txBody>
      </p:sp>
      <p:sp>
        <p:nvSpPr>
          <p:cNvPr id="250890" name="Rectangle 10">
            <a:extLst>
              <a:ext uri="{FF2B5EF4-FFF2-40B4-BE49-F238E27FC236}">
                <a16:creationId xmlns:a16="http://schemas.microsoft.com/office/drawing/2014/main" id="{4A532288-4812-4150-B383-D28C4609B0A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anose="020B0A04020102020204" pitchFamily="34" charset="0"/>
              </a:defRPr>
            </a:lvl1pPr>
          </a:lstStyle>
          <a:p>
            <a:fld id="{5F020629-D693-4F4B-A113-A9B8F31129DA}" type="slidenum">
              <a:rPr lang="cy-GB" altLang="en-US"/>
              <a:pPr/>
              <a:t>‹#›</a:t>
            </a:fld>
            <a:endParaRPr lang="cy-GB" altLang="en-US"/>
          </a:p>
        </p:txBody>
      </p:sp>
    </p:spTree>
    <p:extLst>
      <p:ext uri="{BB962C8B-B14F-4D97-AF65-F5344CB8AC3E}">
        <p14:creationId xmlns:p14="http://schemas.microsoft.com/office/powerpoint/2010/main" val="3615454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l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l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025692-FE04-B6AA-D204-06FE0A1B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Lesson objective 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9290615-4D23-B4F4-BADD-6388221C2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</a:t>
            </a:r>
            <a:r>
              <a:rPr lang="en-US" sz="3200" b="1" dirty="0">
                <a:solidFill>
                  <a:schemeClr val="bg1"/>
                </a:solidFill>
              </a:rPr>
              <a:t>itle: Tables and rules </a:t>
            </a:r>
          </a:p>
          <a:p>
            <a:pPr marL="0" indent="0">
              <a:buNone/>
            </a:pPr>
            <a:endParaRPr lang="en-US" sz="32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Aim – be able to: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chemeClr val="bg1"/>
                </a:solidFill>
              </a:rPr>
              <a:t> Find a rule from a table of values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chemeClr val="bg1"/>
                </a:solidFill>
              </a:rPr>
              <a:t> Substitute input values to determine an output value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Plan: </a:t>
            </a:r>
          </a:p>
          <a:p>
            <a:pPr>
              <a:buFontTx/>
              <a:buChar char="-"/>
            </a:pPr>
            <a:r>
              <a:rPr lang="en-US" sz="3200" b="1" dirty="0">
                <a:solidFill>
                  <a:schemeClr val="bg1"/>
                </a:solidFill>
              </a:rPr>
              <a:t>Review number patterns </a:t>
            </a:r>
          </a:p>
          <a:p>
            <a:pPr>
              <a:buFontTx/>
              <a:buChar char="-"/>
            </a:pPr>
            <a:r>
              <a:rPr lang="en-AU" sz="3200" b="1" dirty="0">
                <a:solidFill>
                  <a:schemeClr val="bg1"/>
                </a:solidFill>
              </a:rPr>
              <a:t>Review solving equations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69A5E1-2A07-1578-6C7F-E947DC51446D}"/>
              </a:ext>
            </a:extLst>
          </p:cNvPr>
          <p:cNvSpPr txBox="1"/>
          <p:nvPr/>
        </p:nvSpPr>
        <p:spPr>
          <a:xfrm>
            <a:off x="7474998" y="1624614"/>
            <a:ext cx="33646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Need whiteboards and calculators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728185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A37B0-B0F7-42FC-92D0-FA62EE10A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Match the </a:t>
            </a:r>
            <a:r>
              <a:rPr lang="en-US" i="1" dirty="0"/>
              <a:t>number pattern</a:t>
            </a:r>
            <a:r>
              <a:rPr lang="en-US" dirty="0"/>
              <a:t> to the </a:t>
            </a:r>
            <a:r>
              <a:rPr lang="en-US" i="1" dirty="0"/>
              <a:t>rule</a:t>
            </a:r>
            <a:br>
              <a:rPr lang="en-AU" dirty="0"/>
            </a:br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A8B990-1903-4186-A7C7-56FB2570E4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3228975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7, 12, 17, 22, 27, ….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96, 48, 24, 12, 6, …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96, 92, 88, 84, …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7, 12, 18, 25, 33, 42,.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96, 100, 90, 94, 84, 88, 78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0323F9A-D9A2-4268-AE87-B5C4203275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05350" y="1825625"/>
            <a:ext cx="664845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Start with 96 and keep dividing by 2.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Start with 7, add 5, add 6, add 7 and continue.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Start with 7 and keep adding 5.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Start with 96, add 4, take 10 and repeat.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Start with 96 and keep subtracting 4. </a:t>
            </a:r>
          </a:p>
        </p:txBody>
      </p:sp>
    </p:spTree>
    <p:extLst>
      <p:ext uri="{BB962C8B-B14F-4D97-AF65-F5344CB8AC3E}">
        <p14:creationId xmlns:p14="http://schemas.microsoft.com/office/powerpoint/2010/main" val="2142261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943FC-E61D-4A01-A7B1-6B95D8BD5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Daily review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214D1C-0619-4898-A224-A34D440022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I do - box method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96A2BD-EC4A-41AB-AC2F-63BC6365E21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AU" dirty="0"/>
              <a:t>4x + 11 = 23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08CFF75-214F-4634-879F-1CFD9DE8DF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I do - balancing method </a:t>
            </a:r>
            <a:endParaRPr lang="en-AU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D240ADF-DB1B-4476-8312-3A2F620D356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4f – 9 = 15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4036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8CE4C-9F52-43F5-BA85-EB0AD4FF9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We do 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8B7D55-32AF-438F-85D4-6725203C62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Box method </a:t>
            </a:r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C1D488-6DB0-4902-9743-3CC2D0B5F2B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  <a:p>
            <a:pPr marL="0" indent="0" algn="ctr">
              <a:buNone/>
            </a:pPr>
            <a:r>
              <a:rPr lang="en-AU" dirty="0"/>
              <a:t>5c + 3 = 13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0B2171-253F-4667-B177-B8CA10C715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Balancing method </a:t>
            </a:r>
            <a:endParaRPr lang="en-A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54D462-AAEB-49D6-97EC-86B77D31B24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AU" dirty="0"/>
              <a:t>10v – 3 = 27 </a:t>
            </a:r>
          </a:p>
        </p:txBody>
      </p:sp>
    </p:spTree>
    <p:extLst>
      <p:ext uri="{BB962C8B-B14F-4D97-AF65-F5344CB8AC3E}">
        <p14:creationId xmlns:p14="http://schemas.microsoft.com/office/powerpoint/2010/main" val="4018110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9A2921B-F383-4E13-A8A6-1AB8FC775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C3FC110-57FB-4A52-A490-3F965A849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Solve these equations and state you answer. Use either method. 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3x + 7 = 22 </a:t>
            </a:r>
          </a:p>
          <a:p>
            <a:pPr marL="514350" indent="-514350">
              <a:buAutoNum type="alphaLcParenR"/>
            </a:pPr>
            <a:r>
              <a:rPr lang="en-US" dirty="0"/>
              <a:t>5g – 3 = 17 </a:t>
            </a:r>
          </a:p>
          <a:p>
            <a:pPr marL="514350" indent="-514350">
              <a:buAutoNum type="alphaLcParenR"/>
            </a:pPr>
            <a:r>
              <a:rPr lang="en-US" dirty="0"/>
              <a:t>9 + 3f = 15 </a:t>
            </a:r>
          </a:p>
          <a:p>
            <a:pPr marL="514350" indent="-514350">
              <a:buAutoNum type="alphaLcParenR"/>
            </a:pPr>
            <a:r>
              <a:rPr lang="en-US" dirty="0"/>
              <a:t>5d – 7 = -2 </a:t>
            </a:r>
          </a:p>
          <a:p>
            <a:pPr marL="514350" indent="-514350">
              <a:buAutoNum type="alphaLcParenR"/>
            </a:pPr>
            <a:r>
              <a:rPr lang="en-US" dirty="0"/>
              <a:t>7h + 3 = 24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86104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9974-FA85-9121-7F69-826C492E2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668480" cy="806727"/>
          </a:xfrm>
        </p:spPr>
        <p:txBody>
          <a:bodyPr>
            <a:normAutofit/>
          </a:bodyPr>
          <a:lstStyle/>
          <a:p>
            <a:r>
              <a:rPr lang="en-US" sz="3600" dirty="0"/>
              <a:t>Guided notes </a:t>
            </a:r>
            <a:endParaRPr lang="en-AU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D8E86-56B8-30A6-5AEC-E226C1478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309" y="736847"/>
            <a:ext cx="11727402" cy="600130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b="1" dirty="0"/>
              <a:t>A rule shows the relationship between two amounts that can vary. It is used to calculate the output (answer) from the input (starting number). </a:t>
            </a:r>
          </a:p>
          <a:p>
            <a:pPr marL="0" indent="0">
              <a:buNone/>
            </a:pPr>
            <a:endParaRPr lang="en-US" sz="3200" b="1" dirty="0"/>
          </a:p>
          <a:p>
            <a:pPr marL="0" indent="0">
              <a:buNone/>
            </a:pPr>
            <a:r>
              <a:rPr lang="en-US" sz="3200" b="1" dirty="0"/>
              <a:t>Output:</a:t>
            </a:r>
          </a:p>
          <a:p>
            <a:pPr>
              <a:buFontTx/>
              <a:buChar char="-"/>
            </a:pPr>
            <a:r>
              <a:rPr lang="en-US" sz="3200" b="1" dirty="0"/>
              <a:t>The result from applying a rule to the input </a:t>
            </a:r>
          </a:p>
          <a:p>
            <a:pPr>
              <a:buFontTx/>
              <a:buChar char="-"/>
            </a:pPr>
            <a:endParaRPr lang="en-US" sz="3200" b="1" dirty="0"/>
          </a:p>
          <a:p>
            <a:pPr marL="0" indent="0">
              <a:buNone/>
            </a:pPr>
            <a:r>
              <a:rPr lang="en-US" sz="3200" b="1" dirty="0"/>
              <a:t>Input: </a:t>
            </a:r>
          </a:p>
          <a:p>
            <a:pPr>
              <a:buFontTx/>
              <a:buChar char="-"/>
            </a:pPr>
            <a:r>
              <a:rPr lang="en-US" sz="3200" b="1" dirty="0"/>
              <a:t>A number that is changed according to some rule </a:t>
            </a:r>
          </a:p>
          <a:p>
            <a:pPr>
              <a:buFontTx/>
              <a:buChar char="-"/>
            </a:pPr>
            <a:endParaRPr lang="en-US" sz="3200" b="1" dirty="0"/>
          </a:p>
          <a:p>
            <a:pPr marL="0" indent="0">
              <a:buNone/>
            </a:pPr>
            <a:r>
              <a:rPr lang="en-US" sz="3200" b="1" dirty="0"/>
              <a:t>Table of values: </a:t>
            </a:r>
          </a:p>
          <a:p>
            <a:pPr marL="0" indent="0">
              <a:buNone/>
            </a:pPr>
            <a:r>
              <a:rPr lang="en-US" sz="3200" b="1" dirty="0"/>
              <a:t>- Pairs of numbers related by a rule, used to plot points on a Cartesian plane</a:t>
            </a:r>
            <a:endParaRPr lang="en-AU" sz="32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FC34C1-5FC2-F9D5-BFED-80D94FC83ABB}"/>
              </a:ext>
            </a:extLst>
          </p:cNvPr>
          <p:cNvSpPr/>
          <p:nvPr/>
        </p:nvSpPr>
        <p:spPr>
          <a:xfrm>
            <a:off x="3027285" y="736847"/>
            <a:ext cx="1864311" cy="3906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12F998-A856-BEA1-B8D9-E2F4A3F27300}"/>
              </a:ext>
            </a:extLst>
          </p:cNvPr>
          <p:cNvSpPr/>
          <p:nvPr/>
        </p:nvSpPr>
        <p:spPr>
          <a:xfrm>
            <a:off x="3623568" y="1127464"/>
            <a:ext cx="2608556" cy="3906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D55EAC-2AC5-EA9B-8F6D-8E2B5CFDD49A}"/>
              </a:ext>
            </a:extLst>
          </p:cNvPr>
          <p:cNvSpPr/>
          <p:nvPr/>
        </p:nvSpPr>
        <p:spPr>
          <a:xfrm>
            <a:off x="8648330" y="1127463"/>
            <a:ext cx="2910396" cy="3906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476D7F-2C46-F485-78AB-9F10573F453E}"/>
              </a:ext>
            </a:extLst>
          </p:cNvPr>
          <p:cNvSpPr/>
          <p:nvPr/>
        </p:nvSpPr>
        <p:spPr>
          <a:xfrm>
            <a:off x="3027284" y="2593759"/>
            <a:ext cx="2388095" cy="3906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6549D8-6D24-1BE9-B8B6-767371C82C24}"/>
              </a:ext>
            </a:extLst>
          </p:cNvPr>
          <p:cNvSpPr/>
          <p:nvPr/>
        </p:nvSpPr>
        <p:spPr>
          <a:xfrm>
            <a:off x="3215196" y="4077808"/>
            <a:ext cx="5085425" cy="3906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4CB13F-85F4-DE2C-008E-FD083ED4E05D}"/>
              </a:ext>
            </a:extLst>
          </p:cNvPr>
          <p:cNvSpPr/>
          <p:nvPr/>
        </p:nvSpPr>
        <p:spPr>
          <a:xfrm>
            <a:off x="7219025" y="5606244"/>
            <a:ext cx="1756299" cy="3906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3156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>
            <a:extLst>
              <a:ext uri="{FF2B5EF4-FFF2-40B4-BE49-F238E27FC236}">
                <a16:creationId xmlns:a16="http://schemas.microsoft.com/office/drawing/2014/main" id="{7F784D83-7108-4028-ADA8-FB0F0AFB1B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y-GB" altLang="en-US"/>
              <a:t>Single </a:t>
            </a:r>
            <a:r>
              <a:rPr lang="cy-GB" altLang="en-US">
                <a:solidFill>
                  <a:schemeClr val="bg1"/>
                </a:solidFill>
              </a:rPr>
              <a:t>Machines</a:t>
            </a:r>
          </a:p>
        </p:txBody>
      </p:sp>
      <p:pic>
        <p:nvPicPr>
          <p:cNvPr id="268291" name="Picture 3">
            <a:extLst>
              <a:ext uri="{FF2B5EF4-FFF2-40B4-BE49-F238E27FC236}">
                <a16:creationId xmlns:a16="http://schemas.microsoft.com/office/drawing/2014/main" id="{C4D819A7-E549-4878-8DFA-C0AE47A189A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8388" y="115889"/>
            <a:ext cx="1898650" cy="1303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292" name="Picture 4">
            <a:extLst>
              <a:ext uri="{FF2B5EF4-FFF2-40B4-BE49-F238E27FC236}">
                <a16:creationId xmlns:a16="http://schemas.microsoft.com/office/drawing/2014/main" id="{68E44239-9DF3-4F19-83EA-62E67E001E66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0638" y="1473201"/>
            <a:ext cx="4995862" cy="179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8293" name="Text Box 5">
            <a:extLst>
              <a:ext uri="{FF2B5EF4-FFF2-40B4-BE49-F238E27FC236}">
                <a16:creationId xmlns:a16="http://schemas.microsoft.com/office/drawing/2014/main" id="{BF4A8A4B-ED6F-42C2-8051-4EC83B6218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1925" y="1882776"/>
            <a:ext cx="1644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cy-GB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PROCESSOR</a:t>
            </a:r>
          </a:p>
        </p:txBody>
      </p:sp>
      <p:sp>
        <p:nvSpPr>
          <p:cNvPr id="268294" name="Rectangle 6">
            <a:extLst>
              <a:ext uri="{FF2B5EF4-FFF2-40B4-BE49-F238E27FC236}">
                <a16:creationId xmlns:a16="http://schemas.microsoft.com/office/drawing/2014/main" id="{A637B01C-2562-4F64-BA6F-9442A7BED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8864" y="1735138"/>
            <a:ext cx="1766887" cy="658812"/>
          </a:xfrm>
          <a:prstGeom prst="rect">
            <a:avLst/>
          </a:prstGeom>
          <a:solidFill>
            <a:schemeClr val="tx1"/>
          </a:solidFill>
          <a:ln w="38100">
            <a:solidFill>
              <a:srgbClr val="99FF33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cy-GB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INPUT</a:t>
            </a:r>
          </a:p>
        </p:txBody>
      </p:sp>
      <p:sp>
        <p:nvSpPr>
          <p:cNvPr id="268295" name="Rectangle 7">
            <a:extLst>
              <a:ext uri="{FF2B5EF4-FFF2-40B4-BE49-F238E27FC236}">
                <a16:creationId xmlns:a16="http://schemas.microsoft.com/office/drawing/2014/main" id="{31DFB5D9-6DFC-4630-9640-ED62DB4B8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4500" y="1749426"/>
            <a:ext cx="1766888" cy="658813"/>
          </a:xfrm>
          <a:prstGeom prst="rect">
            <a:avLst/>
          </a:prstGeom>
          <a:solidFill>
            <a:schemeClr val="tx1"/>
          </a:solidFill>
          <a:ln w="38100">
            <a:solidFill>
              <a:srgbClr val="FFFF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cy-GB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OUTPUT</a:t>
            </a:r>
          </a:p>
        </p:txBody>
      </p:sp>
      <p:sp>
        <p:nvSpPr>
          <p:cNvPr id="268296" name="AutoShape 8">
            <a:extLst>
              <a:ext uri="{FF2B5EF4-FFF2-40B4-BE49-F238E27FC236}">
                <a16:creationId xmlns:a16="http://schemas.microsoft.com/office/drawing/2014/main" id="{DF25D761-F045-4956-8DD6-3D42E19CD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3388" y="1893888"/>
            <a:ext cx="742950" cy="328612"/>
          </a:xfrm>
          <a:prstGeom prst="rightArrow">
            <a:avLst>
              <a:gd name="adj1" fmla="val 50000"/>
              <a:gd name="adj2" fmla="val 56522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68297" name="AutoShape 9">
            <a:extLst>
              <a:ext uri="{FF2B5EF4-FFF2-40B4-BE49-F238E27FC236}">
                <a16:creationId xmlns:a16="http://schemas.microsoft.com/office/drawing/2014/main" id="{72EEC9D5-4D40-4CF4-8F76-564E014AEC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4863" y="1916113"/>
            <a:ext cx="742950" cy="328612"/>
          </a:xfrm>
          <a:prstGeom prst="rightArrow">
            <a:avLst>
              <a:gd name="adj1" fmla="val 50000"/>
              <a:gd name="adj2" fmla="val 56522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68298" name="Rectangle 10">
            <a:extLst>
              <a:ext uri="{FF2B5EF4-FFF2-40B4-BE49-F238E27FC236}">
                <a16:creationId xmlns:a16="http://schemas.microsoft.com/office/drawing/2014/main" id="{4E07175C-62F3-4019-8E1C-9289EE0E2F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33600" y="3097214"/>
            <a:ext cx="7924800" cy="2922587"/>
          </a:xfrm>
        </p:spPr>
        <p:txBody>
          <a:bodyPr/>
          <a:lstStyle/>
          <a:p>
            <a:r>
              <a:rPr lang="en-US" altLang="en-US" sz="2000"/>
              <a:t>Imagine that we have a robot to help us make patterns</a:t>
            </a:r>
          </a:p>
        </p:txBody>
      </p:sp>
      <p:sp>
        <p:nvSpPr>
          <p:cNvPr id="268299" name="AutoShape 11">
            <a:extLst>
              <a:ext uri="{FF2B5EF4-FFF2-40B4-BE49-F238E27FC236}">
                <a16:creationId xmlns:a16="http://schemas.microsoft.com/office/drawing/2014/main" id="{35B20245-1E63-46E6-BE1B-C9C957B39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1663" y="3762376"/>
            <a:ext cx="1225550" cy="638175"/>
          </a:xfrm>
          <a:prstGeom prst="rightArrow">
            <a:avLst>
              <a:gd name="adj1" fmla="val 50000"/>
              <a:gd name="adj2" fmla="val 48010"/>
            </a:avLst>
          </a:prstGeom>
          <a:solidFill>
            <a:schemeClr val="tx1"/>
          </a:solidFill>
          <a:ln w="38100">
            <a:solidFill>
              <a:srgbClr val="FFFF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12</a:t>
            </a:r>
          </a:p>
        </p:txBody>
      </p:sp>
      <p:sp>
        <p:nvSpPr>
          <p:cNvPr id="268300" name="AutoShape 12">
            <a:extLst>
              <a:ext uri="{FF2B5EF4-FFF2-40B4-BE49-F238E27FC236}">
                <a16:creationId xmlns:a16="http://schemas.microsoft.com/office/drawing/2014/main" id="{65863EC6-F568-4C6E-8582-96297083C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1663" y="4492626"/>
            <a:ext cx="1225550" cy="638175"/>
          </a:xfrm>
          <a:prstGeom prst="rightArrow">
            <a:avLst>
              <a:gd name="adj1" fmla="val 50000"/>
              <a:gd name="adj2" fmla="val 48010"/>
            </a:avLst>
          </a:prstGeom>
          <a:solidFill>
            <a:schemeClr val="tx1"/>
          </a:solidFill>
          <a:ln w="38100">
            <a:solidFill>
              <a:srgbClr val="FFFF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24</a:t>
            </a:r>
          </a:p>
        </p:txBody>
      </p:sp>
      <p:sp>
        <p:nvSpPr>
          <p:cNvPr id="268301" name="AutoShape 13">
            <a:extLst>
              <a:ext uri="{FF2B5EF4-FFF2-40B4-BE49-F238E27FC236}">
                <a16:creationId xmlns:a16="http://schemas.microsoft.com/office/drawing/2014/main" id="{12AAE8F6-FAA2-49FC-BEA5-6786CB7530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1663" y="5224464"/>
            <a:ext cx="1225550" cy="638175"/>
          </a:xfrm>
          <a:prstGeom prst="rightArrow">
            <a:avLst>
              <a:gd name="adj1" fmla="val 50000"/>
              <a:gd name="adj2" fmla="val 48010"/>
            </a:avLst>
          </a:prstGeom>
          <a:solidFill>
            <a:schemeClr val="tx1"/>
          </a:solidFill>
          <a:ln w="38100">
            <a:solidFill>
              <a:srgbClr val="FFFF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48</a:t>
            </a:r>
          </a:p>
        </p:txBody>
      </p:sp>
      <p:sp>
        <p:nvSpPr>
          <p:cNvPr id="268302" name="Rectangle 14">
            <a:extLst>
              <a:ext uri="{FF2B5EF4-FFF2-40B4-BE49-F238E27FC236}">
                <a16:creationId xmlns:a16="http://schemas.microsoft.com/office/drawing/2014/main" id="{ABD046BC-D6F0-4F2E-8B53-B7C11C2BC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9288" y="5673725"/>
            <a:ext cx="666750" cy="463550"/>
          </a:xfrm>
          <a:prstGeom prst="rect">
            <a:avLst/>
          </a:prstGeom>
          <a:solidFill>
            <a:schemeClr val="tx1"/>
          </a:solidFill>
          <a:ln w="38100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×</a:t>
            </a:r>
            <a:r>
              <a:rPr kumimoji="0" lang="en-GB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4</a:t>
            </a:r>
          </a:p>
        </p:txBody>
      </p:sp>
      <p:pic>
        <p:nvPicPr>
          <p:cNvPr id="268303" name="Picture 15">
            <a:extLst>
              <a:ext uri="{FF2B5EF4-FFF2-40B4-BE49-F238E27FC236}">
                <a16:creationId xmlns:a16="http://schemas.microsoft.com/office/drawing/2014/main" id="{F718F55C-D22F-472F-A0AE-0F4E9B1CC86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5764" y="3544889"/>
            <a:ext cx="1057275" cy="2111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8304" name="AutoShape 16">
            <a:extLst>
              <a:ext uri="{FF2B5EF4-FFF2-40B4-BE49-F238E27FC236}">
                <a16:creationId xmlns:a16="http://schemas.microsoft.com/office/drawing/2014/main" id="{B81A21A2-D10B-4B66-9A4B-2A9C311A56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2388" y="3760789"/>
            <a:ext cx="1225550" cy="638175"/>
          </a:xfrm>
          <a:prstGeom prst="rightArrow">
            <a:avLst>
              <a:gd name="adj1" fmla="val 50000"/>
              <a:gd name="adj2" fmla="val 48010"/>
            </a:avLst>
          </a:prstGeom>
          <a:solidFill>
            <a:schemeClr val="tx1"/>
          </a:solidFill>
          <a:ln w="38100">
            <a:solidFill>
              <a:srgbClr val="99FF33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99FF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268305" name="AutoShape 17">
            <a:extLst>
              <a:ext uri="{FF2B5EF4-FFF2-40B4-BE49-F238E27FC236}">
                <a16:creationId xmlns:a16="http://schemas.microsoft.com/office/drawing/2014/main" id="{3A85092F-5237-4767-90F0-2FD18E4AD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2388" y="4503739"/>
            <a:ext cx="1225550" cy="638175"/>
          </a:xfrm>
          <a:prstGeom prst="rightArrow">
            <a:avLst>
              <a:gd name="adj1" fmla="val 50000"/>
              <a:gd name="adj2" fmla="val 48010"/>
            </a:avLst>
          </a:prstGeom>
          <a:solidFill>
            <a:schemeClr val="tx1"/>
          </a:solidFill>
          <a:ln w="38100">
            <a:solidFill>
              <a:srgbClr val="99FF33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99FF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6</a:t>
            </a:r>
          </a:p>
        </p:txBody>
      </p:sp>
      <p:sp>
        <p:nvSpPr>
          <p:cNvPr id="268306" name="AutoShape 18">
            <a:extLst>
              <a:ext uri="{FF2B5EF4-FFF2-40B4-BE49-F238E27FC236}">
                <a16:creationId xmlns:a16="http://schemas.microsoft.com/office/drawing/2014/main" id="{56DB890C-F2AB-4627-BCB4-1946ECAA1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2388" y="5248276"/>
            <a:ext cx="1225550" cy="638175"/>
          </a:xfrm>
          <a:prstGeom prst="rightArrow">
            <a:avLst>
              <a:gd name="adj1" fmla="val 50000"/>
              <a:gd name="adj2" fmla="val 48010"/>
            </a:avLst>
          </a:prstGeom>
          <a:solidFill>
            <a:schemeClr val="tx1"/>
          </a:solidFill>
          <a:ln w="38100">
            <a:solidFill>
              <a:srgbClr val="99FF33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99FF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0547E6-3A17-4BF5-94BE-AEC945834EE2}"/>
              </a:ext>
            </a:extLst>
          </p:cNvPr>
          <p:cNvSpPr txBox="1"/>
          <p:nvPr/>
        </p:nvSpPr>
        <p:spPr>
          <a:xfrm>
            <a:off x="800346" y="4317886"/>
            <a:ext cx="2847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Input (x)</a:t>
            </a:r>
            <a:endParaRPr kumimoji="0" lang="en-AU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74B07B-5FBD-4A18-8622-760E55F223D5}"/>
              </a:ext>
            </a:extLst>
          </p:cNvPr>
          <p:cNvSpPr txBox="1"/>
          <p:nvPr/>
        </p:nvSpPr>
        <p:spPr>
          <a:xfrm>
            <a:off x="5527798" y="6234863"/>
            <a:ext cx="2847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RULE </a:t>
            </a:r>
            <a:endParaRPr kumimoji="0" lang="en-AU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8090CD-7307-453C-BBB5-FB61850CC48D}"/>
              </a:ext>
            </a:extLst>
          </p:cNvPr>
          <p:cNvSpPr txBox="1"/>
          <p:nvPr/>
        </p:nvSpPr>
        <p:spPr>
          <a:xfrm>
            <a:off x="9523536" y="4192633"/>
            <a:ext cx="2847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Output (y)</a:t>
            </a:r>
            <a:endParaRPr kumimoji="0" lang="en-AU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500" autoRev="1" fill="hold"/>
                                        <p:tgtEl>
                                          <p:spTgt spid="268294">
                                            <p:txEl>
                                              <p:char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9FF33"/>
                                      </p:to>
                                    </p:animClr>
                                    <p:animClr clrSpc="rgb" dir="cw">
                                      <p:cBhvr>
                                        <p:cTn id="7" dur="1500" autoRev="1" fill="hold"/>
                                        <p:tgtEl>
                                          <p:spTgt spid="268294">
                                            <p:txEl>
                                              <p:char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9FF33"/>
                                      </p:to>
                                    </p:animClr>
                                    <p:set>
                                      <p:cBhvr>
                                        <p:cTn id="8" dur="1500" autoRev="1" fill="hold"/>
                                        <p:tgtEl>
                                          <p:spTgt spid="268294">
                                            <p:txEl>
                                              <p:char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1500" autoRev="1" fill="hold"/>
                                        <p:tgtEl>
                                          <p:spTgt spid="268294">
                                            <p:txEl>
                                              <p:char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7" presetClass="emph" presetSubtype="0" repeatCount="indefinite" fill="remove" nodeType="withEffect">
                                  <p:stCondLst>
                                    <p:cond delay="6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1500" autoRev="1" fill="hold"/>
                                        <p:tgtEl>
                                          <p:spTgt spid="2682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9FF33"/>
                                      </p:to>
                                    </p:animClr>
                                    <p:animClr clrSpc="rgb" dir="cw">
                                      <p:cBhvr>
                                        <p:cTn id="12" dur="1500" autoRev="1" fill="hold"/>
                                        <p:tgtEl>
                                          <p:spTgt spid="2682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9FF33"/>
                                      </p:to>
                                    </p:animClr>
                                    <p:set>
                                      <p:cBhvr>
                                        <p:cTn id="13" dur="1500" autoRev="1" fill="hold"/>
                                        <p:tgtEl>
                                          <p:spTgt spid="2682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1500" autoRev="1" fill="hold"/>
                                        <p:tgtEl>
                                          <p:spTgt spid="2682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7" presetClass="emph" presetSubtype="0" repeatCount="indefinite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1500" autoRev="1" fill="hold"/>
                                        <p:tgtEl>
                                          <p:spTgt spid="268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animClr clrSpc="rgb" dir="cw">
                                      <p:cBhvr>
                                        <p:cTn id="17" dur="1500" autoRev="1" fill="hold"/>
                                        <p:tgtEl>
                                          <p:spTgt spid="268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8" dur="1500" autoRev="1" fill="hold"/>
                                        <p:tgtEl>
                                          <p:spTgt spid="268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1500" autoRev="1" fill="hold"/>
                                        <p:tgtEl>
                                          <p:spTgt spid="268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7" presetClass="emph" presetSubtype="0" repeatCount="indefinite" fill="remove" nodeType="withEffect">
                                  <p:stCondLst>
                                    <p:cond delay="18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1500" autoRev="1" fill="hold"/>
                                        <p:tgtEl>
                                          <p:spTgt spid="2682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animClr clrSpc="rgb" dir="cw">
                                      <p:cBhvr>
                                        <p:cTn id="22" dur="1500" autoRev="1" fill="hold"/>
                                        <p:tgtEl>
                                          <p:spTgt spid="2682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23" dur="1500" autoRev="1" fill="hold"/>
                                        <p:tgtEl>
                                          <p:spTgt spid="2682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1500" autoRev="1" fill="hold"/>
                                        <p:tgtEl>
                                          <p:spTgt spid="2682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7" presetClass="emph" presetSubtype="0" repeatCount="indefinite" fill="remove" nodeType="withEffect">
                                  <p:stCondLst>
                                    <p:cond delay="24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1500" autoRev="1" fill="hold"/>
                                        <p:tgtEl>
                                          <p:spTgt spid="268295">
                                            <p:txEl>
                                              <p:char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animClr clrSpc="rgb" dir="cw">
                                      <p:cBhvr>
                                        <p:cTn id="27" dur="1500" autoRev="1" fill="hold"/>
                                        <p:tgtEl>
                                          <p:spTgt spid="268295">
                                            <p:txEl>
                                              <p:char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28" dur="1500" autoRev="1" fill="hold"/>
                                        <p:tgtEl>
                                          <p:spTgt spid="268295">
                                            <p:txEl>
                                              <p:char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1500" autoRev="1" fill="hold"/>
                                        <p:tgtEl>
                                          <p:spTgt spid="268295">
                                            <p:txEl>
                                              <p:char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683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68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900" decel="100000" fill="hold"/>
                                        <p:tgtEl>
                                          <p:spTgt spid="268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68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268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268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268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268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268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268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68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268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1000" fill="hold"/>
                                        <p:tgtEl>
                                          <p:spTgt spid="268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68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268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268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299" grpId="0" animBg="1"/>
      <p:bldP spid="268300" grpId="0" animBg="1"/>
      <p:bldP spid="268301" grpId="0" animBg="1"/>
      <p:bldP spid="268302" grpId="0" animBg="1"/>
      <p:bldP spid="268304" grpId="0" animBg="1"/>
      <p:bldP spid="268305" grpId="0" animBg="1"/>
      <p:bldP spid="268306" grpId="0" animBg="1"/>
      <p:bldP spid="2" grpId="0"/>
      <p:bldP spid="20" grpId="0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Rectangle 2">
            <a:extLst>
              <a:ext uri="{FF2B5EF4-FFF2-40B4-BE49-F238E27FC236}">
                <a16:creationId xmlns:a16="http://schemas.microsoft.com/office/drawing/2014/main" id="{F4E0B806-7A03-4EE2-AC5C-801E511DE8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y-GB" altLang="en-US"/>
              <a:t>Double Vision</a:t>
            </a:r>
          </a:p>
        </p:txBody>
      </p:sp>
      <p:pic>
        <p:nvPicPr>
          <p:cNvPr id="305155" name="Picture 3">
            <a:extLst>
              <a:ext uri="{FF2B5EF4-FFF2-40B4-BE49-F238E27FC236}">
                <a16:creationId xmlns:a16="http://schemas.microsoft.com/office/drawing/2014/main" id="{C22AF44C-E1AD-428D-AAFD-6DAD7FCACE9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8388" y="115889"/>
            <a:ext cx="1898650" cy="1303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5156" name="Rectangle 4">
            <a:extLst>
              <a:ext uri="{FF2B5EF4-FFF2-40B4-BE49-F238E27FC236}">
                <a16:creationId xmlns:a16="http://schemas.microsoft.com/office/drawing/2014/main" id="{F6A270CF-E5DA-415B-8108-3F9CBDA57E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33600" y="1481139"/>
            <a:ext cx="7924800" cy="463073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000"/>
              <a:t>Imagine that we have two robots to help us make patterns</a:t>
            </a:r>
          </a:p>
          <a:p>
            <a:pPr>
              <a:lnSpc>
                <a:spcPct val="90000"/>
              </a:lnSpc>
            </a:pPr>
            <a:endParaRPr lang="en-GB" altLang="en-US" sz="2000"/>
          </a:p>
          <a:p>
            <a:pPr>
              <a:lnSpc>
                <a:spcPct val="90000"/>
              </a:lnSpc>
            </a:pPr>
            <a:endParaRPr lang="en-GB" altLang="en-US" sz="2000"/>
          </a:p>
          <a:p>
            <a:pPr>
              <a:lnSpc>
                <a:spcPct val="90000"/>
              </a:lnSpc>
            </a:pPr>
            <a:endParaRPr lang="en-GB" altLang="en-US" sz="2000"/>
          </a:p>
          <a:p>
            <a:pPr>
              <a:lnSpc>
                <a:spcPct val="90000"/>
              </a:lnSpc>
            </a:pPr>
            <a:endParaRPr lang="en-GB" altLang="en-US" sz="2000"/>
          </a:p>
          <a:p>
            <a:pPr>
              <a:lnSpc>
                <a:spcPct val="90000"/>
              </a:lnSpc>
            </a:pPr>
            <a:endParaRPr lang="en-GB" altLang="en-US" sz="2000"/>
          </a:p>
          <a:p>
            <a:pPr>
              <a:lnSpc>
                <a:spcPct val="90000"/>
              </a:lnSpc>
            </a:pPr>
            <a:endParaRPr lang="en-GB" altLang="en-US" sz="2000"/>
          </a:p>
          <a:p>
            <a:pPr>
              <a:lnSpc>
                <a:spcPct val="90000"/>
              </a:lnSpc>
            </a:pPr>
            <a:endParaRPr lang="en-GB" altLang="en-US" sz="2000"/>
          </a:p>
          <a:p>
            <a:pPr>
              <a:lnSpc>
                <a:spcPct val="90000"/>
              </a:lnSpc>
            </a:pPr>
            <a:endParaRPr lang="en-GB" altLang="en-US" sz="2000"/>
          </a:p>
          <a:p>
            <a:pPr>
              <a:lnSpc>
                <a:spcPct val="90000"/>
              </a:lnSpc>
            </a:pPr>
            <a:endParaRPr lang="en-GB" altLang="en-US" sz="2000"/>
          </a:p>
          <a:p>
            <a:pPr>
              <a:lnSpc>
                <a:spcPct val="90000"/>
              </a:lnSpc>
            </a:pPr>
            <a:endParaRPr lang="en-GB" altLang="en-US" sz="2000"/>
          </a:p>
          <a:p>
            <a:pPr>
              <a:lnSpc>
                <a:spcPct val="90000"/>
              </a:lnSpc>
            </a:pPr>
            <a:endParaRPr lang="en-GB" altLang="en-US" sz="2000"/>
          </a:p>
          <a:p>
            <a:pPr>
              <a:lnSpc>
                <a:spcPct val="90000"/>
              </a:lnSpc>
            </a:pPr>
            <a:r>
              <a:rPr lang="en-GB" altLang="en-US" sz="2000"/>
              <a:t>The output of machine 1 is input to machine 2</a:t>
            </a:r>
            <a:endParaRPr lang="en-US" altLang="en-US" sz="2000"/>
          </a:p>
        </p:txBody>
      </p:sp>
      <p:sp>
        <p:nvSpPr>
          <p:cNvPr id="305157" name="AutoShape 5">
            <a:extLst>
              <a:ext uri="{FF2B5EF4-FFF2-40B4-BE49-F238E27FC236}">
                <a16:creationId xmlns:a16="http://schemas.microsoft.com/office/drawing/2014/main" id="{04C32242-4F86-4ADE-99B7-0E4FE3C3C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1363" y="2162176"/>
            <a:ext cx="1225550" cy="638175"/>
          </a:xfrm>
          <a:prstGeom prst="rightArrow">
            <a:avLst>
              <a:gd name="adj1" fmla="val 50000"/>
              <a:gd name="adj2" fmla="val 48010"/>
            </a:avLst>
          </a:prstGeom>
          <a:solidFill>
            <a:schemeClr val="tx1"/>
          </a:solidFill>
          <a:ln w="38100">
            <a:solidFill>
              <a:srgbClr val="FFFF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11</a:t>
            </a:r>
          </a:p>
        </p:txBody>
      </p:sp>
      <p:sp>
        <p:nvSpPr>
          <p:cNvPr id="305158" name="AutoShape 6">
            <a:extLst>
              <a:ext uri="{FF2B5EF4-FFF2-40B4-BE49-F238E27FC236}">
                <a16:creationId xmlns:a16="http://schemas.microsoft.com/office/drawing/2014/main" id="{05A6DC3C-3080-4CC4-8704-F7B3C839C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1363" y="2892426"/>
            <a:ext cx="1225550" cy="638175"/>
          </a:xfrm>
          <a:prstGeom prst="rightArrow">
            <a:avLst>
              <a:gd name="adj1" fmla="val 50000"/>
              <a:gd name="adj2" fmla="val 48010"/>
            </a:avLst>
          </a:prstGeom>
          <a:solidFill>
            <a:schemeClr val="tx1"/>
          </a:solidFill>
          <a:ln w="38100">
            <a:solidFill>
              <a:srgbClr val="FFFF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7</a:t>
            </a:r>
          </a:p>
        </p:txBody>
      </p:sp>
      <p:sp>
        <p:nvSpPr>
          <p:cNvPr id="305159" name="AutoShape 7">
            <a:extLst>
              <a:ext uri="{FF2B5EF4-FFF2-40B4-BE49-F238E27FC236}">
                <a16:creationId xmlns:a16="http://schemas.microsoft.com/office/drawing/2014/main" id="{227660F5-ABDB-4D00-80F4-319D82693D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1363" y="3624264"/>
            <a:ext cx="1225550" cy="638175"/>
          </a:xfrm>
          <a:prstGeom prst="rightArrow">
            <a:avLst>
              <a:gd name="adj1" fmla="val 50000"/>
              <a:gd name="adj2" fmla="val 48010"/>
            </a:avLst>
          </a:prstGeom>
          <a:solidFill>
            <a:schemeClr val="tx1"/>
          </a:solidFill>
          <a:ln w="38100">
            <a:solidFill>
              <a:srgbClr val="FFFF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39</a:t>
            </a:r>
          </a:p>
        </p:txBody>
      </p:sp>
      <p:sp>
        <p:nvSpPr>
          <p:cNvPr id="305160" name="Rectangle 8">
            <a:extLst>
              <a:ext uri="{FF2B5EF4-FFF2-40B4-BE49-F238E27FC236}">
                <a16:creationId xmlns:a16="http://schemas.microsoft.com/office/drawing/2014/main" id="{5A1987F2-7037-4552-8377-02590A8DE1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788" y="3959225"/>
            <a:ext cx="666750" cy="463550"/>
          </a:xfrm>
          <a:prstGeom prst="rect">
            <a:avLst/>
          </a:prstGeom>
          <a:solidFill>
            <a:schemeClr val="tx1"/>
          </a:solidFill>
          <a:ln w="38100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×</a:t>
            </a:r>
            <a:r>
              <a:rPr kumimoji="0" lang="en-GB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4</a:t>
            </a:r>
          </a:p>
        </p:txBody>
      </p:sp>
      <p:sp>
        <p:nvSpPr>
          <p:cNvPr id="305161" name="Rectangle 9">
            <a:extLst>
              <a:ext uri="{FF2B5EF4-FFF2-40B4-BE49-F238E27FC236}">
                <a16:creationId xmlns:a16="http://schemas.microsoft.com/office/drawing/2014/main" id="{DC82FE2A-E738-437B-9AFF-55DC0605E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7888" y="3959225"/>
            <a:ext cx="666750" cy="463550"/>
          </a:xfrm>
          <a:prstGeom prst="rect">
            <a:avLst/>
          </a:prstGeom>
          <a:solidFill>
            <a:schemeClr val="tx1"/>
          </a:solidFill>
          <a:ln w="38100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−</a:t>
            </a:r>
            <a:r>
              <a:rPr kumimoji="0" lang="en-GB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5</a:t>
            </a:r>
          </a:p>
        </p:txBody>
      </p:sp>
      <p:pic>
        <p:nvPicPr>
          <p:cNvPr id="305162" name="Picture 10">
            <a:extLst>
              <a:ext uri="{FF2B5EF4-FFF2-40B4-BE49-F238E27FC236}">
                <a16:creationId xmlns:a16="http://schemas.microsoft.com/office/drawing/2014/main" id="{3592CAEF-B1E8-4269-8AA8-E21FA00CD4E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4364" y="1931989"/>
            <a:ext cx="1057275" cy="2111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5163" name="AutoShape 11">
            <a:extLst>
              <a:ext uri="{FF2B5EF4-FFF2-40B4-BE49-F238E27FC236}">
                <a16:creationId xmlns:a16="http://schemas.microsoft.com/office/drawing/2014/main" id="{A3A70AE5-18FE-413C-B603-665ED9DF2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0988" y="2147889"/>
            <a:ext cx="1225550" cy="638175"/>
          </a:xfrm>
          <a:prstGeom prst="rightArrow">
            <a:avLst>
              <a:gd name="adj1" fmla="val 50000"/>
              <a:gd name="adj2" fmla="val 48010"/>
            </a:avLst>
          </a:prstGeom>
          <a:solidFill>
            <a:schemeClr val="tx1"/>
          </a:solidFill>
          <a:ln w="38100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99CC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16</a:t>
            </a:r>
          </a:p>
        </p:txBody>
      </p:sp>
      <p:sp>
        <p:nvSpPr>
          <p:cNvPr id="305164" name="AutoShape 12">
            <a:extLst>
              <a:ext uri="{FF2B5EF4-FFF2-40B4-BE49-F238E27FC236}">
                <a16:creationId xmlns:a16="http://schemas.microsoft.com/office/drawing/2014/main" id="{4F9BF5F1-1181-4E53-9A33-FCC2C29EE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0988" y="2890839"/>
            <a:ext cx="1225550" cy="638175"/>
          </a:xfrm>
          <a:prstGeom prst="rightArrow">
            <a:avLst>
              <a:gd name="adj1" fmla="val 50000"/>
              <a:gd name="adj2" fmla="val 48010"/>
            </a:avLst>
          </a:prstGeom>
          <a:solidFill>
            <a:schemeClr val="tx1"/>
          </a:solidFill>
          <a:ln w="38100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99CC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12</a:t>
            </a:r>
          </a:p>
        </p:txBody>
      </p:sp>
      <p:sp>
        <p:nvSpPr>
          <p:cNvPr id="305165" name="AutoShape 13">
            <a:extLst>
              <a:ext uri="{FF2B5EF4-FFF2-40B4-BE49-F238E27FC236}">
                <a16:creationId xmlns:a16="http://schemas.microsoft.com/office/drawing/2014/main" id="{44CF2745-7F5D-4A88-91D7-212D464B4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0988" y="3635376"/>
            <a:ext cx="1225550" cy="638175"/>
          </a:xfrm>
          <a:prstGeom prst="rightArrow">
            <a:avLst>
              <a:gd name="adj1" fmla="val 50000"/>
              <a:gd name="adj2" fmla="val 48010"/>
            </a:avLst>
          </a:prstGeom>
          <a:solidFill>
            <a:schemeClr val="tx1"/>
          </a:solidFill>
          <a:ln w="38100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99CC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44</a:t>
            </a:r>
          </a:p>
        </p:txBody>
      </p:sp>
      <p:sp>
        <p:nvSpPr>
          <p:cNvPr id="305166" name="AutoShape 14">
            <a:extLst>
              <a:ext uri="{FF2B5EF4-FFF2-40B4-BE49-F238E27FC236}">
                <a16:creationId xmlns:a16="http://schemas.microsoft.com/office/drawing/2014/main" id="{F8C079F4-1E15-4542-8E57-97B4D4C0B7C5}"/>
              </a:ext>
            </a:extLst>
          </p:cNvPr>
          <p:cNvSpPr>
            <a:spLocks/>
          </p:cNvSpPr>
          <p:nvPr/>
        </p:nvSpPr>
        <p:spPr bwMode="auto">
          <a:xfrm rot="5400000">
            <a:off x="3876676" y="2943226"/>
            <a:ext cx="504825" cy="3578225"/>
          </a:xfrm>
          <a:prstGeom prst="rightBrace">
            <a:avLst>
              <a:gd name="adj1" fmla="val 59067"/>
              <a:gd name="adj2" fmla="val 37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05167" name="AutoShape 15">
            <a:extLst>
              <a:ext uri="{FF2B5EF4-FFF2-40B4-BE49-F238E27FC236}">
                <a16:creationId xmlns:a16="http://schemas.microsoft.com/office/drawing/2014/main" id="{CF1A2BA0-A52A-4C01-8FDE-F492D9C1E04D}"/>
              </a:ext>
            </a:extLst>
          </p:cNvPr>
          <p:cNvSpPr>
            <a:spLocks/>
          </p:cNvSpPr>
          <p:nvPr/>
        </p:nvSpPr>
        <p:spPr bwMode="auto">
          <a:xfrm rot="5400000">
            <a:off x="7473951" y="2947989"/>
            <a:ext cx="504825" cy="3565525"/>
          </a:xfrm>
          <a:prstGeom prst="rightBrace">
            <a:avLst>
              <a:gd name="adj1" fmla="val 58857"/>
              <a:gd name="adj2" fmla="val 53736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05168" name="Text Box 16">
            <a:extLst>
              <a:ext uri="{FF2B5EF4-FFF2-40B4-BE49-F238E27FC236}">
                <a16:creationId xmlns:a16="http://schemas.microsoft.com/office/drawing/2014/main" id="{0D01F7F6-EDF7-4D11-8378-7AB0751275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5088" y="4949825"/>
            <a:ext cx="165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Machine 1</a:t>
            </a:r>
            <a:endParaRPr kumimoji="0" lang="en-US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05169" name="Text Box 17">
            <a:extLst>
              <a:ext uri="{FF2B5EF4-FFF2-40B4-BE49-F238E27FC236}">
                <a16:creationId xmlns:a16="http://schemas.microsoft.com/office/drawing/2014/main" id="{BBC5FE7B-29E2-48EE-89B6-BDBB24A67E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5938" y="4930775"/>
            <a:ext cx="165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Machine 2</a:t>
            </a:r>
            <a:endParaRPr kumimoji="0" lang="en-US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305170" name="Picture 18">
            <a:extLst>
              <a:ext uri="{FF2B5EF4-FFF2-40B4-BE49-F238E27FC236}">
                <a16:creationId xmlns:a16="http://schemas.microsoft.com/office/drawing/2014/main" id="{6589A0B5-863E-4825-8176-17D2CE3732A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5264" y="1931989"/>
            <a:ext cx="1057275" cy="2111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5171" name="AutoShape 19">
            <a:extLst>
              <a:ext uri="{FF2B5EF4-FFF2-40B4-BE49-F238E27FC236}">
                <a16:creationId xmlns:a16="http://schemas.microsoft.com/office/drawing/2014/main" id="{C437F11D-EFFE-498B-8913-EA01B17BEE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1888" y="2147889"/>
            <a:ext cx="1225550" cy="638175"/>
          </a:xfrm>
          <a:prstGeom prst="rightArrow">
            <a:avLst>
              <a:gd name="adj1" fmla="val 50000"/>
              <a:gd name="adj2" fmla="val 48010"/>
            </a:avLst>
          </a:prstGeom>
          <a:solidFill>
            <a:schemeClr val="tx1"/>
          </a:solidFill>
          <a:ln w="38100">
            <a:solidFill>
              <a:srgbClr val="99FF33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99FF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4</a:t>
            </a:r>
          </a:p>
        </p:txBody>
      </p:sp>
      <p:sp>
        <p:nvSpPr>
          <p:cNvPr id="305172" name="AutoShape 20">
            <a:extLst>
              <a:ext uri="{FF2B5EF4-FFF2-40B4-BE49-F238E27FC236}">
                <a16:creationId xmlns:a16="http://schemas.microsoft.com/office/drawing/2014/main" id="{CDD515E3-56F7-49B6-92B5-85B166A21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1888" y="2890839"/>
            <a:ext cx="1225550" cy="638175"/>
          </a:xfrm>
          <a:prstGeom prst="rightArrow">
            <a:avLst>
              <a:gd name="adj1" fmla="val 50000"/>
              <a:gd name="adj2" fmla="val 48010"/>
            </a:avLst>
          </a:prstGeom>
          <a:solidFill>
            <a:schemeClr val="tx1"/>
          </a:solidFill>
          <a:ln w="38100">
            <a:solidFill>
              <a:srgbClr val="99FF33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99FF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305173" name="AutoShape 21">
            <a:extLst>
              <a:ext uri="{FF2B5EF4-FFF2-40B4-BE49-F238E27FC236}">
                <a16:creationId xmlns:a16="http://schemas.microsoft.com/office/drawing/2014/main" id="{4B1F4338-3FBD-4F14-AA92-1BA6BF468C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1888" y="3635376"/>
            <a:ext cx="1225550" cy="638175"/>
          </a:xfrm>
          <a:prstGeom prst="rightArrow">
            <a:avLst>
              <a:gd name="adj1" fmla="val 50000"/>
              <a:gd name="adj2" fmla="val 48010"/>
            </a:avLst>
          </a:prstGeom>
          <a:solidFill>
            <a:schemeClr val="tx1"/>
          </a:solidFill>
          <a:ln w="38100">
            <a:solidFill>
              <a:srgbClr val="99FF33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99FF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11</a:t>
            </a:r>
          </a:p>
        </p:txBody>
      </p:sp>
      <p:sp>
        <p:nvSpPr>
          <p:cNvPr id="305174" name="Text Box 22">
            <a:extLst>
              <a:ext uri="{FF2B5EF4-FFF2-40B4-BE49-F238E27FC236}">
                <a16:creationId xmlns:a16="http://schemas.microsoft.com/office/drawing/2014/main" id="{D810F7F0-7171-4BCE-A35A-FAFFF9237C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8114" y="5021263"/>
            <a:ext cx="11906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05175" name="Text Box 23">
            <a:extLst>
              <a:ext uri="{FF2B5EF4-FFF2-40B4-BE49-F238E27FC236}">
                <a16:creationId xmlns:a16="http://schemas.microsoft.com/office/drawing/2014/main" id="{50E95A99-4FCE-4F07-ACF2-8942769C90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0225" y="4992688"/>
            <a:ext cx="1727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8062EF3-D47D-4239-914E-FFB1F868E4C8}"/>
              </a:ext>
            </a:extLst>
          </p:cNvPr>
          <p:cNvSpPr txBox="1"/>
          <p:nvPr/>
        </p:nvSpPr>
        <p:spPr>
          <a:xfrm>
            <a:off x="709735" y="2836862"/>
            <a:ext cx="2847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Input (x)</a:t>
            </a:r>
            <a:endParaRPr kumimoji="0" lang="en-AU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0544B5-5C2A-4ECD-A21B-710B7F484A43}"/>
              </a:ext>
            </a:extLst>
          </p:cNvPr>
          <p:cNvSpPr txBox="1"/>
          <p:nvPr/>
        </p:nvSpPr>
        <p:spPr>
          <a:xfrm>
            <a:off x="5199849" y="6264604"/>
            <a:ext cx="2847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RULE </a:t>
            </a:r>
            <a:endParaRPr kumimoji="0" lang="en-AU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0FCABE-CE70-41EB-B434-6D6663F11F87}"/>
              </a:ext>
            </a:extLst>
          </p:cNvPr>
          <p:cNvSpPr txBox="1"/>
          <p:nvPr/>
        </p:nvSpPr>
        <p:spPr>
          <a:xfrm>
            <a:off x="9790112" y="3018994"/>
            <a:ext cx="2847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Output (y)</a:t>
            </a:r>
            <a:endParaRPr kumimoji="0" lang="en-AU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51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5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305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05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051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05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305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05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05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05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305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305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305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305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305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305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05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305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305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305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305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305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1000" fill="hold"/>
                                        <p:tgtEl>
                                          <p:spTgt spid="305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1000" fill="hold"/>
                                        <p:tgtEl>
                                          <p:spTgt spid="305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305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305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5157" grpId="0" animBg="1"/>
      <p:bldP spid="305158" grpId="0" animBg="1"/>
      <p:bldP spid="305159" grpId="0" animBg="1"/>
      <p:bldP spid="305160" grpId="0" animBg="1"/>
      <p:bldP spid="305161" grpId="0" animBg="1"/>
      <p:bldP spid="305163" grpId="0" animBg="1"/>
      <p:bldP spid="305164" grpId="0" animBg="1"/>
      <p:bldP spid="305165" grpId="0" animBg="1"/>
      <p:bldP spid="305171" grpId="0" animBg="1"/>
      <p:bldP spid="305172" grpId="0" animBg="1"/>
      <p:bldP spid="305173" grpId="0" animBg="1"/>
      <p:bldP spid="24" grpId="0"/>
      <p:bldP spid="25" grpId="0"/>
      <p:bldP spid="2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3AC26-1A38-C7F6-2F41-36EEFE0CE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the story? </a:t>
            </a:r>
            <a:endParaRPr lang="en-AU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81E8F28-4C6C-CDAA-8026-DB29B7DD34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9497512"/>
              </p:ext>
            </p:extLst>
          </p:nvPr>
        </p:nvGraphicFramePr>
        <p:xfrm>
          <a:off x="838200" y="1390619"/>
          <a:ext cx="10515597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27796897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10053567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194609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Story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INPUT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OUTPUT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2482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1. Connor is 5 years younger than Declan 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Connor’s age 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Declan’ age 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1565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2. Liam earns $5 for every car he washes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Number of cars washed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Amount ($) earned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7470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3. Jayce and 4 friends share some lollies 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Total number of lollies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Number of lollies each person gets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1101777"/>
                  </a:ext>
                </a:extLst>
              </a:tr>
            </a:tbl>
          </a:graphicData>
        </a:graphic>
      </p:graphicFrame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011B0999-9D6D-1DE0-35D5-387C8A8EF4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3051876"/>
              </p:ext>
            </p:extLst>
          </p:nvPr>
        </p:nvGraphicFramePr>
        <p:xfrm>
          <a:off x="2031997" y="4971353"/>
          <a:ext cx="81280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54838644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34220750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2596809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52351162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13385592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06488713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906828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INPUT</a:t>
                      </a:r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1414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OUTPUT</a:t>
                      </a:r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35</a:t>
                      </a:r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3374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6491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804CA-6791-4569-88A2-484C6F25D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Plotting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682AE-DEF2-439B-AB3B-F6821E62E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Your expectations: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Listen and copy on to your whiteboards as we go along.</a:t>
            </a:r>
          </a:p>
          <a:p>
            <a:pPr marL="514350" indent="-514350">
              <a:buAutoNum type="arabicPeriod"/>
            </a:pPr>
            <a:endParaRPr lang="en-AU" dirty="0"/>
          </a:p>
        </p:txBody>
      </p:sp>
      <p:pic>
        <p:nvPicPr>
          <p:cNvPr id="4" name="Picture 2" descr="Graph Paper to Print - 1cm Squared Paper PDF">
            <a:extLst>
              <a:ext uri="{FF2B5EF4-FFF2-40B4-BE49-F238E27FC236}">
                <a16:creationId xmlns:a16="http://schemas.microsoft.com/office/drawing/2014/main" id="{682EF5E7-517C-4EDE-B70A-613DC55FD6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473798" y="-1473797"/>
            <a:ext cx="7142247" cy="10089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02E42B-B113-429B-BBD8-39980DA6195D}"/>
              </a:ext>
            </a:extLst>
          </p:cNvPr>
          <p:cNvSpPr txBox="1"/>
          <p:nvPr/>
        </p:nvSpPr>
        <p:spPr>
          <a:xfrm>
            <a:off x="9916357" y="852256"/>
            <a:ext cx="213064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Draw x and y axis and number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 table of values as co-ordinates and plot each dot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we draw a line connecting all these dots, is it linear? 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52090F-FA05-4709-9037-1BA5645873F7}"/>
              </a:ext>
            </a:extLst>
          </p:cNvPr>
          <p:cNvCxnSpPr/>
          <p:nvPr/>
        </p:nvCxnSpPr>
        <p:spPr>
          <a:xfrm>
            <a:off x="1633491" y="324686"/>
            <a:ext cx="0" cy="6492875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943B2B4-03EA-4BAF-B24A-BC27247E3585}"/>
              </a:ext>
            </a:extLst>
          </p:cNvPr>
          <p:cNvCxnSpPr/>
          <p:nvPr/>
        </p:nvCxnSpPr>
        <p:spPr>
          <a:xfrm>
            <a:off x="328474" y="4438835"/>
            <a:ext cx="9463597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5">
            <a:extLst>
              <a:ext uri="{FF2B5EF4-FFF2-40B4-BE49-F238E27FC236}">
                <a16:creationId xmlns:a16="http://schemas.microsoft.com/office/drawing/2014/main" id="{765CBD70-27FA-A401-E77E-EFCF29E8B8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6133996"/>
              </p:ext>
            </p:extLst>
          </p:nvPr>
        </p:nvGraphicFramePr>
        <p:xfrm>
          <a:off x="2428783" y="5397500"/>
          <a:ext cx="8806399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8057">
                  <a:extLst>
                    <a:ext uri="{9D8B030D-6E8A-4147-A177-3AD203B41FA5}">
                      <a16:colId xmlns:a16="http://schemas.microsoft.com/office/drawing/2014/main" val="548386443"/>
                    </a:ext>
                  </a:extLst>
                </a:gridCol>
                <a:gridCol w="1258057">
                  <a:extLst>
                    <a:ext uri="{9D8B030D-6E8A-4147-A177-3AD203B41FA5}">
                      <a16:colId xmlns:a16="http://schemas.microsoft.com/office/drawing/2014/main" val="2342207503"/>
                    </a:ext>
                  </a:extLst>
                </a:gridCol>
                <a:gridCol w="1258057">
                  <a:extLst>
                    <a:ext uri="{9D8B030D-6E8A-4147-A177-3AD203B41FA5}">
                      <a16:colId xmlns:a16="http://schemas.microsoft.com/office/drawing/2014/main" val="2925968098"/>
                    </a:ext>
                  </a:extLst>
                </a:gridCol>
                <a:gridCol w="1258057">
                  <a:extLst>
                    <a:ext uri="{9D8B030D-6E8A-4147-A177-3AD203B41FA5}">
                      <a16:colId xmlns:a16="http://schemas.microsoft.com/office/drawing/2014/main" val="523511629"/>
                    </a:ext>
                  </a:extLst>
                </a:gridCol>
                <a:gridCol w="1258057">
                  <a:extLst>
                    <a:ext uri="{9D8B030D-6E8A-4147-A177-3AD203B41FA5}">
                      <a16:colId xmlns:a16="http://schemas.microsoft.com/office/drawing/2014/main" val="4133855928"/>
                    </a:ext>
                  </a:extLst>
                </a:gridCol>
                <a:gridCol w="1258057">
                  <a:extLst>
                    <a:ext uri="{9D8B030D-6E8A-4147-A177-3AD203B41FA5}">
                      <a16:colId xmlns:a16="http://schemas.microsoft.com/office/drawing/2014/main" val="3064887133"/>
                    </a:ext>
                  </a:extLst>
                </a:gridCol>
                <a:gridCol w="1258057">
                  <a:extLst>
                    <a:ext uri="{9D8B030D-6E8A-4147-A177-3AD203B41FA5}">
                      <a16:colId xmlns:a16="http://schemas.microsoft.com/office/drawing/2014/main" val="4906828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INPUT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414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OUTPUT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35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337401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1CA1E88-88EE-1DDC-4892-E5E8C86D4806}"/>
              </a:ext>
            </a:extLst>
          </p:cNvPr>
          <p:cNvSpPr txBox="1"/>
          <p:nvPr/>
        </p:nvSpPr>
        <p:spPr>
          <a:xfrm>
            <a:off x="1027585" y="3521726"/>
            <a:ext cx="51342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dirty="0"/>
              <a:t>10</a:t>
            </a:r>
            <a:endParaRPr lang="en-AU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12D50A-7083-455F-9D50-534DA28623B1}"/>
              </a:ext>
            </a:extLst>
          </p:cNvPr>
          <p:cNvSpPr txBox="1"/>
          <p:nvPr/>
        </p:nvSpPr>
        <p:spPr>
          <a:xfrm>
            <a:off x="1014642" y="2842339"/>
            <a:ext cx="51342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dirty="0"/>
              <a:t>20</a:t>
            </a:r>
            <a:endParaRPr lang="en-AU" sz="2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AF46BB-5D44-7804-2405-D73E49546A5F}"/>
              </a:ext>
            </a:extLst>
          </p:cNvPr>
          <p:cNvSpPr txBox="1"/>
          <p:nvPr/>
        </p:nvSpPr>
        <p:spPr>
          <a:xfrm>
            <a:off x="1067353" y="2201741"/>
            <a:ext cx="51342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dirty="0"/>
              <a:t>30</a:t>
            </a:r>
            <a:endParaRPr lang="en-AU" sz="20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4F500D-B6DB-42DB-642D-8E16CD19DFCB}"/>
              </a:ext>
            </a:extLst>
          </p:cNvPr>
          <p:cNvSpPr txBox="1"/>
          <p:nvPr/>
        </p:nvSpPr>
        <p:spPr>
          <a:xfrm>
            <a:off x="1093708" y="1522354"/>
            <a:ext cx="51342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dirty="0"/>
              <a:t>40</a:t>
            </a:r>
            <a:endParaRPr lang="en-AU" sz="2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7166D8-F5E3-B9CF-D5FA-10327F483F9A}"/>
              </a:ext>
            </a:extLst>
          </p:cNvPr>
          <p:cNvSpPr txBox="1"/>
          <p:nvPr/>
        </p:nvSpPr>
        <p:spPr>
          <a:xfrm>
            <a:off x="1081128" y="868101"/>
            <a:ext cx="51342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dirty="0"/>
              <a:t>50</a:t>
            </a:r>
            <a:endParaRPr lang="en-AU" sz="20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8FF797-E456-B84E-B702-66AE1B060FDA}"/>
              </a:ext>
            </a:extLst>
          </p:cNvPr>
          <p:cNvSpPr txBox="1"/>
          <p:nvPr/>
        </p:nvSpPr>
        <p:spPr>
          <a:xfrm>
            <a:off x="2143218" y="4518058"/>
            <a:ext cx="33014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dirty="0"/>
              <a:t>2</a:t>
            </a:r>
            <a:endParaRPr lang="en-AU" sz="20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E83162-D322-D0FD-F868-1039229EBEEE}"/>
              </a:ext>
            </a:extLst>
          </p:cNvPr>
          <p:cNvSpPr txBox="1"/>
          <p:nvPr/>
        </p:nvSpPr>
        <p:spPr>
          <a:xfrm>
            <a:off x="2775196" y="4518058"/>
            <a:ext cx="33014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dirty="0"/>
              <a:t>4</a:t>
            </a:r>
            <a:endParaRPr lang="en-AU" sz="20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3F6196-1772-0828-8CA0-58C07003D6A2}"/>
              </a:ext>
            </a:extLst>
          </p:cNvPr>
          <p:cNvSpPr txBox="1"/>
          <p:nvPr/>
        </p:nvSpPr>
        <p:spPr>
          <a:xfrm>
            <a:off x="3449992" y="4518058"/>
            <a:ext cx="33014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dirty="0"/>
              <a:t>6</a:t>
            </a:r>
            <a:endParaRPr lang="en-AU" sz="20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10B08B-04B8-DCB8-4E9C-A76545B4A196}"/>
              </a:ext>
            </a:extLst>
          </p:cNvPr>
          <p:cNvSpPr txBox="1"/>
          <p:nvPr/>
        </p:nvSpPr>
        <p:spPr>
          <a:xfrm>
            <a:off x="4184032" y="4555725"/>
            <a:ext cx="33014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dirty="0"/>
              <a:t>8</a:t>
            </a:r>
            <a:endParaRPr lang="en-AU" sz="20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63BC68-9533-45D7-86F5-0AE145BEF2AC}"/>
              </a:ext>
            </a:extLst>
          </p:cNvPr>
          <p:cNvSpPr txBox="1"/>
          <p:nvPr/>
        </p:nvSpPr>
        <p:spPr>
          <a:xfrm>
            <a:off x="4816009" y="4551124"/>
            <a:ext cx="46620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dirty="0"/>
              <a:t>10</a:t>
            </a:r>
            <a:endParaRPr lang="en-AU" sz="2000" b="1" dirty="0"/>
          </a:p>
        </p:txBody>
      </p:sp>
    </p:spTree>
    <p:extLst>
      <p:ext uri="{BB962C8B-B14F-4D97-AF65-F5344CB8AC3E}">
        <p14:creationId xmlns:p14="http://schemas.microsoft.com/office/powerpoint/2010/main" val="4204358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52048-53DE-F20F-2822-F20B31A40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940"/>
            <a:ext cx="10515600" cy="63805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The car wash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B295B-2A5E-7206-7B50-F37DFB8A7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222" y="2452456"/>
            <a:ext cx="10515600" cy="18177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Output (________) = 5 x input (________)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Using the same rule, complete the table:</a:t>
            </a:r>
          </a:p>
          <a:p>
            <a:pPr marL="0" indent="0">
              <a:buNone/>
            </a:pPr>
            <a:endParaRPr lang="en-AU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3659BA6-9648-B32D-D6E5-17273B0CBB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795249"/>
              </p:ext>
            </p:extLst>
          </p:nvPr>
        </p:nvGraphicFramePr>
        <p:xfrm>
          <a:off x="1952101" y="1016716"/>
          <a:ext cx="8128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48826097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31196399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2819234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96778953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001968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Number of cars washed 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0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2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3</a:t>
                      </a:r>
                      <a:endParaRPr lang="en-AU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3110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Money earned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0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5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10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15</a:t>
                      </a:r>
                      <a:endParaRPr lang="en-AU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134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C63C398-B7DD-729D-5EC4-7AD37BE0D9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072685"/>
              </p:ext>
            </p:extLst>
          </p:nvPr>
        </p:nvGraphicFramePr>
        <p:xfrm>
          <a:off x="1801181" y="4282367"/>
          <a:ext cx="8128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48826097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31196399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2819234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96778953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001968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Number of cars washed 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4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5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9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12</a:t>
                      </a:r>
                      <a:endParaRPr lang="en-AU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3110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Money earned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13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1518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5AC2D-5A87-D1D7-989F-98B53024B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Spatial pattern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4FC7F-565A-2723-FB2D-C2B20D77A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3314925"/>
            <a:ext cx="10515600" cy="224415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Output (________) = 4 x input (_________)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Using the rule, complete the table below: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884054-C026-1DB7-84A5-937CAD692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3432" y="1544716"/>
            <a:ext cx="7205135" cy="1712696"/>
          </a:xfrm>
          <a:prstGeom prst="rect">
            <a:avLst/>
          </a:prstGeom>
        </p:spPr>
      </p:pic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CD89B6C6-CF0B-33FA-B3BD-5441D5BFA4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042601"/>
              </p:ext>
            </p:extLst>
          </p:nvPr>
        </p:nvGraphicFramePr>
        <p:xfrm>
          <a:off x="1801181" y="4942444"/>
          <a:ext cx="812800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33511136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95926984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98698680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99080561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44166954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1980881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Input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4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6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9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10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574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Output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200</a:t>
                      </a:r>
                      <a:endParaRPr lang="en-AU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6690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6248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BF9F5-3110-7CDC-93D2-F3B522E62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FD8D6-33D9-4A86-0D3D-DC931AAC7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98" y="1825625"/>
            <a:ext cx="1922761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Plot the points from the last table of values.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patterns is </a:t>
            </a:r>
          </a:p>
          <a:p>
            <a:pPr marL="0" indent="0">
              <a:buNone/>
            </a:pPr>
            <a:r>
              <a:rPr lang="en-US" dirty="0"/>
              <a:t>L_______ </a:t>
            </a:r>
            <a:endParaRPr lang="en-AU" dirty="0"/>
          </a:p>
        </p:txBody>
      </p:sp>
      <p:pic>
        <p:nvPicPr>
          <p:cNvPr id="4" name="Picture 2" descr="Graph Paper to Print - 1cm Squared Paper PDF">
            <a:extLst>
              <a:ext uri="{FF2B5EF4-FFF2-40B4-BE49-F238E27FC236}">
                <a16:creationId xmlns:a16="http://schemas.microsoft.com/office/drawing/2014/main" id="{3FFA96AE-D729-2526-0324-51F3A9EFFB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486257" y="-1473797"/>
            <a:ext cx="7142247" cy="10089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880EE8E-F73D-AF3D-A258-3A8483981035}"/>
              </a:ext>
            </a:extLst>
          </p:cNvPr>
          <p:cNvCxnSpPr/>
          <p:nvPr/>
        </p:nvCxnSpPr>
        <p:spPr>
          <a:xfrm>
            <a:off x="2938416" y="267536"/>
            <a:ext cx="0" cy="6492875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F77A5DB-6F12-0C29-041B-C7F5718E09EE}"/>
              </a:ext>
            </a:extLst>
          </p:cNvPr>
          <p:cNvCxnSpPr/>
          <p:nvPr/>
        </p:nvCxnSpPr>
        <p:spPr>
          <a:xfrm>
            <a:off x="2233474" y="6086660"/>
            <a:ext cx="9463597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79040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1CA24-5319-084E-3F91-AEFD9AEE50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595D9-F415-828C-A6EE-B8E3AF1C37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Page 124</a:t>
            </a:r>
          </a:p>
          <a:p>
            <a:pPr marL="0" indent="0">
              <a:buNone/>
            </a:pPr>
            <a:r>
              <a:rPr lang="en-US" sz="2800" b="1" dirty="0"/>
              <a:t>Questions 1 – 12 (No attempt = come back at break) </a:t>
            </a:r>
          </a:p>
          <a:p>
            <a:pPr marL="0" indent="0">
              <a:buNone/>
            </a:pPr>
            <a:r>
              <a:rPr lang="en-US" sz="2800" b="1" dirty="0"/>
              <a:t>In your exercise book</a:t>
            </a:r>
            <a:endParaRPr lang="en-AU" sz="2800" b="1" dirty="0"/>
          </a:p>
        </p:txBody>
      </p:sp>
    </p:spTree>
    <p:extLst>
      <p:ext uri="{BB962C8B-B14F-4D97-AF65-F5344CB8AC3E}">
        <p14:creationId xmlns:p14="http://schemas.microsoft.com/office/powerpoint/2010/main" val="2053801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Radial">
  <a:themeElements>
    <a:clrScheme name="Radial 1">
      <a:dk1>
        <a:srgbClr val="000000"/>
      </a:dk1>
      <a:lt1>
        <a:srgbClr val="FFFFFF"/>
      </a:lt1>
      <a:dk2>
        <a:srgbClr val="FFFFFF"/>
      </a:dk2>
      <a:lt2>
        <a:srgbClr val="669999"/>
      </a:lt2>
      <a:accent1>
        <a:srgbClr val="99CCFF"/>
      </a:accent1>
      <a:accent2>
        <a:srgbClr val="9999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8A8AE7"/>
      </a:accent6>
      <a:hlink>
        <a:srgbClr val="996666"/>
      </a:hlink>
      <a:folHlink>
        <a:srgbClr val="6666CC"/>
      </a:folHlink>
    </a:clrScheme>
    <a:fontScheme name="Rad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Radial 1">
        <a:dk1>
          <a:srgbClr val="000000"/>
        </a:dk1>
        <a:lt1>
          <a:srgbClr val="FFFFFF"/>
        </a:lt1>
        <a:dk2>
          <a:srgbClr val="FFFFFF"/>
        </a:dk2>
        <a:lt2>
          <a:srgbClr val="669999"/>
        </a:lt2>
        <a:accent1>
          <a:srgbClr val="99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8A8AE7"/>
        </a:accent6>
        <a:hlink>
          <a:srgbClr val="996666"/>
        </a:hlink>
        <a:folHlink>
          <a:srgbClr val="66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2">
        <a:dk1>
          <a:srgbClr val="000000"/>
        </a:dk1>
        <a:lt1>
          <a:srgbClr val="FFFFFF"/>
        </a:lt1>
        <a:dk2>
          <a:srgbClr val="FFFFFF"/>
        </a:dk2>
        <a:lt2>
          <a:srgbClr val="817F3F"/>
        </a:lt2>
        <a:accent1>
          <a:srgbClr val="FFCC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8A00"/>
        </a:accent6>
        <a:hlink>
          <a:srgbClr val="996666"/>
        </a:hlink>
        <a:folHlink>
          <a:srgbClr val="C9450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3">
        <a:dk1>
          <a:srgbClr val="CC6600"/>
        </a:dk1>
        <a:lt1>
          <a:srgbClr val="FFFFFF"/>
        </a:lt1>
        <a:dk2>
          <a:srgbClr val="800000"/>
        </a:dk2>
        <a:lt2>
          <a:srgbClr val="FFFFFF"/>
        </a:lt2>
        <a:accent1>
          <a:srgbClr val="FF6600"/>
        </a:accent1>
        <a:accent2>
          <a:srgbClr val="33CCCC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2DB9B9"/>
        </a:accent6>
        <a:hlink>
          <a:srgbClr val="99FF3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4">
        <a:dk1>
          <a:srgbClr val="993300"/>
        </a:dk1>
        <a:lt1>
          <a:srgbClr val="FFFFFF"/>
        </a:lt1>
        <a:dk2>
          <a:srgbClr val="431A01"/>
        </a:dk2>
        <a:lt2>
          <a:srgbClr val="FFFFFF"/>
        </a:lt2>
        <a:accent1>
          <a:srgbClr val="FFCC00"/>
        </a:accent1>
        <a:accent2>
          <a:srgbClr val="FF9966"/>
        </a:accent2>
        <a:accent3>
          <a:srgbClr val="B0ABAA"/>
        </a:accent3>
        <a:accent4>
          <a:srgbClr val="DADADA"/>
        </a:accent4>
        <a:accent5>
          <a:srgbClr val="FFE2AA"/>
        </a:accent5>
        <a:accent6>
          <a:srgbClr val="E78A5C"/>
        </a:accent6>
        <a:hlink>
          <a:srgbClr val="FF66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5">
        <a:dk1>
          <a:srgbClr val="75878B"/>
        </a:dk1>
        <a:lt1>
          <a:srgbClr val="FFFFFF"/>
        </a:lt1>
        <a:dk2>
          <a:srgbClr val="260000"/>
        </a:dk2>
        <a:lt2>
          <a:srgbClr val="FFFFFF"/>
        </a:lt2>
        <a:accent1>
          <a:srgbClr val="0099CC"/>
        </a:accent1>
        <a:accent2>
          <a:srgbClr val="FF3300"/>
        </a:accent2>
        <a:accent3>
          <a:srgbClr val="ACAAAA"/>
        </a:accent3>
        <a:accent4>
          <a:srgbClr val="DADADA"/>
        </a:accent4>
        <a:accent5>
          <a:srgbClr val="AACAE2"/>
        </a:accent5>
        <a:accent6>
          <a:srgbClr val="E72D00"/>
        </a:accent6>
        <a:hlink>
          <a:srgbClr val="FFCC00"/>
        </a:hlink>
        <a:folHlink>
          <a:srgbClr val="CC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6">
        <a:dk1>
          <a:srgbClr val="666699"/>
        </a:dk1>
        <a:lt1>
          <a:srgbClr val="FFFFFF"/>
        </a:lt1>
        <a:dk2>
          <a:srgbClr val="000000"/>
        </a:dk2>
        <a:lt2>
          <a:srgbClr val="FFFFFF"/>
        </a:lt2>
        <a:accent1>
          <a:srgbClr val="9966FF"/>
        </a:accent1>
        <a:accent2>
          <a:srgbClr val="99CCFF"/>
        </a:accent2>
        <a:accent3>
          <a:srgbClr val="AAAAAA"/>
        </a:accent3>
        <a:accent4>
          <a:srgbClr val="DADADA"/>
        </a:accent4>
        <a:accent5>
          <a:srgbClr val="CAB8FF"/>
        </a:accent5>
        <a:accent6>
          <a:srgbClr val="8AB9E7"/>
        </a:accent6>
        <a:hlink>
          <a:srgbClr val="FFFFCC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7">
        <a:dk1>
          <a:srgbClr val="666699"/>
        </a:dk1>
        <a:lt1>
          <a:srgbClr val="FFFFFF"/>
        </a:lt1>
        <a:dk2>
          <a:srgbClr val="2A2A40"/>
        </a:dk2>
        <a:lt2>
          <a:srgbClr val="FFFFFF"/>
        </a:lt2>
        <a:accent1>
          <a:srgbClr val="006699"/>
        </a:accent1>
        <a:accent2>
          <a:srgbClr val="CC9900"/>
        </a:accent2>
        <a:accent3>
          <a:srgbClr val="ACACAF"/>
        </a:accent3>
        <a:accent4>
          <a:srgbClr val="DADADA"/>
        </a:accent4>
        <a:accent5>
          <a:srgbClr val="AAB8CA"/>
        </a:accent5>
        <a:accent6>
          <a:srgbClr val="B98A00"/>
        </a:accent6>
        <a:hlink>
          <a:srgbClr val="CC6600"/>
        </a:hlink>
        <a:folHlink>
          <a:srgbClr val="6C94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8">
        <a:dk1>
          <a:srgbClr val="BECBD8"/>
        </a:dk1>
        <a:lt1>
          <a:srgbClr val="FFFFFF"/>
        </a:lt1>
        <a:dk2>
          <a:srgbClr val="2B335B"/>
        </a:dk2>
        <a:lt2>
          <a:srgbClr val="FFFFFF"/>
        </a:lt2>
        <a:accent1>
          <a:srgbClr val="0099CC"/>
        </a:accent1>
        <a:accent2>
          <a:srgbClr val="B5DBE3"/>
        </a:accent2>
        <a:accent3>
          <a:srgbClr val="ACADB5"/>
        </a:accent3>
        <a:accent4>
          <a:srgbClr val="DADADA"/>
        </a:accent4>
        <a:accent5>
          <a:srgbClr val="AACAE2"/>
        </a:accent5>
        <a:accent6>
          <a:srgbClr val="A4C6CE"/>
        </a:accent6>
        <a:hlink>
          <a:srgbClr val="FFCC00"/>
        </a:hlink>
        <a:folHlink>
          <a:srgbClr val="586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9">
        <a:dk1>
          <a:srgbClr val="3333FF"/>
        </a:dk1>
        <a:lt1>
          <a:srgbClr val="FFFFFF"/>
        </a:lt1>
        <a:dk2>
          <a:srgbClr val="000099"/>
        </a:dk2>
        <a:lt2>
          <a:srgbClr val="FFFFFF"/>
        </a:lt2>
        <a:accent1>
          <a:srgbClr val="339966"/>
        </a:accent1>
        <a:accent2>
          <a:srgbClr val="9999FF"/>
        </a:accent2>
        <a:accent3>
          <a:srgbClr val="AAAACA"/>
        </a:accent3>
        <a:accent4>
          <a:srgbClr val="DADADA"/>
        </a:accent4>
        <a:accent5>
          <a:srgbClr val="ADCAB8"/>
        </a:accent5>
        <a:accent6>
          <a:srgbClr val="8A8AE7"/>
        </a:accent6>
        <a:hlink>
          <a:srgbClr val="FFFF99"/>
        </a:hlink>
        <a:folHlink>
          <a:srgbClr val="17A0D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10">
        <a:dk1>
          <a:srgbClr val="808000"/>
        </a:dk1>
        <a:lt1>
          <a:srgbClr val="FFFFFF"/>
        </a:lt1>
        <a:dk2>
          <a:srgbClr val="354418"/>
        </a:dk2>
        <a:lt2>
          <a:srgbClr val="FFFFFF"/>
        </a:lt2>
        <a:accent1>
          <a:srgbClr val="60897C"/>
        </a:accent1>
        <a:accent2>
          <a:srgbClr val="99CC00"/>
        </a:accent2>
        <a:accent3>
          <a:srgbClr val="AEB0AB"/>
        </a:accent3>
        <a:accent4>
          <a:srgbClr val="DADADA"/>
        </a:accent4>
        <a:accent5>
          <a:srgbClr val="B6C4BF"/>
        </a:accent5>
        <a:accent6>
          <a:srgbClr val="8AB900"/>
        </a:accent6>
        <a:hlink>
          <a:srgbClr val="CCCC00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639</Words>
  <Application>Microsoft Office PowerPoint</Application>
  <PresentationFormat>Widescreen</PresentationFormat>
  <Paragraphs>204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Arial Black</vt:lpstr>
      <vt:lpstr>Calibri</vt:lpstr>
      <vt:lpstr>Calibri Light</vt:lpstr>
      <vt:lpstr>Times New Roman</vt:lpstr>
      <vt:lpstr>Wingdings</vt:lpstr>
      <vt:lpstr>Office Theme</vt:lpstr>
      <vt:lpstr>Radial</vt:lpstr>
      <vt:lpstr>Lesson objective </vt:lpstr>
      <vt:lpstr>Match the number pattern to the rule </vt:lpstr>
      <vt:lpstr>Daily review</vt:lpstr>
      <vt:lpstr>We do </vt:lpstr>
      <vt:lpstr>Whiteboards </vt:lpstr>
      <vt:lpstr>Guided notes </vt:lpstr>
      <vt:lpstr>Single Machines</vt:lpstr>
      <vt:lpstr>Double Vision</vt:lpstr>
      <vt:lpstr>What’s the story? </vt:lpstr>
      <vt:lpstr>Plotting </vt:lpstr>
      <vt:lpstr>The car wash </vt:lpstr>
      <vt:lpstr>Spatial pattern </vt:lpstr>
      <vt:lpstr>PowerPoint Presentation</vt:lpstr>
      <vt:lpstr>Individual practice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7</cp:revision>
  <dcterms:created xsi:type="dcterms:W3CDTF">2022-11-02T04:55:11Z</dcterms:created>
  <dcterms:modified xsi:type="dcterms:W3CDTF">2023-10-12T23:58:00Z</dcterms:modified>
</cp:coreProperties>
</file>
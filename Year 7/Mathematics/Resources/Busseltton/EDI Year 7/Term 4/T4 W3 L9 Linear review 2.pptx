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343" r:id="rId3"/>
    <p:sldId id="344" r:id="rId4"/>
    <p:sldId id="345" r:id="rId5"/>
    <p:sldId id="346" r:id="rId6"/>
    <p:sldId id="347" r:id="rId7"/>
    <p:sldId id="350" r:id="rId8"/>
    <p:sldId id="348" r:id="rId9"/>
    <p:sldId id="349" r:id="rId10"/>
  </p:sldIdLst>
  <p:sldSz cx="12192000" cy="6858000"/>
  <p:notesSz cx="6794500" cy="9931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82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82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EFCC27-1C3F-4DB4-BFCD-C19FC38CD82A}" type="datetimeFigureOut">
              <a:rPr lang="en-AU" smtClean="0"/>
              <a:t>27/10/2023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19100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9486"/>
            <a:ext cx="5435600" cy="391048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3107"/>
            <a:ext cx="2944283" cy="4982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5" y="9433107"/>
            <a:ext cx="2944283" cy="4982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2AD0C9-2BF1-4A3E-A65E-7BED9C3206A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0148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D9377F-1BD6-9941-B405-1638211A94BD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13536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489D8-CB5F-5E3C-9280-85F40C5246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FDC63C-C609-0DB8-1AF5-154BFAD772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F18F5D-06B3-8E49-46F5-B1C9DD5F2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44C4C-37A3-4AD5-A58B-577B81116AD1}" type="datetimeFigureOut">
              <a:rPr lang="en-AU" smtClean="0"/>
              <a:t>27/10/2023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9B45E-AE3C-6A02-D542-1F77AAD0E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804A0D-2E80-DABB-E810-14CC00AB0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7923-3C34-4F42-BFFE-415CFAFD23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9014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E984F-13BC-D9B3-945E-7FD2E0384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34EBD-2BDF-3D66-B0AA-D8831B319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86C6ED-2E53-207D-73C1-859E7A29C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44C4C-37A3-4AD5-A58B-577B81116AD1}" type="datetimeFigureOut">
              <a:rPr lang="en-AU" smtClean="0"/>
              <a:t>27/10/2023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55E938-3843-E38E-AF6B-34E5D4152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8DA463-88C5-F059-B65C-30AFEFC64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7923-3C34-4F42-BFFE-415CFAFD23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350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1F703-41BB-7D1B-F2B2-D75E125A8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FA8B24-FDDA-B2EB-8650-262FEFE27C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26AA08-02B7-E852-0C92-75BD5B3B7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44C4C-37A3-4AD5-A58B-577B81116AD1}" type="datetimeFigureOut">
              <a:rPr lang="en-AU" smtClean="0"/>
              <a:t>27/10/2023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D17B7-C852-1280-6A69-A690D1F38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61EDE-D01B-2B45-1875-04EBAA010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7923-3C34-4F42-BFFE-415CFAFD23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7882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C8FE2-3744-22BC-E84A-C3104D2F4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02E60-2E4C-3CE3-AB69-E53777F5FD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EA35F3-F6A6-AA6D-E229-E31D447785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775A03-CA44-5A64-5E33-B988A1FBE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44C4C-37A3-4AD5-A58B-577B81116AD1}" type="datetimeFigureOut">
              <a:rPr lang="en-AU" smtClean="0"/>
              <a:t>27/10/2023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FC5DE3-ECE0-F6C5-0E73-C5B831EAD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BBFEE6-0EC2-39F7-8883-28C68077E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7923-3C34-4F42-BFFE-415CFAFD23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1688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A14DC-6BF2-7C79-3B02-9F65FCDF6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1EC3C1-D5B4-7AD2-0402-36A958EB2B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AA8806-5882-23C6-BEB1-5519E8CB5E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8437CF-6377-89A1-E652-99AA4F5F78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9C322F-9BA7-A5BD-7C68-7C751CED78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28B891-5741-66AF-2FDD-B60E1E66E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44C4C-37A3-4AD5-A58B-577B81116AD1}" type="datetimeFigureOut">
              <a:rPr lang="en-AU" smtClean="0"/>
              <a:t>27/10/2023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E89488-A33E-1A08-B244-0461F191B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B31966-88A5-58CB-4BCC-0028E66B6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7923-3C34-4F42-BFFE-415CFAFD23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01249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C3AF8-C903-E8C2-F6F5-A5F0FDABD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A1A703-7837-4791-7467-CAC200A16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44C4C-37A3-4AD5-A58B-577B81116AD1}" type="datetimeFigureOut">
              <a:rPr lang="en-AU" smtClean="0"/>
              <a:t>27/10/2023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5DF057-F06D-B53F-A5DE-933B3C14C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9724D6-C81A-DFE9-9CAE-54A1CCFED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7923-3C34-4F42-BFFE-415CFAFD23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72458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BAF3BB-8D4C-38E9-384F-24F2513D4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44C4C-37A3-4AD5-A58B-577B81116AD1}" type="datetimeFigureOut">
              <a:rPr lang="en-AU" smtClean="0"/>
              <a:t>27/10/2023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857A73-1581-FE34-94A5-29C9C8722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8F1AA0-ADC7-26F4-F778-A6F6EC9FA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7923-3C34-4F42-BFFE-415CFAFD23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1145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333B1-4EC4-415C-A0DB-1C7581301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3B1D4-1155-181F-731D-FB5F9DA49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356355-7FBD-B6E4-67BA-56E0817C84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993108-1951-5622-F916-7C94604DC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44C4C-37A3-4AD5-A58B-577B81116AD1}" type="datetimeFigureOut">
              <a:rPr lang="en-AU" smtClean="0"/>
              <a:t>27/10/2023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FAEAA9-9CB7-E14E-E7E5-A87C4DC1E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0B364A-65B5-3122-77AB-FFD19330E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7923-3C34-4F42-BFFE-415CFAFD23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1028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284CA-06F0-F548-65D9-710C15E19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773648-CB01-4E1F-BF21-99DF177F72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7CBEB2-8F6A-43DA-937D-7FB6DF856B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993B47-B54E-432E-D88F-EA1DDEA38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44C4C-37A3-4AD5-A58B-577B81116AD1}" type="datetimeFigureOut">
              <a:rPr lang="en-AU" smtClean="0"/>
              <a:t>27/10/2023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8AA77E-C901-8AC3-86A0-D63A85623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008F5-B56A-B601-6D14-29B7DD33F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7923-3C34-4F42-BFFE-415CFAFD23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87299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EE19F-8E85-9A29-E61E-3834BFE29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007CC4-4A5E-97BC-DC35-5D2DFF21A4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826F3F-54A8-25D3-2106-F541900B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44C4C-37A3-4AD5-A58B-577B81116AD1}" type="datetimeFigureOut">
              <a:rPr lang="en-AU" smtClean="0"/>
              <a:t>27/10/2023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361C8A-15FB-1005-0230-E5D11135A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7AE541-2816-EAD5-4831-78CC404F4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7923-3C34-4F42-BFFE-415CFAFD23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1881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E9BB03-2B95-6FD3-BED4-539C65B659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F0CD8B-1428-D09A-0379-F9314AADBF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20BBE1-DF60-945D-7720-74A7BB24D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44C4C-37A3-4AD5-A58B-577B81116AD1}" type="datetimeFigureOut">
              <a:rPr lang="en-AU" smtClean="0"/>
              <a:t>27/10/2023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D879AF-F3B0-67DA-49CF-65720A11C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19A7EF-BD5D-33F5-4304-2E7E6AC60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7923-3C34-4F42-BFFE-415CFAFD23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94698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tent_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6120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525FA8-8675-10AA-CC37-4A92B2B1E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0D1E54-5812-5194-D14E-BE06CEF47D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6C4D0-EE46-ED15-9A1A-7C024FB3BE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44C4C-37A3-4AD5-A58B-577B81116AD1}" type="datetimeFigureOut">
              <a:rPr lang="en-AU" smtClean="0"/>
              <a:t>27/10/2023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A83BCC-3134-2F5C-5194-5687DE5E97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1F5DB3-E325-4138-9667-AF03395EB5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B97923-3C34-4F42-BFFE-415CFAFD23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88698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0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7C1F192-C758-CCAD-0872-D2E97268A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Lesson objective </a:t>
            </a: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CD7FC9B-0D9A-144B-E966-D43507F653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Title: Topic review 2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Aim – be able to: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 Solve equations and missing angles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 Complete a table of values with missing values 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Plan: </a:t>
            </a:r>
          </a:p>
          <a:p>
            <a:pP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Angles and equations </a:t>
            </a:r>
          </a:p>
          <a:p>
            <a:pP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Table of values </a:t>
            </a: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EE1500-54C1-AA50-CAE4-F09E7257EFFC}"/>
              </a:ext>
            </a:extLst>
          </p:cNvPr>
          <p:cNvSpPr txBox="1"/>
          <p:nvPr/>
        </p:nvSpPr>
        <p:spPr>
          <a:xfrm>
            <a:off x="4829452" y="1690688"/>
            <a:ext cx="34711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Need whiteboards and calculators</a:t>
            </a:r>
            <a:r>
              <a:rPr lang="en-US" b="1" dirty="0">
                <a:highlight>
                  <a:srgbClr val="FFFF00"/>
                </a:highlight>
              </a:rPr>
              <a:t>.</a:t>
            </a:r>
            <a:endParaRPr lang="en-AU" b="1" dirty="0">
              <a:highlight>
                <a:srgbClr val="FFFF0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131614-7D4C-03CF-E53E-69CBD667FFB8}"/>
              </a:ext>
            </a:extLst>
          </p:cNvPr>
          <p:cNvSpPr txBox="1"/>
          <p:nvPr/>
        </p:nvSpPr>
        <p:spPr>
          <a:xfrm>
            <a:off x="7982505" y="234662"/>
            <a:ext cx="35791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highlight>
                  <a:srgbClr val="00FF00"/>
                </a:highlight>
              </a:rPr>
              <a:t>PBiS</a:t>
            </a:r>
            <a:r>
              <a:rPr lang="en-US" sz="2000" b="1" dirty="0">
                <a:highlight>
                  <a:srgbClr val="00FF00"/>
                </a:highlight>
              </a:rPr>
              <a:t> focus:</a:t>
            </a:r>
          </a:p>
          <a:p>
            <a:r>
              <a:rPr lang="en-US" sz="2000" b="1" dirty="0">
                <a:highlight>
                  <a:srgbClr val="00FF00"/>
                </a:highlight>
              </a:rPr>
              <a:t>Respect – listening </a:t>
            </a:r>
          </a:p>
          <a:p>
            <a:r>
              <a:rPr lang="en-US" sz="2000" b="1" dirty="0">
                <a:highlight>
                  <a:srgbClr val="00FF00"/>
                </a:highlight>
              </a:rPr>
              <a:t>Achieve – attempt all tasks </a:t>
            </a:r>
            <a:endParaRPr lang="en-AU" sz="2000" b="1" dirty="0">
              <a:highlight>
                <a:srgbClr val="00FF0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7EEA8A-421C-DD4A-515B-6A70E1475963}"/>
              </a:ext>
            </a:extLst>
          </p:cNvPr>
          <p:cNvSpPr txBox="1"/>
          <p:nvPr/>
        </p:nvSpPr>
        <p:spPr>
          <a:xfrm>
            <a:off x="6356412" y="4838330"/>
            <a:ext cx="3639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highlight>
                  <a:srgbClr val="FF0000"/>
                </a:highlight>
              </a:rPr>
              <a:t>Test Wednesday!</a:t>
            </a:r>
            <a:endParaRPr lang="en-AU" sz="2800" b="1" dirty="0">
              <a:solidFill>
                <a:schemeClr val="bg1"/>
              </a:solidFill>
              <a:highlight>
                <a:srgbClr val="FF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490883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E629866-F387-704D-B7DE-527424B5AFB6}"/>
              </a:ext>
            </a:extLst>
          </p:cNvPr>
          <p:cNvGraphicFramePr>
            <a:graphicFrameLocks noGrp="1"/>
          </p:cNvGraphicFramePr>
          <p:nvPr/>
        </p:nvGraphicFramePr>
        <p:xfrm>
          <a:off x="7347794" y="1632185"/>
          <a:ext cx="4310306" cy="3496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879">
                  <a:extLst>
                    <a:ext uri="{9D8B030D-6E8A-4147-A177-3AD203B41FA5}">
                      <a16:colId xmlns:a16="http://schemas.microsoft.com/office/drawing/2014/main" val="3421182426"/>
                    </a:ext>
                  </a:extLst>
                </a:gridCol>
                <a:gridCol w="307879">
                  <a:extLst>
                    <a:ext uri="{9D8B030D-6E8A-4147-A177-3AD203B41FA5}">
                      <a16:colId xmlns:a16="http://schemas.microsoft.com/office/drawing/2014/main" val="3036076137"/>
                    </a:ext>
                  </a:extLst>
                </a:gridCol>
                <a:gridCol w="307879">
                  <a:extLst>
                    <a:ext uri="{9D8B030D-6E8A-4147-A177-3AD203B41FA5}">
                      <a16:colId xmlns:a16="http://schemas.microsoft.com/office/drawing/2014/main" val="2042505113"/>
                    </a:ext>
                  </a:extLst>
                </a:gridCol>
                <a:gridCol w="307879">
                  <a:extLst>
                    <a:ext uri="{9D8B030D-6E8A-4147-A177-3AD203B41FA5}">
                      <a16:colId xmlns:a16="http://schemas.microsoft.com/office/drawing/2014/main" val="3832758630"/>
                    </a:ext>
                  </a:extLst>
                </a:gridCol>
                <a:gridCol w="307879">
                  <a:extLst>
                    <a:ext uri="{9D8B030D-6E8A-4147-A177-3AD203B41FA5}">
                      <a16:colId xmlns:a16="http://schemas.microsoft.com/office/drawing/2014/main" val="1574983318"/>
                    </a:ext>
                  </a:extLst>
                </a:gridCol>
                <a:gridCol w="307879">
                  <a:extLst>
                    <a:ext uri="{9D8B030D-6E8A-4147-A177-3AD203B41FA5}">
                      <a16:colId xmlns:a16="http://schemas.microsoft.com/office/drawing/2014/main" val="4158283698"/>
                    </a:ext>
                  </a:extLst>
                </a:gridCol>
                <a:gridCol w="307879">
                  <a:extLst>
                    <a:ext uri="{9D8B030D-6E8A-4147-A177-3AD203B41FA5}">
                      <a16:colId xmlns:a16="http://schemas.microsoft.com/office/drawing/2014/main" val="2421740572"/>
                    </a:ext>
                  </a:extLst>
                </a:gridCol>
                <a:gridCol w="307879">
                  <a:extLst>
                    <a:ext uri="{9D8B030D-6E8A-4147-A177-3AD203B41FA5}">
                      <a16:colId xmlns:a16="http://schemas.microsoft.com/office/drawing/2014/main" val="1223140520"/>
                    </a:ext>
                  </a:extLst>
                </a:gridCol>
                <a:gridCol w="307879">
                  <a:extLst>
                    <a:ext uri="{9D8B030D-6E8A-4147-A177-3AD203B41FA5}">
                      <a16:colId xmlns:a16="http://schemas.microsoft.com/office/drawing/2014/main" val="4205342466"/>
                    </a:ext>
                  </a:extLst>
                </a:gridCol>
                <a:gridCol w="307879">
                  <a:extLst>
                    <a:ext uri="{9D8B030D-6E8A-4147-A177-3AD203B41FA5}">
                      <a16:colId xmlns:a16="http://schemas.microsoft.com/office/drawing/2014/main" val="1143907110"/>
                    </a:ext>
                  </a:extLst>
                </a:gridCol>
                <a:gridCol w="307879">
                  <a:extLst>
                    <a:ext uri="{9D8B030D-6E8A-4147-A177-3AD203B41FA5}">
                      <a16:colId xmlns:a16="http://schemas.microsoft.com/office/drawing/2014/main" val="2953269273"/>
                    </a:ext>
                  </a:extLst>
                </a:gridCol>
                <a:gridCol w="307879">
                  <a:extLst>
                    <a:ext uri="{9D8B030D-6E8A-4147-A177-3AD203B41FA5}">
                      <a16:colId xmlns:a16="http://schemas.microsoft.com/office/drawing/2014/main" val="2364064426"/>
                    </a:ext>
                  </a:extLst>
                </a:gridCol>
                <a:gridCol w="307879">
                  <a:extLst>
                    <a:ext uri="{9D8B030D-6E8A-4147-A177-3AD203B41FA5}">
                      <a16:colId xmlns:a16="http://schemas.microsoft.com/office/drawing/2014/main" val="374087557"/>
                    </a:ext>
                  </a:extLst>
                </a:gridCol>
                <a:gridCol w="307879">
                  <a:extLst>
                    <a:ext uri="{9D8B030D-6E8A-4147-A177-3AD203B41FA5}">
                      <a16:colId xmlns:a16="http://schemas.microsoft.com/office/drawing/2014/main" val="1100712732"/>
                    </a:ext>
                  </a:extLst>
                </a:gridCol>
              </a:tblGrid>
              <a:tr h="437056">
                <a:tc>
                  <a:txBody>
                    <a:bodyPr/>
                    <a:lstStyle/>
                    <a:p>
                      <a:endParaRPr lang="en-GB" sz="100" b="0" dirty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 dirty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 dirty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 dirty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430021"/>
                  </a:ext>
                </a:extLst>
              </a:tr>
              <a:tr h="437056">
                <a:tc>
                  <a:txBody>
                    <a:bodyPr/>
                    <a:lstStyle/>
                    <a:p>
                      <a:endParaRPr lang="en-GB" sz="100" b="0" dirty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 dirty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 dirty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7017997"/>
                  </a:ext>
                </a:extLst>
              </a:tr>
              <a:tr h="437056">
                <a:tc>
                  <a:txBody>
                    <a:bodyPr/>
                    <a:lstStyle/>
                    <a:p>
                      <a:endParaRPr lang="en-GB" sz="100" b="0" dirty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 dirty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 dirty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 dirty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731071"/>
                  </a:ext>
                </a:extLst>
              </a:tr>
              <a:tr h="437056">
                <a:tc>
                  <a:txBody>
                    <a:bodyPr/>
                    <a:lstStyle/>
                    <a:p>
                      <a:endParaRPr lang="en-GB" sz="100" b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 dirty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 dirty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 dirty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 dirty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 dirty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 dirty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7649161"/>
                  </a:ext>
                </a:extLst>
              </a:tr>
              <a:tr h="437056">
                <a:tc>
                  <a:txBody>
                    <a:bodyPr/>
                    <a:lstStyle/>
                    <a:p>
                      <a:endParaRPr lang="en-GB" sz="100" b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 dirty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 dirty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 dirty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 dirty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181725"/>
                  </a:ext>
                </a:extLst>
              </a:tr>
              <a:tr h="437056">
                <a:tc>
                  <a:txBody>
                    <a:bodyPr/>
                    <a:lstStyle/>
                    <a:p>
                      <a:endParaRPr lang="en-GB" sz="100" b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 dirty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 dirty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 dirty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 dirty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 dirty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 dirty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6003197"/>
                  </a:ext>
                </a:extLst>
              </a:tr>
              <a:tr h="437056">
                <a:tc>
                  <a:txBody>
                    <a:bodyPr/>
                    <a:lstStyle/>
                    <a:p>
                      <a:endParaRPr lang="en-GB" sz="100" b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 dirty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 dirty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 dirty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 dirty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 dirty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 dirty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 dirty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 dirty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433261"/>
                  </a:ext>
                </a:extLst>
              </a:tr>
              <a:tr h="437056">
                <a:tc>
                  <a:txBody>
                    <a:bodyPr/>
                    <a:lstStyle/>
                    <a:p>
                      <a:endParaRPr lang="en-GB" sz="100" b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 dirty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 dirty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 dirty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 dirty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 dirty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 dirty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 dirty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 dirty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 dirty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 dirty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b="0" dirty="0">
                        <a:solidFill>
                          <a:schemeClr val="tx1"/>
                        </a:solidFill>
                      </a:endParaRPr>
                    </a:p>
                  </a:txBody>
                  <a:tcPr marL="110836" marR="110836" marT="67056" marB="67056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1176172"/>
                  </a:ext>
                </a:extLst>
              </a:tr>
            </a:tbl>
          </a:graphicData>
        </a:graphic>
      </p:graphicFrame>
      <p:sp>
        <p:nvSpPr>
          <p:cNvPr id="76" name="TextBox 75">
            <a:extLst>
              <a:ext uri="{FF2B5EF4-FFF2-40B4-BE49-F238E27FC236}">
                <a16:creationId xmlns:a16="http://schemas.microsoft.com/office/drawing/2014/main" id="{E972EA4E-F219-D24B-B41D-9ED89149BD47}"/>
              </a:ext>
            </a:extLst>
          </p:cNvPr>
          <p:cNvSpPr txBox="1"/>
          <p:nvPr/>
        </p:nvSpPr>
        <p:spPr>
          <a:xfrm>
            <a:off x="52080" y="1272697"/>
            <a:ext cx="684403" cy="369332"/>
          </a:xfrm>
          <a:prstGeom prst="rect">
            <a:avLst/>
          </a:prstGeom>
          <a:noFill/>
        </p:spPr>
        <p:txBody>
          <a:bodyPr wrap="square" lIns="48000" tIns="0" rIns="0" bIns="0" rtlCol="0">
            <a:spAutoFit/>
          </a:bodyPr>
          <a:lstStyle/>
          <a:p>
            <a:pPr defTabSz="914377"/>
            <a:r>
              <a:rPr lang="en-GB" sz="2400" b="1" dirty="0">
                <a:solidFill>
                  <a:srgbClr val="000000"/>
                </a:solidFill>
                <a:latin typeface="Calibri" panose="020F0502020204030204"/>
              </a:rPr>
              <a:t>Ex2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A948131-C908-7740-9A2E-AEB74ACC7E64}"/>
              </a:ext>
            </a:extLst>
          </p:cNvPr>
          <p:cNvSpPr txBox="1"/>
          <p:nvPr/>
        </p:nvSpPr>
        <p:spPr>
          <a:xfrm>
            <a:off x="614255" y="1270025"/>
            <a:ext cx="5310053" cy="738664"/>
          </a:xfrm>
          <a:prstGeom prst="rect">
            <a:avLst/>
          </a:prstGeom>
          <a:noFill/>
        </p:spPr>
        <p:txBody>
          <a:bodyPr wrap="square" lIns="48000" tIns="0" rIns="0" bIns="0" rtlCol="0" anchor="t">
            <a:spAutoFit/>
          </a:bodyPr>
          <a:lstStyle/>
          <a:p>
            <a:pPr defTabSz="914377">
              <a:defRPr/>
            </a:pPr>
            <a:r>
              <a:rPr lang="en-GB" altLang="en-US" sz="2400" dirty="0">
                <a:solidFill>
                  <a:srgbClr val="000000"/>
                </a:solidFill>
                <a:latin typeface="Calibri" panose="020F0502020204030204"/>
              </a:rPr>
              <a:t>The graph shows a cyclist’s journey, from home, to a café and back.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3A100F80-352F-C74D-825C-8DBE01CB7184}"/>
              </a:ext>
            </a:extLst>
          </p:cNvPr>
          <p:cNvSpPr/>
          <p:nvPr/>
        </p:nvSpPr>
        <p:spPr>
          <a:xfrm rot="16200000">
            <a:off x="-122639" y="1935492"/>
            <a:ext cx="854360" cy="269731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14377"/>
            <a:r>
              <a:rPr lang="en-GB" dirty="0">
                <a:solidFill>
                  <a:srgbClr val="000000"/>
                </a:solidFill>
                <a:latin typeface="Calibri" panose="020F0502020204030204"/>
              </a:rPr>
              <a:t>Solution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F4DD5F-3081-2845-B90C-750398DE9EC5}"/>
              </a:ext>
            </a:extLst>
          </p:cNvPr>
          <p:cNvSpPr txBox="1"/>
          <p:nvPr/>
        </p:nvSpPr>
        <p:spPr>
          <a:xfrm rot="16200000">
            <a:off x="4816385" y="3194033"/>
            <a:ext cx="3766644" cy="32823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 defTabSz="914377">
              <a:defRPr/>
            </a:pPr>
            <a:r>
              <a:rPr lang="en-GB" altLang="en-US" sz="2133" b="1" dirty="0">
                <a:solidFill>
                  <a:srgbClr val="000000"/>
                </a:solidFill>
                <a:latin typeface="Calibri" panose="020F0502020204030204"/>
              </a:rPr>
              <a:t>Distance from home </a:t>
            </a:r>
            <a:r>
              <a:rPr lang="en-GB" altLang="en-US" sz="2133" dirty="0">
                <a:solidFill>
                  <a:srgbClr val="000000"/>
                </a:solidFill>
                <a:latin typeface="Calibri" panose="020F0502020204030204"/>
              </a:rPr>
              <a:t>(miles)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A1E90D-A02F-FA45-A603-263296215657}"/>
              </a:ext>
            </a:extLst>
          </p:cNvPr>
          <p:cNvSpPr txBox="1"/>
          <p:nvPr/>
        </p:nvSpPr>
        <p:spPr>
          <a:xfrm>
            <a:off x="8712555" y="5433449"/>
            <a:ext cx="1682039" cy="32823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 defTabSz="914377">
              <a:defRPr/>
            </a:pPr>
            <a:r>
              <a:rPr lang="en-GB" altLang="en-US" sz="2133" b="1" dirty="0">
                <a:solidFill>
                  <a:srgbClr val="000000"/>
                </a:solidFill>
                <a:latin typeface="Calibri" panose="020F0502020204030204"/>
              </a:rPr>
              <a:t>Time </a:t>
            </a:r>
            <a:r>
              <a:rPr lang="en-GB" altLang="en-US" sz="2133" dirty="0">
                <a:solidFill>
                  <a:srgbClr val="000000"/>
                </a:solidFill>
                <a:latin typeface="Calibri" panose="020F0502020204030204"/>
              </a:rPr>
              <a:t>(hours)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7F4FF5-E61E-DB46-BF42-063740EC935B}"/>
              </a:ext>
            </a:extLst>
          </p:cNvPr>
          <p:cNvSpPr txBox="1"/>
          <p:nvPr/>
        </p:nvSpPr>
        <p:spPr>
          <a:xfrm>
            <a:off x="7167066" y="5167467"/>
            <a:ext cx="462713" cy="32823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 defTabSz="914377">
              <a:defRPr/>
            </a:pPr>
            <a:r>
              <a:rPr lang="en-GB" altLang="en-US" sz="2133" dirty="0">
                <a:solidFill>
                  <a:srgbClr val="000000"/>
                </a:solidFill>
                <a:latin typeface="Calibri" panose="020F0502020204030204"/>
              </a:rPr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822E97-89C2-EA4D-92FF-0575FC253999}"/>
              </a:ext>
            </a:extLst>
          </p:cNvPr>
          <p:cNvSpPr txBox="1"/>
          <p:nvPr/>
        </p:nvSpPr>
        <p:spPr>
          <a:xfrm>
            <a:off x="7787737" y="5167467"/>
            <a:ext cx="462713" cy="32823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 defTabSz="914377">
              <a:defRPr/>
            </a:pPr>
            <a:r>
              <a:rPr lang="en-GB" altLang="en-US" sz="2133" dirty="0">
                <a:solidFill>
                  <a:srgbClr val="000000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4CD675-D7C2-E446-A18A-5B0F53F2E067}"/>
              </a:ext>
            </a:extLst>
          </p:cNvPr>
          <p:cNvSpPr txBox="1"/>
          <p:nvPr/>
        </p:nvSpPr>
        <p:spPr>
          <a:xfrm>
            <a:off x="8402674" y="5167467"/>
            <a:ext cx="462713" cy="32823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 defTabSz="914377">
              <a:defRPr/>
            </a:pPr>
            <a:r>
              <a:rPr lang="en-GB" altLang="en-US" sz="2133" dirty="0">
                <a:solidFill>
                  <a:srgbClr val="000000"/>
                </a:solidFill>
                <a:latin typeface="Calibri" panose="020F0502020204030204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911FF9-2D44-1444-8157-5DCE74AF7B54}"/>
              </a:ext>
            </a:extLst>
          </p:cNvPr>
          <p:cNvSpPr txBox="1"/>
          <p:nvPr/>
        </p:nvSpPr>
        <p:spPr>
          <a:xfrm>
            <a:off x="9017613" y="5167467"/>
            <a:ext cx="462713" cy="32823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 defTabSz="914377">
              <a:defRPr/>
            </a:pPr>
            <a:r>
              <a:rPr lang="en-GB" altLang="en-US" sz="2133" dirty="0">
                <a:solidFill>
                  <a:srgbClr val="000000"/>
                </a:solidFill>
                <a:latin typeface="Calibri" panose="020F0502020204030204"/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0B27CD-485A-FE42-9124-BFD745E7ADD7}"/>
              </a:ext>
            </a:extLst>
          </p:cNvPr>
          <p:cNvSpPr txBox="1"/>
          <p:nvPr/>
        </p:nvSpPr>
        <p:spPr>
          <a:xfrm>
            <a:off x="9632552" y="5167467"/>
            <a:ext cx="462713" cy="32823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 defTabSz="914377">
              <a:defRPr/>
            </a:pPr>
            <a:r>
              <a:rPr lang="en-GB" altLang="en-US" sz="2133" dirty="0">
                <a:solidFill>
                  <a:srgbClr val="000000"/>
                </a:solidFill>
                <a:latin typeface="Calibri" panose="020F0502020204030204"/>
              </a:rPr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015FDB-4D5C-2A4F-ADE3-16D8EFA3F819}"/>
              </a:ext>
            </a:extLst>
          </p:cNvPr>
          <p:cNvSpPr txBox="1"/>
          <p:nvPr/>
        </p:nvSpPr>
        <p:spPr>
          <a:xfrm>
            <a:off x="10247490" y="5167467"/>
            <a:ext cx="462713" cy="32823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 defTabSz="914377">
              <a:defRPr/>
            </a:pPr>
            <a:r>
              <a:rPr lang="en-GB" altLang="en-US" sz="2133" dirty="0">
                <a:solidFill>
                  <a:srgbClr val="000000"/>
                </a:solidFill>
                <a:latin typeface="Calibri" panose="020F0502020204030204"/>
              </a:rPr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E8BCF9-BA69-1D4A-B4D2-BE9770898135}"/>
              </a:ext>
            </a:extLst>
          </p:cNvPr>
          <p:cNvSpPr txBox="1"/>
          <p:nvPr/>
        </p:nvSpPr>
        <p:spPr>
          <a:xfrm>
            <a:off x="10862428" y="5167467"/>
            <a:ext cx="462713" cy="32823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 defTabSz="914377">
              <a:defRPr/>
            </a:pPr>
            <a:r>
              <a:rPr lang="en-GB" altLang="en-US" sz="2133" dirty="0">
                <a:solidFill>
                  <a:srgbClr val="000000"/>
                </a:solidFill>
                <a:latin typeface="Calibri" panose="020F0502020204030204"/>
              </a:rPr>
              <a:t>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0E5BA3-D3D5-824E-9075-31A729AB336E}"/>
              </a:ext>
            </a:extLst>
          </p:cNvPr>
          <p:cNvSpPr txBox="1"/>
          <p:nvPr/>
        </p:nvSpPr>
        <p:spPr>
          <a:xfrm>
            <a:off x="6723049" y="4944555"/>
            <a:ext cx="531860" cy="32823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r" defTabSz="914377">
              <a:defRPr/>
            </a:pPr>
            <a:r>
              <a:rPr lang="en-GB" altLang="en-US" sz="2133" dirty="0">
                <a:solidFill>
                  <a:srgbClr val="000000"/>
                </a:solidFill>
                <a:latin typeface="Calibri" panose="020F0502020204030204"/>
              </a:rPr>
              <a:t>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1FEA400-3B93-304A-9659-99722E920389}"/>
              </a:ext>
            </a:extLst>
          </p:cNvPr>
          <p:cNvSpPr txBox="1"/>
          <p:nvPr/>
        </p:nvSpPr>
        <p:spPr>
          <a:xfrm>
            <a:off x="6723049" y="4075063"/>
            <a:ext cx="531860" cy="32823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r" defTabSz="914377">
              <a:defRPr/>
            </a:pPr>
            <a:r>
              <a:rPr lang="en-GB" altLang="en-US" sz="2133" dirty="0">
                <a:solidFill>
                  <a:srgbClr val="000000"/>
                </a:solidFill>
                <a:latin typeface="Calibri" panose="020F0502020204030204"/>
              </a:rPr>
              <a:t>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55B945D-20FD-A947-9F62-43A56955025A}"/>
              </a:ext>
            </a:extLst>
          </p:cNvPr>
          <p:cNvSpPr txBox="1"/>
          <p:nvPr/>
        </p:nvSpPr>
        <p:spPr>
          <a:xfrm>
            <a:off x="6723049" y="3200493"/>
            <a:ext cx="531860" cy="32823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r" defTabSz="914377">
              <a:defRPr/>
            </a:pPr>
            <a:r>
              <a:rPr lang="en-GB" altLang="en-US" sz="2133" dirty="0">
                <a:solidFill>
                  <a:srgbClr val="000000"/>
                </a:solidFill>
                <a:latin typeface="Calibri" panose="020F0502020204030204"/>
              </a:rPr>
              <a:t>20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0CCB209-0ED4-754A-BACA-2E3834CFE45B}"/>
              </a:ext>
            </a:extLst>
          </p:cNvPr>
          <p:cNvSpPr txBox="1"/>
          <p:nvPr/>
        </p:nvSpPr>
        <p:spPr>
          <a:xfrm>
            <a:off x="6723049" y="2325921"/>
            <a:ext cx="531860" cy="32823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r" defTabSz="914377">
              <a:defRPr/>
            </a:pPr>
            <a:r>
              <a:rPr lang="en-GB" altLang="en-US" sz="2133" dirty="0">
                <a:solidFill>
                  <a:srgbClr val="000000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CA66CBD-0AC9-8848-B9FD-C64B28B15700}"/>
              </a:ext>
            </a:extLst>
          </p:cNvPr>
          <p:cNvSpPr txBox="1"/>
          <p:nvPr/>
        </p:nvSpPr>
        <p:spPr>
          <a:xfrm>
            <a:off x="6723049" y="1451349"/>
            <a:ext cx="531860" cy="32823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r" defTabSz="914377">
              <a:defRPr/>
            </a:pPr>
            <a:r>
              <a:rPr lang="en-GB" altLang="en-US" sz="2133" dirty="0">
                <a:solidFill>
                  <a:srgbClr val="000000"/>
                </a:solidFill>
                <a:latin typeface="Calibri" panose="020F0502020204030204"/>
              </a:rPr>
              <a:t>40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4FD576-EEED-0E4C-BB8F-5523C5819A88}"/>
              </a:ext>
            </a:extLst>
          </p:cNvPr>
          <p:cNvCxnSpPr>
            <a:cxnSpLocks/>
          </p:cNvCxnSpPr>
          <p:nvPr/>
        </p:nvCxnSpPr>
        <p:spPr>
          <a:xfrm flipV="1">
            <a:off x="7350235" y="3814629"/>
            <a:ext cx="924019" cy="1304744"/>
          </a:xfrm>
          <a:prstGeom prst="line">
            <a:avLst/>
          </a:prstGeom>
          <a:ln w="28575" cap="rnd">
            <a:solidFill>
              <a:schemeClr val="tx2">
                <a:lumMod val="50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60F6BFE-F098-8E45-B814-1B9AD8CCFB42}"/>
              </a:ext>
            </a:extLst>
          </p:cNvPr>
          <p:cNvCxnSpPr>
            <a:cxnSpLocks/>
          </p:cNvCxnSpPr>
          <p:nvPr/>
        </p:nvCxnSpPr>
        <p:spPr>
          <a:xfrm>
            <a:off x="8283231" y="3814629"/>
            <a:ext cx="286791" cy="0"/>
          </a:xfrm>
          <a:prstGeom prst="line">
            <a:avLst/>
          </a:prstGeom>
          <a:ln w="28575" cap="rnd">
            <a:solidFill>
              <a:schemeClr val="tx2">
                <a:lumMod val="50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56D1D5FE-E783-5C4F-9233-F22EF37A952C}"/>
              </a:ext>
            </a:extLst>
          </p:cNvPr>
          <p:cNvSpPr txBox="1"/>
          <p:nvPr/>
        </p:nvSpPr>
        <p:spPr>
          <a:xfrm>
            <a:off x="11477372" y="5167467"/>
            <a:ext cx="462713" cy="32823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 defTabSz="914377">
              <a:defRPr/>
            </a:pPr>
            <a:r>
              <a:rPr lang="en-GB" altLang="en-US" sz="2133" dirty="0">
                <a:solidFill>
                  <a:srgbClr val="000000"/>
                </a:solidFill>
                <a:latin typeface="Calibri" panose="020F0502020204030204"/>
              </a:rPr>
              <a:t>7</a:t>
            </a:r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D4544E3B-4B6C-0342-9B1B-F68EBC248BC9}"/>
              </a:ext>
            </a:extLst>
          </p:cNvPr>
          <p:cNvCxnSpPr>
            <a:cxnSpLocks/>
          </p:cNvCxnSpPr>
          <p:nvPr/>
        </p:nvCxnSpPr>
        <p:spPr>
          <a:xfrm>
            <a:off x="9174701" y="1639357"/>
            <a:ext cx="611249" cy="1"/>
          </a:xfrm>
          <a:prstGeom prst="line">
            <a:avLst/>
          </a:prstGeom>
          <a:ln w="28575" cap="rnd">
            <a:solidFill>
              <a:schemeClr val="tx2">
                <a:lumMod val="50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B1FA164-BC5B-3D4A-9428-C21FDA92534C}"/>
              </a:ext>
            </a:extLst>
          </p:cNvPr>
          <p:cNvCxnSpPr>
            <a:cxnSpLocks/>
          </p:cNvCxnSpPr>
          <p:nvPr/>
        </p:nvCxnSpPr>
        <p:spPr>
          <a:xfrm>
            <a:off x="9797070" y="1646530"/>
            <a:ext cx="1246751" cy="3472843"/>
          </a:xfrm>
          <a:prstGeom prst="line">
            <a:avLst/>
          </a:prstGeom>
          <a:ln w="28575" cap="rnd">
            <a:solidFill>
              <a:schemeClr val="tx2">
                <a:lumMod val="50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46C4101-4B09-AF4E-BB74-1A807E6C0A8A}"/>
              </a:ext>
            </a:extLst>
          </p:cNvPr>
          <p:cNvCxnSpPr>
            <a:cxnSpLocks/>
          </p:cNvCxnSpPr>
          <p:nvPr/>
        </p:nvCxnSpPr>
        <p:spPr>
          <a:xfrm flipV="1">
            <a:off x="8574842" y="1646530"/>
            <a:ext cx="599859" cy="2161883"/>
          </a:xfrm>
          <a:prstGeom prst="line">
            <a:avLst/>
          </a:prstGeom>
          <a:ln w="28575" cap="rnd">
            <a:solidFill>
              <a:schemeClr val="tx2">
                <a:lumMod val="50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14A813FE-9A94-B53F-B35F-7DFC6C105EC6}"/>
              </a:ext>
            </a:extLst>
          </p:cNvPr>
          <p:cNvSpPr txBox="1"/>
          <p:nvPr/>
        </p:nvSpPr>
        <p:spPr>
          <a:xfrm>
            <a:off x="923348" y="2150466"/>
            <a:ext cx="3620953" cy="3540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189" indent="-457189" defTabSz="914377">
              <a:buFontTx/>
              <a:buAutoNum type="alphaLcParenR"/>
            </a:pPr>
            <a:r>
              <a:rPr lang="en-US" sz="1867" b="1" dirty="0">
                <a:solidFill>
                  <a:srgbClr val="000000"/>
                </a:solidFill>
                <a:latin typeface="Calibri" panose="020F0502020204030204"/>
              </a:rPr>
              <a:t>How long was the cyclist’s journey in total? </a:t>
            </a:r>
          </a:p>
          <a:p>
            <a:pPr marL="457189" indent="-457189" defTabSz="914377">
              <a:buFontTx/>
              <a:buAutoNum type="alphaLcParenR"/>
            </a:pPr>
            <a:endParaRPr lang="en-US" sz="1867" b="1" dirty="0">
              <a:solidFill>
                <a:srgbClr val="000000"/>
              </a:solidFill>
              <a:latin typeface="Calibri" panose="020F0502020204030204"/>
            </a:endParaRPr>
          </a:p>
          <a:p>
            <a:pPr marL="457189" indent="-457189" defTabSz="914377">
              <a:buFontTx/>
              <a:buAutoNum type="alphaLcParenR"/>
            </a:pPr>
            <a:endParaRPr lang="en-US" sz="1867" b="1" dirty="0">
              <a:solidFill>
                <a:srgbClr val="000000"/>
              </a:solidFill>
              <a:latin typeface="Calibri" panose="020F0502020204030204"/>
            </a:endParaRPr>
          </a:p>
          <a:p>
            <a:pPr marL="457189" indent="-457189" defTabSz="914377">
              <a:buFontTx/>
              <a:buAutoNum type="alphaLcParenR"/>
            </a:pPr>
            <a:r>
              <a:rPr lang="en-US" sz="1867" b="1" dirty="0">
                <a:solidFill>
                  <a:srgbClr val="000000"/>
                </a:solidFill>
                <a:latin typeface="Calibri" panose="020F0502020204030204"/>
              </a:rPr>
              <a:t>Explain what the horizontal line indicates. </a:t>
            </a:r>
          </a:p>
          <a:p>
            <a:pPr marL="457189" indent="-457189" defTabSz="914377">
              <a:buFontTx/>
              <a:buAutoNum type="alphaLcParenR"/>
            </a:pPr>
            <a:endParaRPr lang="en-US" sz="1867" b="1" dirty="0">
              <a:solidFill>
                <a:srgbClr val="000000"/>
              </a:solidFill>
              <a:latin typeface="Calibri" panose="020F0502020204030204"/>
            </a:endParaRPr>
          </a:p>
          <a:p>
            <a:pPr marL="457189" indent="-457189" defTabSz="914377">
              <a:buFontTx/>
              <a:buAutoNum type="alphaLcParenR"/>
            </a:pPr>
            <a:endParaRPr lang="en-US" sz="1867" b="1" dirty="0">
              <a:solidFill>
                <a:srgbClr val="000000"/>
              </a:solidFill>
              <a:latin typeface="Calibri" panose="020F0502020204030204"/>
            </a:endParaRPr>
          </a:p>
          <a:p>
            <a:pPr marL="457189" indent="-457189" defTabSz="914377">
              <a:buFontTx/>
              <a:buAutoNum type="alphaLcParenR"/>
            </a:pPr>
            <a:r>
              <a:rPr lang="en-US" sz="1867" b="1" dirty="0">
                <a:solidFill>
                  <a:srgbClr val="000000"/>
                </a:solidFill>
                <a:latin typeface="Calibri" panose="020F0502020204030204"/>
              </a:rPr>
              <a:t>What was the cyclists speed in miles per hour when he was heading home? </a:t>
            </a:r>
          </a:p>
          <a:p>
            <a:pPr marL="457189" indent="-457189" defTabSz="914377">
              <a:buFontTx/>
              <a:buAutoNum type="alphaLcParenR"/>
            </a:pPr>
            <a:endParaRPr lang="en-AU" sz="1867" b="1" dirty="0">
              <a:solidFill>
                <a:srgbClr val="000000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912162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E0362-E9D4-4E15-91D7-4375B6C92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What is the angle? </a:t>
            </a:r>
            <a:endParaRPr lang="en-AU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190DD07-0962-44E5-95AD-A2D296FD5107}"/>
              </a:ext>
            </a:extLst>
          </p:cNvPr>
          <p:cNvCxnSpPr/>
          <p:nvPr/>
        </p:nvCxnSpPr>
        <p:spPr>
          <a:xfrm>
            <a:off x="838200" y="3630967"/>
            <a:ext cx="346229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F7EFBDD-B2FD-475E-8E79-B657E2E2F697}"/>
              </a:ext>
            </a:extLst>
          </p:cNvPr>
          <p:cNvCxnSpPr/>
          <p:nvPr/>
        </p:nvCxnSpPr>
        <p:spPr>
          <a:xfrm flipV="1">
            <a:off x="2249750" y="2052961"/>
            <a:ext cx="1269507" cy="1578006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39C6126-F651-46AE-93F9-66A62885E3D3}"/>
              </a:ext>
            </a:extLst>
          </p:cNvPr>
          <p:cNvCxnSpPr>
            <a:cxnSpLocks/>
          </p:cNvCxnSpPr>
          <p:nvPr/>
        </p:nvCxnSpPr>
        <p:spPr>
          <a:xfrm>
            <a:off x="7954393" y="1890944"/>
            <a:ext cx="3124940" cy="1606858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D9255E-808E-42AF-BB9D-AEA39C381A2D}"/>
              </a:ext>
            </a:extLst>
          </p:cNvPr>
          <p:cNvCxnSpPr>
            <a:cxnSpLocks/>
          </p:cNvCxnSpPr>
          <p:nvPr/>
        </p:nvCxnSpPr>
        <p:spPr>
          <a:xfrm flipV="1">
            <a:off x="7617041" y="1953088"/>
            <a:ext cx="2823099" cy="1606858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E3C75E8-6DDE-4D40-881F-023E1516CDE2}"/>
              </a:ext>
            </a:extLst>
          </p:cNvPr>
          <p:cNvCxnSpPr/>
          <p:nvPr/>
        </p:nvCxnSpPr>
        <p:spPr>
          <a:xfrm>
            <a:off x="1615736" y="5930283"/>
            <a:ext cx="4367814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636DAD9-3F29-431D-A5CD-091D036FC543}"/>
              </a:ext>
            </a:extLst>
          </p:cNvPr>
          <p:cNvCxnSpPr/>
          <p:nvPr/>
        </p:nvCxnSpPr>
        <p:spPr>
          <a:xfrm>
            <a:off x="1537317" y="5035118"/>
            <a:ext cx="4367814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51793E9-E501-4A92-BD76-EEE4DEE2C07A}"/>
              </a:ext>
            </a:extLst>
          </p:cNvPr>
          <p:cNvCxnSpPr>
            <a:cxnSpLocks/>
          </p:cNvCxnSpPr>
          <p:nvPr/>
        </p:nvCxnSpPr>
        <p:spPr>
          <a:xfrm flipV="1">
            <a:off x="2512381" y="4492101"/>
            <a:ext cx="1788111" cy="200077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B8DBEBF-EF60-4139-8E38-E45315431695}"/>
                  </a:ext>
                </a:extLst>
              </p:cNvPr>
              <p:cNvSpPr txBox="1"/>
              <p:nvPr/>
            </p:nvSpPr>
            <p:spPr>
              <a:xfrm>
                <a:off x="8189650" y="2438177"/>
                <a:ext cx="11452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65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°</m:t>
                      </m:r>
                    </m:oMath>
                  </m:oMathPara>
                </a14:m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B8DBEBF-EF60-4139-8E38-E453154316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9650" y="2438177"/>
                <a:ext cx="1145219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0ED0F35-FC16-49EF-9357-4FC05C270295}"/>
                  </a:ext>
                </a:extLst>
              </p:cNvPr>
              <p:cNvSpPr txBox="1"/>
              <p:nvPr/>
            </p:nvSpPr>
            <p:spPr>
              <a:xfrm>
                <a:off x="2374038" y="3227605"/>
                <a:ext cx="11452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50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°</m:t>
                      </m:r>
                    </m:oMath>
                  </m:oMathPara>
                </a14:m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0ED0F35-FC16-49EF-9357-4FC05C2702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4038" y="3227605"/>
                <a:ext cx="1145219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5F08F37-9E33-445F-B5A1-97A44C1E049A}"/>
                  </a:ext>
                </a:extLst>
              </p:cNvPr>
              <p:cNvSpPr txBox="1"/>
              <p:nvPr/>
            </p:nvSpPr>
            <p:spPr>
              <a:xfrm>
                <a:off x="2833826" y="5035117"/>
                <a:ext cx="11452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42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°</m:t>
                      </m:r>
                    </m:oMath>
                  </m:oMathPara>
                </a14:m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5F08F37-9E33-445F-B5A1-97A44C1E04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3826" y="5035117"/>
                <a:ext cx="114521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06E927C6-5848-451C-B77F-892B1B43A034}"/>
              </a:ext>
            </a:extLst>
          </p:cNvPr>
          <p:cNvSpPr txBox="1"/>
          <p:nvPr/>
        </p:nvSpPr>
        <p:spPr>
          <a:xfrm>
            <a:off x="1939771" y="3193575"/>
            <a:ext cx="1145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A64CCF4-9C52-4EFB-9816-31D5D6E9C2B5}"/>
              </a:ext>
            </a:extLst>
          </p:cNvPr>
          <p:cNvSpPr txBox="1"/>
          <p:nvPr/>
        </p:nvSpPr>
        <p:spPr>
          <a:xfrm>
            <a:off x="9621174" y="2400502"/>
            <a:ext cx="1145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3F66E2C-19E4-4C42-865F-C7425173944D}"/>
              </a:ext>
            </a:extLst>
          </p:cNvPr>
          <p:cNvSpPr txBox="1"/>
          <p:nvPr/>
        </p:nvSpPr>
        <p:spPr>
          <a:xfrm>
            <a:off x="3384983" y="5571246"/>
            <a:ext cx="1145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99A502A-6769-451A-A904-231872C2C8B4}"/>
              </a:ext>
            </a:extLst>
          </p:cNvPr>
          <p:cNvSpPr txBox="1"/>
          <p:nvPr/>
        </p:nvSpPr>
        <p:spPr>
          <a:xfrm>
            <a:off x="3732321" y="5035117"/>
            <a:ext cx="1145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CD34788-5E14-FAD0-EEC8-BFF3267CCE67}"/>
              </a:ext>
            </a:extLst>
          </p:cNvPr>
          <p:cNvCxnSpPr/>
          <p:nvPr/>
        </p:nvCxnSpPr>
        <p:spPr>
          <a:xfrm>
            <a:off x="7883371" y="4572000"/>
            <a:ext cx="2692893" cy="355107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5A9933F-C350-AE9A-9588-039AA11C13C8}"/>
              </a:ext>
            </a:extLst>
          </p:cNvPr>
          <p:cNvCxnSpPr/>
          <p:nvPr/>
        </p:nvCxnSpPr>
        <p:spPr>
          <a:xfrm>
            <a:off x="7891510" y="4580878"/>
            <a:ext cx="409111" cy="144706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393289F-73AA-16C6-605D-E79B2A49B890}"/>
              </a:ext>
            </a:extLst>
          </p:cNvPr>
          <p:cNvCxnSpPr/>
          <p:nvPr/>
        </p:nvCxnSpPr>
        <p:spPr>
          <a:xfrm>
            <a:off x="8327254" y="6027937"/>
            <a:ext cx="1686758" cy="464938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C94D904-05F0-C980-34FC-6E1276F1B451}"/>
              </a:ext>
            </a:extLst>
          </p:cNvPr>
          <p:cNvCxnSpPr/>
          <p:nvPr/>
        </p:nvCxnSpPr>
        <p:spPr>
          <a:xfrm flipV="1">
            <a:off x="10014012" y="4927107"/>
            <a:ext cx="562252" cy="1565768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91B4BE3-A0B6-4732-5BDF-3791BBD48756}"/>
                  </a:ext>
                </a:extLst>
              </p:cNvPr>
              <p:cNvSpPr txBox="1"/>
              <p:nvPr/>
            </p:nvSpPr>
            <p:spPr>
              <a:xfrm>
                <a:off x="9621173" y="4947599"/>
                <a:ext cx="11452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70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°</m:t>
                      </m:r>
                    </m:oMath>
                  </m:oMathPara>
                </a14:m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91B4BE3-A0B6-4732-5BDF-3791BBD487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1173" y="4947599"/>
                <a:ext cx="114521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E06D1BA-F902-2655-21DB-8E62E8976380}"/>
                  </a:ext>
                </a:extLst>
              </p:cNvPr>
              <p:cNvSpPr txBox="1"/>
              <p:nvPr/>
            </p:nvSpPr>
            <p:spPr>
              <a:xfrm>
                <a:off x="7960311" y="4634144"/>
                <a:ext cx="11452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Cambria Math" panose="02040503050406030204" pitchFamily="18" charset="0"/>
                    <a:cs typeface="+mn-cs"/>
                  </a:rPr>
                  <a:t>50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°</m:t>
                    </m:r>
                  </m:oMath>
                </a14:m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E06D1BA-F902-2655-21DB-8E62E89763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0311" y="4634144"/>
                <a:ext cx="1145219" cy="369332"/>
              </a:xfrm>
              <a:prstGeom prst="rect">
                <a:avLst/>
              </a:prstGeom>
              <a:blipFill>
                <a:blip r:embed="rId6"/>
                <a:stretch>
                  <a:fillRect l="-4787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4E08C78-4849-9951-BC99-3BA92E47DF97}"/>
                  </a:ext>
                </a:extLst>
              </p:cNvPr>
              <p:cNvSpPr txBox="1"/>
              <p:nvPr/>
            </p:nvSpPr>
            <p:spPr>
              <a:xfrm>
                <a:off x="9270510" y="6039662"/>
                <a:ext cx="11452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90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°</m:t>
                      </m:r>
                    </m:oMath>
                  </m:oMathPara>
                </a14:m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4E08C78-4849-9951-BC99-3BA92E47DF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0510" y="6039662"/>
                <a:ext cx="114521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B57BAA3-25F7-EBE4-6E0B-75A56594256E}"/>
                  </a:ext>
                </a:extLst>
              </p:cNvPr>
              <p:cNvSpPr txBox="1"/>
              <p:nvPr/>
            </p:nvSpPr>
            <p:spPr>
              <a:xfrm>
                <a:off x="7854522" y="5667485"/>
                <a:ext cx="11452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E</m:t>
                      </m:r>
                    </m:oMath>
                  </m:oMathPara>
                </a14:m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B57BAA3-25F7-EBE4-6E0B-75A5659425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4522" y="5667485"/>
                <a:ext cx="1145219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itle 1">
            <a:extLst>
              <a:ext uri="{FF2B5EF4-FFF2-40B4-BE49-F238E27FC236}">
                <a16:creationId xmlns:a16="http://schemas.microsoft.com/office/drawing/2014/main" id="{BF037DEC-872F-EAB9-6031-E81B6FB3FED4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 Light" panose="020F0302020204030204"/>
                <a:ea typeface="+mj-ea"/>
                <a:cs typeface="+mj-cs"/>
              </a:rPr>
              <a:t>Whiteboards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</a:t>
            </a:r>
            <a:endParaRPr kumimoji="0" lang="en-AU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287265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0A1D211-09AB-159B-7EF4-5A0138AD8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 </a:t>
            </a:r>
            <a:endParaRPr lang="en-A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213F99-0FE0-9DFB-814F-088EB0334E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/>
              <a:t>You do</a:t>
            </a:r>
            <a:endParaRPr lang="en-AU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AC68E2-2252-E619-3067-EED1541C923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b="1" dirty="0"/>
              <a:t>2f – 9 = 15</a:t>
            </a:r>
          </a:p>
          <a:p>
            <a:pPr marL="0" indent="0" algn="ctr">
              <a:buNone/>
            </a:pPr>
            <a:endParaRPr lang="en-US" sz="3600" b="1" dirty="0"/>
          </a:p>
          <a:p>
            <a:pPr marL="0" indent="0" algn="ctr">
              <a:buNone/>
            </a:pPr>
            <a:r>
              <a:rPr lang="en-US" sz="3600" b="1" dirty="0"/>
              <a:t>3f + 11 = 26 </a:t>
            </a:r>
          </a:p>
          <a:p>
            <a:pPr marL="0" indent="0" algn="ctr">
              <a:buNone/>
            </a:pPr>
            <a:endParaRPr lang="en-US" sz="3600" b="1" dirty="0"/>
          </a:p>
          <a:p>
            <a:pPr marL="0" indent="0" algn="ctr">
              <a:buNone/>
            </a:pPr>
            <a:r>
              <a:rPr lang="en-AU" sz="3600" b="1" dirty="0"/>
              <a:t>5g – 7 = 15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76A749F-CD0F-A517-AD52-E8FD4DFB05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dirty="0"/>
              <a:t>You do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BBF0F26F-3FCD-8294-A473-4F28F719D7B7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/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3600" b="1" dirty="0"/>
                  <a:t>4x – 9 = 5 </a:t>
                </a:r>
              </a:p>
              <a:p>
                <a:pPr marL="0" indent="0" algn="ctr">
                  <a:buNone/>
                </a:pPr>
                <a:endParaRPr lang="en-US" sz="3600" b="1" dirty="0"/>
              </a:p>
              <a:p>
                <a:pPr marL="0" indent="0" algn="ctr">
                  <a:buNone/>
                </a:pPr>
                <a:r>
                  <a:rPr lang="en-US" sz="3600" b="1" dirty="0"/>
                  <a:t>22 – 5x = 15.5</a:t>
                </a:r>
              </a:p>
              <a:p>
                <a:pPr marL="0" indent="0" algn="ctr">
                  <a:buNone/>
                </a:pPr>
                <a:endParaRPr lang="en-US" sz="3600" b="1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6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600" b="1" i="1" smtClean="0"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AU" sz="3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3600" b="1" i="1" smtClean="0">
                          <a:latin typeface="Cambria Math" panose="02040503050406030204" pitchFamily="18" charset="0"/>
                        </a:rPr>
                        <m:t>𝟏𝟎𝟕</m:t>
                      </m:r>
                    </m:oMath>
                  </m:oMathPara>
                </a14:m>
                <a:endParaRPr lang="en-AU" sz="3600" b="1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BBF0F26F-3FCD-8294-A473-4F28F719D7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blipFill>
                <a:blip r:embed="rId2"/>
                <a:stretch>
                  <a:fillRect t="-413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4525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8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6AD35FB-B914-C762-D6A9-399CB2453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065" y="75876"/>
            <a:ext cx="10515600" cy="678215"/>
          </a:xfrm>
        </p:spPr>
        <p:txBody>
          <a:bodyPr>
            <a:normAutofit fontScale="90000"/>
          </a:bodyPr>
          <a:lstStyle/>
          <a:p>
            <a:r>
              <a:rPr lang="en-US" dirty="0"/>
              <a:t>What are the missing numbers? </a:t>
            </a:r>
            <a:endParaRPr lang="en-AU" dirty="0"/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5B5D8DA2-077A-967D-D267-6794599E97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6063006"/>
              </p:ext>
            </p:extLst>
          </p:nvPr>
        </p:nvGraphicFramePr>
        <p:xfrm>
          <a:off x="838200" y="895837"/>
          <a:ext cx="105156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143380304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88496254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413340075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99456148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19953346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5880964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x</a:t>
                      </a:r>
                      <a:endParaRPr lang="en-AU" sz="3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0</a:t>
                      </a:r>
                      <a:endParaRPr lang="en-AU" sz="3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1</a:t>
                      </a:r>
                      <a:endParaRPr lang="en-AU" sz="3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2</a:t>
                      </a:r>
                      <a:endParaRPr lang="en-AU" sz="3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3</a:t>
                      </a:r>
                      <a:endParaRPr lang="en-AU" sz="3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4</a:t>
                      </a:r>
                      <a:endParaRPr lang="en-AU" sz="3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9398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y</a:t>
                      </a:r>
                      <a:endParaRPr lang="en-AU" sz="3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highlight>
                            <a:srgbClr val="FFFF00"/>
                          </a:highlight>
                        </a:rPr>
                        <a:t>a</a:t>
                      </a:r>
                      <a:endParaRPr lang="en-AU" sz="3600" b="1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5</a:t>
                      </a:r>
                      <a:endParaRPr lang="en-AU" sz="3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7</a:t>
                      </a:r>
                      <a:endParaRPr lang="en-AU" sz="3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9</a:t>
                      </a:r>
                      <a:endParaRPr lang="en-AU" sz="3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highlight>
                            <a:srgbClr val="FFFF00"/>
                          </a:highlight>
                        </a:rPr>
                        <a:t>b</a:t>
                      </a:r>
                      <a:endParaRPr lang="en-AU" sz="3600" b="1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9186055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87B4C0F-971C-2786-6142-C6B6CD9FC8C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73699345"/>
              </p:ext>
            </p:extLst>
          </p:nvPr>
        </p:nvGraphicFramePr>
        <p:xfrm>
          <a:off x="838200" y="2636733"/>
          <a:ext cx="105156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143380304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88496254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413340075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99456148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19953346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5880964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x</a:t>
                      </a:r>
                      <a:endParaRPr lang="en-AU" sz="3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2</a:t>
                      </a:r>
                      <a:endParaRPr lang="en-AU" sz="3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3</a:t>
                      </a:r>
                      <a:endParaRPr lang="en-AU" sz="3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4</a:t>
                      </a:r>
                      <a:endParaRPr lang="en-AU" sz="3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5</a:t>
                      </a:r>
                      <a:endParaRPr lang="en-AU" sz="3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12</a:t>
                      </a:r>
                      <a:endParaRPr lang="en-AU" sz="3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9398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y</a:t>
                      </a:r>
                      <a:endParaRPr lang="en-AU" sz="3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4</a:t>
                      </a:r>
                      <a:endParaRPr lang="en-AU" sz="3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6</a:t>
                      </a:r>
                      <a:endParaRPr lang="en-AU" sz="3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8</a:t>
                      </a:r>
                      <a:endParaRPr lang="en-AU" sz="3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10</a:t>
                      </a:r>
                      <a:endParaRPr lang="en-AU" sz="3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highlight>
                            <a:srgbClr val="FFFF00"/>
                          </a:highlight>
                        </a:rPr>
                        <a:t>c</a:t>
                      </a:r>
                      <a:endParaRPr lang="en-AU" sz="3600" b="1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9186055"/>
                  </a:ext>
                </a:extLst>
              </a:tr>
            </a:tbl>
          </a:graphicData>
        </a:graphic>
      </p:graphicFrame>
      <p:graphicFrame>
        <p:nvGraphicFramePr>
          <p:cNvPr id="11" name="Table 9">
            <a:extLst>
              <a:ext uri="{FF2B5EF4-FFF2-40B4-BE49-F238E27FC236}">
                <a16:creationId xmlns:a16="http://schemas.microsoft.com/office/drawing/2014/main" id="{6D58C931-7600-FBA2-CD6C-DBDB8BA6011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27389030"/>
              </p:ext>
            </p:extLst>
          </p:nvPr>
        </p:nvGraphicFramePr>
        <p:xfrm>
          <a:off x="838200" y="4534500"/>
          <a:ext cx="105156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143380304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88496254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413340075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99456148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19953346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5880964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x</a:t>
                      </a:r>
                      <a:endParaRPr lang="en-AU" sz="3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0</a:t>
                      </a:r>
                      <a:endParaRPr lang="en-AU" sz="3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1</a:t>
                      </a:r>
                      <a:endParaRPr lang="en-AU" sz="3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2</a:t>
                      </a:r>
                      <a:endParaRPr lang="en-AU" sz="3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3</a:t>
                      </a:r>
                      <a:endParaRPr lang="en-AU" sz="3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20</a:t>
                      </a:r>
                      <a:endParaRPr lang="en-AU" sz="3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9398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y</a:t>
                      </a:r>
                      <a:endParaRPr lang="en-AU" sz="3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2</a:t>
                      </a:r>
                      <a:endParaRPr lang="en-AU" sz="3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5</a:t>
                      </a:r>
                      <a:endParaRPr lang="en-AU" sz="3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8</a:t>
                      </a:r>
                      <a:endParaRPr lang="en-AU" sz="3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11</a:t>
                      </a:r>
                      <a:endParaRPr lang="en-AU" sz="3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highlight>
                            <a:srgbClr val="FFFF00"/>
                          </a:highlight>
                        </a:rPr>
                        <a:t>d</a:t>
                      </a:r>
                      <a:endParaRPr lang="en-AU" sz="3600" b="1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91860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1995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5B441-0719-A7A3-86FB-4903D9EDA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Difficult… think about a pattern </a:t>
            </a:r>
            <a:endParaRPr lang="en-AU" dirty="0"/>
          </a:p>
        </p:txBody>
      </p:sp>
      <p:graphicFrame>
        <p:nvGraphicFramePr>
          <p:cNvPr id="4" name="Table 9">
            <a:extLst>
              <a:ext uri="{FF2B5EF4-FFF2-40B4-BE49-F238E27FC236}">
                <a16:creationId xmlns:a16="http://schemas.microsoft.com/office/drawing/2014/main" id="{1B08A58C-D2E7-A342-5E40-9B75DF1166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4683526"/>
              </p:ext>
            </p:extLst>
          </p:nvPr>
        </p:nvGraphicFramePr>
        <p:xfrm>
          <a:off x="926977" y="3032760"/>
          <a:ext cx="10515600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1433803041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88496254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413340075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994561485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199533469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58809644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92777881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754898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x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-2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-1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2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3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4</a:t>
                      </a:r>
                      <a:endParaRPr lang="en-AU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9398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y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918605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4052410-A402-E4F8-83CD-5E3649A365D8}"/>
              </a:ext>
            </a:extLst>
          </p:cNvPr>
          <p:cNvSpPr txBox="1"/>
          <p:nvPr/>
        </p:nvSpPr>
        <p:spPr>
          <a:xfrm>
            <a:off x="1127464" y="1899822"/>
            <a:ext cx="103779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The coordinates (1, 3) and (4, 15) belong to a set of values that will make a straight line when plotted. Complete the table below for this set of values</a:t>
            </a:r>
            <a:endParaRPr lang="en-AU" sz="2000" b="1" dirty="0"/>
          </a:p>
        </p:txBody>
      </p:sp>
    </p:spTree>
    <p:extLst>
      <p:ext uri="{BB962C8B-B14F-4D97-AF65-F5344CB8AC3E}">
        <p14:creationId xmlns:p14="http://schemas.microsoft.com/office/powerpoint/2010/main" val="4157264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5B441-0719-A7A3-86FB-4903D9EDA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Difficult… think about a pattern – you try </a:t>
            </a:r>
            <a:endParaRPr lang="en-AU" dirty="0"/>
          </a:p>
        </p:txBody>
      </p:sp>
      <p:graphicFrame>
        <p:nvGraphicFramePr>
          <p:cNvPr id="4" name="Table 9">
            <a:extLst>
              <a:ext uri="{FF2B5EF4-FFF2-40B4-BE49-F238E27FC236}">
                <a16:creationId xmlns:a16="http://schemas.microsoft.com/office/drawing/2014/main" id="{1B08A58C-D2E7-A342-5E40-9B75DF1166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9399836"/>
              </p:ext>
            </p:extLst>
          </p:nvPr>
        </p:nvGraphicFramePr>
        <p:xfrm>
          <a:off x="989860" y="3493951"/>
          <a:ext cx="10515600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1433803041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88496254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413340075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994561485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199533469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58809644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92777881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754898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x</a:t>
                      </a:r>
                      <a:endParaRPr lang="en-AU" sz="4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-2</a:t>
                      </a:r>
                      <a:endParaRPr lang="en-AU" sz="4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-1</a:t>
                      </a:r>
                      <a:endParaRPr lang="en-AU" sz="4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0</a:t>
                      </a:r>
                      <a:endParaRPr lang="en-AU" sz="4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1</a:t>
                      </a:r>
                      <a:endParaRPr lang="en-AU" sz="4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2</a:t>
                      </a:r>
                      <a:endParaRPr lang="en-AU" sz="4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3</a:t>
                      </a:r>
                      <a:endParaRPr lang="en-AU" sz="4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4</a:t>
                      </a:r>
                      <a:endParaRPr lang="en-AU" sz="4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9398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y</a:t>
                      </a:r>
                      <a:endParaRPr lang="en-AU" sz="4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4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4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4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4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4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4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4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918605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4052410-A402-E4F8-83CD-5E3649A365D8}"/>
              </a:ext>
            </a:extLst>
          </p:cNvPr>
          <p:cNvSpPr txBox="1"/>
          <p:nvPr/>
        </p:nvSpPr>
        <p:spPr>
          <a:xfrm>
            <a:off x="1127464" y="1899822"/>
            <a:ext cx="1037799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The coordinates (2, 6) and (4, 16) belong to a set of values that will make a straight line when plotted. Complete the table below for this set of values</a:t>
            </a:r>
            <a:endParaRPr lang="en-AU" sz="2800" b="1" dirty="0"/>
          </a:p>
        </p:txBody>
      </p:sp>
    </p:spTree>
    <p:extLst>
      <p:ext uri="{BB962C8B-B14F-4D97-AF65-F5344CB8AC3E}">
        <p14:creationId xmlns:p14="http://schemas.microsoft.com/office/powerpoint/2010/main" val="1750720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D5606-0CD6-9F5C-EDDD-14BF100A41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8724" y="295404"/>
            <a:ext cx="6219825" cy="642263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Match the table of values to the linear functions drawn (Shocking or </a:t>
            </a:r>
            <a:r>
              <a:rPr lang="en-US" dirty="0" err="1"/>
              <a:t>DownToEarth</a:t>
            </a:r>
            <a:r>
              <a:rPr lang="en-US" dirty="0"/>
              <a:t>).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Making a rule for both (can use table of values)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What is significant about hour 5 for these companies? 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316400-1A6A-B49B-FA7A-8C45D2D10C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55931"/>
            <a:ext cx="5038725" cy="6913932"/>
          </a:xfrm>
          <a:prstGeom prst="rect">
            <a:avLst/>
          </a:prstGeom>
        </p:spPr>
      </p:pic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44B16E78-B988-8120-4098-97D6937418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0403716"/>
              </p:ext>
            </p:extLst>
          </p:nvPr>
        </p:nvGraphicFramePr>
        <p:xfrm>
          <a:off x="5178487" y="1391469"/>
          <a:ext cx="4496320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264">
                  <a:extLst>
                    <a:ext uri="{9D8B030D-6E8A-4147-A177-3AD203B41FA5}">
                      <a16:colId xmlns:a16="http://schemas.microsoft.com/office/drawing/2014/main" val="61472551"/>
                    </a:ext>
                  </a:extLst>
                </a:gridCol>
                <a:gridCol w="899264">
                  <a:extLst>
                    <a:ext uri="{9D8B030D-6E8A-4147-A177-3AD203B41FA5}">
                      <a16:colId xmlns:a16="http://schemas.microsoft.com/office/drawing/2014/main" val="548434786"/>
                    </a:ext>
                  </a:extLst>
                </a:gridCol>
                <a:gridCol w="899264">
                  <a:extLst>
                    <a:ext uri="{9D8B030D-6E8A-4147-A177-3AD203B41FA5}">
                      <a16:colId xmlns:a16="http://schemas.microsoft.com/office/drawing/2014/main" val="2349019772"/>
                    </a:ext>
                  </a:extLst>
                </a:gridCol>
                <a:gridCol w="899264">
                  <a:extLst>
                    <a:ext uri="{9D8B030D-6E8A-4147-A177-3AD203B41FA5}">
                      <a16:colId xmlns:a16="http://schemas.microsoft.com/office/drawing/2014/main" val="4200084492"/>
                    </a:ext>
                  </a:extLst>
                </a:gridCol>
                <a:gridCol w="899264">
                  <a:extLst>
                    <a:ext uri="{9D8B030D-6E8A-4147-A177-3AD203B41FA5}">
                      <a16:colId xmlns:a16="http://schemas.microsoft.com/office/drawing/2014/main" val="2698471534"/>
                    </a:ext>
                  </a:extLst>
                </a:gridCol>
              </a:tblGrid>
              <a:tr h="377286">
                <a:tc>
                  <a:txBody>
                    <a:bodyPr/>
                    <a:lstStyle/>
                    <a:p>
                      <a:pPr algn="ctr"/>
                      <a:r>
                        <a:rPr lang="en-AU" sz="2000" b="1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b="1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000811"/>
                  </a:ext>
                </a:extLst>
              </a:tr>
              <a:tr h="377286">
                <a:tc>
                  <a:txBody>
                    <a:bodyPr/>
                    <a:lstStyle/>
                    <a:p>
                      <a:pPr algn="ctr"/>
                      <a:r>
                        <a:rPr lang="en-AU" sz="2000" b="1" dirty="0"/>
                        <a:t>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b="1" dirty="0"/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b="1" dirty="0"/>
                        <a:t>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b="1" dirty="0"/>
                        <a:t>330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260300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F48EAAD-BF75-D2D2-7605-9F5F1AB3CA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1305827"/>
              </p:ext>
            </p:extLst>
          </p:nvPr>
        </p:nvGraphicFramePr>
        <p:xfrm>
          <a:off x="5178487" y="2535284"/>
          <a:ext cx="4496320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264">
                  <a:extLst>
                    <a:ext uri="{9D8B030D-6E8A-4147-A177-3AD203B41FA5}">
                      <a16:colId xmlns:a16="http://schemas.microsoft.com/office/drawing/2014/main" val="61472551"/>
                    </a:ext>
                  </a:extLst>
                </a:gridCol>
                <a:gridCol w="899264">
                  <a:extLst>
                    <a:ext uri="{9D8B030D-6E8A-4147-A177-3AD203B41FA5}">
                      <a16:colId xmlns:a16="http://schemas.microsoft.com/office/drawing/2014/main" val="548434786"/>
                    </a:ext>
                  </a:extLst>
                </a:gridCol>
                <a:gridCol w="899264">
                  <a:extLst>
                    <a:ext uri="{9D8B030D-6E8A-4147-A177-3AD203B41FA5}">
                      <a16:colId xmlns:a16="http://schemas.microsoft.com/office/drawing/2014/main" val="2349019772"/>
                    </a:ext>
                  </a:extLst>
                </a:gridCol>
                <a:gridCol w="899264">
                  <a:extLst>
                    <a:ext uri="{9D8B030D-6E8A-4147-A177-3AD203B41FA5}">
                      <a16:colId xmlns:a16="http://schemas.microsoft.com/office/drawing/2014/main" val="4200084492"/>
                    </a:ext>
                  </a:extLst>
                </a:gridCol>
                <a:gridCol w="899264">
                  <a:extLst>
                    <a:ext uri="{9D8B030D-6E8A-4147-A177-3AD203B41FA5}">
                      <a16:colId xmlns:a16="http://schemas.microsoft.com/office/drawing/2014/main" val="2698471534"/>
                    </a:ext>
                  </a:extLst>
                </a:gridCol>
              </a:tblGrid>
              <a:tr h="377286">
                <a:tc>
                  <a:txBody>
                    <a:bodyPr/>
                    <a:lstStyle/>
                    <a:p>
                      <a:pPr algn="ctr"/>
                      <a:r>
                        <a:rPr lang="en-AU" sz="2000" b="1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b="1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000811"/>
                  </a:ext>
                </a:extLst>
              </a:tr>
              <a:tr h="377286">
                <a:tc>
                  <a:txBody>
                    <a:bodyPr/>
                    <a:lstStyle/>
                    <a:p>
                      <a:pPr algn="ctr"/>
                      <a:r>
                        <a:rPr lang="en-AU" sz="2000" b="1" dirty="0"/>
                        <a:t>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b="1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b="1" dirty="0"/>
                        <a:t>190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b="1" dirty="0"/>
                        <a:t>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b="1" dirty="0"/>
                        <a:t>370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260300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6C286CA-A0B7-F277-C424-849A1859A1FB}"/>
              </a:ext>
            </a:extLst>
          </p:cNvPr>
          <p:cNvSpPr txBox="1"/>
          <p:nvPr/>
        </p:nvSpPr>
        <p:spPr>
          <a:xfrm>
            <a:off x="9708436" y="1511560"/>
            <a:ext cx="2341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This is: ____________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584619-E83F-9CEB-0985-D09BA72759A5}"/>
              </a:ext>
            </a:extLst>
          </p:cNvPr>
          <p:cNvSpPr txBox="1"/>
          <p:nvPr/>
        </p:nvSpPr>
        <p:spPr>
          <a:xfrm>
            <a:off x="9674807" y="2791085"/>
            <a:ext cx="2341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This is: ____________</a:t>
            </a:r>
          </a:p>
        </p:txBody>
      </p:sp>
    </p:spTree>
    <p:extLst>
      <p:ext uri="{BB962C8B-B14F-4D97-AF65-F5344CB8AC3E}">
        <p14:creationId xmlns:p14="http://schemas.microsoft.com/office/powerpoint/2010/main" val="568187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4733E-2D32-37FF-2786-9D41F19ADB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Individual practice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CAB8C-35D7-1338-0E8E-2E4B6C9973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Complete the revision sheet today.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07988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412</Words>
  <Application>Microsoft Office PowerPoint</Application>
  <PresentationFormat>Widescreen</PresentationFormat>
  <Paragraphs>159</Paragraphs>
  <Slides>9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Wingdings</vt:lpstr>
      <vt:lpstr>Office Theme</vt:lpstr>
      <vt:lpstr>Lesson objective </vt:lpstr>
      <vt:lpstr>PowerPoint Presentation</vt:lpstr>
      <vt:lpstr>What is the angle? </vt:lpstr>
      <vt:lpstr>Whiteboards  </vt:lpstr>
      <vt:lpstr>What are the missing numbers? </vt:lpstr>
      <vt:lpstr>Difficult… think about a pattern </vt:lpstr>
      <vt:lpstr>Difficult… think about a pattern – you try </vt:lpstr>
      <vt:lpstr>PowerPoint Presentation</vt:lpstr>
      <vt:lpstr>Individual practice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</dc:title>
  <dc:creator>DAVIES Rhys [Busselton Senior High School]</dc:creator>
  <cp:lastModifiedBy>DAVIES Rhys [Busselton Senior High School]</cp:lastModifiedBy>
  <cp:revision>7</cp:revision>
  <cp:lastPrinted>2023-10-27T00:09:38Z</cp:lastPrinted>
  <dcterms:created xsi:type="dcterms:W3CDTF">2022-11-15T23:33:27Z</dcterms:created>
  <dcterms:modified xsi:type="dcterms:W3CDTF">2023-10-27T04:35:21Z</dcterms:modified>
</cp:coreProperties>
</file>
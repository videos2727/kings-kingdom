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2"/>
  </p:notesMasterIdLst>
  <p:sldIdLst>
    <p:sldId id="256" r:id="rId3"/>
    <p:sldId id="343" r:id="rId4"/>
    <p:sldId id="350" r:id="rId5"/>
    <p:sldId id="267" r:id="rId6"/>
    <p:sldId id="258" r:id="rId7"/>
    <p:sldId id="315" r:id="rId8"/>
    <p:sldId id="316" r:id="rId9"/>
    <p:sldId id="353" r:id="rId10"/>
    <p:sldId id="324" r:id="rId11"/>
    <p:sldId id="317" r:id="rId12"/>
    <p:sldId id="318" r:id="rId13"/>
    <p:sldId id="319" r:id="rId14"/>
    <p:sldId id="320" r:id="rId15"/>
    <p:sldId id="354" r:id="rId16"/>
    <p:sldId id="294" r:id="rId17"/>
    <p:sldId id="287" r:id="rId18"/>
    <p:sldId id="271" r:id="rId19"/>
    <p:sldId id="351" r:id="rId20"/>
    <p:sldId id="35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64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1-24T00:19:10.963"/>
    </inkml:context>
    <inkml:brush xml:id="br0">
      <inkml:brushProperty name="width" value="0.2" units="cm"/>
      <inkml:brushProperty name="height" value="0.2" units="cm"/>
      <inkml:brushProperty name="ignorePressure" value="1"/>
    </inkml:brush>
  </inkml:definitions>
  <inkml:trace contextRef="#ctx0" brushRef="#br0">119 100,'-1'-2,"1"1,-1-1,0 0,0 1,0-1,0 1,0-1,0 1,0-1,-1 1,1 0,-1-1,1 1,-1 0,1 0,-1 0,-2-1,-32-15,33 16,0 1,0-1,-1 0,1 1,0 0,-1 0,1 0,0 0,0 0,-1 1,1 0,-5 1,7-2,0 0,1 1,-1-1,0 0,1 1,-1-1,1 1,-1-1,0 1,1-1,-1 1,1-1,-1 1,1-1,0 1,-1 0,1-1,-1 1,1 0,0-1,0 1,-1 1,1-1,0 1,0-1,1 1,-1-1,0 0,1 1,-1-1,1 0,0 0,-1 1,1-1,0 0,-1 0,1 0,0 0,0 0,1 2,2 0,-1 0,1-1,-1 1,1 0,0-1,0 0,0 0,0 0,1 0,-1-1,0 0,1 0,-1 0,1 0,-1 0,8-1,-9 0,-1 0,0 0,1-1,-1 1,0 0,1-1,-1 0,0 1,0-1,1 0,-1 0,0 0,0 0,0-1,0 1,-1-1,1 1,0-1,0 1,-1-1,1 0,-1 0,0 0,1 0,-1 0,0 0,0 0,0 0,-1-1,1 1,0 0,0-5,-1 4,-1 0,1 1,-1-1,1 0,-1 0,0 1,0-1,0 0,0 1,0-1,-1 1,1-1,-1 1,0 0,0-1,0 1,0 0,0 0,0 0,0 1,-1-1,-2-1,2 0,-1 1,1 0,-1 0,0 0,1 1,-1-1,0 1,0 0,0 0,0 0,0 0,0 1,0 0,0 0,-5 0,7 1,0 0,0 0,0 0,0 0,1 0,-1 1,1-1,-1 0,1 1,-1-1,1 1,0 0,0-1,-1 1,1 0,0 0,1 0,-1 0,0 0,1 0,-1 0,1 0,-1 0,1 2,-3 16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1-24T00:19:19.071"/>
    </inkml:context>
    <inkml:brush xml:id="br0">
      <inkml:brushProperty name="width" value="0.2" units="cm"/>
      <inkml:brushProperty name="height" value="0.2" units="cm"/>
      <inkml:brushProperty name="ignorePressure" value="1"/>
    </inkml:brush>
  </inkml:definitions>
  <inkml:trace contextRef="#ctx0" brushRef="#br0">135 45,'-16'0,"12"-1,0 1,0-1,0 1,-1 0,1 0,0 1,0-1,0 1,0 0,0 0,0 1,0-1,0 1,-4 2,8-4,0 0,0 1,0-1,-1 0,1 0,0 1,0-1,0 0,0 1,0-1,0 0,0 0,0 1,0-1,0 0,1 1,-1-1,0 0,0 0,0 1,0-1,0 0,0 0,1 1,-1-1,0 0,0 0,0 1,1-1,-1 0,0 0,0 0,0 0,1 1,-1-1,0 0,1 0,-1 0,0 0,0 0,1 0,-1 0,0 0,1 0,-1 0,0 0,0 0,1 0,-1 0,1 0,16 4,-12-4,1 0,-1 0,0 0,0-1,0 0,0 0,0 0,7-3,-12 4,1-1,0 1,0-1,0 1,0-1,0 1,-1-1,1 1,0-1,0 0,-1 1,1-1,0 0,-1 0,1 1,-1-1,1 0,-1 0,1 0,-1-1,0 1,0 0,0 0,0-1,-1 1,1 0,0 0,-1 0,1 0,-1 0,1 0,-1 0,0 0,1 0,-1 0,0 0,0 0,0 1,1-1,-1 0,0 0,-2 0,-2-3,0 2,1-1,-1 0,0 1,0 0,0 0,-1 1,1-1,0 1,-1 0,1 1,-1-1,1 1,-11 1,14-1,0 0,0 1,0-1,0 1,0-1,0 1,0 0,1 0,-1 0,0 0,0 0,1 0,-1 0,0 0,1 1,-1-1,1 1,0-1,-1 1,1 0,0-1,0 1,0 0,0 0,1 0,-1 0,0 0,1 0,-1 0,1 0,0 0,-1 0,1 0,0 0,0 0,1 0,-1 0,0 0,1 0,-1 0,2 3,0 0,0 0,0-1,0 1,1 0,0-1,0 0,0 0,0 0,1 0,-1 0,1-1,0 1,0-1,1 0,-1 0,8 3,-9-5,-1 1,0-1,0 0,1 0,-1 0,1 0,-1-1,1 1,-1-1,1 1,-1-1,1 0,-1 0,1 0,0 0,-1 0,1-1,-1 1,1-1,-1 0,1 0,-1 0,0 0,1 0,-1 0,0-1,0 1,0-1,0 1,0-1,0 0,0 0,-1 0,3-3,-3 3,0 0,0 1,0-1,0 0,0 1,-1-1,1 0,-1 0,1 0,-1 0,0 0,0 1,0-1,0 0,0 0,0 0,0 0,-1 0,1 0,0 1,-1-1,0 0,0 0,1 1,-1-1,0 0,0 1,0-1,-1 1,1-1,0 1,0-1,-1 1,1 0,-1 0,1 0,-4-2,-11-4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1-24T00:19:26.913"/>
    </inkml:context>
    <inkml:brush xml:id="br0">
      <inkml:brushProperty name="width" value="0.2" units="cm"/>
      <inkml:brushProperty name="height" value="0.2" units="cm"/>
      <inkml:brushProperty name="ignorePressure" value="1"/>
    </inkml:brush>
  </inkml:definitions>
  <inkml:trace contextRef="#ctx0" brushRef="#br0">112 54,'0'-1,"0"0,-1 0,1 0,0 0,-1 0,1 0,-1 0,1 1,-1-1,0 0,1 0,-1 0,0 0,0 1,0-1,1 0,-1 1,0-1,0 1,0-1,0 1,0-1,0 1,0 0,0-1,0 1,-1 0,-34-7,27 6,19 2,-1-1,0 0,0 0,1-1,-1 0,0-1,0 0,9-4,-17 6,-1 0,0 0,0 0,0-1,0 1,0 0,1 0,-1 0,0-1,0 1,0 0,0 0,0-1,0 1,0 0,0 0,0-1,0 1,0 0,0 0,0-1,0 1,0 0,0 0,0 0,0-1,0 1,0 0,0 0,-1-1,1 1,0 0,0 0,0 0,0-1,0 1,-1 0,1 0,0 0,0 0,0 0,-1-1,1 1,0 0,0 0,0 0,-1 0,1 0,0 0,0 0,-1 0,1 0,0 0,0 0,-1 0,1 0,0 0,0 0,-1 0,1 0,-17-4,10 3,0 0,0 1,0 0,0 0,0 0,0 1,-11 2,15-2,1 0,-1 0,1 0,0 0,-1 1,1-1,0 1,0-1,0 1,0 0,0 0,0 0,1 0,-1 0,0 0,1 0,0 0,0 1,-1-1,1 1,1-1,-1 1,-1 3,0 4,1 0,0 0,0 0,1 0,0 0,2 11,-2-18,1 0,0 1,0-1,0 0,0 0,0 0,0 0,1 0,-1-1,4 5,-4-6,0 0,0 0,0 0,0 0,1 0,-1 0,0-1,1 1,-1 0,0-1,1 1,-1-1,1 1,-1-1,1 0,-1 0,1 1,-1-1,1 0,-1 0,1-1,-1 1,2 0,1-2,-1 1,1-1,-1 1,0-1,0 0,1 0,-1-1,-1 1,1-1,0 1,-1-1,4-5,0 1,0-1,-1 0,8-16,-11 22,-1 0,0 0,0-1,0 1,-1-1,1 1,-1-1,1 1,-1-1,0 1,0-1,0 1,0-1,0 1,0-1,-1 1,1-1,-1 1,0-1,0 1,0 0,-1-3,-9-7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1-24T00:19:35.096"/>
    </inkml:context>
    <inkml:brush xml:id="br0">
      <inkml:brushProperty name="width" value="0.2" units="cm"/>
      <inkml:brushProperty name="height" value="0.2" units="cm"/>
      <inkml:brushProperty name="ignorePressure" value="1"/>
    </inkml:brush>
  </inkml:definitions>
  <inkml:trace contextRef="#ctx0" brushRef="#br0">61 28,'-4'-1,"0"1,0 0,0 0,0 1,0-1,0 1,0 0,1 0,-1 0,0 0,-6 4,10-5,-1 1,1-1,0 0,0 0,0 1,0-1,0 0,0 1,0-1,0 0,0 1,0-1,0 0,0 1,0-1,1 0,-1 0,0 1,0-1,0 0,0 1,0-1,1 0,-1 0,0 0,0 1,0-1,1 0,-1 0,0 0,0 1,1-1,-1 0,0 0,1 0,-1 0,0 0,0 1,1-1,-1 0,0 0,1 0,-1 0,0 0,1 0,-1 0,1 0,16 3,37 0,-53-3,1 0,0 0,-1 0,1-1,0 1,0 0,-1 0,1-1,0 1,-1-1,1 0,-1 0,1 1,-1-1,1 0,-1 0,1 0,-1 0,0-1,0 1,1 0,-1 0,0-1,0 1,0-1,-1 1,2-3,-2 3,0 0,0 0,0 0,0 0,-1 0,1 0,0 0,-1 0,1 0,0 1,-1-1,1 0,-1 0,0 1,1-1,-1 0,0 0,1 1,-1-1,0 1,0-1,1 1,-1-1,0 1,0-1,0 1,0 0,0-1,0 1,0 0,1 0,-3 0,-33-6,35 5,-6 1,0 0,1 0,-1 0,0 0,-8 3,-4 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11-24T00:19:50.732"/>
    </inkml:context>
    <inkml:brush xml:id="br0">
      <inkml:brushProperty name="width" value="0.2" units="cm"/>
      <inkml:brushProperty name="height" value="0.2" units="cm"/>
      <inkml:brushProperty name="ignorePressure" value="1"/>
    </inkml:brush>
  </inkml:definitions>
  <inkml:trace contextRef="#ctx0" brushRef="#br0">54 107,'0'9,"0"0,0 0,1 0,1 0,0 0,4 12,-6-19,1 0,0 0,0 0,-1-1,2 1,-1 0,0-1,0 1,0-1,1 1,-1-1,1 0,-1 1,1-1,-1 0,1 0,0 0,0 0,-1-1,1 1,0 0,0-1,0 1,0-1,0 0,0 1,0-1,0 0,0 0,0 0,0-1,-1 1,1 0,0-1,0 1,2-2,-1 1,-1 0,0 0,1-1,-1 1,0-1,0 0,0 1,0-1,0 0,0 0,0 0,-1-1,1 1,-1 0,0 0,0-1,1 1,-1-1,-1 1,1-1,0 0,-1 1,1-1,-1 0,0 1,0-1,0 0,0 1,-1-5,1-2,-1 0,-1 0,1 0,-1 0,-1 0,0 0,-5-11,5 15,0 1,0 0,0 0,-1 0,1 1,-1-1,0 1,0-1,0 1,-1 1,1-1,-1 1,1-1,-1 1,0 1,-8-3,10 3,1 1,0-1,0 1,0 0,0 0,0-1,0 2,0-1,-1 0,1 0,0 1,0-1,0 1,0-1,0 1,0 0,0 0,0 0,0 0,1 0,-1 0,0 1,1-1,-1 1,1-1,-1 1,1-1,0 1,-1 0,1 0,0 0,0-1,0 1,1 0,-1 0,0 0,1 1,-1-1,1 0,0 0,-1 3,1-2,0-1,-1 1,1 0,0 0,1 0,-1-1,0 1,1 0,0 0,-1 0,1-1,0 1,0-1,1 1,-1-1,0 1,1-1,0 1,-1-1,3 2,2 1,1 0,0 0,0 0,0-1,10 4,-14-6,13 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658DFC-ECD3-4150-BBC0-FD926F61F372}" type="datetimeFigureOut">
              <a:rPr lang="en-AU" smtClean="0"/>
              <a:t>26/10/2023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65EC78-C556-4B7B-BFDB-BC53960078AB}" type="slidenum">
              <a:rPr lang="en-AU" smtClean="0"/>
              <a:t>‹#›</a:t>
            </a:fld>
            <a:endParaRPr lang="en-AU"/>
          </a:p>
        </p:txBody>
      </p:sp>
    </p:spTree>
    <p:extLst>
      <p:ext uri="{BB962C8B-B14F-4D97-AF65-F5344CB8AC3E}">
        <p14:creationId xmlns:p14="http://schemas.microsoft.com/office/powerpoint/2010/main" val="2005108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D5D9377F-1BD6-9941-B405-1638211A94B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1353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Question inspired by </a:t>
            </a:r>
            <a:r>
              <a:rPr lang="en-GB" dirty="0" err="1"/>
              <a:t>CorbettMaths</a:t>
            </a:r>
            <a:r>
              <a:rPr lang="en-GB" dirty="0"/>
              <a:t>!</a:t>
            </a:r>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D5D9377F-1BD6-9941-B405-1638211A94BD}"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24539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A4D4B-5F4A-614F-DCB4-C4B22A664E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515FF59-07EE-8A0F-1020-499CF5482A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C8FED2EE-45DA-53D3-8C3F-B2E96A9C2D35}"/>
              </a:ext>
            </a:extLst>
          </p:cNvPr>
          <p:cNvSpPr>
            <a:spLocks noGrp="1"/>
          </p:cNvSpPr>
          <p:nvPr>
            <p:ph type="dt" sz="half" idx="10"/>
          </p:nvPr>
        </p:nvSpPr>
        <p:spPr/>
        <p:txBody>
          <a:bodyPr/>
          <a:lstStyle/>
          <a:p>
            <a:fld id="{EB5D98F5-B582-4689-844C-C637B06A75C6}" type="datetimeFigureOut">
              <a:rPr lang="en-AU" smtClean="0"/>
              <a:t>26/10/2023</a:t>
            </a:fld>
            <a:endParaRPr lang="en-AU"/>
          </a:p>
        </p:txBody>
      </p:sp>
      <p:sp>
        <p:nvSpPr>
          <p:cNvPr id="5" name="Footer Placeholder 4">
            <a:extLst>
              <a:ext uri="{FF2B5EF4-FFF2-40B4-BE49-F238E27FC236}">
                <a16:creationId xmlns:a16="http://schemas.microsoft.com/office/drawing/2014/main" id="{95488008-BBAC-D78D-3197-DEF2DBE9F3C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A4CD6FC-6A5B-8764-FDFA-808977F7CCA0}"/>
              </a:ext>
            </a:extLst>
          </p:cNvPr>
          <p:cNvSpPr>
            <a:spLocks noGrp="1"/>
          </p:cNvSpPr>
          <p:nvPr>
            <p:ph type="sldNum" sz="quarter" idx="12"/>
          </p:nvPr>
        </p:nvSpPr>
        <p:spPr/>
        <p:txBody>
          <a:bodyPr/>
          <a:lstStyle/>
          <a:p>
            <a:fld id="{2238944B-F09C-4228-B7F8-E5B2E7E90A13}" type="slidenum">
              <a:rPr lang="en-AU" smtClean="0"/>
              <a:t>‹#›</a:t>
            </a:fld>
            <a:endParaRPr lang="en-AU"/>
          </a:p>
        </p:txBody>
      </p:sp>
    </p:spTree>
    <p:extLst>
      <p:ext uri="{BB962C8B-B14F-4D97-AF65-F5344CB8AC3E}">
        <p14:creationId xmlns:p14="http://schemas.microsoft.com/office/powerpoint/2010/main" val="385506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51740-234C-208B-FA70-6F811691C66B}"/>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93D1A272-3643-56AD-95CC-80DA80997D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26ECA0F-894E-5AD8-7E24-E19150A19DFD}"/>
              </a:ext>
            </a:extLst>
          </p:cNvPr>
          <p:cNvSpPr>
            <a:spLocks noGrp="1"/>
          </p:cNvSpPr>
          <p:nvPr>
            <p:ph type="dt" sz="half" idx="10"/>
          </p:nvPr>
        </p:nvSpPr>
        <p:spPr/>
        <p:txBody>
          <a:bodyPr/>
          <a:lstStyle/>
          <a:p>
            <a:fld id="{EB5D98F5-B582-4689-844C-C637B06A75C6}" type="datetimeFigureOut">
              <a:rPr lang="en-AU" smtClean="0"/>
              <a:t>26/10/2023</a:t>
            </a:fld>
            <a:endParaRPr lang="en-AU"/>
          </a:p>
        </p:txBody>
      </p:sp>
      <p:sp>
        <p:nvSpPr>
          <p:cNvPr id="5" name="Footer Placeholder 4">
            <a:extLst>
              <a:ext uri="{FF2B5EF4-FFF2-40B4-BE49-F238E27FC236}">
                <a16:creationId xmlns:a16="http://schemas.microsoft.com/office/drawing/2014/main" id="{F870FE93-4FD5-FD8D-7320-2AFCA154777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948EBE6-76F1-C9C8-3F33-24A2BE4D96C8}"/>
              </a:ext>
            </a:extLst>
          </p:cNvPr>
          <p:cNvSpPr>
            <a:spLocks noGrp="1"/>
          </p:cNvSpPr>
          <p:nvPr>
            <p:ph type="sldNum" sz="quarter" idx="12"/>
          </p:nvPr>
        </p:nvSpPr>
        <p:spPr/>
        <p:txBody>
          <a:bodyPr/>
          <a:lstStyle/>
          <a:p>
            <a:fld id="{2238944B-F09C-4228-B7F8-E5B2E7E90A13}" type="slidenum">
              <a:rPr lang="en-AU" smtClean="0"/>
              <a:t>‹#›</a:t>
            </a:fld>
            <a:endParaRPr lang="en-AU"/>
          </a:p>
        </p:txBody>
      </p:sp>
    </p:spTree>
    <p:extLst>
      <p:ext uri="{BB962C8B-B14F-4D97-AF65-F5344CB8AC3E}">
        <p14:creationId xmlns:p14="http://schemas.microsoft.com/office/powerpoint/2010/main" val="18482160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E501F-EF98-24C6-0432-54710AD249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BE06B3B5-E0C6-4C76-6ABF-0D054FC7320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F62482-748F-A968-A797-15BBD01855F4}"/>
              </a:ext>
            </a:extLst>
          </p:cNvPr>
          <p:cNvSpPr>
            <a:spLocks noGrp="1"/>
          </p:cNvSpPr>
          <p:nvPr>
            <p:ph type="dt" sz="half" idx="10"/>
          </p:nvPr>
        </p:nvSpPr>
        <p:spPr/>
        <p:txBody>
          <a:bodyPr/>
          <a:lstStyle/>
          <a:p>
            <a:fld id="{EB5D98F5-B582-4689-844C-C637B06A75C6}" type="datetimeFigureOut">
              <a:rPr lang="en-AU" smtClean="0"/>
              <a:t>26/10/2023</a:t>
            </a:fld>
            <a:endParaRPr lang="en-AU"/>
          </a:p>
        </p:txBody>
      </p:sp>
      <p:sp>
        <p:nvSpPr>
          <p:cNvPr id="5" name="Footer Placeholder 4">
            <a:extLst>
              <a:ext uri="{FF2B5EF4-FFF2-40B4-BE49-F238E27FC236}">
                <a16:creationId xmlns:a16="http://schemas.microsoft.com/office/drawing/2014/main" id="{D9059041-3825-FD46-226B-8CD24C6F733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7530E25-A3FE-EA5B-EED5-B55024DA7B38}"/>
              </a:ext>
            </a:extLst>
          </p:cNvPr>
          <p:cNvSpPr>
            <a:spLocks noGrp="1"/>
          </p:cNvSpPr>
          <p:nvPr>
            <p:ph type="sldNum" sz="quarter" idx="12"/>
          </p:nvPr>
        </p:nvSpPr>
        <p:spPr/>
        <p:txBody>
          <a:bodyPr/>
          <a:lstStyle/>
          <a:p>
            <a:fld id="{2238944B-F09C-4228-B7F8-E5B2E7E90A13}" type="slidenum">
              <a:rPr lang="en-AU" smtClean="0"/>
              <a:t>‹#›</a:t>
            </a:fld>
            <a:endParaRPr lang="en-AU"/>
          </a:p>
        </p:txBody>
      </p:sp>
    </p:spTree>
    <p:extLst>
      <p:ext uri="{BB962C8B-B14F-4D97-AF65-F5344CB8AC3E}">
        <p14:creationId xmlns:p14="http://schemas.microsoft.com/office/powerpoint/2010/main" val="621013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50C4D-E716-665C-4489-4D538B8C997D}"/>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D0E4C88-B3BB-AE63-26A8-DB386BEB7D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68244B9C-78B0-2E40-434B-3D9A6F8AD6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84559AD1-4564-3F20-3478-A0E7D538125B}"/>
              </a:ext>
            </a:extLst>
          </p:cNvPr>
          <p:cNvSpPr>
            <a:spLocks noGrp="1"/>
          </p:cNvSpPr>
          <p:nvPr>
            <p:ph type="dt" sz="half" idx="10"/>
          </p:nvPr>
        </p:nvSpPr>
        <p:spPr/>
        <p:txBody>
          <a:bodyPr/>
          <a:lstStyle/>
          <a:p>
            <a:fld id="{EB5D98F5-B582-4689-844C-C637B06A75C6}" type="datetimeFigureOut">
              <a:rPr lang="en-AU" smtClean="0"/>
              <a:t>26/10/2023</a:t>
            </a:fld>
            <a:endParaRPr lang="en-AU"/>
          </a:p>
        </p:txBody>
      </p:sp>
      <p:sp>
        <p:nvSpPr>
          <p:cNvPr id="6" name="Footer Placeholder 5">
            <a:extLst>
              <a:ext uri="{FF2B5EF4-FFF2-40B4-BE49-F238E27FC236}">
                <a16:creationId xmlns:a16="http://schemas.microsoft.com/office/drawing/2014/main" id="{8480B9FB-DCD7-6600-7C1E-8CCB04967B4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6A2E3ADA-172A-E510-F951-E0BBD86BD1E6}"/>
              </a:ext>
            </a:extLst>
          </p:cNvPr>
          <p:cNvSpPr>
            <a:spLocks noGrp="1"/>
          </p:cNvSpPr>
          <p:nvPr>
            <p:ph type="sldNum" sz="quarter" idx="12"/>
          </p:nvPr>
        </p:nvSpPr>
        <p:spPr/>
        <p:txBody>
          <a:bodyPr/>
          <a:lstStyle/>
          <a:p>
            <a:fld id="{2238944B-F09C-4228-B7F8-E5B2E7E90A13}" type="slidenum">
              <a:rPr lang="en-AU" smtClean="0"/>
              <a:t>‹#›</a:t>
            </a:fld>
            <a:endParaRPr lang="en-AU"/>
          </a:p>
        </p:txBody>
      </p:sp>
    </p:spTree>
    <p:extLst>
      <p:ext uri="{BB962C8B-B14F-4D97-AF65-F5344CB8AC3E}">
        <p14:creationId xmlns:p14="http://schemas.microsoft.com/office/powerpoint/2010/main" val="3499688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D07E8-C0F8-DECB-776D-7E283D995C5B}"/>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359AF01-2928-660C-3F55-064BF85B1D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15CDB7-5E70-0D04-0CB0-CE6F4782A2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C6D4B6DA-6739-41C2-25A3-46A6A79E5C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88FFBB-9292-7CC0-26E3-E6BE701CD5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E87763AD-6A21-25B3-A770-9975CB4A6573}"/>
              </a:ext>
            </a:extLst>
          </p:cNvPr>
          <p:cNvSpPr>
            <a:spLocks noGrp="1"/>
          </p:cNvSpPr>
          <p:nvPr>
            <p:ph type="dt" sz="half" idx="10"/>
          </p:nvPr>
        </p:nvSpPr>
        <p:spPr/>
        <p:txBody>
          <a:bodyPr/>
          <a:lstStyle/>
          <a:p>
            <a:fld id="{EB5D98F5-B582-4689-844C-C637B06A75C6}" type="datetimeFigureOut">
              <a:rPr lang="en-AU" smtClean="0"/>
              <a:t>26/10/2023</a:t>
            </a:fld>
            <a:endParaRPr lang="en-AU"/>
          </a:p>
        </p:txBody>
      </p:sp>
      <p:sp>
        <p:nvSpPr>
          <p:cNvPr id="8" name="Footer Placeholder 7">
            <a:extLst>
              <a:ext uri="{FF2B5EF4-FFF2-40B4-BE49-F238E27FC236}">
                <a16:creationId xmlns:a16="http://schemas.microsoft.com/office/drawing/2014/main" id="{2AF8AAEA-1026-CB6F-F5A9-21A2D2EF266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CFA1177A-B7AC-0819-35C4-3331C48E82B2}"/>
              </a:ext>
            </a:extLst>
          </p:cNvPr>
          <p:cNvSpPr>
            <a:spLocks noGrp="1"/>
          </p:cNvSpPr>
          <p:nvPr>
            <p:ph type="sldNum" sz="quarter" idx="12"/>
          </p:nvPr>
        </p:nvSpPr>
        <p:spPr/>
        <p:txBody>
          <a:bodyPr/>
          <a:lstStyle/>
          <a:p>
            <a:fld id="{2238944B-F09C-4228-B7F8-E5B2E7E90A13}" type="slidenum">
              <a:rPr lang="en-AU" smtClean="0"/>
              <a:t>‹#›</a:t>
            </a:fld>
            <a:endParaRPr lang="en-AU"/>
          </a:p>
        </p:txBody>
      </p:sp>
    </p:spTree>
    <p:extLst>
      <p:ext uri="{BB962C8B-B14F-4D97-AF65-F5344CB8AC3E}">
        <p14:creationId xmlns:p14="http://schemas.microsoft.com/office/powerpoint/2010/main" val="3178280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45312-D706-4DD2-D8EA-679A6C7BBE7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B90860FC-6442-CCD3-9762-806C56345BAF}"/>
              </a:ext>
            </a:extLst>
          </p:cNvPr>
          <p:cNvSpPr>
            <a:spLocks noGrp="1"/>
          </p:cNvSpPr>
          <p:nvPr>
            <p:ph type="dt" sz="half" idx="10"/>
          </p:nvPr>
        </p:nvSpPr>
        <p:spPr/>
        <p:txBody>
          <a:bodyPr/>
          <a:lstStyle/>
          <a:p>
            <a:fld id="{EB5D98F5-B582-4689-844C-C637B06A75C6}" type="datetimeFigureOut">
              <a:rPr lang="en-AU" smtClean="0"/>
              <a:t>26/10/2023</a:t>
            </a:fld>
            <a:endParaRPr lang="en-AU"/>
          </a:p>
        </p:txBody>
      </p:sp>
      <p:sp>
        <p:nvSpPr>
          <p:cNvPr id="4" name="Footer Placeholder 3">
            <a:extLst>
              <a:ext uri="{FF2B5EF4-FFF2-40B4-BE49-F238E27FC236}">
                <a16:creationId xmlns:a16="http://schemas.microsoft.com/office/drawing/2014/main" id="{39A8D200-5E28-975B-C0E3-6D38F2B2CA92}"/>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4AAA3E71-D7E3-A013-94EB-335A3133334A}"/>
              </a:ext>
            </a:extLst>
          </p:cNvPr>
          <p:cNvSpPr>
            <a:spLocks noGrp="1"/>
          </p:cNvSpPr>
          <p:nvPr>
            <p:ph type="sldNum" sz="quarter" idx="12"/>
          </p:nvPr>
        </p:nvSpPr>
        <p:spPr/>
        <p:txBody>
          <a:bodyPr/>
          <a:lstStyle/>
          <a:p>
            <a:fld id="{2238944B-F09C-4228-B7F8-E5B2E7E90A13}" type="slidenum">
              <a:rPr lang="en-AU" smtClean="0"/>
              <a:t>‹#›</a:t>
            </a:fld>
            <a:endParaRPr lang="en-AU"/>
          </a:p>
        </p:txBody>
      </p:sp>
    </p:spTree>
    <p:extLst>
      <p:ext uri="{BB962C8B-B14F-4D97-AF65-F5344CB8AC3E}">
        <p14:creationId xmlns:p14="http://schemas.microsoft.com/office/powerpoint/2010/main" val="1153611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19C3D5-30D9-2B13-C1C8-FBC35CB05E15}"/>
              </a:ext>
            </a:extLst>
          </p:cNvPr>
          <p:cNvSpPr>
            <a:spLocks noGrp="1"/>
          </p:cNvSpPr>
          <p:nvPr>
            <p:ph type="dt" sz="half" idx="10"/>
          </p:nvPr>
        </p:nvSpPr>
        <p:spPr/>
        <p:txBody>
          <a:bodyPr/>
          <a:lstStyle/>
          <a:p>
            <a:fld id="{EB5D98F5-B582-4689-844C-C637B06A75C6}" type="datetimeFigureOut">
              <a:rPr lang="en-AU" smtClean="0"/>
              <a:t>26/10/2023</a:t>
            </a:fld>
            <a:endParaRPr lang="en-AU"/>
          </a:p>
        </p:txBody>
      </p:sp>
      <p:sp>
        <p:nvSpPr>
          <p:cNvPr id="3" name="Footer Placeholder 2">
            <a:extLst>
              <a:ext uri="{FF2B5EF4-FFF2-40B4-BE49-F238E27FC236}">
                <a16:creationId xmlns:a16="http://schemas.microsoft.com/office/drawing/2014/main" id="{0C1F912D-EF5E-0B5D-0C7A-4610C795DDB7}"/>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BD071AD1-6924-4311-4E01-3C81CFD2A59E}"/>
              </a:ext>
            </a:extLst>
          </p:cNvPr>
          <p:cNvSpPr>
            <a:spLocks noGrp="1"/>
          </p:cNvSpPr>
          <p:nvPr>
            <p:ph type="sldNum" sz="quarter" idx="12"/>
          </p:nvPr>
        </p:nvSpPr>
        <p:spPr/>
        <p:txBody>
          <a:bodyPr/>
          <a:lstStyle/>
          <a:p>
            <a:fld id="{2238944B-F09C-4228-B7F8-E5B2E7E90A13}" type="slidenum">
              <a:rPr lang="en-AU" smtClean="0"/>
              <a:t>‹#›</a:t>
            </a:fld>
            <a:endParaRPr lang="en-AU"/>
          </a:p>
        </p:txBody>
      </p:sp>
    </p:spTree>
    <p:extLst>
      <p:ext uri="{BB962C8B-B14F-4D97-AF65-F5344CB8AC3E}">
        <p14:creationId xmlns:p14="http://schemas.microsoft.com/office/powerpoint/2010/main" val="262149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C1D42-F799-D767-5048-E9F49AE317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98F0DE67-B74A-84EB-3218-A526597176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B2122BE8-3727-C98F-EDB6-94F646CF21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48D1FA-8257-0A78-BCB2-621BC82D6480}"/>
              </a:ext>
            </a:extLst>
          </p:cNvPr>
          <p:cNvSpPr>
            <a:spLocks noGrp="1"/>
          </p:cNvSpPr>
          <p:nvPr>
            <p:ph type="dt" sz="half" idx="10"/>
          </p:nvPr>
        </p:nvSpPr>
        <p:spPr/>
        <p:txBody>
          <a:bodyPr/>
          <a:lstStyle/>
          <a:p>
            <a:fld id="{EB5D98F5-B582-4689-844C-C637B06A75C6}" type="datetimeFigureOut">
              <a:rPr lang="en-AU" smtClean="0"/>
              <a:t>26/10/2023</a:t>
            </a:fld>
            <a:endParaRPr lang="en-AU"/>
          </a:p>
        </p:txBody>
      </p:sp>
      <p:sp>
        <p:nvSpPr>
          <p:cNvPr id="6" name="Footer Placeholder 5">
            <a:extLst>
              <a:ext uri="{FF2B5EF4-FFF2-40B4-BE49-F238E27FC236}">
                <a16:creationId xmlns:a16="http://schemas.microsoft.com/office/drawing/2014/main" id="{0FB9C458-9243-B461-FE42-C806E2BB07B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A78855D-B0B7-94F9-5AD9-D61A2BCF5477}"/>
              </a:ext>
            </a:extLst>
          </p:cNvPr>
          <p:cNvSpPr>
            <a:spLocks noGrp="1"/>
          </p:cNvSpPr>
          <p:nvPr>
            <p:ph type="sldNum" sz="quarter" idx="12"/>
          </p:nvPr>
        </p:nvSpPr>
        <p:spPr/>
        <p:txBody>
          <a:bodyPr/>
          <a:lstStyle/>
          <a:p>
            <a:fld id="{2238944B-F09C-4228-B7F8-E5B2E7E90A13}" type="slidenum">
              <a:rPr lang="en-AU" smtClean="0"/>
              <a:t>‹#›</a:t>
            </a:fld>
            <a:endParaRPr lang="en-AU"/>
          </a:p>
        </p:txBody>
      </p:sp>
    </p:spTree>
    <p:extLst>
      <p:ext uri="{BB962C8B-B14F-4D97-AF65-F5344CB8AC3E}">
        <p14:creationId xmlns:p14="http://schemas.microsoft.com/office/powerpoint/2010/main" val="2427627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8F3C4-24D2-F395-40B5-76C62B93F8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4661A663-5347-CB54-63DB-7180154D1A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0EAD76CE-DEE3-14FB-8830-A0215489B4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A56178-CCBF-4034-B061-7A645DCC0A69}"/>
              </a:ext>
            </a:extLst>
          </p:cNvPr>
          <p:cNvSpPr>
            <a:spLocks noGrp="1"/>
          </p:cNvSpPr>
          <p:nvPr>
            <p:ph type="dt" sz="half" idx="10"/>
          </p:nvPr>
        </p:nvSpPr>
        <p:spPr/>
        <p:txBody>
          <a:bodyPr/>
          <a:lstStyle/>
          <a:p>
            <a:fld id="{EB5D98F5-B582-4689-844C-C637B06A75C6}" type="datetimeFigureOut">
              <a:rPr lang="en-AU" smtClean="0"/>
              <a:t>26/10/2023</a:t>
            </a:fld>
            <a:endParaRPr lang="en-AU"/>
          </a:p>
        </p:txBody>
      </p:sp>
      <p:sp>
        <p:nvSpPr>
          <p:cNvPr id="6" name="Footer Placeholder 5">
            <a:extLst>
              <a:ext uri="{FF2B5EF4-FFF2-40B4-BE49-F238E27FC236}">
                <a16:creationId xmlns:a16="http://schemas.microsoft.com/office/drawing/2014/main" id="{CEC67C45-CBAF-34DE-0F0D-B2C7BF5B59E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D394A60-C3A3-99CA-AB5F-0DB91561EB70}"/>
              </a:ext>
            </a:extLst>
          </p:cNvPr>
          <p:cNvSpPr>
            <a:spLocks noGrp="1"/>
          </p:cNvSpPr>
          <p:nvPr>
            <p:ph type="sldNum" sz="quarter" idx="12"/>
          </p:nvPr>
        </p:nvSpPr>
        <p:spPr/>
        <p:txBody>
          <a:bodyPr/>
          <a:lstStyle/>
          <a:p>
            <a:fld id="{2238944B-F09C-4228-B7F8-E5B2E7E90A13}" type="slidenum">
              <a:rPr lang="en-AU" smtClean="0"/>
              <a:t>‹#›</a:t>
            </a:fld>
            <a:endParaRPr lang="en-AU"/>
          </a:p>
        </p:txBody>
      </p:sp>
    </p:spTree>
    <p:extLst>
      <p:ext uri="{BB962C8B-B14F-4D97-AF65-F5344CB8AC3E}">
        <p14:creationId xmlns:p14="http://schemas.microsoft.com/office/powerpoint/2010/main" val="1892712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25D2D-08C6-B5CC-931E-B49E447A45A4}"/>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4EE60C7-594E-3160-28FC-BE2B322476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32C980F-6362-D452-261B-ED652404F804}"/>
              </a:ext>
            </a:extLst>
          </p:cNvPr>
          <p:cNvSpPr>
            <a:spLocks noGrp="1"/>
          </p:cNvSpPr>
          <p:nvPr>
            <p:ph type="dt" sz="half" idx="10"/>
          </p:nvPr>
        </p:nvSpPr>
        <p:spPr/>
        <p:txBody>
          <a:bodyPr/>
          <a:lstStyle/>
          <a:p>
            <a:fld id="{EB5D98F5-B582-4689-844C-C637B06A75C6}" type="datetimeFigureOut">
              <a:rPr lang="en-AU" smtClean="0"/>
              <a:t>26/10/2023</a:t>
            </a:fld>
            <a:endParaRPr lang="en-AU"/>
          </a:p>
        </p:txBody>
      </p:sp>
      <p:sp>
        <p:nvSpPr>
          <p:cNvPr id="5" name="Footer Placeholder 4">
            <a:extLst>
              <a:ext uri="{FF2B5EF4-FFF2-40B4-BE49-F238E27FC236}">
                <a16:creationId xmlns:a16="http://schemas.microsoft.com/office/drawing/2014/main" id="{37DE0C8C-3430-5F37-97C4-D14C8B8775B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B7D3E37-791C-DE41-D6C8-9FF55FCCAB60}"/>
              </a:ext>
            </a:extLst>
          </p:cNvPr>
          <p:cNvSpPr>
            <a:spLocks noGrp="1"/>
          </p:cNvSpPr>
          <p:nvPr>
            <p:ph type="sldNum" sz="quarter" idx="12"/>
          </p:nvPr>
        </p:nvSpPr>
        <p:spPr/>
        <p:txBody>
          <a:bodyPr/>
          <a:lstStyle/>
          <a:p>
            <a:fld id="{2238944B-F09C-4228-B7F8-E5B2E7E90A13}" type="slidenum">
              <a:rPr lang="en-AU" smtClean="0"/>
              <a:t>‹#›</a:t>
            </a:fld>
            <a:endParaRPr lang="en-AU"/>
          </a:p>
        </p:txBody>
      </p:sp>
    </p:spTree>
    <p:extLst>
      <p:ext uri="{BB962C8B-B14F-4D97-AF65-F5344CB8AC3E}">
        <p14:creationId xmlns:p14="http://schemas.microsoft.com/office/powerpoint/2010/main" val="3731018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A2133F-8E1E-3853-21EC-1228345E75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0760AB79-9E10-5D0C-3FA6-ACD91E4E3B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A8644FE-BD52-7E11-9FC6-4BC857864376}"/>
              </a:ext>
            </a:extLst>
          </p:cNvPr>
          <p:cNvSpPr>
            <a:spLocks noGrp="1"/>
          </p:cNvSpPr>
          <p:nvPr>
            <p:ph type="dt" sz="half" idx="10"/>
          </p:nvPr>
        </p:nvSpPr>
        <p:spPr/>
        <p:txBody>
          <a:bodyPr/>
          <a:lstStyle/>
          <a:p>
            <a:fld id="{EB5D98F5-B582-4689-844C-C637B06A75C6}" type="datetimeFigureOut">
              <a:rPr lang="en-AU" smtClean="0"/>
              <a:t>26/10/2023</a:t>
            </a:fld>
            <a:endParaRPr lang="en-AU"/>
          </a:p>
        </p:txBody>
      </p:sp>
      <p:sp>
        <p:nvSpPr>
          <p:cNvPr id="5" name="Footer Placeholder 4">
            <a:extLst>
              <a:ext uri="{FF2B5EF4-FFF2-40B4-BE49-F238E27FC236}">
                <a16:creationId xmlns:a16="http://schemas.microsoft.com/office/drawing/2014/main" id="{73E7D6B7-C516-9580-DF1B-9D364CE7C66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AD0A550-CF3A-5C35-1378-7142D83503D4}"/>
              </a:ext>
            </a:extLst>
          </p:cNvPr>
          <p:cNvSpPr>
            <a:spLocks noGrp="1"/>
          </p:cNvSpPr>
          <p:nvPr>
            <p:ph type="sldNum" sz="quarter" idx="12"/>
          </p:nvPr>
        </p:nvSpPr>
        <p:spPr/>
        <p:txBody>
          <a:bodyPr/>
          <a:lstStyle/>
          <a:p>
            <a:fld id="{2238944B-F09C-4228-B7F8-E5B2E7E90A13}" type="slidenum">
              <a:rPr lang="en-AU" smtClean="0"/>
              <a:t>‹#›</a:t>
            </a:fld>
            <a:endParaRPr lang="en-AU"/>
          </a:p>
        </p:txBody>
      </p:sp>
    </p:spTree>
    <p:extLst>
      <p:ext uri="{BB962C8B-B14F-4D97-AF65-F5344CB8AC3E}">
        <p14:creationId xmlns:p14="http://schemas.microsoft.com/office/powerpoint/2010/main" val="38645545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P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90807F-CC69-D64A-8CA7-DE7A689C7297}"/>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pic>
        <p:nvPicPr>
          <p:cNvPr id="7" name="Picture 6">
            <a:extLst>
              <a:ext uri="{FF2B5EF4-FFF2-40B4-BE49-F238E27FC236}">
                <a16:creationId xmlns:a16="http://schemas.microsoft.com/office/drawing/2014/main" id="{CD0F4EBC-0EB9-5144-B113-E3C84F3D49F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427763" y="557476"/>
            <a:ext cx="3336479" cy="3877947"/>
          </a:xfrm>
          <a:prstGeom prst="rect">
            <a:avLst/>
          </a:prstGeom>
        </p:spPr>
      </p:pic>
      <p:sp>
        <p:nvSpPr>
          <p:cNvPr id="8" name="TextBox 7">
            <a:extLst>
              <a:ext uri="{FF2B5EF4-FFF2-40B4-BE49-F238E27FC236}">
                <a16:creationId xmlns:a16="http://schemas.microsoft.com/office/drawing/2014/main" id="{6C2C3470-A77D-3F4F-BA21-9D2139540AE8}"/>
              </a:ext>
            </a:extLst>
          </p:cNvPr>
          <p:cNvSpPr txBox="1"/>
          <p:nvPr userDrawn="1"/>
        </p:nvSpPr>
        <p:spPr>
          <a:xfrm>
            <a:off x="3834982" y="4515424"/>
            <a:ext cx="4522135" cy="1477969"/>
          </a:xfrm>
          <a:prstGeom prst="rect">
            <a:avLst/>
          </a:prstGeom>
          <a:noFill/>
        </p:spPr>
        <p:txBody>
          <a:bodyPr wrap="none" rtlCol="0">
            <a:spAutoFit/>
          </a:bodyPr>
          <a:lstStyle/>
          <a:p>
            <a:pPr algn="ctr"/>
            <a:r>
              <a:rPr lang="en-GB" sz="1801" spc="400" dirty="0"/>
              <a:t>Mathematics</a:t>
            </a:r>
          </a:p>
          <a:p>
            <a:pPr algn="ctr"/>
            <a:r>
              <a:rPr lang="en-GB" sz="1801" b="1" spc="400" dirty="0"/>
              <a:t>DISTANCE-TIME GRAPHS</a:t>
            </a:r>
          </a:p>
          <a:p>
            <a:pPr algn="ctr"/>
            <a:r>
              <a:rPr lang="en-GB" sz="1801" b="1" spc="400" dirty="0"/>
              <a:t>TES: </a:t>
            </a:r>
            <a:r>
              <a:rPr lang="en-GB" sz="1801" spc="400" dirty="0"/>
              <a:t>cparkinson3</a:t>
            </a:r>
          </a:p>
          <a:p>
            <a:pPr algn="ctr"/>
            <a:endParaRPr lang="en-GB" sz="1801" spc="400" dirty="0"/>
          </a:p>
          <a:p>
            <a:pPr algn="ctr"/>
            <a:r>
              <a:rPr lang="en-GB" sz="1801" b="1" spc="400" dirty="0"/>
              <a:t>Last updated: 31</a:t>
            </a:r>
            <a:r>
              <a:rPr lang="en-GB" sz="1801" b="1" spc="400" baseline="30000" dirty="0"/>
              <a:t>st</a:t>
            </a:r>
            <a:r>
              <a:rPr lang="en-GB" sz="1801" b="1" spc="400" dirty="0"/>
              <a:t> March 2019</a:t>
            </a:r>
          </a:p>
        </p:txBody>
      </p:sp>
      <p:grpSp>
        <p:nvGrpSpPr>
          <p:cNvPr id="19" name="Group 18">
            <a:extLst>
              <a:ext uri="{FF2B5EF4-FFF2-40B4-BE49-F238E27FC236}">
                <a16:creationId xmlns:a16="http://schemas.microsoft.com/office/drawing/2014/main" id="{6E0BBCA1-B637-DA48-9AEB-73D453E7CEF3}"/>
              </a:ext>
            </a:extLst>
          </p:cNvPr>
          <p:cNvGrpSpPr/>
          <p:nvPr userDrawn="1"/>
        </p:nvGrpSpPr>
        <p:grpSpPr>
          <a:xfrm>
            <a:off x="-989113" y="2"/>
            <a:ext cx="851643" cy="4089625"/>
            <a:chOff x="-923122" y="62819"/>
            <a:chExt cx="850152" cy="4082469"/>
          </a:xfrm>
        </p:grpSpPr>
        <p:sp>
          <p:nvSpPr>
            <p:cNvPr id="10" name="Rectangle 9">
              <a:extLst>
                <a:ext uri="{FF2B5EF4-FFF2-40B4-BE49-F238E27FC236}">
                  <a16:creationId xmlns:a16="http://schemas.microsoft.com/office/drawing/2014/main" id="{6E55D352-BAB1-EF49-A53C-E90574CEB9A2}"/>
                </a:ext>
              </a:extLst>
            </p:cNvPr>
            <p:cNvSpPr/>
            <p:nvPr userDrawn="1"/>
          </p:nvSpPr>
          <p:spPr>
            <a:xfrm rot="16200000">
              <a:off x="-2539281" y="1678978"/>
              <a:ext cx="4082469" cy="850152"/>
            </a:xfrm>
            <a:prstGeom prst="rect">
              <a:avLst/>
            </a:prstGeom>
            <a:solidFill>
              <a:schemeClr val="bg1"/>
            </a:solidFill>
            <a:ln w="12700">
              <a:solidFill>
                <a:schemeClr val="tx1">
                  <a:lumMod val="75000"/>
                  <a:lumOff val="25000"/>
                </a:schemeClr>
              </a:solidFill>
            </a:ln>
          </p:spPr>
          <p:txBody>
            <a:bodyPr wrap="square">
              <a:spAutoFit/>
            </a:bodyPr>
            <a:lstStyle/>
            <a:p>
              <a:pPr algn="ctr"/>
              <a:r>
                <a:rPr lang="en-GB" sz="1600" dirty="0">
                  <a:latin typeface="Calibri" charset="0"/>
                  <a:ea typeface="Calibri" charset="0"/>
                  <a:cs typeface="Calibri" charset="0"/>
                </a:rPr>
                <a:t>The main colours used in this PowerPoint.</a:t>
              </a:r>
            </a:p>
            <a:p>
              <a:pPr algn="ctr"/>
              <a:endParaRPr lang="en-GB" sz="1867" dirty="0">
                <a:latin typeface="Calibri" charset="0"/>
                <a:ea typeface="Calibri" charset="0"/>
                <a:cs typeface="Calibri" charset="0"/>
              </a:endParaRPr>
            </a:p>
            <a:p>
              <a:pPr algn="ctr"/>
              <a:endParaRPr lang="en-GB" sz="1467" dirty="0"/>
            </a:p>
          </p:txBody>
        </p:sp>
        <p:sp>
          <p:nvSpPr>
            <p:cNvPr id="11" name="Rectangle 10">
              <a:extLst>
                <a:ext uri="{FF2B5EF4-FFF2-40B4-BE49-F238E27FC236}">
                  <a16:creationId xmlns:a16="http://schemas.microsoft.com/office/drawing/2014/main" id="{33B2B14E-DC1A-5E4C-928B-D4217526D917}"/>
                </a:ext>
              </a:extLst>
            </p:cNvPr>
            <p:cNvSpPr/>
            <p:nvPr userDrawn="1"/>
          </p:nvSpPr>
          <p:spPr>
            <a:xfrm>
              <a:off x="-558935" y="257838"/>
              <a:ext cx="374469" cy="374469"/>
            </a:xfrm>
            <a:prstGeom prst="rect">
              <a:avLst/>
            </a:prstGeom>
            <a:solidFill>
              <a:srgbClr val="FFFD9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1"/>
            </a:p>
          </p:txBody>
        </p:sp>
        <p:sp>
          <p:nvSpPr>
            <p:cNvPr id="12" name="Rectangle 11">
              <a:extLst>
                <a:ext uri="{FF2B5EF4-FFF2-40B4-BE49-F238E27FC236}">
                  <a16:creationId xmlns:a16="http://schemas.microsoft.com/office/drawing/2014/main" id="{BAC70C96-CE7C-C644-B399-67BE1A82A085}"/>
                </a:ext>
              </a:extLst>
            </p:cNvPr>
            <p:cNvSpPr/>
            <p:nvPr userDrawn="1"/>
          </p:nvSpPr>
          <p:spPr>
            <a:xfrm>
              <a:off x="-558935" y="731833"/>
              <a:ext cx="374469" cy="374469"/>
            </a:xfrm>
            <a:prstGeom prst="rect">
              <a:avLst/>
            </a:prstGeom>
            <a:solidFill>
              <a:srgbClr val="97E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1"/>
            </a:p>
          </p:txBody>
        </p:sp>
        <p:sp>
          <p:nvSpPr>
            <p:cNvPr id="13" name="Rectangle 12">
              <a:extLst>
                <a:ext uri="{FF2B5EF4-FFF2-40B4-BE49-F238E27FC236}">
                  <a16:creationId xmlns:a16="http://schemas.microsoft.com/office/drawing/2014/main" id="{8A999F51-BD50-C049-90A9-1B6231CB9857}"/>
                </a:ext>
              </a:extLst>
            </p:cNvPr>
            <p:cNvSpPr/>
            <p:nvPr userDrawn="1"/>
          </p:nvSpPr>
          <p:spPr>
            <a:xfrm>
              <a:off x="-558935" y="1205828"/>
              <a:ext cx="374469" cy="374469"/>
            </a:xfrm>
            <a:prstGeom prst="rect">
              <a:avLst/>
            </a:prstGeom>
            <a:solidFill>
              <a:srgbClr val="BEFCB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1"/>
            </a:p>
          </p:txBody>
        </p:sp>
        <p:sp>
          <p:nvSpPr>
            <p:cNvPr id="14" name="Rectangle 13">
              <a:extLst>
                <a:ext uri="{FF2B5EF4-FFF2-40B4-BE49-F238E27FC236}">
                  <a16:creationId xmlns:a16="http://schemas.microsoft.com/office/drawing/2014/main" id="{6CC2D869-022F-E840-89BC-12DD971DC573}"/>
                </a:ext>
              </a:extLst>
            </p:cNvPr>
            <p:cNvSpPr/>
            <p:nvPr userDrawn="1"/>
          </p:nvSpPr>
          <p:spPr>
            <a:xfrm>
              <a:off x="-558935" y="1679823"/>
              <a:ext cx="374469" cy="374469"/>
            </a:xfrm>
            <a:prstGeom prst="rect">
              <a:avLst/>
            </a:prstGeom>
            <a:solidFill>
              <a:srgbClr val="FFE7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1"/>
            </a:p>
          </p:txBody>
        </p:sp>
        <p:sp>
          <p:nvSpPr>
            <p:cNvPr id="15" name="Rectangle 14">
              <a:extLst>
                <a:ext uri="{FF2B5EF4-FFF2-40B4-BE49-F238E27FC236}">
                  <a16:creationId xmlns:a16="http://schemas.microsoft.com/office/drawing/2014/main" id="{EE8AFE88-59C2-B045-B530-3C553F00279C}"/>
                </a:ext>
              </a:extLst>
            </p:cNvPr>
            <p:cNvSpPr/>
            <p:nvPr userDrawn="1"/>
          </p:nvSpPr>
          <p:spPr>
            <a:xfrm>
              <a:off x="-558935" y="2153818"/>
              <a:ext cx="374469" cy="374469"/>
            </a:xfrm>
            <a:prstGeom prst="rect">
              <a:avLst/>
            </a:prstGeom>
            <a:solidFill>
              <a:srgbClr val="FFDBD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1"/>
            </a:p>
          </p:txBody>
        </p:sp>
        <p:sp>
          <p:nvSpPr>
            <p:cNvPr id="16" name="Rectangle 15">
              <a:extLst>
                <a:ext uri="{FF2B5EF4-FFF2-40B4-BE49-F238E27FC236}">
                  <a16:creationId xmlns:a16="http://schemas.microsoft.com/office/drawing/2014/main" id="{2CD1061D-2441-E04D-9676-B653DF83E2F4}"/>
                </a:ext>
              </a:extLst>
            </p:cNvPr>
            <p:cNvSpPr/>
            <p:nvPr userDrawn="1"/>
          </p:nvSpPr>
          <p:spPr>
            <a:xfrm>
              <a:off x="-558935" y="2627813"/>
              <a:ext cx="374469" cy="374469"/>
            </a:xfrm>
            <a:prstGeom prst="rect">
              <a:avLst/>
            </a:prstGeom>
            <a:solidFill>
              <a:srgbClr val="FEB5BB"/>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1"/>
            </a:p>
          </p:txBody>
        </p:sp>
        <p:sp>
          <p:nvSpPr>
            <p:cNvPr id="17" name="Rectangle 16">
              <a:extLst>
                <a:ext uri="{FF2B5EF4-FFF2-40B4-BE49-F238E27FC236}">
                  <a16:creationId xmlns:a16="http://schemas.microsoft.com/office/drawing/2014/main" id="{C5FBBDF0-4A29-224B-929A-32C4CB949376}"/>
                </a:ext>
              </a:extLst>
            </p:cNvPr>
            <p:cNvSpPr/>
            <p:nvPr userDrawn="1"/>
          </p:nvSpPr>
          <p:spPr>
            <a:xfrm>
              <a:off x="-558935" y="3575802"/>
              <a:ext cx="374469" cy="374469"/>
            </a:xfrm>
            <a:prstGeom prst="rect">
              <a:avLst/>
            </a:prstGeom>
            <a:solidFill>
              <a:srgbClr val="D3B3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1"/>
            </a:p>
          </p:txBody>
        </p:sp>
        <p:sp>
          <p:nvSpPr>
            <p:cNvPr id="18" name="Rectangle 17">
              <a:extLst>
                <a:ext uri="{FF2B5EF4-FFF2-40B4-BE49-F238E27FC236}">
                  <a16:creationId xmlns:a16="http://schemas.microsoft.com/office/drawing/2014/main" id="{8D0DA461-5D30-5344-8AA2-02873BB7BFE1}"/>
                </a:ext>
              </a:extLst>
            </p:cNvPr>
            <p:cNvSpPr/>
            <p:nvPr userDrawn="1"/>
          </p:nvSpPr>
          <p:spPr>
            <a:xfrm>
              <a:off x="-558935" y="3101808"/>
              <a:ext cx="374469" cy="374469"/>
            </a:xfrm>
            <a:prstGeom prst="rect">
              <a:avLst/>
            </a:prstGeom>
            <a:solidFill>
              <a:srgbClr val="D9CC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1"/>
            </a:p>
          </p:txBody>
        </p:sp>
      </p:grpSp>
    </p:spTree>
    <p:extLst>
      <p:ext uri="{BB962C8B-B14F-4D97-AF65-F5344CB8AC3E}">
        <p14:creationId xmlns:p14="http://schemas.microsoft.com/office/powerpoint/2010/main" val="17741958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rols&amp;Layout">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B453A38F-A006-2D4A-8143-E8B42B9BC24A}"/>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sp>
        <p:nvSpPr>
          <p:cNvPr id="22" name="TextBox 21">
            <a:extLst>
              <a:ext uri="{FF2B5EF4-FFF2-40B4-BE49-F238E27FC236}">
                <a16:creationId xmlns:a16="http://schemas.microsoft.com/office/drawing/2014/main" id="{705EF21D-6DDF-A64B-A2DF-AE1F1279CCC8}"/>
              </a:ext>
            </a:extLst>
          </p:cNvPr>
          <p:cNvSpPr txBox="1"/>
          <p:nvPr userDrawn="1"/>
        </p:nvSpPr>
        <p:spPr>
          <a:xfrm>
            <a:off x="88475" y="770745"/>
            <a:ext cx="11019424" cy="707886"/>
          </a:xfrm>
          <a:prstGeom prst="rect">
            <a:avLst/>
          </a:prstGeom>
          <a:noFill/>
        </p:spPr>
        <p:txBody>
          <a:bodyPr wrap="square" rtlCol="0">
            <a:spAutoFit/>
          </a:bodyPr>
          <a:lstStyle/>
          <a:p>
            <a:pPr algn="l"/>
            <a:r>
              <a:rPr lang="en-GB" sz="2000" spc="400" dirty="0"/>
              <a:t>Some textboxes [controls] throughout this PowerPoint have been set up to ‘trigger’ animations when clicked. These are detailed below.</a:t>
            </a:r>
          </a:p>
        </p:txBody>
      </p:sp>
      <p:grpSp>
        <p:nvGrpSpPr>
          <p:cNvPr id="6" name="Group 5">
            <a:extLst>
              <a:ext uri="{FF2B5EF4-FFF2-40B4-BE49-F238E27FC236}">
                <a16:creationId xmlns:a16="http://schemas.microsoft.com/office/drawing/2014/main" id="{45924C19-4218-D940-974A-7AAAA82013D3}"/>
              </a:ext>
            </a:extLst>
          </p:cNvPr>
          <p:cNvGrpSpPr/>
          <p:nvPr userDrawn="1"/>
        </p:nvGrpSpPr>
        <p:grpSpPr>
          <a:xfrm>
            <a:off x="202618" y="1718798"/>
            <a:ext cx="11871740" cy="1046440"/>
            <a:chOff x="1820342" y="1466572"/>
            <a:chExt cx="8903805" cy="784830"/>
          </a:xfrm>
        </p:grpSpPr>
        <p:grpSp>
          <p:nvGrpSpPr>
            <p:cNvPr id="2" name="Group 1">
              <a:extLst>
                <a:ext uri="{FF2B5EF4-FFF2-40B4-BE49-F238E27FC236}">
                  <a16:creationId xmlns:a16="http://schemas.microsoft.com/office/drawing/2014/main" id="{A3350D4A-F062-5044-BB59-334D9E4F30FE}"/>
                </a:ext>
              </a:extLst>
            </p:cNvPr>
            <p:cNvGrpSpPr/>
            <p:nvPr userDrawn="1"/>
          </p:nvGrpSpPr>
          <p:grpSpPr>
            <a:xfrm>
              <a:off x="1820342" y="1504138"/>
              <a:ext cx="2660074" cy="709699"/>
              <a:chOff x="1820342" y="1545283"/>
              <a:chExt cx="2660074" cy="709699"/>
            </a:xfrm>
          </p:grpSpPr>
          <p:sp>
            <p:nvSpPr>
              <p:cNvPr id="24" name="TextBox 4">
                <a:extLst>
                  <a:ext uri="{FF2B5EF4-FFF2-40B4-BE49-F238E27FC236}">
                    <a16:creationId xmlns:a16="http://schemas.microsoft.com/office/drawing/2014/main" id="{FA70328D-10AC-B54A-897C-F9AEA2E0874B}"/>
                  </a:ext>
                </a:extLst>
              </p:cNvPr>
              <p:cNvSpPr txBox="1">
                <a:spLocks/>
              </p:cNvSpPr>
              <p:nvPr userDrawn="1"/>
            </p:nvSpPr>
            <p:spPr bwMode="auto">
              <a:xfrm>
                <a:off x="1820342" y="1945382"/>
                <a:ext cx="2660074" cy="309600"/>
              </a:xfrm>
              <a:prstGeom prst="rect">
                <a:avLst/>
              </a:prstGeom>
              <a:solidFill>
                <a:srgbClr val="FFFD91"/>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US" sz="1867" b="1" spc="400" dirty="0">
                    <a:latin typeface="Calibri" charset="0"/>
                    <a:ea typeface="Calibri" charset="0"/>
                    <a:cs typeface="Calibri" charset="0"/>
                  </a:rPr>
                  <a:t>LEARNING OBJECTIVE</a:t>
                </a:r>
              </a:p>
            </p:txBody>
          </p:sp>
          <p:sp>
            <p:nvSpPr>
              <p:cNvPr id="25" name="TextBox 9">
                <a:extLst>
                  <a:ext uri="{FF2B5EF4-FFF2-40B4-BE49-F238E27FC236}">
                    <a16:creationId xmlns:a16="http://schemas.microsoft.com/office/drawing/2014/main" id="{3241E8D5-E77F-A448-9572-34FE3F91F72F}"/>
                  </a:ext>
                </a:extLst>
              </p:cNvPr>
              <p:cNvSpPr txBox="1">
                <a:spLocks/>
              </p:cNvSpPr>
              <p:nvPr userDrawn="1"/>
            </p:nvSpPr>
            <p:spPr bwMode="auto">
              <a:xfrm>
                <a:off x="1820342" y="1545283"/>
                <a:ext cx="914399" cy="309600"/>
              </a:xfrm>
              <a:prstGeom prst="rect">
                <a:avLst/>
              </a:prstGeom>
              <a:solidFill>
                <a:schemeClr val="bg1">
                  <a:lumMod val="85000"/>
                </a:schemeClr>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sz="1867" b="1" spc="400" dirty="0">
                    <a:latin typeface="Calibri" charset="0"/>
                    <a:ea typeface="Calibri" charset="0"/>
                    <a:cs typeface="Calibri" charset="0"/>
                  </a:rPr>
                  <a:t>DATE</a:t>
                </a:r>
                <a:endParaRPr lang="en-US" sz="1867" b="1" spc="400" dirty="0">
                  <a:latin typeface="Calibri" charset="0"/>
                  <a:ea typeface="Calibri" charset="0"/>
                  <a:cs typeface="Calibri" charset="0"/>
                </a:endParaRPr>
              </a:p>
            </p:txBody>
          </p:sp>
          <p:sp>
            <p:nvSpPr>
              <p:cNvPr id="26" name="TextBox 3">
                <a:extLst>
                  <a:ext uri="{FF2B5EF4-FFF2-40B4-BE49-F238E27FC236}">
                    <a16:creationId xmlns:a16="http://schemas.microsoft.com/office/drawing/2014/main" id="{8D743310-9ADD-6D49-B1C8-CE5DBB93D6E0}"/>
                  </a:ext>
                </a:extLst>
              </p:cNvPr>
              <p:cNvSpPr txBox="1">
                <a:spLocks/>
              </p:cNvSpPr>
              <p:nvPr userDrawn="1"/>
            </p:nvSpPr>
            <p:spPr bwMode="auto">
              <a:xfrm>
                <a:off x="2833595" y="1545283"/>
                <a:ext cx="1646819" cy="309600"/>
              </a:xfrm>
              <a:prstGeom prst="rect">
                <a:avLst/>
              </a:prstGeom>
              <a:solidFill>
                <a:srgbClr val="BEFCB5"/>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867" b="1" spc="400" dirty="0">
                    <a:latin typeface="Calibri" charset="0"/>
                    <a:ea typeface="Calibri" charset="0"/>
                    <a:cs typeface="Calibri" charset="0"/>
                  </a:rPr>
                  <a:t>TITLE</a:t>
                </a:r>
              </a:p>
            </p:txBody>
          </p:sp>
        </p:grpSp>
        <p:grpSp>
          <p:nvGrpSpPr>
            <p:cNvPr id="5" name="Group 4">
              <a:extLst>
                <a:ext uri="{FF2B5EF4-FFF2-40B4-BE49-F238E27FC236}">
                  <a16:creationId xmlns:a16="http://schemas.microsoft.com/office/drawing/2014/main" id="{26C40E73-C315-864E-B58B-A4EC41A0690E}"/>
                </a:ext>
              </a:extLst>
            </p:cNvPr>
            <p:cNvGrpSpPr/>
            <p:nvPr userDrawn="1"/>
          </p:nvGrpSpPr>
          <p:grpSpPr>
            <a:xfrm>
              <a:off x="4628967" y="1466572"/>
              <a:ext cx="6095180" cy="784830"/>
              <a:chOff x="4628967" y="1462993"/>
              <a:chExt cx="6095180" cy="784830"/>
            </a:xfrm>
          </p:grpSpPr>
          <p:sp>
            <p:nvSpPr>
              <p:cNvPr id="23" name="TextBox 22">
                <a:extLst>
                  <a:ext uri="{FF2B5EF4-FFF2-40B4-BE49-F238E27FC236}">
                    <a16:creationId xmlns:a16="http://schemas.microsoft.com/office/drawing/2014/main" id="{E6EB34EC-1B19-414E-93B2-2D0301C311A9}"/>
                  </a:ext>
                </a:extLst>
              </p:cNvPr>
              <p:cNvSpPr txBox="1"/>
              <p:nvPr userDrawn="1"/>
            </p:nvSpPr>
            <p:spPr>
              <a:xfrm>
                <a:off x="4655598" y="1462993"/>
                <a:ext cx="6068549" cy="530915"/>
              </a:xfrm>
              <a:prstGeom prst="rect">
                <a:avLst/>
              </a:prstGeom>
              <a:noFill/>
            </p:spPr>
            <p:txBody>
              <a:bodyPr wrap="square" rtlCol="0">
                <a:spAutoFit/>
              </a:bodyPr>
              <a:lstStyle/>
              <a:p>
                <a:pPr algn="l"/>
                <a:r>
                  <a:rPr lang="en-GB" sz="2000" spc="400" dirty="0"/>
                  <a:t>The date, title and learning objective are displayed at the top of the slide in the format to the left.</a:t>
                </a:r>
              </a:p>
            </p:txBody>
          </p:sp>
          <p:cxnSp>
            <p:nvCxnSpPr>
              <p:cNvPr id="4" name="Straight Connector 3">
                <a:extLst>
                  <a:ext uri="{FF2B5EF4-FFF2-40B4-BE49-F238E27FC236}">
                    <a16:creationId xmlns:a16="http://schemas.microsoft.com/office/drawing/2014/main" id="{76C952C1-5B60-354D-8932-4CA13924694E}"/>
                  </a:ext>
                </a:extLst>
              </p:cNvPr>
              <p:cNvCxnSpPr>
                <a:cxnSpLocks/>
              </p:cNvCxnSpPr>
              <p:nvPr userDrawn="1"/>
            </p:nvCxnSpPr>
            <p:spPr>
              <a:xfrm>
                <a:off x="4628967" y="1462993"/>
                <a:ext cx="0" cy="78483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7" name="TextBox 26">
            <a:extLst>
              <a:ext uri="{FF2B5EF4-FFF2-40B4-BE49-F238E27FC236}">
                <a16:creationId xmlns:a16="http://schemas.microsoft.com/office/drawing/2014/main" id="{68ADD22D-EA5E-B241-AFB5-D9C97504938B}"/>
              </a:ext>
            </a:extLst>
          </p:cNvPr>
          <p:cNvSpPr txBox="1"/>
          <p:nvPr userDrawn="1"/>
        </p:nvSpPr>
        <p:spPr>
          <a:xfrm>
            <a:off x="88476" y="100805"/>
            <a:ext cx="5226809" cy="748988"/>
          </a:xfrm>
          <a:prstGeom prst="rect">
            <a:avLst/>
          </a:prstGeom>
          <a:noFill/>
        </p:spPr>
        <p:txBody>
          <a:bodyPr wrap="square" rtlCol="0">
            <a:spAutoFit/>
          </a:bodyPr>
          <a:lstStyle/>
          <a:p>
            <a:pPr algn="l"/>
            <a:r>
              <a:rPr lang="en-GB" sz="4267" b="1" spc="400" dirty="0"/>
              <a:t>Controls &amp; layout</a:t>
            </a:r>
          </a:p>
        </p:txBody>
      </p:sp>
      <p:cxnSp>
        <p:nvCxnSpPr>
          <p:cNvPr id="37" name="Straight Connector 36">
            <a:extLst>
              <a:ext uri="{FF2B5EF4-FFF2-40B4-BE49-F238E27FC236}">
                <a16:creationId xmlns:a16="http://schemas.microsoft.com/office/drawing/2014/main" id="{B21CEB9F-8260-0A40-A91D-D64E181A1844}"/>
              </a:ext>
            </a:extLst>
          </p:cNvPr>
          <p:cNvCxnSpPr>
            <a:cxnSpLocks/>
          </p:cNvCxnSpPr>
          <p:nvPr userDrawn="1"/>
        </p:nvCxnSpPr>
        <p:spPr>
          <a:xfrm>
            <a:off x="88475" y="1561676"/>
            <a:ext cx="119858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55FB869-FA68-0348-A0B3-A6A7ED058E3D}"/>
              </a:ext>
            </a:extLst>
          </p:cNvPr>
          <p:cNvCxnSpPr>
            <a:cxnSpLocks/>
          </p:cNvCxnSpPr>
          <p:nvPr userDrawn="1"/>
        </p:nvCxnSpPr>
        <p:spPr>
          <a:xfrm>
            <a:off x="88475" y="2924065"/>
            <a:ext cx="119858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E86D0D19-A691-2D42-A577-DC2C5D9B44C4}"/>
              </a:ext>
            </a:extLst>
          </p:cNvPr>
          <p:cNvGrpSpPr/>
          <p:nvPr userDrawn="1"/>
        </p:nvGrpSpPr>
        <p:grpSpPr>
          <a:xfrm>
            <a:off x="202618" y="3076648"/>
            <a:ext cx="11871740" cy="2277546"/>
            <a:chOff x="1820342" y="1466572"/>
            <a:chExt cx="8903805" cy="1708160"/>
          </a:xfrm>
        </p:grpSpPr>
        <p:grpSp>
          <p:nvGrpSpPr>
            <p:cNvPr id="29" name="Group 28">
              <a:extLst>
                <a:ext uri="{FF2B5EF4-FFF2-40B4-BE49-F238E27FC236}">
                  <a16:creationId xmlns:a16="http://schemas.microsoft.com/office/drawing/2014/main" id="{B1C10E65-2ACF-0348-8100-AF39CE803DD7}"/>
                </a:ext>
              </a:extLst>
            </p:cNvPr>
            <p:cNvGrpSpPr/>
            <p:nvPr userDrawn="1"/>
          </p:nvGrpSpPr>
          <p:grpSpPr>
            <a:xfrm>
              <a:off x="1820342" y="1504138"/>
              <a:ext cx="2660074" cy="709699"/>
              <a:chOff x="1820342" y="1545283"/>
              <a:chExt cx="2660074" cy="709699"/>
            </a:xfrm>
          </p:grpSpPr>
          <p:sp>
            <p:nvSpPr>
              <p:cNvPr id="33" name="TextBox 4">
                <a:extLst>
                  <a:ext uri="{FF2B5EF4-FFF2-40B4-BE49-F238E27FC236}">
                    <a16:creationId xmlns:a16="http://schemas.microsoft.com/office/drawing/2014/main" id="{92721DFE-88DE-D84A-9D2B-2B626493B5F9}"/>
                  </a:ext>
                </a:extLst>
              </p:cNvPr>
              <p:cNvSpPr txBox="1">
                <a:spLocks/>
              </p:cNvSpPr>
              <p:nvPr userDrawn="1"/>
            </p:nvSpPr>
            <p:spPr bwMode="auto">
              <a:xfrm>
                <a:off x="1820342" y="1945382"/>
                <a:ext cx="2660074" cy="309600"/>
              </a:xfrm>
              <a:prstGeom prst="rect">
                <a:avLst/>
              </a:prstGeom>
              <a:solidFill>
                <a:schemeClr val="tx2"/>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US" sz="1867" b="1" spc="400" dirty="0">
                    <a:latin typeface="Calibri" charset="0"/>
                    <a:ea typeface="Calibri" charset="0"/>
                    <a:cs typeface="Calibri" charset="0"/>
                  </a:rPr>
                  <a:t>KEY TERMS</a:t>
                </a:r>
              </a:p>
            </p:txBody>
          </p:sp>
          <p:sp>
            <p:nvSpPr>
              <p:cNvPr id="34" name="TextBox 9">
                <a:extLst>
                  <a:ext uri="{FF2B5EF4-FFF2-40B4-BE49-F238E27FC236}">
                    <a16:creationId xmlns:a16="http://schemas.microsoft.com/office/drawing/2014/main" id="{484E0F6D-BFC2-484B-B722-17638277FB12}"/>
                  </a:ext>
                </a:extLst>
              </p:cNvPr>
              <p:cNvSpPr txBox="1">
                <a:spLocks/>
              </p:cNvSpPr>
              <p:nvPr userDrawn="1"/>
            </p:nvSpPr>
            <p:spPr bwMode="auto">
              <a:xfrm>
                <a:off x="1820342" y="1545283"/>
                <a:ext cx="914399" cy="309600"/>
              </a:xfrm>
              <a:prstGeom prst="rect">
                <a:avLst/>
              </a:prstGeom>
              <a:solidFill>
                <a:schemeClr val="bg1">
                  <a:lumMod val="85000"/>
                </a:schemeClr>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sz="1867" b="1" spc="400" dirty="0">
                    <a:latin typeface="Calibri" charset="0"/>
                    <a:ea typeface="Calibri" charset="0"/>
                    <a:cs typeface="Calibri" charset="0"/>
                  </a:rPr>
                  <a:t>DATE</a:t>
                </a:r>
                <a:endParaRPr lang="en-US" sz="1867" b="1" spc="400" dirty="0">
                  <a:latin typeface="Calibri" charset="0"/>
                  <a:ea typeface="Calibri" charset="0"/>
                  <a:cs typeface="Calibri" charset="0"/>
                </a:endParaRPr>
              </a:p>
            </p:txBody>
          </p:sp>
          <p:sp>
            <p:nvSpPr>
              <p:cNvPr id="35" name="TextBox 3">
                <a:extLst>
                  <a:ext uri="{FF2B5EF4-FFF2-40B4-BE49-F238E27FC236}">
                    <a16:creationId xmlns:a16="http://schemas.microsoft.com/office/drawing/2014/main" id="{32C3C2D2-F91D-7241-B45F-464BD4B284A4}"/>
                  </a:ext>
                </a:extLst>
              </p:cNvPr>
              <p:cNvSpPr txBox="1">
                <a:spLocks/>
              </p:cNvSpPr>
              <p:nvPr userDrawn="1"/>
            </p:nvSpPr>
            <p:spPr bwMode="auto">
              <a:xfrm>
                <a:off x="2833595" y="1545283"/>
                <a:ext cx="1646819" cy="309600"/>
              </a:xfrm>
              <a:prstGeom prst="rect">
                <a:avLst/>
              </a:prstGeom>
              <a:solidFill>
                <a:srgbClr val="BEFCB5"/>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867" b="1" spc="400" dirty="0">
                    <a:latin typeface="Calibri" charset="0"/>
                    <a:ea typeface="Calibri" charset="0"/>
                    <a:cs typeface="Calibri" charset="0"/>
                  </a:rPr>
                  <a:t>TITLE</a:t>
                </a:r>
              </a:p>
            </p:txBody>
          </p:sp>
        </p:grpSp>
        <p:grpSp>
          <p:nvGrpSpPr>
            <p:cNvPr id="30" name="Group 29">
              <a:extLst>
                <a:ext uri="{FF2B5EF4-FFF2-40B4-BE49-F238E27FC236}">
                  <a16:creationId xmlns:a16="http://schemas.microsoft.com/office/drawing/2014/main" id="{A7B047A2-CE3D-134E-8E59-58E7A29C6D8C}"/>
                </a:ext>
              </a:extLst>
            </p:cNvPr>
            <p:cNvGrpSpPr/>
            <p:nvPr userDrawn="1"/>
          </p:nvGrpSpPr>
          <p:grpSpPr>
            <a:xfrm>
              <a:off x="4628967" y="1466572"/>
              <a:ext cx="6095180" cy="1708160"/>
              <a:chOff x="4628967" y="1462993"/>
              <a:chExt cx="6095180" cy="1708160"/>
            </a:xfrm>
          </p:grpSpPr>
          <p:sp>
            <p:nvSpPr>
              <p:cNvPr id="31" name="TextBox 30">
                <a:extLst>
                  <a:ext uri="{FF2B5EF4-FFF2-40B4-BE49-F238E27FC236}">
                    <a16:creationId xmlns:a16="http://schemas.microsoft.com/office/drawing/2014/main" id="{67DE6CA1-D0E7-884C-9AFA-77EFD5EB6037}"/>
                  </a:ext>
                </a:extLst>
              </p:cNvPr>
              <p:cNvSpPr txBox="1"/>
              <p:nvPr userDrawn="1"/>
            </p:nvSpPr>
            <p:spPr>
              <a:xfrm>
                <a:off x="4655598" y="1462993"/>
                <a:ext cx="6068549" cy="1685077"/>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sz="2000" spc="400" dirty="0"/>
                  <a:t>Click on the key terms control to show/hide the lesson’s key terms. The key terms textbox will replace the learning objective when shown. The key terms control is displayed in the bottom right hand corner of the slide. </a:t>
                </a:r>
                <a:r>
                  <a:rPr lang="en-GB" sz="2000" b="1" spc="400" dirty="0"/>
                  <a:t>Note: </a:t>
                </a:r>
                <a:r>
                  <a:rPr lang="en-GB" sz="2000" spc="400" dirty="0"/>
                  <a:t>As you move onto the next slide the key terms textbox will be replaced by the learning objective textbox.</a:t>
                </a:r>
              </a:p>
            </p:txBody>
          </p:sp>
          <p:cxnSp>
            <p:nvCxnSpPr>
              <p:cNvPr id="32" name="Straight Connector 31">
                <a:extLst>
                  <a:ext uri="{FF2B5EF4-FFF2-40B4-BE49-F238E27FC236}">
                    <a16:creationId xmlns:a16="http://schemas.microsoft.com/office/drawing/2014/main" id="{0C4F4C72-B359-F148-B3E7-89A1E826ADB4}"/>
                  </a:ext>
                </a:extLst>
              </p:cNvPr>
              <p:cNvCxnSpPr>
                <a:cxnSpLocks/>
              </p:cNvCxnSpPr>
              <p:nvPr userDrawn="1"/>
            </p:nvCxnSpPr>
            <p:spPr>
              <a:xfrm>
                <a:off x="4628967" y="1462993"/>
                <a:ext cx="0" cy="17081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0" name="TextBox 39">
            <a:extLst>
              <a:ext uri="{FF2B5EF4-FFF2-40B4-BE49-F238E27FC236}">
                <a16:creationId xmlns:a16="http://schemas.microsoft.com/office/drawing/2014/main" id="{E94B164F-2AED-F544-8BBE-B48ABDE56ECA}"/>
              </a:ext>
            </a:extLst>
          </p:cNvPr>
          <p:cNvSpPr txBox="1"/>
          <p:nvPr userDrawn="1"/>
        </p:nvSpPr>
        <p:spPr>
          <a:xfrm>
            <a:off x="2791201" y="5008650"/>
            <a:ext cx="1003801" cy="307777"/>
          </a:xfrm>
          <a:prstGeom prst="rect">
            <a:avLst/>
          </a:prstGeom>
          <a:solidFill>
            <a:schemeClr val="accent6">
              <a:lumMod val="90000"/>
            </a:schemeClr>
          </a:solidFill>
          <a:ln w="12700">
            <a:solidFill>
              <a:schemeClr val="tx1"/>
            </a:solidFill>
          </a:ln>
        </p:spPr>
        <p:txBody>
          <a:bodyPr wrap="none" rtlCol="0" anchor="ctr">
            <a:spAutoFit/>
          </a:bodyPr>
          <a:lstStyle/>
          <a:p>
            <a:pPr algn="ctr"/>
            <a:r>
              <a:rPr lang="en-GB" sz="1400" dirty="0"/>
              <a:t>KEY TERMS</a:t>
            </a:r>
          </a:p>
        </p:txBody>
      </p:sp>
      <p:cxnSp>
        <p:nvCxnSpPr>
          <p:cNvPr id="49" name="Straight Connector 48">
            <a:extLst>
              <a:ext uri="{FF2B5EF4-FFF2-40B4-BE49-F238E27FC236}">
                <a16:creationId xmlns:a16="http://schemas.microsoft.com/office/drawing/2014/main" id="{10DB2AF2-DE73-844E-B6FB-70B8E68C139D}"/>
              </a:ext>
            </a:extLst>
          </p:cNvPr>
          <p:cNvCxnSpPr>
            <a:cxnSpLocks/>
          </p:cNvCxnSpPr>
          <p:nvPr userDrawn="1"/>
        </p:nvCxnSpPr>
        <p:spPr>
          <a:xfrm>
            <a:off x="88475" y="5526591"/>
            <a:ext cx="119858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AAF0745E-FF13-B842-9A47-5DA624498451}"/>
              </a:ext>
            </a:extLst>
          </p:cNvPr>
          <p:cNvGrpSpPr/>
          <p:nvPr userDrawn="1"/>
        </p:nvGrpSpPr>
        <p:grpSpPr>
          <a:xfrm>
            <a:off x="217472" y="5693425"/>
            <a:ext cx="11856886" cy="1046440"/>
            <a:chOff x="163104" y="4204754"/>
            <a:chExt cx="8892664" cy="784830"/>
          </a:xfrm>
        </p:grpSpPr>
        <p:grpSp>
          <p:nvGrpSpPr>
            <p:cNvPr id="43" name="Group 42">
              <a:extLst>
                <a:ext uri="{FF2B5EF4-FFF2-40B4-BE49-F238E27FC236}">
                  <a16:creationId xmlns:a16="http://schemas.microsoft.com/office/drawing/2014/main" id="{BF097B06-3F7C-4E42-9395-239B18628089}"/>
                </a:ext>
              </a:extLst>
            </p:cNvPr>
            <p:cNvGrpSpPr/>
            <p:nvPr userDrawn="1"/>
          </p:nvGrpSpPr>
          <p:grpSpPr>
            <a:xfrm>
              <a:off x="1041844" y="4204754"/>
              <a:ext cx="8013924" cy="784830"/>
              <a:chOff x="2923539" y="1462993"/>
              <a:chExt cx="7800608" cy="784830"/>
            </a:xfrm>
          </p:grpSpPr>
          <p:sp>
            <p:nvSpPr>
              <p:cNvPr id="44" name="TextBox 43">
                <a:extLst>
                  <a:ext uri="{FF2B5EF4-FFF2-40B4-BE49-F238E27FC236}">
                    <a16:creationId xmlns:a16="http://schemas.microsoft.com/office/drawing/2014/main" id="{B08AEA2E-8BC0-4D4F-A0BE-DBD8FE7C2D12}"/>
                  </a:ext>
                </a:extLst>
              </p:cNvPr>
              <p:cNvSpPr txBox="1"/>
              <p:nvPr userDrawn="1"/>
            </p:nvSpPr>
            <p:spPr>
              <a:xfrm>
                <a:off x="2955752" y="1462993"/>
                <a:ext cx="7768395" cy="761747"/>
              </a:xfrm>
              <a:prstGeom prst="rect">
                <a:avLst/>
              </a:prstGeom>
              <a:noFill/>
            </p:spPr>
            <p:txBody>
              <a:bodyPr wrap="square" rtlCol="0">
                <a:spAutoFit/>
              </a:bodyPr>
              <a:lstStyle/>
              <a:p>
                <a:pPr algn="l"/>
                <a:r>
                  <a:rPr lang="en-GB" sz="2000" spc="400" dirty="0"/>
                  <a:t>Click on the solution control to show/hide a solution to a question. These controls are often, but not always, rotated </a:t>
                </a:r>
                <a:r>
                  <a:rPr lang="en-GB" sz="2000" spc="400" dirty="0" err="1"/>
                  <a:t>90</a:t>
                </a:r>
                <a:r>
                  <a:rPr lang="en-GB" sz="2000" spc="400" baseline="30000" dirty="0" err="1"/>
                  <a:t>o</a:t>
                </a:r>
                <a:r>
                  <a:rPr lang="en-GB" sz="2000" spc="400" dirty="0"/>
                  <a:t> anti-clockwise to make greater use of space for questions.</a:t>
                </a:r>
              </a:p>
            </p:txBody>
          </p:sp>
          <p:cxnSp>
            <p:nvCxnSpPr>
              <p:cNvPr id="45" name="Straight Connector 44">
                <a:extLst>
                  <a:ext uri="{FF2B5EF4-FFF2-40B4-BE49-F238E27FC236}">
                    <a16:creationId xmlns:a16="http://schemas.microsoft.com/office/drawing/2014/main" id="{05EA8D9A-B0DC-BF48-9813-4893BBC57B97}"/>
                  </a:ext>
                </a:extLst>
              </p:cNvPr>
              <p:cNvCxnSpPr>
                <a:cxnSpLocks/>
              </p:cNvCxnSpPr>
              <p:nvPr userDrawn="1"/>
            </p:nvCxnSpPr>
            <p:spPr>
              <a:xfrm>
                <a:off x="2923539" y="1462993"/>
                <a:ext cx="0" cy="78483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 name="TextBox 52">
              <a:extLst>
                <a:ext uri="{FF2B5EF4-FFF2-40B4-BE49-F238E27FC236}">
                  <a16:creationId xmlns:a16="http://schemas.microsoft.com/office/drawing/2014/main" id="{F6B2249C-CE64-CE4A-BD2A-DB21FB39A501}"/>
                </a:ext>
              </a:extLst>
            </p:cNvPr>
            <p:cNvSpPr txBox="1"/>
            <p:nvPr userDrawn="1"/>
          </p:nvSpPr>
          <p:spPr>
            <a:xfrm>
              <a:off x="163104" y="4253694"/>
              <a:ext cx="716062" cy="258533"/>
            </a:xfrm>
            <a:prstGeom prst="rect">
              <a:avLst/>
            </a:prstGeom>
            <a:solidFill>
              <a:schemeClr val="accent3"/>
            </a:solidFill>
            <a:ln w="12700">
              <a:solidFill>
                <a:schemeClr val="tx1"/>
              </a:solidFill>
            </a:ln>
          </p:spPr>
          <p:txBody>
            <a:bodyPr wrap="none" lIns="45720" tIns="18288" rIns="45720" bIns="18288" rtlCol="0">
              <a:spAutoFit/>
            </a:bodyPr>
            <a:lstStyle/>
            <a:p>
              <a:pPr algn="ctr"/>
              <a:r>
                <a:rPr lang="en-GB" sz="2000" dirty="0"/>
                <a:t>Solution</a:t>
              </a:r>
            </a:p>
          </p:txBody>
        </p:sp>
      </p:grpSp>
      <p:pic>
        <p:nvPicPr>
          <p:cNvPr id="39" name="Picture 38">
            <a:extLst>
              <a:ext uri="{FF2B5EF4-FFF2-40B4-BE49-F238E27FC236}">
                <a16:creationId xmlns:a16="http://schemas.microsoft.com/office/drawing/2014/main" id="{A1B53C23-9949-CE4C-BC8F-13541023545A}"/>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0991784" y="213762"/>
            <a:ext cx="966459" cy="1123303"/>
          </a:xfrm>
          <a:prstGeom prst="rect">
            <a:avLst/>
          </a:prstGeom>
        </p:spPr>
      </p:pic>
    </p:spTree>
    <p:extLst>
      <p:ext uri="{BB962C8B-B14F-4D97-AF65-F5344CB8AC3E}">
        <p14:creationId xmlns:p14="http://schemas.microsoft.com/office/powerpoint/2010/main" val="5901530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_Basic">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9885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C99B6C-D7BE-45CF-7B1B-60503A1CE0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DD12C932-DCE4-179F-E536-96F0B19D3D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38D200A-75E7-1797-A70B-1FBA53824C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5D98F5-B582-4689-844C-C637B06A75C6}" type="datetimeFigureOut">
              <a:rPr lang="en-AU" smtClean="0"/>
              <a:t>26/10/2023</a:t>
            </a:fld>
            <a:endParaRPr lang="en-AU"/>
          </a:p>
        </p:txBody>
      </p:sp>
      <p:sp>
        <p:nvSpPr>
          <p:cNvPr id="5" name="Footer Placeholder 4">
            <a:extLst>
              <a:ext uri="{FF2B5EF4-FFF2-40B4-BE49-F238E27FC236}">
                <a16:creationId xmlns:a16="http://schemas.microsoft.com/office/drawing/2014/main" id="{F75C5A01-8DAA-3D10-6768-5F931DCDB6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1D20D556-C829-CC91-211D-5ABDC3140A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38944B-F09C-4228-B7F8-E5B2E7E90A13}" type="slidenum">
              <a:rPr lang="en-AU" smtClean="0"/>
              <a:t>‹#›</a:t>
            </a:fld>
            <a:endParaRPr lang="en-AU"/>
          </a:p>
        </p:txBody>
      </p:sp>
    </p:spTree>
    <p:extLst>
      <p:ext uri="{BB962C8B-B14F-4D97-AF65-F5344CB8AC3E}">
        <p14:creationId xmlns:p14="http://schemas.microsoft.com/office/powerpoint/2010/main" val="3222852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71D2E028-A820-384C-809A-72BE9005B3B2}"/>
              </a:ext>
            </a:extLst>
          </p:cNvPr>
          <p:cNvSpPr txBox="1">
            <a:spLocks/>
          </p:cNvSpPr>
          <p:nvPr userDrawn="1"/>
        </p:nvSpPr>
        <p:spPr bwMode="auto">
          <a:xfrm>
            <a:off x="101748" y="651245"/>
            <a:ext cx="11979419" cy="412800"/>
          </a:xfrm>
          <a:prstGeom prst="rect">
            <a:avLst/>
          </a:prstGeom>
          <a:solidFill>
            <a:srgbClr val="FFFD91"/>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US" sz="1867" b="1" dirty="0">
                <a:latin typeface="Calibri" charset="0"/>
                <a:ea typeface="Calibri" charset="0"/>
                <a:cs typeface="Calibri" charset="0"/>
              </a:rPr>
              <a:t>We are learning to:  </a:t>
            </a:r>
            <a:r>
              <a:rPr lang="en-GB" sz="1867" b="0" noProof="0" dirty="0">
                <a:latin typeface="Calibri" charset="0"/>
                <a:ea typeface="Calibri" charset="0"/>
                <a:cs typeface="Calibri" charset="0"/>
              </a:rPr>
              <a:t>Interpret and draw distance-time graphs in context.</a:t>
            </a:r>
            <a:endParaRPr lang="en-US" sz="1867" b="0" dirty="0">
              <a:latin typeface="Calibri" charset="0"/>
              <a:ea typeface="Calibri" charset="0"/>
              <a:cs typeface="Calibri" charset="0"/>
            </a:endParaRPr>
          </a:p>
        </p:txBody>
      </p:sp>
      <p:sp>
        <p:nvSpPr>
          <p:cNvPr id="3" name="TextBox 9">
            <a:extLst>
              <a:ext uri="{FF2B5EF4-FFF2-40B4-BE49-F238E27FC236}">
                <a16:creationId xmlns:a16="http://schemas.microsoft.com/office/drawing/2014/main" id="{6B21F474-0336-AB40-BBFF-B5EB883AD2DC}"/>
              </a:ext>
            </a:extLst>
          </p:cNvPr>
          <p:cNvSpPr txBox="1">
            <a:spLocks/>
          </p:cNvSpPr>
          <p:nvPr userDrawn="1"/>
        </p:nvSpPr>
        <p:spPr bwMode="auto">
          <a:xfrm>
            <a:off x="101748" y="117780"/>
            <a:ext cx="3840000" cy="412800"/>
          </a:xfrm>
          <a:prstGeom prst="rect">
            <a:avLst/>
          </a:prstGeom>
          <a:solidFill>
            <a:schemeClr val="bg1">
              <a:lumMod val="85000"/>
            </a:schemeClr>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fld id="{31CA1613-C89A-4644-A77A-4C72E9291592}" type="datetime2">
              <a:rPr lang="en-GB" sz="1867" b="1" smtClean="0">
                <a:latin typeface="Calibri" charset="0"/>
                <a:ea typeface="Calibri" charset="0"/>
                <a:cs typeface="Calibri" charset="0"/>
              </a:rPr>
              <a:t>Thursday, 26 October 2023</a:t>
            </a:fld>
            <a:endParaRPr lang="en-US" sz="1867" b="1" dirty="0">
              <a:latin typeface="Calibri" charset="0"/>
              <a:ea typeface="Calibri" charset="0"/>
              <a:cs typeface="Calibri" charset="0"/>
            </a:endParaRPr>
          </a:p>
        </p:txBody>
      </p:sp>
      <p:sp>
        <p:nvSpPr>
          <p:cNvPr id="4" name="TextBox 3">
            <a:extLst>
              <a:ext uri="{FF2B5EF4-FFF2-40B4-BE49-F238E27FC236}">
                <a16:creationId xmlns:a16="http://schemas.microsoft.com/office/drawing/2014/main" id="{2D765288-31B0-7D46-ADA1-7D75CB44BB17}"/>
              </a:ext>
            </a:extLst>
          </p:cNvPr>
          <p:cNvSpPr txBox="1">
            <a:spLocks/>
          </p:cNvSpPr>
          <p:nvPr userDrawn="1"/>
        </p:nvSpPr>
        <p:spPr bwMode="auto">
          <a:xfrm>
            <a:off x="4078780" y="117780"/>
            <a:ext cx="8002385" cy="412800"/>
          </a:xfrm>
          <a:prstGeom prst="rect">
            <a:avLst/>
          </a:prstGeom>
          <a:solidFill>
            <a:schemeClr val="accent2"/>
          </a:solidFill>
          <a:ln w="12700">
            <a:solidFill>
              <a:schemeClr val="tx1"/>
            </a:solidFill>
            <a:miter lim="800000"/>
            <a:headEnd/>
            <a:tailEnd/>
          </a:ln>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sz="1867" b="1" noProof="0" dirty="0">
                <a:latin typeface="Calibri" charset="0"/>
                <a:ea typeface="Calibri" charset="0"/>
                <a:cs typeface="Calibri" charset="0"/>
              </a:rPr>
              <a:t>We are learning about: </a:t>
            </a:r>
            <a:r>
              <a:rPr lang="en-GB" sz="1867" b="0" spc="0" noProof="0" dirty="0">
                <a:latin typeface="Calibri" charset="0"/>
                <a:ea typeface="Calibri" charset="0"/>
                <a:cs typeface="Calibri" charset="0"/>
              </a:rPr>
              <a:t> Distance-time graphs</a:t>
            </a:r>
            <a:endParaRPr lang="en-GB" sz="1867" spc="0" noProof="0" dirty="0">
              <a:latin typeface="Calibri" charset="0"/>
              <a:ea typeface="Calibri" charset="0"/>
              <a:cs typeface="Calibri" charset="0"/>
            </a:endParaRPr>
          </a:p>
        </p:txBody>
      </p:sp>
      <p:cxnSp>
        <p:nvCxnSpPr>
          <p:cNvPr id="5" name="Straight Connector 4">
            <a:extLst>
              <a:ext uri="{FF2B5EF4-FFF2-40B4-BE49-F238E27FC236}">
                <a16:creationId xmlns:a16="http://schemas.microsoft.com/office/drawing/2014/main" id="{FA91A4BE-1372-D845-A343-3EB045B018EA}"/>
              </a:ext>
            </a:extLst>
          </p:cNvPr>
          <p:cNvCxnSpPr>
            <a:cxnSpLocks/>
          </p:cNvCxnSpPr>
          <p:nvPr userDrawn="1"/>
        </p:nvCxnSpPr>
        <p:spPr>
          <a:xfrm>
            <a:off x="0" y="1188908"/>
            <a:ext cx="1219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4">
            <a:extLst>
              <a:ext uri="{FF2B5EF4-FFF2-40B4-BE49-F238E27FC236}">
                <a16:creationId xmlns:a16="http://schemas.microsoft.com/office/drawing/2014/main" id="{ECD868C6-9926-0A4B-BBFA-CAFCA5221881}"/>
              </a:ext>
            </a:extLst>
          </p:cNvPr>
          <p:cNvSpPr txBox="1">
            <a:spLocks/>
          </p:cNvSpPr>
          <p:nvPr userDrawn="1"/>
        </p:nvSpPr>
        <p:spPr bwMode="auto">
          <a:xfrm>
            <a:off x="101748" y="651245"/>
            <a:ext cx="11979419" cy="412800"/>
          </a:xfrm>
          <a:prstGeom prst="rect">
            <a:avLst/>
          </a:prstGeom>
          <a:solidFill>
            <a:schemeClr val="tx2"/>
          </a:solidFill>
          <a:ln w="12700">
            <a:solidFill>
              <a:schemeClr val="tx1"/>
            </a:solidFill>
          </a:ln>
        </p:spPr>
        <p:txBody>
          <a:bodyPr anchor="ctr"/>
          <a:lstStyle>
            <a:lvl1pPr eaLnBrk="0" hangingPunct="0">
              <a:defRPr>
                <a:solidFill>
                  <a:schemeClr val="tx1"/>
                </a:solidFill>
                <a:latin typeface="Arial" charset="0"/>
              </a:defRPr>
            </a:lvl1pPr>
            <a:lvl2pPr marL="877888" indent="-342900" eaLnBrk="0" hangingPunct="0">
              <a:defRPr>
                <a:solidFill>
                  <a:schemeClr val="tx1"/>
                </a:solidFill>
                <a:latin typeface="Arial" charset="0"/>
              </a:defRPr>
            </a:lvl2pPr>
            <a:lvl3pPr marL="1400175" indent="-342900" eaLnBrk="0" hangingPunct="0">
              <a:defRPr>
                <a:solidFill>
                  <a:schemeClr val="tx1"/>
                </a:solidFill>
                <a:latin typeface="Arial" charset="0"/>
              </a:defRPr>
            </a:lvl3pPr>
            <a:lvl4pPr marL="1922463" indent="-342900" eaLnBrk="0" hangingPunct="0">
              <a:defRPr>
                <a:solidFill>
                  <a:schemeClr val="tx1"/>
                </a:solidFill>
                <a:latin typeface="Arial" charset="0"/>
              </a:defRPr>
            </a:lvl4pPr>
            <a:lvl5pPr marL="2444750" indent="-342900" eaLnBrk="0" hangingPunct="0">
              <a:defRPr>
                <a:solidFill>
                  <a:schemeClr val="tx1"/>
                </a:solidFill>
                <a:latin typeface="Arial" charset="0"/>
              </a:defRPr>
            </a:lvl5pPr>
            <a:lvl6pPr marL="2901950" indent="-342900" eaLnBrk="0" fontAlgn="base" hangingPunct="0">
              <a:spcBef>
                <a:spcPct val="0"/>
              </a:spcBef>
              <a:spcAft>
                <a:spcPct val="0"/>
              </a:spcAft>
              <a:defRPr>
                <a:solidFill>
                  <a:schemeClr val="tx1"/>
                </a:solidFill>
                <a:latin typeface="Arial" charset="0"/>
              </a:defRPr>
            </a:lvl6pPr>
            <a:lvl7pPr marL="3359150" indent="-342900" eaLnBrk="0" fontAlgn="base" hangingPunct="0">
              <a:spcBef>
                <a:spcPct val="0"/>
              </a:spcBef>
              <a:spcAft>
                <a:spcPct val="0"/>
              </a:spcAft>
              <a:defRPr>
                <a:solidFill>
                  <a:schemeClr val="tx1"/>
                </a:solidFill>
                <a:latin typeface="Arial" charset="0"/>
              </a:defRPr>
            </a:lvl7pPr>
            <a:lvl8pPr marL="3816350" indent="-342900" eaLnBrk="0" fontAlgn="base" hangingPunct="0">
              <a:spcBef>
                <a:spcPct val="0"/>
              </a:spcBef>
              <a:spcAft>
                <a:spcPct val="0"/>
              </a:spcAft>
              <a:defRPr>
                <a:solidFill>
                  <a:schemeClr val="tx1"/>
                </a:solidFill>
                <a:latin typeface="Arial" charset="0"/>
              </a:defRPr>
            </a:lvl8pPr>
            <a:lvl9pPr marL="4273550" indent="-342900" eaLnBrk="0" fontAlgn="base" hangingPunct="0">
              <a:spcBef>
                <a:spcPct val="0"/>
              </a:spcBef>
              <a:spcAft>
                <a:spcPct val="0"/>
              </a:spcAft>
              <a:defRPr>
                <a:solidFill>
                  <a:schemeClr val="tx1"/>
                </a:solidFill>
                <a:latin typeface="Arial" charset="0"/>
              </a:defRPr>
            </a:lvl9pPr>
          </a:lstStyle>
          <a:p>
            <a:pPr algn="l" eaLnBrk="1" hangingPunct="1">
              <a:defRPr/>
            </a:pPr>
            <a:r>
              <a:rPr lang="en-GB" sz="1867" b="1" noProof="0" dirty="0">
                <a:latin typeface="Calibri" charset="0"/>
                <a:ea typeface="Calibri" charset="0"/>
                <a:cs typeface="Calibri" charset="0"/>
              </a:rPr>
              <a:t>Key terms:</a:t>
            </a:r>
            <a:r>
              <a:rPr lang="en-GB" sz="1867" b="0" baseline="0" noProof="0" dirty="0">
                <a:latin typeface="Calibri" charset="0"/>
                <a:ea typeface="Calibri" charset="0"/>
                <a:cs typeface="Calibri" charset="0"/>
              </a:rPr>
              <a:t>  Co</a:t>
            </a:r>
            <a:r>
              <a:rPr lang="en-GB" sz="1867" b="0" dirty="0" err="1">
                <a:latin typeface="Calibri" charset="0"/>
                <a:ea typeface="Calibri" charset="0"/>
                <a:cs typeface="Calibri" charset="0"/>
              </a:rPr>
              <a:t>nstant</a:t>
            </a:r>
            <a:r>
              <a:rPr lang="en-GB" sz="1867" b="0" dirty="0">
                <a:latin typeface="Calibri" charset="0"/>
                <a:ea typeface="Calibri" charset="0"/>
                <a:cs typeface="Calibri" charset="0"/>
              </a:rPr>
              <a:t>,</a:t>
            </a:r>
            <a:r>
              <a:rPr lang="en-GB" sz="1867" b="0" baseline="0" dirty="0">
                <a:latin typeface="Calibri" charset="0"/>
                <a:ea typeface="Calibri" charset="0"/>
                <a:cs typeface="Calibri" charset="0"/>
              </a:rPr>
              <a:t> distance, divide, gradient, scale, </a:t>
            </a:r>
            <a:r>
              <a:rPr lang="en-GB" sz="1867" b="0" dirty="0">
                <a:latin typeface="Calibri" charset="0"/>
                <a:ea typeface="Calibri" charset="0"/>
                <a:cs typeface="Calibri" charset="0"/>
              </a:rPr>
              <a:t>speed, time, units</a:t>
            </a:r>
            <a:endParaRPr lang="en-GB" sz="1867" b="0" noProof="0" dirty="0">
              <a:latin typeface="Calibri" charset="0"/>
              <a:ea typeface="Calibri" charset="0"/>
              <a:cs typeface="Calibri" charset="0"/>
            </a:endParaRPr>
          </a:p>
        </p:txBody>
      </p:sp>
      <p:sp>
        <p:nvSpPr>
          <p:cNvPr id="7" name="TextBox 6">
            <a:extLst>
              <a:ext uri="{FF2B5EF4-FFF2-40B4-BE49-F238E27FC236}">
                <a16:creationId xmlns:a16="http://schemas.microsoft.com/office/drawing/2014/main" id="{DEF70ACC-FC36-3A47-AAFD-F601EE139B53}"/>
              </a:ext>
            </a:extLst>
          </p:cNvPr>
          <p:cNvSpPr txBox="1"/>
          <p:nvPr userDrawn="1"/>
        </p:nvSpPr>
        <p:spPr>
          <a:xfrm>
            <a:off x="10676065" y="6111846"/>
            <a:ext cx="1587293" cy="461665"/>
          </a:xfrm>
          <a:prstGeom prst="rect">
            <a:avLst/>
          </a:prstGeom>
          <a:solidFill>
            <a:schemeClr val="accent6">
              <a:lumMod val="90000"/>
            </a:schemeClr>
          </a:solidFill>
          <a:ln w="12700">
            <a:solidFill>
              <a:schemeClr val="tx1"/>
            </a:solidFill>
          </a:ln>
        </p:spPr>
        <p:txBody>
          <a:bodyPr wrap="none" rtlCol="0">
            <a:spAutoFit/>
          </a:bodyPr>
          <a:lstStyle/>
          <a:p>
            <a:pPr algn="ctr"/>
            <a:r>
              <a:rPr lang="en-GB" sz="2400" dirty="0"/>
              <a:t>KEY TERMS</a:t>
            </a:r>
          </a:p>
        </p:txBody>
      </p:sp>
      <p:sp>
        <p:nvSpPr>
          <p:cNvPr id="8" name="TextBox 7">
            <a:extLst>
              <a:ext uri="{FF2B5EF4-FFF2-40B4-BE49-F238E27FC236}">
                <a16:creationId xmlns:a16="http://schemas.microsoft.com/office/drawing/2014/main" id="{E949F5F1-665A-C04E-A669-71FD4AEE79EA}"/>
              </a:ext>
            </a:extLst>
          </p:cNvPr>
          <p:cNvSpPr txBox="1"/>
          <p:nvPr userDrawn="1"/>
        </p:nvSpPr>
        <p:spPr>
          <a:xfrm>
            <a:off x="10676065" y="6111846"/>
            <a:ext cx="1587293" cy="461665"/>
          </a:xfrm>
          <a:prstGeom prst="rect">
            <a:avLst/>
          </a:prstGeom>
          <a:solidFill>
            <a:schemeClr val="accent2">
              <a:lumMod val="90000"/>
            </a:schemeClr>
          </a:solidFill>
          <a:ln w="12700">
            <a:solidFill>
              <a:schemeClr val="tx1"/>
            </a:solidFill>
          </a:ln>
        </p:spPr>
        <p:txBody>
          <a:bodyPr wrap="none" rtlCol="0">
            <a:spAutoFit/>
          </a:bodyPr>
          <a:lstStyle/>
          <a:p>
            <a:pPr algn="ctr"/>
            <a:r>
              <a:rPr lang="en-GB" sz="2400" dirty="0"/>
              <a:t>KEY TERMS</a:t>
            </a:r>
          </a:p>
        </p:txBody>
      </p:sp>
      <p:sp>
        <p:nvSpPr>
          <p:cNvPr id="10" name="Rectangle 9">
            <a:extLst>
              <a:ext uri="{FF2B5EF4-FFF2-40B4-BE49-F238E27FC236}">
                <a16:creationId xmlns:a16="http://schemas.microsoft.com/office/drawing/2014/main" id="{4E63769C-FE9E-9F46-BD65-E961F9D36AE5}"/>
              </a:ext>
            </a:extLst>
          </p:cNvPr>
          <p:cNvSpPr/>
          <p:nvPr userDrawn="1"/>
        </p:nvSpPr>
        <p:spPr>
          <a:xfrm>
            <a:off x="-3577" y="6052406"/>
            <a:ext cx="12195577" cy="830997"/>
          </a:xfrm>
          <a:prstGeom prst="rect">
            <a:avLst/>
          </a:prstGeom>
        </p:spPr>
        <p:txBody>
          <a:bodyPr wrap="square" anchor="b">
            <a:spAutoFit/>
          </a:bodyPr>
          <a:lstStyle/>
          <a:p>
            <a:pPr marL="184142" indent="-184142">
              <a:buFont typeface="Arial" panose="020B0604020202020204" pitchFamily="34" charset="0"/>
              <a:buChar char="•"/>
            </a:pPr>
            <a:r>
              <a:rPr lang="en-GB" sz="1600" dirty="0">
                <a:solidFill>
                  <a:schemeClr val="bg1">
                    <a:lumMod val="50000"/>
                  </a:schemeClr>
                </a:solidFill>
                <a:latin typeface="Calibri" charset="0"/>
                <a:ea typeface="Calibri" charset="0"/>
                <a:cs typeface="Calibri" charset="0"/>
              </a:rPr>
              <a:t>Developing learners will be able to interpret information from distance-time graphs.</a:t>
            </a:r>
          </a:p>
          <a:p>
            <a:pPr marL="184142" indent="-184142">
              <a:buFont typeface="Arial" panose="020B0604020202020204" pitchFamily="34" charset="0"/>
              <a:buChar char="•"/>
            </a:pPr>
            <a:r>
              <a:rPr lang="en-GB" sz="1600" dirty="0">
                <a:solidFill>
                  <a:schemeClr val="bg1">
                    <a:lumMod val="50000"/>
                  </a:schemeClr>
                </a:solidFill>
                <a:latin typeface="Calibri" charset="0"/>
                <a:ea typeface="Calibri" charset="0"/>
                <a:cs typeface="Calibri" charset="0"/>
              </a:rPr>
              <a:t>Secure learners will be able to identify the scale used on distance-time graphs.</a:t>
            </a:r>
          </a:p>
          <a:p>
            <a:pPr marL="184142" indent="-184142">
              <a:buFont typeface="Arial" panose="020B0604020202020204" pitchFamily="34" charset="0"/>
              <a:buChar char="•"/>
            </a:pPr>
            <a:r>
              <a:rPr lang="en-GB" sz="1600" dirty="0">
                <a:solidFill>
                  <a:schemeClr val="bg1">
                    <a:lumMod val="50000"/>
                  </a:schemeClr>
                </a:solidFill>
                <a:latin typeface="Calibri" charset="0"/>
                <a:ea typeface="Calibri" charset="0"/>
                <a:cs typeface="Calibri" charset="0"/>
              </a:rPr>
              <a:t>Excelling learners will be able to plot information onto a distance-time graph.</a:t>
            </a:r>
          </a:p>
        </p:txBody>
      </p:sp>
      <p:cxnSp>
        <p:nvCxnSpPr>
          <p:cNvPr id="13" name="Straight Connector 12">
            <a:extLst>
              <a:ext uri="{FF2B5EF4-FFF2-40B4-BE49-F238E27FC236}">
                <a16:creationId xmlns:a16="http://schemas.microsoft.com/office/drawing/2014/main" id="{F8755F17-9300-5B4E-9FB7-AA7507610099}"/>
              </a:ext>
            </a:extLst>
          </p:cNvPr>
          <p:cNvCxnSpPr>
            <a:cxnSpLocks/>
          </p:cNvCxnSpPr>
          <p:nvPr userDrawn="1"/>
        </p:nvCxnSpPr>
        <p:spPr>
          <a:xfrm>
            <a:off x="0" y="6009732"/>
            <a:ext cx="1219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01349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childTnLst>
              </p:cTn>
              <p:nextCondLst>
                <p:cond evt="onClick" delay="0">
                  <p:tgtEl>
                    <p:spTgt spid="7"/>
                  </p:tgtEl>
                </p:cond>
              </p:nextCondLst>
            </p:seq>
            <p:seq concurrent="1" nextAc="seek">
              <p:cTn id="11" restart="whenNotActive" fill="hold" evtFilter="cancelBubble" nodeType="interactiveSeq">
                <p:stCondLst>
                  <p:cond evt="onClick" delay="0">
                    <p:tgtEl>
                      <p:spTgt spid="8"/>
                    </p:tgtEl>
                  </p:cond>
                </p:stCondLst>
                <p:endSync evt="end" delay="0">
                  <p:rtn val="all"/>
                </p:endSync>
                <p:childTnLst>
                  <p:par>
                    <p:cTn id="12" fill="hold">
                      <p:stCondLst>
                        <p:cond delay="0"/>
                      </p:stCondLst>
                      <p:childTnLst>
                        <p:par>
                          <p:cTn id="13" fill="hold">
                            <p:stCondLst>
                              <p:cond delay="0"/>
                            </p:stCondLst>
                            <p:childTnLst>
                              <p:par>
                                <p:cTn id="14" presetID="9" presetClass="exit" presetSubtype="0" fill="hold" grpId="1" nodeType="withEffect">
                                  <p:stCondLst>
                                    <p:cond delay="0"/>
                                  </p:stCondLst>
                                  <p:childTnLst>
                                    <p:animEffect transition="out" filter="dissolve">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par>
                                <p:cTn id="17" presetID="9" presetClass="exit" presetSubtype="0" fill="hold" grpId="1" nodeType="withEffect">
                                  <p:stCondLst>
                                    <p:cond delay="0"/>
                                  </p:stCondLst>
                                  <p:childTnLst>
                                    <p:animEffect transition="out" filter="dissolve">
                                      <p:cBhvr>
                                        <p:cTn id="18" dur="500"/>
                                        <p:tgtEl>
                                          <p:spTgt spid="6"/>
                                        </p:tgtEl>
                                      </p:cBhvr>
                                    </p:animEffect>
                                    <p:set>
                                      <p:cBhvr>
                                        <p:cTn id="19" dur="1" fill="hold">
                                          <p:stCondLst>
                                            <p:cond delay="499"/>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8"/>
                  </p:tgtEl>
                </p:cond>
              </p:nextCondLst>
            </p:seq>
          </p:childTnLst>
        </p:cTn>
      </p:par>
    </p:tnLst>
    <p:bldLst>
      <p:bldP spid="6" grpId="0" animBg="1"/>
      <p:bldP spid="6" grpId="1" animBg="1"/>
      <p:bldP spid="6" grpId="2" animBg="1"/>
      <p:bldP spid="6" grpId="3" animBg="1"/>
      <p:bldP spid="6" grpId="4" animBg="1"/>
      <p:bldP spid="6" grpId="5" animBg="1"/>
      <p:bldP spid="6" grpId="6" animBg="1"/>
      <p:bldP spid="6" grpId="7" animBg="1"/>
      <p:bldP spid="6" grpId="8" animBg="1"/>
      <p:bldP spid="6" grpId="9" animBg="1"/>
      <p:bldP spid="6" grpId="10" animBg="1"/>
      <p:bldP spid="6" grpId="11" animBg="1"/>
      <p:bldP spid="6" grpId="12" animBg="1"/>
      <p:bldP spid="6" grpId="13" animBg="1"/>
      <p:bldP spid="6" grpId="14" animBg="1"/>
      <p:bldP spid="6" grpId="15" animBg="1"/>
      <p:bldP spid="6" grpId="16" animBg="1"/>
      <p:bldP spid="6" grpId="17" animBg="1"/>
      <p:bldP spid="6" grpId="18" animBg="1"/>
      <p:bldP spid="6" grpId="19" animBg="1"/>
      <p:bldP spid="6" grpId="20" animBg="1"/>
      <p:bldP spid="6" grpId="21" animBg="1"/>
      <p:bldP spid="8" grpId="0" animBg="1"/>
      <p:bldP spid="8" grpId="1" animBg="1"/>
      <p:bldP spid="8" grpId="2" animBg="1"/>
      <p:bldP spid="8" grpId="3" animBg="1"/>
      <p:bldP spid="8" grpId="4" animBg="1"/>
      <p:bldP spid="8" grpId="5" animBg="1"/>
      <p:bldP spid="8" grpId="6" animBg="1"/>
      <p:bldP spid="8" grpId="7" animBg="1"/>
      <p:bldP spid="8" grpId="8" animBg="1"/>
      <p:bldP spid="8" grpId="9" animBg="1"/>
      <p:bldP spid="8" grpId="10" animBg="1"/>
      <p:bldP spid="8" grpId="11" animBg="1"/>
      <p:bldP spid="8" grpId="12" animBg="1"/>
      <p:bldP spid="8" grpId="13" animBg="1"/>
      <p:bldP spid="8" grpId="14" animBg="1"/>
      <p:bldP spid="8" grpId="15" animBg="1"/>
      <p:bldP spid="8" grpId="16" animBg="1"/>
      <p:bldP spid="8" grpId="17" animBg="1"/>
      <p:bldP spid="8" grpId="18" animBg="1"/>
      <p:bldP spid="8" grpId="19" animBg="1"/>
      <p:bldP spid="8" grpId="20" animBg="1"/>
      <p:bldP spid="8" grpId="21" animBg="1"/>
    </p:bldLst>
  </p:timing>
  <p:txStyles>
    <p:titleStyle>
      <a:lvl1pPr algn="l" defTabSz="9143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1"/>
        </a:spcBef>
        <a:buFont typeface="Arial" panose="020B0604020202020204" pitchFamily="34" charset="0"/>
        <a:buChar char="•"/>
        <a:defRPr sz="2800" kern="1200">
          <a:solidFill>
            <a:schemeClr val="tx1"/>
          </a:solidFill>
          <a:latin typeface="+mn-lt"/>
          <a:ea typeface="+mn-ea"/>
          <a:cs typeface="+mn-cs"/>
        </a:defRPr>
      </a:lvl1pPr>
      <a:lvl2pPr marL="685767"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43"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21"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5pPr>
      <a:lvl6pPr marL="2514476"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007" indent="-228589" algn="l" defTabSz="914354"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NULL"/><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customXml" Target="../ink/ink4.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5FB0F08-3DA7-CEA3-5272-E6EFD36E4384}"/>
              </a:ext>
            </a:extLst>
          </p:cNvPr>
          <p:cNvSpPr>
            <a:spLocks noGrp="1"/>
          </p:cNvSpPr>
          <p:nvPr>
            <p:ph type="title"/>
          </p:nvPr>
        </p:nvSpPr>
        <p:spPr/>
        <p:txBody>
          <a:bodyPr/>
          <a:lstStyle/>
          <a:p>
            <a:r>
              <a:rPr lang="en-US" dirty="0">
                <a:solidFill>
                  <a:schemeClr val="bg1"/>
                </a:solidFill>
              </a:rPr>
              <a:t>Lesson objective </a:t>
            </a:r>
            <a:endParaRPr lang="en-AU" dirty="0">
              <a:solidFill>
                <a:schemeClr val="bg1"/>
              </a:solidFill>
            </a:endParaRPr>
          </a:p>
        </p:txBody>
      </p:sp>
      <p:sp>
        <p:nvSpPr>
          <p:cNvPr id="5" name="Content Placeholder 4">
            <a:extLst>
              <a:ext uri="{FF2B5EF4-FFF2-40B4-BE49-F238E27FC236}">
                <a16:creationId xmlns:a16="http://schemas.microsoft.com/office/drawing/2014/main" id="{EF3DDC1C-C010-692C-113E-404D41A13B5F}"/>
              </a:ext>
            </a:extLst>
          </p:cNvPr>
          <p:cNvSpPr>
            <a:spLocks noGrp="1"/>
          </p:cNvSpPr>
          <p:nvPr>
            <p:ph idx="1"/>
          </p:nvPr>
        </p:nvSpPr>
        <p:spPr/>
        <p:txBody>
          <a:bodyPr/>
          <a:lstStyle/>
          <a:p>
            <a:pPr marL="0" indent="0">
              <a:buNone/>
            </a:pPr>
            <a:r>
              <a:rPr lang="en-US" dirty="0">
                <a:solidFill>
                  <a:schemeClr val="bg1"/>
                </a:solidFill>
              </a:rPr>
              <a:t>Title: </a:t>
            </a:r>
            <a:r>
              <a:rPr lang="en-US" b="1" dirty="0">
                <a:solidFill>
                  <a:schemeClr val="bg1"/>
                </a:solidFill>
              </a:rPr>
              <a:t>Topic review 1</a:t>
            </a:r>
          </a:p>
          <a:p>
            <a:pPr marL="0" indent="0">
              <a:buNone/>
            </a:pPr>
            <a:endParaRPr lang="en-US" b="1" dirty="0">
              <a:solidFill>
                <a:schemeClr val="bg1"/>
              </a:solidFill>
            </a:endParaRPr>
          </a:p>
          <a:p>
            <a:pPr marL="0" indent="0">
              <a:buNone/>
            </a:pPr>
            <a:r>
              <a:rPr lang="en-US" b="1" dirty="0">
                <a:solidFill>
                  <a:schemeClr val="bg1"/>
                </a:solidFill>
              </a:rPr>
              <a:t>Aim – be able to: </a:t>
            </a:r>
          </a:p>
          <a:p>
            <a:pPr>
              <a:buFont typeface="Wingdings" panose="05000000000000000000" pitchFamily="2" charset="2"/>
              <a:buChar char="q"/>
            </a:pPr>
            <a:r>
              <a:rPr lang="en-US" b="1" dirty="0">
                <a:solidFill>
                  <a:schemeClr val="bg1"/>
                </a:solidFill>
              </a:rPr>
              <a:t> Match sequences from tables to appropriate graphs </a:t>
            </a:r>
          </a:p>
          <a:p>
            <a:pPr>
              <a:buFont typeface="Wingdings" panose="05000000000000000000" pitchFamily="2" charset="2"/>
              <a:buChar char="q"/>
            </a:pPr>
            <a:r>
              <a:rPr lang="en-AU" b="1" dirty="0">
                <a:solidFill>
                  <a:schemeClr val="bg1"/>
                </a:solidFill>
              </a:rPr>
              <a:t> Create rules and plot from a table of values</a:t>
            </a:r>
          </a:p>
          <a:p>
            <a:pPr marL="0" indent="0">
              <a:buNone/>
            </a:pPr>
            <a:r>
              <a:rPr lang="en-AU" b="1" dirty="0">
                <a:solidFill>
                  <a:schemeClr val="bg1"/>
                </a:solidFill>
              </a:rPr>
              <a:t>Plan:</a:t>
            </a:r>
          </a:p>
          <a:p>
            <a:pPr>
              <a:buFontTx/>
              <a:buChar char="-"/>
            </a:pPr>
            <a:r>
              <a:rPr lang="en-AU" b="1" dirty="0">
                <a:solidFill>
                  <a:schemeClr val="bg1"/>
                </a:solidFill>
              </a:rPr>
              <a:t>Time distance graphs </a:t>
            </a:r>
          </a:p>
          <a:p>
            <a:pPr>
              <a:buFontTx/>
              <a:buChar char="-"/>
            </a:pPr>
            <a:r>
              <a:rPr lang="en-AU" b="1" dirty="0">
                <a:solidFill>
                  <a:schemeClr val="bg1"/>
                </a:solidFill>
              </a:rPr>
              <a:t>Plotting </a:t>
            </a:r>
          </a:p>
        </p:txBody>
      </p:sp>
      <p:sp>
        <p:nvSpPr>
          <p:cNvPr id="6" name="TextBox 5">
            <a:extLst>
              <a:ext uri="{FF2B5EF4-FFF2-40B4-BE49-F238E27FC236}">
                <a16:creationId xmlns:a16="http://schemas.microsoft.com/office/drawing/2014/main" id="{78914C02-4DDE-498E-41A1-053E18FA68C4}"/>
              </a:ext>
            </a:extLst>
          </p:cNvPr>
          <p:cNvSpPr txBox="1"/>
          <p:nvPr/>
        </p:nvSpPr>
        <p:spPr>
          <a:xfrm>
            <a:off x="4365317" y="1825625"/>
            <a:ext cx="1924050" cy="830997"/>
          </a:xfrm>
          <a:prstGeom prst="rect">
            <a:avLst/>
          </a:prstGeom>
          <a:noFill/>
        </p:spPr>
        <p:txBody>
          <a:bodyPr wrap="square" rtlCol="0">
            <a:spAutoFit/>
          </a:bodyPr>
          <a:lstStyle/>
          <a:p>
            <a:r>
              <a:rPr lang="en-US" sz="2400" b="1" dirty="0">
                <a:highlight>
                  <a:srgbClr val="FFFF00"/>
                </a:highlight>
              </a:rPr>
              <a:t>Need whiteboards</a:t>
            </a:r>
            <a:endParaRPr lang="en-AU" sz="2400" b="1" dirty="0">
              <a:highlight>
                <a:srgbClr val="FFFF00"/>
              </a:highlight>
            </a:endParaRPr>
          </a:p>
        </p:txBody>
      </p:sp>
      <p:sp>
        <p:nvSpPr>
          <p:cNvPr id="7" name="TextBox 6">
            <a:extLst>
              <a:ext uri="{FF2B5EF4-FFF2-40B4-BE49-F238E27FC236}">
                <a16:creationId xmlns:a16="http://schemas.microsoft.com/office/drawing/2014/main" id="{88571C36-4B9A-8931-943E-6E9EE31B438E}"/>
              </a:ext>
            </a:extLst>
          </p:cNvPr>
          <p:cNvSpPr txBox="1"/>
          <p:nvPr/>
        </p:nvSpPr>
        <p:spPr>
          <a:xfrm>
            <a:off x="7439487" y="265538"/>
            <a:ext cx="4589756" cy="1200329"/>
          </a:xfrm>
          <a:prstGeom prst="rect">
            <a:avLst/>
          </a:prstGeom>
          <a:noFill/>
        </p:spPr>
        <p:txBody>
          <a:bodyPr wrap="square" rtlCol="0">
            <a:spAutoFit/>
          </a:bodyPr>
          <a:lstStyle/>
          <a:p>
            <a:r>
              <a:rPr lang="en-US" sz="2400" b="1" dirty="0" err="1">
                <a:highlight>
                  <a:srgbClr val="00FF00"/>
                </a:highlight>
              </a:rPr>
              <a:t>PBiS</a:t>
            </a:r>
            <a:r>
              <a:rPr lang="en-US" sz="2400" b="1" dirty="0">
                <a:highlight>
                  <a:srgbClr val="00FF00"/>
                </a:highlight>
              </a:rPr>
              <a:t> focus </a:t>
            </a:r>
          </a:p>
          <a:p>
            <a:r>
              <a:rPr lang="en-US" sz="2400" b="1" dirty="0">
                <a:highlight>
                  <a:srgbClr val="00FF00"/>
                </a:highlight>
              </a:rPr>
              <a:t>Respect – listening </a:t>
            </a:r>
          </a:p>
          <a:p>
            <a:r>
              <a:rPr lang="en-US" sz="2400" b="1" dirty="0">
                <a:highlight>
                  <a:srgbClr val="00FF00"/>
                </a:highlight>
              </a:rPr>
              <a:t>Achieve – seek feedback or help</a:t>
            </a:r>
            <a:endParaRPr lang="en-AU" sz="2400" b="1" dirty="0">
              <a:highlight>
                <a:srgbClr val="00FF00"/>
              </a:highlight>
            </a:endParaRPr>
          </a:p>
        </p:txBody>
      </p:sp>
    </p:spTree>
    <p:extLst>
      <p:ext uri="{BB962C8B-B14F-4D97-AF65-F5344CB8AC3E}">
        <p14:creationId xmlns:p14="http://schemas.microsoft.com/office/powerpoint/2010/main" val="1492717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8E629866-F387-704D-B7DE-527424B5AFB6}"/>
              </a:ext>
            </a:extLst>
          </p:cNvPr>
          <p:cNvGraphicFramePr>
            <a:graphicFrameLocks noGrp="1"/>
          </p:cNvGraphicFramePr>
          <p:nvPr/>
        </p:nvGraphicFramePr>
        <p:xfrm>
          <a:off x="7347794" y="1632185"/>
          <a:ext cx="4310306" cy="3496448"/>
        </p:xfrm>
        <a:graphic>
          <a:graphicData uri="http://schemas.openxmlformats.org/drawingml/2006/table">
            <a:tbl>
              <a:tblPr firstRow="1" bandRow="1">
                <a:tableStyleId>{5C22544A-7EE6-4342-B048-85BDC9FD1C3A}</a:tableStyleId>
              </a:tblPr>
              <a:tblGrid>
                <a:gridCol w="307879">
                  <a:extLst>
                    <a:ext uri="{9D8B030D-6E8A-4147-A177-3AD203B41FA5}">
                      <a16:colId xmlns:a16="http://schemas.microsoft.com/office/drawing/2014/main" val="3421182426"/>
                    </a:ext>
                  </a:extLst>
                </a:gridCol>
                <a:gridCol w="307879">
                  <a:extLst>
                    <a:ext uri="{9D8B030D-6E8A-4147-A177-3AD203B41FA5}">
                      <a16:colId xmlns:a16="http://schemas.microsoft.com/office/drawing/2014/main" val="3036076137"/>
                    </a:ext>
                  </a:extLst>
                </a:gridCol>
                <a:gridCol w="307879">
                  <a:extLst>
                    <a:ext uri="{9D8B030D-6E8A-4147-A177-3AD203B41FA5}">
                      <a16:colId xmlns:a16="http://schemas.microsoft.com/office/drawing/2014/main" val="2042505113"/>
                    </a:ext>
                  </a:extLst>
                </a:gridCol>
                <a:gridCol w="307879">
                  <a:extLst>
                    <a:ext uri="{9D8B030D-6E8A-4147-A177-3AD203B41FA5}">
                      <a16:colId xmlns:a16="http://schemas.microsoft.com/office/drawing/2014/main" val="3832758630"/>
                    </a:ext>
                  </a:extLst>
                </a:gridCol>
                <a:gridCol w="307879">
                  <a:extLst>
                    <a:ext uri="{9D8B030D-6E8A-4147-A177-3AD203B41FA5}">
                      <a16:colId xmlns:a16="http://schemas.microsoft.com/office/drawing/2014/main" val="1574983318"/>
                    </a:ext>
                  </a:extLst>
                </a:gridCol>
                <a:gridCol w="307879">
                  <a:extLst>
                    <a:ext uri="{9D8B030D-6E8A-4147-A177-3AD203B41FA5}">
                      <a16:colId xmlns:a16="http://schemas.microsoft.com/office/drawing/2014/main" val="4158283698"/>
                    </a:ext>
                  </a:extLst>
                </a:gridCol>
                <a:gridCol w="307879">
                  <a:extLst>
                    <a:ext uri="{9D8B030D-6E8A-4147-A177-3AD203B41FA5}">
                      <a16:colId xmlns:a16="http://schemas.microsoft.com/office/drawing/2014/main" val="2421740572"/>
                    </a:ext>
                  </a:extLst>
                </a:gridCol>
                <a:gridCol w="307879">
                  <a:extLst>
                    <a:ext uri="{9D8B030D-6E8A-4147-A177-3AD203B41FA5}">
                      <a16:colId xmlns:a16="http://schemas.microsoft.com/office/drawing/2014/main" val="1223140520"/>
                    </a:ext>
                  </a:extLst>
                </a:gridCol>
                <a:gridCol w="307879">
                  <a:extLst>
                    <a:ext uri="{9D8B030D-6E8A-4147-A177-3AD203B41FA5}">
                      <a16:colId xmlns:a16="http://schemas.microsoft.com/office/drawing/2014/main" val="4205342466"/>
                    </a:ext>
                  </a:extLst>
                </a:gridCol>
                <a:gridCol w="307879">
                  <a:extLst>
                    <a:ext uri="{9D8B030D-6E8A-4147-A177-3AD203B41FA5}">
                      <a16:colId xmlns:a16="http://schemas.microsoft.com/office/drawing/2014/main" val="1143907110"/>
                    </a:ext>
                  </a:extLst>
                </a:gridCol>
                <a:gridCol w="307879">
                  <a:extLst>
                    <a:ext uri="{9D8B030D-6E8A-4147-A177-3AD203B41FA5}">
                      <a16:colId xmlns:a16="http://schemas.microsoft.com/office/drawing/2014/main" val="2953269273"/>
                    </a:ext>
                  </a:extLst>
                </a:gridCol>
                <a:gridCol w="307879">
                  <a:extLst>
                    <a:ext uri="{9D8B030D-6E8A-4147-A177-3AD203B41FA5}">
                      <a16:colId xmlns:a16="http://schemas.microsoft.com/office/drawing/2014/main" val="2364064426"/>
                    </a:ext>
                  </a:extLst>
                </a:gridCol>
                <a:gridCol w="307879">
                  <a:extLst>
                    <a:ext uri="{9D8B030D-6E8A-4147-A177-3AD203B41FA5}">
                      <a16:colId xmlns:a16="http://schemas.microsoft.com/office/drawing/2014/main" val="374087557"/>
                    </a:ext>
                  </a:extLst>
                </a:gridCol>
                <a:gridCol w="307879">
                  <a:extLst>
                    <a:ext uri="{9D8B030D-6E8A-4147-A177-3AD203B41FA5}">
                      <a16:colId xmlns:a16="http://schemas.microsoft.com/office/drawing/2014/main" val="1100712732"/>
                    </a:ext>
                  </a:extLst>
                </a:gridCol>
              </a:tblGrid>
              <a:tr h="437056">
                <a:tc>
                  <a:txBody>
                    <a:bodyPr/>
                    <a:lstStyle/>
                    <a:p>
                      <a:endParaRPr lang="en-GB" sz="100" b="0" dirty="0">
                        <a:solidFill>
                          <a:schemeClr val="tx1"/>
                        </a:solidFill>
                      </a:endParaRPr>
                    </a:p>
                  </a:txBody>
                  <a:tcPr marL="110836" marR="110836" marT="67056" marB="67056">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1430021"/>
                  </a:ext>
                </a:extLst>
              </a:tr>
              <a:tr h="437056">
                <a:tc>
                  <a:txBody>
                    <a:bodyPr/>
                    <a:lstStyle/>
                    <a:p>
                      <a:endParaRPr lang="en-GB" sz="100" b="0" dirty="0">
                        <a:solidFill>
                          <a:schemeClr val="tx1"/>
                        </a:solidFill>
                      </a:endParaRPr>
                    </a:p>
                  </a:txBody>
                  <a:tcPr marL="110836" marR="110836" marT="67056" marB="67056">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7017997"/>
                  </a:ext>
                </a:extLst>
              </a:tr>
              <a:tr h="437056">
                <a:tc>
                  <a:txBody>
                    <a:bodyPr/>
                    <a:lstStyle/>
                    <a:p>
                      <a:endParaRPr lang="en-GB" sz="100" b="0" dirty="0">
                        <a:solidFill>
                          <a:schemeClr val="tx1"/>
                        </a:solidFill>
                      </a:endParaRPr>
                    </a:p>
                  </a:txBody>
                  <a:tcPr marL="110836" marR="110836" marT="67056" marB="67056">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731071"/>
                  </a:ext>
                </a:extLst>
              </a:tr>
              <a:tr h="437056">
                <a:tc>
                  <a:txBody>
                    <a:bodyPr/>
                    <a:lstStyle/>
                    <a:p>
                      <a:endParaRPr lang="en-GB" sz="100" b="0">
                        <a:solidFill>
                          <a:schemeClr val="tx1"/>
                        </a:solidFill>
                      </a:endParaRPr>
                    </a:p>
                  </a:txBody>
                  <a:tcPr marL="110836" marR="110836" marT="67056" marB="67056">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7649161"/>
                  </a:ext>
                </a:extLst>
              </a:tr>
              <a:tr h="437056">
                <a:tc>
                  <a:txBody>
                    <a:bodyPr/>
                    <a:lstStyle/>
                    <a:p>
                      <a:endParaRPr lang="en-GB" sz="100" b="0">
                        <a:solidFill>
                          <a:schemeClr val="tx1"/>
                        </a:solidFill>
                      </a:endParaRPr>
                    </a:p>
                  </a:txBody>
                  <a:tcPr marL="110836" marR="110836" marT="67056" marB="67056">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181725"/>
                  </a:ext>
                </a:extLst>
              </a:tr>
              <a:tr h="437056">
                <a:tc>
                  <a:txBody>
                    <a:bodyPr/>
                    <a:lstStyle/>
                    <a:p>
                      <a:endParaRPr lang="en-GB" sz="100" b="0">
                        <a:solidFill>
                          <a:schemeClr val="tx1"/>
                        </a:solidFill>
                      </a:endParaRPr>
                    </a:p>
                  </a:txBody>
                  <a:tcPr marL="110836" marR="110836" marT="67056" marB="67056">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6003197"/>
                  </a:ext>
                </a:extLst>
              </a:tr>
              <a:tr h="437056">
                <a:tc>
                  <a:txBody>
                    <a:bodyPr/>
                    <a:lstStyle/>
                    <a:p>
                      <a:endParaRPr lang="en-GB" sz="100" b="0">
                        <a:solidFill>
                          <a:schemeClr val="tx1"/>
                        </a:solidFill>
                      </a:endParaRPr>
                    </a:p>
                  </a:txBody>
                  <a:tcPr marL="110836" marR="110836" marT="67056" marB="67056">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8433261"/>
                  </a:ext>
                </a:extLst>
              </a:tr>
              <a:tr h="437056">
                <a:tc>
                  <a:txBody>
                    <a:bodyPr/>
                    <a:lstStyle/>
                    <a:p>
                      <a:endParaRPr lang="en-GB" sz="100" b="0">
                        <a:solidFill>
                          <a:schemeClr val="tx1"/>
                        </a:solidFill>
                      </a:endParaRPr>
                    </a:p>
                  </a:txBody>
                  <a:tcPr marL="110836" marR="110836" marT="67056" marB="67056">
                    <a:lnL w="28575" cap="flat" cmpd="sng" algn="ctr">
                      <a:solidFill>
                        <a:schemeClr val="tx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00" b="0" dirty="0">
                        <a:solidFill>
                          <a:schemeClr val="tx1"/>
                        </a:solidFill>
                      </a:endParaRPr>
                    </a:p>
                  </a:txBody>
                  <a:tcPr marL="110836" marR="110836" marT="67056" marB="67056">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1176172"/>
                  </a:ext>
                </a:extLst>
              </a:tr>
            </a:tbl>
          </a:graphicData>
        </a:graphic>
      </p:graphicFrame>
      <p:sp>
        <p:nvSpPr>
          <p:cNvPr id="77" name="TextBox 76">
            <a:extLst>
              <a:ext uri="{FF2B5EF4-FFF2-40B4-BE49-F238E27FC236}">
                <a16:creationId xmlns:a16="http://schemas.microsoft.com/office/drawing/2014/main" id="{1A948131-C908-7740-9A2E-AEB74ACC7E64}"/>
              </a:ext>
            </a:extLst>
          </p:cNvPr>
          <p:cNvSpPr txBox="1"/>
          <p:nvPr/>
        </p:nvSpPr>
        <p:spPr>
          <a:xfrm>
            <a:off x="614255" y="1270025"/>
            <a:ext cx="5310053" cy="738664"/>
          </a:xfrm>
          <a:prstGeom prst="rect">
            <a:avLst/>
          </a:prstGeom>
          <a:noFill/>
        </p:spPr>
        <p:txBody>
          <a:bodyPr wrap="square" lIns="48000" tIns="0" rIns="0" bIns="0" rtlCol="0" anchor="t">
            <a:spAutoFit/>
          </a:bodyPr>
          <a:lstStyle/>
          <a:p>
            <a:pPr defTabSz="914377">
              <a:defRPr/>
            </a:pPr>
            <a:r>
              <a:rPr lang="en-GB" altLang="en-US" sz="2400" dirty="0">
                <a:solidFill>
                  <a:srgbClr val="000000"/>
                </a:solidFill>
                <a:latin typeface="Calibri" panose="020F0502020204030204"/>
              </a:rPr>
              <a:t>The graph shows a cyclist’s journey, from home, to a café and back.</a:t>
            </a:r>
          </a:p>
        </p:txBody>
      </p:sp>
      <p:sp>
        <p:nvSpPr>
          <p:cNvPr id="11" name="TextBox 10">
            <a:extLst>
              <a:ext uri="{FF2B5EF4-FFF2-40B4-BE49-F238E27FC236}">
                <a16:creationId xmlns:a16="http://schemas.microsoft.com/office/drawing/2014/main" id="{7FF4DD5F-3081-2845-B90C-750398DE9EC5}"/>
              </a:ext>
            </a:extLst>
          </p:cNvPr>
          <p:cNvSpPr txBox="1"/>
          <p:nvPr/>
        </p:nvSpPr>
        <p:spPr>
          <a:xfrm rot="16200000">
            <a:off x="4816385" y="3194033"/>
            <a:ext cx="3766644" cy="328231"/>
          </a:xfrm>
          <a:prstGeom prst="rect">
            <a:avLst/>
          </a:prstGeom>
          <a:noFill/>
        </p:spPr>
        <p:txBody>
          <a:bodyPr wrap="square" lIns="0" tIns="0" rIns="0" bIns="0" rtlCol="0" anchor="ctr" anchorCtr="0">
            <a:spAutoFit/>
          </a:bodyPr>
          <a:lstStyle/>
          <a:p>
            <a:pPr algn="ctr" defTabSz="914377">
              <a:defRPr/>
            </a:pPr>
            <a:r>
              <a:rPr lang="en-GB" altLang="en-US" sz="2133" b="1" dirty="0">
                <a:solidFill>
                  <a:srgbClr val="000000"/>
                </a:solidFill>
                <a:latin typeface="Calibri" panose="020F0502020204030204"/>
              </a:rPr>
              <a:t>Distance from home </a:t>
            </a:r>
            <a:r>
              <a:rPr lang="en-GB" altLang="en-US" sz="2133" dirty="0">
                <a:solidFill>
                  <a:srgbClr val="000000"/>
                </a:solidFill>
                <a:latin typeface="Calibri" panose="020F0502020204030204"/>
              </a:rPr>
              <a:t>(miles)</a:t>
            </a:r>
          </a:p>
        </p:txBody>
      </p:sp>
      <p:sp>
        <p:nvSpPr>
          <p:cNvPr id="12" name="TextBox 11">
            <a:extLst>
              <a:ext uri="{FF2B5EF4-FFF2-40B4-BE49-F238E27FC236}">
                <a16:creationId xmlns:a16="http://schemas.microsoft.com/office/drawing/2014/main" id="{AEA1E90D-A02F-FA45-A603-263296215657}"/>
              </a:ext>
            </a:extLst>
          </p:cNvPr>
          <p:cNvSpPr txBox="1"/>
          <p:nvPr/>
        </p:nvSpPr>
        <p:spPr>
          <a:xfrm>
            <a:off x="8712555" y="5433449"/>
            <a:ext cx="1682039" cy="328231"/>
          </a:xfrm>
          <a:prstGeom prst="rect">
            <a:avLst/>
          </a:prstGeom>
          <a:noFill/>
        </p:spPr>
        <p:txBody>
          <a:bodyPr wrap="square" lIns="0" tIns="0" rIns="0" bIns="0" rtlCol="0" anchor="ctr" anchorCtr="0">
            <a:spAutoFit/>
          </a:bodyPr>
          <a:lstStyle/>
          <a:p>
            <a:pPr algn="ctr" defTabSz="914377">
              <a:defRPr/>
            </a:pPr>
            <a:r>
              <a:rPr lang="en-GB" altLang="en-US" sz="2133" b="1" dirty="0">
                <a:solidFill>
                  <a:srgbClr val="000000"/>
                </a:solidFill>
                <a:latin typeface="Calibri" panose="020F0502020204030204"/>
              </a:rPr>
              <a:t>Time </a:t>
            </a:r>
            <a:r>
              <a:rPr lang="en-GB" altLang="en-US" sz="2133" dirty="0">
                <a:solidFill>
                  <a:srgbClr val="000000"/>
                </a:solidFill>
                <a:latin typeface="Calibri" panose="020F0502020204030204"/>
              </a:rPr>
              <a:t>(hours)</a:t>
            </a:r>
          </a:p>
        </p:txBody>
      </p:sp>
      <p:sp>
        <p:nvSpPr>
          <p:cNvPr id="13" name="TextBox 12">
            <a:extLst>
              <a:ext uri="{FF2B5EF4-FFF2-40B4-BE49-F238E27FC236}">
                <a16:creationId xmlns:a16="http://schemas.microsoft.com/office/drawing/2014/main" id="{097F4FF5-E61E-DB46-BF42-063740EC935B}"/>
              </a:ext>
            </a:extLst>
          </p:cNvPr>
          <p:cNvSpPr txBox="1"/>
          <p:nvPr/>
        </p:nvSpPr>
        <p:spPr>
          <a:xfrm>
            <a:off x="7167066" y="5167467"/>
            <a:ext cx="462713" cy="328231"/>
          </a:xfrm>
          <a:prstGeom prst="rect">
            <a:avLst/>
          </a:prstGeom>
          <a:noFill/>
        </p:spPr>
        <p:txBody>
          <a:bodyPr wrap="square" lIns="0" tIns="0" rIns="0" bIns="0" rtlCol="0" anchor="ctr" anchorCtr="0">
            <a:spAutoFit/>
          </a:bodyPr>
          <a:lstStyle/>
          <a:p>
            <a:pPr algn="ctr" defTabSz="914377">
              <a:defRPr/>
            </a:pPr>
            <a:r>
              <a:rPr lang="en-GB" altLang="en-US" sz="2133" dirty="0">
                <a:solidFill>
                  <a:srgbClr val="000000"/>
                </a:solidFill>
                <a:latin typeface="Calibri" panose="020F0502020204030204"/>
              </a:rPr>
              <a:t>0</a:t>
            </a:r>
          </a:p>
        </p:txBody>
      </p:sp>
      <p:sp>
        <p:nvSpPr>
          <p:cNvPr id="14" name="TextBox 13">
            <a:extLst>
              <a:ext uri="{FF2B5EF4-FFF2-40B4-BE49-F238E27FC236}">
                <a16:creationId xmlns:a16="http://schemas.microsoft.com/office/drawing/2014/main" id="{BA822E97-89C2-EA4D-92FF-0575FC253999}"/>
              </a:ext>
            </a:extLst>
          </p:cNvPr>
          <p:cNvSpPr txBox="1"/>
          <p:nvPr/>
        </p:nvSpPr>
        <p:spPr>
          <a:xfrm>
            <a:off x="7787737" y="5167467"/>
            <a:ext cx="462713" cy="328231"/>
          </a:xfrm>
          <a:prstGeom prst="rect">
            <a:avLst/>
          </a:prstGeom>
          <a:noFill/>
        </p:spPr>
        <p:txBody>
          <a:bodyPr wrap="square" lIns="0" tIns="0" rIns="0" bIns="0" rtlCol="0" anchor="ctr" anchorCtr="0">
            <a:spAutoFit/>
          </a:bodyPr>
          <a:lstStyle/>
          <a:p>
            <a:pPr algn="ctr" defTabSz="914377">
              <a:defRPr/>
            </a:pPr>
            <a:r>
              <a:rPr lang="en-GB" altLang="en-US" sz="2133" dirty="0">
                <a:solidFill>
                  <a:srgbClr val="000000"/>
                </a:solidFill>
                <a:latin typeface="Calibri" panose="020F0502020204030204"/>
              </a:rPr>
              <a:t>1</a:t>
            </a:r>
          </a:p>
        </p:txBody>
      </p:sp>
      <p:sp>
        <p:nvSpPr>
          <p:cNvPr id="15" name="TextBox 14">
            <a:extLst>
              <a:ext uri="{FF2B5EF4-FFF2-40B4-BE49-F238E27FC236}">
                <a16:creationId xmlns:a16="http://schemas.microsoft.com/office/drawing/2014/main" id="{FB4CD675-D7C2-E446-A18A-5B0F53F2E067}"/>
              </a:ext>
            </a:extLst>
          </p:cNvPr>
          <p:cNvSpPr txBox="1"/>
          <p:nvPr/>
        </p:nvSpPr>
        <p:spPr>
          <a:xfrm>
            <a:off x="8402674" y="5167467"/>
            <a:ext cx="462713" cy="328231"/>
          </a:xfrm>
          <a:prstGeom prst="rect">
            <a:avLst/>
          </a:prstGeom>
          <a:noFill/>
        </p:spPr>
        <p:txBody>
          <a:bodyPr wrap="square" lIns="0" tIns="0" rIns="0" bIns="0" rtlCol="0" anchor="ctr" anchorCtr="0">
            <a:spAutoFit/>
          </a:bodyPr>
          <a:lstStyle/>
          <a:p>
            <a:pPr algn="ctr" defTabSz="914377">
              <a:defRPr/>
            </a:pPr>
            <a:r>
              <a:rPr lang="en-GB" altLang="en-US" sz="2133" dirty="0">
                <a:solidFill>
                  <a:srgbClr val="000000"/>
                </a:solidFill>
                <a:latin typeface="Calibri" panose="020F0502020204030204"/>
              </a:rPr>
              <a:t>2</a:t>
            </a:r>
          </a:p>
        </p:txBody>
      </p:sp>
      <p:sp>
        <p:nvSpPr>
          <p:cNvPr id="16" name="TextBox 15">
            <a:extLst>
              <a:ext uri="{FF2B5EF4-FFF2-40B4-BE49-F238E27FC236}">
                <a16:creationId xmlns:a16="http://schemas.microsoft.com/office/drawing/2014/main" id="{37911FF9-2D44-1444-8157-5DCE74AF7B54}"/>
              </a:ext>
            </a:extLst>
          </p:cNvPr>
          <p:cNvSpPr txBox="1"/>
          <p:nvPr/>
        </p:nvSpPr>
        <p:spPr>
          <a:xfrm>
            <a:off x="9017613" y="5167467"/>
            <a:ext cx="462713" cy="328231"/>
          </a:xfrm>
          <a:prstGeom prst="rect">
            <a:avLst/>
          </a:prstGeom>
          <a:noFill/>
        </p:spPr>
        <p:txBody>
          <a:bodyPr wrap="square" lIns="0" tIns="0" rIns="0" bIns="0" rtlCol="0" anchor="ctr" anchorCtr="0">
            <a:spAutoFit/>
          </a:bodyPr>
          <a:lstStyle/>
          <a:p>
            <a:pPr algn="ctr" defTabSz="914377">
              <a:defRPr/>
            </a:pPr>
            <a:r>
              <a:rPr lang="en-GB" altLang="en-US" sz="2133" dirty="0">
                <a:solidFill>
                  <a:srgbClr val="000000"/>
                </a:solidFill>
                <a:latin typeface="Calibri" panose="020F0502020204030204"/>
              </a:rPr>
              <a:t>3</a:t>
            </a:r>
          </a:p>
        </p:txBody>
      </p:sp>
      <p:sp>
        <p:nvSpPr>
          <p:cNvPr id="17" name="TextBox 16">
            <a:extLst>
              <a:ext uri="{FF2B5EF4-FFF2-40B4-BE49-F238E27FC236}">
                <a16:creationId xmlns:a16="http://schemas.microsoft.com/office/drawing/2014/main" id="{770B27CD-485A-FE42-9124-BFD745E7ADD7}"/>
              </a:ext>
            </a:extLst>
          </p:cNvPr>
          <p:cNvSpPr txBox="1"/>
          <p:nvPr/>
        </p:nvSpPr>
        <p:spPr>
          <a:xfrm>
            <a:off x="9632552" y="5167467"/>
            <a:ext cx="462713" cy="328231"/>
          </a:xfrm>
          <a:prstGeom prst="rect">
            <a:avLst/>
          </a:prstGeom>
          <a:noFill/>
        </p:spPr>
        <p:txBody>
          <a:bodyPr wrap="square" lIns="0" tIns="0" rIns="0" bIns="0" rtlCol="0" anchor="ctr" anchorCtr="0">
            <a:spAutoFit/>
          </a:bodyPr>
          <a:lstStyle/>
          <a:p>
            <a:pPr algn="ctr" defTabSz="914377">
              <a:defRPr/>
            </a:pPr>
            <a:r>
              <a:rPr lang="en-GB" altLang="en-US" sz="2133" dirty="0">
                <a:solidFill>
                  <a:srgbClr val="000000"/>
                </a:solidFill>
                <a:latin typeface="Calibri" panose="020F0502020204030204"/>
              </a:rPr>
              <a:t>4</a:t>
            </a:r>
          </a:p>
        </p:txBody>
      </p:sp>
      <p:sp>
        <p:nvSpPr>
          <p:cNvPr id="18" name="TextBox 17">
            <a:extLst>
              <a:ext uri="{FF2B5EF4-FFF2-40B4-BE49-F238E27FC236}">
                <a16:creationId xmlns:a16="http://schemas.microsoft.com/office/drawing/2014/main" id="{05015FDB-4D5C-2A4F-ADE3-16D8EFA3F819}"/>
              </a:ext>
            </a:extLst>
          </p:cNvPr>
          <p:cNvSpPr txBox="1"/>
          <p:nvPr/>
        </p:nvSpPr>
        <p:spPr>
          <a:xfrm>
            <a:off x="10247490" y="5167467"/>
            <a:ext cx="462713" cy="328231"/>
          </a:xfrm>
          <a:prstGeom prst="rect">
            <a:avLst/>
          </a:prstGeom>
          <a:noFill/>
        </p:spPr>
        <p:txBody>
          <a:bodyPr wrap="square" lIns="0" tIns="0" rIns="0" bIns="0" rtlCol="0" anchor="ctr" anchorCtr="0">
            <a:spAutoFit/>
          </a:bodyPr>
          <a:lstStyle/>
          <a:p>
            <a:pPr algn="ctr" defTabSz="914377">
              <a:defRPr/>
            </a:pPr>
            <a:r>
              <a:rPr lang="en-GB" altLang="en-US" sz="2133" dirty="0">
                <a:solidFill>
                  <a:srgbClr val="000000"/>
                </a:solidFill>
                <a:latin typeface="Calibri" panose="020F0502020204030204"/>
              </a:rPr>
              <a:t>5</a:t>
            </a:r>
          </a:p>
        </p:txBody>
      </p:sp>
      <p:sp>
        <p:nvSpPr>
          <p:cNvPr id="19" name="TextBox 18">
            <a:extLst>
              <a:ext uri="{FF2B5EF4-FFF2-40B4-BE49-F238E27FC236}">
                <a16:creationId xmlns:a16="http://schemas.microsoft.com/office/drawing/2014/main" id="{19E8BCF9-BA69-1D4A-B4D2-BE9770898135}"/>
              </a:ext>
            </a:extLst>
          </p:cNvPr>
          <p:cNvSpPr txBox="1"/>
          <p:nvPr/>
        </p:nvSpPr>
        <p:spPr>
          <a:xfrm>
            <a:off x="10862428" y="5167467"/>
            <a:ext cx="462713" cy="328231"/>
          </a:xfrm>
          <a:prstGeom prst="rect">
            <a:avLst/>
          </a:prstGeom>
          <a:noFill/>
        </p:spPr>
        <p:txBody>
          <a:bodyPr wrap="square" lIns="0" tIns="0" rIns="0" bIns="0" rtlCol="0" anchor="ctr" anchorCtr="0">
            <a:spAutoFit/>
          </a:bodyPr>
          <a:lstStyle/>
          <a:p>
            <a:pPr algn="ctr" defTabSz="914377">
              <a:defRPr/>
            </a:pPr>
            <a:r>
              <a:rPr lang="en-GB" altLang="en-US" sz="2133" dirty="0">
                <a:solidFill>
                  <a:srgbClr val="000000"/>
                </a:solidFill>
                <a:latin typeface="Calibri" panose="020F0502020204030204"/>
              </a:rPr>
              <a:t>6</a:t>
            </a:r>
          </a:p>
        </p:txBody>
      </p:sp>
      <p:sp>
        <p:nvSpPr>
          <p:cNvPr id="24" name="TextBox 23">
            <a:extLst>
              <a:ext uri="{FF2B5EF4-FFF2-40B4-BE49-F238E27FC236}">
                <a16:creationId xmlns:a16="http://schemas.microsoft.com/office/drawing/2014/main" id="{770E5BA3-D3D5-824E-9075-31A729AB336E}"/>
              </a:ext>
            </a:extLst>
          </p:cNvPr>
          <p:cNvSpPr txBox="1"/>
          <p:nvPr/>
        </p:nvSpPr>
        <p:spPr>
          <a:xfrm>
            <a:off x="6723049" y="4944555"/>
            <a:ext cx="531860" cy="328231"/>
          </a:xfrm>
          <a:prstGeom prst="rect">
            <a:avLst/>
          </a:prstGeom>
          <a:noFill/>
        </p:spPr>
        <p:txBody>
          <a:bodyPr wrap="square" lIns="0" tIns="0" rIns="0" bIns="0" rtlCol="0" anchor="ctr" anchorCtr="0">
            <a:spAutoFit/>
          </a:bodyPr>
          <a:lstStyle/>
          <a:p>
            <a:pPr algn="r" defTabSz="914377">
              <a:defRPr/>
            </a:pPr>
            <a:r>
              <a:rPr lang="en-GB" altLang="en-US" sz="2133" dirty="0">
                <a:solidFill>
                  <a:srgbClr val="000000"/>
                </a:solidFill>
                <a:latin typeface="Calibri" panose="020F0502020204030204"/>
              </a:rPr>
              <a:t>0</a:t>
            </a:r>
          </a:p>
        </p:txBody>
      </p:sp>
      <p:sp>
        <p:nvSpPr>
          <p:cNvPr id="25" name="TextBox 24">
            <a:extLst>
              <a:ext uri="{FF2B5EF4-FFF2-40B4-BE49-F238E27FC236}">
                <a16:creationId xmlns:a16="http://schemas.microsoft.com/office/drawing/2014/main" id="{E1FEA400-3B93-304A-9659-99722E920389}"/>
              </a:ext>
            </a:extLst>
          </p:cNvPr>
          <p:cNvSpPr txBox="1"/>
          <p:nvPr/>
        </p:nvSpPr>
        <p:spPr>
          <a:xfrm>
            <a:off x="6723049" y="4075063"/>
            <a:ext cx="531860" cy="328231"/>
          </a:xfrm>
          <a:prstGeom prst="rect">
            <a:avLst/>
          </a:prstGeom>
          <a:noFill/>
        </p:spPr>
        <p:txBody>
          <a:bodyPr wrap="square" lIns="0" tIns="0" rIns="0" bIns="0" rtlCol="0" anchor="ctr" anchorCtr="0">
            <a:spAutoFit/>
          </a:bodyPr>
          <a:lstStyle/>
          <a:p>
            <a:pPr algn="r" defTabSz="914377">
              <a:defRPr/>
            </a:pPr>
            <a:r>
              <a:rPr lang="en-GB" altLang="en-US" sz="2133" dirty="0">
                <a:solidFill>
                  <a:srgbClr val="000000"/>
                </a:solidFill>
                <a:latin typeface="Calibri" panose="020F0502020204030204"/>
              </a:rPr>
              <a:t>10</a:t>
            </a:r>
          </a:p>
        </p:txBody>
      </p:sp>
      <p:sp>
        <p:nvSpPr>
          <p:cNvPr id="26" name="TextBox 25">
            <a:extLst>
              <a:ext uri="{FF2B5EF4-FFF2-40B4-BE49-F238E27FC236}">
                <a16:creationId xmlns:a16="http://schemas.microsoft.com/office/drawing/2014/main" id="{A55B945D-20FD-A947-9F62-43A56955025A}"/>
              </a:ext>
            </a:extLst>
          </p:cNvPr>
          <p:cNvSpPr txBox="1"/>
          <p:nvPr/>
        </p:nvSpPr>
        <p:spPr>
          <a:xfrm>
            <a:off x="6723049" y="3200493"/>
            <a:ext cx="531860" cy="328231"/>
          </a:xfrm>
          <a:prstGeom prst="rect">
            <a:avLst/>
          </a:prstGeom>
          <a:noFill/>
        </p:spPr>
        <p:txBody>
          <a:bodyPr wrap="square" lIns="0" tIns="0" rIns="0" bIns="0" rtlCol="0" anchor="ctr" anchorCtr="0">
            <a:spAutoFit/>
          </a:bodyPr>
          <a:lstStyle/>
          <a:p>
            <a:pPr algn="r" defTabSz="914377">
              <a:defRPr/>
            </a:pPr>
            <a:r>
              <a:rPr lang="en-GB" altLang="en-US" sz="2133" dirty="0">
                <a:solidFill>
                  <a:srgbClr val="000000"/>
                </a:solidFill>
                <a:latin typeface="Calibri" panose="020F0502020204030204"/>
              </a:rPr>
              <a:t>20</a:t>
            </a:r>
          </a:p>
        </p:txBody>
      </p:sp>
      <p:sp>
        <p:nvSpPr>
          <p:cNvPr id="27" name="TextBox 26">
            <a:extLst>
              <a:ext uri="{FF2B5EF4-FFF2-40B4-BE49-F238E27FC236}">
                <a16:creationId xmlns:a16="http://schemas.microsoft.com/office/drawing/2014/main" id="{00CCB209-0ED4-754A-BACA-2E3834CFE45B}"/>
              </a:ext>
            </a:extLst>
          </p:cNvPr>
          <p:cNvSpPr txBox="1"/>
          <p:nvPr/>
        </p:nvSpPr>
        <p:spPr>
          <a:xfrm>
            <a:off x="6723049" y="2325921"/>
            <a:ext cx="531860" cy="328231"/>
          </a:xfrm>
          <a:prstGeom prst="rect">
            <a:avLst/>
          </a:prstGeom>
          <a:noFill/>
        </p:spPr>
        <p:txBody>
          <a:bodyPr wrap="square" lIns="0" tIns="0" rIns="0" bIns="0" rtlCol="0" anchor="ctr" anchorCtr="0">
            <a:spAutoFit/>
          </a:bodyPr>
          <a:lstStyle/>
          <a:p>
            <a:pPr algn="r" defTabSz="914377">
              <a:defRPr/>
            </a:pPr>
            <a:r>
              <a:rPr lang="en-GB" altLang="en-US" sz="2133" dirty="0">
                <a:solidFill>
                  <a:srgbClr val="000000"/>
                </a:solidFill>
                <a:latin typeface="Calibri" panose="020F0502020204030204"/>
              </a:rPr>
              <a:t>30</a:t>
            </a:r>
          </a:p>
        </p:txBody>
      </p:sp>
      <p:sp>
        <p:nvSpPr>
          <p:cNvPr id="28" name="TextBox 27">
            <a:extLst>
              <a:ext uri="{FF2B5EF4-FFF2-40B4-BE49-F238E27FC236}">
                <a16:creationId xmlns:a16="http://schemas.microsoft.com/office/drawing/2014/main" id="{5CA66CBD-0AC9-8848-B9FD-C64B28B15700}"/>
              </a:ext>
            </a:extLst>
          </p:cNvPr>
          <p:cNvSpPr txBox="1"/>
          <p:nvPr/>
        </p:nvSpPr>
        <p:spPr>
          <a:xfrm>
            <a:off x="6723049" y="1451349"/>
            <a:ext cx="531860" cy="328231"/>
          </a:xfrm>
          <a:prstGeom prst="rect">
            <a:avLst/>
          </a:prstGeom>
          <a:noFill/>
        </p:spPr>
        <p:txBody>
          <a:bodyPr wrap="square" lIns="0" tIns="0" rIns="0" bIns="0" rtlCol="0" anchor="ctr" anchorCtr="0">
            <a:spAutoFit/>
          </a:bodyPr>
          <a:lstStyle/>
          <a:p>
            <a:pPr algn="r" defTabSz="914377">
              <a:defRPr/>
            </a:pPr>
            <a:r>
              <a:rPr lang="en-GB" altLang="en-US" sz="2133" dirty="0">
                <a:solidFill>
                  <a:srgbClr val="000000"/>
                </a:solidFill>
                <a:latin typeface="Calibri" panose="020F0502020204030204"/>
              </a:rPr>
              <a:t>40</a:t>
            </a:r>
          </a:p>
        </p:txBody>
      </p:sp>
      <p:cxnSp>
        <p:nvCxnSpPr>
          <p:cNvPr id="9" name="Straight Connector 8">
            <a:extLst>
              <a:ext uri="{FF2B5EF4-FFF2-40B4-BE49-F238E27FC236}">
                <a16:creationId xmlns:a16="http://schemas.microsoft.com/office/drawing/2014/main" id="{E84FD576-EEED-0E4C-BB8F-5523C5819A88}"/>
              </a:ext>
            </a:extLst>
          </p:cNvPr>
          <p:cNvCxnSpPr>
            <a:cxnSpLocks/>
          </p:cNvCxnSpPr>
          <p:nvPr/>
        </p:nvCxnSpPr>
        <p:spPr>
          <a:xfrm flipV="1">
            <a:off x="7350235" y="3814629"/>
            <a:ext cx="924019" cy="1304744"/>
          </a:xfrm>
          <a:prstGeom prst="line">
            <a:avLst/>
          </a:prstGeom>
          <a:ln w="28575" cap="rnd">
            <a:solidFill>
              <a:schemeClr val="tx2">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60F6BFE-F098-8E45-B814-1B9AD8CCFB42}"/>
              </a:ext>
            </a:extLst>
          </p:cNvPr>
          <p:cNvCxnSpPr>
            <a:cxnSpLocks/>
          </p:cNvCxnSpPr>
          <p:nvPr/>
        </p:nvCxnSpPr>
        <p:spPr>
          <a:xfrm>
            <a:off x="8283231" y="3814629"/>
            <a:ext cx="286791" cy="0"/>
          </a:xfrm>
          <a:prstGeom prst="line">
            <a:avLst/>
          </a:prstGeom>
          <a:ln w="28575" cap="rnd">
            <a:solidFill>
              <a:schemeClr val="tx2">
                <a:lumMod val="50000"/>
              </a:schemeClr>
            </a:solidFill>
            <a:round/>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56D1D5FE-E783-5C4F-9233-F22EF37A952C}"/>
              </a:ext>
            </a:extLst>
          </p:cNvPr>
          <p:cNvSpPr txBox="1"/>
          <p:nvPr/>
        </p:nvSpPr>
        <p:spPr>
          <a:xfrm>
            <a:off x="11477372" y="5167467"/>
            <a:ext cx="462713" cy="328231"/>
          </a:xfrm>
          <a:prstGeom prst="rect">
            <a:avLst/>
          </a:prstGeom>
          <a:noFill/>
        </p:spPr>
        <p:txBody>
          <a:bodyPr wrap="square" lIns="0" tIns="0" rIns="0" bIns="0" rtlCol="0" anchor="ctr" anchorCtr="0">
            <a:spAutoFit/>
          </a:bodyPr>
          <a:lstStyle/>
          <a:p>
            <a:pPr algn="ctr" defTabSz="914377">
              <a:defRPr/>
            </a:pPr>
            <a:r>
              <a:rPr lang="en-GB" altLang="en-US" sz="2133" dirty="0">
                <a:solidFill>
                  <a:srgbClr val="000000"/>
                </a:solidFill>
                <a:latin typeface="Calibri" panose="020F0502020204030204"/>
              </a:rPr>
              <a:t>7</a:t>
            </a:r>
          </a:p>
        </p:txBody>
      </p:sp>
      <p:cxnSp>
        <p:nvCxnSpPr>
          <p:cNvPr id="114" name="Straight Connector 113">
            <a:extLst>
              <a:ext uri="{FF2B5EF4-FFF2-40B4-BE49-F238E27FC236}">
                <a16:creationId xmlns:a16="http://schemas.microsoft.com/office/drawing/2014/main" id="{D4544E3B-4B6C-0342-9B1B-F68EBC248BC9}"/>
              </a:ext>
            </a:extLst>
          </p:cNvPr>
          <p:cNvCxnSpPr>
            <a:cxnSpLocks/>
          </p:cNvCxnSpPr>
          <p:nvPr/>
        </p:nvCxnSpPr>
        <p:spPr>
          <a:xfrm>
            <a:off x="9174701" y="1639357"/>
            <a:ext cx="611249" cy="1"/>
          </a:xfrm>
          <a:prstGeom prst="line">
            <a:avLst/>
          </a:prstGeom>
          <a:ln w="28575" cap="rnd">
            <a:solidFill>
              <a:schemeClr val="tx2">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B1FA164-BC5B-3D4A-9428-C21FDA92534C}"/>
              </a:ext>
            </a:extLst>
          </p:cNvPr>
          <p:cNvCxnSpPr>
            <a:cxnSpLocks/>
          </p:cNvCxnSpPr>
          <p:nvPr/>
        </p:nvCxnSpPr>
        <p:spPr>
          <a:xfrm>
            <a:off x="9797070" y="1646530"/>
            <a:ext cx="1246751" cy="3472843"/>
          </a:xfrm>
          <a:prstGeom prst="line">
            <a:avLst/>
          </a:prstGeom>
          <a:ln w="28575" cap="rnd">
            <a:solidFill>
              <a:schemeClr val="tx2">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46C4101-4B09-AF4E-BB74-1A807E6C0A8A}"/>
              </a:ext>
            </a:extLst>
          </p:cNvPr>
          <p:cNvCxnSpPr>
            <a:cxnSpLocks/>
          </p:cNvCxnSpPr>
          <p:nvPr/>
        </p:nvCxnSpPr>
        <p:spPr>
          <a:xfrm flipV="1">
            <a:off x="8574842" y="1646530"/>
            <a:ext cx="599859" cy="2161883"/>
          </a:xfrm>
          <a:prstGeom prst="line">
            <a:avLst/>
          </a:prstGeom>
          <a:ln w="28575" cap="rnd">
            <a:solidFill>
              <a:schemeClr val="tx2">
                <a:lumMod val="50000"/>
              </a:schemeClr>
            </a:solidFill>
            <a:roun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14A813FE-9A94-B53F-B35F-7DFC6C105EC6}"/>
                  </a:ext>
                </a:extLst>
              </p:cNvPr>
              <p:cNvSpPr txBox="1"/>
              <p:nvPr/>
            </p:nvSpPr>
            <p:spPr>
              <a:xfrm>
                <a:off x="923348" y="2150466"/>
                <a:ext cx="4572653" cy="4185698"/>
              </a:xfrm>
              <a:prstGeom prst="rect">
                <a:avLst/>
              </a:prstGeom>
              <a:noFill/>
            </p:spPr>
            <p:txBody>
              <a:bodyPr wrap="square" rtlCol="0">
                <a:spAutoFit/>
              </a:bodyPr>
              <a:lstStyle/>
              <a:p>
                <a:pPr marL="457189" indent="-457189" defTabSz="914377">
                  <a:buFontTx/>
                  <a:buAutoNum type="alphaLcParenR"/>
                </a:pPr>
                <a:r>
                  <a:rPr lang="en-US" sz="1867" b="1" dirty="0">
                    <a:solidFill>
                      <a:srgbClr val="000000"/>
                    </a:solidFill>
                    <a:latin typeface="Calibri" panose="020F0502020204030204"/>
                  </a:rPr>
                  <a:t>How far had the cyclist traveled at 4.5 hours in total?</a:t>
                </a:r>
              </a:p>
              <a:p>
                <a:pPr marL="457189" indent="-457189" defTabSz="914377">
                  <a:buFontTx/>
                  <a:buAutoNum type="alphaLcParenR"/>
                </a:pPr>
                <a:endParaRPr lang="en-US" sz="1867" b="1" dirty="0">
                  <a:solidFill>
                    <a:srgbClr val="000000"/>
                  </a:solidFill>
                  <a:latin typeface="Calibri" panose="020F0502020204030204"/>
                </a:endParaRPr>
              </a:p>
              <a:p>
                <a:pPr marL="457189" indent="-457189" defTabSz="914377">
                  <a:buFontTx/>
                  <a:buAutoNum type="alphaLcParenR"/>
                </a:pPr>
                <a:endParaRPr lang="en-US" sz="1867" b="1" dirty="0">
                  <a:solidFill>
                    <a:srgbClr val="000000"/>
                  </a:solidFill>
                  <a:latin typeface="Calibri" panose="020F0502020204030204"/>
                </a:endParaRPr>
              </a:p>
              <a:p>
                <a:pPr marL="457189" indent="-457189" defTabSz="914377">
                  <a:buFontTx/>
                  <a:buAutoNum type="alphaLcParenR"/>
                </a:pPr>
                <a:r>
                  <a:rPr lang="en-US" sz="1867" b="1" dirty="0">
                    <a:solidFill>
                      <a:srgbClr val="000000"/>
                    </a:solidFill>
                    <a:latin typeface="Calibri" panose="020F0502020204030204"/>
                  </a:rPr>
                  <a:t>Explain what the horizontal line indicates. </a:t>
                </a:r>
              </a:p>
              <a:p>
                <a:pPr marL="457189" indent="-457189" defTabSz="914377">
                  <a:buFontTx/>
                  <a:buAutoNum type="alphaLcParenR"/>
                </a:pPr>
                <a:endParaRPr lang="en-US" sz="1867" b="1" dirty="0">
                  <a:solidFill>
                    <a:srgbClr val="000000"/>
                  </a:solidFill>
                  <a:latin typeface="Calibri" panose="020F0502020204030204"/>
                </a:endParaRPr>
              </a:p>
              <a:p>
                <a:pPr marL="457189" indent="-457189" defTabSz="914377">
                  <a:buFontTx/>
                  <a:buAutoNum type="alphaLcParenR"/>
                </a:pPr>
                <a:endParaRPr lang="en-US" sz="1867" b="1" dirty="0">
                  <a:solidFill>
                    <a:srgbClr val="000000"/>
                  </a:solidFill>
                  <a:latin typeface="Calibri" panose="020F0502020204030204"/>
                </a:endParaRPr>
              </a:p>
              <a:p>
                <a:pPr marL="457189" indent="-457189" defTabSz="914377">
                  <a:buFontTx/>
                  <a:buAutoNum type="alphaLcParenR"/>
                </a:pPr>
                <a:r>
                  <a:rPr lang="en-US" sz="1867" b="1" dirty="0">
                    <a:solidFill>
                      <a:srgbClr val="000000"/>
                    </a:solidFill>
                    <a:latin typeface="Calibri" panose="020F0502020204030204"/>
                  </a:rPr>
                  <a:t>What is the average speed of the cyclist? </a:t>
                </a:r>
              </a:p>
              <a:p>
                <a:pPr marL="457189" indent="-457189" defTabSz="914377">
                  <a:buFontTx/>
                  <a:buAutoNum type="alphaLcParenR"/>
                </a:pPr>
                <a:endParaRPr lang="en-US" sz="1867" b="1" dirty="0">
                  <a:solidFill>
                    <a:srgbClr val="000000"/>
                  </a:solidFill>
                  <a:latin typeface="Calibri" panose="020F0502020204030204"/>
                </a:endParaRPr>
              </a:p>
              <a:p>
                <a:pPr defTabSz="914377"/>
                <a14:m>
                  <m:oMathPara xmlns:m="http://schemas.openxmlformats.org/officeDocument/2006/math">
                    <m:oMathParaPr>
                      <m:jc m:val="centerGroup"/>
                    </m:oMathParaPr>
                    <m:oMath xmlns:m="http://schemas.openxmlformats.org/officeDocument/2006/math">
                      <m:d>
                        <m:dPr>
                          <m:ctrlPr>
                            <a:rPr lang="en-AU" sz="1867" b="1" i="1" smtClean="0">
                              <a:solidFill>
                                <a:srgbClr val="000000"/>
                              </a:solidFill>
                              <a:latin typeface="Cambria Math" panose="02040503050406030204" pitchFamily="18" charset="0"/>
                            </a:rPr>
                          </m:ctrlPr>
                        </m:dPr>
                        <m:e>
                          <m:r>
                            <a:rPr lang="en-AU" sz="1867" b="1" i="1" smtClean="0">
                              <a:solidFill>
                                <a:srgbClr val="000000"/>
                              </a:solidFill>
                              <a:latin typeface="Cambria Math" panose="02040503050406030204" pitchFamily="18" charset="0"/>
                            </a:rPr>
                            <m:t>𝑨𝒗𝒆</m:t>
                          </m:r>
                          <m:r>
                            <a:rPr lang="en-AU" sz="1867" b="1" i="1" smtClean="0">
                              <a:solidFill>
                                <a:srgbClr val="000000"/>
                              </a:solidFill>
                              <a:latin typeface="Cambria Math" panose="02040503050406030204" pitchFamily="18" charset="0"/>
                            </a:rPr>
                            <m:t> </m:t>
                          </m:r>
                          <m:r>
                            <a:rPr lang="en-AU" sz="1867" b="1" i="1" smtClean="0">
                              <a:solidFill>
                                <a:srgbClr val="000000"/>
                              </a:solidFill>
                              <a:latin typeface="Cambria Math" panose="02040503050406030204" pitchFamily="18" charset="0"/>
                            </a:rPr>
                            <m:t>𝑺𝒑𝒆𝒆𝒅</m:t>
                          </m:r>
                          <m:r>
                            <a:rPr lang="en-AU" sz="1867" b="1" i="1" smtClean="0">
                              <a:solidFill>
                                <a:srgbClr val="000000"/>
                              </a:solidFill>
                              <a:latin typeface="Cambria Math" panose="02040503050406030204" pitchFamily="18" charset="0"/>
                            </a:rPr>
                            <m:t>= </m:t>
                          </m:r>
                          <m:f>
                            <m:fPr>
                              <m:ctrlPr>
                                <a:rPr lang="en-AU" sz="1867" b="1" i="1" smtClean="0">
                                  <a:solidFill>
                                    <a:srgbClr val="000000"/>
                                  </a:solidFill>
                                  <a:latin typeface="Cambria Math" panose="02040503050406030204" pitchFamily="18" charset="0"/>
                                </a:rPr>
                              </m:ctrlPr>
                            </m:fPr>
                            <m:num>
                              <m:r>
                                <a:rPr lang="en-AU" sz="1867" b="1" i="1" smtClean="0">
                                  <a:solidFill>
                                    <a:srgbClr val="000000"/>
                                  </a:solidFill>
                                  <a:latin typeface="Cambria Math" panose="02040503050406030204" pitchFamily="18" charset="0"/>
                                </a:rPr>
                                <m:t>𝑻𝒐𝒕𝒂𝒍</m:t>
                              </m:r>
                              <m:r>
                                <a:rPr lang="en-AU" sz="1867" b="1" i="1" smtClean="0">
                                  <a:solidFill>
                                    <a:srgbClr val="000000"/>
                                  </a:solidFill>
                                  <a:latin typeface="Cambria Math" panose="02040503050406030204" pitchFamily="18" charset="0"/>
                                </a:rPr>
                                <m:t> </m:t>
                              </m:r>
                              <m:r>
                                <a:rPr lang="en-AU" sz="1867" b="1" i="1" smtClean="0">
                                  <a:solidFill>
                                    <a:srgbClr val="000000"/>
                                  </a:solidFill>
                                  <a:latin typeface="Cambria Math" panose="02040503050406030204" pitchFamily="18" charset="0"/>
                                </a:rPr>
                                <m:t>𝒅𝒊𝒔𝒕𝒂𝒏𝒄𝒆</m:t>
                              </m:r>
                            </m:num>
                            <m:den>
                              <m:r>
                                <a:rPr lang="en-AU" sz="1867" b="1" i="1" smtClean="0">
                                  <a:solidFill>
                                    <a:srgbClr val="000000"/>
                                  </a:solidFill>
                                  <a:latin typeface="Cambria Math" panose="02040503050406030204" pitchFamily="18" charset="0"/>
                                </a:rPr>
                                <m:t>𝑻𝒐𝒕𝒂𝒍</m:t>
                              </m:r>
                              <m:r>
                                <a:rPr lang="en-AU" sz="1867" b="1" i="1" smtClean="0">
                                  <a:solidFill>
                                    <a:srgbClr val="000000"/>
                                  </a:solidFill>
                                  <a:latin typeface="Cambria Math" panose="02040503050406030204" pitchFamily="18" charset="0"/>
                                </a:rPr>
                                <m:t> </m:t>
                              </m:r>
                              <m:r>
                                <a:rPr lang="en-AU" sz="1867" b="1" i="1" smtClean="0">
                                  <a:solidFill>
                                    <a:srgbClr val="000000"/>
                                  </a:solidFill>
                                  <a:latin typeface="Cambria Math" panose="02040503050406030204" pitchFamily="18" charset="0"/>
                                </a:rPr>
                                <m:t>𝒕𝒊𝒎𝒆</m:t>
                              </m:r>
                            </m:den>
                          </m:f>
                        </m:e>
                      </m:d>
                    </m:oMath>
                  </m:oMathPara>
                </a14:m>
                <a:endParaRPr lang="en-US" sz="1867" b="1" dirty="0">
                  <a:solidFill>
                    <a:srgbClr val="000000"/>
                  </a:solidFill>
                  <a:latin typeface="Calibri" panose="020F0502020204030204"/>
                </a:endParaRPr>
              </a:p>
              <a:p>
                <a:pPr marL="457189" indent="-457189" defTabSz="914377">
                  <a:buFontTx/>
                  <a:buAutoNum type="alphaLcParenR"/>
                </a:pPr>
                <a:endParaRPr lang="en-AU" sz="1867" b="1" dirty="0">
                  <a:solidFill>
                    <a:srgbClr val="000000"/>
                  </a:solidFill>
                  <a:latin typeface="Calibri" panose="020F0502020204030204"/>
                </a:endParaRPr>
              </a:p>
            </p:txBody>
          </p:sp>
        </mc:Choice>
        <mc:Fallback xmlns="">
          <p:sp>
            <p:nvSpPr>
              <p:cNvPr id="64" name="TextBox 63">
                <a:extLst>
                  <a:ext uri="{FF2B5EF4-FFF2-40B4-BE49-F238E27FC236}">
                    <a16:creationId xmlns:a16="http://schemas.microsoft.com/office/drawing/2014/main" id="{14A813FE-9A94-B53F-B35F-7DFC6C105EC6}"/>
                  </a:ext>
                </a:extLst>
              </p:cNvPr>
              <p:cNvSpPr txBox="1">
                <a:spLocks noRot="1" noChangeAspect="1" noMove="1" noResize="1" noEditPoints="1" noAdjustHandles="1" noChangeArrowheads="1" noChangeShapeType="1" noTextEdit="1"/>
              </p:cNvSpPr>
              <p:nvPr/>
            </p:nvSpPr>
            <p:spPr>
              <a:xfrm>
                <a:off x="923348" y="2150466"/>
                <a:ext cx="4572653" cy="4185698"/>
              </a:xfrm>
              <a:prstGeom prst="rect">
                <a:avLst/>
              </a:prstGeom>
              <a:blipFill>
                <a:blip r:embed="rId3"/>
                <a:stretch>
                  <a:fillRect l="-1198" t="-875"/>
                </a:stretch>
              </a:blipFill>
            </p:spPr>
            <p:txBody>
              <a:bodyPr/>
              <a:lstStyle/>
              <a:p>
                <a:r>
                  <a:rPr lang="en-AU">
                    <a:noFill/>
                  </a:rPr>
                  <a:t> </a:t>
                </a:r>
              </a:p>
            </p:txBody>
          </p:sp>
        </mc:Fallback>
      </mc:AlternateContent>
    </p:spTree>
    <p:extLst>
      <p:ext uri="{BB962C8B-B14F-4D97-AF65-F5344CB8AC3E}">
        <p14:creationId xmlns:p14="http://schemas.microsoft.com/office/powerpoint/2010/main" val="2912162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76" name="TextBox 75">
            <a:extLst>
              <a:ext uri="{FF2B5EF4-FFF2-40B4-BE49-F238E27FC236}">
                <a16:creationId xmlns:a16="http://schemas.microsoft.com/office/drawing/2014/main" id="{E972EA4E-F219-D24B-B41D-9ED89149BD47}"/>
              </a:ext>
            </a:extLst>
          </p:cNvPr>
          <p:cNvSpPr txBox="1"/>
          <p:nvPr/>
        </p:nvSpPr>
        <p:spPr>
          <a:xfrm>
            <a:off x="52080" y="1272698"/>
            <a:ext cx="684403" cy="328231"/>
          </a:xfrm>
          <a:prstGeom prst="rect">
            <a:avLst/>
          </a:prstGeom>
          <a:noFill/>
        </p:spPr>
        <p:txBody>
          <a:bodyPr wrap="square" lIns="48000" tIns="0" rIns="0" bIns="0" rtlCol="0">
            <a:spAutoFit/>
          </a:bodyPr>
          <a:lstStyle/>
          <a:p>
            <a:pPr defTabSz="914377"/>
            <a:r>
              <a:rPr lang="en-GB" sz="2133" b="1" dirty="0">
                <a:solidFill>
                  <a:srgbClr val="000000"/>
                </a:solidFill>
                <a:latin typeface="Calibri" panose="020F0502020204030204"/>
              </a:rPr>
              <a:t>Q5</a:t>
            </a:r>
          </a:p>
        </p:txBody>
      </p:sp>
      <p:sp>
        <p:nvSpPr>
          <p:cNvPr id="77" name="TextBox 76">
            <a:extLst>
              <a:ext uri="{FF2B5EF4-FFF2-40B4-BE49-F238E27FC236}">
                <a16:creationId xmlns:a16="http://schemas.microsoft.com/office/drawing/2014/main" id="{1A948131-C908-7740-9A2E-AEB74ACC7E64}"/>
              </a:ext>
            </a:extLst>
          </p:cNvPr>
          <p:cNvSpPr txBox="1"/>
          <p:nvPr/>
        </p:nvSpPr>
        <p:spPr>
          <a:xfrm>
            <a:off x="541949" y="301182"/>
            <a:ext cx="4435565" cy="1312924"/>
          </a:xfrm>
          <a:prstGeom prst="rect">
            <a:avLst/>
          </a:prstGeom>
          <a:noFill/>
        </p:spPr>
        <p:txBody>
          <a:bodyPr wrap="square" lIns="48000" tIns="0" rIns="0" bIns="0" rtlCol="0" anchor="t">
            <a:spAutoFit/>
          </a:bodyPr>
          <a:lstStyle/>
          <a:p>
            <a:pPr defTabSz="914377">
              <a:defRPr/>
            </a:pPr>
            <a:r>
              <a:rPr lang="en-GB" altLang="en-US" sz="2133" dirty="0">
                <a:solidFill>
                  <a:srgbClr val="000000"/>
                </a:solidFill>
                <a:latin typeface="Calibri" panose="020F0502020204030204"/>
              </a:rPr>
              <a:t>Five distance-time graphs are shown.</a:t>
            </a:r>
          </a:p>
          <a:p>
            <a:pPr defTabSz="914377">
              <a:defRPr/>
            </a:pPr>
            <a:r>
              <a:rPr lang="en-GB" altLang="en-US" sz="2133" dirty="0">
                <a:solidFill>
                  <a:srgbClr val="000000"/>
                </a:solidFill>
                <a:latin typeface="Calibri" panose="020F0502020204030204"/>
              </a:rPr>
              <a:t>Each box below describes one graph.</a:t>
            </a:r>
          </a:p>
          <a:p>
            <a:pPr defTabSz="914377">
              <a:defRPr/>
            </a:pPr>
            <a:r>
              <a:rPr lang="en-GB" altLang="en-US" sz="2133" dirty="0">
                <a:solidFill>
                  <a:srgbClr val="000000"/>
                </a:solidFill>
                <a:latin typeface="Calibri" panose="020F0502020204030204"/>
              </a:rPr>
              <a:t>Write the letter of the correct graph next to its description.</a:t>
            </a:r>
          </a:p>
        </p:txBody>
      </p:sp>
      <p:sp>
        <p:nvSpPr>
          <p:cNvPr id="78" name="Rectangle 77">
            <a:extLst>
              <a:ext uri="{FF2B5EF4-FFF2-40B4-BE49-F238E27FC236}">
                <a16:creationId xmlns:a16="http://schemas.microsoft.com/office/drawing/2014/main" id="{3A100F80-352F-C74D-825C-8DBE01CB7184}"/>
              </a:ext>
            </a:extLst>
          </p:cNvPr>
          <p:cNvSpPr/>
          <p:nvPr/>
        </p:nvSpPr>
        <p:spPr>
          <a:xfrm rot="16200000">
            <a:off x="-169464" y="1935492"/>
            <a:ext cx="854360" cy="269731"/>
          </a:xfrm>
          <a:prstGeom prst="rect">
            <a:avLst/>
          </a:prstGeom>
          <a:solidFill>
            <a:schemeClr val="accent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377"/>
            <a:r>
              <a:rPr lang="en-GB" dirty="0">
                <a:solidFill>
                  <a:srgbClr val="000000"/>
                </a:solidFill>
                <a:latin typeface="Calibri" panose="020F0502020204030204"/>
              </a:rPr>
              <a:t>Solution</a:t>
            </a:r>
          </a:p>
        </p:txBody>
      </p:sp>
      <p:grpSp>
        <p:nvGrpSpPr>
          <p:cNvPr id="17" name="Group 16">
            <a:extLst>
              <a:ext uri="{FF2B5EF4-FFF2-40B4-BE49-F238E27FC236}">
                <a16:creationId xmlns:a16="http://schemas.microsoft.com/office/drawing/2014/main" id="{E04A298B-BC16-BF42-9D1B-2A0B71FF1B5C}"/>
              </a:ext>
            </a:extLst>
          </p:cNvPr>
          <p:cNvGrpSpPr/>
          <p:nvPr/>
        </p:nvGrpSpPr>
        <p:grpSpPr>
          <a:xfrm>
            <a:off x="6306927" y="1924101"/>
            <a:ext cx="2346637" cy="1498744"/>
            <a:chOff x="4430734" y="1005339"/>
            <a:chExt cx="1599980" cy="1236464"/>
          </a:xfrm>
        </p:grpSpPr>
        <p:cxnSp>
          <p:nvCxnSpPr>
            <p:cNvPr id="130" name="Straight Connector 129">
              <a:extLst>
                <a:ext uri="{FF2B5EF4-FFF2-40B4-BE49-F238E27FC236}">
                  <a16:creationId xmlns:a16="http://schemas.microsoft.com/office/drawing/2014/main" id="{2874EA77-06B1-0445-9837-E2C042173A32}"/>
                </a:ext>
              </a:extLst>
            </p:cNvPr>
            <p:cNvCxnSpPr>
              <a:cxnSpLocks/>
            </p:cNvCxnSpPr>
            <p:nvPr/>
          </p:nvCxnSpPr>
          <p:spPr>
            <a:xfrm flipH="1" flipV="1">
              <a:off x="5727442" y="1608816"/>
              <a:ext cx="125696" cy="394493"/>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2F2B822-8B44-7740-9110-C2008FFBAFAA}"/>
                </a:ext>
              </a:extLst>
            </p:cNvPr>
            <p:cNvCxnSpPr>
              <a:cxnSpLocks/>
            </p:cNvCxnSpPr>
            <p:nvPr/>
          </p:nvCxnSpPr>
          <p:spPr>
            <a:xfrm flipV="1">
              <a:off x="5167980" y="1608816"/>
              <a:ext cx="276324" cy="395723"/>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81F8DC7D-AE13-8841-A3D9-C442D05C5D10}"/>
                </a:ext>
              </a:extLst>
            </p:cNvPr>
            <p:cNvGrpSpPr/>
            <p:nvPr/>
          </p:nvGrpSpPr>
          <p:grpSpPr>
            <a:xfrm>
              <a:off x="4430734" y="1005339"/>
              <a:ext cx="1599980" cy="1236464"/>
              <a:chOff x="4430734" y="1005339"/>
              <a:chExt cx="1599980" cy="1236464"/>
            </a:xfrm>
          </p:grpSpPr>
          <p:sp>
            <p:nvSpPr>
              <p:cNvPr id="65" name="TextBox 64">
                <a:extLst>
                  <a:ext uri="{FF2B5EF4-FFF2-40B4-BE49-F238E27FC236}">
                    <a16:creationId xmlns:a16="http://schemas.microsoft.com/office/drawing/2014/main" id="{F2BD001E-2251-A443-8FCA-5B364313C94E}"/>
                  </a:ext>
                </a:extLst>
              </p:cNvPr>
              <p:cNvSpPr txBox="1"/>
              <p:nvPr/>
            </p:nvSpPr>
            <p:spPr>
              <a:xfrm>
                <a:off x="4430734" y="1049933"/>
                <a:ext cx="655341" cy="609398"/>
              </a:xfrm>
              <a:prstGeom prst="rect">
                <a:avLst/>
              </a:prstGeom>
              <a:noFill/>
            </p:spPr>
            <p:txBody>
              <a:bodyPr wrap="square" lIns="0" tIns="0" rIns="0" bIns="0" rtlCol="0" anchor="ctr" anchorCtr="0">
                <a:spAutoFit/>
              </a:bodyPr>
              <a:lstStyle/>
              <a:p>
                <a:pPr algn="r" defTabSz="914377">
                  <a:defRPr/>
                </a:pPr>
                <a:r>
                  <a:rPr lang="en-GB" altLang="en-US" sz="1600" b="1" dirty="0">
                    <a:solidFill>
                      <a:srgbClr val="FEDADB">
                        <a:lumMod val="50000"/>
                      </a:srgbClr>
                    </a:solidFill>
                    <a:latin typeface="Calibri" panose="020F0502020204030204"/>
                  </a:rPr>
                  <a:t>Distance</a:t>
                </a:r>
              </a:p>
              <a:p>
                <a:pPr algn="r" defTabSz="914377">
                  <a:defRPr/>
                </a:pPr>
                <a:r>
                  <a:rPr lang="en-GB" altLang="en-US" sz="1600" b="1" dirty="0">
                    <a:solidFill>
                      <a:srgbClr val="FEDADB">
                        <a:lumMod val="50000"/>
                      </a:srgbClr>
                    </a:solidFill>
                    <a:latin typeface="Calibri" panose="020F0502020204030204"/>
                  </a:rPr>
                  <a:t>from</a:t>
                </a:r>
              </a:p>
              <a:p>
                <a:pPr algn="r" defTabSz="914377">
                  <a:defRPr/>
                </a:pPr>
                <a:r>
                  <a:rPr lang="en-GB" altLang="en-US" sz="1600" b="1" dirty="0">
                    <a:solidFill>
                      <a:srgbClr val="FEDADB">
                        <a:lumMod val="50000"/>
                      </a:srgbClr>
                    </a:solidFill>
                    <a:latin typeface="Calibri" panose="020F0502020204030204"/>
                  </a:rPr>
                  <a:t>home</a:t>
                </a:r>
              </a:p>
            </p:txBody>
          </p:sp>
          <p:sp>
            <p:nvSpPr>
              <p:cNvPr id="66" name="TextBox 65">
                <a:extLst>
                  <a:ext uri="{FF2B5EF4-FFF2-40B4-BE49-F238E27FC236}">
                    <a16:creationId xmlns:a16="http://schemas.microsoft.com/office/drawing/2014/main" id="{01079CAD-1FAC-5F41-A7AE-04AE8D908A7A}"/>
                  </a:ext>
                </a:extLst>
              </p:cNvPr>
              <p:cNvSpPr txBox="1"/>
              <p:nvPr/>
            </p:nvSpPr>
            <p:spPr>
              <a:xfrm>
                <a:off x="5375373" y="2038671"/>
                <a:ext cx="655341" cy="203132"/>
              </a:xfrm>
              <a:prstGeom prst="rect">
                <a:avLst/>
              </a:prstGeom>
              <a:noFill/>
            </p:spPr>
            <p:txBody>
              <a:bodyPr wrap="square" lIns="0" tIns="0" rIns="0" bIns="0" rtlCol="0" anchor="ctr" anchorCtr="0">
                <a:spAutoFit/>
              </a:bodyPr>
              <a:lstStyle/>
              <a:p>
                <a:pPr algn="r" defTabSz="914377">
                  <a:defRPr/>
                </a:pPr>
                <a:r>
                  <a:rPr lang="en-GB" altLang="en-US" sz="1600" b="1" dirty="0">
                    <a:solidFill>
                      <a:srgbClr val="FEDADB">
                        <a:lumMod val="50000"/>
                      </a:srgbClr>
                    </a:solidFill>
                    <a:latin typeface="Calibri" panose="020F0502020204030204"/>
                  </a:rPr>
                  <a:t>Time</a:t>
                </a:r>
              </a:p>
            </p:txBody>
          </p:sp>
          <p:sp>
            <p:nvSpPr>
              <p:cNvPr id="67" name="TextBox 66">
                <a:extLst>
                  <a:ext uri="{FF2B5EF4-FFF2-40B4-BE49-F238E27FC236}">
                    <a16:creationId xmlns:a16="http://schemas.microsoft.com/office/drawing/2014/main" id="{B9C07651-6CF2-394D-946B-956920ED92BC}"/>
                  </a:ext>
                </a:extLst>
              </p:cNvPr>
              <p:cNvSpPr txBox="1"/>
              <p:nvPr/>
            </p:nvSpPr>
            <p:spPr>
              <a:xfrm>
                <a:off x="5267443" y="1005339"/>
                <a:ext cx="655341" cy="203132"/>
              </a:xfrm>
              <a:prstGeom prst="rect">
                <a:avLst/>
              </a:prstGeom>
              <a:noFill/>
            </p:spPr>
            <p:txBody>
              <a:bodyPr wrap="square" lIns="0" tIns="0" rIns="0" bIns="0" rtlCol="0" anchor="ctr" anchorCtr="0">
                <a:spAutoFit/>
              </a:bodyPr>
              <a:lstStyle/>
              <a:p>
                <a:pPr algn="ctr" defTabSz="914377">
                  <a:defRPr/>
                </a:pPr>
                <a:r>
                  <a:rPr lang="en-GB" altLang="en-US" sz="1600" b="1" dirty="0">
                    <a:solidFill>
                      <a:srgbClr val="D3B3FF">
                        <a:lumMod val="50000"/>
                      </a:srgbClr>
                    </a:solidFill>
                    <a:latin typeface="Calibri" panose="020F0502020204030204"/>
                  </a:rPr>
                  <a:t>Graph A</a:t>
                </a:r>
              </a:p>
            </p:txBody>
          </p:sp>
          <p:sp>
            <p:nvSpPr>
              <p:cNvPr id="4" name="Freeform 3">
                <a:extLst>
                  <a:ext uri="{FF2B5EF4-FFF2-40B4-BE49-F238E27FC236}">
                    <a16:creationId xmlns:a16="http://schemas.microsoft.com/office/drawing/2014/main" id="{49123CE8-6FEA-1E40-8A04-5DBFB6C437F6}"/>
                  </a:ext>
                </a:extLst>
              </p:cNvPr>
              <p:cNvSpPr>
                <a:spLocks noChangeAspect="1"/>
              </p:cNvSpPr>
              <p:nvPr/>
            </p:nvSpPr>
            <p:spPr>
              <a:xfrm>
                <a:off x="5159514" y="1141804"/>
                <a:ext cx="871200" cy="871200"/>
              </a:xfrm>
              <a:custGeom>
                <a:avLst/>
                <a:gdLst>
                  <a:gd name="connsiteX0" fmla="*/ 0 w 586333"/>
                  <a:gd name="connsiteY0" fmla="*/ 0 h 614254"/>
                  <a:gd name="connsiteX1" fmla="*/ 0 w 586333"/>
                  <a:gd name="connsiteY1" fmla="*/ 614254 h 614254"/>
                  <a:gd name="connsiteX2" fmla="*/ 586333 w 586333"/>
                  <a:gd name="connsiteY2" fmla="*/ 614254 h 614254"/>
                </a:gdLst>
                <a:ahLst/>
                <a:cxnLst>
                  <a:cxn ang="0">
                    <a:pos x="connsiteX0" y="connsiteY0"/>
                  </a:cxn>
                  <a:cxn ang="0">
                    <a:pos x="connsiteX1" y="connsiteY1"/>
                  </a:cxn>
                  <a:cxn ang="0">
                    <a:pos x="connsiteX2" y="connsiteY2"/>
                  </a:cxn>
                </a:cxnLst>
                <a:rect l="l" t="t" r="r" b="b"/>
                <a:pathLst>
                  <a:path w="586333" h="614254">
                    <a:moveTo>
                      <a:pt x="0" y="0"/>
                    </a:moveTo>
                    <a:lnTo>
                      <a:pt x="0" y="614254"/>
                    </a:lnTo>
                    <a:lnTo>
                      <a:pt x="586333" y="614254"/>
                    </a:lnTo>
                  </a:path>
                </a:pathLst>
              </a:custGeom>
              <a:noFill/>
              <a:ln w="28575" cap="rnd">
                <a:solidFill>
                  <a:schemeClr val="tx1"/>
                </a:solidFill>
                <a:round/>
                <a:headEnd type="triangle"/>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GB">
                  <a:solidFill>
                    <a:srgbClr val="FFFFFF"/>
                  </a:solidFill>
                  <a:latin typeface="Calibri" panose="020F0502020204030204"/>
                </a:endParaRPr>
              </a:p>
            </p:txBody>
          </p:sp>
        </p:grpSp>
        <p:cxnSp>
          <p:nvCxnSpPr>
            <p:cNvPr id="131" name="Straight Connector 130">
              <a:extLst>
                <a:ext uri="{FF2B5EF4-FFF2-40B4-BE49-F238E27FC236}">
                  <a16:creationId xmlns:a16="http://schemas.microsoft.com/office/drawing/2014/main" id="{3418DB58-675C-E843-8CAB-B3C189A428A1}"/>
                </a:ext>
              </a:extLst>
            </p:cNvPr>
            <p:cNvCxnSpPr>
              <a:cxnSpLocks/>
            </p:cNvCxnSpPr>
            <p:nvPr/>
          </p:nvCxnSpPr>
          <p:spPr>
            <a:xfrm>
              <a:off x="5444304" y="1608816"/>
              <a:ext cx="283138" cy="0"/>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grpSp>
      <p:grpSp>
        <p:nvGrpSpPr>
          <p:cNvPr id="90" name="Group 89">
            <a:extLst>
              <a:ext uri="{FF2B5EF4-FFF2-40B4-BE49-F238E27FC236}">
                <a16:creationId xmlns:a16="http://schemas.microsoft.com/office/drawing/2014/main" id="{BB3421FE-1C7E-E74F-A5EB-64B5B95B4279}"/>
              </a:ext>
            </a:extLst>
          </p:cNvPr>
          <p:cNvGrpSpPr/>
          <p:nvPr/>
        </p:nvGrpSpPr>
        <p:grpSpPr>
          <a:xfrm>
            <a:off x="8495267" y="1400362"/>
            <a:ext cx="2346637" cy="1498744"/>
            <a:chOff x="4430734" y="1005339"/>
            <a:chExt cx="1599980" cy="1236464"/>
          </a:xfrm>
        </p:grpSpPr>
        <p:cxnSp>
          <p:nvCxnSpPr>
            <p:cNvPr id="91" name="Straight Connector 90">
              <a:extLst>
                <a:ext uri="{FF2B5EF4-FFF2-40B4-BE49-F238E27FC236}">
                  <a16:creationId xmlns:a16="http://schemas.microsoft.com/office/drawing/2014/main" id="{D385DE20-09F3-BD42-ACE4-74DECB10E64B}"/>
                </a:ext>
              </a:extLst>
            </p:cNvPr>
            <p:cNvCxnSpPr>
              <a:cxnSpLocks/>
            </p:cNvCxnSpPr>
            <p:nvPr/>
          </p:nvCxnSpPr>
          <p:spPr>
            <a:xfrm flipV="1">
              <a:off x="5167980" y="1337734"/>
              <a:ext cx="692646" cy="666804"/>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grpSp>
          <p:nvGrpSpPr>
            <p:cNvPr id="92" name="Group 91">
              <a:extLst>
                <a:ext uri="{FF2B5EF4-FFF2-40B4-BE49-F238E27FC236}">
                  <a16:creationId xmlns:a16="http://schemas.microsoft.com/office/drawing/2014/main" id="{322817C6-AF5E-C544-B571-4BB924855D35}"/>
                </a:ext>
              </a:extLst>
            </p:cNvPr>
            <p:cNvGrpSpPr/>
            <p:nvPr/>
          </p:nvGrpSpPr>
          <p:grpSpPr>
            <a:xfrm>
              <a:off x="4430734" y="1005339"/>
              <a:ext cx="1599980" cy="1236464"/>
              <a:chOff x="4430734" y="1005339"/>
              <a:chExt cx="1599980" cy="1236464"/>
            </a:xfrm>
          </p:grpSpPr>
          <p:sp>
            <p:nvSpPr>
              <p:cNvPr id="93" name="Freeform 92">
                <a:extLst>
                  <a:ext uri="{FF2B5EF4-FFF2-40B4-BE49-F238E27FC236}">
                    <a16:creationId xmlns:a16="http://schemas.microsoft.com/office/drawing/2014/main" id="{9F524964-BC96-C240-92A7-B9AC9601FAF8}"/>
                  </a:ext>
                </a:extLst>
              </p:cNvPr>
              <p:cNvSpPr>
                <a:spLocks noChangeAspect="1"/>
              </p:cNvSpPr>
              <p:nvPr/>
            </p:nvSpPr>
            <p:spPr>
              <a:xfrm>
                <a:off x="5159514" y="1141804"/>
                <a:ext cx="871200" cy="871200"/>
              </a:xfrm>
              <a:custGeom>
                <a:avLst/>
                <a:gdLst>
                  <a:gd name="connsiteX0" fmla="*/ 0 w 586333"/>
                  <a:gd name="connsiteY0" fmla="*/ 0 h 614254"/>
                  <a:gd name="connsiteX1" fmla="*/ 0 w 586333"/>
                  <a:gd name="connsiteY1" fmla="*/ 614254 h 614254"/>
                  <a:gd name="connsiteX2" fmla="*/ 586333 w 586333"/>
                  <a:gd name="connsiteY2" fmla="*/ 614254 h 614254"/>
                </a:gdLst>
                <a:ahLst/>
                <a:cxnLst>
                  <a:cxn ang="0">
                    <a:pos x="connsiteX0" y="connsiteY0"/>
                  </a:cxn>
                  <a:cxn ang="0">
                    <a:pos x="connsiteX1" y="connsiteY1"/>
                  </a:cxn>
                  <a:cxn ang="0">
                    <a:pos x="connsiteX2" y="connsiteY2"/>
                  </a:cxn>
                </a:cxnLst>
                <a:rect l="l" t="t" r="r" b="b"/>
                <a:pathLst>
                  <a:path w="586333" h="614254">
                    <a:moveTo>
                      <a:pt x="0" y="0"/>
                    </a:moveTo>
                    <a:lnTo>
                      <a:pt x="0" y="614254"/>
                    </a:lnTo>
                    <a:lnTo>
                      <a:pt x="586333" y="614254"/>
                    </a:lnTo>
                  </a:path>
                </a:pathLst>
              </a:custGeom>
              <a:noFill/>
              <a:ln w="28575" cap="rnd">
                <a:solidFill>
                  <a:schemeClr val="tx1"/>
                </a:solidFill>
                <a:round/>
                <a:headEnd type="triangle"/>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GB">
                  <a:solidFill>
                    <a:srgbClr val="FFFFFF"/>
                  </a:solidFill>
                  <a:latin typeface="Calibri" panose="020F0502020204030204"/>
                </a:endParaRPr>
              </a:p>
            </p:txBody>
          </p:sp>
          <p:sp>
            <p:nvSpPr>
              <p:cNvPr id="94" name="TextBox 93">
                <a:extLst>
                  <a:ext uri="{FF2B5EF4-FFF2-40B4-BE49-F238E27FC236}">
                    <a16:creationId xmlns:a16="http://schemas.microsoft.com/office/drawing/2014/main" id="{BC686751-2787-B446-B510-9D2D3916DC02}"/>
                  </a:ext>
                </a:extLst>
              </p:cNvPr>
              <p:cNvSpPr txBox="1"/>
              <p:nvPr/>
            </p:nvSpPr>
            <p:spPr>
              <a:xfrm>
                <a:off x="4430734" y="1049933"/>
                <a:ext cx="655341" cy="609398"/>
              </a:xfrm>
              <a:prstGeom prst="rect">
                <a:avLst/>
              </a:prstGeom>
              <a:noFill/>
            </p:spPr>
            <p:txBody>
              <a:bodyPr wrap="square" lIns="0" tIns="0" rIns="0" bIns="0" rtlCol="0" anchor="ctr" anchorCtr="0">
                <a:spAutoFit/>
              </a:bodyPr>
              <a:lstStyle/>
              <a:p>
                <a:pPr algn="r" defTabSz="914377">
                  <a:defRPr/>
                </a:pPr>
                <a:r>
                  <a:rPr lang="en-GB" altLang="en-US" sz="1600" b="1" dirty="0">
                    <a:solidFill>
                      <a:srgbClr val="FEDADB">
                        <a:lumMod val="50000"/>
                      </a:srgbClr>
                    </a:solidFill>
                    <a:latin typeface="Calibri" panose="020F0502020204030204"/>
                  </a:rPr>
                  <a:t>Distance</a:t>
                </a:r>
              </a:p>
              <a:p>
                <a:pPr algn="r" defTabSz="914377">
                  <a:defRPr/>
                </a:pPr>
                <a:r>
                  <a:rPr lang="en-GB" altLang="en-US" sz="1600" b="1" dirty="0">
                    <a:solidFill>
                      <a:srgbClr val="FEDADB">
                        <a:lumMod val="50000"/>
                      </a:srgbClr>
                    </a:solidFill>
                    <a:latin typeface="Calibri" panose="020F0502020204030204"/>
                  </a:rPr>
                  <a:t>from</a:t>
                </a:r>
              </a:p>
              <a:p>
                <a:pPr algn="r" defTabSz="914377">
                  <a:defRPr/>
                </a:pPr>
                <a:r>
                  <a:rPr lang="en-GB" altLang="en-US" sz="1600" b="1" dirty="0">
                    <a:solidFill>
                      <a:srgbClr val="FEDADB">
                        <a:lumMod val="50000"/>
                      </a:srgbClr>
                    </a:solidFill>
                    <a:latin typeface="Calibri" panose="020F0502020204030204"/>
                  </a:rPr>
                  <a:t>home</a:t>
                </a:r>
              </a:p>
            </p:txBody>
          </p:sp>
          <p:sp>
            <p:nvSpPr>
              <p:cNvPr id="95" name="TextBox 94">
                <a:extLst>
                  <a:ext uri="{FF2B5EF4-FFF2-40B4-BE49-F238E27FC236}">
                    <a16:creationId xmlns:a16="http://schemas.microsoft.com/office/drawing/2014/main" id="{AD955028-DBA3-3E40-BBD0-417A5846F984}"/>
                  </a:ext>
                </a:extLst>
              </p:cNvPr>
              <p:cNvSpPr txBox="1"/>
              <p:nvPr/>
            </p:nvSpPr>
            <p:spPr>
              <a:xfrm>
                <a:off x="5375373" y="2038671"/>
                <a:ext cx="655341" cy="203132"/>
              </a:xfrm>
              <a:prstGeom prst="rect">
                <a:avLst/>
              </a:prstGeom>
              <a:noFill/>
            </p:spPr>
            <p:txBody>
              <a:bodyPr wrap="square" lIns="0" tIns="0" rIns="0" bIns="0" rtlCol="0" anchor="ctr" anchorCtr="0">
                <a:spAutoFit/>
              </a:bodyPr>
              <a:lstStyle/>
              <a:p>
                <a:pPr algn="r" defTabSz="914377">
                  <a:defRPr/>
                </a:pPr>
                <a:r>
                  <a:rPr lang="en-GB" altLang="en-US" sz="1600" b="1" dirty="0">
                    <a:solidFill>
                      <a:srgbClr val="FEDADB">
                        <a:lumMod val="50000"/>
                      </a:srgbClr>
                    </a:solidFill>
                    <a:latin typeface="Calibri" panose="020F0502020204030204"/>
                  </a:rPr>
                  <a:t>Time</a:t>
                </a:r>
              </a:p>
            </p:txBody>
          </p:sp>
          <p:sp>
            <p:nvSpPr>
              <p:cNvPr id="96" name="TextBox 95">
                <a:extLst>
                  <a:ext uri="{FF2B5EF4-FFF2-40B4-BE49-F238E27FC236}">
                    <a16:creationId xmlns:a16="http://schemas.microsoft.com/office/drawing/2014/main" id="{5781E853-0DFD-7D48-90E8-74C91D31F2D0}"/>
                  </a:ext>
                </a:extLst>
              </p:cNvPr>
              <p:cNvSpPr txBox="1"/>
              <p:nvPr/>
            </p:nvSpPr>
            <p:spPr>
              <a:xfrm>
                <a:off x="5267443" y="1005339"/>
                <a:ext cx="655341" cy="203132"/>
              </a:xfrm>
              <a:prstGeom prst="rect">
                <a:avLst/>
              </a:prstGeom>
              <a:noFill/>
            </p:spPr>
            <p:txBody>
              <a:bodyPr wrap="square" lIns="0" tIns="0" rIns="0" bIns="0" rtlCol="0" anchor="ctr" anchorCtr="0">
                <a:spAutoFit/>
              </a:bodyPr>
              <a:lstStyle/>
              <a:p>
                <a:pPr algn="ctr" defTabSz="914377">
                  <a:defRPr/>
                </a:pPr>
                <a:r>
                  <a:rPr lang="en-GB" altLang="en-US" sz="1600" b="1" dirty="0">
                    <a:solidFill>
                      <a:srgbClr val="D3B3FF">
                        <a:lumMod val="50000"/>
                      </a:srgbClr>
                    </a:solidFill>
                    <a:latin typeface="Calibri" panose="020F0502020204030204"/>
                  </a:rPr>
                  <a:t>Graph C</a:t>
                </a:r>
              </a:p>
            </p:txBody>
          </p:sp>
        </p:grpSp>
      </p:grpSp>
      <p:grpSp>
        <p:nvGrpSpPr>
          <p:cNvPr id="97" name="Group 96">
            <a:extLst>
              <a:ext uri="{FF2B5EF4-FFF2-40B4-BE49-F238E27FC236}">
                <a16:creationId xmlns:a16="http://schemas.microsoft.com/office/drawing/2014/main" id="{E3CF259C-F62A-DD49-83C6-ADD94AC339F0}"/>
              </a:ext>
            </a:extLst>
          </p:cNvPr>
          <p:cNvGrpSpPr/>
          <p:nvPr/>
        </p:nvGrpSpPr>
        <p:grpSpPr>
          <a:xfrm>
            <a:off x="8627666" y="4400639"/>
            <a:ext cx="2346637" cy="1498747"/>
            <a:chOff x="4430734" y="1005338"/>
            <a:chExt cx="1599980" cy="1236465"/>
          </a:xfrm>
        </p:grpSpPr>
        <p:cxnSp>
          <p:nvCxnSpPr>
            <p:cNvPr id="98" name="Straight Connector 97">
              <a:extLst>
                <a:ext uri="{FF2B5EF4-FFF2-40B4-BE49-F238E27FC236}">
                  <a16:creationId xmlns:a16="http://schemas.microsoft.com/office/drawing/2014/main" id="{8158999D-CDF3-6B4B-BB28-11CE6C7AD71A}"/>
                </a:ext>
              </a:extLst>
            </p:cNvPr>
            <p:cNvCxnSpPr>
              <a:cxnSpLocks/>
            </p:cNvCxnSpPr>
            <p:nvPr/>
          </p:nvCxnSpPr>
          <p:spPr>
            <a:xfrm flipV="1">
              <a:off x="5167980" y="1783236"/>
              <a:ext cx="267858" cy="221302"/>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grpSp>
          <p:nvGrpSpPr>
            <p:cNvPr id="99" name="Group 98">
              <a:extLst>
                <a:ext uri="{FF2B5EF4-FFF2-40B4-BE49-F238E27FC236}">
                  <a16:creationId xmlns:a16="http://schemas.microsoft.com/office/drawing/2014/main" id="{C25479EE-7FD4-E949-8D0B-5F9189AEBD7E}"/>
                </a:ext>
              </a:extLst>
            </p:cNvPr>
            <p:cNvGrpSpPr/>
            <p:nvPr/>
          </p:nvGrpSpPr>
          <p:grpSpPr>
            <a:xfrm>
              <a:off x="4430734" y="1005338"/>
              <a:ext cx="1599980" cy="1236465"/>
              <a:chOff x="4430734" y="1005338"/>
              <a:chExt cx="1599980" cy="1236465"/>
            </a:xfrm>
          </p:grpSpPr>
          <p:sp>
            <p:nvSpPr>
              <p:cNvPr id="100" name="Freeform 99">
                <a:extLst>
                  <a:ext uri="{FF2B5EF4-FFF2-40B4-BE49-F238E27FC236}">
                    <a16:creationId xmlns:a16="http://schemas.microsoft.com/office/drawing/2014/main" id="{07A1C518-6191-C748-840E-809600B36C80}"/>
                  </a:ext>
                </a:extLst>
              </p:cNvPr>
              <p:cNvSpPr>
                <a:spLocks noChangeAspect="1"/>
              </p:cNvSpPr>
              <p:nvPr/>
            </p:nvSpPr>
            <p:spPr>
              <a:xfrm>
                <a:off x="5159514" y="1141804"/>
                <a:ext cx="871200" cy="871200"/>
              </a:xfrm>
              <a:custGeom>
                <a:avLst/>
                <a:gdLst>
                  <a:gd name="connsiteX0" fmla="*/ 0 w 586333"/>
                  <a:gd name="connsiteY0" fmla="*/ 0 h 614254"/>
                  <a:gd name="connsiteX1" fmla="*/ 0 w 586333"/>
                  <a:gd name="connsiteY1" fmla="*/ 614254 h 614254"/>
                  <a:gd name="connsiteX2" fmla="*/ 586333 w 586333"/>
                  <a:gd name="connsiteY2" fmla="*/ 614254 h 614254"/>
                </a:gdLst>
                <a:ahLst/>
                <a:cxnLst>
                  <a:cxn ang="0">
                    <a:pos x="connsiteX0" y="connsiteY0"/>
                  </a:cxn>
                  <a:cxn ang="0">
                    <a:pos x="connsiteX1" y="connsiteY1"/>
                  </a:cxn>
                  <a:cxn ang="0">
                    <a:pos x="connsiteX2" y="connsiteY2"/>
                  </a:cxn>
                </a:cxnLst>
                <a:rect l="l" t="t" r="r" b="b"/>
                <a:pathLst>
                  <a:path w="586333" h="614254">
                    <a:moveTo>
                      <a:pt x="0" y="0"/>
                    </a:moveTo>
                    <a:lnTo>
                      <a:pt x="0" y="614254"/>
                    </a:lnTo>
                    <a:lnTo>
                      <a:pt x="586333" y="614254"/>
                    </a:lnTo>
                  </a:path>
                </a:pathLst>
              </a:custGeom>
              <a:noFill/>
              <a:ln w="28575" cap="rnd">
                <a:solidFill>
                  <a:schemeClr val="tx1"/>
                </a:solidFill>
                <a:round/>
                <a:headEnd type="triangle"/>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GB">
                  <a:solidFill>
                    <a:srgbClr val="FFFFFF"/>
                  </a:solidFill>
                  <a:latin typeface="Calibri" panose="020F0502020204030204"/>
                </a:endParaRPr>
              </a:p>
            </p:txBody>
          </p:sp>
          <p:sp>
            <p:nvSpPr>
              <p:cNvPr id="101" name="TextBox 100">
                <a:extLst>
                  <a:ext uri="{FF2B5EF4-FFF2-40B4-BE49-F238E27FC236}">
                    <a16:creationId xmlns:a16="http://schemas.microsoft.com/office/drawing/2014/main" id="{368542DA-8A31-2E4E-8DDD-5FF43F018DE7}"/>
                  </a:ext>
                </a:extLst>
              </p:cNvPr>
              <p:cNvSpPr txBox="1"/>
              <p:nvPr/>
            </p:nvSpPr>
            <p:spPr>
              <a:xfrm>
                <a:off x="4430734" y="1049934"/>
                <a:ext cx="655341" cy="609397"/>
              </a:xfrm>
              <a:prstGeom prst="rect">
                <a:avLst/>
              </a:prstGeom>
              <a:noFill/>
            </p:spPr>
            <p:txBody>
              <a:bodyPr wrap="square" lIns="0" tIns="0" rIns="0" bIns="0" rtlCol="0" anchor="ctr" anchorCtr="0">
                <a:spAutoFit/>
              </a:bodyPr>
              <a:lstStyle/>
              <a:p>
                <a:pPr algn="r" defTabSz="914377">
                  <a:defRPr/>
                </a:pPr>
                <a:r>
                  <a:rPr lang="en-GB" altLang="en-US" sz="1600" b="1" dirty="0">
                    <a:solidFill>
                      <a:srgbClr val="FEDADB">
                        <a:lumMod val="50000"/>
                      </a:srgbClr>
                    </a:solidFill>
                    <a:latin typeface="Calibri" panose="020F0502020204030204"/>
                  </a:rPr>
                  <a:t>Distance</a:t>
                </a:r>
              </a:p>
              <a:p>
                <a:pPr algn="r" defTabSz="914377">
                  <a:defRPr/>
                </a:pPr>
                <a:r>
                  <a:rPr lang="en-GB" altLang="en-US" sz="1600" b="1" dirty="0">
                    <a:solidFill>
                      <a:srgbClr val="FEDADB">
                        <a:lumMod val="50000"/>
                      </a:srgbClr>
                    </a:solidFill>
                    <a:latin typeface="Calibri" panose="020F0502020204030204"/>
                  </a:rPr>
                  <a:t>from</a:t>
                </a:r>
              </a:p>
              <a:p>
                <a:pPr algn="r" defTabSz="914377">
                  <a:defRPr/>
                </a:pPr>
                <a:r>
                  <a:rPr lang="en-GB" altLang="en-US" sz="1600" b="1" dirty="0">
                    <a:solidFill>
                      <a:srgbClr val="FEDADB">
                        <a:lumMod val="50000"/>
                      </a:srgbClr>
                    </a:solidFill>
                    <a:latin typeface="Calibri" panose="020F0502020204030204"/>
                  </a:rPr>
                  <a:t>home</a:t>
                </a:r>
              </a:p>
            </p:txBody>
          </p:sp>
          <p:sp>
            <p:nvSpPr>
              <p:cNvPr id="102" name="TextBox 101">
                <a:extLst>
                  <a:ext uri="{FF2B5EF4-FFF2-40B4-BE49-F238E27FC236}">
                    <a16:creationId xmlns:a16="http://schemas.microsoft.com/office/drawing/2014/main" id="{145F4937-FE38-4848-AFA6-0CA1525F1163}"/>
                  </a:ext>
                </a:extLst>
              </p:cNvPr>
              <p:cNvSpPr txBox="1"/>
              <p:nvPr/>
            </p:nvSpPr>
            <p:spPr>
              <a:xfrm>
                <a:off x="5375373" y="2038671"/>
                <a:ext cx="655341" cy="203132"/>
              </a:xfrm>
              <a:prstGeom prst="rect">
                <a:avLst/>
              </a:prstGeom>
              <a:noFill/>
            </p:spPr>
            <p:txBody>
              <a:bodyPr wrap="square" lIns="0" tIns="0" rIns="0" bIns="0" rtlCol="0" anchor="ctr" anchorCtr="0">
                <a:spAutoFit/>
              </a:bodyPr>
              <a:lstStyle/>
              <a:p>
                <a:pPr algn="r" defTabSz="914377">
                  <a:defRPr/>
                </a:pPr>
                <a:r>
                  <a:rPr lang="en-GB" altLang="en-US" sz="1600" b="1" dirty="0">
                    <a:solidFill>
                      <a:srgbClr val="FEDADB">
                        <a:lumMod val="50000"/>
                      </a:srgbClr>
                    </a:solidFill>
                    <a:latin typeface="Calibri" panose="020F0502020204030204"/>
                  </a:rPr>
                  <a:t>Time</a:t>
                </a:r>
              </a:p>
            </p:txBody>
          </p:sp>
          <p:sp>
            <p:nvSpPr>
              <p:cNvPr id="103" name="TextBox 102">
                <a:extLst>
                  <a:ext uri="{FF2B5EF4-FFF2-40B4-BE49-F238E27FC236}">
                    <a16:creationId xmlns:a16="http://schemas.microsoft.com/office/drawing/2014/main" id="{AF2299B0-0499-B948-868C-95A8ACB65F74}"/>
                  </a:ext>
                </a:extLst>
              </p:cNvPr>
              <p:cNvSpPr txBox="1"/>
              <p:nvPr/>
            </p:nvSpPr>
            <p:spPr>
              <a:xfrm>
                <a:off x="5267443" y="1005338"/>
                <a:ext cx="655341" cy="203132"/>
              </a:xfrm>
              <a:prstGeom prst="rect">
                <a:avLst/>
              </a:prstGeom>
              <a:noFill/>
            </p:spPr>
            <p:txBody>
              <a:bodyPr wrap="square" lIns="0" tIns="0" rIns="0" bIns="0" rtlCol="0" anchor="ctr" anchorCtr="0">
                <a:spAutoFit/>
              </a:bodyPr>
              <a:lstStyle/>
              <a:p>
                <a:pPr algn="ctr" defTabSz="914377">
                  <a:defRPr/>
                </a:pPr>
                <a:r>
                  <a:rPr lang="en-GB" altLang="en-US" sz="1600" b="1" dirty="0">
                    <a:solidFill>
                      <a:srgbClr val="D3B3FF">
                        <a:lumMod val="50000"/>
                      </a:srgbClr>
                    </a:solidFill>
                    <a:latin typeface="Calibri" panose="020F0502020204030204"/>
                  </a:rPr>
                  <a:t>Graph D</a:t>
                </a:r>
              </a:p>
            </p:txBody>
          </p:sp>
        </p:grpSp>
        <p:cxnSp>
          <p:nvCxnSpPr>
            <p:cNvPr id="127" name="Straight Connector 126">
              <a:extLst>
                <a:ext uri="{FF2B5EF4-FFF2-40B4-BE49-F238E27FC236}">
                  <a16:creationId xmlns:a16="http://schemas.microsoft.com/office/drawing/2014/main" id="{990D0913-55C1-DC47-8D58-8A30D6EF8230}"/>
                </a:ext>
              </a:extLst>
            </p:cNvPr>
            <p:cNvCxnSpPr>
              <a:cxnSpLocks/>
            </p:cNvCxnSpPr>
            <p:nvPr/>
          </p:nvCxnSpPr>
          <p:spPr>
            <a:xfrm>
              <a:off x="5444304" y="1783236"/>
              <a:ext cx="69999" cy="0"/>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6C74B013-0147-044B-8BBB-A2B0FE06B46D}"/>
                </a:ext>
              </a:extLst>
            </p:cNvPr>
            <p:cNvCxnSpPr>
              <a:cxnSpLocks/>
            </p:cNvCxnSpPr>
            <p:nvPr/>
          </p:nvCxnSpPr>
          <p:spPr>
            <a:xfrm flipV="1">
              <a:off x="5522769" y="1380585"/>
              <a:ext cx="243031" cy="402651"/>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grpSp>
      <p:grpSp>
        <p:nvGrpSpPr>
          <p:cNvPr id="104" name="Group 103">
            <a:extLst>
              <a:ext uri="{FF2B5EF4-FFF2-40B4-BE49-F238E27FC236}">
                <a16:creationId xmlns:a16="http://schemas.microsoft.com/office/drawing/2014/main" id="{1F57C4E6-A356-C14B-A326-6947C9F5DA5B}"/>
              </a:ext>
            </a:extLst>
          </p:cNvPr>
          <p:cNvGrpSpPr/>
          <p:nvPr/>
        </p:nvGrpSpPr>
        <p:grpSpPr>
          <a:xfrm>
            <a:off x="9698500" y="3040503"/>
            <a:ext cx="2346637" cy="1498747"/>
            <a:chOff x="4430734" y="1005338"/>
            <a:chExt cx="1599980" cy="1236465"/>
          </a:xfrm>
        </p:grpSpPr>
        <p:cxnSp>
          <p:nvCxnSpPr>
            <p:cNvPr id="105" name="Straight Connector 104">
              <a:extLst>
                <a:ext uri="{FF2B5EF4-FFF2-40B4-BE49-F238E27FC236}">
                  <a16:creationId xmlns:a16="http://schemas.microsoft.com/office/drawing/2014/main" id="{FF19DCA5-7C71-B54E-8126-A53DCF0414DD}"/>
                </a:ext>
              </a:extLst>
            </p:cNvPr>
            <p:cNvCxnSpPr>
              <a:cxnSpLocks/>
            </p:cNvCxnSpPr>
            <p:nvPr/>
          </p:nvCxnSpPr>
          <p:spPr>
            <a:xfrm>
              <a:off x="5159514" y="1561934"/>
              <a:ext cx="763270" cy="442604"/>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grpSp>
          <p:nvGrpSpPr>
            <p:cNvPr id="106" name="Group 105">
              <a:extLst>
                <a:ext uri="{FF2B5EF4-FFF2-40B4-BE49-F238E27FC236}">
                  <a16:creationId xmlns:a16="http://schemas.microsoft.com/office/drawing/2014/main" id="{EF4BA187-AE6D-6E43-A23E-3B61AD958DE1}"/>
                </a:ext>
              </a:extLst>
            </p:cNvPr>
            <p:cNvGrpSpPr/>
            <p:nvPr/>
          </p:nvGrpSpPr>
          <p:grpSpPr>
            <a:xfrm>
              <a:off x="4430734" y="1005338"/>
              <a:ext cx="1599980" cy="1236465"/>
              <a:chOff x="4430734" y="1005338"/>
              <a:chExt cx="1599980" cy="1236465"/>
            </a:xfrm>
          </p:grpSpPr>
          <p:sp>
            <p:nvSpPr>
              <p:cNvPr id="107" name="Freeform 106">
                <a:extLst>
                  <a:ext uri="{FF2B5EF4-FFF2-40B4-BE49-F238E27FC236}">
                    <a16:creationId xmlns:a16="http://schemas.microsoft.com/office/drawing/2014/main" id="{12648B77-993B-E24C-96F0-47530DA6CEEB}"/>
                  </a:ext>
                </a:extLst>
              </p:cNvPr>
              <p:cNvSpPr>
                <a:spLocks noChangeAspect="1"/>
              </p:cNvSpPr>
              <p:nvPr/>
            </p:nvSpPr>
            <p:spPr>
              <a:xfrm>
                <a:off x="5159514" y="1141804"/>
                <a:ext cx="871200" cy="871200"/>
              </a:xfrm>
              <a:custGeom>
                <a:avLst/>
                <a:gdLst>
                  <a:gd name="connsiteX0" fmla="*/ 0 w 586333"/>
                  <a:gd name="connsiteY0" fmla="*/ 0 h 614254"/>
                  <a:gd name="connsiteX1" fmla="*/ 0 w 586333"/>
                  <a:gd name="connsiteY1" fmla="*/ 614254 h 614254"/>
                  <a:gd name="connsiteX2" fmla="*/ 586333 w 586333"/>
                  <a:gd name="connsiteY2" fmla="*/ 614254 h 614254"/>
                </a:gdLst>
                <a:ahLst/>
                <a:cxnLst>
                  <a:cxn ang="0">
                    <a:pos x="connsiteX0" y="connsiteY0"/>
                  </a:cxn>
                  <a:cxn ang="0">
                    <a:pos x="connsiteX1" y="connsiteY1"/>
                  </a:cxn>
                  <a:cxn ang="0">
                    <a:pos x="connsiteX2" y="connsiteY2"/>
                  </a:cxn>
                </a:cxnLst>
                <a:rect l="l" t="t" r="r" b="b"/>
                <a:pathLst>
                  <a:path w="586333" h="614254">
                    <a:moveTo>
                      <a:pt x="0" y="0"/>
                    </a:moveTo>
                    <a:lnTo>
                      <a:pt x="0" y="614254"/>
                    </a:lnTo>
                    <a:lnTo>
                      <a:pt x="586333" y="614254"/>
                    </a:lnTo>
                  </a:path>
                </a:pathLst>
              </a:custGeom>
              <a:noFill/>
              <a:ln w="28575" cap="rnd">
                <a:solidFill>
                  <a:schemeClr val="tx1"/>
                </a:solidFill>
                <a:round/>
                <a:headEnd type="triangle"/>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GB">
                  <a:solidFill>
                    <a:srgbClr val="FFFFFF"/>
                  </a:solidFill>
                  <a:latin typeface="Calibri" panose="020F0502020204030204"/>
                </a:endParaRPr>
              </a:p>
            </p:txBody>
          </p:sp>
          <p:sp>
            <p:nvSpPr>
              <p:cNvPr id="108" name="TextBox 107">
                <a:extLst>
                  <a:ext uri="{FF2B5EF4-FFF2-40B4-BE49-F238E27FC236}">
                    <a16:creationId xmlns:a16="http://schemas.microsoft.com/office/drawing/2014/main" id="{45004B40-2524-3542-B7C6-AFD17DAC7D5B}"/>
                  </a:ext>
                </a:extLst>
              </p:cNvPr>
              <p:cNvSpPr txBox="1"/>
              <p:nvPr/>
            </p:nvSpPr>
            <p:spPr>
              <a:xfrm>
                <a:off x="4430734" y="1049934"/>
                <a:ext cx="655341" cy="609397"/>
              </a:xfrm>
              <a:prstGeom prst="rect">
                <a:avLst/>
              </a:prstGeom>
              <a:noFill/>
            </p:spPr>
            <p:txBody>
              <a:bodyPr wrap="square" lIns="0" tIns="0" rIns="0" bIns="0" rtlCol="0" anchor="ctr" anchorCtr="0">
                <a:spAutoFit/>
              </a:bodyPr>
              <a:lstStyle/>
              <a:p>
                <a:pPr algn="r" defTabSz="914377">
                  <a:defRPr/>
                </a:pPr>
                <a:r>
                  <a:rPr lang="en-GB" altLang="en-US" sz="1600" b="1" dirty="0">
                    <a:solidFill>
                      <a:srgbClr val="FEDADB">
                        <a:lumMod val="50000"/>
                      </a:srgbClr>
                    </a:solidFill>
                    <a:latin typeface="Calibri" panose="020F0502020204030204"/>
                  </a:rPr>
                  <a:t>Distance</a:t>
                </a:r>
              </a:p>
              <a:p>
                <a:pPr algn="r" defTabSz="914377">
                  <a:defRPr/>
                </a:pPr>
                <a:r>
                  <a:rPr lang="en-GB" altLang="en-US" sz="1600" b="1" dirty="0">
                    <a:solidFill>
                      <a:srgbClr val="FEDADB">
                        <a:lumMod val="50000"/>
                      </a:srgbClr>
                    </a:solidFill>
                    <a:latin typeface="Calibri" panose="020F0502020204030204"/>
                  </a:rPr>
                  <a:t>from</a:t>
                </a:r>
              </a:p>
              <a:p>
                <a:pPr algn="r" defTabSz="914377">
                  <a:defRPr/>
                </a:pPr>
                <a:r>
                  <a:rPr lang="en-GB" altLang="en-US" sz="1600" b="1" dirty="0">
                    <a:solidFill>
                      <a:srgbClr val="FEDADB">
                        <a:lumMod val="50000"/>
                      </a:srgbClr>
                    </a:solidFill>
                    <a:latin typeface="Calibri" panose="020F0502020204030204"/>
                  </a:rPr>
                  <a:t>home</a:t>
                </a:r>
              </a:p>
            </p:txBody>
          </p:sp>
          <p:sp>
            <p:nvSpPr>
              <p:cNvPr id="109" name="TextBox 108">
                <a:extLst>
                  <a:ext uri="{FF2B5EF4-FFF2-40B4-BE49-F238E27FC236}">
                    <a16:creationId xmlns:a16="http://schemas.microsoft.com/office/drawing/2014/main" id="{7C36AEE0-8465-824B-9D10-F73B0DD1E335}"/>
                  </a:ext>
                </a:extLst>
              </p:cNvPr>
              <p:cNvSpPr txBox="1"/>
              <p:nvPr/>
            </p:nvSpPr>
            <p:spPr>
              <a:xfrm>
                <a:off x="5375373" y="2038671"/>
                <a:ext cx="655341" cy="203132"/>
              </a:xfrm>
              <a:prstGeom prst="rect">
                <a:avLst/>
              </a:prstGeom>
              <a:noFill/>
            </p:spPr>
            <p:txBody>
              <a:bodyPr wrap="square" lIns="0" tIns="0" rIns="0" bIns="0" rtlCol="0" anchor="ctr" anchorCtr="0">
                <a:spAutoFit/>
              </a:bodyPr>
              <a:lstStyle/>
              <a:p>
                <a:pPr algn="r" defTabSz="914377">
                  <a:defRPr/>
                </a:pPr>
                <a:r>
                  <a:rPr lang="en-GB" altLang="en-US" sz="1600" b="1" dirty="0">
                    <a:solidFill>
                      <a:srgbClr val="FEDADB">
                        <a:lumMod val="50000"/>
                      </a:srgbClr>
                    </a:solidFill>
                    <a:latin typeface="Calibri" panose="020F0502020204030204"/>
                  </a:rPr>
                  <a:t>Time</a:t>
                </a:r>
              </a:p>
            </p:txBody>
          </p:sp>
          <p:sp>
            <p:nvSpPr>
              <p:cNvPr id="110" name="TextBox 109">
                <a:extLst>
                  <a:ext uri="{FF2B5EF4-FFF2-40B4-BE49-F238E27FC236}">
                    <a16:creationId xmlns:a16="http://schemas.microsoft.com/office/drawing/2014/main" id="{30268707-7524-2049-8FC5-D39FBC278DA2}"/>
                  </a:ext>
                </a:extLst>
              </p:cNvPr>
              <p:cNvSpPr txBox="1"/>
              <p:nvPr/>
            </p:nvSpPr>
            <p:spPr>
              <a:xfrm>
                <a:off x="5267443" y="1005338"/>
                <a:ext cx="655341" cy="203132"/>
              </a:xfrm>
              <a:prstGeom prst="rect">
                <a:avLst/>
              </a:prstGeom>
              <a:noFill/>
            </p:spPr>
            <p:txBody>
              <a:bodyPr wrap="square" lIns="0" tIns="0" rIns="0" bIns="0" rtlCol="0" anchor="ctr" anchorCtr="0">
                <a:spAutoFit/>
              </a:bodyPr>
              <a:lstStyle/>
              <a:p>
                <a:pPr algn="ctr" defTabSz="914377">
                  <a:defRPr/>
                </a:pPr>
                <a:r>
                  <a:rPr lang="en-GB" altLang="en-US" sz="1600" b="1" dirty="0">
                    <a:solidFill>
                      <a:srgbClr val="D3B3FF">
                        <a:lumMod val="50000"/>
                      </a:srgbClr>
                    </a:solidFill>
                    <a:latin typeface="Calibri" panose="020F0502020204030204"/>
                  </a:rPr>
                  <a:t>Graph E</a:t>
                </a:r>
              </a:p>
            </p:txBody>
          </p:sp>
        </p:grpSp>
      </p:grpSp>
      <p:graphicFrame>
        <p:nvGraphicFramePr>
          <p:cNvPr id="19" name="Table 18">
            <a:extLst>
              <a:ext uri="{FF2B5EF4-FFF2-40B4-BE49-F238E27FC236}">
                <a16:creationId xmlns:a16="http://schemas.microsoft.com/office/drawing/2014/main" id="{27BF24E2-7AF9-534E-A530-13763DE24605}"/>
              </a:ext>
            </a:extLst>
          </p:cNvPr>
          <p:cNvGraphicFramePr>
            <a:graphicFrameLocks noGrp="1"/>
          </p:cNvGraphicFramePr>
          <p:nvPr>
            <p:extLst>
              <p:ext uri="{D42A27DB-BD31-4B8C-83A1-F6EECF244321}">
                <p14:modId xmlns:p14="http://schemas.microsoft.com/office/powerpoint/2010/main" val="1000514010"/>
              </p:ext>
            </p:extLst>
          </p:nvPr>
        </p:nvGraphicFramePr>
        <p:xfrm>
          <a:off x="515168" y="2294644"/>
          <a:ext cx="3090792" cy="990600"/>
        </p:xfrm>
        <a:graphic>
          <a:graphicData uri="http://schemas.openxmlformats.org/drawingml/2006/table">
            <a:tbl>
              <a:tblPr firstRow="1" bandRow="1">
                <a:tableStyleId>{5C22544A-7EE6-4342-B048-85BDC9FD1C3A}</a:tableStyleId>
              </a:tblPr>
              <a:tblGrid>
                <a:gridCol w="320164">
                  <a:extLst>
                    <a:ext uri="{9D8B030D-6E8A-4147-A177-3AD203B41FA5}">
                      <a16:colId xmlns:a16="http://schemas.microsoft.com/office/drawing/2014/main" val="1006971324"/>
                    </a:ext>
                  </a:extLst>
                </a:gridCol>
                <a:gridCol w="2770628">
                  <a:extLst>
                    <a:ext uri="{9D8B030D-6E8A-4147-A177-3AD203B41FA5}">
                      <a16:colId xmlns:a16="http://schemas.microsoft.com/office/drawing/2014/main" val="1561107285"/>
                    </a:ext>
                  </a:extLst>
                </a:gridCol>
              </a:tblGrid>
              <a:tr h="690880">
                <a:tc>
                  <a:txBody>
                    <a:bodyPr/>
                    <a:lstStyle/>
                    <a:p>
                      <a:pPr algn="ctr"/>
                      <a:r>
                        <a:rPr lang="en-GB" sz="1900" dirty="0">
                          <a:solidFill>
                            <a:schemeClr val="tx1"/>
                          </a:solidFill>
                        </a:rPr>
                        <a:t>1</a:t>
                      </a:r>
                    </a:p>
                  </a:txBody>
                  <a:tcPr marL="121920" marR="121920" marT="60960" marB="6096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900" b="0" dirty="0">
                          <a:solidFill>
                            <a:schemeClr val="tx1"/>
                          </a:solidFill>
                        </a:rPr>
                        <a:t>Khalid walked home slowly from his friend’s house.</a:t>
                      </a:r>
                    </a:p>
                  </a:txBody>
                  <a:tcPr marL="48000" marR="121920" marT="60960" marB="6096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733687"/>
                  </a:ext>
                </a:extLst>
              </a:tr>
            </a:tbl>
          </a:graphicData>
        </a:graphic>
      </p:graphicFrame>
      <p:graphicFrame>
        <p:nvGraphicFramePr>
          <p:cNvPr id="126" name="Table 125">
            <a:extLst>
              <a:ext uri="{FF2B5EF4-FFF2-40B4-BE49-F238E27FC236}">
                <a16:creationId xmlns:a16="http://schemas.microsoft.com/office/drawing/2014/main" id="{7A624382-73EE-6F47-AB28-87EEFA7B16EB}"/>
              </a:ext>
            </a:extLst>
          </p:cNvPr>
          <p:cNvGraphicFramePr>
            <a:graphicFrameLocks noGrp="1"/>
          </p:cNvGraphicFramePr>
          <p:nvPr/>
        </p:nvGraphicFramePr>
        <p:xfrm>
          <a:off x="257715" y="3537884"/>
          <a:ext cx="3372990" cy="1280160"/>
        </p:xfrm>
        <a:graphic>
          <a:graphicData uri="http://schemas.openxmlformats.org/drawingml/2006/table">
            <a:tbl>
              <a:tblPr firstRow="1" bandRow="1">
                <a:tableStyleId>{5C22544A-7EE6-4342-B048-85BDC9FD1C3A}</a:tableStyleId>
              </a:tblPr>
              <a:tblGrid>
                <a:gridCol w="321289">
                  <a:extLst>
                    <a:ext uri="{9D8B030D-6E8A-4147-A177-3AD203B41FA5}">
                      <a16:colId xmlns:a16="http://schemas.microsoft.com/office/drawing/2014/main" val="1006971324"/>
                    </a:ext>
                  </a:extLst>
                </a:gridCol>
                <a:gridCol w="3051701">
                  <a:extLst>
                    <a:ext uri="{9D8B030D-6E8A-4147-A177-3AD203B41FA5}">
                      <a16:colId xmlns:a16="http://schemas.microsoft.com/office/drawing/2014/main" val="1561107285"/>
                    </a:ext>
                  </a:extLst>
                </a:gridCol>
              </a:tblGrid>
              <a:tr h="1259840">
                <a:tc>
                  <a:txBody>
                    <a:bodyPr/>
                    <a:lstStyle/>
                    <a:p>
                      <a:pPr algn="ctr"/>
                      <a:r>
                        <a:rPr lang="en-GB" sz="1900" dirty="0">
                          <a:solidFill>
                            <a:schemeClr val="tx1"/>
                          </a:solidFill>
                        </a:rPr>
                        <a:t>3</a:t>
                      </a:r>
                    </a:p>
                  </a:txBody>
                  <a:tcPr marL="121920" marR="121920" marT="60960" marB="6096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900" b="0" dirty="0">
                          <a:solidFill>
                            <a:schemeClr val="tx1"/>
                          </a:solidFill>
                        </a:rPr>
                        <a:t>Sophie walked to school, stopped to look at her watch, realised she was late and then started running.</a:t>
                      </a:r>
                    </a:p>
                  </a:txBody>
                  <a:tcPr marL="48000" marR="121920" marT="60960" marB="6096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733687"/>
                  </a:ext>
                </a:extLst>
              </a:tr>
            </a:tbl>
          </a:graphicData>
        </a:graphic>
      </p:graphicFrame>
      <p:graphicFrame>
        <p:nvGraphicFramePr>
          <p:cNvPr id="129" name="Table 128">
            <a:extLst>
              <a:ext uri="{FF2B5EF4-FFF2-40B4-BE49-F238E27FC236}">
                <a16:creationId xmlns:a16="http://schemas.microsoft.com/office/drawing/2014/main" id="{6CCCFB6A-D903-E143-B038-F3CE9BC80540}"/>
              </a:ext>
            </a:extLst>
          </p:cNvPr>
          <p:cNvGraphicFramePr>
            <a:graphicFrameLocks noGrp="1"/>
          </p:cNvGraphicFramePr>
          <p:nvPr/>
        </p:nvGraphicFramePr>
        <p:xfrm>
          <a:off x="257715" y="4923955"/>
          <a:ext cx="3372991" cy="990600"/>
        </p:xfrm>
        <a:graphic>
          <a:graphicData uri="http://schemas.openxmlformats.org/drawingml/2006/table">
            <a:tbl>
              <a:tblPr firstRow="1" bandRow="1">
                <a:tableStyleId>{5C22544A-7EE6-4342-B048-85BDC9FD1C3A}</a:tableStyleId>
              </a:tblPr>
              <a:tblGrid>
                <a:gridCol w="320164">
                  <a:extLst>
                    <a:ext uri="{9D8B030D-6E8A-4147-A177-3AD203B41FA5}">
                      <a16:colId xmlns:a16="http://schemas.microsoft.com/office/drawing/2014/main" val="1006971324"/>
                    </a:ext>
                  </a:extLst>
                </a:gridCol>
                <a:gridCol w="3052827">
                  <a:extLst>
                    <a:ext uri="{9D8B030D-6E8A-4147-A177-3AD203B41FA5}">
                      <a16:colId xmlns:a16="http://schemas.microsoft.com/office/drawing/2014/main" val="1561107285"/>
                    </a:ext>
                  </a:extLst>
                </a:gridCol>
              </a:tblGrid>
              <a:tr h="975360">
                <a:tc>
                  <a:txBody>
                    <a:bodyPr/>
                    <a:lstStyle/>
                    <a:p>
                      <a:pPr algn="ctr"/>
                      <a:r>
                        <a:rPr lang="en-GB" sz="1900" dirty="0">
                          <a:solidFill>
                            <a:schemeClr val="tx1"/>
                          </a:solidFill>
                        </a:rPr>
                        <a:t>4</a:t>
                      </a:r>
                    </a:p>
                  </a:txBody>
                  <a:tcPr marL="121920" marR="121920" marT="60960" marB="6096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900" b="0" dirty="0">
                          <a:solidFill>
                            <a:schemeClr val="tx1"/>
                          </a:solidFill>
                        </a:rPr>
                        <a:t>David walked to his local gym. Stayed there for a workout and then ran home.</a:t>
                      </a:r>
                    </a:p>
                  </a:txBody>
                  <a:tcPr marL="48000" marR="121920" marT="60960" marB="6096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733687"/>
                  </a:ext>
                </a:extLst>
              </a:tr>
            </a:tbl>
          </a:graphicData>
        </a:graphic>
      </p:graphicFrame>
      <p:graphicFrame>
        <p:nvGraphicFramePr>
          <p:cNvPr id="132" name="Table 131">
            <a:extLst>
              <a:ext uri="{FF2B5EF4-FFF2-40B4-BE49-F238E27FC236}">
                <a16:creationId xmlns:a16="http://schemas.microsoft.com/office/drawing/2014/main" id="{2C635539-A674-8E41-A244-2BDBEC5F75AE}"/>
              </a:ext>
            </a:extLst>
          </p:cNvPr>
          <p:cNvGraphicFramePr>
            <a:graphicFrameLocks noGrp="1"/>
          </p:cNvGraphicFramePr>
          <p:nvPr>
            <p:extLst>
              <p:ext uri="{D42A27DB-BD31-4B8C-83A1-F6EECF244321}">
                <p14:modId xmlns:p14="http://schemas.microsoft.com/office/powerpoint/2010/main" val="4222007648"/>
              </p:ext>
            </p:extLst>
          </p:nvPr>
        </p:nvGraphicFramePr>
        <p:xfrm>
          <a:off x="3725792" y="2294644"/>
          <a:ext cx="2422855" cy="990600"/>
        </p:xfrm>
        <a:graphic>
          <a:graphicData uri="http://schemas.openxmlformats.org/drawingml/2006/table">
            <a:tbl>
              <a:tblPr firstRow="1" bandRow="1">
                <a:tableStyleId>{5C22544A-7EE6-4342-B048-85BDC9FD1C3A}</a:tableStyleId>
              </a:tblPr>
              <a:tblGrid>
                <a:gridCol w="320164">
                  <a:extLst>
                    <a:ext uri="{9D8B030D-6E8A-4147-A177-3AD203B41FA5}">
                      <a16:colId xmlns:a16="http://schemas.microsoft.com/office/drawing/2014/main" val="1006971324"/>
                    </a:ext>
                  </a:extLst>
                </a:gridCol>
                <a:gridCol w="2102691">
                  <a:extLst>
                    <a:ext uri="{9D8B030D-6E8A-4147-A177-3AD203B41FA5}">
                      <a16:colId xmlns:a16="http://schemas.microsoft.com/office/drawing/2014/main" val="1561107285"/>
                    </a:ext>
                  </a:extLst>
                </a:gridCol>
              </a:tblGrid>
              <a:tr h="690880">
                <a:tc>
                  <a:txBody>
                    <a:bodyPr/>
                    <a:lstStyle/>
                    <a:p>
                      <a:pPr algn="ctr"/>
                      <a:r>
                        <a:rPr lang="en-GB" sz="1900" dirty="0">
                          <a:solidFill>
                            <a:schemeClr val="tx1"/>
                          </a:solidFill>
                        </a:rPr>
                        <a:t>2</a:t>
                      </a:r>
                    </a:p>
                  </a:txBody>
                  <a:tcPr marL="121920" marR="121920" marT="60960" marB="6096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900" b="0" dirty="0">
                          <a:solidFill>
                            <a:schemeClr val="tx1"/>
                          </a:solidFill>
                        </a:rPr>
                        <a:t>Natalie walked steadily to the park.</a:t>
                      </a:r>
                    </a:p>
                  </a:txBody>
                  <a:tcPr marL="48000" marR="121920" marT="60960" marB="6096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733687"/>
                  </a:ext>
                </a:extLst>
              </a:tr>
            </a:tbl>
          </a:graphicData>
        </a:graphic>
      </p:graphicFrame>
      <p:grpSp>
        <p:nvGrpSpPr>
          <p:cNvPr id="133" name="Group 132">
            <a:extLst>
              <a:ext uri="{FF2B5EF4-FFF2-40B4-BE49-F238E27FC236}">
                <a16:creationId xmlns:a16="http://schemas.microsoft.com/office/drawing/2014/main" id="{6F03E6C8-4948-3A4C-8965-3CF5D0BD01EE}"/>
              </a:ext>
            </a:extLst>
          </p:cNvPr>
          <p:cNvGrpSpPr/>
          <p:nvPr/>
        </p:nvGrpSpPr>
        <p:grpSpPr>
          <a:xfrm>
            <a:off x="6356371" y="3666299"/>
            <a:ext cx="2346637" cy="1498747"/>
            <a:chOff x="4430734" y="1005338"/>
            <a:chExt cx="1599980" cy="1236465"/>
          </a:xfrm>
        </p:grpSpPr>
        <p:cxnSp>
          <p:nvCxnSpPr>
            <p:cNvPr id="136" name="Straight Connector 135">
              <a:extLst>
                <a:ext uri="{FF2B5EF4-FFF2-40B4-BE49-F238E27FC236}">
                  <a16:creationId xmlns:a16="http://schemas.microsoft.com/office/drawing/2014/main" id="{FD7F6635-300B-1B4D-8574-CAB95E6981F6}"/>
                </a:ext>
              </a:extLst>
            </p:cNvPr>
            <p:cNvCxnSpPr>
              <a:cxnSpLocks/>
            </p:cNvCxnSpPr>
            <p:nvPr/>
          </p:nvCxnSpPr>
          <p:spPr>
            <a:xfrm>
              <a:off x="5436311" y="1783236"/>
              <a:ext cx="117498" cy="220077"/>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2B3B3A9-29CE-434C-8F21-5D353AEFCEFC}"/>
                </a:ext>
              </a:extLst>
            </p:cNvPr>
            <p:cNvCxnSpPr>
              <a:cxnSpLocks/>
            </p:cNvCxnSpPr>
            <p:nvPr/>
          </p:nvCxnSpPr>
          <p:spPr>
            <a:xfrm flipV="1">
              <a:off x="5570268" y="1473124"/>
              <a:ext cx="167662" cy="535045"/>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47A2F4A3-21FB-CE45-81C0-433C74131F52}"/>
                </a:ext>
              </a:extLst>
            </p:cNvPr>
            <p:cNvCxnSpPr>
              <a:cxnSpLocks/>
            </p:cNvCxnSpPr>
            <p:nvPr/>
          </p:nvCxnSpPr>
          <p:spPr>
            <a:xfrm flipV="1">
              <a:off x="5167980" y="1783236"/>
              <a:ext cx="267858" cy="221302"/>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grpSp>
          <p:nvGrpSpPr>
            <p:cNvPr id="135" name="Group 134">
              <a:extLst>
                <a:ext uri="{FF2B5EF4-FFF2-40B4-BE49-F238E27FC236}">
                  <a16:creationId xmlns:a16="http://schemas.microsoft.com/office/drawing/2014/main" id="{59E3529D-E883-8348-B845-397F86A2016B}"/>
                </a:ext>
              </a:extLst>
            </p:cNvPr>
            <p:cNvGrpSpPr/>
            <p:nvPr/>
          </p:nvGrpSpPr>
          <p:grpSpPr>
            <a:xfrm>
              <a:off x="4430734" y="1005338"/>
              <a:ext cx="1599980" cy="1236465"/>
              <a:chOff x="4430734" y="1005338"/>
              <a:chExt cx="1599980" cy="1236465"/>
            </a:xfrm>
          </p:grpSpPr>
          <p:sp>
            <p:nvSpPr>
              <p:cNvPr id="139" name="TextBox 138">
                <a:extLst>
                  <a:ext uri="{FF2B5EF4-FFF2-40B4-BE49-F238E27FC236}">
                    <a16:creationId xmlns:a16="http://schemas.microsoft.com/office/drawing/2014/main" id="{AB456F5E-AC52-9545-955E-ED03E42AC9A6}"/>
                  </a:ext>
                </a:extLst>
              </p:cNvPr>
              <p:cNvSpPr txBox="1"/>
              <p:nvPr/>
            </p:nvSpPr>
            <p:spPr>
              <a:xfrm>
                <a:off x="4430734" y="1049934"/>
                <a:ext cx="655341" cy="609397"/>
              </a:xfrm>
              <a:prstGeom prst="rect">
                <a:avLst/>
              </a:prstGeom>
              <a:noFill/>
            </p:spPr>
            <p:txBody>
              <a:bodyPr wrap="square" lIns="0" tIns="0" rIns="0" bIns="0" rtlCol="0" anchor="ctr" anchorCtr="0">
                <a:spAutoFit/>
              </a:bodyPr>
              <a:lstStyle/>
              <a:p>
                <a:pPr algn="r" defTabSz="914377">
                  <a:defRPr/>
                </a:pPr>
                <a:r>
                  <a:rPr lang="en-GB" altLang="en-US" sz="1600" b="1" dirty="0">
                    <a:solidFill>
                      <a:srgbClr val="FEDADB">
                        <a:lumMod val="50000"/>
                      </a:srgbClr>
                    </a:solidFill>
                    <a:latin typeface="Calibri" panose="020F0502020204030204"/>
                  </a:rPr>
                  <a:t>Distance</a:t>
                </a:r>
              </a:p>
              <a:p>
                <a:pPr algn="r" defTabSz="914377">
                  <a:defRPr/>
                </a:pPr>
                <a:r>
                  <a:rPr lang="en-GB" altLang="en-US" sz="1600" b="1" dirty="0">
                    <a:solidFill>
                      <a:srgbClr val="FEDADB">
                        <a:lumMod val="50000"/>
                      </a:srgbClr>
                    </a:solidFill>
                    <a:latin typeface="Calibri" panose="020F0502020204030204"/>
                  </a:rPr>
                  <a:t>from</a:t>
                </a:r>
              </a:p>
              <a:p>
                <a:pPr algn="r" defTabSz="914377">
                  <a:defRPr/>
                </a:pPr>
                <a:r>
                  <a:rPr lang="en-GB" altLang="en-US" sz="1600" b="1" dirty="0">
                    <a:solidFill>
                      <a:srgbClr val="FEDADB">
                        <a:lumMod val="50000"/>
                      </a:srgbClr>
                    </a:solidFill>
                    <a:latin typeface="Calibri" panose="020F0502020204030204"/>
                  </a:rPr>
                  <a:t>home</a:t>
                </a:r>
              </a:p>
            </p:txBody>
          </p:sp>
          <p:sp>
            <p:nvSpPr>
              <p:cNvPr id="140" name="TextBox 139">
                <a:extLst>
                  <a:ext uri="{FF2B5EF4-FFF2-40B4-BE49-F238E27FC236}">
                    <a16:creationId xmlns:a16="http://schemas.microsoft.com/office/drawing/2014/main" id="{E76A3F27-358D-E545-9B2A-BD881036747B}"/>
                  </a:ext>
                </a:extLst>
              </p:cNvPr>
              <p:cNvSpPr txBox="1"/>
              <p:nvPr/>
            </p:nvSpPr>
            <p:spPr>
              <a:xfrm>
                <a:off x="5375373" y="2038671"/>
                <a:ext cx="655341" cy="203132"/>
              </a:xfrm>
              <a:prstGeom prst="rect">
                <a:avLst/>
              </a:prstGeom>
              <a:noFill/>
            </p:spPr>
            <p:txBody>
              <a:bodyPr wrap="square" lIns="0" tIns="0" rIns="0" bIns="0" rtlCol="0" anchor="ctr" anchorCtr="0">
                <a:spAutoFit/>
              </a:bodyPr>
              <a:lstStyle/>
              <a:p>
                <a:pPr algn="r" defTabSz="914377">
                  <a:defRPr/>
                </a:pPr>
                <a:r>
                  <a:rPr lang="en-GB" altLang="en-US" sz="1600" b="1" dirty="0">
                    <a:solidFill>
                      <a:srgbClr val="FEDADB">
                        <a:lumMod val="50000"/>
                      </a:srgbClr>
                    </a:solidFill>
                    <a:latin typeface="Calibri" panose="020F0502020204030204"/>
                  </a:rPr>
                  <a:t>Time</a:t>
                </a:r>
              </a:p>
            </p:txBody>
          </p:sp>
          <p:sp>
            <p:nvSpPr>
              <p:cNvPr id="141" name="TextBox 140">
                <a:extLst>
                  <a:ext uri="{FF2B5EF4-FFF2-40B4-BE49-F238E27FC236}">
                    <a16:creationId xmlns:a16="http://schemas.microsoft.com/office/drawing/2014/main" id="{90A05E97-AA69-F345-9B2E-E40E4798AB6D}"/>
                  </a:ext>
                </a:extLst>
              </p:cNvPr>
              <p:cNvSpPr txBox="1"/>
              <p:nvPr/>
            </p:nvSpPr>
            <p:spPr>
              <a:xfrm>
                <a:off x="5267443" y="1005338"/>
                <a:ext cx="655341" cy="203132"/>
              </a:xfrm>
              <a:prstGeom prst="rect">
                <a:avLst/>
              </a:prstGeom>
              <a:noFill/>
            </p:spPr>
            <p:txBody>
              <a:bodyPr wrap="square" lIns="0" tIns="0" rIns="0" bIns="0" rtlCol="0" anchor="ctr" anchorCtr="0">
                <a:spAutoFit/>
              </a:bodyPr>
              <a:lstStyle/>
              <a:p>
                <a:pPr algn="ctr" defTabSz="914377">
                  <a:defRPr/>
                </a:pPr>
                <a:r>
                  <a:rPr lang="en-GB" altLang="en-US" sz="1600" b="1" dirty="0">
                    <a:solidFill>
                      <a:srgbClr val="D3B3FF">
                        <a:lumMod val="50000"/>
                      </a:srgbClr>
                    </a:solidFill>
                    <a:latin typeface="Calibri" panose="020F0502020204030204"/>
                  </a:rPr>
                  <a:t>Graph B</a:t>
                </a:r>
              </a:p>
            </p:txBody>
          </p:sp>
          <p:sp>
            <p:nvSpPr>
              <p:cNvPr id="138" name="Freeform 137">
                <a:extLst>
                  <a:ext uri="{FF2B5EF4-FFF2-40B4-BE49-F238E27FC236}">
                    <a16:creationId xmlns:a16="http://schemas.microsoft.com/office/drawing/2014/main" id="{26940514-7C0E-6D43-9D44-24135335D25B}"/>
                  </a:ext>
                </a:extLst>
              </p:cNvPr>
              <p:cNvSpPr>
                <a:spLocks noChangeAspect="1"/>
              </p:cNvSpPr>
              <p:nvPr/>
            </p:nvSpPr>
            <p:spPr>
              <a:xfrm>
                <a:off x="5159514" y="1141804"/>
                <a:ext cx="871200" cy="871200"/>
              </a:xfrm>
              <a:custGeom>
                <a:avLst/>
                <a:gdLst>
                  <a:gd name="connsiteX0" fmla="*/ 0 w 586333"/>
                  <a:gd name="connsiteY0" fmla="*/ 0 h 614254"/>
                  <a:gd name="connsiteX1" fmla="*/ 0 w 586333"/>
                  <a:gd name="connsiteY1" fmla="*/ 614254 h 614254"/>
                  <a:gd name="connsiteX2" fmla="*/ 586333 w 586333"/>
                  <a:gd name="connsiteY2" fmla="*/ 614254 h 614254"/>
                </a:gdLst>
                <a:ahLst/>
                <a:cxnLst>
                  <a:cxn ang="0">
                    <a:pos x="connsiteX0" y="connsiteY0"/>
                  </a:cxn>
                  <a:cxn ang="0">
                    <a:pos x="connsiteX1" y="connsiteY1"/>
                  </a:cxn>
                  <a:cxn ang="0">
                    <a:pos x="connsiteX2" y="connsiteY2"/>
                  </a:cxn>
                </a:cxnLst>
                <a:rect l="l" t="t" r="r" b="b"/>
                <a:pathLst>
                  <a:path w="586333" h="614254">
                    <a:moveTo>
                      <a:pt x="0" y="0"/>
                    </a:moveTo>
                    <a:lnTo>
                      <a:pt x="0" y="614254"/>
                    </a:lnTo>
                    <a:lnTo>
                      <a:pt x="586333" y="614254"/>
                    </a:lnTo>
                  </a:path>
                </a:pathLst>
              </a:custGeom>
              <a:noFill/>
              <a:ln w="28575" cap="rnd">
                <a:solidFill>
                  <a:schemeClr val="tx1"/>
                </a:solidFill>
                <a:round/>
                <a:headEnd type="triangle"/>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GB">
                  <a:solidFill>
                    <a:srgbClr val="FFFFFF"/>
                  </a:solidFill>
                  <a:latin typeface="Calibri" panose="020F0502020204030204"/>
                </a:endParaRPr>
              </a:p>
            </p:txBody>
          </p:sp>
        </p:grpSp>
      </p:grpSp>
      <p:graphicFrame>
        <p:nvGraphicFramePr>
          <p:cNvPr id="142" name="Table 141">
            <a:extLst>
              <a:ext uri="{FF2B5EF4-FFF2-40B4-BE49-F238E27FC236}">
                <a16:creationId xmlns:a16="http://schemas.microsoft.com/office/drawing/2014/main" id="{D640866E-EB7E-A742-A6B9-E745A945133C}"/>
              </a:ext>
            </a:extLst>
          </p:cNvPr>
          <p:cNvGraphicFramePr>
            <a:graphicFrameLocks noGrp="1"/>
          </p:cNvGraphicFramePr>
          <p:nvPr/>
        </p:nvGraphicFramePr>
        <p:xfrm>
          <a:off x="3762268" y="3537884"/>
          <a:ext cx="2430493" cy="2438400"/>
        </p:xfrm>
        <a:graphic>
          <a:graphicData uri="http://schemas.openxmlformats.org/drawingml/2006/table">
            <a:tbl>
              <a:tblPr firstRow="1" bandRow="1">
                <a:tableStyleId>{5C22544A-7EE6-4342-B048-85BDC9FD1C3A}</a:tableStyleId>
              </a:tblPr>
              <a:tblGrid>
                <a:gridCol w="320164">
                  <a:extLst>
                    <a:ext uri="{9D8B030D-6E8A-4147-A177-3AD203B41FA5}">
                      <a16:colId xmlns:a16="http://schemas.microsoft.com/office/drawing/2014/main" val="1006971324"/>
                    </a:ext>
                  </a:extLst>
                </a:gridCol>
                <a:gridCol w="2110329">
                  <a:extLst>
                    <a:ext uri="{9D8B030D-6E8A-4147-A177-3AD203B41FA5}">
                      <a16:colId xmlns:a16="http://schemas.microsoft.com/office/drawing/2014/main" val="1561107285"/>
                    </a:ext>
                  </a:extLst>
                </a:gridCol>
              </a:tblGrid>
              <a:tr h="2397760">
                <a:tc>
                  <a:txBody>
                    <a:bodyPr/>
                    <a:lstStyle/>
                    <a:p>
                      <a:pPr algn="ctr"/>
                      <a:r>
                        <a:rPr lang="en-GB" sz="1900" dirty="0">
                          <a:solidFill>
                            <a:schemeClr val="tx1"/>
                          </a:solidFill>
                        </a:rPr>
                        <a:t>5</a:t>
                      </a:r>
                    </a:p>
                  </a:txBody>
                  <a:tcPr marL="121920" marR="121920" marT="60960" marB="6096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900" b="0" dirty="0">
                          <a:solidFill>
                            <a:schemeClr val="tx1"/>
                          </a:solidFill>
                        </a:rPr>
                        <a:t>Michael went out with his friends, realised he had left his wallet at home.</a:t>
                      </a:r>
                      <a:br>
                        <a:rPr lang="en-GB" sz="1900" b="0" dirty="0">
                          <a:solidFill>
                            <a:schemeClr val="tx1"/>
                          </a:solidFill>
                        </a:rPr>
                      </a:br>
                      <a:r>
                        <a:rPr lang="en-GB" sz="1900" b="0" dirty="0">
                          <a:solidFill>
                            <a:schemeClr val="tx1"/>
                          </a:solidFill>
                        </a:rPr>
                        <a:t>He ran home to get it and then ran again to catch up with his friends.</a:t>
                      </a:r>
                    </a:p>
                  </a:txBody>
                  <a:tcPr marL="48000" marR="121920" marT="60960" marB="6096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733687"/>
                  </a:ext>
                </a:extLst>
              </a:tr>
            </a:tbl>
          </a:graphicData>
        </a:graphic>
      </p:graphicFrame>
    </p:spTree>
    <p:extLst>
      <p:ext uri="{BB962C8B-B14F-4D97-AF65-F5344CB8AC3E}">
        <p14:creationId xmlns:p14="http://schemas.microsoft.com/office/powerpoint/2010/main" val="2270542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424D8-01B9-4EB0-A844-F3413675A507}"/>
              </a:ext>
            </a:extLst>
          </p:cNvPr>
          <p:cNvSpPr>
            <a:spLocks noGrp="1"/>
          </p:cNvSpPr>
          <p:nvPr>
            <p:ph type="title"/>
          </p:nvPr>
        </p:nvSpPr>
        <p:spPr/>
        <p:txBody>
          <a:bodyPr/>
          <a:lstStyle/>
          <a:p>
            <a:pPr algn="ctr"/>
            <a:r>
              <a:rPr lang="en-US" dirty="0"/>
              <a:t>Demonstration </a:t>
            </a:r>
            <a:endParaRPr lang="en-AU" dirty="0"/>
          </a:p>
        </p:txBody>
      </p:sp>
      <p:pic>
        <p:nvPicPr>
          <p:cNvPr id="4" name="Picture 3">
            <a:extLst>
              <a:ext uri="{FF2B5EF4-FFF2-40B4-BE49-F238E27FC236}">
                <a16:creationId xmlns:a16="http://schemas.microsoft.com/office/drawing/2014/main" id="{18E5410D-46E8-4844-946C-209449EFBECE}"/>
              </a:ext>
            </a:extLst>
          </p:cNvPr>
          <p:cNvPicPr>
            <a:picLocks noChangeAspect="1"/>
          </p:cNvPicPr>
          <p:nvPr/>
        </p:nvPicPr>
        <p:blipFill>
          <a:blip r:embed="rId2"/>
          <a:stretch>
            <a:fillRect/>
          </a:stretch>
        </p:blipFill>
        <p:spPr>
          <a:xfrm>
            <a:off x="4895850" y="1562101"/>
            <a:ext cx="6934200" cy="1665356"/>
          </a:xfrm>
          <a:prstGeom prst="rect">
            <a:avLst/>
          </a:prstGeom>
        </p:spPr>
      </p:pic>
      <p:sp>
        <p:nvSpPr>
          <p:cNvPr id="7" name="TextBox 6">
            <a:extLst>
              <a:ext uri="{FF2B5EF4-FFF2-40B4-BE49-F238E27FC236}">
                <a16:creationId xmlns:a16="http://schemas.microsoft.com/office/drawing/2014/main" id="{4674842D-2B5B-4F1E-9645-13AED4EEB3DD}"/>
              </a:ext>
            </a:extLst>
          </p:cNvPr>
          <p:cNvSpPr txBox="1"/>
          <p:nvPr/>
        </p:nvSpPr>
        <p:spPr>
          <a:xfrm>
            <a:off x="552450" y="685800"/>
            <a:ext cx="1952625" cy="2308324"/>
          </a:xfrm>
          <a:prstGeom prst="rect">
            <a:avLst/>
          </a:prstGeom>
          <a:noFill/>
        </p:spPr>
        <p:txBody>
          <a:bodyPr wrap="square" rtlCol="0">
            <a:spAutoFit/>
          </a:bodyPr>
          <a:lstStyle/>
          <a:p>
            <a:pPr marL="514350" marR="0" lvl="0" indent="-514350"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Draw the next shape</a:t>
            </a:r>
          </a:p>
          <a:p>
            <a:pPr marL="514350" marR="0" lvl="0" indent="-514350"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Make a table of values</a:t>
            </a:r>
          </a:p>
          <a:p>
            <a:pPr marL="514350" marR="0" lvl="0" indent="-514350"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a rule </a:t>
            </a:r>
          </a:p>
          <a:p>
            <a:pPr marL="514350" marR="0" lvl="0" indent="-514350"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Determine 20</a:t>
            </a:r>
            <a:r>
              <a:rPr kumimoji="0" lang="en-US" sz="1800" b="0" i="0" u="none" strike="noStrike" kern="1200" cap="none" spc="0" normalizeH="0" baseline="30000" noProof="0" dirty="0">
                <a:ln>
                  <a:noFill/>
                </a:ln>
                <a:solidFill>
                  <a:prstClr val="black"/>
                </a:solidFill>
                <a:effectLst/>
                <a:uLnTx/>
                <a:uFillTx/>
                <a:latin typeface="Calibri" panose="020F0502020204030204"/>
                <a:ea typeface="+mn-ea"/>
                <a:cs typeface="+mn-cs"/>
              </a:rPr>
              <a:t>th</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pattern </a:t>
            </a:r>
          </a:p>
          <a:p>
            <a:pPr marL="514350" marR="0" lvl="0" indent="-514350"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Plot </a:t>
            </a:r>
            <a:endParaRPr kumimoji="0" lang="en-A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8" name="Table 8">
            <a:extLst>
              <a:ext uri="{FF2B5EF4-FFF2-40B4-BE49-F238E27FC236}">
                <a16:creationId xmlns:a16="http://schemas.microsoft.com/office/drawing/2014/main" id="{8018F82F-F947-49EF-85C3-74329CC71C69}"/>
              </a:ext>
            </a:extLst>
          </p:cNvPr>
          <p:cNvGraphicFramePr>
            <a:graphicFrameLocks noGrp="1"/>
          </p:cNvGraphicFramePr>
          <p:nvPr/>
        </p:nvGraphicFramePr>
        <p:xfrm>
          <a:off x="3992977" y="3290137"/>
          <a:ext cx="8128002" cy="140208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2922449174"/>
                    </a:ext>
                  </a:extLst>
                </a:gridCol>
                <a:gridCol w="1354667">
                  <a:extLst>
                    <a:ext uri="{9D8B030D-6E8A-4147-A177-3AD203B41FA5}">
                      <a16:colId xmlns:a16="http://schemas.microsoft.com/office/drawing/2014/main" val="2566555026"/>
                    </a:ext>
                  </a:extLst>
                </a:gridCol>
                <a:gridCol w="1354667">
                  <a:extLst>
                    <a:ext uri="{9D8B030D-6E8A-4147-A177-3AD203B41FA5}">
                      <a16:colId xmlns:a16="http://schemas.microsoft.com/office/drawing/2014/main" val="3221495877"/>
                    </a:ext>
                  </a:extLst>
                </a:gridCol>
                <a:gridCol w="1354667">
                  <a:extLst>
                    <a:ext uri="{9D8B030D-6E8A-4147-A177-3AD203B41FA5}">
                      <a16:colId xmlns:a16="http://schemas.microsoft.com/office/drawing/2014/main" val="1390723959"/>
                    </a:ext>
                  </a:extLst>
                </a:gridCol>
                <a:gridCol w="1354667">
                  <a:extLst>
                    <a:ext uri="{9D8B030D-6E8A-4147-A177-3AD203B41FA5}">
                      <a16:colId xmlns:a16="http://schemas.microsoft.com/office/drawing/2014/main" val="1422220523"/>
                    </a:ext>
                  </a:extLst>
                </a:gridCol>
                <a:gridCol w="1354667">
                  <a:extLst>
                    <a:ext uri="{9D8B030D-6E8A-4147-A177-3AD203B41FA5}">
                      <a16:colId xmlns:a16="http://schemas.microsoft.com/office/drawing/2014/main" val="4009244551"/>
                    </a:ext>
                  </a:extLst>
                </a:gridCol>
              </a:tblGrid>
              <a:tr h="370840">
                <a:tc>
                  <a:txBody>
                    <a:bodyPr/>
                    <a:lstStyle/>
                    <a:p>
                      <a:pPr algn="ctr"/>
                      <a:r>
                        <a:rPr lang="en-US" sz="2000" b="1" dirty="0"/>
                        <a:t>Number of shapes</a:t>
                      </a:r>
                      <a:endParaRPr lang="en-AU" sz="2000" b="1" dirty="0"/>
                    </a:p>
                  </a:txBody>
                  <a:tcPr/>
                </a:tc>
                <a:tc>
                  <a:txBody>
                    <a:bodyPr/>
                    <a:lstStyle/>
                    <a:p>
                      <a:pPr algn="ctr"/>
                      <a:r>
                        <a:rPr lang="en-US" sz="2000" b="1" dirty="0"/>
                        <a:t>0</a:t>
                      </a:r>
                      <a:endParaRPr lang="en-AU" sz="2000" b="1" dirty="0"/>
                    </a:p>
                  </a:txBody>
                  <a:tcPr/>
                </a:tc>
                <a:tc>
                  <a:txBody>
                    <a:bodyPr/>
                    <a:lstStyle/>
                    <a:p>
                      <a:pPr algn="ctr"/>
                      <a:r>
                        <a:rPr lang="en-US" sz="2000" b="1" dirty="0"/>
                        <a:t>1</a:t>
                      </a:r>
                      <a:endParaRPr lang="en-AU" sz="2000" b="1" dirty="0"/>
                    </a:p>
                  </a:txBody>
                  <a:tcPr/>
                </a:tc>
                <a:tc>
                  <a:txBody>
                    <a:bodyPr/>
                    <a:lstStyle/>
                    <a:p>
                      <a:pPr algn="ctr"/>
                      <a:r>
                        <a:rPr lang="en-US" sz="2000" b="1" dirty="0"/>
                        <a:t>2</a:t>
                      </a:r>
                      <a:endParaRPr lang="en-AU" sz="2000" b="1" dirty="0"/>
                    </a:p>
                  </a:txBody>
                  <a:tcPr/>
                </a:tc>
                <a:tc>
                  <a:txBody>
                    <a:bodyPr/>
                    <a:lstStyle/>
                    <a:p>
                      <a:pPr algn="ctr"/>
                      <a:r>
                        <a:rPr lang="en-US" sz="2000" b="1" dirty="0"/>
                        <a:t>3</a:t>
                      </a:r>
                      <a:endParaRPr lang="en-AU" sz="2000" b="1" dirty="0"/>
                    </a:p>
                  </a:txBody>
                  <a:tcPr/>
                </a:tc>
                <a:tc>
                  <a:txBody>
                    <a:bodyPr/>
                    <a:lstStyle/>
                    <a:p>
                      <a:pPr algn="ctr"/>
                      <a:r>
                        <a:rPr lang="en-US" sz="2000" b="1" dirty="0"/>
                        <a:t>4</a:t>
                      </a:r>
                      <a:endParaRPr lang="en-AU" sz="2000" b="1" dirty="0"/>
                    </a:p>
                  </a:txBody>
                  <a:tcPr/>
                </a:tc>
                <a:extLst>
                  <a:ext uri="{0D108BD9-81ED-4DB2-BD59-A6C34878D82A}">
                    <a16:rowId xmlns:a16="http://schemas.microsoft.com/office/drawing/2014/main" val="4196350885"/>
                  </a:ext>
                </a:extLst>
              </a:tr>
              <a:tr h="370840">
                <a:tc>
                  <a:txBody>
                    <a:bodyPr/>
                    <a:lstStyle/>
                    <a:p>
                      <a:pPr algn="ctr"/>
                      <a:r>
                        <a:rPr lang="en-US" sz="2000" b="1" dirty="0"/>
                        <a:t>Number of matches</a:t>
                      </a:r>
                      <a:endParaRPr lang="en-AU" sz="2000" b="1" dirty="0"/>
                    </a:p>
                  </a:txBody>
                  <a:tcPr/>
                </a:tc>
                <a:tc>
                  <a:txBody>
                    <a:bodyPr/>
                    <a:lstStyle/>
                    <a:p>
                      <a:pPr algn="ctr"/>
                      <a:endParaRPr lang="en-AU" sz="2000" b="1"/>
                    </a:p>
                  </a:txBody>
                  <a:tcPr/>
                </a:tc>
                <a:tc>
                  <a:txBody>
                    <a:bodyPr/>
                    <a:lstStyle/>
                    <a:p>
                      <a:pPr algn="ctr"/>
                      <a:endParaRPr lang="en-AU" sz="2000" b="1"/>
                    </a:p>
                  </a:txBody>
                  <a:tcPr/>
                </a:tc>
                <a:tc>
                  <a:txBody>
                    <a:bodyPr/>
                    <a:lstStyle/>
                    <a:p>
                      <a:pPr algn="ctr"/>
                      <a:endParaRPr lang="en-AU" sz="2000" b="1"/>
                    </a:p>
                  </a:txBody>
                  <a:tcPr/>
                </a:tc>
                <a:tc>
                  <a:txBody>
                    <a:bodyPr/>
                    <a:lstStyle/>
                    <a:p>
                      <a:pPr algn="ctr"/>
                      <a:endParaRPr lang="en-AU" sz="2000" b="1" dirty="0"/>
                    </a:p>
                  </a:txBody>
                  <a:tcPr/>
                </a:tc>
                <a:tc>
                  <a:txBody>
                    <a:bodyPr/>
                    <a:lstStyle/>
                    <a:p>
                      <a:pPr algn="ctr"/>
                      <a:endParaRPr lang="en-AU" sz="2000" b="1" dirty="0"/>
                    </a:p>
                  </a:txBody>
                  <a:tcPr/>
                </a:tc>
                <a:extLst>
                  <a:ext uri="{0D108BD9-81ED-4DB2-BD59-A6C34878D82A}">
                    <a16:rowId xmlns:a16="http://schemas.microsoft.com/office/drawing/2014/main" val="3290735172"/>
                  </a:ext>
                </a:extLst>
              </a:tr>
            </a:tbl>
          </a:graphicData>
        </a:graphic>
      </p:graphicFrame>
      <p:sp>
        <p:nvSpPr>
          <p:cNvPr id="9" name="TextBox 8">
            <a:extLst>
              <a:ext uri="{FF2B5EF4-FFF2-40B4-BE49-F238E27FC236}">
                <a16:creationId xmlns:a16="http://schemas.microsoft.com/office/drawing/2014/main" id="{F6EE0FA0-E4D2-41C7-868D-5AA95FD22933}"/>
              </a:ext>
            </a:extLst>
          </p:cNvPr>
          <p:cNvSpPr txBox="1"/>
          <p:nvPr/>
        </p:nvSpPr>
        <p:spPr>
          <a:xfrm>
            <a:off x="228182" y="5479703"/>
            <a:ext cx="502739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RULE:____________________</a:t>
            </a:r>
            <a:endParaRPr kumimoji="0" lang="en-AU" sz="2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69A661CE-F13E-48C4-9A2F-2436DD85E4C6}"/>
              </a:ext>
            </a:extLst>
          </p:cNvPr>
          <p:cNvSpPr txBox="1"/>
          <p:nvPr/>
        </p:nvSpPr>
        <p:spPr>
          <a:xfrm>
            <a:off x="365557" y="5941367"/>
            <a:ext cx="2139518"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20 shapes……</a:t>
            </a:r>
            <a:endParaRPr kumimoji="0" lang="en-AU"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6163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bg1"/>
                </a:solidFill>
              </a:rPr>
              <a:t>Line Graphs</a:t>
            </a:r>
          </a:p>
        </p:txBody>
      </p:sp>
      <p:sp>
        <p:nvSpPr>
          <p:cNvPr id="3" name="Content Placeholder 2"/>
          <p:cNvSpPr>
            <a:spLocks noGrp="1"/>
          </p:cNvSpPr>
          <p:nvPr>
            <p:ph idx="1"/>
          </p:nvPr>
        </p:nvSpPr>
        <p:spPr/>
        <p:txBody>
          <a:bodyPr>
            <a:normAutofit/>
          </a:bodyPr>
          <a:lstStyle/>
          <a:p>
            <a:r>
              <a:rPr lang="en-GB" dirty="0">
                <a:solidFill>
                  <a:schemeClr val="bg1"/>
                </a:solidFill>
              </a:rPr>
              <a:t>The equation of a straight line in </a:t>
            </a:r>
            <a:r>
              <a:rPr lang="en-GB" b="1" i="1" dirty="0">
                <a:solidFill>
                  <a:schemeClr val="bg1"/>
                </a:solidFill>
              </a:rPr>
              <a:t>slope intercept form</a:t>
            </a:r>
            <a:r>
              <a:rPr lang="en-GB" b="1" dirty="0">
                <a:solidFill>
                  <a:schemeClr val="bg1"/>
                </a:solidFill>
              </a:rPr>
              <a:t> </a:t>
            </a:r>
            <a:r>
              <a:rPr lang="en-GB" dirty="0">
                <a:solidFill>
                  <a:schemeClr val="bg1"/>
                </a:solidFill>
              </a:rPr>
              <a:t>is:</a:t>
            </a:r>
          </a:p>
          <a:p>
            <a:pPr marL="0" indent="0" algn="ctr">
              <a:buNone/>
            </a:pPr>
            <a:r>
              <a:rPr lang="en-GB" dirty="0">
                <a:solidFill>
                  <a:schemeClr val="bg1"/>
                </a:solidFill>
              </a:rPr>
              <a:t>y = mx + c</a:t>
            </a:r>
          </a:p>
          <a:p>
            <a:pPr marL="0" indent="0" algn="ctr">
              <a:buNone/>
            </a:pPr>
            <a:endParaRPr lang="en-GB" dirty="0">
              <a:solidFill>
                <a:schemeClr val="bg1"/>
              </a:solidFill>
            </a:endParaRPr>
          </a:p>
          <a:p>
            <a:pPr marL="0" indent="0">
              <a:buNone/>
            </a:pPr>
            <a:r>
              <a:rPr lang="en-GB" dirty="0">
                <a:solidFill>
                  <a:schemeClr val="bg1"/>
                </a:solidFill>
              </a:rPr>
              <a:t>Where:	x and y are different variables</a:t>
            </a:r>
          </a:p>
          <a:p>
            <a:pPr marL="0" indent="0">
              <a:buNone/>
            </a:pPr>
            <a:r>
              <a:rPr lang="en-GB" dirty="0">
                <a:solidFill>
                  <a:schemeClr val="bg1"/>
                </a:solidFill>
              </a:rPr>
              <a:t>		m is the gradient</a:t>
            </a:r>
          </a:p>
          <a:p>
            <a:pPr marL="0" indent="0">
              <a:buNone/>
            </a:pPr>
            <a:r>
              <a:rPr lang="en-GB" dirty="0">
                <a:solidFill>
                  <a:schemeClr val="bg1"/>
                </a:solidFill>
              </a:rPr>
              <a:t>		c is the y-intercept (when x = 0) </a:t>
            </a:r>
          </a:p>
        </p:txBody>
      </p:sp>
    </p:spTree>
    <p:extLst>
      <p:ext uri="{BB962C8B-B14F-4D97-AF65-F5344CB8AC3E}">
        <p14:creationId xmlns:p14="http://schemas.microsoft.com/office/powerpoint/2010/main" val="575688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95A0-30A3-2C8F-20A9-C1E4D381EA46}"/>
              </a:ext>
            </a:extLst>
          </p:cNvPr>
          <p:cNvSpPr>
            <a:spLocks noGrp="1"/>
          </p:cNvSpPr>
          <p:nvPr>
            <p:ph type="title"/>
          </p:nvPr>
        </p:nvSpPr>
        <p:spPr/>
        <p:txBody>
          <a:bodyPr/>
          <a:lstStyle/>
          <a:p>
            <a:pPr algn="ctr"/>
            <a:r>
              <a:rPr lang="en-US" dirty="0"/>
              <a:t>Table of values </a:t>
            </a:r>
            <a:endParaRPr lang="en-AU" dirty="0"/>
          </a:p>
        </p:txBody>
      </p:sp>
      <p:graphicFrame>
        <p:nvGraphicFramePr>
          <p:cNvPr id="4" name="Table 4">
            <a:extLst>
              <a:ext uri="{FF2B5EF4-FFF2-40B4-BE49-F238E27FC236}">
                <a16:creationId xmlns:a16="http://schemas.microsoft.com/office/drawing/2014/main" id="{8FF731BF-7EA2-737D-C1E7-F87855B0834F}"/>
              </a:ext>
            </a:extLst>
          </p:cNvPr>
          <p:cNvGraphicFramePr>
            <a:graphicFrameLocks noGrp="1"/>
          </p:cNvGraphicFramePr>
          <p:nvPr>
            <p:ph idx="1"/>
          </p:nvPr>
        </p:nvGraphicFramePr>
        <p:xfrm>
          <a:off x="838200" y="1825625"/>
          <a:ext cx="10515600" cy="9144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578849819"/>
                    </a:ext>
                  </a:extLst>
                </a:gridCol>
                <a:gridCol w="2103120">
                  <a:extLst>
                    <a:ext uri="{9D8B030D-6E8A-4147-A177-3AD203B41FA5}">
                      <a16:colId xmlns:a16="http://schemas.microsoft.com/office/drawing/2014/main" val="3787302077"/>
                    </a:ext>
                  </a:extLst>
                </a:gridCol>
                <a:gridCol w="2103120">
                  <a:extLst>
                    <a:ext uri="{9D8B030D-6E8A-4147-A177-3AD203B41FA5}">
                      <a16:colId xmlns:a16="http://schemas.microsoft.com/office/drawing/2014/main" val="2527099421"/>
                    </a:ext>
                  </a:extLst>
                </a:gridCol>
                <a:gridCol w="2103120">
                  <a:extLst>
                    <a:ext uri="{9D8B030D-6E8A-4147-A177-3AD203B41FA5}">
                      <a16:colId xmlns:a16="http://schemas.microsoft.com/office/drawing/2014/main" val="1132643944"/>
                    </a:ext>
                  </a:extLst>
                </a:gridCol>
                <a:gridCol w="2103120">
                  <a:extLst>
                    <a:ext uri="{9D8B030D-6E8A-4147-A177-3AD203B41FA5}">
                      <a16:colId xmlns:a16="http://schemas.microsoft.com/office/drawing/2014/main" val="3494951689"/>
                    </a:ext>
                  </a:extLst>
                </a:gridCol>
              </a:tblGrid>
              <a:tr h="370840">
                <a:tc>
                  <a:txBody>
                    <a:bodyPr/>
                    <a:lstStyle/>
                    <a:p>
                      <a:pPr algn="ctr"/>
                      <a:r>
                        <a:rPr lang="en-US" sz="2400" b="1" dirty="0">
                          <a:solidFill>
                            <a:schemeClr val="tx1"/>
                          </a:solidFill>
                        </a:rPr>
                        <a:t>X</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1</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2</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3</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4</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4087915"/>
                  </a:ext>
                </a:extLst>
              </a:tr>
              <a:tr h="370840">
                <a:tc>
                  <a:txBody>
                    <a:bodyPr/>
                    <a:lstStyle/>
                    <a:p>
                      <a:pPr algn="ctr"/>
                      <a:r>
                        <a:rPr lang="en-US" sz="2400" b="1" dirty="0">
                          <a:solidFill>
                            <a:schemeClr val="tx1"/>
                          </a:solidFill>
                        </a:rPr>
                        <a:t>Y </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6</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9</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12</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15</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8713343"/>
                  </a:ext>
                </a:extLst>
              </a:tr>
            </a:tbl>
          </a:graphicData>
        </a:graphic>
      </p:graphicFrame>
      <p:sp>
        <p:nvSpPr>
          <p:cNvPr id="5" name="TextBox 4">
            <a:extLst>
              <a:ext uri="{FF2B5EF4-FFF2-40B4-BE49-F238E27FC236}">
                <a16:creationId xmlns:a16="http://schemas.microsoft.com/office/drawing/2014/main" id="{2434A5FD-C112-7EAE-F36A-EB2361918EA8}"/>
              </a:ext>
            </a:extLst>
          </p:cNvPr>
          <p:cNvSpPr txBox="1"/>
          <p:nvPr/>
        </p:nvSpPr>
        <p:spPr>
          <a:xfrm>
            <a:off x="506026" y="3107184"/>
            <a:ext cx="7270813" cy="1569660"/>
          </a:xfrm>
          <a:prstGeom prst="rect">
            <a:avLst/>
          </a:prstGeom>
          <a:noFill/>
        </p:spPr>
        <p:txBody>
          <a:bodyPr wrap="square" rtlCol="0">
            <a:spAutoFit/>
          </a:bodyPr>
          <a:lstStyle/>
          <a:p>
            <a:r>
              <a:rPr lang="en-US" sz="2400" dirty="0"/>
              <a:t>Using a table of values we can also determine the rule. </a:t>
            </a:r>
          </a:p>
          <a:p>
            <a:endParaRPr lang="en-US" sz="2400" dirty="0"/>
          </a:p>
          <a:p>
            <a:r>
              <a:rPr lang="en-US" sz="2400" dirty="0"/>
              <a:t>M is the rate of change (aka common difference) </a:t>
            </a:r>
          </a:p>
          <a:p>
            <a:r>
              <a:rPr lang="en-US" sz="2400" dirty="0"/>
              <a:t>C is the y-intercept (what is the value of x at this point?)</a:t>
            </a:r>
            <a:endParaRPr lang="en-AU" sz="24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69A254E-0261-EEDE-128C-A8244578D3A4}"/>
                  </a:ext>
                </a:extLst>
              </p:cNvPr>
              <p:cNvSpPr txBox="1"/>
              <p:nvPr/>
            </p:nvSpPr>
            <p:spPr>
              <a:xfrm>
                <a:off x="8759890" y="3107184"/>
                <a:ext cx="259391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800" b="0" i="1" smtClean="0">
                          <a:latin typeface="Cambria Math" panose="02040503050406030204" pitchFamily="18" charset="0"/>
                        </a:rPr>
                        <m:t>𝑦</m:t>
                      </m:r>
                      <m:r>
                        <a:rPr lang="en-AU" sz="2800" b="0" i="1" smtClean="0">
                          <a:latin typeface="Cambria Math" panose="02040503050406030204" pitchFamily="18" charset="0"/>
                        </a:rPr>
                        <m:t>=</m:t>
                      </m:r>
                      <m:r>
                        <a:rPr lang="en-AU" sz="2800" b="0" i="1" smtClean="0">
                          <a:latin typeface="Cambria Math" panose="02040503050406030204" pitchFamily="18" charset="0"/>
                        </a:rPr>
                        <m:t>𝑚𝑥</m:t>
                      </m:r>
                      <m:r>
                        <a:rPr lang="en-AU" sz="2800" b="0" i="1" smtClean="0">
                          <a:latin typeface="Cambria Math" panose="02040503050406030204" pitchFamily="18" charset="0"/>
                        </a:rPr>
                        <m:t>+</m:t>
                      </m:r>
                      <m:r>
                        <a:rPr lang="en-AU" sz="2800" b="0" i="1" smtClean="0">
                          <a:latin typeface="Cambria Math" panose="02040503050406030204" pitchFamily="18" charset="0"/>
                        </a:rPr>
                        <m:t>𝑐</m:t>
                      </m:r>
                    </m:oMath>
                  </m:oMathPara>
                </a14:m>
                <a:endParaRPr lang="en-AU" sz="2800" dirty="0"/>
              </a:p>
            </p:txBody>
          </p:sp>
        </mc:Choice>
        <mc:Fallback xmlns="">
          <p:sp>
            <p:nvSpPr>
              <p:cNvPr id="3" name="TextBox 2">
                <a:extLst>
                  <a:ext uri="{FF2B5EF4-FFF2-40B4-BE49-F238E27FC236}">
                    <a16:creationId xmlns:a16="http://schemas.microsoft.com/office/drawing/2014/main" id="{569A254E-0261-EEDE-128C-A8244578D3A4}"/>
                  </a:ext>
                </a:extLst>
              </p:cNvPr>
              <p:cNvSpPr txBox="1">
                <a:spLocks noRot="1" noChangeAspect="1" noMove="1" noResize="1" noEditPoints="1" noAdjustHandles="1" noChangeArrowheads="1" noChangeShapeType="1" noTextEdit="1"/>
              </p:cNvSpPr>
              <p:nvPr/>
            </p:nvSpPr>
            <p:spPr>
              <a:xfrm>
                <a:off x="8759890" y="3107184"/>
                <a:ext cx="2593910" cy="523220"/>
              </a:xfrm>
              <a:prstGeom prst="rect">
                <a:avLst/>
              </a:prstGeom>
              <a:blipFill>
                <a:blip r:embed="rId2"/>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1286257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95A0-30A3-2C8F-20A9-C1E4D381EA46}"/>
              </a:ext>
            </a:extLst>
          </p:cNvPr>
          <p:cNvSpPr>
            <a:spLocks noGrp="1"/>
          </p:cNvSpPr>
          <p:nvPr>
            <p:ph type="title"/>
          </p:nvPr>
        </p:nvSpPr>
        <p:spPr/>
        <p:txBody>
          <a:bodyPr/>
          <a:lstStyle/>
          <a:p>
            <a:pPr algn="ctr"/>
            <a:r>
              <a:rPr lang="en-US" dirty="0"/>
              <a:t>Table of values </a:t>
            </a:r>
            <a:endParaRPr lang="en-AU" dirty="0"/>
          </a:p>
        </p:txBody>
      </p:sp>
      <p:graphicFrame>
        <p:nvGraphicFramePr>
          <p:cNvPr id="4" name="Table 4">
            <a:extLst>
              <a:ext uri="{FF2B5EF4-FFF2-40B4-BE49-F238E27FC236}">
                <a16:creationId xmlns:a16="http://schemas.microsoft.com/office/drawing/2014/main" id="{8FF731BF-7EA2-737D-C1E7-F87855B0834F}"/>
              </a:ext>
            </a:extLst>
          </p:cNvPr>
          <p:cNvGraphicFramePr>
            <a:graphicFrameLocks noGrp="1"/>
          </p:cNvGraphicFramePr>
          <p:nvPr>
            <p:ph idx="1"/>
          </p:nvPr>
        </p:nvGraphicFramePr>
        <p:xfrm>
          <a:off x="838200" y="1825625"/>
          <a:ext cx="10515600" cy="9144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578849819"/>
                    </a:ext>
                  </a:extLst>
                </a:gridCol>
                <a:gridCol w="2103120">
                  <a:extLst>
                    <a:ext uri="{9D8B030D-6E8A-4147-A177-3AD203B41FA5}">
                      <a16:colId xmlns:a16="http://schemas.microsoft.com/office/drawing/2014/main" val="3787302077"/>
                    </a:ext>
                  </a:extLst>
                </a:gridCol>
                <a:gridCol w="2103120">
                  <a:extLst>
                    <a:ext uri="{9D8B030D-6E8A-4147-A177-3AD203B41FA5}">
                      <a16:colId xmlns:a16="http://schemas.microsoft.com/office/drawing/2014/main" val="2527099421"/>
                    </a:ext>
                  </a:extLst>
                </a:gridCol>
                <a:gridCol w="2103120">
                  <a:extLst>
                    <a:ext uri="{9D8B030D-6E8A-4147-A177-3AD203B41FA5}">
                      <a16:colId xmlns:a16="http://schemas.microsoft.com/office/drawing/2014/main" val="1132643944"/>
                    </a:ext>
                  </a:extLst>
                </a:gridCol>
                <a:gridCol w="2103120">
                  <a:extLst>
                    <a:ext uri="{9D8B030D-6E8A-4147-A177-3AD203B41FA5}">
                      <a16:colId xmlns:a16="http://schemas.microsoft.com/office/drawing/2014/main" val="3494951689"/>
                    </a:ext>
                  </a:extLst>
                </a:gridCol>
              </a:tblGrid>
              <a:tr h="370840">
                <a:tc>
                  <a:txBody>
                    <a:bodyPr/>
                    <a:lstStyle/>
                    <a:p>
                      <a:pPr algn="ctr"/>
                      <a:r>
                        <a:rPr lang="en-US" sz="2400" b="1" dirty="0">
                          <a:solidFill>
                            <a:schemeClr val="tx1"/>
                          </a:solidFill>
                        </a:rPr>
                        <a:t>X</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0</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1</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2</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3</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4087915"/>
                  </a:ext>
                </a:extLst>
              </a:tr>
              <a:tr h="370840">
                <a:tc>
                  <a:txBody>
                    <a:bodyPr/>
                    <a:lstStyle/>
                    <a:p>
                      <a:pPr algn="ctr"/>
                      <a:r>
                        <a:rPr lang="en-US" sz="2400" b="1" dirty="0">
                          <a:solidFill>
                            <a:schemeClr val="tx1"/>
                          </a:solidFill>
                        </a:rPr>
                        <a:t>Y </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12</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6</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0</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-6</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8713343"/>
                  </a:ext>
                </a:extLst>
              </a:tr>
            </a:tbl>
          </a:graphicData>
        </a:graphic>
      </p:graphicFrame>
      <p:sp>
        <p:nvSpPr>
          <p:cNvPr id="5" name="TextBox 4">
            <a:extLst>
              <a:ext uri="{FF2B5EF4-FFF2-40B4-BE49-F238E27FC236}">
                <a16:creationId xmlns:a16="http://schemas.microsoft.com/office/drawing/2014/main" id="{2434A5FD-C112-7EAE-F36A-EB2361918EA8}"/>
              </a:ext>
            </a:extLst>
          </p:cNvPr>
          <p:cNvSpPr txBox="1"/>
          <p:nvPr/>
        </p:nvSpPr>
        <p:spPr>
          <a:xfrm>
            <a:off x="506026" y="3107184"/>
            <a:ext cx="7270813" cy="1569660"/>
          </a:xfrm>
          <a:prstGeom prst="rect">
            <a:avLst/>
          </a:prstGeom>
          <a:noFill/>
        </p:spPr>
        <p:txBody>
          <a:bodyPr wrap="square" rtlCol="0">
            <a:spAutoFit/>
          </a:bodyPr>
          <a:lstStyle/>
          <a:p>
            <a:r>
              <a:rPr lang="en-US" sz="2400" dirty="0"/>
              <a:t>Using a table of values we can also determine the rule. </a:t>
            </a:r>
          </a:p>
          <a:p>
            <a:endParaRPr lang="en-US" sz="2400" dirty="0"/>
          </a:p>
          <a:p>
            <a:r>
              <a:rPr lang="en-US" sz="2400" dirty="0"/>
              <a:t>M is the rate of change </a:t>
            </a:r>
          </a:p>
          <a:p>
            <a:r>
              <a:rPr lang="en-US" sz="2400" dirty="0"/>
              <a:t>C is the y-intercept (what is the value of x at this point?)</a:t>
            </a:r>
            <a:endParaRPr lang="en-AU" sz="24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450D52B-7B75-2911-9568-A84F44EA1DEF}"/>
                  </a:ext>
                </a:extLst>
              </p:cNvPr>
              <p:cNvSpPr txBox="1"/>
              <p:nvPr/>
            </p:nvSpPr>
            <p:spPr>
              <a:xfrm>
                <a:off x="8759890" y="3107184"/>
                <a:ext cx="259391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800" b="0" i="1" smtClean="0">
                          <a:latin typeface="Cambria Math" panose="02040503050406030204" pitchFamily="18" charset="0"/>
                        </a:rPr>
                        <m:t>𝑦</m:t>
                      </m:r>
                      <m:r>
                        <a:rPr lang="en-AU" sz="2800" b="0" i="1" smtClean="0">
                          <a:latin typeface="Cambria Math" panose="02040503050406030204" pitchFamily="18" charset="0"/>
                        </a:rPr>
                        <m:t>=</m:t>
                      </m:r>
                      <m:r>
                        <a:rPr lang="en-AU" sz="2800" b="0" i="1" smtClean="0">
                          <a:latin typeface="Cambria Math" panose="02040503050406030204" pitchFamily="18" charset="0"/>
                        </a:rPr>
                        <m:t>𝑚𝑥</m:t>
                      </m:r>
                      <m:r>
                        <a:rPr lang="en-AU" sz="2800" b="0" i="1" smtClean="0">
                          <a:latin typeface="Cambria Math" panose="02040503050406030204" pitchFamily="18" charset="0"/>
                        </a:rPr>
                        <m:t>+</m:t>
                      </m:r>
                      <m:r>
                        <a:rPr lang="en-AU" sz="2800" b="0" i="1" smtClean="0">
                          <a:latin typeface="Cambria Math" panose="02040503050406030204" pitchFamily="18" charset="0"/>
                        </a:rPr>
                        <m:t>𝑐</m:t>
                      </m:r>
                    </m:oMath>
                  </m:oMathPara>
                </a14:m>
                <a:endParaRPr lang="en-AU" sz="2800" dirty="0"/>
              </a:p>
            </p:txBody>
          </p:sp>
        </mc:Choice>
        <mc:Fallback xmlns="">
          <p:sp>
            <p:nvSpPr>
              <p:cNvPr id="6" name="TextBox 5">
                <a:extLst>
                  <a:ext uri="{FF2B5EF4-FFF2-40B4-BE49-F238E27FC236}">
                    <a16:creationId xmlns:a16="http://schemas.microsoft.com/office/drawing/2014/main" id="{0450D52B-7B75-2911-9568-A84F44EA1DEF}"/>
                  </a:ext>
                </a:extLst>
              </p:cNvPr>
              <p:cNvSpPr txBox="1">
                <a:spLocks noRot="1" noChangeAspect="1" noMove="1" noResize="1" noEditPoints="1" noAdjustHandles="1" noChangeArrowheads="1" noChangeShapeType="1" noTextEdit="1"/>
              </p:cNvSpPr>
              <p:nvPr/>
            </p:nvSpPr>
            <p:spPr>
              <a:xfrm>
                <a:off x="8759890" y="3107184"/>
                <a:ext cx="2593910" cy="523220"/>
              </a:xfrm>
              <a:prstGeom prst="rect">
                <a:avLst/>
              </a:prstGeom>
              <a:blipFill>
                <a:blip r:embed="rId2"/>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2866049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95A0-30A3-2C8F-20A9-C1E4D381EA46}"/>
              </a:ext>
            </a:extLst>
          </p:cNvPr>
          <p:cNvSpPr>
            <a:spLocks noGrp="1"/>
          </p:cNvSpPr>
          <p:nvPr>
            <p:ph type="title"/>
          </p:nvPr>
        </p:nvSpPr>
        <p:spPr/>
        <p:txBody>
          <a:bodyPr/>
          <a:lstStyle/>
          <a:p>
            <a:pPr algn="ctr"/>
            <a:r>
              <a:rPr lang="en-US" dirty="0"/>
              <a:t>**Table of values** </a:t>
            </a:r>
            <a:endParaRPr lang="en-AU" dirty="0"/>
          </a:p>
        </p:txBody>
      </p:sp>
      <p:graphicFrame>
        <p:nvGraphicFramePr>
          <p:cNvPr id="4" name="Table 4">
            <a:extLst>
              <a:ext uri="{FF2B5EF4-FFF2-40B4-BE49-F238E27FC236}">
                <a16:creationId xmlns:a16="http://schemas.microsoft.com/office/drawing/2014/main" id="{8FF731BF-7EA2-737D-C1E7-F87855B0834F}"/>
              </a:ext>
            </a:extLst>
          </p:cNvPr>
          <p:cNvGraphicFramePr>
            <a:graphicFrameLocks noGrp="1"/>
          </p:cNvGraphicFramePr>
          <p:nvPr>
            <p:ph idx="1"/>
            <p:extLst>
              <p:ext uri="{D42A27DB-BD31-4B8C-83A1-F6EECF244321}">
                <p14:modId xmlns:p14="http://schemas.microsoft.com/office/powerpoint/2010/main" val="1320679609"/>
              </p:ext>
            </p:extLst>
          </p:nvPr>
        </p:nvGraphicFramePr>
        <p:xfrm>
          <a:off x="838200" y="1825625"/>
          <a:ext cx="10515600" cy="9144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578849819"/>
                    </a:ext>
                  </a:extLst>
                </a:gridCol>
                <a:gridCol w="2103120">
                  <a:extLst>
                    <a:ext uri="{9D8B030D-6E8A-4147-A177-3AD203B41FA5}">
                      <a16:colId xmlns:a16="http://schemas.microsoft.com/office/drawing/2014/main" val="3787302077"/>
                    </a:ext>
                  </a:extLst>
                </a:gridCol>
                <a:gridCol w="2103120">
                  <a:extLst>
                    <a:ext uri="{9D8B030D-6E8A-4147-A177-3AD203B41FA5}">
                      <a16:colId xmlns:a16="http://schemas.microsoft.com/office/drawing/2014/main" val="2527099421"/>
                    </a:ext>
                  </a:extLst>
                </a:gridCol>
                <a:gridCol w="2103120">
                  <a:extLst>
                    <a:ext uri="{9D8B030D-6E8A-4147-A177-3AD203B41FA5}">
                      <a16:colId xmlns:a16="http://schemas.microsoft.com/office/drawing/2014/main" val="1132643944"/>
                    </a:ext>
                  </a:extLst>
                </a:gridCol>
                <a:gridCol w="2103120">
                  <a:extLst>
                    <a:ext uri="{9D8B030D-6E8A-4147-A177-3AD203B41FA5}">
                      <a16:colId xmlns:a16="http://schemas.microsoft.com/office/drawing/2014/main" val="3494951689"/>
                    </a:ext>
                  </a:extLst>
                </a:gridCol>
              </a:tblGrid>
              <a:tr h="370840">
                <a:tc>
                  <a:txBody>
                    <a:bodyPr/>
                    <a:lstStyle/>
                    <a:p>
                      <a:pPr algn="ctr"/>
                      <a:r>
                        <a:rPr lang="en-US" sz="2400" b="1" dirty="0">
                          <a:solidFill>
                            <a:schemeClr val="tx1"/>
                          </a:solidFill>
                        </a:rPr>
                        <a:t>X</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0</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2</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4</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6</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4087915"/>
                  </a:ext>
                </a:extLst>
              </a:tr>
              <a:tr h="370840">
                <a:tc>
                  <a:txBody>
                    <a:bodyPr/>
                    <a:lstStyle/>
                    <a:p>
                      <a:pPr algn="ctr"/>
                      <a:r>
                        <a:rPr lang="en-US" sz="2400" b="1" dirty="0">
                          <a:solidFill>
                            <a:schemeClr val="tx1"/>
                          </a:solidFill>
                        </a:rPr>
                        <a:t>Y </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2</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2400" b="1"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18</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26</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8713343"/>
                  </a:ext>
                </a:extLst>
              </a:tr>
            </a:tbl>
          </a:graphicData>
        </a:graphic>
      </p:graphicFrame>
      <p:sp>
        <p:nvSpPr>
          <p:cNvPr id="5" name="TextBox 4">
            <a:extLst>
              <a:ext uri="{FF2B5EF4-FFF2-40B4-BE49-F238E27FC236}">
                <a16:creationId xmlns:a16="http://schemas.microsoft.com/office/drawing/2014/main" id="{2434A5FD-C112-7EAE-F36A-EB2361918EA8}"/>
              </a:ext>
            </a:extLst>
          </p:cNvPr>
          <p:cNvSpPr txBox="1"/>
          <p:nvPr/>
        </p:nvSpPr>
        <p:spPr>
          <a:xfrm>
            <a:off x="506026" y="3107184"/>
            <a:ext cx="7270813" cy="1569660"/>
          </a:xfrm>
          <a:prstGeom prst="rect">
            <a:avLst/>
          </a:prstGeom>
          <a:noFill/>
        </p:spPr>
        <p:txBody>
          <a:bodyPr wrap="square" rtlCol="0">
            <a:spAutoFit/>
          </a:bodyPr>
          <a:lstStyle/>
          <a:p>
            <a:r>
              <a:rPr lang="en-US" sz="2400" dirty="0"/>
              <a:t>Using a table of values we can also determine the rule. </a:t>
            </a:r>
          </a:p>
          <a:p>
            <a:endParaRPr lang="en-US" sz="2400" dirty="0"/>
          </a:p>
          <a:p>
            <a:r>
              <a:rPr lang="en-US" sz="2400" dirty="0"/>
              <a:t>M is the rate of change </a:t>
            </a:r>
          </a:p>
          <a:p>
            <a:r>
              <a:rPr lang="en-US" sz="2400" dirty="0"/>
              <a:t>C is the y-intercept (what is the value of x at this point?)</a:t>
            </a:r>
            <a:endParaRPr lang="en-AU" sz="24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8FD052A-2DBC-E13C-2B0A-1372CDFEB285}"/>
                  </a:ext>
                </a:extLst>
              </p:cNvPr>
              <p:cNvSpPr txBox="1"/>
              <p:nvPr/>
            </p:nvSpPr>
            <p:spPr>
              <a:xfrm>
                <a:off x="8759890" y="3107184"/>
                <a:ext cx="259391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800" b="0" i="1" smtClean="0">
                          <a:latin typeface="Cambria Math" panose="02040503050406030204" pitchFamily="18" charset="0"/>
                        </a:rPr>
                        <m:t>𝑦</m:t>
                      </m:r>
                      <m:r>
                        <a:rPr lang="en-AU" sz="2800" b="0" i="1" smtClean="0">
                          <a:latin typeface="Cambria Math" panose="02040503050406030204" pitchFamily="18" charset="0"/>
                        </a:rPr>
                        <m:t>=</m:t>
                      </m:r>
                      <m:r>
                        <a:rPr lang="en-AU" sz="2800" b="0" i="1" smtClean="0">
                          <a:latin typeface="Cambria Math" panose="02040503050406030204" pitchFamily="18" charset="0"/>
                        </a:rPr>
                        <m:t>𝑚𝑥</m:t>
                      </m:r>
                      <m:r>
                        <a:rPr lang="en-AU" sz="2800" b="0" i="1" smtClean="0">
                          <a:latin typeface="Cambria Math" panose="02040503050406030204" pitchFamily="18" charset="0"/>
                        </a:rPr>
                        <m:t>+</m:t>
                      </m:r>
                      <m:r>
                        <a:rPr lang="en-AU" sz="2800" b="0" i="1" smtClean="0">
                          <a:latin typeface="Cambria Math" panose="02040503050406030204" pitchFamily="18" charset="0"/>
                        </a:rPr>
                        <m:t>𝑐</m:t>
                      </m:r>
                    </m:oMath>
                  </m:oMathPara>
                </a14:m>
                <a:endParaRPr lang="en-AU" sz="2800" dirty="0"/>
              </a:p>
            </p:txBody>
          </p:sp>
        </mc:Choice>
        <mc:Fallback xmlns="">
          <p:sp>
            <p:nvSpPr>
              <p:cNvPr id="6" name="TextBox 5">
                <a:extLst>
                  <a:ext uri="{FF2B5EF4-FFF2-40B4-BE49-F238E27FC236}">
                    <a16:creationId xmlns:a16="http://schemas.microsoft.com/office/drawing/2014/main" id="{08FD052A-2DBC-E13C-2B0A-1372CDFEB285}"/>
                  </a:ext>
                </a:extLst>
              </p:cNvPr>
              <p:cNvSpPr txBox="1">
                <a:spLocks noRot="1" noChangeAspect="1" noMove="1" noResize="1" noEditPoints="1" noAdjustHandles="1" noChangeArrowheads="1" noChangeShapeType="1" noTextEdit="1"/>
              </p:cNvSpPr>
              <p:nvPr/>
            </p:nvSpPr>
            <p:spPr>
              <a:xfrm>
                <a:off x="8759890" y="3107184"/>
                <a:ext cx="2593910" cy="523220"/>
              </a:xfrm>
              <a:prstGeom prst="rect">
                <a:avLst/>
              </a:prstGeom>
              <a:blipFill>
                <a:blip r:embed="rId2"/>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1014970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C72A0-01F4-775D-55BD-4D5445923B45}"/>
              </a:ext>
            </a:extLst>
          </p:cNvPr>
          <p:cNvSpPr>
            <a:spLocks noGrp="1"/>
          </p:cNvSpPr>
          <p:nvPr>
            <p:ph type="ctrTitle"/>
          </p:nvPr>
        </p:nvSpPr>
        <p:spPr/>
        <p:txBody>
          <a:bodyPr/>
          <a:lstStyle/>
          <a:p>
            <a:pPr algn="ctr"/>
            <a:r>
              <a:rPr lang="en-US" dirty="0"/>
              <a:t>Whiteboards </a:t>
            </a:r>
            <a:endParaRPr lang="en-AU" dirty="0"/>
          </a:p>
        </p:txBody>
      </p:sp>
      <p:sp>
        <p:nvSpPr>
          <p:cNvPr id="4" name="Subtitle 3">
            <a:extLst>
              <a:ext uri="{FF2B5EF4-FFF2-40B4-BE49-F238E27FC236}">
                <a16:creationId xmlns:a16="http://schemas.microsoft.com/office/drawing/2014/main" id="{665669B7-9ED6-298B-4017-624430A42217}"/>
              </a:ext>
            </a:extLst>
          </p:cNvPr>
          <p:cNvSpPr>
            <a:spLocks noGrp="1"/>
          </p:cNvSpPr>
          <p:nvPr>
            <p:ph type="subTitle" idx="1"/>
          </p:nvPr>
        </p:nvSpPr>
        <p:spPr/>
        <p:txBody>
          <a:bodyPr/>
          <a:lstStyle/>
          <a:p>
            <a:endParaRPr lang="en-AU"/>
          </a:p>
        </p:txBody>
      </p:sp>
    </p:spTree>
    <p:extLst>
      <p:ext uri="{BB962C8B-B14F-4D97-AF65-F5344CB8AC3E}">
        <p14:creationId xmlns:p14="http://schemas.microsoft.com/office/powerpoint/2010/main" val="891614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95A0-30A3-2C8F-20A9-C1E4D381EA46}"/>
              </a:ext>
            </a:extLst>
          </p:cNvPr>
          <p:cNvSpPr>
            <a:spLocks noGrp="1"/>
          </p:cNvSpPr>
          <p:nvPr>
            <p:ph type="title"/>
          </p:nvPr>
        </p:nvSpPr>
        <p:spPr/>
        <p:txBody>
          <a:bodyPr/>
          <a:lstStyle/>
          <a:p>
            <a:pPr algn="ctr"/>
            <a:r>
              <a:rPr lang="en-US" dirty="0"/>
              <a:t>Whiteboards – write the equation </a:t>
            </a:r>
            <a:endParaRPr lang="en-AU" dirty="0"/>
          </a:p>
        </p:txBody>
      </p:sp>
      <p:graphicFrame>
        <p:nvGraphicFramePr>
          <p:cNvPr id="4" name="Table 4">
            <a:extLst>
              <a:ext uri="{FF2B5EF4-FFF2-40B4-BE49-F238E27FC236}">
                <a16:creationId xmlns:a16="http://schemas.microsoft.com/office/drawing/2014/main" id="{8FF731BF-7EA2-737D-C1E7-F87855B0834F}"/>
              </a:ext>
            </a:extLst>
          </p:cNvPr>
          <p:cNvGraphicFramePr>
            <a:graphicFrameLocks noGrp="1"/>
          </p:cNvGraphicFramePr>
          <p:nvPr>
            <p:ph idx="1"/>
          </p:nvPr>
        </p:nvGraphicFramePr>
        <p:xfrm>
          <a:off x="838200" y="1825625"/>
          <a:ext cx="10515600" cy="9144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578849819"/>
                    </a:ext>
                  </a:extLst>
                </a:gridCol>
                <a:gridCol w="2103120">
                  <a:extLst>
                    <a:ext uri="{9D8B030D-6E8A-4147-A177-3AD203B41FA5}">
                      <a16:colId xmlns:a16="http://schemas.microsoft.com/office/drawing/2014/main" val="3787302077"/>
                    </a:ext>
                  </a:extLst>
                </a:gridCol>
                <a:gridCol w="2103120">
                  <a:extLst>
                    <a:ext uri="{9D8B030D-6E8A-4147-A177-3AD203B41FA5}">
                      <a16:colId xmlns:a16="http://schemas.microsoft.com/office/drawing/2014/main" val="2527099421"/>
                    </a:ext>
                  </a:extLst>
                </a:gridCol>
                <a:gridCol w="2103120">
                  <a:extLst>
                    <a:ext uri="{9D8B030D-6E8A-4147-A177-3AD203B41FA5}">
                      <a16:colId xmlns:a16="http://schemas.microsoft.com/office/drawing/2014/main" val="1132643944"/>
                    </a:ext>
                  </a:extLst>
                </a:gridCol>
                <a:gridCol w="2103120">
                  <a:extLst>
                    <a:ext uri="{9D8B030D-6E8A-4147-A177-3AD203B41FA5}">
                      <a16:colId xmlns:a16="http://schemas.microsoft.com/office/drawing/2014/main" val="3494951689"/>
                    </a:ext>
                  </a:extLst>
                </a:gridCol>
              </a:tblGrid>
              <a:tr h="370840">
                <a:tc>
                  <a:txBody>
                    <a:bodyPr/>
                    <a:lstStyle/>
                    <a:p>
                      <a:pPr algn="ctr"/>
                      <a:r>
                        <a:rPr lang="en-US" sz="2400" b="1" dirty="0">
                          <a:solidFill>
                            <a:schemeClr val="tx1"/>
                          </a:solidFill>
                        </a:rPr>
                        <a:t>X</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0</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1</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2</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3</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4087915"/>
                  </a:ext>
                </a:extLst>
              </a:tr>
              <a:tr h="370840">
                <a:tc>
                  <a:txBody>
                    <a:bodyPr/>
                    <a:lstStyle/>
                    <a:p>
                      <a:pPr algn="ctr"/>
                      <a:r>
                        <a:rPr lang="en-US" sz="2400" b="1" dirty="0">
                          <a:solidFill>
                            <a:schemeClr val="tx1"/>
                          </a:solidFill>
                        </a:rPr>
                        <a:t>Y </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3</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6</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9</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12</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8713343"/>
                  </a:ext>
                </a:extLst>
              </a:tr>
            </a:tbl>
          </a:graphicData>
        </a:graphic>
      </p:graphicFrame>
      <p:sp>
        <p:nvSpPr>
          <p:cNvPr id="5" name="TextBox 4">
            <a:extLst>
              <a:ext uri="{FF2B5EF4-FFF2-40B4-BE49-F238E27FC236}">
                <a16:creationId xmlns:a16="http://schemas.microsoft.com/office/drawing/2014/main" id="{2434A5FD-C112-7EAE-F36A-EB2361918EA8}"/>
              </a:ext>
            </a:extLst>
          </p:cNvPr>
          <p:cNvSpPr txBox="1"/>
          <p:nvPr/>
        </p:nvSpPr>
        <p:spPr>
          <a:xfrm>
            <a:off x="506026" y="3107184"/>
            <a:ext cx="7270813" cy="1569660"/>
          </a:xfrm>
          <a:prstGeom prst="rect">
            <a:avLst/>
          </a:prstGeom>
          <a:noFill/>
        </p:spPr>
        <p:txBody>
          <a:bodyPr wrap="square" rtlCol="0">
            <a:spAutoFit/>
          </a:bodyPr>
          <a:lstStyle/>
          <a:p>
            <a:r>
              <a:rPr lang="en-US" sz="2400" dirty="0"/>
              <a:t>Using a table of values we can also determine the rule. </a:t>
            </a:r>
          </a:p>
          <a:p>
            <a:endParaRPr lang="en-US" sz="2400" dirty="0"/>
          </a:p>
          <a:p>
            <a:r>
              <a:rPr lang="en-US" sz="2400" dirty="0"/>
              <a:t>M is the rate of change </a:t>
            </a:r>
          </a:p>
          <a:p>
            <a:r>
              <a:rPr lang="en-US" sz="2400" dirty="0"/>
              <a:t>C is the y-intercept (what is the value of x at this point?)</a:t>
            </a:r>
            <a:endParaRPr lang="en-AU" sz="24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496DEDF-A27B-A895-F760-ED96A3018786}"/>
                  </a:ext>
                </a:extLst>
              </p:cNvPr>
              <p:cNvSpPr txBox="1"/>
              <p:nvPr/>
            </p:nvSpPr>
            <p:spPr>
              <a:xfrm>
                <a:off x="8759890" y="3107184"/>
                <a:ext cx="259391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800" b="0" i="1" smtClean="0">
                          <a:latin typeface="Cambria Math" panose="02040503050406030204" pitchFamily="18" charset="0"/>
                        </a:rPr>
                        <m:t>𝑦</m:t>
                      </m:r>
                      <m:r>
                        <a:rPr lang="en-AU" sz="2800" b="0" i="1" smtClean="0">
                          <a:latin typeface="Cambria Math" panose="02040503050406030204" pitchFamily="18" charset="0"/>
                        </a:rPr>
                        <m:t>=</m:t>
                      </m:r>
                      <m:r>
                        <a:rPr lang="en-AU" sz="2800" b="0" i="1" smtClean="0">
                          <a:latin typeface="Cambria Math" panose="02040503050406030204" pitchFamily="18" charset="0"/>
                        </a:rPr>
                        <m:t>𝑚𝑥</m:t>
                      </m:r>
                      <m:r>
                        <a:rPr lang="en-AU" sz="2800" b="0" i="1" smtClean="0">
                          <a:latin typeface="Cambria Math" panose="02040503050406030204" pitchFamily="18" charset="0"/>
                        </a:rPr>
                        <m:t>+</m:t>
                      </m:r>
                      <m:r>
                        <a:rPr lang="en-AU" sz="2800" b="0" i="1" smtClean="0">
                          <a:latin typeface="Cambria Math" panose="02040503050406030204" pitchFamily="18" charset="0"/>
                        </a:rPr>
                        <m:t>𝑐</m:t>
                      </m:r>
                    </m:oMath>
                  </m:oMathPara>
                </a14:m>
                <a:endParaRPr lang="en-AU" sz="2800" dirty="0"/>
              </a:p>
            </p:txBody>
          </p:sp>
        </mc:Choice>
        <mc:Fallback xmlns="">
          <p:sp>
            <p:nvSpPr>
              <p:cNvPr id="6" name="TextBox 5">
                <a:extLst>
                  <a:ext uri="{FF2B5EF4-FFF2-40B4-BE49-F238E27FC236}">
                    <a16:creationId xmlns:a16="http://schemas.microsoft.com/office/drawing/2014/main" id="{C496DEDF-A27B-A895-F760-ED96A3018786}"/>
                  </a:ext>
                </a:extLst>
              </p:cNvPr>
              <p:cNvSpPr txBox="1">
                <a:spLocks noRot="1" noChangeAspect="1" noMove="1" noResize="1" noEditPoints="1" noAdjustHandles="1" noChangeArrowheads="1" noChangeShapeType="1" noTextEdit="1"/>
              </p:cNvSpPr>
              <p:nvPr/>
            </p:nvSpPr>
            <p:spPr>
              <a:xfrm>
                <a:off x="8759890" y="3107184"/>
                <a:ext cx="2593910" cy="523220"/>
              </a:xfrm>
              <a:prstGeom prst="rect">
                <a:avLst/>
              </a:prstGeom>
              <a:blipFill>
                <a:blip r:embed="rId2"/>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3800738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95A0-30A3-2C8F-20A9-C1E4D381EA46}"/>
              </a:ext>
            </a:extLst>
          </p:cNvPr>
          <p:cNvSpPr>
            <a:spLocks noGrp="1"/>
          </p:cNvSpPr>
          <p:nvPr>
            <p:ph type="title"/>
          </p:nvPr>
        </p:nvSpPr>
        <p:spPr/>
        <p:txBody>
          <a:bodyPr/>
          <a:lstStyle/>
          <a:p>
            <a:pPr algn="ctr"/>
            <a:r>
              <a:rPr lang="en-US" dirty="0"/>
              <a:t>Whiteboards – write the equation </a:t>
            </a:r>
            <a:endParaRPr lang="en-AU" dirty="0"/>
          </a:p>
        </p:txBody>
      </p:sp>
      <p:graphicFrame>
        <p:nvGraphicFramePr>
          <p:cNvPr id="4" name="Table 4">
            <a:extLst>
              <a:ext uri="{FF2B5EF4-FFF2-40B4-BE49-F238E27FC236}">
                <a16:creationId xmlns:a16="http://schemas.microsoft.com/office/drawing/2014/main" id="{8FF731BF-7EA2-737D-C1E7-F87855B0834F}"/>
              </a:ext>
            </a:extLst>
          </p:cNvPr>
          <p:cNvGraphicFramePr>
            <a:graphicFrameLocks noGrp="1"/>
          </p:cNvGraphicFramePr>
          <p:nvPr>
            <p:ph idx="1"/>
          </p:nvPr>
        </p:nvGraphicFramePr>
        <p:xfrm>
          <a:off x="838200" y="1825625"/>
          <a:ext cx="10515600" cy="9144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578849819"/>
                    </a:ext>
                  </a:extLst>
                </a:gridCol>
                <a:gridCol w="2103120">
                  <a:extLst>
                    <a:ext uri="{9D8B030D-6E8A-4147-A177-3AD203B41FA5}">
                      <a16:colId xmlns:a16="http://schemas.microsoft.com/office/drawing/2014/main" val="3787302077"/>
                    </a:ext>
                  </a:extLst>
                </a:gridCol>
                <a:gridCol w="2103120">
                  <a:extLst>
                    <a:ext uri="{9D8B030D-6E8A-4147-A177-3AD203B41FA5}">
                      <a16:colId xmlns:a16="http://schemas.microsoft.com/office/drawing/2014/main" val="2527099421"/>
                    </a:ext>
                  </a:extLst>
                </a:gridCol>
                <a:gridCol w="2103120">
                  <a:extLst>
                    <a:ext uri="{9D8B030D-6E8A-4147-A177-3AD203B41FA5}">
                      <a16:colId xmlns:a16="http://schemas.microsoft.com/office/drawing/2014/main" val="1132643944"/>
                    </a:ext>
                  </a:extLst>
                </a:gridCol>
                <a:gridCol w="2103120">
                  <a:extLst>
                    <a:ext uri="{9D8B030D-6E8A-4147-A177-3AD203B41FA5}">
                      <a16:colId xmlns:a16="http://schemas.microsoft.com/office/drawing/2014/main" val="3494951689"/>
                    </a:ext>
                  </a:extLst>
                </a:gridCol>
              </a:tblGrid>
              <a:tr h="370840">
                <a:tc>
                  <a:txBody>
                    <a:bodyPr/>
                    <a:lstStyle/>
                    <a:p>
                      <a:pPr algn="ctr"/>
                      <a:r>
                        <a:rPr lang="en-US" sz="2400" b="1" dirty="0">
                          <a:solidFill>
                            <a:schemeClr val="tx1"/>
                          </a:solidFill>
                        </a:rPr>
                        <a:t>X</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0</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1</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2</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3</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4087915"/>
                  </a:ext>
                </a:extLst>
              </a:tr>
              <a:tr h="370840">
                <a:tc>
                  <a:txBody>
                    <a:bodyPr/>
                    <a:lstStyle/>
                    <a:p>
                      <a:pPr algn="ctr"/>
                      <a:r>
                        <a:rPr lang="en-US" sz="2400" b="1" dirty="0">
                          <a:solidFill>
                            <a:schemeClr val="tx1"/>
                          </a:solidFill>
                        </a:rPr>
                        <a:t>Y </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12</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18</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24</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30</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8713343"/>
                  </a:ext>
                </a:extLst>
              </a:tr>
            </a:tbl>
          </a:graphicData>
        </a:graphic>
      </p:graphicFrame>
      <p:sp>
        <p:nvSpPr>
          <p:cNvPr id="5" name="TextBox 4">
            <a:extLst>
              <a:ext uri="{FF2B5EF4-FFF2-40B4-BE49-F238E27FC236}">
                <a16:creationId xmlns:a16="http://schemas.microsoft.com/office/drawing/2014/main" id="{2434A5FD-C112-7EAE-F36A-EB2361918EA8}"/>
              </a:ext>
            </a:extLst>
          </p:cNvPr>
          <p:cNvSpPr txBox="1"/>
          <p:nvPr/>
        </p:nvSpPr>
        <p:spPr>
          <a:xfrm>
            <a:off x="506026" y="3107184"/>
            <a:ext cx="7270813" cy="1569660"/>
          </a:xfrm>
          <a:prstGeom prst="rect">
            <a:avLst/>
          </a:prstGeom>
          <a:noFill/>
        </p:spPr>
        <p:txBody>
          <a:bodyPr wrap="square" rtlCol="0">
            <a:spAutoFit/>
          </a:bodyPr>
          <a:lstStyle/>
          <a:p>
            <a:r>
              <a:rPr lang="en-US" sz="2400" dirty="0"/>
              <a:t>Using a table of values we can also determine the rule. </a:t>
            </a:r>
          </a:p>
          <a:p>
            <a:endParaRPr lang="en-US" sz="2400" dirty="0"/>
          </a:p>
          <a:p>
            <a:r>
              <a:rPr lang="en-US" sz="2400" dirty="0"/>
              <a:t>M is the rate of change </a:t>
            </a:r>
          </a:p>
          <a:p>
            <a:r>
              <a:rPr lang="en-US" sz="2400" dirty="0"/>
              <a:t>C is the y-intercept (what is the value of x at this point?)</a:t>
            </a:r>
            <a:endParaRPr lang="en-AU" sz="24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EB3062B-14A9-0A49-F7DD-2B0D5438E8CD}"/>
                  </a:ext>
                </a:extLst>
              </p:cNvPr>
              <p:cNvSpPr txBox="1"/>
              <p:nvPr/>
            </p:nvSpPr>
            <p:spPr>
              <a:xfrm>
                <a:off x="8759890" y="3107184"/>
                <a:ext cx="259391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800" b="0" i="1" smtClean="0">
                          <a:latin typeface="Cambria Math" panose="02040503050406030204" pitchFamily="18" charset="0"/>
                        </a:rPr>
                        <m:t>𝑦</m:t>
                      </m:r>
                      <m:r>
                        <a:rPr lang="en-AU" sz="2800" b="0" i="1" smtClean="0">
                          <a:latin typeface="Cambria Math" panose="02040503050406030204" pitchFamily="18" charset="0"/>
                        </a:rPr>
                        <m:t>=</m:t>
                      </m:r>
                      <m:r>
                        <a:rPr lang="en-AU" sz="2800" b="0" i="1" smtClean="0">
                          <a:latin typeface="Cambria Math" panose="02040503050406030204" pitchFamily="18" charset="0"/>
                        </a:rPr>
                        <m:t>𝑚𝑥</m:t>
                      </m:r>
                      <m:r>
                        <a:rPr lang="en-AU" sz="2800" b="0" i="1" smtClean="0">
                          <a:latin typeface="Cambria Math" panose="02040503050406030204" pitchFamily="18" charset="0"/>
                        </a:rPr>
                        <m:t>+</m:t>
                      </m:r>
                      <m:r>
                        <a:rPr lang="en-AU" sz="2800" b="0" i="1" smtClean="0">
                          <a:latin typeface="Cambria Math" panose="02040503050406030204" pitchFamily="18" charset="0"/>
                        </a:rPr>
                        <m:t>𝑐</m:t>
                      </m:r>
                    </m:oMath>
                  </m:oMathPara>
                </a14:m>
                <a:endParaRPr lang="en-AU" sz="2800" dirty="0"/>
              </a:p>
            </p:txBody>
          </p:sp>
        </mc:Choice>
        <mc:Fallback xmlns="">
          <p:sp>
            <p:nvSpPr>
              <p:cNvPr id="6" name="TextBox 5">
                <a:extLst>
                  <a:ext uri="{FF2B5EF4-FFF2-40B4-BE49-F238E27FC236}">
                    <a16:creationId xmlns:a16="http://schemas.microsoft.com/office/drawing/2014/main" id="{1EB3062B-14A9-0A49-F7DD-2B0D5438E8CD}"/>
                  </a:ext>
                </a:extLst>
              </p:cNvPr>
              <p:cNvSpPr txBox="1">
                <a:spLocks noRot="1" noChangeAspect="1" noMove="1" noResize="1" noEditPoints="1" noAdjustHandles="1" noChangeArrowheads="1" noChangeShapeType="1" noTextEdit="1"/>
              </p:cNvSpPr>
              <p:nvPr/>
            </p:nvSpPr>
            <p:spPr>
              <a:xfrm>
                <a:off x="8759890" y="3107184"/>
                <a:ext cx="2593910" cy="523220"/>
              </a:xfrm>
              <a:prstGeom prst="rect">
                <a:avLst/>
              </a:prstGeom>
              <a:blipFill>
                <a:blip r:embed="rId2"/>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3741327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95A0-30A3-2C8F-20A9-C1E4D381EA46}"/>
              </a:ext>
            </a:extLst>
          </p:cNvPr>
          <p:cNvSpPr>
            <a:spLocks noGrp="1"/>
          </p:cNvSpPr>
          <p:nvPr>
            <p:ph type="title"/>
          </p:nvPr>
        </p:nvSpPr>
        <p:spPr/>
        <p:txBody>
          <a:bodyPr/>
          <a:lstStyle/>
          <a:p>
            <a:pPr algn="ctr"/>
            <a:r>
              <a:rPr lang="en-US" dirty="0"/>
              <a:t>Whiteboards – write the equation </a:t>
            </a:r>
            <a:endParaRPr lang="en-AU" dirty="0"/>
          </a:p>
        </p:txBody>
      </p:sp>
      <p:graphicFrame>
        <p:nvGraphicFramePr>
          <p:cNvPr id="4" name="Table 4">
            <a:extLst>
              <a:ext uri="{FF2B5EF4-FFF2-40B4-BE49-F238E27FC236}">
                <a16:creationId xmlns:a16="http://schemas.microsoft.com/office/drawing/2014/main" id="{8FF731BF-7EA2-737D-C1E7-F87855B0834F}"/>
              </a:ext>
            </a:extLst>
          </p:cNvPr>
          <p:cNvGraphicFramePr>
            <a:graphicFrameLocks noGrp="1"/>
          </p:cNvGraphicFramePr>
          <p:nvPr>
            <p:ph idx="1"/>
          </p:nvPr>
        </p:nvGraphicFramePr>
        <p:xfrm>
          <a:off x="838200" y="1825625"/>
          <a:ext cx="10515600" cy="9144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578849819"/>
                    </a:ext>
                  </a:extLst>
                </a:gridCol>
                <a:gridCol w="2103120">
                  <a:extLst>
                    <a:ext uri="{9D8B030D-6E8A-4147-A177-3AD203B41FA5}">
                      <a16:colId xmlns:a16="http://schemas.microsoft.com/office/drawing/2014/main" val="3787302077"/>
                    </a:ext>
                  </a:extLst>
                </a:gridCol>
                <a:gridCol w="2103120">
                  <a:extLst>
                    <a:ext uri="{9D8B030D-6E8A-4147-A177-3AD203B41FA5}">
                      <a16:colId xmlns:a16="http://schemas.microsoft.com/office/drawing/2014/main" val="2527099421"/>
                    </a:ext>
                  </a:extLst>
                </a:gridCol>
                <a:gridCol w="2103120">
                  <a:extLst>
                    <a:ext uri="{9D8B030D-6E8A-4147-A177-3AD203B41FA5}">
                      <a16:colId xmlns:a16="http://schemas.microsoft.com/office/drawing/2014/main" val="1132643944"/>
                    </a:ext>
                  </a:extLst>
                </a:gridCol>
                <a:gridCol w="2103120">
                  <a:extLst>
                    <a:ext uri="{9D8B030D-6E8A-4147-A177-3AD203B41FA5}">
                      <a16:colId xmlns:a16="http://schemas.microsoft.com/office/drawing/2014/main" val="3494951689"/>
                    </a:ext>
                  </a:extLst>
                </a:gridCol>
              </a:tblGrid>
              <a:tr h="370840">
                <a:tc>
                  <a:txBody>
                    <a:bodyPr/>
                    <a:lstStyle/>
                    <a:p>
                      <a:pPr algn="ctr"/>
                      <a:r>
                        <a:rPr lang="en-US" sz="2400" b="1" dirty="0">
                          <a:solidFill>
                            <a:schemeClr val="tx1"/>
                          </a:solidFill>
                        </a:rPr>
                        <a:t>X</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1</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2</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3</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4</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4087915"/>
                  </a:ext>
                </a:extLst>
              </a:tr>
              <a:tr h="370840">
                <a:tc>
                  <a:txBody>
                    <a:bodyPr/>
                    <a:lstStyle/>
                    <a:p>
                      <a:pPr algn="ctr"/>
                      <a:r>
                        <a:rPr lang="en-US" sz="2400" b="1" dirty="0">
                          <a:solidFill>
                            <a:schemeClr val="tx1"/>
                          </a:solidFill>
                        </a:rPr>
                        <a:t>Y </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5</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9</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13</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17</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8713343"/>
                  </a:ext>
                </a:extLst>
              </a:tr>
            </a:tbl>
          </a:graphicData>
        </a:graphic>
      </p:graphicFrame>
      <p:sp>
        <p:nvSpPr>
          <p:cNvPr id="5" name="TextBox 4">
            <a:extLst>
              <a:ext uri="{FF2B5EF4-FFF2-40B4-BE49-F238E27FC236}">
                <a16:creationId xmlns:a16="http://schemas.microsoft.com/office/drawing/2014/main" id="{2434A5FD-C112-7EAE-F36A-EB2361918EA8}"/>
              </a:ext>
            </a:extLst>
          </p:cNvPr>
          <p:cNvSpPr txBox="1"/>
          <p:nvPr/>
        </p:nvSpPr>
        <p:spPr>
          <a:xfrm>
            <a:off x="506026" y="3107184"/>
            <a:ext cx="7270813" cy="1569660"/>
          </a:xfrm>
          <a:prstGeom prst="rect">
            <a:avLst/>
          </a:prstGeom>
          <a:noFill/>
        </p:spPr>
        <p:txBody>
          <a:bodyPr wrap="square" rtlCol="0">
            <a:spAutoFit/>
          </a:bodyPr>
          <a:lstStyle/>
          <a:p>
            <a:r>
              <a:rPr lang="en-US" sz="2400" dirty="0"/>
              <a:t>Using a table of values we can also determine the rule. </a:t>
            </a:r>
          </a:p>
          <a:p>
            <a:endParaRPr lang="en-US" sz="2400" dirty="0"/>
          </a:p>
          <a:p>
            <a:r>
              <a:rPr lang="en-US" sz="2400" dirty="0"/>
              <a:t>M is the rate of change </a:t>
            </a:r>
          </a:p>
          <a:p>
            <a:r>
              <a:rPr lang="en-US" sz="2400" dirty="0"/>
              <a:t>C is the y-intercept (what is the value of x at this point?)</a:t>
            </a:r>
            <a:endParaRPr lang="en-AU" sz="24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14D8C0E-1DE1-F866-34B6-838C29983D66}"/>
                  </a:ext>
                </a:extLst>
              </p:cNvPr>
              <p:cNvSpPr txBox="1"/>
              <p:nvPr/>
            </p:nvSpPr>
            <p:spPr>
              <a:xfrm>
                <a:off x="8759890" y="3107184"/>
                <a:ext cx="259391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800" b="0" i="1" smtClean="0">
                          <a:latin typeface="Cambria Math" panose="02040503050406030204" pitchFamily="18" charset="0"/>
                        </a:rPr>
                        <m:t>𝑦</m:t>
                      </m:r>
                      <m:r>
                        <a:rPr lang="en-AU" sz="2800" b="0" i="1" smtClean="0">
                          <a:latin typeface="Cambria Math" panose="02040503050406030204" pitchFamily="18" charset="0"/>
                        </a:rPr>
                        <m:t>=</m:t>
                      </m:r>
                      <m:r>
                        <a:rPr lang="en-AU" sz="2800" b="0" i="1" smtClean="0">
                          <a:latin typeface="Cambria Math" panose="02040503050406030204" pitchFamily="18" charset="0"/>
                        </a:rPr>
                        <m:t>𝑚𝑥</m:t>
                      </m:r>
                      <m:r>
                        <a:rPr lang="en-AU" sz="2800" b="0" i="1" smtClean="0">
                          <a:latin typeface="Cambria Math" panose="02040503050406030204" pitchFamily="18" charset="0"/>
                        </a:rPr>
                        <m:t>+</m:t>
                      </m:r>
                      <m:r>
                        <a:rPr lang="en-AU" sz="2800" b="0" i="1" smtClean="0">
                          <a:latin typeface="Cambria Math" panose="02040503050406030204" pitchFamily="18" charset="0"/>
                        </a:rPr>
                        <m:t>𝑐</m:t>
                      </m:r>
                    </m:oMath>
                  </m:oMathPara>
                </a14:m>
                <a:endParaRPr lang="en-AU" sz="2800" dirty="0"/>
              </a:p>
            </p:txBody>
          </p:sp>
        </mc:Choice>
        <mc:Fallback xmlns="">
          <p:sp>
            <p:nvSpPr>
              <p:cNvPr id="6" name="TextBox 5">
                <a:extLst>
                  <a:ext uri="{FF2B5EF4-FFF2-40B4-BE49-F238E27FC236}">
                    <a16:creationId xmlns:a16="http://schemas.microsoft.com/office/drawing/2014/main" id="{114D8C0E-1DE1-F866-34B6-838C29983D66}"/>
                  </a:ext>
                </a:extLst>
              </p:cNvPr>
              <p:cNvSpPr txBox="1">
                <a:spLocks noRot="1" noChangeAspect="1" noMove="1" noResize="1" noEditPoints="1" noAdjustHandles="1" noChangeArrowheads="1" noChangeShapeType="1" noTextEdit="1"/>
              </p:cNvSpPr>
              <p:nvPr/>
            </p:nvSpPr>
            <p:spPr>
              <a:xfrm>
                <a:off x="8759890" y="3107184"/>
                <a:ext cx="2593910" cy="523220"/>
              </a:xfrm>
              <a:prstGeom prst="rect">
                <a:avLst/>
              </a:prstGeom>
              <a:blipFill>
                <a:blip r:embed="rId2"/>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401126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95A0-30A3-2C8F-20A9-C1E4D381EA46}"/>
              </a:ext>
            </a:extLst>
          </p:cNvPr>
          <p:cNvSpPr>
            <a:spLocks noGrp="1"/>
          </p:cNvSpPr>
          <p:nvPr>
            <p:ph type="title"/>
          </p:nvPr>
        </p:nvSpPr>
        <p:spPr/>
        <p:txBody>
          <a:bodyPr/>
          <a:lstStyle/>
          <a:p>
            <a:pPr algn="ctr"/>
            <a:r>
              <a:rPr lang="en-US" dirty="0"/>
              <a:t>Whiteboards – write the equation </a:t>
            </a:r>
            <a:endParaRPr lang="en-AU" dirty="0"/>
          </a:p>
        </p:txBody>
      </p:sp>
      <p:graphicFrame>
        <p:nvGraphicFramePr>
          <p:cNvPr id="4" name="Table 4">
            <a:extLst>
              <a:ext uri="{FF2B5EF4-FFF2-40B4-BE49-F238E27FC236}">
                <a16:creationId xmlns:a16="http://schemas.microsoft.com/office/drawing/2014/main" id="{8FF731BF-7EA2-737D-C1E7-F87855B0834F}"/>
              </a:ext>
            </a:extLst>
          </p:cNvPr>
          <p:cNvGraphicFramePr>
            <a:graphicFrameLocks noGrp="1"/>
          </p:cNvGraphicFramePr>
          <p:nvPr>
            <p:ph idx="1"/>
          </p:nvPr>
        </p:nvGraphicFramePr>
        <p:xfrm>
          <a:off x="838200" y="1825625"/>
          <a:ext cx="10515600" cy="9144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578849819"/>
                    </a:ext>
                  </a:extLst>
                </a:gridCol>
                <a:gridCol w="2103120">
                  <a:extLst>
                    <a:ext uri="{9D8B030D-6E8A-4147-A177-3AD203B41FA5}">
                      <a16:colId xmlns:a16="http://schemas.microsoft.com/office/drawing/2014/main" val="3787302077"/>
                    </a:ext>
                  </a:extLst>
                </a:gridCol>
                <a:gridCol w="2103120">
                  <a:extLst>
                    <a:ext uri="{9D8B030D-6E8A-4147-A177-3AD203B41FA5}">
                      <a16:colId xmlns:a16="http://schemas.microsoft.com/office/drawing/2014/main" val="2527099421"/>
                    </a:ext>
                  </a:extLst>
                </a:gridCol>
                <a:gridCol w="2103120">
                  <a:extLst>
                    <a:ext uri="{9D8B030D-6E8A-4147-A177-3AD203B41FA5}">
                      <a16:colId xmlns:a16="http://schemas.microsoft.com/office/drawing/2014/main" val="1132643944"/>
                    </a:ext>
                  </a:extLst>
                </a:gridCol>
                <a:gridCol w="2103120">
                  <a:extLst>
                    <a:ext uri="{9D8B030D-6E8A-4147-A177-3AD203B41FA5}">
                      <a16:colId xmlns:a16="http://schemas.microsoft.com/office/drawing/2014/main" val="3494951689"/>
                    </a:ext>
                  </a:extLst>
                </a:gridCol>
              </a:tblGrid>
              <a:tr h="370840">
                <a:tc>
                  <a:txBody>
                    <a:bodyPr/>
                    <a:lstStyle/>
                    <a:p>
                      <a:pPr algn="ctr"/>
                      <a:r>
                        <a:rPr lang="en-US" sz="2400" b="1" dirty="0">
                          <a:solidFill>
                            <a:schemeClr val="tx1"/>
                          </a:solidFill>
                        </a:rPr>
                        <a:t>X</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0</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1</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2</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3</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4087915"/>
                  </a:ext>
                </a:extLst>
              </a:tr>
              <a:tr h="370840">
                <a:tc>
                  <a:txBody>
                    <a:bodyPr/>
                    <a:lstStyle/>
                    <a:p>
                      <a:pPr algn="ctr"/>
                      <a:r>
                        <a:rPr lang="en-US" sz="2400" b="1" dirty="0">
                          <a:solidFill>
                            <a:schemeClr val="tx1"/>
                          </a:solidFill>
                        </a:rPr>
                        <a:t>Y </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7</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5</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3</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1</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8713343"/>
                  </a:ext>
                </a:extLst>
              </a:tr>
            </a:tbl>
          </a:graphicData>
        </a:graphic>
      </p:graphicFrame>
      <p:sp>
        <p:nvSpPr>
          <p:cNvPr id="5" name="TextBox 4">
            <a:extLst>
              <a:ext uri="{FF2B5EF4-FFF2-40B4-BE49-F238E27FC236}">
                <a16:creationId xmlns:a16="http://schemas.microsoft.com/office/drawing/2014/main" id="{2434A5FD-C112-7EAE-F36A-EB2361918EA8}"/>
              </a:ext>
            </a:extLst>
          </p:cNvPr>
          <p:cNvSpPr txBox="1"/>
          <p:nvPr/>
        </p:nvSpPr>
        <p:spPr>
          <a:xfrm>
            <a:off x="506026" y="3107184"/>
            <a:ext cx="7270813" cy="1569660"/>
          </a:xfrm>
          <a:prstGeom prst="rect">
            <a:avLst/>
          </a:prstGeom>
          <a:noFill/>
        </p:spPr>
        <p:txBody>
          <a:bodyPr wrap="square" rtlCol="0">
            <a:spAutoFit/>
          </a:bodyPr>
          <a:lstStyle/>
          <a:p>
            <a:r>
              <a:rPr lang="en-US" sz="2400" dirty="0"/>
              <a:t>Using a table of values we can also determine the rule. </a:t>
            </a:r>
          </a:p>
          <a:p>
            <a:endParaRPr lang="en-US" sz="2400" dirty="0"/>
          </a:p>
          <a:p>
            <a:r>
              <a:rPr lang="en-US" sz="2400" dirty="0"/>
              <a:t>M is the rate of change </a:t>
            </a:r>
          </a:p>
          <a:p>
            <a:r>
              <a:rPr lang="en-US" sz="2400" dirty="0"/>
              <a:t>C is the y-intercept (what is the value of x at this point?)</a:t>
            </a:r>
            <a:endParaRPr lang="en-AU" sz="24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1E040A2-F7FD-871F-4301-A28519930817}"/>
                  </a:ext>
                </a:extLst>
              </p:cNvPr>
              <p:cNvSpPr txBox="1"/>
              <p:nvPr/>
            </p:nvSpPr>
            <p:spPr>
              <a:xfrm>
                <a:off x="8759890" y="3107184"/>
                <a:ext cx="259391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800" b="0" i="1" smtClean="0">
                          <a:latin typeface="Cambria Math" panose="02040503050406030204" pitchFamily="18" charset="0"/>
                        </a:rPr>
                        <m:t>𝑦</m:t>
                      </m:r>
                      <m:r>
                        <a:rPr lang="en-AU" sz="2800" b="0" i="1" smtClean="0">
                          <a:latin typeface="Cambria Math" panose="02040503050406030204" pitchFamily="18" charset="0"/>
                        </a:rPr>
                        <m:t>=</m:t>
                      </m:r>
                      <m:r>
                        <a:rPr lang="en-AU" sz="2800" b="0" i="1" smtClean="0">
                          <a:latin typeface="Cambria Math" panose="02040503050406030204" pitchFamily="18" charset="0"/>
                        </a:rPr>
                        <m:t>𝑚𝑥</m:t>
                      </m:r>
                      <m:r>
                        <a:rPr lang="en-AU" sz="2800" b="0" i="1" smtClean="0">
                          <a:latin typeface="Cambria Math" panose="02040503050406030204" pitchFamily="18" charset="0"/>
                        </a:rPr>
                        <m:t>+</m:t>
                      </m:r>
                      <m:r>
                        <a:rPr lang="en-AU" sz="2800" b="0" i="1" smtClean="0">
                          <a:latin typeface="Cambria Math" panose="02040503050406030204" pitchFamily="18" charset="0"/>
                        </a:rPr>
                        <m:t>𝑐</m:t>
                      </m:r>
                    </m:oMath>
                  </m:oMathPara>
                </a14:m>
                <a:endParaRPr lang="en-AU" sz="2800" dirty="0"/>
              </a:p>
            </p:txBody>
          </p:sp>
        </mc:Choice>
        <mc:Fallback xmlns="">
          <p:sp>
            <p:nvSpPr>
              <p:cNvPr id="6" name="TextBox 5">
                <a:extLst>
                  <a:ext uri="{FF2B5EF4-FFF2-40B4-BE49-F238E27FC236}">
                    <a16:creationId xmlns:a16="http://schemas.microsoft.com/office/drawing/2014/main" id="{D1E040A2-F7FD-871F-4301-A28519930817}"/>
                  </a:ext>
                </a:extLst>
              </p:cNvPr>
              <p:cNvSpPr txBox="1">
                <a:spLocks noRot="1" noChangeAspect="1" noMove="1" noResize="1" noEditPoints="1" noAdjustHandles="1" noChangeArrowheads="1" noChangeShapeType="1" noTextEdit="1"/>
              </p:cNvSpPr>
              <p:nvPr/>
            </p:nvSpPr>
            <p:spPr>
              <a:xfrm>
                <a:off x="8759890" y="3107184"/>
                <a:ext cx="2593910" cy="523220"/>
              </a:xfrm>
              <a:prstGeom prst="rect">
                <a:avLst/>
              </a:prstGeom>
              <a:blipFill>
                <a:blip r:embed="rId2"/>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3233068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95A0-30A3-2C8F-20A9-C1E4D381EA46}"/>
              </a:ext>
            </a:extLst>
          </p:cNvPr>
          <p:cNvSpPr>
            <a:spLocks noGrp="1"/>
          </p:cNvSpPr>
          <p:nvPr>
            <p:ph type="title"/>
          </p:nvPr>
        </p:nvSpPr>
        <p:spPr/>
        <p:txBody>
          <a:bodyPr/>
          <a:lstStyle/>
          <a:p>
            <a:pPr algn="ctr"/>
            <a:r>
              <a:rPr lang="en-US" dirty="0">
                <a:highlight>
                  <a:srgbClr val="FF0000"/>
                </a:highlight>
              </a:rPr>
              <a:t>**Table of values** </a:t>
            </a:r>
            <a:endParaRPr lang="en-AU" dirty="0">
              <a:highlight>
                <a:srgbClr val="FF0000"/>
              </a:highlight>
            </a:endParaRPr>
          </a:p>
        </p:txBody>
      </p:sp>
      <p:graphicFrame>
        <p:nvGraphicFramePr>
          <p:cNvPr id="4" name="Table 4">
            <a:extLst>
              <a:ext uri="{FF2B5EF4-FFF2-40B4-BE49-F238E27FC236}">
                <a16:creationId xmlns:a16="http://schemas.microsoft.com/office/drawing/2014/main" id="{8FF731BF-7EA2-737D-C1E7-F87855B0834F}"/>
              </a:ext>
            </a:extLst>
          </p:cNvPr>
          <p:cNvGraphicFramePr>
            <a:graphicFrameLocks noGrp="1"/>
          </p:cNvGraphicFramePr>
          <p:nvPr>
            <p:ph idx="1"/>
            <p:extLst>
              <p:ext uri="{D42A27DB-BD31-4B8C-83A1-F6EECF244321}">
                <p14:modId xmlns:p14="http://schemas.microsoft.com/office/powerpoint/2010/main" val="564250056"/>
              </p:ext>
            </p:extLst>
          </p:nvPr>
        </p:nvGraphicFramePr>
        <p:xfrm>
          <a:off x="838200" y="1825625"/>
          <a:ext cx="10515600" cy="9144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578849819"/>
                    </a:ext>
                  </a:extLst>
                </a:gridCol>
                <a:gridCol w="2103120">
                  <a:extLst>
                    <a:ext uri="{9D8B030D-6E8A-4147-A177-3AD203B41FA5}">
                      <a16:colId xmlns:a16="http://schemas.microsoft.com/office/drawing/2014/main" val="3787302077"/>
                    </a:ext>
                  </a:extLst>
                </a:gridCol>
                <a:gridCol w="2103120">
                  <a:extLst>
                    <a:ext uri="{9D8B030D-6E8A-4147-A177-3AD203B41FA5}">
                      <a16:colId xmlns:a16="http://schemas.microsoft.com/office/drawing/2014/main" val="2527099421"/>
                    </a:ext>
                  </a:extLst>
                </a:gridCol>
                <a:gridCol w="2103120">
                  <a:extLst>
                    <a:ext uri="{9D8B030D-6E8A-4147-A177-3AD203B41FA5}">
                      <a16:colId xmlns:a16="http://schemas.microsoft.com/office/drawing/2014/main" val="1132643944"/>
                    </a:ext>
                  </a:extLst>
                </a:gridCol>
                <a:gridCol w="2103120">
                  <a:extLst>
                    <a:ext uri="{9D8B030D-6E8A-4147-A177-3AD203B41FA5}">
                      <a16:colId xmlns:a16="http://schemas.microsoft.com/office/drawing/2014/main" val="3494951689"/>
                    </a:ext>
                  </a:extLst>
                </a:gridCol>
              </a:tblGrid>
              <a:tr h="370840">
                <a:tc>
                  <a:txBody>
                    <a:bodyPr/>
                    <a:lstStyle/>
                    <a:p>
                      <a:pPr algn="ctr"/>
                      <a:r>
                        <a:rPr lang="en-US" sz="2400" b="1" dirty="0">
                          <a:solidFill>
                            <a:schemeClr val="tx1"/>
                          </a:solidFill>
                        </a:rPr>
                        <a:t>X</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0</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2</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4</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6</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4087915"/>
                  </a:ext>
                </a:extLst>
              </a:tr>
              <a:tr h="370840">
                <a:tc>
                  <a:txBody>
                    <a:bodyPr/>
                    <a:lstStyle/>
                    <a:p>
                      <a:pPr algn="ctr"/>
                      <a:r>
                        <a:rPr lang="en-US" sz="2400" b="1" dirty="0">
                          <a:solidFill>
                            <a:schemeClr val="tx1"/>
                          </a:solidFill>
                        </a:rPr>
                        <a:t>Y </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1" dirty="0">
                          <a:solidFill>
                            <a:schemeClr val="tx1"/>
                          </a:solidFill>
                        </a:rPr>
                        <a:t>1</a:t>
                      </a:r>
                      <a:endParaRPr lang="en-AU" sz="24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2400" b="1"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2400" b="1" dirty="0">
                          <a:solidFill>
                            <a:schemeClr val="tx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2400" b="1" dirty="0">
                          <a:solidFill>
                            <a:schemeClr val="tx1"/>
                          </a:solidFill>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8713343"/>
                  </a:ext>
                </a:extLst>
              </a:tr>
            </a:tbl>
          </a:graphicData>
        </a:graphic>
      </p:graphicFrame>
      <p:sp>
        <p:nvSpPr>
          <p:cNvPr id="5" name="TextBox 4">
            <a:extLst>
              <a:ext uri="{FF2B5EF4-FFF2-40B4-BE49-F238E27FC236}">
                <a16:creationId xmlns:a16="http://schemas.microsoft.com/office/drawing/2014/main" id="{2434A5FD-C112-7EAE-F36A-EB2361918EA8}"/>
              </a:ext>
            </a:extLst>
          </p:cNvPr>
          <p:cNvSpPr txBox="1"/>
          <p:nvPr/>
        </p:nvSpPr>
        <p:spPr>
          <a:xfrm>
            <a:off x="506026" y="3107184"/>
            <a:ext cx="7270813" cy="1569660"/>
          </a:xfrm>
          <a:prstGeom prst="rect">
            <a:avLst/>
          </a:prstGeom>
          <a:noFill/>
        </p:spPr>
        <p:txBody>
          <a:bodyPr wrap="square" rtlCol="0">
            <a:spAutoFit/>
          </a:bodyPr>
          <a:lstStyle/>
          <a:p>
            <a:r>
              <a:rPr lang="en-US" sz="2400" dirty="0"/>
              <a:t>Using a table of values we can also determine the rule. </a:t>
            </a:r>
          </a:p>
          <a:p>
            <a:endParaRPr lang="en-US" sz="2400" dirty="0"/>
          </a:p>
          <a:p>
            <a:r>
              <a:rPr lang="en-US" sz="2400" dirty="0"/>
              <a:t>M is the rate of change </a:t>
            </a:r>
          </a:p>
          <a:p>
            <a:r>
              <a:rPr lang="en-US" sz="2400" dirty="0"/>
              <a:t>C is the y-intercept (what is the value of x at this point?)</a:t>
            </a:r>
            <a:endParaRPr lang="en-AU" sz="24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8FD052A-2DBC-E13C-2B0A-1372CDFEB285}"/>
                  </a:ext>
                </a:extLst>
              </p:cNvPr>
              <p:cNvSpPr txBox="1"/>
              <p:nvPr/>
            </p:nvSpPr>
            <p:spPr>
              <a:xfrm>
                <a:off x="8759890" y="3107184"/>
                <a:ext cx="259391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AU" sz="2800" b="0" i="1" smtClean="0">
                          <a:latin typeface="Cambria Math" panose="02040503050406030204" pitchFamily="18" charset="0"/>
                        </a:rPr>
                        <m:t>𝑦</m:t>
                      </m:r>
                      <m:r>
                        <a:rPr lang="en-AU" sz="2800" b="0" i="1" smtClean="0">
                          <a:latin typeface="Cambria Math" panose="02040503050406030204" pitchFamily="18" charset="0"/>
                        </a:rPr>
                        <m:t>=</m:t>
                      </m:r>
                      <m:r>
                        <a:rPr lang="en-AU" sz="2800" b="0" i="1" smtClean="0">
                          <a:latin typeface="Cambria Math" panose="02040503050406030204" pitchFamily="18" charset="0"/>
                        </a:rPr>
                        <m:t>𝑚𝑥</m:t>
                      </m:r>
                      <m:r>
                        <a:rPr lang="en-AU" sz="2800" b="0" i="1" smtClean="0">
                          <a:latin typeface="Cambria Math" panose="02040503050406030204" pitchFamily="18" charset="0"/>
                        </a:rPr>
                        <m:t>+</m:t>
                      </m:r>
                      <m:r>
                        <a:rPr lang="en-AU" sz="2800" b="0" i="1" smtClean="0">
                          <a:latin typeface="Cambria Math" panose="02040503050406030204" pitchFamily="18" charset="0"/>
                        </a:rPr>
                        <m:t>𝑐</m:t>
                      </m:r>
                    </m:oMath>
                  </m:oMathPara>
                </a14:m>
                <a:endParaRPr lang="en-AU" sz="2800" dirty="0"/>
              </a:p>
            </p:txBody>
          </p:sp>
        </mc:Choice>
        <mc:Fallback xmlns="">
          <p:sp>
            <p:nvSpPr>
              <p:cNvPr id="6" name="TextBox 5">
                <a:extLst>
                  <a:ext uri="{FF2B5EF4-FFF2-40B4-BE49-F238E27FC236}">
                    <a16:creationId xmlns:a16="http://schemas.microsoft.com/office/drawing/2014/main" id="{08FD052A-2DBC-E13C-2B0A-1372CDFEB285}"/>
                  </a:ext>
                </a:extLst>
              </p:cNvPr>
              <p:cNvSpPr txBox="1">
                <a:spLocks noRot="1" noChangeAspect="1" noMove="1" noResize="1" noEditPoints="1" noAdjustHandles="1" noChangeArrowheads="1" noChangeShapeType="1" noTextEdit="1"/>
              </p:cNvSpPr>
              <p:nvPr/>
            </p:nvSpPr>
            <p:spPr>
              <a:xfrm>
                <a:off x="8759890" y="3107184"/>
                <a:ext cx="2593910" cy="523220"/>
              </a:xfrm>
              <a:prstGeom prst="rect">
                <a:avLst/>
              </a:prstGeom>
              <a:blipFill>
                <a:blip r:embed="rId2"/>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774304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ADE026-DF4B-4182-84B4-23ED92A63B90}"/>
              </a:ext>
            </a:extLst>
          </p:cNvPr>
          <p:cNvPicPr>
            <a:picLocks noChangeAspect="1"/>
          </p:cNvPicPr>
          <p:nvPr/>
        </p:nvPicPr>
        <p:blipFill>
          <a:blip r:embed="rId2"/>
          <a:stretch>
            <a:fillRect/>
          </a:stretch>
        </p:blipFill>
        <p:spPr>
          <a:xfrm>
            <a:off x="6245209" y="835063"/>
            <a:ext cx="5641991" cy="5802427"/>
          </a:xfrm>
          <a:prstGeom prst="rect">
            <a:avLst/>
          </a:prstGeom>
        </p:spPr>
      </p:pic>
      <p:sp>
        <p:nvSpPr>
          <p:cNvPr id="2" name="Title 1">
            <a:extLst>
              <a:ext uri="{FF2B5EF4-FFF2-40B4-BE49-F238E27FC236}">
                <a16:creationId xmlns:a16="http://schemas.microsoft.com/office/drawing/2014/main" id="{CB539820-4639-4FE3-9815-1F85691918E7}"/>
              </a:ext>
            </a:extLst>
          </p:cNvPr>
          <p:cNvSpPr>
            <a:spLocks noGrp="1"/>
          </p:cNvSpPr>
          <p:nvPr>
            <p:ph type="title"/>
          </p:nvPr>
        </p:nvSpPr>
        <p:spPr>
          <a:xfrm>
            <a:off x="838200" y="365125"/>
            <a:ext cx="6238875" cy="1325563"/>
          </a:xfrm>
        </p:spPr>
        <p:txBody>
          <a:bodyPr/>
          <a:lstStyle/>
          <a:p>
            <a:pPr algn="ctr"/>
            <a:r>
              <a:rPr lang="en-US" dirty="0"/>
              <a:t>Where are they? </a:t>
            </a:r>
            <a:endParaRPr lang="en-AU" dirty="0"/>
          </a:p>
        </p:txBody>
      </p:sp>
      <p:sp>
        <p:nvSpPr>
          <p:cNvPr id="3" name="Content Placeholder 2">
            <a:extLst>
              <a:ext uri="{FF2B5EF4-FFF2-40B4-BE49-F238E27FC236}">
                <a16:creationId xmlns:a16="http://schemas.microsoft.com/office/drawing/2014/main" id="{E99AE529-2B95-40F2-AFD1-8EF8C84DBC08}"/>
              </a:ext>
            </a:extLst>
          </p:cNvPr>
          <p:cNvSpPr>
            <a:spLocks noGrp="1"/>
          </p:cNvSpPr>
          <p:nvPr>
            <p:ph idx="1"/>
          </p:nvPr>
        </p:nvSpPr>
        <p:spPr>
          <a:xfrm>
            <a:off x="838200" y="1825625"/>
            <a:ext cx="5108592" cy="4351338"/>
          </a:xfrm>
        </p:spPr>
        <p:txBody>
          <a:bodyPr>
            <a:normAutofit fontScale="92500" lnSpcReduction="20000"/>
          </a:bodyPr>
          <a:lstStyle/>
          <a:p>
            <a:pPr marL="0" indent="0">
              <a:buNone/>
            </a:pPr>
            <a:r>
              <a:rPr lang="en-US" dirty="0"/>
              <a:t>Example:</a:t>
            </a:r>
          </a:p>
          <a:p>
            <a:pPr marL="0" indent="0">
              <a:buNone/>
            </a:pPr>
            <a:endParaRPr lang="en-US" dirty="0"/>
          </a:p>
          <a:p>
            <a:pPr marL="0" indent="0">
              <a:buNone/>
            </a:pPr>
            <a:r>
              <a:rPr lang="en-US" dirty="0"/>
              <a:t>A (1, 4) </a:t>
            </a:r>
          </a:p>
          <a:p>
            <a:pPr marL="0" indent="0" algn="ctr">
              <a:buNone/>
            </a:pPr>
            <a:r>
              <a:rPr lang="en-US" dirty="0">
                <a:highlight>
                  <a:srgbClr val="FFFF00"/>
                </a:highlight>
              </a:rPr>
              <a:t>Whiteboards</a:t>
            </a:r>
          </a:p>
          <a:p>
            <a:pPr marL="0" indent="0">
              <a:buNone/>
            </a:pPr>
            <a:r>
              <a:rPr lang="en-US" dirty="0"/>
              <a:t>Write the coordinates of:</a:t>
            </a:r>
          </a:p>
          <a:p>
            <a:pPr marL="0" indent="0">
              <a:buNone/>
            </a:pPr>
            <a:endParaRPr lang="en-US" dirty="0"/>
          </a:p>
          <a:p>
            <a:pPr marL="0" indent="0">
              <a:buNone/>
            </a:pPr>
            <a:r>
              <a:rPr lang="en-US" dirty="0"/>
              <a:t>B</a:t>
            </a:r>
          </a:p>
          <a:p>
            <a:pPr marL="0" indent="0">
              <a:buNone/>
            </a:pPr>
            <a:r>
              <a:rPr lang="en-US" dirty="0"/>
              <a:t>H</a:t>
            </a:r>
          </a:p>
          <a:p>
            <a:pPr marL="0" indent="0">
              <a:buNone/>
            </a:pPr>
            <a:r>
              <a:rPr lang="en-US" dirty="0"/>
              <a:t>E</a:t>
            </a:r>
          </a:p>
          <a:p>
            <a:pPr marL="0" indent="0">
              <a:buNone/>
            </a:pPr>
            <a:r>
              <a:rPr lang="en-US" dirty="0"/>
              <a:t>C</a:t>
            </a:r>
          </a:p>
        </p:txBody>
      </p:sp>
    </p:spTree>
    <p:extLst>
      <p:ext uri="{BB962C8B-B14F-4D97-AF65-F5344CB8AC3E}">
        <p14:creationId xmlns:p14="http://schemas.microsoft.com/office/powerpoint/2010/main" val="3539029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BF9F5-3110-7CDC-93D2-F3B522E62559}"/>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id="{D98FD8D6-33D9-4A86-0D3D-DC931AAC77E5}"/>
              </a:ext>
            </a:extLst>
          </p:cNvPr>
          <p:cNvSpPr>
            <a:spLocks noGrp="1"/>
          </p:cNvSpPr>
          <p:nvPr>
            <p:ph idx="1"/>
          </p:nvPr>
        </p:nvSpPr>
        <p:spPr>
          <a:xfrm>
            <a:off x="89698" y="1825625"/>
            <a:ext cx="1922761" cy="4351338"/>
          </a:xfrm>
        </p:spPr>
        <p:txBody>
          <a:bodyPr/>
          <a:lstStyle/>
          <a:p>
            <a:pPr marL="0" indent="0">
              <a:buNone/>
            </a:pPr>
            <a:r>
              <a:rPr lang="en-US" dirty="0"/>
              <a:t>This patterns is </a:t>
            </a:r>
          </a:p>
          <a:p>
            <a:pPr marL="0" indent="0">
              <a:buNone/>
            </a:pPr>
            <a:r>
              <a:rPr lang="en-US" dirty="0"/>
              <a:t>L_______</a:t>
            </a:r>
          </a:p>
          <a:p>
            <a:pPr marL="0" indent="0">
              <a:buNone/>
            </a:pPr>
            <a:endParaRPr lang="en-US" dirty="0"/>
          </a:p>
          <a:p>
            <a:pPr marL="0" indent="0">
              <a:buNone/>
            </a:pPr>
            <a:r>
              <a:rPr lang="en-US" dirty="0"/>
              <a:t>Does it make sense to connect the dots? </a:t>
            </a:r>
            <a:endParaRPr lang="en-AU" dirty="0"/>
          </a:p>
        </p:txBody>
      </p:sp>
      <p:pic>
        <p:nvPicPr>
          <p:cNvPr id="4" name="Picture 2" descr="Graph Paper to Print - 1cm Squared Paper PDF">
            <a:extLst>
              <a:ext uri="{FF2B5EF4-FFF2-40B4-BE49-F238E27FC236}">
                <a16:creationId xmlns:a16="http://schemas.microsoft.com/office/drawing/2014/main" id="{3FFA96AE-D729-2526-0324-51F3A9EFFB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3486258" y="-1473797"/>
            <a:ext cx="7142247" cy="1008984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9880EE8E-F73D-AF3D-A258-3A8483981035}"/>
              </a:ext>
            </a:extLst>
          </p:cNvPr>
          <p:cNvCxnSpPr/>
          <p:nvPr/>
        </p:nvCxnSpPr>
        <p:spPr>
          <a:xfrm>
            <a:off x="2938416" y="267536"/>
            <a:ext cx="0" cy="6492875"/>
          </a:xfrm>
          <a:prstGeom prst="straightConnector1">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EF77A5DB-6F12-0C29-041B-C7F5718E09EE}"/>
              </a:ext>
            </a:extLst>
          </p:cNvPr>
          <p:cNvCxnSpPr/>
          <p:nvPr/>
        </p:nvCxnSpPr>
        <p:spPr>
          <a:xfrm>
            <a:off x="2233474" y="6086660"/>
            <a:ext cx="9463597" cy="0"/>
          </a:xfrm>
          <a:prstGeom prst="straightConnector1">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02F61E38-DB52-F1DE-79C3-C56F9F25B7DC}"/>
              </a:ext>
            </a:extLst>
          </p:cNvPr>
          <p:cNvPicPr>
            <a:picLocks noChangeAspect="1"/>
          </p:cNvPicPr>
          <p:nvPr/>
        </p:nvPicPr>
        <p:blipFill>
          <a:blip r:embed="rId3"/>
          <a:stretch>
            <a:fillRect/>
          </a:stretch>
        </p:blipFill>
        <p:spPr>
          <a:xfrm>
            <a:off x="7174002" y="185598"/>
            <a:ext cx="4928300" cy="1171481"/>
          </a:xfrm>
          <a:prstGeom prst="rect">
            <a:avLst/>
          </a:prstGeom>
        </p:spPr>
      </p:pic>
      <p:graphicFrame>
        <p:nvGraphicFramePr>
          <p:cNvPr id="8" name="Table 6">
            <a:extLst>
              <a:ext uri="{FF2B5EF4-FFF2-40B4-BE49-F238E27FC236}">
                <a16:creationId xmlns:a16="http://schemas.microsoft.com/office/drawing/2014/main" id="{9C4AF032-216F-CBEE-B7F1-86CCE27C0A0C}"/>
              </a:ext>
            </a:extLst>
          </p:cNvPr>
          <p:cNvGraphicFramePr>
            <a:graphicFrameLocks noGrp="1"/>
          </p:cNvGraphicFramePr>
          <p:nvPr>
            <p:extLst>
              <p:ext uri="{D42A27DB-BD31-4B8C-83A1-F6EECF244321}">
                <p14:modId xmlns:p14="http://schemas.microsoft.com/office/powerpoint/2010/main" val="2570769438"/>
              </p:ext>
            </p:extLst>
          </p:nvPr>
        </p:nvGraphicFramePr>
        <p:xfrm>
          <a:off x="4117991" y="1413015"/>
          <a:ext cx="8128002" cy="91440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2335111360"/>
                    </a:ext>
                  </a:extLst>
                </a:gridCol>
                <a:gridCol w="1354667">
                  <a:extLst>
                    <a:ext uri="{9D8B030D-6E8A-4147-A177-3AD203B41FA5}">
                      <a16:colId xmlns:a16="http://schemas.microsoft.com/office/drawing/2014/main" val="2959269841"/>
                    </a:ext>
                  </a:extLst>
                </a:gridCol>
                <a:gridCol w="1354667">
                  <a:extLst>
                    <a:ext uri="{9D8B030D-6E8A-4147-A177-3AD203B41FA5}">
                      <a16:colId xmlns:a16="http://schemas.microsoft.com/office/drawing/2014/main" val="3986986801"/>
                    </a:ext>
                  </a:extLst>
                </a:gridCol>
                <a:gridCol w="1354667">
                  <a:extLst>
                    <a:ext uri="{9D8B030D-6E8A-4147-A177-3AD203B41FA5}">
                      <a16:colId xmlns:a16="http://schemas.microsoft.com/office/drawing/2014/main" val="990805617"/>
                    </a:ext>
                  </a:extLst>
                </a:gridCol>
                <a:gridCol w="1354667">
                  <a:extLst>
                    <a:ext uri="{9D8B030D-6E8A-4147-A177-3AD203B41FA5}">
                      <a16:colId xmlns:a16="http://schemas.microsoft.com/office/drawing/2014/main" val="2441669542"/>
                    </a:ext>
                  </a:extLst>
                </a:gridCol>
                <a:gridCol w="1354667">
                  <a:extLst>
                    <a:ext uri="{9D8B030D-6E8A-4147-A177-3AD203B41FA5}">
                      <a16:colId xmlns:a16="http://schemas.microsoft.com/office/drawing/2014/main" val="1198088150"/>
                    </a:ext>
                  </a:extLst>
                </a:gridCol>
              </a:tblGrid>
              <a:tr h="370840">
                <a:tc>
                  <a:txBody>
                    <a:bodyPr/>
                    <a:lstStyle/>
                    <a:p>
                      <a:r>
                        <a:rPr lang="en-US" sz="2400" b="1" dirty="0"/>
                        <a:t>Input</a:t>
                      </a:r>
                      <a:endParaRPr lang="en-AU" sz="2400" b="1" dirty="0"/>
                    </a:p>
                  </a:txBody>
                  <a:tcPr/>
                </a:tc>
                <a:tc>
                  <a:txBody>
                    <a:bodyPr/>
                    <a:lstStyle/>
                    <a:p>
                      <a:pPr algn="ctr"/>
                      <a:r>
                        <a:rPr lang="en-US" sz="2400" b="1" dirty="0"/>
                        <a:t>1</a:t>
                      </a:r>
                      <a:endParaRPr lang="en-AU" sz="2400" b="1" dirty="0"/>
                    </a:p>
                  </a:txBody>
                  <a:tcPr/>
                </a:tc>
                <a:tc>
                  <a:txBody>
                    <a:bodyPr/>
                    <a:lstStyle/>
                    <a:p>
                      <a:pPr algn="ctr"/>
                      <a:r>
                        <a:rPr lang="en-US" sz="2400" b="1" dirty="0"/>
                        <a:t>2</a:t>
                      </a:r>
                      <a:endParaRPr lang="en-AU" sz="2400" b="1" dirty="0"/>
                    </a:p>
                  </a:txBody>
                  <a:tcPr/>
                </a:tc>
                <a:tc>
                  <a:txBody>
                    <a:bodyPr/>
                    <a:lstStyle/>
                    <a:p>
                      <a:pPr algn="ctr"/>
                      <a:r>
                        <a:rPr lang="en-US" sz="2400" b="1" dirty="0"/>
                        <a:t>3</a:t>
                      </a:r>
                      <a:endParaRPr lang="en-AU" sz="2400" b="1" dirty="0"/>
                    </a:p>
                  </a:txBody>
                  <a:tcPr/>
                </a:tc>
                <a:tc>
                  <a:txBody>
                    <a:bodyPr/>
                    <a:lstStyle/>
                    <a:p>
                      <a:pPr algn="ctr"/>
                      <a:r>
                        <a:rPr lang="en-US" sz="2400" b="1" dirty="0"/>
                        <a:t>4</a:t>
                      </a:r>
                      <a:endParaRPr lang="en-AU" sz="2400" b="1" dirty="0"/>
                    </a:p>
                  </a:txBody>
                  <a:tcPr/>
                </a:tc>
                <a:tc>
                  <a:txBody>
                    <a:bodyPr/>
                    <a:lstStyle/>
                    <a:p>
                      <a:pPr algn="ctr"/>
                      <a:r>
                        <a:rPr lang="en-US" sz="2400" b="1" dirty="0"/>
                        <a:t>5</a:t>
                      </a:r>
                      <a:endParaRPr lang="en-AU" sz="2400" b="1" dirty="0"/>
                    </a:p>
                  </a:txBody>
                  <a:tcPr/>
                </a:tc>
                <a:extLst>
                  <a:ext uri="{0D108BD9-81ED-4DB2-BD59-A6C34878D82A}">
                    <a16:rowId xmlns:a16="http://schemas.microsoft.com/office/drawing/2014/main" val="3602574402"/>
                  </a:ext>
                </a:extLst>
              </a:tr>
              <a:tr h="370840">
                <a:tc>
                  <a:txBody>
                    <a:bodyPr/>
                    <a:lstStyle/>
                    <a:p>
                      <a:r>
                        <a:rPr lang="en-US" sz="2400" b="1" dirty="0"/>
                        <a:t>Output</a:t>
                      </a:r>
                      <a:endParaRPr lang="en-AU" sz="2400" b="1" dirty="0"/>
                    </a:p>
                  </a:txBody>
                  <a:tcPr/>
                </a:tc>
                <a:tc>
                  <a:txBody>
                    <a:bodyPr/>
                    <a:lstStyle/>
                    <a:p>
                      <a:pPr algn="ctr"/>
                      <a:r>
                        <a:rPr lang="en-US" sz="2400" b="1" dirty="0"/>
                        <a:t>4</a:t>
                      </a:r>
                      <a:endParaRPr lang="en-AU" sz="2400" b="1" dirty="0"/>
                    </a:p>
                  </a:txBody>
                  <a:tcPr/>
                </a:tc>
                <a:tc>
                  <a:txBody>
                    <a:bodyPr/>
                    <a:lstStyle/>
                    <a:p>
                      <a:pPr algn="ctr"/>
                      <a:r>
                        <a:rPr lang="en-US" sz="2400" b="1" dirty="0"/>
                        <a:t>8</a:t>
                      </a:r>
                      <a:endParaRPr lang="en-AU" sz="2400" b="1" dirty="0"/>
                    </a:p>
                  </a:txBody>
                  <a:tcPr/>
                </a:tc>
                <a:tc>
                  <a:txBody>
                    <a:bodyPr/>
                    <a:lstStyle/>
                    <a:p>
                      <a:pPr algn="ctr"/>
                      <a:r>
                        <a:rPr lang="en-US" sz="2400" b="1" dirty="0"/>
                        <a:t>12</a:t>
                      </a:r>
                      <a:endParaRPr lang="en-AU" sz="2400" b="1" dirty="0"/>
                    </a:p>
                  </a:txBody>
                  <a:tcPr/>
                </a:tc>
                <a:tc>
                  <a:txBody>
                    <a:bodyPr/>
                    <a:lstStyle/>
                    <a:p>
                      <a:pPr algn="ctr"/>
                      <a:r>
                        <a:rPr lang="en-US" sz="2400" b="1" dirty="0"/>
                        <a:t>16</a:t>
                      </a:r>
                      <a:endParaRPr lang="en-AU" sz="2400" b="1" dirty="0"/>
                    </a:p>
                  </a:txBody>
                  <a:tcPr/>
                </a:tc>
                <a:tc>
                  <a:txBody>
                    <a:bodyPr/>
                    <a:lstStyle/>
                    <a:p>
                      <a:pPr algn="ctr"/>
                      <a:r>
                        <a:rPr lang="en-US" sz="2400" b="1" dirty="0"/>
                        <a:t>18</a:t>
                      </a:r>
                      <a:endParaRPr lang="en-AU" sz="2400" b="1" dirty="0"/>
                    </a:p>
                  </a:txBody>
                  <a:tcPr/>
                </a:tc>
                <a:extLst>
                  <a:ext uri="{0D108BD9-81ED-4DB2-BD59-A6C34878D82A}">
                    <a16:rowId xmlns:a16="http://schemas.microsoft.com/office/drawing/2014/main" val="1086690328"/>
                  </a:ext>
                </a:extLst>
              </a:tr>
            </a:tbl>
          </a:graphicData>
        </a:graphic>
      </p:graphicFrame>
    </p:spTree>
    <p:extLst>
      <p:ext uri="{BB962C8B-B14F-4D97-AF65-F5344CB8AC3E}">
        <p14:creationId xmlns:p14="http://schemas.microsoft.com/office/powerpoint/2010/main" val="24979040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93C1C-D2A7-4724-B9E5-9BCB696BA06A}"/>
              </a:ext>
            </a:extLst>
          </p:cNvPr>
          <p:cNvSpPr>
            <a:spLocks noGrp="1"/>
          </p:cNvSpPr>
          <p:nvPr>
            <p:ph type="title"/>
          </p:nvPr>
        </p:nvSpPr>
        <p:spPr>
          <a:xfrm>
            <a:off x="5326602" y="365125"/>
            <a:ext cx="6027198" cy="1325563"/>
          </a:xfrm>
        </p:spPr>
        <p:txBody>
          <a:bodyPr/>
          <a:lstStyle/>
          <a:p>
            <a:pPr algn="ctr"/>
            <a:r>
              <a:rPr lang="en-US" dirty="0"/>
              <a:t>Describing graphs </a:t>
            </a:r>
            <a:endParaRPr lang="en-AU" dirty="0"/>
          </a:p>
        </p:txBody>
      </p:sp>
      <p:sp>
        <p:nvSpPr>
          <p:cNvPr id="3" name="Content Placeholder 2">
            <a:extLst>
              <a:ext uri="{FF2B5EF4-FFF2-40B4-BE49-F238E27FC236}">
                <a16:creationId xmlns:a16="http://schemas.microsoft.com/office/drawing/2014/main" id="{2D89ED6D-EB1F-4AA8-B0D7-955BFB190717}"/>
              </a:ext>
            </a:extLst>
          </p:cNvPr>
          <p:cNvSpPr>
            <a:spLocks noGrp="1"/>
          </p:cNvSpPr>
          <p:nvPr>
            <p:ph idx="1"/>
          </p:nvPr>
        </p:nvSpPr>
        <p:spPr>
          <a:xfrm>
            <a:off x="5237824" y="1825625"/>
            <a:ext cx="6115975" cy="4351338"/>
          </a:xfrm>
        </p:spPr>
        <p:txBody>
          <a:bodyPr/>
          <a:lstStyle/>
          <a:p>
            <a:pPr marL="0" indent="0">
              <a:buNone/>
            </a:pPr>
            <a:r>
              <a:rPr lang="en-US" dirty="0"/>
              <a:t>This graph shows how much Sally is paid.</a:t>
            </a:r>
          </a:p>
          <a:p>
            <a:pPr marL="0" indent="0">
              <a:buNone/>
            </a:pPr>
            <a:r>
              <a:rPr lang="en-US" dirty="0"/>
              <a:t>Does it make sense to connect the dots?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6A6390FC-4F6B-417B-935C-9C359B3703A0}"/>
              </a:ext>
            </a:extLst>
          </p:cNvPr>
          <p:cNvPicPr>
            <a:picLocks noChangeAspect="1"/>
          </p:cNvPicPr>
          <p:nvPr/>
        </p:nvPicPr>
        <p:blipFill>
          <a:blip r:embed="rId2"/>
          <a:stretch>
            <a:fillRect/>
          </a:stretch>
        </p:blipFill>
        <p:spPr>
          <a:xfrm>
            <a:off x="633915" y="365125"/>
            <a:ext cx="4603910" cy="6443625"/>
          </a:xfrm>
          <a:prstGeom prst="rect">
            <a:avLst/>
          </a:prstGeom>
        </p:spPr>
      </p:pic>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4D6C1DBE-2FAE-469A-9135-E19A7B58CC95}"/>
                  </a:ext>
                </a:extLst>
              </p14:cNvPr>
              <p14:cNvContentPartPr/>
              <p14:nvPr/>
            </p14:nvContentPartPr>
            <p14:xfrm>
              <a:off x="1709460" y="5859930"/>
              <a:ext cx="52560" cy="45000"/>
            </p14:xfrm>
          </p:contentPart>
        </mc:Choice>
        <mc:Fallback xmlns="">
          <p:pic>
            <p:nvPicPr>
              <p:cNvPr id="20" name="Ink 19">
                <a:extLst>
                  <a:ext uri="{FF2B5EF4-FFF2-40B4-BE49-F238E27FC236}">
                    <a16:creationId xmlns:a16="http://schemas.microsoft.com/office/drawing/2014/main" id="{4D6C1DBE-2FAE-469A-9135-E19A7B58CC95}"/>
                  </a:ext>
                </a:extLst>
              </p:cNvPr>
              <p:cNvPicPr/>
              <p:nvPr/>
            </p:nvPicPr>
            <p:blipFill>
              <a:blip r:embed="rId4"/>
              <a:stretch>
                <a:fillRect/>
              </a:stretch>
            </p:blipFill>
            <p:spPr>
              <a:xfrm>
                <a:off x="1673460" y="5824290"/>
                <a:ext cx="124200" cy="1166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1" name="Ink 20">
                <a:extLst>
                  <a:ext uri="{FF2B5EF4-FFF2-40B4-BE49-F238E27FC236}">
                    <a16:creationId xmlns:a16="http://schemas.microsoft.com/office/drawing/2014/main" id="{C74EA720-8CA7-4122-9642-42C5520FA8A9}"/>
                  </a:ext>
                </a:extLst>
              </p14:cNvPr>
              <p14:cNvContentPartPr/>
              <p14:nvPr/>
            </p14:nvContentPartPr>
            <p14:xfrm>
              <a:off x="2380140" y="5269890"/>
              <a:ext cx="57240" cy="52920"/>
            </p14:xfrm>
          </p:contentPart>
        </mc:Choice>
        <mc:Fallback xmlns="">
          <p:pic>
            <p:nvPicPr>
              <p:cNvPr id="21" name="Ink 20">
                <a:extLst>
                  <a:ext uri="{FF2B5EF4-FFF2-40B4-BE49-F238E27FC236}">
                    <a16:creationId xmlns:a16="http://schemas.microsoft.com/office/drawing/2014/main" id="{C74EA720-8CA7-4122-9642-42C5520FA8A9}"/>
                  </a:ext>
                </a:extLst>
              </p:cNvPr>
              <p:cNvPicPr/>
              <p:nvPr/>
            </p:nvPicPr>
            <p:blipFill>
              <a:blip r:embed="rId6"/>
              <a:stretch>
                <a:fillRect/>
              </a:stretch>
            </p:blipFill>
            <p:spPr>
              <a:xfrm>
                <a:off x="2344140" y="5233890"/>
                <a:ext cx="12888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2" name="Ink 21">
                <a:extLst>
                  <a:ext uri="{FF2B5EF4-FFF2-40B4-BE49-F238E27FC236}">
                    <a16:creationId xmlns:a16="http://schemas.microsoft.com/office/drawing/2014/main" id="{111A81A0-A5E8-4073-A27F-D9CE8B6FCECC}"/>
                  </a:ext>
                </a:extLst>
              </p14:cNvPr>
              <p14:cNvContentPartPr/>
              <p14:nvPr/>
            </p14:nvContentPartPr>
            <p14:xfrm>
              <a:off x="3055140" y="4676250"/>
              <a:ext cx="50400" cy="65880"/>
            </p14:xfrm>
          </p:contentPart>
        </mc:Choice>
        <mc:Fallback xmlns="">
          <p:pic>
            <p:nvPicPr>
              <p:cNvPr id="22" name="Ink 21">
                <a:extLst>
                  <a:ext uri="{FF2B5EF4-FFF2-40B4-BE49-F238E27FC236}">
                    <a16:creationId xmlns:a16="http://schemas.microsoft.com/office/drawing/2014/main" id="{111A81A0-A5E8-4073-A27F-D9CE8B6FCECC}"/>
                  </a:ext>
                </a:extLst>
              </p:cNvPr>
              <p:cNvPicPr/>
              <p:nvPr/>
            </p:nvPicPr>
            <p:blipFill>
              <a:blip r:embed="rId8"/>
              <a:stretch>
                <a:fillRect/>
              </a:stretch>
            </p:blipFill>
            <p:spPr>
              <a:xfrm>
                <a:off x="3019500" y="4640610"/>
                <a:ext cx="12204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3" name="Ink 22">
                <a:extLst>
                  <a:ext uri="{FF2B5EF4-FFF2-40B4-BE49-F238E27FC236}">
                    <a16:creationId xmlns:a16="http://schemas.microsoft.com/office/drawing/2014/main" id="{0382B682-544F-49BC-96FB-3E5ABEF28D7B}"/>
                  </a:ext>
                </a:extLst>
              </p14:cNvPr>
              <p14:cNvContentPartPr/>
              <p14:nvPr/>
            </p14:nvContentPartPr>
            <p14:xfrm>
              <a:off x="3721140" y="4076130"/>
              <a:ext cx="46080" cy="19440"/>
            </p14:xfrm>
          </p:contentPart>
        </mc:Choice>
        <mc:Fallback xmlns="">
          <p:pic>
            <p:nvPicPr>
              <p:cNvPr id="23" name="Ink 22">
                <a:extLst>
                  <a:ext uri="{FF2B5EF4-FFF2-40B4-BE49-F238E27FC236}">
                    <a16:creationId xmlns:a16="http://schemas.microsoft.com/office/drawing/2014/main" id="{0382B682-544F-49BC-96FB-3E5ABEF28D7B}"/>
                  </a:ext>
                </a:extLst>
              </p:cNvPr>
              <p:cNvPicPr/>
              <p:nvPr/>
            </p:nvPicPr>
            <p:blipFill>
              <a:blip r:embed="rId10"/>
              <a:stretch>
                <a:fillRect/>
              </a:stretch>
            </p:blipFill>
            <p:spPr>
              <a:xfrm>
                <a:off x="3685500" y="4040490"/>
                <a:ext cx="11772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A5DB823C-B2A5-4510-B6FA-8A11C7CA5A9E}"/>
                  </a:ext>
                </a:extLst>
              </p14:cNvPr>
              <p14:cNvContentPartPr/>
              <p14:nvPr/>
            </p14:nvContentPartPr>
            <p14:xfrm>
              <a:off x="4371300" y="3447210"/>
              <a:ext cx="59040" cy="77040"/>
            </p14:xfrm>
          </p:contentPart>
        </mc:Choice>
        <mc:Fallback xmlns="">
          <p:pic>
            <p:nvPicPr>
              <p:cNvPr id="24" name="Ink 23">
                <a:extLst>
                  <a:ext uri="{FF2B5EF4-FFF2-40B4-BE49-F238E27FC236}">
                    <a16:creationId xmlns:a16="http://schemas.microsoft.com/office/drawing/2014/main" id="{A5DB823C-B2A5-4510-B6FA-8A11C7CA5A9E}"/>
                  </a:ext>
                </a:extLst>
              </p:cNvPr>
              <p:cNvPicPr/>
              <p:nvPr/>
            </p:nvPicPr>
            <p:blipFill>
              <a:blip r:embed="rId12"/>
              <a:stretch>
                <a:fillRect/>
              </a:stretch>
            </p:blipFill>
            <p:spPr>
              <a:xfrm>
                <a:off x="4335300" y="3411210"/>
                <a:ext cx="130680" cy="148680"/>
              </a:xfrm>
              <a:prstGeom prst="rect">
                <a:avLst/>
              </a:prstGeom>
            </p:spPr>
          </p:pic>
        </mc:Fallback>
      </mc:AlternateContent>
      <p:graphicFrame>
        <p:nvGraphicFramePr>
          <p:cNvPr id="5" name="Table 5">
            <a:extLst>
              <a:ext uri="{FF2B5EF4-FFF2-40B4-BE49-F238E27FC236}">
                <a16:creationId xmlns:a16="http://schemas.microsoft.com/office/drawing/2014/main" id="{86733323-51B0-3609-DF7D-D4242E7AE830}"/>
              </a:ext>
            </a:extLst>
          </p:cNvPr>
          <p:cNvGraphicFramePr>
            <a:graphicFrameLocks noGrp="1"/>
          </p:cNvGraphicFramePr>
          <p:nvPr>
            <p:extLst>
              <p:ext uri="{D42A27DB-BD31-4B8C-83A1-F6EECF244321}">
                <p14:modId xmlns:p14="http://schemas.microsoft.com/office/powerpoint/2010/main" val="3879726804"/>
              </p:ext>
            </p:extLst>
          </p:nvPr>
        </p:nvGraphicFramePr>
        <p:xfrm>
          <a:off x="5546200" y="3107287"/>
          <a:ext cx="5499221" cy="833926"/>
        </p:xfrm>
        <a:graphic>
          <a:graphicData uri="http://schemas.openxmlformats.org/drawingml/2006/table">
            <a:tbl>
              <a:tblPr firstRow="1" bandRow="1">
                <a:tableStyleId>{5C22544A-7EE6-4342-B048-85BDC9FD1C3A}</a:tableStyleId>
              </a:tblPr>
              <a:tblGrid>
                <a:gridCol w="785603">
                  <a:extLst>
                    <a:ext uri="{9D8B030D-6E8A-4147-A177-3AD203B41FA5}">
                      <a16:colId xmlns:a16="http://schemas.microsoft.com/office/drawing/2014/main" val="1941902045"/>
                    </a:ext>
                  </a:extLst>
                </a:gridCol>
                <a:gridCol w="785603">
                  <a:extLst>
                    <a:ext uri="{9D8B030D-6E8A-4147-A177-3AD203B41FA5}">
                      <a16:colId xmlns:a16="http://schemas.microsoft.com/office/drawing/2014/main" val="602386073"/>
                    </a:ext>
                  </a:extLst>
                </a:gridCol>
                <a:gridCol w="785603">
                  <a:extLst>
                    <a:ext uri="{9D8B030D-6E8A-4147-A177-3AD203B41FA5}">
                      <a16:colId xmlns:a16="http://schemas.microsoft.com/office/drawing/2014/main" val="813117803"/>
                    </a:ext>
                  </a:extLst>
                </a:gridCol>
                <a:gridCol w="785603">
                  <a:extLst>
                    <a:ext uri="{9D8B030D-6E8A-4147-A177-3AD203B41FA5}">
                      <a16:colId xmlns:a16="http://schemas.microsoft.com/office/drawing/2014/main" val="1873102825"/>
                    </a:ext>
                  </a:extLst>
                </a:gridCol>
                <a:gridCol w="785603">
                  <a:extLst>
                    <a:ext uri="{9D8B030D-6E8A-4147-A177-3AD203B41FA5}">
                      <a16:colId xmlns:a16="http://schemas.microsoft.com/office/drawing/2014/main" val="4072359912"/>
                    </a:ext>
                  </a:extLst>
                </a:gridCol>
                <a:gridCol w="785603">
                  <a:extLst>
                    <a:ext uri="{9D8B030D-6E8A-4147-A177-3AD203B41FA5}">
                      <a16:colId xmlns:a16="http://schemas.microsoft.com/office/drawing/2014/main" val="629897055"/>
                    </a:ext>
                  </a:extLst>
                </a:gridCol>
                <a:gridCol w="785603">
                  <a:extLst>
                    <a:ext uri="{9D8B030D-6E8A-4147-A177-3AD203B41FA5}">
                      <a16:colId xmlns:a16="http://schemas.microsoft.com/office/drawing/2014/main" val="2291955259"/>
                    </a:ext>
                  </a:extLst>
                </a:gridCol>
              </a:tblGrid>
              <a:tr h="416963">
                <a:tc>
                  <a:txBody>
                    <a:bodyPr/>
                    <a:lstStyle/>
                    <a:p>
                      <a:pPr algn="ctr"/>
                      <a:r>
                        <a:rPr lang="en-US" b="1" dirty="0"/>
                        <a:t>Hours</a:t>
                      </a:r>
                      <a:endParaRPr lang="en-AU" b="1" dirty="0"/>
                    </a:p>
                  </a:txBody>
                  <a:tcPr/>
                </a:tc>
                <a:tc>
                  <a:txBody>
                    <a:bodyPr/>
                    <a:lstStyle/>
                    <a:p>
                      <a:pPr algn="ctr"/>
                      <a:r>
                        <a:rPr lang="en-US" b="1" dirty="0"/>
                        <a:t>1</a:t>
                      </a:r>
                      <a:endParaRPr lang="en-AU" b="1" dirty="0"/>
                    </a:p>
                  </a:txBody>
                  <a:tcPr/>
                </a:tc>
                <a:tc>
                  <a:txBody>
                    <a:bodyPr/>
                    <a:lstStyle/>
                    <a:p>
                      <a:pPr algn="ctr"/>
                      <a:r>
                        <a:rPr lang="en-US" b="1" dirty="0"/>
                        <a:t>2</a:t>
                      </a:r>
                      <a:endParaRPr lang="en-AU" b="1" dirty="0"/>
                    </a:p>
                  </a:txBody>
                  <a:tcPr/>
                </a:tc>
                <a:tc>
                  <a:txBody>
                    <a:bodyPr/>
                    <a:lstStyle/>
                    <a:p>
                      <a:pPr algn="ctr"/>
                      <a:r>
                        <a:rPr lang="en-US" b="1" dirty="0"/>
                        <a:t>3</a:t>
                      </a:r>
                      <a:endParaRPr lang="en-AU" b="1" dirty="0"/>
                    </a:p>
                  </a:txBody>
                  <a:tcPr/>
                </a:tc>
                <a:tc>
                  <a:txBody>
                    <a:bodyPr/>
                    <a:lstStyle/>
                    <a:p>
                      <a:pPr algn="ctr"/>
                      <a:r>
                        <a:rPr lang="en-US" b="1" dirty="0"/>
                        <a:t>4</a:t>
                      </a:r>
                      <a:endParaRPr lang="en-AU" b="1" dirty="0"/>
                    </a:p>
                  </a:txBody>
                  <a:tcPr/>
                </a:tc>
                <a:tc>
                  <a:txBody>
                    <a:bodyPr/>
                    <a:lstStyle/>
                    <a:p>
                      <a:pPr algn="ctr"/>
                      <a:r>
                        <a:rPr lang="en-US" b="1" dirty="0"/>
                        <a:t>5</a:t>
                      </a:r>
                      <a:endParaRPr lang="en-AU" b="1" dirty="0"/>
                    </a:p>
                  </a:txBody>
                  <a:tcPr/>
                </a:tc>
                <a:tc>
                  <a:txBody>
                    <a:bodyPr/>
                    <a:lstStyle/>
                    <a:p>
                      <a:pPr algn="ctr"/>
                      <a:r>
                        <a:rPr lang="en-US" b="1" dirty="0"/>
                        <a:t>6</a:t>
                      </a:r>
                      <a:endParaRPr lang="en-AU" b="1" dirty="0"/>
                    </a:p>
                  </a:txBody>
                  <a:tcPr/>
                </a:tc>
                <a:extLst>
                  <a:ext uri="{0D108BD9-81ED-4DB2-BD59-A6C34878D82A}">
                    <a16:rowId xmlns:a16="http://schemas.microsoft.com/office/drawing/2014/main" val="1793439823"/>
                  </a:ext>
                </a:extLst>
              </a:tr>
              <a:tr h="416963">
                <a:tc>
                  <a:txBody>
                    <a:bodyPr/>
                    <a:lstStyle/>
                    <a:p>
                      <a:pPr algn="ctr"/>
                      <a:r>
                        <a:rPr lang="en-US" b="1" dirty="0"/>
                        <a:t>$$</a:t>
                      </a:r>
                      <a:endParaRPr lang="en-AU" b="1" dirty="0"/>
                    </a:p>
                  </a:txBody>
                  <a:tcPr/>
                </a:tc>
                <a:tc>
                  <a:txBody>
                    <a:bodyPr/>
                    <a:lstStyle/>
                    <a:p>
                      <a:pPr algn="ctr"/>
                      <a:r>
                        <a:rPr lang="en-US" b="1" dirty="0"/>
                        <a:t>80</a:t>
                      </a:r>
                      <a:endParaRPr lang="en-AU" b="1" dirty="0"/>
                    </a:p>
                  </a:txBody>
                  <a:tcPr/>
                </a:tc>
                <a:tc>
                  <a:txBody>
                    <a:bodyPr/>
                    <a:lstStyle/>
                    <a:p>
                      <a:pPr algn="ctr"/>
                      <a:r>
                        <a:rPr lang="en-US" b="1" dirty="0"/>
                        <a:t>160</a:t>
                      </a:r>
                      <a:endParaRPr lang="en-AU" b="1" dirty="0"/>
                    </a:p>
                  </a:txBody>
                  <a:tcPr/>
                </a:tc>
                <a:tc>
                  <a:txBody>
                    <a:bodyPr/>
                    <a:lstStyle/>
                    <a:p>
                      <a:pPr algn="ctr"/>
                      <a:r>
                        <a:rPr lang="en-US" b="1" dirty="0"/>
                        <a:t>240</a:t>
                      </a:r>
                      <a:endParaRPr lang="en-AU" b="1" dirty="0"/>
                    </a:p>
                  </a:txBody>
                  <a:tcPr/>
                </a:tc>
                <a:tc>
                  <a:txBody>
                    <a:bodyPr/>
                    <a:lstStyle/>
                    <a:p>
                      <a:pPr algn="ctr"/>
                      <a:r>
                        <a:rPr lang="en-US" b="1" dirty="0"/>
                        <a:t>320</a:t>
                      </a:r>
                      <a:endParaRPr lang="en-AU" b="1" dirty="0"/>
                    </a:p>
                  </a:txBody>
                  <a:tcPr/>
                </a:tc>
                <a:tc>
                  <a:txBody>
                    <a:bodyPr/>
                    <a:lstStyle/>
                    <a:p>
                      <a:pPr algn="ctr"/>
                      <a:r>
                        <a:rPr lang="en-US" b="1" dirty="0"/>
                        <a:t>400</a:t>
                      </a:r>
                      <a:endParaRPr lang="en-AU" b="1" dirty="0"/>
                    </a:p>
                  </a:txBody>
                  <a:tcPr/>
                </a:tc>
                <a:tc>
                  <a:txBody>
                    <a:bodyPr/>
                    <a:lstStyle/>
                    <a:p>
                      <a:pPr algn="ctr"/>
                      <a:r>
                        <a:rPr lang="en-US" b="1" dirty="0"/>
                        <a:t>480</a:t>
                      </a:r>
                      <a:endParaRPr lang="en-AU" b="1" dirty="0"/>
                    </a:p>
                  </a:txBody>
                  <a:tcPr/>
                </a:tc>
                <a:extLst>
                  <a:ext uri="{0D108BD9-81ED-4DB2-BD59-A6C34878D82A}">
                    <a16:rowId xmlns:a16="http://schemas.microsoft.com/office/drawing/2014/main" val="3757391864"/>
                  </a:ext>
                </a:extLst>
              </a:tr>
            </a:tbl>
          </a:graphicData>
        </a:graphic>
      </p:graphicFrame>
    </p:spTree>
    <p:extLst>
      <p:ext uri="{BB962C8B-B14F-4D97-AF65-F5344CB8AC3E}">
        <p14:creationId xmlns:p14="http://schemas.microsoft.com/office/powerpoint/2010/main" val="2485699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2" descr="Graph Paper to Print - 1cm Squared Paper PDF">
            <a:extLst>
              <a:ext uri="{FF2B5EF4-FFF2-40B4-BE49-F238E27FC236}">
                <a16:creationId xmlns:a16="http://schemas.microsoft.com/office/drawing/2014/main" id="{039AEDE6-F456-84E5-B875-775806108B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1308773" y="-475577"/>
            <a:ext cx="5776479" cy="8160424"/>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D06562B5-5FDB-D9C7-AC6A-0C4E36DD9A42}"/>
              </a:ext>
            </a:extLst>
          </p:cNvPr>
          <p:cNvCxnSpPr>
            <a:cxnSpLocks/>
          </p:cNvCxnSpPr>
          <p:nvPr/>
        </p:nvCxnSpPr>
        <p:spPr>
          <a:xfrm>
            <a:off x="821742" y="914400"/>
            <a:ext cx="0" cy="5402127"/>
          </a:xfrm>
          <a:prstGeom prst="straightConnector1">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3C44045A-E75C-0F9C-59DF-B7482E00EE4C}"/>
              </a:ext>
            </a:extLst>
          </p:cNvPr>
          <p:cNvCxnSpPr>
            <a:cxnSpLocks/>
          </p:cNvCxnSpPr>
          <p:nvPr/>
        </p:nvCxnSpPr>
        <p:spPr>
          <a:xfrm>
            <a:off x="116800" y="5642776"/>
            <a:ext cx="7926369" cy="0"/>
          </a:xfrm>
          <a:prstGeom prst="straightConnector1">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8DA941F-C96B-BB2A-3889-ACF5244360AC}"/>
              </a:ext>
            </a:extLst>
          </p:cNvPr>
          <p:cNvSpPr txBox="1"/>
          <p:nvPr/>
        </p:nvSpPr>
        <p:spPr>
          <a:xfrm>
            <a:off x="8442664" y="1305017"/>
            <a:ext cx="3169328" cy="646331"/>
          </a:xfrm>
          <a:prstGeom prst="rect">
            <a:avLst/>
          </a:prstGeom>
          <a:noFill/>
        </p:spPr>
        <p:txBody>
          <a:bodyPr wrap="square" rtlCol="0">
            <a:spAutoFit/>
          </a:bodyPr>
          <a:lstStyle/>
          <a:p>
            <a:r>
              <a:rPr lang="en-US" dirty="0"/>
              <a:t>Match the line to the table of values.</a:t>
            </a:r>
            <a:endParaRPr lang="en-AU" dirty="0"/>
          </a:p>
        </p:txBody>
      </p:sp>
      <p:graphicFrame>
        <p:nvGraphicFramePr>
          <p:cNvPr id="12" name="Table 12">
            <a:extLst>
              <a:ext uri="{FF2B5EF4-FFF2-40B4-BE49-F238E27FC236}">
                <a16:creationId xmlns:a16="http://schemas.microsoft.com/office/drawing/2014/main" id="{AA96CD34-45CA-13DB-9C0E-75B4FC344E6C}"/>
              </a:ext>
            </a:extLst>
          </p:cNvPr>
          <p:cNvGraphicFramePr>
            <a:graphicFrameLocks noGrp="1"/>
          </p:cNvGraphicFramePr>
          <p:nvPr>
            <p:extLst>
              <p:ext uri="{D42A27DB-BD31-4B8C-83A1-F6EECF244321}">
                <p14:modId xmlns:p14="http://schemas.microsoft.com/office/powerpoint/2010/main" val="4087847220"/>
              </p:ext>
            </p:extLst>
          </p:nvPr>
        </p:nvGraphicFramePr>
        <p:xfrm>
          <a:off x="7614665" y="1973228"/>
          <a:ext cx="4460535" cy="792480"/>
        </p:xfrm>
        <a:graphic>
          <a:graphicData uri="http://schemas.openxmlformats.org/drawingml/2006/table">
            <a:tbl>
              <a:tblPr firstRow="1" bandRow="1">
                <a:tableStyleId>{5C22544A-7EE6-4342-B048-85BDC9FD1C3A}</a:tableStyleId>
              </a:tblPr>
              <a:tblGrid>
                <a:gridCol w="892107">
                  <a:extLst>
                    <a:ext uri="{9D8B030D-6E8A-4147-A177-3AD203B41FA5}">
                      <a16:colId xmlns:a16="http://schemas.microsoft.com/office/drawing/2014/main" val="728339805"/>
                    </a:ext>
                  </a:extLst>
                </a:gridCol>
                <a:gridCol w="892107">
                  <a:extLst>
                    <a:ext uri="{9D8B030D-6E8A-4147-A177-3AD203B41FA5}">
                      <a16:colId xmlns:a16="http://schemas.microsoft.com/office/drawing/2014/main" val="671434413"/>
                    </a:ext>
                  </a:extLst>
                </a:gridCol>
                <a:gridCol w="892107">
                  <a:extLst>
                    <a:ext uri="{9D8B030D-6E8A-4147-A177-3AD203B41FA5}">
                      <a16:colId xmlns:a16="http://schemas.microsoft.com/office/drawing/2014/main" val="1122473069"/>
                    </a:ext>
                  </a:extLst>
                </a:gridCol>
                <a:gridCol w="892107">
                  <a:extLst>
                    <a:ext uri="{9D8B030D-6E8A-4147-A177-3AD203B41FA5}">
                      <a16:colId xmlns:a16="http://schemas.microsoft.com/office/drawing/2014/main" val="1938265155"/>
                    </a:ext>
                  </a:extLst>
                </a:gridCol>
                <a:gridCol w="892107">
                  <a:extLst>
                    <a:ext uri="{9D8B030D-6E8A-4147-A177-3AD203B41FA5}">
                      <a16:colId xmlns:a16="http://schemas.microsoft.com/office/drawing/2014/main" val="1134907617"/>
                    </a:ext>
                  </a:extLst>
                </a:gridCol>
              </a:tblGrid>
              <a:tr h="323162">
                <a:tc>
                  <a:txBody>
                    <a:bodyPr/>
                    <a:lstStyle/>
                    <a:p>
                      <a:pPr algn="ctr"/>
                      <a:r>
                        <a:rPr lang="en-US" sz="2000" b="1" dirty="0"/>
                        <a:t>X</a:t>
                      </a:r>
                      <a:endParaRPr lang="en-AU" sz="2000" b="1" dirty="0"/>
                    </a:p>
                  </a:txBody>
                  <a:tcPr/>
                </a:tc>
                <a:tc>
                  <a:txBody>
                    <a:bodyPr/>
                    <a:lstStyle/>
                    <a:p>
                      <a:pPr algn="ctr"/>
                      <a:r>
                        <a:rPr lang="en-US" sz="2000" b="1" dirty="0"/>
                        <a:t>0</a:t>
                      </a:r>
                      <a:endParaRPr lang="en-AU" sz="2000" b="1" dirty="0"/>
                    </a:p>
                  </a:txBody>
                  <a:tcPr/>
                </a:tc>
                <a:tc>
                  <a:txBody>
                    <a:bodyPr/>
                    <a:lstStyle/>
                    <a:p>
                      <a:pPr algn="ctr"/>
                      <a:r>
                        <a:rPr lang="en-US" sz="2000" b="1" dirty="0"/>
                        <a:t>1</a:t>
                      </a:r>
                      <a:endParaRPr lang="en-AU" sz="2000" b="1" dirty="0"/>
                    </a:p>
                  </a:txBody>
                  <a:tcPr/>
                </a:tc>
                <a:tc>
                  <a:txBody>
                    <a:bodyPr/>
                    <a:lstStyle/>
                    <a:p>
                      <a:pPr algn="ctr"/>
                      <a:r>
                        <a:rPr lang="en-US" sz="2000" b="1" dirty="0"/>
                        <a:t>2</a:t>
                      </a:r>
                      <a:endParaRPr lang="en-AU" sz="2000" b="1" dirty="0"/>
                    </a:p>
                  </a:txBody>
                  <a:tcPr/>
                </a:tc>
                <a:tc>
                  <a:txBody>
                    <a:bodyPr/>
                    <a:lstStyle/>
                    <a:p>
                      <a:pPr algn="ctr"/>
                      <a:r>
                        <a:rPr lang="en-US" sz="2000" b="1" dirty="0"/>
                        <a:t>3</a:t>
                      </a:r>
                      <a:endParaRPr lang="en-AU" sz="2000" b="1" dirty="0"/>
                    </a:p>
                  </a:txBody>
                  <a:tcPr/>
                </a:tc>
                <a:extLst>
                  <a:ext uri="{0D108BD9-81ED-4DB2-BD59-A6C34878D82A}">
                    <a16:rowId xmlns:a16="http://schemas.microsoft.com/office/drawing/2014/main" val="1707340611"/>
                  </a:ext>
                </a:extLst>
              </a:tr>
              <a:tr h="323162">
                <a:tc>
                  <a:txBody>
                    <a:bodyPr/>
                    <a:lstStyle/>
                    <a:p>
                      <a:pPr algn="ctr"/>
                      <a:r>
                        <a:rPr lang="en-US" sz="2000" b="1" dirty="0"/>
                        <a:t>y</a:t>
                      </a:r>
                      <a:endParaRPr lang="en-AU" sz="2000" b="1" dirty="0"/>
                    </a:p>
                  </a:txBody>
                  <a:tcPr/>
                </a:tc>
                <a:tc>
                  <a:txBody>
                    <a:bodyPr/>
                    <a:lstStyle/>
                    <a:p>
                      <a:pPr algn="ctr"/>
                      <a:r>
                        <a:rPr lang="en-US" sz="2000" b="1" dirty="0"/>
                        <a:t>1</a:t>
                      </a:r>
                      <a:endParaRPr lang="en-AU" sz="2000" b="1" dirty="0"/>
                    </a:p>
                  </a:txBody>
                  <a:tcPr/>
                </a:tc>
                <a:tc>
                  <a:txBody>
                    <a:bodyPr/>
                    <a:lstStyle/>
                    <a:p>
                      <a:pPr algn="ctr"/>
                      <a:r>
                        <a:rPr lang="en-US" sz="2000" b="1" dirty="0"/>
                        <a:t>2</a:t>
                      </a:r>
                      <a:endParaRPr lang="en-AU" sz="2000" b="1" dirty="0"/>
                    </a:p>
                  </a:txBody>
                  <a:tcPr/>
                </a:tc>
                <a:tc>
                  <a:txBody>
                    <a:bodyPr/>
                    <a:lstStyle/>
                    <a:p>
                      <a:pPr algn="ctr"/>
                      <a:r>
                        <a:rPr lang="en-US" sz="2000" b="1" dirty="0"/>
                        <a:t>3</a:t>
                      </a:r>
                      <a:endParaRPr lang="en-AU" sz="2000" b="1" dirty="0"/>
                    </a:p>
                  </a:txBody>
                  <a:tcPr/>
                </a:tc>
                <a:tc>
                  <a:txBody>
                    <a:bodyPr/>
                    <a:lstStyle/>
                    <a:p>
                      <a:pPr algn="ctr"/>
                      <a:r>
                        <a:rPr lang="en-US" sz="2000" b="1" dirty="0"/>
                        <a:t>4</a:t>
                      </a:r>
                      <a:endParaRPr lang="en-AU" sz="2000" b="1" dirty="0"/>
                    </a:p>
                  </a:txBody>
                  <a:tcPr/>
                </a:tc>
                <a:extLst>
                  <a:ext uri="{0D108BD9-81ED-4DB2-BD59-A6C34878D82A}">
                    <a16:rowId xmlns:a16="http://schemas.microsoft.com/office/drawing/2014/main" val="2724721173"/>
                  </a:ext>
                </a:extLst>
              </a:tr>
            </a:tbl>
          </a:graphicData>
        </a:graphic>
      </p:graphicFrame>
      <p:graphicFrame>
        <p:nvGraphicFramePr>
          <p:cNvPr id="13" name="Table 12">
            <a:extLst>
              <a:ext uri="{FF2B5EF4-FFF2-40B4-BE49-F238E27FC236}">
                <a16:creationId xmlns:a16="http://schemas.microsoft.com/office/drawing/2014/main" id="{E157A250-D284-6C6E-4732-8990D0DDAF09}"/>
              </a:ext>
            </a:extLst>
          </p:cNvPr>
          <p:cNvGraphicFramePr>
            <a:graphicFrameLocks noGrp="1"/>
          </p:cNvGraphicFramePr>
          <p:nvPr>
            <p:extLst>
              <p:ext uri="{D42A27DB-BD31-4B8C-83A1-F6EECF244321}">
                <p14:modId xmlns:p14="http://schemas.microsoft.com/office/powerpoint/2010/main" val="1198997676"/>
              </p:ext>
            </p:extLst>
          </p:nvPr>
        </p:nvGraphicFramePr>
        <p:xfrm>
          <a:off x="7614665" y="3208181"/>
          <a:ext cx="4460535" cy="792480"/>
        </p:xfrm>
        <a:graphic>
          <a:graphicData uri="http://schemas.openxmlformats.org/drawingml/2006/table">
            <a:tbl>
              <a:tblPr firstRow="1" bandRow="1">
                <a:tableStyleId>{5C22544A-7EE6-4342-B048-85BDC9FD1C3A}</a:tableStyleId>
              </a:tblPr>
              <a:tblGrid>
                <a:gridCol w="892107">
                  <a:extLst>
                    <a:ext uri="{9D8B030D-6E8A-4147-A177-3AD203B41FA5}">
                      <a16:colId xmlns:a16="http://schemas.microsoft.com/office/drawing/2014/main" val="728339805"/>
                    </a:ext>
                  </a:extLst>
                </a:gridCol>
                <a:gridCol w="892107">
                  <a:extLst>
                    <a:ext uri="{9D8B030D-6E8A-4147-A177-3AD203B41FA5}">
                      <a16:colId xmlns:a16="http://schemas.microsoft.com/office/drawing/2014/main" val="671434413"/>
                    </a:ext>
                  </a:extLst>
                </a:gridCol>
                <a:gridCol w="892107">
                  <a:extLst>
                    <a:ext uri="{9D8B030D-6E8A-4147-A177-3AD203B41FA5}">
                      <a16:colId xmlns:a16="http://schemas.microsoft.com/office/drawing/2014/main" val="1122473069"/>
                    </a:ext>
                  </a:extLst>
                </a:gridCol>
                <a:gridCol w="892107">
                  <a:extLst>
                    <a:ext uri="{9D8B030D-6E8A-4147-A177-3AD203B41FA5}">
                      <a16:colId xmlns:a16="http://schemas.microsoft.com/office/drawing/2014/main" val="1938265155"/>
                    </a:ext>
                  </a:extLst>
                </a:gridCol>
                <a:gridCol w="892107">
                  <a:extLst>
                    <a:ext uri="{9D8B030D-6E8A-4147-A177-3AD203B41FA5}">
                      <a16:colId xmlns:a16="http://schemas.microsoft.com/office/drawing/2014/main" val="1134907617"/>
                    </a:ext>
                  </a:extLst>
                </a:gridCol>
              </a:tblGrid>
              <a:tr h="323162">
                <a:tc>
                  <a:txBody>
                    <a:bodyPr/>
                    <a:lstStyle/>
                    <a:p>
                      <a:pPr algn="ctr"/>
                      <a:r>
                        <a:rPr lang="en-US" sz="2000" b="1" dirty="0"/>
                        <a:t>X</a:t>
                      </a:r>
                      <a:endParaRPr lang="en-AU" sz="2000" b="1" dirty="0"/>
                    </a:p>
                  </a:txBody>
                  <a:tcPr/>
                </a:tc>
                <a:tc>
                  <a:txBody>
                    <a:bodyPr/>
                    <a:lstStyle/>
                    <a:p>
                      <a:pPr algn="ctr"/>
                      <a:r>
                        <a:rPr lang="en-US" sz="2000" b="1" dirty="0"/>
                        <a:t>1</a:t>
                      </a:r>
                      <a:endParaRPr lang="en-AU" sz="2000" b="1" dirty="0"/>
                    </a:p>
                  </a:txBody>
                  <a:tcPr/>
                </a:tc>
                <a:tc>
                  <a:txBody>
                    <a:bodyPr/>
                    <a:lstStyle/>
                    <a:p>
                      <a:pPr algn="ctr"/>
                      <a:r>
                        <a:rPr lang="en-US" sz="2000" b="1" dirty="0"/>
                        <a:t>2</a:t>
                      </a:r>
                      <a:endParaRPr lang="en-AU" sz="2000" b="1" dirty="0"/>
                    </a:p>
                  </a:txBody>
                  <a:tcPr/>
                </a:tc>
                <a:tc>
                  <a:txBody>
                    <a:bodyPr/>
                    <a:lstStyle/>
                    <a:p>
                      <a:pPr algn="ctr"/>
                      <a:r>
                        <a:rPr lang="en-US" sz="2000" b="1" dirty="0"/>
                        <a:t>3</a:t>
                      </a:r>
                      <a:endParaRPr lang="en-AU" sz="2000" b="1" dirty="0"/>
                    </a:p>
                  </a:txBody>
                  <a:tcPr/>
                </a:tc>
                <a:tc>
                  <a:txBody>
                    <a:bodyPr/>
                    <a:lstStyle/>
                    <a:p>
                      <a:pPr algn="ctr"/>
                      <a:r>
                        <a:rPr lang="en-US" sz="2000" b="1" dirty="0"/>
                        <a:t>4</a:t>
                      </a:r>
                      <a:endParaRPr lang="en-AU" sz="2000" b="1" dirty="0"/>
                    </a:p>
                  </a:txBody>
                  <a:tcPr/>
                </a:tc>
                <a:extLst>
                  <a:ext uri="{0D108BD9-81ED-4DB2-BD59-A6C34878D82A}">
                    <a16:rowId xmlns:a16="http://schemas.microsoft.com/office/drawing/2014/main" val="1707340611"/>
                  </a:ext>
                </a:extLst>
              </a:tr>
              <a:tr h="323162">
                <a:tc>
                  <a:txBody>
                    <a:bodyPr/>
                    <a:lstStyle/>
                    <a:p>
                      <a:pPr algn="ctr"/>
                      <a:r>
                        <a:rPr lang="en-US" sz="2000" b="1" dirty="0"/>
                        <a:t>y</a:t>
                      </a:r>
                      <a:endParaRPr lang="en-AU" sz="2000" b="1" dirty="0"/>
                    </a:p>
                  </a:txBody>
                  <a:tcPr/>
                </a:tc>
                <a:tc>
                  <a:txBody>
                    <a:bodyPr/>
                    <a:lstStyle/>
                    <a:p>
                      <a:pPr algn="ctr"/>
                      <a:r>
                        <a:rPr lang="en-US" sz="2000" b="1" dirty="0"/>
                        <a:t>2</a:t>
                      </a:r>
                      <a:endParaRPr lang="en-AU" sz="2000" b="1" dirty="0"/>
                    </a:p>
                  </a:txBody>
                  <a:tcPr/>
                </a:tc>
                <a:tc>
                  <a:txBody>
                    <a:bodyPr/>
                    <a:lstStyle/>
                    <a:p>
                      <a:pPr algn="ctr"/>
                      <a:r>
                        <a:rPr lang="en-US" sz="2000" b="1" dirty="0"/>
                        <a:t>4</a:t>
                      </a:r>
                      <a:endParaRPr lang="en-AU" sz="2000" b="1" dirty="0"/>
                    </a:p>
                  </a:txBody>
                  <a:tcPr/>
                </a:tc>
                <a:tc>
                  <a:txBody>
                    <a:bodyPr/>
                    <a:lstStyle/>
                    <a:p>
                      <a:pPr algn="ctr"/>
                      <a:r>
                        <a:rPr lang="en-US" sz="2000" b="1" dirty="0"/>
                        <a:t>6</a:t>
                      </a:r>
                      <a:endParaRPr lang="en-AU" sz="2000" b="1" dirty="0"/>
                    </a:p>
                  </a:txBody>
                  <a:tcPr/>
                </a:tc>
                <a:tc>
                  <a:txBody>
                    <a:bodyPr/>
                    <a:lstStyle/>
                    <a:p>
                      <a:pPr algn="ctr"/>
                      <a:r>
                        <a:rPr lang="en-US" sz="2000" b="1" dirty="0"/>
                        <a:t>8</a:t>
                      </a:r>
                      <a:endParaRPr lang="en-AU" sz="2000" b="1" dirty="0"/>
                    </a:p>
                  </a:txBody>
                  <a:tcPr/>
                </a:tc>
                <a:extLst>
                  <a:ext uri="{0D108BD9-81ED-4DB2-BD59-A6C34878D82A}">
                    <a16:rowId xmlns:a16="http://schemas.microsoft.com/office/drawing/2014/main" val="2724721173"/>
                  </a:ext>
                </a:extLst>
              </a:tr>
            </a:tbl>
          </a:graphicData>
        </a:graphic>
      </p:graphicFrame>
      <p:cxnSp>
        <p:nvCxnSpPr>
          <p:cNvPr id="15" name="Straight Connector 14">
            <a:extLst>
              <a:ext uri="{FF2B5EF4-FFF2-40B4-BE49-F238E27FC236}">
                <a16:creationId xmlns:a16="http://schemas.microsoft.com/office/drawing/2014/main" id="{02397C99-0544-7076-2693-4FE3BD40982F}"/>
              </a:ext>
            </a:extLst>
          </p:cNvPr>
          <p:cNvCxnSpPr/>
          <p:nvPr/>
        </p:nvCxnSpPr>
        <p:spPr>
          <a:xfrm flipV="1">
            <a:off x="821742" y="914400"/>
            <a:ext cx="4478227" cy="4465468"/>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BD26CCD-3103-E1C5-EFA7-1E47C1A7A706}"/>
              </a:ext>
            </a:extLst>
          </p:cNvPr>
          <p:cNvCxnSpPr/>
          <p:nvPr/>
        </p:nvCxnSpPr>
        <p:spPr>
          <a:xfrm flipV="1">
            <a:off x="821742" y="914400"/>
            <a:ext cx="2383362" cy="472837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0F3A8D6-614A-4890-86B7-CA2CD4A695CC}"/>
              </a:ext>
            </a:extLst>
          </p:cNvPr>
          <p:cNvCxnSpPr/>
          <p:nvPr/>
        </p:nvCxnSpPr>
        <p:spPr>
          <a:xfrm flipV="1">
            <a:off x="821742" y="994299"/>
            <a:ext cx="7132650" cy="409260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0627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94635-AEEF-A23F-0AC1-38E9DF046849}"/>
              </a:ext>
            </a:extLst>
          </p:cNvPr>
          <p:cNvSpPr>
            <a:spLocks noGrp="1"/>
          </p:cNvSpPr>
          <p:nvPr>
            <p:ph type="ctrTitle"/>
          </p:nvPr>
        </p:nvSpPr>
        <p:spPr/>
        <p:txBody>
          <a:bodyPr/>
          <a:lstStyle/>
          <a:p>
            <a:r>
              <a:rPr lang="en-US" dirty="0"/>
              <a:t>Practice task/homework</a:t>
            </a:r>
            <a:endParaRPr lang="en-AU" dirty="0"/>
          </a:p>
        </p:txBody>
      </p:sp>
      <p:sp>
        <p:nvSpPr>
          <p:cNvPr id="3" name="Content Placeholder 2">
            <a:extLst>
              <a:ext uri="{FF2B5EF4-FFF2-40B4-BE49-F238E27FC236}">
                <a16:creationId xmlns:a16="http://schemas.microsoft.com/office/drawing/2014/main" id="{A5A606CC-B951-E0DD-A1A3-F950D6A76C8C}"/>
              </a:ext>
            </a:extLst>
          </p:cNvPr>
          <p:cNvSpPr>
            <a:spLocks noGrp="1"/>
          </p:cNvSpPr>
          <p:nvPr>
            <p:ph type="subTitle" idx="1"/>
          </p:nvPr>
        </p:nvSpPr>
        <p:spPr/>
        <p:txBody>
          <a:bodyPr/>
          <a:lstStyle/>
          <a:p>
            <a:pPr marL="0" indent="0">
              <a:buNone/>
            </a:pPr>
            <a:r>
              <a:rPr lang="en-US" dirty="0"/>
              <a:t>Complete puzzle </a:t>
            </a:r>
            <a:r>
              <a:rPr lang="en-US"/>
              <a:t>sheet from yesterday! </a:t>
            </a:r>
            <a:endParaRPr lang="en-AU" dirty="0"/>
          </a:p>
        </p:txBody>
      </p:sp>
    </p:spTree>
    <p:extLst>
      <p:ext uri="{BB962C8B-B14F-4D97-AF65-F5344CB8AC3E}">
        <p14:creationId xmlns:p14="http://schemas.microsoft.com/office/powerpoint/2010/main" val="34619142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P3 1">
      <a:dk1>
        <a:srgbClr val="000000"/>
      </a:dk1>
      <a:lt1>
        <a:srgbClr val="FFFFFF"/>
      </a:lt1>
      <a:dk2>
        <a:srgbClr val="D3B3FF"/>
      </a:dk2>
      <a:lt2>
        <a:srgbClr val="D9CBFE"/>
      </a:lt2>
      <a:accent1>
        <a:srgbClr val="97DFFE"/>
      </a:accent1>
      <a:accent2>
        <a:srgbClr val="BEFCB5"/>
      </a:accent2>
      <a:accent3>
        <a:srgbClr val="FFFD90"/>
      </a:accent3>
      <a:accent4>
        <a:srgbClr val="FEE699"/>
      </a:accent4>
      <a:accent5>
        <a:srgbClr val="FEDADB"/>
      </a:accent5>
      <a:accent6>
        <a:srgbClr val="FFB7AC"/>
      </a:accent6>
      <a:hlink>
        <a:srgbClr val="D9CBFE"/>
      </a:hlink>
      <a:folHlink>
        <a:srgbClr val="D3B3F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5 Factorising to double brackets.potx" id="{2ABD0240-5869-D742-8569-1FD3318009AF}" vid="{BA2D123A-C9E9-3043-B567-4DED4C6E3B9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TotalTime>
  <Words>902</Words>
  <Application>Microsoft Office PowerPoint</Application>
  <PresentationFormat>Widescreen</PresentationFormat>
  <Paragraphs>303</Paragraphs>
  <Slides>19</Slides>
  <Notes>2</Notes>
  <HiddenSlides>2</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19</vt:i4>
      </vt:variant>
    </vt:vector>
  </HeadingPairs>
  <TitlesOfParts>
    <vt:vector size="26" baseType="lpstr">
      <vt:lpstr>Arial</vt:lpstr>
      <vt:lpstr>Calibri</vt:lpstr>
      <vt:lpstr>Calibri Light</vt:lpstr>
      <vt:lpstr>Cambria Math</vt:lpstr>
      <vt:lpstr>Wingdings</vt:lpstr>
      <vt:lpstr>Office Theme</vt:lpstr>
      <vt:lpstr>1_Office Theme</vt:lpstr>
      <vt:lpstr>Lesson objective </vt:lpstr>
      <vt:lpstr>PowerPoint Presentation</vt:lpstr>
      <vt:lpstr>PowerPoint Presentation</vt:lpstr>
      <vt:lpstr>Demonstration </vt:lpstr>
      <vt:lpstr>Line Graphs</vt:lpstr>
      <vt:lpstr>Table of values </vt:lpstr>
      <vt:lpstr>Table of values </vt:lpstr>
      <vt:lpstr>**Table of values** </vt:lpstr>
      <vt:lpstr>Whiteboards </vt:lpstr>
      <vt:lpstr>Whiteboards – write the equation </vt:lpstr>
      <vt:lpstr>Whiteboards – write the equation </vt:lpstr>
      <vt:lpstr>Whiteboards – write the equation </vt:lpstr>
      <vt:lpstr>Whiteboards – write the equation </vt:lpstr>
      <vt:lpstr>**Table of values** </vt:lpstr>
      <vt:lpstr>Where are they? </vt:lpstr>
      <vt:lpstr>PowerPoint Presentation</vt:lpstr>
      <vt:lpstr>Describing graphs </vt:lpstr>
      <vt:lpstr>PowerPoint Presentation</vt:lpstr>
      <vt:lpstr>Practice task/homework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objective</dc:title>
  <dc:creator>DAVIES Rhys [Busselton Senior High School]</dc:creator>
  <cp:lastModifiedBy>DAVIES Rhys [Busselton Senior High School]</cp:lastModifiedBy>
  <cp:revision>12</cp:revision>
  <dcterms:created xsi:type="dcterms:W3CDTF">2022-11-14T23:02:35Z</dcterms:created>
  <dcterms:modified xsi:type="dcterms:W3CDTF">2023-10-26T00:16:44Z</dcterms:modified>
</cp:coreProperties>
</file>
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63" r:id="rId5"/>
    <p:sldId id="291" r:id="rId6"/>
    <p:sldId id="266" r:id="rId7"/>
    <p:sldId id="267" r:id="rId8"/>
    <p:sldId id="292" r:id="rId9"/>
    <p:sldId id="289" r:id="rId10"/>
    <p:sldId id="293" r:id="rId11"/>
    <p:sldId id="283" r:id="rId12"/>
    <p:sldId id="294" r:id="rId13"/>
    <p:sldId id="272" r:id="rId14"/>
    <p:sldId id="295" r:id="rId15"/>
    <p:sldId id="288" r:id="rId16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275DA-ED79-4557-B304-3496CC393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BB289-C18A-49C9-AE8D-51098FA0D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42387-6522-4272-B406-CF156ACE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4EC6-2F71-4986-B466-C407829D05D1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9C46E-F48E-412F-A513-333DE913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34E08-8627-4F18-B308-4850C12F3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BF57-2147-40F0-A4F2-CB0C7CC00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558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6C82E-BB4B-408A-B0B3-098C86448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A8D86-7792-46BC-9F24-AB29FFE31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76A97-BD50-43B8-A1ED-C9946A4A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4EC6-2F71-4986-B466-C407829D05D1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145C2-04B7-4C85-B3A7-C3214A394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9F2CB-53F0-4344-9983-F487B80C6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BF57-2147-40F0-A4F2-CB0C7CC00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619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965D8-9CB6-4962-BF13-959D4A13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5AA89-3614-48FD-A9C7-F183103C0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AA04E-8E0A-454B-83B4-548C9BC91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4EC6-2F71-4986-B466-C407829D05D1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D9875-50E9-4321-9DDF-F16FC738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246D9-2462-453D-9095-7A107CDA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BF57-2147-40F0-A4F2-CB0C7CC00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779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8EF1-F7ED-46F7-B143-0D74F6F83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5F03E-9652-4115-A048-CF756DD30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683FA-068D-430A-8752-F313F51CB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11E94-DE66-4BAD-B7F1-2A085D06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4EC6-2F71-4986-B466-C407829D05D1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3908D-CD19-4EB0-B9F1-A3987150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7D9C5-8F07-4534-AF74-FD51B344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BF57-2147-40F0-A4F2-CB0C7CC00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832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1FB8A-3BFE-4B04-AD75-394E1D6F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43051-F62B-418A-8963-075E610FF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499F7-DD00-4B8C-8295-E1689CEB6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E1E4DB-3677-4506-A982-F28B6BCD2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ADF99-DEB6-4DE8-93BE-FFC1F8BA3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879D32-0585-421A-ABE1-8CC601ABC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4EC6-2F71-4986-B466-C407829D05D1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7E691-A84F-4F54-BAA5-075B749DB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B5EE82-38ED-49E5-9380-1C516D34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BF57-2147-40F0-A4F2-CB0C7CC00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356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D3705-B04D-4385-B3D9-2DC7BFF01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41D65-9EAF-430E-9D75-0EFD5866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4EC6-2F71-4986-B466-C407829D05D1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5FB857-D2CB-4297-8AA0-75FA50A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9155C-1D5B-4D49-A704-407E1D671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BF57-2147-40F0-A4F2-CB0C7CC00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8111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5E336-80EF-4181-B795-09327CB8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4EC6-2F71-4986-B466-C407829D05D1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C3083-62F8-4F15-91A2-B7E5DC00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03BA1-47E3-471F-A045-B096310E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BF57-2147-40F0-A4F2-CB0C7CC00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9342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28CA1-F270-4E5C-B47C-829E2A46E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4A431-0F69-43CC-8480-E81700247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96B80-540A-4E0D-9BD4-A202DF3F1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B1B52-0AD8-4EC4-A66D-170A095D4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4EC6-2F71-4986-B466-C407829D05D1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B47D8-4A8B-4DAB-B081-B5C6AE58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EAA6A-B13F-4C6A-B838-4C5D323B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BF57-2147-40F0-A4F2-CB0C7CC00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7024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0659-D9B2-464D-92E0-26B4864DA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545094-C84D-439F-A8DF-2268B31D0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1CD15-F4F5-4AC9-983A-FF03F84C3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F4A80-E583-4D94-B4C7-31EF8867E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4EC6-2F71-4986-B466-C407829D05D1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096E2-D0FB-485F-A09D-F859D029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EC55A-8046-40CE-9D80-49348CE4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BF57-2147-40F0-A4F2-CB0C7CC00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1381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5AAF-A663-4596-9F64-6D6F1C5D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C66FD-EE64-44FF-B8A2-A5FA11F0E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AD4F6-A5A8-41D3-810E-B18807D5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4EC6-2F71-4986-B466-C407829D05D1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2DCAF-50EC-4C90-8886-825159AA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5BE59-9702-4829-BCC0-78329183C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BF57-2147-40F0-A4F2-CB0C7CC00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335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E61FE5-3A0D-43E9-9B47-EC5C43AB9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86C19-68C6-426F-ACD8-1B39B9BF5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508D9-D3C6-4963-97F1-FADEF0058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4EC6-2F71-4986-B466-C407829D05D1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98E33-BDBE-4982-A437-0FA5C4AE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FDCDF-C2DA-44F0-8946-885439C04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4BF57-2147-40F0-A4F2-CB0C7CC00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5294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688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06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12192000" cy="55446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4505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4386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96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5508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3582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00929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0919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07451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9443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0119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897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3106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18371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49642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5046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46138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9081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2325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58941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3059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2505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ED327-E6B2-430C-A5A9-5C25A669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0E645-9FE3-4FD0-B5E0-ACF47F804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C3B1B-7405-428F-9000-6FB643B9C8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E4EC6-2F71-4986-B466-C407829D05D1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C3EAB-F0CF-42AF-AFF3-1E61F8DBB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2723E-E43E-45DA-883B-AB56386DA3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4BF57-2147-40F0-A4F2-CB0C7CC005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9738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1405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E513D-9A6C-41A0-B29B-2DD98424723B}" type="datetimeFigureOut">
              <a:rPr lang="en-AU" smtClean="0"/>
              <a:t>17/10/2023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D1C5F-360D-4DED-B502-78C21CED9A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46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8CD864-1ACD-4207-8A0C-604A7F6A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20BD67-B0CC-49D4-8458-3F5E2E107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7117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Title: Real life linear</a:t>
            </a:r>
          </a:p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bg1"/>
                </a:solidFill>
              </a:rPr>
              <a:t> Create rules from real life linear problems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bg1"/>
                </a:solidFill>
              </a:rPr>
              <a:t> Plot and compare from a table of values 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Review: creating rules </a:t>
            </a:r>
          </a:p>
          <a:p>
            <a:pPr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Plotting from real life situations</a:t>
            </a:r>
          </a:p>
          <a:p>
            <a:pPr>
              <a:buFontTx/>
              <a:buChar char="-"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339BCC-51CC-4ACE-96E8-EE34773CF581}"/>
              </a:ext>
            </a:extLst>
          </p:cNvPr>
          <p:cNvSpPr txBox="1"/>
          <p:nvPr/>
        </p:nvSpPr>
        <p:spPr>
          <a:xfrm>
            <a:off x="8600560" y="1825624"/>
            <a:ext cx="330530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Whiteboards rulers and calculators.</a:t>
            </a:r>
          </a:p>
          <a:p>
            <a:endParaRPr lang="en-US" sz="2800" b="1" dirty="0">
              <a:highlight>
                <a:srgbClr val="FFFF00"/>
              </a:highlight>
            </a:endParaRPr>
          </a:p>
          <a:p>
            <a:r>
              <a:rPr lang="en-US" sz="2800" b="1" dirty="0" err="1">
                <a:highlight>
                  <a:srgbClr val="00FF00"/>
                </a:highlight>
              </a:rPr>
              <a:t>PBiS</a:t>
            </a:r>
            <a:r>
              <a:rPr lang="en-US" sz="2800" b="1" dirty="0">
                <a:highlight>
                  <a:srgbClr val="00FF00"/>
                </a:highlight>
              </a:rPr>
              <a:t> focus: Empathy</a:t>
            </a:r>
          </a:p>
          <a:p>
            <a:r>
              <a:rPr lang="en-US" sz="2800" b="1" dirty="0">
                <a:highlight>
                  <a:srgbClr val="00FF00"/>
                </a:highlight>
              </a:rPr>
              <a:t>Support and include others.</a:t>
            </a:r>
            <a:endParaRPr lang="en-AU" sz="28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8729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B86D-C118-478C-9A6B-42A4E7EC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Demonstration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D50F80-55E1-4980-9E7D-29B4541B2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3" y="1619666"/>
            <a:ext cx="8292910" cy="1965247"/>
          </a:xfrm>
          <a:prstGeom prst="rect">
            <a:avLst/>
          </a:prstGeom>
        </p:spPr>
      </p:pic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E741ED63-1C1C-429F-AB6C-D5623202EF8B}"/>
              </a:ext>
            </a:extLst>
          </p:cNvPr>
          <p:cNvGraphicFramePr>
            <a:graphicFrameLocks noGrp="1"/>
          </p:cNvGraphicFramePr>
          <p:nvPr/>
        </p:nvGraphicFramePr>
        <p:xfrm>
          <a:off x="1792303" y="3833614"/>
          <a:ext cx="812800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90375572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7024574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1952774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6428785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2223534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85230465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49169346"/>
                    </a:ext>
                  </a:extLst>
                </a:gridCol>
              </a:tblGrid>
              <a:tr h="46615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Number of shapes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5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450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Number of matches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6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16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1377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B351FE-B405-40A0-89E2-010C2EE5F19B}"/>
              </a:ext>
            </a:extLst>
          </p:cNvPr>
          <p:cNvSpPr txBox="1"/>
          <p:nvPr/>
        </p:nvSpPr>
        <p:spPr>
          <a:xfrm>
            <a:off x="1476653" y="6060560"/>
            <a:ext cx="9966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RULE: Number of matches = ______ x the number of shapes + ________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82E90-9692-0407-7837-B39C403B76C8}"/>
              </a:ext>
            </a:extLst>
          </p:cNvPr>
          <p:cNvSpPr txBox="1"/>
          <p:nvPr/>
        </p:nvSpPr>
        <p:spPr>
          <a:xfrm>
            <a:off x="8890838" y="207231"/>
            <a:ext cx="33011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a table of values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Determine where the pattern starts (0 shapes)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 the common difference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a rule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4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81806-275C-48CB-92BE-49A5F94E4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You try 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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whiteboards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6101D73A-FDA5-41BD-B047-904C67618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08" y="4086270"/>
            <a:ext cx="11548872" cy="27717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994BED-F210-4A6A-A93A-F22EA581FF2C}"/>
              </a:ext>
            </a:extLst>
          </p:cNvPr>
          <p:cNvSpPr txBox="1"/>
          <p:nvPr/>
        </p:nvSpPr>
        <p:spPr>
          <a:xfrm>
            <a:off x="509520" y="3709377"/>
            <a:ext cx="9966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RULE: Number of matches = ______ x the number of shapes + ________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103D96-2ED8-47F3-96DA-160AC5444C65}"/>
              </a:ext>
            </a:extLst>
          </p:cNvPr>
          <p:cNvSpPr txBox="1"/>
          <p:nvPr/>
        </p:nvSpPr>
        <p:spPr>
          <a:xfrm>
            <a:off x="8886240" y="1345565"/>
            <a:ext cx="33011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a table of values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Determine where the pattern starts (0 shapes)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 the common difference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a rule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509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1806-275C-48CB-92BE-49A5F94E4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You try 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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whiteboards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88E77D-9AE8-48FA-9D40-5DA91F7A3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40" y="4708867"/>
            <a:ext cx="10061907" cy="1464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73D0B1-11BC-4A8A-BCFD-57997C7B8A08}"/>
              </a:ext>
            </a:extLst>
          </p:cNvPr>
          <p:cNvSpPr txBox="1"/>
          <p:nvPr/>
        </p:nvSpPr>
        <p:spPr>
          <a:xfrm>
            <a:off x="966740" y="4178824"/>
            <a:ext cx="9966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RULE: Number of matches = ______ x the number of shapes + 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F33C77-D6C6-8F33-2137-B634A60198C9}"/>
              </a:ext>
            </a:extLst>
          </p:cNvPr>
          <p:cNvSpPr txBox="1"/>
          <p:nvPr/>
        </p:nvSpPr>
        <p:spPr>
          <a:xfrm>
            <a:off x="8886240" y="1345565"/>
            <a:ext cx="33011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a table of values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Determine where the pattern starts (0 shapes)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 the common difference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a rule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5839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1806-275C-48CB-92BE-49A5F94E4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You try 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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whiteboards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1AAC8B-61EC-42D5-A31E-37552EF8E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2" y="4629150"/>
            <a:ext cx="8985852" cy="1743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7FD7B8-DDFF-7C76-09F6-4DAEC195DE0D}"/>
              </a:ext>
            </a:extLst>
          </p:cNvPr>
          <p:cNvSpPr txBox="1"/>
          <p:nvPr/>
        </p:nvSpPr>
        <p:spPr>
          <a:xfrm>
            <a:off x="8890838" y="1397675"/>
            <a:ext cx="33011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a table of values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Determine where the pattern starts (0 shapes)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 the common difference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a rule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6018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263134"/>
          </a:xfrm>
        </p:spPr>
        <p:txBody>
          <a:bodyPr>
            <a:normAutofit fontScale="90000"/>
          </a:bodyPr>
          <a:lstStyle/>
          <a:p>
            <a:r>
              <a:rPr lang="en-AU" dirty="0"/>
              <a:t>When, oh when, would I ever use this nonsense?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556792"/>
            <a:ext cx="12191999" cy="4525963"/>
          </a:xfrm>
        </p:spPr>
        <p:txBody>
          <a:bodyPr/>
          <a:lstStyle/>
          <a:p>
            <a:r>
              <a:rPr lang="en-AU" dirty="0" err="1"/>
              <a:t>StopYaLeaking</a:t>
            </a:r>
            <a:r>
              <a:rPr lang="en-AU" dirty="0"/>
              <a:t> Plumbing charges a $100 callout fee then $70 per hour</a:t>
            </a:r>
          </a:p>
          <a:p>
            <a:r>
              <a:rPr lang="en-AU" dirty="0" err="1"/>
              <a:t>SteadyFlow</a:t>
            </a:r>
            <a:r>
              <a:rPr lang="en-AU" dirty="0"/>
              <a:t> Plumbing charges a straight $100 per hour</a:t>
            </a:r>
          </a:p>
          <a:p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089309"/>
              </p:ext>
            </p:extLst>
          </p:nvPr>
        </p:nvGraphicFramePr>
        <p:xfrm>
          <a:off x="621166" y="3098209"/>
          <a:ext cx="770675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449">
                  <a:extLst>
                    <a:ext uri="{9D8B030D-6E8A-4147-A177-3AD203B41FA5}">
                      <a16:colId xmlns:a16="http://schemas.microsoft.com/office/drawing/2014/main" val="145851181"/>
                    </a:ext>
                  </a:extLst>
                </a:gridCol>
                <a:gridCol w="895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4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5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5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5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  <a:r>
                        <a:rPr lang="en-AU" baseline="0" dirty="0"/>
                        <a:t> hours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err="1"/>
                        <a:t>StopYaLeaking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err="1"/>
                        <a:t>SteadyFlow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563316" y="4707341"/>
            <a:ext cx="57646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MAKE</a:t>
            </a:r>
            <a:r>
              <a:rPr kumimoji="0" lang="en-AU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A RULE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800" b="1" dirty="0">
                <a:solidFill>
                  <a:prstClr val="black"/>
                </a:solidFill>
                <a:latin typeface="Calibri"/>
              </a:rPr>
              <a:t>Cost (SYL) =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8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800" b="1" dirty="0">
                <a:solidFill>
                  <a:prstClr val="black"/>
                </a:solidFill>
                <a:latin typeface="Calibri"/>
              </a:rPr>
              <a:t>Cost (STF) = </a:t>
            </a:r>
            <a:r>
              <a:rPr kumimoji="0" lang="en-AU" sz="2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194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2F865C-F93F-4B66-BDF8-536772D4BD59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712055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67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67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  <a:r>
                        <a:rPr lang="en-AU" baseline="0" dirty="0"/>
                        <a:t> hours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err="1"/>
                        <a:t>StopYaLeaking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err="1"/>
                        <a:t>SteadyFlow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814AD70-9286-42BE-9956-4374DE44FF9A}"/>
              </a:ext>
            </a:extLst>
          </p:cNvPr>
          <p:cNvSpPr txBox="1"/>
          <p:nvPr/>
        </p:nvSpPr>
        <p:spPr>
          <a:xfrm>
            <a:off x="1751862" y="3913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$170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F2332F-DD74-46D0-BF07-7DFC7F95E655}"/>
              </a:ext>
            </a:extLst>
          </p:cNvPr>
          <p:cNvSpPr txBox="1"/>
          <p:nvPr/>
        </p:nvSpPr>
        <p:spPr>
          <a:xfrm>
            <a:off x="2736305" y="38446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$240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297870-A045-4512-B9BA-5AEB0427BE3D}"/>
              </a:ext>
            </a:extLst>
          </p:cNvPr>
          <p:cNvSpPr txBox="1"/>
          <p:nvPr/>
        </p:nvSpPr>
        <p:spPr>
          <a:xfrm>
            <a:off x="3816425" y="35913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$310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137D33-1E9C-4675-BFC2-640DC4D3B9E4}"/>
              </a:ext>
            </a:extLst>
          </p:cNvPr>
          <p:cNvSpPr txBox="1"/>
          <p:nvPr/>
        </p:nvSpPr>
        <p:spPr>
          <a:xfrm>
            <a:off x="4968553" y="35913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$380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69E50-0C9C-4606-9EE6-A8E11A88EDE3}"/>
              </a:ext>
            </a:extLst>
          </p:cNvPr>
          <p:cNvSpPr txBox="1"/>
          <p:nvPr/>
        </p:nvSpPr>
        <p:spPr>
          <a:xfrm>
            <a:off x="6192689" y="34331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$450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0E678-AB89-4B56-A7CA-E0C8486F7251}"/>
              </a:ext>
            </a:extLst>
          </p:cNvPr>
          <p:cNvSpPr txBox="1"/>
          <p:nvPr/>
        </p:nvSpPr>
        <p:spPr>
          <a:xfrm>
            <a:off x="1779211" y="72846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FF479E-AFE0-42EC-AA26-CE64018B215E}"/>
              </a:ext>
            </a:extLst>
          </p:cNvPr>
          <p:cNvSpPr txBox="1"/>
          <p:nvPr/>
        </p:nvSpPr>
        <p:spPr>
          <a:xfrm>
            <a:off x="2762761" y="73769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$200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B786E7-6D3A-47A0-B03F-6C031E61D3CF}"/>
              </a:ext>
            </a:extLst>
          </p:cNvPr>
          <p:cNvSpPr txBox="1"/>
          <p:nvPr/>
        </p:nvSpPr>
        <p:spPr>
          <a:xfrm>
            <a:off x="3798230" y="76273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$300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D528B2-3FFA-4109-8F29-5E7FF6A0BA17}"/>
              </a:ext>
            </a:extLst>
          </p:cNvPr>
          <p:cNvSpPr txBox="1"/>
          <p:nvPr/>
        </p:nvSpPr>
        <p:spPr>
          <a:xfrm>
            <a:off x="4968552" y="738043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$400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1C3F0C-687C-4933-9591-4109B6049FF1}"/>
              </a:ext>
            </a:extLst>
          </p:cNvPr>
          <p:cNvSpPr txBox="1"/>
          <p:nvPr/>
        </p:nvSpPr>
        <p:spPr>
          <a:xfrm>
            <a:off x="6192427" y="72159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$500</a:t>
            </a:r>
          </a:p>
        </p:txBody>
      </p:sp>
      <p:pic>
        <p:nvPicPr>
          <p:cNvPr id="19" name="Picture 2" descr="Graph Paper to Print - 1cm Squared Paper PDF">
            <a:extLst>
              <a:ext uri="{FF2B5EF4-FFF2-40B4-BE49-F238E27FC236}">
                <a16:creationId xmlns:a16="http://schemas.microsoft.com/office/drawing/2014/main" id="{2FC64B0C-41D6-4A9A-A7FE-3CBA1A346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857612" y="-142426"/>
            <a:ext cx="5932277" cy="8380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06BAE-6B27-4846-82E3-EF3560E5583C}"/>
              </a:ext>
            </a:extLst>
          </p:cNvPr>
          <p:cNvCxnSpPr/>
          <p:nvPr/>
        </p:nvCxnSpPr>
        <p:spPr>
          <a:xfrm flipV="1">
            <a:off x="2974019" y="1633491"/>
            <a:ext cx="0" cy="450985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1FF6805-E8A4-493E-A14E-899EC9C7E04A}"/>
              </a:ext>
            </a:extLst>
          </p:cNvPr>
          <p:cNvCxnSpPr/>
          <p:nvPr/>
        </p:nvCxnSpPr>
        <p:spPr>
          <a:xfrm>
            <a:off x="2965142" y="6125592"/>
            <a:ext cx="600130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4CF72A-C6B8-4E3C-9CC9-71C8EEBFAF87}"/>
              </a:ext>
            </a:extLst>
          </p:cNvPr>
          <p:cNvSpPr txBox="1"/>
          <p:nvPr/>
        </p:nvSpPr>
        <p:spPr>
          <a:xfrm>
            <a:off x="3355851" y="6083664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47FC69-2F40-4DEB-99B6-5039456BA5A3}"/>
              </a:ext>
            </a:extLst>
          </p:cNvPr>
          <p:cNvSpPr txBox="1"/>
          <p:nvPr/>
        </p:nvSpPr>
        <p:spPr>
          <a:xfrm>
            <a:off x="3950564" y="6083664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EB65CF-6281-420B-A959-D14F7BA13F99}"/>
              </a:ext>
            </a:extLst>
          </p:cNvPr>
          <p:cNvSpPr txBox="1"/>
          <p:nvPr/>
        </p:nvSpPr>
        <p:spPr>
          <a:xfrm>
            <a:off x="4496540" y="6058972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3D6A7C-3665-4DF4-823D-606A73423E08}"/>
              </a:ext>
            </a:extLst>
          </p:cNvPr>
          <p:cNvSpPr txBox="1"/>
          <p:nvPr/>
        </p:nvSpPr>
        <p:spPr>
          <a:xfrm>
            <a:off x="5073680" y="6053827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EB68D0-9946-4ED4-94E3-83A8570AE689}"/>
              </a:ext>
            </a:extLst>
          </p:cNvPr>
          <p:cNvSpPr txBox="1"/>
          <p:nvPr/>
        </p:nvSpPr>
        <p:spPr>
          <a:xfrm>
            <a:off x="5646380" y="6058972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72219E-CAB3-435E-A675-8B44229EA9D0}"/>
              </a:ext>
            </a:extLst>
          </p:cNvPr>
          <p:cNvSpPr txBox="1"/>
          <p:nvPr/>
        </p:nvSpPr>
        <p:spPr>
          <a:xfrm>
            <a:off x="6190324" y="6074807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BDE0F2-BE3E-40D1-B8A2-E967E27FB4B0}"/>
              </a:ext>
            </a:extLst>
          </p:cNvPr>
          <p:cNvSpPr txBox="1"/>
          <p:nvPr/>
        </p:nvSpPr>
        <p:spPr>
          <a:xfrm>
            <a:off x="2325948" y="5338123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100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D75D88-DE5E-4D05-A73B-EB7E5E574A7E}"/>
              </a:ext>
            </a:extLst>
          </p:cNvPr>
          <p:cNvSpPr txBox="1"/>
          <p:nvPr/>
        </p:nvSpPr>
        <p:spPr>
          <a:xfrm>
            <a:off x="2352581" y="4791341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200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6F213A-2AB7-44B5-8334-0019BEC92C80}"/>
              </a:ext>
            </a:extLst>
          </p:cNvPr>
          <p:cNvSpPr txBox="1"/>
          <p:nvPr/>
        </p:nvSpPr>
        <p:spPr>
          <a:xfrm>
            <a:off x="2343583" y="4229134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300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CC42FE-C599-4B4D-8995-881A7743BAED}"/>
              </a:ext>
            </a:extLst>
          </p:cNvPr>
          <p:cNvSpPr txBox="1"/>
          <p:nvPr/>
        </p:nvSpPr>
        <p:spPr>
          <a:xfrm>
            <a:off x="2352581" y="3646511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400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53FB7A-3864-4D19-8A83-8174122360CD}"/>
              </a:ext>
            </a:extLst>
          </p:cNvPr>
          <p:cNvSpPr txBox="1"/>
          <p:nvPr/>
        </p:nvSpPr>
        <p:spPr>
          <a:xfrm>
            <a:off x="2352581" y="3092051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500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5097F3-59B8-479C-A0E7-F8D160E49E41}"/>
              </a:ext>
            </a:extLst>
          </p:cNvPr>
          <p:cNvSpPr txBox="1"/>
          <p:nvPr/>
        </p:nvSpPr>
        <p:spPr>
          <a:xfrm>
            <a:off x="9070759" y="5852831"/>
            <a:ext cx="95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Hours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68A84E-FF8D-407F-9668-5A27B14FA91D}"/>
              </a:ext>
            </a:extLst>
          </p:cNvPr>
          <p:cNvSpPr txBox="1"/>
          <p:nvPr/>
        </p:nvSpPr>
        <p:spPr>
          <a:xfrm>
            <a:off x="2211651" y="1229568"/>
            <a:ext cx="95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Cost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0031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2F865C-F93F-4B66-BDF8-536772D4B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64413"/>
              </p:ext>
            </p:extLst>
          </p:nvPr>
        </p:nvGraphicFramePr>
        <p:xfrm>
          <a:off x="0" y="0"/>
          <a:ext cx="787563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072">
                  <a:extLst>
                    <a:ext uri="{9D8B030D-6E8A-4147-A177-3AD203B41FA5}">
                      <a16:colId xmlns:a16="http://schemas.microsoft.com/office/drawing/2014/main" val="3406989849"/>
                    </a:ext>
                  </a:extLst>
                </a:gridCol>
                <a:gridCol w="915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0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00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00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  <a:r>
                        <a:rPr lang="en-AU" baseline="0" dirty="0"/>
                        <a:t> hours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err="1"/>
                        <a:t>StopYaLeaking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err="1"/>
                        <a:t>SteadyFlow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9" name="Picture 2" descr="Graph Paper to Print - 1cm Squared Paper PDF">
            <a:extLst>
              <a:ext uri="{FF2B5EF4-FFF2-40B4-BE49-F238E27FC236}">
                <a16:creationId xmlns:a16="http://schemas.microsoft.com/office/drawing/2014/main" id="{2FC64B0C-41D6-4A9A-A7FE-3CBA1A346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857612" y="-142426"/>
            <a:ext cx="5932277" cy="8380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06BAE-6B27-4846-82E3-EF3560E5583C}"/>
              </a:ext>
            </a:extLst>
          </p:cNvPr>
          <p:cNvCxnSpPr/>
          <p:nvPr/>
        </p:nvCxnSpPr>
        <p:spPr>
          <a:xfrm flipV="1">
            <a:off x="2974019" y="1633491"/>
            <a:ext cx="0" cy="450985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1FF6805-E8A4-493E-A14E-899EC9C7E04A}"/>
              </a:ext>
            </a:extLst>
          </p:cNvPr>
          <p:cNvCxnSpPr/>
          <p:nvPr/>
        </p:nvCxnSpPr>
        <p:spPr>
          <a:xfrm>
            <a:off x="2965142" y="6125592"/>
            <a:ext cx="600130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4CF72A-C6B8-4E3C-9CC9-71C8EEBFAF87}"/>
              </a:ext>
            </a:extLst>
          </p:cNvPr>
          <p:cNvSpPr txBox="1"/>
          <p:nvPr/>
        </p:nvSpPr>
        <p:spPr>
          <a:xfrm>
            <a:off x="3355851" y="6083664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47FC69-2F40-4DEB-99B6-5039456BA5A3}"/>
              </a:ext>
            </a:extLst>
          </p:cNvPr>
          <p:cNvSpPr txBox="1"/>
          <p:nvPr/>
        </p:nvSpPr>
        <p:spPr>
          <a:xfrm>
            <a:off x="3950564" y="6083664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EB65CF-6281-420B-A959-D14F7BA13F99}"/>
              </a:ext>
            </a:extLst>
          </p:cNvPr>
          <p:cNvSpPr txBox="1"/>
          <p:nvPr/>
        </p:nvSpPr>
        <p:spPr>
          <a:xfrm>
            <a:off x="4496540" y="6058972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3D6A7C-3665-4DF4-823D-606A73423E08}"/>
              </a:ext>
            </a:extLst>
          </p:cNvPr>
          <p:cNvSpPr txBox="1"/>
          <p:nvPr/>
        </p:nvSpPr>
        <p:spPr>
          <a:xfrm>
            <a:off x="5073680" y="6053827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EB68D0-9946-4ED4-94E3-83A8570AE689}"/>
              </a:ext>
            </a:extLst>
          </p:cNvPr>
          <p:cNvSpPr txBox="1"/>
          <p:nvPr/>
        </p:nvSpPr>
        <p:spPr>
          <a:xfrm>
            <a:off x="5646380" y="6058972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72219E-CAB3-435E-A675-8B44229EA9D0}"/>
              </a:ext>
            </a:extLst>
          </p:cNvPr>
          <p:cNvSpPr txBox="1"/>
          <p:nvPr/>
        </p:nvSpPr>
        <p:spPr>
          <a:xfrm>
            <a:off x="6190324" y="6074807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BDE0F2-BE3E-40D1-B8A2-E967E27FB4B0}"/>
              </a:ext>
            </a:extLst>
          </p:cNvPr>
          <p:cNvSpPr txBox="1"/>
          <p:nvPr/>
        </p:nvSpPr>
        <p:spPr>
          <a:xfrm>
            <a:off x="2325948" y="5338123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100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D75D88-DE5E-4D05-A73B-EB7E5E574A7E}"/>
              </a:ext>
            </a:extLst>
          </p:cNvPr>
          <p:cNvSpPr txBox="1"/>
          <p:nvPr/>
        </p:nvSpPr>
        <p:spPr>
          <a:xfrm>
            <a:off x="2352581" y="4791341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200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6F213A-2AB7-44B5-8334-0019BEC92C80}"/>
              </a:ext>
            </a:extLst>
          </p:cNvPr>
          <p:cNvSpPr txBox="1"/>
          <p:nvPr/>
        </p:nvSpPr>
        <p:spPr>
          <a:xfrm>
            <a:off x="2343583" y="4229134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300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CC42FE-C599-4B4D-8995-881A7743BAED}"/>
              </a:ext>
            </a:extLst>
          </p:cNvPr>
          <p:cNvSpPr txBox="1"/>
          <p:nvPr/>
        </p:nvSpPr>
        <p:spPr>
          <a:xfrm>
            <a:off x="2352581" y="3646511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400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53FB7A-3864-4D19-8A83-8174122360CD}"/>
              </a:ext>
            </a:extLst>
          </p:cNvPr>
          <p:cNvSpPr txBox="1"/>
          <p:nvPr/>
        </p:nvSpPr>
        <p:spPr>
          <a:xfrm>
            <a:off x="2352581" y="3092051"/>
            <a:ext cx="6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500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5097F3-59B8-479C-A0E7-F8D160E49E41}"/>
              </a:ext>
            </a:extLst>
          </p:cNvPr>
          <p:cNvSpPr txBox="1"/>
          <p:nvPr/>
        </p:nvSpPr>
        <p:spPr>
          <a:xfrm>
            <a:off x="9070759" y="5852831"/>
            <a:ext cx="95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Hours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68A84E-FF8D-407F-9668-5A27B14FA91D}"/>
              </a:ext>
            </a:extLst>
          </p:cNvPr>
          <p:cNvSpPr txBox="1"/>
          <p:nvPr/>
        </p:nvSpPr>
        <p:spPr>
          <a:xfrm>
            <a:off x="2211651" y="1229568"/>
            <a:ext cx="952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/>
              </a:rPr>
              <a:t>Cost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8808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479" y="895735"/>
            <a:ext cx="2700861" cy="587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When, oh when, would I ever use this </a:t>
            </a:r>
            <a:br>
              <a:rPr lang="en-AU" dirty="0"/>
            </a:br>
            <a:r>
              <a:rPr lang="en-AU" dirty="0"/>
              <a:t>	nonsense?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552" y="1394933"/>
            <a:ext cx="10818942" cy="4525963"/>
          </a:xfrm>
        </p:spPr>
        <p:txBody>
          <a:bodyPr>
            <a:normAutofit/>
          </a:bodyPr>
          <a:lstStyle/>
          <a:p>
            <a:r>
              <a:rPr lang="en-AU" sz="2800" dirty="0" err="1"/>
              <a:t>SafenSound</a:t>
            </a:r>
            <a:r>
              <a:rPr lang="en-AU" sz="2800" dirty="0"/>
              <a:t> Taxis charge $5 </a:t>
            </a:r>
            <a:r>
              <a:rPr lang="en-AU" sz="2800" dirty="0" err="1"/>
              <a:t>flagfall</a:t>
            </a:r>
            <a:r>
              <a:rPr lang="en-AU" sz="2800" dirty="0"/>
              <a:t> then $1 per km</a:t>
            </a:r>
          </a:p>
          <a:p>
            <a:r>
              <a:rPr lang="en-AU" sz="2800" dirty="0" err="1"/>
              <a:t>FastnFurious</a:t>
            </a:r>
            <a:r>
              <a:rPr lang="en-AU" sz="2800" dirty="0"/>
              <a:t> Taxis charge $2 </a:t>
            </a:r>
            <a:r>
              <a:rPr lang="en-AU" sz="2800" dirty="0" err="1"/>
              <a:t>flagfall</a:t>
            </a:r>
            <a:r>
              <a:rPr lang="en-AU" sz="2800" dirty="0"/>
              <a:t> then $2 per km</a:t>
            </a:r>
          </a:p>
          <a:p>
            <a:endParaRPr lang="en-AU" sz="2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523060"/>
              </p:ext>
            </p:extLst>
          </p:nvPr>
        </p:nvGraphicFramePr>
        <p:xfrm>
          <a:off x="376614" y="4922245"/>
          <a:ext cx="7666373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757">
                  <a:extLst>
                    <a:ext uri="{9D8B030D-6E8A-4147-A177-3AD203B41FA5}">
                      <a16:colId xmlns:a16="http://schemas.microsoft.com/office/drawing/2014/main" val="1177821515"/>
                    </a:ext>
                  </a:extLst>
                </a:gridCol>
                <a:gridCol w="890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9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92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92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Table of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 km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  <a:r>
                        <a:rPr lang="en-AU" baseline="0" dirty="0"/>
                        <a:t> km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 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err="1"/>
                        <a:t>SafenSound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err="1"/>
                        <a:t>FastnFurious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23AA82F-4F33-4EE9-9DDA-2A5DF8FC833E}"/>
              </a:ext>
            </a:extLst>
          </p:cNvPr>
          <p:cNvSpPr txBox="1"/>
          <p:nvPr/>
        </p:nvSpPr>
        <p:spPr>
          <a:xfrm>
            <a:off x="111928" y="2599627"/>
            <a:ext cx="56847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Complete a table of values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Plot each sequence on a number plane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 a rule for each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is cheaper after 9kms?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54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878" y="1783335"/>
            <a:ext cx="1507950" cy="3277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When, oh when, would I ever use this </a:t>
            </a:r>
            <a:br>
              <a:rPr lang="en-AU" dirty="0"/>
            </a:br>
            <a:r>
              <a:rPr lang="en-AU" dirty="0"/>
              <a:t>	nonsense?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552" y="1394933"/>
            <a:ext cx="5194920" cy="4525963"/>
          </a:xfrm>
        </p:spPr>
        <p:txBody>
          <a:bodyPr>
            <a:normAutofit/>
          </a:bodyPr>
          <a:lstStyle/>
          <a:p>
            <a:r>
              <a:rPr lang="en-AU" sz="2800" dirty="0" err="1"/>
              <a:t>SafenSound</a:t>
            </a:r>
            <a:r>
              <a:rPr lang="en-AU" sz="2800" dirty="0"/>
              <a:t> Taxis charge $5 </a:t>
            </a:r>
            <a:r>
              <a:rPr lang="en-AU" sz="2800" dirty="0" err="1"/>
              <a:t>flagfall</a:t>
            </a:r>
            <a:r>
              <a:rPr lang="en-AU" sz="2800" dirty="0"/>
              <a:t> then $1 per km</a:t>
            </a:r>
          </a:p>
          <a:p>
            <a:r>
              <a:rPr lang="en-AU" sz="2800" dirty="0" err="1"/>
              <a:t>FastnFurious</a:t>
            </a:r>
            <a:r>
              <a:rPr lang="en-AU" sz="2800" dirty="0"/>
              <a:t> Taxis charge $2 </a:t>
            </a:r>
            <a:r>
              <a:rPr lang="en-AU" sz="2800" dirty="0" err="1"/>
              <a:t>flagfall</a:t>
            </a:r>
            <a:r>
              <a:rPr lang="en-AU" sz="2800" dirty="0"/>
              <a:t> then $2 per km</a:t>
            </a:r>
          </a:p>
          <a:p>
            <a:endParaRPr lang="en-AU" sz="2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7994" y="5659532"/>
          <a:ext cx="712055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67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67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  <a:r>
                        <a:rPr lang="en-AU" baseline="0" dirty="0"/>
                        <a:t> km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 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err="1"/>
                        <a:t>SafenSound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err="1"/>
                        <a:t>FastnFurious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69855" y="605093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4298" y="60439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4418" y="60186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6546" y="60186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0682" y="600284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7204" y="638799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754" y="639722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6223" y="64222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6545" y="639757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420" y="638112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$12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94" y="3282857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119" y="1760955"/>
            <a:ext cx="1488109" cy="3309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539" y="1807467"/>
            <a:ext cx="1468268" cy="3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3AA82F-4F33-4EE9-9DDA-2A5DF8FC833E}"/>
              </a:ext>
            </a:extLst>
          </p:cNvPr>
          <p:cNvSpPr txBox="1"/>
          <p:nvPr/>
        </p:nvSpPr>
        <p:spPr>
          <a:xfrm>
            <a:off x="7945515" y="1677880"/>
            <a:ext cx="32669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Complete a table of values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Plot each sequence on a number plane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 a rule for each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is cheaper after 9kms?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616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068" y="160338"/>
            <a:ext cx="4337273" cy="60704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747" y="8831"/>
            <a:ext cx="6697731" cy="691470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Who to choose?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8976" y="661147"/>
            <a:ext cx="6214394" cy="4645241"/>
          </a:xfrm>
        </p:spPr>
        <p:txBody>
          <a:bodyPr>
            <a:normAutofit fontScale="92500" lnSpcReduction="10000"/>
          </a:bodyPr>
          <a:lstStyle/>
          <a:p>
            <a:r>
              <a:rPr lang="en-AU" sz="2400" b="1" dirty="0"/>
              <a:t>Shocking </a:t>
            </a:r>
            <a:r>
              <a:rPr lang="en-AU" sz="2400" dirty="0"/>
              <a:t>Electrical</a:t>
            </a:r>
            <a:r>
              <a:rPr lang="en-AU" sz="2400" b="1" dirty="0"/>
              <a:t> </a:t>
            </a:r>
            <a:r>
              <a:rPr lang="en-AU" sz="2400" dirty="0"/>
              <a:t>Services charges $100 callout fee then $90 per hour</a:t>
            </a:r>
          </a:p>
          <a:p>
            <a:r>
              <a:rPr lang="en-AU" sz="2400" b="1" dirty="0" err="1"/>
              <a:t>DownToEarth</a:t>
            </a:r>
            <a:r>
              <a:rPr lang="en-AU" sz="2400" dirty="0"/>
              <a:t> Electricians charge a flat $110 per hour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Complete the table and draw the graphs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Which service would you choose, and why?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For jobs that are ………. hours long, I would choose …………… because …….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How much would the cheapest company charge for a full week-long (38 hour) job?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How can you tell from the graph when both companies charge the same amount?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The graph shows when both companies charge the same amount because…………</a:t>
            </a:r>
          </a:p>
        </p:txBody>
      </p:sp>
      <p:sp>
        <p:nvSpPr>
          <p:cNvPr id="4" name="AutoShape 2" descr="Image result for electrical service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AutoShape 5" descr="Image result for electrical services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641424"/>
              </p:ext>
            </p:extLst>
          </p:nvPr>
        </p:nvGraphicFramePr>
        <p:xfrm>
          <a:off x="487276" y="5458408"/>
          <a:ext cx="6855915" cy="12947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9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28">
                  <a:extLst>
                    <a:ext uri="{9D8B030D-6E8A-4147-A177-3AD203B41FA5}">
                      <a16:colId xmlns:a16="http://schemas.microsoft.com/office/drawing/2014/main" val="2056418909"/>
                    </a:ext>
                  </a:extLst>
                </a:gridCol>
                <a:gridCol w="85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2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7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27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568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0</a:t>
                      </a:r>
                      <a:r>
                        <a:rPr lang="en-AU" baseline="0" dirty="0"/>
                        <a:t> hr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 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0" dirty="0"/>
                        <a:t> hr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 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 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 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56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Shocking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568">
                <a:tc>
                  <a:txBody>
                    <a:bodyPr/>
                    <a:lstStyle/>
                    <a:p>
                      <a:pPr algn="ctr"/>
                      <a:r>
                        <a:rPr lang="en-AU" dirty="0" err="1"/>
                        <a:t>DownToEarth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0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642" y="20939"/>
            <a:ext cx="3047359" cy="42650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1" y="1226"/>
            <a:ext cx="6697731" cy="691470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Who to choose?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6214394" cy="4645241"/>
          </a:xfrm>
        </p:spPr>
        <p:txBody>
          <a:bodyPr>
            <a:normAutofit fontScale="92500" lnSpcReduction="10000"/>
          </a:bodyPr>
          <a:lstStyle/>
          <a:p>
            <a:r>
              <a:rPr lang="en-AU" sz="2400" b="1" dirty="0"/>
              <a:t>Shocking </a:t>
            </a:r>
            <a:r>
              <a:rPr lang="en-AU" sz="2400" dirty="0"/>
              <a:t>Electrical</a:t>
            </a:r>
            <a:r>
              <a:rPr lang="en-AU" sz="2400" b="1" dirty="0"/>
              <a:t> </a:t>
            </a:r>
            <a:r>
              <a:rPr lang="en-AU" sz="2400" dirty="0"/>
              <a:t>Services charges $100 callout fee then $90 per hour</a:t>
            </a:r>
          </a:p>
          <a:p>
            <a:r>
              <a:rPr lang="en-AU" sz="2400" b="1" dirty="0" err="1"/>
              <a:t>DownToEarth</a:t>
            </a:r>
            <a:r>
              <a:rPr lang="en-AU" sz="2400" dirty="0"/>
              <a:t> Electricians charge a flat $110 per hour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Complete the table and draw the graphs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Which service would you choose, and why?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For jobs that are ………. hours long, I would choose …………… because …….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How much would the cheapest company charge for a full week-long (38 hour) job?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How can you tell from the graph when both companies charge the same amount?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The graph shows when both companies charge the same amount because…………</a:t>
            </a:r>
          </a:p>
        </p:txBody>
      </p:sp>
      <p:sp>
        <p:nvSpPr>
          <p:cNvPr id="4" name="AutoShape 2" descr="Image result for electrical service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208" y="5024450"/>
            <a:ext cx="2613994" cy="1739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5" descr="Image result for electrical services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59832" y="5337937"/>
          <a:ext cx="621438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6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936">
                  <a:extLst>
                    <a:ext uri="{9D8B030D-6E8A-4147-A177-3AD203B41FA5}">
                      <a16:colId xmlns:a16="http://schemas.microsoft.com/office/drawing/2014/main" val="2056418909"/>
                    </a:ext>
                  </a:extLst>
                </a:gridCol>
                <a:gridCol w="772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2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0</a:t>
                      </a:r>
                      <a:r>
                        <a:rPr lang="en-AU" baseline="0" dirty="0"/>
                        <a:t> hr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 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0" dirty="0"/>
                        <a:t> hr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 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 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 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Shocking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err="1"/>
                        <a:t>DownToEarth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176032" y="5743575"/>
            <a:ext cx="688242" cy="285832"/>
          </a:xfrm>
          <a:prstGeom prst="rect">
            <a:avLst/>
          </a:prstGeom>
          <a:solidFill>
            <a:srgbClr val="FCD5B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62055" y="5748087"/>
            <a:ext cx="688242" cy="285832"/>
          </a:xfrm>
          <a:prstGeom prst="rect">
            <a:avLst/>
          </a:prstGeom>
          <a:solidFill>
            <a:srgbClr val="FCD5B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37993" y="5751281"/>
            <a:ext cx="688242" cy="285832"/>
          </a:xfrm>
          <a:prstGeom prst="rect">
            <a:avLst/>
          </a:prstGeom>
          <a:solidFill>
            <a:srgbClr val="FCD5B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75126" y="5751281"/>
            <a:ext cx="688242" cy="285832"/>
          </a:xfrm>
          <a:prstGeom prst="rect">
            <a:avLst/>
          </a:prstGeom>
          <a:solidFill>
            <a:srgbClr val="FCD5B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80552" y="5743575"/>
            <a:ext cx="688242" cy="285832"/>
          </a:xfrm>
          <a:prstGeom prst="rect">
            <a:avLst/>
          </a:prstGeom>
          <a:solidFill>
            <a:srgbClr val="FCD5B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42436" y="5743575"/>
            <a:ext cx="688242" cy="285832"/>
          </a:xfrm>
          <a:prstGeom prst="rect">
            <a:avLst/>
          </a:prstGeom>
          <a:solidFill>
            <a:srgbClr val="FCD5B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06679" y="6092504"/>
            <a:ext cx="688242" cy="285832"/>
          </a:xfrm>
          <a:prstGeom prst="rect">
            <a:avLst/>
          </a:prstGeom>
          <a:solidFill>
            <a:srgbClr val="FCD5B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984105" y="6097016"/>
            <a:ext cx="688242" cy="285832"/>
          </a:xfrm>
          <a:prstGeom prst="rect">
            <a:avLst/>
          </a:prstGeom>
          <a:solidFill>
            <a:srgbClr val="FCD5B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760043" y="6100210"/>
            <a:ext cx="688242" cy="285832"/>
          </a:xfrm>
          <a:prstGeom prst="rect">
            <a:avLst/>
          </a:prstGeom>
          <a:solidFill>
            <a:srgbClr val="FCD5B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97176" y="6100210"/>
            <a:ext cx="688242" cy="285832"/>
          </a:xfrm>
          <a:prstGeom prst="rect">
            <a:avLst/>
          </a:prstGeom>
          <a:solidFill>
            <a:srgbClr val="FCD5B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02602" y="6092504"/>
            <a:ext cx="688242" cy="285832"/>
          </a:xfrm>
          <a:prstGeom prst="rect">
            <a:avLst/>
          </a:prstGeom>
          <a:solidFill>
            <a:srgbClr val="FCD5B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64486" y="6092504"/>
            <a:ext cx="688242" cy="285832"/>
          </a:xfrm>
          <a:prstGeom prst="rect">
            <a:avLst/>
          </a:prstGeom>
          <a:solidFill>
            <a:srgbClr val="FCD5B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4220" y="3378699"/>
            <a:ext cx="272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4043" y="2940514"/>
            <a:ext cx="272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9307" y="2501917"/>
            <a:ext cx="272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0911" y="2062190"/>
            <a:ext cx="272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4857" y="1617318"/>
            <a:ext cx="272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35319" y="1393291"/>
            <a:ext cx="10358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Shocking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988675" y="1163757"/>
            <a:ext cx="272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7908013" y="905583"/>
            <a:ext cx="2647950" cy="2667001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74220" y="3860510"/>
            <a:ext cx="272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1731" y="3335330"/>
            <a:ext cx="272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59307" y="2787735"/>
            <a:ext cx="272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09001" y="2252917"/>
            <a:ext cx="272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8138" y="1716236"/>
            <a:ext cx="272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cxnSp>
        <p:nvCxnSpPr>
          <p:cNvPr id="55" name="Straight Connector 54"/>
          <p:cNvCxnSpPr/>
          <p:nvPr/>
        </p:nvCxnSpPr>
        <p:spPr>
          <a:xfrm flipV="1">
            <a:off x="7919443" y="814143"/>
            <a:ext cx="2644140" cy="323088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8494928" y="3310510"/>
            <a:ext cx="14741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DownToEarth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698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6" grpId="0"/>
      <p:bldP spid="27" grpId="0"/>
      <p:bldP spid="28" grpId="0"/>
      <p:bldP spid="29" grpId="0"/>
      <p:bldP spid="30" grpId="0"/>
      <p:bldP spid="10" grpId="0"/>
      <p:bldP spid="42" grpId="0"/>
      <p:bldP spid="44" grpId="0"/>
      <p:bldP spid="45" grpId="0"/>
      <p:bldP spid="46" grpId="0"/>
      <p:bldP spid="47" grpId="0"/>
      <p:bldP spid="48" grpId="0"/>
      <p:bldP spid="5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CA24-5319-084E-3F91-AEFD9AEE50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595D9-F415-828C-A6EE-B8E3AF1C3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Page 124</a:t>
            </a:r>
          </a:p>
          <a:p>
            <a:pPr marL="0" indent="0">
              <a:buNone/>
            </a:pPr>
            <a:r>
              <a:rPr lang="en-US" sz="2800" b="1" dirty="0"/>
              <a:t>Questions 1 – 12  </a:t>
            </a:r>
          </a:p>
          <a:p>
            <a:pPr marL="0" indent="0">
              <a:buNone/>
            </a:pPr>
            <a:r>
              <a:rPr lang="en-US" sz="2800" b="1" dirty="0"/>
              <a:t>In your exercise book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2053801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1643</TotalTime>
  <Words>782</Words>
  <Application>Microsoft Office PowerPoint</Application>
  <PresentationFormat>Widescreen</PresentationFormat>
  <Paragraphs>216</Paragraphs>
  <Slides>13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1_Office Theme</vt:lpstr>
      <vt:lpstr>2_Office Theme</vt:lpstr>
      <vt:lpstr>Lesson objective </vt:lpstr>
      <vt:lpstr>Demonstration </vt:lpstr>
      <vt:lpstr>You try  whiteboards </vt:lpstr>
      <vt:lpstr>You try  whiteboards </vt:lpstr>
      <vt:lpstr>You try  whiteboards </vt:lpstr>
      <vt:lpstr>When, oh when, would I ever use this nonsense?</vt:lpstr>
      <vt:lpstr>PowerPoint Presentation</vt:lpstr>
      <vt:lpstr>PowerPoint Presentation</vt:lpstr>
      <vt:lpstr>When, oh when, would I ever use this   nonsense?</vt:lpstr>
      <vt:lpstr>When, oh when, would I ever use this   nonsense?</vt:lpstr>
      <vt:lpstr>Who to choose?</vt:lpstr>
      <vt:lpstr>Who to choose?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16</cp:revision>
  <cp:lastPrinted>2023-10-17T00:35:33Z</cp:lastPrinted>
  <dcterms:created xsi:type="dcterms:W3CDTF">2021-11-17T12:57:25Z</dcterms:created>
  <dcterms:modified xsi:type="dcterms:W3CDTF">2023-10-18T02:03:57Z</dcterms:modified>
</cp:coreProperties>
</file>
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2"/>
  </p:notesMasterIdLst>
  <p:handoutMasterIdLst>
    <p:handoutMasterId r:id="rId23"/>
  </p:handoutMasterIdLst>
  <p:sldIdLst>
    <p:sldId id="256" r:id="rId3"/>
    <p:sldId id="282" r:id="rId4"/>
    <p:sldId id="293" r:id="rId5"/>
    <p:sldId id="269" r:id="rId6"/>
    <p:sldId id="287" r:id="rId7"/>
    <p:sldId id="286" r:id="rId8"/>
    <p:sldId id="288" r:id="rId9"/>
    <p:sldId id="335" r:id="rId10"/>
    <p:sldId id="289" r:id="rId11"/>
    <p:sldId id="336" r:id="rId12"/>
    <p:sldId id="306" r:id="rId13"/>
    <p:sldId id="337" r:id="rId14"/>
    <p:sldId id="307" r:id="rId15"/>
    <p:sldId id="338" r:id="rId16"/>
    <p:sldId id="308" r:id="rId17"/>
    <p:sldId id="309" r:id="rId18"/>
    <p:sldId id="339" r:id="rId19"/>
    <p:sldId id="340" r:id="rId20"/>
    <p:sldId id="332" r:id="rId21"/>
  </p:sldIdLst>
  <p:sldSz cx="9144000" cy="6858000" type="screen4x3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D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03" autoAdjust="0"/>
    <p:restoredTop sz="90663" autoAdjust="0"/>
  </p:normalViewPr>
  <p:slideViewPr>
    <p:cSldViewPr>
      <p:cViewPr varScale="1">
        <p:scale>
          <a:sx n="74" d="100"/>
          <a:sy n="74" d="100"/>
        </p:scale>
        <p:origin x="183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153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810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F8346E-81FB-4115-9427-72A61AB738D9}" type="datetimeFigureOut">
              <a:rPr lang="en-AU" smtClean="0"/>
              <a:t>7/11/2023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810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2E1A9-E5E3-44D2-9C6B-9DA6B87941D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40717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8AF71E-5A85-4109-BE07-D64C9AA5077F}" type="datetimeFigureOut">
              <a:rPr lang="en-AU" smtClean="0"/>
              <a:t>7/11/2023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3638" y="1241425"/>
            <a:ext cx="44672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9486"/>
            <a:ext cx="5435600" cy="3910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337F45-8617-4B8E-8793-407CD4931E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4605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Student</a:t>
            </a:r>
            <a:r>
              <a:rPr lang="en-AU" baseline="0" dirty="0"/>
              <a:t> Notes Page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337F45-8617-4B8E-8793-407CD4931E58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1483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7/11/2023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7014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926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2696"/>
            <a:ext cx="91440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7/11/2023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4714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7/11/2023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8034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7/11/2023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5508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7/11/2023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6618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7/11/2023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2561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7/11/2023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0577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7/11/2023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5067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7/11/2023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0670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7/11/2023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3366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7/11/2023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81580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27E7F-AF18-4C7C-9CEA-CB52D002FC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922085-C62D-4586-82D6-6E98A6D780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6D17C-E12D-489A-8118-64571A252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391E9-4A2A-40FF-BB25-5C59376C4EE2}" type="datetimeFigureOut">
              <a:rPr lang="en-AU" smtClean="0"/>
              <a:t>7/11/2023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F6C92-1238-4E85-95FD-E5F9227C1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34A34-1E69-49C5-9546-E9CD0496F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31EB9-6904-4DA1-BE4F-1EABC35BF6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91898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F403B-5131-4D12-8219-0FD1FE6C8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CAEDD-609B-4D8A-A01B-5D29237D7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D431E-02A8-4182-BCA5-8EA6AF369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391E9-4A2A-40FF-BB25-5C59376C4EE2}" type="datetimeFigureOut">
              <a:rPr lang="en-AU" smtClean="0"/>
              <a:t>7/11/2023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D7F0B-A436-404D-ADF8-155B43C7C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CD9FA-068D-4C67-96DB-A37A3262A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31EB9-6904-4DA1-BE4F-1EABC35BF6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05048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420A1-1736-4D87-B574-B03722E35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3AA09-A7BB-4F7D-9E26-E9C425DCD9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FE922-6487-4D7A-B873-1183F7D4F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391E9-4A2A-40FF-BB25-5C59376C4EE2}" type="datetimeFigureOut">
              <a:rPr lang="en-AU" smtClean="0"/>
              <a:t>7/11/2023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BE0A72-2438-4D65-873D-917E1FBD9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4487B-373F-44A0-AD56-3B9B7D670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31EB9-6904-4DA1-BE4F-1EABC35BF6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62656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E7AC6-B8B8-44D7-86A5-59978E392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B7FBB-B264-4601-B638-D7DA12DBB9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DB230-A97B-4416-AC42-20C7681224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E78BD8-075F-4C20-AFA6-5EE300AB7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391E9-4A2A-40FF-BB25-5C59376C4EE2}" type="datetimeFigureOut">
              <a:rPr lang="en-AU" smtClean="0"/>
              <a:t>7/11/2023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4746EF-03E4-4B0E-B2F1-327CE1C38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152790-E45D-4D85-8462-2248ABA97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31EB9-6904-4DA1-BE4F-1EABC35BF6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04972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C15C1-AE8A-4686-B36E-A76859D3C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A91366-C830-4D37-908B-952DD9B48E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D23146-6F9A-46AB-B45F-3E4D7FD334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3CF209-AEA6-482D-AD0E-F715653437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E5EF99-B67B-4E0F-BAFC-3AE9C0C789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7BAAA9-64A1-4F39-BE31-A49FCD184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391E9-4A2A-40FF-BB25-5C59376C4EE2}" type="datetimeFigureOut">
              <a:rPr lang="en-AU" smtClean="0"/>
              <a:t>7/11/2023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DB29FF-0264-4E4C-8A4E-F426DAEED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7E57F9-81C9-4C3D-8835-F01EB0062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31EB9-6904-4DA1-BE4F-1EABC35BF6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1175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FD215-CBD9-4CA9-8CE4-3B1D4DC3A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FD1A02-6E46-4286-98C7-70941E94B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391E9-4A2A-40FF-BB25-5C59376C4EE2}" type="datetimeFigureOut">
              <a:rPr lang="en-AU" smtClean="0"/>
              <a:t>7/11/2023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3E5264-A844-4583-8B0E-081A45264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F7C923-C5C5-4686-9B03-61437CE5C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31EB9-6904-4DA1-BE4F-1EABC35BF6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70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1271AA-D685-4E23-B2AF-3C929713D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391E9-4A2A-40FF-BB25-5C59376C4EE2}" type="datetimeFigureOut">
              <a:rPr lang="en-AU" smtClean="0"/>
              <a:t>7/11/2023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82D68A-70D9-4279-A561-0B5A5BED5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B50583-E90C-465F-B57E-92CAC10E3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31EB9-6904-4DA1-BE4F-1EABC35BF6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48048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D23CF-9C63-483A-BE42-264BCAD37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B857D-D1DD-48D6-9F29-C7B445095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FE3BB3-97E0-4A05-BF55-8EF42E1664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E2D28F-C55E-4A21-BDF3-B2325CB39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391E9-4A2A-40FF-BB25-5C59376C4EE2}" type="datetimeFigureOut">
              <a:rPr lang="en-AU" smtClean="0"/>
              <a:t>7/11/2023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776622-41B5-4FF9-9DFE-CC0AD7AA5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A9EFAC-910C-4BF7-A833-29B1B2AAB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31EB9-6904-4DA1-BE4F-1EABC35BF6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92875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4DADF-4AB8-42EC-A6BD-C6882AD2E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F45EA7-4EC9-4006-AE10-CA3BE8395C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04C1E2-89AB-4203-AF5A-44A815B317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C7119A-F766-4EF8-A17A-422CFE04B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391E9-4A2A-40FF-BB25-5C59376C4EE2}" type="datetimeFigureOut">
              <a:rPr lang="en-AU" smtClean="0"/>
              <a:t>7/11/2023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6E3C0F-772D-4212-A7B9-FBBF482A4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320DEA-CAC2-4A41-BD8C-97E105518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31EB9-6904-4DA1-BE4F-1EABC35BF6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78179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367E4-86BA-44C7-9CCF-28F46E13A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2BE240-38E6-4DE5-B8EA-E395674300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451E8-6093-4ED8-9CE7-10BCE8368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391E9-4A2A-40FF-BB25-5C59376C4EE2}" type="datetimeFigureOut">
              <a:rPr lang="en-AU" smtClean="0"/>
              <a:t>7/11/2023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50BBC-853D-4158-8FA1-81DDFF929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F94FC-38D1-4EB1-A734-0642AD55D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31EB9-6904-4DA1-BE4F-1EABC35BF6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48857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91F534-5443-4510-AED6-BA64FC592C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804AEE-05A8-4180-97D4-8C741DCDA4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C4B98-5256-41A0-A6CB-D71201439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391E9-4A2A-40FF-BB25-5C59376C4EE2}" type="datetimeFigureOut">
              <a:rPr lang="en-AU" smtClean="0"/>
              <a:t>7/11/2023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4F2F9-97B6-4583-9AC0-2CACD98DC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9A052-8C3B-4C5E-90E1-63467F5D9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31EB9-6904-4DA1-BE4F-1EABC35BF6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3555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4AD577-FEE9-4F71-8BB1-E3A0AC9C4BD4}" type="datetimeFigureOut">
              <a:rPr lang="en-AU" smtClean="0"/>
              <a:t>7/11/2023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52E4CD-47AA-40C7-B537-49FB7D088D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708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91BE72-81CB-4DBE-A774-48A4A6455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192B17-45F6-4257-BC7C-5468F428B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87B96-5EBD-4582-A578-D24BD3CBF5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1391E9-4A2A-40FF-BB25-5C59376C4EE2}" type="datetimeFigureOut">
              <a:rPr lang="en-AU" smtClean="0"/>
              <a:t>7/11/2023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5E624-0376-4ED7-ABB5-AF17140D18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4E7BD-8926-42F3-8F09-E0ADA8F5EA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531EB9-6904-4DA1-BE4F-1EABC35BF6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6820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E8CFF8-DE12-4B0A-A3C9-868E306FE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4951462" cy="1335682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Lesson objective 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B339297-9202-4301-ACB8-E68249D94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40768"/>
            <a:ext cx="7886700" cy="55172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chemeClr val="bg1"/>
                </a:solidFill>
              </a:rPr>
              <a:t>Title: Dot plots</a:t>
            </a:r>
          </a:p>
          <a:p>
            <a:pPr marL="0" indent="0">
              <a:buNone/>
            </a:pPr>
            <a:endParaRPr lang="en-US" sz="3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3200" dirty="0">
                <a:solidFill>
                  <a:schemeClr val="bg1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chemeClr val="bg1"/>
                </a:solidFill>
              </a:rPr>
              <a:t>Create dot plots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chemeClr val="bg1"/>
                </a:solidFill>
              </a:rPr>
              <a:t>Identify when to use dot plots </a:t>
            </a:r>
          </a:p>
          <a:p>
            <a:pPr marL="0" indent="0">
              <a:buNone/>
            </a:pPr>
            <a:r>
              <a:rPr lang="en-US" sz="3200" dirty="0">
                <a:solidFill>
                  <a:schemeClr val="bg1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sz="3200" dirty="0">
                <a:solidFill>
                  <a:schemeClr val="bg1"/>
                </a:solidFill>
              </a:rPr>
              <a:t>Purpose and features</a:t>
            </a:r>
          </a:p>
          <a:p>
            <a:pPr>
              <a:buFontTx/>
              <a:buChar char="-"/>
            </a:pPr>
            <a:r>
              <a:rPr lang="en-US" sz="3200" dirty="0">
                <a:solidFill>
                  <a:schemeClr val="bg1"/>
                </a:solidFill>
              </a:rPr>
              <a:t>Skills practice</a:t>
            </a:r>
            <a:endParaRPr lang="en-AU" sz="32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F55B67-F6B5-4028-8DE0-A0C8609977A4}"/>
              </a:ext>
            </a:extLst>
          </p:cNvPr>
          <p:cNvSpPr txBox="1"/>
          <p:nvPr/>
        </p:nvSpPr>
        <p:spPr>
          <a:xfrm>
            <a:off x="3311860" y="2236070"/>
            <a:ext cx="47885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Need whiteboards and calculators</a:t>
            </a:r>
            <a:endParaRPr lang="en-AU" sz="2400" b="1" dirty="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B02597-3034-5CAB-C0F2-DE96128770E6}"/>
              </a:ext>
            </a:extLst>
          </p:cNvPr>
          <p:cNvSpPr txBox="1"/>
          <p:nvPr/>
        </p:nvSpPr>
        <p:spPr>
          <a:xfrm>
            <a:off x="5076056" y="548680"/>
            <a:ext cx="41764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highlight>
                  <a:srgbClr val="00FF00"/>
                </a:highlight>
              </a:rPr>
              <a:t>PBiS</a:t>
            </a:r>
            <a:r>
              <a:rPr lang="en-US" sz="2400" b="1" dirty="0">
                <a:highlight>
                  <a:srgbClr val="00FF00"/>
                </a:highlight>
              </a:rPr>
              <a:t> focus </a:t>
            </a:r>
          </a:p>
          <a:p>
            <a:r>
              <a:rPr lang="en-US" sz="2400" b="1" dirty="0">
                <a:highlight>
                  <a:srgbClr val="00FF00"/>
                </a:highlight>
              </a:rPr>
              <a:t>Respect – each other</a:t>
            </a:r>
          </a:p>
          <a:p>
            <a:r>
              <a:rPr lang="en-US" sz="2400" b="1" dirty="0">
                <a:highlight>
                  <a:srgbClr val="00FF00"/>
                </a:highlight>
              </a:rPr>
              <a:t>Achieve – attempting all tasks</a:t>
            </a:r>
            <a:endParaRPr lang="en-AU" sz="2400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764801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Which graph?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2696"/>
            <a:ext cx="9144000" cy="6165304"/>
          </a:xfrm>
        </p:spPr>
        <p:txBody>
          <a:bodyPr>
            <a:normAutofit/>
          </a:bodyPr>
          <a:lstStyle/>
          <a:p>
            <a:r>
              <a:rPr lang="en-AU" sz="2800" dirty="0"/>
              <a:t>Where there is a </a:t>
            </a:r>
            <a:r>
              <a:rPr lang="en-AU" sz="2800" u="sng" dirty="0">
                <a:solidFill>
                  <a:srgbClr val="00B0F0"/>
                </a:solidFill>
              </a:rPr>
              <a:t>large range </a:t>
            </a:r>
            <a:r>
              <a:rPr lang="en-AU" sz="2800" dirty="0"/>
              <a:t>and </a:t>
            </a:r>
            <a:r>
              <a:rPr lang="en-AU" sz="2800" u="sng" dirty="0">
                <a:solidFill>
                  <a:srgbClr val="00B0F0"/>
                </a:solidFill>
              </a:rPr>
              <a:t>few repeats</a:t>
            </a:r>
            <a:r>
              <a:rPr lang="en-AU" sz="2800" dirty="0"/>
              <a:t>, a Stem and Leaf is more informative.</a:t>
            </a:r>
          </a:p>
          <a:p>
            <a:endParaRPr lang="en-AU" sz="2800" dirty="0"/>
          </a:p>
          <a:p>
            <a:r>
              <a:rPr lang="en-AU" sz="2800" dirty="0"/>
              <a:t>When the leaves contain </a:t>
            </a:r>
            <a:r>
              <a:rPr lang="en-AU" sz="2800" u="sng" dirty="0">
                <a:solidFill>
                  <a:srgbClr val="00B0F0"/>
                </a:solidFill>
              </a:rPr>
              <a:t>one digit each</a:t>
            </a:r>
            <a:r>
              <a:rPr lang="en-AU" sz="2800" dirty="0"/>
              <a:t>, are </a:t>
            </a:r>
            <a:r>
              <a:rPr lang="en-AU" sz="2800" u="sng" dirty="0">
                <a:solidFill>
                  <a:srgbClr val="00B0F0"/>
                </a:solidFill>
              </a:rPr>
              <a:t>put in order</a:t>
            </a:r>
            <a:r>
              <a:rPr lang="en-AU" sz="2800" dirty="0"/>
              <a:t>, are </a:t>
            </a:r>
            <a:r>
              <a:rPr lang="en-AU" sz="2800" u="sng" dirty="0">
                <a:solidFill>
                  <a:srgbClr val="00B0F0"/>
                </a:solidFill>
              </a:rPr>
              <a:t>lined up in a grid</a:t>
            </a:r>
            <a:r>
              <a:rPr lang="en-AU" sz="2800" dirty="0"/>
              <a:t>, and </a:t>
            </a:r>
            <a:r>
              <a:rPr lang="en-AU" sz="2800" u="sng" dirty="0">
                <a:solidFill>
                  <a:srgbClr val="00B0F0"/>
                </a:solidFill>
              </a:rPr>
              <a:t>there is a key</a:t>
            </a:r>
            <a:r>
              <a:rPr lang="en-AU" sz="2800" dirty="0"/>
              <a:t>, it is a Stem and Leaf diagram.</a:t>
            </a:r>
          </a:p>
          <a:p>
            <a:endParaRPr lang="en-AU" sz="2800" dirty="0"/>
          </a:p>
          <a:p>
            <a:r>
              <a:rPr lang="en-AU" sz="2800" dirty="0"/>
              <a:t>Where there is a </a:t>
            </a:r>
            <a:r>
              <a:rPr lang="en-AU" sz="2800" u="sng" dirty="0">
                <a:solidFill>
                  <a:srgbClr val="00B0F0"/>
                </a:solidFill>
              </a:rPr>
              <a:t>small range</a:t>
            </a:r>
            <a:r>
              <a:rPr lang="en-AU" sz="2800" dirty="0">
                <a:solidFill>
                  <a:srgbClr val="00B0F0"/>
                </a:solidFill>
              </a:rPr>
              <a:t> </a:t>
            </a:r>
            <a:r>
              <a:rPr lang="en-AU" sz="2800" dirty="0"/>
              <a:t>and </a:t>
            </a:r>
            <a:r>
              <a:rPr lang="en-AU" sz="2800" u="sng" dirty="0">
                <a:solidFill>
                  <a:srgbClr val="00B0F0"/>
                </a:solidFill>
              </a:rPr>
              <a:t>lots of repeats</a:t>
            </a:r>
            <a:r>
              <a:rPr lang="en-AU" sz="2800" dirty="0"/>
              <a:t>, a Dot Plot is more informative. </a:t>
            </a:r>
          </a:p>
          <a:p>
            <a:endParaRPr lang="en-AU" sz="2800" dirty="0"/>
          </a:p>
          <a:p>
            <a:r>
              <a:rPr lang="en-AU" sz="2800" dirty="0"/>
              <a:t>When there is a scale at the bottom, and </a:t>
            </a:r>
            <a:r>
              <a:rPr lang="en-AU" sz="2800" u="sng" dirty="0">
                <a:solidFill>
                  <a:srgbClr val="00B0F0"/>
                </a:solidFill>
              </a:rPr>
              <a:t>the dots are lined up</a:t>
            </a:r>
            <a:r>
              <a:rPr lang="en-AU" sz="2800" dirty="0"/>
              <a:t> on the grid, it is a Dot Plot.</a:t>
            </a: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597"/>
          <a:stretch/>
        </p:blipFill>
        <p:spPr bwMode="auto">
          <a:xfrm>
            <a:off x="4997615" y="5971106"/>
            <a:ext cx="2078014" cy="915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" name="Group 12"/>
          <p:cNvGrpSpPr/>
          <p:nvPr/>
        </p:nvGrpSpPr>
        <p:grpSpPr>
          <a:xfrm>
            <a:off x="4788024" y="3151451"/>
            <a:ext cx="3672408" cy="915649"/>
            <a:chOff x="4788024" y="3151451"/>
            <a:chExt cx="3672408" cy="915649"/>
          </a:xfrm>
        </p:grpSpPr>
        <p:pic>
          <p:nvPicPr>
            <p:cNvPr id="9" name="Picture 6"/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7CB"/>
                </a:clrFrom>
                <a:clrTo>
                  <a:srgbClr val="FFF7CB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506" t="68054" r="-7481" b="3060"/>
            <a:stretch/>
          </p:blipFill>
          <p:spPr bwMode="auto">
            <a:xfrm>
              <a:off x="4788024" y="3151451"/>
              <a:ext cx="3672408" cy="9156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pic>
          <p:nvPicPr>
            <p:cNvPr id="10" name="Picture 6"/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7CB"/>
                </a:clrFrom>
                <a:clrTo>
                  <a:srgbClr val="FFF7CB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224" t="78252" r="67155" b="13334"/>
            <a:stretch/>
          </p:blipFill>
          <p:spPr bwMode="auto">
            <a:xfrm>
              <a:off x="7668344" y="3169835"/>
              <a:ext cx="510540" cy="2667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sp>
          <p:nvSpPr>
            <p:cNvPr id="11" name="TextBox 10"/>
            <p:cNvSpPr txBox="1"/>
            <p:nvPr/>
          </p:nvSpPr>
          <p:spPr>
            <a:xfrm>
              <a:off x="7121078" y="3158987"/>
              <a:ext cx="547266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AU" sz="1200" dirty="0"/>
                <a:t>Scale: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507090" y="3432942"/>
              <a:ext cx="915635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AU" sz="1200" dirty="0"/>
                <a:t>means 23m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937494" y="1655279"/>
            <a:ext cx="6457217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AU" sz="2800" dirty="0"/>
              <a:t>10, 36, 23, 31, 25, 33, 16, 34, 27, 34, 37, 36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6347" y="4908391"/>
            <a:ext cx="5990743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AU" dirty="0"/>
              <a:t>25, 28, 23, 24, 23, 24, 27, 26, 25, 25, 22, 22, 20, 29, 25, 26, 27,</a:t>
            </a:r>
          </a:p>
          <a:p>
            <a:r>
              <a:rPr lang="en-AU" dirty="0"/>
              <a:t>26, 28, 21, 25, 25, 27, 21, 25, 27, 26, 27, 22, 26, 23, 20, 22, 28</a:t>
            </a:r>
          </a:p>
        </p:txBody>
      </p:sp>
    </p:spTree>
    <p:extLst>
      <p:ext uri="{BB962C8B-B14F-4D97-AF65-F5344CB8AC3E}">
        <p14:creationId xmlns:p14="http://schemas.microsoft.com/office/powerpoint/2010/main" val="2260302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4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Which graph?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2696"/>
            <a:ext cx="9144000" cy="6165304"/>
          </a:xfrm>
        </p:spPr>
        <p:txBody>
          <a:bodyPr>
            <a:normAutofit/>
          </a:bodyPr>
          <a:lstStyle/>
          <a:p>
            <a:r>
              <a:rPr lang="en-AU" sz="2800" dirty="0"/>
              <a:t>Where there is a ……………………. and ……………………., a Stem and Leaf is more informative.</a:t>
            </a:r>
          </a:p>
          <a:p>
            <a:endParaRPr lang="en-AU" sz="2800" dirty="0"/>
          </a:p>
          <a:p>
            <a:r>
              <a:rPr lang="en-AU" sz="2800" dirty="0"/>
              <a:t>When the leaves contain ……………………., are ……………………., are ……………………., and ……………………., it is a Stem and Leaf diagram.</a:t>
            </a:r>
          </a:p>
          <a:p>
            <a:endParaRPr lang="en-AU" sz="2800" dirty="0"/>
          </a:p>
          <a:p>
            <a:r>
              <a:rPr lang="en-AU" sz="2800" dirty="0"/>
              <a:t>Where there is a ……………………. and ……………………., a Dot Plot is more informative. </a:t>
            </a:r>
          </a:p>
          <a:p>
            <a:endParaRPr lang="en-AU" sz="2800" dirty="0"/>
          </a:p>
          <a:p>
            <a:r>
              <a:rPr lang="en-AU" sz="2800" dirty="0"/>
              <a:t>When there is a scale at the bottom, and the …………………. …………………. on the grid, it is a Dot Plot.</a:t>
            </a: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597"/>
          <a:stretch/>
        </p:blipFill>
        <p:spPr bwMode="auto">
          <a:xfrm>
            <a:off x="6624228" y="5960804"/>
            <a:ext cx="2078014" cy="91558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grpSp>
        <p:nvGrpSpPr>
          <p:cNvPr id="13" name="Group 12"/>
          <p:cNvGrpSpPr/>
          <p:nvPr/>
        </p:nvGrpSpPr>
        <p:grpSpPr>
          <a:xfrm>
            <a:off x="5220072" y="3085620"/>
            <a:ext cx="3672408" cy="915649"/>
            <a:chOff x="4788024" y="3151451"/>
            <a:chExt cx="3672408" cy="915649"/>
          </a:xfrm>
        </p:grpSpPr>
        <p:pic>
          <p:nvPicPr>
            <p:cNvPr id="9" name="Picture 6"/>
            <p:cNvPicPr>
              <a:picLocks noChangeAspect="1" noChangeArrowheads="1"/>
            </p:cNvPicPr>
            <p:nvPr/>
          </p:nvPicPr>
          <p:blipFill rotWithShape="1">
            <a:blip r:embed="rId4">
              <a:clrChange>
                <a:clrFrom>
                  <a:srgbClr val="FFF7CB"/>
                </a:clrFrom>
                <a:clrTo>
                  <a:srgbClr val="FFF7CB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506" t="68054" r="-7481" b="3060"/>
            <a:stretch/>
          </p:blipFill>
          <p:spPr bwMode="auto">
            <a:xfrm>
              <a:off x="4788024" y="3151451"/>
              <a:ext cx="3672408" cy="9156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</p:pic>
        <p:pic>
          <p:nvPicPr>
            <p:cNvPr id="10" name="Picture 6"/>
            <p:cNvPicPr>
              <a:picLocks noChangeAspect="1" noChangeArrowheads="1"/>
            </p:cNvPicPr>
            <p:nvPr/>
          </p:nvPicPr>
          <p:blipFill rotWithShape="1">
            <a:blip r:embed="rId4">
              <a:clrChange>
                <a:clrFrom>
                  <a:srgbClr val="FFF7CB"/>
                </a:clrFrom>
                <a:clrTo>
                  <a:srgbClr val="FFF7CB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224" t="78252" r="67155" b="13334"/>
            <a:stretch/>
          </p:blipFill>
          <p:spPr bwMode="auto">
            <a:xfrm>
              <a:off x="7668344" y="3169835"/>
              <a:ext cx="510540" cy="2667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sp>
          <p:nvSpPr>
            <p:cNvPr id="11" name="TextBox 10"/>
            <p:cNvSpPr txBox="1"/>
            <p:nvPr/>
          </p:nvSpPr>
          <p:spPr>
            <a:xfrm>
              <a:off x="7121078" y="3162889"/>
              <a:ext cx="547266" cy="2769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AU" sz="1200" dirty="0"/>
                <a:t>Scale: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507090" y="3432942"/>
              <a:ext cx="915635" cy="2769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AU" sz="1200" dirty="0"/>
                <a:t>means 23m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937494" y="1655279"/>
            <a:ext cx="6457217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AU" sz="2800" dirty="0"/>
              <a:t>10, 36, 23, 31, 25, 33, 16, 34, 27, 34, 37, 36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6347" y="4908391"/>
            <a:ext cx="5990743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/>
              <a:t>25, 28, 23, 24, 23, 24, 27, 26, 25, 25, 22, 22, 20, 29, 25, 26, 27,</a:t>
            </a:r>
          </a:p>
          <a:p>
            <a:r>
              <a:rPr lang="en-AU" dirty="0"/>
              <a:t>26, 28, 21, 25, 25, 27, 21, 25, 27, 26, 27, 22, 26, 23, 20, 22, 28</a:t>
            </a:r>
          </a:p>
        </p:txBody>
      </p:sp>
    </p:spTree>
    <p:extLst>
      <p:ext uri="{BB962C8B-B14F-4D97-AF65-F5344CB8AC3E}">
        <p14:creationId xmlns:p14="http://schemas.microsoft.com/office/powerpoint/2010/main" val="620648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4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616" y="0"/>
            <a:ext cx="8028384" cy="692696"/>
          </a:xfrm>
        </p:spPr>
        <p:txBody>
          <a:bodyPr>
            <a:normAutofit fontScale="90000"/>
          </a:bodyPr>
          <a:lstStyle/>
          <a:p>
            <a:r>
              <a:rPr lang="en-AU" dirty="0"/>
              <a:t>Dot Plot or Stem-and-Leaf?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967" b="89404"/>
          <a:stretch/>
        </p:blipFill>
        <p:spPr bwMode="auto">
          <a:xfrm>
            <a:off x="1484219" y="2231152"/>
            <a:ext cx="573360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5" r="28763" b="70199"/>
          <a:stretch/>
        </p:blipFill>
        <p:spPr bwMode="auto">
          <a:xfrm>
            <a:off x="1403648" y="3948902"/>
            <a:ext cx="609327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/>
          <p:cNvGrpSpPr>
            <a:grpSpLocks noChangeAspect="1"/>
          </p:cNvGrpSpPr>
          <p:nvPr/>
        </p:nvGrpSpPr>
        <p:grpSpPr>
          <a:xfrm>
            <a:off x="155340" y="3273288"/>
            <a:ext cx="8833320" cy="287718"/>
            <a:chOff x="819150" y="2940050"/>
            <a:chExt cx="15011400" cy="488950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/>
          </p:blipFill>
          <p:spPr bwMode="auto">
            <a:xfrm>
              <a:off x="819150" y="2940050"/>
              <a:ext cx="7505700" cy="488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3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000"/>
            <a:stretch/>
          </p:blipFill>
          <p:spPr bwMode="auto">
            <a:xfrm>
              <a:off x="8324850" y="2940050"/>
              <a:ext cx="7505700" cy="488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2" name="Group 11"/>
          <p:cNvGrpSpPr>
            <a:grpSpLocks noChangeAspect="1"/>
          </p:cNvGrpSpPr>
          <p:nvPr/>
        </p:nvGrpSpPr>
        <p:grpSpPr>
          <a:xfrm>
            <a:off x="0" y="1212741"/>
            <a:ext cx="8877782" cy="319406"/>
            <a:chOff x="0" y="572294"/>
            <a:chExt cx="15355144" cy="552450"/>
          </a:xfrm>
        </p:grpSpPr>
        <p:pic>
          <p:nvPicPr>
            <p:cNvPr id="1030" name="Picture 6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/>
          </p:blipFill>
          <p:spPr bwMode="auto">
            <a:xfrm>
              <a:off x="0" y="572294"/>
              <a:ext cx="7829550" cy="552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" name="Picture 6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000"/>
            <a:stretch/>
          </p:blipFill>
          <p:spPr bwMode="auto">
            <a:xfrm>
              <a:off x="7525594" y="572294"/>
              <a:ext cx="7829550" cy="552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3" name="TextBox 12"/>
          <p:cNvSpPr txBox="1"/>
          <p:nvPr/>
        </p:nvSpPr>
        <p:spPr>
          <a:xfrm>
            <a:off x="85403" y="10024"/>
            <a:ext cx="2185278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AU" b="1" dirty="0"/>
              <a:t>How many repeats?</a:t>
            </a:r>
          </a:p>
          <a:p>
            <a:r>
              <a:rPr lang="en-AU" b="1" dirty="0"/>
              <a:t>Small or large range?</a:t>
            </a:r>
          </a:p>
        </p:txBody>
      </p:sp>
    </p:spTree>
    <p:extLst>
      <p:ext uri="{BB962C8B-B14F-4D97-AF65-F5344CB8AC3E}">
        <p14:creationId xmlns:p14="http://schemas.microsoft.com/office/powerpoint/2010/main" val="1647297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164288" cy="692696"/>
          </a:xfrm>
        </p:spPr>
        <p:txBody>
          <a:bodyPr>
            <a:normAutofit fontScale="90000"/>
          </a:bodyPr>
          <a:lstStyle/>
          <a:p>
            <a:r>
              <a:rPr lang="en-AU" dirty="0"/>
              <a:t>Stem and Leaf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2696"/>
            <a:ext cx="6571265" cy="5616624"/>
          </a:xfrm>
        </p:spPr>
        <p:txBody>
          <a:bodyPr>
            <a:normAutofit/>
          </a:bodyPr>
          <a:lstStyle/>
          <a:p>
            <a:r>
              <a:rPr lang="en-AU" sz="2400" dirty="0"/>
              <a:t>The </a:t>
            </a:r>
            <a:r>
              <a:rPr lang="en-AU" sz="2400" b="1" dirty="0"/>
              <a:t>stem</a:t>
            </a:r>
            <a:r>
              <a:rPr lang="en-AU" sz="2400" dirty="0"/>
              <a:t> contains the first part of each number</a:t>
            </a:r>
          </a:p>
          <a:p>
            <a:r>
              <a:rPr lang="en-AU" sz="2400" dirty="0"/>
              <a:t>The </a:t>
            </a:r>
            <a:r>
              <a:rPr lang="en-AU" sz="2400" b="1" dirty="0"/>
              <a:t>leaves</a:t>
            </a:r>
            <a:r>
              <a:rPr lang="en-AU" sz="2400" dirty="0"/>
              <a:t> contain the last digit of each number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83" y="2385758"/>
            <a:ext cx="2444575" cy="21953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5120" y="2377956"/>
            <a:ext cx="65081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The numbers represented in this Stem and Leaf Diagram are: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7550" y="0"/>
            <a:ext cx="2076450" cy="207645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771800" y="27783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27692" y="278762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08510" y="311627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13955" y="311627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60132" y="31084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34321" y="311265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10574" y="349847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32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16019" y="349847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32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62196" y="349060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31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36385" y="349485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32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90208" y="349847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36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03945" y="382487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55567" y="38170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29756" y="382124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84198" y="421179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55</a:t>
            </a:r>
          </a:p>
        </p:txBody>
      </p:sp>
      <p:sp>
        <p:nvSpPr>
          <p:cNvPr id="53" name="Oval 52"/>
          <p:cNvSpPr/>
          <p:nvPr/>
        </p:nvSpPr>
        <p:spPr>
          <a:xfrm>
            <a:off x="459063" y="2781004"/>
            <a:ext cx="234357" cy="3584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4" name="Oval 53"/>
          <p:cNvSpPr/>
          <p:nvPr/>
        </p:nvSpPr>
        <p:spPr>
          <a:xfrm>
            <a:off x="796253" y="2789283"/>
            <a:ext cx="234357" cy="3584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5" name="Oval 54"/>
          <p:cNvSpPr/>
          <p:nvPr/>
        </p:nvSpPr>
        <p:spPr>
          <a:xfrm>
            <a:off x="1073148" y="2789283"/>
            <a:ext cx="234357" cy="3584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6" name="Oval 55"/>
          <p:cNvSpPr/>
          <p:nvPr/>
        </p:nvSpPr>
        <p:spPr>
          <a:xfrm>
            <a:off x="459063" y="3127832"/>
            <a:ext cx="234357" cy="3584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7" name="Oval 56"/>
          <p:cNvSpPr/>
          <p:nvPr/>
        </p:nvSpPr>
        <p:spPr>
          <a:xfrm>
            <a:off x="796253" y="3136111"/>
            <a:ext cx="234357" cy="3584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8" name="Oval 57"/>
          <p:cNvSpPr/>
          <p:nvPr/>
        </p:nvSpPr>
        <p:spPr>
          <a:xfrm>
            <a:off x="1073148" y="3136111"/>
            <a:ext cx="234357" cy="3584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9" name="Oval 58"/>
          <p:cNvSpPr/>
          <p:nvPr/>
        </p:nvSpPr>
        <p:spPr>
          <a:xfrm>
            <a:off x="1354471" y="3152609"/>
            <a:ext cx="234357" cy="3584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0" name="Oval 59"/>
          <p:cNvSpPr/>
          <p:nvPr/>
        </p:nvSpPr>
        <p:spPr>
          <a:xfrm>
            <a:off x="1631366" y="3152609"/>
            <a:ext cx="234357" cy="3584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3" name="Oval 72"/>
          <p:cNvSpPr/>
          <p:nvPr/>
        </p:nvSpPr>
        <p:spPr>
          <a:xfrm>
            <a:off x="446866" y="3504271"/>
            <a:ext cx="234357" cy="3584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4" name="Oval 73"/>
          <p:cNvSpPr/>
          <p:nvPr/>
        </p:nvSpPr>
        <p:spPr>
          <a:xfrm>
            <a:off x="784056" y="3512550"/>
            <a:ext cx="234357" cy="3584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5" name="Oval 74"/>
          <p:cNvSpPr/>
          <p:nvPr/>
        </p:nvSpPr>
        <p:spPr>
          <a:xfrm>
            <a:off x="1060951" y="3512550"/>
            <a:ext cx="234357" cy="3584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6" name="Oval 75"/>
          <p:cNvSpPr/>
          <p:nvPr/>
        </p:nvSpPr>
        <p:spPr>
          <a:xfrm>
            <a:off x="1342274" y="3529048"/>
            <a:ext cx="234357" cy="3584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7" name="Oval 76"/>
          <p:cNvSpPr/>
          <p:nvPr/>
        </p:nvSpPr>
        <p:spPr>
          <a:xfrm>
            <a:off x="1619169" y="3529048"/>
            <a:ext cx="234357" cy="3584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8" name="Oval 77"/>
          <p:cNvSpPr/>
          <p:nvPr/>
        </p:nvSpPr>
        <p:spPr>
          <a:xfrm>
            <a:off x="1888352" y="3530976"/>
            <a:ext cx="234357" cy="3584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9" name="Oval 78"/>
          <p:cNvSpPr/>
          <p:nvPr/>
        </p:nvSpPr>
        <p:spPr>
          <a:xfrm>
            <a:off x="456522" y="3874826"/>
            <a:ext cx="234357" cy="3584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0" name="Oval 79"/>
          <p:cNvSpPr/>
          <p:nvPr/>
        </p:nvSpPr>
        <p:spPr>
          <a:xfrm>
            <a:off x="793712" y="3883105"/>
            <a:ext cx="234357" cy="3584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1" name="Oval 80"/>
          <p:cNvSpPr/>
          <p:nvPr/>
        </p:nvSpPr>
        <p:spPr>
          <a:xfrm>
            <a:off x="1070607" y="3883105"/>
            <a:ext cx="234357" cy="3584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2" name="Oval 81"/>
          <p:cNvSpPr/>
          <p:nvPr/>
        </p:nvSpPr>
        <p:spPr>
          <a:xfrm>
            <a:off x="1351930" y="3899603"/>
            <a:ext cx="234357" cy="3584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3" name="Oval 82"/>
          <p:cNvSpPr/>
          <p:nvPr/>
        </p:nvSpPr>
        <p:spPr>
          <a:xfrm>
            <a:off x="466299" y="4225334"/>
            <a:ext cx="234357" cy="3584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4" name="Oval 83"/>
          <p:cNvSpPr/>
          <p:nvPr/>
        </p:nvSpPr>
        <p:spPr>
          <a:xfrm>
            <a:off x="803489" y="4233613"/>
            <a:ext cx="234357" cy="3584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91" name="Group 90"/>
          <p:cNvGrpSpPr/>
          <p:nvPr/>
        </p:nvGrpSpPr>
        <p:grpSpPr>
          <a:xfrm rot="2312539" flipH="1">
            <a:off x="7355728" y="312305"/>
            <a:ext cx="945119" cy="1128600"/>
            <a:chOff x="9426525" y="1975418"/>
            <a:chExt cx="945119" cy="1128600"/>
          </a:xfrm>
        </p:grpSpPr>
        <p:cxnSp>
          <p:nvCxnSpPr>
            <p:cNvPr id="86" name="Straight Connector 85"/>
            <p:cNvCxnSpPr/>
            <p:nvPr/>
          </p:nvCxnSpPr>
          <p:spPr>
            <a:xfrm rot="2312539" flipH="1" flipV="1">
              <a:off x="9426525" y="2693184"/>
              <a:ext cx="480256" cy="410834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/>
          </p:nvCxnSpPr>
          <p:spPr>
            <a:xfrm rot="2312539" flipH="1" flipV="1">
              <a:off x="9522125" y="2492837"/>
              <a:ext cx="668019" cy="314116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>
            <a:xfrm rot="2312539" flipH="1" flipV="1">
              <a:off x="9641190" y="2369828"/>
              <a:ext cx="730454" cy="109771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>
            <a:xfrm flipH="1" flipV="1">
              <a:off x="9782715" y="2103072"/>
              <a:ext cx="553651" cy="100946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/>
            <p:nvPr/>
          </p:nvCxnSpPr>
          <p:spPr>
            <a:xfrm flipH="1">
              <a:off x="9782716" y="1975418"/>
              <a:ext cx="360610" cy="93187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>
          <a:xfrm>
            <a:off x="7686989" y="160774"/>
            <a:ext cx="1148401" cy="1828800"/>
            <a:chOff x="7686989" y="160774"/>
            <a:chExt cx="1148401" cy="1828800"/>
          </a:xfrm>
        </p:grpSpPr>
        <p:cxnSp>
          <p:nvCxnSpPr>
            <p:cNvPr id="24" name="Straight Connector 23"/>
            <p:cNvCxnSpPr/>
            <p:nvPr/>
          </p:nvCxnSpPr>
          <p:spPr>
            <a:xfrm flipV="1">
              <a:off x="7894205" y="1419602"/>
              <a:ext cx="1" cy="413762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flipH="1" flipV="1">
              <a:off x="8028385" y="1075174"/>
              <a:ext cx="207216" cy="625634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flipH="1" flipV="1">
              <a:off x="8114305" y="805795"/>
              <a:ext cx="484865" cy="733445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H="1" flipV="1">
              <a:off x="8178053" y="642343"/>
              <a:ext cx="657337" cy="542567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flipH="1" flipV="1">
              <a:off x="8204269" y="589934"/>
              <a:ext cx="553651" cy="100946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flipH="1">
              <a:off x="8204270" y="462280"/>
              <a:ext cx="360610" cy="93187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V="1">
              <a:off x="7686989" y="160774"/>
              <a:ext cx="653143" cy="1828800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7" name="TextBox 96"/>
          <p:cNvSpPr txBox="1"/>
          <p:nvPr/>
        </p:nvSpPr>
        <p:spPr>
          <a:xfrm>
            <a:off x="6246759" y="3522794"/>
            <a:ext cx="2504734" cy="132343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AU" sz="2000" dirty="0"/>
              <a:t>Read out the numbers represented in these Stem and Leaf Diagrams with me</a:t>
            </a:r>
          </a:p>
        </p:txBody>
      </p:sp>
      <p:pic>
        <p:nvPicPr>
          <p:cNvPr id="98" name="Picture 97"/>
          <p:cNvPicPr>
            <a:picLocks noChangeAspect="1"/>
          </p:cNvPicPr>
          <p:nvPr/>
        </p:nvPicPr>
        <p:blipFill rotWithShape="1">
          <a:blip r:embed="rId4"/>
          <a:srcRect t="1743" r="1801" b="2378"/>
          <a:stretch/>
        </p:blipFill>
        <p:spPr>
          <a:xfrm>
            <a:off x="3561939" y="5030948"/>
            <a:ext cx="2173685" cy="1633755"/>
          </a:xfrm>
          <a:prstGeom prst="rect">
            <a:avLst/>
          </a:prstGeom>
        </p:spPr>
      </p:pic>
      <p:pic>
        <p:nvPicPr>
          <p:cNvPr id="99" name="Picture 98"/>
          <p:cNvPicPr>
            <a:picLocks noChangeAspect="1"/>
          </p:cNvPicPr>
          <p:nvPr/>
        </p:nvPicPr>
        <p:blipFill rotWithShape="1">
          <a:blip r:embed="rId5"/>
          <a:srcRect t="4463" b="2877"/>
          <a:stretch/>
        </p:blipFill>
        <p:spPr>
          <a:xfrm>
            <a:off x="6412154" y="5085183"/>
            <a:ext cx="1843292" cy="1512169"/>
          </a:xfrm>
          <a:prstGeom prst="rect">
            <a:avLst/>
          </a:prstGeom>
        </p:spPr>
      </p:pic>
      <p:sp>
        <p:nvSpPr>
          <p:cNvPr id="100" name="Rounded Rectangle 99"/>
          <p:cNvSpPr/>
          <p:nvPr/>
        </p:nvSpPr>
        <p:spPr>
          <a:xfrm>
            <a:off x="411982" y="2743199"/>
            <a:ext cx="365578" cy="1863971"/>
          </a:xfrm>
          <a:prstGeom prst="roundRect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1" name="Rounded Rectangle 100"/>
          <p:cNvSpPr/>
          <p:nvPr/>
        </p:nvSpPr>
        <p:spPr>
          <a:xfrm>
            <a:off x="776494" y="2740388"/>
            <a:ext cx="1427696" cy="186397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02" name="Picture 10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534" y="4919602"/>
            <a:ext cx="1709269" cy="1843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604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xit" presetSubtype="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xit" presetSubtype="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xit" presetSubtype="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 animBg="1"/>
      <p:bldP spid="53" grpId="1" animBg="1"/>
      <p:bldP spid="53" grpId="2" animBg="1"/>
      <p:bldP spid="53" grpId="3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56" grpId="2" animBg="1"/>
      <p:bldP spid="56" grpId="3" animBg="1"/>
      <p:bldP spid="56" grpId="4" animBg="1"/>
      <p:bldP spid="56" grpId="5" animBg="1"/>
      <p:bldP spid="56" grpId="6" animBg="1"/>
      <p:bldP spid="56" grpId="7" animBg="1"/>
      <p:bldP spid="57" grpId="0" animBg="1"/>
      <p:bldP spid="57" grpId="1" animBg="1"/>
      <p:bldP spid="58" grpId="0" animBg="1"/>
      <p:bldP spid="58" grpId="1" animBg="1"/>
      <p:bldP spid="59" grpId="0" animBg="1"/>
      <p:bldP spid="59" grpId="1" animBg="1"/>
      <p:bldP spid="60" grpId="0" animBg="1"/>
      <p:bldP spid="60" grpId="1" animBg="1"/>
      <p:bldP spid="73" grpId="0" animBg="1"/>
      <p:bldP spid="73" grpId="1" animBg="1"/>
      <p:bldP spid="73" grpId="2" animBg="1"/>
      <p:bldP spid="73" grpId="3" animBg="1"/>
      <p:bldP spid="73" grpId="4" animBg="1"/>
      <p:bldP spid="73" grpId="5" animBg="1"/>
      <p:bldP spid="73" grpId="6" animBg="1"/>
      <p:bldP spid="73" grpId="7" animBg="1"/>
      <p:bldP spid="73" grpId="8" animBg="1"/>
      <p:bldP spid="73" grpId="9" animBg="1"/>
      <p:bldP spid="74" grpId="0" animBg="1"/>
      <p:bldP spid="74" grpId="1" animBg="1"/>
      <p:bldP spid="75" grpId="0" animBg="1"/>
      <p:bldP spid="75" grpId="1" animBg="1"/>
      <p:bldP spid="76" grpId="0" animBg="1"/>
      <p:bldP spid="76" grpId="1" animBg="1"/>
      <p:bldP spid="77" grpId="0" animBg="1"/>
      <p:bldP spid="77" grpId="1" animBg="1"/>
      <p:bldP spid="78" grpId="0" animBg="1"/>
      <p:bldP spid="78" grpId="1" animBg="1"/>
      <p:bldP spid="79" grpId="0" animBg="1"/>
      <p:bldP spid="79" grpId="1" animBg="1"/>
      <p:bldP spid="79" grpId="2" animBg="1"/>
      <p:bldP spid="79" grpId="3" animBg="1"/>
      <p:bldP spid="79" grpId="4" animBg="1"/>
      <p:bldP spid="79" grpId="5" animBg="1"/>
      <p:bldP spid="80" grpId="0" animBg="1"/>
      <p:bldP spid="80" grpId="1" animBg="1"/>
      <p:bldP spid="81" grpId="0" animBg="1"/>
      <p:bldP spid="81" grpId="1" animBg="1"/>
      <p:bldP spid="82" grpId="0" animBg="1"/>
      <p:bldP spid="82" grpId="1" animBg="1"/>
      <p:bldP spid="83" grpId="0" animBg="1"/>
      <p:bldP spid="83" grpId="1" animBg="1"/>
      <p:bldP spid="84" grpId="0" animBg="1"/>
      <p:bldP spid="84" grpId="1" animBg="1"/>
      <p:bldP spid="97" grpId="0" animBg="1"/>
      <p:bldP spid="100" grpId="0" animBg="1"/>
      <p:bldP spid="100" grpId="1" animBg="1"/>
      <p:bldP spid="101" grpId="0" animBg="1"/>
      <p:bldP spid="101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7190" y="4864360"/>
            <a:ext cx="3086100" cy="19335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Stem and Leaf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2696"/>
            <a:ext cx="6571265" cy="5616624"/>
          </a:xfrm>
        </p:spPr>
        <p:txBody>
          <a:bodyPr>
            <a:normAutofit/>
          </a:bodyPr>
          <a:lstStyle/>
          <a:p>
            <a:r>
              <a:rPr lang="en-AU" sz="2400" dirty="0"/>
              <a:t>The stem contains the first part of each number</a:t>
            </a:r>
          </a:p>
          <a:p>
            <a:r>
              <a:rPr lang="en-AU" sz="2400" dirty="0"/>
              <a:t>The leaves contain the last digit of each number</a:t>
            </a:r>
          </a:p>
          <a:p>
            <a:r>
              <a:rPr lang="en-AU" sz="2400" dirty="0"/>
              <a:t>Numbers are ordered (lowest is closest) and equally spaced in a grid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24558" r="1660"/>
          <a:stretch/>
        </p:blipFill>
        <p:spPr>
          <a:xfrm>
            <a:off x="2941911" y="4925738"/>
            <a:ext cx="2627809" cy="170452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1018" y="2510408"/>
            <a:ext cx="2447925" cy="17907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84" y="4869160"/>
            <a:ext cx="2500890" cy="183220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0210" y="1185398"/>
            <a:ext cx="2668532" cy="324036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817474A-DED9-A844-860B-F3818EA4E66B}"/>
              </a:ext>
            </a:extLst>
          </p:cNvPr>
          <p:cNvSpPr txBox="1"/>
          <p:nvPr/>
        </p:nvSpPr>
        <p:spPr>
          <a:xfrm>
            <a:off x="4750265" y="1956410"/>
            <a:ext cx="81945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6600" b="1" dirty="0">
                <a:ln>
                  <a:solidFill>
                    <a:schemeClr val="tx1"/>
                  </a:solidFill>
                </a:ln>
                <a:solidFill>
                  <a:srgbClr val="A8F058"/>
                </a:solidFill>
              </a:rPr>
              <a:t>✓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17474A-DED9-A844-860B-F3818EA4E66B}"/>
              </a:ext>
            </a:extLst>
          </p:cNvPr>
          <p:cNvSpPr txBox="1"/>
          <p:nvPr/>
        </p:nvSpPr>
        <p:spPr>
          <a:xfrm>
            <a:off x="1891379" y="5608925"/>
            <a:ext cx="81945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6600" b="1" dirty="0">
                <a:ln>
                  <a:solidFill>
                    <a:schemeClr val="tx1"/>
                  </a:solidFill>
                </a:ln>
                <a:solidFill>
                  <a:srgbClr val="A8F058"/>
                </a:solidFill>
              </a:rPr>
              <a:t>✓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17474A-DED9-A844-860B-F3818EA4E66B}"/>
              </a:ext>
            </a:extLst>
          </p:cNvPr>
          <p:cNvSpPr txBox="1"/>
          <p:nvPr/>
        </p:nvSpPr>
        <p:spPr>
          <a:xfrm>
            <a:off x="4750264" y="4581128"/>
            <a:ext cx="87716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6600" b="1" dirty="0">
                <a:ln>
                  <a:solidFill>
                    <a:schemeClr val="tx1"/>
                  </a:solidFill>
                </a:ln>
                <a:solidFill>
                  <a:srgbClr val="C00000"/>
                </a:solidFill>
              </a:rPr>
              <a:t>✘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17474A-DED9-A844-860B-F3818EA4E66B}"/>
              </a:ext>
            </a:extLst>
          </p:cNvPr>
          <p:cNvSpPr txBox="1"/>
          <p:nvPr/>
        </p:nvSpPr>
        <p:spPr>
          <a:xfrm>
            <a:off x="8370502" y="4425758"/>
            <a:ext cx="87716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6600" b="1" dirty="0">
                <a:ln>
                  <a:solidFill>
                    <a:schemeClr val="tx1"/>
                  </a:solidFill>
                </a:ln>
                <a:solidFill>
                  <a:srgbClr val="C00000"/>
                </a:solidFill>
              </a:rPr>
              <a:t>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40445" y="4495028"/>
            <a:ext cx="1348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C00000"/>
                </a:solidFill>
              </a:rPr>
              <a:t>Not in order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80188" y="4531627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C00000"/>
                </a:solidFill>
              </a:rPr>
              <a:t>Not equally spaced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83" y="2385758"/>
            <a:ext cx="2444575" cy="219537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817474A-DED9-A844-860B-F3818EA4E66B}"/>
              </a:ext>
            </a:extLst>
          </p:cNvPr>
          <p:cNvSpPr txBox="1"/>
          <p:nvPr/>
        </p:nvSpPr>
        <p:spPr>
          <a:xfrm>
            <a:off x="1726974" y="3745606"/>
            <a:ext cx="81945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6600" b="1" dirty="0">
                <a:ln>
                  <a:solidFill>
                    <a:schemeClr val="tx1"/>
                  </a:solidFill>
                </a:ln>
                <a:solidFill>
                  <a:srgbClr val="A8F058"/>
                </a:solidFill>
              </a:rPr>
              <a:t>✓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2EC627-04B8-5971-C0EF-C0025CB1E79E}"/>
              </a:ext>
            </a:extLst>
          </p:cNvPr>
          <p:cNvSpPr txBox="1"/>
          <p:nvPr/>
        </p:nvSpPr>
        <p:spPr>
          <a:xfrm>
            <a:off x="6469332" y="3404497"/>
            <a:ext cx="81945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6600" b="1" dirty="0">
                <a:ln>
                  <a:solidFill>
                    <a:schemeClr val="tx1"/>
                  </a:solidFill>
                </a:ln>
                <a:solidFill>
                  <a:srgbClr val="A8F058"/>
                </a:solidFill>
              </a:rPr>
              <a:t>✓</a:t>
            </a:r>
          </a:p>
        </p:txBody>
      </p:sp>
    </p:spTree>
    <p:extLst>
      <p:ext uri="{BB962C8B-B14F-4D97-AF65-F5344CB8AC3E}">
        <p14:creationId xmlns:p14="http://schemas.microsoft.com/office/powerpoint/2010/main" val="80139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/>
      <p:bldP spid="12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Putting data into a Stem and Leaf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2697"/>
            <a:ext cx="9144000" cy="2232248"/>
          </a:xfrm>
        </p:spPr>
        <p:txBody>
          <a:bodyPr>
            <a:normAutofit lnSpcReduction="10000"/>
          </a:bodyPr>
          <a:lstStyle/>
          <a:p>
            <a:pPr marL="803275" indent="-803275">
              <a:buFont typeface="+mj-lt"/>
              <a:buAutoNum type="arabicPeriod"/>
            </a:pPr>
            <a:r>
              <a:rPr lang="en-AU" dirty="0"/>
              <a:t>Put the data in order</a:t>
            </a:r>
          </a:p>
          <a:p>
            <a:pPr marL="803275" indent="-803275">
              <a:buFont typeface="+mj-lt"/>
              <a:buAutoNum type="arabicPeriod"/>
            </a:pPr>
            <a:r>
              <a:rPr lang="en-AU" dirty="0"/>
              <a:t>Set up the stem </a:t>
            </a:r>
            <a:endParaRPr lang="en-AU" dirty="0">
              <a:highlight>
                <a:srgbClr val="FFFF00"/>
              </a:highlight>
            </a:endParaRPr>
          </a:p>
          <a:p>
            <a:pPr marL="803275" indent="-803275">
              <a:buFont typeface="+mj-lt"/>
              <a:buAutoNum type="arabicPeriod"/>
            </a:pPr>
            <a:r>
              <a:rPr lang="en-AU" dirty="0"/>
              <a:t>Fill in the leaves</a:t>
            </a:r>
            <a:endParaRPr lang="en-AU" dirty="0">
              <a:highlight>
                <a:srgbClr val="FFFF00"/>
              </a:highlight>
            </a:endParaRPr>
          </a:p>
          <a:p>
            <a:pPr marL="803275" indent="-803275">
              <a:buFont typeface="+mj-lt"/>
              <a:buAutoNum type="arabicPeriod"/>
            </a:pPr>
            <a:r>
              <a:rPr lang="en-AU" dirty="0"/>
              <a:t>Write the Key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26014" b="86636"/>
          <a:stretch/>
        </p:blipFill>
        <p:spPr>
          <a:xfrm>
            <a:off x="0" y="3081268"/>
            <a:ext cx="9144000" cy="4367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1520" y="4009733"/>
            <a:ext cx="83599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/>
              <a:t>40,  43,  45,  47,  52,  55,  57,  59,  65,  71,  72,  79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899592" y="4909815"/>
            <a:ext cx="4860032" cy="1692771"/>
            <a:chOff x="561975" y="2184708"/>
            <a:chExt cx="8020050" cy="2578795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 rotWithShape="1">
            <a:blip r:embed="rId3"/>
            <a:srcRect b="41858"/>
            <a:stretch/>
          </p:blipFill>
          <p:spPr>
            <a:xfrm>
              <a:off x="561975" y="2218988"/>
              <a:ext cx="8020050" cy="2475507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619250" y="2184708"/>
              <a:ext cx="582493" cy="25787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600" dirty="0"/>
                <a:t>4</a:t>
              </a:r>
            </a:p>
            <a:p>
              <a:r>
                <a:rPr lang="en-AU" sz="2600" dirty="0"/>
                <a:t>5</a:t>
              </a:r>
            </a:p>
            <a:p>
              <a:r>
                <a:rPr lang="en-AU" sz="2600" dirty="0"/>
                <a:t>6</a:t>
              </a:r>
            </a:p>
            <a:p>
              <a:r>
                <a:rPr lang="en-AU" sz="2600" dirty="0"/>
                <a:t>7</a:t>
              </a:r>
            </a:p>
          </p:txBody>
        </p:sp>
      </p:grpSp>
      <p:sp>
        <p:nvSpPr>
          <p:cNvPr id="10" name="Rectangle 9"/>
          <p:cNvSpPr/>
          <p:nvPr/>
        </p:nvSpPr>
        <p:spPr>
          <a:xfrm>
            <a:off x="1321990" y="4932317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/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63688" y="4932317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/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22600" y="4932316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/>
              <a:t>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0290" y="4923135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/>
              <a:t>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1990" y="5315482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/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63688" y="5315482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/>
              <a:t>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22600" y="5315481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/>
              <a:t>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10290" y="5306300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/>
              <a:t>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39344" y="5698647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/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26630" y="6110144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/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68328" y="6110144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/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27240" y="6110143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/>
              <a:t>9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3690926" y="5796183"/>
            <a:ext cx="1779279" cy="687365"/>
            <a:chOff x="3581198" y="5698647"/>
            <a:chExt cx="1779279" cy="687365"/>
          </a:xfrm>
        </p:grpSpPr>
        <p:grpSp>
          <p:nvGrpSpPr>
            <p:cNvPr id="22" name="Group 21"/>
            <p:cNvGrpSpPr/>
            <p:nvPr/>
          </p:nvGrpSpPr>
          <p:grpSpPr>
            <a:xfrm>
              <a:off x="3581198" y="5698647"/>
              <a:ext cx="1779279" cy="687365"/>
              <a:chOff x="5290238" y="6056746"/>
              <a:chExt cx="1779279" cy="687365"/>
            </a:xfrm>
          </p:grpSpPr>
          <p:sp>
            <p:nvSpPr>
              <p:cNvPr id="24" name="TextBox 23"/>
              <p:cNvSpPr txBox="1"/>
              <p:nvPr/>
            </p:nvSpPr>
            <p:spPr>
              <a:xfrm>
                <a:off x="5290238" y="6056746"/>
                <a:ext cx="58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Key: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5975948" y="6374779"/>
                <a:ext cx="1093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means 52</a:t>
                </a:r>
              </a:p>
            </p:txBody>
          </p:sp>
        </p:grpSp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06507" y="6090480"/>
              <a:ext cx="589560" cy="276837"/>
            </a:xfrm>
            <a:prstGeom prst="rect">
              <a:avLst/>
            </a:prstGeom>
          </p:spPr>
        </p:pic>
      </p:grpSp>
      <p:sp>
        <p:nvSpPr>
          <p:cNvPr id="28" name="Rectangle 27"/>
          <p:cNvSpPr/>
          <p:nvPr/>
        </p:nvSpPr>
        <p:spPr>
          <a:xfrm>
            <a:off x="357374" y="3986477"/>
            <a:ext cx="561650" cy="679151"/>
          </a:xfrm>
          <a:prstGeom prst="rec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Rectangle 28"/>
          <p:cNvSpPr/>
          <p:nvPr/>
        </p:nvSpPr>
        <p:spPr>
          <a:xfrm>
            <a:off x="1006457" y="3986477"/>
            <a:ext cx="561650" cy="679151"/>
          </a:xfrm>
          <a:prstGeom prst="rec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Rectangle 29"/>
          <p:cNvSpPr/>
          <p:nvPr/>
        </p:nvSpPr>
        <p:spPr>
          <a:xfrm>
            <a:off x="1688436" y="3986477"/>
            <a:ext cx="561650" cy="679151"/>
          </a:xfrm>
          <a:prstGeom prst="rec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Rectangle 30"/>
          <p:cNvSpPr/>
          <p:nvPr/>
        </p:nvSpPr>
        <p:spPr>
          <a:xfrm>
            <a:off x="2370415" y="3986476"/>
            <a:ext cx="561650" cy="679151"/>
          </a:xfrm>
          <a:prstGeom prst="rec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2" name="Rectangle 31"/>
          <p:cNvSpPr/>
          <p:nvPr/>
        </p:nvSpPr>
        <p:spPr>
          <a:xfrm>
            <a:off x="3123657" y="3986475"/>
            <a:ext cx="561650" cy="679151"/>
          </a:xfrm>
          <a:prstGeom prst="rec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3" name="Rectangle 32"/>
          <p:cNvSpPr/>
          <p:nvPr/>
        </p:nvSpPr>
        <p:spPr>
          <a:xfrm>
            <a:off x="3821806" y="3986475"/>
            <a:ext cx="561650" cy="679151"/>
          </a:xfrm>
          <a:prstGeom prst="rec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4" name="Rectangle 33"/>
          <p:cNvSpPr/>
          <p:nvPr/>
        </p:nvSpPr>
        <p:spPr>
          <a:xfrm>
            <a:off x="4502835" y="3991775"/>
            <a:ext cx="561650" cy="679151"/>
          </a:xfrm>
          <a:prstGeom prst="rec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5" name="Rectangle 34"/>
          <p:cNvSpPr/>
          <p:nvPr/>
        </p:nvSpPr>
        <p:spPr>
          <a:xfrm>
            <a:off x="5213757" y="3986474"/>
            <a:ext cx="561650" cy="679151"/>
          </a:xfrm>
          <a:prstGeom prst="rec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6" name="Rectangle 35"/>
          <p:cNvSpPr/>
          <p:nvPr/>
        </p:nvSpPr>
        <p:spPr>
          <a:xfrm>
            <a:off x="5911906" y="3986474"/>
            <a:ext cx="561650" cy="679151"/>
          </a:xfrm>
          <a:prstGeom prst="rec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Rectangle 36"/>
          <p:cNvSpPr/>
          <p:nvPr/>
        </p:nvSpPr>
        <p:spPr>
          <a:xfrm>
            <a:off x="6605708" y="3986473"/>
            <a:ext cx="561650" cy="679151"/>
          </a:xfrm>
          <a:prstGeom prst="rec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Rectangle 37"/>
          <p:cNvSpPr/>
          <p:nvPr/>
        </p:nvSpPr>
        <p:spPr>
          <a:xfrm>
            <a:off x="7283617" y="3986472"/>
            <a:ext cx="561650" cy="679151"/>
          </a:xfrm>
          <a:prstGeom prst="rec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9" name="Rectangle 38"/>
          <p:cNvSpPr/>
          <p:nvPr/>
        </p:nvSpPr>
        <p:spPr>
          <a:xfrm>
            <a:off x="7977419" y="3986473"/>
            <a:ext cx="561650" cy="679151"/>
          </a:xfrm>
          <a:prstGeom prst="rec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9946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Putting data into a Stem and Leaf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2697"/>
            <a:ext cx="9144000" cy="2232248"/>
          </a:xfrm>
        </p:spPr>
        <p:txBody>
          <a:bodyPr>
            <a:normAutofit lnSpcReduction="10000"/>
          </a:bodyPr>
          <a:lstStyle/>
          <a:p>
            <a:pPr marL="803275" indent="-803275">
              <a:buFont typeface="+mj-lt"/>
              <a:buAutoNum type="arabicPeriod"/>
            </a:pPr>
            <a:r>
              <a:rPr lang="en-AU" dirty="0"/>
              <a:t>Put the data in order</a:t>
            </a:r>
          </a:p>
          <a:p>
            <a:pPr marL="803275" indent="-803275">
              <a:buFont typeface="+mj-lt"/>
              <a:buAutoNum type="arabicPeriod"/>
            </a:pPr>
            <a:r>
              <a:rPr lang="en-AU" dirty="0"/>
              <a:t>Set up the stem </a:t>
            </a:r>
            <a:endParaRPr lang="en-AU" dirty="0">
              <a:highlight>
                <a:srgbClr val="FFFF00"/>
              </a:highlight>
            </a:endParaRPr>
          </a:p>
          <a:p>
            <a:pPr marL="803275" indent="-803275">
              <a:buFont typeface="+mj-lt"/>
              <a:buAutoNum type="arabicPeriod"/>
            </a:pPr>
            <a:r>
              <a:rPr lang="en-AU" dirty="0"/>
              <a:t>Fill in the leaves </a:t>
            </a:r>
            <a:endParaRPr lang="en-AU" dirty="0">
              <a:highlight>
                <a:srgbClr val="FFFF00"/>
              </a:highlight>
            </a:endParaRPr>
          </a:p>
          <a:p>
            <a:pPr marL="803275" indent="-803275">
              <a:buFont typeface="+mj-lt"/>
              <a:buAutoNum type="arabicPeriod"/>
            </a:pPr>
            <a:r>
              <a:rPr lang="en-AU" dirty="0"/>
              <a:t>Write the Key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26014" b="86636"/>
          <a:stretch/>
        </p:blipFill>
        <p:spPr>
          <a:xfrm>
            <a:off x="0" y="3129554"/>
            <a:ext cx="9144000" cy="4367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1520" y="4009733"/>
            <a:ext cx="83599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/>
              <a:t>40,  43,  45,  47,  52,  55,  57,  59,  65,  71,  72,  79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899592" y="4909815"/>
            <a:ext cx="4860032" cy="1692771"/>
            <a:chOff x="561975" y="2184708"/>
            <a:chExt cx="8020050" cy="2578795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 rotWithShape="1">
            <a:blip r:embed="rId3"/>
            <a:srcRect b="41858"/>
            <a:stretch/>
          </p:blipFill>
          <p:spPr>
            <a:xfrm>
              <a:off x="561975" y="2218988"/>
              <a:ext cx="8020050" cy="2475507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619250" y="2184708"/>
              <a:ext cx="582493" cy="25787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600" dirty="0"/>
                <a:t>4</a:t>
              </a:r>
            </a:p>
            <a:p>
              <a:r>
                <a:rPr lang="en-AU" sz="2600" dirty="0"/>
                <a:t>5</a:t>
              </a:r>
            </a:p>
            <a:p>
              <a:r>
                <a:rPr lang="en-AU" sz="2600" dirty="0"/>
                <a:t>6</a:t>
              </a:r>
            </a:p>
            <a:p>
              <a:r>
                <a:rPr lang="en-AU" sz="2600" dirty="0"/>
                <a:t>7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3690926" y="5796183"/>
            <a:ext cx="2122322" cy="687365"/>
            <a:chOff x="3581198" y="5698647"/>
            <a:chExt cx="2122322" cy="687365"/>
          </a:xfrm>
        </p:grpSpPr>
        <p:grpSp>
          <p:nvGrpSpPr>
            <p:cNvPr id="22" name="Group 21"/>
            <p:cNvGrpSpPr/>
            <p:nvPr/>
          </p:nvGrpSpPr>
          <p:grpSpPr>
            <a:xfrm>
              <a:off x="3581198" y="5698647"/>
              <a:ext cx="2122322" cy="687365"/>
              <a:chOff x="5290238" y="6056746"/>
              <a:chExt cx="2122322" cy="687365"/>
            </a:xfrm>
          </p:grpSpPr>
          <p:sp>
            <p:nvSpPr>
              <p:cNvPr id="24" name="TextBox 23"/>
              <p:cNvSpPr txBox="1"/>
              <p:nvPr/>
            </p:nvSpPr>
            <p:spPr>
              <a:xfrm>
                <a:off x="5290238" y="6056746"/>
                <a:ext cx="58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Key: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5975948" y="6374779"/>
                <a:ext cx="14366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means _____</a:t>
                </a:r>
              </a:p>
            </p:txBody>
          </p:sp>
        </p:grpSp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06507" y="6090480"/>
              <a:ext cx="589560" cy="276837"/>
            </a:xfrm>
            <a:prstGeom prst="rect">
              <a:avLst/>
            </a:prstGeom>
          </p:spPr>
        </p:pic>
      </p:grpSp>
      <p:sp>
        <p:nvSpPr>
          <p:cNvPr id="28" name="Rectangle 27"/>
          <p:cNvSpPr/>
          <p:nvPr/>
        </p:nvSpPr>
        <p:spPr>
          <a:xfrm>
            <a:off x="357374" y="3986477"/>
            <a:ext cx="561650" cy="679151"/>
          </a:xfrm>
          <a:prstGeom prst="rec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Rectangle 28"/>
          <p:cNvSpPr/>
          <p:nvPr/>
        </p:nvSpPr>
        <p:spPr>
          <a:xfrm>
            <a:off x="1006457" y="3986477"/>
            <a:ext cx="561650" cy="679151"/>
          </a:xfrm>
          <a:prstGeom prst="rec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Rectangle 29"/>
          <p:cNvSpPr/>
          <p:nvPr/>
        </p:nvSpPr>
        <p:spPr>
          <a:xfrm>
            <a:off x="1688436" y="3986477"/>
            <a:ext cx="561650" cy="679151"/>
          </a:xfrm>
          <a:prstGeom prst="rec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Rectangle 30"/>
          <p:cNvSpPr/>
          <p:nvPr/>
        </p:nvSpPr>
        <p:spPr>
          <a:xfrm>
            <a:off x="2370415" y="3986476"/>
            <a:ext cx="561650" cy="679151"/>
          </a:xfrm>
          <a:prstGeom prst="rec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2" name="Rectangle 31"/>
          <p:cNvSpPr/>
          <p:nvPr/>
        </p:nvSpPr>
        <p:spPr>
          <a:xfrm>
            <a:off x="3123657" y="3986475"/>
            <a:ext cx="561650" cy="679151"/>
          </a:xfrm>
          <a:prstGeom prst="rec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3" name="Rectangle 32"/>
          <p:cNvSpPr/>
          <p:nvPr/>
        </p:nvSpPr>
        <p:spPr>
          <a:xfrm>
            <a:off x="3821806" y="3986475"/>
            <a:ext cx="561650" cy="679151"/>
          </a:xfrm>
          <a:prstGeom prst="rec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4" name="Rectangle 33"/>
          <p:cNvSpPr/>
          <p:nvPr/>
        </p:nvSpPr>
        <p:spPr>
          <a:xfrm>
            <a:off x="4502835" y="3991775"/>
            <a:ext cx="561650" cy="679151"/>
          </a:xfrm>
          <a:prstGeom prst="rec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5" name="Rectangle 34"/>
          <p:cNvSpPr/>
          <p:nvPr/>
        </p:nvSpPr>
        <p:spPr>
          <a:xfrm>
            <a:off x="5213757" y="3986474"/>
            <a:ext cx="561650" cy="679151"/>
          </a:xfrm>
          <a:prstGeom prst="rec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6" name="Rectangle 35"/>
          <p:cNvSpPr/>
          <p:nvPr/>
        </p:nvSpPr>
        <p:spPr>
          <a:xfrm>
            <a:off x="5911906" y="3986474"/>
            <a:ext cx="561650" cy="679151"/>
          </a:xfrm>
          <a:prstGeom prst="rec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Rectangle 36"/>
          <p:cNvSpPr/>
          <p:nvPr/>
        </p:nvSpPr>
        <p:spPr>
          <a:xfrm>
            <a:off x="6605708" y="3986473"/>
            <a:ext cx="561650" cy="679151"/>
          </a:xfrm>
          <a:prstGeom prst="rec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Rectangle 37"/>
          <p:cNvSpPr/>
          <p:nvPr/>
        </p:nvSpPr>
        <p:spPr>
          <a:xfrm>
            <a:off x="7283617" y="3986472"/>
            <a:ext cx="561650" cy="679151"/>
          </a:xfrm>
          <a:prstGeom prst="rec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9" name="Rectangle 38"/>
          <p:cNvSpPr/>
          <p:nvPr/>
        </p:nvSpPr>
        <p:spPr>
          <a:xfrm>
            <a:off x="7977419" y="3986473"/>
            <a:ext cx="561650" cy="679151"/>
          </a:xfrm>
          <a:prstGeom prst="rect">
            <a:avLst/>
          </a:prstGeom>
          <a:solidFill>
            <a:srgbClr val="FCD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643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Putting data into a Stem and Leaf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2697"/>
            <a:ext cx="9144000" cy="2232248"/>
          </a:xfrm>
        </p:spPr>
        <p:txBody>
          <a:bodyPr>
            <a:normAutofit lnSpcReduction="10000"/>
          </a:bodyPr>
          <a:lstStyle/>
          <a:p>
            <a:pPr marL="803275" indent="-803275">
              <a:buFont typeface="+mj-lt"/>
              <a:buAutoNum type="arabicPeriod"/>
            </a:pPr>
            <a:r>
              <a:rPr lang="en-AU" dirty="0"/>
              <a:t>Put the data in order</a:t>
            </a:r>
          </a:p>
          <a:p>
            <a:pPr marL="803275" indent="-803275">
              <a:buFont typeface="+mj-lt"/>
              <a:buAutoNum type="arabicPeriod"/>
            </a:pPr>
            <a:r>
              <a:rPr lang="en-AU" dirty="0"/>
              <a:t>Set up the stem </a:t>
            </a:r>
            <a:r>
              <a:rPr lang="en-AU" dirty="0">
                <a:highlight>
                  <a:srgbClr val="FFFF00"/>
                </a:highlight>
              </a:rPr>
              <a:t> </a:t>
            </a:r>
          </a:p>
          <a:p>
            <a:pPr marL="803275" indent="-803275">
              <a:buFont typeface="+mj-lt"/>
              <a:buAutoNum type="arabicPeriod"/>
            </a:pPr>
            <a:r>
              <a:rPr lang="en-AU" dirty="0"/>
              <a:t>Fill in the leaves </a:t>
            </a:r>
          </a:p>
          <a:p>
            <a:pPr marL="803275" indent="-803275">
              <a:buFont typeface="+mj-lt"/>
              <a:buAutoNum type="arabicPeriod"/>
            </a:pPr>
            <a:r>
              <a:rPr lang="en-AU" dirty="0"/>
              <a:t>Write the Key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" t="15075" r="30405" b="72942"/>
          <a:stretch/>
        </p:blipFill>
        <p:spPr>
          <a:xfrm>
            <a:off x="251520" y="3282909"/>
            <a:ext cx="8601389" cy="3915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8390" y="3756782"/>
            <a:ext cx="77348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/>
              <a:t>3,  7,  9,  16,  18,  18,  19,  21,  23,  29,  33,  37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b="41858"/>
          <a:stretch/>
        </p:blipFill>
        <p:spPr>
          <a:xfrm>
            <a:off x="899592" y="4932317"/>
            <a:ext cx="4860032" cy="16249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42977" y="4898416"/>
            <a:ext cx="352982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600" dirty="0"/>
              <a:t>0</a:t>
            </a:r>
          </a:p>
          <a:p>
            <a:r>
              <a:rPr lang="en-AU" sz="2600" dirty="0"/>
              <a:t>1</a:t>
            </a:r>
          </a:p>
          <a:p>
            <a:r>
              <a:rPr lang="en-AU" sz="2600" dirty="0"/>
              <a:t>2</a:t>
            </a:r>
          </a:p>
          <a:p>
            <a:r>
              <a:rPr lang="en-AU" sz="2600" dirty="0"/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21990" y="4932317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/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63688" y="4932317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/>
              <a:t>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22600" y="4932316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/>
              <a:t>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1990" y="5315482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/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63688" y="5315482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/>
              <a:t>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22600" y="5315481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/>
              <a:t>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10290" y="5306300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/>
              <a:t>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39344" y="5698647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/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30105" y="5699223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/>
              <a:t>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33372" y="5705319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/>
              <a:t>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39344" y="6085630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/>
              <a:t>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730105" y="6086206"/>
            <a:ext cx="3529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600" dirty="0"/>
              <a:t>7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3690926" y="5796183"/>
            <a:ext cx="1779279" cy="687365"/>
            <a:chOff x="3690926" y="5796183"/>
            <a:chExt cx="1779279" cy="687365"/>
          </a:xfrm>
        </p:grpSpPr>
        <p:grpSp>
          <p:nvGrpSpPr>
            <p:cNvPr id="22" name="Group 21"/>
            <p:cNvGrpSpPr/>
            <p:nvPr/>
          </p:nvGrpSpPr>
          <p:grpSpPr>
            <a:xfrm>
              <a:off x="3690926" y="5796183"/>
              <a:ext cx="1779279" cy="687365"/>
              <a:chOff x="5290238" y="6056746"/>
              <a:chExt cx="1779279" cy="687365"/>
            </a:xfrm>
          </p:grpSpPr>
          <p:sp>
            <p:nvSpPr>
              <p:cNvPr id="24" name="TextBox 23"/>
              <p:cNvSpPr txBox="1"/>
              <p:nvPr/>
            </p:nvSpPr>
            <p:spPr>
              <a:xfrm>
                <a:off x="5290238" y="6056746"/>
                <a:ext cx="58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Key: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5975948" y="6374779"/>
                <a:ext cx="1093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means 21</a:t>
                </a:r>
              </a:p>
            </p:txBody>
          </p:sp>
        </p:grpSp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39627" y="6166733"/>
              <a:ext cx="575110" cy="2909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13696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9" grpId="0"/>
      <p:bldP spid="10" grpId="0"/>
      <p:bldP spid="11" grpId="0"/>
      <p:bldP spid="12" grpId="0"/>
      <p:bldP spid="14" grpId="0"/>
      <p:bldP spid="15" grpId="0"/>
      <p:bldP spid="16" grpId="0"/>
      <p:bldP spid="17" grpId="0"/>
      <p:bldP spid="18" grpId="0"/>
      <p:bldP spid="40" grpId="0"/>
      <p:bldP spid="41" grpId="0"/>
      <p:bldP spid="42" grpId="0"/>
      <p:bldP spid="4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Putting data into a Stem and Leaf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2697"/>
            <a:ext cx="9144000" cy="2232248"/>
          </a:xfrm>
        </p:spPr>
        <p:txBody>
          <a:bodyPr>
            <a:normAutofit lnSpcReduction="10000"/>
          </a:bodyPr>
          <a:lstStyle/>
          <a:p>
            <a:pPr marL="803275" indent="-803275">
              <a:buFont typeface="+mj-lt"/>
              <a:buAutoNum type="arabicPeriod"/>
            </a:pPr>
            <a:r>
              <a:rPr lang="en-AU" dirty="0"/>
              <a:t>Put the data in order</a:t>
            </a:r>
          </a:p>
          <a:p>
            <a:pPr marL="803275" indent="-803275">
              <a:buFont typeface="+mj-lt"/>
              <a:buAutoNum type="arabicPeriod"/>
            </a:pPr>
            <a:r>
              <a:rPr lang="en-AU" dirty="0"/>
              <a:t>Set up the stem </a:t>
            </a:r>
            <a:r>
              <a:rPr lang="en-AU" dirty="0">
                <a:highlight>
                  <a:srgbClr val="FFFF00"/>
                </a:highlight>
              </a:rPr>
              <a:t> </a:t>
            </a:r>
          </a:p>
          <a:p>
            <a:pPr marL="803275" indent="-803275">
              <a:buFont typeface="+mj-lt"/>
              <a:buAutoNum type="arabicPeriod"/>
            </a:pPr>
            <a:r>
              <a:rPr lang="en-AU" dirty="0"/>
              <a:t>Fill in the leaves </a:t>
            </a:r>
          </a:p>
          <a:p>
            <a:pPr marL="803275" indent="-803275">
              <a:buFont typeface="+mj-lt"/>
              <a:buAutoNum type="arabicPeriod"/>
            </a:pPr>
            <a:r>
              <a:rPr lang="en-AU" dirty="0"/>
              <a:t>Write the Key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" t="15075" r="30405" b="72942"/>
          <a:stretch/>
        </p:blipFill>
        <p:spPr>
          <a:xfrm>
            <a:off x="251520" y="3282909"/>
            <a:ext cx="8601389" cy="39157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b="41858"/>
          <a:stretch/>
        </p:blipFill>
        <p:spPr>
          <a:xfrm>
            <a:off x="899592" y="4932317"/>
            <a:ext cx="4860032" cy="16249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42977" y="4898416"/>
            <a:ext cx="352982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600" dirty="0"/>
              <a:t>0</a:t>
            </a:r>
          </a:p>
          <a:p>
            <a:r>
              <a:rPr lang="en-AU" sz="2600" dirty="0"/>
              <a:t>1</a:t>
            </a:r>
          </a:p>
          <a:p>
            <a:r>
              <a:rPr lang="en-AU" sz="2600" dirty="0"/>
              <a:t>2</a:t>
            </a:r>
          </a:p>
          <a:p>
            <a:r>
              <a:rPr lang="en-AU" sz="2600" dirty="0"/>
              <a:t>3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3690926" y="5796183"/>
            <a:ext cx="2006906" cy="687365"/>
            <a:chOff x="3690926" y="5796183"/>
            <a:chExt cx="2006906" cy="687365"/>
          </a:xfrm>
        </p:grpSpPr>
        <p:grpSp>
          <p:nvGrpSpPr>
            <p:cNvPr id="22" name="Group 21"/>
            <p:cNvGrpSpPr/>
            <p:nvPr/>
          </p:nvGrpSpPr>
          <p:grpSpPr>
            <a:xfrm>
              <a:off x="3690926" y="5796183"/>
              <a:ext cx="2006906" cy="687365"/>
              <a:chOff x="5290238" y="6056746"/>
              <a:chExt cx="2006906" cy="687365"/>
            </a:xfrm>
          </p:grpSpPr>
          <p:sp>
            <p:nvSpPr>
              <p:cNvPr id="24" name="TextBox 23"/>
              <p:cNvSpPr txBox="1"/>
              <p:nvPr/>
            </p:nvSpPr>
            <p:spPr>
              <a:xfrm>
                <a:off x="5290238" y="6056746"/>
                <a:ext cx="58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Key: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5975948" y="6374779"/>
                <a:ext cx="13211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means ____</a:t>
                </a:r>
              </a:p>
            </p:txBody>
          </p:sp>
        </p:grpSp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39627" y="6166733"/>
              <a:ext cx="575110" cy="2909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90340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Putting data into a Dot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2697"/>
            <a:ext cx="9144000" cy="2016224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AU" dirty="0"/>
              <a:t>Draw scale to fit the highest and lowest numbers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Write the numbers on the lines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Fill in dots on the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5536" y="3068960"/>
            <a:ext cx="47038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1, 2, 1, 5, 3, 4, 3, 2, 1, 3, 2, 5, 3, 4, 2, 1, 2, 1, 2, 1, 3, 4, 3, 2, 5, 4, 1, 2, 1, 3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b="12399"/>
          <a:stretch/>
        </p:blipFill>
        <p:spPr>
          <a:xfrm rot="16200000">
            <a:off x="5402472" y="3156227"/>
            <a:ext cx="4860032" cy="24482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40095" y="6278376"/>
            <a:ext cx="1970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b="1" dirty="0"/>
              <a:t>1  2  3  4  5</a:t>
            </a:r>
          </a:p>
        </p:txBody>
      </p:sp>
      <p:sp>
        <p:nvSpPr>
          <p:cNvPr id="7" name="Oval 6"/>
          <p:cNvSpPr/>
          <p:nvPr/>
        </p:nvSpPr>
        <p:spPr>
          <a:xfrm>
            <a:off x="6965395" y="5885682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Oval 7"/>
          <p:cNvSpPr/>
          <p:nvPr/>
        </p:nvSpPr>
        <p:spPr>
          <a:xfrm>
            <a:off x="7322438" y="5902029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Oval 8"/>
          <p:cNvSpPr/>
          <p:nvPr/>
        </p:nvSpPr>
        <p:spPr>
          <a:xfrm>
            <a:off x="6952101" y="5506248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Oval 9"/>
          <p:cNvSpPr/>
          <p:nvPr/>
        </p:nvSpPr>
        <p:spPr>
          <a:xfrm>
            <a:off x="8474398" y="5895046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Oval 10"/>
          <p:cNvSpPr/>
          <p:nvPr/>
        </p:nvSpPr>
        <p:spPr>
          <a:xfrm>
            <a:off x="7735300" y="5902029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Oval 11"/>
          <p:cNvSpPr/>
          <p:nvPr/>
        </p:nvSpPr>
        <p:spPr>
          <a:xfrm>
            <a:off x="8104849" y="5902029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Oval 12"/>
          <p:cNvSpPr/>
          <p:nvPr/>
        </p:nvSpPr>
        <p:spPr>
          <a:xfrm>
            <a:off x="7735300" y="5506248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Oval 13"/>
          <p:cNvSpPr/>
          <p:nvPr/>
        </p:nvSpPr>
        <p:spPr>
          <a:xfrm>
            <a:off x="7341334" y="5506248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Oval 14"/>
          <p:cNvSpPr/>
          <p:nvPr/>
        </p:nvSpPr>
        <p:spPr>
          <a:xfrm>
            <a:off x="6952101" y="5113554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Oval 15"/>
          <p:cNvSpPr/>
          <p:nvPr/>
        </p:nvSpPr>
        <p:spPr>
          <a:xfrm>
            <a:off x="7733506" y="5092376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/>
          <p:cNvSpPr/>
          <p:nvPr/>
        </p:nvSpPr>
        <p:spPr>
          <a:xfrm>
            <a:off x="7341334" y="5092376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Oval 17"/>
          <p:cNvSpPr/>
          <p:nvPr/>
        </p:nvSpPr>
        <p:spPr>
          <a:xfrm>
            <a:off x="8481201" y="5505376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Oval 18"/>
          <p:cNvSpPr/>
          <p:nvPr/>
        </p:nvSpPr>
        <p:spPr>
          <a:xfrm>
            <a:off x="7733463" y="4705087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Oval 19"/>
          <p:cNvSpPr/>
          <p:nvPr/>
        </p:nvSpPr>
        <p:spPr>
          <a:xfrm>
            <a:off x="8104849" y="5506189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Oval 22"/>
          <p:cNvSpPr/>
          <p:nvPr/>
        </p:nvSpPr>
        <p:spPr>
          <a:xfrm>
            <a:off x="7341334" y="4702321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Oval 23"/>
          <p:cNvSpPr/>
          <p:nvPr/>
        </p:nvSpPr>
        <p:spPr>
          <a:xfrm>
            <a:off x="6945959" y="4706730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Oval 24"/>
          <p:cNvSpPr/>
          <p:nvPr/>
        </p:nvSpPr>
        <p:spPr>
          <a:xfrm>
            <a:off x="7324551" y="4304349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Oval 25"/>
          <p:cNvSpPr/>
          <p:nvPr/>
        </p:nvSpPr>
        <p:spPr>
          <a:xfrm>
            <a:off x="6945959" y="4304349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Oval 26"/>
          <p:cNvSpPr/>
          <p:nvPr/>
        </p:nvSpPr>
        <p:spPr>
          <a:xfrm>
            <a:off x="7341334" y="3899806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Oval 27"/>
          <p:cNvSpPr/>
          <p:nvPr/>
        </p:nvSpPr>
        <p:spPr>
          <a:xfrm>
            <a:off x="6952762" y="3899747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Oval 28"/>
          <p:cNvSpPr/>
          <p:nvPr/>
        </p:nvSpPr>
        <p:spPr>
          <a:xfrm>
            <a:off x="7703143" y="4291215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Oval 29"/>
          <p:cNvSpPr/>
          <p:nvPr/>
        </p:nvSpPr>
        <p:spPr>
          <a:xfrm>
            <a:off x="8100471" y="5126121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Oval 30"/>
          <p:cNvSpPr/>
          <p:nvPr/>
        </p:nvSpPr>
        <p:spPr>
          <a:xfrm>
            <a:off x="7720407" y="3908303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2" name="Oval 31"/>
          <p:cNvSpPr/>
          <p:nvPr/>
        </p:nvSpPr>
        <p:spPr>
          <a:xfrm>
            <a:off x="7322438" y="3484458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3" name="Oval 32"/>
          <p:cNvSpPr/>
          <p:nvPr/>
        </p:nvSpPr>
        <p:spPr>
          <a:xfrm>
            <a:off x="8481201" y="5092376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4" name="Oval 33"/>
          <p:cNvSpPr/>
          <p:nvPr/>
        </p:nvSpPr>
        <p:spPr>
          <a:xfrm>
            <a:off x="8108979" y="4692690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5" name="Oval 34"/>
          <p:cNvSpPr/>
          <p:nvPr/>
        </p:nvSpPr>
        <p:spPr>
          <a:xfrm>
            <a:off x="6952762" y="3534873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6" name="Oval 35"/>
          <p:cNvSpPr/>
          <p:nvPr/>
        </p:nvSpPr>
        <p:spPr>
          <a:xfrm>
            <a:off x="7324551" y="3094403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Oval 36"/>
          <p:cNvSpPr/>
          <p:nvPr/>
        </p:nvSpPr>
        <p:spPr>
          <a:xfrm>
            <a:off x="6952762" y="3094403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Oval 37"/>
          <p:cNvSpPr/>
          <p:nvPr/>
        </p:nvSpPr>
        <p:spPr>
          <a:xfrm>
            <a:off x="7715304" y="3505392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9" name="Straight Connector 38"/>
          <p:cNvCxnSpPr/>
          <p:nvPr/>
        </p:nvCxnSpPr>
        <p:spPr>
          <a:xfrm flipV="1">
            <a:off x="467544" y="3484458"/>
            <a:ext cx="75031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1403648" y="3474912"/>
            <a:ext cx="75031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2267744" y="3480840"/>
            <a:ext cx="75031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V="1">
            <a:off x="3131840" y="3486768"/>
            <a:ext cx="75031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4067944" y="3481880"/>
            <a:ext cx="75031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V="1">
            <a:off x="467544" y="3861048"/>
            <a:ext cx="75031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1403648" y="3861048"/>
            <a:ext cx="75031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V="1">
            <a:off x="2267744" y="3861048"/>
            <a:ext cx="75031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3203848" y="3861048"/>
            <a:ext cx="75031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4067944" y="3861048"/>
            <a:ext cx="75031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593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Putting data into a Dot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2697"/>
            <a:ext cx="9144000" cy="2016224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AU" dirty="0"/>
              <a:t>Draw scale to fit the highest and lowest numbers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Write the numbers on the lines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Fill in dots on the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5536" y="3068960"/>
            <a:ext cx="47038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1, 2, 1, 5, 3, 4, 3, 2, 1, 3, 2, 5, 3, 4, 2, 1, 2, 1, 2, 1, 3, 4, 3, 2, 5, 4, 1, 2, 1, 3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b="12399"/>
          <a:stretch/>
        </p:blipFill>
        <p:spPr>
          <a:xfrm rot="16200000">
            <a:off x="5402472" y="3156227"/>
            <a:ext cx="4860032" cy="24482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40095" y="6278376"/>
            <a:ext cx="1970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b="1" dirty="0"/>
              <a:t>1  2  3  4  5</a:t>
            </a:r>
          </a:p>
        </p:txBody>
      </p:sp>
    </p:spTree>
    <p:extLst>
      <p:ext uri="{BB962C8B-B14F-4D97-AF65-F5344CB8AC3E}">
        <p14:creationId xmlns:p14="http://schemas.microsoft.com/office/powerpoint/2010/main" val="3387173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-1" b="-23"/>
          <a:stretch/>
        </p:blipFill>
        <p:spPr>
          <a:xfrm rot="16200000">
            <a:off x="4986057" y="2927404"/>
            <a:ext cx="4860032" cy="279545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Putting data into a Dot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2697"/>
            <a:ext cx="9144000" cy="2016224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AU" dirty="0"/>
              <a:t>Draw scale to fit the highest and lowest numbers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Write the numbers on the lines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Fill in dots on the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186" y="2505201"/>
            <a:ext cx="47038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4, 7, 5, 5, 6, 4, 7, 8, 2, 5, 6, 6, 5, 5, 7, 5, 7, 5, 3, 6</a:t>
            </a:r>
          </a:p>
        </p:txBody>
      </p:sp>
      <p:sp>
        <p:nvSpPr>
          <p:cNvPr id="7" name="Oval 6"/>
          <p:cNvSpPr/>
          <p:nvPr/>
        </p:nvSpPr>
        <p:spPr>
          <a:xfrm>
            <a:off x="7121586" y="5851563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9" name="Straight Connector 38"/>
          <p:cNvCxnSpPr/>
          <p:nvPr/>
        </p:nvCxnSpPr>
        <p:spPr>
          <a:xfrm flipV="1">
            <a:off x="467544" y="2967476"/>
            <a:ext cx="75031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Picture 49"/>
          <p:cNvPicPr>
            <a:picLocks noChangeAspect="1"/>
          </p:cNvPicPr>
          <p:nvPr/>
        </p:nvPicPr>
        <p:blipFill rotWithShape="1">
          <a:blip r:embed="rId2"/>
          <a:srcRect t="83967" b="237"/>
          <a:stretch/>
        </p:blipFill>
        <p:spPr>
          <a:xfrm rot="16200000">
            <a:off x="6543563" y="4106339"/>
            <a:ext cx="4860032" cy="4414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72936" y="6243652"/>
            <a:ext cx="2759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b="1" dirty="0"/>
              <a:t>2  3  4  5  6  7  8</a:t>
            </a:r>
          </a:p>
        </p:txBody>
      </p:sp>
      <p:sp>
        <p:nvSpPr>
          <p:cNvPr id="51" name="Oval 50"/>
          <p:cNvSpPr/>
          <p:nvPr/>
        </p:nvSpPr>
        <p:spPr>
          <a:xfrm>
            <a:off x="8291469" y="5851563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2" name="Oval 51"/>
          <p:cNvSpPr/>
          <p:nvPr/>
        </p:nvSpPr>
        <p:spPr>
          <a:xfrm>
            <a:off x="7527925" y="5851563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53" name="Straight Connector 52"/>
          <p:cNvCxnSpPr/>
          <p:nvPr/>
        </p:nvCxnSpPr>
        <p:spPr>
          <a:xfrm flipV="1">
            <a:off x="1331640" y="2936631"/>
            <a:ext cx="75031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7518134" y="5459474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7" name="Oval 56"/>
          <p:cNvSpPr/>
          <p:nvPr/>
        </p:nvSpPr>
        <p:spPr>
          <a:xfrm>
            <a:off x="7901968" y="5851563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8" name="Oval 57"/>
          <p:cNvSpPr/>
          <p:nvPr/>
        </p:nvSpPr>
        <p:spPr>
          <a:xfrm>
            <a:off x="7125100" y="5459474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59" name="Straight Connector 58"/>
          <p:cNvCxnSpPr/>
          <p:nvPr/>
        </p:nvCxnSpPr>
        <p:spPr>
          <a:xfrm flipV="1">
            <a:off x="2195736" y="2967476"/>
            <a:ext cx="75031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8291469" y="5459474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1" name="Oval 60"/>
          <p:cNvSpPr/>
          <p:nvPr/>
        </p:nvSpPr>
        <p:spPr>
          <a:xfrm>
            <a:off x="8656969" y="5851563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2" name="Oval 61"/>
          <p:cNvSpPr/>
          <p:nvPr/>
        </p:nvSpPr>
        <p:spPr>
          <a:xfrm>
            <a:off x="6345656" y="5851563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63" name="Straight Connector 62"/>
          <p:cNvCxnSpPr/>
          <p:nvPr/>
        </p:nvCxnSpPr>
        <p:spPr>
          <a:xfrm flipV="1">
            <a:off x="3131840" y="2960640"/>
            <a:ext cx="75031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7516133" y="5067385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5" name="Oval 64"/>
          <p:cNvSpPr/>
          <p:nvPr/>
        </p:nvSpPr>
        <p:spPr>
          <a:xfrm>
            <a:off x="7893244" y="5459474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6" name="Oval 65"/>
          <p:cNvSpPr/>
          <p:nvPr/>
        </p:nvSpPr>
        <p:spPr>
          <a:xfrm>
            <a:off x="7912872" y="5067385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67" name="Straight Connector 66"/>
          <p:cNvCxnSpPr/>
          <p:nvPr/>
        </p:nvCxnSpPr>
        <p:spPr>
          <a:xfrm flipV="1">
            <a:off x="3995936" y="2967476"/>
            <a:ext cx="75031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7510469" y="4644615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9" name="Oval 68"/>
          <p:cNvSpPr/>
          <p:nvPr/>
        </p:nvSpPr>
        <p:spPr>
          <a:xfrm>
            <a:off x="7527925" y="4265923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0" name="Oval 69"/>
          <p:cNvSpPr/>
          <p:nvPr/>
        </p:nvSpPr>
        <p:spPr>
          <a:xfrm>
            <a:off x="8291469" y="5052045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71" name="Straight Connector 70"/>
          <p:cNvCxnSpPr/>
          <p:nvPr/>
        </p:nvCxnSpPr>
        <p:spPr>
          <a:xfrm flipV="1">
            <a:off x="467544" y="3336198"/>
            <a:ext cx="75031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7527925" y="3851795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3" name="Oval 72"/>
          <p:cNvSpPr/>
          <p:nvPr/>
        </p:nvSpPr>
        <p:spPr>
          <a:xfrm>
            <a:off x="8291469" y="4655635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4" name="Oval 73"/>
          <p:cNvSpPr/>
          <p:nvPr/>
        </p:nvSpPr>
        <p:spPr>
          <a:xfrm>
            <a:off x="7527925" y="3459706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75" name="Straight Connector 74"/>
          <p:cNvCxnSpPr/>
          <p:nvPr/>
        </p:nvCxnSpPr>
        <p:spPr>
          <a:xfrm>
            <a:off x="1331640" y="3326295"/>
            <a:ext cx="37515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6738120" y="5851563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7" name="Oval 76"/>
          <p:cNvSpPr/>
          <p:nvPr/>
        </p:nvSpPr>
        <p:spPr>
          <a:xfrm>
            <a:off x="7912872" y="4655635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998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/>
      <p:bldP spid="51" grpId="0" animBg="1"/>
      <p:bldP spid="52" grpId="0" animBg="1"/>
      <p:bldP spid="56" grpId="0" animBg="1"/>
      <p:bldP spid="57" grpId="0" animBg="1"/>
      <p:bldP spid="58" grpId="0" animBg="1"/>
      <p:bldP spid="60" grpId="0" animBg="1"/>
      <p:bldP spid="61" grpId="0" animBg="1"/>
      <p:bldP spid="62" grpId="0" animBg="1"/>
      <p:bldP spid="64" grpId="0" animBg="1"/>
      <p:bldP spid="65" grpId="0" animBg="1"/>
      <p:bldP spid="66" grpId="0" animBg="1"/>
      <p:bldP spid="68" grpId="0" animBg="1"/>
      <p:bldP spid="69" grpId="0" animBg="1"/>
      <p:bldP spid="70" grpId="0" animBg="1"/>
      <p:bldP spid="72" grpId="0" animBg="1"/>
      <p:bldP spid="73" grpId="0" animBg="1"/>
      <p:bldP spid="74" grpId="0" animBg="1"/>
      <p:bldP spid="76" grpId="0" animBg="1"/>
      <p:bldP spid="7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-1" b="-23"/>
          <a:stretch/>
        </p:blipFill>
        <p:spPr>
          <a:xfrm rot="16200000">
            <a:off x="4986057" y="2927404"/>
            <a:ext cx="4860032" cy="279545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Putting data into a Dot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2697"/>
            <a:ext cx="9144000" cy="2016224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AU" dirty="0"/>
              <a:t>Draw scale to fit the highest and lowest numbers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Write the numbers on the lines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Fill in dots on the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186" y="2505201"/>
            <a:ext cx="47038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4, 7, 5, 5, 6, 4, 7, 8, 2, 5, 6, 6, 5, 5, 7, 5, 7, 5, 3, 6</a:t>
            </a:r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 rotWithShape="1">
          <a:blip r:embed="rId2"/>
          <a:srcRect t="83967" b="237"/>
          <a:stretch/>
        </p:blipFill>
        <p:spPr>
          <a:xfrm rot="16200000">
            <a:off x="6543563" y="4106339"/>
            <a:ext cx="4860032" cy="4414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72936" y="6243652"/>
            <a:ext cx="2759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b="1" dirty="0"/>
              <a:t>2  3  4  5  6  7  8</a:t>
            </a:r>
          </a:p>
        </p:txBody>
      </p:sp>
    </p:spTree>
    <p:extLst>
      <p:ext uri="{BB962C8B-B14F-4D97-AF65-F5344CB8AC3E}">
        <p14:creationId xmlns:p14="http://schemas.microsoft.com/office/powerpoint/2010/main" val="4048679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-1" b="30656"/>
          <a:stretch/>
        </p:blipFill>
        <p:spPr>
          <a:xfrm rot="16200000">
            <a:off x="4557345" y="3356116"/>
            <a:ext cx="4860032" cy="19380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Putting data into a Dot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2697"/>
            <a:ext cx="9144000" cy="2016224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AU" dirty="0"/>
              <a:t>Draw scale to fit the highest and lowest numbers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Write the numbers on the lines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Fill in dots on the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186" y="2505201"/>
            <a:ext cx="47038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20, 22, 21, 21, 23, 22, 20, 20, 21, 21, 21, 22, 20, 21, 20, 21</a:t>
            </a:r>
          </a:p>
        </p:txBody>
      </p:sp>
      <p:cxnSp>
        <p:nvCxnSpPr>
          <p:cNvPr id="39" name="Straight Connector 38"/>
          <p:cNvCxnSpPr/>
          <p:nvPr/>
        </p:nvCxnSpPr>
        <p:spPr>
          <a:xfrm>
            <a:off x="467544" y="2924944"/>
            <a:ext cx="115212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61362" y="6313100"/>
            <a:ext cx="16850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b="1" dirty="0"/>
              <a:t>20  21  22  23 </a:t>
            </a:r>
          </a:p>
        </p:txBody>
      </p:sp>
      <p:sp>
        <p:nvSpPr>
          <p:cNvPr id="62" name="Oval 61"/>
          <p:cNvSpPr/>
          <p:nvPr/>
        </p:nvSpPr>
        <p:spPr>
          <a:xfrm>
            <a:off x="6345656" y="5851563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2" name="Oval 41"/>
          <p:cNvSpPr/>
          <p:nvPr/>
        </p:nvSpPr>
        <p:spPr>
          <a:xfrm>
            <a:off x="7117163" y="5851563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3" name="Oval 42"/>
          <p:cNvSpPr/>
          <p:nvPr/>
        </p:nvSpPr>
        <p:spPr>
          <a:xfrm>
            <a:off x="6731409" y="5851563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44" name="Straight Connector 43"/>
          <p:cNvCxnSpPr/>
          <p:nvPr/>
        </p:nvCxnSpPr>
        <p:spPr>
          <a:xfrm>
            <a:off x="1835696" y="2920699"/>
            <a:ext cx="115212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6733904" y="5440795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6" name="Oval 45"/>
          <p:cNvSpPr/>
          <p:nvPr/>
        </p:nvSpPr>
        <p:spPr>
          <a:xfrm>
            <a:off x="7539264" y="5851563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7" name="Oval 46"/>
          <p:cNvSpPr/>
          <p:nvPr/>
        </p:nvSpPr>
        <p:spPr>
          <a:xfrm>
            <a:off x="7138711" y="5440795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48" name="Straight Connector 47"/>
          <p:cNvCxnSpPr/>
          <p:nvPr/>
        </p:nvCxnSpPr>
        <p:spPr>
          <a:xfrm>
            <a:off x="3203848" y="2920699"/>
            <a:ext cx="115212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6349602" y="5440795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4" name="Oval 53"/>
          <p:cNvSpPr/>
          <p:nvPr/>
        </p:nvSpPr>
        <p:spPr>
          <a:xfrm>
            <a:off x="6349602" y="5030027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5" name="Oval 54"/>
          <p:cNvSpPr/>
          <p:nvPr/>
        </p:nvSpPr>
        <p:spPr>
          <a:xfrm>
            <a:off x="6731409" y="5030027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78" name="Straight Connector 77"/>
          <p:cNvCxnSpPr/>
          <p:nvPr/>
        </p:nvCxnSpPr>
        <p:spPr>
          <a:xfrm>
            <a:off x="4492935" y="2927376"/>
            <a:ext cx="29508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467544" y="3284984"/>
            <a:ext cx="81895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6731409" y="4658490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1" name="Oval 80"/>
          <p:cNvSpPr/>
          <p:nvPr/>
        </p:nvSpPr>
        <p:spPr>
          <a:xfrm>
            <a:off x="6731409" y="4253390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2" name="Oval 81"/>
          <p:cNvSpPr/>
          <p:nvPr/>
        </p:nvSpPr>
        <p:spPr>
          <a:xfrm>
            <a:off x="7113216" y="5026861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83" name="Straight Connector 82"/>
          <p:cNvCxnSpPr/>
          <p:nvPr/>
        </p:nvCxnSpPr>
        <p:spPr>
          <a:xfrm>
            <a:off x="1338598" y="3284984"/>
            <a:ext cx="114517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6354283" y="4654670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7" name="Oval 86"/>
          <p:cNvSpPr/>
          <p:nvPr/>
        </p:nvSpPr>
        <p:spPr>
          <a:xfrm>
            <a:off x="6731409" y="3862238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8" name="Oval 87"/>
          <p:cNvSpPr/>
          <p:nvPr/>
        </p:nvSpPr>
        <p:spPr>
          <a:xfrm>
            <a:off x="6354283" y="4244062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89" name="Straight Connector 88"/>
          <p:cNvCxnSpPr/>
          <p:nvPr/>
        </p:nvCxnSpPr>
        <p:spPr>
          <a:xfrm>
            <a:off x="2717092" y="3284984"/>
            <a:ext cx="29508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Oval 89"/>
          <p:cNvSpPr/>
          <p:nvPr/>
        </p:nvSpPr>
        <p:spPr>
          <a:xfrm>
            <a:off x="6731409" y="3451470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1B032C-7EBB-4415-9A42-7CD2D0646609}"/>
              </a:ext>
            </a:extLst>
          </p:cNvPr>
          <p:cNvSpPr txBox="1"/>
          <p:nvPr/>
        </p:nvSpPr>
        <p:spPr>
          <a:xfrm>
            <a:off x="755576" y="4149080"/>
            <a:ext cx="3600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highlight>
                  <a:srgbClr val="FFFF00"/>
                </a:highlight>
              </a:rPr>
              <a:t>On your whiteboards </a:t>
            </a:r>
            <a:endParaRPr lang="en-AU" sz="48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63429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2" grpId="0" animBg="1"/>
      <p:bldP spid="42" grpId="0" animBg="1"/>
      <p:bldP spid="43" grpId="0" animBg="1"/>
      <p:bldP spid="45" grpId="0" animBg="1"/>
      <p:bldP spid="46" grpId="0" animBg="1"/>
      <p:bldP spid="47" grpId="0" animBg="1"/>
      <p:bldP spid="49" grpId="0" animBg="1"/>
      <p:bldP spid="54" grpId="0" animBg="1"/>
      <p:bldP spid="55" grpId="0" animBg="1"/>
      <p:bldP spid="80" grpId="0" animBg="1"/>
      <p:bldP spid="81" grpId="0" animBg="1"/>
      <p:bldP spid="82" grpId="0" animBg="1"/>
      <p:bldP spid="84" grpId="0" animBg="1"/>
      <p:bldP spid="87" grpId="0" animBg="1"/>
      <p:bldP spid="88" grpId="0" animBg="1"/>
      <p:bldP spid="9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-1" b="-263"/>
          <a:stretch/>
        </p:blipFill>
        <p:spPr>
          <a:xfrm rot="16200000">
            <a:off x="4051577" y="2882131"/>
            <a:ext cx="4860032" cy="2802126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 rotWithShape="1">
          <a:blip r:embed="rId2"/>
          <a:srcRect t="4425" b="-263"/>
          <a:stretch/>
        </p:blipFill>
        <p:spPr>
          <a:xfrm rot="16200000">
            <a:off x="5281397" y="2943980"/>
            <a:ext cx="4860032" cy="267842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Putting data into a Dot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2697"/>
            <a:ext cx="9144000" cy="2016224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AU" dirty="0"/>
              <a:t>Draw scale to fit the highest and lowest numbers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Write the numbers on the lines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Fill in dots on the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186" y="2505201"/>
            <a:ext cx="47038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7, 9, 11, 12, 13, 15, 12, 10, 9, 12, 11, 9, 11, 10, 11</a:t>
            </a:r>
          </a:p>
        </p:txBody>
      </p:sp>
      <p:cxnSp>
        <p:nvCxnSpPr>
          <p:cNvPr id="39" name="Straight Connector 38"/>
          <p:cNvCxnSpPr/>
          <p:nvPr/>
        </p:nvCxnSpPr>
        <p:spPr>
          <a:xfrm>
            <a:off x="467544" y="2924944"/>
            <a:ext cx="86409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54582" y="6282620"/>
            <a:ext cx="35173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b="1" dirty="0"/>
              <a:t>7     8    9   10   11  12   13  14  15</a:t>
            </a:r>
          </a:p>
        </p:txBody>
      </p:sp>
      <p:sp>
        <p:nvSpPr>
          <p:cNvPr id="62" name="Oval 61"/>
          <p:cNvSpPr/>
          <p:nvPr/>
        </p:nvSpPr>
        <p:spPr>
          <a:xfrm>
            <a:off x="5418035" y="5805264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2" name="Oval 31"/>
          <p:cNvSpPr/>
          <p:nvPr/>
        </p:nvSpPr>
        <p:spPr>
          <a:xfrm>
            <a:off x="6186434" y="5805264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3" name="Oval 32"/>
          <p:cNvSpPr/>
          <p:nvPr/>
        </p:nvSpPr>
        <p:spPr>
          <a:xfrm>
            <a:off x="6960598" y="5805264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4" name="Straight Connector 33"/>
          <p:cNvCxnSpPr/>
          <p:nvPr/>
        </p:nvCxnSpPr>
        <p:spPr>
          <a:xfrm>
            <a:off x="1547664" y="2934803"/>
            <a:ext cx="116942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7378529" y="5805264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Oval 36"/>
          <p:cNvSpPr/>
          <p:nvPr/>
        </p:nvSpPr>
        <p:spPr>
          <a:xfrm>
            <a:off x="7768026" y="5805264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Oval 37"/>
          <p:cNvSpPr/>
          <p:nvPr/>
        </p:nvSpPr>
        <p:spPr>
          <a:xfrm>
            <a:off x="8532933" y="5805264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40" name="Straight Connector 39"/>
          <p:cNvCxnSpPr/>
          <p:nvPr/>
        </p:nvCxnSpPr>
        <p:spPr>
          <a:xfrm>
            <a:off x="2843808" y="2934803"/>
            <a:ext cx="116942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7378529" y="5386586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0" name="Oval 49"/>
          <p:cNvSpPr/>
          <p:nvPr/>
        </p:nvSpPr>
        <p:spPr>
          <a:xfrm>
            <a:off x="6598790" y="5805264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1" name="Oval 50"/>
          <p:cNvSpPr/>
          <p:nvPr/>
        </p:nvSpPr>
        <p:spPr>
          <a:xfrm>
            <a:off x="6199727" y="5386586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52" name="Straight Connector 51"/>
          <p:cNvCxnSpPr/>
          <p:nvPr/>
        </p:nvCxnSpPr>
        <p:spPr>
          <a:xfrm flipV="1">
            <a:off x="4067944" y="2934803"/>
            <a:ext cx="720080" cy="223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467544" y="3284984"/>
            <a:ext cx="195599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7379458" y="4997247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7" name="Oval 56"/>
          <p:cNvSpPr/>
          <p:nvPr/>
        </p:nvSpPr>
        <p:spPr>
          <a:xfrm>
            <a:off x="6973891" y="5392434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8" name="Oval 57"/>
          <p:cNvSpPr/>
          <p:nvPr/>
        </p:nvSpPr>
        <p:spPr>
          <a:xfrm>
            <a:off x="6186434" y="4997247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59" name="Straight Connector 58"/>
          <p:cNvCxnSpPr/>
          <p:nvPr/>
        </p:nvCxnSpPr>
        <p:spPr>
          <a:xfrm>
            <a:off x="827584" y="3284984"/>
            <a:ext cx="116942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6973891" y="5003825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1" name="Oval 60"/>
          <p:cNvSpPr/>
          <p:nvPr/>
        </p:nvSpPr>
        <p:spPr>
          <a:xfrm>
            <a:off x="6583045" y="5391293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3" name="Oval 62"/>
          <p:cNvSpPr/>
          <p:nvPr/>
        </p:nvSpPr>
        <p:spPr>
          <a:xfrm>
            <a:off x="6958652" y="4608532"/>
            <a:ext cx="180000" cy="18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6AA7CC-94E2-4E89-98CD-15F717883BEA}"/>
              </a:ext>
            </a:extLst>
          </p:cNvPr>
          <p:cNvSpPr txBox="1"/>
          <p:nvPr/>
        </p:nvSpPr>
        <p:spPr>
          <a:xfrm>
            <a:off x="755576" y="4149080"/>
            <a:ext cx="3600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highlight>
                  <a:srgbClr val="FFFF00"/>
                </a:highlight>
              </a:rPr>
              <a:t>On your whiteboards </a:t>
            </a:r>
            <a:endParaRPr lang="en-AU" sz="48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083872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2" grpId="0" animBg="1"/>
      <p:bldP spid="32" grpId="0" animBg="1"/>
      <p:bldP spid="33" grpId="0" animBg="1"/>
      <p:bldP spid="36" grpId="0" animBg="1"/>
      <p:bldP spid="37" grpId="0" animBg="1"/>
      <p:bldP spid="38" grpId="0" animBg="1"/>
      <p:bldP spid="41" grpId="0" animBg="1"/>
      <p:bldP spid="50" grpId="0" animBg="1"/>
      <p:bldP spid="51" grpId="0" animBg="1"/>
      <p:bldP spid="56" grpId="0" animBg="1"/>
      <p:bldP spid="57" grpId="0" animBg="1"/>
      <p:bldP spid="58" grpId="0" animBg="1"/>
      <p:bldP spid="60" grpId="0" animBg="1"/>
      <p:bldP spid="61" grpId="0" animBg="1"/>
      <p:bldP spid="6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8EE85-37C8-9EAC-2E50-5CEBF1E41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MMMR </a:t>
            </a:r>
            <a:endParaRPr lang="en-A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224BCC-97DA-6DB6-02EA-C09E67C405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504" y="836712"/>
            <a:ext cx="4752528" cy="591110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4FDB56-CC56-8D39-8A84-B44D72F99FFA}"/>
              </a:ext>
            </a:extLst>
          </p:cNvPr>
          <p:cNvSpPr txBox="1"/>
          <p:nvPr/>
        </p:nvSpPr>
        <p:spPr>
          <a:xfrm>
            <a:off x="5148064" y="1052736"/>
            <a:ext cx="352839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How can we calculate mean, median, mode and range from this dot plot</a:t>
            </a:r>
            <a:r>
              <a:rPr lang="en-AU" sz="2400" b="1" dirty="0"/>
              <a:t>?</a:t>
            </a:r>
          </a:p>
          <a:p>
            <a:endParaRPr lang="en-AU" sz="2400" b="1" dirty="0"/>
          </a:p>
          <a:p>
            <a:r>
              <a:rPr lang="en-AU" sz="2400" b="1" dirty="0"/>
              <a:t>Mean:</a:t>
            </a:r>
          </a:p>
          <a:p>
            <a:endParaRPr lang="en-AU" sz="2400" b="1" dirty="0"/>
          </a:p>
          <a:p>
            <a:endParaRPr lang="en-AU" sz="2400" b="1" dirty="0"/>
          </a:p>
          <a:p>
            <a:r>
              <a:rPr lang="en-AU" sz="2400" b="1" dirty="0"/>
              <a:t>Mode:</a:t>
            </a:r>
          </a:p>
          <a:p>
            <a:endParaRPr lang="en-AU" sz="2400" b="1" dirty="0"/>
          </a:p>
          <a:p>
            <a:endParaRPr lang="en-AU" sz="2400" b="1" dirty="0"/>
          </a:p>
          <a:p>
            <a:r>
              <a:rPr lang="en-AU" sz="2400" b="1" dirty="0"/>
              <a:t>Median: </a:t>
            </a:r>
          </a:p>
          <a:p>
            <a:endParaRPr lang="en-AU" sz="2400" b="1" dirty="0"/>
          </a:p>
          <a:p>
            <a:endParaRPr lang="en-AU" sz="2400" b="1" dirty="0"/>
          </a:p>
          <a:p>
            <a:r>
              <a:rPr lang="en-AU" sz="2400" b="1" dirty="0"/>
              <a:t>Range: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78028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08B0D-67CD-46A1-BD31-A7D18E326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928" y="0"/>
            <a:ext cx="5220072" cy="1124744"/>
          </a:xfrm>
        </p:spPr>
        <p:txBody>
          <a:bodyPr>
            <a:norm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Whiteboards</a:t>
            </a:r>
            <a:r>
              <a:rPr lang="en-US" dirty="0"/>
              <a:t> </a:t>
            </a:r>
            <a:endParaRPr lang="en-A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70CB3E-CF63-12E0-6BBF-D8F0886C15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46" y="0"/>
            <a:ext cx="4112495" cy="632105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35B5D7-C94E-1606-0FB3-27C261218E6F}"/>
              </a:ext>
            </a:extLst>
          </p:cNvPr>
          <p:cNvSpPr txBox="1"/>
          <p:nvPr/>
        </p:nvSpPr>
        <p:spPr>
          <a:xfrm>
            <a:off x="4572000" y="1412776"/>
            <a:ext cx="273630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Calculate </a:t>
            </a:r>
          </a:p>
          <a:p>
            <a:endParaRPr lang="en-US" dirty="0"/>
          </a:p>
          <a:p>
            <a:r>
              <a:rPr lang="en-US" sz="3200" b="1" dirty="0"/>
              <a:t>Mean</a:t>
            </a:r>
          </a:p>
          <a:p>
            <a:endParaRPr lang="en-US" sz="3200" b="1" dirty="0"/>
          </a:p>
          <a:p>
            <a:r>
              <a:rPr lang="en-US" sz="3200" b="1" dirty="0"/>
              <a:t>Median </a:t>
            </a:r>
          </a:p>
          <a:p>
            <a:endParaRPr lang="en-US" sz="3200" b="1" dirty="0"/>
          </a:p>
          <a:p>
            <a:r>
              <a:rPr lang="en-US" sz="3200" b="1" dirty="0"/>
              <a:t>Mode </a:t>
            </a:r>
          </a:p>
          <a:p>
            <a:endParaRPr lang="en-US" sz="3200" b="1" dirty="0"/>
          </a:p>
          <a:p>
            <a:r>
              <a:rPr lang="en-US" sz="3200" b="1" dirty="0"/>
              <a:t>Range </a:t>
            </a:r>
            <a:endParaRPr lang="en-AU" sz="3200" b="1" dirty="0"/>
          </a:p>
        </p:txBody>
      </p:sp>
    </p:spTree>
    <p:extLst>
      <p:ext uri="{BB962C8B-B14F-4D97-AF65-F5344CB8AC3E}">
        <p14:creationId xmlns:p14="http://schemas.microsoft.com/office/powerpoint/2010/main" val="41249924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B406D-FC0E-4CB0-B7DA-C03CB8263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Skills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E8B47-498E-48EC-A2DA-D10314F06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Complete the activity provided.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92522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2272</TotalTime>
  <Words>1246</Words>
  <Application>Microsoft Office PowerPoint</Application>
  <PresentationFormat>On-screen Show (4:3)</PresentationFormat>
  <Paragraphs>212</Paragraphs>
  <Slides>19</Slides>
  <Notes>1</Notes>
  <HiddenSlides>5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Wingdings</vt:lpstr>
      <vt:lpstr>Office Theme</vt:lpstr>
      <vt:lpstr>1_Office Theme</vt:lpstr>
      <vt:lpstr>Lesson objective </vt:lpstr>
      <vt:lpstr>Which graph?</vt:lpstr>
      <vt:lpstr>Which graph?</vt:lpstr>
      <vt:lpstr>Dot Plot or Stem-and-Leaf?</vt:lpstr>
      <vt:lpstr>Stem and Leaf Diagrams</vt:lpstr>
      <vt:lpstr>Stem and Leaf Diagrams</vt:lpstr>
      <vt:lpstr>Putting data into a Stem and Leaf Diagram</vt:lpstr>
      <vt:lpstr>Putting data into a Stem and Leaf Diagram</vt:lpstr>
      <vt:lpstr>Putting data into a Stem and Leaf Diagram</vt:lpstr>
      <vt:lpstr>Putting data into a Stem and Leaf Diagram</vt:lpstr>
      <vt:lpstr>Putting data into a Dot Plot</vt:lpstr>
      <vt:lpstr>Putting data into a Dot Plot</vt:lpstr>
      <vt:lpstr>Putting data into a Dot Plot</vt:lpstr>
      <vt:lpstr>Putting data into a Dot Plot</vt:lpstr>
      <vt:lpstr>Putting data into a Dot Plot</vt:lpstr>
      <vt:lpstr>Putting data into a Dot Plot</vt:lpstr>
      <vt:lpstr>MMMR </vt:lpstr>
      <vt:lpstr>Whiteboards </vt:lpstr>
      <vt:lpstr>Skills practice </vt:lpstr>
    </vt:vector>
  </TitlesOfParts>
  <Company>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TOMLINSON Will</dc:creator>
  <cp:lastModifiedBy>DAVIES Rhys [Busselton Senior High School]</cp:lastModifiedBy>
  <cp:revision>164</cp:revision>
  <cp:lastPrinted>2022-11-22T23:34:17Z</cp:lastPrinted>
  <dcterms:created xsi:type="dcterms:W3CDTF">2019-11-25T04:21:16Z</dcterms:created>
  <dcterms:modified xsi:type="dcterms:W3CDTF">2023-11-07T00:27:31Z</dcterms:modified>
</cp:coreProperties>
</file>
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06" r:id="rId4"/>
    <p:sldId id="308" r:id="rId5"/>
    <p:sldId id="288" r:id="rId6"/>
    <p:sldId id="289" r:id="rId7"/>
    <p:sldId id="337" r:id="rId8"/>
    <p:sldId id="338" r:id="rId9"/>
    <p:sldId id="263" r:id="rId10"/>
    <p:sldId id="264" r:id="rId11"/>
    <p:sldId id="265" r:id="rId12"/>
    <p:sldId id="307" r:id="rId13"/>
    <p:sldId id="339" r:id="rId14"/>
    <p:sldId id="340" r:id="rId15"/>
    <p:sldId id="34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18198-7888-3ED0-A755-DF882F91C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E7FF0-8A9A-D5BD-D8D3-7ADA9E42F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6720E-DE7D-4E16-3C37-6C45CED7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F4B0D-373F-20DC-4056-F7502D76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1DBFA-DCAA-4253-D1E5-AFE80E5C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341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A297-BEFA-4341-FCAC-54571AAB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DC6E7-8178-78EC-798C-60CC96F9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20B90-F53D-5A51-DBDC-3CC18FCC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B9CAC-85FE-5C17-1D98-1CD1B786C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C6B2A-D803-A4AA-D2A2-4EDF2C8E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516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DB99-69B7-0CB8-F405-1860655F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E110F-7437-60A8-8C34-F7BACE0A6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46FD5-8F16-865F-4A12-B3D566E2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BF522-9465-E5A4-C985-9C08CB00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B87D3-44F9-4978-3801-F4D73704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07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8CD1-4261-9FED-2824-FBD8A611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8180-A027-05CB-F866-E043BC9F4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BBA00-435C-D60A-F552-383B11E30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7369C-CC1C-FA22-2A0E-E028F350C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487A8-A0FB-13F5-1EBE-24F8F0CF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2E0ED-5616-3A71-C96C-0418FEAB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266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D6AC-59D9-5CA5-378E-A10FA7DF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2E43-5403-90E9-2B76-76F390608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F3839-DC13-03F6-D9AD-96817185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08BAE-ED18-27FD-EFAE-394B62591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56B79-7449-FC0A-F65E-B6158CD18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FB681-FEE7-0487-68FA-82F34704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156D97-3B36-0E8E-10FE-E830612A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A150B2-7B48-46E5-F732-FE0468F2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648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A377-5A94-6095-A183-FFC80349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9B53F-A2B0-D88F-442A-F12655C5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1D5C8-3799-61F9-06AD-91071A91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5D8C2-3096-9CEA-7528-5A6CD36B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71615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846C6-05DC-5E69-BFA1-865F4E6C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EDB9E-A0FC-2CBD-ABC2-CC24597E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CF8EE-E974-FC5B-A39B-184670C8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905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2DF4-F371-14A9-F3F7-3270A5561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6FBC6-C9B3-04D0-193C-61618E203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DB89B-05C0-DD41-267E-07C0966A1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7A01-3164-4264-D307-6DD3845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94652-73C4-A0CE-D17B-35DDF857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67CE5-7C24-A2E3-917F-B902961E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3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6960-CCA9-DADB-4FD6-72045367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DE97E-7F6A-2506-3383-886616EA0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786CE-8B07-792A-4170-85BCB13B9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3718E-B685-E890-45F2-281E5527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04AFF-9398-87C6-DC89-F19B2F3E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E0E9B-B089-68C5-E7B9-CA4393F2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313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BC39-B39C-5139-550A-6898E739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68471-8521-0C56-C313-E2DAC59C8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2CD0D-4C0A-C82D-49CC-5C4752D1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F61CF-1C3A-DA94-2398-C8AE88C1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B6F0-115D-3EFB-99F5-994ECB36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8134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8A3F7-82A4-24AA-5399-7CD62DEE5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F4AA-BF26-3125-3390-4DEAC88E3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052C5-A623-2117-D334-D7EF367C3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C5A01-2CD7-D142-5AAC-F4405F52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89BE2-1365-2D63-ED3C-C3E3CD7F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8887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368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7964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072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6246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5019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8005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6872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189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06064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0057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5761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EBC3C8-CE3F-5379-0C11-85D06AD5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43DF8-0315-992E-9683-330FD3D6E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D3724-7827-9F0C-1761-43B62036B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3910F-1369-4E7E-B01A-60D2A1B39FF8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D5F0-2EB1-DD7E-889D-920330D06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1C926-5D47-2FF7-5603-E05A24DF7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5F6F9-C61A-4305-97E0-668E666146D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922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AD577-FEE9-4F71-8BB1-E3A0AC9C4BD4}" type="datetimeFigureOut">
              <a:rPr lang="en-AU" smtClean="0"/>
              <a:t>8/11/2023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E4CD-47AA-40C7-B537-49FB7D088D4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547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BF45DF-28EF-CDE2-BED4-A2679C0E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771B3-1D1B-E069-0B02-D5B7E104A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Unusual data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Describe and identify outliers in a data set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Explain the affect an outlier has on mean and median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Daily review: Dot plots, Stem and leaf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Weird numbers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5A404-8AAA-BAC3-770B-D51B7FFC4B73}"/>
              </a:ext>
            </a:extLst>
          </p:cNvPr>
          <p:cNvSpPr txBox="1"/>
          <p:nvPr/>
        </p:nvSpPr>
        <p:spPr>
          <a:xfrm>
            <a:off x="4483223" y="2299316"/>
            <a:ext cx="3826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calculator and whiteboards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54B5E-ECDD-76FD-B627-3661BC1B7914}"/>
              </a:ext>
            </a:extLst>
          </p:cNvPr>
          <p:cNvSpPr txBox="1"/>
          <p:nvPr/>
        </p:nvSpPr>
        <p:spPr>
          <a:xfrm>
            <a:off x="7048871" y="158062"/>
            <a:ext cx="5143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Empathy – allow others to work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Learn – seeking feedback to improve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653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9537" y="3068961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1, 2, 1, 5, 3, 4, 3, 2, 2, 3, 2, 5, 3, 4, 2, 2, 2, 5, 2, 1, 3, 4, 3, 2, 5, 4, 1, 2, 2, 3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2399"/>
          <a:stretch/>
        </p:blipFill>
        <p:spPr>
          <a:xfrm rot="16200000">
            <a:off x="6926472" y="3156227"/>
            <a:ext cx="4860032" cy="2448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4096" y="6278377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prstClr val="black"/>
                </a:solidFill>
                <a:latin typeface="Calibri"/>
              </a:rPr>
              <a:t>1  2  3  4  5</a:t>
            </a:r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1991545" y="348445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927649" y="3474912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791745" y="3480840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4655841" y="348676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5591945" y="3481880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1991545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927649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3791745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727849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591945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61DF656-9128-35D7-1E66-68A655D938A1}"/>
              </a:ext>
            </a:extLst>
          </p:cNvPr>
          <p:cNvSpPr txBox="1"/>
          <p:nvPr/>
        </p:nvSpPr>
        <p:spPr>
          <a:xfrm>
            <a:off x="106531" y="142043"/>
            <a:ext cx="1885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859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-23"/>
          <a:stretch/>
        </p:blipFill>
        <p:spPr>
          <a:xfrm rot="16200000">
            <a:off x="6510057" y="2927404"/>
            <a:ext cx="4860032" cy="2795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187" y="2505202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4, 7, 5, 5, 6, 4, 7, </a:t>
            </a:r>
            <a:r>
              <a:rPr lang="en-AU" sz="2400" b="1" dirty="0">
                <a:solidFill>
                  <a:prstClr val="black"/>
                </a:solidFill>
                <a:latin typeface="Calibri"/>
              </a:rPr>
              <a:t>8</a:t>
            </a:r>
            <a:r>
              <a:rPr lang="en-AU" sz="24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AU" sz="2400" b="1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AU" sz="2400" dirty="0">
                <a:solidFill>
                  <a:prstClr val="black"/>
                </a:solidFill>
                <a:latin typeface="Calibri"/>
              </a:rPr>
              <a:t>, 5, 6, 6, 5, 5, 7, 5, 7, 5, 3, 6</a:t>
            </a:r>
          </a:p>
        </p:txBody>
      </p:sp>
      <p:sp>
        <p:nvSpPr>
          <p:cNvPr id="7" name="Oval 6"/>
          <p:cNvSpPr/>
          <p:nvPr/>
        </p:nvSpPr>
        <p:spPr>
          <a:xfrm>
            <a:off x="864558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1991545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2"/>
          <a:srcRect t="83967" b="237"/>
          <a:stretch/>
        </p:blipFill>
        <p:spPr>
          <a:xfrm rot="16200000">
            <a:off x="8067563" y="4106339"/>
            <a:ext cx="4860032" cy="441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96937" y="6243653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prstClr val="black"/>
                </a:solidFill>
                <a:latin typeface="Calibri"/>
              </a:rPr>
              <a:t>2  3  4  5  6  7  8</a:t>
            </a:r>
          </a:p>
        </p:txBody>
      </p:sp>
      <p:sp>
        <p:nvSpPr>
          <p:cNvPr id="51" name="Oval 50"/>
          <p:cNvSpPr/>
          <p:nvPr/>
        </p:nvSpPr>
        <p:spPr>
          <a:xfrm>
            <a:off x="981546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9051925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2855641" y="2936631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9042134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425968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649100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3719737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815469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1018096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86965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flipV="1">
            <a:off x="4655841" y="2960640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9040133" y="506738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9417244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9436872" y="506738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7" name="Straight Connector 66"/>
          <p:cNvCxnSpPr/>
          <p:nvPr/>
        </p:nvCxnSpPr>
        <p:spPr>
          <a:xfrm flipV="1">
            <a:off x="5519937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034469" y="464461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9051925" y="426592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9815469" y="505204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1991545" y="333619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051925" y="3851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815469" y="465563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9051925" y="345970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>
            <a:off x="2855641" y="3326295"/>
            <a:ext cx="3751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8262120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9436872" y="465563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C61C3B-00D7-1CD3-682E-B07E63894A0A}"/>
              </a:ext>
            </a:extLst>
          </p:cNvPr>
          <p:cNvSpPr txBox="1"/>
          <p:nvPr/>
        </p:nvSpPr>
        <p:spPr>
          <a:xfrm>
            <a:off x="106531" y="142043"/>
            <a:ext cx="1885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999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  <p:bldP spid="51" grpId="0" animBg="1"/>
      <p:bldP spid="52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6014" b="86636"/>
          <a:stretch/>
        </p:blipFill>
        <p:spPr>
          <a:xfrm>
            <a:off x="1524000" y="3081269"/>
            <a:ext cx="9144000" cy="436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5521" y="4009734"/>
            <a:ext cx="8359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prstClr val="black"/>
                </a:solidFill>
                <a:latin typeface="Calibri"/>
              </a:rPr>
              <a:t>40,  43,  45,  47,  52,  55,  57,  59,  65,  71,  72,  79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423592" y="4909816"/>
            <a:ext cx="4860032" cy="1692771"/>
            <a:chOff x="561975" y="2184708"/>
            <a:chExt cx="8020050" cy="257879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b="41858"/>
            <a:stretch/>
          </p:blipFill>
          <p:spPr>
            <a:xfrm>
              <a:off x="561975" y="2218988"/>
              <a:ext cx="8020050" cy="247550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19250" y="2184708"/>
              <a:ext cx="582493" cy="2578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4</a:t>
              </a:r>
            </a:p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5</a:t>
              </a:r>
            </a:p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6</a:t>
              </a:r>
            </a:p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7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845990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7688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6600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4290" y="4923136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5990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688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6600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4290" y="530630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3344" y="569864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0630" y="6110145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2328" y="6110145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1240" y="6110144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214927" y="5796184"/>
            <a:ext cx="1779279" cy="687365"/>
            <a:chOff x="3581198" y="5698647"/>
            <a:chExt cx="1779279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581198" y="5698647"/>
              <a:ext cx="1779279" cy="687365"/>
              <a:chOff x="5290238" y="6056746"/>
              <a:chExt cx="1779279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means 52</a:t>
                </a:r>
              </a:p>
            </p:txBody>
          </p: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6507" y="6090480"/>
              <a:ext cx="589560" cy="276837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1881374" y="3986478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30457" y="3986478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2436" y="3986478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94415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47657" y="39864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45806" y="39864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26835" y="39917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37757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435906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29708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807617" y="3986473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501419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A68075-88AE-4086-23A4-EDB88A7CF81D}"/>
              </a:ext>
            </a:extLst>
          </p:cNvPr>
          <p:cNvSpPr txBox="1"/>
          <p:nvPr/>
        </p:nvSpPr>
        <p:spPr>
          <a:xfrm>
            <a:off x="-109493" y="231031"/>
            <a:ext cx="1885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2994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r>
              <a:rPr lang="en-AU" dirty="0">
                <a:highlight>
                  <a:srgbClr val="FFFF00"/>
                </a:highlight>
              </a:rPr>
              <a:t> 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 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t="15075" r="30405" b="72942"/>
          <a:stretch/>
        </p:blipFill>
        <p:spPr>
          <a:xfrm>
            <a:off x="1775521" y="3282910"/>
            <a:ext cx="8601389" cy="391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62390" y="3756783"/>
            <a:ext cx="773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prstClr val="black"/>
                </a:solidFill>
                <a:latin typeface="Calibri"/>
              </a:rPr>
              <a:t>3,  7,  9,  16,  18,  18,  19,  21,  23,  29,  33,  37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41858"/>
          <a:stretch/>
        </p:blipFill>
        <p:spPr>
          <a:xfrm>
            <a:off x="2423592" y="4932318"/>
            <a:ext cx="4860032" cy="1624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6977" y="4898417"/>
            <a:ext cx="35298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0</a:t>
            </a:r>
          </a:p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1</a:t>
            </a:r>
          </a:p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5990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7688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6600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5990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688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6600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4290" y="530630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3344" y="569864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54105" y="5699224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372" y="5705320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63344" y="608563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54105" y="608620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5214927" y="5796184"/>
            <a:ext cx="1779279" cy="687365"/>
            <a:chOff x="3690926" y="5796183"/>
            <a:chExt cx="1779279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690926" y="5796183"/>
              <a:ext cx="1779279" cy="687365"/>
              <a:chOff x="5290238" y="6056746"/>
              <a:chExt cx="1779279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means 21</a:t>
                </a:r>
              </a:p>
            </p:txBody>
          </p:sp>
        </p:grp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39627" y="6166733"/>
              <a:ext cx="575110" cy="290938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8C776EC-060F-08E5-0F7C-385D2B27C28A}"/>
              </a:ext>
            </a:extLst>
          </p:cNvPr>
          <p:cNvSpPr txBox="1"/>
          <p:nvPr/>
        </p:nvSpPr>
        <p:spPr>
          <a:xfrm>
            <a:off x="-109493" y="379570"/>
            <a:ext cx="1885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1369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40" grpId="0"/>
      <p:bldP spid="41" grpId="0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D266-0F61-3818-95B6-E0D26282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Think, pair and share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FB43-3CA1-A0B9-7476-6CA1F08EA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something you notice about this dot plot that sticks out? </a:t>
            </a:r>
            <a:endParaRPr lang="en-AU" dirty="0"/>
          </a:p>
        </p:txBody>
      </p:sp>
      <p:pic>
        <p:nvPicPr>
          <p:cNvPr id="1026" name="Picture 2" descr="Comparing Dot Plots Visually">
            <a:extLst>
              <a:ext uri="{FF2B5EF4-FFF2-40B4-BE49-F238E27FC236}">
                <a16:creationId xmlns:a16="http://schemas.microsoft.com/office/drawing/2014/main" id="{EEC4818B-68B5-DE12-E3F8-612FE9FA3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615360"/>
            <a:ext cx="10582275" cy="349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553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CE8E-9A55-9476-41DB-21C2AC8EF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E326-B1FA-2FCC-6473-9BA02BF1D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50" y="1491449"/>
            <a:ext cx="11967099" cy="4703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An outlier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</a:rPr>
              <a:t>is a data point that </a:t>
            </a:r>
            <a:r>
              <a:rPr kumimoji="0" lang="en-GB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</a:rPr>
              <a:t>lies outside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</a:rPr>
              <a:t>the overall pattern in a distribution.</a:t>
            </a:r>
          </a:p>
          <a:p>
            <a:pPr marL="0" indent="0">
              <a:buNone/>
            </a:pPr>
            <a:endParaRPr lang="en-GB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buNone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outlier is a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point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seems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 of place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compared to the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whole data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  <a:latin typeface="Calibri" panose="020F0502020204030204"/>
            </a:endParaRPr>
          </a:p>
          <a:p>
            <a:pPr marL="0" indent="0">
              <a:buNone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outlier is a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________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seems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 of place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compared to the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whole data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indent="0">
              <a:buNone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outlier is a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________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seems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__________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compared to the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whole data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indent="0">
              <a:buNone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outlier is a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________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seems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__________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compared to the </a:t>
            </a:r>
            <a:r>
              <a:rPr lang="en-GB" b="1" dirty="0">
                <a:solidFill>
                  <a:srgbClr val="FF0000"/>
                </a:solidFill>
                <a:latin typeface="Calibri" panose="020F0502020204030204"/>
              </a:rPr>
              <a:t>_________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A5817-9BC0-2AF8-E5D1-8138F0C5348F}"/>
              </a:ext>
            </a:extLst>
          </p:cNvPr>
          <p:cNvSpPr/>
          <p:nvPr/>
        </p:nvSpPr>
        <p:spPr>
          <a:xfrm>
            <a:off x="112450" y="2521258"/>
            <a:ext cx="11650463" cy="3506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147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8F4CC-AFDF-4446-7E38-1985C917705C}"/>
              </a:ext>
            </a:extLst>
          </p:cNvPr>
          <p:cNvSpPr txBox="1"/>
          <p:nvPr/>
        </p:nvSpPr>
        <p:spPr>
          <a:xfrm>
            <a:off x="410451" y="437566"/>
            <a:ext cx="11371097" cy="317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Outlier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a data point that lies outside the overall pattern in a distribution.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Pick the outlier from the set: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 1:                     1, 2, 3, 1, 2, 3, 8, 1, 2, 3, 1, 2, 3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 2:                     10, 11, 14, 15, 16, 10, 15, 11, 14, 13, 1, 12, 13, 14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 3:                     4, 31, 32, 34, 38, 45, 56, 48, 52, 29, 101, 41, 37, 35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798BEF-1642-339B-FB4A-5DCE0AB19FA5}"/>
              </a:ext>
            </a:extLst>
          </p:cNvPr>
          <p:cNvSpPr/>
          <p:nvPr/>
        </p:nvSpPr>
        <p:spPr>
          <a:xfrm>
            <a:off x="4347607" y="2070022"/>
            <a:ext cx="286101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51F4DD-7DD3-1847-A265-9BC60A0B4103}"/>
              </a:ext>
            </a:extLst>
          </p:cNvPr>
          <p:cNvSpPr/>
          <p:nvPr/>
        </p:nvSpPr>
        <p:spPr>
          <a:xfrm>
            <a:off x="7069303" y="2592670"/>
            <a:ext cx="286101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9549D6-A4CF-67E3-8E4B-205FEACAC1C8}"/>
              </a:ext>
            </a:extLst>
          </p:cNvPr>
          <p:cNvSpPr/>
          <p:nvPr/>
        </p:nvSpPr>
        <p:spPr>
          <a:xfrm>
            <a:off x="2599214" y="3208054"/>
            <a:ext cx="286101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DE0D32-51BA-0BDA-0B5F-747D19A08F0E}"/>
              </a:ext>
            </a:extLst>
          </p:cNvPr>
          <p:cNvSpPr/>
          <p:nvPr/>
        </p:nvSpPr>
        <p:spPr>
          <a:xfrm>
            <a:off x="7047330" y="3192920"/>
            <a:ext cx="430555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36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/>
              <p:nvPr/>
            </p:nvSpPr>
            <p:spPr>
              <a:xfrm>
                <a:off x="410451" y="437566"/>
                <a:ext cx="11371097" cy="3591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Outlier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a data point that lies outside the overall pattern in a distribution.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1:                     1, 2, 3, 1, 2, 3, 8, 1, 2, 3, 1, 2, 3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Ordered set 1:     1, 1, 1, 1, 2, 2, 2, 2, 3, 3, 3, 3, 8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32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13</m:t>
                        </m:r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=2.46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Median=2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51" y="437566"/>
                <a:ext cx="11371097" cy="3591368"/>
              </a:xfrm>
              <a:prstGeom prst="rect">
                <a:avLst/>
              </a:prstGeom>
              <a:blipFill>
                <a:blip r:embed="rId2"/>
                <a:stretch>
                  <a:fillRect l="-804" t="-1358" b="-28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78F8B-D730-A0D0-C634-773D083F8F60}"/>
                  </a:ext>
                </a:extLst>
              </p:cNvPr>
              <p:cNvSpPr txBox="1"/>
              <p:nvPr/>
            </p:nvSpPr>
            <p:spPr>
              <a:xfrm>
                <a:off x="6664462" y="2541247"/>
                <a:ext cx="4762734" cy="135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Without the outlier: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24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</m:t>
                        </m:r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Median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78F8B-D730-A0D0-C634-773D083F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462" y="2541247"/>
                <a:ext cx="4762734" cy="1353319"/>
              </a:xfrm>
              <a:prstGeom prst="rect">
                <a:avLst/>
              </a:prstGeom>
              <a:blipFill>
                <a:blip r:embed="rId3"/>
                <a:stretch>
                  <a:fillRect l="-1918" t="-3604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E941FA9D-0804-1FC7-8C31-58155CDDC5B7}"/>
              </a:ext>
            </a:extLst>
          </p:cNvPr>
          <p:cNvSpPr/>
          <p:nvPr/>
        </p:nvSpPr>
        <p:spPr>
          <a:xfrm>
            <a:off x="6095999" y="2233250"/>
            <a:ext cx="314150" cy="38707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01888-D8BF-C9A0-0EB2-F4BA9858269E}"/>
              </a:ext>
            </a:extLst>
          </p:cNvPr>
          <p:cNvSpPr txBox="1"/>
          <p:nvPr/>
        </p:nvSpPr>
        <p:spPr>
          <a:xfrm>
            <a:off x="634845" y="4185858"/>
            <a:ext cx="829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average is effected more by the outlier?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Mean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does the outlier do to the mean compared to the median?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increases it</a:t>
            </a:r>
          </a:p>
        </p:txBody>
      </p:sp>
    </p:spTree>
    <p:extLst>
      <p:ext uri="{BB962C8B-B14F-4D97-AF65-F5344CB8AC3E}">
        <p14:creationId xmlns:p14="http://schemas.microsoft.com/office/powerpoint/2010/main" val="354638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 animBg="1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/>
              <p:nvPr/>
            </p:nvSpPr>
            <p:spPr>
              <a:xfrm>
                <a:off x="410451" y="437566"/>
                <a:ext cx="11371097" cy="358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Outlier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a data point that lies outside the overall pattern in a distribution.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2:                     10, 11, 14, 15, 16, 10, 15, 11, 14, 13, 1, 12, 13, 14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ordered set 2:      1, 10, 10, 11, 11, 12, 13, 13, 14, 14, 14, 15, 15, 16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169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14</m:t>
                        </m:r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=12.07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Median=13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51" y="437566"/>
                <a:ext cx="11371097" cy="3588546"/>
              </a:xfrm>
              <a:prstGeom prst="rect">
                <a:avLst/>
              </a:prstGeom>
              <a:blipFill>
                <a:blip r:embed="rId2"/>
                <a:stretch>
                  <a:fillRect l="-804" t="-1361" b="-3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698E5ED9-11FF-FE0A-BB04-283C3E272F31}"/>
              </a:ext>
            </a:extLst>
          </p:cNvPr>
          <p:cNvSpPr/>
          <p:nvPr/>
        </p:nvSpPr>
        <p:spPr>
          <a:xfrm>
            <a:off x="2556205" y="2272519"/>
            <a:ext cx="314150" cy="38707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CBA781-4FEA-161C-F4D3-358F123F91FE}"/>
                  </a:ext>
                </a:extLst>
              </p:cNvPr>
              <p:cNvSpPr txBox="1"/>
              <p:nvPr/>
            </p:nvSpPr>
            <p:spPr>
              <a:xfrm>
                <a:off x="6664462" y="2640092"/>
                <a:ext cx="4762734" cy="1386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Without the outlier: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168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13</m:t>
                        </m:r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=12.92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Median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=13.5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CBA781-4FEA-161C-F4D3-358F123F9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462" y="2640092"/>
                <a:ext cx="4762734" cy="1386020"/>
              </a:xfrm>
              <a:prstGeom prst="rect">
                <a:avLst/>
              </a:prstGeom>
              <a:blipFill>
                <a:blip r:embed="rId3"/>
                <a:stretch>
                  <a:fillRect l="-1918" t="-3524" b="-70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A50BFE1-3CB0-8965-FA5F-C8205D7F9661}"/>
              </a:ext>
            </a:extLst>
          </p:cNvPr>
          <p:cNvSpPr txBox="1"/>
          <p:nvPr/>
        </p:nvSpPr>
        <p:spPr>
          <a:xfrm>
            <a:off x="634845" y="4185858"/>
            <a:ext cx="829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average is effected more by the outlier?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Mean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does the outlier do to the mean compared to the median?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decreases it</a:t>
            </a:r>
          </a:p>
        </p:txBody>
      </p:sp>
    </p:spTree>
    <p:extLst>
      <p:ext uri="{BB962C8B-B14F-4D97-AF65-F5344CB8AC3E}">
        <p14:creationId xmlns:p14="http://schemas.microsoft.com/office/powerpoint/2010/main" val="11912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55E08-0E23-67DB-93C2-0F5736C2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Think, pair and share.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011B-D863-329C-C483-9FBF6D47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outlier? </a:t>
            </a:r>
          </a:p>
          <a:p>
            <a:pPr marL="0" indent="0">
              <a:buNone/>
            </a:pPr>
            <a:r>
              <a:rPr lang="en-US" dirty="0"/>
              <a:t>How do you think it will affect the mean?</a:t>
            </a:r>
          </a:p>
          <a:p>
            <a:pPr marL="0" indent="0">
              <a:buNone/>
            </a:pPr>
            <a:r>
              <a:rPr lang="en-US" dirty="0"/>
              <a:t>With a partner, calculate the mean with AND without the outlier.  </a:t>
            </a:r>
            <a:endParaRPr lang="en-AU" dirty="0"/>
          </a:p>
        </p:txBody>
      </p:sp>
      <p:pic>
        <p:nvPicPr>
          <p:cNvPr id="4" name="Picture 2" descr="Comparing Dot Plots Visually">
            <a:extLst>
              <a:ext uri="{FF2B5EF4-FFF2-40B4-BE49-F238E27FC236}">
                <a16:creationId xmlns:a16="http://schemas.microsoft.com/office/drawing/2014/main" id="{4569CED3-4BDC-6756-DC13-47AC7D872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713576"/>
            <a:ext cx="10582275" cy="314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36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835E-8594-6556-EC1D-7B3564197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Your words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6C530-F8A6-B7F2-048D-4C86610F7D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Write in your exercise books: 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What is an outlier? 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What does an outlier do to the mean? </a:t>
            </a:r>
          </a:p>
        </p:txBody>
      </p:sp>
    </p:spTree>
    <p:extLst>
      <p:ext uri="{BB962C8B-B14F-4D97-AF65-F5344CB8AC3E}">
        <p14:creationId xmlns:p14="http://schemas.microsoft.com/office/powerpoint/2010/main" val="170058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8405-5D05-966D-2175-9DA89405D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2063-A996-0AB9-9AE2-430997C1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Fist to 5: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Describe and identify outliers from in a data set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Explain the effect an outlier has on mean and median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44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7E91-1D7D-954E-D927-2A0E38044A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5D78-071B-605E-ED32-FAA6869A5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and interpret the data (stem and leaf)</a:t>
            </a:r>
          </a:p>
          <a:p>
            <a:pPr marL="0" indent="0">
              <a:buNone/>
            </a:pPr>
            <a:r>
              <a:rPr lang="en-US" dirty="0"/>
              <a:t>“How does a vampire begin its letters?”</a:t>
            </a:r>
          </a:p>
          <a:p>
            <a:pPr marL="0" indent="0">
              <a:buNone/>
            </a:pPr>
            <a:r>
              <a:rPr lang="en-US" dirty="0"/>
              <a:t>CF</a:t>
            </a:r>
          </a:p>
        </p:txBody>
      </p:sp>
    </p:spTree>
    <p:extLst>
      <p:ext uri="{BB962C8B-B14F-4D97-AF65-F5344CB8AC3E}">
        <p14:creationId xmlns:p14="http://schemas.microsoft.com/office/powerpoint/2010/main" val="2912965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927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Putting data into a Dot Plot</vt:lpstr>
      <vt:lpstr>Putting data into a Dot Plot</vt:lpstr>
      <vt:lpstr>Putting data into a Stem and Leaf Diagram</vt:lpstr>
      <vt:lpstr>Putting data into a Stem and Leaf Diagram</vt:lpstr>
      <vt:lpstr>Think, pair and share </vt:lpstr>
      <vt:lpstr>Choral response </vt:lpstr>
      <vt:lpstr>PowerPoint Presentation</vt:lpstr>
      <vt:lpstr>PowerPoint Presentation</vt:lpstr>
      <vt:lpstr>PowerPoint Presentation</vt:lpstr>
      <vt:lpstr>Think, pair and share. </vt:lpstr>
      <vt:lpstr>Your words</vt:lpstr>
      <vt:lpstr>Reflect </vt:lpstr>
      <vt:lpstr>Individual practice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11</cp:revision>
  <dcterms:created xsi:type="dcterms:W3CDTF">2022-11-24T08:17:00Z</dcterms:created>
  <dcterms:modified xsi:type="dcterms:W3CDTF">2023-11-08T01:04:04Z</dcterms:modified>
</cp:coreProperties>
</file>
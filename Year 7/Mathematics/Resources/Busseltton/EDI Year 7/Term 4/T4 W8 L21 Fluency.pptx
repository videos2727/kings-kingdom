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68" r:id="rId4"/>
    <p:sldId id="267" r:id="rId5"/>
    <p:sldId id="269" r:id="rId6"/>
    <p:sldId id="270" r:id="rId7"/>
    <p:sldId id="272" r:id="rId8"/>
    <p:sldId id="279" r:id="rId9"/>
    <p:sldId id="261" r:id="rId10"/>
    <p:sldId id="263" r:id="rId11"/>
    <p:sldId id="280" r:id="rId12"/>
    <p:sldId id="276" r:id="rId13"/>
    <p:sldId id="264" r:id="rId14"/>
    <p:sldId id="265" r:id="rId15"/>
    <p:sldId id="277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138F-9012-285F-0B2F-2169B1D50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47B71-7198-31D0-F76A-697724C29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76133-DB04-6CF7-6473-E46ED542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AE18F-AD99-0E7E-8A0F-12532B18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E3A81-3396-B830-1DEA-30EAF486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3420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E19A-8B9E-C9B3-9F80-8407A56E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F6189-2861-4955-308D-21F4E7864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0F91-17AA-B3A6-AC80-5B12C46D9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DD3B1-B6F6-7055-26EE-455B9F78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6D098-C60B-2399-E593-D717180F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071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665F9-C66F-8227-34F1-1FEEDEA3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F17AF-D1B1-2C87-3C42-91D3FCC85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6527A-A86B-CD75-17AB-5ADACD010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DBB40-2C67-9C0F-A297-4B4C024AE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7FB1-5D49-7DAF-228F-EEAEE3080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516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EDB9-CE57-0924-31DD-A9897BE6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7AD8E-FD42-0A68-E6A4-7C774F2C4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2DE64-67D6-7125-B820-C1FE87533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80F65-5A73-1AB1-0DA0-282BED34C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3AC0D-5A25-D786-E49C-BA33192C7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160A8-37B5-32C2-856A-129A8057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122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AC0B-2BB4-BDAF-79D4-66E7E19F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D64F0-1C72-E89B-A326-B98A20A2C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0AA6A-B216-EAE8-C158-21E7D9A93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5C54A-0661-D04C-F82A-22050FC28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884C0-3D25-BEDA-13C8-8721AC00A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31885-3B81-2AAC-9A74-A913A2A9E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85C83D-A75E-ED4A-CA6C-863F4938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A3B70A-FA2C-2628-6A85-394AD814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731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E1664-0D6F-FD90-DDBC-BD64BD4B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54932-AD08-531B-6DD4-10A6C033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74C69-1C8C-E6EE-43DF-16266CDC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4153E-C637-50CD-E996-B35FC6CF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4682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F239C-B7E3-5ADB-5877-7956B4E6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148A71-3C4B-2C7B-FA74-FEC2F0025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C37D8-D3F1-A5D2-E79D-D733C469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0964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C60-D920-F7DA-46B7-B97D2166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03B88-C41B-F2B7-C569-4EF94A1EC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EC0E0-A090-949A-98B2-3064B5DE9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C4E09-D08C-B2FA-985A-D4292284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47C31-9B93-9D94-2080-26B6ABE3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131AC-B184-8A9C-616D-0FFC84F6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710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FAEE-25E9-C6B7-55F0-BF516890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BD460A-4661-E9AC-55E2-6FACF63176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55AC-307A-205D-6778-958072428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C332B-B390-4BF4-790F-76B1847D0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8B424-66BF-5262-DB4D-C6139C0E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75917-8947-C8B0-70F3-82062536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8788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363E-9277-8748-040F-CA13E157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BCE56-712E-96D2-EC08-0D8599381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5C18C-7A74-C2D5-BDF7-C247E816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9F2C7-6656-C739-F3EB-7AB67D09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BC273-1861-9FDA-AFF2-9B114D095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209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3EFEA1-DE5A-A402-2FE0-5ED47D972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2B6BE-66C9-D2BB-2588-7BB8FA1A0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3A9C4-DA0C-B100-2738-7E343F21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960CD-75D4-8E1C-C8FD-209C6A22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F29D2-26AC-037D-015C-3D5E5F48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865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41EDDD-6A1F-0712-0F30-D15A2D43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9816B-331B-C252-E0DB-E398EBB8A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9EC6E-FBFF-0B3C-7FFA-4AC1CD799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DD9D6-1951-4CF6-BB54-A5B429DF9262}" type="datetimeFigureOut">
              <a:rPr lang="en-AU" smtClean="0"/>
              <a:t>28/11/2023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339C-62B4-C71D-E16F-96941B3E7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198C-01DA-4145-8303-38E2D7F63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9D82C-98DF-40AC-8B06-8EEE39AD73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561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88766C-4ADE-8A1D-E427-D97D1ED68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26DAA9-EF39-5AE9-D6B8-D10208607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326"/>
            <a:ext cx="10515600" cy="499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Title: Fractions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Create equivalent fractions to use when adding or subtracting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convert proper and improper fractions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Equivalent fractions 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Addition and subtraction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922BD-04F2-FB64-E798-C2ACDF0B1075}"/>
              </a:ext>
            </a:extLst>
          </p:cNvPr>
          <p:cNvSpPr txBox="1"/>
          <p:nvPr/>
        </p:nvSpPr>
        <p:spPr>
          <a:xfrm>
            <a:off x="7750206" y="1500326"/>
            <a:ext cx="24502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Need whiteboards.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03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5ECDD-B1B2-EAEE-860D-C9AB16C1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equivalent fractions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548FA1-4D64-8BEA-8255-359FE86A19C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548FA1-4D64-8BEA-8255-359FE86A1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A806F0E-0EFE-DBB0-A950-BF015BA9171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/>
                      </m:f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A806F0E-0EFE-DBB0-A950-BF015BA91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ABE2288-9B6E-E277-49AE-3F6B8A5F0F24}"/>
              </a:ext>
            </a:extLst>
          </p:cNvPr>
          <p:cNvSpPr txBox="1"/>
          <p:nvPr/>
        </p:nvSpPr>
        <p:spPr>
          <a:xfrm>
            <a:off x="594804" y="1825625"/>
            <a:ext cx="1029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I do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052F0-88F7-500C-CCA5-BC4C0449963E}"/>
              </a:ext>
            </a:extLst>
          </p:cNvPr>
          <p:cNvSpPr txBox="1"/>
          <p:nvPr/>
        </p:nvSpPr>
        <p:spPr>
          <a:xfrm>
            <a:off x="10838895" y="1823930"/>
            <a:ext cx="1029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We do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40426-E419-ECF1-109D-0D3A282AA3F7}"/>
              </a:ext>
            </a:extLst>
          </p:cNvPr>
          <p:cNvSpPr txBox="1"/>
          <p:nvPr/>
        </p:nvSpPr>
        <p:spPr>
          <a:xfrm>
            <a:off x="838200" y="2229388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Factor of 2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A7A5AF-8223-847E-74E2-360B5C72E90F}"/>
              </a:ext>
            </a:extLst>
          </p:cNvPr>
          <p:cNvSpPr txBox="1"/>
          <p:nvPr/>
        </p:nvSpPr>
        <p:spPr>
          <a:xfrm>
            <a:off x="838200" y="3647351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Factor of 5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D18ED9-3007-A258-6FFE-E3C2EE8E19CB}"/>
              </a:ext>
            </a:extLst>
          </p:cNvPr>
          <p:cNvSpPr txBox="1"/>
          <p:nvPr/>
        </p:nvSpPr>
        <p:spPr>
          <a:xfrm>
            <a:off x="838199" y="5158035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Factor of ?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2DBE4-F916-D74F-41C9-5EFC5C59D8C0}"/>
              </a:ext>
            </a:extLst>
          </p:cNvPr>
          <p:cNvSpPr txBox="1"/>
          <p:nvPr/>
        </p:nvSpPr>
        <p:spPr>
          <a:xfrm>
            <a:off x="6565777" y="2224040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Factor of 2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13D6AC-6D78-2A63-731E-6414FA15FA41}"/>
              </a:ext>
            </a:extLst>
          </p:cNvPr>
          <p:cNvSpPr txBox="1"/>
          <p:nvPr/>
        </p:nvSpPr>
        <p:spPr>
          <a:xfrm>
            <a:off x="6565777" y="3642003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Factor of 5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A97E47-DF5B-E1F0-5C64-DA1F0230262F}"/>
              </a:ext>
            </a:extLst>
          </p:cNvPr>
          <p:cNvSpPr txBox="1"/>
          <p:nvPr/>
        </p:nvSpPr>
        <p:spPr>
          <a:xfrm>
            <a:off x="6565776" y="5152687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Factor of ?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56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F3E00B8-7286-3124-3153-137B05CC17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Remember: </a:t>
            </a:r>
            <a:endParaRPr lang="en-AU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CEC6450-229C-8EFB-DCBF-C8A96BD7D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We can use ANY factor when creating an equivalent fraction, as long as we multiply </a:t>
            </a:r>
            <a:r>
              <a:rPr lang="en-US" sz="3200" u="sng" dirty="0"/>
              <a:t>BOTH top AND bottom number by the SAME factor.</a:t>
            </a:r>
            <a:endParaRPr lang="en-AU" sz="3200" u="sng" dirty="0"/>
          </a:p>
        </p:txBody>
      </p:sp>
    </p:spTree>
    <p:extLst>
      <p:ext uri="{BB962C8B-B14F-4D97-AF65-F5344CB8AC3E}">
        <p14:creationId xmlns:p14="http://schemas.microsoft.com/office/powerpoint/2010/main" val="31148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8EC8B2-340A-74EC-45F4-DE14549F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Create an equivalent fraction using a factor of 2 (times by 2)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77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8EC8B2-340A-74EC-45F4-DE14549F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Create an equivalent fraction using a factor of 3 (times by 3)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34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8EC8B2-340A-74EC-45F4-DE14549F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Create an equivalent fraction using a factor of 5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68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BE2B0-7EA0-2BC6-0C7C-C5864DCA9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Find the equivalent fraction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569E6F-0E9B-1215-0AC4-117D8BAA3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Which fraction is equivalent to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569E6F-0E9B-1215-0AC4-117D8BAA3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1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B3B59A0-2DED-0DDA-4724-FD21258ED67C}"/>
              </a:ext>
            </a:extLst>
          </p:cNvPr>
          <p:cNvSpPr txBox="1"/>
          <p:nvPr/>
        </p:nvSpPr>
        <p:spPr>
          <a:xfrm>
            <a:off x="6880194" y="3160450"/>
            <a:ext cx="3719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What are some ways we can check? 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869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C0BC-CEE0-426B-18DF-B4A7B83F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equivalent fractions?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46AF9-22C5-3E5C-B043-5F72B7C8B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19" y="1825625"/>
            <a:ext cx="11691258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3200" dirty="0">
                <a:solidFill>
                  <a:srgbClr val="FF0000"/>
                </a:solidFill>
              </a:rPr>
              <a:t>Addition and subtraction of fractions </a:t>
            </a:r>
            <a:r>
              <a:rPr lang="en-AU" sz="3200" i="1" u="sng" dirty="0">
                <a:solidFill>
                  <a:srgbClr val="FF0000"/>
                </a:solidFill>
              </a:rPr>
              <a:t>require</a:t>
            </a:r>
            <a:r>
              <a:rPr lang="en-AU" sz="3200" dirty="0">
                <a:solidFill>
                  <a:srgbClr val="FF0000"/>
                </a:solidFill>
              </a:rPr>
              <a:t> a common </a:t>
            </a:r>
            <a:r>
              <a:rPr lang="en-AU" sz="3200" i="1" u="sng" dirty="0">
                <a:solidFill>
                  <a:srgbClr val="FF0000"/>
                </a:solidFill>
              </a:rPr>
              <a:t>denominator.</a:t>
            </a:r>
            <a:r>
              <a:rPr lang="en-AU" sz="3200" dirty="0">
                <a:solidFill>
                  <a:srgbClr val="FF0000"/>
                </a:solidFill>
              </a:rPr>
              <a:t> </a:t>
            </a:r>
          </a:p>
          <a:p>
            <a:pPr marL="0" indent="0" algn="ctr">
              <a:buNone/>
            </a:pPr>
            <a:endParaRPr lang="en-AU" sz="32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AU" sz="3200" dirty="0">
                <a:solidFill>
                  <a:srgbClr val="FF0000"/>
                </a:solidFill>
              </a:rPr>
              <a:t>Addition and subtraction of fractions </a:t>
            </a:r>
            <a:r>
              <a:rPr lang="en-AU" sz="3200" i="1" u="sng" dirty="0">
                <a:solidFill>
                  <a:srgbClr val="FF0000"/>
                </a:solidFill>
              </a:rPr>
              <a:t>_____</a:t>
            </a:r>
            <a:r>
              <a:rPr lang="en-AU" sz="3200" dirty="0">
                <a:solidFill>
                  <a:srgbClr val="FF0000"/>
                </a:solidFill>
              </a:rPr>
              <a:t> a common </a:t>
            </a:r>
            <a:r>
              <a:rPr lang="en-AU" sz="3200" i="1" u="sng" dirty="0">
                <a:solidFill>
                  <a:srgbClr val="FF0000"/>
                </a:solidFill>
              </a:rPr>
              <a:t>denominator.</a:t>
            </a:r>
            <a:r>
              <a:rPr lang="en-AU" sz="3200" dirty="0">
                <a:solidFill>
                  <a:srgbClr val="FF0000"/>
                </a:solidFill>
              </a:rPr>
              <a:t> </a:t>
            </a:r>
          </a:p>
          <a:p>
            <a:pPr marL="0" indent="0" algn="ctr">
              <a:buNone/>
            </a:pPr>
            <a:endParaRPr lang="en-AU" sz="32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AU" sz="3200" dirty="0">
                <a:solidFill>
                  <a:srgbClr val="FF0000"/>
                </a:solidFill>
              </a:rPr>
              <a:t>Addition and subtraction of fractions </a:t>
            </a:r>
            <a:r>
              <a:rPr lang="en-AU" sz="3200" i="1" u="sng" dirty="0">
                <a:solidFill>
                  <a:srgbClr val="FF0000"/>
                </a:solidFill>
              </a:rPr>
              <a:t>_____</a:t>
            </a:r>
            <a:r>
              <a:rPr lang="en-AU" sz="3200" dirty="0">
                <a:solidFill>
                  <a:srgbClr val="FF0000"/>
                </a:solidFill>
              </a:rPr>
              <a:t> a common </a:t>
            </a:r>
            <a:r>
              <a:rPr lang="en-AU" sz="3200" i="1" u="sng" dirty="0">
                <a:solidFill>
                  <a:srgbClr val="FF0000"/>
                </a:solidFill>
              </a:rPr>
              <a:t>___________</a:t>
            </a:r>
          </a:p>
          <a:p>
            <a:pPr marL="0" indent="0" algn="ctr">
              <a:buNone/>
            </a:pPr>
            <a:endParaRPr lang="en-AU" sz="3200" i="1" u="sng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AU" sz="3200" dirty="0">
                <a:solidFill>
                  <a:srgbClr val="FF0000"/>
                </a:solidFill>
              </a:rPr>
              <a:t>What do we need to add and subtract fraction?  </a:t>
            </a:r>
          </a:p>
          <a:p>
            <a:pPr marL="0" indent="0" algn="ctr">
              <a:buNone/>
            </a:pPr>
            <a:endParaRPr lang="en-A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86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FAFAC-3C85-4F7F-8647-D8956C213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5969385" cy="1134886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Lowest common denominator, shared factors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A637B-1EC2-40BD-8DDE-48B68C2CB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4 and 5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816896-B6C7-42C5-8D33-2C04E5B7A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2 and 7 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7E0EAE26-1A0A-4058-8A0F-83E98E405C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84678298"/>
              </p:ext>
            </p:extLst>
          </p:nvPr>
        </p:nvGraphicFramePr>
        <p:xfrm>
          <a:off x="1296140" y="4204314"/>
          <a:ext cx="354920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68">
                  <a:extLst>
                    <a:ext uri="{9D8B030D-6E8A-4147-A177-3AD203B41FA5}">
                      <a16:colId xmlns:a16="http://schemas.microsoft.com/office/drawing/2014/main" val="12315278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410004019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223545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67909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Multiples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87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7156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84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4510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1409"/>
                  </a:ext>
                </a:extLst>
              </a:tr>
            </a:tbl>
          </a:graphicData>
        </a:graphic>
      </p:graphicFrame>
      <p:sp>
        <p:nvSpPr>
          <p:cNvPr id="15" name="Oval 14">
            <a:extLst>
              <a:ext uri="{FF2B5EF4-FFF2-40B4-BE49-F238E27FC236}">
                <a16:creationId xmlns:a16="http://schemas.microsoft.com/office/drawing/2014/main" id="{B64039EC-986C-4202-A215-24AD3996B612}"/>
              </a:ext>
            </a:extLst>
          </p:cNvPr>
          <p:cNvSpPr/>
          <p:nvPr/>
        </p:nvSpPr>
        <p:spPr>
          <a:xfrm>
            <a:off x="2693441" y="5949645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9D2F52-6694-464B-8A7C-F18ABA5B5A2E}"/>
              </a:ext>
            </a:extLst>
          </p:cNvPr>
          <p:cNvSpPr/>
          <p:nvPr/>
        </p:nvSpPr>
        <p:spPr>
          <a:xfrm>
            <a:off x="3875651" y="5634487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Table 14">
            <a:extLst>
              <a:ext uri="{FF2B5EF4-FFF2-40B4-BE49-F238E27FC236}">
                <a16:creationId xmlns:a16="http://schemas.microsoft.com/office/drawing/2014/main" id="{C1615DAE-5260-43D3-9969-70023D7C15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2041277"/>
              </p:ext>
            </p:extLst>
          </p:nvPr>
        </p:nvGraphicFramePr>
        <p:xfrm>
          <a:off x="6891005" y="3935040"/>
          <a:ext cx="3549204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68">
                  <a:extLst>
                    <a:ext uri="{9D8B030D-6E8A-4147-A177-3AD203B41FA5}">
                      <a16:colId xmlns:a16="http://schemas.microsoft.com/office/drawing/2014/main" val="12315278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410004019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223545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6790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Multiples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87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7156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84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451053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1409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6226"/>
                  </a:ext>
                </a:extLst>
              </a:tr>
            </a:tbl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2D6776C8-4FD5-4753-B5F1-E7DA18410FD0}"/>
              </a:ext>
            </a:extLst>
          </p:cNvPr>
          <p:cNvSpPr/>
          <p:nvPr/>
        </p:nvSpPr>
        <p:spPr>
          <a:xfrm>
            <a:off x="8266660" y="6009474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8F8DB2-0B2A-4655-AB22-1A03C53BBC42}"/>
              </a:ext>
            </a:extLst>
          </p:cNvPr>
          <p:cNvSpPr/>
          <p:nvPr/>
        </p:nvSpPr>
        <p:spPr>
          <a:xfrm>
            <a:off x="9443883" y="4548901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BE4C7-E0A3-4FCE-AA18-7072CEC5FB4C}"/>
              </a:ext>
            </a:extLst>
          </p:cNvPr>
          <p:cNvSpPr txBox="1"/>
          <p:nvPr/>
        </p:nvSpPr>
        <p:spPr>
          <a:xfrm>
            <a:off x="6809173" y="132951"/>
            <a:ext cx="57747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 the multiples of each denominator.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Circle the smallest multiple of BOTH numbers (matching multiples).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LCM is the new denominator for both fractions.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the numerator by the same number as the original denominator.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427121-4102-625A-8024-97D2DACB37CD}"/>
                  </a:ext>
                </a:extLst>
              </p:cNvPr>
              <p:cNvSpPr txBox="1"/>
              <p:nvPr/>
            </p:nvSpPr>
            <p:spPr>
              <a:xfrm>
                <a:off x="1362221" y="2806162"/>
                <a:ext cx="1341521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427121-4102-625A-8024-97D2DACB3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221" y="2806162"/>
                <a:ext cx="1341521" cy="7861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FD0AE1-4A45-38EC-DE89-22032A13DA89}"/>
                  </a:ext>
                </a:extLst>
              </p:cNvPr>
              <p:cNvSpPr txBox="1"/>
              <p:nvPr/>
            </p:nvSpPr>
            <p:spPr>
              <a:xfrm>
                <a:off x="6809173" y="2806161"/>
                <a:ext cx="1341521" cy="784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FD0AE1-4A45-38EC-DE89-22032A13D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173" y="2806161"/>
                <a:ext cx="1341521" cy="7848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15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458B-E756-4CF1-A22A-BD1A0022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What about…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1ACB-582D-47DC-91A7-44422F4B5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List and circle the LCM of: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3 and 6 </a:t>
            </a:r>
          </a:p>
        </p:txBody>
      </p:sp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66EBD22A-68F3-A918-F007-15D0DDB24E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0459293"/>
              </p:ext>
            </p:extLst>
          </p:nvPr>
        </p:nvGraphicFramePr>
        <p:xfrm>
          <a:off x="5681709" y="2460687"/>
          <a:ext cx="354920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68">
                  <a:extLst>
                    <a:ext uri="{9D8B030D-6E8A-4147-A177-3AD203B41FA5}">
                      <a16:colId xmlns:a16="http://schemas.microsoft.com/office/drawing/2014/main" val="12315278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410004019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223545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67909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Multiples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87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7156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84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4510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14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F6AD1E-FD8C-38B9-5A5B-A8A49998AD0E}"/>
                  </a:ext>
                </a:extLst>
              </p:cNvPr>
              <p:cNvSpPr txBox="1"/>
              <p:nvPr/>
            </p:nvSpPr>
            <p:spPr>
              <a:xfrm>
                <a:off x="1418205" y="3899550"/>
                <a:ext cx="1341521" cy="7936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F6AD1E-FD8C-38B9-5A5B-A8A49998A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205" y="3899550"/>
                <a:ext cx="1341521" cy="7936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52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458B-E756-4CF1-A22A-BD1A0022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 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1ACB-582D-47DC-91A7-44422F4B5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List and circle the LCM of: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3 and 5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2 and 9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5 and 10 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30AF86E3-0C3B-4060-AAFC-E6618EA3564A}"/>
              </a:ext>
            </a:extLst>
          </p:cNvPr>
          <p:cNvSpPr/>
          <p:nvPr/>
        </p:nvSpPr>
        <p:spPr>
          <a:xfrm>
            <a:off x="639192" y="365125"/>
            <a:ext cx="1074198" cy="948770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66EBD22A-68F3-A918-F007-15D0DDB24ECF}"/>
              </a:ext>
            </a:extLst>
          </p:cNvPr>
          <p:cNvGraphicFramePr>
            <a:graphicFrameLocks/>
          </p:cNvGraphicFramePr>
          <p:nvPr/>
        </p:nvGraphicFramePr>
        <p:xfrm>
          <a:off x="5681709" y="2460687"/>
          <a:ext cx="354920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68">
                  <a:extLst>
                    <a:ext uri="{9D8B030D-6E8A-4147-A177-3AD203B41FA5}">
                      <a16:colId xmlns:a16="http://schemas.microsoft.com/office/drawing/2014/main" val="12315278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410004019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223545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67909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Multiples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87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7156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84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4510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1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38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7BB0-338B-1D72-3B7C-78862F310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96581-78A8-5EA5-43D0-D401E288A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Check denominators </a:t>
            </a:r>
            <a:r>
              <a:rPr lang="en-US" dirty="0">
                <a:solidFill>
                  <a:srgbClr val="00B0F0"/>
                </a:solidFill>
              </a:rPr>
              <a:t>(change to LCM if needed)  </a:t>
            </a:r>
          </a:p>
          <a:p>
            <a:pPr marL="514350" indent="-514350">
              <a:buAutoNum type="arabicPeriod"/>
            </a:pPr>
            <a:r>
              <a:rPr lang="en-US" dirty="0"/>
              <a:t>Add or take top numbers, denominators stay the same </a:t>
            </a:r>
          </a:p>
          <a:p>
            <a:pPr marL="514350" indent="-514350">
              <a:buAutoNum type="arabicPeriod"/>
            </a:pPr>
            <a:r>
              <a:rPr lang="en-US" dirty="0"/>
              <a:t>Simplify if possible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0E658-C2E8-DD4B-2236-E836EF11B62D}"/>
                  </a:ext>
                </a:extLst>
              </p:cNvPr>
              <p:cNvSpPr txBox="1"/>
              <p:nvPr/>
            </p:nvSpPr>
            <p:spPr>
              <a:xfrm>
                <a:off x="2938509" y="3826276"/>
                <a:ext cx="6844683" cy="2179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9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0E658-C2E8-DD4B-2236-E836EF11B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509" y="3826276"/>
                <a:ext cx="6844683" cy="21793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722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40579-3818-4837-9CD9-DC787B3B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Adding fractions with LCM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6281B3-0EF3-4198-9C34-C054267CDE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Example (I do)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7 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6281B3-0EF3-4198-9C34-C054267CDE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0A95A4C-D650-4F64-89DE-198652888D8F}"/>
              </a:ext>
            </a:extLst>
          </p:cNvPr>
          <p:cNvSpPr txBox="1"/>
          <p:nvPr/>
        </p:nvSpPr>
        <p:spPr>
          <a:xfrm>
            <a:off x="9783193" y="1917577"/>
            <a:ext cx="218390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 the multiples of each denominator.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Circle the smallest multiple of BOTH numbers (matching multiples).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LCM is the new denominator for both fractions.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the numerator by the same number as the original denominator.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957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4406-D14C-4CA5-9E18-D362A714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Adding fractions  (we try 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8993AF-C140-4B05-9DBF-BF990E9F9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8993AF-C140-4B05-9DBF-BF990E9F9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36A5A08-A0A8-4C8B-9986-01A3648D3045}"/>
              </a:ext>
            </a:extLst>
          </p:cNvPr>
          <p:cNvSpPr txBox="1"/>
          <p:nvPr/>
        </p:nvSpPr>
        <p:spPr>
          <a:xfrm>
            <a:off x="9783193" y="1690688"/>
            <a:ext cx="218390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 the multiples of each denominator.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Circle the smallest multiple of BOTH numbers (matching multiples).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LCM is the new denominator for both fractions.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the numerator by the same number as the original denominator.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42213BD4-83A8-4F6D-ABF2-A17955BD4709}"/>
              </a:ext>
            </a:extLst>
          </p:cNvPr>
          <p:cNvSpPr/>
          <p:nvPr/>
        </p:nvSpPr>
        <p:spPr>
          <a:xfrm>
            <a:off x="639192" y="365125"/>
            <a:ext cx="1074198" cy="948770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597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0D29-7FC7-2274-E87F-27EB1902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657355-6A2D-479F-FB88-4A8251C12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06114" cy="4448175"/>
          </a:xfrm>
        </p:spPr>
      </p:pic>
    </p:spTree>
    <p:extLst>
      <p:ext uri="{BB962C8B-B14F-4D97-AF65-F5344CB8AC3E}">
        <p14:creationId xmlns:p14="http://schemas.microsoft.com/office/powerpoint/2010/main" val="4199532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C7EC-95F2-4D84-290C-F17E3AD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8DB07C-21D1-92F2-84C0-D819B80230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1868150" cy="4677762"/>
          </a:xfrm>
        </p:spPr>
      </p:pic>
    </p:spTree>
    <p:extLst>
      <p:ext uri="{BB962C8B-B14F-4D97-AF65-F5344CB8AC3E}">
        <p14:creationId xmlns:p14="http://schemas.microsoft.com/office/powerpoint/2010/main" val="1330376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498</Words>
  <Application>Microsoft Office PowerPoint</Application>
  <PresentationFormat>Widescreen</PresentationFormat>
  <Paragraphs>162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Creating equivalent fractions </vt:lpstr>
      <vt:lpstr>Remember: </vt:lpstr>
      <vt:lpstr>Whiteboards </vt:lpstr>
      <vt:lpstr>Whiteboards </vt:lpstr>
      <vt:lpstr>Whiteboards </vt:lpstr>
      <vt:lpstr>Find the equivalent fraction </vt:lpstr>
      <vt:lpstr>Why equivalent fractions? </vt:lpstr>
      <vt:lpstr>Lowest common denominator, shared factors</vt:lpstr>
      <vt:lpstr>What about… </vt:lpstr>
      <vt:lpstr>White boards </vt:lpstr>
      <vt:lpstr>Steps </vt:lpstr>
      <vt:lpstr>Adding fractions with LCM </vt:lpstr>
      <vt:lpstr>Adding fractions  (we try )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3</cp:revision>
  <dcterms:created xsi:type="dcterms:W3CDTF">2023-11-28T00:26:51Z</dcterms:created>
  <dcterms:modified xsi:type="dcterms:W3CDTF">2023-11-28T05:55:25Z</dcterms:modified>
</cp:coreProperties>
</file>
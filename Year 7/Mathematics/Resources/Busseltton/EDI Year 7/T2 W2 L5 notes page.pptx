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2" r:id="rId3"/>
    <p:sldId id="271" r:id="rId4"/>
    <p:sldId id="273" r:id="rId5"/>
    <p:sldId id="274" r:id="rId6"/>
    <p:sldId id="294" r:id="rId7"/>
    <p:sldId id="298" r:id="rId8"/>
    <p:sldId id="304" r:id="rId9"/>
    <p:sldId id="303" r:id="rId10"/>
    <p:sldId id="307" r:id="rId11"/>
    <p:sldId id="275" r:id="rId12"/>
    <p:sldId id="270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3DE3F-E59F-90C6-89A0-801342BCB1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C9ACB8-FFC5-85D3-2E38-40DDDE0BD3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DB4A8E-5F60-224E-A6D3-0A6209B78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C3C81-668D-4663-B9BC-337A51CFF456}" type="datetimeFigureOut">
              <a:rPr lang="en-AU" smtClean="0"/>
              <a:t>3/05/2023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839E6D-A21A-6A65-BD1C-C9123B525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D0FEF8-A8F1-3AD0-C5B6-5B60E37D3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FC89F-ED46-484D-A8CE-911CFA8EEEB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93521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B5A0C-3B8B-6211-ABDE-89840196D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CED5DD-E9B4-CF0C-471D-B9A432CAEF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34375-C1A0-5635-DC51-22CC2B443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C3C81-668D-4663-B9BC-337A51CFF456}" type="datetimeFigureOut">
              <a:rPr lang="en-AU" smtClean="0"/>
              <a:t>3/05/2023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C19313-31BC-E740-300C-FF6099A83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A484B-EF2C-D839-ABE3-BECDAE227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FC89F-ED46-484D-A8CE-911CFA8EEEB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549551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ADFF5-744E-5567-953E-039536C67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C6B9C1-6305-B272-7758-FFD9BBF1C2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D74879-D85D-F54D-E4E5-DDA6919E6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C3C81-668D-4663-B9BC-337A51CFF456}" type="datetimeFigureOut">
              <a:rPr lang="en-AU" smtClean="0"/>
              <a:t>3/05/2023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3D57D8-8AD9-502F-8A28-E739D7D18F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ABC6F7-A795-7C65-C588-5CA692640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FC89F-ED46-484D-A8CE-911CFA8EEEB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027876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BC08F-ED5E-DB72-37A5-B6BD89CB2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49B473-B0B9-D02E-43F7-2AB2FA372C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CF32B9-6C55-98AA-E0D6-A2D3B6B07A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8C2CE9-5B25-C6EA-A6E6-AA8C1F7C3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C3C81-668D-4663-B9BC-337A51CFF456}" type="datetimeFigureOut">
              <a:rPr lang="en-AU" smtClean="0"/>
              <a:t>3/05/2023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FF20B3-B19D-905A-EC72-C775A4C22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23A710-314F-EFE3-C87A-9655D9665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FC89F-ED46-484D-A8CE-911CFA8EEEB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286158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534BD-965D-3FFA-1F85-F8340B4CB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3476C7-C5AF-D5C7-2FFE-15EA31D3C6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AEADA0-7FBF-6AEE-DEF7-D5C4BE20F4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F37E4B-DB90-9F6D-4D1D-E536F0ED11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FEBA05-7F09-6496-8953-74C9C51A99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0D069B-A4BD-A48E-FA1F-29F4CE206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C3C81-668D-4663-B9BC-337A51CFF456}" type="datetimeFigureOut">
              <a:rPr lang="en-AU" smtClean="0"/>
              <a:t>3/05/2023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DB7ED8-34D9-B18F-C570-C0A27B20E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4A103A-B840-3768-CC0E-89DEA5597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FC89F-ED46-484D-A8CE-911CFA8EEEB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28124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4E32D-56DC-31D4-30A3-1EB758060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02B18A-776F-E1B2-1425-A5B0876EA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C3C81-668D-4663-B9BC-337A51CFF456}" type="datetimeFigureOut">
              <a:rPr lang="en-AU" smtClean="0"/>
              <a:t>3/05/2023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68234A-8EA1-1B3C-5785-60F76A633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8D33C9-AE73-1803-C2F5-FD11D6032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FC89F-ED46-484D-A8CE-911CFA8EEEB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689357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678AEA-5273-3BBC-4F81-03CD93230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C3C81-668D-4663-B9BC-337A51CFF456}" type="datetimeFigureOut">
              <a:rPr lang="en-AU" smtClean="0"/>
              <a:t>3/05/2023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3D388D5-46E0-1045-4C51-DDF8937C4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34056E-4607-4405-66EA-871B238AB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FC89F-ED46-484D-A8CE-911CFA8EEEB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475763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F6610-07AE-DB42-56B1-5718DD047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AEE909-9F05-03FB-D339-0DDAF0CC1C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346E71-1251-1120-97CA-7B40FB030A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B2D051-DF52-2C11-516E-C1D394A97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C3C81-668D-4663-B9BC-337A51CFF456}" type="datetimeFigureOut">
              <a:rPr lang="en-AU" smtClean="0"/>
              <a:t>3/05/2023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573DFC-5A3F-1327-1B48-F33F066FE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1F8947-F905-A048-F7F0-1F7C94974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FC89F-ED46-484D-A8CE-911CFA8EEEB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378037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90C71-F60B-EB2A-A80A-4CA8825D6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528AC0-0659-C721-CD7E-5DCE39C72F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A822AB-B8E7-AF73-55A1-2B65BBBE2D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D64538-9A37-CF25-81F0-F9183FE1B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C3C81-668D-4663-B9BC-337A51CFF456}" type="datetimeFigureOut">
              <a:rPr lang="en-AU" smtClean="0"/>
              <a:t>3/05/2023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7AD461-E369-E8FD-DDE5-DDB0C742B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BE6017-153F-C760-0419-4AEA50D46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FC89F-ED46-484D-A8CE-911CFA8EEEB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430049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1A22F-36AD-FC23-561E-886F6386B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6FC9FD-C09A-6097-93A2-9B02EB0708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FAA2F8-B119-46A8-46AA-24675A4F7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C3C81-668D-4663-B9BC-337A51CFF456}" type="datetimeFigureOut">
              <a:rPr lang="en-AU" smtClean="0"/>
              <a:t>3/05/2023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0946C3-D0EB-8FF1-6211-8A07CCB89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D17373-F55D-B5E1-E816-470937CDF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FC89F-ED46-484D-A8CE-911CFA8EEEB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11860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4F92BB-4AAF-FEAE-FC95-FDD2717AEB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881F53-330A-7546-CBCC-EF0F0FF176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C3F515-9EA4-A1DD-1B5D-0AF9AD227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C3C81-668D-4663-B9BC-337A51CFF456}" type="datetimeFigureOut">
              <a:rPr lang="en-AU" smtClean="0"/>
              <a:t>3/05/2023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0446BB-BF15-7EFD-54DE-1522BB9C2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4045A3-4C8C-A36A-EED1-3FE4B8313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FC89F-ED46-484D-A8CE-911CFA8EEEB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817270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0D13312-1A0D-69D7-F03C-B3649EEEB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73681F-AEEA-3066-3E9D-D7641BE4F1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343896-21D5-1D0F-4BD4-0E1290963F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DC3C81-668D-4663-B9BC-337A51CFF456}" type="datetimeFigureOut">
              <a:rPr lang="en-AU" smtClean="0"/>
              <a:t>3/05/2023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128066-1816-48EC-1CE0-64D5AD0615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01AA9A-C03B-D29E-D241-5FD0733A2B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4FC89F-ED46-484D-A8CE-911CFA8EEEB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522287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77F0C44-0E35-CDCC-0825-55049D387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objective </a:t>
            </a:r>
            <a:endParaRPr lang="en-AU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CE4360E-71EF-39E0-04E6-EA2693CF5A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Title: </a:t>
            </a:r>
            <a:r>
              <a:rPr lang="en-US" dirty="0">
                <a:solidFill>
                  <a:srgbClr val="00B0F0"/>
                </a:solidFill>
              </a:rPr>
              <a:t>Notes page</a:t>
            </a:r>
          </a:p>
          <a:p>
            <a:pPr marL="0" indent="0">
              <a:buNone/>
            </a:pPr>
            <a:endParaRPr lang="en-US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Aim: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00B0F0"/>
                </a:solidFill>
              </a:rPr>
              <a:t> Set up a notes page to help our test.</a:t>
            </a:r>
          </a:p>
          <a:p>
            <a:pPr>
              <a:buFontTx/>
              <a:buChar char="-"/>
            </a:pPr>
            <a:endParaRPr lang="en-US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Plan:</a:t>
            </a:r>
          </a:p>
          <a:p>
            <a:pPr>
              <a:buFontTx/>
              <a:buChar char="-"/>
            </a:pPr>
            <a:r>
              <a:rPr lang="en-US" dirty="0">
                <a:solidFill>
                  <a:srgbClr val="00B0F0"/>
                </a:solidFill>
              </a:rPr>
              <a:t>Review PAV </a:t>
            </a:r>
          </a:p>
          <a:p>
            <a:pPr>
              <a:buFontTx/>
              <a:buChar char="-"/>
            </a:pPr>
            <a:r>
              <a:rPr lang="en-US" dirty="0">
                <a:solidFill>
                  <a:srgbClr val="00B0F0"/>
                </a:solidFill>
              </a:rPr>
              <a:t>inverse</a:t>
            </a:r>
          </a:p>
          <a:p>
            <a:pPr>
              <a:buFontTx/>
              <a:buChar char="-"/>
            </a:pPr>
            <a:r>
              <a:rPr lang="en-US" dirty="0">
                <a:solidFill>
                  <a:srgbClr val="00B0F0"/>
                </a:solidFill>
              </a:rPr>
              <a:t>Notes page </a:t>
            </a:r>
            <a:endParaRPr lang="en-AU" dirty="0">
              <a:solidFill>
                <a:srgbClr val="00B0F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BAB0FD-2FCB-CE36-8EB4-631C85BCD083}"/>
              </a:ext>
            </a:extLst>
          </p:cNvPr>
          <p:cNvSpPr txBox="1"/>
          <p:nvPr/>
        </p:nvSpPr>
        <p:spPr>
          <a:xfrm>
            <a:off x="8318377" y="648070"/>
            <a:ext cx="262779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highlight>
                  <a:srgbClr val="FFFF00"/>
                </a:highlight>
              </a:rPr>
              <a:t>Need whiteboards and calculators.</a:t>
            </a:r>
          </a:p>
          <a:p>
            <a:endParaRPr lang="en-US" sz="2400" b="1" dirty="0">
              <a:highlight>
                <a:srgbClr val="FFFF00"/>
              </a:highlight>
            </a:endParaRPr>
          </a:p>
          <a:p>
            <a:r>
              <a:rPr lang="en-US" sz="2400" b="1" dirty="0">
                <a:highlight>
                  <a:srgbClr val="FFFF00"/>
                </a:highlight>
              </a:rPr>
              <a:t>Test Friday!</a:t>
            </a:r>
            <a:endParaRPr lang="en-AU" sz="24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980383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83E10-C485-408F-BFEA-7DD8AF4D5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Inverse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4572EF-1135-4C13-ACA2-BA53B379E6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Solve the missing blanks (on your whiteboards) </a:t>
            </a:r>
          </a:p>
          <a:p>
            <a:pPr marL="0" indent="0">
              <a:buNone/>
            </a:pPr>
            <a:endParaRPr lang="en-US" dirty="0"/>
          </a:p>
          <a:p>
            <a:pPr marL="742950" indent="-742950">
              <a:buAutoNum type="alphaLcParenR"/>
            </a:pPr>
            <a:r>
              <a:rPr lang="en-US" sz="4000" dirty="0"/>
              <a:t>5 x ____ = 25 </a:t>
            </a:r>
          </a:p>
          <a:p>
            <a:pPr marL="742950" indent="-742950">
              <a:buAutoNum type="alphaLcParenR"/>
            </a:pPr>
            <a:r>
              <a:rPr lang="en-US" sz="4000" dirty="0"/>
              <a:t>3 x ____ = 18 </a:t>
            </a:r>
          </a:p>
          <a:p>
            <a:pPr marL="742950" indent="-742950">
              <a:buAutoNum type="alphaLcParenR"/>
            </a:pPr>
            <a:r>
              <a:rPr lang="en-US" sz="4000" dirty="0"/>
              <a:t>10 x ____ = 100 </a:t>
            </a:r>
            <a:endParaRPr lang="en-AU" sz="4000" dirty="0"/>
          </a:p>
        </p:txBody>
      </p:sp>
    </p:spTree>
    <p:extLst>
      <p:ext uri="{BB962C8B-B14F-4D97-AF65-F5344CB8AC3E}">
        <p14:creationId xmlns:p14="http://schemas.microsoft.com/office/powerpoint/2010/main" val="124485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DF00F-2FCA-42EA-9213-FFECC135D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Inverse problems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516275C-9C5B-4D90-9C6C-82161D453B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Tom knows his lawn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AU" dirty="0"/>
                  <a:t>. He also knows it is rectangular is shape and 8m long. How wide is Tom’s lawn? </a:t>
                </a:r>
              </a:p>
              <a:p>
                <a:pPr marL="0" indent="0">
                  <a:buNone/>
                </a:pPr>
                <a:endParaRPr lang="en-AU" dirty="0"/>
              </a:p>
              <a:p>
                <a:pPr marL="0" indent="0">
                  <a:buNone/>
                </a:pPr>
                <a:endParaRPr lang="en-AU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516275C-9C5B-4D90-9C6C-82161D453B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CAF801E9-91EB-4858-9CDD-8008F7141FBF}"/>
              </a:ext>
            </a:extLst>
          </p:cNvPr>
          <p:cNvSpPr/>
          <p:nvPr/>
        </p:nvSpPr>
        <p:spPr>
          <a:xfrm>
            <a:off x="2183908" y="3366409"/>
            <a:ext cx="5450890" cy="220166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ECC8DC-2767-440B-BEC1-891D2E13F3C2}"/>
              </a:ext>
            </a:extLst>
          </p:cNvPr>
          <p:cNvSpPr txBox="1"/>
          <p:nvPr/>
        </p:nvSpPr>
        <p:spPr>
          <a:xfrm>
            <a:off x="1491450" y="4076596"/>
            <a:ext cx="6924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? m</a:t>
            </a:r>
            <a:endParaRPr lang="en-AU" sz="24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6BF58B-0E41-4220-9BE8-7CE37C34F9E0}"/>
              </a:ext>
            </a:extLst>
          </p:cNvPr>
          <p:cNvSpPr txBox="1"/>
          <p:nvPr/>
        </p:nvSpPr>
        <p:spPr>
          <a:xfrm>
            <a:off x="4449192" y="2967335"/>
            <a:ext cx="6924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8m</a:t>
            </a:r>
            <a:endParaRPr lang="en-AU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747B0F0-55A3-48D8-B0CE-949D45A4B991}"/>
                  </a:ext>
                </a:extLst>
              </p:cNvPr>
              <p:cNvSpPr txBox="1"/>
              <p:nvPr/>
            </p:nvSpPr>
            <p:spPr>
              <a:xfrm>
                <a:off x="4385569" y="4001294"/>
                <a:ext cx="692458" cy="4700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𝟑𝟐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p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AU" sz="2400" b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747B0F0-55A3-48D8-B0CE-949D45A4B9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5569" y="4001294"/>
                <a:ext cx="692458" cy="470000"/>
              </a:xfrm>
              <a:prstGeom prst="rect">
                <a:avLst/>
              </a:prstGeom>
              <a:blipFill>
                <a:blip r:embed="rId3"/>
                <a:stretch>
                  <a:fillRect l="-1754" r="-3684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681872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73DE9-66FB-4F8E-86B0-A2312194B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Inverse triangles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6A5D29-0A46-4FB4-9DA6-71F508EF31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How can we find the height of this triangle? </a:t>
            </a:r>
            <a:endParaRPr lang="en-AU" dirty="0"/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8AB390E3-551A-4A38-9904-7682BEE629F0}"/>
              </a:ext>
            </a:extLst>
          </p:cNvPr>
          <p:cNvSpPr/>
          <p:nvPr/>
        </p:nvSpPr>
        <p:spPr>
          <a:xfrm>
            <a:off x="2032986" y="3176434"/>
            <a:ext cx="3666478" cy="2565646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5BF11F2-7191-42F9-850F-FC7D8999066D}"/>
                  </a:ext>
                </a:extLst>
              </p:cNvPr>
              <p:cNvSpPr txBox="1"/>
              <p:nvPr/>
            </p:nvSpPr>
            <p:spPr>
              <a:xfrm>
                <a:off x="3519996" y="4459257"/>
                <a:ext cx="692458" cy="4700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𝟓𝟎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p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AU" sz="2400" b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5BF11F2-7191-42F9-850F-FC7D899906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9996" y="4459257"/>
                <a:ext cx="692458" cy="470000"/>
              </a:xfrm>
              <a:prstGeom prst="rect">
                <a:avLst/>
              </a:prstGeom>
              <a:blipFill>
                <a:blip r:embed="rId2"/>
                <a:stretch>
                  <a:fillRect l="-2632" r="-3684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14C59705-511B-4927-8DF2-A91879874ECB}"/>
              </a:ext>
            </a:extLst>
          </p:cNvPr>
          <p:cNvSpPr txBox="1"/>
          <p:nvPr/>
        </p:nvSpPr>
        <p:spPr>
          <a:xfrm>
            <a:off x="3519996" y="5742080"/>
            <a:ext cx="8922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20m</a:t>
            </a:r>
            <a:endParaRPr lang="en-AU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3B5D04B-F827-4822-9006-3F3D44F840D2}"/>
                  </a:ext>
                </a:extLst>
              </p:cNvPr>
              <p:cNvSpPr txBox="1"/>
              <p:nvPr/>
            </p:nvSpPr>
            <p:spPr>
              <a:xfrm>
                <a:off x="7297446" y="3041497"/>
                <a:ext cx="3586578" cy="28007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Area formula:</a:t>
                </a:r>
              </a:p>
              <a:p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×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÷2</m:t>
                      </m:r>
                    </m:oMath>
                  </m:oMathPara>
                </a14:m>
                <a:endParaRPr lang="en-US" sz="28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sz="28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=20 × ? ÷2=50</m:t>
                      </m:r>
                    </m:oMath>
                  </m:oMathPara>
                </a14:m>
                <a:endParaRPr lang="en-US" sz="28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sz="28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 ?  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3B5D04B-F827-4822-9006-3F3D44F840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7446" y="3041497"/>
                <a:ext cx="3586578" cy="2800767"/>
              </a:xfrm>
              <a:prstGeom prst="rect">
                <a:avLst/>
              </a:prstGeom>
              <a:blipFill>
                <a:blip r:embed="rId3"/>
                <a:stretch>
                  <a:fillRect l="-1361" t="-130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392649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9DDB4-A885-4948-A109-E9966D31E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Inverse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7280E1-0071-44B2-BCFD-14FC3CE6B3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Sketch these triangles and label, then solve the height of these triangles (exercise books).</a:t>
            </a:r>
            <a:endParaRPr lang="en-AU" dirty="0"/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AE7275C3-7416-4598-994A-B61375C8580B}"/>
              </a:ext>
            </a:extLst>
          </p:cNvPr>
          <p:cNvSpPr/>
          <p:nvPr/>
        </p:nvSpPr>
        <p:spPr>
          <a:xfrm>
            <a:off x="435005" y="3362865"/>
            <a:ext cx="3666478" cy="2565646"/>
          </a:xfrm>
          <a:prstGeom prst="triangle">
            <a:avLst>
              <a:gd name="adj" fmla="val 2893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21C48AF9-E133-4A46-9DCD-5E0046D55830}"/>
              </a:ext>
            </a:extLst>
          </p:cNvPr>
          <p:cNvSpPr/>
          <p:nvPr/>
        </p:nvSpPr>
        <p:spPr>
          <a:xfrm>
            <a:off x="5575177" y="2990003"/>
            <a:ext cx="1837678" cy="2929631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Right Triangle 5">
            <a:extLst>
              <a:ext uri="{FF2B5EF4-FFF2-40B4-BE49-F238E27FC236}">
                <a16:creationId xmlns:a16="http://schemas.microsoft.com/office/drawing/2014/main" id="{71485993-663D-4FF8-AF64-F1C02F54C8A7}"/>
              </a:ext>
            </a:extLst>
          </p:cNvPr>
          <p:cNvSpPr/>
          <p:nvPr/>
        </p:nvSpPr>
        <p:spPr>
          <a:xfrm>
            <a:off x="8966447" y="3497802"/>
            <a:ext cx="2707689" cy="243070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0A82CC5-B7D2-476F-9EE9-73AAECA99CEE}"/>
                  </a:ext>
                </a:extLst>
              </p:cNvPr>
              <p:cNvSpPr txBox="1"/>
              <p:nvPr/>
            </p:nvSpPr>
            <p:spPr>
              <a:xfrm>
                <a:off x="1288003" y="4713156"/>
                <a:ext cx="692458" cy="4700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𝟐𝟎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p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AU" sz="2400" b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0A82CC5-B7D2-476F-9EE9-73AAECA99C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8003" y="4713156"/>
                <a:ext cx="692458" cy="470000"/>
              </a:xfrm>
              <a:prstGeom prst="rect">
                <a:avLst/>
              </a:prstGeom>
              <a:blipFill>
                <a:blip r:embed="rId2"/>
                <a:stretch>
                  <a:fillRect l="-1754" r="-3684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4E34809-92E9-4614-AC35-19B3D704B812}"/>
                  </a:ext>
                </a:extLst>
              </p:cNvPr>
              <p:cNvSpPr txBox="1"/>
              <p:nvPr/>
            </p:nvSpPr>
            <p:spPr>
              <a:xfrm>
                <a:off x="5976153" y="5057096"/>
                <a:ext cx="692458" cy="4700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𝟏𝟎𝟎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p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AU" sz="2400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4E34809-92E9-4614-AC35-19B3D704B8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6153" y="5057096"/>
                <a:ext cx="692458" cy="470000"/>
              </a:xfrm>
              <a:prstGeom prst="rect">
                <a:avLst/>
              </a:prstGeom>
              <a:blipFill>
                <a:blip r:embed="rId3"/>
                <a:stretch>
                  <a:fillRect l="-1754" r="-6315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474E735-A419-4C30-81C2-2C14C45B3CF7}"/>
                  </a:ext>
                </a:extLst>
              </p:cNvPr>
              <p:cNvSpPr txBox="1"/>
              <p:nvPr/>
            </p:nvSpPr>
            <p:spPr>
              <a:xfrm>
                <a:off x="9405891" y="4946384"/>
                <a:ext cx="692458" cy="4700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𝟏𝟎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p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AU" sz="2400" b="1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474E735-A419-4C30-81C2-2C14C45B3C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05891" y="4946384"/>
                <a:ext cx="692458" cy="470000"/>
              </a:xfrm>
              <a:prstGeom prst="rect">
                <a:avLst/>
              </a:prstGeom>
              <a:blipFill>
                <a:blip r:embed="rId4"/>
                <a:stretch>
                  <a:fillRect l="-2632" r="-3684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F2BA9FAF-44EC-47F4-BC1F-5A83FBEB3D5A}"/>
              </a:ext>
            </a:extLst>
          </p:cNvPr>
          <p:cNvSpPr txBox="1"/>
          <p:nvPr/>
        </p:nvSpPr>
        <p:spPr>
          <a:xfrm>
            <a:off x="6200314" y="5928511"/>
            <a:ext cx="9365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8m</a:t>
            </a:r>
            <a:endParaRPr lang="en-AU" sz="24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D25FB7-1364-49E7-BC4A-B88FEF569DF3}"/>
              </a:ext>
            </a:extLst>
          </p:cNvPr>
          <p:cNvSpPr txBox="1"/>
          <p:nvPr/>
        </p:nvSpPr>
        <p:spPr>
          <a:xfrm>
            <a:off x="1786632" y="6098530"/>
            <a:ext cx="9365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10m</a:t>
            </a:r>
            <a:endParaRPr lang="en-AU" sz="24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FB92FAC-C8A0-4C54-ADFB-779C3BB3C2F2}"/>
              </a:ext>
            </a:extLst>
          </p:cNvPr>
          <p:cNvSpPr txBox="1"/>
          <p:nvPr/>
        </p:nvSpPr>
        <p:spPr>
          <a:xfrm>
            <a:off x="9752120" y="6011708"/>
            <a:ext cx="9365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5m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5254855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7BCBA-CA7D-3C40-C4D7-066FBB62D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Notes page start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0E27FF-6CD8-51E5-E953-184E24451C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Define Perimeter :</a:t>
            </a:r>
            <a:endParaRPr lang="en-US" dirty="0">
              <a:solidFill>
                <a:srgbClr val="00B0F0"/>
              </a:solidFill>
            </a:endParaRPr>
          </a:p>
          <a:p>
            <a:pPr>
              <a:buFontTx/>
              <a:buChar char="-"/>
            </a:pPr>
            <a:r>
              <a:rPr lang="en-US" dirty="0">
                <a:solidFill>
                  <a:srgbClr val="00B0F0"/>
                </a:solidFill>
              </a:rPr>
              <a:t>Perimeter is the total distance forming the boundary of the shape.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Units: </a:t>
            </a:r>
          </a:p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mm, cm, m, Km </a:t>
            </a:r>
          </a:p>
        </p:txBody>
      </p:sp>
    </p:spTree>
    <p:extLst>
      <p:ext uri="{BB962C8B-B14F-4D97-AF65-F5344CB8AC3E}">
        <p14:creationId xmlns:p14="http://schemas.microsoft.com/office/powerpoint/2010/main" val="14282021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4130A-8030-D859-1E7D-F22EAC730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Area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83E1278-3321-9DE5-4B9A-DE6627BA31E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>
                    <a:solidFill>
                      <a:srgbClr val="00B0F0"/>
                    </a:solidFill>
                  </a:rPr>
                  <a:t>Define area: </a:t>
                </a:r>
              </a:p>
              <a:p>
                <a:pPr>
                  <a:buFontTx/>
                  <a:buChar char="-"/>
                </a:pPr>
                <a:r>
                  <a:rPr lang="en-US" dirty="0">
                    <a:solidFill>
                      <a:srgbClr val="00B0F0"/>
                    </a:solidFill>
                  </a:rPr>
                  <a:t>The amount of space inside a closed shape</a:t>
                </a:r>
              </a:p>
              <a:p>
                <a:pPr marL="0" indent="0">
                  <a:buNone/>
                </a:pPr>
                <a:endParaRPr lang="en-AU" dirty="0"/>
              </a:p>
              <a:p>
                <a:pPr marL="0" indent="0">
                  <a:buNone/>
                </a:pPr>
                <a:r>
                  <a:rPr lang="en-AU" dirty="0"/>
                  <a:t>Units:</a:t>
                </a:r>
              </a:p>
              <a:p>
                <a:pPr marL="0" indent="0">
                  <a:buNone/>
                </a:pPr>
                <a:r>
                  <a:rPr lang="en-AU" dirty="0"/>
                  <a:t>-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sSup>
                      <m:sSupPr>
                        <m:ctrlP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sSupPr>
                        <m:ctrlP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sSup>
                      <m:sSupPr>
                        <m:ctrlP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83E1278-3321-9DE5-4B9A-DE6627BA31E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198440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7019715-09AF-1919-18CA-F35F61F45C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8713" y="0"/>
            <a:ext cx="819457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7067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055E8-3BB2-58C3-1EA6-712EF5F49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Volume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E97B5F6-29B2-BA31-7088-5A9D052712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>
                    <a:solidFill>
                      <a:srgbClr val="00B0F0"/>
                    </a:solidFill>
                  </a:rPr>
                  <a:t>Define volume: </a:t>
                </a:r>
              </a:p>
              <a:p>
                <a:pPr>
                  <a:buFontTx/>
                  <a:buChar char="-"/>
                </a:pPr>
                <a:r>
                  <a:rPr lang="en-AU" dirty="0">
                    <a:solidFill>
                      <a:srgbClr val="00B0F0"/>
                    </a:solidFill>
                  </a:rPr>
                  <a:t>the amount of space that a substance or object occupies, or that is enclosed within a container.</a:t>
                </a:r>
              </a:p>
              <a:p>
                <a:pPr marL="0" indent="0">
                  <a:buNone/>
                </a:pPr>
                <a:endParaRPr lang="en-AU" dirty="0">
                  <a:solidFill>
                    <a:srgbClr val="00B0F0"/>
                  </a:solidFill>
                </a:endParaRPr>
              </a:p>
              <a:p>
                <a:pPr marL="0" indent="0">
                  <a:buNone/>
                </a:pPr>
                <a:r>
                  <a:rPr lang="en-AU" dirty="0"/>
                  <a:t>Units: </a:t>
                </a:r>
              </a:p>
              <a:p>
                <a:pPr marL="0" indent="0">
                  <a:buNone/>
                </a:pPr>
                <a:r>
                  <a:rPr lang="en-AU" dirty="0">
                    <a:solidFill>
                      <a:srgbClr val="00B0F0"/>
                    </a:solidFill>
                  </a:rPr>
                  <a:t>-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sSup>
                      <m:sSupPr>
                        <m:ctrlP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sSupPr>
                        <m:ctrlP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sSup>
                      <m:sSupPr>
                        <m:ctrlP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AU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E97B5F6-29B2-BA31-7088-5A9D052712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602857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DD1FC95-6C90-399E-CB0F-94100AB1D4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5349" y="208117"/>
            <a:ext cx="11512395" cy="4381970"/>
          </a:xfrm>
        </p:spPr>
      </p:pic>
    </p:spTree>
    <p:extLst>
      <p:ext uri="{BB962C8B-B14F-4D97-AF65-F5344CB8AC3E}">
        <p14:creationId xmlns:p14="http://schemas.microsoft.com/office/powerpoint/2010/main" val="4464284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4FC78B-DCF5-48D3-802A-5DD023E25B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Calculate volume: </a:t>
            </a:r>
            <a:endParaRPr lang="en-AU" dirty="0"/>
          </a:p>
        </p:txBody>
      </p:sp>
      <p:pic>
        <p:nvPicPr>
          <p:cNvPr id="1026" name="Picture 2" descr="Volume of a Prism">
            <a:extLst>
              <a:ext uri="{FF2B5EF4-FFF2-40B4-BE49-F238E27FC236}">
                <a16:creationId xmlns:a16="http://schemas.microsoft.com/office/drawing/2014/main" id="{F4B90772-257D-4336-9704-303F56149E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4025" y="2016792"/>
            <a:ext cx="5676900" cy="4160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8658A858-B29B-5CFC-1E66-941711892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402051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9B411-CDBA-4F0A-B3D0-3F4D04BB2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Textbook practice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239A4D-B6E5-45ED-9372-072D1D28B6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Page 469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Questions 1 - 9</a:t>
            </a:r>
          </a:p>
        </p:txBody>
      </p:sp>
    </p:spTree>
    <p:extLst>
      <p:ext uri="{BB962C8B-B14F-4D97-AF65-F5344CB8AC3E}">
        <p14:creationId xmlns:p14="http://schemas.microsoft.com/office/powerpoint/2010/main" val="17174844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363</TotalTime>
  <Words>247</Words>
  <Application>Microsoft Office PowerPoint</Application>
  <PresentationFormat>Widescreen</PresentationFormat>
  <Paragraphs>66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Cambria Math</vt:lpstr>
      <vt:lpstr>Wingdings</vt:lpstr>
      <vt:lpstr>Office Theme</vt:lpstr>
      <vt:lpstr>Lesson objective </vt:lpstr>
      <vt:lpstr>Inverse </vt:lpstr>
      <vt:lpstr>Inverse problems </vt:lpstr>
      <vt:lpstr>Inverse triangles </vt:lpstr>
      <vt:lpstr>Inverse </vt:lpstr>
      <vt:lpstr>Notes page start</vt:lpstr>
      <vt:lpstr>Area </vt:lpstr>
      <vt:lpstr>PowerPoint Presentation</vt:lpstr>
      <vt:lpstr>Volume </vt:lpstr>
      <vt:lpstr>PowerPoint Presentation</vt:lpstr>
      <vt:lpstr>PowerPoint Presentation</vt:lpstr>
      <vt:lpstr>Textbook practice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objective </dc:title>
  <dc:creator>DAVIES Rhys [Busselton Senior High School]</dc:creator>
  <cp:lastModifiedBy>DAVIES Rhys [Busselton Senior High School]</cp:lastModifiedBy>
  <cp:revision>9</cp:revision>
  <dcterms:created xsi:type="dcterms:W3CDTF">2023-05-02T03:30:06Z</dcterms:created>
  <dcterms:modified xsi:type="dcterms:W3CDTF">2023-05-03T01:29:11Z</dcterms:modified>
</cp:coreProperties>
</file>
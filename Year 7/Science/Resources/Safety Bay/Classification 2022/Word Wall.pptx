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2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19581-46A8-4933-8456-487E27D156D6}" type="datetimeFigureOut">
              <a:rPr lang="en-AU" smtClean="0"/>
              <a:t>28/04/2020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FF705-1314-46EB-99B0-2E73901C37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4333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19581-46A8-4933-8456-487E27D156D6}" type="datetimeFigureOut">
              <a:rPr lang="en-AU" smtClean="0"/>
              <a:t>28/04/2020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FF705-1314-46EB-99B0-2E73901C37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1394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19581-46A8-4933-8456-487E27D156D6}" type="datetimeFigureOut">
              <a:rPr lang="en-AU" smtClean="0"/>
              <a:t>28/04/2020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FF705-1314-46EB-99B0-2E73901C37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9573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19581-46A8-4933-8456-487E27D156D6}" type="datetimeFigureOut">
              <a:rPr lang="en-AU" smtClean="0"/>
              <a:t>28/04/2020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FF705-1314-46EB-99B0-2E73901C37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6420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19581-46A8-4933-8456-487E27D156D6}" type="datetimeFigureOut">
              <a:rPr lang="en-AU" smtClean="0"/>
              <a:t>28/04/2020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FF705-1314-46EB-99B0-2E73901C37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5915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19581-46A8-4933-8456-487E27D156D6}" type="datetimeFigureOut">
              <a:rPr lang="en-AU" smtClean="0"/>
              <a:t>28/04/2020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FF705-1314-46EB-99B0-2E73901C37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1732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19581-46A8-4933-8456-487E27D156D6}" type="datetimeFigureOut">
              <a:rPr lang="en-AU" smtClean="0"/>
              <a:t>28/04/2020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FF705-1314-46EB-99B0-2E73901C37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6763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19581-46A8-4933-8456-487E27D156D6}" type="datetimeFigureOut">
              <a:rPr lang="en-AU" smtClean="0"/>
              <a:t>28/04/2020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FF705-1314-46EB-99B0-2E73901C37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5095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19581-46A8-4933-8456-487E27D156D6}" type="datetimeFigureOut">
              <a:rPr lang="en-AU" smtClean="0"/>
              <a:t>28/04/2020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FF705-1314-46EB-99B0-2E73901C37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6767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19581-46A8-4933-8456-487E27D156D6}" type="datetimeFigureOut">
              <a:rPr lang="en-AU" smtClean="0"/>
              <a:t>28/04/2020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FF705-1314-46EB-99B0-2E73901C37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5565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19581-46A8-4933-8456-487E27D156D6}" type="datetimeFigureOut">
              <a:rPr lang="en-AU" smtClean="0"/>
              <a:t>28/04/2020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FF705-1314-46EB-99B0-2E73901C37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329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E19581-46A8-4933-8456-487E27D156D6}" type="datetimeFigureOut">
              <a:rPr lang="en-AU" smtClean="0"/>
              <a:t>28/04/2020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0FF705-1314-46EB-99B0-2E73901C37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5924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/>
          </p:cNvPr>
          <p:cNvSpPr txBox="1"/>
          <p:nvPr/>
        </p:nvSpPr>
        <p:spPr>
          <a:xfrm>
            <a:off x="355600" y="239461"/>
            <a:ext cx="450850" cy="297338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0" name="TextBox 4"/>
          <p:cNvSpPr txBox="1">
            <a:spLocks noChangeArrowheads="1"/>
          </p:cNvSpPr>
          <p:nvPr/>
        </p:nvSpPr>
        <p:spPr bwMode="auto">
          <a:xfrm>
            <a:off x="892175" y="22225"/>
            <a:ext cx="8767763" cy="155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9400" b="1" dirty="0" smtClean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Branched key	</a:t>
            </a:r>
            <a:endParaRPr lang="en-US" altLang="en-US" sz="9400" b="1" dirty="0">
              <a:solidFill>
                <a:schemeClr val="accent6">
                  <a:lumMod val="75000"/>
                </a:schemeClr>
              </a:solidFill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  <p:sp>
        <p:nvSpPr>
          <p:cNvPr id="11" name="TextBox 3"/>
          <p:cNvSpPr txBox="1">
            <a:spLocks noChangeArrowheads="1"/>
          </p:cNvSpPr>
          <p:nvPr/>
        </p:nvSpPr>
        <p:spPr bwMode="auto">
          <a:xfrm>
            <a:off x="1108075" y="1398588"/>
            <a:ext cx="8637588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500" b="1" dirty="0" smtClean="0"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A method of identifying species using questions that lead to further questions and eventually to the name of the species.</a:t>
            </a:r>
            <a:endParaRPr lang="en-US" altLang="en-US" sz="2500" b="1" dirty="0"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  <p:sp>
        <p:nvSpPr>
          <p:cNvPr id="12" name="TextBox 11">
            <a:extLst/>
          </p:cNvPr>
          <p:cNvSpPr txBox="1"/>
          <p:nvPr/>
        </p:nvSpPr>
        <p:spPr>
          <a:xfrm>
            <a:off x="355600" y="3712828"/>
            <a:ext cx="450850" cy="297338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4" name="TextBox 6"/>
          <p:cNvSpPr txBox="1">
            <a:spLocks noChangeArrowheads="1"/>
          </p:cNvSpPr>
          <p:nvPr/>
        </p:nvSpPr>
        <p:spPr bwMode="auto">
          <a:xfrm>
            <a:off x="806450" y="3389313"/>
            <a:ext cx="8767763" cy="155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7400" b="1" dirty="0" smtClean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Dichotomous key</a:t>
            </a:r>
            <a:endParaRPr lang="en-US" altLang="en-US" sz="7400" b="1" dirty="0">
              <a:solidFill>
                <a:schemeClr val="accent6">
                  <a:lumMod val="75000"/>
                </a:schemeClr>
              </a:solidFill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  <p:sp>
        <p:nvSpPr>
          <p:cNvPr id="15" name="TextBox 5"/>
          <p:cNvSpPr txBox="1">
            <a:spLocks noChangeArrowheads="1"/>
          </p:cNvSpPr>
          <p:nvPr/>
        </p:nvSpPr>
        <p:spPr bwMode="auto">
          <a:xfrm>
            <a:off x="871537" y="4765676"/>
            <a:ext cx="8637588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500" b="1" dirty="0" smtClean="0"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Diagram used in classification; each ‘arm’ of the key contains two choices.</a:t>
            </a:r>
            <a:endParaRPr lang="en-US" altLang="en-US" sz="2500" b="1" dirty="0"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1080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/>
          </p:cNvPr>
          <p:cNvSpPr txBox="1"/>
          <p:nvPr/>
        </p:nvSpPr>
        <p:spPr>
          <a:xfrm>
            <a:off x="355600" y="239461"/>
            <a:ext cx="450850" cy="297338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0" name="TextBox 4"/>
          <p:cNvSpPr txBox="1">
            <a:spLocks noChangeArrowheads="1"/>
          </p:cNvSpPr>
          <p:nvPr/>
        </p:nvSpPr>
        <p:spPr bwMode="auto">
          <a:xfrm>
            <a:off x="892175" y="22225"/>
            <a:ext cx="8767763" cy="155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9400" b="1" dirty="0" smtClean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Exoskeleton</a:t>
            </a:r>
            <a:endParaRPr lang="en-US" altLang="en-US" sz="9400" b="1" dirty="0">
              <a:solidFill>
                <a:schemeClr val="accent6">
                  <a:lumMod val="75000"/>
                </a:schemeClr>
              </a:solidFill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  <p:sp>
        <p:nvSpPr>
          <p:cNvPr id="11" name="TextBox 3"/>
          <p:cNvSpPr txBox="1">
            <a:spLocks noChangeArrowheads="1"/>
          </p:cNvSpPr>
          <p:nvPr/>
        </p:nvSpPr>
        <p:spPr bwMode="auto">
          <a:xfrm>
            <a:off x="1108075" y="1452396"/>
            <a:ext cx="8637588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500" b="1" dirty="0" smtClean="0"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External skeleton.</a:t>
            </a:r>
            <a:endParaRPr lang="en-US" altLang="en-US" sz="2500" b="1" dirty="0"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  <p:sp>
        <p:nvSpPr>
          <p:cNvPr id="12" name="TextBox 11">
            <a:extLst/>
          </p:cNvPr>
          <p:cNvSpPr txBox="1"/>
          <p:nvPr/>
        </p:nvSpPr>
        <p:spPr>
          <a:xfrm>
            <a:off x="355600" y="3712828"/>
            <a:ext cx="450850" cy="297338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4" name="TextBox 6"/>
          <p:cNvSpPr txBox="1">
            <a:spLocks noChangeArrowheads="1"/>
          </p:cNvSpPr>
          <p:nvPr/>
        </p:nvSpPr>
        <p:spPr bwMode="auto">
          <a:xfrm>
            <a:off x="806450" y="3389313"/>
            <a:ext cx="8767763" cy="155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9400" b="1" dirty="0" smtClean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Endoskeleton</a:t>
            </a:r>
            <a:endParaRPr lang="en-US" altLang="en-US" sz="9400" b="1" dirty="0">
              <a:solidFill>
                <a:schemeClr val="accent6">
                  <a:lumMod val="75000"/>
                </a:schemeClr>
              </a:solidFill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  <p:sp>
        <p:nvSpPr>
          <p:cNvPr id="15" name="TextBox 5"/>
          <p:cNvSpPr txBox="1">
            <a:spLocks noChangeArrowheads="1"/>
          </p:cNvSpPr>
          <p:nvPr/>
        </p:nvSpPr>
        <p:spPr bwMode="auto">
          <a:xfrm>
            <a:off x="871537" y="4819483"/>
            <a:ext cx="8637588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500" b="1" dirty="0" smtClean="0"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Internal skeleton.</a:t>
            </a:r>
            <a:endParaRPr lang="en-US" altLang="en-US" sz="2500" b="1" dirty="0"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486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/>
          </p:cNvPr>
          <p:cNvSpPr txBox="1"/>
          <p:nvPr/>
        </p:nvSpPr>
        <p:spPr>
          <a:xfrm>
            <a:off x="355600" y="239461"/>
            <a:ext cx="450850" cy="297338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0" name="TextBox 4"/>
          <p:cNvSpPr txBox="1">
            <a:spLocks noChangeArrowheads="1"/>
          </p:cNvSpPr>
          <p:nvPr/>
        </p:nvSpPr>
        <p:spPr bwMode="auto">
          <a:xfrm>
            <a:off x="892175" y="22225"/>
            <a:ext cx="8767763" cy="155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9400" b="1" dirty="0" smtClean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Invertebrate</a:t>
            </a:r>
            <a:endParaRPr lang="en-US" altLang="en-US" sz="9400" b="1" dirty="0">
              <a:solidFill>
                <a:schemeClr val="accent6">
                  <a:lumMod val="75000"/>
                </a:schemeClr>
              </a:solidFill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  <p:sp>
        <p:nvSpPr>
          <p:cNvPr id="11" name="TextBox 3"/>
          <p:cNvSpPr txBox="1">
            <a:spLocks noChangeArrowheads="1"/>
          </p:cNvSpPr>
          <p:nvPr/>
        </p:nvSpPr>
        <p:spPr bwMode="auto">
          <a:xfrm>
            <a:off x="1108075" y="1452396"/>
            <a:ext cx="8637588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500" b="1" dirty="0" smtClean="0"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Organism with an exoskeleton.</a:t>
            </a:r>
            <a:endParaRPr lang="en-US" altLang="en-US" sz="2500" b="1" dirty="0"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  <p:sp>
        <p:nvSpPr>
          <p:cNvPr id="12" name="TextBox 11">
            <a:extLst/>
          </p:cNvPr>
          <p:cNvSpPr txBox="1"/>
          <p:nvPr/>
        </p:nvSpPr>
        <p:spPr>
          <a:xfrm>
            <a:off x="355600" y="3712828"/>
            <a:ext cx="450850" cy="297338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4" name="TextBox 6"/>
          <p:cNvSpPr txBox="1">
            <a:spLocks noChangeArrowheads="1"/>
          </p:cNvSpPr>
          <p:nvPr/>
        </p:nvSpPr>
        <p:spPr bwMode="auto">
          <a:xfrm>
            <a:off x="806450" y="3389313"/>
            <a:ext cx="8767763" cy="155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9400" b="1" dirty="0" smtClean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Vertebrate</a:t>
            </a:r>
            <a:endParaRPr lang="en-US" altLang="en-US" sz="9400" b="1" dirty="0">
              <a:solidFill>
                <a:schemeClr val="accent6">
                  <a:lumMod val="75000"/>
                </a:schemeClr>
              </a:solidFill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  <p:sp>
        <p:nvSpPr>
          <p:cNvPr id="15" name="TextBox 5"/>
          <p:cNvSpPr txBox="1">
            <a:spLocks noChangeArrowheads="1"/>
          </p:cNvSpPr>
          <p:nvPr/>
        </p:nvSpPr>
        <p:spPr bwMode="auto">
          <a:xfrm>
            <a:off x="871537" y="4819483"/>
            <a:ext cx="8637588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500" b="1" dirty="0" smtClean="0"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Organism with an endoskeleton.</a:t>
            </a:r>
            <a:endParaRPr lang="en-US" altLang="en-US" sz="2500" b="1" dirty="0"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010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/>
          </p:cNvPr>
          <p:cNvSpPr txBox="1"/>
          <p:nvPr/>
        </p:nvSpPr>
        <p:spPr>
          <a:xfrm>
            <a:off x="355600" y="239461"/>
            <a:ext cx="450850" cy="297338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0" name="TextBox 4"/>
          <p:cNvSpPr txBox="1">
            <a:spLocks noChangeArrowheads="1"/>
          </p:cNvSpPr>
          <p:nvPr/>
        </p:nvSpPr>
        <p:spPr bwMode="auto">
          <a:xfrm>
            <a:off x="892175" y="22225"/>
            <a:ext cx="8767763" cy="155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9400" b="1" dirty="0" smtClean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Unicellular</a:t>
            </a:r>
            <a:endParaRPr lang="en-US" altLang="en-US" sz="9400" b="1" dirty="0">
              <a:solidFill>
                <a:schemeClr val="accent6">
                  <a:lumMod val="75000"/>
                </a:schemeClr>
              </a:solidFill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  <p:sp>
        <p:nvSpPr>
          <p:cNvPr id="11" name="TextBox 3"/>
          <p:cNvSpPr txBox="1">
            <a:spLocks noChangeArrowheads="1"/>
          </p:cNvSpPr>
          <p:nvPr/>
        </p:nvSpPr>
        <p:spPr bwMode="auto">
          <a:xfrm>
            <a:off x="1108075" y="1452396"/>
            <a:ext cx="8637588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500" b="1" dirty="0" smtClean="0"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Organism made of only one cell.</a:t>
            </a:r>
            <a:endParaRPr lang="en-US" altLang="en-US" sz="2500" b="1" dirty="0"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  <p:sp>
        <p:nvSpPr>
          <p:cNvPr id="12" name="TextBox 11">
            <a:extLst/>
          </p:cNvPr>
          <p:cNvSpPr txBox="1"/>
          <p:nvPr/>
        </p:nvSpPr>
        <p:spPr>
          <a:xfrm>
            <a:off x="355600" y="3712828"/>
            <a:ext cx="450850" cy="297338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4" name="TextBox 6"/>
          <p:cNvSpPr txBox="1">
            <a:spLocks noChangeArrowheads="1"/>
          </p:cNvSpPr>
          <p:nvPr/>
        </p:nvSpPr>
        <p:spPr bwMode="auto">
          <a:xfrm>
            <a:off x="806450" y="3389313"/>
            <a:ext cx="8767763" cy="155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9400" b="1" dirty="0" smtClean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Multicellular</a:t>
            </a:r>
            <a:endParaRPr lang="en-US" altLang="en-US" sz="9400" b="1" dirty="0">
              <a:solidFill>
                <a:schemeClr val="accent6">
                  <a:lumMod val="75000"/>
                </a:schemeClr>
              </a:solidFill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  <p:sp>
        <p:nvSpPr>
          <p:cNvPr id="15" name="TextBox 5"/>
          <p:cNvSpPr txBox="1">
            <a:spLocks noChangeArrowheads="1"/>
          </p:cNvSpPr>
          <p:nvPr/>
        </p:nvSpPr>
        <p:spPr bwMode="auto">
          <a:xfrm>
            <a:off x="871537" y="4819483"/>
            <a:ext cx="8637588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500" b="1" dirty="0" smtClean="0"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Organism that has more than one cell.</a:t>
            </a:r>
            <a:endParaRPr lang="en-US" altLang="en-US" sz="2500" b="1" dirty="0"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3840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/>
          </p:cNvPr>
          <p:cNvSpPr txBox="1"/>
          <p:nvPr/>
        </p:nvSpPr>
        <p:spPr>
          <a:xfrm>
            <a:off x="355600" y="239461"/>
            <a:ext cx="450850" cy="297338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0" name="TextBox 4"/>
          <p:cNvSpPr txBox="1">
            <a:spLocks noChangeArrowheads="1"/>
          </p:cNvSpPr>
          <p:nvPr/>
        </p:nvSpPr>
        <p:spPr bwMode="auto">
          <a:xfrm>
            <a:off x="892175" y="22225"/>
            <a:ext cx="8767763" cy="155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9400" b="1" dirty="0" smtClean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Non-living</a:t>
            </a:r>
            <a:endParaRPr lang="en-US" altLang="en-US" sz="9400" b="1" dirty="0">
              <a:solidFill>
                <a:schemeClr val="accent6">
                  <a:lumMod val="75000"/>
                </a:schemeClr>
              </a:solidFill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  <p:sp>
        <p:nvSpPr>
          <p:cNvPr id="11" name="TextBox 3"/>
          <p:cNvSpPr txBox="1">
            <a:spLocks noChangeArrowheads="1"/>
          </p:cNvSpPr>
          <p:nvPr/>
        </p:nvSpPr>
        <p:spPr bwMode="auto">
          <a:xfrm>
            <a:off x="1108075" y="1452396"/>
            <a:ext cx="8637588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500" b="1" dirty="0" smtClean="0"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Something that has never had the characteristics of a living thing.</a:t>
            </a:r>
            <a:endParaRPr lang="en-US" altLang="en-US" sz="2500" b="1" dirty="0"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  <p:sp>
        <p:nvSpPr>
          <p:cNvPr id="12" name="TextBox 11">
            <a:extLst/>
          </p:cNvPr>
          <p:cNvSpPr txBox="1"/>
          <p:nvPr/>
        </p:nvSpPr>
        <p:spPr>
          <a:xfrm>
            <a:off x="355600" y="3712828"/>
            <a:ext cx="450850" cy="297338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4" name="TextBox 6"/>
          <p:cNvSpPr txBox="1">
            <a:spLocks noChangeArrowheads="1"/>
          </p:cNvSpPr>
          <p:nvPr/>
        </p:nvSpPr>
        <p:spPr bwMode="auto">
          <a:xfrm>
            <a:off x="806450" y="3389313"/>
            <a:ext cx="8767763" cy="155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9400" b="1" dirty="0" smtClean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Key</a:t>
            </a:r>
            <a:endParaRPr lang="en-US" altLang="en-US" sz="9400" b="1" dirty="0">
              <a:solidFill>
                <a:schemeClr val="accent6">
                  <a:lumMod val="75000"/>
                </a:schemeClr>
              </a:solidFill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  <p:sp>
        <p:nvSpPr>
          <p:cNvPr id="15" name="TextBox 5"/>
          <p:cNvSpPr txBox="1">
            <a:spLocks noChangeArrowheads="1"/>
          </p:cNvSpPr>
          <p:nvPr/>
        </p:nvSpPr>
        <p:spPr bwMode="auto">
          <a:xfrm>
            <a:off x="871537" y="4819483"/>
            <a:ext cx="8637588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500" b="1" dirty="0" smtClean="0"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Visual tool used in the classification of organisms.</a:t>
            </a:r>
            <a:endParaRPr lang="en-US" altLang="en-US" sz="2500" b="1" dirty="0"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7229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/>
          </p:cNvPr>
          <p:cNvSpPr txBox="1"/>
          <p:nvPr/>
        </p:nvSpPr>
        <p:spPr>
          <a:xfrm>
            <a:off x="355600" y="239461"/>
            <a:ext cx="450850" cy="297338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0" name="TextBox 4"/>
          <p:cNvSpPr txBox="1">
            <a:spLocks noChangeArrowheads="1"/>
          </p:cNvSpPr>
          <p:nvPr/>
        </p:nvSpPr>
        <p:spPr bwMode="auto">
          <a:xfrm>
            <a:off x="892175" y="22225"/>
            <a:ext cx="8767763" cy="155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8400" b="1" dirty="0" smtClean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Binomial system</a:t>
            </a:r>
            <a:endParaRPr lang="en-US" altLang="en-US" sz="8400" b="1" dirty="0">
              <a:solidFill>
                <a:schemeClr val="accent6">
                  <a:lumMod val="75000"/>
                </a:schemeClr>
              </a:solidFill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  <p:sp>
        <p:nvSpPr>
          <p:cNvPr id="11" name="TextBox 3"/>
          <p:cNvSpPr txBox="1">
            <a:spLocks noChangeArrowheads="1"/>
          </p:cNvSpPr>
          <p:nvPr/>
        </p:nvSpPr>
        <p:spPr bwMode="auto">
          <a:xfrm>
            <a:off x="1108075" y="1452396"/>
            <a:ext cx="8637588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500" b="1" dirty="0" smtClean="0"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Double-name system created by Linnaeus to name organisms; the first name is the genus, the second name is the species.</a:t>
            </a:r>
            <a:endParaRPr lang="en-US" altLang="en-US" sz="2500" b="1" dirty="0"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  <p:sp>
        <p:nvSpPr>
          <p:cNvPr id="12" name="TextBox 11">
            <a:extLst/>
          </p:cNvPr>
          <p:cNvSpPr txBox="1"/>
          <p:nvPr/>
        </p:nvSpPr>
        <p:spPr>
          <a:xfrm>
            <a:off x="355600" y="3712828"/>
            <a:ext cx="450850" cy="297338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4" name="TextBox 6"/>
          <p:cNvSpPr txBox="1">
            <a:spLocks noChangeArrowheads="1"/>
          </p:cNvSpPr>
          <p:nvPr/>
        </p:nvSpPr>
        <p:spPr bwMode="auto">
          <a:xfrm>
            <a:off x="806450" y="3389313"/>
            <a:ext cx="8767763" cy="155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9400" b="1" dirty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B</a:t>
            </a:r>
            <a:r>
              <a:rPr lang="en-US" altLang="en-US" sz="9400" b="1" dirty="0" smtClean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acteria</a:t>
            </a:r>
            <a:endParaRPr lang="en-US" altLang="en-US" sz="9400" b="1" dirty="0">
              <a:solidFill>
                <a:schemeClr val="accent6">
                  <a:lumMod val="75000"/>
                </a:schemeClr>
              </a:solidFill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  <p:sp>
        <p:nvSpPr>
          <p:cNvPr id="15" name="TextBox 5"/>
          <p:cNvSpPr txBox="1">
            <a:spLocks noChangeArrowheads="1"/>
          </p:cNvSpPr>
          <p:nvPr/>
        </p:nvSpPr>
        <p:spPr bwMode="auto">
          <a:xfrm>
            <a:off x="871537" y="4819483"/>
            <a:ext cx="8637588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500" b="1" dirty="0" smtClean="0"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Unicellular organisms with a cell wall but no nucleus.</a:t>
            </a:r>
            <a:endParaRPr lang="en-US" altLang="en-US" sz="2500" b="1" dirty="0"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3635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/>
          </p:cNvPr>
          <p:cNvSpPr txBox="1"/>
          <p:nvPr/>
        </p:nvSpPr>
        <p:spPr>
          <a:xfrm>
            <a:off x="355600" y="239461"/>
            <a:ext cx="450850" cy="297338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0" name="TextBox 4"/>
          <p:cNvSpPr txBox="1">
            <a:spLocks noChangeArrowheads="1"/>
          </p:cNvSpPr>
          <p:nvPr/>
        </p:nvSpPr>
        <p:spPr bwMode="auto">
          <a:xfrm>
            <a:off x="892175" y="22225"/>
            <a:ext cx="8767763" cy="155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8400" b="1" dirty="0" smtClean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Nucleus</a:t>
            </a:r>
            <a:endParaRPr lang="en-US" altLang="en-US" sz="8400" b="1" dirty="0">
              <a:solidFill>
                <a:schemeClr val="accent6">
                  <a:lumMod val="75000"/>
                </a:schemeClr>
              </a:solidFill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  <p:sp>
        <p:nvSpPr>
          <p:cNvPr id="11" name="TextBox 3"/>
          <p:cNvSpPr txBox="1">
            <a:spLocks noChangeArrowheads="1"/>
          </p:cNvSpPr>
          <p:nvPr/>
        </p:nvSpPr>
        <p:spPr bwMode="auto">
          <a:xfrm>
            <a:off x="1108075" y="1452396"/>
            <a:ext cx="8637588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500" b="1" dirty="0" smtClean="0"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A membrane-bound structure found in cells that contains most of the cell’s genetic material.</a:t>
            </a:r>
            <a:endParaRPr lang="en-US" altLang="en-US" sz="2500" b="1" dirty="0"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  <p:sp>
        <p:nvSpPr>
          <p:cNvPr id="12" name="TextBox 11">
            <a:extLst/>
          </p:cNvPr>
          <p:cNvSpPr txBox="1"/>
          <p:nvPr/>
        </p:nvSpPr>
        <p:spPr>
          <a:xfrm>
            <a:off x="355600" y="3712828"/>
            <a:ext cx="450850" cy="297338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4" name="TextBox 6"/>
          <p:cNvSpPr txBox="1">
            <a:spLocks noChangeArrowheads="1"/>
          </p:cNvSpPr>
          <p:nvPr/>
        </p:nvSpPr>
        <p:spPr bwMode="auto">
          <a:xfrm>
            <a:off x="806450" y="3389313"/>
            <a:ext cx="8767763" cy="155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9400" b="1" dirty="0" smtClean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Dead</a:t>
            </a:r>
            <a:endParaRPr lang="en-US" altLang="en-US" sz="9400" b="1" dirty="0">
              <a:solidFill>
                <a:schemeClr val="accent6">
                  <a:lumMod val="75000"/>
                </a:schemeClr>
              </a:solidFill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  <p:sp>
        <p:nvSpPr>
          <p:cNvPr id="15" name="TextBox 5"/>
          <p:cNvSpPr txBox="1">
            <a:spLocks noChangeArrowheads="1"/>
          </p:cNvSpPr>
          <p:nvPr/>
        </p:nvSpPr>
        <p:spPr bwMode="auto">
          <a:xfrm>
            <a:off x="871537" y="4819483"/>
            <a:ext cx="8637588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500" b="1" dirty="0" smtClean="0"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Something that was once living but no longer has the characteristics of a living thing.</a:t>
            </a:r>
            <a:endParaRPr lang="en-US" altLang="en-US" sz="2500" b="1" dirty="0"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9567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/>
          </p:cNvPr>
          <p:cNvSpPr txBox="1"/>
          <p:nvPr/>
        </p:nvSpPr>
        <p:spPr>
          <a:xfrm>
            <a:off x="355600" y="239461"/>
            <a:ext cx="450850" cy="297338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0" name="TextBox 4"/>
          <p:cNvSpPr txBox="1">
            <a:spLocks noChangeArrowheads="1"/>
          </p:cNvSpPr>
          <p:nvPr/>
        </p:nvSpPr>
        <p:spPr bwMode="auto">
          <a:xfrm>
            <a:off x="892175" y="22225"/>
            <a:ext cx="8767763" cy="155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8400" b="1" dirty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M</a:t>
            </a:r>
            <a:r>
              <a:rPr lang="en-US" altLang="en-US" sz="8400" b="1" dirty="0" smtClean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R NGREWW</a:t>
            </a:r>
            <a:endParaRPr lang="en-US" altLang="en-US" sz="8400" b="1" dirty="0">
              <a:solidFill>
                <a:schemeClr val="accent6">
                  <a:lumMod val="75000"/>
                </a:schemeClr>
              </a:solidFill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  <p:sp>
        <p:nvSpPr>
          <p:cNvPr id="11" name="TextBox 3"/>
          <p:cNvSpPr txBox="1">
            <a:spLocks noChangeArrowheads="1"/>
          </p:cNvSpPr>
          <p:nvPr/>
        </p:nvSpPr>
        <p:spPr bwMode="auto">
          <a:xfrm>
            <a:off x="1108075" y="1452396"/>
            <a:ext cx="8637588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500" b="1" dirty="0" smtClean="0"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Characteristics of living things.</a:t>
            </a:r>
            <a:endParaRPr lang="en-US" altLang="en-US" sz="2500" b="1" dirty="0"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  <p:sp>
        <p:nvSpPr>
          <p:cNvPr id="12" name="TextBox 11">
            <a:extLst/>
          </p:cNvPr>
          <p:cNvSpPr txBox="1"/>
          <p:nvPr/>
        </p:nvSpPr>
        <p:spPr>
          <a:xfrm>
            <a:off x="355600" y="3712828"/>
            <a:ext cx="450850" cy="297338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4" name="TextBox 6"/>
          <p:cNvSpPr txBox="1">
            <a:spLocks noChangeArrowheads="1"/>
          </p:cNvSpPr>
          <p:nvPr/>
        </p:nvSpPr>
        <p:spPr bwMode="auto">
          <a:xfrm>
            <a:off x="806450" y="3389313"/>
            <a:ext cx="8767763" cy="155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9400" b="1" dirty="0" smtClean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Endotherms</a:t>
            </a:r>
            <a:endParaRPr lang="en-US" altLang="en-US" sz="9400" b="1" dirty="0">
              <a:solidFill>
                <a:schemeClr val="accent6">
                  <a:lumMod val="75000"/>
                </a:schemeClr>
              </a:solidFill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  <p:sp>
        <p:nvSpPr>
          <p:cNvPr id="15" name="TextBox 5"/>
          <p:cNvSpPr txBox="1">
            <a:spLocks noChangeArrowheads="1"/>
          </p:cNvSpPr>
          <p:nvPr/>
        </p:nvSpPr>
        <p:spPr bwMode="auto">
          <a:xfrm>
            <a:off x="871537" y="4819483"/>
            <a:ext cx="8637588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500" b="1" dirty="0" smtClean="0"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Vertebrates with a constant body temperature.</a:t>
            </a:r>
            <a:endParaRPr lang="en-US" altLang="en-US" sz="2500" b="1" dirty="0"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035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/>
          </p:cNvPr>
          <p:cNvSpPr txBox="1"/>
          <p:nvPr/>
        </p:nvSpPr>
        <p:spPr>
          <a:xfrm>
            <a:off x="355600" y="239461"/>
            <a:ext cx="450850" cy="297338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0" name="TextBox 4"/>
          <p:cNvSpPr txBox="1">
            <a:spLocks noChangeArrowheads="1"/>
          </p:cNvSpPr>
          <p:nvPr/>
        </p:nvSpPr>
        <p:spPr bwMode="auto">
          <a:xfrm>
            <a:off x="892175" y="22225"/>
            <a:ext cx="8767763" cy="155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8400" b="1" dirty="0" smtClean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Ectotherms</a:t>
            </a:r>
            <a:endParaRPr lang="en-US" altLang="en-US" sz="8400" b="1" dirty="0">
              <a:solidFill>
                <a:schemeClr val="accent6">
                  <a:lumMod val="75000"/>
                </a:schemeClr>
              </a:solidFill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  <p:sp>
        <p:nvSpPr>
          <p:cNvPr id="11" name="TextBox 3"/>
          <p:cNvSpPr txBox="1">
            <a:spLocks noChangeArrowheads="1"/>
          </p:cNvSpPr>
          <p:nvPr/>
        </p:nvSpPr>
        <p:spPr bwMode="auto">
          <a:xfrm>
            <a:off x="1108075" y="1452396"/>
            <a:ext cx="8637588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500" b="1" dirty="0" smtClean="0"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Vertebrates that have a body temperature that changes with the environment.</a:t>
            </a:r>
            <a:endParaRPr lang="en-US" altLang="en-US" sz="2500" b="1" dirty="0"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  <p:sp>
        <p:nvSpPr>
          <p:cNvPr id="12" name="TextBox 11">
            <a:extLst/>
          </p:cNvPr>
          <p:cNvSpPr txBox="1"/>
          <p:nvPr/>
        </p:nvSpPr>
        <p:spPr>
          <a:xfrm>
            <a:off x="355600" y="3712828"/>
            <a:ext cx="450850" cy="297338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4" name="TextBox 6"/>
          <p:cNvSpPr txBox="1">
            <a:spLocks noChangeArrowheads="1"/>
          </p:cNvSpPr>
          <p:nvPr/>
        </p:nvSpPr>
        <p:spPr bwMode="auto">
          <a:xfrm>
            <a:off x="806450" y="3389313"/>
            <a:ext cx="8767763" cy="155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9400" b="1" dirty="0" smtClean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Autotroph</a:t>
            </a:r>
            <a:endParaRPr lang="en-US" altLang="en-US" sz="9400" b="1" dirty="0">
              <a:solidFill>
                <a:schemeClr val="accent6">
                  <a:lumMod val="75000"/>
                </a:schemeClr>
              </a:solidFill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  <p:sp>
        <p:nvSpPr>
          <p:cNvPr id="15" name="TextBox 5"/>
          <p:cNvSpPr txBox="1">
            <a:spLocks noChangeArrowheads="1"/>
          </p:cNvSpPr>
          <p:nvPr/>
        </p:nvSpPr>
        <p:spPr bwMode="auto">
          <a:xfrm>
            <a:off x="871537" y="4819483"/>
            <a:ext cx="8637588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500" b="1" dirty="0" smtClean="0"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Organism that makes its own food.</a:t>
            </a:r>
            <a:endParaRPr lang="en-US" altLang="en-US" sz="2500" b="1" dirty="0"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707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/>
          </p:cNvPr>
          <p:cNvSpPr txBox="1"/>
          <p:nvPr/>
        </p:nvSpPr>
        <p:spPr>
          <a:xfrm>
            <a:off x="355600" y="239461"/>
            <a:ext cx="450850" cy="297338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0" name="TextBox 4"/>
          <p:cNvSpPr txBox="1">
            <a:spLocks noChangeArrowheads="1"/>
          </p:cNvSpPr>
          <p:nvPr/>
        </p:nvSpPr>
        <p:spPr bwMode="auto">
          <a:xfrm>
            <a:off x="892175" y="22225"/>
            <a:ext cx="8767763" cy="155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8400" b="1" dirty="0" smtClean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Cell Wall</a:t>
            </a:r>
            <a:endParaRPr lang="en-US" altLang="en-US" sz="8400" b="1" dirty="0">
              <a:solidFill>
                <a:schemeClr val="accent6">
                  <a:lumMod val="75000"/>
                </a:schemeClr>
              </a:solidFill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  <p:sp>
        <p:nvSpPr>
          <p:cNvPr id="11" name="TextBox 3"/>
          <p:cNvSpPr txBox="1">
            <a:spLocks noChangeArrowheads="1"/>
          </p:cNvSpPr>
          <p:nvPr/>
        </p:nvSpPr>
        <p:spPr bwMode="auto">
          <a:xfrm>
            <a:off x="1108075" y="1452396"/>
            <a:ext cx="8637588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500" b="1" dirty="0" smtClean="0"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A structure that provides support around some cells.</a:t>
            </a:r>
            <a:endParaRPr lang="en-US" altLang="en-US" sz="2500" b="1" dirty="0"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  <p:sp>
        <p:nvSpPr>
          <p:cNvPr id="12" name="TextBox 11">
            <a:extLst/>
          </p:cNvPr>
          <p:cNvSpPr txBox="1"/>
          <p:nvPr/>
        </p:nvSpPr>
        <p:spPr>
          <a:xfrm>
            <a:off x="355600" y="3712828"/>
            <a:ext cx="450850" cy="297338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4" name="TextBox 6"/>
          <p:cNvSpPr txBox="1">
            <a:spLocks noChangeArrowheads="1"/>
          </p:cNvSpPr>
          <p:nvPr/>
        </p:nvSpPr>
        <p:spPr bwMode="auto">
          <a:xfrm>
            <a:off x="806450" y="3389313"/>
            <a:ext cx="8767763" cy="155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9400" b="1" dirty="0" smtClean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Genus</a:t>
            </a:r>
            <a:endParaRPr lang="en-US" altLang="en-US" sz="9400" b="1" dirty="0">
              <a:solidFill>
                <a:schemeClr val="accent6">
                  <a:lumMod val="75000"/>
                </a:schemeClr>
              </a:solidFill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  <p:sp>
        <p:nvSpPr>
          <p:cNvPr id="15" name="TextBox 5"/>
          <p:cNvSpPr txBox="1">
            <a:spLocks noChangeArrowheads="1"/>
          </p:cNvSpPr>
          <p:nvPr/>
        </p:nvSpPr>
        <p:spPr bwMode="auto">
          <a:xfrm>
            <a:off x="871537" y="4819483"/>
            <a:ext cx="8637588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500" b="1" dirty="0" smtClean="0"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Group of closely related species.</a:t>
            </a:r>
            <a:endParaRPr lang="en-US" altLang="en-US" sz="2500" b="1" dirty="0"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989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224</Words>
  <Application>Microsoft Office PowerPoint</Application>
  <PresentationFormat>Widescreen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HARRIS Maria [Safety Bay Senior High School]</dc:creator>
  <cp:lastModifiedBy>HARRIS Maria [Safety Bay Senior High School]</cp:lastModifiedBy>
  <cp:revision>5</cp:revision>
  <cp:lastPrinted>2020-04-28T04:57:20Z</cp:lastPrinted>
  <dcterms:created xsi:type="dcterms:W3CDTF">2020-04-28T02:35:20Z</dcterms:created>
  <dcterms:modified xsi:type="dcterms:W3CDTF">2020-04-28T05:01:03Z</dcterms:modified>
</cp:coreProperties>
</file>
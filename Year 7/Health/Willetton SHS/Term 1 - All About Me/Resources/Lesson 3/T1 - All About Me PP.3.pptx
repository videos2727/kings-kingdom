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24" r:id="rId2"/>
    <p:sldId id="326" r:id="rId3"/>
    <p:sldId id="322" r:id="rId4"/>
    <p:sldId id="285" r:id="rId5"/>
    <p:sldId id="325" r:id="rId6"/>
    <p:sldId id="295" r:id="rId7"/>
    <p:sldId id="296" r:id="rId8"/>
    <p:sldId id="297" r:id="rId9"/>
    <p:sldId id="348" r:id="rId10"/>
    <p:sldId id="330" r:id="rId11"/>
    <p:sldId id="381" r:id="rId12"/>
    <p:sldId id="28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D4B1"/>
    <a:srgbClr val="FFF4EB"/>
    <a:srgbClr val="FFFDFB"/>
    <a:srgbClr val="FFE7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 autoAdjust="0"/>
    <p:restoredTop sz="83861" autoAdjust="0"/>
  </p:normalViewPr>
  <p:slideViewPr>
    <p:cSldViewPr snapToGrid="0">
      <p:cViewPr varScale="1">
        <p:scale>
          <a:sx n="61" d="100"/>
          <a:sy n="61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A36F7-0907-4FEF-B0FD-8059B973ACD9}" type="datetimeFigureOut">
              <a:rPr lang="en-AU" smtClean="0"/>
              <a:t>26/10/2023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573D7-E80C-4709-9B31-9CF3A42190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1880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 definition:</a:t>
            </a:r>
          </a:p>
          <a:p>
            <a:r>
              <a:rPr lang="en-US" dirty="0"/>
              <a:t>https://</a:t>
            </a:r>
            <a:r>
              <a:rPr lang="en-US" dirty="0" err="1"/>
              <a:t>www.who.int</a:t>
            </a:r>
            <a:r>
              <a:rPr lang="en-US" dirty="0"/>
              <a:t>/about/governance/constitution</a:t>
            </a:r>
          </a:p>
          <a:p>
            <a:endParaRPr lang="en-US" dirty="0"/>
          </a:p>
          <a:p>
            <a:r>
              <a:rPr lang="en-US" dirty="0"/>
              <a:t>Well-being definition:</a:t>
            </a:r>
          </a:p>
          <a:p>
            <a:r>
              <a:rPr lang="en-US" dirty="0"/>
              <a:t>https://</a:t>
            </a:r>
            <a:r>
              <a:rPr lang="en-US" dirty="0" err="1"/>
              <a:t>www.wellbeingpeople.com</a:t>
            </a:r>
            <a:r>
              <a:rPr lang="en-US" dirty="0"/>
              <a:t>/what-is-wellbeing/#:~:text=Wellbeing%20refers%20to%20a%20state,your%20personal%20and%20professional%20experiences.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8331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Assessment 2 related </a:t>
            </a:r>
          </a:p>
          <a:p>
            <a:endParaRPr lang="en-AU" b="1" dirty="0"/>
          </a:p>
          <a:p>
            <a:r>
              <a:rPr lang="en-AU" b="1" dirty="0"/>
              <a:t>pg11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202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https://www.youtube.com/watch?v=zeu9X88g8DE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1564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8306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Assessment 2 related </a:t>
            </a:r>
            <a:endParaRPr lang="en-US" dirty="0"/>
          </a:p>
          <a:p>
            <a:endParaRPr lang="en-US" dirty="0"/>
          </a:p>
          <a:p>
            <a:r>
              <a:rPr lang="en-US" dirty="0"/>
              <a:t>Fill in the blanks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2037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="1" dirty="0"/>
              <a:t>Assessment 2 related 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Fill in the blanks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024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SPIT FIRE = ask students to call out their responses.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3843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comprehensive definition for resilience will be useful for their Assessment Task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0018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Hand out Assessment Task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Teacher discretion – can be hard copy or electronic on Canva</a:t>
            </a:r>
          </a:p>
          <a:p>
            <a:endParaRPr lang="en-AU" dirty="0"/>
          </a:p>
          <a:p>
            <a:r>
              <a:rPr lang="en-AU" dirty="0"/>
              <a:t>Optional – lesson to work on assessment in class in time permits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984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https://create.kahoot.it/share/duplicate-of-resilience/2cf4af06-ce82-4627-a62d-deab605fd954</a:t>
            </a:r>
          </a:p>
          <a:p>
            <a:endParaRPr lang="en-AU" dirty="0"/>
          </a:p>
          <a:p>
            <a:r>
              <a:rPr lang="en-AU" dirty="0"/>
              <a:t>Skip if you don’t perceive there to be enough time, or if you’d prefer to give more class time to work on their assignment.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1523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26/10/2023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7378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26/10/2023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024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6F2E1-FA8A-4588-BBFD-A05AC645A9D8}" type="datetimeFigureOut">
              <a:rPr lang="en-AU" smtClean="0"/>
              <a:t>26/10/2023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92619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26/10/2023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398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26/10/2023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797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26/10/2023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700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26/10/2023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3949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26/10/2023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1007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26/10/2023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1218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26/10/2023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385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CF86F2E1-FA8A-4588-BBFD-A05AC645A9D8}" type="datetimeFigureOut">
              <a:rPr lang="en-AU" smtClean="0"/>
              <a:t>26/10/2023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636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CF86F2E1-FA8A-4588-BBFD-A05AC645A9D8}" type="datetimeFigureOut">
              <a:rPr lang="en-AU" smtClean="0"/>
              <a:t>26/10/2023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33601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10" Type="http://schemas.microsoft.com/office/2007/relationships/hdphoto" Target="../media/hdphoto4.wdp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eu9X88g8DE?feature=oembed" TargetMode="Externa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e.kahoot.it/share/duplicate-of-resilience/2cf4af06-ce82-4627-a62d-deab605fd954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1727" y="2182637"/>
            <a:ext cx="9118495" cy="1600964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AU" sz="7200" b="1" dirty="0"/>
              <a:t>All About Me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1776" y1="59639" x2="91776" y2="59639"/>
                        <a14:foregroundMark x1="88487" y1="54217" x2="88487" y2="54217"/>
                        <a14:foregroundMark x1="82237" y1="13855" x2="82237" y2="13855"/>
                        <a14:foregroundMark x1="11842" y1="19277" x2="11842" y2="19277"/>
                        <a14:foregroundMark x1="6250" y1="51807" x2="6250" y2="51807"/>
                        <a14:foregroundMark x1="13158" y1="53614" x2="13158" y2="53614"/>
                        <a14:foregroundMark x1="11513" y1="53012" x2="11513" y2="53012"/>
                        <a14:foregroundMark x1="9211" y1="54819" x2="9211" y2="54819"/>
                        <a14:foregroundMark x1="22368" y1="53614" x2="22368" y2="53614"/>
                        <a14:foregroundMark x1="25987" y1="54217" x2="25987" y2="54217"/>
                        <a14:foregroundMark x1="19408" y1="51807" x2="19408" y2="51807"/>
                        <a14:foregroundMark x1="19737" y1="63855" x2="19737" y2="63855"/>
                        <a14:foregroundMark x1="19737" y1="63855" x2="18750" y2="86747"/>
                        <a14:foregroundMark x1="7895" y1="24096" x2="17105" y2="8434"/>
                        <a14:foregroundMark x1="42763" y1="19277" x2="54605" y2="12048"/>
                        <a14:foregroundMark x1="30263" y1="71084" x2="32237" y2="92169"/>
                        <a14:foregroundMark x1="66118" y1="56627" x2="65789" y2="92771"/>
                        <a14:foregroundMark x1="82237" y1="16867" x2="89145" y2="156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1344" y="4493213"/>
            <a:ext cx="3490768" cy="19061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160" l="324" r="100000">
                        <a14:foregroundMark x1="37217" y1="52761" x2="47249" y2="66871"/>
                        <a14:foregroundMark x1="44337" y1="52761" x2="44337" y2="52761"/>
                        <a14:foregroundMark x1="39806" y1="48466" x2="39806" y2="48466"/>
                        <a14:foregroundMark x1="37864" y1="63190" x2="37864" y2="63190"/>
                        <a14:foregroundMark x1="35599" y1="73006" x2="35599" y2="73006"/>
                        <a14:foregroundMark x1="46602" y1="73006" x2="46602" y2="73006"/>
                        <a14:foregroundMark x1="50485" y1="52761" x2="50485" y2="52761"/>
                        <a14:foregroundMark x1="73139" y1="23313" x2="73139" y2="23313"/>
                        <a14:foregroundMark x1="69903" y1="21472" x2="69903" y2="21472"/>
                        <a14:foregroundMark x1="73786" y1="19632" x2="73786" y2="19632"/>
                        <a14:foregroundMark x1="76699" y1="18405" x2="76699" y2="18405"/>
                        <a14:backgroundMark x1="54693" y1="53374" x2="54693" y2="53374"/>
                        <a14:backgroundMark x1="62460" y1="52761" x2="62460" y2="52761"/>
                        <a14:backgroundMark x1="55987" y1="53374" x2="55987" y2="53374"/>
                        <a14:backgroundMark x1="59223" y1="64417" x2="59223" y2="644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29768" y="-36830"/>
            <a:ext cx="3102012" cy="23408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89" b="100000" l="889" r="99111">
                        <a14:foregroundMark x1="17778" y1="65333" x2="17778" y2="65333"/>
                        <a14:foregroundMark x1="16889" y1="69778" x2="16889" y2="69778"/>
                        <a14:foregroundMark x1="19111" y1="71111" x2="19111" y2="71111"/>
                        <a14:foregroundMark x1="85778" y1="64000" x2="85778" y2="64000"/>
                        <a14:foregroundMark x1="84444" y1="68000" x2="84444" y2="68000"/>
                        <a14:foregroundMark x1="62667" y1="33778" x2="62667" y2="33778"/>
                        <a14:foregroundMark x1="40889" y1="33778" x2="40889" y2="33778"/>
                        <a14:foregroundMark x1="22222" y1="71111" x2="22222" y2="711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62197" y="23239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728" y="4493213"/>
            <a:ext cx="3348736" cy="188366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31" b="99569" l="922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34521" y="-39878"/>
            <a:ext cx="2066925" cy="21764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898FFC-EF2E-7AD2-4274-7D8DE97BA422}"/>
              </a:ext>
            </a:extLst>
          </p:cNvPr>
          <p:cNvSpPr txBox="1"/>
          <p:nvPr/>
        </p:nvSpPr>
        <p:spPr>
          <a:xfrm>
            <a:off x="4151376" y="4332319"/>
            <a:ext cx="38892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Year 7 Health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Lesson 3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2261871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-up of stacked books">
            <a:extLst>
              <a:ext uri="{FF2B5EF4-FFF2-40B4-BE49-F238E27FC236}">
                <a16:creationId xmlns:a16="http://schemas.microsoft.com/office/drawing/2014/main" id="{626B949D-C7D2-0DD2-B2C7-8CF0F10B5C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33DA74-51AB-10AF-C7EE-A5136B1C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GLOSSARY: 						</a:t>
            </a:r>
            <a:r>
              <a:rPr lang="en-AU" sz="4000" dirty="0"/>
              <a:t>(Pg. 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B7809-64A7-0A0A-96F5-BB8813134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177" y="2120862"/>
            <a:ext cx="11202897" cy="4206240"/>
          </a:xfrm>
        </p:spPr>
        <p:txBody>
          <a:bodyPr>
            <a:normAutofit/>
          </a:bodyPr>
          <a:lstStyle/>
          <a:p>
            <a:r>
              <a:rPr lang="en-US" dirty="0"/>
              <a:t>At the front of your books is your glossary. Turn to your glossary and add the following words and their definitions:</a:t>
            </a:r>
          </a:p>
          <a:p>
            <a:endParaRPr lang="en-US" dirty="0"/>
          </a:p>
          <a:p>
            <a:r>
              <a:rPr lang="en-US" b="1" i="1" dirty="0"/>
              <a:t>Health: </a:t>
            </a:r>
          </a:p>
          <a:p>
            <a:pPr lvl="2"/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Health is a state of complete physical, mental, and social well-being and not merely the absence of disease or infirmity.</a:t>
            </a:r>
          </a:p>
          <a:p>
            <a:pPr lvl="1"/>
            <a:endParaRPr lang="en-US" dirty="0">
              <a:cs typeface="Arial" panose="020B0604020202020204" pitchFamily="34" charset="0"/>
            </a:endParaRPr>
          </a:p>
          <a:p>
            <a:r>
              <a:rPr lang="en-US" b="1" i="1" dirty="0">
                <a:cs typeface="Arial" panose="020B0604020202020204" pitchFamily="34" charset="0"/>
              </a:rPr>
              <a:t>Well-being:</a:t>
            </a:r>
          </a:p>
          <a:p>
            <a:pPr lvl="2"/>
            <a:r>
              <a:rPr lang="en-US" sz="2200" dirty="0">
                <a:cs typeface="Arial" panose="020B0604020202020204" pitchFamily="34" charset="0"/>
              </a:rPr>
              <a:t>A state of being healthy, happy, and comfortable, both physically and mentally. It encompasses being content and satisfied with your life and experiences. </a:t>
            </a:r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223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81743-44A0-30CE-C2E2-6F22EE3A8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07" y="2134509"/>
            <a:ext cx="10754987" cy="4582193"/>
          </a:xfrm>
        </p:spPr>
        <p:txBody>
          <a:bodyPr>
            <a:normAutofit/>
          </a:bodyPr>
          <a:lstStyle/>
          <a:p>
            <a:r>
              <a:rPr lang="en-US" dirty="0"/>
              <a:t>As a class you need to get yourselves in height order.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must do this WITHOUT talking.</a:t>
            </a:r>
          </a:p>
          <a:p>
            <a:r>
              <a:rPr lang="en-US" dirty="0"/>
              <a:t>Once in order, turn to the person next to you and chat </a:t>
            </a:r>
            <a:br>
              <a:rPr lang="en-US" dirty="0"/>
            </a:br>
            <a:r>
              <a:rPr lang="en-US" dirty="0"/>
              <a:t>about two questions.</a:t>
            </a:r>
          </a:p>
          <a:p>
            <a:r>
              <a:rPr lang="en-US" dirty="0"/>
              <a:t>You have 2 minutes. </a:t>
            </a:r>
          </a:p>
          <a:p>
            <a:r>
              <a:rPr lang="en-US" dirty="0"/>
              <a:t>Be prepared to share your responses.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4F10677-DAA3-BD49-51C0-9421FF39C6BA}"/>
              </a:ext>
            </a:extLst>
          </p:cNvPr>
          <p:cNvSpPr txBox="1">
            <a:spLocks/>
          </p:cNvSpPr>
          <p:nvPr/>
        </p:nvSpPr>
        <p:spPr>
          <a:xfrm>
            <a:off x="1202919" y="308144"/>
            <a:ext cx="9784080" cy="145041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5400" dirty="0"/>
              <a:t>hook: </a:t>
            </a:r>
            <a:r>
              <a:rPr lang="en-AU" sz="2900" dirty="0"/>
              <a:t>(Pg. 11)</a:t>
            </a:r>
            <a:br>
              <a:rPr lang="en-AU" sz="5400" dirty="0"/>
            </a:br>
            <a:r>
              <a:rPr lang="en-AU" sz="5400" dirty="0"/>
              <a:t>Resilience – What is it? </a:t>
            </a:r>
            <a:endParaRPr lang="en-US" sz="2800" dirty="0"/>
          </a:p>
        </p:txBody>
      </p:sp>
      <p:sp>
        <p:nvSpPr>
          <p:cNvPr id="6" name="Rectangle 5" descr="Brain in head">
            <a:extLst>
              <a:ext uri="{FF2B5EF4-FFF2-40B4-BE49-F238E27FC236}">
                <a16:creationId xmlns:a16="http://schemas.microsoft.com/office/drawing/2014/main" id="{25670A8F-0AD1-B50A-4082-4536DF2A5C1D}"/>
              </a:ext>
            </a:extLst>
          </p:cNvPr>
          <p:cNvSpPr/>
          <p:nvPr/>
        </p:nvSpPr>
        <p:spPr>
          <a:xfrm>
            <a:off x="9432812" y="4205128"/>
            <a:ext cx="1554187" cy="1554187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931B-206B-EF80-B34D-3B58666B3B40}"/>
              </a:ext>
            </a:extLst>
          </p:cNvPr>
          <p:cNvSpPr txBox="1"/>
          <p:nvPr/>
        </p:nvSpPr>
        <p:spPr>
          <a:xfrm>
            <a:off x="8704317" y="5793373"/>
            <a:ext cx="31571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en-AU" dirty="0"/>
              <a:t>Q2: Why is resilience important in maintaining our mental and emotional wellbeing?</a:t>
            </a:r>
            <a:endParaRPr lang="en-US" dirty="0"/>
          </a:p>
        </p:txBody>
      </p:sp>
      <p:sp>
        <p:nvSpPr>
          <p:cNvPr id="9" name="Rectangle 8" descr="Questions">
            <a:extLst>
              <a:ext uri="{FF2B5EF4-FFF2-40B4-BE49-F238E27FC236}">
                <a16:creationId xmlns:a16="http://schemas.microsoft.com/office/drawing/2014/main" id="{61080F6C-91E5-7D94-D1E1-F991C9875421}"/>
              </a:ext>
            </a:extLst>
          </p:cNvPr>
          <p:cNvSpPr/>
          <p:nvPr/>
        </p:nvSpPr>
        <p:spPr>
          <a:xfrm>
            <a:off x="7927224" y="2005894"/>
            <a:ext cx="1554187" cy="1554187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C4E077-6186-18C7-DB51-77E0B09534DC}"/>
              </a:ext>
            </a:extLst>
          </p:cNvPr>
          <p:cNvSpPr txBox="1"/>
          <p:nvPr/>
        </p:nvSpPr>
        <p:spPr>
          <a:xfrm>
            <a:off x="6977442" y="3671338"/>
            <a:ext cx="3453750" cy="106758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15557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kern="1200" dirty="0"/>
              <a:t>Q1: What is resilience?</a:t>
            </a:r>
            <a:endParaRPr lang="en-US" kern="1200" dirty="0">
              <a:highlight>
                <a:srgbClr val="FF0000"/>
              </a:highlight>
            </a:endParaRPr>
          </a:p>
        </p:txBody>
      </p:sp>
      <p:sp>
        <p:nvSpPr>
          <p:cNvPr id="14" name="Thought Bubble: Cloud 9">
            <a:extLst>
              <a:ext uri="{FF2B5EF4-FFF2-40B4-BE49-F238E27FC236}">
                <a16:creationId xmlns:a16="http://schemas.microsoft.com/office/drawing/2014/main" id="{60267AA1-DE02-508F-D67B-EAE284FCA56A}"/>
              </a:ext>
            </a:extLst>
          </p:cNvPr>
          <p:cNvSpPr/>
          <p:nvPr/>
        </p:nvSpPr>
        <p:spPr>
          <a:xfrm>
            <a:off x="9447627" y="229422"/>
            <a:ext cx="2622838" cy="1860529"/>
          </a:xfrm>
          <a:prstGeom prst="cloudCallout">
            <a:avLst>
              <a:gd name="adj1" fmla="val -30158"/>
              <a:gd name="adj2" fmla="val 83739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“A person who never made a mistake, never tried anything new.”</a:t>
            </a:r>
          </a:p>
          <a:p>
            <a:pPr algn="ctr"/>
            <a:r>
              <a:rPr lang="en-AU" sz="1400" b="1" dirty="0"/>
              <a:t>(Albert Einstein)</a:t>
            </a:r>
          </a:p>
        </p:txBody>
      </p:sp>
      <p:sp>
        <p:nvSpPr>
          <p:cNvPr id="2" name="Left-right Arrow 1">
            <a:extLst>
              <a:ext uri="{FF2B5EF4-FFF2-40B4-BE49-F238E27FC236}">
                <a16:creationId xmlns:a16="http://schemas.microsoft.com/office/drawing/2014/main" id="{EBF5EE58-4E06-AE05-A259-3FAF49A6BF57}"/>
              </a:ext>
            </a:extLst>
          </p:cNvPr>
          <p:cNvSpPr/>
          <p:nvPr/>
        </p:nvSpPr>
        <p:spPr>
          <a:xfrm>
            <a:off x="410083" y="2996960"/>
            <a:ext cx="6787167" cy="106758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165C24-C18F-D3F4-B657-973D73DB5D98}"/>
              </a:ext>
            </a:extLst>
          </p:cNvPr>
          <p:cNvSpPr txBox="1"/>
          <p:nvPr/>
        </p:nvSpPr>
        <p:spPr>
          <a:xfrm>
            <a:off x="785611" y="3269140"/>
            <a:ext cx="6078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TALLEST					    SHORTEST</a:t>
            </a:r>
          </a:p>
        </p:txBody>
      </p:sp>
    </p:spTree>
    <p:extLst>
      <p:ext uri="{BB962C8B-B14F-4D97-AF65-F5344CB8AC3E}">
        <p14:creationId xmlns:p14="http://schemas.microsoft.com/office/powerpoint/2010/main" val="296060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BA78-84EB-4516-8212-C81771DD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800" dirty="0"/>
              <a:t>Activity 1: Resilience – What is it? 	</a:t>
            </a:r>
            <a:r>
              <a:rPr lang="en-AU" sz="3200" dirty="0"/>
              <a:t>(Pg. 11)</a:t>
            </a:r>
            <a:endParaRPr lang="en-AU" sz="4800" b="1" dirty="0"/>
          </a:p>
        </p:txBody>
      </p:sp>
      <p:pic>
        <p:nvPicPr>
          <p:cNvPr id="4" name="Online Media 3" title="Wellbeing For Children: Resilience">
            <a:hlinkClick r:id="" action="ppaction://media"/>
            <a:extLst>
              <a:ext uri="{FF2B5EF4-FFF2-40B4-BE49-F238E27FC236}">
                <a16:creationId xmlns:a16="http://schemas.microsoft.com/office/drawing/2014/main" id="{2AEFF67B-F965-488F-A8DC-7719AC6B931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022" y="1827078"/>
            <a:ext cx="8903782" cy="50309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78467E-63DB-0FEF-4FD3-8355C55ACD49}"/>
              </a:ext>
            </a:extLst>
          </p:cNvPr>
          <p:cNvSpPr txBox="1"/>
          <p:nvPr/>
        </p:nvSpPr>
        <p:spPr>
          <a:xfrm>
            <a:off x="9094971" y="1792936"/>
            <a:ext cx="289774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You’ve just had a chat with a classmate about resilience and why it is important.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While watching the video, jot down any additional answers to those two questions.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What is resilience?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Why is resilience important in maintaining our mental and emotional wellbeing?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  <a:p>
            <a:r>
              <a:rPr lang="en-AU" dirty="0"/>
              <a:t>Be prepared to share your responses.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65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691FE-C90E-F0F7-B291-6A7DEBCF0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842" y="2011680"/>
            <a:ext cx="11532358" cy="1508760"/>
          </a:xfrm>
        </p:spPr>
        <p:txBody>
          <a:bodyPr/>
          <a:lstStyle/>
          <a:p>
            <a:r>
              <a:rPr lang="en-US" dirty="0"/>
              <a:t>You will have </a:t>
            </a:r>
            <a:r>
              <a:rPr lang="en-US" u="sng" dirty="0"/>
              <a:t>1 minute </a:t>
            </a:r>
            <a:r>
              <a:rPr lang="en-US" dirty="0"/>
              <a:t>to </a:t>
            </a:r>
            <a:r>
              <a:rPr lang="en-US" b="1" dirty="0">
                <a:solidFill>
                  <a:schemeClr val="accent4"/>
                </a:solidFill>
              </a:rPr>
              <a:t>THINK</a:t>
            </a:r>
            <a:r>
              <a:rPr lang="en-US" dirty="0"/>
              <a:t> about your response to a question.</a:t>
            </a:r>
          </a:p>
          <a:p>
            <a:r>
              <a:rPr lang="en-US" dirty="0"/>
              <a:t>You will then have </a:t>
            </a:r>
            <a:r>
              <a:rPr lang="en-US" u="sng" dirty="0"/>
              <a:t>1 minute 30 sec </a:t>
            </a:r>
            <a:r>
              <a:rPr lang="en-US" dirty="0"/>
              <a:t>to </a:t>
            </a:r>
            <a:r>
              <a:rPr lang="en-US" b="1" dirty="0">
                <a:solidFill>
                  <a:schemeClr val="accent1"/>
                </a:solidFill>
              </a:rPr>
              <a:t>PAIR</a:t>
            </a:r>
            <a:r>
              <a:rPr lang="en-US" dirty="0"/>
              <a:t> with the person next to you and discuss your thoughts. </a:t>
            </a:r>
          </a:p>
          <a:p>
            <a:r>
              <a:rPr lang="en-US" dirty="0"/>
              <a:t>Finally, be prepared to </a:t>
            </a:r>
            <a:r>
              <a:rPr lang="en-US" b="1" dirty="0">
                <a:solidFill>
                  <a:schemeClr val="accent3"/>
                </a:solidFill>
              </a:rPr>
              <a:t>SHARE</a:t>
            </a:r>
            <a:r>
              <a:rPr lang="en-US" dirty="0"/>
              <a:t> your thoughts with the class.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EBCF2-817A-8D15-EF5B-9A2031E950A3}"/>
              </a:ext>
            </a:extLst>
          </p:cNvPr>
          <p:cNvSpPr txBox="1"/>
          <p:nvPr/>
        </p:nvSpPr>
        <p:spPr>
          <a:xfrm>
            <a:off x="354842" y="3834718"/>
            <a:ext cx="7057126" cy="2308324"/>
          </a:xfrm>
          <a:custGeom>
            <a:avLst/>
            <a:gdLst>
              <a:gd name="connsiteX0" fmla="*/ 0 w 7057126"/>
              <a:gd name="connsiteY0" fmla="*/ 0 h 2308324"/>
              <a:gd name="connsiteX1" fmla="*/ 517523 w 7057126"/>
              <a:gd name="connsiteY1" fmla="*/ 0 h 2308324"/>
              <a:gd name="connsiteX2" fmla="*/ 893903 w 7057126"/>
              <a:gd name="connsiteY2" fmla="*/ 0 h 2308324"/>
              <a:gd name="connsiteX3" fmla="*/ 1623139 w 7057126"/>
              <a:gd name="connsiteY3" fmla="*/ 0 h 2308324"/>
              <a:gd name="connsiteX4" fmla="*/ 2140662 w 7057126"/>
              <a:gd name="connsiteY4" fmla="*/ 0 h 2308324"/>
              <a:gd name="connsiteX5" fmla="*/ 2658184 w 7057126"/>
              <a:gd name="connsiteY5" fmla="*/ 0 h 2308324"/>
              <a:gd name="connsiteX6" fmla="*/ 3387420 w 7057126"/>
              <a:gd name="connsiteY6" fmla="*/ 0 h 2308324"/>
              <a:gd name="connsiteX7" fmla="*/ 3834372 w 7057126"/>
              <a:gd name="connsiteY7" fmla="*/ 0 h 2308324"/>
              <a:gd name="connsiteX8" fmla="*/ 4563608 w 7057126"/>
              <a:gd name="connsiteY8" fmla="*/ 0 h 2308324"/>
              <a:gd name="connsiteX9" fmla="*/ 5292845 w 7057126"/>
              <a:gd name="connsiteY9" fmla="*/ 0 h 2308324"/>
              <a:gd name="connsiteX10" fmla="*/ 5880938 w 7057126"/>
              <a:gd name="connsiteY10" fmla="*/ 0 h 2308324"/>
              <a:gd name="connsiteX11" fmla="*/ 7057126 w 7057126"/>
              <a:gd name="connsiteY11" fmla="*/ 0 h 2308324"/>
              <a:gd name="connsiteX12" fmla="*/ 7057126 w 7057126"/>
              <a:gd name="connsiteY12" fmla="*/ 553998 h 2308324"/>
              <a:gd name="connsiteX13" fmla="*/ 7057126 w 7057126"/>
              <a:gd name="connsiteY13" fmla="*/ 1061829 h 2308324"/>
              <a:gd name="connsiteX14" fmla="*/ 7057126 w 7057126"/>
              <a:gd name="connsiteY14" fmla="*/ 1638910 h 2308324"/>
              <a:gd name="connsiteX15" fmla="*/ 7057126 w 7057126"/>
              <a:gd name="connsiteY15" fmla="*/ 2308324 h 2308324"/>
              <a:gd name="connsiteX16" fmla="*/ 6469032 w 7057126"/>
              <a:gd name="connsiteY16" fmla="*/ 2308324 h 2308324"/>
              <a:gd name="connsiteX17" fmla="*/ 5739796 w 7057126"/>
              <a:gd name="connsiteY17" fmla="*/ 2308324 h 2308324"/>
              <a:gd name="connsiteX18" fmla="*/ 5151702 w 7057126"/>
              <a:gd name="connsiteY18" fmla="*/ 2308324 h 2308324"/>
              <a:gd name="connsiteX19" fmla="*/ 4775322 w 7057126"/>
              <a:gd name="connsiteY19" fmla="*/ 2308324 h 2308324"/>
              <a:gd name="connsiteX20" fmla="*/ 4328371 w 7057126"/>
              <a:gd name="connsiteY20" fmla="*/ 2308324 h 2308324"/>
              <a:gd name="connsiteX21" fmla="*/ 3599134 w 7057126"/>
              <a:gd name="connsiteY21" fmla="*/ 2308324 h 2308324"/>
              <a:gd name="connsiteX22" fmla="*/ 3011040 w 7057126"/>
              <a:gd name="connsiteY22" fmla="*/ 2308324 h 2308324"/>
              <a:gd name="connsiteX23" fmla="*/ 2564089 w 7057126"/>
              <a:gd name="connsiteY23" fmla="*/ 2308324 h 2308324"/>
              <a:gd name="connsiteX24" fmla="*/ 1975995 w 7057126"/>
              <a:gd name="connsiteY24" fmla="*/ 2308324 h 2308324"/>
              <a:gd name="connsiteX25" fmla="*/ 1599615 w 7057126"/>
              <a:gd name="connsiteY25" fmla="*/ 2308324 h 2308324"/>
              <a:gd name="connsiteX26" fmla="*/ 1223235 w 7057126"/>
              <a:gd name="connsiteY26" fmla="*/ 2308324 h 2308324"/>
              <a:gd name="connsiteX27" fmla="*/ 635141 w 7057126"/>
              <a:gd name="connsiteY27" fmla="*/ 2308324 h 2308324"/>
              <a:gd name="connsiteX28" fmla="*/ 0 w 7057126"/>
              <a:gd name="connsiteY28" fmla="*/ 2308324 h 2308324"/>
              <a:gd name="connsiteX29" fmla="*/ 0 w 7057126"/>
              <a:gd name="connsiteY29" fmla="*/ 1708160 h 2308324"/>
              <a:gd name="connsiteX30" fmla="*/ 0 w 7057126"/>
              <a:gd name="connsiteY30" fmla="*/ 1154162 h 2308324"/>
              <a:gd name="connsiteX31" fmla="*/ 0 w 7057126"/>
              <a:gd name="connsiteY31" fmla="*/ 646331 h 2308324"/>
              <a:gd name="connsiteX32" fmla="*/ 0 w 7057126"/>
              <a:gd name="connsiteY32" fmla="*/ 0 h 230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057126" h="2308324" extrusionOk="0">
                <a:moveTo>
                  <a:pt x="0" y="0"/>
                </a:moveTo>
                <a:cubicBezTo>
                  <a:pt x="199665" y="-45940"/>
                  <a:pt x="351682" y="56787"/>
                  <a:pt x="517523" y="0"/>
                </a:cubicBezTo>
                <a:cubicBezTo>
                  <a:pt x="683364" y="-56787"/>
                  <a:pt x="767751" y="20014"/>
                  <a:pt x="893903" y="0"/>
                </a:cubicBezTo>
                <a:cubicBezTo>
                  <a:pt x="1020055" y="-20014"/>
                  <a:pt x="1446408" y="75147"/>
                  <a:pt x="1623139" y="0"/>
                </a:cubicBezTo>
                <a:cubicBezTo>
                  <a:pt x="1799870" y="-75147"/>
                  <a:pt x="1895100" y="8138"/>
                  <a:pt x="2140662" y="0"/>
                </a:cubicBezTo>
                <a:cubicBezTo>
                  <a:pt x="2386224" y="-8138"/>
                  <a:pt x="2492450" y="48934"/>
                  <a:pt x="2658184" y="0"/>
                </a:cubicBezTo>
                <a:cubicBezTo>
                  <a:pt x="2823918" y="-48934"/>
                  <a:pt x="3189241" y="51854"/>
                  <a:pt x="3387420" y="0"/>
                </a:cubicBezTo>
                <a:cubicBezTo>
                  <a:pt x="3585599" y="-51854"/>
                  <a:pt x="3658874" y="22652"/>
                  <a:pt x="3834372" y="0"/>
                </a:cubicBezTo>
                <a:cubicBezTo>
                  <a:pt x="4009870" y="-22652"/>
                  <a:pt x="4385890" y="87195"/>
                  <a:pt x="4563608" y="0"/>
                </a:cubicBezTo>
                <a:cubicBezTo>
                  <a:pt x="4741326" y="-87195"/>
                  <a:pt x="4997134" y="38809"/>
                  <a:pt x="5292845" y="0"/>
                </a:cubicBezTo>
                <a:cubicBezTo>
                  <a:pt x="5588556" y="-38809"/>
                  <a:pt x="5729809" y="70264"/>
                  <a:pt x="5880938" y="0"/>
                </a:cubicBezTo>
                <a:cubicBezTo>
                  <a:pt x="6032067" y="-70264"/>
                  <a:pt x="6740678" y="21424"/>
                  <a:pt x="7057126" y="0"/>
                </a:cubicBezTo>
                <a:cubicBezTo>
                  <a:pt x="7058057" y="178998"/>
                  <a:pt x="7045867" y="314340"/>
                  <a:pt x="7057126" y="553998"/>
                </a:cubicBezTo>
                <a:cubicBezTo>
                  <a:pt x="7068385" y="793656"/>
                  <a:pt x="7014734" y="814211"/>
                  <a:pt x="7057126" y="1061829"/>
                </a:cubicBezTo>
                <a:cubicBezTo>
                  <a:pt x="7099518" y="1309447"/>
                  <a:pt x="6999149" y="1515397"/>
                  <a:pt x="7057126" y="1638910"/>
                </a:cubicBezTo>
                <a:cubicBezTo>
                  <a:pt x="7115103" y="1762423"/>
                  <a:pt x="6995509" y="1975386"/>
                  <a:pt x="7057126" y="2308324"/>
                </a:cubicBezTo>
                <a:cubicBezTo>
                  <a:pt x="6904503" y="2326224"/>
                  <a:pt x="6599690" y="2294178"/>
                  <a:pt x="6469032" y="2308324"/>
                </a:cubicBezTo>
                <a:cubicBezTo>
                  <a:pt x="6338374" y="2322470"/>
                  <a:pt x="5986033" y="2237571"/>
                  <a:pt x="5739796" y="2308324"/>
                </a:cubicBezTo>
                <a:cubicBezTo>
                  <a:pt x="5493559" y="2379077"/>
                  <a:pt x="5367610" y="2259884"/>
                  <a:pt x="5151702" y="2308324"/>
                </a:cubicBezTo>
                <a:cubicBezTo>
                  <a:pt x="4935794" y="2356764"/>
                  <a:pt x="4914486" y="2264543"/>
                  <a:pt x="4775322" y="2308324"/>
                </a:cubicBezTo>
                <a:cubicBezTo>
                  <a:pt x="4636158" y="2352105"/>
                  <a:pt x="4486025" y="2266924"/>
                  <a:pt x="4328371" y="2308324"/>
                </a:cubicBezTo>
                <a:cubicBezTo>
                  <a:pt x="4170717" y="2349724"/>
                  <a:pt x="3839598" y="2240794"/>
                  <a:pt x="3599134" y="2308324"/>
                </a:cubicBezTo>
                <a:cubicBezTo>
                  <a:pt x="3358670" y="2375854"/>
                  <a:pt x="3259197" y="2265756"/>
                  <a:pt x="3011040" y="2308324"/>
                </a:cubicBezTo>
                <a:cubicBezTo>
                  <a:pt x="2762883" y="2350892"/>
                  <a:pt x="2685530" y="2256453"/>
                  <a:pt x="2564089" y="2308324"/>
                </a:cubicBezTo>
                <a:cubicBezTo>
                  <a:pt x="2442648" y="2360195"/>
                  <a:pt x="2262231" y="2269137"/>
                  <a:pt x="1975995" y="2308324"/>
                </a:cubicBezTo>
                <a:cubicBezTo>
                  <a:pt x="1689759" y="2347511"/>
                  <a:pt x="1762608" y="2273380"/>
                  <a:pt x="1599615" y="2308324"/>
                </a:cubicBezTo>
                <a:cubicBezTo>
                  <a:pt x="1436622" y="2343268"/>
                  <a:pt x="1343401" y="2292737"/>
                  <a:pt x="1223235" y="2308324"/>
                </a:cubicBezTo>
                <a:cubicBezTo>
                  <a:pt x="1103069" y="2323911"/>
                  <a:pt x="792178" y="2273695"/>
                  <a:pt x="635141" y="2308324"/>
                </a:cubicBezTo>
                <a:cubicBezTo>
                  <a:pt x="478104" y="2342953"/>
                  <a:pt x="310535" y="2255922"/>
                  <a:pt x="0" y="2308324"/>
                </a:cubicBezTo>
                <a:cubicBezTo>
                  <a:pt x="-13961" y="2188104"/>
                  <a:pt x="11300" y="1914717"/>
                  <a:pt x="0" y="1708160"/>
                </a:cubicBezTo>
                <a:cubicBezTo>
                  <a:pt x="-11300" y="1501603"/>
                  <a:pt x="9628" y="1420771"/>
                  <a:pt x="0" y="1154162"/>
                </a:cubicBezTo>
                <a:cubicBezTo>
                  <a:pt x="-9628" y="887553"/>
                  <a:pt x="14995" y="790975"/>
                  <a:pt x="0" y="646331"/>
                </a:cubicBezTo>
                <a:cubicBezTo>
                  <a:pt x="-14995" y="501687"/>
                  <a:pt x="61011" y="304155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bg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i="1" dirty="0"/>
              <a:t>”Our life can be considered across different dimensions. </a:t>
            </a:r>
          </a:p>
          <a:p>
            <a:pPr marL="0" indent="0" algn="ctr">
              <a:buNone/>
            </a:pPr>
            <a:endParaRPr lang="en-US" sz="2400" i="1" dirty="0"/>
          </a:p>
          <a:p>
            <a:pPr marL="0" indent="0" algn="ctr">
              <a:buNone/>
            </a:pPr>
            <a:r>
              <a:rPr lang="en-US" sz="2400" i="1" dirty="0"/>
              <a:t>One dimension of our health is our physical health. </a:t>
            </a:r>
          </a:p>
          <a:p>
            <a:pPr marL="0" indent="0" algn="ctr">
              <a:buNone/>
            </a:pPr>
            <a:r>
              <a:rPr lang="en-US" sz="2400" i="1" dirty="0"/>
              <a:t>There are 5 dimensions.</a:t>
            </a:r>
          </a:p>
          <a:p>
            <a:pPr marL="0" indent="0" algn="ctr">
              <a:buNone/>
            </a:pPr>
            <a:endParaRPr lang="en-US" sz="2400" i="1" dirty="0"/>
          </a:p>
          <a:p>
            <a:pPr marL="0" indent="0" algn="ctr">
              <a:buNone/>
            </a:pPr>
            <a:r>
              <a:rPr lang="en-US" sz="2400" i="1" u="sng" dirty="0"/>
              <a:t>What are the other 4 dimensions?”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280CB7A-833C-DCCB-F92C-883B04A66C7B}"/>
              </a:ext>
            </a:extLst>
          </p:cNvPr>
          <p:cNvCxnSpPr/>
          <p:nvPr/>
        </p:nvCxnSpPr>
        <p:spPr>
          <a:xfrm>
            <a:off x="7151427" y="4572001"/>
            <a:ext cx="1746913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CDAD78-4842-9109-8032-CF5F5B11B741}"/>
              </a:ext>
            </a:extLst>
          </p:cNvPr>
          <p:cNvSpPr txBox="1"/>
          <p:nvPr/>
        </p:nvSpPr>
        <p:spPr>
          <a:xfrm>
            <a:off x="8898340" y="3679449"/>
            <a:ext cx="320722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/>
              <a:t>PHYSICAL HEALTH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SOCIAL HEALTH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EMOTIONAL HEALTH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MENTAL HEALTH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SPIRITUAL HEALTH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1982C5-6C20-4971-A988-4B4BC7A6274E}"/>
              </a:ext>
            </a:extLst>
          </p:cNvPr>
          <p:cNvSpPr txBox="1"/>
          <p:nvPr/>
        </p:nvSpPr>
        <p:spPr>
          <a:xfrm>
            <a:off x="7916253" y="5740171"/>
            <a:ext cx="41489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are going to look at how resilience can impact our mental and emotional health and well-being.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52880F-4959-3A5F-4E69-5CE1CE62C631}"/>
              </a:ext>
            </a:extLst>
          </p:cNvPr>
          <p:cNvSpPr txBox="1">
            <a:spLocks/>
          </p:cNvSpPr>
          <p:nvPr/>
        </p:nvSpPr>
        <p:spPr>
          <a:xfrm>
            <a:off x="435706" y="458601"/>
            <a:ext cx="11370629" cy="11844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/>
              <a:t>THINK, pair, Share 	</a:t>
            </a:r>
            <a:r>
              <a:rPr lang="en-AU" sz="3600" dirty="0"/>
              <a:t>(Pg. 11)</a:t>
            </a:r>
            <a:endParaRPr lang="en-AU" sz="5400" b="1" dirty="0"/>
          </a:p>
        </p:txBody>
      </p:sp>
    </p:spTree>
    <p:extLst>
      <p:ext uri="{BB962C8B-B14F-4D97-AF65-F5344CB8AC3E}">
        <p14:creationId xmlns:p14="http://schemas.microsoft.com/office/powerpoint/2010/main" val="325511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ECE6-8431-44EF-98B5-68F255ADF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51" y="267139"/>
            <a:ext cx="9415178" cy="1508760"/>
          </a:xfrm>
          <a:noFill/>
        </p:spPr>
        <p:txBody>
          <a:bodyPr>
            <a:normAutofit/>
          </a:bodyPr>
          <a:lstStyle/>
          <a:p>
            <a:r>
              <a:rPr lang="en-AU" sz="5400" dirty="0">
                <a:effectLst/>
                <a:ea typeface="Calibri" panose="020F0502020204030204" pitchFamily="34" charset="0"/>
              </a:rPr>
              <a:t>ACTIVITY 2: </a:t>
            </a:r>
            <a:br>
              <a:rPr lang="en-AU" sz="5400" dirty="0">
                <a:effectLst/>
                <a:ea typeface="Calibri" panose="020F0502020204030204" pitchFamily="34" charset="0"/>
              </a:rPr>
            </a:br>
            <a:r>
              <a:rPr lang="en-AU" sz="5400" dirty="0">
                <a:effectLst/>
                <a:ea typeface="Calibri" panose="020F0502020204030204" pitchFamily="34" charset="0"/>
              </a:rPr>
              <a:t>Mental Well-being </a:t>
            </a:r>
            <a:r>
              <a:rPr lang="en-AU" sz="3200" dirty="0"/>
              <a:t>(Pg. 12).</a:t>
            </a:r>
            <a:endParaRPr lang="en-AU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27AB8-EBD8-4069-A64D-FDAC66E7A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46" y="1950720"/>
            <a:ext cx="9680978" cy="4846320"/>
          </a:xfrm>
        </p:spPr>
        <p:txBody>
          <a:bodyPr/>
          <a:lstStyle/>
          <a:p>
            <a:r>
              <a:rPr lang="en-AU" sz="2400" b="1" dirty="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Mental well-being </a:t>
            </a:r>
            <a:r>
              <a:rPr lang="en-AU" sz="2400" dirty="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refers to a state of positive mental health characterized by a person's ability to cope with the normal stresses of life, work productively, and make meaningful contributions to their community. </a:t>
            </a:r>
          </a:p>
          <a:p>
            <a:endParaRPr lang="en-AU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  <a:p>
            <a:r>
              <a:rPr lang="en-AU" sz="2400" b="1" dirty="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It involves having: </a:t>
            </a:r>
          </a:p>
          <a:p>
            <a:pPr lvl="2"/>
            <a:r>
              <a:rPr lang="en-AU" sz="2400" dirty="0">
                <a:latin typeface="Segoe UI" panose="020B0502040204020203" pitchFamily="34" charset="0"/>
                <a:ea typeface="Calibri" panose="020F0502020204030204" pitchFamily="34" charset="0"/>
              </a:rPr>
              <a:t>A</a:t>
            </a:r>
            <a:r>
              <a:rPr lang="en-AU" sz="2400" dirty="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positive sense of self </a:t>
            </a:r>
          </a:p>
          <a:p>
            <a:pPr lvl="2"/>
            <a:r>
              <a:rPr lang="en-AU" sz="2400" dirty="0">
                <a:latin typeface="Segoe UI" panose="020B0502040204020203" pitchFamily="34" charset="0"/>
                <a:ea typeface="Calibri" panose="020F0502020204030204" pitchFamily="34" charset="0"/>
              </a:rPr>
              <a:t>M</a:t>
            </a:r>
            <a:r>
              <a:rPr lang="en-AU" sz="2400" dirty="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aintaining healthy relationships </a:t>
            </a:r>
          </a:p>
          <a:p>
            <a:pPr lvl="2"/>
            <a:r>
              <a:rPr lang="en-AU" sz="2400" dirty="0">
                <a:latin typeface="Segoe UI" panose="020B0502040204020203" pitchFamily="34" charset="0"/>
                <a:ea typeface="Calibri" panose="020F0502020204030204" pitchFamily="34" charset="0"/>
              </a:rPr>
              <a:t>B</a:t>
            </a:r>
            <a:r>
              <a:rPr lang="en-AU" sz="2400" dirty="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eing able to effectively manage emotions, thoughts, and behaviours. </a:t>
            </a:r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D88540-483E-4394-9477-3DA8FEEFF4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111" l="10000" r="90000">
                        <a14:foregroundMark x1="26988" y1="17778" x2="27307" y2="17538"/>
                        <a14:foregroundMark x1="18125" y1="24444" x2="26988" y2="17778"/>
                        <a14:foregroundMark x1="34277" y1="27898" x2="34625" y2="30889"/>
                        <a14:foregroundMark x1="18875" y1="25111" x2="18875" y2="25111"/>
                        <a14:foregroundMark x1="20875" y1="21556" x2="20875" y2="21556"/>
                        <a14:foregroundMark x1="77750" y1="19778" x2="79125" y2="21556"/>
                        <a14:foregroundMark x1="80250" y1="21778" x2="78750" y2="20444"/>
                        <a14:foregroundMark x1="37125" y1="96000" x2="52750" y2="96444"/>
                        <a14:foregroundMark x1="52750" y1="96444" x2="59625" y2="96000"/>
                        <a14:foregroundMark x1="59625" y1="96000" x2="59625" y2="95778"/>
                        <a14:foregroundMark x1="38375" y1="95778" x2="31250" y2="96889"/>
                        <a14:foregroundMark x1="31250" y1="96889" x2="31125" y2="96889"/>
                        <a14:foregroundMark x1="62375" y1="96222" x2="62375" y2="96222"/>
                        <a14:foregroundMark x1="64875" y1="96222" x2="64875" y2="96222"/>
                        <a14:foregroundMark x1="66500" y1="97111" x2="66500" y2="97111"/>
                        <a14:foregroundMark x1="66875" y1="96889" x2="66875" y2="96889"/>
                        <a14:foregroundMark x1="67125" y1="96667" x2="67125" y2="96667"/>
                        <a14:foregroundMark x1="30750" y1="96667" x2="30750" y2="96667"/>
                        <a14:foregroundMark x1="23875" y1="11333" x2="23875" y2="11333"/>
                        <a14:foregroundMark x1="73625" y1="12444" x2="73625" y2="12444"/>
                        <a14:foregroundMark x1="76500" y1="12889" x2="74500" y2="15333"/>
                        <a14:foregroundMark x1="78625" y1="16444" x2="77000" y2="19111"/>
                        <a14:foregroundMark x1="21625" y1="16889" x2="21625" y2="16889"/>
                        <a14:foregroundMark x1="22250" y1="41333" x2="22250" y2="41333"/>
                        <a14:foregroundMark x1="79125" y1="45333" x2="79125" y2="45333"/>
                        <a14:foregroundMark x1="59750" y1="14667" x2="59750" y2="14667"/>
                        <a14:backgroundMark x1="29375" y1="16000" x2="32000" y2="20444"/>
                        <a14:backgroundMark x1="28250" y1="17778" x2="28250" y2="17778"/>
                        <a14:backgroundMark x1="28125" y1="17111" x2="28125" y2="17111"/>
                        <a14:backgroundMark x1="28125" y1="17111" x2="30000" y2="19556"/>
                        <a14:backgroundMark x1="33125" y1="21111" x2="33500" y2="26222"/>
                        <a14:backgroundMark x1="31750" y1="22000" x2="30625" y2="23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5478" y="4067695"/>
            <a:ext cx="4791690" cy="279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49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C1964B-7D43-45EF-952E-A18C85CD5717}"/>
              </a:ext>
            </a:extLst>
          </p:cNvPr>
          <p:cNvSpPr txBox="1">
            <a:spLocks/>
          </p:cNvSpPr>
          <p:nvPr/>
        </p:nvSpPr>
        <p:spPr>
          <a:xfrm>
            <a:off x="491319" y="284176"/>
            <a:ext cx="10495680" cy="150876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5400" dirty="0"/>
              <a:t>Emotional Well-being: </a:t>
            </a:r>
            <a:r>
              <a:rPr lang="en-AU" sz="2800" dirty="0"/>
              <a:t>(Pg. 12).</a:t>
            </a:r>
            <a:endParaRPr lang="en-US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587DF-00FB-4A75-A0F7-AEC916BD1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2011679"/>
            <a:ext cx="6709736" cy="47715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b="1" dirty="0">
                <a:effectLst/>
              </a:rPr>
              <a:t>Emotional well-being </a:t>
            </a:r>
            <a:r>
              <a:rPr lang="en-US" sz="2400" dirty="0">
                <a:effectLst/>
              </a:rPr>
              <a:t>pertains to the ability to understand, express, and manage emotions in a healthy and balanced way. </a:t>
            </a:r>
          </a:p>
          <a:p>
            <a:endParaRPr lang="en-US" sz="2400" dirty="0">
              <a:effectLst/>
            </a:endParaRPr>
          </a:p>
          <a:p>
            <a:r>
              <a:rPr lang="en-US" sz="2400" b="1" dirty="0">
                <a:effectLst/>
              </a:rPr>
              <a:t>It involves: </a:t>
            </a:r>
          </a:p>
          <a:p>
            <a:pPr lvl="2"/>
            <a:r>
              <a:rPr lang="en-US" sz="2400" dirty="0"/>
              <a:t>B</a:t>
            </a:r>
            <a:r>
              <a:rPr lang="en-US" sz="2400" dirty="0">
                <a:effectLst/>
              </a:rPr>
              <a:t>eing aware of and accepting one's emotions </a:t>
            </a:r>
          </a:p>
          <a:p>
            <a:pPr lvl="2"/>
            <a:r>
              <a:rPr lang="en-US" sz="2400" dirty="0"/>
              <a:t>H</a:t>
            </a:r>
            <a:r>
              <a:rPr lang="en-US" sz="2400" dirty="0">
                <a:effectLst/>
              </a:rPr>
              <a:t>aving the skills to regulate them</a:t>
            </a:r>
          </a:p>
          <a:p>
            <a:pPr lvl="2"/>
            <a:r>
              <a:rPr lang="en-US" sz="2400" dirty="0"/>
              <a:t>E</a:t>
            </a:r>
            <a:r>
              <a:rPr lang="en-US" sz="2400" dirty="0">
                <a:effectLst/>
              </a:rPr>
              <a:t>xperiencing a sense of overall emotional satisfaction and stability.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114045-EEAB-4139-A26F-3DB7AF834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646" y="2814471"/>
            <a:ext cx="4742951" cy="31659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7BF295-B98B-455B-B2DF-EE50EA2E05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814" b="95349" l="4103" r="94872">
                        <a14:foregroundMark x1="64103" y1="6202" x2="35897" y2="10853"/>
                        <a14:foregroundMark x1="35897" y1="10853" x2="17436" y2="25581"/>
                        <a14:foregroundMark x1="17436" y1="25581" x2="6667" y2="45736"/>
                        <a14:foregroundMark x1="6667" y1="45736" x2="10256" y2="60078"/>
                        <a14:foregroundMark x1="22564" y1="12403" x2="22564" y2="12403"/>
                        <a14:foregroundMark x1="50256" y1="5426" x2="17436" y2="14341"/>
                        <a14:foregroundMark x1="17436" y1="14341" x2="4615" y2="31783"/>
                        <a14:foregroundMark x1="4615" y1="31783" x2="5128" y2="37209"/>
                        <a14:foregroundMark x1="44615" y1="5814" x2="57436" y2="5814"/>
                        <a14:foregroundMark x1="91282" y1="56977" x2="94872" y2="62403"/>
                        <a14:foregroundMark x1="36923" y1="91473" x2="58974" y2="953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31678" y="877610"/>
            <a:ext cx="1520919" cy="201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565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1A9CD-2DC6-4AB6-B055-1C937A78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noFill/>
        </p:spPr>
        <p:txBody>
          <a:bodyPr>
            <a:normAutofit/>
          </a:bodyPr>
          <a:lstStyle/>
          <a:p>
            <a:r>
              <a:rPr lang="en-AU" sz="5400" dirty="0"/>
              <a:t>Activity 3:</a:t>
            </a:r>
            <a:br>
              <a:rPr lang="en-AU" sz="5400" dirty="0"/>
            </a:br>
            <a:r>
              <a:rPr lang="en-AU" sz="5400" dirty="0"/>
              <a:t>Real Life Resilience </a:t>
            </a:r>
            <a:r>
              <a:rPr lang="en-AU" sz="3200" dirty="0"/>
              <a:t>(Pg. 12).</a:t>
            </a:r>
            <a:endParaRPr lang="en-AU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3E91B-A70E-4379-B614-A3A3C60B9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364" y="2236046"/>
            <a:ext cx="7234548" cy="4505948"/>
          </a:xfrm>
        </p:spPr>
        <p:txBody>
          <a:bodyPr>
            <a:normAutofit fontScale="85000" lnSpcReduction="10000"/>
          </a:bodyPr>
          <a:lstStyle/>
          <a:p>
            <a:pPr>
              <a:spcAft>
                <a:spcPts val="800"/>
              </a:spcAft>
            </a:pPr>
            <a:r>
              <a:rPr lang="en-AU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rite examples of when you have used resilience in your in your life.</a:t>
            </a:r>
          </a:p>
          <a:p>
            <a:pPr>
              <a:spcAft>
                <a:spcPts val="800"/>
              </a:spcAft>
            </a:pPr>
            <a:endParaRPr lang="en-A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A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SPIT FIRE – What factors could affect someone’s resilience in a positive way? </a:t>
            </a:r>
            <a:r>
              <a:rPr lang="en-AU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**think about what helped you to be resilient**</a:t>
            </a:r>
          </a:p>
          <a:p>
            <a:pPr marL="0" indent="0">
              <a:spcAft>
                <a:spcPts val="800"/>
              </a:spcAft>
              <a:buNone/>
            </a:pPr>
            <a:endParaRPr lang="en-AU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spcAft>
                <a:spcPts val="800"/>
              </a:spcAft>
              <a:buFontTx/>
              <a:buChar char="-"/>
            </a:pP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Positive Relationships</a:t>
            </a:r>
          </a:p>
          <a:p>
            <a:pPr lvl="2">
              <a:spcAft>
                <a:spcPts val="800"/>
              </a:spcAft>
              <a:buFontTx/>
              <a:buChar char="-"/>
            </a:pP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Problem-Solving Skills</a:t>
            </a:r>
          </a:p>
          <a:p>
            <a:pPr lvl="2">
              <a:spcAft>
                <a:spcPts val="800"/>
              </a:spcAft>
              <a:buFontTx/>
              <a:buChar char="-"/>
            </a:pP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Self-Care Practices</a:t>
            </a:r>
          </a:p>
          <a:p>
            <a:pPr lvl="2">
              <a:spcAft>
                <a:spcPts val="800"/>
              </a:spcAft>
              <a:buFontTx/>
              <a:buChar char="-"/>
            </a:pP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Positive Self-Beliefs</a:t>
            </a:r>
          </a:p>
          <a:p>
            <a:pPr lvl="2">
              <a:spcAft>
                <a:spcPts val="800"/>
              </a:spcAft>
              <a:buFontTx/>
              <a:buChar char="-"/>
            </a:pP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Emotional Regulation Skills</a:t>
            </a:r>
          </a:p>
          <a:p>
            <a:pPr lvl="2">
              <a:spcAft>
                <a:spcPts val="800"/>
              </a:spcAft>
              <a:buFontTx/>
              <a:buChar char="-"/>
            </a:pPr>
            <a:r>
              <a:rPr lang="en-AU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Optimism and Positive Outlook</a:t>
            </a:r>
          </a:p>
          <a:p>
            <a:pPr>
              <a:spcAft>
                <a:spcPts val="800"/>
              </a:spcAft>
              <a:buFontTx/>
              <a:buChar char="-"/>
            </a:pPr>
            <a:endParaRPr lang="en-A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/>
          </a:p>
        </p:txBody>
      </p:sp>
      <p:pic>
        <p:nvPicPr>
          <p:cNvPr id="5" name="Picture 4" descr="A person pushing a domino effect&#10;&#10;Description automatically generated">
            <a:extLst>
              <a:ext uri="{FF2B5EF4-FFF2-40B4-BE49-F238E27FC236}">
                <a16:creationId xmlns:a16="http://schemas.microsoft.com/office/drawing/2014/main" id="{28F79BAC-9C47-456B-8D12-3C33427E6B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62" r="2" b="2"/>
          <a:stretch/>
        </p:blipFill>
        <p:spPr>
          <a:xfrm>
            <a:off x="7847215" y="4339166"/>
            <a:ext cx="4342220" cy="2518835"/>
          </a:xfrm>
          <a:prstGeom prst="rect">
            <a:avLst/>
          </a:prstGeom>
        </p:spPr>
      </p:pic>
      <p:pic>
        <p:nvPicPr>
          <p:cNvPr id="4" name="Picture 3" descr="A person pushing a large red ball&#10;&#10;Description automatically generated">
            <a:extLst>
              <a:ext uri="{FF2B5EF4-FFF2-40B4-BE49-F238E27FC236}">
                <a16:creationId xmlns:a16="http://schemas.microsoft.com/office/drawing/2014/main" id="{A789046D-71FF-495D-8D07-02CD0E3F95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246" r="11867" b="2"/>
          <a:stretch/>
        </p:blipFill>
        <p:spPr>
          <a:xfrm>
            <a:off x="7847215" y="1820334"/>
            <a:ext cx="4342220" cy="254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2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-up of stacked books">
            <a:extLst>
              <a:ext uri="{FF2B5EF4-FFF2-40B4-BE49-F238E27FC236}">
                <a16:creationId xmlns:a16="http://schemas.microsoft.com/office/drawing/2014/main" id="{626B949D-C7D2-0DD2-B2C7-8CF0F10B5C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33DA74-51AB-10AF-C7EE-A5136B1C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GLOSSARY:</a:t>
            </a:r>
            <a:r>
              <a:rPr lang="en-AU" sz="4000" dirty="0"/>
              <a:t> 						(Pg. 5).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B7809-64A7-0A0A-96F5-BB8813134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177" y="2120862"/>
            <a:ext cx="11202897" cy="4206240"/>
          </a:xfrm>
        </p:spPr>
        <p:txBody>
          <a:bodyPr>
            <a:normAutofit/>
          </a:bodyPr>
          <a:lstStyle/>
          <a:p>
            <a:r>
              <a:rPr lang="en-US" sz="2800" dirty="0"/>
              <a:t>At the front of your books is your glossary. </a:t>
            </a:r>
          </a:p>
          <a:p>
            <a:endParaRPr lang="en-US" sz="2800" dirty="0"/>
          </a:p>
          <a:p>
            <a:r>
              <a:rPr lang="en-US" sz="2800" dirty="0"/>
              <a:t>Turn to your glossary and add your own definition for </a:t>
            </a:r>
            <a:r>
              <a:rPr lang="en-US" sz="3600" b="1" dirty="0"/>
              <a:t>RESILIENCE. </a:t>
            </a:r>
            <a:endParaRPr lang="en-US" sz="2800" b="1" dirty="0"/>
          </a:p>
          <a:p>
            <a:endParaRPr lang="en-US" sz="2800" dirty="0"/>
          </a:p>
          <a:p>
            <a:r>
              <a:rPr lang="en-US" sz="2800" dirty="0"/>
              <a:t>Make sure your definition consists of at least two sentences.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254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E2E7-176C-8694-0B5C-B22E5569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task 1: All 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27729-0828-0CB5-9335-2C4CC3AA4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Reminder:</a:t>
            </a:r>
          </a:p>
          <a:p>
            <a:endParaRPr lang="en-US" dirty="0"/>
          </a:p>
          <a:p>
            <a:r>
              <a:rPr lang="en-US" dirty="0"/>
              <a:t>Assessment Task 1 – All About Me</a:t>
            </a:r>
          </a:p>
          <a:p>
            <a:endParaRPr lang="en-US" dirty="0"/>
          </a:p>
          <a:p>
            <a:r>
              <a:rPr lang="en-US" dirty="0"/>
              <a:t>Due next week</a:t>
            </a:r>
          </a:p>
        </p:txBody>
      </p:sp>
      <p:pic>
        <p:nvPicPr>
          <p:cNvPr id="1026" name="Picture 2" descr="Reminder PNG Transparent Images Free Download | Vector Files | Pngtree">
            <a:extLst>
              <a:ext uri="{FF2B5EF4-FFF2-40B4-BE49-F238E27FC236}">
                <a16:creationId xmlns:a16="http://schemas.microsoft.com/office/drawing/2014/main" id="{9D365FC9-6B76-6BE0-DD81-0024E563A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800" y="2286000"/>
            <a:ext cx="8128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292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8E2EB-FA0F-5D04-FC70-8E76F74E4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ADDITIONAL ACTIVITY</a:t>
            </a:r>
            <a:br>
              <a:rPr lang="en-US" dirty="0"/>
            </a:br>
            <a:r>
              <a:rPr lang="en-US" dirty="0"/>
              <a:t>Assessment Task 1: All 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DAD44-F2BA-210C-723B-7E7583590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327" y="2236894"/>
            <a:ext cx="6926233" cy="4206240"/>
          </a:xfrm>
        </p:spPr>
        <p:txBody>
          <a:bodyPr>
            <a:normAutofit/>
          </a:bodyPr>
          <a:lstStyle/>
          <a:p>
            <a:r>
              <a:rPr lang="en-US" dirty="0"/>
              <a:t>The remainder of this lesson can be spent working on your assessment task.</a:t>
            </a:r>
          </a:p>
          <a:p>
            <a:endParaRPr lang="en-US" dirty="0"/>
          </a:p>
          <a:p>
            <a:r>
              <a:rPr lang="en-US" dirty="0"/>
              <a:t>Remember:</a:t>
            </a:r>
          </a:p>
          <a:p>
            <a:pPr lvl="1"/>
            <a:r>
              <a:rPr lang="en-US" dirty="0"/>
              <a:t>Due: week 4 </a:t>
            </a:r>
          </a:p>
          <a:p>
            <a:pPr lvl="1"/>
            <a:r>
              <a:rPr lang="en-US" dirty="0"/>
              <a:t>Two whole weeks to complete at home.</a:t>
            </a:r>
          </a:p>
          <a:p>
            <a:pPr lvl="1"/>
            <a:r>
              <a:rPr lang="en-US" dirty="0"/>
              <a:t>Create a poster all about yourself!</a:t>
            </a:r>
          </a:p>
          <a:p>
            <a:endParaRPr lang="en-US" dirty="0"/>
          </a:p>
        </p:txBody>
      </p:sp>
      <p:pic>
        <p:nvPicPr>
          <p:cNvPr id="5" name="Picture 4" descr="Working space background">
            <a:extLst>
              <a:ext uri="{FF2B5EF4-FFF2-40B4-BE49-F238E27FC236}">
                <a16:creationId xmlns:a16="http://schemas.microsoft.com/office/drawing/2014/main" id="{641EF9C7-6341-1E43-B932-FF1BA7830A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446" r="-2" b="-2"/>
          <a:stretch/>
        </p:blipFill>
        <p:spPr>
          <a:xfrm>
            <a:off x="7847215" y="1822028"/>
            <a:ext cx="4342220" cy="503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85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B24FB-35EF-4170-823E-615C8F5FC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04473"/>
            <a:ext cx="12192000" cy="1738425"/>
          </a:xfrm>
        </p:spPr>
        <p:txBody>
          <a:bodyPr/>
          <a:lstStyle/>
          <a:p>
            <a:pPr marL="0" indent="0" algn="ctr">
              <a:buNone/>
            </a:pPr>
            <a:r>
              <a:rPr lang="en-AU" sz="4000" dirty="0"/>
              <a:t>Resilience: What do you know?</a:t>
            </a:r>
            <a:endParaRPr lang="en-AU" dirty="0"/>
          </a:p>
          <a:p>
            <a:pPr marL="0" indent="0" algn="ctr">
              <a:buNone/>
            </a:pPr>
            <a:r>
              <a:rPr lang="en-AU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https://create.kahoot.it/share/duplicate-of-resilience/2cf4af06-ce82-4627-a62d-deab605fd954</a:t>
            </a:r>
            <a:endParaRPr lang="en-AU" dirty="0"/>
          </a:p>
          <a:p>
            <a:endParaRPr lang="en-AU" dirty="0"/>
          </a:p>
        </p:txBody>
      </p:sp>
      <p:pic>
        <p:nvPicPr>
          <p:cNvPr id="4" name="Picture 6" descr="8 Educational Sites Like Kahoot">
            <a:extLst>
              <a:ext uri="{FF2B5EF4-FFF2-40B4-BE49-F238E27FC236}">
                <a16:creationId xmlns:a16="http://schemas.microsoft.com/office/drawing/2014/main" id="{898D4203-F4DB-46EB-8404-4EF5B849E9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4" r="-4" b="21448"/>
          <a:stretch/>
        </p:blipFill>
        <p:spPr bwMode="auto">
          <a:xfrm>
            <a:off x="636726" y="3255264"/>
            <a:ext cx="10916463" cy="360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0F9CD0-62EA-59D9-7D9B-F37019310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50" y="313899"/>
            <a:ext cx="9610500" cy="1386934"/>
          </a:xfrm>
          <a:noFill/>
        </p:spPr>
        <p:txBody>
          <a:bodyPr>
            <a:normAutofit fontScale="90000"/>
          </a:bodyPr>
          <a:lstStyle/>
          <a:p>
            <a:r>
              <a:rPr lang="en-AU" sz="5400" dirty="0"/>
              <a:t>Additional activity:</a:t>
            </a:r>
            <a:br>
              <a:rPr lang="en-AU" sz="5400" dirty="0"/>
            </a:br>
            <a:r>
              <a:rPr lang="en-AU" sz="5400" dirty="0"/>
              <a:t>Resilience </a:t>
            </a:r>
            <a:r>
              <a:rPr lang="en-AU" sz="5400" dirty="0" err="1"/>
              <a:t>kahoot</a:t>
            </a:r>
            <a:r>
              <a:rPr lang="en-AU" sz="5400" dirty="0"/>
              <a:t> </a:t>
            </a:r>
            <a:r>
              <a:rPr lang="en-AU" sz="5400" dirty="0" err="1">
                <a:highlight>
                  <a:srgbClr val="FF0000"/>
                </a:highlight>
              </a:rPr>
              <a:t>P.g.</a:t>
            </a:r>
            <a:r>
              <a:rPr lang="en-AU" sz="5400" dirty="0">
                <a:highlight>
                  <a:srgbClr val="FF0000"/>
                </a:highlight>
              </a:rPr>
              <a:t> 1</a:t>
            </a:r>
            <a:endParaRPr lang="en-AU" sz="5400" b="1" dirty="0"/>
          </a:p>
        </p:txBody>
      </p:sp>
    </p:spTree>
    <p:extLst>
      <p:ext uri="{BB962C8B-B14F-4D97-AF65-F5344CB8AC3E}">
        <p14:creationId xmlns:p14="http://schemas.microsoft.com/office/powerpoint/2010/main" val="30355029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19882</TotalTime>
  <Words>912</Words>
  <Application>Microsoft Office PowerPoint</Application>
  <PresentationFormat>Widescreen</PresentationFormat>
  <Paragraphs>136</Paragraphs>
  <Slides>12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Corbel</vt:lpstr>
      <vt:lpstr>Segoe UI</vt:lpstr>
      <vt:lpstr>Wingdings</vt:lpstr>
      <vt:lpstr>Banded</vt:lpstr>
      <vt:lpstr>All About Me </vt:lpstr>
      <vt:lpstr>GLOSSARY:       (Pg. 5)</vt:lpstr>
      <vt:lpstr>PowerPoint Presentation</vt:lpstr>
      <vt:lpstr>Activity 1: Resilience – What is it?  (Pg. 11)</vt:lpstr>
      <vt:lpstr>PowerPoint Presentation</vt:lpstr>
      <vt:lpstr>ACTIVITY 2:  Mental Well-being (Pg. 12).</vt:lpstr>
      <vt:lpstr>PowerPoint Presentation</vt:lpstr>
      <vt:lpstr>Activity 3: Real Life Resilience (Pg. 12).</vt:lpstr>
      <vt:lpstr>GLOSSARY:       (Pg. 5).</vt:lpstr>
      <vt:lpstr>Assessment task 1: All about me</vt:lpstr>
      <vt:lpstr>ADDITIONAL ACTIVITY Assessment Task 1: All about me</vt:lpstr>
      <vt:lpstr>Additional activity: Resilience kahoot P.g.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About Me </dc:title>
  <dc:creator>GORRINGE Mac [Willetton Senior High School]</dc:creator>
  <cp:lastModifiedBy>HILLMAN Alissa [Willetton Senior High School]</cp:lastModifiedBy>
  <cp:revision>71</cp:revision>
  <dcterms:created xsi:type="dcterms:W3CDTF">2021-09-23T06:45:05Z</dcterms:created>
  <dcterms:modified xsi:type="dcterms:W3CDTF">2023-10-26T04:20:35Z</dcterms:modified>
</cp:coreProperties>
</file>
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317" r:id="rId2"/>
    <p:sldId id="327" r:id="rId3"/>
    <p:sldId id="338" r:id="rId4"/>
    <p:sldId id="261" r:id="rId5"/>
    <p:sldId id="293" r:id="rId6"/>
    <p:sldId id="333" r:id="rId7"/>
    <p:sldId id="37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4B1"/>
    <a:srgbClr val="FFF4EB"/>
    <a:srgbClr val="FFFDFB"/>
    <a:srgbClr val="FFE7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02" autoAdjust="0"/>
    <p:restoredTop sz="83861" autoAdjust="0"/>
  </p:normalViewPr>
  <p:slideViewPr>
    <p:cSldViewPr snapToGrid="0">
      <p:cViewPr varScale="1">
        <p:scale>
          <a:sx n="61" d="100"/>
          <a:sy n="61" d="100"/>
        </p:scale>
        <p:origin x="8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A36F7-0907-4FEF-B0FD-8059B973ACD9}" type="datetimeFigureOut">
              <a:rPr lang="en-AU" smtClean="0"/>
              <a:t>26/10/2023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C573D7-E80C-4709-9B31-9CF3A42190EB}" type="slidenum">
              <a:rPr lang="en-AU" smtClean="0"/>
              <a:t>‹#›</a:t>
            </a:fld>
            <a:endParaRPr lang="en-AU"/>
          </a:p>
        </p:txBody>
      </p:sp>
    </p:spTree>
    <p:extLst>
      <p:ext uri="{BB962C8B-B14F-4D97-AF65-F5344CB8AC3E}">
        <p14:creationId xmlns:p14="http://schemas.microsoft.com/office/powerpoint/2010/main" val="3481880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change the number of times a name is repeated if it’s too hard.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choose between this and ‘things change’ as a hook.</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3</a:t>
            </a:fld>
            <a:endParaRPr lang="en-AU"/>
          </a:p>
        </p:txBody>
      </p:sp>
    </p:spTree>
    <p:extLst>
      <p:ext uri="{BB962C8B-B14F-4D97-AF65-F5344CB8AC3E}">
        <p14:creationId xmlns:p14="http://schemas.microsoft.com/office/powerpoint/2010/main" val="959926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choose between this and human bingo as a hook.</a:t>
            </a:r>
          </a:p>
        </p:txBody>
      </p:sp>
      <p:sp>
        <p:nvSpPr>
          <p:cNvPr id="4" name="Slide Number Placeholder 3"/>
          <p:cNvSpPr>
            <a:spLocks noGrp="1"/>
          </p:cNvSpPr>
          <p:nvPr>
            <p:ph type="sldNum" sz="quarter" idx="5"/>
          </p:nvPr>
        </p:nvSpPr>
        <p:spPr/>
        <p:txBody>
          <a:bodyPr/>
          <a:lstStyle/>
          <a:p>
            <a:fld id="{32C573D7-E80C-4709-9B31-9CF3A42190EB}" type="slidenum">
              <a:rPr lang="en-AU" smtClean="0"/>
              <a:t>4</a:t>
            </a:fld>
            <a:endParaRPr lang="en-AU"/>
          </a:p>
        </p:txBody>
      </p:sp>
    </p:spTree>
    <p:extLst>
      <p:ext uri="{BB962C8B-B14F-4D97-AF65-F5344CB8AC3E}">
        <p14:creationId xmlns:p14="http://schemas.microsoft.com/office/powerpoint/2010/main" val="1863813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Assessment 2 related </a:t>
            </a:r>
          </a:p>
        </p:txBody>
      </p:sp>
      <p:sp>
        <p:nvSpPr>
          <p:cNvPr id="4" name="Slide Number Placeholder 3"/>
          <p:cNvSpPr>
            <a:spLocks noGrp="1"/>
          </p:cNvSpPr>
          <p:nvPr>
            <p:ph type="sldNum" sz="quarter" idx="5"/>
          </p:nvPr>
        </p:nvSpPr>
        <p:spPr/>
        <p:txBody>
          <a:bodyPr/>
          <a:lstStyle/>
          <a:p>
            <a:fld id="{32C573D7-E80C-4709-9B31-9CF3A42190EB}" type="slidenum">
              <a:rPr lang="en-AU" smtClean="0"/>
              <a:t>5</a:t>
            </a:fld>
            <a:endParaRPr lang="en-AU"/>
          </a:p>
        </p:txBody>
      </p:sp>
    </p:spTree>
    <p:extLst>
      <p:ext uri="{BB962C8B-B14F-4D97-AF65-F5344CB8AC3E}">
        <p14:creationId xmlns:p14="http://schemas.microsoft.com/office/powerpoint/2010/main" val="3834994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Hand out Assessment Task 2</a:t>
            </a:r>
          </a:p>
          <a:p>
            <a:r>
              <a:rPr lang="en-AU" dirty="0"/>
              <a:t>Optional – lesson to work on assessment in class in time permits </a:t>
            </a:r>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Teacher discretion – can be hard copy or electronic on Canva</a:t>
            </a:r>
          </a:p>
        </p:txBody>
      </p:sp>
      <p:sp>
        <p:nvSpPr>
          <p:cNvPr id="4" name="Slide Number Placeholder 3"/>
          <p:cNvSpPr>
            <a:spLocks noGrp="1"/>
          </p:cNvSpPr>
          <p:nvPr>
            <p:ph type="sldNum" sz="quarter" idx="5"/>
          </p:nvPr>
        </p:nvSpPr>
        <p:spPr/>
        <p:txBody>
          <a:bodyPr/>
          <a:lstStyle/>
          <a:p>
            <a:fld id="{32C573D7-E80C-4709-9B31-9CF3A42190EB}" type="slidenum">
              <a:rPr lang="en-AU" smtClean="0"/>
              <a:t>6</a:t>
            </a:fld>
            <a:endParaRPr lang="en-AU"/>
          </a:p>
        </p:txBody>
      </p:sp>
    </p:spTree>
    <p:extLst>
      <p:ext uri="{BB962C8B-B14F-4D97-AF65-F5344CB8AC3E}">
        <p14:creationId xmlns:p14="http://schemas.microsoft.com/office/powerpoint/2010/main" val="1972663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an additional/optional activity or set as a reflection activity for homework. </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7</a:t>
            </a:fld>
            <a:endParaRPr lang="en-AU"/>
          </a:p>
        </p:txBody>
      </p:sp>
    </p:spTree>
    <p:extLst>
      <p:ext uri="{BB962C8B-B14F-4D97-AF65-F5344CB8AC3E}">
        <p14:creationId xmlns:p14="http://schemas.microsoft.com/office/powerpoint/2010/main" val="1621886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17378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12024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2B9A715-435D-481F-92DE-B257404B0EA3}" type="slidenum">
              <a:rPr lang="en-AU" smtClean="0"/>
              <a:t>‹#›</a:t>
            </a:fld>
            <a:endParaRPr lang="en-AU"/>
          </a:p>
        </p:txBody>
      </p:sp>
    </p:spTree>
    <p:extLst>
      <p:ext uri="{BB962C8B-B14F-4D97-AF65-F5344CB8AC3E}">
        <p14:creationId xmlns:p14="http://schemas.microsoft.com/office/powerpoint/2010/main" val="219926194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53986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86F2E1-FA8A-4588-BBFD-A05AC645A9D8}" type="datetimeFigureOut">
              <a:rPr lang="en-AU" smtClean="0"/>
              <a:t>26/10/2023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426797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86F2E1-FA8A-4588-BBFD-A05AC645A9D8}" type="datetimeFigureOut">
              <a:rPr lang="en-AU" smtClean="0"/>
              <a:t>26/10/2023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5700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86F2E1-FA8A-4588-BBFD-A05AC645A9D8}" type="datetimeFigureOut">
              <a:rPr lang="en-AU" smtClean="0"/>
              <a:t>26/10/2023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1923949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1061007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361218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633856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a:xfrm>
            <a:off x="3776135" y="6422854"/>
            <a:ext cx="4279669" cy="365125"/>
          </a:xfrm>
        </p:spPr>
        <p:txBody>
          <a:bodyPr/>
          <a:lstStyle/>
          <a:p>
            <a:endParaRPr lang="en-AU"/>
          </a:p>
        </p:txBody>
      </p:sp>
      <p:sp>
        <p:nvSpPr>
          <p:cNvPr id="6" name="Slide Number Placeholder 5"/>
          <p:cNvSpPr>
            <a:spLocks noGrp="1"/>
          </p:cNvSpPr>
          <p:nvPr>
            <p:ph type="sldNum" sz="quarter" idx="12"/>
          </p:nvPr>
        </p:nvSpPr>
        <p:spPr>
          <a:xfrm>
            <a:off x="8073048" y="6422854"/>
            <a:ext cx="879759" cy="365125"/>
          </a:xfrm>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256360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CF86F2E1-FA8A-4588-BBFD-A05AC645A9D8}" type="datetimeFigureOut">
              <a:rPr lang="en-AU" smtClean="0"/>
              <a:t>26/10/2023</a:t>
            </a:fld>
            <a:endParaRPr lang="en-AU"/>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AU"/>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D2B9A715-435D-481F-92DE-B257404B0EA3}" type="slidenum">
              <a:rPr lang="en-AU" smtClean="0"/>
              <a:t>‹#›</a:t>
            </a:fld>
            <a:endParaRPr lang="en-AU"/>
          </a:p>
        </p:txBody>
      </p:sp>
    </p:spTree>
    <p:extLst>
      <p:ext uri="{BB962C8B-B14F-4D97-AF65-F5344CB8AC3E}">
        <p14:creationId xmlns:p14="http://schemas.microsoft.com/office/powerpoint/2010/main" val="15233601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3.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11.png"/><Relationship Id="rId4" Type="http://schemas.microsoft.com/office/2007/relationships/hdphoto" Target="../media/hdphoto5.wdp"/></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7.wdp"/><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biteback.org.au/Quiz/PersonalityQuiz?IsMFC=tru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1727" y="2182637"/>
            <a:ext cx="9118495" cy="1600964"/>
          </a:xfrm>
          <a:solidFill>
            <a:schemeClr val="accent1">
              <a:lumMod val="60000"/>
              <a:lumOff val="40000"/>
            </a:schemeClr>
          </a:solidFill>
        </p:spPr>
        <p:txBody>
          <a:bodyPr>
            <a:normAutofit/>
          </a:bodyPr>
          <a:lstStyle/>
          <a:p>
            <a:r>
              <a:rPr lang="en-AU" sz="7200" b="1" dirty="0"/>
              <a:t>All About Me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foregroundMark x1="91776" y1="59639" x2="91776" y2="59639"/>
                        <a14:foregroundMark x1="88487" y1="54217" x2="88487" y2="54217"/>
                        <a14:foregroundMark x1="82237" y1="13855" x2="82237" y2="13855"/>
                        <a14:foregroundMark x1="11842" y1="19277" x2="11842" y2="19277"/>
                        <a14:foregroundMark x1="6250" y1="51807" x2="6250" y2="51807"/>
                        <a14:foregroundMark x1="13158" y1="53614" x2="13158" y2="53614"/>
                        <a14:foregroundMark x1="11513" y1="53012" x2="11513" y2="53012"/>
                        <a14:foregroundMark x1="9211" y1="54819" x2="9211" y2="54819"/>
                        <a14:foregroundMark x1="22368" y1="53614" x2="22368" y2="53614"/>
                        <a14:foregroundMark x1="25987" y1="54217" x2="25987" y2="54217"/>
                        <a14:foregroundMark x1="19408" y1="51807" x2="19408" y2="51807"/>
                        <a14:foregroundMark x1="19737" y1="63855" x2="19737" y2="63855"/>
                        <a14:foregroundMark x1="19737" y1="63855" x2="18750" y2="86747"/>
                        <a14:foregroundMark x1="7895" y1="24096" x2="17105" y2="8434"/>
                        <a14:foregroundMark x1="42763" y1="19277" x2="54605" y2="12048"/>
                        <a14:foregroundMark x1="30263" y1="71084" x2="32237" y2="92169"/>
                        <a14:foregroundMark x1="66118" y1="56627" x2="65789" y2="92771"/>
                        <a14:foregroundMark x1="82237" y1="16867" x2="89145" y2="15663"/>
                      </a14:backgroundRemoval>
                    </a14:imgEffect>
                  </a14:imgLayer>
                </a14:imgProps>
              </a:ext>
            </a:extLst>
          </a:blip>
          <a:stretch>
            <a:fillRect/>
          </a:stretch>
        </p:blipFill>
        <p:spPr>
          <a:xfrm>
            <a:off x="8581344" y="4493213"/>
            <a:ext cx="3490768" cy="1906143"/>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backgroundRemoval t="0" b="98160" l="324" r="100000">
                        <a14:foregroundMark x1="37217" y1="52761" x2="47249" y2="66871"/>
                        <a14:foregroundMark x1="44337" y1="52761" x2="44337" y2="52761"/>
                        <a14:foregroundMark x1="39806" y1="48466" x2="39806" y2="48466"/>
                        <a14:foregroundMark x1="37864" y1="63190" x2="37864" y2="63190"/>
                        <a14:foregroundMark x1="35599" y1="73006" x2="35599" y2="73006"/>
                        <a14:foregroundMark x1="46602" y1="73006" x2="46602" y2="73006"/>
                        <a14:foregroundMark x1="50485" y1="52761" x2="50485" y2="52761"/>
                        <a14:foregroundMark x1="73139" y1="23313" x2="73139" y2="23313"/>
                        <a14:foregroundMark x1="69903" y1="21472" x2="69903" y2="21472"/>
                        <a14:foregroundMark x1="73786" y1="19632" x2="73786" y2="19632"/>
                        <a14:foregroundMark x1="76699" y1="18405" x2="76699" y2="18405"/>
                        <a14:backgroundMark x1="54693" y1="53374" x2="54693" y2="53374"/>
                        <a14:backgroundMark x1="62460" y1="52761" x2="62460" y2="52761"/>
                        <a14:backgroundMark x1="55987" y1="53374" x2="55987" y2="53374"/>
                        <a14:backgroundMark x1="59223" y1="64417" x2="59223" y2="64417"/>
                      </a14:backgroundRemoval>
                    </a14:imgEffect>
                  </a14:imgLayer>
                </a14:imgProps>
              </a:ext>
            </a:extLst>
          </a:blip>
          <a:stretch>
            <a:fillRect/>
          </a:stretch>
        </p:blipFill>
        <p:spPr>
          <a:xfrm>
            <a:off x="-429768" y="-36830"/>
            <a:ext cx="3102012" cy="2340864"/>
          </a:xfrm>
          <a:prstGeom prst="rect">
            <a:avLst/>
          </a:prstGeom>
        </p:spPr>
      </p:pic>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backgroundRemoval t="889" b="100000" l="889" r="99111">
                        <a14:foregroundMark x1="17778" y1="65333" x2="17778" y2="65333"/>
                        <a14:foregroundMark x1="16889" y1="69778" x2="16889" y2="69778"/>
                        <a14:foregroundMark x1="19111" y1="71111" x2="19111" y2="71111"/>
                        <a14:foregroundMark x1="85778" y1="64000" x2="85778" y2="64000"/>
                        <a14:foregroundMark x1="84444" y1="68000" x2="84444" y2="68000"/>
                        <a14:foregroundMark x1="62667" y1="33778" x2="62667" y2="33778"/>
                        <a14:foregroundMark x1="40889" y1="33778" x2="40889" y2="33778"/>
                        <a14:foregroundMark x1="22222" y1="71111" x2="22222" y2="71111"/>
                      </a14:backgroundRemoval>
                    </a14:imgEffect>
                  </a14:imgLayer>
                </a14:imgProps>
              </a:ext>
            </a:extLst>
          </a:blip>
          <a:stretch>
            <a:fillRect/>
          </a:stretch>
        </p:blipFill>
        <p:spPr>
          <a:xfrm>
            <a:off x="9962197" y="23239"/>
            <a:ext cx="2143125" cy="2143125"/>
          </a:xfrm>
          <a:prstGeom prst="rect">
            <a:avLst/>
          </a:prstGeom>
        </p:spPr>
      </p:pic>
      <p:pic>
        <p:nvPicPr>
          <p:cNvPr id="6" name="Picture 5"/>
          <p:cNvPicPr>
            <a:picLocks noChangeAspect="1"/>
          </p:cNvPicPr>
          <p:nvPr/>
        </p:nvPicPr>
        <p:blipFill>
          <a:blip r:embed="rId8"/>
          <a:stretch>
            <a:fillRect/>
          </a:stretch>
        </p:blipFill>
        <p:spPr>
          <a:xfrm>
            <a:off x="363728" y="4493213"/>
            <a:ext cx="3348736" cy="18836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p:cNvPicPr>
            <a:picLocks noChangeAspect="1"/>
          </p:cNvPicPr>
          <p:nvPr/>
        </p:nvPicPr>
        <p:blipFill>
          <a:blip r:embed="rId9">
            <a:extLst>
              <a:ext uri="{BEBA8EAE-BF5A-486C-A8C5-ECC9F3942E4B}">
                <a14:imgProps xmlns:a14="http://schemas.microsoft.com/office/drawing/2010/main">
                  <a14:imgLayer r:embed="rId10">
                    <a14:imgEffect>
                      <a14:backgroundRemoval t="431" b="99569" l="922" r="100000"/>
                    </a14:imgEffect>
                  </a14:imgLayer>
                </a14:imgProps>
              </a:ext>
            </a:extLst>
          </a:blip>
          <a:stretch>
            <a:fillRect/>
          </a:stretch>
        </p:blipFill>
        <p:spPr>
          <a:xfrm>
            <a:off x="4934521" y="-39878"/>
            <a:ext cx="2066925" cy="2176462"/>
          </a:xfrm>
          <a:prstGeom prst="rect">
            <a:avLst/>
          </a:prstGeom>
        </p:spPr>
      </p:pic>
      <p:sp>
        <p:nvSpPr>
          <p:cNvPr id="8" name="TextBox 7">
            <a:extLst>
              <a:ext uri="{FF2B5EF4-FFF2-40B4-BE49-F238E27FC236}">
                <a16:creationId xmlns:a16="http://schemas.microsoft.com/office/drawing/2014/main" id="{8A898FFC-EF2E-7AD2-4274-7D8DE97BA422}"/>
              </a:ext>
            </a:extLst>
          </p:cNvPr>
          <p:cNvSpPr txBox="1"/>
          <p:nvPr/>
        </p:nvSpPr>
        <p:spPr>
          <a:xfrm>
            <a:off x="4151376" y="4332319"/>
            <a:ext cx="3889248" cy="1477328"/>
          </a:xfrm>
          <a:prstGeom prst="rect">
            <a:avLst/>
          </a:prstGeom>
          <a:noFill/>
        </p:spPr>
        <p:txBody>
          <a:bodyPr wrap="square" rtlCol="0">
            <a:spAutoFit/>
          </a:bodyPr>
          <a:lstStyle/>
          <a:p>
            <a:pPr algn="ctr"/>
            <a:r>
              <a:rPr lang="en-US" dirty="0"/>
              <a:t>Year 7 Health</a:t>
            </a:r>
          </a:p>
          <a:p>
            <a:pPr algn="ctr"/>
            <a:endParaRPr lang="en-US" dirty="0"/>
          </a:p>
          <a:p>
            <a:pPr algn="ctr"/>
            <a:r>
              <a:rPr lang="en-US" dirty="0"/>
              <a:t>Lesson 2</a:t>
            </a:r>
          </a:p>
          <a:p>
            <a:pPr algn="ctr"/>
            <a:endParaRPr lang="en-US" dirty="0"/>
          </a:p>
          <a:p>
            <a:pPr algn="ctr"/>
            <a:r>
              <a:rPr lang="en-US" dirty="0"/>
              <a:t>2024</a:t>
            </a:r>
          </a:p>
        </p:txBody>
      </p:sp>
    </p:spTree>
    <p:extLst>
      <p:ext uri="{BB962C8B-B14F-4D97-AF65-F5344CB8AC3E}">
        <p14:creationId xmlns:p14="http://schemas.microsoft.com/office/powerpoint/2010/main" val="1754579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F5EF35B-201C-44F0-B571-2B74F9527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08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7272A7D-15E9-6C3E-972B-313DCD9941B9}"/>
              </a:ext>
            </a:extLst>
          </p:cNvPr>
          <p:cNvSpPr txBox="1"/>
          <p:nvPr/>
        </p:nvSpPr>
        <p:spPr>
          <a:xfrm>
            <a:off x="419076" y="2038975"/>
            <a:ext cx="6043936" cy="4206240"/>
          </a:xfrm>
          <a:prstGeom prst="rect">
            <a:avLst/>
          </a:prstGeom>
        </p:spPr>
        <p:txBody>
          <a:bodyPr vert="horz" lIns="91440" tIns="45720" rIns="91440" bIns="45720" rtlCol="0">
            <a:normAutofit/>
          </a:bodyPr>
          <a:lstStyle/>
          <a:p>
            <a:pPr marL="102870" defTabSz="914400">
              <a:lnSpc>
                <a:spcPct val="90000"/>
              </a:lnSpc>
              <a:spcAft>
                <a:spcPts val="600"/>
              </a:spcAft>
              <a:buClr>
                <a:schemeClr val="tx1"/>
              </a:buClr>
            </a:pPr>
            <a:endParaRPr lang="en-US" sz="2000" dirty="0">
              <a:solidFill>
                <a:schemeClr val="bg1"/>
              </a:solidFill>
            </a:endParaRPr>
          </a:p>
          <a:p>
            <a:pPr marL="285750" indent="-182880" defTabSz="914400">
              <a:lnSpc>
                <a:spcPct val="90000"/>
              </a:lnSpc>
              <a:spcAft>
                <a:spcPts val="600"/>
              </a:spcAft>
              <a:buClr>
                <a:schemeClr val="tx1"/>
              </a:buClr>
              <a:buFont typeface="Wingdings" pitchFamily="2" charset="2"/>
              <a:buChar char=""/>
            </a:pPr>
            <a:r>
              <a:rPr lang="en-US" sz="2000" b="1" i="1" u="sng" dirty="0">
                <a:solidFill>
                  <a:srgbClr val="C00000"/>
                </a:solidFill>
              </a:rPr>
              <a:t>DUE: At the start of the lesson (week 2)</a:t>
            </a:r>
          </a:p>
          <a:p>
            <a:pPr marL="285750" indent="-182880" defTabSz="914400">
              <a:lnSpc>
                <a:spcPct val="90000"/>
              </a:lnSpc>
              <a:spcAft>
                <a:spcPts val="600"/>
              </a:spcAft>
              <a:buClr>
                <a:schemeClr val="tx1"/>
              </a:buClr>
              <a:buFont typeface="Wingdings" pitchFamily="2" charset="2"/>
              <a:buChar char=""/>
            </a:pPr>
            <a:endParaRPr lang="en-US" sz="2000" b="1" i="1" u="sng" dirty="0">
              <a:solidFill>
                <a:schemeClr val="bg1"/>
              </a:solidFill>
            </a:endParaRPr>
          </a:p>
          <a:p>
            <a:pPr marL="285750" indent="-182880" defTabSz="914400">
              <a:lnSpc>
                <a:spcPct val="90000"/>
              </a:lnSpc>
              <a:spcAft>
                <a:spcPts val="600"/>
              </a:spcAft>
              <a:buClr>
                <a:schemeClr val="tx1"/>
              </a:buClr>
              <a:buFont typeface="Wingdings" pitchFamily="2" charset="2"/>
              <a:buChar char=""/>
            </a:pPr>
            <a:r>
              <a:rPr lang="en-US" sz="2000" dirty="0">
                <a:solidFill>
                  <a:schemeClr val="bg1"/>
                </a:solidFill>
              </a:rPr>
              <a:t>Last week you were tasked with writing a letter to yourself. </a:t>
            </a:r>
          </a:p>
          <a:p>
            <a:pPr marL="285750" indent="-182880" defTabSz="914400">
              <a:lnSpc>
                <a:spcPct val="90000"/>
              </a:lnSpc>
              <a:spcAft>
                <a:spcPts val="600"/>
              </a:spcAft>
              <a:buClr>
                <a:schemeClr val="tx1"/>
              </a:buClr>
              <a:buFont typeface="Wingdings" pitchFamily="2" charset="2"/>
              <a:buChar char=""/>
            </a:pPr>
            <a:endParaRPr lang="en-US" sz="2000" dirty="0">
              <a:solidFill>
                <a:schemeClr val="bg1"/>
              </a:solidFill>
            </a:endParaRPr>
          </a:p>
          <a:p>
            <a:pPr marL="285750" indent="-182880" defTabSz="914400">
              <a:lnSpc>
                <a:spcPct val="90000"/>
              </a:lnSpc>
              <a:spcAft>
                <a:spcPts val="600"/>
              </a:spcAft>
              <a:buClr>
                <a:schemeClr val="tx1"/>
              </a:buClr>
              <a:buFont typeface="Wingdings" pitchFamily="2" charset="2"/>
              <a:buChar char=""/>
            </a:pPr>
            <a:r>
              <a:rPr lang="en-US" sz="2000" dirty="0">
                <a:solidFill>
                  <a:schemeClr val="bg1"/>
                </a:solidFill>
              </a:rPr>
              <a:t>This is due at the start of the lesson. </a:t>
            </a:r>
          </a:p>
          <a:p>
            <a:pPr marL="285750" indent="-182880" defTabSz="914400">
              <a:lnSpc>
                <a:spcPct val="90000"/>
              </a:lnSpc>
              <a:spcAft>
                <a:spcPts val="600"/>
              </a:spcAft>
              <a:buClr>
                <a:schemeClr val="tx1"/>
              </a:buClr>
              <a:buFont typeface="Wingdings" pitchFamily="2" charset="2"/>
              <a:buChar char=""/>
            </a:pPr>
            <a:endParaRPr lang="en-US" sz="2000" dirty="0">
              <a:solidFill>
                <a:schemeClr val="bg1"/>
              </a:solidFill>
            </a:endParaRPr>
          </a:p>
          <a:p>
            <a:pPr marL="285750" indent="-182880" defTabSz="914400">
              <a:lnSpc>
                <a:spcPct val="90000"/>
              </a:lnSpc>
              <a:spcAft>
                <a:spcPts val="600"/>
              </a:spcAft>
              <a:buClr>
                <a:schemeClr val="tx1"/>
              </a:buClr>
              <a:buFont typeface="Wingdings" pitchFamily="2" charset="2"/>
              <a:buChar char=""/>
            </a:pPr>
            <a:r>
              <a:rPr lang="en-US" sz="2000" dirty="0">
                <a:solidFill>
                  <a:schemeClr val="bg1"/>
                </a:solidFill>
              </a:rPr>
              <a:t>Please make sure your name is on it, the envelope is sealed and place it on the teacher’s desk. </a:t>
            </a:r>
          </a:p>
        </p:txBody>
      </p:sp>
      <p:sp>
        <p:nvSpPr>
          <p:cNvPr id="23" name="Rectangle 22">
            <a:extLst>
              <a:ext uri="{FF2B5EF4-FFF2-40B4-BE49-F238E27FC236}">
                <a16:creationId xmlns:a16="http://schemas.microsoft.com/office/drawing/2014/main" id="{4BF33555-1B12-49B5-BADE-CEAB32216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91186" y="0"/>
            <a:ext cx="53008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Open envelope">
            <a:extLst>
              <a:ext uri="{FF2B5EF4-FFF2-40B4-BE49-F238E27FC236}">
                <a16:creationId xmlns:a16="http://schemas.microsoft.com/office/drawing/2014/main" id="{68FCD947-5CFA-90AF-B41E-0885C8B5A6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4654" y="1508688"/>
            <a:ext cx="4013879" cy="4013879"/>
          </a:xfrm>
          <a:prstGeom prst="rect">
            <a:avLst/>
          </a:prstGeom>
        </p:spPr>
      </p:pic>
      <p:sp>
        <p:nvSpPr>
          <p:cNvPr id="9" name="Title 1">
            <a:extLst>
              <a:ext uri="{FF2B5EF4-FFF2-40B4-BE49-F238E27FC236}">
                <a16:creationId xmlns:a16="http://schemas.microsoft.com/office/drawing/2014/main" id="{9BAC95A8-B8A4-8D47-8DB4-0115CA9C62DB}"/>
              </a:ext>
            </a:extLst>
          </p:cNvPr>
          <p:cNvSpPr>
            <a:spLocks noGrp="1"/>
          </p:cNvSpPr>
          <p:nvPr>
            <p:ph type="title"/>
          </p:nvPr>
        </p:nvSpPr>
        <p:spPr>
          <a:xfrm>
            <a:off x="117814" y="175958"/>
            <a:ext cx="6646460" cy="1508760"/>
          </a:xfrm>
          <a:noFill/>
        </p:spPr>
        <p:txBody>
          <a:bodyPr>
            <a:normAutofit/>
          </a:bodyPr>
          <a:lstStyle/>
          <a:p>
            <a:r>
              <a:rPr lang="en-AU" sz="5400" b="1" dirty="0">
                <a:solidFill>
                  <a:schemeClr val="bg1"/>
                </a:solidFill>
                <a:latin typeface="Adobe Devanagari" panose="02040503050201020203" pitchFamily="18" charset="0"/>
                <a:cs typeface="Adobe Devanagari" panose="02040503050201020203" pitchFamily="18" charset="0"/>
              </a:rPr>
              <a:t>DUE:</a:t>
            </a:r>
            <a:br>
              <a:rPr lang="en-AU" sz="5400" b="1" dirty="0">
                <a:solidFill>
                  <a:schemeClr val="bg1"/>
                </a:solidFill>
                <a:latin typeface="Adobe Devanagari" panose="02040503050201020203" pitchFamily="18" charset="0"/>
                <a:cs typeface="Adobe Devanagari" panose="02040503050201020203" pitchFamily="18" charset="0"/>
              </a:rPr>
            </a:br>
            <a:r>
              <a:rPr lang="en-AU" sz="5400" b="1" dirty="0">
                <a:solidFill>
                  <a:schemeClr val="bg1"/>
                </a:solidFill>
                <a:latin typeface="Adobe Devanagari" panose="02040503050201020203" pitchFamily="18" charset="0"/>
                <a:cs typeface="Adobe Devanagari" panose="02040503050201020203" pitchFamily="18" charset="0"/>
              </a:rPr>
              <a:t>A letter to me!</a:t>
            </a:r>
            <a:endParaRPr lang="en-AU" sz="5400" b="1" dirty="0">
              <a:solidFill>
                <a:schemeClr val="bg1"/>
              </a:solidFill>
            </a:endParaRPr>
          </a:p>
        </p:txBody>
      </p:sp>
      <p:sp>
        <p:nvSpPr>
          <p:cNvPr id="2" name="Rectangle 1">
            <a:extLst>
              <a:ext uri="{FF2B5EF4-FFF2-40B4-BE49-F238E27FC236}">
                <a16:creationId xmlns:a16="http://schemas.microsoft.com/office/drawing/2014/main" id="{C810E76E-9691-6020-472F-407804A1568F}"/>
              </a:ext>
            </a:extLst>
          </p:cNvPr>
          <p:cNvSpPr/>
          <p:nvPr/>
        </p:nvSpPr>
        <p:spPr>
          <a:xfrm rot="19362665">
            <a:off x="6171207" y="2548867"/>
            <a:ext cx="6777561" cy="1323439"/>
          </a:xfrm>
          <a:prstGeom prst="rect">
            <a:avLst/>
          </a:prstGeom>
          <a:noFill/>
        </p:spPr>
        <p:txBody>
          <a:bodyPr wrap="none" lIns="91440" tIns="45720" rIns="91440" bIns="45720">
            <a:spAutoFit/>
          </a:bodyPr>
          <a:lstStyle/>
          <a:p>
            <a:pPr algn="ctr"/>
            <a:r>
              <a:rPr lang="en-GB" sz="8000" b="1" cap="none" spc="0" dirty="0">
                <a:ln w="28575">
                  <a:solidFill>
                    <a:srgbClr val="C00000"/>
                  </a:solidFill>
                  <a:prstDash val="solid"/>
                </a:ln>
                <a:solidFill>
                  <a:srgbClr val="FF0000"/>
                </a:solidFill>
                <a:effectLst>
                  <a:outerShdw blurRad="38100" dist="22860" dir="5400000" algn="tl" rotWithShape="0">
                    <a:srgbClr val="000000">
                      <a:alpha val="30000"/>
                    </a:srgbClr>
                  </a:outerShdw>
                </a:effectLst>
                <a:latin typeface="Chalkduster" panose="03050602040202020205" pitchFamily="66" charset="77"/>
              </a:rPr>
              <a:t>DUE TODAY</a:t>
            </a:r>
          </a:p>
        </p:txBody>
      </p:sp>
    </p:spTree>
    <p:extLst>
      <p:ext uri="{BB962C8B-B14F-4D97-AF65-F5344CB8AC3E}">
        <p14:creationId xmlns:p14="http://schemas.microsoft.com/office/powerpoint/2010/main" val="110601193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E75A-202B-4CDE-A70F-7BCB783C179E}"/>
              </a:ext>
            </a:extLst>
          </p:cNvPr>
          <p:cNvSpPr>
            <a:spLocks noGrp="1"/>
          </p:cNvSpPr>
          <p:nvPr>
            <p:ph type="title"/>
          </p:nvPr>
        </p:nvSpPr>
        <p:spPr>
          <a:xfrm>
            <a:off x="159925" y="305123"/>
            <a:ext cx="7188925" cy="1386934"/>
          </a:xfrm>
          <a:noFill/>
        </p:spPr>
        <p:txBody>
          <a:bodyPr>
            <a:normAutofit fontScale="90000"/>
          </a:bodyPr>
          <a:lstStyle/>
          <a:p>
            <a:r>
              <a:rPr lang="en-AU" sz="5400" dirty="0"/>
              <a:t>Optional hook:</a:t>
            </a:r>
            <a:br>
              <a:rPr lang="en-AU" sz="5400" dirty="0"/>
            </a:br>
            <a:r>
              <a:rPr lang="en-AU" sz="5400" dirty="0"/>
              <a:t>person bingo </a:t>
            </a:r>
            <a:r>
              <a:rPr lang="en-AU" sz="2700" dirty="0"/>
              <a:t>(Pg. 8)</a:t>
            </a:r>
            <a:endParaRPr lang="en-AU" sz="5400" b="1" dirty="0"/>
          </a:p>
        </p:txBody>
      </p:sp>
      <p:sp>
        <p:nvSpPr>
          <p:cNvPr id="3" name="Content Placeholder 2">
            <a:extLst>
              <a:ext uri="{FF2B5EF4-FFF2-40B4-BE49-F238E27FC236}">
                <a16:creationId xmlns:a16="http://schemas.microsoft.com/office/drawing/2014/main" id="{A54D1F30-33BE-44DF-97A9-89A056DD4567}"/>
              </a:ext>
            </a:extLst>
          </p:cNvPr>
          <p:cNvSpPr>
            <a:spLocks noGrp="1"/>
          </p:cNvSpPr>
          <p:nvPr>
            <p:ph idx="1"/>
          </p:nvPr>
        </p:nvSpPr>
        <p:spPr>
          <a:xfrm>
            <a:off x="159925" y="1997180"/>
            <a:ext cx="7188926" cy="4703165"/>
          </a:xfrm>
        </p:spPr>
        <p:txBody>
          <a:bodyPr>
            <a:normAutofit lnSpcReduction="10000"/>
          </a:bodyPr>
          <a:lstStyle/>
          <a:p>
            <a:r>
              <a:rPr lang="en-AU" dirty="0"/>
              <a:t>In your books is a bingo grid. </a:t>
            </a:r>
          </a:p>
          <a:p>
            <a:endParaRPr lang="en-AU" dirty="0"/>
          </a:p>
          <a:p>
            <a:r>
              <a:rPr lang="en-AU" dirty="0"/>
              <a:t>You have 5 minutes to walk around the class and speak to different people to try and fill your bingo board. </a:t>
            </a:r>
          </a:p>
          <a:p>
            <a:endParaRPr lang="en-AU" dirty="0"/>
          </a:p>
          <a:p>
            <a:r>
              <a:rPr lang="en-AU" dirty="0"/>
              <a:t>You cannot repeat the same name more than once.</a:t>
            </a:r>
          </a:p>
          <a:p>
            <a:endParaRPr lang="en-AU" dirty="0"/>
          </a:p>
          <a:p>
            <a:r>
              <a:rPr lang="en-AU" dirty="0"/>
              <a:t>Prizes up for grabs!!</a:t>
            </a:r>
          </a:p>
          <a:p>
            <a:pPr lvl="3"/>
            <a:r>
              <a:rPr lang="en-AU" sz="2200" dirty="0"/>
              <a:t>First bingo across</a:t>
            </a:r>
          </a:p>
          <a:p>
            <a:pPr lvl="3"/>
            <a:r>
              <a:rPr lang="en-AU" sz="2200" dirty="0"/>
              <a:t>First bingo up and down</a:t>
            </a:r>
          </a:p>
          <a:p>
            <a:pPr lvl="3"/>
            <a:r>
              <a:rPr lang="en-AU" sz="2200" dirty="0"/>
              <a:t>First bingo diagonal </a:t>
            </a:r>
          </a:p>
          <a:p>
            <a:endParaRPr lang="en-AU" dirty="0"/>
          </a:p>
          <a:p>
            <a:endParaRPr lang="en-AU" dirty="0"/>
          </a:p>
        </p:txBody>
      </p:sp>
      <p:pic>
        <p:nvPicPr>
          <p:cNvPr id="7" name="Picture 6" descr="A game with text on it&#10;&#10;Description automatically generated with medium confidence">
            <a:extLst>
              <a:ext uri="{FF2B5EF4-FFF2-40B4-BE49-F238E27FC236}">
                <a16:creationId xmlns:a16="http://schemas.microsoft.com/office/drawing/2014/main" id="{F90ACD5A-BC35-AF02-2F9C-3FE6B68E83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8850" y="0"/>
            <a:ext cx="4843150" cy="6858000"/>
          </a:xfrm>
          <a:prstGeom prst="rect">
            <a:avLst/>
          </a:prstGeom>
        </p:spPr>
      </p:pic>
      <p:cxnSp>
        <p:nvCxnSpPr>
          <p:cNvPr id="9" name="Straight Arrow Connector 8">
            <a:extLst>
              <a:ext uri="{FF2B5EF4-FFF2-40B4-BE49-F238E27FC236}">
                <a16:creationId xmlns:a16="http://schemas.microsoft.com/office/drawing/2014/main" id="{51FD7F2F-3B91-5841-69C8-7FB38BA95944}"/>
              </a:ext>
            </a:extLst>
          </p:cNvPr>
          <p:cNvCxnSpPr/>
          <p:nvPr/>
        </p:nvCxnSpPr>
        <p:spPr>
          <a:xfrm>
            <a:off x="3744312" y="5244662"/>
            <a:ext cx="1718441" cy="0"/>
          </a:xfrm>
          <a:prstGeom prst="straightConnector1">
            <a:avLst/>
          </a:prstGeom>
          <a:ln w="28575"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2FEEDB66-BB71-FCE2-BBA8-8647BF85CE6C}"/>
              </a:ext>
            </a:extLst>
          </p:cNvPr>
          <p:cNvCxnSpPr>
            <a:cxnSpLocks/>
          </p:cNvCxnSpPr>
          <p:nvPr/>
        </p:nvCxnSpPr>
        <p:spPr>
          <a:xfrm flipV="1">
            <a:off x="6364013" y="5191788"/>
            <a:ext cx="0" cy="1324303"/>
          </a:xfrm>
          <a:prstGeom prst="straightConnector1">
            <a:avLst/>
          </a:prstGeom>
          <a:ln w="28575"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8B0EC223-6026-9382-3DD7-F3913ECEDE92}"/>
              </a:ext>
            </a:extLst>
          </p:cNvPr>
          <p:cNvCxnSpPr>
            <a:cxnSpLocks/>
          </p:cNvCxnSpPr>
          <p:nvPr/>
        </p:nvCxnSpPr>
        <p:spPr>
          <a:xfrm>
            <a:off x="4388070" y="5601691"/>
            <a:ext cx="1424152" cy="951186"/>
          </a:xfrm>
          <a:prstGeom prst="straightConnector1">
            <a:avLst/>
          </a:prstGeom>
          <a:ln w="28575"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3387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900" y="413780"/>
            <a:ext cx="11201400" cy="1184438"/>
          </a:xfrm>
          <a:noFill/>
        </p:spPr>
        <p:txBody>
          <a:bodyPr>
            <a:noAutofit/>
          </a:bodyPr>
          <a:lstStyle/>
          <a:p>
            <a:r>
              <a:rPr lang="en-AU" sz="5400" dirty="0"/>
              <a:t>Optional HOOK: Things Change </a:t>
            </a:r>
            <a:r>
              <a:rPr lang="en-AU" sz="2800" dirty="0"/>
              <a:t>(Pg. 9)</a:t>
            </a:r>
            <a:endParaRPr lang="en-AU" sz="5400" b="1" dirty="0"/>
          </a:p>
        </p:txBody>
      </p:sp>
      <p:sp>
        <p:nvSpPr>
          <p:cNvPr id="6" name="Rounded Rectangle 5"/>
          <p:cNvSpPr/>
          <p:nvPr/>
        </p:nvSpPr>
        <p:spPr>
          <a:xfrm>
            <a:off x="222842" y="4550382"/>
            <a:ext cx="7917257" cy="1600200"/>
          </a:xfrm>
          <a:prstGeom prst="round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p:cNvSpPr txBox="1"/>
          <p:nvPr/>
        </p:nvSpPr>
        <p:spPr>
          <a:xfrm>
            <a:off x="193963" y="2184713"/>
            <a:ext cx="7946136" cy="3908762"/>
          </a:xfrm>
          <a:prstGeom prst="rect">
            <a:avLst/>
          </a:prstGeom>
          <a:noFill/>
        </p:spPr>
        <p:txBody>
          <a:bodyPr wrap="square" rtlCol="0">
            <a:spAutoFit/>
          </a:bodyPr>
          <a:lstStyle/>
          <a:p>
            <a:pPr marL="285750" indent="-285750">
              <a:buFont typeface="Arial" panose="020B0604020202020204" pitchFamily="34" charset="0"/>
              <a:buChar char="•"/>
            </a:pPr>
            <a:r>
              <a:rPr lang="en-AU" dirty="0"/>
              <a:t>Complete</a:t>
            </a:r>
            <a:r>
              <a:rPr lang="en-AU" sz="3200" dirty="0"/>
              <a:t> </a:t>
            </a:r>
            <a:r>
              <a:rPr lang="en-AU" dirty="0"/>
              <a:t>the boxes to show how you have changed over time, since Kindergarten to Year 7, and explain why you think these changes have occurred.</a:t>
            </a:r>
          </a:p>
          <a:p>
            <a:endParaRPr lang="en-AU" dirty="0"/>
          </a:p>
          <a:p>
            <a:r>
              <a:rPr lang="en-AU" i="1" dirty="0"/>
              <a:t>Do you still play the same sport as you once did?</a:t>
            </a:r>
          </a:p>
          <a:p>
            <a:r>
              <a:rPr lang="en-AU" i="1" dirty="0"/>
              <a:t>Do you still have the same friendship group?</a:t>
            </a:r>
          </a:p>
          <a:p>
            <a:r>
              <a:rPr lang="en-AU" i="1" dirty="0"/>
              <a:t>Are you the same height?</a:t>
            </a:r>
          </a:p>
          <a:p>
            <a:endParaRPr lang="en-AU" dirty="0"/>
          </a:p>
          <a:p>
            <a:endParaRPr lang="en-AU" dirty="0"/>
          </a:p>
          <a:p>
            <a:pPr algn="ctr"/>
            <a:r>
              <a:rPr lang="en-AU" i="1" dirty="0"/>
              <a:t>As we grow older we start to mature and change both physically and emotionally. The friends we once had may not be the same and this can be for different reasons. As people get older, their personal experiences shapes who they are and how they will respond in the future. Some people have a more natural growth which is shaped by how they believe they should react in different situations.</a:t>
            </a:r>
          </a:p>
        </p:txBody>
      </p:sp>
      <p:pic>
        <p:nvPicPr>
          <p:cNvPr id="8" name="Picture 7">
            <a:extLst>
              <a:ext uri="{FF2B5EF4-FFF2-40B4-BE49-F238E27FC236}">
                <a16:creationId xmlns:a16="http://schemas.microsoft.com/office/drawing/2014/main" id="{F9760F3C-D13C-443A-9787-BE6A9880921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524" b="97976" l="1692" r="96692">
                        <a14:foregroundMark x1="15462" y1="72619" x2="15462" y2="72619"/>
                        <a14:foregroundMark x1="6769" y1="91190" x2="6769" y2="91190"/>
                        <a14:foregroundMark x1="4462" y1="96071" x2="4462" y2="96071"/>
                        <a14:foregroundMark x1="31769" y1="58333" x2="31769" y2="58333"/>
                        <a14:foregroundMark x1="30308" y1="91429" x2="30308" y2="91429"/>
                        <a14:foregroundMark x1="4308" y1="89405" x2="4308" y2="89405"/>
                        <a14:foregroundMark x1="4308" y1="89405" x2="16923" y2="75714"/>
                        <a14:foregroundMark x1="16923" y1="75714" x2="13462" y2="92738"/>
                        <a14:foregroundMark x1="30000" y1="56071" x2="31615" y2="98571"/>
                        <a14:foregroundMark x1="49923" y1="25952" x2="54769" y2="75119"/>
                        <a14:foregroundMark x1="54769" y1="75119" x2="47385" y2="94286"/>
                        <a14:foregroundMark x1="47385" y1="94286" x2="47231" y2="93810"/>
                        <a14:foregroundMark x1="93000" y1="17619" x2="86692" y2="85476"/>
                        <a14:foregroundMark x1="86692" y1="85476" x2="90385" y2="97262"/>
                        <a14:foregroundMark x1="94538" y1="37500" x2="96462" y2="93690"/>
                        <a14:foregroundMark x1="66154" y1="4524" x2="71000" y2="7143"/>
                        <a14:foregroundMark x1="87077" y1="10000" x2="93385" y2="7381"/>
                        <a14:foregroundMark x1="84462" y1="10714" x2="93000" y2="5595"/>
                        <a14:foregroundMark x1="87923" y1="11190" x2="85769" y2="28214"/>
                        <a14:foregroundMark x1="85615" y1="10952" x2="87462" y2="24762"/>
                        <a14:foregroundMark x1="94846" y1="55476" x2="96769" y2="93810"/>
                        <a14:foregroundMark x1="95462" y1="57024" x2="96615" y2="93810"/>
                        <a14:foregroundMark x1="42692" y1="23095" x2="51462" y2="23333"/>
                        <a14:foregroundMark x1="45154" y1="22857" x2="44692" y2="19762"/>
                        <a14:foregroundMark x1="1692" y1="96786" x2="1692" y2="96786"/>
                      </a14:backgroundRemoval>
                    </a14:imgEffect>
                  </a14:imgLayer>
                </a14:imgProps>
              </a:ext>
            </a:extLst>
          </a:blip>
          <a:stretch>
            <a:fillRect/>
          </a:stretch>
        </p:blipFill>
        <p:spPr>
          <a:xfrm>
            <a:off x="8276376" y="4378036"/>
            <a:ext cx="3838039" cy="2479964"/>
          </a:xfrm>
          <a:prstGeom prst="rect">
            <a:avLst/>
          </a:prstGeom>
        </p:spPr>
      </p:pic>
      <p:pic>
        <p:nvPicPr>
          <p:cNvPr id="9" name="Picture 8">
            <a:extLst>
              <a:ext uri="{FF2B5EF4-FFF2-40B4-BE49-F238E27FC236}">
                <a16:creationId xmlns:a16="http://schemas.microsoft.com/office/drawing/2014/main" id="{3BA61567-E0E6-4EB7-B512-36DBAE8DAC9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982" b="94011" l="3692" r="93462">
                        <a14:foregroundMark x1="6615" y1="74955" x2="8923" y2="93466"/>
                        <a14:foregroundMark x1="16154" y1="49002" x2="17231" y2="75136"/>
                        <a14:foregroundMark x1="17231" y1="75136" x2="16692" y2="69147"/>
                        <a14:foregroundMark x1="28231" y1="37205" x2="26692" y2="91107"/>
                        <a14:foregroundMark x1="39077" y1="21053" x2="36385" y2="90018"/>
                        <a14:foregroundMark x1="41154" y1="83122" x2="41154" y2="83122"/>
                        <a14:foregroundMark x1="40846" y1="92196" x2="40846" y2="92196"/>
                        <a14:foregroundMark x1="52846" y1="17060" x2="51615" y2="90200"/>
                        <a14:foregroundMark x1="77385" y1="21960" x2="79923" y2="91107"/>
                        <a14:foregroundMark x1="90231" y1="18693" x2="91923" y2="61343"/>
                        <a14:foregroundMark x1="91923" y1="61343" x2="88923" y2="86751"/>
                        <a14:foregroundMark x1="93308" y1="91289" x2="93308" y2="91289"/>
                        <a14:foregroundMark x1="92769" y1="90200" x2="92769" y2="90200"/>
                        <a14:foregroundMark x1="93308" y1="70236" x2="93308" y2="70236"/>
                        <a14:foregroundMark x1="92769" y1="61525" x2="93462" y2="65336"/>
                        <a14:foregroundMark x1="61385" y1="92922" x2="61385" y2="92922"/>
                        <a14:foregroundMark x1="66923" y1="88748" x2="66923" y2="88748"/>
                        <a14:foregroundMark x1="88308" y1="91833" x2="88308" y2="91833"/>
                        <a14:foregroundMark x1="30385" y1="92922" x2="30385" y2="92922"/>
                        <a14:foregroundMark x1="17846" y1="88385" x2="17846" y2="88385"/>
                        <a14:foregroundMark x1="18077" y1="84392" x2="18462" y2="91833"/>
                        <a14:foregroundMark x1="14692" y1="86751" x2="14692" y2="94011"/>
                        <a14:foregroundMark x1="19538" y1="71506" x2="19538" y2="71506"/>
                        <a14:foregroundMark x1="50615" y1="39564" x2="50615" y2="39564"/>
                        <a14:foregroundMark x1="54000" y1="32849" x2="54538" y2="38294"/>
                        <a14:foregroundMark x1="41154" y1="52995" x2="41154" y2="56987"/>
                        <a14:foregroundMark x1="3692" y1="83122" x2="3692" y2="83122"/>
                      </a14:backgroundRemoval>
                    </a14:imgEffect>
                  </a14:imgLayer>
                </a14:imgProps>
              </a:ext>
            </a:extLst>
          </a:blip>
          <a:stretch>
            <a:fillRect/>
          </a:stretch>
        </p:blipFill>
        <p:spPr>
          <a:xfrm>
            <a:off x="7497023" y="1658522"/>
            <a:ext cx="4876749" cy="2066991"/>
          </a:xfrm>
          <a:prstGeom prst="rect">
            <a:avLst/>
          </a:prstGeom>
        </p:spPr>
      </p:pic>
    </p:spTree>
    <p:extLst>
      <p:ext uri="{BB962C8B-B14F-4D97-AF65-F5344CB8AC3E}">
        <p14:creationId xmlns:p14="http://schemas.microsoft.com/office/powerpoint/2010/main" val="578903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E75A-202B-4CDE-A70F-7BCB783C179E}"/>
              </a:ext>
            </a:extLst>
          </p:cNvPr>
          <p:cNvSpPr>
            <a:spLocks noGrp="1"/>
          </p:cNvSpPr>
          <p:nvPr>
            <p:ph type="title"/>
          </p:nvPr>
        </p:nvSpPr>
        <p:spPr>
          <a:xfrm>
            <a:off x="1290750" y="313899"/>
            <a:ext cx="9610500" cy="1386934"/>
          </a:xfrm>
          <a:noFill/>
        </p:spPr>
        <p:txBody>
          <a:bodyPr>
            <a:normAutofit fontScale="90000"/>
          </a:bodyPr>
          <a:lstStyle/>
          <a:p>
            <a:r>
              <a:rPr lang="en-AU" sz="5400" dirty="0"/>
              <a:t>ACTIVITY 1:</a:t>
            </a:r>
            <a:br>
              <a:rPr lang="en-AU" sz="5400" dirty="0"/>
            </a:br>
            <a:r>
              <a:rPr lang="en-AU" sz="5400" dirty="0"/>
              <a:t>Overcoming setbacks </a:t>
            </a:r>
            <a:r>
              <a:rPr lang="en-AU" sz="3100" dirty="0"/>
              <a:t>(Pg. 10)</a:t>
            </a:r>
            <a:endParaRPr lang="en-AU" sz="5400" b="1" dirty="0"/>
          </a:p>
        </p:txBody>
      </p:sp>
      <p:sp>
        <p:nvSpPr>
          <p:cNvPr id="3" name="Content Placeholder 2">
            <a:extLst>
              <a:ext uri="{FF2B5EF4-FFF2-40B4-BE49-F238E27FC236}">
                <a16:creationId xmlns:a16="http://schemas.microsoft.com/office/drawing/2014/main" id="{A54D1F30-33BE-44DF-97A9-89A056DD4567}"/>
              </a:ext>
            </a:extLst>
          </p:cNvPr>
          <p:cNvSpPr>
            <a:spLocks noGrp="1"/>
          </p:cNvSpPr>
          <p:nvPr>
            <p:ph idx="1"/>
          </p:nvPr>
        </p:nvSpPr>
        <p:spPr>
          <a:xfrm>
            <a:off x="464024" y="2217496"/>
            <a:ext cx="8256895" cy="4115065"/>
          </a:xfrm>
        </p:spPr>
        <p:txBody>
          <a:bodyPr>
            <a:normAutofit fontScale="92500"/>
          </a:bodyPr>
          <a:lstStyle/>
          <a:p>
            <a:r>
              <a:rPr lang="en-AU" dirty="0"/>
              <a:t>Think about a time when you have experienced a challenge or set back. </a:t>
            </a:r>
          </a:p>
          <a:p>
            <a:r>
              <a:rPr lang="en-AU" dirty="0"/>
              <a:t>Write a personal story about this situation. </a:t>
            </a:r>
          </a:p>
          <a:p>
            <a:pPr marL="0" indent="0">
              <a:buNone/>
            </a:pPr>
            <a:endParaRPr lang="en-AU" dirty="0"/>
          </a:p>
          <a:p>
            <a:pPr marL="1143000" lvl="3" indent="-457200">
              <a:buFont typeface="+mj-lt"/>
              <a:buAutoNum type="alphaLcParenR"/>
            </a:pPr>
            <a:r>
              <a:rPr lang="en-AU" sz="2200" dirty="0"/>
              <a:t>What happened in the scenario?</a:t>
            </a:r>
          </a:p>
          <a:p>
            <a:pPr marL="1143000" lvl="3" indent="-457200">
              <a:buFont typeface="+mj-lt"/>
              <a:buAutoNum type="alphaLcParenR"/>
            </a:pPr>
            <a:r>
              <a:rPr lang="en-AU" sz="2200" dirty="0"/>
              <a:t>How did it make you feel?</a:t>
            </a:r>
          </a:p>
          <a:p>
            <a:pPr marL="1143000" lvl="3" indent="-457200">
              <a:buFont typeface="+mj-lt"/>
              <a:buAutoNum type="alphaLcParenR"/>
            </a:pPr>
            <a:r>
              <a:rPr lang="en-AU" sz="2200" dirty="0"/>
              <a:t>What did you do to overcome the challenging time or setback? </a:t>
            </a:r>
          </a:p>
          <a:p>
            <a:pPr marL="457200" indent="-457200">
              <a:buAutoNum type="arabicParenR"/>
            </a:pPr>
            <a:endParaRPr lang="en-AU" dirty="0"/>
          </a:p>
          <a:p>
            <a:pPr marL="0" indent="0" algn="ctr">
              <a:buNone/>
            </a:pPr>
            <a:r>
              <a:rPr lang="en-AU" i="1" dirty="0"/>
              <a:t>Be willing to share your story with the class!</a:t>
            </a:r>
          </a:p>
          <a:p>
            <a:pPr marL="0" indent="0" algn="ctr">
              <a:buNone/>
            </a:pPr>
            <a:r>
              <a:rPr lang="en-AU" i="1" dirty="0"/>
              <a:t>You have 15 minutes to write your story. </a:t>
            </a:r>
          </a:p>
          <a:p>
            <a:endParaRPr lang="en-AU" dirty="0"/>
          </a:p>
        </p:txBody>
      </p:sp>
      <p:pic>
        <p:nvPicPr>
          <p:cNvPr id="4" name="Picture 3" descr="A book with drawings on it&#10;&#10;Description automatically generated">
            <a:extLst>
              <a:ext uri="{FF2B5EF4-FFF2-40B4-BE49-F238E27FC236}">
                <a16:creationId xmlns:a16="http://schemas.microsoft.com/office/drawing/2014/main" id="{009FCEDC-310E-44E6-B0A5-92732E73F2CD}"/>
              </a:ext>
            </a:extLst>
          </p:cNvPr>
          <p:cNvPicPr>
            <a:picLocks noChangeAspect="1"/>
          </p:cNvPicPr>
          <p:nvPr/>
        </p:nvPicPr>
        <p:blipFill rotWithShape="1">
          <a:blip r:embed="rId3"/>
          <a:srcRect l="31111" r="18385" b="1"/>
          <a:stretch/>
        </p:blipFill>
        <p:spPr>
          <a:xfrm>
            <a:off x="9003775" y="2217496"/>
            <a:ext cx="3045384" cy="3768724"/>
          </a:xfrm>
          <a:prstGeom prst="rect">
            <a:avLst/>
          </a:prstGeom>
        </p:spPr>
      </p:pic>
      <p:pic>
        <p:nvPicPr>
          <p:cNvPr id="5" name="Picture 4">
            <a:extLst>
              <a:ext uri="{FF2B5EF4-FFF2-40B4-BE49-F238E27FC236}">
                <a16:creationId xmlns:a16="http://schemas.microsoft.com/office/drawing/2014/main" id="{63051D18-B914-4CE7-AD82-26081F4B0AB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144" b="89887" l="10000" r="90000">
                        <a14:foregroundMark x1="43171" y1="8129" x2="43171" y2="8129"/>
                        <a14:foregroundMark x1="43171" y1="8129" x2="43902" y2="18715"/>
                        <a14:foregroundMark x1="41707" y1="6144" x2="51829" y2="13705"/>
                        <a14:foregroundMark x1="56463" y1="66730" x2="21220" y2="60491"/>
                        <a14:foregroundMark x1="21220" y1="60491" x2="30366" y2="78733"/>
                        <a14:foregroundMark x1="37927" y1="67675" x2="71098" y2="81096"/>
                        <a14:foregroundMark x1="55976" y1="55293" x2="68537" y2="69943"/>
                        <a14:foregroundMark x1="75732" y1="65028" x2="62439" y2="77599"/>
                        <a14:foregroundMark x1="39024" y1="72590" x2="49634" y2="82892"/>
                        <a14:foregroundMark x1="15244" y1="68809" x2="47317" y2="87807"/>
                        <a14:foregroundMark x1="62073" y1="79679" x2="86220" y2="71172"/>
                      </a14:backgroundRemoval>
                    </a14:imgEffect>
                  </a14:imgLayer>
                </a14:imgProps>
              </a:ext>
            </a:extLst>
          </a:blip>
          <a:stretch>
            <a:fillRect/>
          </a:stretch>
        </p:blipFill>
        <p:spPr>
          <a:xfrm>
            <a:off x="142841" y="4855478"/>
            <a:ext cx="1466145" cy="1891685"/>
          </a:xfrm>
          <a:prstGeom prst="rect">
            <a:avLst/>
          </a:prstGeom>
        </p:spPr>
      </p:pic>
    </p:spTree>
    <p:extLst>
      <p:ext uri="{BB962C8B-B14F-4D97-AF65-F5344CB8AC3E}">
        <p14:creationId xmlns:p14="http://schemas.microsoft.com/office/powerpoint/2010/main" val="305055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8E2EB-FA0F-5D04-FC70-8E76F74E424A}"/>
              </a:ext>
            </a:extLst>
          </p:cNvPr>
          <p:cNvSpPr>
            <a:spLocks noGrp="1"/>
          </p:cNvSpPr>
          <p:nvPr>
            <p:ph type="title"/>
          </p:nvPr>
        </p:nvSpPr>
        <p:spPr>
          <a:xfrm>
            <a:off x="1202919" y="284176"/>
            <a:ext cx="9784080" cy="1508760"/>
          </a:xfrm>
        </p:spPr>
        <p:txBody>
          <a:bodyPr>
            <a:normAutofit/>
          </a:bodyPr>
          <a:lstStyle/>
          <a:p>
            <a:r>
              <a:rPr lang="en-US" dirty="0"/>
              <a:t>Assessment Task 1: All about me</a:t>
            </a:r>
          </a:p>
        </p:txBody>
      </p:sp>
      <p:sp>
        <p:nvSpPr>
          <p:cNvPr id="3" name="Content Placeholder 2">
            <a:extLst>
              <a:ext uri="{FF2B5EF4-FFF2-40B4-BE49-F238E27FC236}">
                <a16:creationId xmlns:a16="http://schemas.microsoft.com/office/drawing/2014/main" id="{616DAD44-F2BA-210C-723B-7E758359091C}"/>
              </a:ext>
            </a:extLst>
          </p:cNvPr>
          <p:cNvSpPr>
            <a:spLocks noGrp="1"/>
          </p:cNvSpPr>
          <p:nvPr>
            <p:ph idx="1"/>
          </p:nvPr>
        </p:nvSpPr>
        <p:spPr>
          <a:xfrm>
            <a:off x="540327" y="2011680"/>
            <a:ext cx="6926233" cy="4206240"/>
          </a:xfrm>
        </p:spPr>
        <p:txBody>
          <a:bodyPr>
            <a:normAutofit/>
          </a:bodyPr>
          <a:lstStyle/>
          <a:p>
            <a:r>
              <a:rPr lang="en-US" dirty="0"/>
              <a:t>Due: week 4 </a:t>
            </a:r>
          </a:p>
          <a:p>
            <a:endParaRPr lang="en-US" dirty="0"/>
          </a:p>
          <a:p>
            <a:r>
              <a:rPr lang="en-US" dirty="0"/>
              <a:t>Two whole weeks to complete at home.</a:t>
            </a:r>
          </a:p>
          <a:p>
            <a:endParaRPr lang="en-US" dirty="0"/>
          </a:p>
          <a:p>
            <a:r>
              <a:rPr lang="en-US" dirty="0"/>
              <a:t>Create a poster all about yourself!</a:t>
            </a:r>
          </a:p>
          <a:p>
            <a:endParaRPr lang="en-US" dirty="0"/>
          </a:p>
        </p:txBody>
      </p:sp>
      <p:pic>
        <p:nvPicPr>
          <p:cNvPr id="5" name="Picture 4" descr="Working space background">
            <a:extLst>
              <a:ext uri="{FF2B5EF4-FFF2-40B4-BE49-F238E27FC236}">
                <a16:creationId xmlns:a16="http://schemas.microsoft.com/office/drawing/2014/main" id="{641EF9C7-6341-1E43-B932-FF1BA7830AC3}"/>
              </a:ext>
            </a:extLst>
          </p:cNvPr>
          <p:cNvPicPr>
            <a:picLocks noChangeAspect="1"/>
          </p:cNvPicPr>
          <p:nvPr/>
        </p:nvPicPr>
        <p:blipFill rotWithShape="1">
          <a:blip r:embed="rId3"/>
          <a:srcRect l="42446" r="-2" b="-2"/>
          <a:stretch/>
        </p:blipFill>
        <p:spPr>
          <a:xfrm>
            <a:off x="7847215" y="1822028"/>
            <a:ext cx="4342220" cy="5035972"/>
          </a:xfrm>
          <a:prstGeom prst="rect">
            <a:avLst/>
          </a:prstGeom>
        </p:spPr>
      </p:pic>
    </p:spTree>
    <p:extLst>
      <p:ext uri="{BB962C8B-B14F-4D97-AF65-F5344CB8AC3E}">
        <p14:creationId xmlns:p14="http://schemas.microsoft.com/office/powerpoint/2010/main" val="3585934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C4455-E23E-BF24-BC99-0106E6A187D3}"/>
              </a:ext>
            </a:extLst>
          </p:cNvPr>
          <p:cNvSpPr>
            <a:spLocks noGrp="1"/>
          </p:cNvSpPr>
          <p:nvPr>
            <p:ph type="title"/>
          </p:nvPr>
        </p:nvSpPr>
        <p:spPr>
          <a:xfrm>
            <a:off x="1202919" y="284176"/>
            <a:ext cx="9784080" cy="1508760"/>
          </a:xfrm>
        </p:spPr>
        <p:txBody>
          <a:bodyPr>
            <a:normAutofit/>
          </a:bodyPr>
          <a:lstStyle/>
          <a:p>
            <a:r>
              <a:rPr lang="en-US" dirty="0"/>
              <a:t>Optional Reflection: </a:t>
            </a:r>
            <a:br>
              <a:rPr lang="en-US" dirty="0"/>
            </a:br>
            <a:r>
              <a:rPr lang="en-US" dirty="0"/>
              <a:t>Personality </a:t>
            </a:r>
            <a:r>
              <a:rPr lang="en-US"/>
              <a:t>quiz 				</a:t>
            </a:r>
            <a:r>
              <a:rPr lang="en-AU" sz="4000"/>
              <a:t>(</a:t>
            </a:r>
            <a:r>
              <a:rPr lang="en-AU" sz="4000" dirty="0"/>
              <a:t>Pg. </a:t>
            </a:r>
            <a:r>
              <a:rPr lang="en-AU" dirty="0"/>
              <a:t>11</a:t>
            </a:r>
            <a:r>
              <a:rPr lang="en-AU" sz="4000" dirty="0"/>
              <a:t>)</a:t>
            </a:r>
            <a:endParaRPr lang="en-US" dirty="0"/>
          </a:p>
        </p:txBody>
      </p:sp>
      <p:sp>
        <p:nvSpPr>
          <p:cNvPr id="3" name="Content Placeholder 2">
            <a:extLst>
              <a:ext uri="{FF2B5EF4-FFF2-40B4-BE49-F238E27FC236}">
                <a16:creationId xmlns:a16="http://schemas.microsoft.com/office/drawing/2014/main" id="{B1B85BC4-C65C-8F6E-AC11-AF45537844F9}"/>
              </a:ext>
            </a:extLst>
          </p:cNvPr>
          <p:cNvSpPr>
            <a:spLocks noGrp="1"/>
          </p:cNvSpPr>
          <p:nvPr>
            <p:ph idx="1"/>
          </p:nvPr>
        </p:nvSpPr>
        <p:spPr>
          <a:xfrm>
            <a:off x="441037" y="2227580"/>
            <a:ext cx="6885708" cy="4206240"/>
          </a:xfrm>
        </p:spPr>
        <p:txBody>
          <a:bodyPr>
            <a:normAutofit/>
          </a:bodyPr>
          <a:lstStyle/>
          <a:p>
            <a:r>
              <a:rPr lang="en-US" sz="2000" dirty="0"/>
              <a:t>Visit the link below:</a:t>
            </a:r>
          </a:p>
          <a:p>
            <a:pPr marL="0" indent="0">
              <a:buNone/>
            </a:pPr>
            <a:r>
              <a:rPr lang="en-US" sz="2000" dirty="0">
                <a:hlinkClick r:id="rId3"/>
              </a:rPr>
              <a:t>https://www.biteback.org.au/Quiz/PersonalityQuiz?IsMFC=true</a:t>
            </a:r>
            <a:endParaRPr lang="en-US" sz="2000" dirty="0"/>
          </a:p>
          <a:p>
            <a:endParaRPr lang="en-US" sz="2000" dirty="0"/>
          </a:p>
          <a:p>
            <a:r>
              <a:rPr lang="en-US" sz="2000" dirty="0"/>
              <a:t>Answer the questions as honestly as possible. </a:t>
            </a:r>
          </a:p>
          <a:p>
            <a:endParaRPr lang="en-US" sz="2000" dirty="0"/>
          </a:p>
          <a:p>
            <a:r>
              <a:rPr lang="en-US" sz="2000" dirty="0"/>
              <a:t>Read your results at the end and summarise into your book. </a:t>
            </a:r>
          </a:p>
        </p:txBody>
      </p:sp>
      <p:pic>
        <p:nvPicPr>
          <p:cNvPr id="7" name="Graphic 6" descr="Magnifying glass">
            <a:extLst>
              <a:ext uri="{FF2B5EF4-FFF2-40B4-BE49-F238E27FC236}">
                <a16:creationId xmlns:a16="http://schemas.microsoft.com/office/drawing/2014/main" id="{C9653F38-978A-D7AD-2008-8D794EFD00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63766" y="2011680"/>
            <a:ext cx="3768724" cy="3768724"/>
          </a:xfrm>
          <a:prstGeom prst="rect">
            <a:avLst/>
          </a:prstGeom>
        </p:spPr>
      </p:pic>
    </p:spTree>
    <p:extLst>
      <p:ext uri="{BB962C8B-B14F-4D97-AF65-F5344CB8AC3E}">
        <p14:creationId xmlns:p14="http://schemas.microsoft.com/office/powerpoint/2010/main" val="38418819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19880</TotalTime>
  <Words>536</Words>
  <Application>Microsoft Office PowerPoint</Application>
  <PresentationFormat>Widescreen</PresentationFormat>
  <Paragraphs>74</Paragraphs>
  <Slides>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Adobe Devanagari</vt:lpstr>
      <vt:lpstr>Arial</vt:lpstr>
      <vt:lpstr>Calibri</vt:lpstr>
      <vt:lpstr>Chalkduster</vt:lpstr>
      <vt:lpstr>Corbel</vt:lpstr>
      <vt:lpstr>Wingdings</vt:lpstr>
      <vt:lpstr>Banded</vt:lpstr>
      <vt:lpstr>All About Me </vt:lpstr>
      <vt:lpstr>DUE: A letter to me!</vt:lpstr>
      <vt:lpstr>Optional hook: person bingo (Pg. 8)</vt:lpstr>
      <vt:lpstr>Optional HOOK: Things Change (Pg. 9)</vt:lpstr>
      <vt:lpstr>ACTIVITY 1: Overcoming setbacks (Pg. 10)</vt:lpstr>
      <vt:lpstr>Assessment Task 1: All about me</vt:lpstr>
      <vt:lpstr>Optional Reflection:  Personality quiz     (Pg.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About Me </dc:title>
  <dc:creator>GORRINGE Mac [Willetton Senior High School]</dc:creator>
  <cp:lastModifiedBy>HILLMAN Alissa [Willetton Senior High School]</cp:lastModifiedBy>
  <cp:revision>70</cp:revision>
  <dcterms:created xsi:type="dcterms:W3CDTF">2021-09-23T06:45:05Z</dcterms:created>
  <dcterms:modified xsi:type="dcterms:W3CDTF">2023-10-26T04:16:36Z</dcterms:modified>
</cp:coreProperties>
</file>
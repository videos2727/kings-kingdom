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68" r:id="rId2"/>
    <p:sldId id="374" r:id="rId3"/>
    <p:sldId id="373" r:id="rId4"/>
    <p:sldId id="369" r:id="rId5"/>
    <p:sldId id="380" r:id="rId6"/>
    <p:sldId id="382" r:id="rId7"/>
    <p:sldId id="383" r:id="rId8"/>
    <p:sldId id="384" r:id="rId9"/>
    <p:sldId id="385" r:id="rId10"/>
    <p:sldId id="389" r:id="rId11"/>
    <p:sldId id="386" r:id="rId12"/>
    <p:sldId id="387" r:id="rId13"/>
    <p:sldId id="388" r:id="rId14"/>
    <p:sldId id="3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4B1"/>
    <a:srgbClr val="FFF4EB"/>
    <a:srgbClr val="FFFDFB"/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 autoAdjust="0"/>
    <p:restoredTop sz="83861" autoAdjust="0"/>
  </p:normalViewPr>
  <p:slideViewPr>
    <p:cSldViewPr snapToGrid="0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A36F7-0907-4FEF-B0FD-8059B973ACD9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573D7-E80C-4709-9B31-9CF3A42190E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88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waeduau.sharepoint.com/:u:/r/sites/WSHS/students/SitePages/Help-Videos.aspx?csf=1&amp;web=1&amp;e=6KaGOq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ducationwaeduau.sharepoint.com/sites/WSHS/students/SitePages/Help-Videos.aspx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Pg37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0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class time to complete Assessment Task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5838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goal that students set in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82996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Allow at least 20 minutes at the start of this lesson to work through downloading adobe and the next </a:t>
            </a:r>
            <a:r>
              <a:rPr lang="en-AU" dirty="0" err="1"/>
              <a:t>Ebook</a:t>
            </a:r>
            <a:r>
              <a:rPr lang="en-AU" dirty="0"/>
              <a:t>. This is to ensure that ALL students are ready to go in week 1, term 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1875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867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hlinkClick r:id="rId3"/>
              </a:rPr>
              <a:t>Digital Help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4"/>
              </a:rPr>
              <a:t>Digital Help (sharepoint.com)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267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Instruct students on where to find the workbook based on where you upload it – Library or Content section?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523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time to complete Assessment Task 2. Adjust to whenever you would like the assignment due.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573D7-E80C-4709-9B31-9CF3A42190EB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7118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737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02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9261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39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797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700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949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00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218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385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36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CF86F2E1-FA8A-4588-BBFD-A05AC645A9D8}" type="datetimeFigureOut">
              <a:rPr lang="en-AU" smtClean="0"/>
              <a:t>15/11/2023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2B9A715-435D-481F-92DE-B257404B0E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3360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waeduau.sharepoint.com/:u:/r/sites/WSHS/students/SitePages/Help-Videos.aspx?csf=1&amp;web=1&amp;e=6KaGOq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educationwaeduau.sharepoint.com/:u:/r/sites/WSHS/students/SitePages/Help-Videos.aspx?csf=1&amp;web=1&amp;e=6KaGOq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1727" y="2182637"/>
            <a:ext cx="9118495" cy="1600964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AU" sz="7200" b="1" dirty="0"/>
              <a:t>All About Me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1776" y1="59639" x2="91776" y2="59639"/>
                        <a14:foregroundMark x1="88487" y1="54217" x2="88487" y2="54217"/>
                        <a14:foregroundMark x1="82237" y1="13855" x2="82237" y2="13855"/>
                        <a14:foregroundMark x1="11842" y1="19277" x2="11842" y2="19277"/>
                        <a14:foregroundMark x1="6250" y1="51807" x2="6250" y2="51807"/>
                        <a14:foregroundMark x1="13158" y1="53614" x2="13158" y2="53614"/>
                        <a14:foregroundMark x1="11513" y1="53012" x2="11513" y2="53012"/>
                        <a14:foregroundMark x1="9211" y1="54819" x2="9211" y2="54819"/>
                        <a14:foregroundMark x1="22368" y1="53614" x2="22368" y2="53614"/>
                        <a14:foregroundMark x1="25987" y1="54217" x2="25987" y2="54217"/>
                        <a14:foregroundMark x1="19408" y1="51807" x2="19408" y2="51807"/>
                        <a14:foregroundMark x1="19737" y1="63855" x2="19737" y2="63855"/>
                        <a14:foregroundMark x1="19737" y1="63855" x2="18750" y2="86747"/>
                        <a14:foregroundMark x1="7895" y1="24096" x2="17105" y2="8434"/>
                        <a14:foregroundMark x1="42763" y1="19277" x2="54605" y2="12048"/>
                        <a14:foregroundMark x1="30263" y1="71084" x2="32237" y2="92169"/>
                        <a14:foregroundMark x1="66118" y1="56627" x2="65789" y2="92771"/>
                        <a14:foregroundMark x1="82237" y1="16867" x2="89145" y2="156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1344" y="4493213"/>
            <a:ext cx="3490768" cy="19061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60" l="324" r="100000">
                        <a14:foregroundMark x1="37217" y1="52761" x2="47249" y2="66871"/>
                        <a14:foregroundMark x1="44337" y1="52761" x2="44337" y2="52761"/>
                        <a14:foregroundMark x1="39806" y1="48466" x2="39806" y2="48466"/>
                        <a14:foregroundMark x1="37864" y1="63190" x2="37864" y2="63190"/>
                        <a14:foregroundMark x1="35599" y1="73006" x2="35599" y2="73006"/>
                        <a14:foregroundMark x1="46602" y1="73006" x2="46602" y2="73006"/>
                        <a14:foregroundMark x1="50485" y1="52761" x2="50485" y2="52761"/>
                        <a14:foregroundMark x1="73139" y1="23313" x2="73139" y2="23313"/>
                        <a14:foregroundMark x1="69903" y1="21472" x2="69903" y2="21472"/>
                        <a14:foregroundMark x1="73786" y1="19632" x2="73786" y2="19632"/>
                        <a14:foregroundMark x1="76699" y1="18405" x2="76699" y2="18405"/>
                        <a14:backgroundMark x1="54693" y1="53374" x2="54693" y2="53374"/>
                        <a14:backgroundMark x1="62460" y1="52761" x2="62460" y2="52761"/>
                        <a14:backgroundMark x1="55987" y1="53374" x2="55987" y2="53374"/>
                        <a14:backgroundMark x1="59223" y1="64417" x2="59223" y2="64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29768" y="-36830"/>
            <a:ext cx="3102012" cy="2340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9" b="100000" l="889" r="99111">
                        <a14:foregroundMark x1="17778" y1="65333" x2="17778" y2="65333"/>
                        <a14:foregroundMark x1="16889" y1="69778" x2="16889" y2="69778"/>
                        <a14:foregroundMark x1="19111" y1="71111" x2="19111" y2="71111"/>
                        <a14:foregroundMark x1="85778" y1="64000" x2="85778" y2="64000"/>
                        <a14:foregroundMark x1="84444" y1="68000" x2="84444" y2="68000"/>
                        <a14:foregroundMark x1="62667" y1="33778" x2="62667" y2="33778"/>
                        <a14:foregroundMark x1="40889" y1="33778" x2="40889" y2="33778"/>
                        <a14:foregroundMark x1="22222" y1="71111" x2="22222" y2="711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62197" y="23239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728" y="4493213"/>
            <a:ext cx="3348736" cy="18836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31" b="99569" l="922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34521" y="-39878"/>
            <a:ext cx="2066925" cy="2176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98FFC-EF2E-7AD2-4274-7D8DE97BA422}"/>
              </a:ext>
            </a:extLst>
          </p:cNvPr>
          <p:cNvSpPr txBox="1"/>
          <p:nvPr/>
        </p:nvSpPr>
        <p:spPr>
          <a:xfrm>
            <a:off x="4151376" y="4332319"/>
            <a:ext cx="388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7 Health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Lesson 8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51186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283" y="2157984"/>
            <a:ext cx="10757433" cy="4206240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In the first 5 minutes of each lesson you will complete your revision page, you will find these throughout your booklet. </a:t>
            </a:r>
          </a:p>
          <a:p>
            <a:r>
              <a:rPr lang="en-AU" dirty="0"/>
              <a:t>The revision page consists of three questions. </a:t>
            </a:r>
            <a:r>
              <a:rPr lang="en-AU" b="1" dirty="0"/>
              <a:t>It will need to be completed in detail. One word answers will not be accepted.</a:t>
            </a:r>
          </a:p>
          <a:p>
            <a:pPr marL="0" indent="0">
              <a:buNone/>
            </a:pPr>
            <a:r>
              <a:rPr lang="en-AU" dirty="0"/>
              <a:t>The three questions :</a:t>
            </a:r>
          </a:p>
          <a:p>
            <a:pPr marL="457200" indent="-457200">
              <a:buAutoNum type="arabicPeriod"/>
            </a:pPr>
            <a:r>
              <a:rPr lang="en-AU" dirty="0"/>
              <a:t>What two concepts or ideas did I learn in class last week?</a:t>
            </a:r>
          </a:p>
          <a:p>
            <a:pPr marL="457200" indent="-457200">
              <a:buAutoNum type="arabicPeriod"/>
            </a:pPr>
            <a:r>
              <a:rPr lang="en-AU" dirty="0"/>
              <a:t>What did I find interesting about last week’s lesson? Provide a specific example. </a:t>
            </a:r>
          </a:p>
          <a:p>
            <a:pPr marL="457200" indent="-457200">
              <a:buAutoNum type="arabicPeriod"/>
            </a:pPr>
            <a:r>
              <a:rPr lang="en-AU" dirty="0"/>
              <a:t>Any questions or new words you have learnt?</a:t>
            </a:r>
          </a:p>
          <a:p>
            <a:pPr marL="457200" indent="-457200">
              <a:buAutoNum type="arabicPeriod"/>
            </a:pPr>
            <a:endParaRPr lang="en-AU" dirty="0"/>
          </a:p>
          <a:p>
            <a:pPr marL="0" indent="0" algn="ctr">
              <a:buNone/>
            </a:pPr>
            <a:r>
              <a:rPr lang="en-AU" b="1" i="1" dirty="0"/>
              <a:t>The teacher will go over this each lesson with you to see what you have learnt. It is a great way for you to revisit content and test your memory.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919" y="180784"/>
            <a:ext cx="9410700" cy="162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5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E2EB-FA0F-5D04-FC70-8E76F74E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Assessment Task 2: Resilience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AD44-F2BA-210C-723B-7E758359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327" y="2011680"/>
            <a:ext cx="6926233" cy="4206240"/>
          </a:xfrm>
        </p:spPr>
        <p:txBody>
          <a:bodyPr>
            <a:normAutofit/>
          </a:bodyPr>
          <a:lstStyle/>
          <a:p>
            <a:r>
              <a:rPr lang="en-US" sz="2800" dirty="0"/>
              <a:t>Due: week 9</a:t>
            </a:r>
          </a:p>
          <a:p>
            <a:endParaRPr lang="en-US" sz="2800" dirty="0"/>
          </a:p>
          <a:p>
            <a:r>
              <a:rPr lang="en-US" sz="2800" dirty="0"/>
              <a:t>Assessment Task 2 – Resilience</a:t>
            </a:r>
          </a:p>
          <a:p>
            <a:endParaRPr lang="en-US" sz="2800" dirty="0"/>
          </a:p>
          <a:p>
            <a:r>
              <a:rPr lang="en-US" sz="2800" dirty="0"/>
              <a:t>Part A – Resilience and Goal Setting</a:t>
            </a:r>
          </a:p>
          <a:p>
            <a:r>
              <a:rPr lang="en-US" sz="2800" dirty="0"/>
              <a:t>Part B – Scenarios</a:t>
            </a:r>
          </a:p>
          <a:p>
            <a:r>
              <a:rPr lang="en-US" sz="2800" dirty="0"/>
              <a:t>Part C - Reflection</a:t>
            </a:r>
          </a:p>
        </p:txBody>
      </p:sp>
      <p:pic>
        <p:nvPicPr>
          <p:cNvPr id="5" name="Picture 4" descr="Working space background">
            <a:extLst>
              <a:ext uri="{FF2B5EF4-FFF2-40B4-BE49-F238E27FC236}">
                <a16:creationId xmlns:a16="http://schemas.microsoft.com/office/drawing/2014/main" id="{641EF9C7-6341-1E43-B932-FF1BA7830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446" r="-2" b="-2"/>
          <a:stretch/>
        </p:blipFill>
        <p:spPr>
          <a:xfrm>
            <a:off x="7847215" y="1822028"/>
            <a:ext cx="4342220" cy="503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7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1727" y="2182637"/>
            <a:ext cx="9118495" cy="1600964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AU" sz="7200" b="1" dirty="0"/>
              <a:t>All About Me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91776" y1="59639" x2="91776" y2="59639"/>
                        <a14:foregroundMark x1="88487" y1="54217" x2="88487" y2="54217"/>
                        <a14:foregroundMark x1="82237" y1="13855" x2="82237" y2="13855"/>
                        <a14:foregroundMark x1="11842" y1="19277" x2="11842" y2="19277"/>
                        <a14:foregroundMark x1="6250" y1="51807" x2="6250" y2="51807"/>
                        <a14:foregroundMark x1="13158" y1="53614" x2="13158" y2="53614"/>
                        <a14:foregroundMark x1="11513" y1="53012" x2="11513" y2="53012"/>
                        <a14:foregroundMark x1="9211" y1="54819" x2="9211" y2="54819"/>
                        <a14:foregroundMark x1="22368" y1="53614" x2="22368" y2="53614"/>
                        <a14:foregroundMark x1="25987" y1="54217" x2="25987" y2="54217"/>
                        <a14:foregroundMark x1="19408" y1="51807" x2="19408" y2="51807"/>
                        <a14:foregroundMark x1="19737" y1="63855" x2="19737" y2="63855"/>
                        <a14:foregroundMark x1="19737" y1="63855" x2="18750" y2="86747"/>
                        <a14:foregroundMark x1="7895" y1="24096" x2="17105" y2="8434"/>
                        <a14:foregroundMark x1="42763" y1="19277" x2="54605" y2="12048"/>
                        <a14:foregroundMark x1="30263" y1="71084" x2="32237" y2="92169"/>
                        <a14:foregroundMark x1="66118" y1="56627" x2="65789" y2="92771"/>
                        <a14:foregroundMark x1="82237" y1="16867" x2="89145" y2="156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1344" y="4493213"/>
            <a:ext cx="3490768" cy="19061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160" l="324" r="100000">
                        <a14:foregroundMark x1="37217" y1="52761" x2="47249" y2="66871"/>
                        <a14:foregroundMark x1="44337" y1="52761" x2="44337" y2="52761"/>
                        <a14:foregroundMark x1="39806" y1="48466" x2="39806" y2="48466"/>
                        <a14:foregroundMark x1="37864" y1="63190" x2="37864" y2="63190"/>
                        <a14:foregroundMark x1="35599" y1="73006" x2="35599" y2="73006"/>
                        <a14:foregroundMark x1="46602" y1="73006" x2="46602" y2="73006"/>
                        <a14:foregroundMark x1="50485" y1="52761" x2="50485" y2="52761"/>
                        <a14:foregroundMark x1="73139" y1="23313" x2="73139" y2="23313"/>
                        <a14:foregroundMark x1="69903" y1="21472" x2="69903" y2="21472"/>
                        <a14:foregroundMark x1="73786" y1="19632" x2="73786" y2="19632"/>
                        <a14:foregroundMark x1="76699" y1="18405" x2="76699" y2="18405"/>
                        <a14:backgroundMark x1="54693" y1="53374" x2="54693" y2="53374"/>
                        <a14:backgroundMark x1="62460" y1="52761" x2="62460" y2="52761"/>
                        <a14:backgroundMark x1="55987" y1="53374" x2="55987" y2="53374"/>
                        <a14:backgroundMark x1="59223" y1="64417" x2="59223" y2="64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29768" y="-36830"/>
            <a:ext cx="3102012" cy="2340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89" b="100000" l="889" r="99111">
                        <a14:foregroundMark x1="17778" y1="65333" x2="17778" y2="65333"/>
                        <a14:foregroundMark x1="16889" y1="69778" x2="16889" y2="69778"/>
                        <a14:foregroundMark x1="19111" y1="71111" x2="19111" y2="71111"/>
                        <a14:foregroundMark x1="85778" y1="64000" x2="85778" y2="64000"/>
                        <a14:foregroundMark x1="84444" y1="68000" x2="84444" y2="68000"/>
                        <a14:foregroundMark x1="62667" y1="33778" x2="62667" y2="33778"/>
                        <a14:foregroundMark x1="40889" y1="33778" x2="40889" y2="33778"/>
                        <a14:foregroundMark x1="22222" y1="71111" x2="22222" y2="7111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62197" y="23239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728" y="4493213"/>
            <a:ext cx="3348736" cy="188366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31" b="99569" l="922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34521" y="-39878"/>
            <a:ext cx="2066925" cy="21764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98FFC-EF2E-7AD2-4274-7D8DE97BA422}"/>
              </a:ext>
            </a:extLst>
          </p:cNvPr>
          <p:cNvSpPr txBox="1"/>
          <p:nvPr/>
        </p:nvSpPr>
        <p:spPr>
          <a:xfrm>
            <a:off x="4151376" y="4332319"/>
            <a:ext cx="3889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Year 7 Health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Lesson 9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27296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d dot with arrows pointing to it">
            <a:extLst>
              <a:ext uri="{FF2B5EF4-FFF2-40B4-BE49-F238E27FC236}">
                <a16:creationId xmlns:a16="http://schemas.microsoft.com/office/drawing/2014/main" id="{0B38055D-2F80-07C4-DD84-553CEFBC19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5000"/>
          </a:blip>
          <a:srcRect t="5383" b="1034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F3C611-0CF5-45ED-9190-A7A9C19AC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186048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40902-E920-D868-3CDB-415881EC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Hook: Goal setting review </a:t>
            </a:r>
            <a:r>
              <a:rPr lang="en-US" sz="2000" dirty="0"/>
              <a:t>(pg.38)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08B0F-CF2E-B235-413A-3FB19EEC7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530" y="2011680"/>
            <a:ext cx="11527970" cy="4660272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In week 7 you set a SMART goal for yourself to achieve by the end of term. </a:t>
            </a:r>
          </a:p>
          <a:p>
            <a:endParaRPr lang="en-US" sz="2000" dirty="0"/>
          </a:p>
          <a:p>
            <a:r>
              <a:rPr lang="en-US" sz="2000" dirty="0"/>
              <a:t>Revisit your goal and answer the following questions: 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sz="2000" dirty="0"/>
              <a:t>What was your goal?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sz="2000" dirty="0"/>
              <a:t>Did you achieve your goal?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If no, why not and how do you feel? How could you change it to make it more achievable?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If yes, what steps did you take to achieve it and how do you feel?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sz="2000" dirty="0"/>
              <a:t>Did you face any challenges?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sz="2000" dirty="0"/>
              <a:t>Set yourself a new SMART goal. Make sure it is…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Specific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Measurable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Action-orientated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Realistic</a:t>
            </a:r>
          </a:p>
          <a:p>
            <a:pPr lvl="4">
              <a:buFont typeface="Arial" panose="020B0604020202020204" pitchFamily="34" charset="0"/>
              <a:buChar char="•"/>
            </a:pPr>
            <a:r>
              <a:rPr lang="en-US" sz="2000" dirty="0"/>
              <a:t>Timely </a:t>
            </a:r>
          </a:p>
        </p:txBody>
      </p:sp>
    </p:spTree>
    <p:extLst>
      <p:ext uri="{BB962C8B-B14F-4D97-AF65-F5344CB8AC3E}">
        <p14:creationId xmlns:p14="http://schemas.microsoft.com/office/powerpoint/2010/main" val="424862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8010-A0CC-7441-4A3D-78F489547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AU" dirty="0"/>
              <a:t>Activity 1: </a:t>
            </a:r>
            <a:br>
              <a:rPr lang="en-AU" dirty="0"/>
            </a:br>
            <a:r>
              <a:rPr lang="en-AU" dirty="0"/>
              <a:t>Getting ready for next term</a:t>
            </a:r>
          </a:p>
        </p:txBody>
      </p:sp>
      <p:pic>
        <p:nvPicPr>
          <p:cNvPr id="5" name="Picture 4" descr="Calendar on table">
            <a:extLst>
              <a:ext uri="{FF2B5EF4-FFF2-40B4-BE49-F238E27FC236}">
                <a16:creationId xmlns:a16="http://schemas.microsoft.com/office/drawing/2014/main" id="{14E56EAD-69F3-A33A-C24D-E420D96656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38" r="38304" b="-2"/>
          <a:stretch/>
        </p:blipFill>
        <p:spPr>
          <a:xfrm>
            <a:off x="483" y="1822028"/>
            <a:ext cx="4342417" cy="503597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CF87F-9067-C0A8-A2EB-4A56DC7CE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2025" y="2011680"/>
            <a:ext cx="6524625" cy="4206240"/>
          </a:xfrm>
        </p:spPr>
        <p:txBody>
          <a:bodyPr>
            <a:normAutofit/>
          </a:bodyPr>
          <a:lstStyle/>
          <a:p>
            <a:r>
              <a:rPr lang="en-AU" dirty="0"/>
              <a:t>Next term you will be using interactive PDF’s as your in class work booklet. </a:t>
            </a:r>
          </a:p>
          <a:p>
            <a:endParaRPr lang="en-AU" dirty="0"/>
          </a:p>
          <a:p>
            <a:r>
              <a:rPr lang="en-AU" dirty="0"/>
              <a:t>Today we need to:</a:t>
            </a:r>
          </a:p>
          <a:p>
            <a:pPr lvl="1"/>
            <a:r>
              <a:rPr lang="en-AU" dirty="0"/>
              <a:t>Download Adobe Reader to your device.</a:t>
            </a:r>
          </a:p>
          <a:p>
            <a:pPr lvl="1"/>
            <a:r>
              <a:rPr lang="en-AU" dirty="0"/>
              <a:t>Download Term 2 workbook. </a:t>
            </a:r>
          </a:p>
          <a:p>
            <a:pPr lvl="1"/>
            <a:r>
              <a:rPr lang="en-AU" dirty="0"/>
              <a:t>Create a Health folder on your device.</a:t>
            </a:r>
          </a:p>
          <a:p>
            <a:pPr lvl="1"/>
            <a:endParaRPr lang="en-AU" dirty="0"/>
          </a:p>
          <a:p>
            <a:r>
              <a:rPr lang="en-AU" dirty="0"/>
              <a:t>Each term in Health for year’s 7-10 you will use an interactive PDF so it is important that you ask questions if you are unsure of this process. </a:t>
            </a:r>
          </a:p>
        </p:txBody>
      </p:sp>
    </p:spTree>
    <p:extLst>
      <p:ext uri="{BB962C8B-B14F-4D97-AF65-F5344CB8AC3E}">
        <p14:creationId xmlns:p14="http://schemas.microsoft.com/office/powerpoint/2010/main" val="14701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5C4D6-3A3D-69D5-1494-2571D664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1: Access Student </a:t>
            </a:r>
            <a:r>
              <a:rPr lang="en-AU" dirty="0" err="1"/>
              <a:t>Sharepoint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1830-51B1-F766-7623-17B1E8210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Log into Connect.</a:t>
            </a:r>
          </a:p>
          <a:p>
            <a:r>
              <a:rPr lang="en-AU" dirty="0"/>
              <a:t>Open your emails by clicking the envelope in the top right corner. </a:t>
            </a:r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BAE1AD-4B96-E47D-4200-1252E35F0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55" y="3034115"/>
            <a:ext cx="8201889" cy="3539709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60DD75F-F2F0-941B-C821-837BDE668E2B}"/>
              </a:ext>
            </a:extLst>
          </p:cNvPr>
          <p:cNvSpPr/>
          <p:nvPr/>
        </p:nvSpPr>
        <p:spPr>
          <a:xfrm>
            <a:off x="9445336" y="2899064"/>
            <a:ext cx="654628" cy="85205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347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1EED-3C41-AC45-C7C7-862653D83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1: Access Student </a:t>
            </a:r>
            <a:r>
              <a:rPr lang="en-AU" dirty="0" err="1"/>
              <a:t>Sharepoint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75859-A65E-8685-FEAF-ADD174B1E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Once in Outlook, click the square grid in the top left corner.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Click SharePoint.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9C0FE-255F-8196-86BF-C19AFC81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422" y="2011680"/>
            <a:ext cx="2257425" cy="1905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71612-09EA-7CC3-CA0D-3574AE57D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134" y="3219293"/>
            <a:ext cx="2924175" cy="344805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1F9C073-0333-AAED-88CA-04F404D8E681}"/>
              </a:ext>
            </a:extLst>
          </p:cNvPr>
          <p:cNvSpPr/>
          <p:nvPr/>
        </p:nvSpPr>
        <p:spPr>
          <a:xfrm>
            <a:off x="8686800" y="1792936"/>
            <a:ext cx="935182" cy="93571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53FA6C-273A-D644-CF56-3F085A69A3AE}"/>
              </a:ext>
            </a:extLst>
          </p:cNvPr>
          <p:cNvSpPr/>
          <p:nvPr/>
        </p:nvSpPr>
        <p:spPr>
          <a:xfrm>
            <a:off x="4295286" y="5548744"/>
            <a:ext cx="1800714" cy="561111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03ABCC-47AC-7413-7D4F-05677E09975D}"/>
              </a:ext>
            </a:extLst>
          </p:cNvPr>
          <p:cNvCxnSpPr>
            <a:endCxn id="8" idx="2"/>
          </p:cNvCxnSpPr>
          <p:nvPr/>
        </p:nvCxnSpPr>
        <p:spPr>
          <a:xfrm>
            <a:off x="8271164" y="2192482"/>
            <a:ext cx="415636" cy="6831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CF32BE-056E-6F60-8818-349A6DAE48FF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3564908" y="5548744"/>
            <a:ext cx="730378" cy="2805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362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8741-2B7D-96A0-0032-0E1CECB4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1: Access Student </a:t>
            </a:r>
            <a:r>
              <a:rPr lang="en-AU" dirty="0" err="1"/>
              <a:t>SHarepoint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08DDA-186B-D383-1D82-96C271280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053" y="2545773"/>
            <a:ext cx="4169181" cy="3204556"/>
          </a:xfrm>
        </p:spPr>
        <p:txBody>
          <a:bodyPr>
            <a:normAutofit/>
          </a:bodyPr>
          <a:lstStyle/>
          <a:p>
            <a:r>
              <a:rPr lang="en-AU" dirty="0"/>
              <a:t>Open WSHS Student SharePoint.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2BBEF-46AF-B8FC-33E9-8CB29F01E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82" y="3259124"/>
            <a:ext cx="2457450" cy="33147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585600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8741-2B7D-96A0-0032-0E1CECB45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1: Access Student </a:t>
            </a:r>
            <a:r>
              <a:rPr lang="en-AU" dirty="0" err="1"/>
              <a:t>SHarepoint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1D334A-2DB6-6C85-D043-C02A19F54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590" y="3259125"/>
            <a:ext cx="6965372" cy="33147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39326C1-72A2-7661-4E8F-DF6D5EDE7B47}"/>
              </a:ext>
            </a:extLst>
          </p:cNvPr>
          <p:cNvSpPr txBox="1">
            <a:spLocks/>
          </p:cNvSpPr>
          <p:nvPr/>
        </p:nvSpPr>
        <p:spPr>
          <a:xfrm>
            <a:off x="5600700" y="2545773"/>
            <a:ext cx="6161809" cy="3204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Choose ‘Digital Help’ from the left column.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AF295E-C9EB-125C-0A59-A6F6475B7A2D}"/>
              </a:ext>
            </a:extLst>
          </p:cNvPr>
          <p:cNvSpPr/>
          <p:nvPr/>
        </p:nvSpPr>
        <p:spPr>
          <a:xfrm>
            <a:off x="4928801" y="4260273"/>
            <a:ext cx="1343798" cy="50915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B89468-1E54-C630-52CB-DF3E97AE9239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600700" y="2952590"/>
            <a:ext cx="1562785" cy="13076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138A3-F02F-62FE-6CA3-50D7E9A0C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4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4983-0E58-9126-321F-80E440F47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2: </a:t>
            </a:r>
            <a:br>
              <a:rPr lang="en-AU" dirty="0"/>
            </a:br>
            <a:r>
              <a:rPr lang="en-AU" dirty="0"/>
              <a:t>Download Adobe ACROBAT READER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6438-36B2-54C4-776E-13965E59B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545" y="2011680"/>
            <a:ext cx="10467454" cy="4206240"/>
          </a:xfrm>
        </p:spPr>
        <p:txBody>
          <a:bodyPr>
            <a:normAutofit lnSpcReduction="10000"/>
          </a:bodyPr>
          <a:lstStyle/>
          <a:p>
            <a:r>
              <a:rPr lang="en-AU" dirty="0"/>
              <a:t>On the </a:t>
            </a:r>
            <a:r>
              <a:rPr lang="en-AU" dirty="0">
                <a:hlinkClick r:id="rId3"/>
              </a:rPr>
              <a:t>Digital Help</a:t>
            </a:r>
            <a:r>
              <a:rPr lang="en-AU" dirty="0"/>
              <a:t> SharePoint page, you will be able to find and access a variety of videos with help on how to use a range of different programs.</a:t>
            </a:r>
          </a:p>
          <a:p>
            <a:r>
              <a:rPr lang="en-AU" dirty="0"/>
              <a:t>Scroll to the section on ‘Adobe Acrobat Reader’ (it will be at the bottom).</a:t>
            </a:r>
          </a:p>
          <a:p>
            <a:endParaRPr lang="en-AU" dirty="0"/>
          </a:p>
          <a:p>
            <a:r>
              <a:rPr lang="en-AU" dirty="0"/>
              <a:t>Watch the video ‘how to </a:t>
            </a:r>
            <a:br>
              <a:rPr lang="en-AU" dirty="0"/>
            </a:br>
            <a:r>
              <a:rPr lang="en-AU" dirty="0"/>
              <a:t>download and install adobe </a:t>
            </a:r>
            <a:br>
              <a:rPr lang="en-AU" dirty="0"/>
            </a:br>
            <a:r>
              <a:rPr lang="en-AU" dirty="0"/>
              <a:t>acrobat’ as a class and follow </a:t>
            </a:r>
            <a:br>
              <a:rPr lang="en-AU" dirty="0"/>
            </a:br>
            <a:r>
              <a:rPr lang="en-AU" dirty="0"/>
              <a:t>the instructions on how to </a:t>
            </a:r>
            <a:br>
              <a:rPr lang="en-AU" dirty="0"/>
            </a:br>
            <a:r>
              <a:rPr lang="en-AU" dirty="0"/>
              <a:t>download to your device.</a:t>
            </a:r>
          </a:p>
          <a:p>
            <a:endParaRPr lang="en-AU" dirty="0"/>
          </a:p>
          <a:p>
            <a:r>
              <a:rPr lang="en-AU" dirty="0"/>
              <a:t>Leave this page open in your </a:t>
            </a:r>
            <a:br>
              <a:rPr lang="en-AU" dirty="0"/>
            </a:br>
            <a:r>
              <a:rPr lang="en-AU" dirty="0"/>
              <a:t>browser to revisit for Step 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E2710-D355-9B75-C3EA-0B265BC1F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182" y="3709554"/>
            <a:ext cx="7504818" cy="311332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86D6F76-2B11-D2E8-49D9-EC560E94E2F5}"/>
              </a:ext>
            </a:extLst>
          </p:cNvPr>
          <p:cNvSpPr/>
          <p:nvPr/>
        </p:nvSpPr>
        <p:spPr>
          <a:xfrm>
            <a:off x="4468091" y="4208318"/>
            <a:ext cx="4114799" cy="2614563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497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640C-8C84-F82B-A941-BDAB3AA76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3: Download Student E-book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6C81-9029-0AD9-B211-40956F979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Next you need to download your Student E-Book for Term 2 from Connect. </a:t>
            </a:r>
          </a:p>
          <a:p>
            <a:endParaRPr lang="en-AU" dirty="0"/>
          </a:p>
          <a:p>
            <a:pPr marL="685800" lvl="1" indent="-457200">
              <a:buFont typeface="+mj-lt"/>
              <a:buAutoNum type="arabicPeriod"/>
            </a:pPr>
            <a:r>
              <a:rPr lang="en-AU" dirty="0"/>
              <a:t>Go to your Health Connect Class.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AU" dirty="0"/>
              <a:t>Follow your teachers' instructions on where to find your workbook. 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AU" dirty="0"/>
              <a:t>Create a new folder on your device’s desktop called ‘Year 7 Health 2024.’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AU" dirty="0"/>
              <a:t>Download the E-Book and save it to this new folder you have created. </a:t>
            </a:r>
          </a:p>
          <a:p>
            <a:pPr lvl="3"/>
            <a:r>
              <a:rPr lang="en-AU" dirty="0"/>
              <a:t>If it asks for a password, ask your teacher. 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371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B5C6-FAC4-EF7A-F8E3-A9E175ED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Step 4: Open your E-book in Adobe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E64F-8251-2148-ACB7-0DF27DCFE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2011680"/>
            <a:ext cx="10654490" cy="4562144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Go back to the Student SharePoint - </a:t>
            </a:r>
            <a:r>
              <a:rPr lang="en-AU" dirty="0">
                <a:hlinkClick r:id="rId2"/>
              </a:rPr>
              <a:t>Digital Help</a:t>
            </a:r>
            <a:r>
              <a:rPr lang="en-AU" dirty="0"/>
              <a:t> page. </a:t>
            </a:r>
          </a:p>
          <a:p>
            <a:r>
              <a:rPr lang="en-AU" dirty="0"/>
              <a:t>Watch the video ‘how to open documents with Adobe Acrobat’ and follow the instructions. </a:t>
            </a:r>
          </a:p>
          <a:p>
            <a:endParaRPr lang="en-AU" dirty="0"/>
          </a:p>
          <a:p>
            <a:r>
              <a:rPr lang="en-AU" dirty="0"/>
              <a:t>Alternatively:</a:t>
            </a:r>
          </a:p>
          <a:p>
            <a:pPr lvl="1"/>
            <a:r>
              <a:rPr lang="en-AU" dirty="0"/>
              <a:t>Open the Adobe Acrobat app on your device.</a:t>
            </a:r>
          </a:p>
          <a:p>
            <a:pPr lvl="1"/>
            <a:r>
              <a:rPr lang="en-AU" dirty="0"/>
              <a:t>Click File – open.</a:t>
            </a:r>
          </a:p>
          <a:p>
            <a:pPr lvl="1"/>
            <a:r>
              <a:rPr lang="en-AU" dirty="0"/>
              <a:t>Open your workbook from the folder you </a:t>
            </a:r>
            <a:br>
              <a:rPr lang="en-AU" dirty="0"/>
            </a:br>
            <a:r>
              <a:rPr lang="en-AU" dirty="0"/>
              <a:t>just created and saved it into. </a:t>
            </a:r>
          </a:p>
          <a:p>
            <a:pPr lvl="1"/>
            <a:r>
              <a:rPr lang="en-AU" dirty="0"/>
              <a:t>Ask your teacher for the password.</a:t>
            </a:r>
          </a:p>
          <a:p>
            <a:pPr lvl="1"/>
            <a:r>
              <a:rPr lang="en-AU" dirty="0"/>
              <a:t>Add your name and your teachers name to </a:t>
            </a:r>
            <a:br>
              <a:rPr lang="en-AU" dirty="0"/>
            </a:br>
            <a:r>
              <a:rPr lang="en-AU" dirty="0"/>
              <a:t>the front.</a:t>
            </a:r>
          </a:p>
          <a:p>
            <a:pPr lvl="1"/>
            <a:r>
              <a:rPr lang="en-AU" dirty="0"/>
              <a:t>Save your work. </a:t>
            </a:r>
          </a:p>
          <a:p>
            <a:pPr lvl="1"/>
            <a:r>
              <a:rPr lang="en-AU" dirty="0"/>
              <a:t>Re-open to check that it saved your edits.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9CACC-A1FC-E2BC-B4E5-7A0A33DA9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754" y="2842637"/>
            <a:ext cx="6302524" cy="261456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AA791D3-D0AB-A8C6-F416-909C1A00B3FC}"/>
              </a:ext>
            </a:extLst>
          </p:cNvPr>
          <p:cNvSpPr/>
          <p:nvPr/>
        </p:nvSpPr>
        <p:spPr>
          <a:xfrm>
            <a:off x="8582891" y="3044001"/>
            <a:ext cx="3505200" cy="241319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072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E2EB-FA0F-5D04-FC70-8E76F74E4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Assessment Task 2: Resilience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DAD44-F2BA-210C-723B-7E7583590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327" y="2011680"/>
            <a:ext cx="6926233" cy="4206240"/>
          </a:xfrm>
        </p:spPr>
        <p:txBody>
          <a:bodyPr>
            <a:normAutofit/>
          </a:bodyPr>
          <a:lstStyle/>
          <a:p>
            <a:r>
              <a:rPr lang="en-US" sz="2800" dirty="0"/>
              <a:t>Reminder:</a:t>
            </a:r>
          </a:p>
          <a:p>
            <a:endParaRPr lang="en-US" sz="2800" dirty="0"/>
          </a:p>
          <a:p>
            <a:r>
              <a:rPr lang="en-US" sz="2800" dirty="0"/>
              <a:t>Assessment Task 2 – Resilience</a:t>
            </a:r>
          </a:p>
          <a:p>
            <a:endParaRPr lang="en-US" sz="2800" dirty="0"/>
          </a:p>
          <a:p>
            <a:r>
              <a:rPr lang="en-US" sz="2800" dirty="0"/>
              <a:t>Due: 11:30pm tonight </a:t>
            </a:r>
          </a:p>
          <a:p>
            <a:endParaRPr lang="en-US" dirty="0"/>
          </a:p>
        </p:txBody>
      </p:sp>
      <p:pic>
        <p:nvPicPr>
          <p:cNvPr id="5" name="Picture 4" descr="Working space background">
            <a:extLst>
              <a:ext uri="{FF2B5EF4-FFF2-40B4-BE49-F238E27FC236}">
                <a16:creationId xmlns:a16="http://schemas.microsoft.com/office/drawing/2014/main" id="{641EF9C7-6341-1E43-B932-FF1BA7830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446" r="-2" b="-2"/>
          <a:stretch/>
        </p:blipFill>
        <p:spPr>
          <a:xfrm>
            <a:off x="7847215" y="1822028"/>
            <a:ext cx="4342220" cy="50359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FD255DA-791F-A7CA-8EDF-8B97FEA6BF65}"/>
              </a:ext>
            </a:extLst>
          </p:cNvPr>
          <p:cNvSpPr/>
          <p:nvPr/>
        </p:nvSpPr>
        <p:spPr>
          <a:xfrm rot="19362665">
            <a:off x="4458434" y="3739806"/>
            <a:ext cx="677756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8000" b="1" cap="none" spc="0" dirty="0">
                <a:ln w="28575">
                  <a:solidFill>
                    <a:srgbClr val="C00000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halkduster" panose="03050602040202020205" pitchFamily="66" charset="77"/>
              </a:rPr>
              <a:t>DUE TODAY</a:t>
            </a:r>
          </a:p>
        </p:txBody>
      </p:sp>
    </p:spTree>
    <p:extLst>
      <p:ext uri="{BB962C8B-B14F-4D97-AF65-F5344CB8AC3E}">
        <p14:creationId xmlns:p14="http://schemas.microsoft.com/office/powerpoint/2010/main" val="2432575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19888</TotalTime>
  <Words>842</Words>
  <Application>Microsoft Office PowerPoint</Application>
  <PresentationFormat>Widescreen</PresentationFormat>
  <Paragraphs>123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Chalkduster</vt:lpstr>
      <vt:lpstr>Corbel</vt:lpstr>
      <vt:lpstr>Wingdings</vt:lpstr>
      <vt:lpstr>Banded</vt:lpstr>
      <vt:lpstr>All About Me </vt:lpstr>
      <vt:lpstr>PowerPoint Presentation</vt:lpstr>
      <vt:lpstr>Assessment Task 2: Resilience</vt:lpstr>
      <vt:lpstr>All About Me </vt:lpstr>
      <vt:lpstr>Hook: Goal setting review (pg.38)</vt:lpstr>
      <vt:lpstr>Activity 1:  Getting ready for next term</vt:lpstr>
      <vt:lpstr>Step 1: Access Student Sharepoint</vt:lpstr>
      <vt:lpstr>Step 1: Access Student Sharepoint</vt:lpstr>
      <vt:lpstr>Step 1: Access Student SHarepoint</vt:lpstr>
      <vt:lpstr>Step 1: Access Student SHarepoint</vt:lpstr>
      <vt:lpstr>Step 2:  Download Adobe ACROBAT READER</vt:lpstr>
      <vt:lpstr>Step 3: Download Student E-book</vt:lpstr>
      <vt:lpstr>Step 4: Open your E-book in Adobe</vt:lpstr>
      <vt:lpstr>Assessment Task 2: Resilience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Me </dc:title>
  <dc:creator>GORRINGE Mac [Willetton Senior High School]</dc:creator>
  <cp:lastModifiedBy>HILLMAN Alissa [Willetton Senior High School]</cp:lastModifiedBy>
  <cp:revision>77</cp:revision>
  <dcterms:created xsi:type="dcterms:W3CDTF">2021-09-23T06:45:05Z</dcterms:created>
  <dcterms:modified xsi:type="dcterms:W3CDTF">2023-11-15T06:57:11Z</dcterms:modified>
</cp:coreProperties>
</file>
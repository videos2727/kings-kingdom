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344" r:id="rId2"/>
    <p:sldId id="356" r:id="rId3"/>
    <p:sldId id="347" r:id="rId4"/>
    <p:sldId id="303" r:id="rId5"/>
    <p:sldId id="346" r:id="rId6"/>
    <p:sldId id="306" r:id="rId7"/>
    <p:sldId id="353" r:id="rId8"/>
    <p:sldId id="354" r:id="rId9"/>
    <p:sldId id="350" r:id="rId10"/>
    <p:sldId id="351" r:id="rId11"/>
    <p:sldId id="352" r:id="rId12"/>
    <p:sldId id="375" r:id="rId13"/>
    <p:sldId id="37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D4B1"/>
    <a:srgbClr val="FFF4EB"/>
    <a:srgbClr val="FFFDFB"/>
    <a:srgbClr val="FFE7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02" autoAdjust="0"/>
    <p:restoredTop sz="83861" autoAdjust="0"/>
  </p:normalViewPr>
  <p:slideViewPr>
    <p:cSldViewPr snapToGrid="0">
      <p:cViewPr varScale="1">
        <p:scale>
          <a:sx n="92" d="100"/>
          <a:sy n="92" d="100"/>
        </p:scale>
        <p:origin x="75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7A36F7-0907-4FEF-B0FD-8059B973ACD9}" type="datetimeFigureOut">
              <a:rPr lang="en-AU" smtClean="0"/>
              <a:t>26/10/2023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C573D7-E80C-4709-9B31-9CF3A42190EB}" type="slidenum">
              <a:rPr lang="en-AU" smtClean="0"/>
              <a:t>‹#›</a:t>
            </a:fld>
            <a:endParaRPr lang="en-AU"/>
          </a:p>
        </p:txBody>
      </p:sp>
    </p:spTree>
    <p:extLst>
      <p:ext uri="{BB962C8B-B14F-4D97-AF65-F5344CB8AC3E}">
        <p14:creationId xmlns:p14="http://schemas.microsoft.com/office/powerpoint/2010/main" val="3481880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Pg21</a:t>
            </a:r>
          </a:p>
        </p:txBody>
      </p:sp>
      <p:sp>
        <p:nvSpPr>
          <p:cNvPr id="4" name="Slide Number Placeholder 3"/>
          <p:cNvSpPr>
            <a:spLocks noGrp="1"/>
          </p:cNvSpPr>
          <p:nvPr>
            <p:ph type="sldNum" sz="quarter" idx="5"/>
          </p:nvPr>
        </p:nvSpPr>
        <p:spPr/>
        <p:txBody>
          <a:bodyPr/>
          <a:lstStyle/>
          <a:p>
            <a:fld id="{32C573D7-E80C-4709-9B31-9CF3A42190EB}" type="slidenum">
              <a:rPr lang="en-AU" smtClean="0"/>
              <a:t>2</a:t>
            </a:fld>
            <a:endParaRPr lang="en-AU"/>
          </a:p>
        </p:txBody>
      </p:sp>
    </p:spTree>
    <p:extLst>
      <p:ext uri="{BB962C8B-B14F-4D97-AF65-F5344CB8AC3E}">
        <p14:creationId xmlns:p14="http://schemas.microsoft.com/office/powerpoint/2010/main" val="41571644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Equipment needed – sticky notes.</a:t>
            </a:r>
          </a:p>
        </p:txBody>
      </p:sp>
      <p:sp>
        <p:nvSpPr>
          <p:cNvPr id="4" name="Slide Number Placeholder 3"/>
          <p:cNvSpPr>
            <a:spLocks noGrp="1"/>
          </p:cNvSpPr>
          <p:nvPr>
            <p:ph type="sldNum" sz="quarter" idx="5"/>
          </p:nvPr>
        </p:nvSpPr>
        <p:spPr/>
        <p:txBody>
          <a:bodyPr/>
          <a:lstStyle/>
          <a:p>
            <a:fld id="{32C573D7-E80C-4709-9B31-9CF3A42190EB}" type="slidenum">
              <a:rPr lang="en-AU" smtClean="0"/>
              <a:t>3</a:t>
            </a:fld>
            <a:endParaRPr lang="en-AU"/>
          </a:p>
        </p:txBody>
      </p:sp>
    </p:spTree>
    <p:extLst>
      <p:ext uri="{BB962C8B-B14F-4D97-AF65-F5344CB8AC3E}">
        <p14:creationId xmlns:p14="http://schemas.microsoft.com/office/powerpoint/2010/main" val="23647996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t>Assessment 2 related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Fill in the blanks</a:t>
            </a:r>
          </a:p>
          <a:p>
            <a:endParaRPr lang="en-US" dirty="0"/>
          </a:p>
        </p:txBody>
      </p:sp>
      <p:sp>
        <p:nvSpPr>
          <p:cNvPr id="4" name="Slide Number Placeholder 3"/>
          <p:cNvSpPr>
            <a:spLocks noGrp="1"/>
          </p:cNvSpPr>
          <p:nvPr>
            <p:ph type="sldNum" sz="quarter" idx="5"/>
          </p:nvPr>
        </p:nvSpPr>
        <p:spPr/>
        <p:txBody>
          <a:bodyPr/>
          <a:lstStyle/>
          <a:p>
            <a:fld id="{32C573D7-E80C-4709-9B31-9CF3A42190EB}" type="slidenum">
              <a:rPr lang="en-AU" smtClean="0"/>
              <a:t>4</a:t>
            </a:fld>
            <a:endParaRPr lang="en-AU"/>
          </a:p>
        </p:txBody>
      </p:sp>
    </p:spTree>
    <p:extLst>
      <p:ext uri="{BB962C8B-B14F-4D97-AF65-F5344CB8AC3E}">
        <p14:creationId xmlns:p14="http://schemas.microsoft.com/office/powerpoint/2010/main" val="27015919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t>Assessment 2 related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Fill in the blanks</a:t>
            </a:r>
          </a:p>
          <a:p>
            <a:endParaRPr lang="en-US" dirty="0"/>
          </a:p>
        </p:txBody>
      </p:sp>
      <p:sp>
        <p:nvSpPr>
          <p:cNvPr id="4" name="Slide Number Placeholder 3"/>
          <p:cNvSpPr>
            <a:spLocks noGrp="1"/>
          </p:cNvSpPr>
          <p:nvPr>
            <p:ph type="sldNum" sz="quarter" idx="5"/>
          </p:nvPr>
        </p:nvSpPr>
        <p:spPr/>
        <p:txBody>
          <a:bodyPr/>
          <a:lstStyle/>
          <a:p>
            <a:fld id="{32C573D7-E80C-4709-9B31-9CF3A42190EB}" type="slidenum">
              <a:rPr lang="en-AU" smtClean="0"/>
              <a:t>5</a:t>
            </a:fld>
            <a:endParaRPr lang="en-AU"/>
          </a:p>
        </p:txBody>
      </p:sp>
    </p:spTree>
    <p:extLst>
      <p:ext uri="{BB962C8B-B14F-4D97-AF65-F5344CB8AC3E}">
        <p14:creationId xmlns:p14="http://schemas.microsoft.com/office/powerpoint/2010/main" val="835156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t>Assessment 2 related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Fill in the blanks</a:t>
            </a:r>
          </a:p>
          <a:p>
            <a:endParaRPr lang="en-US" dirty="0"/>
          </a:p>
        </p:txBody>
      </p:sp>
      <p:sp>
        <p:nvSpPr>
          <p:cNvPr id="4" name="Slide Number Placeholder 3"/>
          <p:cNvSpPr>
            <a:spLocks noGrp="1"/>
          </p:cNvSpPr>
          <p:nvPr>
            <p:ph type="sldNum" sz="quarter" idx="5"/>
          </p:nvPr>
        </p:nvSpPr>
        <p:spPr/>
        <p:txBody>
          <a:bodyPr/>
          <a:lstStyle/>
          <a:p>
            <a:fld id="{32C573D7-E80C-4709-9B31-9CF3A42190EB}" type="slidenum">
              <a:rPr lang="en-AU" smtClean="0"/>
              <a:t>6</a:t>
            </a:fld>
            <a:endParaRPr lang="en-AU"/>
          </a:p>
        </p:txBody>
      </p:sp>
    </p:spTree>
    <p:extLst>
      <p:ext uri="{BB962C8B-B14F-4D97-AF65-F5344CB8AC3E}">
        <p14:creationId xmlns:p14="http://schemas.microsoft.com/office/powerpoint/2010/main" val="2700398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t>Assessment 2 related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Fill in the blanks</a:t>
            </a:r>
          </a:p>
          <a:p>
            <a:endParaRPr lang="en-US" dirty="0"/>
          </a:p>
        </p:txBody>
      </p:sp>
      <p:sp>
        <p:nvSpPr>
          <p:cNvPr id="4" name="Slide Number Placeholder 3"/>
          <p:cNvSpPr>
            <a:spLocks noGrp="1"/>
          </p:cNvSpPr>
          <p:nvPr>
            <p:ph type="sldNum" sz="quarter" idx="5"/>
          </p:nvPr>
        </p:nvSpPr>
        <p:spPr/>
        <p:txBody>
          <a:bodyPr/>
          <a:lstStyle/>
          <a:p>
            <a:fld id="{32C573D7-E80C-4709-9B31-9CF3A42190EB}" type="slidenum">
              <a:rPr lang="en-AU" smtClean="0"/>
              <a:t>7</a:t>
            </a:fld>
            <a:endParaRPr lang="en-AU"/>
          </a:p>
        </p:txBody>
      </p:sp>
    </p:spTree>
    <p:extLst>
      <p:ext uri="{BB962C8B-B14F-4D97-AF65-F5344CB8AC3E}">
        <p14:creationId xmlns:p14="http://schemas.microsoft.com/office/powerpoint/2010/main" val="2361115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can be an additional activity. </a:t>
            </a:r>
          </a:p>
          <a:p>
            <a:endParaRPr lang="en-US" dirty="0"/>
          </a:p>
          <a:p>
            <a:r>
              <a:rPr lang="en-US" dirty="0"/>
              <a:t>The hand on the slide is an example. Encourage students to write the specific name of the individual. i.e., don’t just write ‘friend’ – write the name of that friend. Encourage students to consider outside their immediate family and friendship group and to not be influenced by what other people write. This is an individual activity for students to </a:t>
            </a:r>
            <a:r>
              <a:rPr lang="en-US" dirty="0" err="1"/>
              <a:t>realise</a:t>
            </a:r>
            <a:r>
              <a:rPr lang="en-US" dirty="0"/>
              <a:t> who in their life they can turn to for support.</a:t>
            </a:r>
          </a:p>
        </p:txBody>
      </p:sp>
      <p:sp>
        <p:nvSpPr>
          <p:cNvPr id="4" name="Slide Number Placeholder 3"/>
          <p:cNvSpPr>
            <a:spLocks noGrp="1"/>
          </p:cNvSpPr>
          <p:nvPr>
            <p:ph type="sldNum" sz="quarter" idx="5"/>
          </p:nvPr>
        </p:nvSpPr>
        <p:spPr/>
        <p:txBody>
          <a:bodyPr/>
          <a:lstStyle/>
          <a:p>
            <a:fld id="{32C573D7-E80C-4709-9B31-9CF3A42190EB}" type="slidenum">
              <a:rPr lang="en-AU" smtClean="0"/>
              <a:t>8</a:t>
            </a:fld>
            <a:endParaRPr lang="en-AU"/>
          </a:p>
        </p:txBody>
      </p:sp>
    </p:spTree>
    <p:extLst>
      <p:ext uri="{BB962C8B-B14F-4D97-AF65-F5344CB8AC3E}">
        <p14:creationId xmlns:p14="http://schemas.microsoft.com/office/powerpoint/2010/main" val="37801959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Assessment 2 related </a:t>
            </a:r>
            <a:endParaRPr lang="en-US" dirty="0"/>
          </a:p>
          <a:p>
            <a:endParaRPr lang="en-US" dirty="0"/>
          </a:p>
          <a:p>
            <a:r>
              <a:rPr lang="en-US" dirty="0"/>
              <a:t>Now that students have learnt the 5 skills of resilience and how to build their resilience skills. It is now time to put them into action. Ask students to recall the 5 skills of resilience before moving onto the next slide/activity. </a:t>
            </a:r>
          </a:p>
        </p:txBody>
      </p:sp>
      <p:sp>
        <p:nvSpPr>
          <p:cNvPr id="4" name="Slide Number Placeholder 3"/>
          <p:cNvSpPr>
            <a:spLocks noGrp="1"/>
          </p:cNvSpPr>
          <p:nvPr>
            <p:ph type="sldNum" sz="quarter" idx="5"/>
          </p:nvPr>
        </p:nvSpPr>
        <p:spPr/>
        <p:txBody>
          <a:bodyPr/>
          <a:lstStyle/>
          <a:p>
            <a:fld id="{32C573D7-E80C-4709-9B31-9CF3A42190EB}" type="slidenum">
              <a:rPr lang="en-AU" smtClean="0"/>
              <a:t>9</a:t>
            </a:fld>
            <a:endParaRPr lang="en-AU"/>
          </a:p>
        </p:txBody>
      </p:sp>
    </p:spTree>
    <p:extLst>
      <p:ext uri="{BB962C8B-B14F-4D97-AF65-F5344CB8AC3E}">
        <p14:creationId xmlns:p14="http://schemas.microsoft.com/office/powerpoint/2010/main" val="31656527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Assessment 2 related </a:t>
            </a:r>
            <a:endParaRPr lang="en-US" b="1" dirty="0"/>
          </a:p>
          <a:p>
            <a:endParaRPr lang="en-US" b="1" dirty="0"/>
          </a:p>
          <a:p>
            <a:r>
              <a:rPr lang="en-US" b="1" dirty="0"/>
              <a:t>Alternative 1: </a:t>
            </a:r>
            <a:r>
              <a:rPr lang="en-US" dirty="0"/>
              <a:t>Students work in groups of 4 and each person has a different scenario to complete. Allow time to complete the scenario before students come back together as a group and discuss how they would respond to each scenario. </a:t>
            </a:r>
          </a:p>
          <a:p>
            <a:r>
              <a:rPr lang="en-US" b="1" dirty="0"/>
              <a:t>Alternative 2: </a:t>
            </a:r>
            <a:r>
              <a:rPr lang="en-US" dirty="0"/>
              <a:t>Students are divided into groups of 3-4. Each group chooses a scenario and creates a role-play of the scenario and acts out how they would respond to it.</a:t>
            </a:r>
          </a:p>
          <a:p>
            <a:r>
              <a:rPr lang="en-US" b="1" dirty="0"/>
              <a:t>Alternative 3: </a:t>
            </a:r>
            <a:r>
              <a:rPr lang="en-US" dirty="0"/>
              <a:t>Students can complete some in class and some as homework if needed. </a:t>
            </a:r>
          </a:p>
          <a:p>
            <a:endParaRPr lang="en-US" dirty="0"/>
          </a:p>
          <a:p>
            <a:endParaRPr lang="en-US" dirty="0"/>
          </a:p>
        </p:txBody>
      </p:sp>
      <p:sp>
        <p:nvSpPr>
          <p:cNvPr id="4" name="Slide Number Placeholder 3"/>
          <p:cNvSpPr>
            <a:spLocks noGrp="1"/>
          </p:cNvSpPr>
          <p:nvPr>
            <p:ph type="sldNum" sz="quarter" idx="5"/>
          </p:nvPr>
        </p:nvSpPr>
        <p:spPr/>
        <p:txBody>
          <a:bodyPr/>
          <a:lstStyle/>
          <a:p>
            <a:fld id="{32C573D7-E80C-4709-9B31-9CF3A42190EB}" type="slidenum">
              <a:rPr lang="en-AU" smtClean="0"/>
              <a:t>10</a:t>
            </a:fld>
            <a:endParaRPr lang="en-AU"/>
          </a:p>
        </p:txBody>
      </p:sp>
    </p:spTree>
    <p:extLst>
      <p:ext uri="{BB962C8B-B14F-4D97-AF65-F5344CB8AC3E}">
        <p14:creationId xmlns:p14="http://schemas.microsoft.com/office/powerpoint/2010/main" val="42653222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Pg25</a:t>
            </a:r>
          </a:p>
        </p:txBody>
      </p:sp>
      <p:sp>
        <p:nvSpPr>
          <p:cNvPr id="4" name="Slide Number Placeholder 3"/>
          <p:cNvSpPr>
            <a:spLocks noGrp="1"/>
          </p:cNvSpPr>
          <p:nvPr>
            <p:ph type="sldNum" sz="quarter" idx="5"/>
          </p:nvPr>
        </p:nvSpPr>
        <p:spPr/>
        <p:txBody>
          <a:bodyPr/>
          <a:lstStyle/>
          <a:p>
            <a:fld id="{32C573D7-E80C-4709-9B31-9CF3A42190EB}" type="slidenum">
              <a:rPr lang="en-AU" smtClean="0"/>
              <a:t>11</a:t>
            </a:fld>
            <a:endParaRPr lang="en-AU"/>
          </a:p>
        </p:txBody>
      </p:sp>
    </p:spTree>
    <p:extLst>
      <p:ext uri="{BB962C8B-B14F-4D97-AF65-F5344CB8AC3E}">
        <p14:creationId xmlns:p14="http://schemas.microsoft.com/office/powerpoint/2010/main" val="6483011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definitions will be useful for their Assessment Task 2.</a:t>
            </a:r>
          </a:p>
        </p:txBody>
      </p:sp>
      <p:sp>
        <p:nvSpPr>
          <p:cNvPr id="4" name="Slide Number Placeholder 3"/>
          <p:cNvSpPr>
            <a:spLocks noGrp="1"/>
          </p:cNvSpPr>
          <p:nvPr>
            <p:ph type="sldNum" sz="quarter" idx="5"/>
          </p:nvPr>
        </p:nvSpPr>
        <p:spPr/>
        <p:txBody>
          <a:bodyPr/>
          <a:lstStyle/>
          <a:p>
            <a:fld id="{32C573D7-E80C-4709-9B31-9CF3A42190EB}" type="slidenum">
              <a:rPr lang="en-AU" smtClean="0"/>
              <a:t>12</a:t>
            </a:fld>
            <a:endParaRPr lang="en-AU"/>
          </a:p>
        </p:txBody>
      </p:sp>
    </p:spTree>
    <p:extLst>
      <p:ext uri="{BB962C8B-B14F-4D97-AF65-F5344CB8AC3E}">
        <p14:creationId xmlns:p14="http://schemas.microsoft.com/office/powerpoint/2010/main" val="11823638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F86F2E1-FA8A-4588-BBFD-A05AC645A9D8}" type="datetimeFigureOut">
              <a:rPr lang="en-AU" smtClean="0"/>
              <a:t>26/10/2023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4017378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86F2E1-FA8A-4588-BBFD-A05AC645A9D8}" type="datetimeFigureOut">
              <a:rPr lang="en-AU" smtClean="0"/>
              <a:t>26/10/2023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4012024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CF86F2E1-FA8A-4588-BBFD-A05AC645A9D8}" type="datetimeFigureOut">
              <a:rPr lang="en-AU" smtClean="0"/>
              <a:t>26/10/2023</a:t>
            </a:fld>
            <a:endParaRPr lang="en-AU"/>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AU"/>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D2B9A715-435D-481F-92DE-B257404B0EA3}" type="slidenum">
              <a:rPr lang="en-AU" smtClean="0"/>
              <a:t>‹#›</a:t>
            </a:fld>
            <a:endParaRPr lang="en-AU"/>
          </a:p>
        </p:txBody>
      </p:sp>
    </p:spTree>
    <p:extLst>
      <p:ext uri="{BB962C8B-B14F-4D97-AF65-F5344CB8AC3E}">
        <p14:creationId xmlns:p14="http://schemas.microsoft.com/office/powerpoint/2010/main" val="2199261947"/>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F86F2E1-FA8A-4588-BBFD-A05AC645A9D8}" type="datetimeFigureOut">
              <a:rPr lang="en-AU" smtClean="0"/>
              <a:t>26/10/2023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4053986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F86F2E1-FA8A-4588-BBFD-A05AC645A9D8}" type="datetimeFigureOut">
              <a:rPr lang="en-AU" smtClean="0"/>
              <a:t>26/10/2023</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3426797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F86F2E1-FA8A-4588-BBFD-A05AC645A9D8}" type="datetimeFigureOut">
              <a:rPr lang="en-AU" smtClean="0"/>
              <a:t>26/10/2023</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45700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86F2E1-FA8A-4588-BBFD-A05AC645A9D8}" type="datetimeFigureOut">
              <a:rPr lang="en-AU" smtClean="0"/>
              <a:t>26/10/2023</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1923949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F86F2E1-FA8A-4588-BBFD-A05AC645A9D8}" type="datetimeFigureOut">
              <a:rPr lang="en-AU" smtClean="0"/>
              <a:t>26/10/2023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1061007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F86F2E1-FA8A-4588-BBFD-A05AC645A9D8}" type="datetimeFigureOut">
              <a:rPr lang="en-AU" smtClean="0"/>
              <a:t>26/10/2023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3361218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86F2E1-FA8A-4588-BBFD-A05AC645A9D8}" type="datetimeFigureOut">
              <a:rPr lang="en-AU" smtClean="0"/>
              <a:t>26/10/2023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3633856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CF86F2E1-FA8A-4588-BBFD-A05AC645A9D8}" type="datetimeFigureOut">
              <a:rPr lang="en-AU" smtClean="0"/>
              <a:t>26/10/2023</a:t>
            </a:fld>
            <a:endParaRPr lang="en-AU"/>
          </a:p>
        </p:txBody>
      </p:sp>
      <p:sp>
        <p:nvSpPr>
          <p:cNvPr id="5" name="Footer Placeholder 4"/>
          <p:cNvSpPr>
            <a:spLocks noGrp="1"/>
          </p:cNvSpPr>
          <p:nvPr>
            <p:ph type="ftr" sz="quarter" idx="11"/>
          </p:nvPr>
        </p:nvSpPr>
        <p:spPr>
          <a:xfrm>
            <a:off x="3776135" y="6422854"/>
            <a:ext cx="4279669" cy="365125"/>
          </a:xfrm>
        </p:spPr>
        <p:txBody>
          <a:bodyPr/>
          <a:lstStyle/>
          <a:p>
            <a:endParaRPr lang="en-AU"/>
          </a:p>
        </p:txBody>
      </p:sp>
      <p:sp>
        <p:nvSpPr>
          <p:cNvPr id="6" name="Slide Number Placeholder 5"/>
          <p:cNvSpPr>
            <a:spLocks noGrp="1"/>
          </p:cNvSpPr>
          <p:nvPr>
            <p:ph type="sldNum" sz="quarter" idx="12"/>
          </p:nvPr>
        </p:nvSpPr>
        <p:spPr>
          <a:xfrm>
            <a:off x="8073048" y="6422854"/>
            <a:ext cx="879759" cy="365125"/>
          </a:xfrm>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4256360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CF86F2E1-FA8A-4588-BBFD-A05AC645A9D8}" type="datetimeFigureOut">
              <a:rPr lang="en-AU" smtClean="0"/>
              <a:t>26/10/2023</a:t>
            </a:fld>
            <a:endParaRPr lang="en-AU"/>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AU"/>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D2B9A715-435D-481F-92DE-B257404B0EA3}" type="slidenum">
              <a:rPr lang="en-AU" smtClean="0"/>
              <a:t>‹#›</a:t>
            </a:fld>
            <a:endParaRPr lang="en-AU"/>
          </a:p>
        </p:txBody>
      </p:sp>
    </p:spTree>
    <p:extLst>
      <p:ext uri="{BB962C8B-B14F-4D97-AF65-F5344CB8AC3E}">
        <p14:creationId xmlns:p14="http://schemas.microsoft.com/office/powerpoint/2010/main" val="152336012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4.png"/><Relationship Id="rId5" Type="http://schemas.microsoft.com/office/2007/relationships/hdphoto" Target="../media/hdphoto2.wdp"/><Relationship Id="rId10" Type="http://schemas.microsoft.com/office/2007/relationships/hdphoto" Target="../media/hdphoto4.wdp"/><Relationship Id="rId4" Type="http://schemas.openxmlformats.org/officeDocument/2006/relationships/image" Target="../media/image3.png"/><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41727" y="2182637"/>
            <a:ext cx="9118495" cy="1600964"/>
          </a:xfrm>
          <a:solidFill>
            <a:schemeClr val="accent1">
              <a:lumMod val="60000"/>
              <a:lumOff val="40000"/>
            </a:schemeClr>
          </a:solidFill>
        </p:spPr>
        <p:txBody>
          <a:bodyPr>
            <a:normAutofit/>
          </a:bodyPr>
          <a:lstStyle/>
          <a:p>
            <a:r>
              <a:rPr lang="en-AU" sz="7200" b="1" dirty="0"/>
              <a:t>All About Me </a:t>
            </a:r>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backgroundRemoval t="0" b="100000" l="0" r="100000">
                        <a14:foregroundMark x1="91776" y1="59639" x2="91776" y2="59639"/>
                        <a14:foregroundMark x1="88487" y1="54217" x2="88487" y2="54217"/>
                        <a14:foregroundMark x1="82237" y1="13855" x2="82237" y2="13855"/>
                        <a14:foregroundMark x1="11842" y1="19277" x2="11842" y2="19277"/>
                        <a14:foregroundMark x1="6250" y1="51807" x2="6250" y2="51807"/>
                        <a14:foregroundMark x1="13158" y1="53614" x2="13158" y2="53614"/>
                        <a14:foregroundMark x1="11513" y1="53012" x2="11513" y2="53012"/>
                        <a14:foregroundMark x1="9211" y1="54819" x2="9211" y2="54819"/>
                        <a14:foregroundMark x1="22368" y1="53614" x2="22368" y2="53614"/>
                        <a14:foregroundMark x1="25987" y1="54217" x2="25987" y2="54217"/>
                        <a14:foregroundMark x1="19408" y1="51807" x2="19408" y2="51807"/>
                        <a14:foregroundMark x1="19737" y1="63855" x2="19737" y2="63855"/>
                        <a14:foregroundMark x1="19737" y1="63855" x2="18750" y2="86747"/>
                        <a14:foregroundMark x1="7895" y1="24096" x2="17105" y2="8434"/>
                        <a14:foregroundMark x1="42763" y1="19277" x2="54605" y2="12048"/>
                        <a14:foregroundMark x1="30263" y1="71084" x2="32237" y2="92169"/>
                        <a14:foregroundMark x1="66118" y1="56627" x2="65789" y2="92771"/>
                        <a14:foregroundMark x1="82237" y1="16867" x2="89145" y2="15663"/>
                      </a14:backgroundRemoval>
                    </a14:imgEffect>
                  </a14:imgLayer>
                </a14:imgProps>
              </a:ext>
            </a:extLst>
          </a:blip>
          <a:stretch>
            <a:fillRect/>
          </a:stretch>
        </p:blipFill>
        <p:spPr>
          <a:xfrm>
            <a:off x="8581344" y="4493213"/>
            <a:ext cx="3490768" cy="1906143"/>
          </a:xfrm>
          <a:prstGeom prst="rect">
            <a:avLst/>
          </a:prstGeom>
        </p:spPr>
      </p:pic>
      <p:pic>
        <p:nvPicPr>
          <p:cNvPr id="3" name="Picture 2"/>
          <p:cNvPicPr>
            <a:picLocks noChangeAspect="1"/>
          </p:cNvPicPr>
          <p:nvPr/>
        </p:nvPicPr>
        <p:blipFill>
          <a:blip r:embed="rId4">
            <a:extLst>
              <a:ext uri="{BEBA8EAE-BF5A-486C-A8C5-ECC9F3942E4B}">
                <a14:imgProps xmlns:a14="http://schemas.microsoft.com/office/drawing/2010/main">
                  <a14:imgLayer r:embed="rId5">
                    <a14:imgEffect>
                      <a14:backgroundRemoval t="0" b="98160" l="324" r="100000">
                        <a14:foregroundMark x1="37217" y1="52761" x2="47249" y2="66871"/>
                        <a14:foregroundMark x1="44337" y1="52761" x2="44337" y2="52761"/>
                        <a14:foregroundMark x1="39806" y1="48466" x2="39806" y2="48466"/>
                        <a14:foregroundMark x1="37864" y1="63190" x2="37864" y2="63190"/>
                        <a14:foregroundMark x1="35599" y1="73006" x2="35599" y2="73006"/>
                        <a14:foregroundMark x1="46602" y1="73006" x2="46602" y2="73006"/>
                        <a14:foregroundMark x1="50485" y1="52761" x2="50485" y2="52761"/>
                        <a14:foregroundMark x1="73139" y1="23313" x2="73139" y2="23313"/>
                        <a14:foregroundMark x1="69903" y1="21472" x2="69903" y2="21472"/>
                        <a14:foregroundMark x1="73786" y1="19632" x2="73786" y2="19632"/>
                        <a14:foregroundMark x1="76699" y1="18405" x2="76699" y2="18405"/>
                        <a14:backgroundMark x1="54693" y1="53374" x2="54693" y2="53374"/>
                        <a14:backgroundMark x1="62460" y1="52761" x2="62460" y2="52761"/>
                        <a14:backgroundMark x1="55987" y1="53374" x2="55987" y2="53374"/>
                        <a14:backgroundMark x1="59223" y1="64417" x2="59223" y2="64417"/>
                      </a14:backgroundRemoval>
                    </a14:imgEffect>
                  </a14:imgLayer>
                </a14:imgProps>
              </a:ext>
            </a:extLst>
          </a:blip>
          <a:stretch>
            <a:fillRect/>
          </a:stretch>
        </p:blipFill>
        <p:spPr>
          <a:xfrm>
            <a:off x="-429768" y="-36830"/>
            <a:ext cx="3102012" cy="2340864"/>
          </a:xfrm>
          <a:prstGeom prst="rect">
            <a:avLst/>
          </a:prstGeom>
        </p:spPr>
      </p:pic>
      <p:pic>
        <p:nvPicPr>
          <p:cNvPr id="5" name="Picture 4"/>
          <p:cNvPicPr>
            <a:picLocks noChangeAspect="1"/>
          </p:cNvPicPr>
          <p:nvPr/>
        </p:nvPicPr>
        <p:blipFill>
          <a:blip r:embed="rId6">
            <a:extLst>
              <a:ext uri="{BEBA8EAE-BF5A-486C-A8C5-ECC9F3942E4B}">
                <a14:imgProps xmlns:a14="http://schemas.microsoft.com/office/drawing/2010/main">
                  <a14:imgLayer r:embed="rId7">
                    <a14:imgEffect>
                      <a14:backgroundRemoval t="889" b="100000" l="889" r="99111">
                        <a14:foregroundMark x1="17778" y1="65333" x2="17778" y2="65333"/>
                        <a14:foregroundMark x1="16889" y1="69778" x2="16889" y2="69778"/>
                        <a14:foregroundMark x1="19111" y1="71111" x2="19111" y2="71111"/>
                        <a14:foregroundMark x1="85778" y1="64000" x2="85778" y2="64000"/>
                        <a14:foregroundMark x1="84444" y1="68000" x2="84444" y2="68000"/>
                        <a14:foregroundMark x1="62667" y1="33778" x2="62667" y2="33778"/>
                        <a14:foregroundMark x1="40889" y1="33778" x2="40889" y2="33778"/>
                        <a14:foregroundMark x1="22222" y1="71111" x2="22222" y2="71111"/>
                      </a14:backgroundRemoval>
                    </a14:imgEffect>
                  </a14:imgLayer>
                </a14:imgProps>
              </a:ext>
            </a:extLst>
          </a:blip>
          <a:stretch>
            <a:fillRect/>
          </a:stretch>
        </p:blipFill>
        <p:spPr>
          <a:xfrm>
            <a:off x="9962197" y="23239"/>
            <a:ext cx="2143125" cy="2143125"/>
          </a:xfrm>
          <a:prstGeom prst="rect">
            <a:avLst/>
          </a:prstGeom>
        </p:spPr>
      </p:pic>
      <p:pic>
        <p:nvPicPr>
          <p:cNvPr id="6" name="Picture 5"/>
          <p:cNvPicPr>
            <a:picLocks noChangeAspect="1"/>
          </p:cNvPicPr>
          <p:nvPr/>
        </p:nvPicPr>
        <p:blipFill>
          <a:blip r:embed="rId8"/>
          <a:stretch>
            <a:fillRect/>
          </a:stretch>
        </p:blipFill>
        <p:spPr>
          <a:xfrm>
            <a:off x="363728" y="4493213"/>
            <a:ext cx="3348736" cy="188366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p:cNvPicPr>
            <a:picLocks noChangeAspect="1"/>
          </p:cNvPicPr>
          <p:nvPr/>
        </p:nvPicPr>
        <p:blipFill>
          <a:blip r:embed="rId9">
            <a:extLst>
              <a:ext uri="{BEBA8EAE-BF5A-486C-A8C5-ECC9F3942E4B}">
                <a14:imgProps xmlns:a14="http://schemas.microsoft.com/office/drawing/2010/main">
                  <a14:imgLayer r:embed="rId10">
                    <a14:imgEffect>
                      <a14:backgroundRemoval t="431" b="99569" l="922" r="100000"/>
                    </a14:imgEffect>
                  </a14:imgLayer>
                </a14:imgProps>
              </a:ext>
            </a:extLst>
          </a:blip>
          <a:stretch>
            <a:fillRect/>
          </a:stretch>
        </p:blipFill>
        <p:spPr>
          <a:xfrm>
            <a:off x="4934521" y="-39878"/>
            <a:ext cx="2066925" cy="2176462"/>
          </a:xfrm>
          <a:prstGeom prst="rect">
            <a:avLst/>
          </a:prstGeom>
        </p:spPr>
      </p:pic>
      <p:sp>
        <p:nvSpPr>
          <p:cNvPr id="8" name="TextBox 7">
            <a:extLst>
              <a:ext uri="{FF2B5EF4-FFF2-40B4-BE49-F238E27FC236}">
                <a16:creationId xmlns:a16="http://schemas.microsoft.com/office/drawing/2014/main" id="{8A898FFC-EF2E-7AD2-4274-7D8DE97BA422}"/>
              </a:ext>
            </a:extLst>
          </p:cNvPr>
          <p:cNvSpPr txBox="1"/>
          <p:nvPr/>
        </p:nvSpPr>
        <p:spPr>
          <a:xfrm>
            <a:off x="4151376" y="4332319"/>
            <a:ext cx="3889248" cy="1477328"/>
          </a:xfrm>
          <a:prstGeom prst="rect">
            <a:avLst/>
          </a:prstGeom>
          <a:noFill/>
        </p:spPr>
        <p:txBody>
          <a:bodyPr wrap="square" rtlCol="0">
            <a:spAutoFit/>
          </a:bodyPr>
          <a:lstStyle/>
          <a:p>
            <a:pPr algn="ctr"/>
            <a:r>
              <a:rPr lang="en-US" dirty="0"/>
              <a:t>Year 7 Health</a:t>
            </a:r>
          </a:p>
          <a:p>
            <a:pPr algn="ctr"/>
            <a:endParaRPr lang="en-US" dirty="0"/>
          </a:p>
          <a:p>
            <a:pPr algn="ctr"/>
            <a:r>
              <a:rPr lang="en-US" dirty="0"/>
              <a:t>Lesson 6</a:t>
            </a:r>
          </a:p>
          <a:p>
            <a:pPr algn="ctr"/>
            <a:endParaRPr lang="en-US" dirty="0"/>
          </a:p>
          <a:p>
            <a:pPr algn="ctr"/>
            <a:r>
              <a:rPr lang="en-US" dirty="0"/>
              <a:t>2024</a:t>
            </a:r>
          </a:p>
        </p:txBody>
      </p:sp>
    </p:spTree>
    <p:extLst>
      <p:ext uri="{BB962C8B-B14F-4D97-AF65-F5344CB8AC3E}">
        <p14:creationId xmlns:p14="http://schemas.microsoft.com/office/powerpoint/2010/main" val="3002713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7283" y="2157984"/>
            <a:ext cx="10757433" cy="4206240"/>
          </a:xfrm>
        </p:spPr>
        <p:txBody>
          <a:bodyPr>
            <a:normAutofit fontScale="92500" lnSpcReduction="10000"/>
          </a:bodyPr>
          <a:lstStyle/>
          <a:p>
            <a:r>
              <a:rPr lang="en-AU" dirty="0"/>
              <a:t>In the first 5 minutes of each lesson you will complete your revision page, you will find these throughout your booklet. </a:t>
            </a:r>
          </a:p>
          <a:p>
            <a:r>
              <a:rPr lang="en-AU" dirty="0"/>
              <a:t>The revision page consists of three questions. </a:t>
            </a:r>
            <a:r>
              <a:rPr lang="en-AU" b="1" dirty="0"/>
              <a:t>It will need to be completed in detail. One word answers will not be accepted.</a:t>
            </a:r>
          </a:p>
          <a:p>
            <a:pPr marL="0" indent="0">
              <a:buNone/>
            </a:pPr>
            <a:r>
              <a:rPr lang="en-AU" dirty="0"/>
              <a:t>The three questions :</a:t>
            </a:r>
          </a:p>
          <a:p>
            <a:pPr marL="457200" indent="-457200">
              <a:buAutoNum type="arabicPeriod"/>
            </a:pPr>
            <a:r>
              <a:rPr lang="en-AU" dirty="0"/>
              <a:t>What two concepts or ideas did I learn in class last week?</a:t>
            </a:r>
          </a:p>
          <a:p>
            <a:pPr marL="457200" indent="-457200">
              <a:buAutoNum type="arabicPeriod"/>
            </a:pPr>
            <a:r>
              <a:rPr lang="en-AU" dirty="0"/>
              <a:t>What did I find interesting about last week’s lesson? Provide a specific example. </a:t>
            </a:r>
          </a:p>
          <a:p>
            <a:pPr marL="457200" indent="-457200">
              <a:buAutoNum type="arabicPeriod"/>
            </a:pPr>
            <a:r>
              <a:rPr lang="en-AU" dirty="0"/>
              <a:t>Any questions or new words you have learnt?</a:t>
            </a:r>
          </a:p>
          <a:p>
            <a:pPr marL="457200" indent="-457200">
              <a:buAutoNum type="arabicPeriod"/>
            </a:pPr>
            <a:endParaRPr lang="en-AU" dirty="0"/>
          </a:p>
          <a:p>
            <a:pPr marL="0" indent="0" algn="ctr">
              <a:buNone/>
            </a:pPr>
            <a:r>
              <a:rPr lang="en-AU" b="1" i="1" dirty="0"/>
              <a:t>The teacher will go over this each lesson with you to see what you have learnt. It is a great way for you to revisit content and test your memory. </a:t>
            </a:r>
          </a:p>
        </p:txBody>
      </p:sp>
      <p:pic>
        <p:nvPicPr>
          <p:cNvPr id="4" name="Picture 3"/>
          <p:cNvPicPr>
            <a:picLocks noChangeAspect="1"/>
          </p:cNvPicPr>
          <p:nvPr/>
        </p:nvPicPr>
        <p:blipFill>
          <a:blip r:embed="rId3"/>
          <a:stretch>
            <a:fillRect/>
          </a:stretch>
        </p:blipFill>
        <p:spPr>
          <a:xfrm>
            <a:off x="1202919" y="180784"/>
            <a:ext cx="9410700" cy="1620583"/>
          </a:xfrm>
          <a:prstGeom prst="rect">
            <a:avLst/>
          </a:prstGeom>
        </p:spPr>
      </p:pic>
    </p:spTree>
    <p:extLst>
      <p:ext uri="{BB962C8B-B14F-4D97-AF65-F5344CB8AC3E}">
        <p14:creationId xmlns:p14="http://schemas.microsoft.com/office/powerpoint/2010/main" val="2035976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3ED1B-4D35-9B5D-E240-1F4DF191820B}"/>
              </a:ext>
            </a:extLst>
          </p:cNvPr>
          <p:cNvSpPr>
            <a:spLocks noGrp="1"/>
          </p:cNvSpPr>
          <p:nvPr>
            <p:ph type="title"/>
          </p:nvPr>
        </p:nvSpPr>
        <p:spPr>
          <a:xfrm>
            <a:off x="1202919" y="284176"/>
            <a:ext cx="9784080" cy="1508760"/>
          </a:xfrm>
        </p:spPr>
        <p:txBody>
          <a:bodyPr>
            <a:normAutofit/>
          </a:bodyPr>
          <a:lstStyle/>
          <a:p>
            <a:r>
              <a:rPr lang="en-US" dirty="0"/>
              <a:t>Hook: Post it slam</a:t>
            </a:r>
          </a:p>
        </p:txBody>
      </p:sp>
      <p:pic>
        <p:nvPicPr>
          <p:cNvPr id="1028" name="Picture 4" descr="Sticky Notes transparent PNG images - StickPNG">
            <a:extLst>
              <a:ext uri="{FF2B5EF4-FFF2-40B4-BE49-F238E27FC236}">
                <a16:creationId xmlns:a16="http://schemas.microsoft.com/office/drawing/2014/main" id="{3E11B33E-6C43-AA39-3867-84D1CEC2E4D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158" r="8614" b="1"/>
          <a:stretch/>
        </p:blipFill>
        <p:spPr bwMode="auto">
          <a:xfrm>
            <a:off x="483" y="1822028"/>
            <a:ext cx="4342417" cy="5035972"/>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C776C403-E543-EEA0-6EA6-D3696340B86C}"/>
              </a:ext>
            </a:extLst>
          </p:cNvPr>
          <p:cNvSpPr>
            <a:spLocks noGrp="1"/>
          </p:cNvSpPr>
          <p:nvPr>
            <p:ph idx="1"/>
          </p:nvPr>
        </p:nvSpPr>
        <p:spPr>
          <a:xfrm>
            <a:off x="4553339" y="2011680"/>
            <a:ext cx="7389845" cy="4562144"/>
          </a:xfrm>
        </p:spPr>
        <p:txBody>
          <a:bodyPr>
            <a:normAutofit/>
          </a:bodyPr>
          <a:lstStyle/>
          <a:p>
            <a:r>
              <a:rPr lang="en-US" sz="2000" dirty="0"/>
              <a:t>Different things and experiences affect everyone in different ways, and we all have our own ways of managing these feelings and regulating our emotions.</a:t>
            </a:r>
          </a:p>
          <a:p>
            <a:endParaRPr lang="en-US" sz="2000" dirty="0"/>
          </a:p>
          <a:p>
            <a:r>
              <a:rPr lang="en-US" sz="2000" dirty="0"/>
              <a:t>Everyone will receive a sticky note. </a:t>
            </a:r>
          </a:p>
          <a:p>
            <a:endParaRPr lang="en-US" sz="2000" dirty="0"/>
          </a:p>
          <a:p>
            <a:r>
              <a:rPr lang="en-US" sz="2000" dirty="0"/>
              <a:t>On your sticky note, answer the question and then stick your sticky note on the board. </a:t>
            </a:r>
          </a:p>
          <a:p>
            <a:endParaRPr lang="en-US" sz="2000" dirty="0"/>
          </a:p>
          <a:p>
            <a:endParaRPr lang="en-US" sz="2000" dirty="0"/>
          </a:p>
          <a:p>
            <a:r>
              <a:rPr lang="en-US" sz="2000" dirty="0"/>
              <a:t>Names are optional – you can remain anonymous.</a:t>
            </a:r>
          </a:p>
        </p:txBody>
      </p:sp>
      <p:sp>
        <p:nvSpPr>
          <p:cNvPr id="4" name="TextBox 3">
            <a:extLst>
              <a:ext uri="{FF2B5EF4-FFF2-40B4-BE49-F238E27FC236}">
                <a16:creationId xmlns:a16="http://schemas.microsoft.com/office/drawing/2014/main" id="{65431A6B-241B-0A7F-180E-417A291BEAF8}"/>
              </a:ext>
            </a:extLst>
          </p:cNvPr>
          <p:cNvSpPr txBox="1"/>
          <p:nvPr/>
        </p:nvSpPr>
        <p:spPr>
          <a:xfrm rot="186921">
            <a:off x="884066" y="3138589"/>
            <a:ext cx="2575249" cy="2308324"/>
          </a:xfrm>
          <a:prstGeom prst="rect">
            <a:avLst/>
          </a:prstGeom>
          <a:noFill/>
        </p:spPr>
        <p:txBody>
          <a:bodyPr wrap="square" rtlCol="0">
            <a:spAutoFit/>
          </a:bodyPr>
          <a:lstStyle/>
          <a:p>
            <a:pPr algn="ctr"/>
            <a:r>
              <a:rPr lang="en-US" sz="2400" b="1" dirty="0">
                <a:solidFill>
                  <a:schemeClr val="bg1"/>
                </a:solidFill>
              </a:rPr>
              <a:t>Q: When you are feeling emotional, how do you manage and regulate your emotions?</a:t>
            </a:r>
          </a:p>
        </p:txBody>
      </p:sp>
      <p:cxnSp>
        <p:nvCxnSpPr>
          <p:cNvPr id="6" name="Straight Arrow Connector 5">
            <a:extLst>
              <a:ext uri="{FF2B5EF4-FFF2-40B4-BE49-F238E27FC236}">
                <a16:creationId xmlns:a16="http://schemas.microsoft.com/office/drawing/2014/main" id="{94940843-33E6-878F-FBA0-CB608EEB321D}"/>
              </a:ext>
            </a:extLst>
          </p:cNvPr>
          <p:cNvCxnSpPr>
            <a:cxnSpLocks/>
          </p:cNvCxnSpPr>
          <p:nvPr/>
        </p:nvCxnSpPr>
        <p:spPr>
          <a:xfrm flipH="1">
            <a:off x="4142792" y="5515185"/>
            <a:ext cx="4455202" cy="0"/>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 name="Straight Connector 8">
            <a:extLst>
              <a:ext uri="{FF2B5EF4-FFF2-40B4-BE49-F238E27FC236}">
                <a16:creationId xmlns:a16="http://schemas.microsoft.com/office/drawing/2014/main" id="{3D7B20CF-B299-F20E-96EA-CE5B8082A098}"/>
              </a:ext>
            </a:extLst>
          </p:cNvPr>
          <p:cNvCxnSpPr/>
          <p:nvPr/>
        </p:nvCxnSpPr>
        <p:spPr>
          <a:xfrm flipV="1">
            <a:off x="8582390" y="4773604"/>
            <a:ext cx="0" cy="756573"/>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3767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CF79A-5F50-45E9-A34D-321E00121280}"/>
              </a:ext>
            </a:extLst>
          </p:cNvPr>
          <p:cNvSpPr>
            <a:spLocks noGrp="1"/>
          </p:cNvSpPr>
          <p:nvPr>
            <p:ph type="title"/>
          </p:nvPr>
        </p:nvSpPr>
        <p:spPr>
          <a:xfrm>
            <a:off x="457200" y="245382"/>
            <a:ext cx="11183815" cy="1508760"/>
          </a:xfrm>
          <a:noFill/>
        </p:spPr>
        <p:txBody>
          <a:bodyPr>
            <a:normAutofit fontScale="90000"/>
          </a:bodyPr>
          <a:lstStyle/>
          <a:p>
            <a:r>
              <a:rPr lang="en-AU" sz="4900" dirty="0"/>
              <a:t>Activity 1: Emotional regulation </a:t>
            </a:r>
            <a:r>
              <a:rPr lang="en-AU" sz="2000" dirty="0"/>
              <a:t>(Pg. 22).</a:t>
            </a:r>
            <a:br>
              <a:rPr lang="en-AU" sz="3600" dirty="0"/>
            </a:br>
            <a:r>
              <a:rPr lang="en-AU" sz="3600" dirty="0"/>
              <a:t>Managing and expressing emotions in a healthy way</a:t>
            </a:r>
          </a:p>
        </p:txBody>
      </p:sp>
      <p:sp>
        <p:nvSpPr>
          <p:cNvPr id="3" name="Content Placeholder 2">
            <a:extLst>
              <a:ext uri="{FF2B5EF4-FFF2-40B4-BE49-F238E27FC236}">
                <a16:creationId xmlns:a16="http://schemas.microsoft.com/office/drawing/2014/main" id="{785CD5AF-FAE6-4628-93A2-8B7FD54FFDEA}"/>
              </a:ext>
            </a:extLst>
          </p:cNvPr>
          <p:cNvSpPr>
            <a:spLocks noGrp="1"/>
          </p:cNvSpPr>
          <p:nvPr>
            <p:ph idx="1"/>
          </p:nvPr>
        </p:nvSpPr>
        <p:spPr>
          <a:xfrm>
            <a:off x="105295" y="2011679"/>
            <a:ext cx="7361265" cy="4655127"/>
          </a:xfrm>
        </p:spPr>
        <p:txBody>
          <a:bodyPr>
            <a:noAutofit/>
          </a:bodyPr>
          <a:lstStyle/>
          <a:p>
            <a:pPr marL="0" indent="0">
              <a:buNone/>
            </a:pPr>
            <a:r>
              <a:rPr lang="en-AU" sz="1600" b="1" dirty="0">
                <a:effectLst/>
                <a:latin typeface="+mj-lt"/>
                <a:ea typeface="Times New Roman" panose="02020603050405020304" pitchFamily="18" charset="0"/>
              </a:rPr>
              <a:t>It is important to have strategies for managing and expressing emotions in a healthy way. These can include:</a:t>
            </a:r>
          </a:p>
          <a:p>
            <a:pPr marL="342900" lvl="0" indent="-342900">
              <a:tabLst>
                <a:tab pos="457200" algn="l"/>
              </a:tabLst>
            </a:pPr>
            <a:r>
              <a:rPr lang="en-AU" sz="1600" b="1" dirty="0">
                <a:effectLst/>
                <a:latin typeface="+mj-lt"/>
                <a:ea typeface="Times New Roman" panose="02020603050405020304" pitchFamily="18" charset="0"/>
              </a:rPr>
              <a:t>Deep Breathing: </a:t>
            </a:r>
            <a:r>
              <a:rPr lang="en-AU" sz="1400" dirty="0">
                <a:latin typeface="+mj-lt"/>
                <a:ea typeface="Times New Roman" panose="02020603050405020304" pitchFamily="18" charset="0"/>
              </a:rPr>
              <a:t>C</a:t>
            </a:r>
            <a:r>
              <a:rPr lang="en-AU" sz="1400" dirty="0">
                <a:effectLst/>
                <a:latin typeface="+mj-lt"/>
                <a:ea typeface="Times New Roman" panose="02020603050405020304" pitchFamily="18" charset="0"/>
              </a:rPr>
              <a:t>an help calm the nervous system and reduce feelings of stress or anxiety. Focus on taking slow, deep breaths, inhaling through the nose and exhaling through the mouth.</a:t>
            </a:r>
          </a:p>
          <a:p>
            <a:pPr marL="342900" lvl="0" indent="-342900">
              <a:tabLst>
                <a:tab pos="457200" algn="l"/>
              </a:tabLst>
            </a:pPr>
            <a:endParaRPr lang="en-AU" sz="1400" dirty="0">
              <a:effectLst/>
              <a:latin typeface="+mj-lt"/>
              <a:ea typeface="Times New Roman" panose="02020603050405020304" pitchFamily="18" charset="0"/>
            </a:endParaRPr>
          </a:p>
          <a:p>
            <a:pPr marL="342900" lvl="0" indent="-342900">
              <a:tabLst>
                <a:tab pos="457200" algn="l"/>
              </a:tabLst>
            </a:pPr>
            <a:r>
              <a:rPr lang="en-AU" sz="1600" b="1" dirty="0">
                <a:effectLst/>
                <a:latin typeface="+mj-lt"/>
                <a:ea typeface="Times New Roman" panose="02020603050405020304" pitchFamily="18" charset="0"/>
              </a:rPr>
              <a:t>Mindfulness and Meditation</a:t>
            </a:r>
            <a:r>
              <a:rPr lang="en-AU" sz="1400" dirty="0">
                <a:effectLst/>
                <a:latin typeface="+mj-lt"/>
                <a:ea typeface="Times New Roman" panose="02020603050405020304" pitchFamily="18" charset="0"/>
              </a:rPr>
              <a:t>: Can promote self-awareness and help individuals observe their emotions without judgment. </a:t>
            </a:r>
          </a:p>
          <a:p>
            <a:pPr marL="342900" lvl="0" indent="-342900">
              <a:tabLst>
                <a:tab pos="457200" algn="l"/>
              </a:tabLst>
            </a:pPr>
            <a:endParaRPr lang="en-AU" sz="1400" dirty="0">
              <a:effectLst/>
              <a:latin typeface="+mj-lt"/>
              <a:ea typeface="Times New Roman" panose="02020603050405020304" pitchFamily="18" charset="0"/>
            </a:endParaRPr>
          </a:p>
          <a:p>
            <a:pPr marL="342900" lvl="0" indent="-342900">
              <a:tabLst>
                <a:tab pos="457200" algn="l"/>
              </a:tabLst>
            </a:pPr>
            <a:r>
              <a:rPr lang="en-AU" sz="1600" b="1" dirty="0">
                <a:effectLst/>
                <a:latin typeface="+mj-lt"/>
                <a:ea typeface="Times New Roman" panose="02020603050405020304" pitchFamily="18" charset="0"/>
              </a:rPr>
              <a:t>Physical Exercise: </a:t>
            </a:r>
            <a:r>
              <a:rPr lang="en-AU" sz="1400" dirty="0">
                <a:effectLst/>
                <a:latin typeface="+mj-lt"/>
                <a:ea typeface="Times New Roman" panose="02020603050405020304" pitchFamily="18" charset="0"/>
              </a:rPr>
              <a:t>Regular physical exercise releases endorphins, which are natural mood-boosting chemicals in the body. Engaging in activities like walking, jogging, dancing, or yoga can help reduce stress and improve overall emotional well-being.</a:t>
            </a:r>
          </a:p>
          <a:p>
            <a:pPr marL="342900" lvl="0" indent="-342900">
              <a:tabLst>
                <a:tab pos="457200" algn="l"/>
              </a:tabLst>
            </a:pPr>
            <a:endParaRPr lang="en-AU" sz="1400" dirty="0">
              <a:effectLst/>
              <a:latin typeface="+mj-lt"/>
              <a:ea typeface="Times New Roman" panose="02020603050405020304" pitchFamily="18" charset="0"/>
            </a:endParaRPr>
          </a:p>
          <a:p>
            <a:pPr marL="342900" lvl="0" indent="-342900">
              <a:tabLst>
                <a:tab pos="457200" algn="l"/>
              </a:tabLst>
            </a:pPr>
            <a:r>
              <a:rPr lang="en-AU" sz="1600" b="1" dirty="0">
                <a:effectLst/>
                <a:latin typeface="+mj-lt"/>
                <a:ea typeface="Times New Roman" panose="02020603050405020304" pitchFamily="18" charset="0"/>
              </a:rPr>
              <a:t>Journaling: </a:t>
            </a:r>
            <a:r>
              <a:rPr lang="en-AU" sz="1400" dirty="0">
                <a:effectLst/>
                <a:latin typeface="+mj-lt"/>
                <a:ea typeface="Times New Roman" panose="02020603050405020304" pitchFamily="18" charset="0"/>
              </a:rPr>
              <a:t>Writing down thoughts and emotions in a journal can be a therapeutic outlet for processing and expressing emotions. </a:t>
            </a:r>
            <a:endParaRPr lang="en-AU" sz="1400" dirty="0">
              <a:latin typeface="+mj-lt"/>
              <a:ea typeface="Times New Roman" panose="02020603050405020304" pitchFamily="18" charset="0"/>
            </a:endParaRPr>
          </a:p>
          <a:p>
            <a:endParaRPr lang="en-AU" sz="1200" dirty="0">
              <a:latin typeface="+mj-lt"/>
            </a:endParaRPr>
          </a:p>
        </p:txBody>
      </p:sp>
      <p:pic>
        <p:nvPicPr>
          <p:cNvPr id="5122" name="Picture 2" descr="Emotion Facts: The Primary Emotions">
            <a:extLst>
              <a:ext uri="{FF2B5EF4-FFF2-40B4-BE49-F238E27FC236}">
                <a16:creationId xmlns:a16="http://schemas.microsoft.com/office/drawing/2014/main" id="{DDE96F0B-5B74-1740-F4A3-4D534CEF7C4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0000"/>
          <a:stretch/>
        </p:blipFill>
        <p:spPr bwMode="auto">
          <a:xfrm>
            <a:off x="7621810" y="2848708"/>
            <a:ext cx="4341590" cy="26628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8526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CF79A-5F50-45E9-A34D-321E00121280}"/>
              </a:ext>
            </a:extLst>
          </p:cNvPr>
          <p:cNvSpPr>
            <a:spLocks noGrp="1"/>
          </p:cNvSpPr>
          <p:nvPr>
            <p:ph type="title"/>
          </p:nvPr>
        </p:nvSpPr>
        <p:spPr>
          <a:xfrm>
            <a:off x="457200" y="245382"/>
            <a:ext cx="11183815" cy="1508760"/>
          </a:xfrm>
          <a:noFill/>
        </p:spPr>
        <p:txBody>
          <a:bodyPr>
            <a:normAutofit fontScale="90000"/>
          </a:bodyPr>
          <a:lstStyle/>
          <a:p>
            <a:r>
              <a:rPr lang="en-AU" sz="4900" dirty="0"/>
              <a:t>Activity 1: Emotional regulation </a:t>
            </a:r>
            <a:r>
              <a:rPr lang="en-AU" sz="2000" dirty="0"/>
              <a:t>(Pg. 22).</a:t>
            </a:r>
            <a:br>
              <a:rPr lang="en-AU" sz="3600" dirty="0"/>
            </a:br>
            <a:r>
              <a:rPr lang="en-AU" sz="3600" dirty="0"/>
              <a:t>Managing and expressing emotions in a healthy way</a:t>
            </a:r>
          </a:p>
        </p:txBody>
      </p:sp>
      <p:sp>
        <p:nvSpPr>
          <p:cNvPr id="3" name="Content Placeholder 2">
            <a:extLst>
              <a:ext uri="{FF2B5EF4-FFF2-40B4-BE49-F238E27FC236}">
                <a16:creationId xmlns:a16="http://schemas.microsoft.com/office/drawing/2014/main" id="{785CD5AF-FAE6-4628-93A2-8B7FD54FFDEA}"/>
              </a:ext>
            </a:extLst>
          </p:cNvPr>
          <p:cNvSpPr>
            <a:spLocks noGrp="1"/>
          </p:cNvSpPr>
          <p:nvPr>
            <p:ph idx="1"/>
          </p:nvPr>
        </p:nvSpPr>
        <p:spPr>
          <a:xfrm>
            <a:off x="105295" y="2011679"/>
            <a:ext cx="7361265" cy="4655127"/>
          </a:xfrm>
        </p:spPr>
        <p:txBody>
          <a:bodyPr>
            <a:noAutofit/>
          </a:bodyPr>
          <a:lstStyle/>
          <a:p>
            <a:pPr marL="342900" lvl="0" indent="-342900">
              <a:tabLst>
                <a:tab pos="457200" algn="l"/>
              </a:tabLst>
            </a:pPr>
            <a:endParaRPr lang="en-AU" sz="1600" b="1" dirty="0">
              <a:ea typeface="Times New Roman" panose="02020603050405020304" pitchFamily="18" charset="0"/>
            </a:endParaRPr>
          </a:p>
          <a:p>
            <a:pPr marL="342900" lvl="0" indent="-342900">
              <a:tabLst>
                <a:tab pos="457200" algn="l"/>
              </a:tabLst>
            </a:pPr>
            <a:r>
              <a:rPr lang="en-AU" sz="1600" b="1" dirty="0">
                <a:ea typeface="Times New Roman" panose="02020603050405020304" pitchFamily="18" charset="0"/>
              </a:rPr>
              <a:t>Talking to Supportive Others: </a:t>
            </a:r>
            <a:r>
              <a:rPr lang="en-AU" sz="1600" dirty="0">
                <a:ea typeface="Times New Roman" panose="02020603050405020304" pitchFamily="18" charset="0"/>
              </a:rPr>
              <a:t>Seeking support from trusted friends, family members, or mental health professionals can provide an opportunity to express emotions in a safe and supportive environment. </a:t>
            </a:r>
          </a:p>
          <a:p>
            <a:pPr marL="342900" lvl="0" indent="-342900">
              <a:tabLst>
                <a:tab pos="457200" algn="l"/>
              </a:tabLst>
            </a:pPr>
            <a:endParaRPr lang="en-AU" sz="1600" dirty="0">
              <a:ea typeface="Times New Roman" panose="02020603050405020304" pitchFamily="18" charset="0"/>
            </a:endParaRPr>
          </a:p>
          <a:p>
            <a:pPr marL="342900" lvl="0" indent="-342900">
              <a:tabLst>
                <a:tab pos="457200" algn="l"/>
              </a:tabLst>
            </a:pPr>
            <a:r>
              <a:rPr lang="en-AU" sz="1600" b="1" dirty="0">
                <a:ea typeface="Times New Roman" panose="02020603050405020304" pitchFamily="18" charset="0"/>
              </a:rPr>
              <a:t>Engaging in Creative Outlets: </a:t>
            </a:r>
            <a:r>
              <a:rPr lang="en-AU" sz="1600" dirty="0">
                <a:ea typeface="Times New Roman" panose="02020603050405020304" pitchFamily="18" charset="0"/>
              </a:rPr>
              <a:t>Participating in creative activities, such as art, music, or writing, can serve as a means of emotional expression. </a:t>
            </a:r>
          </a:p>
          <a:p>
            <a:pPr marL="342900" lvl="0" indent="-342900">
              <a:tabLst>
                <a:tab pos="457200" algn="l"/>
              </a:tabLst>
            </a:pPr>
            <a:endParaRPr lang="en-AU" sz="1600" dirty="0">
              <a:ea typeface="Times New Roman" panose="02020603050405020304" pitchFamily="18" charset="0"/>
            </a:endParaRPr>
          </a:p>
          <a:p>
            <a:pPr marL="342900" indent="-342900">
              <a:tabLst>
                <a:tab pos="457200" algn="l"/>
              </a:tabLst>
            </a:pPr>
            <a:r>
              <a:rPr lang="en-AU" sz="1600" b="1" dirty="0">
                <a:ea typeface="Times New Roman" panose="02020603050405020304" pitchFamily="18" charset="0"/>
              </a:rPr>
              <a:t>Taking Breaks and Self-Care</a:t>
            </a:r>
            <a:r>
              <a:rPr lang="en-AU" sz="1600" dirty="0">
                <a:ea typeface="Times New Roman" panose="02020603050405020304" pitchFamily="18" charset="0"/>
              </a:rPr>
              <a:t>: Recognizing when emotions become overwhelming and taking intentional breaks can be beneficial. Engaging in self-care activities like taking a bath, reading a book, or engaging in hobbies can provide space for emotional rejuvenation and self-nurturing.</a:t>
            </a:r>
          </a:p>
          <a:p>
            <a:endParaRPr lang="en-AU" sz="1200" dirty="0">
              <a:latin typeface="+mj-lt"/>
            </a:endParaRPr>
          </a:p>
        </p:txBody>
      </p:sp>
      <p:pic>
        <p:nvPicPr>
          <p:cNvPr id="4" name="Picture 4" descr="Emotion Facts: The Primary Emotions">
            <a:extLst>
              <a:ext uri="{FF2B5EF4-FFF2-40B4-BE49-F238E27FC236}">
                <a16:creationId xmlns:a16="http://schemas.microsoft.com/office/drawing/2014/main" id="{8D2AE3E4-D560-E7D1-C1D3-FB014F0E827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000"/>
          <a:stretch/>
        </p:blipFill>
        <p:spPr bwMode="auto">
          <a:xfrm>
            <a:off x="7589653" y="2844550"/>
            <a:ext cx="4341591" cy="26628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5794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BA7FC-EDF6-400A-94B0-CE00AC24D316}"/>
              </a:ext>
            </a:extLst>
          </p:cNvPr>
          <p:cNvSpPr>
            <a:spLocks noGrp="1"/>
          </p:cNvSpPr>
          <p:nvPr>
            <p:ph type="title"/>
          </p:nvPr>
        </p:nvSpPr>
        <p:spPr>
          <a:xfrm>
            <a:off x="1202919" y="284176"/>
            <a:ext cx="9784080" cy="1378369"/>
          </a:xfrm>
          <a:noFill/>
        </p:spPr>
        <p:txBody>
          <a:bodyPr>
            <a:normAutofit/>
          </a:bodyPr>
          <a:lstStyle/>
          <a:p>
            <a:pPr algn="ctr"/>
            <a:r>
              <a:rPr lang="en-AU" sz="5400" dirty="0"/>
              <a:t>Positive self –talk </a:t>
            </a:r>
            <a:r>
              <a:rPr lang="en-AU" sz="2800" dirty="0"/>
              <a:t>(Pg. 23).</a:t>
            </a:r>
            <a:endParaRPr lang="en-AU" sz="5400" b="1" dirty="0"/>
          </a:p>
        </p:txBody>
      </p:sp>
      <p:sp>
        <p:nvSpPr>
          <p:cNvPr id="3" name="Content Placeholder 2">
            <a:extLst>
              <a:ext uri="{FF2B5EF4-FFF2-40B4-BE49-F238E27FC236}">
                <a16:creationId xmlns:a16="http://schemas.microsoft.com/office/drawing/2014/main" id="{29236C96-8CFF-46CE-A086-11E5D0466734}"/>
              </a:ext>
            </a:extLst>
          </p:cNvPr>
          <p:cNvSpPr>
            <a:spLocks noGrp="1"/>
          </p:cNvSpPr>
          <p:nvPr>
            <p:ph idx="1"/>
          </p:nvPr>
        </p:nvSpPr>
        <p:spPr>
          <a:xfrm>
            <a:off x="351692" y="2011680"/>
            <a:ext cx="7367954" cy="4562144"/>
          </a:xfrm>
        </p:spPr>
        <p:txBody>
          <a:bodyPr>
            <a:normAutofit/>
          </a:bodyPr>
          <a:lstStyle/>
          <a:p>
            <a:r>
              <a:rPr lang="en-AU" sz="1500" b="1" i="0" dirty="0">
                <a:effectLst/>
                <a:latin typeface="Söhne"/>
              </a:rPr>
              <a:t>Positive self-talk </a:t>
            </a:r>
            <a:r>
              <a:rPr lang="en-AU" sz="1500" b="0" i="0" dirty="0">
                <a:effectLst/>
                <a:latin typeface="Söhne"/>
              </a:rPr>
              <a:t>refers to the practice of using supportive and encouraging language to oneself during challenging situations or when facing setbacks. </a:t>
            </a:r>
          </a:p>
          <a:p>
            <a:endParaRPr lang="en-AU" sz="1500" b="0" i="0" dirty="0">
              <a:effectLst/>
              <a:latin typeface="Söhne"/>
            </a:endParaRPr>
          </a:p>
          <a:p>
            <a:r>
              <a:rPr lang="en-AU" sz="1500" b="1" i="0" dirty="0">
                <a:effectLst/>
                <a:latin typeface="Söhne"/>
              </a:rPr>
              <a:t>It involves: </a:t>
            </a:r>
          </a:p>
          <a:p>
            <a:pPr lvl="2"/>
            <a:r>
              <a:rPr lang="en-AU" sz="1500" dirty="0">
                <a:latin typeface="Söhne"/>
              </a:rPr>
              <a:t>C</a:t>
            </a:r>
            <a:r>
              <a:rPr lang="en-AU" sz="1500" b="0" i="0" dirty="0">
                <a:effectLst/>
                <a:latin typeface="Söhne"/>
              </a:rPr>
              <a:t>onsciously replacing negative or self-defeating thoughts with positive and empowering ones. </a:t>
            </a:r>
          </a:p>
          <a:p>
            <a:pPr lvl="2"/>
            <a:r>
              <a:rPr lang="en-AU" sz="1500" b="0" i="0" dirty="0">
                <a:effectLst/>
                <a:latin typeface="Söhne"/>
              </a:rPr>
              <a:t>Building resilience by providing individuals with a constructive internal dialogue that fosters optimism, motivation, and resilience. </a:t>
            </a:r>
          </a:p>
          <a:p>
            <a:pPr lvl="2"/>
            <a:endParaRPr lang="en-AU" sz="1500" b="0" i="0" dirty="0">
              <a:effectLst/>
              <a:latin typeface="Söhne"/>
            </a:endParaRPr>
          </a:p>
          <a:p>
            <a:r>
              <a:rPr lang="en-AU" sz="1500" b="1" i="0" dirty="0">
                <a:effectLst/>
                <a:latin typeface="Söhne"/>
              </a:rPr>
              <a:t>Here's how positive self-talk relates to building resilience:</a:t>
            </a:r>
          </a:p>
          <a:p>
            <a:pPr lvl="2">
              <a:buFontTx/>
              <a:buChar char="-"/>
            </a:pPr>
            <a:r>
              <a:rPr lang="en-AU" sz="1500" b="0" i="0" dirty="0">
                <a:effectLst/>
                <a:latin typeface="Söhne"/>
              </a:rPr>
              <a:t>Building Self-Confidence</a:t>
            </a:r>
          </a:p>
          <a:p>
            <a:pPr lvl="2">
              <a:buFontTx/>
              <a:buChar char="-"/>
            </a:pPr>
            <a:r>
              <a:rPr lang="en-AU" sz="1500" b="0" i="0" dirty="0">
                <a:effectLst/>
                <a:latin typeface="Söhne"/>
              </a:rPr>
              <a:t>Managing Stress and Adversity</a:t>
            </a:r>
          </a:p>
          <a:p>
            <a:pPr lvl="2">
              <a:buFontTx/>
              <a:buChar char="-"/>
            </a:pPr>
            <a:r>
              <a:rPr lang="en-AU" sz="1500" b="0" i="0" dirty="0">
                <a:effectLst/>
                <a:latin typeface="Söhne"/>
              </a:rPr>
              <a:t>Overcoming Setbacks</a:t>
            </a:r>
          </a:p>
          <a:p>
            <a:pPr lvl="2">
              <a:buFontTx/>
              <a:buChar char="-"/>
            </a:pPr>
            <a:r>
              <a:rPr lang="en-AU" sz="1500" b="0" i="0" dirty="0">
                <a:effectLst/>
                <a:latin typeface="Söhne"/>
              </a:rPr>
              <a:t>Boosting Motivation and Persistence</a:t>
            </a:r>
            <a:endParaRPr lang="en-AU" sz="1500" dirty="0"/>
          </a:p>
        </p:txBody>
      </p:sp>
      <p:pic>
        <p:nvPicPr>
          <p:cNvPr id="4" name="Picture 3" descr="A cartoon of a person looking at a mirror&#10;&#10;Description automatically generated">
            <a:extLst>
              <a:ext uri="{FF2B5EF4-FFF2-40B4-BE49-F238E27FC236}">
                <a16:creationId xmlns:a16="http://schemas.microsoft.com/office/drawing/2014/main" id="{0C746B06-451B-4FCB-9D2C-779D8AB0CF12}"/>
              </a:ext>
            </a:extLst>
          </p:cNvPr>
          <p:cNvPicPr>
            <a:picLocks noChangeAspect="1"/>
          </p:cNvPicPr>
          <p:nvPr/>
        </p:nvPicPr>
        <p:blipFill rotWithShape="1">
          <a:blip r:embed="rId3"/>
          <a:srcRect l="24457" r="27258"/>
          <a:stretch/>
        </p:blipFill>
        <p:spPr>
          <a:xfrm>
            <a:off x="7847215" y="1822028"/>
            <a:ext cx="4342220" cy="5035972"/>
          </a:xfrm>
          <a:prstGeom prst="rect">
            <a:avLst/>
          </a:prstGeom>
        </p:spPr>
      </p:pic>
    </p:spTree>
    <p:extLst>
      <p:ext uri="{BB962C8B-B14F-4D97-AF65-F5344CB8AC3E}">
        <p14:creationId xmlns:p14="http://schemas.microsoft.com/office/powerpoint/2010/main" val="3130925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4896D-4168-89AD-823B-50A76CA7DE64}"/>
              </a:ext>
            </a:extLst>
          </p:cNvPr>
          <p:cNvSpPr>
            <a:spLocks noGrp="1"/>
          </p:cNvSpPr>
          <p:nvPr>
            <p:ph type="title"/>
          </p:nvPr>
        </p:nvSpPr>
        <p:spPr>
          <a:xfrm>
            <a:off x="1202919" y="284176"/>
            <a:ext cx="9784080" cy="1508760"/>
          </a:xfrm>
        </p:spPr>
        <p:txBody>
          <a:bodyPr>
            <a:normAutofit/>
          </a:bodyPr>
          <a:lstStyle/>
          <a:p>
            <a:r>
              <a:rPr lang="en-US" dirty="0"/>
              <a:t>Building Social Support: 		</a:t>
            </a:r>
            <a:r>
              <a:rPr lang="en-AU" sz="2400" dirty="0"/>
              <a:t>(Pg. 23).</a:t>
            </a:r>
            <a:endParaRPr lang="en-US" dirty="0"/>
          </a:p>
        </p:txBody>
      </p:sp>
      <p:sp>
        <p:nvSpPr>
          <p:cNvPr id="10" name="Rectangle 9">
            <a:extLst>
              <a:ext uri="{FF2B5EF4-FFF2-40B4-BE49-F238E27FC236}">
                <a16:creationId xmlns:a16="http://schemas.microsoft.com/office/drawing/2014/main" id="{C14D3828-515C-4F9A-9C64-367751853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0763" y="2204720"/>
            <a:ext cx="2708031" cy="3149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oup of people sitting at a table&#10;&#10;Description automatically generated">
            <a:extLst>
              <a:ext uri="{FF2B5EF4-FFF2-40B4-BE49-F238E27FC236}">
                <a16:creationId xmlns:a16="http://schemas.microsoft.com/office/drawing/2014/main" id="{1BCCE2A7-96BE-421C-4503-74F55CE014F0}"/>
              </a:ext>
            </a:extLst>
          </p:cNvPr>
          <p:cNvPicPr>
            <a:picLocks noChangeAspect="1"/>
          </p:cNvPicPr>
          <p:nvPr/>
        </p:nvPicPr>
        <p:blipFill rotWithShape="1">
          <a:blip r:embed="rId3"/>
          <a:srcRect l="49779" t="13022" r="13183" b="14252"/>
          <a:stretch/>
        </p:blipFill>
        <p:spPr>
          <a:xfrm>
            <a:off x="671629" y="2783826"/>
            <a:ext cx="2386298" cy="1991385"/>
          </a:xfrm>
          <a:prstGeom prst="rect">
            <a:avLst/>
          </a:prstGeom>
        </p:spPr>
      </p:pic>
      <p:sp>
        <p:nvSpPr>
          <p:cNvPr id="12" name="Rectangle 11">
            <a:extLst>
              <a:ext uri="{FF2B5EF4-FFF2-40B4-BE49-F238E27FC236}">
                <a16:creationId xmlns:a16="http://schemas.microsoft.com/office/drawing/2014/main" id="{AF008B56-05A2-4799-8236-CEB9EF3740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6927" y="2204720"/>
            <a:ext cx="2708031" cy="3149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oup of people sitting at a table&#10;&#10;Description automatically generated">
            <a:extLst>
              <a:ext uri="{FF2B5EF4-FFF2-40B4-BE49-F238E27FC236}">
                <a16:creationId xmlns:a16="http://schemas.microsoft.com/office/drawing/2014/main" id="{3E355FAF-0DAC-0E98-C597-FE4AA6AF42DD}"/>
              </a:ext>
            </a:extLst>
          </p:cNvPr>
          <p:cNvPicPr>
            <a:picLocks noChangeAspect="1"/>
          </p:cNvPicPr>
          <p:nvPr/>
        </p:nvPicPr>
        <p:blipFill rotWithShape="1">
          <a:blip r:embed="rId3"/>
          <a:srcRect l="13363" t="13022" r="52513" b="14252"/>
          <a:stretch/>
        </p:blipFill>
        <p:spPr>
          <a:xfrm>
            <a:off x="3555115" y="2702703"/>
            <a:ext cx="2377678" cy="2153629"/>
          </a:xfrm>
          <a:prstGeom prst="rect">
            <a:avLst/>
          </a:prstGeom>
        </p:spPr>
      </p:pic>
      <p:sp>
        <p:nvSpPr>
          <p:cNvPr id="3" name="Content Placeholder 2">
            <a:extLst>
              <a:ext uri="{FF2B5EF4-FFF2-40B4-BE49-F238E27FC236}">
                <a16:creationId xmlns:a16="http://schemas.microsoft.com/office/drawing/2014/main" id="{37E63FFF-B483-28EA-2A5F-21AE3D4FABB0}"/>
              </a:ext>
            </a:extLst>
          </p:cNvPr>
          <p:cNvSpPr>
            <a:spLocks noGrp="1"/>
          </p:cNvSpPr>
          <p:nvPr>
            <p:ph idx="1"/>
          </p:nvPr>
        </p:nvSpPr>
        <p:spPr>
          <a:xfrm>
            <a:off x="6431280" y="2204720"/>
            <a:ext cx="5559437" cy="4218134"/>
          </a:xfrm>
        </p:spPr>
        <p:txBody>
          <a:bodyPr>
            <a:normAutofit fontScale="92500" lnSpcReduction="10000"/>
          </a:bodyPr>
          <a:lstStyle/>
          <a:p>
            <a:pPr>
              <a:tabLst>
                <a:tab pos="457200" algn="l"/>
              </a:tabLst>
            </a:pPr>
            <a:r>
              <a:rPr lang="en-AU" sz="1600" b="1" dirty="0">
                <a:effectLst/>
                <a:latin typeface="Segoe UI" panose="020B0502040204020203" pitchFamily="34" charset="0"/>
                <a:ea typeface="Times New Roman" panose="02020603050405020304" pitchFamily="18" charset="0"/>
              </a:rPr>
              <a:t>Friends and Peers: </a:t>
            </a:r>
          </a:p>
          <a:p>
            <a:pPr marL="571500" lvl="1" indent="-342900">
              <a:tabLst>
                <a:tab pos="457200" algn="l"/>
              </a:tabLst>
            </a:pPr>
            <a:r>
              <a:rPr lang="en-AU" sz="1600" dirty="0">
                <a:effectLst/>
                <a:latin typeface="Segoe UI" panose="020B0502040204020203" pitchFamily="34" charset="0"/>
                <a:ea typeface="Times New Roman" panose="02020603050405020304" pitchFamily="18" charset="0"/>
              </a:rPr>
              <a:t>Building social support among friends and peers is crucial for emotional well-being. </a:t>
            </a:r>
          </a:p>
          <a:p>
            <a:pPr marL="342900" lvl="0" indent="-342900">
              <a:tabLst>
                <a:tab pos="457200" algn="l"/>
              </a:tabLst>
            </a:pPr>
            <a:r>
              <a:rPr lang="en-AU" sz="1600" b="1" dirty="0">
                <a:effectLst/>
                <a:latin typeface="Segoe UI" panose="020B0502040204020203" pitchFamily="34" charset="0"/>
                <a:ea typeface="Times New Roman" panose="02020603050405020304" pitchFamily="18" charset="0"/>
              </a:rPr>
              <a:t>Family Support: </a:t>
            </a:r>
          </a:p>
          <a:p>
            <a:pPr marL="571500" lvl="1" indent="-342900">
              <a:tabLst>
                <a:tab pos="457200" algn="l"/>
              </a:tabLst>
            </a:pPr>
            <a:r>
              <a:rPr lang="en-AU" sz="1600" dirty="0">
                <a:effectLst/>
                <a:latin typeface="Segoe UI" panose="020B0502040204020203" pitchFamily="34" charset="0"/>
                <a:ea typeface="Times New Roman" panose="02020603050405020304" pitchFamily="18" charset="0"/>
              </a:rPr>
              <a:t>Strong family relationships contribute to resilience. </a:t>
            </a:r>
          </a:p>
          <a:p>
            <a:pPr marL="342900" lvl="0" indent="-342900">
              <a:tabLst>
                <a:tab pos="457200" algn="l"/>
              </a:tabLst>
            </a:pPr>
            <a:r>
              <a:rPr lang="en-AU" sz="1600" b="1" dirty="0">
                <a:effectLst/>
                <a:latin typeface="Segoe UI" panose="020B0502040204020203" pitchFamily="34" charset="0"/>
                <a:ea typeface="Times New Roman" panose="02020603050405020304" pitchFamily="18" charset="0"/>
              </a:rPr>
              <a:t>Mentors and Role Models: </a:t>
            </a:r>
          </a:p>
          <a:p>
            <a:pPr marL="571500" lvl="1" indent="-342900">
              <a:tabLst>
                <a:tab pos="457200" algn="l"/>
              </a:tabLst>
            </a:pPr>
            <a:r>
              <a:rPr lang="en-AU" sz="1600" dirty="0">
                <a:effectLst/>
                <a:latin typeface="Segoe UI" panose="020B0502040204020203" pitchFamily="34" charset="0"/>
                <a:ea typeface="Times New Roman" panose="02020603050405020304" pitchFamily="18" charset="0"/>
              </a:rPr>
              <a:t>Mentors and role models play a significant role in providing guidance, advice, and support. </a:t>
            </a:r>
          </a:p>
          <a:p>
            <a:pPr marL="342900" lvl="0" indent="-342900">
              <a:tabLst>
                <a:tab pos="457200" algn="l"/>
              </a:tabLst>
            </a:pPr>
            <a:r>
              <a:rPr lang="en-AU" sz="1600" b="1" dirty="0">
                <a:effectLst/>
                <a:latin typeface="Segoe UI" panose="020B0502040204020203" pitchFamily="34" charset="0"/>
                <a:ea typeface="Times New Roman" panose="02020603050405020304" pitchFamily="18" charset="0"/>
              </a:rPr>
              <a:t>Supportive Communities: </a:t>
            </a:r>
          </a:p>
          <a:p>
            <a:pPr marL="571500" lvl="1" indent="-342900">
              <a:tabLst>
                <a:tab pos="457200" algn="l"/>
              </a:tabLst>
            </a:pPr>
            <a:r>
              <a:rPr lang="en-AU" sz="1600" dirty="0">
                <a:effectLst/>
                <a:latin typeface="Segoe UI" panose="020B0502040204020203" pitchFamily="34" charset="0"/>
                <a:ea typeface="Times New Roman" panose="02020603050405020304" pitchFamily="18" charset="0"/>
              </a:rPr>
              <a:t>Being part of supportive communities, such as clubs, sports teams, or cultural organizations, can foster resilience. </a:t>
            </a:r>
          </a:p>
          <a:p>
            <a:pPr marL="342900" lvl="0" indent="-342900">
              <a:tabLst>
                <a:tab pos="457200" algn="l"/>
              </a:tabLst>
            </a:pPr>
            <a:r>
              <a:rPr lang="en-AU" sz="1600" b="1" dirty="0">
                <a:effectLst/>
                <a:latin typeface="Segoe UI" panose="020B0502040204020203" pitchFamily="34" charset="0"/>
                <a:ea typeface="Times New Roman" panose="02020603050405020304" pitchFamily="18" charset="0"/>
              </a:rPr>
              <a:t>Professional Support: </a:t>
            </a:r>
          </a:p>
          <a:p>
            <a:pPr marL="571500" lvl="1" indent="-342900">
              <a:tabLst>
                <a:tab pos="457200" algn="l"/>
              </a:tabLst>
            </a:pPr>
            <a:r>
              <a:rPr lang="en-AU" sz="1600" dirty="0">
                <a:effectLst/>
                <a:latin typeface="Segoe UI" panose="020B0502040204020203" pitchFamily="34" charset="0"/>
                <a:ea typeface="Times New Roman" panose="02020603050405020304" pitchFamily="18" charset="0"/>
              </a:rPr>
              <a:t>Seeking professional support from counsellors, therapists, or support groups can be instrumental in building resilience. </a:t>
            </a:r>
            <a:endParaRPr lang="en-AU" sz="1600"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40655C07-1C99-4082-DBFE-E8F18866FDDA}"/>
              </a:ext>
            </a:extLst>
          </p:cNvPr>
          <p:cNvSpPr txBox="1"/>
          <p:nvPr/>
        </p:nvSpPr>
        <p:spPr>
          <a:xfrm>
            <a:off x="332406" y="5650494"/>
            <a:ext cx="6098874" cy="923330"/>
          </a:xfrm>
          <a:prstGeom prst="rect">
            <a:avLst/>
          </a:prstGeom>
          <a:noFill/>
        </p:spPr>
        <p:txBody>
          <a:bodyPr wrap="square">
            <a:spAutoFit/>
          </a:bodyPr>
          <a:lstStyle/>
          <a:p>
            <a:pPr marL="0" lvl="0" indent="0" algn="ctr">
              <a:buNone/>
              <a:tabLst>
                <a:tab pos="457200" algn="l"/>
              </a:tabLst>
            </a:pPr>
            <a:r>
              <a:rPr lang="en-AU" sz="1800" dirty="0">
                <a:latin typeface="Segoe UI" panose="020B0502040204020203" pitchFamily="34" charset="0"/>
                <a:ea typeface="Times New Roman" panose="02020603050405020304" pitchFamily="18" charset="0"/>
              </a:rPr>
              <a:t>Building social support is important for our resilience as it helps us to create a supportive network for ourselves for when we need help. Our support network can include:</a:t>
            </a:r>
          </a:p>
        </p:txBody>
      </p:sp>
    </p:spTree>
    <p:extLst>
      <p:ext uri="{BB962C8B-B14F-4D97-AF65-F5344CB8AC3E}">
        <p14:creationId xmlns:p14="http://schemas.microsoft.com/office/powerpoint/2010/main" val="597865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53FD8994-38E8-4E51-9444-3447A1719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25497"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dirty="0"/>
          </a:p>
        </p:txBody>
      </p:sp>
      <p:sp>
        <p:nvSpPr>
          <p:cNvPr id="2057" name="Rectangle 2056">
            <a:extLst>
              <a:ext uri="{FF2B5EF4-FFF2-40B4-BE49-F238E27FC236}">
                <a16:creationId xmlns:a16="http://schemas.microsoft.com/office/drawing/2014/main" id="{F71673FE-0587-4591-8D3B-D7F7345E8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910" y="176109"/>
            <a:ext cx="6059524" cy="1645919"/>
          </a:xfrm>
          <a:prstGeom prst="rect">
            <a:avLst/>
          </a:prstGeom>
          <a:solidFill>
            <a:schemeClr val="tx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rgbClr val="FFFFFF"/>
              </a:solidFill>
            </a:endParaRPr>
          </a:p>
        </p:txBody>
      </p:sp>
      <p:sp>
        <p:nvSpPr>
          <p:cNvPr id="2" name="Title 1">
            <a:extLst>
              <a:ext uri="{FF2B5EF4-FFF2-40B4-BE49-F238E27FC236}">
                <a16:creationId xmlns:a16="http://schemas.microsoft.com/office/drawing/2014/main" id="{6AD171A3-3FBC-5279-66BC-58B54B74385D}"/>
              </a:ext>
            </a:extLst>
          </p:cNvPr>
          <p:cNvSpPr>
            <a:spLocks noGrp="1"/>
          </p:cNvSpPr>
          <p:nvPr>
            <p:ph type="title"/>
          </p:nvPr>
        </p:nvSpPr>
        <p:spPr>
          <a:xfrm>
            <a:off x="6449961" y="284176"/>
            <a:ext cx="5094980" cy="1508760"/>
          </a:xfrm>
        </p:spPr>
        <p:txBody>
          <a:bodyPr>
            <a:normAutofit/>
          </a:bodyPr>
          <a:lstStyle/>
          <a:p>
            <a:r>
              <a:rPr lang="en-US" sz="3400" dirty="0"/>
              <a:t>Activity 2: </a:t>
            </a:r>
            <a:br>
              <a:rPr lang="en-US" sz="3400" dirty="0"/>
            </a:br>
            <a:r>
              <a:rPr lang="en-US" sz="3400" dirty="0"/>
              <a:t>Who is your support network?		</a:t>
            </a:r>
            <a:r>
              <a:rPr lang="en-AU" sz="3600" dirty="0"/>
              <a:t> </a:t>
            </a:r>
            <a:r>
              <a:rPr lang="en-AU" sz="2000" dirty="0"/>
              <a:t>(Pg. 24).</a:t>
            </a:r>
            <a:endParaRPr lang="en-US" sz="3400" dirty="0"/>
          </a:p>
        </p:txBody>
      </p:sp>
      <p:pic>
        <p:nvPicPr>
          <p:cNvPr id="2050" name="Picture 2" descr="Handprint Clipart Hand Print, HD Png Download , Transparent Png Image -  PNGitem">
            <a:extLst>
              <a:ext uri="{FF2B5EF4-FFF2-40B4-BE49-F238E27FC236}">
                <a16:creationId xmlns:a16="http://schemas.microsoft.com/office/drawing/2014/main" id="{61858A51-6938-1A7C-FED3-4859C07ADE0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350" b="2"/>
          <a:stretch/>
        </p:blipFill>
        <p:spPr bwMode="auto">
          <a:xfrm>
            <a:off x="233966" y="544904"/>
            <a:ext cx="5353736" cy="620146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8B6AB712-46F3-65C9-318E-63D8FCE29D21}"/>
              </a:ext>
            </a:extLst>
          </p:cNvPr>
          <p:cNvSpPr>
            <a:spLocks noGrp="1"/>
          </p:cNvSpPr>
          <p:nvPr>
            <p:ph idx="1"/>
          </p:nvPr>
        </p:nvSpPr>
        <p:spPr>
          <a:xfrm>
            <a:off x="6454363" y="2011680"/>
            <a:ext cx="5090578" cy="4206240"/>
          </a:xfrm>
        </p:spPr>
        <p:txBody>
          <a:bodyPr>
            <a:normAutofit lnSpcReduction="10000"/>
          </a:bodyPr>
          <a:lstStyle/>
          <a:p>
            <a:r>
              <a:rPr lang="en-US" sz="1900" dirty="0"/>
              <a:t>In the space provided in your book, trace around the outline of your hand. </a:t>
            </a:r>
          </a:p>
          <a:p>
            <a:endParaRPr lang="en-US" sz="1900" dirty="0"/>
          </a:p>
          <a:p>
            <a:r>
              <a:rPr lang="en-US" sz="1900" dirty="0"/>
              <a:t>In the palm area, write your own definition of </a:t>
            </a:r>
            <a:r>
              <a:rPr lang="en-US" sz="1900" b="1" dirty="0"/>
              <a:t>SOCIAL SUPPORT.</a:t>
            </a:r>
          </a:p>
          <a:p>
            <a:endParaRPr lang="en-US" sz="1900" dirty="0"/>
          </a:p>
          <a:p>
            <a:r>
              <a:rPr lang="en-US" sz="1900" dirty="0"/>
              <a:t>At the tip of each finger, write down a person in your life that you can go to if you need help. Be specific and write their name.</a:t>
            </a:r>
          </a:p>
          <a:p>
            <a:endParaRPr lang="en-US" sz="1900" dirty="0"/>
          </a:p>
          <a:p>
            <a:r>
              <a:rPr lang="en-US" sz="1900" dirty="0"/>
              <a:t>In the space of each finger, write down what kind of support that person can offer you. </a:t>
            </a:r>
          </a:p>
        </p:txBody>
      </p:sp>
      <p:sp>
        <p:nvSpPr>
          <p:cNvPr id="4" name="TextBox 3">
            <a:extLst>
              <a:ext uri="{FF2B5EF4-FFF2-40B4-BE49-F238E27FC236}">
                <a16:creationId xmlns:a16="http://schemas.microsoft.com/office/drawing/2014/main" id="{16B9C0DB-6DBA-24DC-3D9C-D4E905E5A9A6}"/>
              </a:ext>
            </a:extLst>
          </p:cNvPr>
          <p:cNvSpPr txBox="1"/>
          <p:nvPr/>
        </p:nvSpPr>
        <p:spPr>
          <a:xfrm rot="19079443">
            <a:off x="-116447" y="2434008"/>
            <a:ext cx="966139" cy="461665"/>
          </a:xfrm>
          <a:prstGeom prst="rect">
            <a:avLst/>
          </a:prstGeom>
          <a:noFill/>
        </p:spPr>
        <p:txBody>
          <a:bodyPr wrap="square" rtlCol="0">
            <a:spAutoFit/>
          </a:bodyPr>
          <a:lstStyle/>
          <a:p>
            <a:r>
              <a:rPr lang="en-US" sz="2400" b="1" dirty="0">
                <a:solidFill>
                  <a:schemeClr val="bg1"/>
                </a:solidFill>
              </a:rPr>
              <a:t>MUM</a:t>
            </a:r>
          </a:p>
        </p:txBody>
      </p:sp>
      <p:sp>
        <p:nvSpPr>
          <p:cNvPr id="5" name="TextBox 4">
            <a:extLst>
              <a:ext uri="{FF2B5EF4-FFF2-40B4-BE49-F238E27FC236}">
                <a16:creationId xmlns:a16="http://schemas.microsoft.com/office/drawing/2014/main" id="{C8C3E3FA-A025-5181-8CD6-A44F3728FF9C}"/>
              </a:ext>
            </a:extLst>
          </p:cNvPr>
          <p:cNvSpPr txBox="1"/>
          <p:nvPr/>
        </p:nvSpPr>
        <p:spPr>
          <a:xfrm rot="19489887">
            <a:off x="490407" y="1126634"/>
            <a:ext cx="1179796" cy="461665"/>
          </a:xfrm>
          <a:prstGeom prst="rect">
            <a:avLst/>
          </a:prstGeom>
          <a:noFill/>
        </p:spPr>
        <p:txBody>
          <a:bodyPr wrap="square" rtlCol="0">
            <a:spAutoFit/>
          </a:bodyPr>
          <a:lstStyle/>
          <a:p>
            <a:r>
              <a:rPr lang="en-US" sz="2400" b="1" dirty="0">
                <a:solidFill>
                  <a:schemeClr val="bg1"/>
                </a:solidFill>
              </a:rPr>
              <a:t>UNCLE</a:t>
            </a:r>
          </a:p>
        </p:txBody>
      </p:sp>
      <p:sp>
        <p:nvSpPr>
          <p:cNvPr id="6" name="TextBox 5">
            <a:extLst>
              <a:ext uri="{FF2B5EF4-FFF2-40B4-BE49-F238E27FC236}">
                <a16:creationId xmlns:a16="http://schemas.microsoft.com/office/drawing/2014/main" id="{1495779C-9532-3A38-1905-2BFB67C8E2D6}"/>
              </a:ext>
            </a:extLst>
          </p:cNvPr>
          <p:cNvSpPr txBox="1"/>
          <p:nvPr/>
        </p:nvSpPr>
        <p:spPr>
          <a:xfrm rot="20532976">
            <a:off x="1582974" y="325714"/>
            <a:ext cx="1343964" cy="461665"/>
          </a:xfrm>
          <a:prstGeom prst="rect">
            <a:avLst/>
          </a:prstGeom>
          <a:noFill/>
        </p:spPr>
        <p:txBody>
          <a:bodyPr wrap="square" rtlCol="0">
            <a:spAutoFit/>
          </a:bodyPr>
          <a:lstStyle/>
          <a:p>
            <a:r>
              <a:rPr lang="en-US" sz="2400" b="1" dirty="0">
                <a:solidFill>
                  <a:schemeClr val="bg1"/>
                </a:solidFill>
              </a:rPr>
              <a:t>BOSS</a:t>
            </a:r>
          </a:p>
        </p:txBody>
      </p:sp>
      <p:sp>
        <p:nvSpPr>
          <p:cNvPr id="7" name="TextBox 6">
            <a:extLst>
              <a:ext uri="{FF2B5EF4-FFF2-40B4-BE49-F238E27FC236}">
                <a16:creationId xmlns:a16="http://schemas.microsoft.com/office/drawing/2014/main" id="{C61BFDAC-8FCC-235D-ECEA-4AAD56E568FF}"/>
              </a:ext>
            </a:extLst>
          </p:cNvPr>
          <p:cNvSpPr txBox="1"/>
          <p:nvPr/>
        </p:nvSpPr>
        <p:spPr>
          <a:xfrm rot="1534611">
            <a:off x="4894527" y="2222572"/>
            <a:ext cx="1343964" cy="461665"/>
          </a:xfrm>
          <a:prstGeom prst="rect">
            <a:avLst/>
          </a:prstGeom>
          <a:noFill/>
        </p:spPr>
        <p:txBody>
          <a:bodyPr wrap="square" rtlCol="0">
            <a:spAutoFit/>
          </a:bodyPr>
          <a:lstStyle/>
          <a:p>
            <a:r>
              <a:rPr lang="en-US" sz="2400" b="1" dirty="0">
                <a:solidFill>
                  <a:schemeClr val="bg1"/>
                </a:solidFill>
              </a:rPr>
              <a:t>FRIEND</a:t>
            </a:r>
          </a:p>
        </p:txBody>
      </p:sp>
      <p:sp>
        <p:nvSpPr>
          <p:cNvPr id="8" name="TextBox 7">
            <a:extLst>
              <a:ext uri="{FF2B5EF4-FFF2-40B4-BE49-F238E27FC236}">
                <a16:creationId xmlns:a16="http://schemas.microsoft.com/office/drawing/2014/main" id="{C52A2E3F-6718-168B-8EB2-DCB1C4E4DDD8}"/>
              </a:ext>
            </a:extLst>
          </p:cNvPr>
          <p:cNvSpPr txBox="1"/>
          <p:nvPr/>
        </p:nvSpPr>
        <p:spPr>
          <a:xfrm rot="784281">
            <a:off x="2873182" y="454587"/>
            <a:ext cx="1559856" cy="461665"/>
          </a:xfrm>
          <a:prstGeom prst="rect">
            <a:avLst/>
          </a:prstGeom>
          <a:noFill/>
        </p:spPr>
        <p:txBody>
          <a:bodyPr wrap="square" rtlCol="0">
            <a:spAutoFit/>
          </a:bodyPr>
          <a:lstStyle/>
          <a:p>
            <a:r>
              <a:rPr lang="en-US" sz="2400" b="1" dirty="0">
                <a:solidFill>
                  <a:schemeClr val="bg1"/>
                </a:solidFill>
              </a:rPr>
              <a:t>TEACHER</a:t>
            </a:r>
          </a:p>
        </p:txBody>
      </p:sp>
      <p:sp>
        <p:nvSpPr>
          <p:cNvPr id="9" name="TextBox 8">
            <a:extLst>
              <a:ext uri="{FF2B5EF4-FFF2-40B4-BE49-F238E27FC236}">
                <a16:creationId xmlns:a16="http://schemas.microsoft.com/office/drawing/2014/main" id="{472AE0DA-BBED-667A-AAEC-122D3B676464}"/>
              </a:ext>
            </a:extLst>
          </p:cNvPr>
          <p:cNvSpPr txBox="1"/>
          <p:nvPr/>
        </p:nvSpPr>
        <p:spPr>
          <a:xfrm rot="20787270">
            <a:off x="2246635" y="3857528"/>
            <a:ext cx="1951920" cy="1200329"/>
          </a:xfrm>
          <a:prstGeom prst="rect">
            <a:avLst/>
          </a:prstGeom>
          <a:noFill/>
        </p:spPr>
        <p:txBody>
          <a:bodyPr wrap="square" rtlCol="0">
            <a:spAutoFit/>
          </a:bodyPr>
          <a:lstStyle/>
          <a:p>
            <a:r>
              <a:rPr lang="en-US" b="1" dirty="0">
                <a:solidFill>
                  <a:schemeClr val="bg1"/>
                </a:solidFill>
              </a:rPr>
              <a:t>Social Support is:</a:t>
            </a:r>
          </a:p>
          <a:p>
            <a:r>
              <a:rPr lang="en-US" b="1" dirty="0">
                <a:solidFill>
                  <a:schemeClr val="bg1"/>
                </a:solidFill>
              </a:rPr>
              <a:t>_____________________________________________</a:t>
            </a:r>
          </a:p>
        </p:txBody>
      </p:sp>
      <p:sp>
        <p:nvSpPr>
          <p:cNvPr id="10" name="TextBox 9">
            <a:extLst>
              <a:ext uri="{FF2B5EF4-FFF2-40B4-BE49-F238E27FC236}">
                <a16:creationId xmlns:a16="http://schemas.microsoft.com/office/drawing/2014/main" id="{AF8BC568-8C69-ACBB-828C-9FF04A21B46C}"/>
              </a:ext>
            </a:extLst>
          </p:cNvPr>
          <p:cNvSpPr txBox="1"/>
          <p:nvPr/>
        </p:nvSpPr>
        <p:spPr>
          <a:xfrm rot="5400000">
            <a:off x="2127430" y="1986687"/>
            <a:ext cx="2443544" cy="584775"/>
          </a:xfrm>
          <a:prstGeom prst="rect">
            <a:avLst/>
          </a:prstGeom>
          <a:noFill/>
        </p:spPr>
        <p:txBody>
          <a:bodyPr wrap="square" rtlCol="0">
            <a:spAutoFit/>
          </a:bodyPr>
          <a:lstStyle/>
          <a:p>
            <a:r>
              <a:rPr lang="en-US" sz="1600" b="1" dirty="0">
                <a:solidFill>
                  <a:schemeClr val="bg1"/>
                </a:solidFill>
              </a:rPr>
              <a:t>Helps me at school when I need it.</a:t>
            </a:r>
          </a:p>
        </p:txBody>
      </p:sp>
    </p:spTree>
    <p:extLst>
      <p:ext uri="{BB962C8B-B14F-4D97-AF65-F5344CB8AC3E}">
        <p14:creationId xmlns:p14="http://schemas.microsoft.com/office/powerpoint/2010/main" val="1809584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956F4-864F-4FAE-ACC0-BD3D1F071429}"/>
              </a:ext>
            </a:extLst>
          </p:cNvPr>
          <p:cNvSpPr>
            <a:spLocks noGrp="1"/>
          </p:cNvSpPr>
          <p:nvPr>
            <p:ph type="title"/>
          </p:nvPr>
        </p:nvSpPr>
        <p:spPr>
          <a:noFill/>
        </p:spPr>
        <p:txBody>
          <a:bodyPr>
            <a:normAutofit/>
          </a:bodyPr>
          <a:lstStyle/>
          <a:p>
            <a:r>
              <a:rPr lang="en-AU" sz="5400" dirty="0"/>
              <a:t>RECAP:</a:t>
            </a:r>
            <a:br>
              <a:rPr lang="en-AU" sz="5400" dirty="0"/>
            </a:br>
            <a:r>
              <a:rPr lang="en-AU" sz="5400" dirty="0"/>
              <a:t>Five Skills of resilience  </a:t>
            </a:r>
          </a:p>
        </p:txBody>
      </p:sp>
      <p:pic>
        <p:nvPicPr>
          <p:cNvPr id="4" name="Picture 3" descr="A hand pointing at different colored faces&#10;&#10;Description automatically generated">
            <a:extLst>
              <a:ext uri="{FF2B5EF4-FFF2-40B4-BE49-F238E27FC236}">
                <a16:creationId xmlns:a16="http://schemas.microsoft.com/office/drawing/2014/main" id="{938445F5-7749-40C1-A808-4775448428D6}"/>
              </a:ext>
            </a:extLst>
          </p:cNvPr>
          <p:cNvPicPr>
            <a:picLocks noChangeAspect="1"/>
          </p:cNvPicPr>
          <p:nvPr/>
        </p:nvPicPr>
        <p:blipFill>
          <a:blip r:embed="rId3"/>
          <a:stretch>
            <a:fillRect/>
          </a:stretch>
        </p:blipFill>
        <p:spPr>
          <a:xfrm>
            <a:off x="497657" y="2266078"/>
            <a:ext cx="1735768" cy="1385757"/>
          </a:xfrm>
          <a:prstGeom prst="rect">
            <a:avLst/>
          </a:prstGeom>
        </p:spPr>
      </p:pic>
      <p:pic>
        <p:nvPicPr>
          <p:cNvPr id="5" name="Picture 4" descr="A light bulb inside a head&#10;&#10;Description automatically generated">
            <a:extLst>
              <a:ext uri="{FF2B5EF4-FFF2-40B4-BE49-F238E27FC236}">
                <a16:creationId xmlns:a16="http://schemas.microsoft.com/office/drawing/2014/main" id="{7249F5AD-4EEE-4851-9708-D9F45A3D0B5B}"/>
              </a:ext>
            </a:extLst>
          </p:cNvPr>
          <p:cNvPicPr>
            <a:picLocks noChangeAspect="1"/>
          </p:cNvPicPr>
          <p:nvPr/>
        </p:nvPicPr>
        <p:blipFill>
          <a:blip r:embed="rId4"/>
          <a:stretch>
            <a:fillRect/>
          </a:stretch>
        </p:blipFill>
        <p:spPr>
          <a:xfrm>
            <a:off x="2860097" y="3575897"/>
            <a:ext cx="1730056" cy="1385757"/>
          </a:xfrm>
          <a:prstGeom prst="rect">
            <a:avLst/>
          </a:prstGeom>
        </p:spPr>
      </p:pic>
      <p:pic>
        <p:nvPicPr>
          <p:cNvPr id="6" name="Picture 5" descr="A group of cartoon people with words&#10;&#10;Description automatically generated">
            <a:extLst>
              <a:ext uri="{FF2B5EF4-FFF2-40B4-BE49-F238E27FC236}">
                <a16:creationId xmlns:a16="http://schemas.microsoft.com/office/drawing/2014/main" id="{5F78AEB8-D2EC-45F2-B667-4B1EEE63D92B}"/>
              </a:ext>
            </a:extLst>
          </p:cNvPr>
          <p:cNvPicPr>
            <a:picLocks noChangeAspect="1"/>
          </p:cNvPicPr>
          <p:nvPr/>
        </p:nvPicPr>
        <p:blipFill>
          <a:blip r:embed="rId5"/>
          <a:stretch>
            <a:fillRect/>
          </a:stretch>
        </p:blipFill>
        <p:spPr>
          <a:xfrm>
            <a:off x="5182897" y="2266076"/>
            <a:ext cx="1914005" cy="1385757"/>
          </a:xfrm>
          <a:prstGeom prst="rect">
            <a:avLst/>
          </a:prstGeom>
        </p:spPr>
      </p:pic>
      <p:pic>
        <p:nvPicPr>
          <p:cNvPr id="7" name="Picture 6" descr="A blue icon of two people hugging&#10;&#10;Description automatically generated">
            <a:extLst>
              <a:ext uri="{FF2B5EF4-FFF2-40B4-BE49-F238E27FC236}">
                <a16:creationId xmlns:a16="http://schemas.microsoft.com/office/drawing/2014/main" id="{82251346-56E7-4C6A-8D1D-877FF548DC62}"/>
              </a:ext>
            </a:extLst>
          </p:cNvPr>
          <p:cNvPicPr>
            <a:picLocks noChangeAspect="1"/>
          </p:cNvPicPr>
          <p:nvPr/>
        </p:nvPicPr>
        <p:blipFill>
          <a:blip r:embed="rId6"/>
          <a:stretch>
            <a:fillRect/>
          </a:stretch>
        </p:blipFill>
        <p:spPr>
          <a:xfrm>
            <a:off x="7646902" y="3514114"/>
            <a:ext cx="1809541" cy="1385757"/>
          </a:xfrm>
          <a:prstGeom prst="rect">
            <a:avLst/>
          </a:prstGeom>
        </p:spPr>
      </p:pic>
      <p:pic>
        <p:nvPicPr>
          <p:cNvPr id="10" name="Picture 9">
            <a:extLst>
              <a:ext uri="{FF2B5EF4-FFF2-40B4-BE49-F238E27FC236}">
                <a16:creationId xmlns:a16="http://schemas.microsoft.com/office/drawing/2014/main" id="{74BD2F4B-39D0-4E65-B9E9-7EAFED81CE88}"/>
              </a:ext>
            </a:extLst>
          </p:cNvPr>
          <p:cNvPicPr>
            <a:picLocks noChangeAspect="1"/>
          </p:cNvPicPr>
          <p:nvPr/>
        </p:nvPicPr>
        <p:blipFill>
          <a:blip r:embed="rId7"/>
          <a:stretch>
            <a:fillRect/>
          </a:stretch>
        </p:blipFill>
        <p:spPr>
          <a:xfrm>
            <a:off x="9988599" y="2266075"/>
            <a:ext cx="1730055" cy="1385757"/>
          </a:xfrm>
          <a:prstGeom prst="rect">
            <a:avLst/>
          </a:prstGeom>
        </p:spPr>
      </p:pic>
      <p:sp>
        <p:nvSpPr>
          <p:cNvPr id="12" name="TextBox 11">
            <a:extLst>
              <a:ext uri="{FF2B5EF4-FFF2-40B4-BE49-F238E27FC236}">
                <a16:creationId xmlns:a16="http://schemas.microsoft.com/office/drawing/2014/main" id="{B8C692FA-EB86-5930-FC79-C16054D17787}"/>
              </a:ext>
            </a:extLst>
          </p:cNvPr>
          <p:cNvSpPr txBox="1"/>
          <p:nvPr/>
        </p:nvSpPr>
        <p:spPr>
          <a:xfrm>
            <a:off x="169901" y="3799413"/>
            <a:ext cx="2276733" cy="1446550"/>
          </a:xfrm>
          <a:prstGeom prst="rect">
            <a:avLst/>
          </a:prstGeom>
          <a:noFill/>
        </p:spPr>
        <p:txBody>
          <a:bodyPr wrap="square">
            <a:spAutoFit/>
          </a:bodyPr>
          <a:lstStyle/>
          <a:p>
            <a:pPr lvl="0" algn="ctr">
              <a:lnSpc>
                <a:spcPct val="100000"/>
              </a:lnSpc>
            </a:pPr>
            <a:r>
              <a:rPr lang="en-AU" sz="1600" b="1" dirty="0">
                <a:solidFill>
                  <a:srgbClr val="7030A0"/>
                </a:solidFill>
              </a:rPr>
              <a:t>Understanding Emotions</a:t>
            </a:r>
            <a:r>
              <a:rPr lang="en-AU" sz="1600" dirty="0">
                <a:solidFill>
                  <a:srgbClr val="7030A0"/>
                </a:solidFill>
              </a:rPr>
              <a:t>: </a:t>
            </a:r>
          </a:p>
          <a:p>
            <a:pPr lvl="0" algn="ctr">
              <a:lnSpc>
                <a:spcPct val="100000"/>
              </a:lnSpc>
            </a:pPr>
            <a:r>
              <a:rPr lang="en-AU" sz="1400" dirty="0"/>
              <a:t>The ability to recognize and manage emotions in a healthy and constructive way.</a:t>
            </a:r>
            <a:endParaRPr lang="en-US" sz="1400" dirty="0"/>
          </a:p>
        </p:txBody>
      </p:sp>
      <p:sp>
        <p:nvSpPr>
          <p:cNvPr id="14" name="TextBox 13">
            <a:extLst>
              <a:ext uri="{FF2B5EF4-FFF2-40B4-BE49-F238E27FC236}">
                <a16:creationId xmlns:a16="http://schemas.microsoft.com/office/drawing/2014/main" id="{9C0CCFC2-3F9D-C70B-5510-D4BD1F06BBE3}"/>
              </a:ext>
            </a:extLst>
          </p:cNvPr>
          <p:cNvSpPr txBox="1"/>
          <p:nvPr/>
        </p:nvSpPr>
        <p:spPr>
          <a:xfrm>
            <a:off x="2604186" y="5075766"/>
            <a:ext cx="2190235" cy="1446550"/>
          </a:xfrm>
          <a:prstGeom prst="rect">
            <a:avLst/>
          </a:prstGeom>
          <a:noFill/>
        </p:spPr>
        <p:txBody>
          <a:bodyPr wrap="square">
            <a:spAutoFit/>
          </a:bodyPr>
          <a:lstStyle/>
          <a:p>
            <a:pPr lvl="0" algn="ctr">
              <a:lnSpc>
                <a:spcPct val="100000"/>
              </a:lnSpc>
            </a:pPr>
            <a:r>
              <a:rPr lang="en-AU" sz="1600" b="1" dirty="0">
                <a:solidFill>
                  <a:srgbClr val="7030A0"/>
                </a:solidFill>
              </a:rPr>
              <a:t>Helpful &amp; Positive Thinking: </a:t>
            </a:r>
          </a:p>
          <a:p>
            <a:pPr lvl="0" algn="ctr">
              <a:lnSpc>
                <a:spcPct val="100000"/>
              </a:lnSpc>
            </a:pPr>
            <a:r>
              <a:rPr lang="en-AU" sz="1400" dirty="0"/>
              <a:t>Cultivating a positive mindset and optimistic outlook, even in difficult situations. </a:t>
            </a:r>
            <a:endParaRPr lang="en-US" sz="1400" dirty="0"/>
          </a:p>
        </p:txBody>
      </p:sp>
      <p:sp>
        <p:nvSpPr>
          <p:cNvPr id="16" name="TextBox 15">
            <a:extLst>
              <a:ext uri="{FF2B5EF4-FFF2-40B4-BE49-F238E27FC236}">
                <a16:creationId xmlns:a16="http://schemas.microsoft.com/office/drawing/2014/main" id="{316CF869-3C13-8A5A-B762-023E7A88E52A}"/>
              </a:ext>
            </a:extLst>
          </p:cNvPr>
          <p:cNvSpPr txBox="1"/>
          <p:nvPr/>
        </p:nvSpPr>
        <p:spPr>
          <a:xfrm>
            <a:off x="5058319" y="3765946"/>
            <a:ext cx="2073279" cy="1415772"/>
          </a:xfrm>
          <a:prstGeom prst="rect">
            <a:avLst/>
          </a:prstGeom>
          <a:noFill/>
        </p:spPr>
        <p:txBody>
          <a:bodyPr wrap="square">
            <a:spAutoFit/>
          </a:bodyPr>
          <a:lstStyle/>
          <a:p>
            <a:pPr lvl="0" algn="ctr">
              <a:lnSpc>
                <a:spcPct val="100000"/>
              </a:lnSpc>
            </a:pPr>
            <a:r>
              <a:rPr lang="en-AU" sz="1600" b="1" dirty="0">
                <a:solidFill>
                  <a:srgbClr val="7030A0"/>
                </a:solidFill>
              </a:rPr>
              <a:t>Resourcefulness: </a:t>
            </a:r>
          </a:p>
          <a:p>
            <a:pPr lvl="0" algn="ctr">
              <a:lnSpc>
                <a:spcPct val="100000"/>
              </a:lnSpc>
            </a:pPr>
            <a:r>
              <a:rPr lang="en-AU" sz="1400" dirty="0"/>
              <a:t>Developing effective problem-solving skills and the ability to adapt to changing circumstances.</a:t>
            </a:r>
            <a:endParaRPr lang="en-US" sz="1400" dirty="0"/>
          </a:p>
        </p:txBody>
      </p:sp>
      <p:sp>
        <p:nvSpPr>
          <p:cNvPr id="18" name="TextBox 17">
            <a:extLst>
              <a:ext uri="{FF2B5EF4-FFF2-40B4-BE49-F238E27FC236}">
                <a16:creationId xmlns:a16="http://schemas.microsoft.com/office/drawing/2014/main" id="{DEFD40A8-2415-38BE-F71C-24ECA9E74B66}"/>
              </a:ext>
            </a:extLst>
          </p:cNvPr>
          <p:cNvSpPr txBox="1"/>
          <p:nvPr/>
        </p:nvSpPr>
        <p:spPr>
          <a:xfrm>
            <a:off x="7525222" y="5013984"/>
            <a:ext cx="2192318" cy="1415772"/>
          </a:xfrm>
          <a:prstGeom prst="rect">
            <a:avLst/>
          </a:prstGeom>
          <a:noFill/>
        </p:spPr>
        <p:txBody>
          <a:bodyPr wrap="square">
            <a:spAutoFit/>
          </a:bodyPr>
          <a:lstStyle/>
          <a:p>
            <a:pPr lvl="0" algn="ctr">
              <a:lnSpc>
                <a:spcPct val="100000"/>
              </a:lnSpc>
            </a:pPr>
            <a:r>
              <a:rPr lang="en-AU" sz="1600" b="1" dirty="0">
                <a:solidFill>
                  <a:srgbClr val="7030A0"/>
                </a:solidFill>
              </a:rPr>
              <a:t>Relationship Skills</a:t>
            </a:r>
            <a:r>
              <a:rPr lang="en-AU" sz="1600" dirty="0">
                <a:solidFill>
                  <a:srgbClr val="7030A0"/>
                </a:solidFill>
              </a:rPr>
              <a:t>: </a:t>
            </a:r>
            <a:r>
              <a:rPr lang="en-AU" sz="1400" dirty="0"/>
              <a:t>Developing and maintaining positive relationships with family, friends, mentors, or support networks.</a:t>
            </a:r>
            <a:endParaRPr lang="en-US" sz="1400" dirty="0"/>
          </a:p>
        </p:txBody>
      </p:sp>
      <p:sp>
        <p:nvSpPr>
          <p:cNvPr id="20" name="TextBox 19">
            <a:extLst>
              <a:ext uri="{FF2B5EF4-FFF2-40B4-BE49-F238E27FC236}">
                <a16:creationId xmlns:a16="http://schemas.microsoft.com/office/drawing/2014/main" id="{EA3484CC-6FFE-19BE-0F1E-9B11001D94D1}"/>
              </a:ext>
            </a:extLst>
          </p:cNvPr>
          <p:cNvSpPr txBox="1"/>
          <p:nvPr/>
        </p:nvSpPr>
        <p:spPr>
          <a:xfrm>
            <a:off x="9927382" y="3799413"/>
            <a:ext cx="2119233" cy="2277547"/>
          </a:xfrm>
          <a:prstGeom prst="rect">
            <a:avLst/>
          </a:prstGeom>
          <a:noFill/>
        </p:spPr>
        <p:txBody>
          <a:bodyPr wrap="square">
            <a:spAutoFit/>
          </a:bodyPr>
          <a:lstStyle/>
          <a:p>
            <a:pPr lvl="0" algn="ctr">
              <a:lnSpc>
                <a:spcPct val="100000"/>
              </a:lnSpc>
            </a:pPr>
            <a:r>
              <a:rPr lang="en-AU" sz="1600" b="1" dirty="0">
                <a:solidFill>
                  <a:srgbClr val="7030A0"/>
                </a:solidFill>
              </a:rPr>
              <a:t>Self-understanding:</a:t>
            </a:r>
          </a:p>
          <a:p>
            <a:pPr lvl="0" algn="ctr"/>
            <a:r>
              <a:rPr lang="en-AU" sz="1400" dirty="0"/>
              <a:t>Knowing your strengths and limitations, what you value, how to show courage and self-reflection, as well as being able to take care of your physical, emotional and mental health and well-being.</a:t>
            </a:r>
            <a:endParaRPr lang="en-GB" sz="1400" dirty="0"/>
          </a:p>
        </p:txBody>
      </p:sp>
    </p:spTree>
    <p:extLst>
      <p:ext uri="{BB962C8B-B14F-4D97-AF65-F5344CB8AC3E}">
        <p14:creationId xmlns:p14="http://schemas.microsoft.com/office/powerpoint/2010/main" val="1490913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ppt_x"/>
                                          </p:val>
                                        </p:tav>
                                        <p:tav tm="100000">
                                          <p:val>
                                            <p:strVal val="#ppt_x"/>
                                          </p:val>
                                        </p:tav>
                                      </p:tavLst>
                                    </p:anim>
                                    <p:anim calcmode="lin" valueType="num">
                                      <p:cBhvr additive="base">
                                        <p:cTn id="3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6" grpId="0"/>
      <p:bldP spid="18" grpId="0"/>
      <p:bldP spid="20"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9A79C9-2025-9760-5DF3-D614D661894D}"/>
              </a:ext>
            </a:extLst>
          </p:cNvPr>
          <p:cNvSpPr>
            <a:spLocks noGrp="1"/>
          </p:cNvSpPr>
          <p:nvPr>
            <p:ph type="title"/>
          </p:nvPr>
        </p:nvSpPr>
        <p:spPr>
          <a:xfrm>
            <a:off x="646116" y="1525693"/>
            <a:ext cx="3089437" cy="4206240"/>
          </a:xfrm>
        </p:spPr>
        <p:txBody>
          <a:bodyPr>
            <a:normAutofit/>
          </a:bodyPr>
          <a:lstStyle/>
          <a:p>
            <a:pPr algn="r"/>
            <a:r>
              <a:rPr lang="en-US" sz="3200" dirty="0">
                <a:solidFill>
                  <a:schemeClr val="tx2"/>
                </a:solidFill>
              </a:rPr>
              <a:t>Activity 3: </a:t>
            </a:r>
            <a:br>
              <a:rPr lang="en-US" sz="3200" dirty="0">
                <a:solidFill>
                  <a:schemeClr val="tx2"/>
                </a:solidFill>
              </a:rPr>
            </a:br>
            <a:r>
              <a:rPr lang="en-US" sz="3200" dirty="0">
                <a:solidFill>
                  <a:schemeClr val="tx2"/>
                </a:solidFill>
              </a:rPr>
              <a:t>Using the </a:t>
            </a:r>
            <a:br>
              <a:rPr lang="en-US" sz="3200" dirty="0">
                <a:solidFill>
                  <a:schemeClr val="tx2"/>
                </a:solidFill>
              </a:rPr>
            </a:br>
            <a:r>
              <a:rPr lang="en-US" sz="3200" dirty="0">
                <a:solidFill>
                  <a:schemeClr val="tx2"/>
                </a:solidFill>
              </a:rPr>
              <a:t>5 resilience skills </a:t>
            </a:r>
            <a:br>
              <a:rPr lang="en-US" sz="3200" dirty="0">
                <a:solidFill>
                  <a:schemeClr val="tx2"/>
                </a:solidFill>
              </a:rPr>
            </a:br>
            <a:br>
              <a:rPr lang="en-US" sz="3200" dirty="0">
                <a:solidFill>
                  <a:schemeClr val="tx2"/>
                </a:solidFill>
              </a:rPr>
            </a:br>
            <a:r>
              <a:rPr lang="en-AU" sz="2000" dirty="0">
                <a:solidFill>
                  <a:schemeClr val="tx2"/>
                </a:solidFill>
              </a:rPr>
              <a:t>(Pg. 25-26)</a:t>
            </a:r>
            <a:endParaRPr lang="en-US" sz="3200" dirty="0">
              <a:solidFill>
                <a:schemeClr val="tx2"/>
              </a:solidFill>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46D5CDB-1684-3166-31AA-0D7B2B30CA63}"/>
              </a:ext>
            </a:extLst>
          </p:cNvPr>
          <p:cNvSpPr>
            <a:spLocks noGrp="1"/>
          </p:cNvSpPr>
          <p:nvPr>
            <p:ph idx="1"/>
          </p:nvPr>
        </p:nvSpPr>
        <p:spPr>
          <a:xfrm>
            <a:off x="4381668" y="1126067"/>
            <a:ext cx="6605331" cy="4605866"/>
          </a:xfrm>
        </p:spPr>
        <p:txBody>
          <a:bodyPr anchor="ctr">
            <a:normAutofit/>
          </a:bodyPr>
          <a:lstStyle/>
          <a:p>
            <a:r>
              <a:rPr lang="en-US" sz="1800" dirty="0">
                <a:solidFill>
                  <a:schemeClr val="tx2"/>
                </a:solidFill>
              </a:rPr>
              <a:t>Students work individually. </a:t>
            </a:r>
          </a:p>
          <a:p>
            <a:endParaRPr lang="en-US" sz="1800" dirty="0">
              <a:solidFill>
                <a:schemeClr val="tx2"/>
              </a:solidFill>
            </a:endParaRPr>
          </a:p>
          <a:p>
            <a:r>
              <a:rPr lang="en-US" sz="1800" dirty="0">
                <a:solidFill>
                  <a:schemeClr val="tx2"/>
                </a:solidFill>
              </a:rPr>
              <a:t>There are 4 scenarios for you to respond to. </a:t>
            </a:r>
          </a:p>
          <a:p>
            <a:r>
              <a:rPr lang="en-US" sz="1800" dirty="0">
                <a:solidFill>
                  <a:schemeClr val="tx2"/>
                </a:solidFill>
              </a:rPr>
              <a:t>You need to respond to each scenario using the resilience skill it is asking for.</a:t>
            </a:r>
          </a:p>
          <a:p>
            <a:pPr marL="0" indent="0">
              <a:buNone/>
            </a:pPr>
            <a:endParaRPr lang="en-US" sz="1800" dirty="0">
              <a:solidFill>
                <a:schemeClr val="tx2"/>
              </a:solidFill>
            </a:endParaRPr>
          </a:p>
          <a:p>
            <a:r>
              <a:rPr lang="en-US" sz="1800" dirty="0">
                <a:solidFill>
                  <a:schemeClr val="tx2"/>
                </a:solidFill>
              </a:rPr>
              <a:t>We will do one as a class and then you will work to complete the remaining scenarios. </a:t>
            </a:r>
          </a:p>
        </p:txBody>
      </p: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Cloud Callout 3">
            <a:extLst>
              <a:ext uri="{FF2B5EF4-FFF2-40B4-BE49-F238E27FC236}">
                <a16:creationId xmlns:a16="http://schemas.microsoft.com/office/drawing/2014/main" id="{926081C7-DD9C-F95F-59E2-DD9AE3BE9CF2}"/>
              </a:ext>
            </a:extLst>
          </p:cNvPr>
          <p:cNvSpPr/>
          <p:nvPr/>
        </p:nvSpPr>
        <p:spPr>
          <a:xfrm>
            <a:off x="8591909" y="74507"/>
            <a:ext cx="3309358" cy="2103120"/>
          </a:xfrm>
          <a:prstGeom prst="cloudCallout">
            <a:avLst>
              <a:gd name="adj1" fmla="val -24968"/>
              <a:gd name="adj2" fmla="val 85790"/>
            </a:avLst>
          </a:prstGeom>
          <a:solidFill>
            <a:schemeClr val="accent4">
              <a:lumMod val="20000"/>
              <a:lumOff val="80000"/>
            </a:schemeClr>
          </a:solidFill>
          <a:ln w="38100">
            <a:solidFill>
              <a:schemeClr val="accent4">
                <a:lumMod val="75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AU" sz="1600" i="1" dirty="0"/>
              <a:t>With all these changes in our lives, we need to employ resilience skills to cope effectively.</a:t>
            </a:r>
          </a:p>
        </p:txBody>
      </p:sp>
    </p:spTree>
    <p:extLst>
      <p:ext uri="{BB962C8B-B14F-4D97-AF65-F5344CB8AC3E}">
        <p14:creationId xmlns:p14="http://schemas.microsoft.com/office/powerpoint/2010/main" val="16825022"/>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A44E4-E2EC-FBDE-31ED-F107E507BC61}"/>
              </a:ext>
            </a:extLst>
          </p:cNvPr>
          <p:cNvSpPr>
            <a:spLocks noGrp="1"/>
          </p:cNvSpPr>
          <p:nvPr>
            <p:ph type="title"/>
          </p:nvPr>
        </p:nvSpPr>
        <p:spPr/>
        <p:txBody>
          <a:bodyPr/>
          <a:lstStyle/>
          <a:p>
            <a:r>
              <a:rPr lang="en-US" dirty="0"/>
              <a:t>Activity 3: Example</a:t>
            </a:r>
          </a:p>
        </p:txBody>
      </p:sp>
      <p:sp>
        <p:nvSpPr>
          <p:cNvPr id="4" name="TextBox 3">
            <a:extLst>
              <a:ext uri="{FF2B5EF4-FFF2-40B4-BE49-F238E27FC236}">
                <a16:creationId xmlns:a16="http://schemas.microsoft.com/office/drawing/2014/main" id="{2350CC0B-1B20-73DB-AE82-70F1CC301DB6}"/>
              </a:ext>
            </a:extLst>
          </p:cNvPr>
          <p:cNvSpPr txBox="1"/>
          <p:nvPr/>
        </p:nvSpPr>
        <p:spPr>
          <a:xfrm>
            <a:off x="203192" y="2756741"/>
            <a:ext cx="3368144" cy="2616101"/>
          </a:xfrm>
          <a:custGeom>
            <a:avLst/>
            <a:gdLst>
              <a:gd name="connsiteX0" fmla="*/ 0 w 3368144"/>
              <a:gd name="connsiteY0" fmla="*/ 0 h 2616101"/>
              <a:gd name="connsiteX1" fmla="*/ 561357 w 3368144"/>
              <a:gd name="connsiteY1" fmla="*/ 0 h 2616101"/>
              <a:gd name="connsiteX2" fmla="*/ 1089033 w 3368144"/>
              <a:gd name="connsiteY2" fmla="*/ 0 h 2616101"/>
              <a:gd name="connsiteX3" fmla="*/ 1717753 w 3368144"/>
              <a:gd name="connsiteY3" fmla="*/ 0 h 2616101"/>
              <a:gd name="connsiteX4" fmla="*/ 2346474 w 3368144"/>
              <a:gd name="connsiteY4" fmla="*/ 0 h 2616101"/>
              <a:gd name="connsiteX5" fmla="*/ 2806787 w 3368144"/>
              <a:gd name="connsiteY5" fmla="*/ 0 h 2616101"/>
              <a:gd name="connsiteX6" fmla="*/ 3368144 w 3368144"/>
              <a:gd name="connsiteY6" fmla="*/ 0 h 2616101"/>
              <a:gd name="connsiteX7" fmla="*/ 3368144 w 3368144"/>
              <a:gd name="connsiteY7" fmla="*/ 497059 h 2616101"/>
              <a:gd name="connsiteX8" fmla="*/ 3368144 w 3368144"/>
              <a:gd name="connsiteY8" fmla="*/ 967957 h 2616101"/>
              <a:gd name="connsiteX9" fmla="*/ 3368144 w 3368144"/>
              <a:gd name="connsiteY9" fmla="*/ 1491178 h 2616101"/>
              <a:gd name="connsiteX10" fmla="*/ 3368144 w 3368144"/>
              <a:gd name="connsiteY10" fmla="*/ 1962076 h 2616101"/>
              <a:gd name="connsiteX11" fmla="*/ 3368144 w 3368144"/>
              <a:gd name="connsiteY11" fmla="*/ 2616101 h 2616101"/>
              <a:gd name="connsiteX12" fmla="*/ 2907831 w 3368144"/>
              <a:gd name="connsiteY12" fmla="*/ 2616101 h 2616101"/>
              <a:gd name="connsiteX13" fmla="*/ 2413837 w 3368144"/>
              <a:gd name="connsiteY13" fmla="*/ 2616101 h 2616101"/>
              <a:gd name="connsiteX14" fmla="*/ 1919842 w 3368144"/>
              <a:gd name="connsiteY14" fmla="*/ 2616101 h 2616101"/>
              <a:gd name="connsiteX15" fmla="*/ 1324803 w 3368144"/>
              <a:gd name="connsiteY15" fmla="*/ 2616101 h 2616101"/>
              <a:gd name="connsiteX16" fmla="*/ 763446 w 3368144"/>
              <a:gd name="connsiteY16" fmla="*/ 2616101 h 2616101"/>
              <a:gd name="connsiteX17" fmla="*/ 0 w 3368144"/>
              <a:gd name="connsiteY17" fmla="*/ 2616101 h 2616101"/>
              <a:gd name="connsiteX18" fmla="*/ 0 w 3368144"/>
              <a:gd name="connsiteY18" fmla="*/ 2145203 h 2616101"/>
              <a:gd name="connsiteX19" fmla="*/ 0 w 3368144"/>
              <a:gd name="connsiteY19" fmla="*/ 1595822 h 2616101"/>
              <a:gd name="connsiteX20" fmla="*/ 0 w 3368144"/>
              <a:gd name="connsiteY20" fmla="*/ 1046440 h 2616101"/>
              <a:gd name="connsiteX21" fmla="*/ 0 w 3368144"/>
              <a:gd name="connsiteY21" fmla="*/ 601703 h 2616101"/>
              <a:gd name="connsiteX22" fmla="*/ 0 w 3368144"/>
              <a:gd name="connsiteY22" fmla="*/ 0 h 2616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68144" h="2616101" extrusionOk="0">
                <a:moveTo>
                  <a:pt x="0" y="0"/>
                </a:moveTo>
                <a:cubicBezTo>
                  <a:pt x="253716" y="-2454"/>
                  <a:pt x="428400" y="11486"/>
                  <a:pt x="561357" y="0"/>
                </a:cubicBezTo>
                <a:cubicBezTo>
                  <a:pt x="694314" y="-11486"/>
                  <a:pt x="909203" y="37655"/>
                  <a:pt x="1089033" y="0"/>
                </a:cubicBezTo>
                <a:cubicBezTo>
                  <a:pt x="1268863" y="-37655"/>
                  <a:pt x="1564606" y="704"/>
                  <a:pt x="1717753" y="0"/>
                </a:cubicBezTo>
                <a:cubicBezTo>
                  <a:pt x="1870900" y="-704"/>
                  <a:pt x="2057917" y="5039"/>
                  <a:pt x="2346474" y="0"/>
                </a:cubicBezTo>
                <a:cubicBezTo>
                  <a:pt x="2635031" y="-5039"/>
                  <a:pt x="2637060" y="53641"/>
                  <a:pt x="2806787" y="0"/>
                </a:cubicBezTo>
                <a:cubicBezTo>
                  <a:pt x="2976514" y="-53641"/>
                  <a:pt x="3131872" y="26162"/>
                  <a:pt x="3368144" y="0"/>
                </a:cubicBezTo>
                <a:cubicBezTo>
                  <a:pt x="3412433" y="135285"/>
                  <a:pt x="3352063" y="373787"/>
                  <a:pt x="3368144" y="497059"/>
                </a:cubicBezTo>
                <a:cubicBezTo>
                  <a:pt x="3384225" y="620331"/>
                  <a:pt x="3342355" y="796786"/>
                  <a:pt x="3368144" y="967957"/>
                </a:cubicBezTo>
                <a:cubicBezTo>
                  <a:pt x="3393933" y="1139128"/>
                  <a:pt x="3349328" y="1245516"/>
                  <a:pt x="3368144" y="1491178"/>
                </a:cubicBezTo>
                <a:cubicBezTo>
                  <a:pt x="3386960" y="1736840"/>
                  <a:pt x="3345427" y="1786188"/>
                  <a:pt x="3368144" y="1962076"/>
                </a:cubicBezTo>
                <a:cubicBezTo>
                  <a:pt x="3390861" y="2137964"/>
                  <a:pt x="3298755" y="2346243"/>
                  <a:pt x="3368144" y="2616101"/>
                </a:cubicBezTo>
                <a:cubicBezTo>
                  <a:pt x="3231419" y="2662433"/>
                  <a:pt x="3003273" y="2574534"/>
                  <a:pt x="2907831" y="2616101"/>
                </a:cubicBezTo>
                <a:cubicBezTo>
                  <a:pt x="2812389" y="2657668"/>
                  <a:pt x="2638158" y="2570028"/>
                  <a:pt x="2413837" y="2616101"/>
                </a:cubicBezTo>
                <a:cubicBezTo>
                  <a:pt x="2189516" y="2662174"/>
                  <a:pt x="2150103" y="2585421"/>
                  <a:pt x="1919842" y="2616101"/>
                </a:cubicBezTo>
                <a:cubicBezTo>
                  <a:pt x="1689582" y="2646781"/>
                  <a:pt x="1564894" y="2564847"/>
                  <a:pt x="1324803" y="2616101"/>
                </a:cubicBezTo>
                <a:cubicBezTo>
                  <a:pt x="1084712" y="2667355"/>
                  <a:pt x="1005840" y="2568178"/>
                  <a:pt x="763446" y="2616101"/>
                </a:cubicBezTo>
                <a:cubicBezTo>
                  <a:pt x="521052" y="2664024"/>
                  <a:pt x="369143" y="2533164"/>
                  <a:pt x="0" y="2616101"/>
                </a:cubicBezTo>
                <a:cubicBezTo>
                  <a:pt x="-25796" y="2478640"/>
                  <a:pt x="15696" y="2303473"/>
                  <a:pt x="0" y="2145203"/>
                </a:cubicBezTo>
                <a:cubicBezTo>
                  <a:pt x="-15696" y="1986933"/>
                  <a:pt x="11052" y="1751325"/>
                  <a:pt x="0" y="1595822"/>
                </a:cubicBezTo>
                <a:cubicBezTo>
                  <a:pt x="-11052" y="1440319"/>
                  <a:pt x="55191" y="1241956"/>
                  <a:pt x="0" y="1046440"/>
                </a:cubicBezTo>
                <a:cubicBezTo>
                  <a:pt x="-55191" y="850924"/>
                  <a:pt x="17278" y="767320"/>
                  <a:pt x="0" y="601703"/>
                </a:cubicBezTo>
                <a:cubicBezTo>
                  <a:pt x="-17278" y="436086"/>
                  <a:pt x="70557" y="146255"/>
                  <a:pt x="0" y="0"/>
                </a:cubicBezTo>
                <a:close/>
              </a:path>
            </a:pathLst>
          </a:custGeom>
          <a:noFill/>
          <a:ln w="28575">
            <a:solidFill>
              <a:schemeClr val="accent4">
                <a:lumMod val="75000"/>
              </a:schemeClr>
            </a:solidFill>
            <a:extLst>
              <a:ext uri="{C807C97D-BFC1-408E-A445-0C87EB9F89A2}">
                <ask:lineSketchStyleProps xmlns:ask="http://schemas.microsoft.com/office/drawing/2018/sketchyshapes" sd="3346550763">
                  <a:prstGeom prst="rect">
                    <a:avLst/>
                  </a:prstGeom>
                  <ask:type>
                    <ask:lineSketchScribble/>
                  </ask:type>
                </ask:lineSketchStyleProps>
              </a:ext>
            </a:extLst>
          </a:ln>
        </p:spPr>
        <p:txBody>
          <a:bodyPr wrap="square" rtlCol="0">
            <a:spAutoFit/>
          </a:bodyPr>
          <a:lstStyle/>
          <a:p>
            <a:pPr algn="ctr"/>
            <a:r>
              <a:rPr lang="en-AU" sz="2400" b="1" dirty="0">
                <a:solidFill>
                  <a:schemeClr val="bg1"/>
                </a:solidFill>
              </a:rPr>
              <a:t>Scenario D:</a:t>
            </a:r>
            <a:r>
              <a:rPr lang="en-AU" sz="2000" b="1" dirty="0">
                <a:solidFill>
                  <a:schemeClr val="bg1"/>
                </a:solidFill>
              </a:rPr>
              <a:t> </a:t>
            </a:r>
          </a:p>
          <a:p>
            <a:pPr algn="ctr"/>
            <a:endParaRPr lang="en-AU" sz="2000" b="1" dirty="0">
              <a:solidFill>
                <a:schemeClr val="bg1"/>
              </a:solidFill>
            </a:endParaRPr>
          </a:p>
          <a:p>
            <a:pPr algn="ctr"/>
            <a:r>
              <a:rPr lang="en-AU" sz="2000" dirty="0"/>
              <a:t>You have a great friendship group. However, lately they are not wanting to invite you along to outings. This is troubling you as you thought they were your good friends.</a:t>
            </a:r>
          </a:p>
        </p:txBody>
      </p:sp>
      <p:sp>
        <p:nvSpPr>
          <p:cNvPr id="5" name="TextBox 4">
            <a:extLst>
              <a:ext uri="{FF2B5EF4-FFF2-40B4-BE49-F238E27FC236}">
                <a16:creationId xmlns:a16="http://schemas.microsoft.com/office/drawing/2014/main" id="{57D72C2D-33D9-D5AC-1F68-305A073F1A87}"/>
              </a:ext>
            </a:extLst>
          </p:cNvPr>
          <p:cNvSpPr txBox="1"/>
          <p:nvPr/>
        </p:nvSpPr>
        <p:spPr>
          <a:xfrm>
            <a:off x="4502989" y="2049509"/>
            <a:ext cx="7485819" cy="4524315"/>
          </a:xfrm>
          <a:custGeom>
            <a:avLst/>
            <a:gdLst>
              <a:gd name="connsiteX0" fmla="*/ 0 w 7485819"/>
              <a:gd name="connsiteY0" fmla="*/ 0 h 4524315"/>
              <a:gd name="connsiteX1" fmla="*/ 500974 w 7485819"/>
              <a:gd name="connsiteY1" fmla="*/ 0 h 4524315"/>
              <a:gd name="connsiteX2" fmla="*/ 852232 w 7485819"/>
              <a:gd name="connsiteY2" fmla="*/ 0 h 4524315"/>
              <a:gd name="connsiteX3" fmla="*/ 1577780 w 7485819"/>
              <a:gd name="connsiteY3" fmla="*/ 0 h 4524315"/>
              <a:gd name="connsiteX4" fmla="*/ 2078754 w 7485819"/>
              <a:gd name="connsiteY4" fmla="*/ 0 h 4524315"/>
              <a:gd name="connsiteX5" fmla="*/ 2579728 w 7485819"/>
              <a:gd name="connsiteY5" fmla="*/ 0 h 4524315"/>
              <a:gd name="connsiteX6" fmla="*/ 3305277 w 7485819"/>
              <a:gd name="connsiteY6" fmla="*/ 0 h 4524315"/>
              <a:gd name="connsiteX7" fmla="*/ 3731393 w 7485819"/>
              <a:gd name="connsiteY7" fmla="*/ 0 h 4524315"/>
              <a:gd name="connsiteX8" fmla="*/ 4456941 w 7485819"/>
              <a:gd name="connsiteY8" fmla="*/ 0 h 4524315"/>
              <a:gd name="connsiteX9" fmla="*/ 5182490 w 7485819"/>
              <a:gd name="connsiteY9" fmla="*/ 0 h 4524315"/>
              <a:gd name="connsiteX10" fmla="*/ 5758322 w 7485819"/>
              <a:gd name="connsiteY10" fmla="*/ 0 h 4524315"/>
              <a:gd name="connsiteX11" fmla="*/ 6483871 w 7485819"/>
              <a:gd name="connsiteY11" fmla="*/ 0 h 4524315"/>
              <a:gd name="connsiteX12" fmla="*/ 6984845 w 7485819"/>
              <a:gd name="connsiteY12" fmla="*/ 0 h 4524315"/>
              <a:gd name="connsiteX13" fmla="*/ 7485819 w 7485819"/>
              <a:gd name="connsiteY13" fmla="*/ 0 h 4524315"/>
              <a:gd name="connsiteX14" fmla="*/ 7485819 w 7485819"/>
              <a:gd name="connsiteY14" fmla="*/ 610783 h 4524315"/>
              <a:gd name="connsiteX15" fmla="*/ 7485819 w 7485819"/>
              <a:gd name="connsiteY15" fmla="*/ 1176322 h 4524315"/>
              <a:gd name="connsiteX16" fmla="*/ 7485819 w 7485819"/>
              <a:gd name="connsiteY16" fmla="*/ 1741861 h 4524315"/>
              <a:gd name="connsiteX17" fmla="*/ 7485819 w 7485819"/>
              <a:gd name="connsiteY17" fmla="*/ 2352644 h 4524315"/>
              <a:gd name="connsiteX18" fmla="*/ 7485819 w 7485819"/>
              <a:gd name="connsiteY18" fmla="*/ 2963426 h 4524315"/>
              <a:gd name="connsiteX19" fmla="*/ 7485819 w 7485819"/>
              <a:gd name="connsiteY19" fmla="*/ 3574209 h 4524315"/>
              <a:gd name="connsiteX20" fmla="*/ 7485819 w 7485819"/>
              <a:gd name="connsiteY20" fmla="*/ 4004019 h 4524315"/>
              <a:gd name="connsiteX21" fmla="*/ 7485819 w 7485819"/>
              <a:gd name="connsiteY21" fmla="*/ 4524315 h 4524315"/>
              <a:gd name="connsiteX22" fmla="*/ 6835129 w 7485819"/>
              <a:gd name="connsiteY22" fmla="*/ 4524315 h 4524315"/>
              <a:gd name="connsiteX23" fmla="*/ 6409013 w 7485819"/>
              <a:gd name="connsiteY23" fmla="*/ 4524315 h 4524315"/>
              <a:gd name="connsiteX24" fmla="*/ 5833180 w 7485819"/>
              <a:gd name="connsiteY24" fmla="*/ 4524315 h 4524315"/>
              <a:gd name="connsiteX25" fmla="*/ 5481923 w 7485819"/>
              <a:gd name="connsiteY25" fmla="*/ 4524315 h 4524315"/>
              <a:gd name="connsiteX26" fmla="*/ 5130665 w 7485819"/>
              <a:gd name="connsiteY26" fmla="*/ 4524315 h 4524315"/>
              <a:gd name="connsiteX27" fmla="*/ 4554833 w 7485819"/>
              <a:gd name="connsiteY27" fmla="*/ 4524315 h 4524315"/>
              <a:gd name="connsiteX28" fmla="*/ 4128717 w 7485819"/>
              <a:gd name="connsiteY28" fmla="*/ 4524315 h 4524315"/>
              <a:gd name="connsiteX29" fmla="*/ 3478027 w 7485819"/>
              <a:gd name="connsiteY29" fmla="*/ 4524315 h 4524315"/>
              <a:gd name="connsiteX30" fmla="*/ 3051911 w 7485819"/>
              <a:gd name="connsiteY30" fmla="*/ 4524315 h 4524315"/>
              <a:gd name="connsiteX31" fmla="*/ 2401220 w 7485819"/>
              <a:gd name="connsiteY31" fmla="*/ 4524315 h 4524315"/>
              <a:gd name="connsiteX32" fmla="*/ 2049963 w 7485819"/>
              <a:gd name="connsiteY32" fmla="*/ 4524315 h 4524315"/>
              <a:gd name="connsiteX33" fmla="*/ 1399272 w 7485819"/>
              <a:gd name="connsiteY33" fmla="*/ 4524315 h 4524315"/>
              <a:gd name="connsiteX34" fmla="*/ 973156 w 7485819"/>
              <a:gd name="connsiteY34" fmla="*/ 4524315 h 4524315"/>
              <a:gd name="connsiteX35" fmla="*/ 621899 w 7485819"/>
              <a:gd name="connsiteY35" fmla="*/ 4524315 h 4524315"/>
              <a:gd name="connsiteX36" fmla="*/ 0 w 7485819"/>
              <a:gd name="connsiteY36" fmla="*/ 4524315 h 4524315"/>
              <a:gd name="connsiteX37" fmla="*/ 0 w 7485819"/>
              <a:gd name="connsiteY37" fmla="*/ 3913532 h 4524315"/>
              <a:gd name="connsiteX38" fmla="*/ 0 w 7485819"/>
              <a:gd name="connsiteY38" fmla="*/ 3438479 h 4524315"/>
              <a:gd name="connsiteX39" fmla="*/ 0 w 7485819"/>
              <a:gd name="connsiteY39" fmla="*/ 3008669 h 4524315"/>
              <a:gd name="connsiteX40" fmla="*/ 0 w 7485819"/>
              <a:gd name="connsiteY40" fmla="*/ 2578860 h 4524315"/>
              <a:gd name="connsiteX41" fmla="*/ 0 w 7485819"/>
              <a:gd name="connsiteY41" fmla="*/ 1968077 h 4524315"/>
              <a:gd name="connsiteX42" fmla="*/ 0 w 7485819"/>
              <a:gd name="connsiteY42" fmla="*/ 1538267 h 4524315"/>
              <a:gd name="connsiteX43" fmla="*/ 0 w 7485819"/>
              <a:gd name="connsiteY43" fmla="*/ 972728 h 4524315"/>
              <a:gd name="connsiteX44" fmla="*/ 0 w 7485819"/>
              <a:gd name="connsiteY44" fmla="*/ 497675 h 4524315"/>
              <a:gd name="connsiteX45" fmla="*/ 0 w 7485819"/>
              <a:gd name="connsiteY45" fmla="*/ 0 h 452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485819" h="4524315" extrusionOk="0">
                <a:moveTo>
                  <a:pt x="0" y="0"/>
                </a:moveTo>
                <a:cubicBezTo>
                  <a:pt x="114693" y="-6061"/>
                  <a:pt x="389615" y="28593"/>
                  <a:pt x="500974" y="0"/>
                </a:cubicBezTo>
                <a:cubicBezTo>
                  <a:pt x="612333" y="-28593"/>
                  <a:pt x="776624" y="9263"/>
                  <a:pt x="852232" y="0"/>
                </a:cubicBezTo>
                <a:cubicBezTo>
                  <a:pt x="927840" y="-9263"/>
                  <a:pt x="1307313" y="5241"/>
                  <a:pt x="1577780" y="0"/>
                </a:cubicBezTo>
                <a:cubicBezTo>
                  <a:pt x="1848247" y="-5241"/>
                  <a:pt x="1910622" y="49125"/>
                  <a:pt x="2078754" y="0"/>
                </a:cubicBezTo>
                <a:cubicBezTo>
                  <a:pt x="2246886" y="-49125"/>
                  <a:pt x="2464467" y="24455"/>
                  <a:pt x="2579728" y="0"/>
                </a:cubicBezTo>
                <a:cubicBezTo>
                  <a:pt x="2694989" y="-24455"/>
                  <a:pt x="3087294" y="52042"/>
                  <a:pt x="3305277" y="0"/>
                </a:cubicBezTo>
                <a:cubicBezTo>
                  <a:pt x="3523260" y="-52042"/>
                  <a:pt x="3633866" y="45580"/>
                  <a:pt x="3731393" y="0"/>
                </a:cubicBezTo>
                <a:cubicBezTo>
                  <a:pt x="3828920" y="-45580"/>
                  <a:pt x="4248563" y="14086"/>
                  <a:pt x="4456941" y="0"/>
                </a:cubicBezTo>
                <a:cubicBezTo>
                  <a:pt x="4665319" y="-14086"/>
                  <a:pt x="5011435" y="23252"/>
                  <a:pt x="5182490" y="0"/>
                </a:cubicBezTo>
                <a:cubicBezTo>
                  <a:pt x="5353545" y="-23252"/>
                  <a:pt x="5527500" y="39904"/>
                  <a:pt x="5758322" y="0"/>
                </a:cubicBezTo>
                <a:cubicBezTo>
                  <a:pt x="5989144" y="-39904"/>
                  <a:pt x="6251305" y="12606"/>
                  <a:pt x="6483871" y="0"/>
                </a:cubicBezTo>
                <a:cubicBezTo>
                  <a:pt x="6716437" y="-12606"/>
                  <a:pt x="6778777" y="25087"/>
                  <a:pt x="6984845" y="0"/>
                </a:cubicBezTo>
                <a:cubicBezTo>
                  <a:pt x="7190913" y="-25087"/>
                  <a:pt x="7337944" y="55027"/>
                  <a:pt x="7485819" y="0"/>
                </a:cubicBezTo>
                <a:cubicBezTo>
                  <a:pt x="7487387" y="224752"/>
                  <a:pt x="7438393" y="417656"/>
                  <a:pt x="7485819" y="610783"/>
                </a:cubicBezTo>
                <a:cubicBezTo>
                  <a:pt x="7533245" y="803910"/>
                  <a:pt x="7450282" y="940228"/>
                  <a:pt x="7485819" y="1176322"/>
                </a:cubicBezTo>
                <a:cubicBezTo>
                  <a:pt x="7521356" y="1412416"/>
                  <a:pt x="7428775" y="1557341"/>
                  <a:pt x="7485819" y="1741861"/>
                </a:cubicBezTo>
                <a:cubicBezTo>
                  <a:pt x="7542863" y="1926381"/>
                  <a:pt x="7414240" y="2056529"/>
                  <a:pt x="7485819" y="2352644"/>
                </a:cubicBezTo>
                <a:cubicBezTo>
                  <a:pt x="7557398" y="2648759"/>
                  <a:pt x="7456254" y="2723384"/>
                  <a:pt x="7485819" y="2963426"/>
                </a:cubicBezTo>
                <a:cubicBezTo>
                  <a:pt x="7515384" y="3203468"/>
                  <a:pt x="7428159" y="3448131"/>
                  <a:pt x="7485819" y="3574209"/>
                </a:cubicBezTo>
                <a:cubicBezTo>
                  <a:pt x="7543479" y="3700287"/>
                  <a:pt x="7466300" y="3870429"/>
                  <a:pt x="7485819" y="4004019"/>
                </a:cubicBezTo>
                <a:cubicBezTo>
                  <a:pt x="7505338" y="4137609"/>
                  <a:pt x="7485013" y="4283069"/>
                  <a:pt x="7485819" y="4524315"/>
                </a:cubicBezTo>
                <a:cubicBezTo>
                  <a:pt x="7266289" y="4596199"/>
                  <a:pt x="7002450" y="4487633"/>
                  <a:pt x="6835129" y="4524315"/>
                </a:cubicBezTo>
                <a:cubicBezTo>
                  <a:pt x="6667808" y="4560997"/>
                  <a:pt x="6558451" y="4501707"/>
                  <a:pt x="6409013" y="4524315"/>
                </a:cubicBezTo>
                <a:cubicBezTo>
                  <a:pt x="6259575" y="4546923"/>
                  <a:pt x="6042288" y="4508084"/>
                  <a:pt x="5833180" y="4524315"/>
                </a:cubicBezTo>
                <a:cubicBezTo>
                  <a:pt x="5624072" y="4540546"/>
                  <a:pt x="5643210" y="4499022"/>
                  <a:pt x="5481923" y="4524315"/>
                </a:cubicBezTo>
                <a:cubicBezTo>
                  <a:pt x="5320636" y="4549608"/>
                  <a:pt x="5216044" y="4515632"/>
                  <a:pt x="5130665" y="4524315"/>
                </a:cubicBezTo>
                <a:cubicBezTo>
                  <a:pt x="5045286" y="4532998"/>
                  <a:pt x="4790503" y="4496023"/>
                  <a:pt x="4554833" y="4524315"/>
                </a:cubicBezTo>
                <a:cubicBezTo>
                  <a:pt x="4319163" y="4552607"/>
                  <a:pt x="4324845" y="4506919"/>
                  <a:pt x="4128717" y="4524315"/>
                </a:cubicBezTo>
                <a:cubicBezTo>
                  <a:pt x="3932589" y="4541711"/>
                  <a:pt x="3680464" y="4499063"/>
                  <a:pt x="3478027" y="4524315"/>
                </a:cubicBezTo>
                <a:cubicBezTo>
                  <a:pt x="3275590" y="4549567"/>
                  <a:pt x="3261220" y="4490311"/>
                  <a:pt x="3051911" y="4524315"/>
                </a:cubicBezTo>
                <a:cubicBezTo>
                  <a:pt x="2842602" y="4558319"/>
                  <a:pt x="2661775" y="4466477"/>
                  <a:pt x="2401220" y="4524315"/>
                </a:cubicBezTo>
                <a:cubicBezTo>
                  <a:pt x="2140665" y="4582153"/>
                  <a:pt x="2155076" y="4512833"/>
                  <a:pt x="2049963" y="4524315"/>
                </a:cubicBezTo>
                <a:cubicBezTo>
                  <a:pt x="1944850" y="4535797"/>
                  <a:pt x="1710475" y="4447740"/>
                  <a:pt x="1399272" y="4524315"/>
                </a:cubicBezTo>
                <a:cubicBezTo>
                  <a:pt x="1088069" y="4600890"/>
                  <a:pt x="1065580" y="4487407"/>
                  <a:pt x="973156" y="4524315"/>
                </a:cubicBezTo>
                <a:cubicBezTo>
                  <a:pt x="880732" y="4561223"/>
                  <a:pt x="709863" y="4512008"/>
                  <a:pt x="621899" y="4524315"/>
                </a:cubicBezTo>
                <a:cubicBezTo>
                  <a:pt x="533935" y="4536622"/>
                  <a:pt x="177299" y="4476446"/>
                  <a:pt x="0" y="4524315"/>
                </a:cubicBezTo>
                <a:cubicBezTo>
                  <a:pt x="-68568" y="4344083"/>
                  <a:pt x="43778" y="4115294"/>
                  <a:pt x="0" y="3913532"/>
                </a:cubicBezTo>
                <a:cubicBezTo>
                  <a:pt x="-43778" y="3711770"/>
                  <a:pt x="33624" y="3614869"/>
                  <a:pt x="0" y="3438479"/>
                </a:cubicBezTo>
                <a:cubicBezTo>
                  <a:pt x="-33624" y="3262089"/>
                  <a:pt x="5583" y="3142347"/>
                  <a:pt x="0" y="3008669"/>
                </a:cubicBezTo>
                <a:cubicBezTo>
                  <a:pt x="-5583" y="2874991"/>
                  <a:pt x="24907" y="2728628"/>
                  <a:pt x="0" y="2578860"/>
                </a:cubicBezTo>
                <a:cubicBezTo>
                  <a:pt x="-24907" y="2429092"/>
                  <a:pt x="2855" y="2134924"/>
                  <a:pt x="0" y="1968077"/>
                </a:cubicBezTo>
                <a:cubicBezTo>
                  <a:pt x="-2855" y="1801230"/>
                  <a:pt x="36130" y="1670887"/>
                  <a:pt x="0" y="1538267"/>
                </a:cubicBezTo>
                <a:cubicBezTo>
                  <a:pt x="-36130" y="1405647"/>
                  <a:pt x="61416" y="1163411"/>
                  <a:pt x="0" y="972728"/>
                </a:cubicBezTo>
                <a:cubicBezTo>
                  <a:pt x="-61416" y="782045"/>
                  <a:pt x="27999" y="638550"/>
                  <a:pt x="0" y="497675"/>
                </a:cubicBezTo>
                <a:cubicBezTo>
                  <a:pt x="-27999" y="356800"/>
                  <a:pt x="2202" y="231456"/>
                  <a:pt x="0" y="0"/>
                </a:cubicBezTo>
                <a:close/>
              </a:path>
            </a:pathLst>
          </a:custGeom>
          <a:noFill/>
          <a:ln w="28575">
            <a:solidFill>
              <a:schemeClr val="accent4">
                <a:lumMod val="60000"/>
                <a:lumOff val="40000"/>
              </a:schemeClr>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rtlCol="0">
            <a:spAutoFit/>
          </a:bodyPr>
          <a:lstStyle/>
          <a:p>
            <a:pPr algn="ctr"/>
            <a:r>
              <a:rPr lang="en-AU" sz="2400" b="1" u="sng" dirty="0">
                <a:solidFill>
                  <a:schemeClr val="bg1"/>
                </a:solidFill>
              </a:rPr>
              <a:t>Using self-understanding to respond to Scenario D</a:t>
            </a:r>
          </a:p>
          <a:p>
            <a:pPr algn="ctr"/>
            <a:endParaRPr lang="en-AU" sz="2400" dirty="0"/>
          </a:p>
          <a:p>
            <a:pPr algn="ctr"/>
            <a:r>
              <a:rPr lang="en-AU" sz="2000" i="1" dirty="0"/>
              <a:t>Even though the group are my friends, I don’t feel that they are being fair to Steff. Steff may look different, but it doesn’t mean she is not a great person or a good friend. I don’t believe that leaving Steff out is the friendly thing to do, and I would have the courage to talk to the group to let them know that it wouldn’t be nice if it was done to them. Looking cool is not a value I see in a friend – a friend is someone I can trust and have fun with. I can’t see why we couldn’t do some more activities that would include everyone in the group, so that we all get to know each other better – maybe then the group would understand what the friendship is about. Friends sometimes go different ways, and that is alright, but I think it is important to have a wide circle of friends without judgement of what they look like. </a:t>
            </a:r>
          </a:p>
        </p:txBody>
      </p:sp>
    </p:spTree>
    <p:extLst>
      <p:ext uri="{BB962C8B-B14F-4D97-AF65-F5344CB8AC3E}">
        <p14:creationId xmlns:p14="http://schemas.microsoft.com/office/powerpoint/2010/main" val="1491016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lose-up of stacked books">
            <a:extLst>
              <a:ext uri="{FF2B5EF4-FFF2-40B4-BE49-F238E27FC236}">
                <a16:creationId xmlns:a16="http://schemas.microsoft.com/office/drawing/2014/main" id="{626B949D-C7D2-0DD2-B2C7-8CF0F10B5CE5}"/>
              </a:ext>
            </a:extLst>
          </p:cNvPr>
          <p:cNvPicPr>
            <a:picLocks noChangeAspect="1"/>
          </p:cNvPicPr>
          <p:nvPr/>
        </p:nvPicPr>
        <p:blipFill rotWithShape="1">
          <a:blip r:embed="rId3">
            <a:alphaModFix amt="25000"/>
          </a:blip>
          <a:src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24F3C611-0CF5-45ED-9190-A7A9C19ACA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86048"/>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rgbClr val="FFFFFF"/>
              </a:solidFill>
            </a:endParaRPr>
          </a:p>
        </p:txBody>
      </p:sp>
      <p:sp>
        <p:nvSpPr>
          <p:cNvPr id="2" name="Title 1">
            <a:extLst>
              <a:ext uri="{FF2B5EF4-FFF2-40B4-BE49-F238E27FC236}">
                <a16:creationId xmlns:a16="http://schemas.microsoft.com/office/drawing/2014/main" id="{F433DA74-51AB-10AF-C7EE-A5136B1C6EEB}"/>
              </a:ext>
            </a:extLst>
          </p:cNvPr>
          <p:cNvSpPr>
            <a:spLocks noGrp="1"/>
          </p:cNvSpPr>
          <p:nvPr>
            <p:ph type="title"/>
          </p:nvPr>
        </p:nvSpPr>
        <p:spPr>
          <a:xfrm>
            <a:off x="1202919" y="284176"/>
            <a:ext cx="9784080" cy="1508760"/>
          </a:xfrm>
        </p:spPr>
        <p:txBody>
          <a:bodyPr>
            <a:normAutofit/>
          </a:bodyPr>
          <a:lstStyle/>
          <a:p>
            <a:r>
              <a:rPr lang="en-US" dirty="0"/>
              <a:t>GLOSSARY:</a:t>
            </a:r>
            <a:r>
              <a:rPr lang="en-US" sz="4000" dirty="0"/>
              <a:t> 							</a:t>
            </a:r>
            <a:r>
              <a:rPr lang="en-US" sz="2000" dirty="0"/>
              <a:t>(</a:t>
            </a:r>
            <a:r>
              <a:rPr lang="en-AU" sz="2000" dirty="0"/>
              <a:t>Pg. 5)</a:t>
            </a:r>
            <a:endParaRPr lang="en-US" dirty="0"/>
          </a:p>
        </p:txBody>
      </p:sp>
      <p:sp>
        <p:nvSpPr>
          <p:cNvPr id="3" name="Content Placeholder 2">
            <a:extLst>
              <a:ext uri="{FF2B5EF4-FFF2-40B4-BE49-F238E27FC236}">
                <a16:creationId xmlns:a16="http://schemas.microsoft.com/office/drawing/2014/main" id="{515B7809-64A7-0A0A-96F5-BB881313458C}"/>
              </a:ext>
            </a:extLst>
          </p:cNvPr>
          <p:cNvSpPr>
            <a:spLocks noGrp="1"/>
          </p:cNvSpPr>
          <p:nvPr>
            <p:ph idx="1"/>
          </p:nvPr>
        </p:nvSpPr>
        <p:spPr>
          <a:xfrm>
            <a:off x="1202919" y="2011680"/>
            <a:ext cx="9784080" cy="4206240"/>
          </a:xfrm>
        </p:spPr>
        <p:txBody>
          <a:bodyPr>
            <a:normAutofit/>
          </a:bodyPr>
          <a:lstStyle/>
          <a:p>
            <a:r>
              <a:rPr lang="en-US" sz="2400" dirty="0"/>
              <a:t>At the front of your books is your glossary. </a:t>
            </a:r>
          </a:p>
          <a:p>
            <a:endParaRPr lang="en-US" sz="2400" dirty="0"/>
          </a:p>
          <a:p>
            <a:r>
              <a:rPr lang="en-US" sz="2400" dirty="0"/>
              <a:t>Turn to your glossary and add your own definition for the following words:</a:t>
            </a:r>
          </a:p>
          <a:p>
            <a:pPr lvl="3"/>
            <a:r>
              <a:rPr lang="en-US" sz="2400" b="1" dirty="0"/>
              <a:t>EMOTIONAL REGULATION. </a:t>
            </a:r>
          </a:p>
          <a:p>
            <a:pPr lvl="3"/>
            <a:r>
              <a:rPr lang="en-US" sz="2400" b="1" dirty="0"/>
              <a:t>SOCIAL SUPPORT.</a:t>
            </a:r>
          </a:p>
          <a:p>
            <a:pPr lvl="3"/>
            <a:r>
              <a:rPr lang="en-US" sz="2400" b="1" dirty="0"/>
              <a:t>POSITIVE SELF-TALK.</a:t>
            </a:r>
          </a:p>
          <a:p>
            <a:endParaRPr lang="en-US" sz="2400" dirty="0"/>
          </a:p>
          <a:p>
            <a:r>
              <a:rPr lang="en-US" sz="2400" dirty="0"/>
              <a:t>Make sure your definition consists of at least two sentences. </a:t>
            </a:r>
          </a:p>
          <a:p>
            <a:pPr marL="0" indent="0">
              <a:buNone/>
            </a:pPr>
            <a:endParaRPr lang="en-US" dirty="0"/>
          </a:p>
        </p:txBody>
      </p:sp>
    </p:spTree>
    <p:extLst>
      <p:ext uri="{BB962C8B-B14F-4D97-AF65-F5344CB8AC3E}">
        <p14:creationId xmlns:p14="http://schemas.microsoft.com/office/powerpoint/2010/main" val="11316475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Five Key Components Of Exit Tickets | by dem plates | Medium">
            <a:extLst>
              <a:ext uri="{FF2B5EF4-FFF2-40B4-BE49-F238E27FC236}">
                <a16:creationId xmlns:a16="http://schemas.microsoft.com/office/drawing/2014/main" id="{246744CA-4C43-8967-8D40-DCD5046059E3}"/>
              </a:ext>
            </a:extLst>
          </p:cNvPr>
          <p:cNvPicPr>
            <a:picLocks noChangeAspect="1" noChangeArrowheads="1"/>
          </p:cNvPicPr>
          <p:nvPr/>
        </p:nvPicPr>
        <p:blipFill rotWithShape="1">
          <a:blip r:embed="rId2">
            <a:alphaModFix amt="25000"/>
            <a:extLst>
              <a:ext uri="{28A0092B-C50C-407E-A947-70E740481C1C}">
                <a14:useLocalDpi xmlns:a14="http://schemas.microsoft.com/office/drawing/2010/main" val="0"/>
              </a:ext>
            </a:extLst>
          </a:blip>
          <a:srcRect l="4113" r="5664" b="-1"/>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a16="http://schemas.microsoft.com/office/drawing/2014/main" id="{24F3C611-0CF5-45ED-9190-A7A9C19ACA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86048"/>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rgbClr val="FFFFFF"/>
              </a:solidFill>
            </a:endParaRPr>
          </a:p>
        </p:txBody>
      </p:sp>
      <p:sp>
        <p:nvSpPr>
          <p:cNvPr id="2" name="Title 1">
            <a:extLst>
              <a:ext uri="{FF2B5EF4-FFF2-40B4-BE49-F238E27FC236}">
                <a16:creationId xmlns:a16="http://schemas.microsoft.com/office/drawing/2014/main" id="{0FF3569C-3E7C-2F74-86B9-C8C32A677972}"/>
              </a:ext>
            </a:extLst>
          </p:cNvPr>
          <p:cNvSpPr>
            <a:spLocks noGrp="1"/>
          </p:cNvSpPr>
          <p:nvPr>
            <p:ph type="title"/>
          </p:nvPr>
        </p:nvSpPr>
        <p:spPr>
          <a:xfrm>
            <a:off x="1202919" y="284176"/>
            <a:ext cx="9784080" cy="1508760"/>
          </a:xfrm>
        </p:spPr>
        <p:txBody>
          <a:bodyPr>
            <a:normAutofit/>
          </a:bodyPr>
          <a:lstStyle/>
          <a:p>
            <a:r>
              <a:rPr lang="en-US" dirty="0"/>
              <a:t>EXIT TICKET:</a:t>
            </a:r>
          </a:p>
        </p:txBody>
      </p:sp>
      <p:sp>
        <p:nvSpPr>
          <p:cNvPr id="3" name="Content Placeholder 2">
            <a:extLst>
              <a:ext uri="{FF2B5EF4-FFF2-40B4-BE49-F238E27FC236}">
                <a16:creationId xmlns:a16="http://schemas.microsoft.com/office/drawing/2014/main" id="{244E2338-DF4C-09CE-CBF0-C7C4B79F0EA8}"/>
              </a:ext>
            </a:extLst>
          </p:cNvPr>
          <p:cNvSpPr>
            <a:spLocks noGrp="1"/>
          </p:cNvSpPr>
          <p:nvPr>
            <p:ph idx="1"/>
          </p:nvPr>
        </p:nvSpPr>
        <p:spPr>
          <a:xfrm>
            <a:off x="1202918" y="2011680"/>
            <a:ext cx="10568371" cy="4206240"/>
          </a:xfrm>
        </p:spPr>
        <p:txBody>
          <a:bodyPr>
            <a:normAutofit/>
          </a:bodyPr>
          <a:lstStyle/>
          <a:p>
            <a:r>
              <a:rPr lang="en-US" dirty="0"/>
              <a:t>Find someone in the class who has a similar colour hair to you. </a:t>
            </a:r>
          </a:p>
          <a:p>
            <a:endParaRPr lang="en-US" dirty="0"/>
          </a:p>
          <a:p>
            <a:r>
              <a:rPr lang="en-US" dirty="0"/>
              <a:t>Ask your partner: </a:t>
            </a:r>
          </a:p>
          <a:p>
            <a:endParaRPr lang="en-US" dirty="0"/>
          </a:p>
          <a:p>
            <a:pPr marL="0" indent="0" algn="ctr">
              <a:buNone/>
            </a:pPr>
            <a:r>
              <a:rPr lang="en-US" dirty="0"/>
              <a:t>“What is one thing you will try the next time you need to regulate your emotions?”</a:t>
            </a:r>
          </a:p>
          <a:p>
            <a:endParaRPr lang="en-US" dirty="0"/>
          </a:p>
          <a:p>
            <a:r>
              <a:rPr lang="en-US" dirty="0"/>
              <a:t>Share your answers together. </a:t>
            </a:r>
          </a:p>
        </p:txBody>
      </p:sp>
    </p:spTree>
    <p:extLst>
      <p:ext uri="{BB962C8B-B14F-4D97-AF65-F5344CB8AC3E}">
        <p14:creationId xmlns:p14="http://schemas.microsoft.com/office/powerpoint/2010/main" val="33108437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19889</TotalTime>
  <Words>1637</Words>
  <Application>Microsoft Office PowerPoint</Application>
  <PresentationFormat>Widescreen</PresentationFormat>
  <Paragraphs>160</Paragraphs>
  <Slides>13</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Calibri</vt:lpstr>
      <vt:lpstr>Corbel</vt:lpstr>
      <vt:lpstr>Segoe UI</vt:lpstr>
      <vt:lpstr>Söhne</vt:lpstr>
      <vt:lpstr>Times New Roman</vt:lpstr>
      <vt:lpstr>Wingdings</vt:lpstr>
      <vt:lpstr>Banded</vt:lpstr>
      <vt:lpstr>All About Me </vt:lpstr>
      <vt:lpstr>PowerPoint Presentation</vt:lpstr>
      <vt:lpstr>Hook: Post it slam</vt:lpstr>
      <vt:lpstr>Activity 1: Emotional regulation (Pg. 22). Managing and expressing emotions in a healthy way</vt:lpstr>
      <vt:lpstr>Activity 1: Emotional regulation (Pg. 22). Managing and expressing emotions in a healthy way</vt:lpstr>
      <vt:lpstr>Positive self –talk (Pg. 23).</vt:lpstr>
      <vt:lpstr>Building Social Support:   (Pg. 23).</vt:lpstr>
      <vt:lpstr>Activity 2:  Who is your support network?   (Pg. 24).</vt:lpstr>
      <vt:lpstr>RECAP: Five Skills of resilience  </vt:lpstr>
      <vt:lpstr>Activity 3:  Using the  5 resilience skills   (Pg. 25-26)</vt:lpstr>
      <vt:lpstr>Activity 3: Example</vt:lpstr>
      <vt:lpstr>GLOSSARY:        (Pg. 5)</vt:lpstr>
      <vt:lpstr>EXIT TICKET: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All About Me </dc:title>
  <dc:creator>GORRINGE Mac [Willetton Senior High School]</dc:creator>
  <cp:lastModifiedBy>HILLMAN Alissa [Willetton Senior High School]</cp:lastModifiedBy>
  <cp:revision>74</cp:revision>
  <dcterms:created xsi:type="dcterms:W3CDTF">2021-09-23T06:45:05Z</dcterms:created>
  <dcterms:modified xsi:type="dcterms:W3CDTF">2023-10-26T04:33:34Z</dcterms:modified>
</cp:coreProperties>
</file>
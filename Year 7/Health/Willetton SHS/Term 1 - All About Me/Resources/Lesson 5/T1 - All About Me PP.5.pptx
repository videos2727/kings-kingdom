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328" r:id="rId2"/>
    <p:sldId id="355" r:id="rId3"/>
    <p:sldId id="300" r:id="rId4"/>
    <p:sldId id="301" r:id="rId5"/>
    <p:sldId id="302" r:id="rId6"/>
    <p:sldId id="339" r:id="rId7"/>
    <p:sldId id="340" r:id="rId8"/>
    <p:sldId id="314" r:id="rId9"/>
    <p:sldId id="315" r:id="rId10"/>
    <p:sldId id="341" r:id="rId11"/>
    <p:sldId id="343" r:id="rId12"/>
    <p:sldId id="34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D4B1"/>
    <a:srgbClr val="FFF4EB"/>
    <a:srgbClr val="FFFDFB"/>
    <a:srgbClr val="FFE7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02" autoAdjust="0"/>
    <p:restoredTop sz="83861" autoAdjust="0"/>
  </p:normalViewPr>
  <p:slideViewPr>
    <p:cSldViewPr snapToGrid="0">
      <p:cViewPr varScale="1">
        <p:scale>
          <a:sx n="61" d="100"/>
          <a:sy n="61" d="100"/>
        </p:scale>
        <p:origin x="86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7A36F7-0907-4FEF-B0FD-8059B973ACD9}" type="datetimeFigureOut">
              <a:rPr lang="en-AU" smtClean="0"/>
              <a:t>26/10/2023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C573D7-E80C-4709-9B31-9CF3A42190EB}" type="slidenum">
              <a:rPr lang="en-AU" smtClean="0"/>
              <a:t>‹#›</a:t>
            </a:fld>
            <a:endParaRPr lang="en-AU"/>
          </a:p>
        </p:txBody>
      </p:sp>
    </p:spTree>
    <p:extLst>
      <p:ext uri="{BB962C8B-B14F-4D97-AF65-F5344CB8AC3E}">
        <p14:creationId xmlns:p14="http://schemas.microsoft.com/office/powerpoint/2010/main" val="3481880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Pg16</a:t>
            </a:r>
          </a:p>
        </p:txBody>
      </p:sp>
      <p:sp>
        <p:nvSpPr>
          <p:cNvPr id="4" name="Slide Number Placeholder 3"/>
          <p:cNvSpPr>
            <a:spLocks noGrp="1"/>
          </p:cNvSpPr>
          <p:nvPr>
            <p:ph type="sldNum" sz="quarter" idx="5"/>
          </p:nvPr>
        </p:nvSpPr>
        <p:spPr/>
        <p:txBody>
          <a:bodyPr/>
          <a:lstStyle/>
          <a:p>
            <a:fld id="{32C573D7-E80C-4709-9B31-9CF3A42190EB}" type="slidenum">
              <a:rPr lang="en-AU" smtClean="0"/>
              <a:t>2</a:t>
            </a:fld>
            <a:endParaRPr lang="en-AU"/>
          </a:p>
        </p:txBody>
      </p:sp>
    </p:spTree>
    <p:extLst>
      <p:ext uri="{BB962C8B-B14F-4D97-AF65-F5344CB8AC3E}">
        <p14:creationId xmlns:p14="http://schemas.microsoft.com/office/powerpoint/2010/main" val="2038123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t>Online option - </a:t>
            </a:r>
            <a:r>
              <a:rPr lang="en-AU" sz="1200" dirty="0">
                <a:effectLst/>
                <a:latin typeface="Calibri" panose="020F0502020204030204" pitchFamily="34" charset="0"/>
                <a:ea typeface="Calibri" panose="020F0502020204030204" pitchFamily="34" charset="0"/>
                <a:cs typeface="Calibri" panose="020F0502020204030204" pitchFamily="34" charset="0"/>
              </a:rPr>
              <a:t>https://www.transum.org/software/River_Crossing/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dirty="0">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AU" b="0" i="0" dirty="0">
                <a:solidFill>
                  <a:srgbClr val="000000"/>
                </a:solidFill>
                <a:effectLst/>
                <a:latin typeface="Quicksand"/>
              </a:rPr>
              <a:t>To begin, the woman and the chicken cross the river together. The fox and corn are safe together.</a:t>
            </a:r>
          </a:p>
          <a:p>
            <a:pPr algn="l" fontAlgn="base"/>
            <a:r>
              <a:rPr lang="en-AU" b="0" i="0" dirty="0">
                <a:solidFill>
                  <a:srgbClr val="000000"/>
                </a:solidFill>
                <a:effectLst/>
                <a:latin typeface="Quicksand"/>
              </a:rPr>
              <a:t>Once on the other side, the woman leaves the chicken and returns to the fox and corn. She takes the fox across the river, and since she can’t leave the fox and chicken together, she brings the chicken back with her (that’s the trick which many groups do not think of.)</a:t>
            </a:r>
          </a:p>
          <a:p>
            <a:pPr algn="l" fontAlgn="base"/>
            <a:r>
              <a:rPr lang="en-AU" b="0" i="0" dirty="0">
                <a:solidFill>
                  <a:srgbClr val="000000"/>
                </a:solidFill>
                <a:effectLst/>
                <a:latin typeface="Quicksand"/>
              </a:rPr>
              <a:t>She cannot leave the chicken with the corn, so she leaves the chicken and rows the corn across the river and leaves it with the fox.</a:t>
            </a:r>
          </a:p>
          <a:p>
            <a:pPr algn="l" fontAlgn="base"/>
            <a:r>
              <a:rPr lang="en-AU" b="0" i="0" dirty="0">
                <a:solidFill>
                  <a:srgbClr val="000000"/>
                </a:solidFill>
                <a:effectLst/>
                <a:latin typeface="Quicksand"/>
              </a:rPr>
              <a:t>Finally, she returns to pick up the chicken and rows across the river one last time.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32C573D7-E80C-4709-9B31-9CF3A42190EB}" type="slidenum">
              <a:rPr lang="en-AU" smtClean="0"/>
              <a:t>3</a:t>
            </a:fld>
            <a:endParaRPr lang="en-AU"/>
          </a:p>
        </p:txBody>
      </p:sp>
    </p:spTree>
    <p:extLst>
      <p:ext uri="{BB962C8B-B14F-4D97-AF65-F5344CB8AC3E}">
        <p14:creationId xmlns:p14="http://schemas.microsoft.com/office/powerpoint/2010/main" val="3602820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t>Assessment 2 related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Fill in the blanks</a:t>
            </a:r>
          </a:p>
          <a:p>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5</a:t>
            </a:fld>
            <a:endParaRPr lang="en-AU"/>
          </a:p>
        </p:txBody>
      </p:sp>
    </p:spTree>
    <p:extLst>
      <p:ext uri="{BB962C8B-B14F-4D97-AF65-F5344CB8AC3E}">
        <p14:creationId xmlns:p14="http://schemas.microsoft.com/office/powerpoint/2010/main" val="2864549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dirty="0"/>
              <a:t>Assessment 2 related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Fill in the blanks</a:t>
            </a:r>
          </a:p>
          <a:p>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6</a:t>
            </a:fld>
            <a:endParaRPr lang="en-AU"/>
          </a:p>
        </p:txBody>
      </p:sp>
    </p:spTree>
    <p:extLst>
      <p:ext uri="{BB962C8B-B14F-4D97-AF65-F5344CB8AC3E}">
        <p14:creationId xmlns:p14="http://schemas.microsoft.com/office/powerpoint/2010/main" val="131056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between one of the activities above. Slides explaining each follow. </a:t>
            </a:r>
          </a:p>
        </p:txBody>
      </p:sp>
      <p:sp>
        <p:nvSpPr>
          <p:cNvPr id="4" name="Slide Number Placeholder 3"/>
          <p:cNvSpPr>
            <a:spLocks noGrp="1"/>
          </p:cNvSpPr>
          <p:nvPr>
            <p:ph type="sldNum" sz="quarter" idx="5"/>
          </p:nvPr>
        </p:nvSpPr>
        <p:spPr/>
        <p:txBody>
          <a:bodyPr/>
          <a:lstStyle/>
          <a:p>
            <a:fld id="{32C573D7-E80C-4709-9B31-9CF3A42190EB}" type="slidenum">
              <a:rPr lang="en-AU" smtClean="0"/>
              <a:t>7</a:t>
            </a:fld>
            <a:endParaRPr lang="en-AU"/>
          </a:p>
        </p:txBody>
      </p:sp>
    </p:spTree>
    <p:extLst>
      <p:ext uri="{BB962C8B-B14F-4D97-AF65-F5344CB8AC3E}">
        <p14:creationId xmlns:p14="http://schemas.microsoft.com/office/powerpoint/2010/main" val="2403779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32C573D7-E80C-4709-9B31-9CF3A42190EB}" type="slidenum">
              <a:rPr lang="en-AU" smtClean="0"/>
              <a:t>8</a:t>
            </a:fld>
            <a:endParaRPr lang="en-AU"/>
          </a:p>
        </p:txBody>
      </p:sp>
    </p:spTree>
    <p:extLst>
      <p:ext uri="{BB962C8B-B14F-4D97-AF65-F5344CB8AC3E}">
        <p14:creationId xmlns:p14="http://schemas.microsoft.com/office/powerpoint/2010/main" val="2607988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effectLst/>
                <a:latin typeface="Calibri" panose="020F0502020204030204" pitchFamily="34" charset="0"/>
                <a:ea typeface="Calibri" panose="020F0502020204030204" pitchFamily="34" charset="0"/>
                <a:cs typeface="Times New Roman" panose="02020603050405020304" pitchFamily="18" charset="0"/>
              </a:rPr>
              <a:t>Diagram of how to set it up on the next slide.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effectLst/>
                <a:latin typeface="Calibri" panose="020F0502020204030204" pitchFamily="34" charset="0"/>
                <a:ea typeface="Calibri" panose="020F0502020204030204" pitchFamily="34" charset="0"/>
                <a:cs typeface="Times New Roman" panose="02020603050405020304" pitchFamily="18" charset="0"/>
              </a:rPr>
              <a:t>Each stage can be marked out using chairs, books, cones, tables etc. </a:t>
            </a:r>
          </a:p>
        </p:txBody>
      </p:sp>
      <p:sp>
        <p:nvSpPr>
          <p:cNvPr id="4" name="Slide Number Placeholder 3"/>
          <p:cNvSpPr>
            <a:spLocks noGrp="1"/>
          </p:cNvSpPr>
          <p:nvPr>
            <p:ph type="sldNum" sz="quarter" idx="5"/>
          </p:nvPr>
        </p:nvSpPr>
        <p:spPr/>
        <p:txBody>
          <a:bodyPr/>
          <a:lstStyle/>
          <a:p>
            <a:fld id="{32C573D7-E80C-4709-9B31-9CF3A42190EB}" type="slidenum">
              <a:rPr lang="en-AU" smtClean="0"/>
              <a:t>10</a:t>
            </a:fld>
            <a:endParaRPr lang="en-AU"/>
          </a:p>
        </p:txBody>
      </p:sp>
    </p:spTree>
    <p:extLst>
      <p:ext uri="{BB962C8B-B14F-4D97-AF65-F5344CB8AC3E}">
        <p14:creationId xmlns:p14="http://schemas.microsoft.com/office/powerpoint/2010/main" val="1601956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effectLst/>
                <a:latin typeface="Calibri" panose="020F0502020204030204" pitchFamily="34" charset="0"/>
                <a:ea typeface="Calibri" panose="020F0502020204030204" pitchFamily="34" charset="0"/>
                <a:cs typeface="Times New Roman" panose="02020603050405020304" pitchFamily="18" charset="0"/>
              </a:rPr>
              <a:t>Each stage can be marked out using chairs, books, cones, tables etc. </a:t>
            </a:r>
          </a:p>
        </p:txBody>
      </p:sp>
      <p:sp>
        <p:nvSpPr>
          <p:cNvPr id="4" name="Slide Number Placeholder 3"/>
          <p:cNvSpPr>
            <a:spLocks noGrp="1"/>
          </p:cNvSpPr>
          <p:nvPr>
            <p:ph type="sldNum" sz="quarter" idx="5"/>
          </p:nvPr>
        </p:nvSpPr>
        <p:spPr/>
        <p:txBody>
          <a:bodyPr/>
          <a:lstStyle/>
          <a:p>
            <a:fld id="{32C573D7-E80C-4709-9B31-9CF3A42190EB}" type="slidenum">
              <a:rPr lang="en-AU" smtClean="0"/>
              <a:t>11</a:t>
            </a:fld>
            <a:endParaRPr lang="en-AU"/>
          </a:p>
        </p:txBody>
      </p:sp>
    </p:spTree>
    <p:extLst>
      <p:ext uri="{BB962C8B-B14F-4D97-AF65-F5344CB8AC3E}">
        <p14:creationId xmlns:p14="http://schemas.microsoft.com/office/powerpoint/2010/main" val="3729217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32C573D7-E80C-4709-9B31-9CF3A42190EB}" type="slidenum">
              <a:rPr lang="en-AU" smtClean="0"/>
              <a:t>12</a:t>
            </a:fld>
            <a:endParaRPr lang="en-AU"/>
          </a:p>
        </p:txBody>
      </p:sp>
    </p:spTree>
    <p:extLst>
      <p:ext uri="{BB962C8B-B14F-4D97-AF65-F5344CB8AC3E}">
        <p14:creationId xmlns:p14="http://schemas.microsoft.com/office/powerpoint/2010/main" val="3067305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017378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012024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2B9A715-435D-481F-92DE-B257404B0EA3}" type="slidenum">
              <a:rPr lang="en-AU" smtClean="0"/>
              <a:t>‹#›</a:t>
            </a:fld>
            <a:endParaRPr lang="en-AU"/>
          </a:p>
        </p:txBody>
      </p:sp>
    </p:spTree>
    <p:extLst>
      <p:ext uri="{BB962C8B-B14F-4D97-AF65-F5344CB8AC3E}">
        <p14:creationId xmlns:p14="http://schemas.microsoft.com/office/powerpoint/2010/main" val="219926194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86F2E1-FA8A-4588-BBFD-A05AC645A9D8}" type="datetimeFigureOut">
              <a:rPr lang="en-AU" smtClean="0"/>
              <a:t>26/10/2023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053986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86F2E1-FA8A-4588-BBFD-A05AC645A9D8}" type="datetimeFigureOut">
              <a:rPr lang="en-AU" smtClean="0"/>
              <a:t>26/10/2023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3426797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86F2E1-FA8A-4588-BBFD-A05AC645A9D8}" type="datetimeFigureOut">
              <a:rPr lang="en-AU" smtClean="0"/>
              <a:t>26/10/2023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5700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86F2E1-FA8A-4588-BBFD-A05AC645A9D8}" type="datetimeFigureOut">
              <a:rPr lang="en-AU" smtClean="0"/>
              <a:t>26/10/2023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1923949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F86F2E1-FA8A-4588-BBFD-A05AC645A9D8}" type="datetimeFigureOut">
              <a:rPr lang="en-AU" smtClean="0"/>
              <a:t>26/10/2023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1061007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F86F2E1-FA8A-4588-BBFD-A05AC645A9D8}" type="datetimeFigureOut">
              <a:rPr lang="en-AU" smtClean="0"/>
              <a:t>26/10/2023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3361218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3633856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CF86F2E1-FA8A-4588-BBFD-A05AC645A9D8}" type="datetimeFigureOut">
              <a:rPr lang="en-AU" smtClean="0"/>
              <a:t>26/10/2023</a:t>
            </a:fld>
            <a:endParaRPr lang="en-AU"/>
          </a:p>
        </p:txBody>
      </p:sp>
      <p:sp>
        <p:nvSpPr>
          <p:cNvPr id="5" name="Footer Placeholder 4"/>
          <p:cNvSpPr>
            <a:spLocks noGrp="1"/>
          </p:cNvSpPr>
          <p:nvPr>
            <p:ph type="ftr" sz="quarter" idx="11"/>
          </p:nvPr>
        </p:nvSpPr>
        <p:spPr>
          <a:xfrm>
            <a:off x="3776135" y="6422854"/>
            <a:ext cx="4279669" cy="365125"/>
          </a:xfrm>
        </p:spPr>
        <p:txBody>
          <a:bodyPr/>
          <a:lstStyle/>
          <a:p>
            <a:endParaRPr lang="en-AU"/>
          </a:p>
        </p:txBody>
      </p:sp>
      <p:sp>
        <p:nvSpPr>
          <p:cNvPr id="6" name="Slide Number Placeholder 5"/>
          <p:cNvSpPr>
            <a:spLocks noGrp="1"/>
          </p:cNvSpPr>
          <p:nvPr>
            <p:ph type="sldNum" sz="quarter" idx="12"/>
          </p:nvPr>
        </p:nvSpPr>
        <p:spPr>
          <a:xfrm>
            <a:off x="8073048" y="6422854"/>
            <a:ext cx="879759" cy="365125"/>
          </a:xfrm>
        </p:spPr>
        <p:txBody>
          <a:bodyPr/>
          <a:lstStyle/>
          <a:p>
            <a:fld id="{D2B9A715-435D-481F-92DE-B257404B0EA3}" type="slidenum">
              <a:rPr lang="en-AU" smtClean="0"/>
              <a:t>‹#›</a:t>
            </a:fld>
            <a:endParaRPr lang="en-AU"/>
          </a:p>
        </p:txBody>
      </p:sp>
    </p:spTree>
    <p:extLst>
      <p:ext uri="{BB962C8B-B14F-4D97-AF65-F5344CB8AC3E}">
        <p14:creationId xmlns:p14="http://schemas.microsoft.com/office/powerpoint/2010/main" val="4256360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CF86F2E1-FA8A-4588-BBFD-A05AC645A9D8}" type="datetimeFigureOut">
              <a:rPr lang="en-AU" smtClean="0"/>
              <a:t>26/10/2023</a:t>
            </a:fld>
            <a:endParaRPr lang="en-AU"/>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AU"/>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D2B9A715-435D-481F-92DE-B257404B0EA3}" type="slidenum">
              <a:rPr lang="en-AU" smtClean="0"/>
              <a:t>‹#›</a:t>
            </a:fld>
            <a:endParaRPr lang="en-AU"/>
          </a:p>
        </p:txBody>
      </p:sp>
    </p:spTree>
    <p:extLst>
      <p:ext uri="{BB962C8B-B14F-4D97-AF65-F5344CB8AC3E}">
        <p14:creationId xmlns:p14="http://schemas.microsoft.com/office/powerpoint/2010/main" val="152336012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2.wdp"/><Relationship Id="rId10" Type="http://schemas.microsoft.com/office/2007/relationships/hdphoto" Target="../media/hdphoto4.wdp"/><Relationship Id="rId4" Type="http://schemas.openxmlformats.org/officeDocument/2006/relationships/image" Target="../media/image3.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1727" y="2182637"/>
            <a:ext cx="9118495" cy="1600964"/>
          </a:xfrm>
          <a:solidFill>
            <a:schemeClr val="accent1">
              <a:lumMod val="60000"/>
              <a:lumOff val="40000"/>
            </a:schemeClr>
          </a:solidFill>
        </p:spPr>
        <p:txBody>
          <a:bodyPr>
            <a:normAutofit/>
          </a:bodyPr>
          <a:lstStyle/>
          <a:p>
            <a:r>
              <a:rPr lang="en-AU" sz="7200" b="1" dirty="0"/>
              <a:t>All About Me </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backgroundRemoval t="0" b="100000" l="0" r="100000">
                        <a14:foregroundMark x1="91776" y1="59639" x2="91776" y2="59639"/>
                        <a14:foregroundMark x1="88487" y1="54217" x2="88487" y2="54217"/>
                        <a14:foregroundMark x1="82237" y1="13855" x2="82237" y2="13855"/>
                        <a14:foregroundMark x1="11842" y1="19277" x2="11842" y2="19277"/>
                        <a14:foregroundMark x1="6250" y1="51807" x2="6250" y2="51807"/>
                        <a14:foregroundMark x1="13158" y1="53614" x2="13158" y2="53614"/>
                        <a14:foregroundMark x1="11513" y1="53012" x2="11513" y2="53012"/>
                        <a14:foregroundMark x1="9211" y1="54819" x2="9211" y2="54819"/>
                        <a14:foregroundMark x1="22368" y1="53614" x2="22368" y2="53614"/>
                        <a14:foregroundMark x1="25987" y1="54217" x2="25987" y2="54217"/>
                        <a14:foregroundMark x1="19408" y1="51807" x2="19408" y2="51807"/>
                        <a14:foregroundMark x1="19737" y1="63855" x2="19737" y2="63855"/>
                        <a14:foregroundMark x1="19737" y1="63855" x2="18750" y2="86747"/>
                        <a14:foregroundMark x1="7895" y1="24096" x2="17105" y2="8434"/>
                        <a14:foregroundMark x1="42763" y1="19277" x2="54605" y2="12048"/>
                        <a14:foregroundMark x1="30263" y1="71084" x2="32237" y2="92169"/>
                        <a14:foregroundMark x1="66118" y1="56627" x2="65789" y2="92771"/>
                        <a14:foregroundMark x1="82237" y1="16867" x2="89145" y2="15663"/>
                      </a14:backgroundRemoval>
                    </a14:imgEffect>
                  </a14:imgLayer>
                </a14:imgProps>
              </a:ext>
            </a:extLst>
          </a:blip>
          <a:stretch>
            <a:fillRect/>
          </a:stretch>
        </p:blipFill>
        <p:spPr>
          <a:xfrm>
            <a:off x="8581344" y="4493213"/>
            <a:ext cx="3490768" cy="1906143"/>
          </a:xfrm>
          <a:prstGeom prst="rect">
            <a:avLst/>
          </a:prstGeom>
        </p:spPr>
      </p:pic>
      <p:pic>
        <p:nvPicPr>
          <p:cNvPr id="3" name="Picture 2"/>
          <p:cNvPicPr>
            <a:picLocks noChangeAspect="1"/>
          </p:cNvPicPr>
          <p:nvPr/>
        </p:nvPicPr>
        <p:blipFill>
          <a:blip r:embed="rId4">
            <a:extLst>
              <a:ext uri="{BEBA8EAE-BF5A-486C-A8C5-ECC9F3942E4B}">
                <a14:imgProps xmlns:a14="http://schemas.microsoft.com/office/drawing/2010/main">
                  <a14:imgLayer r:embed="rId5">
                    <a14:imgEffect>
                      <a14:backgroundRemoval t="0" b="98160" l="324" r="100000">
                        <a14:foregroundMark x1="37217" y1="52761" x2="47249" y2="66871"/>
                        <a14:foregroundMark x1="44337" y1="52761" x2="44337" y2="52761"/>
                        <a14:foregroundMark x1="39806" y1="48466" x2="39806" y2="48466"/>
                        <a14:foregroundMark x1="37864" y1="63190" x2="37864" y2="63190"/>
                        <a14:foregroundMark x1="35599" y1="73006" x2="35599" y2="73006"/>
                        <a14:foregroundMark x1="46602" y1="73006" x2="46602" y2="73006"/>
                        <a14:foregroundMark x1="50485" y1="52761" x2="50485" y2="52761"/>
                        <a14:foregroundMark x1="73139" y1="23313" x2="73139" y2="23313"/>
                        <a14:foregroundMark x1="69903" y1="21472" x2="69903" y2="21472"/>
                        <a14:foregroundMark x1="73786" y1="19632" x2="73786" y2="19632"/>
                        <a14:foregroundMark x1="76699" y1="18405" x2="76699" y2="18405"/>
                        <a14:backgroundMark x1="54693" y1="53374" x2="54693" y2="53374"/>
                        <a14:backgroundMark x1="62460" y1="52761" x2="62460" y2="52761"/>
                        <a14:backgroundMark x1="55987" y1="53374" x2="55987" y2="53374"/>
                        <a14:backgroundMark x1="59223" y1="64417" x2="59223" y2="64417"/>
                      </a14:backgroundRemoval>
                    </a14:imgEffect>
                  </a14:imgLayer>
                </a14:imgProps>
              </a:ext>
            </a:extLst>
          </a:blip>
          <a:stretch>
            <a:fillRect/>
          </a:stretch>
        </p:blipFill>
        <p:spPr>
          <a:xfrm>
            <a:off x="-429768" y="-36830"/>
            <a:ext cx="3102012" cy="2340864"/>
          </a:xfrm>
          <a:prstGeom prst="rect">
            <a:avLst/>
          </a:prstGeom>
        </p:spPr>
      </p:pic>
      <p:pic>
        <p:nvPicPr>
          <p:cNvPr id="5" name="Picture 4"/>
          <p:cNvPicPr>
            <a:picLocks noChangeAspect="1"/>
          </p:cNvPicPr>
          <p:nvPr/>
        </p:nvPicPr>
        <p:blipFill>
          <a:blip r:embed="rId6">
            <a:extLst>
              <a:ext uri="{BEBA8EAE-BF5A-486C-A8C5-ECC9F3942E4B}">
                <a14:imgProps xmlns:a14="http://schemas.microsoft.com/office/drawing/2010/main">
                  <a14:imgLayer r:embed="rId7">
                    <a14:imgEffect>
                      <a14:backgroundRemoval t="889" b="100000" l="889" r="99111">
                        <a14:foregroundMark x1="17778" y1="65333" x2="17778" y2="65333"/>
                        <a14:foregroundMark x1="16889" y1="69778" x2="16889" y2="69778"/>
                        <a14:foregroundMark x1="19111" y1="71111" x2="19111" y2="71111"/>
                        <a14:foregroundMark x1="85778" y1="64000" x2="85778" y2="64000"/>
                        <a14:foregroundMark x1="84444" y1="68000" x2="84444" y2="68000"/>
                        <a14:foregroundMark x1="62667" y1="33778" x2="62667" y2="33778"/>
                        <a14:foregroundMark x1="40889" y1="33778" x2="40889" y2="33778"/>
                        <a14:foregroundMark x1="22222" y1="71111" x2="22222" y2="71111"/>
                      </a14:backgroundRemoval>
                    </a14:imgEffect>
                  </a14:imgLayer>
                </a14:imgProps>
              </a:ext>
            </a:extLst>
          </a:blip>
          <a:stretch>
            <a:fillRect/>
          </a:stretch>
        </p:blipFill>
        <p:spPr>
          <a:xfrm>
            <a:off x="9962197" y="23239"/>
            <a:ext cx="2143125" cy="2143125"/>
          </a:xfrm>
          <a:prstGeom prst="rect">
            <a:avLst/>
          </a:prstGeom>
        </p:spPr>
      </p:pic>
      <p:pic>
        <p:nvPicPr>
          <p:cNvPr id="6" name="Picture 5"/>
          <p:cNvPicPr>
            <a:picLocks noChangeAspect="1"/>
          </p:cNvPicPr>
          <p:nvPr/>
        </p:nvPicPr>
        <p:blipFill>
          <a:blip r:embed="rId8"/>
          <a:stretch>
            <a:fillRect/>
          </a:stretch>
        </p:blipFill>
        <p:spPr>
          <a:xfrm>
            <a:off x="363728" y="4493213"/>
            <a:ext cx="3348736" cy="188366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p:cNvPicPr>
            <a:picLocks noChangeAspect="1"/>
          </p:cNvPicPr>
          <p:nvPr/>
        </p:nvPicPr>
        <p:blipFill>
          <a:blip r:embed="rId9">
            <a:extLst>
              <a:ext uri="{BEBA8EAE-BF5A-486C-A8C5-ECC9F3942E4B}">
                <a14:imgProps xmlns:a14="http://schemas.microsoft.com/office/drawing/2010/main">
                  <a14:imgLayer r:embed="rId10">
                    <a14:imgEffect>
                      <a14:backgroundRemoval t="431" b="99569" l="922" r="100000"/>
                    </a14:imgEffect>
                  </a14:imgLayer>
                </a14:imgProps>
              </a:ext>
            </a:extLst>
          </a:blip>
          <a:stretch>
            <a:fillRect/>
          </a:stretch>
        </p:blipFill>
        <p:spPr>
          <a:xfrm>
            <a:off x="4934521" y="-39878"/>
            <a:ext cx="2066925" cy="2176462"/>
          </a:xfrm>
          <a:prstGeom prst="rect">
            <a:avLst/>
          </a:prstGeom>
        </p:spPr>
      </p:pic>
      <p:sp>
        <p:nvSpPr>
          <p:cNvPr id="8" name="TextBox 7">
            <a:extLst>
              <a:ext uri="{FF2B5EF4-FFF2-40B4-BE49-F238E27FC236}">
                <a16:creationId xmlns:a16="http://schemas.microsoft.com/office/drawing/2014/main" id="{8A898FFC-EF2E-7AD2-4274-7D8DE97BA422}"/>
              </a:ext>
            </a:extLst>
          </p:cNvPr>
          <p:cNvSpPr txBox="1"/>
          <p:nvPr/>
        </p:nvSpPr>
        <p:spPr>
          <a:xfrm>
            <a:off x="4151376" y="4332319"/>
            <a:ext cx="3889248" cy="1477328"/>
          </a:xfrm>
          <a:prstGeom prst="rect">
            <a:avLst/>
          </a:prstGeom>
          <a:noFill/>
        </p:spPr>
        <p:txBody>
          <a:bodyPr wrap="square" rtlCol="0">
            <a:spAutoFit/>
          </a:bodyPr>
          <a:lstStyle/>
          <a:p>
            <a:pPr algn="ctr"/>
            <a:r>
              <a:rPr lang="en-US" dirty="0"/>
              <a:t>Year 7 Health</a:t>
            </a:r>
          </a:p>
          <a:p>
            <a:pPr algn="ctr"/>
            <a:endParaRPr lang="en-US" dirty="0"/>
          </a:p>
          <a:p>
            <a:pPr algn="ctr"/>
            <a:r>
              <a:rPr lang="en-US" dirty="0"/>
              <a:t>Lesson 5</a:t>
            </a:r>
          </a:p>
          <a:p>
            <a:pPr algn="ctr"/>
            <a:endParaRPr lang="en-US" dirty="0"/>
          </a:p>
          <a:p>
            <a:pPr algn="ctr"/>
            <a:r>
              <a:rPr lang="en-US" dirty="0"/>
              <a:t>2024</a:t>
            </a:r>
          </a:p>
        </p:txBody>
      </p:sp>
    </p:spTree>
    <p:extLst>
      <p:ext uri="{BB962C8B-B14F-4D97-AF65-F5344CB8AC3E}">
        <p14:creationId xmlns:p14="http://schemas.microsoft.com/office/powerpoint/2010/main" val="3886564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7283" y="2157984"/>
            <a:ext cx="10757433" cy="4206240"/>
          </a:xfrm>
        </p:spPr>
        <p:txBody>
          <a:bodyPr>
            <a:normAutofit fontScale="92500" lnSpcReduction="10000"/>
          </a:bodyPr>
          <a:lstStyle/>
          <a:p>
            <a:r>
              <a:rPr lang="en-AU" dirty="0"/>
              <a:t>In the first 5 minutes of each lesson you will complete your revision page, you will find these throughout your booklet. </a:t>
            </a:r>
          </a:p>
          <a:p>
            <a:r>
              <a:rPr lang="en-AU" dirty="0"/>
              <a:t>The revision page consists of three questions. </a:t>
            </a:r>
            <a:r>
              <a:rPr lang="en-AU" b="1" dirty="0"/>
              <a:t>It will need to be completed in detail. One word answers will not be accepted.</a:t>
            </a:r>
          </a:p>
          <a:p>
            <a:pPr marL="0" indent="0">
              <a:buNone/>
            </a:pPr>
            <a:r>
              <a:rPr lang="en-AU" dirty="0"/>
              <a:t>The three questions :</a:t>
            </a:r>
          </a:p>
          <a:p>
            <a:pPr marL="457200" indent="-457200">
              <a:buAutoNum type="arabicPeriod"/>
            </a:pPr>
            <a:r>
              <a:rPr lang="en-AU" dirty="0"/>
              <a:t>What two concepts or ideas did I learn in class last week?</a:t>
            </a:r>
          </a:p>
          <a:p>
            <a:pPr marL="457200" indent="-457200">
              <a:buAutoNum type="arabicPeriod"/>
            </a:pPr>
            <a:r>
              <a:rPr lang="en-AU" dirty="0"/>
              <a:t>What did I find interesting about last week’s lesson? Provide a specific example. </a:t>
            </a:r>
          </a:p>
          <a:p>
            <a:pPr marL="457200" indent="-457200">
              <a:buAutoNum type="arabicPeriod"/>
            </a:pPr>
            <a:r>
              <a:rPr lang="en-AU" dirty="0"/>
              <a:t>Any questions or new words you have learnt?</a:t>
            </a:r>
          </a:p>
          <a:p>
            <a:pPr marL="457200" indent="-457200">
              <a:buAutoNum type="arabicPeriod"/>
            </a:pPr>
            <a:endParaRPr lang="en-AU" dirty="0"/>
          </a:p>
          <a:p>
            <a:pPr marL="0" indent="0" algn="ctr">
              <a:buNone/>
            </a:pPr>
            <a:r>
              <a:rPr lang="en-AU" b="1" i="1" dirty="0"/>
              <a:t>The teacher will go over this each lesson with you to see what you have learnt. It is a great way for you to revisit content and test your memory. </a:t>
            </a:r>
          </a:p>
        </p:txBody>
      </p:sp>
      <p:pic>
        <p:nvPicPr>
          <p:cNvPr id="4" name="Picture 3"/>
          <p:cNvPicPr>
            <a:picLocks noChangeAspect="1"/>
          </p:cNvPicPr>
          <p:nvPr/>
        </p:nvPicPr>
        <p:blipFill>
          <a:blip r:embed="rId3"/>
          <a:stretch>
            <a:fillRect/>
          </a:stretch>
        </p:blipFill>
        <p:spPr>
          <a:xfrm>
            <a:off x="1202919" y="180784"/>
            <a:ext cx="9410700" cy="1620583"/>
          </a:xfrm>
          <a:prstGeom prst="rect">
            <a:avLst/>
          </a:prstGeom>
        </p:spPr>
      </p:pic>
    </p:spTree>
    <p:extLst>
      <p:ext uri="{BB962C8B-B14F-4D97-AF65-F5344CB8AC3E}">
        <p14:creationId xmlns:p14="http://schemas.microsoft.com/office/powerpoint/2010/main" val="2275989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8C95D-035E-45BB-BD6D-BA70FBD4E64C}"/>
              </a:ext>
            </a:extLst>
          </p:cNvPr>
          <p:cNvSpPr>
            <a:spLocks noGrp="1"/>
          </p:cNvSpPr>
          <p:nvPr>
            <p:ph type="title"/>
          </p:nvPr>
        </p:nvSpPr>
        <p:spPr>
          <a:xfrm>
            <a:off x="1202919" y="250924"/>
            <a:ext cx="9784080" cy="1508760"/>
          </a:xfrm>
          <a:noFill/>
        </p:spPr>
        <p:txBody>
          <a:bodyPr>
            <a:normAutofit/>
          </a:bodyPr>
          <a:lstStyle/>
          <a:p>
            <a:pPr algn="ctr"/>
            <a:r>
              <a:rPr lang="en-AU" sz="5400" dirty="0"/>
              <a:t>HOOK: Building resilience</a:t>
            </a:r>
            <a:br>
              <a:rPr lang="en-AU" sz="5400" dirty="0"/>
            </a:br>
            <a:r>
              <a:rPr lang="en-AU" dirty="0"/>
              <a:t>River crossing </a:t>
            </a:r>
            <a:r>
              <a:rPr lang="en-AU" sz="2400" dirty="0"/>
              <a:t>(Pg. 17).</a:t>
            </a:r>
            <a:endParaRPr lang="en-AU" sz="5400" b="1" dirty="0"/>
          </a:p>
        </p:txBody>
      </p:sp>
      <p:sp>
        <p:nvSpPr>
          <p:cNvPr id="3" name="Content Placeholder 2">
            <a:extLst>
              <a:ext uri="{FF2B5EF4-FFF2-40B4-BE49-F238E27FC236}">
                <a16:creationId xmlns:a16="http://schemas.microsoft.com/office/drawing/2014/main" id="{2C0B4744-A6CC-4289-8B0D-EBEA22F00CA5}"/>
              </a:ext>
            </a:extLst>
          </p:cNvPr>
          <p:cNvSpPr>
            <a:spLocks noGrp="1"/>
          </p:cNvSpPr>
          <p:nvPr>
            <p:ph idx="1"/>
          </p:nvPr>
        </p:nvSpPr>
        <p:spPr>
          <a:xfrm>
            <a:off x="188686" y="2011679"/>
            <a:ext cx="7924800" cy="4782589"/>
          </a:xfrm>
        </p:spPr>
        <p:txBody>
          <a:bodyPr>
            <a:normAutofit lnSpcReduction="10000"/>
          </a:bodyPr>
          <a:lstStyle/>
          <a:p>
            <a:pPr>
              <a:buFont typeface="Arial" panose="020B0604020202020204" pitchFamily="34" charset="0"/>
              <a:buChar char="•"/>
            </a:pPr>
            <a:r>
              <a:rPr lang="en-AU" sz="2000" b="0" i="0" dirty="0">
                <a:effectLst/>
                <a:latin typeface="inherit"/>
              </a:rPr>
              <a:t>Form small teams of 2 to 5 people.</a:t>
            </a:r>
          </a:p>
          <a:p>
            <a:pPr>
              <a:buFont typeface="Arial" panose="020B0604020202020204" pitchFamily="34" charset="0"/>
              <a:buChar char="•"/>
            </a:pPr>
            <a:r>
              <a:rPr lang="en-AU" sz="2000" b="0" i="0" dirty="0">
                <a:effectLst/>
                <a:latin typeface="inherit"/>
              </a:rPr>
              <a:t>Each team is to work together to solve </a:t>
            </a:r>
            <a:r>
              <a:rPr lang="en-AU" sz="2000" dirty="0">
                <a:latin typeface="inherit"/>
              </a:rPr>
              <a:t>the puzzle outlined below:</a:t>
            </a:r>
            <a:endParaRPr lang="en-AU" sz="2000" b="0" i="0" dirty="0">
              <a:effectLst/>
              <a:latin typeface="inherit"/>
            </a:endParaRPr>
          </a:p>
          <a:p>
            <a:pPr>
              <a:buFont typeface="Arial" panose="020B0604020202020204" pitchFamily="34" charset="0"/>
              <a:buChar char="•"/>
            </a:pPr>
            <a:endParaRPr lang="en-AU" sz="2000" b="0" i="0" dirty="0">
              <a:effectLst/>
              <a:latin typeface="inherit"/>
            </a:endParaRPr>
          </a:p>
          <a:p>
            <a:pPr marL="0" indent="0" algn="ctr" fontAlgn="base">
              <a:buNone/>
            </a:pPr>
            <a:r>
              <a:rPr lang="en-AU" sz="2000" b="1" i="1" dirty="0">
                <a:solidFill>
                  <a:srgbClr val="C00000"/>
                </a:solidFill>
                <a:effectLst/>
                <a:latin typeface="inherit"/>
              </a:rPr>
              <a:t>“Using a small rowboat, how can your group transport a chicken, a   fox and a bag of corn to the other side of the river in as few moves as possible?”</a:t>
            </a:r>
          </a:p>
          <a:p>
            <a:pPr marL="0" indent="0" algn="ctr" fontAlgn="base">
              <a:buNone/>
            </a:pPr>
            <a:endParaRPr lang="en-AU" sz="2000" b="1" i="1" dirty="0">
              <a:solidFill>
                <a:srgbClr val="C00000"/>
              </a:solidFill>
              <a:effectLst/>
              <a:latin typeface="inherit"/>
            </a:endParaRPr>
          </a:p>
          <a:p>
            <a:pPr algn="l" fontAlgn="base">
              <a:buFont typeface="+mj-lt"/>
              <a:buAutoNum type="arabicPeriod"/>
            </a:pPr>
            <a:r>
              <a:rPr lang="en-AU" sz="2000" b="0" i="0" dirty="0">
                <a:effectLst/>
                <a:latin typeface="inherit"/>
              </a:rPr>
              <a:t> Your solution must acknowledge three critical parameters:</a:t>
            </a:r>
          </a:p>
          <a:p>
            <a:pPr lvl="2" fontAlgn="base"/>
            <a:r>
              <a:rPr lang="en-AU" b="0" i="0" dirty="0">
                <a:effectLst/>
                <a:latin typeface="inherit"/>
              </a:rPr>
              <a:t>The rowboat can only carry one person and one item at any point in time.</a:t>
            </a:r>
            <a:endParaRPr lang="en-AU" dirty="0">
              <a:latin typeface="inherit"/>
            </a:endParaRPr>
          </a:p>
          <a:p>
            <a:pPr lvl="2" fontAlgn="base"/>
            <a:r>
              <a:rPr lang="en-AU" b="0" i="0" dirty="0">
                <a:effectLst/>
                <a:latin typeface="inherit"/>
              </a:rPr>
              <a:t>The fox and chicken cannot be left alone; and</a:t>
            </a:r>
            <a:endParaRPr lang="en-AU" dirty="0">
              <a:latin typeface="inherit"/>
            </a:endParaRPr>
          </a:p>
          <a:p>
            <a:pPr lvl="2" fontAlgn="base"/>
            <a:r>
              <a:rPr lang="en-AU" b="0" i="0" dirty="0">
                <a:effectLst/>
                <a:latin typeface="inherit"/>
              </a:rPr>
              <a:t>The chicken and the bag of corn cannot be left alone.</a:t>
            </a:r>
          </a:p>
          <a:p>
            <a:pPr algn="l" fontAlgn="base">
              <a:buFont typeface="+mj-lt"/>
              <a:buAutoNum type="arabicPeriod"/>
            </a:pPr>
            <a:r>
              <a:rPr lang="en-AU" sz="2000" b="0" i="0" dirty="0">
                <a:effectLst/>
                <a:latin typeface="inherit"/>
              </a:rPr>
              <a:t> Describe the step-by-step solution to get all three items safely to the other side of the river.</a:t>
            </a:r>
          </a:p>
        </p:txBody>
      </p:sp>
      <p:pic>
        <p:nvPicPr>
          <p:cNvPr id="4" name="Picture 3" descr="A cartoon of a family playing on a river&#10;&#10;Description automatically generated">
            <a:extLst>
              <a:ext uri="{FF2B5EF4-FFF2-40B4-BE49-F238E27FC236}">
                <a16:creationId xmlns:a16="http://schemas.microsoft.com/office/drawing/2014/main" id="{1B05C46E-6EA1-46C4-85BB-DAD777C17E71}"/>
              </a:ext>
            </a:extLst>
          </p:cNvPr>
          <p:cNvPicPr>
            <a:picLocks noChangeAspect="1"/>
          </p:cNvPicPr>
          <p:nvPr/>
        </p:nvPicPr>
        <p:blipFill rotWithShape="1">
          <a:blip r:embed="rId3"/>
          <a:srcRect l="11217" r="25837" b="-3"/>
          <a:stretch/>
        </p:blipFill>
        <p:spPr>
          <a:xfrm>
            <a:off x="8113486" y="1822028"/>
            <a:ext cx="4075948" cy="5035972"/>
          </a:xfrm>
          <a:prstGeom prst="rect">
            <a:avLst/>
          </a:prstGeom>
        </p:spPr>
      </p:pic>
    </p:spTree>
    <p:extLst>
      <p:ext uri="{BB962C8B-B14F-4D97-AF65-F5344CB8AC3E}">
        <p14:creationId xmlns:p14="http://schemas.microsoft.com/office/powerpoint/2010/main" val="1619365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9EA09-3509-4959-9460-0ED1DFC6DF70}"/>
              </a:ext>
            </a:extLst>
          </p:cNvPr>
          <p:cNvSpPr>
            <a:spLocks noGrp="1"/>
          </p:cNvSpPr>
          <p:nvPr>
            <p:ph type="title"/>
          </p:nvPr>
        </p:nvSpPr>
        <p:spPr>
          <a:xfrm>
            <a:off x="1202919" y="284176"/>
            <a:ext cx="9784080" cy="1508760"/>
          </a:xfrm>
          <a:noFill/>
        </p:spPr>
        <p:txBody>
          <a:bodyPr>
            <a:normAutofit/>
          </a:bodyPr>
          <a:lstStyle/>
          <a:p>
            <a:pPr algn="ctr"/>
            <a:r>
              <a:rPr lang="en-AU" sz="4400" dirty="0"/>
              <a:t>HOOK: Reflection </a:t>
            </a:r>
            <a:r>
              <a:rPr lang="en-AU" sz="2000" dirty="0"/>
              <a:t>(Pg. 17-18).</a:t>
            </a:r>
            <a:endParaRPr lang="en-AU" sz="4400" b="1" dirty="0"/>
          </a:p>
        </p:txBody>
      </p:sp>
      <p:sp>
        <p:nvSpPr>
          <p:cNvPr id="3" name="Content Placeholder 2">
            <a:extLst>
              <a:ext uri="{FF2B5EF4-FFF2-40B4-BE49-F238E27FC236}">
                <a16:creationId xmlns:a16="http://schemas.microsoft.com/office/drawing/2014/main" id="{2A905FE4-BEFC-4182-8DB9-917FDAE7C188}"/>
              </a:ext>
            </a:extLst>
          </p:cNvPr>
          <p:cNvSpPr>
            <a:spLocks noGrp="1"/>
          </p:cNvSpPr>
          <p:nvPr>
            <p:ph idx="1"/>
          </p:nvPr>
        </p:nvSpPr>
        <p:spPr>
          <a:xfrm>
            <a:off x="159657" y="2011679"/>
            <a:ext cx="7068457" cy="4655127"/>
          </a:xfrm>
        </p:spPr>
        <p:txBody>
          <a:bodyPr>
            <a:normAutofit/>
          </a:bodyPr>
          <a:lstStyle/>
          <a:p>
            <a:pPr marL="0" lvl="0" indent="0">
              <a:spcAft>
                <a:spcPts val="800"/>
              </a:spcAft>
              <a:buNone/>
              <a:tabLst>
                <a:tab pos="457200" algn="l"/>
              </a:tabLst>
            </a:pPr>
            <a:r>
              <a:rPr lang="en-AU" sz="1600" dirty="0">
                <a:latin typeface="Segoe UI" panose="020B0502040204020203" pitchFamily="34" charset="0"/>
                <a:ea typeface="Times New Roman" panose="02020603050405020304" pitchFamily="18" charset="0"/>
                <a:cs typeface="Times New Roman" panose="02020603050405020304" pitchFamily="18" charset="0"/>
              </a:rPr>
              <a:t>Answer the following questions in your workbooks:</a:t>
            </a:r>
            <a:endParaRPr lang="en-AU" sz="1600" dirty="0">
              <a:effectLst/>
              <a:latin typeface="Segoe UI" panose="020B0502040204020203" pitchFamily="34" charset="0"/>
              <a:ea typeface="Times New Roman" panose="02020603050405020304" pitchFamily="18" charset="0"/>
              <a:cs typeface="Times New Roman" panose="02020603050405020304" pitchFamily="18" charset="0"/>
            </a:endParaRPr>
          </a:p>
          <a:p>
            <a:pPr marL="342900" lvl="0" indent="-342900">
              <a:spcAft>
                <a:spcPts val="800"/>
              </a:spcAft>
              <a:buFont typeface="+mj-lt"/>
              <a:buAutoNum type="arabicPeriod"/>
              <a:tabLst>
                <a:tab pos="457200" algn="l"/>
              </a:tabLst>
            </a:pPr>
            <a:endParaRPr lang="en-AU" sz="1600" dirty="0">
              <a:latin typeface="Segoe UI" panose="020B0502040204020203" pitchFamily="34" charset="0"/>
              <a:ea typeface="Times New Roman" panose="02020603050405020304" pitchFamily="18" charset="0"/>
              <a:cs typeface="Times New Roman" panose="02020603050405020304" pitchFamily="18" charset="0"/>
            </a:endParaRPr>
          </a:p>
          <a:p>
            <a:pPr marL="342900" lvl="0" indent="-342900">
              <a:spcAft>
                <a:spcPts val="800"/>
              </a:spcAft>
              <a:buFont typeface="+mj-lt"/>
              <a:buAutoNum type="arabicPeriod"/>
              <a:tabLst>
                <a:tab pos="457200" algn="l"/>
              </a:tabLst>
            </a:pPr>
            <a:r>
              <a:rPr lang="en-AU" sz="1600" dirty="0">
                <a:effectLst/>
                <a:latin typeface="Segoe UI" panose="020B0502040204020203" pitchFamily="34" charset="0"/>
                <a:ea typeface="Times New Roman" panose="02020603050405020304" pitchFamily="18" charset="0"/>
                <a:cs typeface="Times New Roman" panose="02020603050405020304" pitchFamily="18" charset="0"/>
              </a:rPr>
              <a:t>How did you feel when you encountered obstacles or challenges during the river crossing puzzle? How did you handle those feelings?</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AU" sz="1600" dirty="0">
                <a:effectLst/>
                <a:latin typeface="Segoe UI" panose="020B0502040204020203" pitchFamily="34" charset="0"/>
                <a:ea typeface="Times New Roman" panose="02020603050405020304" pitchFamily="18" charset="0"/>
                <a:cs typeface="Times New Roman" panose="02020603050405020304" pitchFamily="18" charset="0"/>
              </a:rPr>
              <a:t>What strategies did you use to overcome difficulties or setbacks while trying to find the solution?</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AU" sz="1600" dirty="0">
                <a:effectLst/>
                <a:latin typeface="Segoe UI" panose="020B0502040204020203" pitchFamily="34" charset="0"/>
                <a:ea typeface="Times New Roman" panose="02020603050405020304" pitchFamily="18" charset="0"/>
                <a:cs typeface="Times New Roman" panose="02020603050405020304" pitchFamily="18" charset="0"/>
              </a:rPr>
              <a:t>Did you encounter any moments of frustration or uncertainty? How did you persevere and keep going?</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AU" sz="1600" dirty="0">
                <a:effectLst/>
                <a:latin typeface="Segoe UI" panose="020B0502040204020203" pitchFamily="34" charset="0"/>
                <a:ea typeface="Times New Roman" panose="02020603050405020304" pitchFamily="18" charset="0"/>
                <a:cs typeface="Times New Roman" panose="02020603050405020304" pitchFamily="18" charset="0"/>
              </a:rPr>
              <a:t>Were there any disagreements or conflicts within your team? How did you resolve them and continue working together?</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AU" sz="1600" dirty="0">
                <a:effectLst/>
                <a:latin typeface="Segoe UI" panose="020B0502040204020203" pitchFamily="34" charset="0"/>
                <a:ea typeface="Times New Roman" panose="02020603050405020304" pitchFamily="18" charset="0"/>
                <a:cs typeface="Times New Roman" panose="02020603050405020304" pitchFamily="18" charset="0"/>
              </a:rPr>
              <a:t>Did you encounter any unexpected surprises or solutions that you hadn't considered? How did you adapt and adjust your approach?</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A group of question marks around a word&#10;&#10;Description automatically generated">
            <a:extLst>
              <a:ext uri="{FF2B5EF4-FFF2-40B4-BE49-F238E27FC236}">
                <a16:creationId xmlns:a16="http://schemas.microsoft.com/office/drawing/2014/main" id="{2E0F2103-2047-4C2E-9D8E-250478E93AC8}"/>
              </a:ext>
            </a:extLst>
          </p:cNvPr>
          <p:cNvPicPr>
            <a:picLocks noChangeAspect="1"/>
          </p:cNvPicPr>
          <p:nvPr/>
        </p:nvPicPr>
        <p:blipFill>
          <a:blip r:embed="rId2"/>
          <a:stretch>
            <a:fillRect/>
          </a:stretch>
        </p:blipFill>
        <p:spPr>
          <a:xfrm>
            <a:off x="7449049" y="2447295"/>
            <a:ext cx="4742951" cy="3147087"/>
          </a:xfrm>
          <a:prstGeom prst="rect">
            <a:avLst/>
          </a:prstGeom>
        </p:spPr>
      </p:pic>
    </p:spTree>
    <p:extLst>
      <p:ext uri="{BB962C8B-B14F-4D97-AF65-F5344CB8AC3E}">
        <p14:creationId xmlns:p14="http://schemas.microsoft.com/office/powerpoint/2010/main" val="3852619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F0BA2-2C2B-4686-B43C-7D3E870DBDFB}"/>
              </a:ext>
            </a:extLst>
          </p:cNvPr>
          <p:cNvSpPr>
            <a:spLocks noGrp="1"/>
          </p:cNvSpPr>
          <p:nvPr>
            <p:ph type="title"/>
          </p:nvPr>
        </p:nvSpPr>
        <p:spPr>
          <a:xfrm>
            <a:off x="204952" y="284176"/>
            <a:ext cx="11793083" cy="1508760"/>
          </a:xfrm>
          <a:noFill/>
        </p:spPr>
        <p:txBody>
          <a:bodyPr>
            <a:normAutofit/>
          </a:bodyPr>
          <a:lstStyle/>
          <a:p>
            <a:r>
              <a:rPr lang="en-AU" sz="4800" dirty="0"/>
              <a:t>Activity 1: </a:t>
            </a:r>
            <a:r>
              <a:rPr lang="en-AU" sz="2400" dirty="0"/>
              <a:t>(Pg. 18).</a:t>
            </a:r>
            <a:br>
              <a:rPr lang="en-AU" sz="4800" dirty="0"/>
            </a:br>
            <a:r>
              <a:rPr lang="en-AU" sz="4800" dirty="0"/>
              <a:t>Skills needed to build resilience </a:t>
            </a:r>
          </a:p>
        </p:txBody>
      </p:sp>
      <p:sp>
        <p:nvSpPr>
          <p:cNvPr id="3" name="Content Placeholder 2">
            <a:extLst>
              <a:ext uri="{FF2B5EF4-FFF2-40B4-BE49-F238E27FC236}">
                <a16:creationId xmlns:a16="http://schemas.microsoft.com/office/drawing/2014/main" id="{BD7D72BA-C632-4389-BD7D-225070945018}"/>
              </a:ext>
            </a:extLst>
          </p:cNvPr>
          <p:cNvSpPr>
            <a:spLocks noGrp="1"/>
          </p:cNvSpPr>
          <p:nvPr>
            <p:ph idx="1"/>
          </p:nvPr>
        </p:nvSpPr>
        <p:spPr>
          <a:xfrm>
            <a:off x="72043" y="2011679"/>
            <a:ext cx="11925993" cy="4788131"/>
          </a:xfrm>
        </p:spPr>
        <p:txBody>
          <a:bodyPr>
            <a:normAutofit/>
          </a:bodyPr>
          <a:lstStyle/>
          <a:p>
            <a:pPr marL="342900" indent="-342900">
              <a:tabLst>
                <a:tab pos="457200" algn="l"/>
              </a:tabLst>
            </a:pPr>
            <a:r>
              <a:rPr lang="en-AU" sz="1800" b="1" dirty="0">
                <a:effectLst/>
                <a:latin typeface="Segoe UI" panose="020B0502040204020203" pitchFamily="34" charset="0"/>
                <a:ea typeface="Times New Roman" panose="02020603050405020304" pitchFamily="18" charset="0"/>
              </a:rPr>
              <a:t>Problem-Solving Skills</a:t>
            </a:r>
            <a:r>
              <a:rPr lang="en-AU" sz="1600" dirty="0">
                <a:effectLst/>
                <a:latin typeface="Segoe UI" panose="020B0502040204020203" pitchFamily="34" charset="0"/>
                <a:ea typeface="Times New Roman" panose="02020603050405020304" pitchFamily="18" charset="0"/>
              </a:rPr>
              <a:t>: Break down the puzzles into smaller components and analyse each part individually. </a:t>
            </a:r>
            <a:r>
              <a:rPr lang="en-AU" sz="1600" dirty="0">
                <a:latin typeface="Segoe UI" panose="020B0502040204020203" pitchFamily="34" charset="0"/>
                <a:ea typeface="Times New Roman" panose="02020603050405020304" pitchFamily="18" charset="0"/>
              </a:rPr>
              <a:t>T</a:t>
            </a:r>
            <a:r>
              <a:rPr lang="en-AU" sz="1600" dirty="0">
                <a:effectLst/>
                <a:latin typeface="Segoe UI" panose="020B0502040204020203" pitchFamily="34" charset="0"/>
                <a:ea typeface="Times New Roman" panose="02020603050405020304" pitchFamily="18" charset="0"/>
              </a:rPr>
              <a:t>hen develop step-by-step plans or strategies to tackle each component effectively.</a:t>
            </a:r>
          </a:p>
          <a:p>
            <a:pPr marL="342900" indent="-342900">
              <a:tabLst>
                <a:tab pos="457200" algn="l"/>
              </a:tabLst>
            </a:pPr>
            <a:endParaRPr lang="en-AU" sz="1600" dirty="0">
              <a:effectLst/>
              <a:latin typeface="Times New Roman" panose="02020603050405020304" pitchFamily="18" charset="0"/>
              <a:ea typeface="Times New Roman" panose="02020603050405020304" pitchFamily="18" charset="0"/>
            </a:endParaRPr>
          </a:p>
          <a:p>
            <a:pPr marL="342900" indent="-342900">
              <a:tabLst>
                <a:tab pos="457200" algn="l"/>
              </a:tabLst>
            </a:pPr>
            <a:r>
              <a:rPr lang="en-AU" sz="1800" b="1" dirty="0">
                <a:effectLst/>
                <a:latin typeface="Segoe UI" panose="020B0502040204020203" pitchFamily="34" charset="0"/>
                <a:ea typeface="Times New Roman" panose="02020603050405020304" pitchFamily="18" charset="0"/>
              </a:rPr>
              <a:t>Perseverance: </a:t>
            </a:r>
            <a:r>
              <a:rPr lang="en-AU" sz="1600" dirty="0">
                <a:effectLst/>
                <a:latin typeface="Segoe UI" panose="020B0502040204020203" pitchFamily="34" charset="0"/>
                <a:ea typeface="Times New Roman" panose="02020603050405020304" pitchFamily="18" charset="0"/>
              </a:rPr>
              <a:t>Remind </a:t>
            </a:r>
            <a:r>
              <a:rPr lang="en-AU" sz="1600" dirty="0">
                <a:latin typeface="Segoe UI" panose="020B0502040204020203" pitchFamily="34" charset="0"/>
                <a:ea typeface="Times New Roman" panose="02020603050405020304" pitchFamily="18" charset="0"/>
              </a:rPr>
              <a:t>P</a:t>
            </a:r>
            <a:r>
              <a:rPr lang="en-AU" sz="1600" dirty="0">
                <a:effectLst/>
                <a:latin typeface="Segoe UI" panose="020B0502040204020203" pitchFamily="34" charset="0"/>
                <a:ea typeface="Times New Roman" panose="02020603050405020304" pitchFamily="18" charset="0"/>
              </a:rPr>
              <a:t>uzzles often require trial and error. </a:t>
            </a:r>
            <a:r>
              <a:rPr lang="en-AU" sz="1600" dirty="0">
                <a:latin typeface="Segoe UI" panose="020B0502040204020203" pitchFamily="34" charset="0"/>
                <a:ea typeface="Times New Roman" panose="02020603050405020304" pitchFamily="18" charset="0"/>
              </a:rPr>
              <a:t>P</a:t>
            </a:r>
            <a:r>
              <a:rPr lang="en-AU" sz="1600" dirty="0">
                <a:effectLst/>
                <a:latin typeface="Segoe UI" panose="020B0502040204020203" pitchFamily="34" charset="0"/>
                <a:ea typeface="Times New Roman" panose="02020603050405020304" pitchFamily="18" charset="0"/>
              </a:rPr>
              <a:t>ersist through challenges, learn from mistakes, and keep trying different approaches until they find the solution.</a:t>
            </a:r>
          </a:p>
          <a:p>
            <a:pPr marL="342900" indent="-342900">
              <a:tabLst>
                <a:tab pos="457200" algn="l"/>
              </a:tabLst>
            </a:pPr>
            <a:endParaRPr lang="en-AU" sz="1600" dirty="0">
              <a:effectLst/>
              <a:latin typeface="Times New Roman" panose="02020603050405020304" pitchFamily="18" charset="0"/>
              <a:ea typeface="Times New Roman" panose="02020603050405020304" pitchFamily="18" charset="0"/>
            </a:endParaRPr>
          </a:p>
          <a:p>
            <a:pPr marL="342900" indent="-342900">
              <a:tabLst>
                <a:tab pos="457200" algn="l"/>
              </a:tabLst>
            </a:pPr>
            <a:r>
              <a:rPr lang="en-AU" sz="1800" b="1" dirty="0">
                <a:effectLst/>
                <a:latin typeface="Segoe UI" panose="020B0502040204020203" pitchFamily="34" charset="0"/>
                <a:ea typeface="Times New Roman" panose="02020603050405020304" pitchFamily="18" charset="0"/>
              </a:rPr>
              <a:t>Positive Mindset</a:t>
            </a:r>
            <a:r>
              <a:rPr lang="en-AU" sz="1600" dirty="0">
                <a:effectLst/>
                <a:latin typeface="Segoe UI" panose="020B0502040204020203" pitchFamily="34" charset="0"/>
                <a:ea typeface="Times New Roman" panose="02020603050405020304" pitchFamily="18" charset="0"/>
              </a:rPr>
              <a:t>: </a:t>
            </a:r>
            <a:r>
              <a:rPr lang="en-AU" sz="1600" dirty="0">
                <a:latin typeface="Segoe UI" panose="020B0502040204020203" pitchFamily="34" charset="0"/>
                <a:ea typeface="Times New Roman" panose="02020603050405020304" pitchFamily="18" charset="0"/>
              </a:rPr>
              <a:t>M</a:t>
            </a:r>
            <a:r>
              <a:rPr lang="en-AU" sz="1600" dirty="0">
                <a:effectLst/>
                <a:latin typeface="Segoe UI" panose="020B0502040204020203" pitchFamily="34" charset="0"/>
                <a:ea typeface="Times New Roman" panose="02020603050405020304" pitchFamily="18" charset="0"/>
              </a:rPr>
              <a:t>aintain a positive mindset throughout the puzzle-solving process. </a:t>
            </a:r>
            <a:r>
              <a:rPr lang="en-AU" sz="1600" dirty="0">
                <a:latin typeface="Segoe UI" panose="020B0502040204020203" pitchFamily="34" charset="0"/>
                <a:ea typeface="Times New Roman" panose="02020603050405020304" pitchFamily="18" charset="0"/>
              </a:rPr>
              <a:t>V</a:t>
            </a:r>
            <a:r>
              <a:rPr lang="en-AU" sz="1600" dirty="0">
                <a:effectLst/>
                <a:latin typeface="Segoe UI" panose="020B0502040204020203" pitchFamily="34" charset="0"/>
                <a:ea typeface="Times New Roman" panose="02020603050405020304" pitchFamily="18" charset="0"/>
              </a:rPr>
              <a:t>iew challenges as opportunities for growth and learning, rather than becoming discouraged by setbacks.</a:t>
            </a:r>
          </a:p>
          <a:p>
            <a:pPr marL="342900" indent="-342900">
              <a:tabLst>
                <a:tab pos="457200" algn="l"/>
              </a:tabLst>
            </a:pPr>
            <a:endParaRPr lang="en-AU" sz="1600" dirty="0">
              <a:effectLst/>
              <a:latin typeface="Times New Roman" panose="02020603050405020304" pitchFamily="18" charset="0"/>
              <a:ea typeface="Times New Roman" panose="02020603050405020304" pitchFamily="18" charset="0"/>
            </a:endParaRPr>
          </a:p>
          <a:p>
            <a:pPr marL="342900" indent="-342900">
              <a:tabLst>
                <a:tab pos="457200" algn="l"/>
              </a:tabLst>
            </a:pPr>
            <a:r>
              <a:rPr lang="en-AU" sz="1800" b="1" dirty="0">
                <a:effectLst/>
                <a:latin typeface="Segoe UI" panose="020B0502040204020203" pitchFamily="34" charset="0"/>
                <a:ea typeface="Times New Roman" panose="02020603050405020304" pitchFamily="18" charset="0"/>
              </a:rPr>
              <a:t>Collaboration and Communication:</a:t>
            </a:r>
            <a:r>
              <a:rPr lang="en-AU" sz="1600" dirty="0">
                <a:effectLst/>
                <a:latin typeface="Segoe UI" panose="020B0502040204020203" pitchFamily="34" charset="0"/>
                <a:ea typeface="Times New Roman" panose="02020603050405020304" pitchFamily="18" charset="0"/>
              </a:rPr>
              <a:t> </a:t>
            </a:r>
            <a:r>
              <a:rPr lang="en-AU" sz="1600" dirty="0">
                <a:latin typeface="Segoe UI" panose="020B0502040204020203" pitchFamily="34" charset="0"/>
                <a:ea typeface="Times New Roman" panose="02020603050405020304" pitchFamily="18" charset="0"/>
              </a:rPr>
              <a:t>S</a:t>
            </a:r>
            <a:r>
              <a:rPr lang="en-AU" sz="1600" dirty="0">
                <a:effectLst/>
                <a:latin typeface="Segoe UI" panose="020B0502040204020203" pitchFamily="34" charset="0"/>
                <a:ea typeface="Times New Roman" panose="02020603050405020304" pitchFamily="18" charset="0"/>
              </a:rPr>
              <a:t>hare ideas, listen to each other's perspectives, and work together to find solutions. Effective communication and collaboration can enhance problem-solving abilities and resilience.</a:t>
            </a:r>
          </a:p>
          <a:p>
            <a:pPr marL="342900" indent="-342900">
              <a:tabLst>
                <a:tab pos="457200" algn="l"/>
              </a:tabLst>
            </a:pPr>
            <a:endParaRPr lang="en-AU" sz="1600" dirty="0">
              <a:effectLst/>
              <a:latin typeface="Times New Roman" panose="02020603050405020304" pitchFamily="18" charset="0"/>
              <a:ea typeface="Times New Roman" panose="02020603050405020304" pitchFamily="18" charset="0"/>
            </a:endParaRPr>
          </a:p>
          <a:p>
            <a:pPr marL="342900" indent="-342900">
              <a:tabLst>
                <a:tab pos="457200" algn="l"/>
              </a:tabLst>
            </a:pPr>
            <a:r>
              <a:rPr lang="en-AU" sz="1800" b="1" dirty="0">
                <a:effectLst/>
                <a:latin typeface="Segoe UI" panose="020B0502040204020203" pitchFamily="34" charset="0"/>
                <a:ea typeface="Times New Roman" panose="02020603050405020304" pitchFamily="18" charset="0"/>
              </a:rPr>
              <a:t>Flexibility and Adaptability</a:t>
            </a:r>
            <a:r>
              <a:rPr lang="en-AU" sz="1600" dirty="0">
                <a:effectLst/>
                <a:latin typeface="Segoe UI" panose="020B0502040204020203" pitchFamily="34" charset="0"/>
                <a:ea typeface="Times New Roman" panose="02020603050405020304" pitchFamily="18" charset="0"/>
              </a:rPr>
              <a:t>: </a:t>
            </a:r>
            <a:r>
              <a:rPr lang="en-AU" sz="1600" dirty="0">
                <a:latin typeface="Segoe UI" panose="020B0502040204020203" pitchFamily="34" charset="0"/>
                <a:ea typeface="Times New Roman" panose="02020603050405020304" pitchFamily="18" charset="0"/>
              </a:rPr>
              <a:t>S</a:t>
            </a:r>
            <a:r>
              <a:rPr lang="en-AU" sz="1600" dirty="0">
                <a:effectLst/>
                <a:latin typeface="Segoe UI" panose="020B0502040204020203" pitchFamily="34" charset="0"/>
                <a:ea typeface="Times New Roman" panose="02020603050405020304" pitchFamily="18" charset="0"/>
              </a:rPr>
              <a:t>ometimes the initial strategy may need adjustment or modification. Be flexible and open to trying new approaches if the current one isn't working effectively.</a:t>
            </a:r>
            <a:endParaRPr lang="en-AU"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33439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F0BA2-2C2B-4686-B43C-7D3E870DBDFB}"/>
              </a:ext>
            </a:extLst>
          </p:cNvPr>
          <p:cNvSpPr>
            <a:spLocks noGrp="1"/>
          </p:cNvSpPr>
          <p:nvPr>
            <p:ph type="title"/>
          </p:nvPr>
        </p:nvSpPr>
        <p:spPr>
          <a:xfrm>
            <a:off x="166638" y="284176"/>
            <a:ext cx="11831398" cy="1508760"/>
          </a:xfrm>
          <a:noFill/>
        </p:spPr>
        <p:txBody>
          <a:bodyPr>
            <a:normAutofit/>
          </a:bodyPr>
          <a:lstStyle/>
          <a:p>
            <a:r>
              <a:rPr lang="en-AU" sz="4800" dirty="0"/>
              <a:t>Activity 1: </a:t>
            </a:r>
            <a:r>
              <a:rPr lang="en-AU" sz="2400" dirty="0"/>
              <a:t>(Pg. 18).</a:t>
            </a:r>
            <a:br>
              <a:rPr lang="en-AU" sz="4800" dirty="0"/>
            </a:br>
            <a:r>
              <a:rPr lang="en-AU" sz="4800" dirty="0"/>
              <a:t>Skills needed to build resilience </a:t>
            </a:r>
          </a:p>
        </p:txBody>
      </p:sp>
      <p:sp>
        <p:nvSpPr>
          <p:cNvPr id="3" name="Content Placeholder 2">
            <a:extLst>
              <a:ext uri="{FF2B5EF4-FFF2-40B4-BE49-F238E27FC236}">
                <a16:creationId xmlns:a16="http://schemas.microsoft.com/office/drawing/2014/main" id="{BD7D72BA-C632-4389-BD7D-225070945018}"/>
              </a:ext>
            </a:extLst>
          </p:cNvPr>
          <p:cNvSpPr>
            <a:spLocks noGrp="1"/>
          </p:cNvSpPr>
          <p:nvPr>
            <p:ph idx="1"/>
          </p:nvPr>
        </p:nvSpPr>
        <p:spPr>
          <a:xfrm>
            <a:off x="72043" y="2011679"/>
            <a:ext cx="11925993" cy="4788131"/>
          </a:xfrm>
        </p:spPr>
        <p:txBody>
          <a:bodyPr>
            <a:noAutofit/>
          </a:bodyPr>
          <a:lstStyle/>
          <a:p>
            <a:pPr marL="342900" indent="-342900">
              <a:tabLst>
                <a:tab pos="457200" algn="l"/>
              </a:tabLst>
            </a:pPr>
            <a:r>
              <a:rPr lang="en-AU" sz="2000" b="1" dirty="0">
                <a:latin typeface="Segoe UI" panose="020B0502040204020203" pitchFamily="34" charset="0"/>
                <a:ea typeface="Times New Roman" panose="02020603050405020304" pitchFamily="18" charset="0"/>
              </a:rPr>
              <a:t>Time Management</a:t>
            </a:r>
            <a:r>
              <a:rPr lang="en-AU" sz="1800" dirty="0">
                <a:latin typeface="Segoe UI" panose="020B0502040204020203" pitchFamily="34" charset="0"/>
                <a:ea typeface="Times New Roman" panose="02020603050405020304" pitchFamily="18" charset="0"/>
              </a:rPr>
              <a:t>: Give yourself sufficient time for planning, execution, and reflection. Pace yourself and avoid rushing through the puzzle, as it may lead to errors or oversights.</a:t>
            </a:r>
          </a:p>
          <a:p>
            <a:pPr marL="342900" indent="-342900">
              <a:tabLst>
                <a:tab pos="457200" algn="l"/>
              </a:tabLst>
            </a:pPr>
            <a:endParaRPr lang="en-AU" sz="1800" dirty="0">
              <a:latin typeface="Times New Roman" panose="02020603050405020304" pitchFamily="18" charset="0"/>
              <a:ea typeface="Times New Roman" panose="02020603050405020304" pitchFamily="18" charset="0"/>
            </a:endParaRPr>
          </a:p>
          <a:p>
            <a:pPr marL="342900" indent="-342900">
              <a:tabLst>
                <a:tab pos="457200" algn="l"/>
              </a:tabLst>
            </a:pPr>
            <a:r>
              <a:rPr lang="en-AU" sz="2000" b="1" dirty="0">
                <a:latin typeface="Segoe UI" panose="020B0502040204020203" pitchFamily="34" charset="0"/>
                <a:ea typeface="Times New Roman" panose="02020603050405020304" pitchFamily="18" charset="0"/>
              </a:rPr>
              <a:t>Self-Reflection: </a:t>
            </a:r>
            <a:r>
              <a:rPr lang="en-AU" sz="1800" dirty="0">
                <a:latin typeface="Segoe UI" panose="020B0502040204020203" pitchFamily="34" charset="0"/>
                <a:ea typeface="Times New Roman" panose="02020603050405020304" pitchFamily="18" charset="0"/>
              </a:rPr>
              <a:t>Reflect on your progress and problem-solving strategies periodically. This self-reflection can help you identify areas of improvement, recognize your strengths, and adjust your approach as needed.</a:t>
            </a:r>
          </a:p>
          <a:p>
            <a:pPr marL="342900" indent="-342900">
              <a:tabLst>
                <a:tab pos="457200" algn="l"/>
              </a:tabLst>
            </a:pPr>
            <a:endParaRPr lang="en-AU" sz="1800" dirty="0">
              <a:latin typeface="Times New Roman" panose="02020603050405020304" pitchFamily="18" charset="0"/>
              <a:ea typeface="Times New Roman" panose="02020603050405020304" pitchFamily="18" charset="0"/>
            </a:endParaRPr>
          </a:p>
          <a:p>
            <a:pPr marL="342900" indent="-342900">
              <a:tabLst>
                <a:tab pos="457200" algn="l"/>
              </a:tabLst>
            </a:pPr>
            <a:r>
              <a:rPr lang="en-AU" sz="2000" b="1" dirty="0">
                <a:latin typeface="Segoe UI" panose="020B0502040204020203" pitchFamily="34" charset="0"/>
                <a:ea typeface="Times New Roman" panose="02020603050405020304" pitchFamily="18" charset="0"/>
              </a:rPr>
              <a:t>Celebrating Small Wins</a:t>
            </a:r>
            <a:r>
              <a:rPr lang="en-AU" sz="1800" dirty="0">
                <a:latin typeface="Segoe UI" panose="020B0502040204020203" pitchFamily="34" charset="0"/>
                <a:ea typeface="Times New Roman" panose="02020603050405020304" pitchFamily="18" charset="0"/>
              </a:rPr>
              <a:t>: Acknowledge and celebrate your achievements along the way, even if you haven't fully solved the puzzle yet. Recognizing small wins can boost motivation, confidence, and resilience.</a:t>
            </a:r>
          </a:p>
          <a:p>
            <a:pPr marL="342900" indent="-342900">
              <a:tabLst>
                <a:tab pos="457200" algn="l"/>
              </a:tabLst>
            </a:pPr>
            <a:endParaRPr lang="en-AU" sz="1800" dirty="0">
              <a:latin typeface="Segoe UI" panose="020B0502040204020203" pitchFamily="34" charset="0"/>
              <a:ea typeface="Times New Roman" panose="02020603050405020304" pitchFamily="18" charset="0"/>
            </a:endParaRPr>
          </a:p>
          <a:p>
            <a:pPr marL="342900" indent="-342900">
              <a:tabLst>
                <a:tab pos="457200" algn="l"/>
              </a:tabLst>
            </a:pPr>
            <a:r>
              <a:rPr lang="en-AU" sz="2000" b="1" dirty="0">
                <a:latin typeface="Segoe UI" panose="020B0502040204020203" pitchFamily="34" charset="0"/>
                <a:ea typeface="Calibri" panose="020F0502020204030204" pitchFamily="34" charset="0"/>
              </a:rPr>
              <a:t>Seeking Help and Support</a:t>
            </a:r>
            <a:r>
              <a:rPr lang="en-AU" sz="1800" dirty="0">
                <a:latin typeface="Segoe UI" panose="020B0502040204020203" pitchFamily="34" charset="0"/>
                <a:ea typeface="Calibri" panose="020F0502020204030204" pitchFamily="34" charset="0"/>
              </a:rPr>
              <a:t>: It’s okay to ask for help or guidance when faced with challenges. Seek assistance from peers, teachers, or other resources to gain new perspectives and insights.</a:t>
            </a:r>
            <a:endParaRPr lang="en-AU" sz="2400" dirty="0"/>
          </a:p>
        </p:txBody>
      </p:sp>
    </p:spTree>
    <p:extLst>
      <p:ext uri="{BB962C8B-B14F-4D97-AF65-F5344CB8AC3E}">
        <p14:creationId xmlns:p14="http://schemas.microsoft.com/office/powerpoint/2010/main" val="2987628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386F9-51F5-351B-1953-1A635C452CB6}"/>
              </a:ext>
            </a:extLst>
          </p:cNvPr>
          <p:cNvSpPr>
            <a:spLocks noGrp="1"/>
          </p:cNvSpPr>
          <p:nvPr>
            <p:ph type="title"/>
          </p:nvPr>
        </p:nvSpPr>
        <p:spPr/>
        <p:txBody>
          <a:bodyPr/>
          <a:lstStyle/>
          <a:p>
            <a:r>
              <a:rPr lang="en-US" dirty="0"/>
              <a:t>Activity 2:</a:t>
            </a:r>
          </a:p>
        </p:txBody>
      </p:sp>
      <p:sp>
        <p:nvSpPr>
          <p:cNvPr id="3" name="Content Placeholder 2">
            <a:extLst>
              <a:ext uri="{FF2B5EF4-FFF2-40B4-BE49-F238E27FC236}">
                <a16:creationId xmlns:a16="http://schemas.microsoft.com/office/drawing/2014/main" id="{D4CE6F16-AC52-2DCD-B65E-A658E31E384A}"/>
              </a:ext>
            </a:extLst>
          </p:cNvPr>
          <p:cNvSpPr>
            <a:spLocks noGrp="1"/>
          </p:cNvSpPr>
          <p:nvPr>
            <p:ph idx="1"/>
          </p:nvPr>
        </p:nvSpPr>
        <p:spPr/>
        <p:txBody>
          <a:bodyPr/>
          <a:lstStyle/>
          <a:p>
            <a:r>
              <a:rPr lang="en-US" dirty="0"/>
              <a:t>Over the next few slides, you have an option for a class activity:</a:t>
            </a:r>
          </a:p>
          <a:p>
            <a:endParaRPr lang="en-US" dirty="0"/>
          </a:p>
          <a:p>
            <a:r>
              <a:rPr lang="en-US" dirty="0"/>
              <a:t>Option 1: </a:t>
            </a:r>
          </a:p>
          <a:p>
            <a:pPr lvl="1"/>
            <a:r>
              <a:rPr lang="en-US" dirty="0"/>
              <a:t>Bridge Crossing Activity + Reflection.</a:t>
            </a:r>
          </a:p>
          <a:p>
            <a:pPr lvl="1"/>
            <a:endParaRPr lang="en-US" dirty="0"/>
          </a:p>
          <a:p>
            <a:pPr marL="0" indent="0">
              <a:buNone/>
            </a:pPr>
            <a:r>
              <a:rPr lang="en-US" b="1" dirty="0"/>
              <a:t>OR</a:t>
            </a:r>
          </a:p>
          <a:p>
            <a:pPr marL="0" indent="0">
              <a:buNone/>
            </a:pPr>
            <a:endParaRPr lang="en-US" dirty="0"/>
          </a:p>
          <a:p>
            <a:r>
              <a:rPr lang="en-US" dirty="0"/>
              <a:t>Option 2:</a:t>
            </a:r>
          </a:p>
          <a:p>
            <a:pPr lvl="1"/>
            <a:r>
              <a:rPr lang="en-US" dirty="0"/>
              <a:t>Rock off competition (scissors, paper, rock) + Reflection.</a:t>
            </a:r>
          </a:p>
        </p:txBody>
      </p:sp>
    </p:spTree>
    <p:extLst>
      <p:ext uri="{BB962C8B-B14F-4D97-AF65-F5344CB8AC3E}">
        <p14:creationId xmlns:p14="http://schemas.microsoft.com/office/powerpoint/2010/main" val="510585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8C95D-035E-45BB-BD6D-BA70FBD4E64C}"/>
              </a:ext>
            </a:extLst>
          </p:cNvPr>
          <p:cNvSpPr>
            <a:spLocks noGrp="1"/>
          </p:cNvSpPr>
          <p:nvPr>
            <p:ph type="title"/>
          </p:nvPr>
        </p:nvSpPr>
        <p:spPr>
          <a:xfrm>
            <a:off x="234245" y="313268"/>
            <a:ext cx="7612970" cy="1508760"/>
          </a:xfrm>
          <a:noFill/>
        </p:spPr>
        <p:txBody>
          <a:bodyPr>
            <a:noAutofit/>
          </a:bodyPr>
          <a:lstStyle/>
          <a:p>
            <a:r>
              <a:rPr lang="en-AU" sz="4400" dirty="0"/>
              <a:t>Option 1:</a:t>
            </a:r>
            <a:br>
              <a:rPr lang="en-AU" sz="4400" dirty="0"/>
            </a:br>
            <a:r>
              <a:rPr lang="en-AU" sz="3600" dirty="0"/>
              <a:t>Building resilience – </a:t>
            </a:r>
            <a:br>
              <a:rPr lang="en-AU" sz="3600" dirty="0"/>
            </a:br>
            <a:r>
              <a:rPr lang="en-AU" sz="3600" dirty="0"/>
              <a:t>Bridge crossing	 </a:t>
            </a:r>
            <a:r>
              <a:rPr lang="en-AU" sz="2000" dirty="0"/>
              <a:t>(Pg. 19).</a:t>
            </a:r>
            <a:endParaRPr lang="en-AU" sz="4400" dirty="0"/>
          </a:p>
        </p:txBody>
      </p:sp>
      <p:sp>
        <p:nvSpPr>
          <p:cNvPr id="3" name="Content Placeholder 2">
            <a:extLst>
              <a:ext uri="{FF2B5EF4-FFF2-40B4-BE49-F238E27FC236}">
                <a16:creationId xmlns:a16="http://schemas.microsoft.com/office/drawing/2014/main" id="{2C0B4744-A6CC-4289-8B0D-EBEA22F00CA5}"/>
              </a:ext>
            </a:extLst>
          </p:cNvPr>
          <p:cNvSpPr>
            <a:spLocks noGrp="1"/>
          </p:cNvSpPr>
          <p:nvPr>
            <p:ph idx="1"/>
          </p:nvPr>
        </p:nvSpPr>
        <p:spPr>
          <a:xfrm>
            <a:off x="157655" y="2011680"/>
            <a:ext cx="9932276" cy="4804756"/>
          </a:xfrm>
        </p:spPr>
        <p:txBody>
          <a:bodyPr>
            <a:normAutofit fontScale="92500" lnSpcReduction="20000"/>
          </a:bodyPr>
          <a:lstStyle/>
          <a:p>
            <a:pPr marL="0" indent="0">
              <a:buNone/>
            </a:pPr>
            <a:r>
              <a:rPr lang="en-AU" sz="2000" dirty="0">
                <a:latin typeface="+mj-lt"/>
              </a:rPr>
              <a:t>Now that you have been given some skills to build your resilience, </a:t>
            </a:r>
            <a:br>
              <a:rPr lang="en-AU" sz="2000" dirty="0">
                <a:latin typeface="+mj-lt"/>
              </a:rPr>
            </a:br>
            <a:r>
              <a:rPr lang="en-AU" sz="2000" dirty="0">
                <a:latin typeface="+mj-lt"/>
              </a:rPr>
              <a:t>can you now solve the second riddle??</a:t>
            </a:r>
          </a:p>
          <a:p>
            <a:pPr marL="0" indent="0">
              <a:buNone/>
            </a:pPr>
            <a:endParaRPr lang="en-AU" sz="2000" dirty="0">
              <a:latin typeface="+mj-lt"/>
            </a:endParaRPr>
          </a:p>
          <a:p>
            <a:pPr marL="457200" indent="-457200">
              <a:buFont typeface="+mj-lt"/>
              <a:buAutoNum type="arabicPeriod"/>
            </a:pPr>
            <a:r>
              <a:rPr lang="en-AU" sz="2000" b="0" i="0" dirty="0">
                <a:effectLst/>
                <a:latin typeface="+mj-lt"/>
              </a:rPr>
              <a:t>Four people come to a river in the night. There is a narrow bridge, </a:t>
            </a:r>
            <a:br>
              <a:rPr lang="en-AU" sz="2000" b="0" i="0" dirty="0">
                <a:effectLst/>
                <a:latin typeface="+mj-lt"/>
              </a:rPr>
            </a:br>
            <a:r>
              <a:rPr lang="en-AU" sz="2000" b="0" i="0" dirty="0">
                <a:effectLst/>
                <a:latin typeface="+mj-lt"/>
              </a:rPr>
              <a:t>but it can only hold two people at a time. </a:t>
            </a:r>
          </a:p>
          <a:p>
            <a:pPr marL="457200" indent="-457200">
              <a:buFont typeface="+mj-lt"/>
              <a:buAutoNum type="arabicPeriod"/>
            </a:pPr>
            <a:endParaRPr lang="en-AU" sz="2000" b="0" i="0" dirty="0">
              <a:effectLst/>
              <a:latin typeface="+mj-lt"/>
            </a:endParaRPr>
          </a:p>
          <a:p>
            <a:pPr marL="457200" indent="-457200">
              <a:buFont typeface="+mj-lt"/>
              <a:buAutoNum type="arabicPeriod"/>
            </a:pPr>
            <a:r>
              <a:rPr lang="en-AU" sz="2000" b="0" i="0" dirty="0">
                <a:effectLst/>
                <a:latin typeface="+mj-lt"/>
              </a:rPr>
              <a:t>They have one torch and, because it's night, the torch has to be </a:t>
            </a:r>
            <a:br>
              <a:rPr lang="en-AU" sz="2000" b="0" i="0" dirty="0">
                <a:effectLst/>
                <a:latin typeface="+mj-lt"/>
              </a:rPr>
            </a:br>
            <a:r>
              <a:rPr lang="en-AU" sz="2000" b="0" i="0" dirty="0">
                <a:effectLst/>
                <a:latin typeface="+mj-lt"/>
              </a:rPr>
              <a:t>used when crossing the bridge. </a:t>
            </a:r>
          </a:p>
          <a:p>
            <a:pPr marL="457200" indent="-457200">
              <a:buFont typeface="+mj-lt"/>
              <a:buAutoNum type="arabicPeriod"/>
            </a:pPr>
            <a:endParaRPr lang="en-AU" sz="2000" b="0" i="0" dirty="0">
              <a:effectLst/>
              <a:latin typeface="+mj-lt"/>
            </a:endParaRPr>
          </a:p>
          <a:p>
            <a:pPr marL="457200" indent="-457200">
              <a:buFont typeface="+mj-lt"/>
              <a:buAutoNum type="arabicPeriod"/>
            </a:pPr>
            <a:r>
              <a:rPr lang="en-AU" sz="2000" b="0" i="0" dirty="0">
                <a:effectLst/>
                <a:latin typeface="+mj-lt"/>
              </a:rPr>
              <a:t>Person A can cross the bridge in 1 minute, B in 2 minutes, C in 5 minutes, and D in 8 minutes. </a:t>
            </a:r>
          </a:p>
          <a:p>
            <a:pPr marL="457200" indent="-457200">
              <a:buFont typeface="+mj-lt"/>
              <a:buAutoNum type="arabicPeriod"/>
            </a:pPr>
            <a:endParaRPr lang="en-AU" sz="2000" b="0" i="0" dirty="0">
              <a:effectLst/>
              <a:latin typeface="+mj-lt"/>
            </a:endParaRPr>
          </a:p>
          <a:p>
            <a:pPr marL="457200" indent="-457200">
              <a:buFont typeface="+mj-lt"/>
              <a:buAutoNum type="arabicPeriod"/>
            </a:pPr>
            <a:r>
              <a:rPr lang="en-AU" sz="2000" b="0" i="0" dirty="0">
                <a:effectLst/>
                <a:latin typeface="+mj-lt"/>
              </a:rPr>
              <a:t>When two people cross the bridge together, they must move at the slower person's pace. </a:t>
            </a:r>
          </a:p>
          <a:p>
            <a:pPr marL="457200" indent="-457200">
              <a:buFont typeface="+mj-lt"/>
              <a:buAutoNum type="arabicPeriod"/>
            </a:pPr>
            <a:endParaRPr lang="en-AU" sz="2000" b="0" i="0" dirty="0">
              <a:effectLst/>
              <a:latin typeface="+mj-lt"/>
            </a:endParaRPr>
          </a:p>
          <a:p>
            <a:pPr marL="457200" indent="-457200">
              <a:buFont typeface="+mj-lt"/>
              <a:buAutoNum type="arabicPeriod"/>
            </a:pPr>
            <a:r>
              <a:rPr lang="en-AU" sz="2000" b="0" i="0" dirty="0">
                <a:effectLst/>
                <a:latin typeface="+mj-lt"/>
              </a:rPr>
              <a:t>The question is, can they all get across the bridge if the torch lasts only 15 minutes?</a:t>
            </a:r>
            <a:endParaRPr lang="en-AU" sz="2000" dirty="0">
              <a:latin typeface="+mj-lt"/>
            </a:endParaRPr>
          </a:p>
          <a:p>
            <a:endParaRPr lang="en-AU" sz="2000" dirty="0">
              <a:latin typeface="+mj-lt"/>
            </a:endParaRPr>
          </a:p>
        </p:txBody>
      </p:sp>
      <p:pic>
        <p:nvPicPr>
          <p:cNvPr id="6" name="Picture 5" descr="A cartoon of kids on a bridge over a river&#10;&#10;Description automatically generated">
            <a:extLst>
              <a:ext uri="{FF2B5EF4-FFF2-40B4-BE49-F238E27FC236}">
                <a16:creationId xmlns:a16="http://schemas.microsoft.com/office/drawing/2014/main" id="{20EB70DA-9903-4190-9675-2AF8582591D5}"/>
              </a:ext>
            </a:extLst>
          </p:cNvPr>
          <p:cNvPicPr>
            <a:picLocks noChangeAspect="1"/>
          </p:cNvPicPr>
          <p:nvPr/>
        </p:nvPicPr>
        <p:blipFill rotWithShape="1">
          <a:blip r:embed="rId3"/>
          <a:srcRect l="17994" r="15400" b="2"/>
          <a:stretch/>
        </p:blipFill>
        <p:spPr>
          <a:xfrm>
            <a:off x="8119241" y="313268"/>
            <a:ext cx="3723352" cy="4318228"/>
          </a:xfrm>
          <a:prstGeom prst="rect">
            <a:avLst/>
          </a:prstGeom>
        </p:spPr>
      </p:pic>
    </p:spTree>
    <p:extLst>
      <p:ext uri="{BB962C8B-B14F-4D97-AF65-F5344CB8AC3E}">
        <p14:creationId xmlns:p14="http://schemas.microsoft.com/office/powerpoint/2010/main" val="2021503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9EA09-3509-4959-9460-0ED1DFC6DF70}"/>
              </a:ext>
            </a:extLst>
          </p:cNvPr>
          <p:cNvSpPr>
            <a:spLocks noGrp="1"/>
          </p:cNvSpPr>
          <p:nvPr>
            <p:ph type="title"/>
          </p:nvPr>
        </p:nvSpPr>
        <p:spPr>
          <a:xfrm>
            <a:off x="1202919" y="284176"/>
            <a:ext cx="9784080" cy="1508760"/>
          </a:xfrm>
          <a:noFill/>
        </p:spPr>
        <p:txBody>
          <a:bodyPr>
            <a:normAutofit/>
          </a:bodyPr>
          <a:lstStyle/>
          <a:p>
            <a:r>
              <a:rPr lang="en-AU" sz="4400" dirty="0"/>
              <a:t>Option 1: River crossing</a:t>
            </a:r>
            <a:br>
              <a:rPr lang="en-AU" sz="4400" dirty="0"/>
            </a:br>
            <a:r>
              <a:rPr lang="en-AU" sz="4400" dirty="0"/>
              <a:t>Reflection questions 		</a:t>
            </a:r>
            <a:r>
              <a:rPr lang="en-AU" sz="2400" dirty="0"/>
              <a:t>(Pg. 19-20).</a:t>
            </a:r>
            <a:endParaRPr lang="en-AU" sz="4400" b="1" dirty="0"/>
          </a:p>
        </p:txBody>
      </p:sp>
      <p:sp>
        <p:nvSpPr>
          <p:cNvPr id="3" name="Content Placeholder 2">
            <a:extLst>
              <a:ext uri="{FF2B5EF4-FFF2-40B4-BE49-F238E27FC236}">
                <a16:creationId xmlns:a16="http://schemas.microsoft.com/office/drawing/2014/main" id="{2A905FE4-BEFC-4182-8DB9-917FDAE7C188}"/>
              </a:ext>
            </a:extLst>
          </p:cNvPr>
          <p:cNvSpPr>
            <a:spLocks noGrp="1"/>
          </p:cNvSpPr>
          <p:nvPr>
            <p:ph idx="1"/>
          </p:nvPr>
        </p:nvSpPr>
        <p:spPr>
          <a:xfrm>
            <a:off x="362607" y="2011679"/>
            <a:ext cx="7709338" cy="4672899"/>
          </a:xfrm>
        </p:spPr>
        <p:txBody>
          <a:bodyPr>
            <a:normAutofit/>
          </a:bodyPr>
          <a:lstStyle/>
          <a:p>
            <a:pPr marL="342900" lvl="0" indent="-342900">
              <a:lnSpc>
                <a:spcPct val="107000"/>
              </a:lnSpc>
              <a:spcAft>
                <a:spcPts val="800"/>
              </a:spcAft>
              <a:buFont typeface="+mj-lt"/>
              <a:buAutoNum type="arabicPeriod"/>
              <a:tabLst>
                <a:tab pos="457200" algn="l"/>
              </a:tabLst>
            </a:pPr>
            <a:r>
              <a:rPr lang="en-AU" sz="1800" dirty="0">
                <a:effectLst/>
                <a:latin typeface="Calibri" panose="020F0502020204030204" pitchFamily="34" charset="0"/>
                <a:ea typeface="Calibri" panose="020F0502020204030204" pitchFamily="34" charset="0"/>
                <a:cs typeface="Times New Roman" panose="02020603050405020304" pitchFamily="18" charset="0"/>
              </a:rPr>
              <a:t>Reflecting on the process, how do you believe you approached the puzzle? What was your mindset?</a:t>
            </a:r>
            <a:br>
              <a:rPr lang="en-AU" sz="1800" dirty="0">
                <a:effectLst/>
                <a:latin typeface="Calibri" panose="020F0502020204030204" pitchFamily="34" charset="0"/>
                <a:ea typeface="Calibri" panose="020F0502020204030204" pitchFamily="34" charset="0"/>
                <a:cs typeface="Times New Roman" panose="02020603050405020304" pitchFamily="18" charset="0"/>
              </a:rPr>
            </a:b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AU" sz="1700" dirty="0">
                <a:effectLst/>
                <a:latin typeface="Segoe UI" panose="020B0502040204020203" pitchFamily="34" charset="0"/>
                <a:ea typeface="Times New Roman" panose="02020603050405020304" pitchFamily="18" charset="0"/>
                <a:cs typeface="Times New Roman" panose="02020603050405020304" pitchFamily="18" charset="0"/>
              </a:rPr>
              <a:t>Can you think of any specific moments where you had to demonstrate resilience and determination to reach the solution?</a:t>
            </a:r>
            <a:br>
              <a:rPr lang="en-AU" sz="1700" dirty="0">
                <a:effectLst/>
                <a:latin typeface="Segoe UI" panose="020B0502040204020203" pitchFamily="34" charset="0"/>
                <a:ea typeface="Times New Roman" panose="02020603050405020304" pitchFamily="18" charset="0"/>
                <a:cs typeface="Times New Roman" panose="02020603050405020304" pitchFamily="18" charset="0"/>
              </a:rPr>
            </a:br>
            <a:endParaRPr lang="en-AU"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AU" sz="1700" dirty="0">
                <a:effectLst/>
                <a:latin typeface="Segoe UI" panose="020B0502040204020203" pitchFamily="34" charset="0"/>
                <a:ea typeface="Times New Roman" panose="02020603050405020304" pitchFamily="18" charset="0"/>
                <a:cs typeface="Times New Roman" panose="02020603050405020304" pitchFamily="18" charset="0"/>
              </a:rPr>
              <a:t>How did collaboration and teamwork contribute to your success in solving the puzzle?</a:t>
            </a:r>
            <a:br>
              <a:rPr lang="en-AU" sz="1700" dirty="0">
                <a:effectLst/>
                <a:latin typeface="Segoe UI" panose="020B0502040204020203" pitchFamily="34" charset="0"/>
                <a:ea typeface="Times New Roman" panose="02020603050405020304" pitchFamily="18" charset="0"/>
                <a:cs typeface="Times New Roman" panose="02020603050405020304" pitchFamily="18" charset="0"/>
              </a:rPr>
            </a:br>
            <a:endParaRPr lang="en-AU"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AU" sz="1700" dirty="0">
                <a:effectLst/>
                <a:latin typeface="Segoe UI" panose="020B0502040204020203" pitchFamily="34" charset="0"/>
                <a:ea typeface="Times New Roman" panose="02020603050405020304" pitchFamily="18" charset="0"/>
                <a:cs typeface="Times New Roman" panose="02020603050405020304" pitchFamily="18" charset="0"/>
              </a:rPr>
              <a:t>What lessons about resilience can you apply to other areas of your life outside of this puzzle activity?</a:t>
            </a:r>
            <a:br>
              <a:rPr lang="en-AU" sz="1700" dirty="0">
                <a:effectLst/>
                <a:latin typeface="Segoe UI" panose="020B0502040204020203" pitchFamily="34" charset="0"/>
                <a:ea typeface="Times New Roman" panose="02020603050405020304" pitchFamily="18" charset="0"/>
                <a:cs typeface="Times New Roman" panose="02020603050405020304" pitchFamily="18" charset="0"/>
              </a:rPr>
            </a:br>
            <a:endParaRPr lang="en-AU"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AU" sz="1700" dirty="0">
                <a:effectLst/>
                <a:latin typeface="Segoe UI" panose="020B0502040204020203" pitchFamily="34" charset="0"/>
                <a:ea typeface="Times New Roman" panose="02020603050405020304" pitchFamily="18" charset="0"/>
                <a:cs typeface="Times New Roman" panose="02020603050405020304" pitchFamily="18" charset="0"/>
              </a:rPr>
              <a:t>How might the experience of solving the puzzle help you face challenges and setbacks in the future?</a:t>
            </a:r>
            <a:endParaRPr lang="en-AU" sz="1700" dirty="0">
              <a:effectLst/>
              <a:latin typeface="Calibri" panose="020F0502020204030204" pitchFamily="34" charset="0"/>
              <a:ea typeface="Calibri" panose="020F0502020204030204" pitchFamily="34" charset="0"/>
              <a:cs typeface="Times New Roman" panose="02020603050405020304" pitchFamily="18" charset="0"/>
            </a:endParaRPr>
          </a:p>
          <a:p>
            <a:endParaRPr lang="en-AU" sz="1700" dirty="0"/>
          </a:p>
        </p:txBody>
      </p:sp>
      <p:pic>
        <p:nvPicPr>
          <p:cNvPr id="4" name="Picture 3" descr="A white person with a red question mark&#10;&#10;Description automatically generated">
            <a:extLst>
              <a:ext uri="{FF2B5EF4-FFF2-40B4-BE49-F238E27FC236}">
                <a16:creationId xmlns:a16="http://schemas.microsoft.com/office/drawing/2014/main" id="{E405D6B6-D536-4C2C-A9C3-DA06E4D56EBC}"/>
              </a:ext>
            </a:extLst>
          </p:cNvPr>
          <p:cNvPicPr>
            <a:picLocks noChangeAspect="1"/>
          </p:cNvPicPr>
          <p:nvPr/>
        </p:nvPicPr>
        <p:blipFill>
          <a:blip r:embed="rId2"/>
          <a:stretch>
            <a:fillRect/>
          </a:stretch>
        </p:blipFill>
        <p:spPr>
          <a:xfrm>
            <a:off x="8303318" y="2351762"/>
            <a:ext cx="3526075" cy="3526075"/>
          </a:xfrm>
          <a:prstGeom prst="rect">
            <a:avLst/>
          </a:prstGeom>
        </p:spPr>
      </p:pic>
    </p:spTree>
    <p:extLst>
      <p:ext uri="{BB962C8B-B14F-4D97-AF65-F5344CB8AC3E}">
        <p14:creationId xmlns:p14="http://schemas.microsoft.com/office/powerpoint/2010/main" val="1372451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8C95D-035E-45BB-BD6D-BA70FBD4E64C}"/>
              </a:ext>
            </a:extLst>
          </p:cNvPr>
          <p:cNvSpPr>
            <a:spLocks noGrp="1"/>
          </p:cNvSpPr>
          <p:nvPr>
            <p:ph type="title"/>
          </p:nvPr>
        </p:nvSpPr>
        <p:spPr>
          <a:xfrm>
            <a:off x="1312571" y="260515"/>
            <a:ext cx="9472463" cy="1508760"/>
          </a:xfrm>
          <a:noFill/>
        </p:spPr>
        <p:txBody>
          <a:bodyPr>
            <a:noAutofit/>
          </a:bodyPr>
          <a:lstStyle/>
          <a:p>
            <a:r>
              <a:rPr lang="en-AU" sz="4400" dirty="0"/>
              <a:t>Option 2: Rock off 	 	</a:t>
            </a:r>
            <a:r>
              <a:rPr lang="en-AU" sz="2000" dirty="0"/>
              <a:t>(Pg. 20).</a:t>
            </a:r>
            <a:endParaRPr lang="en-AU" sz="4400" dirty="0"/>
          </a:p>
        </p:txBody>
      </p:sp>
      <p:sp>
        <p:nvSpPr>
          <p:cNvPr id="3" name="Content Placeholder 2">
            <a:extLst>
              <a:ext uri="{FF2B5EF4-FFF2-40B4-BE49-F238E27FC236}">
                <a16:creationId xmlns:a16="http://schemas.microsoft.com/office/drawing/2014/main" id="{2C0B4744-A6CC-4289-8B0D-EBEA22F00CA5}"/>
              </a:ext>
            </a:extLst>
          </p:cNvPr>
          <p:cNvSpPr>
            <a:spLocks noGrp="1"/>
          </p:cNvSpPr>
          <p:nvPr>
            <p:ph idx="1"/>
          </p:nvPr>
        </p:nvSpPr>
        <p:spPr>
          <a:xfrm>
            <a:off x="157654" y="2011679"/>
            <a:ext cx="11782299" cy="4744721"/>
          </a:xfrm>
        </p:spPr>
        <p:txBody>
          <a:bodyPr>
            <a:normAutofit/>
          </a:bodyPr>
          <a:lstStyle/>
          <a:p>
            <a:r>
              <a:rPr lang="en-AU" sz="2000" dirty="0">
                <a:latin typeface="+mj-lt"/>
              </a:rPr>
              <a:t>Clear space in the classroom (or step outside) and </a:t>
            </a:r>
            <a:br>
              <a:rPr lang="en-AU" sz="2000" dirty="0">
                <a:latin typeface="+mj-lt"/>
              </a:rPr>
            </a:br>
            <a:r>
              <a:rPr lang="en-AU" sz="2000" dirty="0">
                <a:latin typeface="+mj-lt"/>
              </a:rPr>
              <a:t>mark out 5 progression stages for the competition.</a:t>
            </a:r>
          </a:p>
          <a:p>
            <a:r>
              <a:rPr lang="en-AU" sz="2000" dirty="0">
                <a:latin typeface="+mj-lt"/>
              </a:rPr>
              <a:t>Students are to line up at the start point. </a:t>
            </a:r>
          </a:p>
          <a:p>
            <a:endParaRPr lang="en-AU" sz="2000" dirty="0">
              <a:latin typeface="+mj-lt"/>
            </a:endParaRPr>
          </a:p>
          <a:p>
            <a:r>
              <a:rPr lang="en-AU" sz="2000" dirty="0">
                <a:latin typeface="+mj-lt"/>
              </a:rPr>
              <a:t>The first two students will play off in a game of </a:t>
            </a:r>
            <a:br>
              <a:rPr lang="en-AU" sz="2000" dirty="0">
                <a:latin typeface="+mj-lt"/>
              </a:rPr>
            </a:br>
            <a:r>
              <a:rPr lang="en-AU" sz="2000" dirty="0">
                <a:latin typeface="+mj-lt"/>
              </a:rPr>
              <a:t>Scissors, Paper, Rock. </a:t>
            </a:r>
          </a:p>
          <a:p>
            <a:r>
              <a:rPr lang="en-AU" sz="2000" dirty="0">
                <a:latin typeface="+mj-lt"/>
              </a:rPr>
              <a:t>The winner will progress to the next stage, the loser will </a:t>
            </a:r>
            <a:br>
              <a:rPr lang="en-AU" sz="2000" dirty="0">
                <a:latin typeface="+mj-lt"/>
              </a:rPr>
            </a:br>
            <a:r>
              <a:rPr lang="en-AU" sz="2000" dirty="0">
                <a:latin typeface="+mj-lt"/>
              </a:rPr>
              <a:t>return to the end of the line. </a:t>
            </a:r>
          </a:p>
          <a:p>
            <a:r>
              <a:rPr lang="en-AU" sz="2000" dirty="0">
                <a:latin typeface="+mj-lt"/>
              </a:rPr>
              <a:t>The next pair will then rock off – the winner progresses, </a:t>
            </a:r>
            <a:br>
              <a:rPr lang="en-AU" sz="2000" dirty="0">
                <a:latin typeface="+mj-lt"/>
              </a:rPr>
            </a:br>
            <a:r>
              <a:rPr lang="en-AU" sz="2000" dirty="0">
                <a:latin typeface="+mj-lt"/>
              </a:rPr>
              <a:t>and the loser goes to the back etc. </a:t>
            </a:r>
          </a:p>
          <a:p>
            <a:endParaRPr lang="en-AU" sz="2000" dirty="0">
              <a:latin typeface="+mj-lt"/>
            </a:endParaRPr>
          </a:p>
          <a:p>
            <a:r>
              <a:rPr lang="en-AU" sz="2000" dirty="0">
                <a:latin typeface="+mj-lt"/>
              </a:rPr>
              <a:t>A student is the winner when they win at the final stage.</a:t>
            </a:r>
          </a:p>
        </p:txBody>
      </p:sp>
      <p:pic>
        <p:nvPicPr>
          <p:cNvPr id="1026" name="Picture 2" descr="Playing Rock–Paper–Scissors with 500 people - Andy Grunwald">
            <a:extLst>
              <a:ext uri="{FF2B5EF4-FFF2-40B4-BE49-F238E27FC236}">
                <a16:creationId xmlns:a16="http://schemas.microsoft.com/office/drawing/2014/main" id="{2A6C4800-DBE9-CE11-2F13-A88C13CEED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7784" y="2145322"/>
            <a:ext cx="4336562" cy="3801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796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8C95D-035E-45BB-BD6D-BA70FBD4E64C}"/>
              </a:ext>
            </a:extLst>
          </p:cNvPr>
          <p:cNvSpPr>
            <a:spLocks noGrp="1"/>
          </p:cNvSpPr>
          <p:nvPr>
            <p:ph type="title"/>
          </p:nvPr>
        </p:nvSpPr>
        <p:spPr>
          <a:xfrm>
            <a:off x="1312571" y="260515"/>
            <a:ext cx="9472463" cy="1508760"/>
          </a:xfrm>
          <a:noFill/>
        </p:spPr>
        <p:txBody>
          <a:bodyPr>
            <a:noAutofit/>
          </a:bodyPr>
          <a:lstStyle/>
          <a:p>
            <a:r>
              <a:rPr lang="en-AU" sz="4400" dirty="0"/>
              <a:t>Option 2: Rock off</a:t>
            </a:r>
          </a:p>
        </p:txBody>
      </p:sp>
      <p:grpSp>
        <p:nvGrpSpPr>
          <p:cNvPr id="3" name="Group 2">
            <a:extLst>
              <a:ext uri="{FF2B5EF4-FFF2-40B4-BE49-F238E27FC236}">
                <a16:creationId xmlns:a16="http://schemas.microsoft.com/office/drawing/2014/main" id="{B6EA4F76-00A8-239F-1CC6-83D60E9C77F1}"/>
              </a:ext>
            </a:extLst>
          </p:cNvPr>
          <p:cNvGrpSpPr/>
          <p:nvPr/>
        </p:nvGrpSpPr>
        <p:grpSpPr>
          <a:xfrm>
            <a:off x="556905" y="3124267"/>
            <a:ext cx="11383049" cy="3337760"/>
            <a:chOff x="556905" y="3124267"/>
            <a:chExt cx="11383049" cy="3337760"/>
          </a:xfrm>
        </p:grpSpPr>
        <p:sp>
          <p:nvSpPr>
            <p:cNvPr id="4" name="Triangle 3">
              <a:extLst>
                <a:ext uri="{FF2B5EF4-FFF2-40B4-BE49-F238E27FC236}">
                  <a16:creationId xmlns:a16="http://schemas.microsoft.com/office/drawing/2014/main" id="{76F8D778-FC09-9676-84A4-E12CA7F0C717}"/>
                </a:ext>
              </a:extLst>
            </p:cNvPr>
            <p:cNvSpPr/>
            <p:nvPr/>
          </p:nvSpPr>
          <p:spPr>
            <a:xfrm>
              <a:off x="1178165" y="4038598"/>
              <a:ext cx="527538" cy="47478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22047CA1-333B-59E6-2F12-A1A087FAE853}"/>
                </a:ext>
              </a:extLst>
            </p:cNvPr>
            <p:cNvSpPr/>
            <p:nvPr/>
          </p:nvSpPr>
          <p:spPr>
            <a:xfrm>
              <a:off x="3505198" y="4038599"/>
              <a:ext cx="527538" cy="47478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C1BB4612-140E-57E6-908D-B69655732C8B}"/>
                </a:ext>
              </a:extLst>
            </p:cNvPr>
            <p:cNvSpPr/>
            <p:nvPr/>
          </p:nvSpPr>
          <p:spPr>
            <a:xfrm>
              <a:off x="5832231" y="4038600"/>
              <a:ext cx="527538" cy="47478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D5983EAD-1C89-142D-5941-0E113D574A3E}"/>
                </a:ext>
              </a:extLst>
            </p:cNvPr>
            <p:cNvSpPr/>
            <p:nvPr/>
          </p:nvSpPr>
          <p:spPr>
            <a:xfrm>
              <a:off x="8159264" y="4038600"/>
              <a:ext cx="527538" cy="47478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34880DC8-289A-FBD9-0B83-3CA460B107D8}"/>
                </a:ext>
              </a:extLst>
            </p:cNvPr>
            <p:cNvSpPr/>
            <p:nvPr/>
          </p:nvSpPr>
          <p:spPr>
            <a:xfrm>
              <a:off x="10486297" y="4006358"/>
              <a:ext cx="527538" cy="47478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043D714-0BCD-0568-8CBE-3E6EA74FEE25}"/>
                </a:ext>
              </a:extLst>
            </p:cNvPr>
            <p:cNvSpPr txBox="1"/>
            <p:nvPr/>
          </p:nvSpPr>
          <p:spPr>
            <a:xfrm>
              <a:off x="1019908" y="4513383"/>
              <a:ext cx="967149" cy="369332"/>
            </a:xfrm>
            <a:prstGeom prst="rect">
              <a:avLst/>
            </a:prstGeom>
            <a:noFill/>
          </p:spPr>
          <p:txBody>
            <a:bodyPr wrap="square" rtlCol="0">
              <a:spAutoFit/>
            </a:bodyPr>
            <a:lstStyle/>
            <a:p>
              <a:r>
                <a:rPr lang="en-US" dirty="0"/>
                <a:t>Stage 1</a:t>
              </a:r>
            </a:p>
          </p:txBody>
        </p:sp>
        <p:sp>
          <p:nvSpPr>
            <p:cNvPr id="11" name="TextBox 10">
              <a:extLst>
                <a:ext uri="{FF2B5EF4-FFF2-40B4-BE49-F238E27FC236}">
                  <a16:creationId xmlns:a16="http://schemas.microsoft.com/office/drawing/2014/main" id="{F2D69E78-E406-1891-EC3E-CF2760B7ABED}"/>
                </a:ext>
              </a:extLst>
            </p:cNvPr>
            <p:cNvSpPr txBox="1"/>
            <p:nvPr/>
          </p:nvSpPr>
          <p:spPr>
            <a:xfrm>
              <a:off x="3341082" y="4516366"/>
              <a:ext cx="967149" cy="369332"/>
            </a:xfrm>
            <a:prstGeom prst="rect">
              <a:avLst/>
            </a:prstGeom>
            <a:noFill/>
          </p:spPr>
          <p:txBody>
            <a:bodyPr wrap="square" rtlCol="0">
              <a:spAutoFit/>
            </a:bodyPr>
            <a:lstStyle/>
            <a:p>
              <a:r>
                <a:rPr lang="en-US" dirty="0"/>
                <a:t>Stage 2</a:t>
              </a:r>
            </a:p>
          </p:txBody>
        </p:sp>
        <p:sp>
          <p:nvSpPr>
            <p:cNvPr id="12" name="TextBox 11">
              <a:extLst>
                <a:ext uri="{FF2B5EF4-FFF2-40B4-BE49-F238E27FC236}">
                  <a16:creationId xmlns:a16="http://schemas.microsoft.com/office/drawing/2014/main" id="{EA243204-EE56-EC0E-623A-AE4A26C3E111}"/>
                </a:ext>
              </a:extLst>
            </p:cNvPr>
            <p:cNvSpPr txBox="1"/>
            <p:nvPr/>
          </p:nvSpPr>
          <p:spPr>
            <a:xfrm>
              <a:off x="8047885" y="4513383"/>
              <a:ext cx="967149" cy="369332"/>
            </a:xfrm>
            <a:prstGeom prst="rect">
              <a:avLst/>
            </a:prstGeom>
            <a:noFill/>
          </p:spPr>
          <p:txBody>
            <a:bodyPr wrap="square" rtlCol="0">
              <a:spAutoFit/>
            </a:bodyPr>
            <a:lstStyle/>
            <a:p>
              <a:r>
                <a:rPr lang="en-US" dirty="0"/>
                <a:t>Stage 4</a:t>
              </a:r>
            </a:p>
          </p:txBody>
        </p:sp>
        <p:sp>
          <p:nvSpPr>
            <p:cNvPr id="13" name="TextBox 12">
              <a:extLst>
                <a:ext uri="{FF2B5EF4-FFF2-40B4-BE49-F238E27FC236}">
                  <a16:creationId xmlns:a16="http://schemas.microsoft.com/office/drawing/2014/main" id="{E10324A4-C0A3-7C35-3F67-039250B2CDAF}"/>
                </a:ext>
              </a:extLst>
            </p:cNvPr>
            <p:cNvSpPr txBox="1"/>
            <p:nvPr/>
          </p:nvSpPr>
          <p:spPr>
            <a:xfrm>
              <a:off x="5697414" y="4536825"/>
              <a:ext cx="967149" cy="369332"/>
            </a:xfrm>
            <a:prstGeom prst="rect">
              <a:avLst/>
            </a:prstGeom>
            <a:noFill/>
          </p:spPr>
          <p:txBody>
            <a:bodyPr wrap="square" rtlCol="0">
              <a:spAutoFit/>
            </a:bodyPr>
            <a:lstStyle/>
            <a:p>
              <a:r>
                <a:rPr lang="en-US" dirty="0"/>
                <a:t>Stage 3</a:t>
              </a:r>
            </a:p>
          </p:txBody>
        </p:sp>
        <p:sp>
          <p:nvSpPr>
            <p:cNvPr id="14" name="TextBox 13">
              <a:extLst>
                <a:ext uri="{FF2B5EF4-FFF2-40B4-BE49-F238E27FC236}">
                  <a16:creationId xmlns:a16="http://schemas.microsoft.com/office/drawing/2014/main" id="{0AF2789F-96A8-048F-F441-B360B6D59F90}"/>
                </a:ext>
              </a:extLst>
            </p:cNvPr>
            <p:cNvSpPr txBox="1"/>
            <p:nvPr/>
          </p:nvSpPr>
          <p:spPr>
            <a:xfrm>
              <a:off x="9794630" y="4513383"/>
              <a:ext cx="2145324" cy="369332"/>
            </a:xfrm>
            <a:prstGeom prst="rect">
              <a:avLst/>
            </a:prstGeom>
            <a:noFill/>
          </p:spPr>
          <p:txBody>
            <a:bodyPr wrap="square" rtlCol="0">
              <a:spAutoFit/>
            </a:bodyPr>
            <a:lstStyle/>
            <a:p>
              <a:r>
                <a:rPr lang="en-US" dirty="0"/>
                <a:t>Stage 5 – Final Stage</a:t>
              </a:r>
            </a:p>
          </p:txBody>
        </p:sp>
        <p:pic>
          <p:nvPicPr>
            <p:cNvPr id="3074" name="Picture 2">
              <a:extLst>
                <a:ext uri="{FF2B5EF4-FFF2-40B4-BE49-F238E27FC236}">
                  <a16:creationId xmlns:a16="http://schemas.microsoft.com/office/drawing/2014/main" id="{874E9700-EE63-649A-38AB-4B45BD408C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29626" y="3156507"/>
              <a:ext cx="714861" cy="88209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3014FF5E-7AF2-102B-2CB7-93DAC7DDD2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411" y="3188742"/>
              <a:ext cx="714861" cy="88209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a:extLst>
                <a:ext uri="{FF2B5EF4-FFF2-40B4-BE49-F238E27FC236}">
                  <a16:creationId xmlns:a16="http://schemas.microsoft.com/office/drawing/2014/main" id="{5EE69D46-2A84-3A46-287E-D243793A7D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18835" y="3124267"/>
              <a:ext cx="714861" cy="88209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a:extLst>
                <a:ext uri="{FF2B5EF4-FFF2-40B4-BE49-F238E27FC236}">
                  <a16:creationId xmlns:a16="http://schemas.microsoft.com/office/drawing/2014/main" id="{FE0526DB-5334-5FBC-B03C-AF9A7412ACD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23033" y="3156506"/>
              <a:ext cx="714861" cy="882091"/>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6A1837B2-02DE-332E-7FF7-68ED9253B796}"/>
                </a:ext>
              </a:extLst>
            </p:cNvPr>
            <p:cNvCxnSpPr/>
            <p:nvPr/>
          </p:nvCxnSpPr>
          <p:spPr>
            <a:xfrm>
              <a:off x="1705703" y="5152292"/>
              <a:ext cx="1635379" cy="0"/>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 name="TextBox 20">
              <a:extLst>
                <a:ext uri="{FF2B5EF4-FFF2-40B4-BE49-F238E27FC236}">
                  <a16:creationId xmlns:a16="http://schemas.microsoft.com/office/drawing/2014/main" id="{03836ACC-82A0-9091-7353-2C560562D502}"/>
                </a:ext>
              </a:extLst>
            </p:cNvPr>
            <p:cNvSpPr txBox="1"/>
            <p:nvPr/>
          </p:nvSpPr>
          <p:spPr>
            <a:xfrm>
              <a:off x="556905" y="5261698"/>
              <a:ext cx="4478100" cy="1200329"/>
            </a:xfrm>
            <a:prstGeom prst="rect">
              <a:avLst/>
            </a:prstGeom>
            <a:noFill/>
          </p:spPr>
          <p:txBody>
            <a:bodyPr wrap="square" rtlCol="0">
              <a:spAutoFit/>
            </a:bodyPr>
            <a:lstStyle/>
            <a:p>
              <a:pPr algn="ctr"/>
              <a:r>
                <a:rPr lang="en-US" dirty="0"/>
                <a:t>Winner progresses to the next stage and waits for their next opponent. The loser returns to the back of the line and awaits their next turn.</a:t>
              </a:r>
            </a:p>
          </p:txBody>
        </p:sp>
      </p:grpSp>
    </p:spTree>
    <p:extLst>
      <p:ext uri="{BB962C8B-B14F-4D97-AF65-F5344CB8AC3E}">
        <p14:creationId xmlns:p14="http://schemas.microsoft.com/office/powerpoint/2010/main" val="62055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8C95D-035E-45BB-BD6D-BA70FBD4E64C}"/>
              </a:ext>
            </a:extLst>
          </p:cNvPr>
          <p:cNvSpPr>
            <a:spLocks noGrp="1"/>
          </p:cNvSpPr>
          <p:nvPr>
            <p:ph type="title"/>
          </p:nvPr>
        </p:nvSpPr>
        <p:spPr>
          <a:xfrm>
            <a:off x="1312571" y="260515"/>
            <a:ext cx="9472463" cy="1508760"/>
          </a:xfrm>
          <a:noFill/>
        </p:spPr>
        <p:txBody>
          <a:bodyPr>
            <a:noAutofit/>
          </a:bodyPr>
          <a:lstStyle/>
          <a:p>
            <a:r>
              <a:rPr lang="en-AU" sz="4400" dirty="0"/>
              <a:t>Option 2: Rock off</a:t>
            </a:r>
            <a:br>
              <a:rPr lang="en-AU" sz="4400" dirty="0"/>
            </a:br>
            <a:r>
              <a:rPr lang="en-AU" sz="4400" dirty="0"/>
              <a:t>reflection questions </a:t>
            </a:r>
            <a:r>
              <a:rPr lang="en-AU" sz="4400"/>
              <a:t>		</a:t>
            </a:r>
            <a:r>
              <a:rPr lang="en-AU" sz="2000"/>
              <a:t>(</a:t>
            </a:r>
            <a:r>
              <a:rPr lang="en-AU" sz="2000" dirty="0"/>
              <a:t>Pg. 20).</a:t>
            </a:r>
            <a:endParaRPr lang="en-AU" sz="4400" b="1" dirty="0"/>
          </a:p>
        </p:txBody>
      </p:sp>
      <p:sp>
        <p:nvSpPr>
          <p:cNvPr id="3" name="Content Placeholder 2">
            <a:extLst>
              <a:ext uri="{FF2B5EF4-FFF2-40B4-BE49-F238E27FC236}">
                <a16:creationId xmlns:a16="http://schemas.microsoft.com/office/drawing/2014/main" id="{2C0B4744-A6CC-4289-8B0D-EBEA22F00CA5}"/>
              </a:ext>
            </a:extLst>
          </p:cNvPr>
          <p:cNvSpPr>
            <a:spLocks noGrp="1"/>
          </p:cNvSpPr>
          <p:nvPr>
            <p:ph idx="1"/>
          </p:nvPr>
        </p:nvSpPr>
        <p:spPr>
          <a:xfrm>
            <a:off x="157654" y="2011680"/>
            <a:ext cx="11782299" cy="4585805"/>
          </a:xfrm>
        </p:spPr>
        <p:txBody>
          <a:bodyPr>
            <a:normAutofit fontScale="85000" lnSpcReduction="20000"/>
          </a:bodyPr>
          <a:lstStyle/>
          <a:p>
            <a:r>
              <a:rPr lang="en-AU" sz="2400" dirty="0">
                <a:latin typeface="+mj-lt"/>
              </a:rPr>
              <a:t>How many games did you win + lose?</a:t>
            </a:r>
          </a:p>
          <a:p>
            <a:endParaRPr lang="en-AU" sz="2400" dirty="0">
              <a:latin typeface="+mj-lt"/>
            </a:endParaRPr>
          </a:p>
          <a:p>
            <a:r>
              <a:rPr lang="en-AU" sz="2400" dirty="0">
                <a:latin typeface="+mj-lt"/>
              </a:rPr>
              <a:t>How did you feel after you </a:t>
            </a:r>
            <a:r>
              <a:rPr lang="en-AU" sz="2400" u="sng" dirty="0">
                <a:latin typeface="+mj-lt"/>
              </a:rPr>
              <a:t>won</a:t>
            </a:r>
            <a:r>
              <a:rPr lang="en-AU" sz="2400" dirty="0">
                <a:latin typeface="+mj-lt"/>
              </a:rPr>
              <a:t>?</a:t>
            </a:r>
          </a:p>
          <a:p>
            <a:endParaRPr lang="en-AU" sz="2400" dirty="0">
              <a:latin typeface="+mj-lt"/>
            </a:endParaRPr>
          </a:p>
          <a:p>
            <a:r>
              <a:rPr lang="en-AU" sz="2400" dirty="0">
                <a:latin typeface="+mj-lt"/>
              </a:rPr>
              <a:t>How did you feel after you </a:t>
            </a:r>
            <a:r>
              <a:rPr lang="en-AU" sz="2400" u="sng" dirty="0">
                <a:latin typeface="+mj-lt"/>
              </a:rPr>
              <a:t>lost</a:t>
            </a:r>
            <a:r>
              <a:rPr lang="en-AU" sz="2400" dirty="0">
                <a:latin typeface="+mj-lt"/>
              </a:rPr>
              <a:t>?</a:t>
            </a:r>
          </a:p>
          <a:p>
            <a:endParaRPr lang="en-AU" sz="2400" dirty="0">
              <a:latin typeface="+mj-lt"/>
            </a:endParaRPr>
          </a:p>
          <a:p>
            <a:r>
              <a:rPr lang="en-AU" sz="2400" dirty="0">
                <a:latin typeface="+mj-lt"/>
              </a:rPr>
              <a:t>How did you know when another person </a:t>
            </a:r>
            <a:r>
              <a:rPr lang="en-AU" sz="2400" u="sng" dirty="0">
                <a:latin typeface="+mj-lt"/>
              </a:rPr>
              <a:t>won</a:t>
            </a:r>
            <a:r>
              <a:rPr lang="en-AU" sz="2400" dirty="0">
                <a:latin typeface="+mj-lt"/>
              </a:rPr>
              <a:t> a game? </a:t>
            </a:r>
          </a:p>
          <a:p>
            <a:endParaRPr lang="en-AU" sz="2400" dirty="0">
              <a:latin typeface="+mj-lt"/>
            </a:endParaRPr>
          </a:p>
          <a:p>
            <a:r>
              <a:rPr lang="en-AU" sz="2400" dirty="0">
                <a:latin typeface="+mj-lt"/>
              </a:rPr>
              <a:t>How did you know when another person </a:t>
            </a:r>
            <a:r>
              <a:rPr lang="en-AU" sz="2400" u="sng" dirty="0">
                <a:latin typeface="+mj-lt"/>
              </a:rPr>
              <a:t>lost</a:t>
            </a:r>
            <a:r>
              <a:rPr lang="en-AU" sz="2400" dirty="0">
                <a:latin typeface="+mj-lt"/>
              </a:rPr>
              <a:t> a game?</a:t>
            </a:r>
          </a:p>
          <a:p>
            <a:endParaRPr lang="en-AU" sz="2400" dirty="0">
              <a:latin typeface="+mj-lt"/>
            </a:endParaRPr>
          </a:p>
          <a:p>
            <a:r>
              <a:rPr lang="en-AU" sz="2400" dirty="0">
                <a:latin typeface="+mj-lt"/>
              </a:rPr>
              <a:t>How did you deal with losing and what resilience skills did you use to build your resilience to keep going?</a:t>
            </a:r>
          </a:p>
          <a:p>
            <a:pPr lvl="2"/>
            <a:r>
              <a:rPr lang="en-AU" sz="2000" dirty="0">
                <a:latin typeface="+mj-lt"/>
              </a:rPr>
              <a:t>Think back to the skills from activity 1. </a:t>
            </a:r>
          </a:p>
        </p:txBody>
      </p:sp>
    </p:spTree>
    <p:extLst>
      <p:ext uri="{BB962C8B-B14F-4D97-AF65-F5344CB8AC3E}">
        <p14:creationId xmlns:p14="http://schemas.microsoft.com/office/powerpoint/2010/main" val="235665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19887</TotalTime>
  <Words>1472</Words>
  <Application>Microsoft Office PowerPoint</Application>
  <PresentationFormat>Widescreen</PresentationFormat>
  <Paragraphs>135</Paragraphs>
  <Slides>12</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Corbel</vt:lpstr>
      <vt:lpstr>inherit</vt:lpstr>
      <vt:lpstr>Quicksand</vt:lpstr>
      <vt:lpstr>Segoe UI</vt:lpstr>
      <vt:lpstr>Times New Roman</vt:lpstr>
      <vt:lpstr>Wingdings</vt:lpstr>
      <vt:lpstr>Banded</vt:lpstr>
      <vt:lpstr>All About Me </vt:lpstr>
      <vt:lpstr>PowerPoint Presentation</vt:lpstr>
      <vt:lpstr>HOOK: Building resilience River crossing (Pg. 17).</vt:lpstr>
      <vt:lpstr>HOOK: Reflection (Pg. 17-18).</vt:lpstr>
      <vt:lpstr>Activity 1: (Pg. 18). Skills needed to build resilience </vt:lpstr>
      <vt:lpstr>Activity 1: (Pg. 18). Skills needed to build resilience </vt:lpstr>
      <vt:lpstr>Activity 2:</vt:lpstr>
      <vt:lpstr>Option 1: Building resilience –  Bridge crossing  (Pg. 19).</vt:lpstr>
      <vt:lpstr>Option 1: River crossing Reflection questions   (Pg. 19-20).</vt:lpstr>
      <vt:lpstr>Option 2: Rock off    (Pg. 20).</vt:lpstr>
      <vt:lpstr>Option 2: Rock off</vt:lpstr>
      <vt:lpstr>Option 2: Rock off reflection questions   (Pg. 20).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 About Me </dc:title>
  <dc:creator>GORRINGE Mac [Willetton Senior High School]</dc:creator>
  <cp:lastModifiedBy>HILLMAN Alissa [Willetton Senior High School]</cp:lastModifiedBy>
  <cp:revision>73</cp:revision>
  <dcterms:created xsi:type="dcterms:W3CDTF">2021-09-23T06:45:05Z</dcterms:created>
  <dcterms:modified xsi:type="dcterms:W3CDTF">2023-10-26T04:27:30Z</dcterms:modified>
</cp:coreProperties>
</file>
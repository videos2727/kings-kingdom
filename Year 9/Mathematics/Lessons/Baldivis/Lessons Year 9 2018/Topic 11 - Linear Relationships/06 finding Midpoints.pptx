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4" r:id="rId3"/>
    <p:sldId id="265" r:id="rId4"/>
    <p:sldId id="260" r:id="rId5"/>
    <p:sldId id="261" r:id="rId6"/>
    <p:sldId id="262" r:id="rId7"/>
    <p:sldId id="258" r:id="rId8"/>
    <p:sldId id="259" r:id="rId9"/>
    <p:sldId id="266" r:id="rId10"/>
  </p:sldIdLst>
  <p:sldSz cx="9144000" cy="5715000" type="screen16x10"/>
  <p:notesSz cx="6858000" cy="9144000"/>
  <p:defaultTextStyle>
    <a:defPPr>
      <a:defRPr lang="en-US"/>
    </a:defPPr>
    <a:lvl1pPr marL="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27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35302"/>
            <a:ext cx="77724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84" indent="0" algn="ctr">
              <a:buNone/>
              <a:defRPr sz="1500"/>
            </a:lvl2pPr>
            <a:lvl3pPr marL="685766" indent="0" algn="ctr">
              <a:buNone/>
              <a:defRPr sz="1350"/>
            </a:lvl3pPr>
            <a:lvl4pPr marL="1028649" indent="0" algn="ctr">
              <a:buNone/>
              <a:defRPr sz="1200"/>
            </a:lvl4pPr>
            <a:lvl5pPr marL="1371532" indent="0" algn="ctr">
              <a:buNone/>
              <a:defRPr sz="1200"/>
            </a:lvl5pPr>
            <a:lvl6pPr marL="1714415" indent="0" algn="ctr">
              <a:buNone/>
              <a:defRPr sz="1200"/>
            </a:lvl6pPr>
            <a:lvl7pPr marL="2057297" indent="0" algn="ctr">
              <a:buNone/>
              <a:defRPr sz="1200"/>
            </a:lvl7pPr>
            <a:lvl8pPr marL="2400180" indent="0" algn="ctr">
              <a:buNone/>
              <a:defRPr sz="1200"/>
            </a:lvl8pPr>
            <a:lvl9pPr marL="2743064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975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22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7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4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88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66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29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18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6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51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5072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4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84" indent="0">
              <a:buNone/>
              <a:defRPr sz="1500" b="1"/>
            </a:lvl2pPr>
            <a:lvl3pPr marL="685766" indent="0">
              <a:buNone/>
              <a:defRPr sz="1350" b="1"/>
            </a:lvl3pPr>
            <a:lvl4pPr marL="1028649" indent="0">
              <a:buNone/>
              <a:defRPr sz="1200" b="1"/>
            </a:lvl4pPr>
            <a:lvl5pPr marL="1371532" indent="0">
              <a:buNone/>
              <a:defRPr sz="1200" b="1"/>
            </a:lvl5pPr>
            <a:lvl6pPr marL="1714415" indent="0">
              <a:buNone/>
              <a:defRPr sz="1200" b="1"/>
            </a:lvl6pPr>
            <a:lvl7pPr marL="2057297" indent="0">
              <a:buNone/>
              <a:defRPr sz="1200" b="1"/>
            </a:lvl7pPr>
            <a:lvl8pPr marL="2400180" indent="0">
              <a:buNone/>
              <a:defRPr sz="1200" b="1"/>
            </a:lvl8pPr>
            <a:lvl9pPr marL="2743064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531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49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841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60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3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24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60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84" indent="0">
              <a:buNone/>
              <a:defRPr sz="2100"/>
            </a:lvl2pPr>
            <a:lvl3pPr marL="685766" indent="0">
              <a:buNone/>
              <a:defRPr sz="1800"/>
            </a:lvl3pPr>
            <a:lvl4pPr marL="1028649" indent="0">
              <a:buNone/>
              <a:defRPr sz="1500"/>
            </a:lvl4pPr>
            <a:lvl5pPr marL="1371532" indent="0">
              <a:buNone/>
              <a:defRPr sz="1500"/>
            </a:lvl5pPr>
            <a:lvl6pPr marL="1714415" indent="0">
              <a:buNone/>
              <a:defRPr sz="1500"/>
            </a:lvl6pPr>
            <a:lvl7pPr marL="2057297" indent="0">
              <a:buNone/>
              <a:defRPr sz="1500"/>
            </a:lvl7pPr>
            <a:lvl8pPr marL="2400180" indent="0">
              <a:buNone/>
              <a:defRPr sz="1500"/>
            </a:lvl8pPr>
            <a:lvl9pPr marL="2743064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3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884" indent="0">
              <a:buNone/>
              <a:defRPr sz="1050"/>
            </a:lvl2pPr>
            <a:lvl3pPr marL="685766" indent="0">
              <a:buNone/>
              <a:defRPr sz="900"/>
            </a:lvl3pPr>
            <a:lvl4pPr marL="1028649" indent="0">
              <a:buNone/>
              <a:defRPr sz="750"/>
            </a:lvl4pPr>
            <a:lvl5pPr marL="1371532" indent="0">
              <a:buNone/>
              <a:defRPr sz="750"/>
            </a:lvl5pPr>
            <a:lvl6pPr marL="1714415" indent="0">
              <a:buNone/>
              <a:defRPr sz="750"/>
            </a:lvl6pPr>
            <a:lvl7pPr marL="2057297" indent="0">
              <a:buNone/>
              <a:defRPr sz="750"/>
            </a:lvl7pPr>
            <a:lvl8pPr marL="2400180" indent="0">
              <a:buNone/>
              <a:defRPr sz="750"/>
            </a:lvl8pPr>
            <a:lvl9pPr marL="2743064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253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0340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04275"/>
            <a:ext cx="1971675" cy="48431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304275"/>
            <a:ext cx="5800725" cy="4843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A99ED-A8AF-4676-B05C-E766400A731B}" type="datetimeFigureOut">
              <a:rPr lang="en-AU" smtClean="0"/>
              <a:t>8/09/2018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1463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4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A99ED-A8AF-4676-B05C-E766400A731B}" type="datetimeFigureOut">
              <a:rPr lang="en-AU" smtClean="0"/>
              <a:t>8/09/2018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60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60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2D77-99F0-4D6E-B2D3-BD2B8A2B497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2070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766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2" indent="-171442" algn="l" defTabSz="685766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2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07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90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74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6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9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22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5" indent="-171442" algn="l" defTabSz="685766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6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9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2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5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7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80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4" algn="l" defTabSz="685766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CA3EE3-BEBB-4C15-823D-4F88E3F8E895}"/>
              </a:ext>
            </a:extLst>
          </p:cNvPr>
          <p:cNvSpPr txBox="1"/>
          <p:nvPr/>
        </p:nvSpPr>
        <p:spPr>
          <a:xfrm>
            <a:off x="504092" y="316523"/>
            <a:ext cx="783101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Warm up.</a:t>
            </a:r>
          </a:p>
          <a:p>
            <a:endParaRPr lang="en-AU" dirty="0"/>
          </a:p>
          <a:p>
            <a:r>
              <a:rPr lang="en-AU" dirty="0"/>
              <a:t>Find the length of the line between the following points.</a:t>
            </a:r>
          </a:p>
          <a:p>
            <a:endParaRPr lang="en-AU" dirty="0"/>
          </a:p>
          <a:p>
            <a:r>
              <a:rPr lang="en-AU" dirty="0"/>
              <a:t>(4,6)    and      (10, 9)</a:t>
            </a:r>
          </a:p>
          <a:p>
            <a:r>
              <a:rPr lang="en-AU" dirty="0"/>
              <a:t>	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(-2, 7)  and   (12, -30)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60337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CA3EE3-BEBB-4C15-823D-4F88E3F8E895}"/>
                  </a:ext>
                </a:extLst>
              </p:cNvPr>
              <p:cNvSpPr txBox="1"/>
              <p:nvPr/>
            </p:nvSpPr>
            <p:spPr>
              <a:xfrm>
                <a:off x="504092" y="316523"/>
                <a:ext cx="7831016" cy="62116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Warm up.</a:t>
                </a:r>
              </a:p>
              <a:p>
                <a:endParaRPr lang="en-AU" dirty="0"/>
              </a:p>
              <a:p>
                <a:r>
                  <a:rPr lang="en-AU" dirty="0"/>
                  <a:t>Find the length of the line between the following points.</a:t>
                </a:r>
              </a:p>
              <a:p>
                <a:endParaRPr lang="en-AU" dirty="0"/>
              </a:p>
              <a:p>
                <a:r>
                  <a:rPr lang="en-AU" dirty="0"/>
                  <a:t>(4,6)    and      (10, 9)</a:t>
                </a:r>
              </a:p>
              <a:p>
                <a:r>
                  <a:rPr lang="en-AU" dirty="0"/>
                  <a:t>	</a:t>
                </a:r>
                <a:r>
                  <a:rPr lang="en-AU" dirty="0">
                    <a:solidFill>
                      <a:srgbClr val="C00000"/>
                    </a:solidFill>
                  </a:rPr>
                  <a:t>rise = 10 - 4 = 6	   run = 9 - 6 = 3</a:t>
                </a:r>
              </a:p>
              <a:p>
                <a:r>
                  <a:rPr lang="en-AU" dirty="0">
                    <a:solidFill>
                      <a:srgbClr val="C00000"/>
                    </a:solidFill>
                  </a:rPr>
                  <a:t>	length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𝑟𝑖𝑠𝑒</m:t>
                            </m:r>
                          </m:e>
                          <m:sup>
                            <m:r>
                              <a:rPr lang="en-AU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sSup>
                          <m:sSupPr>
                            <m:ctrlPr>
                              <a:rPr lang="en-AU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𝑟𝑢𝑛</m:t>
                            </m:r>
                          </m:e>
                          <m:sup>
                            <m:r>
                              <a:rPr lang="en-AU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AU" dirty="0">
                  <a:solidFill>
                    <a:srgbClr val="C00000"/>
                  </a:solidFill>
                </a:endParaRPr>
              </a:p>
              <a:p>
                <a:r>
                  <a:rPr lang="en-AU" dirty="0">
                    <a:solidFill>
                      <a:srgbClr val="C00000"/>
                    </a:solidFill>
                  </a:rPr>
                  <a:t>	length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AU" dirty="0">
                  <a:solidFill>
                    <a:srgbClr val="C00000"/>
                  </a:solidFill>
                </a:endParaRPr>
              </a:p>
              <a:p>
                <a:r>
                  <a:rPr lang="en-AU" dirty="0">
                    <a:solidFill>
                      <a:srgbClr val="C00000"/>
                    </a:solidFill>
                  </a:rPr>
                  <a:t>	length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36+9</m:t>
                        </m:r>
                      </m:e>
                    </m:rad>
                  </m:oMath>
                </a14:m>
                <a:endParaRPr lang="en-AU" dirty="0">
                  <a:solidFill>
                    <a:srgbClr val="C00000"/>
                  </a:solidFill>
                </a:endParaRPr>
              </a:p>
              <a:p>
                <a:r>
                  <a:rPr lang="en-AU" dirty="0">
                    <a:solidFill>
                      <a:srgbClr val="C00000"/>
                    </a:solidFill>
                  </a:rPr>
                  <a:t>	length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</m:rad>
                    <m:r>
                      <a:rPr lang="en-AU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6.7</m:t>
                    </m:r>
                  </m:oMath>
                </a14:m>
                <a:endParaRPr lang="en-AU" dirty="0">
                  <a:solidFill>
                    <a:srgbClr val="C00000"/>
                  </a:solidFill>
                </a:endParaRPr>
              </a:p>
              <a:p>
                <a:endParaRPr lang="en-AU" dirty="0"/>
              </a:p>
              <a:p>
                <a:r>
                  <a:rPr lang="en-AU" dirty="0"/>
                  <a:t>(-2, 7)  and   (12, -30)</a:t>
                </a:r>
              </a:p>
              <a:p>
                <a:r>
                  <a:rPr lang="en-AU" dirty="0"/>
                  <a:t>	</a:t>
                </a:r>
                <a:r>
                  <a:rPr lang="en-AU" dirty="0">
                    <a:solidFill>
                      <a:srgbClr val="C00000"/>
                    </a:solidFill>
                  </a:rPr>
                  <a:t>rise = 12 - -2= 14	   run = -30 - 7 = -37</a:t>
                </a:r>
              </a:p>
              <a:p>
                <a:r>
                  <a:rPr lang="en-AU" dirty="0">
                    <a:solidFill>
                      <a:srgbClr val="C00000"/>
                    </a:solidFill>
                  </a:rPr>
                  <a:t>	length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𝑟𝑖𝑠𝑒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𝑟𝑢𝑛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AU" dirty="0">
                  <a:solidFill>
                    <a:srgbClr val="C00000"/>
                  </a:solidFill>
                </a:endParaRPr>
              </a:p>
              <a:p>
                <a:r>
                  <a:rPr lang="en-AU" dirty="0">
                    <a:solidFill>
                      <a:srgbClr val="C00000"/>
                    </a:solidFill>
                  </a:rPr>
                  <a:t>	length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 </m:t>
                        </m:r>
                        <m:sSup>
                          <m:sSupPr>
                            <m:ctrlPr>
                              <a:rPr lang="en-AU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(−37)</m:t>
                            </m:r>
                          </m:e>
                          <m:sup>
                            <m:r>
                              <a:rPr lang="en-AU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AU" dirty="0">
                  <a:solidFill>
                    <a:srgbClr val="C00000"/>
                  </a:solidFill>
                </a:endParaRPr>
              </a:p>
              <a:p>
                <a:r>
                  <a:rPr lang="en-AU" dirty="0">
                    <a:solidFill>
                      <a:srgbClr val="C00000"/>
                    </a:solidFill>
                  </a:rPr>
                  <a:t>	length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AU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196</m:t>
                        </m:r>
                        <m:r>
                          <a:rPr lang="en-AU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AU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1369</m:t>
                        </m:r>
                      </m:e>
                    </m:rad>
                  </m:oMath>
                </a14:m>
                <a:endParaRPr lang="en-AU" dirty="0">
                  <a:solidFill>
                    <a:srgbClr val="C00000"/>
                  </a:solidFill>
                </a:endParaRPr>
              </a:p>
              <a:p>
                <a:r>
                  <a:rPr lang="en-AU" dirty="0">
                    <a:solidFill>
                      <a:srgbClr val="C00000"/>
                    </a:solidFill>
                  </a:rPr>
                  <a:t>	length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1565</m:t>
                        </m:r>
                      </m:e>
                    </m:rad>
                    <m:r>
                      <a:rPr lang="en-AU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AU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39.6</m:t>
                    </m:r>
                  </m:oMath>
                </a14:m>
                <a:endParaRPr lang="en-AU" dirty="0">
                  <a:solidFill>
                    <a:srgbClr val="C00000"/>
                  </a:solidFill>
                </a:endParaRP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9CA3EE3-BEBB-4C15-823D-4F88E3F8E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92" y="316523"/>
                <a:ext cx="7831016" cy="6211637"/>
              </a:xfrm>
              <a:prstGeom prst="rect">
                <a:avLst/>
              </a:prstGeom>
              <a:blipFill>
                <a:blip r:embed="rId2"/>
                <a:stretch>
                  <a:fillRect l="-701" t="-5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061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935A6C-A066-402E-AA1D-3DCBE3852FFC}"/>
              </a:ext>
            </a:extLst>
          </p:cNvPr>
          <p:cNvSpPr txBox="1"/>
          <p:nvPr/>
        </p:nvSpPr>
        <p:spPr>
          <a:xfrm>
            <a:off x="246185" y="351692"/>
            <a:ext cx="8593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Finding the midpoint between 2 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25F04-E5D6-46A0-A037-60D3DB9A9D61}"/>
              </a:ext>
            </a:extLst>
          </p:cNvPr>
          <p:cNvSpPr txBox="1"/>
          <p:nvPr/>
        </p:nvSpPr>
        <p:spPr>
          <a:xfrm>
            <a:off x="398584" y="1324707"/>
            <a:ext cx="8593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L.O.  Students will learn how to find the midway point on a line between 2 points on a cartesian plane.</a:t>
            </a:r>
          </a:p>
        </p:txBody>
      </p:sp>
    </p:spTree>
    <p:extLst>
      <p:ext uri="{BB962C8B-B14F-4D97-AF65-F5344CB8AC3E}">
        <p14:creationId xmlns:p14="http://schemas.microsoft.com/office/powerpoint/2010/main" val="491134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128404-41D1-47AA-940A-97878666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1" y="156038"/>
            <a:ext cx="6838950" cy="37242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CFB63A-1B5C-4619-9EA2-F22AC6B463F6}"/>
              </a:ext>
            </a:extLst>
          </p:cNvPr>
          <p:cNvSpPr txBox="1"/>
          <p:nvPr/>
        </p:nvSpPr>
        <p:spPr>
          <a:xfrm>
            <a:off x="255477" y="4037012"/>
            <a:ext cx="86330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Marcus is running search and rescue for a ship that has reported it’s position as halfway between the Egyptian city Alexandria and the Island of Malta.  Marcus has drawn a line between the two locations, but now he needs the coordinates of the mid point.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89CA7B-9535-43F7-8116-6F9BEF4235E7}"/>
              </a:ext>
            </a:extLst>
          </p:cNvPr>
          <p:cNvCxnSpPr>
            <a:cxnSpLocks/>
          </p:cNvCxnSpPr>
          <p:nvPr/>
        </p:nvCxnSpPr>
        <p:spPr>
          <a:xfrm>
            <a:off x="1781909" y="2267713"/>
            <a:ext cx="3423138" cy="1178872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B69F328-F7A1-4FF9-BBE5-BB5CFDBA78A7}"/>
              </a:ext>
            </a:extLst>
          </p:cNvPr>
          <p:cNvSpPr txBox="1"/>
          <p:nvPr/>
        </p:nvSpPr>
        <p:spPr>
          <a:xfrm>
            <a:off x="1781909" y="2004647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(36,14)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E6CA8B-0A14-49C1-BC16-DB4F994B6F32}"/>
              </a:ext>
            </a:extLst>
          </p:cNvPr>
          <p:cNvSpPr txBox="1"/>
          <p:nvPr/>
        </p:nvSpPr>
        <p:spPr>
          <a:xfrm>
            <a:off x="4982851" y="305086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(31,30)</a:t>
            </a:r>
          </a:p>
        </p:txBody>
      </p:sp>
    </p:spTree>
    <p:extLst>
      <p:ext uri="{BB962C8B-B14F-4D97-AF65-F5344CB8AC3E}">
        <p14:creationId xmlns:p14="http://schemas.microsoft.com/office/powerpoint/2010/main" val="447938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128404-41D1-47AA-940A-97878666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44314"/>
            <a:ext cx="6838950" cy="372427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CA2D8B7-B6D1-4382-8754-E270C71D254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3" t="16509" r="53780" b="8962"/>
          <a:stretch/>
        </p:blipFill>
        <p:spPr>
          <a:xfrm rot="5400000">
            <a:off x="2766643" y="1090248"/>
            <a:ext cx="1535726" cy="352864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89CA7B-9535-43F7-8116-6F9BEF4235E7}"/>
              </a:ext>
            </a:extLst>
          </p:cNvPr>
          <p:cNvCxnSpPr>
            <a:cxnSpLocks/>
          </p:cNvCxnSpPr>
          <p:nvPr/>
        </p:nvCxnSpPr>
        <p:spPr>
          <a:xfrm>
            <a:off x="1781908" y="2255989"/>
            <a:ext cx="3423138" cy="1178872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B69F328-F7A1-4FF9-BBE5-BB5CFDBA78A7}"/>
              </a:ext>
            </a:extLst>
          </p:cNvPr>
          <p:cNvSpPr txBox="1"/>
          <p:nvPr/>
        </p:nvSpPr>
        <p:spPr>
          <a:xfrm>
            <a:off x="1781908" y="1992923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(36,14)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E6CA8B-0A14-49C1-BC16-DB4F994B6F32}"/>
              </a:ext>
            </a:extLst>
          </p:cNvPr>
          <p:cNvSpPr txBox="1"/>
          <p:nvPr/>
        </p:nvSpPr>
        <p:spPr>
          <a:xfrm>
            <a:off x="4982850" y="3039144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(31,30)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355FC1-4048-4D41-8AFD-314477B7E0F1}"/>
              </a:ext>
            </a:extLst>
          </p:cNvPr>
          <p:cNvSpPr txBox="1"/>
          <p:nvPr/>
        </p:nvSpPr>
        <p:spPr>
          <a:xfrm>
            <a:off x="187570" y="4056185"/>
            <a:ext cx="8206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If we again draw in our rise and our run as lines, we can see we have gone 5 degrees South and 16 degrees East to go from Malta to Alexandria.</a:t>
            </a:r>
          </a:p>
          <a:p>
            <a:r>
              <a:rPr lang="en-AU" dirty="0"/>
              <a:t>Halfway would therefore be 2.5 degrees South and 8 degrees East (1/2 the distance South and 1/2 the distance East.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2EBDB7-87DE-4337-9B1D-455476AE746D}"/>
              </a:ext>
            </a:extLst>
          </p:cNvPr>
          <p:cNvCxnSpPr>
            <a:cxnSpLocks/>
          </p:cNvCxnSpPr>
          <p:nvPr/>
        </p:nvCxnSpPr>
        <p:spPr>
          <a:xfrm>
            <a:off x="1781908" y="2362255"/>
            <a:ext cx="0" cy="1059413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4C6FA0-3609-4D25-BCE2-AF20C3C447D1}"/>
              </a:ext>
            </a:extLst>
          </p:cNvPr>
          <p:cNvCxnSpPr>
            <a:cxnSpLocks/>
          </p:cNvCxnSpPr>
          <p:nvPr/>
        </p:nvCxnSpPr>
        <p:spPr>
          <a:xfrm flipH="1" flipV="1">
            <a:off x="1781908" y="3408476"/>
            <a:ext cx="3423138" cy="26385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1B52E9-5A17-4094-B970-2816ABE65956}"/>
              </a:ext>
            </a:extLst>
          </p:cNvPr>
          <p:cNvCxnSpPr>
            <a:cxnSpLocks/>
          </p:cNvCxnSpPr>
          <p:nvPr/>
        </p:nvCxnSpPr>
        <p:spPr>
          <a:xfrm flipH="1">
            <a:off x="1770185" y="2845425"/>
            <a:ext cx="1617784" cy="0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32F9FA-34FB-4179-AFCC-6F3FE59A245B}"/>
              </a:ext>
            </a:extLst>
          </p:cNvPr>
          <p:cNvCxnSpPr>
            <a:cxnSpLocks/>
          </p:cNvCxnSpPr>
          <p:nvPr/>
        </p:nvCxnSpPr>
        <p:spPr>
          <a:xfrm>
            <a:off x="3493476" y="2845425"/>
            <a:ext cx="0" cy="563051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83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128404-41D1-47AA-940A-978786661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44314"/>
            <a:ext cx="6838950" cy="37242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124BD9-33CD-4F0C-9068-EC3ABEB166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03" t="16509" r="53780" b="8962"/>
          <a:stretch/>
        </p:blipFill>
        <p:spPr>
          <a:xfrm rot="5400000">
            <a:off x="2766643" y="1090248"/>
            <a:ext cx="1535726" cy="352864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89CA7B-9535-43F7-8116-6F9BEF4235E7}"/>
              </a:ext>
            </a:extLst>
          </p:cNvPr>
          <p:cNvCxnSpPr>
            <a:cxnSpLocks/>
          </p:cNvCxnSpPr>
          <p:nvPr/>
        </p:nvCxnSpPr>
        <p:spPr>
          <a:xfrm>
            <a:off x="1781908" y="2255989"/>
            <a:ext cx="3423138" cy="1178872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B69F328-F7A1-4FF9-BBE5-BB5CFDBA78A7}"/>
              </a:ext>
            </a:extLst>
          </p:cNvPr>
          <p:cNvSpPr txBox="1"/>
          <p:nvPr/>
        </p:nvSpPr>
        <p:spPr>
          <a:xfrm>
            <a:off x="1781908" y="1992923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(36,14)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E6CA8B-0A14-49C1-BC16-DB4F994B6F32}"/>
              </a:ext>
            </a:extLst>
          </p:cNvPr>
          <p:cNvSpPr txBox="1"/>
          <p:nvPr/>
        </p:nvSpPr>
        <p:spPr>
          <a:xfrm>
            <a:off x="4982850" y="3039144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(31,30)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355FC1-4048-4D41-8AFD-314477B7E0F1}"/>
              </a:ext>
            </a:extLst>
          </p:cNvPr>
          <p:cNvSpPr txBox="1"/>
          <p:nvPr/>
        </p:nvSpPr>
        <p:spPr>
          <a:xfrm>
            <a:off x="187570" y="4056185"/>
            <a:ext cx="82061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An easy way to calculate the value of the point is to;</a:t>
            </a:r>
          </a:p>
          <a:p>
            <a:r>
              <a:rPr lang="en-AU" dirty="0"/>
              <a:t>1. add the x values together and divide by 2 to get the x value of the ½ way point.</a:t>
            </a:r>
          </a:p>
          <a:p>
            <a:r>
              <a:rPr lang="en-AU" dirty="0"/>
              <a:t>		(36 + 31) ÷ 2 =  33.5</a:t>
            </a:r>
          </a:p>
          <a:p>
            <a:r>
              <a:rPr lang="en-AU" dirty="0"/>
              <a:t>2. add the y values together and divide by 2 to get the y value of the ½ way point.</a:t>
            </a:r>
          </a:p>
          <a:p>
            <a:r>
              <a:rPr lang="en-AU" dirty="0"/>
              <a:t>		(14 + 30) ÷ 2 =  22</a:t>
            </a:r>
          </a:p>
          <a:p>
            <a:endParaRPr lang="en-AU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82EBDB7-87DE-4337-9B1D-455476AE746D}"/>
              </a:ext>
            </a:extLst>
          </p:cNvPr>
          <p:cNvCxnSpPr>
            <a:cxnSpLocks/>
          </p:cNvCxnSpPr>
          <p:nvPr/>
        </p:nvCxnSpPr>
        <p:spPr>
          <a:xfrm>
            <a:off x="1781908" y="2362255"/>
            <a:ext cx="0" cy="1059413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4C6FA0-3609-4D25-BCE2-AF20C3C447D1}"/>
              </a:ext>
            </a:extLst>
          </p:cNvPr>
          <p:cNvCxnSpPr>
            <a:cxnSpLocks/>
          </p:cNvCxnSpPr>
          <p:nvPr/>
        </p:nvCxnSpPr>
        <p:spPr>
          <a:xfrm flipH="1" flipV="1">
            <a:off x="1781908" y="3408476"/>
            <a:ext cx="3423138" cy="26385"/>
          </a:xfrm>
          <a:prstGeom prst="line">
            <a:avLst/>
          </a:prstGeom>
          <a:ln w="38100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41B52E9-5A17-4094-B970-2816ABE65956}"/>
              </a:ext>
            </a:extLst>
          </p:cNvPr>
          <p:cNvCxnSpPr>
            <a:cxnSpLocks/>
          </p:cNvCxnSpPr>
          <p:nvPr/>
        </p:nvCxnSpPr>
        <p:spPr>
          <a:xfrm flipH="1">
            <a:off x="1781908" y="2845425"/>
            <a:ext cx="1617784" cy="0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32F9FA-34FB-4179-AFCC-6F3FE59A245B}"/>
              </a:ext>
            </a:extLst>
          </p:cNvPr>
          <p:cNvCxnSpPr>
            <a:cxnSpLocks/>
          </p:cNvCxnSpPr>
          <p:nvPr/>
        </p:nvCxnSpPr>
        <p:spPr>
          <a:xfrm>
            <a:off x="3493476" y="2845425"/>
            <a:ext cx="0" cy="563051"/>
          </a:xfrm>
          <a:prstGeom prst="line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094904A6-3C80-48EE-A68A-28135959B686}"/>
              </a:ext>
            </a:extLst>
          </p:cNvPr>
          <p:cNvSpPr txBox="1"/>
          <p:nvPr/>
        </p:nvSpPr>
        <p:spPr>
          <a:xfrm>
            <a:off x="3493477" y="2522629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(33.5,22)</a:t>
            </a:r>
          </a:p>
        </p:txBody>
      </p:sp>
    </p:spTree>
    <p:extLst>
      <p:ext uri="{BB962C8B-B14F-4D97-AF65-F5344CB8AC3E}">
        <p14:creationId xmlns:p14="http://schemas.microsoft.com/office/powerpoint/2010/main" val="69589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C82ED2-0A6D-4C58-8507-28EDB895C14F}"/>
              </a:ext>
            </a:extLst>
          </p:cNvPr>
          <p:cNvCxnSpPr/>
          <p:nvPr/>
        </p:nvCxnSpPr>
        <p:spPr>
          <a:xfrm>
            <a:off x="3456878" y="3702205"/>
            <a:ext cx="390293" cy="15500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8DC78B-A28E-4047-99DC-1DF72F635B2F}"/>
              </a:ext>
            </a:extLst>
          </p:cNvPr>
          <p:cNvCxnSpPr>
            <a:cxnSpLocks/>
          </p:cNvCxnSpPr>
          <p:nvPr/>
        </p:nvCxnSpPr>
        <p:spPr>
          <a:xfrm>
            <a:off x="3437119" y="4661210"/>
            <a:ext cx="562452" cy="6100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0" y="6564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0" y="1064062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95" y="66904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98655" y="1086427"/>
            <a:ext cx="0" cy="46285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41866" y="66904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612" y="632406"/>
            <a:ext cx="84408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find the midpoint of a line from its coordinates?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883379" y="1268100"/>
            <a:ext cx="7365799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b="1" dirty="0"/>
              <a:t>To find the mid point of a line using its coordinates.</a:t>
            </a:r>
          </a:p>
          <a:p>
            <a:r>
              <a:rPr lang="en-AU" sz="1600" b="1" dirty="0"/>
              <a:t>	1. add the two x values and divide by 2 to get the x value of the midpoint</a:t>
            </a:r>
          </a:p>
          <a:p>
            <a:r>
              <a:rPr lang="en-AU" sz="1600" b="1" dirty="0"/>
              <a:t>	2. add the two y values and divide by 2 to get the y value of the midpoint.</a:t>
            </a:r>
          </a:p>
          <a:p>
            <a:endParaRPr lang="en-AU" sz="1600" b="1" dirty="0"/>
          </a:p>
          <a:p>
            <a:r>
              <a:rPr lang="en-AU" sz="1600" b="1" dirty="0" err="1"/>
              <a:t>Eg</a:t>
            </a:r>
            <a:endParaRPr lang="en-AU" sz="1600" b="1" dirty="0"/>
          </a:p>
          <a:p>
            <a:r>
              <a:rPr lang="en-AU" sz="1600" dirty="0"/>
              <a:t>Find the coordinates for the mid point </a:t>
            </a:r>
          </a:p>
          <a:p>
            <a:endParaRPr lang="en-AU" sz="1600" dirty="0"/>
          </a:p>
          <a:p>
            <a:pPr marL="342900" indent="-342900">
              <a:buAutoNum type="arabicPeriod"/>
            </a:pPr>
            <a:r>
              <a:rPr lang="en-AU" sz="1600" dirty="0"/>
              <a:t>Add the x values from the points and </a:t>
            </a:r>
          </a:p>
          <a:p>
            <a:r>
              <a:rPr lang="en-AU" sz="1600" dirty="0"/>
              <a:t>divide by 2</a:t>
            </a:r>
          </a:p>
          <a:p>
            <a:pPr lvl="1"/>
            <a:r>
              <a:rPr lang="en-AU" sz="1600" dirty="0"/>
              <a:t>(1 + 5)÷2 = 3</a:t>
            </a:r>
          </a:p>
          <a:p>
            <a:pPr marL="800089" lvl="1" indent="-342900">
              <a:buAutoNum type="arabicPeriod"/>
            </a:pPr>
            <a:endParaRPr lang="en-AU" sz="1600" dirty="0"/>
          </a:p>
          <a:p>
            <a:pPr marL="342900" indent="-342900">
              <a:buFont typeface="+mj-lt"/>
              <a:buAutoNum type="arabicPeriod" startAt="2"/>
            </a:pPr>
            <a:r>
              <a:rPr lang="en-AU" sz="1600" dirty="0"/>
              <a:t>Add the y values from the points and</a:t>
            </a:r>
          </a:p>
          <a:p>
            <a:r>
              <a:rPr lang="en-AU" sz="1600" dirty="0"/>
              <a:t>divide by 2</a:t>
            </a:r>
          </a:p>
          <a:p>
            <a:pPr lvl="1"/>
            <a:r>
              <a:rPr lang="en-AU" sz="1600" dirty="0"/>
              <a:t>(2 + 8)÷2 = 5</a:t>
            </a:r>
          </a:p>
          <a:p>
            <a:pPr marL="800089" lvl="1" indent="-342900">
              <a:buAutoNum type="arabicPeriod"/>
            </a:pPr>
            <a:endParaRPr lang="en-AU" sz="1600" dirty="0"/>
          </a:p>
          <a:p>
            <a:pPr marL="342900" indent="-342900">
              <a:buAutoNum type="arabicPeriod"/>
            </a:pPr>
            <a:r>
              <a:rPr lang="en-AU" sz="1600" dirty="0"/>
              <a:t>Combine the x and y values into coordinates</a:t>
            </a:r>
          </a:p>
          <a:p>
            <a:pPr marL="800089" lvl="1" indent="-342900">
              <a:buAutoNum type="arabicPeriod"/>
            </a:pPr>
            <a:r>
              <a:rPr lang="en-AU" sz="1600" dirty="0"/>
              <a:t>Midpoint = (3,5)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1" y="194767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 : Coordinate Geometry	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551" y="2406603"/>
            <a:ext cx="315277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56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4B3E53-E2A1-4857-A5A5-218D204F61ED}"/>
              </a:ext>
            </a:extLst>
          </p:cNvPr>
          <p:cNvSpPr/>
          <p:nvPr/>
        </p:nvSpPr>
        <p:spPr>
          <a:xfrm>
            <a:off x="735980" y="860068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660033"/>
                </a:solidFill>
                <a:latin typeface="Times New Roman" panose="02020603050405020304" pitchFamily="18" charset="0"/>
              </a:rPr>
              <a:t>a)  (2, 5) and (4, 9)</a:t>
            </a:r>
            <a:endParaRPr lang="en-AU" sz="2800" b="1" i="1" kern="0" dirty="0">
              <a:solidFill>
                <a:srgbClr val="660033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660033"/>
                </a:solidFill>
                <a:latin typeface="Times New Roman" panose="02020603050405020304" pitchFamily="18" charset="0"/>
              </a:rPr>
              <a:t> </a:t>
            </a:r>
            <a:endParaRPr lang="en-AU" sz="2800" b="1" i="1" kern="0" dirty="0">
              <a:solidFill>
                <a:srgbClr val="660033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660033"/>
                </a:solidFill>
                <a:latin typeface="Times New Roman" panose="02020603050405020304" pitchFamily="18" charset="0"/>
              </a:rPr>
              <a:t>b)  (0, 0) and (8, – 6)</a:t>
            </a:r>
            <a:endParaRPr lang="en-AU" sz="2800" b="1" i="1" kern="0" dirty="0">
              <a:solidFill>
                <a:srgbClr val="660033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660033"/>
                </a:solidFill>
                <a:latin typeface="Times New Roman" panose="02020603050405020304" pitchFamily="18" charset="0"/>
              </a:rPr>
              <a:t> </a:t>
            </a:r>
            <a:endParaRPr lang="en-AU" sz="2800" b="1" i="1" kern="0" dirty="0">
              <a:solidFill>
                <a:srgbClr val="660033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660033"/>
                </a:solidFill>
                <a:latin typeface="Times New Roman" panose="02020603050405020304" pitchFamily="18" charset="0"/>
              </a:rPr>
              <a:t>c)  (–2, – 7) and (6, 1)</a:t>
            </a:r>
            <a:endParaRPr lang="en-AU" sz="2800" b="1" i="1" kern="0" dirty="0">
              <a:solidFill>
                <a:srgbClr val="660033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660033"/>
                </a:solidFill>
                <a:latin typeface="Times New Roman" panose="02020603050405020304" pitchFamily="18" charset="0"/>
              </a:rPr>
              <a:t> </a:t>
            </a:r>
            <a:endParaRPr lang="en-AU" sz="2800" b="1" i="1" kern="0" dirty="0">
              <a:solidFill>
                <a:srgbClr val="660033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kern="0" dirty="0">
                <a:solidFill>
                  <a:srgbClr val="660033"/>
                </a:solidFill>
                <a:latin typeface="Times New Roman" panose="02020603050405020304" pitchFamily="18" charset="0"/>
              </a:rPr>
              <a:t>d)  (– 8, – 9) and (0, – 9)</a:t>
            </a:r>
            <a:endParaRPr lang="en-AU" sz="2800" b="1" i="1" kern="0" dirty="0">
              <a:solidFill>
                <a:srgbClr val="660033"/>
              </a:solidFill>
              <a:latin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AU" dirty="0"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e)   (</a:t>
            </a:r>
            <a:r>
              <a:rPr lang="en-A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2, </a:t>
            </a:r>
            <a:r>
              <a:rPr lang="en-A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7) and (3, 11)</a:t>
            </a:r>
            <a:endParaRPr lang="en-AU" dirty="0"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AU" dirty="0"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f)  (</a:t>
            </a:r>
            <a:r>
              <a:rPr lang="en-A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5, 2) and (0, 0)</a:t>
            </a:r>
            <a:endParaRPr lang="en-AU" dirty="0"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AU" dirty="0"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g)  (</a:t>
            </a:r>
            <a:r>
              <a:rPr lang="en-AU" i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3.5, 2.5) and (1.5, 5.5)</a:t>
            </a:r>
            <a:endParaRPr lang="en-AU" dirty="0"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 </a:t>
            </a:r>
            <a:endParaRPr lang="en-AU" dirty="0"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h)  (1, 5) and (1, 6) </a:t>
            </a:r>
            <a:endParaRPr lang="en-AU" dirty="0">
              <a:latin typeface="Garamond" panose="02020404030301010803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C9A354-C0C7-47B0-B118-F57491413A0C}"/>
              </a:ext>
            </a:extLst>
          </p:cNvPr>
          <p:cNvSpPr txBox="1"/>
          <p:nvPr/>
        </p:nvSpPr>
        <p:spPr>
          <a:xfrm>
            <a:off x="312234" y="334536"/>
            <a:ext cx="1040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Try these</a:t>
            </a:r>
          </a:p>
        </p:txBody>
      </p:sp>
    </p:spTree>
    <p:extLst>
      <p:ext uri="{BB962C8B-B14F-4D97-AF65-F5344CB8AC3E}">
        <p14:creationId xmlns:p14="http://schemas.microsoft.com/office/powerpoint/2010/main" val="4064978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E7C35-2E42-45B0-A386-2204E6FF0BCA}"/>
              </a:ext>
            </a:extLst>
          </p:cNvPr>
          <p:cNvSpPr txBox="1"/>
          <p:nvPr/>
        </p:nvSpPr>
        <p:spPr>
          <a:xfrm>
            <a:off x="1676400" y="1103532"/>
            <a:ext cx="6107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Practice</a:t>
            </a:r>
          </a:p>
          <a:p>
            <a:r>
              <a:rPr lang="en-AU" dirty="0"/>
              <a:t>Dr Dwyer Exercise 16.5  on page 216 and 217</a:t>
            </a:r>
          </a:p>
        </p:txBody>
      </p:sp>
    </p:spTree>
    <p:extLst>
      <p:ext uri="{BB962C8B-B14F-4D97-AF65-F5344CB8AC3E}">
        <p14:creationId xmlns:p14="http://schemas.microsoft.com/office/powerpoint/2010/main" val="3165035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30977E4C-76EF-4FCD-9C02-C8D490E8EFBA}" vid="{C09BC989-AE4B-4384-86A8-BD46923AB8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2 - jw</Template>
  <TotalTime>2938</TotalTime>
  <Words>295</Words>
  <Application>Microsoft Office PowerPoint</Application>
  <PresentationFormat>On-screen Show (16:10)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Garamond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WILSON James [Baldivis Secondary College]</cp:lastModifiedBy>
  <cp:revision>17</cp:revision>
  <dcterms:created xsi:type="dcterms:W3CDTF">2016-10-17T14:51:48Z</dcterms:created>
  <dcterms:modified xsi:type="dcterms:W3CDTF">2018-09-08T16:33:04Z</dcterms:modified>
</cp:coreProperties>
</file>
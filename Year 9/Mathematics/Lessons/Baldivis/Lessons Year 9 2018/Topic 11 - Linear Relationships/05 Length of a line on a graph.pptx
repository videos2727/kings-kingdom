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62" r:id="rId3"/>
    <p:sldId id="261" r:id="rId4"/>
    <p:sldId id="263" r:id="rId5"/>
    <p:sldId id="256" r:id="rId6"/>
    <p:sldId id="259" r:id="rId7"/>
    <p:sldId id="264" r:id="rId8"/>
    <p:sldId id="257" r:id="rId9"/>
    <p:sldId id="260" r:id="rId10"/>
    <p:sldId id="265" r:id="rId11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48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0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7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74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75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7/09/2018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66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7/09/2018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7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7/09/2018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02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2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47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58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82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A98DB-85F7-4057-9FF8-584B97218105}" type="datetimeFigureOut">
              <a:rPr lang="en-AU" smtClean="0"/>
              <a:t>7/09/2018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5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7EEBF-07F1-4801-8347-E7A479975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Coordinate Geometry – length of a line between 2 points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4E8F1-A887-4A15-8002-9F150AFB6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L.O. to be able to calculate the length of a line between 2 points on a cartesian plain</a:t>
            </a:r>
          </a:p>
        </p:txBody>
      </p:sp>
    </p:spTree>
    <p:extLst>
      <p:ext uri="{BB962C8B-B14F-4D97-AF65-F5344CB8AC3E}">
        <p14:creationId xmlns:p14="http://schemas.microsoft.com/office/powerpoint/2010/main" val="2642737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F430031-7E60-4AD5-ABA7-8E9CE36D100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49382" y="304269"/>
                <a:ext cx="8783782" cy="4752639"/>
              </a:xfrm>
            </p:spPr>
            <p:txBody>
              <a:bodyPr>
                <a:noAutofit/>
              </a:bodyPr>
              <a:lstStyle/>
              <a:p>
                <a:r>
                  <a:rPr lang="en-AU" sz="2800" dirty="0"/>
                  <a:t>While you are waiting, find the equation of the following.</a:t>
                </a:r>
                <a:br>
                  <a:rPr lang="en-AU" sz="2800" dirty="0"/>
                </a:br>
                <a:r>
                  <a:rPr lang="en-AU" sz="2800" dirty="0"/>
                  <a:t>1)</a:t>
                </a:r>
                <a:br>
                  <a:rPr lang="en-AU" sz="2800" dirty="0"/>
                </a:br>
                <a:br>
                  <a:rPr lang="en-AU" sz="2800" dirty="0"/>
                </a:br>
                <a:br>
                  <a:rPr lang="en-AU" sz="28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 ________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      ______</m:t>
                      </m:r>
                    </m:oMath>
                  </m:oMathPara>
                </a14:m>
                <a:br>
                  <a:rPr lang="en-AU" sz="2800" dirty="0"/>
                </a:br>
                <a:r>
                  <a:rPr lang="en-AU" sz="2800" dirty="0"/>
                  <a:t>2) </a:t>
                </a:r>
                <a:br>
                  <a:rPr lang="en-AU" sz="2800" dirty="0"/>
                </a:br>
                <a:br>
                  <a:rPr lang="en-AU" sz="2800" dirty="0"/>
                </a:br>
                <a:br>
                  <a:rPr lang="en-AU" sz="2800" dirty="0"/>
                </a:br>
                <a:br>
                  <a:rPr lang="en-AU" sz="2800" dirty="0"/>
                </a:br>
                <a:br>
                  <a:rPr lang="en-AU" sz="2800" dirty="0"/>
                </a:br>
                <a:r>
                  <a:rPr lang="en-AU" sz="2800" dirty="0"/>
                  <a:t>						</a:t>
                </a:r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800" i="1">
                        <a:latin typeface="Cambria Math" panose="02040503050406030204" pitchFamily="18" charset="0"/>
                      </a:rPr>
                      <m:t>= ________</m:t>
                    </m:r>
                    <m:r>
                      <a:rPr lang="en-AU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800" i="1">
                        <a:latin typeface="Cambria Math" panose="02040503050406030204" pitchFamily="18" charset="0"/>
                      </a:rPr>
                      <m:t>       ______</m:t>
                    </m:r>
                  </m:oMath>
                </a14:m>
                <a:br>
                  <a:rPr lang="en-AU" sz="2800" dirty="0"/>
                </a:br>
                <a:endParaRPr lang="en-AU" sz="2800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F430031-7E60-4AD5-ABA7-8E9CE36D10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49382" y="304269"/>
                <a:ext cx="8783782" cy="4752639"/>
              </a:xfrm>
              <a:blipFill>
                <a:blip r:embed="rId2"/>
                <a:stretch>
                  <a:fillRect l="-1457" t="-1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BCF382F-5494-4674-99B6-3DD4BF616D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7007360"/>
                  </p:ext>
                </p:extLst>
              </p:nvPr>
            </p:nvGraphicFramePr>
            <p:xfrm>
              <a:off x="1524000" y="825500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127138507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68740051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6536697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75410203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99382709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21813105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smtClean="0"/>
                                  <m:t>𝒙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9558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smtClean="0"/>
                                  <m:t>𝑦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304894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BCF382F-5494-4674-99B6-3DD4BF616D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7007360"/>
                  </p:ext>
                </p:extLst>
              </p:nvPr>
            </p:nvGraphicFramePr>
            <p:xfrm>
              <a:off x="1524000" y="825500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127138507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68740051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6536697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75410203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99382709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21813105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98" t="-8065" r="-500599" b="-1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9558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98" t="-109836" r="-500599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304894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767F9C0-CA27-44EB-A3A6-F6B81453C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987" y="2266135"/>
            <a:ext cx="3237577" cy="331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961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702717B-4555-4F12-8542-0DA9DDBA05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flipH="1">
            <a:off x="-90055" y="552883"/>
            <a:ext cx="10515600" cy="59150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6175B9-BD0C-4D36-AE07-FB331B0F0CB9}"/>
              </a:ext>
            </a:extLst>
          </p:cNvPr>
          <p:cNvSpPr txBox="1"/>
          <p:nvPr/>
        </p:nvSpPr>
        <p:spPr>
          <a:xfrm>
            <a:off x="332509" y="79904"/>
            <a:ext cx="7342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Todays feature is called………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BBFFAA-CA01-4BA4-BD60-A1714E0671D0}"/>
              </a:ext>
            </a:extLst>
          </p:cNvPr>
          <p:cNvSpPr/>
          <p:nvPr/>
        </p:nvSpPr>
        <p:spPr>
          <a:xfrm>
            <a:off x="332509" y="409872"/>
            <a:ext cx="76184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dirty="0">
                <a:ln/>
                <a:solidFill>
                  <a:schemeClr val="accent4"/>
                </a:solidFill>
              </a:rPr>
              <a:t>Return of the Hypotenuse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B1DE264D-D30F-40C1-8BE7-82A700677B19}"/>
              </a:ext>
            </a:extLst>
          </p:cNvPr>
          <p:cNvSpPr/>
          <p:nvPr/>
        </p:nvSpPr>
        <p:spPr>
          <a:xfrm>
            <a:off x="0" y="1228413"/>
            <a:ext cx="3560618" cy="634143"/>
          </a:xfrm>
          <a:prstGeom prst="wedgeRoundRectCallout">
            <a:avLst>
              <a:gd name="adj1" fmla="val 44887"/>
              <a:gd name="adj2" fmla="val 10628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Luke, you must learn how to find the distant between 2 points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9498AC42-C2BA-46AB-BA94-33421BB0D445}"/>
              </a:ext>
            </a:extLst>
          </p:cNvPr>
          <p:cNvSpPr/>
          <p:nvPr/>
        </p:nvSpPr>
        <p:spPr>
          <a:xfrm>
            <a:off x="5292437" y="1325679"/>
            <a:ext cx="1025236" cy="409930"/>
          </a:xfrm>
          <a:prstGeom prst="wedgeRoundRectCallout">
            <a:avLst>
              <a:gd name="adj1" fmla="val -54151"/>
              <a:gd name="adj2" fmla="val 18620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How?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F3C9AEE1-21AA-4959-8C35-86DE1B7DFFB3}"/>
              </a:ext>
            </a:extLst>
          </p:cNvPr>
          <p:cNvSpPr/>
          <p:nvPr/>
        </p:nvSpPr>
        <p:spPr>
          <a:xfrm>
            <a:off x="207818" y="1966203"/>
            <a:ext cx="2466110" cy="634143"/>
          </a:xfrm>
          <a:prstGeom prst="wedgeRoundRectCallout">
            <a:avLst>
              <a:gd name="adj1" fmla="val 78033"/>
              <a:gd name="adj2" fmla="val -1606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I will teach you the ways of the formula.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E4A2F792-E592-4B0B-96EC-1D01FA4143C8}"/>
              </a:ext>
            </a:extLst>
          </p:cNvPr>
          <p:cNvSpPr/>
          <p:nvPr/>
        </p:nvSpPr>
        <p:spPr>
          <a:xfrm>
            <a:off x="6068291" y="1816006"/>
            <a:ext cx="3075709" cy="818100"/>
          </a:xfrm>
          <a:prstGeom prst="wedgeRoundRectCallout">
            <a:avLst>
              <a:gd name="adj1" fmla="val -76270"/>
              <a:gd name="adj2" fmla="val 1362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I can’t learn the ways of the formula, I am not mathematical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34CFCB5A-76C3-47FF-B42F-1551C5698509}"/>
              </a:ext>
            </a:extLst>
          </p:cNvPr>
          <p:cNvSpPr/>
          <p:nvPr/>
        </p:nvSpPr>
        <p:spPr>
          <a:xfrm>
            <a:off x="96982" y="2797583"/>
            <a:ext cx="2466110" cy="873872"/>
          </a:xfrm>
          <a:prstGeom prst="wedgeRoundRectCallout">
            <a:avLst>
              <a:gd name="adj1" fmla="val 75786"/>
              <a:gd name="adj2" fmla="val -10828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I can teach you.  The cartesian plane needs your help Luke.</a:t>
            </a: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A37F2173-D32B-4518-B5E5-BDAC4538CEDF}"/>
              </a:ext>
            </a:extLst>
          </p:cNvPr>
          <p:cNvSpPr/>
          <p:nvPr/>
        </p:nvSpPr>
        <p:spPr>
          <a:xfrm>
            <a:off x="6317674" y="2863707"/>
            <a:ext cx="3048000" cy="2006683"/>
          </a:xfrm>
          <a:prstGeom prst="wedgeRoundRectCallout">
            <a:avLst>
              <a:gd name="adj1" fmla="val -86237"/>
              <a:gd name="adj2" fmla="val -7541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But I am too busy to learn the ways of the formula.  I have footy practice, rugby, Instagram, snapchat, </a:t>
            </a:r>
            <a:r>
              <a:rPr lang="en-AU" dirty="0" err="1"/>
              <a:t>fortnite</a:t>
            </a:r>
            <a:r>
              <a:rPr lang="en-AU" dirty="0"/>
              <a:t> to play, </a:t>
            </a:r>
            <a:r>
              <a:rPr lang="en-AU" dirty="0" err="1"/>
              <a:t>youtube</a:t>
            </a:r>
            <a:r>
              <a:rPr lang="en-AU" dirty="0"/>
              <a:t> cat videos to watch, new music videos to rate….</a:t>
            </a: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7A72BC2E-C757-451B-AB67-51E341CC8E71}"/>
              </a:ext>
            </a:extLst>
          </p:cNvPr>
          <p:cNvSpPr/>
          <p:nvPr/>
        </p:nvSpPr>
        <p:spPr>
          <a:xfrm>
            <a:off x="207818" y="3996518"/>
            <a:ext cx="2466110" cy="873872"/>
          </a:xfrm>
          <a:prstGeom prst="wedgeRoundRectCallout">
            <a:avLst>
              <a:gd name="adj1" fmla="val 72977"/>
              <a:gd name="adj2" fmla="val -24304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…..</a:t>
            </a:r>
          </a:p>
        </p:txBody>
      </p:sp>
    </p:spTree>
    <p:extLst>
      <p:ext uri="{BB962C8B-B14F-4D97-AF65-F5344CB8AC3E}">
        <p14:creationId xmlns:p14="http://schemas.microsoft.com/office/powerpoint/2010/main" val="1700848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83140-E395-4B73-BC23-643767BF3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105" y="232881"/>
            <a:ext cx="7886700" cy="3626115"/>
          </a:xfrm>
        </p:spPr>
        <p:txBody>
          <a:bodyPr/>
          <a:lstStyle/>
          <a:p>
            <a:pPr marL="0" indent="0">
              <a:buNone/>
            </a:pPr>
            <a:r>
              <a:rPr lang="en-AU" sz="2800" dirty="0"/>
              <a:t>Who can remember Pythagoras?</a:t>
            </a:r>
          </a:p>
          <a:p>
            <a:pPr marL="0" indent="0">
              <a:buNone/>
            </a:pPr>
            <a:r>
              <a:rPr lang="en-AU" dirty="0"/>
              <a:t>	 What is it?  </a:t>
            </a:r>
          </a:p>
          <a:p>
            <a:pPr marL="0" indent="0">
              <a:buNone/>
            </a:pPr>
            <a:r>
              <a:rPr lang="en-AU" dirty="0"/>
              <a:t>	 Where can  we use it? </a:t>
            </a:r>
          </a:p>
          <a:p>
            <a:pPr marL="0" indent="0">
              <a:buNone/>
            </a:pPr>
            <a:r>
              <a:rPr lang="en-AU" dirty="0"/>
              <a:t>	 What can we use it on?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On your LHS, you have 2 minutes to write down anything you can remember about Pythagoras.</a:t>
            </a:r>
          </a:p>
        </p:txBody>
      </p:sp>
    </p:spTree>
    <p:extLst>
      <p:ext uri="{BB962C8B-B14F-4D97-AF65-F5344CB8AC3E}">
        <p14:creationId xmlns:p14="http://schemas.microsoft.com/office/powerpoint/2010/main" val="278232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0ADCCE3E-27B7-4D86-B331-5E4B68EE7FC2}"/>
              </a:ext>
            </a:extLst>
          </p:cNvPr>
          <p:cNvSpPr/>
          <p:nvPr/>
        </p:nvSpPr>
        <p:spPr>
          <a:xfrm flipH="1">
            <a:off x="388220" y="1650683"/>
            <a:ext cx="1947318" cy="3055133"/>
          </a:xfrm>
          <a:prstGeom prst="triangle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1B11C7-E6B8-4B4C-89EE-FE14784434A6}"/>
              </a:ext>
            </a:extLst>
          </p:cNvPr>
          <p:cNvSpPr txBox="1"/>
          <p:nvPr/>
        </p:nvSpPr>
        <p:spPr>
          <a:xfrm>
            <a:off x="1572322" y="4705816"/>
            <a:ext cx="1159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5C4ADF-D13A-4CEF-8370-8211BEDD7792}"/>
              </a:ext>
            </a:extLst>
          </p:cNvPr>
          <p:cNvSpPr txBox="1"/>
          <p:nvPr/>
        </p:nvSpPr>
        <p:spPr>
          <a:xfrm>
            <a:off x="2365345" y="2923541"/>
            <a:ext cx="1159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CEAE53-AB76-4B07-AA16-B68AFC881451}"/>
                  </a:ext>
                </a:extLst>
              </p:cNvPr>
              <p:cNvSpPr txBox="1"/>
              <p:nvPr/>
            </p:nvSpPr>
            <p:spPr>
              <a:xfrm>
                <a:off x="1182029" y="422406"/>
                <a:ext cx="7471317" cy="3055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b="1" dirty="0"/>
                  <a:t>Recipe to find the length of the long side</a:t>
                </a:r>
              </a:p>
              <a:p>
                <a:r>
                  <a:rPr lang="en-AU" dirty="0"/>
                  <a:t>			Ingredients.</a:t>
                </a:r>
              </a:p>
              <a:p>
                <a:r>
                  <a:rPr lang="en-AU" dirty="0"/>
                  <a:t>				1 x right angle triangle</a:t>
                </a:r>
              </a:p>
              <a:p>
                <a:r>
                  <a:rPr lang="en-AU" dirty="0"/>
                  <a:t>				the lengths of the 2 shorter sides</a:t>
                </a:r>
              </a:p>
              <a:p>
                <a:r>
                  <a:rPr lang="en-AU" dirty="0"/>
                  <a:t>		</a:t>
                </a:r>
              </a:p>
              <a:p>
                <a:r>
                  <a:rPr lang="en-AU" dirty="0"/>
                  <a:t>			Method.</a:t>
                </a:r>
              </a:p>
              <a:p>
                <a:r>
                  <a:rPr lang="en-AU" dirty="0"/>
                  <a:t>				1. Square both the shorter sides	</a:t>
                </a:r>
              </a:p>
              <a:p>
                <a:r>
                  <a:rPr lang="en-AU" dirty="0">
                    <a:solidFill>
                      <a:schemeClr val="accent1"/>
                    </a:solidFill>
                  </a:rPr>
                  <a:t>				</a:t>
                </a:r>
                <a:r>
                  <a:rPr lang="en-AU" dirty="0"/>
                  <a:t>2. Add these squares together    		</a:t>
                </a:r>
              </a:p>
              <a:p>
                <a:r>
                  <a:rPr lang="en-AU" dirty="0"/>
                  <a:t>				3. Now find the square root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use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this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butt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/>
                    </m:rad>
                  </m:oMath>
                </a14:m>
                <a:r>
                  <a:rPr lang="en-AU" dirty="0"/>
                  <a:t>)</a:t>
                </a:r>
              </a:p>
              <a:p>
                <a:r>
                  <a:rPr lang="en-AU" dirty="0"/>
                  <a:t>					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CEAE53-AB76-4B07-AA16-B68AFC881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029" y="422406"/>
                <a:ext cx="7471317" cy="3055132"/>
              </a:xfrm>
              <a:prstGeom prst="rect">
                <a:avLst/>
              </a:prstGeom>
              <a:blipFill>
                <a:blip r:embed="rId2"/>
                <a:stretch>
                  <a:fillRect l="-1713" t="-17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E482003-7719-4988-A691-D7142A917EB4}"/>
                  </a:ext>
                </a:extLst>
              </p:cNvPr>
              <p:cNvSpPr txBox="1"/>
              <p:nvPr/>
            </p:nvSpPr>
            <p:spPr>
              <a:xfrm>
                <a:off x="4399012" y="3477538"/>
                <a:ext cx="3100039" cy="955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e>
                      <m:sup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AU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𝟖𝟏</m:t>
                    </m:r>
                    <m:r>
                      <a:rPr lang="en-AU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𝒂𝒏𝒅</m:t>
                    </m:r>
                    <m:sSup>
                      <m:sSupPr>
                        <m:ctrlP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  <m:sup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AU" b="1" dirty="0">
                    <a:solidFill>
                      <a:schemeClr val="accent1">
                        <a:lumMod val="75000"/>
                      </a:schemeClr>
                    </a:solidFill>
                  </a:rPr>
                  <a:t> = 36</a:t>
                </a:r>
              </a:p>
              <a:p>
                <a:r>
                  <a:rPr lang="en-AU" b="1" dirty="0">
                    <a:solidFill>
                      <a:schemeClr val="accent1">
                        <a:lumMod val="75000"/>
                      </a:schemeClr>
                    </a:solidFill>
                  </a:rPr>
                  <a:t>	81+ 36 = 117</a:t>
                </a:r>
              </a:p>
              <a:p>
                <a:r>
                  <a:rPr lang="en-AU" b="1" dirty="0">
                    <a:solidFill>
                      <a:schemeClr val="accent1">
                        <a:lumMod val="75000"/>
                      </a:schemeClr>
                    </a:solidFill>
                  </a:rPr>
                  <a:t> 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𝟏𝟏𝟕</m:t>
                        </m:r>
                      </m:e>
                    </m:rad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𝟖𝟐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𝒕𝒐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𝒅𝒑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E482003-7719-4988-A691-D7142A917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9012" y="3477538"/>
                <a:ext cx="3100039" cy="955967"/>
              </a:xfrm>
              <a:prstGeom prst="rect">
                <a:avLst/>
              </a:prstGeom>
              <a:blipFill>
                <a:blip r:embed="rId3"/>
                <a:stretch>
                  <a:fillRect t="-2548" b="-50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F68E508-5EA9-4AD1-B477-4EC304DCBA2D}"/>
                  </a:ext>
                </a:extLst>
              </p:cNvPr>
              <p:cNvSpPr/>
              <p:nvPr/>
            </p:nvSpPr>
            <p:spPr>
              <a:xfrm>
                <a:off x="2732049" y="4965280"/>
                <a:ext cx="5942268" cy="4032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/>
                  <a:t>Or mathematically we can write   Long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𝑠h𝑜𝑟𝑡</m:t>
                            </m:r>
                          </m:e>
                          <m:sup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i="1">
                            <a:latin typeface="Cambria Math" panose="02040503050406030204" pitchFamily="18" charset="0"/>
                          </a:rPr>
                          <m:t>+ </m:t>
                        </m:r>
                        <m:sSup>
                          <m:sSup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𝑠h𝑜𝑟𝑡</m:t>
                            </m:r>
                          </m:e>
                          <m:sup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r>
                  <a:rPr lang="en-AU" dirty="0"/>
                  <a:t>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F68E508-5EA9-4AD1-B477-4EC304DCBA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2049" y="4965280"/>
                <a:ext cx="5942268" cy="403252"/>
              </a:xfrm>
              <a:prstGeom prst="rect">
                <a:avLst/>
              </a:prstGeom>
              <a:blipFill>
                <a:blip r:embed="rId4"/>
                <a:stretch>
                  <a:fillRect l="-821" b="-242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9595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E393A-F414-4E21-9185-70B9A0AD5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Let’s try</a:t>
            </a:r>
            <a:br>
              <a:rPr lang="en-AU" dirty="0"/>
            </a:b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255864-C966-44FE-9A2B-0B496C8DB3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441" t="53078" r="441" b="1"/>
          <a:stretch/>
        </p:blipFill>
        <p:spPr>
          <a:xfrm>
            <a:off x="850218" y="1276243"/>
            <a:ext cx="2924175" cy="20201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5CA5CF-0A5D-49CF-9667-27264837B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917" y="2053700"/>
            <a:ext cx="2638425" cy="1352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639BD0-5431-4646-A28C-20431CD9F690}"/>
              </a:ext>
            </a:extLst>
          </p:cNvPr>
          <p:cNvSpPr txBox="1"/>
          <p:nvPr/>
        </p:nvSpPr>
        <p:spPr>
          <a:xfrm>
            <a:off x="871171" y="1983295"/>
            <a:ext cx="4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07F921-B885-4B0C-AEE5-1F252E9598E0}"/>
              </a:ext>
            </a:extLst>
          </p:cNvPr>
          <p:cNvSpPr txBox="1"/>
          <p:nvPr/>
        </p:nvSpPr>
        <p:spPr>
          <a:xfrm>
            <a:off x="2312305" y="2923261"/>
            <a:ext cx="4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AF454C-FB76-404F-B345-887209EBB9BA}"/>
              </a:ext>
            </a:extLst>
          </p:cNvPr>
          <p:cNvSpPr txBox="1"/>
          <p:nvPr/>
        </p:nvSpPr>
        <p:spPr>
          <a:xfrm>
            <a:off x="2312305" y="1796752"/>
            <a:ext cx="4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24952D-33A8-498A-B8D5-7B49A87C2775}"/>
                  </a:ext>
                </a:extLst>
              </p:cNvPr>
              <p:cNvSpPr txBox="1"/>
              <p:nvPr/>
            </p:nvSpPr>
            <p:spPr>
              <a:xfrm>
                <a:off x="6791153" y="1187331"/>
                <a:ext cx="14891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+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24952D-33A8-498A-B8D5-7B49A87C2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1153" y="1187331"/>
                <a:ext cx="1489189" cy="276999"/>
              </a:xfrm>
              <a:prstGeom prst="rect">
                <a:avLst/>
              </a:prstGeom>
              <a:blipFill>
                <a:blip r:embed="rId4"/>
                <a:stretch>
                  <a:fillRect l="-3689" t="-4444" r="-1230" b="-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39F36C-0CE0-4C01-842F-03E39E2A3501}"/>
                  </a:ext>
                </a:extLst>
              </p:cNvPr>
              <p:cNvSpPr txBox="1"/>
              <p:nvPr/>
            </p:nvSpPr>
            <p:spPr>
              <a:xfrm>
                <a:off x="5892718" y="856589"/>
                <a:ext cx="27243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𝑠h𝑜𝑟𝑡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+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𝑠h𝑜𝑟𝑡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𝑙𝑜𝑛𝑔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39F36C-0CE0-4C01-842F-03E39E2A3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718" y="856589"/>
                <a:ext cx="2724336" cy="276999"/>
              </a:xfrm>
              <a:prstGeom prst="rect">
                <a:avLst/>
              </a:prstGeom>
              <a:blipFill>
                <a:blip r:embed="rId5"/>
                <a:stretch>
                  <a:fillRect l="-1790" t="-4444" r="-447" b="-355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D3959ED-C158-4628-BAFB-5DE63D3EE736}"/>
                  </a:ext>
                </a:extLst>
              </p:cNvPr>
              <p:cNvSpPr txBox="1"/>
              <p:nvPr/>
            </p:nvSpPr>
            <p:spPr>
              <a:xfrm>
                <a:off x="6368087" y="1584458"/>
                <a:ext cx="19122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+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41.8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D3959ED-C158-4628-BAFB-5DE63D3EE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087" y="1584458"/>
                <a:ext cx="1912255" cy="276999"/>
              </a:xfrm>
              <a:prstGeom prst="rect">
                <a:avLst/>
              </a:prstGeom>
              <a:blipFill>
                <a:blip r:embed="rId6"/>
                <a:stretch>
                  <a:fillRect l="-2556" t="-4444" r="-639"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5978F990-89D3-420B-8056-D0C9307BE827}"/>
              </a:ext>
            </a:extLst>
          </p:cNvPr>
          <p:cNvSpPr/>
          <p:nvPr/>
        </p:nvSpPr>
        <p:spPr>
          <a:xfrm>
            <a:off x="5025384" y="1992092"/>
            <a:ext cx="3247445" cy="3605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56B014-3D35-4701-B18E-22215080C962}"/>
              </a:ext>
            </a:extLst>
          </p:cNvPr>
          <p:cNvSpPr/>
          <p:nvPr/>
        </p:nvSpPr>
        <p:spPr>
          <a:xfrm>
            <a:off x="5167430" y="2319252"/>
            <a:ext cx="3247445" cy="3605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214750-EA82-4508-B351-125E52698C70}"/>
              </a:ext>
            </a:extLst>
          </p:cNvPr>
          <p:cNvSpPr/>
          <p:nvPr/>
        </p:nvSpPr>
        <p:spPr>
          <a:xfrm>
            <a:off x="5167430" y="2646412"/>
            <a:ext cx="3247445" cy="3605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8D1EE3-7288-4361-8D5C-B31A1C48D74A}"/>
              </a:ext>
            </a:extLst>
          </p:cNvPr>
          <p:cNvSpPr/>
          <p:nvPr/>
        </p:nvSpPr>
        <p:spPr>
          <a:xfrm>
            <a:off x="5046337" y="3082704"/>
            <a:ext cx="3247445" cy="3605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4947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 animBg="1"/>
      <p:bldP spid="14" grpId="0" animBg="1"/>
      <p:bldP spid="1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9D3106-927F-4C8A-8FEB-DFA421D75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49" y="845127"/>
            <a:ext cx="3475996" cy="3443357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4717212-872D-4A46-903C-1CEB698C09F3}"/>
              </a:ext>
            </a:extLst>
          </p:cNvPr>
          <p:cNvSpPr/>
          <p:nvPr/>
        </p:nvSpPr>
        <p:spPr>
          <a:xfrm>
            <a:off x="858981" y="2798618"/>
            <a:ext cx="180109" cy="1385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8AE3845-B9AC-4ED3-B537-EA248E2927A8}"/>
              </a:ext>
            </a:extLst>
          </p:cNvPr>
          <p:cNvSpPr/>
          <p:nvPr/>
        </p:nvSpPr>
        <p:spPr>
          <a:xfrm>
            <a:off x="2701635" y="1842654"/>
            <a:ext cx="180109" cy="1385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A18493-C748-47AD-BD6F-4B2964E27973}"/>
              </a:ext>
            </a:extLst>
          </p:cNvPr>
          <p:cNvSpPr txBox="1"/>
          <p:nvPr/>
        </p:nvSpPr>
        <p:spPr>
          <a:xfrm>
            <a:off x="651161" y="155228"/>
            <a:ext cx="74423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We wish to find the length of the line (the distance) from point A to B.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CC7C48-37DF-4505-89BF-1C1E908D3D59}"/>
              </a:ext>
            </a:extLst>
          </p:cNvPr>
          <p:cNvSpPr txBox="1"/>
          <p:nvPr/>
        </p:nvSpPr>
        <p:spPr>
          <a:xfrm>
            <a:off x="3629095" y="576439"/>
            <a:ext cx="6417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If we draw lines for the rise and the run  - what shape do we get?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4C3D7D-7780-4434-9AC8-E77F88D2A4B3}"/>
              </a:ext>
            </a:extLst>
          </p:cNvPr>
          <p:cNvCxnSpPr>
            <a:cxnSpLocks/>
          </p:cNvCxnSpPr>
          <p:nvPr/>
        </p:nvCxnSpPr>
        <p:spPr>
          <a:xfrm flipV="1">
            <a:off x="899212" y="1911927"/>
            <a:ext cx="1996387" cy="1004947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830FF8F-ECB5-4FAB-B5FA-8F26A1D771DF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949036" y="2937164"/>
            <a:ext cx="1886268" cy="0"/>
          </a:xfrm>
          <a:prstGeom prst="line">
            <a:avLst/>
          </a:prstGeom>
          <a:ln w="76200">
            <a:prstDash val="sys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1ABF21-E97A-49A9-80C4-DDBCF043BA77}"/>
              </a:ext>
            </a:extLst>
          </p:cNvPr>
          <p:cNvCxnSpPr>
            <a:cxnSpLocks/>
            <a:endCxn id="6" idx="6"/>
          </p:cNvCxnSpPr>
          <p:nvPr/>
        </p:nvCxnSpPr>
        <p:spPr>
          <a:xfrm flipH="1" flipV="1">
            <a:off x="2881744" y="1911927"/>
            <a:ext cx="13855" cy="1004947"/>
          </a:xfrm>
          <a:prstGeom prst="line">
            <a:avLst/>
          </a:prstGeom>
          <a:ln w="76200">
            <a:prstDash val="sys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AA099D2-6798-4588-B4CD-3F095C7AA7AB}"/>
              </a:ext>
            </a:extLst>
          </p:cNvPr>
          <p:cNvSpPr txBox="1"/>
          <p:nvPr/>
        </p:nvSpPr>
        <p:spPr>
          <a:xfrm>
            <a:off x="3643745" y="1436593"/>
            <a:ext cx="64840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How can we find the length of the hypotenuse?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E381B4-67E8-4220-A4DC-875D771E3491}"/>
              </a:ext>
            </a:extLst>
          </p:cNvPr>
          <p:cNvSpPr txBox="1"/>
          <p:nvPr/>
        </p:nvSpPr>
        <p:spPr>
          <a:xfrm>
            <a:off x="3611711" y="1006516"/>
            <a:ext cx="6417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What do we call the longest side of the right angled triangle?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9381A2F-CF80-4B07-8F4A-3319728E9EDA}"/>
              </a:ext>
            </a:extLst>
          </p:cNvPr>
          <p:cNvSpPr txBox="1"/>
          <p:nvPr/>
        </p:nvSpPr>
        <p:spPr>
          <a:xfrm>
            <a:off x="651161" y="2442957"/>
            <a:ext cx="387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DAC313-6957-4A5E-A477-49ACBC4FCDDD}"/>
              </a:ext>
            </a:extLst>
          </p:cNvPr>
          <p:cNvSpPr txBox="1"/>
          <p:nvPr/>
        </p:nvSpPr>
        <p:spPr>
          <a:xfrm>
            <a:off x="2585920" y="1415625"/>
            <a:ext cx="309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073F67-7766-4303-AAFE-D011C80F58D3}"/>
              </a:ext>
            </a:extLst>
          </p:cNvPr>
          <p:cNvSpPr txBox="1"/>
          <p:nvPr/>
        </p:nvSpPr>
        <p:spPr>
          <a:xfrm>
            <a:off x="1654949" y="2916874"/>
            <a:ext cx="387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1DEDB24-F72E-43E8-B8A1-1AE4F49823EF}"/>
              </a:ext>
            </a:extLst>
          </p:cNvPr>
          <p:cNvSpPr txBox="1"/>
          <p:nvPr/>
        </p:nvSpPr>
        <p:spPr>
          <a:xfrm>
            <a:off x="2949685" y="2183567"/>
            <a:ext cx="387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F1C3668-35EE-4637-9966-562263D4F049}"/>
                  </a:ext>
                </a:extLst>
              </p:cNvPr>
              <p:cNvSpPr txBox="1"/>
              <p:nvPr/>
            </p:nvSpPr>
            <p:spPr>
              <a:xfrm>
                <a:off x="4817836" y="2039609"/>
                <a:ext cx="3100039" cy="9684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  <m:sup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AU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𝟏𝟔</m:t>
                    </m:r>
                    <m:r>
                      <a:rPr lang="en-AU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𝒂𝒏𝒅</m:t>
                    </m:r>
                    <m:sSup>
                      <m:sSupPr>
                        <m:ctrlPr>
                          <a:rPr lang="en-AU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AU" b="1" dirty="0">
                    <a:solidFill>
                      <a:schemeClr val="accent1">
                        <a:lumMod val="75000"/>
                      </a:schemeClr>
                    </a:solidFill>
                  </a:rPr>
                  <a:t> = 4</a:t>
                </a:r>
              </a:p>
              <a:p>
                <a:r>
                  <a:rPr lang="en-AU" b="1" dirty="0">
                    <a:solidFill>
                      <a:schemeClr val="accent1">
                        <a:lumMod val="75000"/>
                      </a:schemeClr>
                    </a:solidFill>
                  </a:rPr>
                  <a:t>	16 + 4 = 20</a:t>
                </a:r>
              </a:p>
              <a:p>
                <a:r>
                  <a:rPr lang="en-AU" b="1" dirty="0">
                    <a:solidFill>
                      <a:schemeClr val="accent1">
                        <a:lumMod val="75000"/>
                      </a:schemeClr>
                    </a:solidFill>
                  </a:rPr>
                  <a:t> 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</m:e>
                    </m:rad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𝟒𝟕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𝒕𝒐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𝒅𝒑</m:t>
                    </m:r>
                    <m:r>
                      <a:rPr lang="en-AU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F1C3668-35EE-4637-9966-562263D4F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836" y="2039609"/>
                <a:ext cx="3100039" cy="968470"/>
              </a:xfrm>
              <a:prstGeom prst="rect">
                <a:avLst/>
              </a:prstGeom>
              <a:blipFill>
                <a:blip r:embed="rId3"/>
                <a:stretch>
                  <a:fillRect t="-3165" b="-44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6416C63F-BD50-45A7-950A-1DE0F1982049}"/>
              </a:ext>
            </a:extLst>
          </p:cNvPr>
          <p:cNvSpPr txBox="1"/>
          <p:nvPr/>
        </p:nvSpPr>
        <p:spPr>
          <a:xfrm>
            <a:off x="4396413" y="3130583"/>
            <a:ext cx="4281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length of the line is 4.47.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2805A1D-72CF-4C98-9F55-DF3CDFF67C2E}"/>
              </a:ext>
            </a:extLst>
          </p:cNvPr>
          <p:cNvSpPr txBox="1"/>
          <p:nvPr/>
        </p:nvSpPr>
        <p:spPr>
          <a:xfrm>
            <a:off x="3710291" y="3770577"/>
            <a:ext cx="6417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What is an easy way to calculate the rise and the run?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AFFB8B2-B065-477C-8D6B-65348E93E04F}"/>
                  </a:ext>
                </a:extLst>
              </p:cNvPr>
              <p:cNvSpPr txBox="1"/>
              <p:nvPr/>
            </p:nvSpPr>
            <p:spPr>
              <a:xfrm>
                <a:off x="4085955" y="4109131"/>
                <a:ext cx="400750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𝒓𝒖𝒏</m:t>
                      </m:r>
                      <m:r>
                        <a:rPr lang="en-AU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𝒏𝒅</m:t>
                      </m:r>
                      <m:r>
                        <a:rPr lang="en-AU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𝒗𝒂𝒍𝒖𝒆</m:t>
                      </m:r>
                      <m:r>
                        <a:rPr lang="en-AU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AU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AU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𝒔𝒕</m:t>
                      </m:r>
                      <m:r>
                        <a:rPr lang="en-AU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𝒗𝒂𝒍𝒖𝒆</m:t>
                      </m:r>
                    </m:oMath>
                  </m:oMathPara>
                </a14:m>
                <a:endParaRPr lang="en-AU" b="1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r>
                  <a:rPr lang="en-AU" b="1" dirty="0">
                    <a:solidFill>
                      <a:schemeClr val="accent1">
                        <a:lumMod val="75000"/>
                      </a:schemeClr>
                    </a:solidFill>
                  </a:rPr>
                  <a:t>		5 – 1 = 4</a:t>
                </a:r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AFFB8B2-B065-477C-8D6B-65348E93E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955" y="4109131"/>
                <a:ext cx="4007507" cy="646331"/>
              </a:xfrm>
              <a:prstGeom prst="rect">
                <a:avLst/>
              </a:prstGeom>
              <a:blipFill>
                <a:blip r:embed="rId4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40BF540-D44B-4996-B40E-310E182FFC1F}"/>
                  </a:ext>
                </a:extLst>
              </p:cNvPr>
              <p:cNvSpPr txBox="1"/>
              <p:nvPr/>
            </p:nvSpPr>
            <p:spPr>
              <a:xfrm>
                <a:off x="4085954" y="4761635"/>
                <a:ext cx="400750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𝒓𝒊𝒔𝒆</m:t>
                      </m:r>
                      <m:r>
                        <a:rPr lang="en-AU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𝒏𝒅</m:t>
                      </m:r>
                      <m:r>
                        <a:rPr lang="en-AU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𝒗𝒂𝒍𝒖𝒆</m:t>
                      </m:r>
                      <m:r>
                        <a:rPr lang="en-AU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AU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AU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𝒔𝒕</m:t>
                      </m:r>
                      <m:r>
                        <a:rPr lang="en-AU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𝒗𝒂𝒍𝒖𝒆</m:t>
                      </m:r>
                    </m:oMath>
                  </m:oMathPara>
                </a14:m>
                <a:endParaRPr lang="en-AU" b="1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r>
                  <a:rPr lang="en-AU" b="1" dirty="0">
                    <a:solidFill>
                      <a:schemeClr val="accent1">
                        <a:lumMod val="75000"/>
                      </a:schemeClr>
                    </a:solidFill>
                  </a:rPr>
                  <a:t>		4 – 2 = 2</a:t>
                </a:r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40BF540-D44B-4996-B40E-310E182FF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954" y="4761635"/>
                <a:ext cx="4007507" cy="646331"/>
              </a:xfrm>
              <a:prstGeom prst="rect">
                <a:avLst/>
              </a:prstGeom>
              <a:blipFill>
                <a:blip r:embed="rId5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8662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8" grpId="0"/>
      <p:bldP spid="39" grpId="0"/>
      <p:bldP spid="45" grpId="0"/>
      <p:bldP spid="4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 Pythagoras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5532202" y="2119470"/>
                <a:ext cx="4234649" cy="3495191"/>
              </a:xfrm>
            </p:spPr>
            <p:txBody>
              <a:bodyPr>
                <a:normAutofit fontScale="92500" lnSpcReduction="20000"/>
              </a:bodyPr>
              <a:lstStyle/>
              <a:p>
                <a:pPr algn="l"/>
                <a:r>
                  <a:rPr lang="en-AU" sz="2000" dirty="0"/>
                  <a:t>Rise = y value 2 – y value 1</a:t>
                </a:r>
              </a:p>
              <a:p>
                <a:pPr algn="l"/>
                <a:r>
                  <a:rPr lang="en-AU" sz="2000" dirty="0"/>
                  <a:t>          = 9-1 = 8</a:t>
                </a:r>
              </a:p>
              <a:p>
                <a:pPr algn="l"/>
                <a:r>
                  <a:rPr lang="en-AU" sz="2000" dirty="0"/>
                  <a:t>Rise = x value 2 – x value 1</a:t>
                </a:r>
              </a:p>
              <a:p>
                <a:pPr algn="l"/>
                <a:r>
                  <a:rPr lang="en-AU" sz="2000" dirty="0"/>
                  <a:t>          = 5 - 1 = 4</a:t>
                </a:r>
              </a:p>
              <a:p>
                <a:pPr algn="l"/>
                <a:endParaRPr lang="en-AU" sz="2000" dirty="0"/>
              </a:p>
              <a:p>
                <a:pPr algn="l"/>
                <a:endParaRPr lang="en-AU" sz="2000" dirty="0"/>
              </a:p>
              <a:p>
                <a:pPr algn="l"/>
                <a:r>
                  <a:rPr lang="en-AU" sz="2000" dirty="0"/>
                  <a:t>Line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AU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𝑟𝑖𝑠𝑒</m:t>
                            </m:r>
                          </m:e>
                          <m:sup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+ </m:t>
                        </m:r>
                        <m:sSup>
                          <m:sSupPr>
                            <m:ctrlP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𝑟𝑢𝑛</m:t>
                            </m:r>
                          </m:e>
                          <m:sup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r>
                  <a:rPr lang="en-AU" sz="2000" dirty="0"/>
                  <a:t> 	</a:t>
                </a:r>
              </a:p>
              <a:p>
                <a:pPr algn="l"/>
                <a:r>
                  <a:rPr lang="en-AU" sz="2000" dirty="0"/>
                  <a:t>	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AU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AU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+ </m:t>
                        </m:r>
                        <m:sSup>
                          <m:sSupPr>
                            <m:ctrlPr>
                              <a:rPr lang="en-AU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AU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endParaRPr lang="en-AU" sz="2000" dirty="0"/>
              </a:p>
              <a:p>
                <a:pPr algn="l"/>
                <a:r>
                  <a:rPr lang="en-AU" sz="2000" dirty="0"/>
                  <a:t>	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</m:oMath>
                </a14:m>
                <a:endParaRPr lang="en-AU" sz="2000" dirty="0"/>
              </a:p>
              <a:p>
                <a:pPr algn="l"/>
                <a:r>
                  <a:rPr lang="en-AU" sz="2000" dirty="0"/>
                  <a:t>	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80</m:t>
                        </m:r>
                      </m:e>
                    </m:rad>
                  </m:oMath>
                </a14:m>
                <a:endParaRPr lang="en-AU" sz="2000" dirty="0"/>
              </a:p>
              <a:p>
                <a:pPr algn="l"/>
                <a:r>
                  <a:rPr lang="en-AU" sz="2000" dirty="0"/>
                  <a:t>	</a:t>
                </a:r>
                <a14:m>
                  <m:oMath xmlns:m="http://schemas.openxmlformats.org/officeDocument/2006/math">
                    <m:r>
                      <a:rPr lang="en-A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AU" sz="2000" dirty="0"/>
                  <a:t> 8.94 to 2 </a:t>
                </a:r>
                <a:r>
                  <a:rPr lang="en-AU" sz="2000" dirty="0" err="1"/>
                  <a:t>dp</a:t>
                </a:r>
                <a:endParaRPr lang="en-AU" sz="2000" dirty="0"/>
              </a:p>
              <a:p>
                <a:endParaRPr lang="en-AU" sz="2000" dirty="0"/>
              </a:p>
            </p:txBody>
          </p:sp>
        </mc:Choice>
        <mc:Fallback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532202" y="2119470"/>
                <a:ext cx="4234649" cy="3495191"/>
              </a:xfrm>
              <a:blipFill>
                <a:blip r:embed="rId2"/>
                <a:stretch>
                  <a:fillRect l="-1441" t="-2967" b="-13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7161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884556" y="1178312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7" y="633749"/>
            <a:ext cx="6858000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dirty="0"/>
              <a:t>EQ : Length of a line on a 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4EEC19-5838-42BC-AFC3-A63D498EDE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422" r="1233" b="45212"/>
          <a:stretch/>
        </p:blipFill>
        <p:spPr>
          <a:xfrm>
            <a:off x="1936548" y="1235227"/>
            <a:ext cx="3345366" cy="327633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4DA8CB0-5335-42CA-A443-84541544CE9E}"/>
              </a:ext>
            </a:extLst>
          </p:cNvPr>
          <p:cNvCxnSpPr>
            <a:cxnSpLocks/>
          </p:cNvCxnSpPr>
          <p:nvPr/>
        </p:nvCxnSpPr>
        <p:spPr>
          <a:xfrm flipV="1">
            <a:off x="2616773" y="1721004"/>
            <a:ext cx="1120651" cy="225998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5D80E58-BE25-43CA-BBA2-CBF4AE60E0B1}"/>
              </a:ext>
            </a:extLst>
          </p:cNvPr>
          <p:cNvCxnSpPr>
            <a:cxnSpLocks/>
          </p:cNvCxnSpPr>
          <p:nvPr/>
        </p:nvCxnSpPr>
        <p:spPr>
          <a:xfrm flipV="1">
            <a:off x="2616773" y="3980985"/>
            <a:ext cx="1120651" cy="1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A9F03A7-76A9-4F10-BAE3-13E8126DBE19}"/>
              </a:ext>
            </a:extLst>
          </p:cNvPr>
          <p:cNvCxnSpPr>
            <a:cxnSpLocks/>
          </p:cNvCxnSpPr>
          <p:nvPr/>
        </p:nvCxnSpPr>
        <p:spPr>
          <a:xfrm>
            <a:off x="3737424" y="1721004"/>
            <a:ext cx="0" cy="225998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B42BB62-FD2B-4DAE-B238-363555EF8B56}"/>
              </a:ext>
            </a:extLst>
          </p:cNvPr>
          <p:cNvSpPr/>
          <p:nvPr/>
        </p:nvSpPr>
        <p:spPr>
          <a:xfrm>
            <a:off x="3453141" y="3699232"/>
            <a:ext cx="241562" cy="246496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ABE481-1CF4-41BD-84B6-980702BB3679}"/>
              </a:ext>
            </a:extLst>
          </p:cNvPr>
          <p:cNvSpPr txBox="1"/>
          <p:nvPr/>
        </p:nvSpPr>
        <p:spPr>
          <a:xfrm>
            <a:off x="2856551" y="4511566"/>
            <a:ext cx="1193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accent1"/>
                </a:solidFill>
                <a:highlight>
                  <a:srgbClr val="FFFF00"/>
                </a:highlight>
              </a:rPr>
              <a:t>RUN = 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433C75-8880-4E98-A654-A5664B45C4A5}"/>
              </a:ext>
            </a:extLst>
          </p:cNvPr>
          <p:cNvSpPr txBox="1"/>
          <p:nvPr/>
        </p:nvSpPr>
        <p:spPr>
          <a:xfrm>
            <a:off x="4261485" y="2656111"/>
            <a:ext cx="1193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50"/>
                </a:solidFill>
                <a:highlight>
                  <a:srgbClr val="FFFF00"/>
                </a:highlight>
              </a:rPr>
              <a:t>RISE = 8</a:t>
            </a:r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CC3154DA-A2ED-4C3D-914C-10705BF1739B}"/>
              </a:ext>
            </a:extLst>
          </p:cNvPr>
          <p:cNvSpPr/>
          <p:nvPr/>
        </p:nvSpPr>
        <p:spPr>
          <a:xfrm>
            <a:off x="3780145" y="1688459"/>
            <a:ext cx="245445" cy="2292525"/>
          </a:xfrm>
          <a:prstGeom prst="rightBrace">
            <a:avLst/>
          </a:prstGeom>
          <a:ln w="5715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799CB066-7280-4947-9CDF-4969729D80AD}"/>
              </a:ext>
            </a:extLst>
          </p:cNvPr>
          <p:cNvSpPr/>
          <p:nvPr/>
        </p:nvSpPr>
        <p:spPr>
          <a:xfrm rot="5400000">
            <a:off x="3075474" y="3570865"/>
            <a:ext cx="203248" cy="1120651"/>
          </a:xfrm>
          <a:prstGeom prst="rightBrac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5CFADBD-C350-494A-9999-2A918D4A2D4C}"/>
              </a:ext>
            </a:extLst>
          </p:cNvPr>
          <p:cNvSpPr/>
          <p:nvPr/>
        </p:nvSpPr>
        <p:spPr>
          <a:xfrm>
            <a:off x="3694703" y="1664089"/>
            <a:ext cx="85442" cy="11803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1DA3DB8-A867-47D1-9C50-93CD46D7D41F}"/>
              </a:ext>
            </a:extLst>
          </p:cNvPr>
          <p:cNvSpPr/>
          <p:nvPr/>
        </p:nvSpPr>
        <p:spPr>
          <a:xfrm>
            <a:off x="2574094" y="3913631"/>
            <a:ext cx="85442" cy="11803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DC1C3B-6068-4ACF-8B2E-8E014E45246C}"/>
              </a:ext>
            </a:extLst>
          </p:cNvPr>
          <p:cNvSpPr txBox="1"/>
          <p:nvPr/>
        </p:nvSpPr>
        <p:spPr>
          <a:xfrm>
            <a:off x="5324593" y="1354214"/>
            <a:ext cx="3733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can use Pythagoras’ relationship to find the length of a line on a graph.</a:t>
            </a:r>
          </a:p>
        </p:txBody>
      </p:sp>
    </p:spTree>
    <p:extLst>
      <p:ext uri="{BB962C8B-B14F-4D97-AF65-F5344CB8AC3E}">
        <p14:creationId xmlns:p14="http://schemas.microsoft.com/office/powerpoint/2010/main" val="1590379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A1B996-FC6F-4F1D-B163-3723863FF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70" y="416435"/>
            <a:ext cx="2493691" cy="24779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DB3373-A401-4802-BEE5-E3F3B78D4EF0}"/>
              </a:ext>
            </a:extLst>
          </p:cNvPr>
          <p:cNvSpPr txBox="1"/>
          <p:nvPr/>
        </p:nvSpPr>
        <p:spPr>
          <a:xfrm>
            <a:off x="3427607" y="300412"/>
            <a:ext cx="477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Let’s try these together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CBDF45-E53F-42B2-8AF6-474F1D102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387" y="1114058"/>
            <a:ext cx="2609850" cy="1590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E37D79-9FA3-4262-B9D9-281F6B410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29" y="3088888"/>
            <a:ext cx="2791453" cy="26186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99AA1E-F531-4FFA-8E1E-3EB06B4381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7387" y="3583846"/>
            <a:ext cx="2638425" cy="16287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FCDC467-ECC2-40D4-B6AB-E85DCCE47132}"/>
              </a:ext>
            </a:extLst>
          </p:cNvPr>
          <p:cNvSpPr txBox="1"/>
          <p:nvPr/>
        </p:nvSpPr>
        <p:spPr>
          <a:xfrm>
            <a:off x="6767020" y="654906"/>
            <a:ext cx="153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Rise = 7-2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FF532F-0135-4BBE-9A76-B8D345773921}"/>
              </a:ext>
            </a:extLst>
          </p:cNvPr>
          <p:cNvSpPr txBox="1"/>
          <p:nvPr/>
        </p:nvSpPr>
        <p:spPr>
          <a:xfrm>
            <a:off x="4855093" y="652470"/>
            <a:ext cx="153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Run = 4-1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7DE9EF-C7EF-42A8-8447-9A2E6591E3BF}"/>
              </a:ext>
            </a:extLst>
          </p:cNvPr>
          <p:cNvSpPr txBox="1"/>
          <p:nvPr/>
        </p:nvSpPr>
        <p:spPr>
          <a:xfrm>
            <a:off x="6699779" y="3149047"/>
            <a:ext cx="153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Rise = -3-2 = 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CAE8DE-E978-4244-99C0-5BB8969F0452}"/>
              </a:ext>
            </a:extLst>
          </p:cNvPr>
          <p:cNvSpPr txBox="1"/>
          <p:nvPr/>
        </p:nvSpPr>
        <p:spPr>
          <a:xfrm>
            <a:off x="4572000" y="3181781"/>
            <a:ext cx="1793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Run = -5 - 3 = -8</a:t>
            </a:r>
          </a:p>
        </p:txBody>
      </p:sp>
    </p:spTree>
    <p:extLst>
      <p:ext uri="{BB962C8B-B14F-4D97-AF65-F5344CB8AC3E}">
        <p14:creationId xmlns:p14="http://schemas.microsoft.com/office/powerpoint/2010/main" val="848277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3563D3-B332-4DD4-A9D1-B9D577EB5AAD}"/>
              </a:ext>
            </a:extLst>
          </p:cNvPr>
          <p:cNvSpPr txBox="1"/>
          <p:nvPr/>
        </p:nvSpPr>
        <p:spPr>
          <a:xfrm>
            <a:off x="1066800" y="1320738"/>
            <a:ext cx="6761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Dr Dwyer, Exercise 16.1 on Page 214 - 215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48ADCB-A071-498D-A4B7-7B5BD802599E}"/>
              </a:ext>
            </a:extLst>
          </p:cNvPr>
          <p:cNvSpPr txBox="1"/>
          <p:nvPr/>
        </p:nvSpPr>
        <p:spPr>
          <a:xfrm>
            <a:off x="512618" y="369515"/>
            <a:ext cx="3338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Practice time</a:t>
            </a:r>
          </a:p>
        </p:txBody>
      </p:sp>
    </p:spTree>
    <p:extLst>
      <p:ext uri="{BB962C8B-B14F-4D97-AF65-F5344CB8AC3E}">
        <p14:creationId xmlns:p14="http://schemas.microsoft.com/office/powerpoint/2010/main" val="2076460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FEA2C9-6E64-4028-8A3E-19098D2F43C5}" vid="{975935DD-9AD2-443E-9D3A-1AF4DC2D5AD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2017</Template>
  <TotalTime>2868</TotalTime>
  <Words>430</Words>
  <Application>Microsoft Office PowerPoint</Application>
  <PresentationFormat>On-screen Show (16:10)</PresentationFormat>
  <Paragraphs>97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Coordinate Geometry – length of a line between 2 points </vt:lpstr>
      <vt:lpstr>While you are waiting, find the equation of the following. 1)   y= ________x       ______ 2)            y= ________x       ______ </vt:lpstr>
      <vt:lpstr>PowerPoint Presentation</vt:lpstr>
      <vt:lpstr>PowerPoint Presentation</vt:lpstr>
      <vt:lpstr>PowerPoint Presentation</vt:lpstr>
      <vt:lpstr>Let’s try </vt:lpstr>
      <vt:lpstr>PowerPoint Presentation</vt:lpstr>
      <vt:lpstr>Topic : Pythagoras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WILSON James [Baldivis Secondary College]</cp:lastModifiedBy>
  <cp:revision>29</cp:revision>
  <dcterms:created xsi:type="dcterms:W3CDTF">2017-06-05T04:57:57Z</dcterms:created>
  <dcterms:modified xsi:type="dcterms:W3CDTF">2018-09-08T16:09:07Z</dcterms:modified>
</cp:coreProperties>
</file>
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0" r:id="rId2"/>
    <p:sldId id="259" r:id="rId3"/>
    <p:sldId id="258" r:id="rId4"/>
    <p:sldId id="328" r:id="rId5"/>
    <p:sldId id="334" r:id="rId6"/>
    <p:sldId id="335" r:id="rId7"/>
    <p:sldId id="336" r:id="rId8"/>
    <p:sldId id="321" r:id="rId9"/>
    <p:sldId id="327" r:id="rId10"/>
    <p:sldId id="292" r:id="rId11"/>
    <p:sldId id="29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65" autoAdjust="0"/>
    <p:restoredTop sz="95673" autoAdjust="0"/>
  </p:normalViewPr>
  <p:slideViewPr>
    <p:cSldViewPr>
      <p:cViewPr varScale="1">
        <p:scale>
          <a:sx n="103" d="100"/>
          <a:sy n="103" d="100"/>
        </p:scale>
        <p:origin x="1336" y="16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pPr/>
              <a:t>9/2/18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pPr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pPr/>
              <a:t>9/2/18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/>
              <a:t>My Measurement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/>
              <a:t>Name </a:t>
            </a:r>
          </a:p>
          <a:p>
            <a:pPr algn="l"/>
            <a:r>
              <a:rPr lang="en-AU" dirty="0"/>
              <a:t>Class </a:t>
            </a:r>
          </a:p>
          <a:p>
            <a:pPr algn="l"/>
            <a:r>
              <a:rPr lang="en-AU" dirty="0"/>
              <a:t>Teacher  Mr Evans</a:t>
            </a:r>
          </a:p>
          <a:p>
            <a:pPr algn="l"/>
            <a:r>
              <a:rPr lang="en-AU" dirty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27650" name="Picture 2" descr="http://passyworldofmathematics.com/Images/pwmImagesFour/ConvertMetricTwo550x392JPG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580112" y="3861048"/>
            <a:ext cx="3181262" cy="2267372"/>
          </a:xfrm>
          <a:prstGeom prst="rect">
            <a:avLst/>
          </a:prstGeom>
          <a:noFill/>
        </p:spPr>
      </p:pic>
      <p:pic>
        <p:nvPicPr>
          <p:cNvPr id="27652" name="Picture 4" descr="http://passyworldofmathematics.com/Images/pwmImagesFour/ConvertMetricOne550x407JPG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628800"/>
            <a:ext cx="2976265" cy="22024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Glossary or Formula Page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composite shapes?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9514" y="5157192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composite shapes?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AB1448A-1457-6E46-A106-FE34FE02BE6A}"/>
              </a:ext>
            </a:extLst>
          </p:cNvPr>
          <p:cNvSpPr txBox="1"/>
          <p:nvPr/>
        </p:nvSpPr>
        <p:spPr>
          <a:xfrm>
            <a:off x="119514" y="2016176"/>
            <a:ext cx="284380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What are composite shapes?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067451F-BE4F-A548-B9D0-3ECD08D0F3B7}"/>
              </a:ext>
            </a:extLst>
          </p:cNvPr>
          <p:cNvSpPr txBox="1">
            <a:spLocks/>
          </p:cNvSpPr>
          <p:nvPr/>
        </p:nvSpPr>
        <p:spPr>
          <a:xfrm>
            <a:off x="2855695" y="1961057"/>
            <a:ext cx="6167656" cy="891879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200" u="sng" dirty="0">
                <a:solidFill>
                  <a:srgbClr val="FF0000"/>
                </a:solidFill>
              </a:rPr>
              <a:t>Compound shape:</a:t>
            </a:r>
            <a:r>
              <a:rPr lang="en-GB" sz="2200" dirty="0"/>
              <a:t> a 2D shape made up of many shapes</a:t>
            </a:r>
          </a:p>
          <a:p>
            <a:endParaRPr lang="en-GB" dirty="0"/>
          </a:p>
          <a:p>
            <a:endParaRPr lang="en-GB" dirty="0"/>
          </a:p>
        </p:txBody>
      </p:sp>
      <p:sp>
        <p:nvSpPr>
          <p:cNvPr id="16" name="Down Arrow 15">
            <a:extLst>
              <a:ext uri="{FF2B5EF4-FFF2-40B4-BE49-F238E27FC236}">
                <a16:creationId xmlns:a16="http://schemas.microsoft.com/office/drawing/2014/main" id="{F2AEC6AC-C2C2-1740-8B24-E21A90ED9AD4}"/>
              </a:ext>
            </a:extLst>
          </p:cNvPr>
          <p:cNvSpPr/>
          <p:nvPr/>
        </p:nvSpPr>
        <p:spPr>
          <a:xfrm>
            <a:off x="3096998" y="2812348"/>
            <a:ext cx="1042954" cy="1120708"/>
          </a:xfrm>
          <a:prstGeom prst="down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L-Shape 16">
            <a:extLst>
              <a:ext uri="{FF2B5EF4-FFF2-40B4-BE49-F238E27FC236}">
                <a16:creationId xmlns:a16="http://schemas.microsoft.com/office/drawing/2014/main" id="{61ACB92F-BF4D-1043-BA20-43764911A4E0}"/>
              </a:ext>
            </a:extLst>
          </p:cNvPr>
          <p:cNvSpPr/>
          <p:nvPr/>
        </p:nvSpPr>
        <p:spPr>
          <a:xfrm>
            <a:off x="4572000" y="2785283"/>
            <a:ext cx="1440160" cy="1435805"/>
          </a:xfrm>
          <a:prstGeom prst="corner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8" name="Cross 17">
            <a:extLst>
              <a:ext uri="{FF2B5EF4-FFF2-40B4-BE49-F238E27FC236}">
                <a16:creationId xmlns:a16="http://schemas.microsoft.com/office/drawing/2014/main" id="{974A12F6-A9E6-5C47-9E7E-66EC08197EE9}"/>
              </a:ext>
            </a:extLst>
          </p:cNvPr>
          <p:cNvSpPr/>
          <p:nvPr/>
        </p:nvSpPr>
        <p:spPr>
          <a:xfrm>
            <a:off x="6588224" y="2636912"/>
            <a:ext cx="1944216" cy="1152128"/>
          </a:xfrm>
          <a:prstGeom prst="plus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9" name="Right Arrow Callout 18">
            <a:extLst>
              <a:ext uri="{FF2B5EF4-FFF2-40B4-BE49-F238E27FC236}">
                <a16:creationId xmlns:a16="http://schemas.microsoft.com/office/drawing/2014/main" id="{8B1A7142-4F65-8E47-B20F-064473F7E022}"/>
              </a:ext>
            </a:extLst>
          </p:cNvPr>
          <p:cNvSpPr/>
          <p:nvPr/>
        </p:nvSpPr>
        <p:spPr>
          <a:xfrm>
            <a:off x="6029978" y="4580456"/>
            <a:ext cx="2160240" cy="1908212"/>
          </a:xfrm>
          <a:prstGeom prst="rightArrowCallou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791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24</a:t>
            </a:r>
          </a:p>
          <a:p>
            <a:r>
              <a:rPr lang="en-AU" sz="1600" dirty="0"/>
              <a:t>7</a:t>
            </a:r>
          </a:p>
          <a:p>
            <a:r>
              <a:rPr lang="en-AU" sz="1600" dirty="0"/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8628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Area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9514" y="106343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How do I find the area of composite shapes? 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112" y="1961056"/>
            <a:ext cx="28438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How do we find the area of composite shapes?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F6BC6DE-1552-7D4B-BE81-BB9E522D2000}"/>
              </a:ext>
            </a:extLst>
          </p:cNvPr>
          <p:cNvSpPr txBox="1">
            <a:spLocks/>
          </p:cNvSpPr>
          <p:nvPr/>
        </p:nvSpPr>
        <p:spPr>
          <a:xfrm>
            <a:off x="2968920" y="1961056"/>
            <a:ext cx="5717880" cy="4165107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2000" dirty="0"/>
              <a:t>To find the area of compound shapes, split them up into their composite shapes.</a:t>
            </a:r>
          </a:p>
          <a:p>
            <a:endParaRPr lang="en-GB" sz="2000" dirty="0"/>
          </a:p>
          <a:p>
            <a:r>
              <a:rPr lang="en-GB" sz="2000" dirty="0"/>
              <a:t>Find the area of each shape, then add them together</a:t>
            </a:r>
          </a:p>
        </p:txBody>
      </p:sp>
      <p:sp>
        <p:nvSpPr>
          <p:cNvPr id="21" name="L-Shape 20">
            <a:extLst>
              <a:ext uri="{FF2B5EF4-FFF2-40B4-BE49-F238E27FC236}">
                <a16:creationId xmlns:a16="http://schemas.microsoft.com/office/drawing/2014/main" id="{7F502458-50AE-6840-AE57-FAC7415D6343}"/>
              </a:ext>
            </a:extLst>
          </p:cNvPr>
          <p:cNvSpPr/>
          <p:nvPr/>
        </p:nvSpPr>
        <p:spPr>
          <a:xfrm>
            <a:off x="3186241" y="4046778"/>
            <a:ext cx="2520280" cy="1512168"/>
          </a:xfrm>
          <a:prstGeom prst="corner">
            <a:avLst>
              <a:gd name="adj1" fmla="val 50000"/>
              <a:gd name="adj2" fmla="val 51099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163D861-0933-8A46-AAC3-86D2349F6FE3}"/>
              </a:ext>
            </a:extLst>
          </p:cNvPr>
          <p:cNvCxnSpPr/>
          <p:nvPr/>
        </p:nvCxnSpPr>
        <p:spPr>
          <a:xfrm>
            <a:off x="3186241" y="4802862"/>
            <a:ext cx="792088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Down Arrow 22">
            <a:extLst>
              <a:ext uri="{FF2B5EF4-FFF2-40B4-BE49-F238E27FC236}">
                <a16:creationId xmlns:a16="http://schemas.microsoft.com/office/drawing/2014/main" id="{C5B705E3-0E9D-404E-BD58-18CFF52471DF}"/>
              </a:ext>
            </a:extLst>
          </p:cNvPr>
          <p:cNvSpPr/>
          <p:nvPr/>
        </p:nvSpPr>
        <p:spPr>
          <a:xfrm>
            <a:off x="5964471" y="4031208"/>
            <a:ext cx="2808312" cy="1512168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0A70053-B585-834C-9384-F7ADF1BEA907}"/>
              </a:ext>
            </a:extLst>
          </p:cNvPr>
          <p:cNvCxnSpPr/>
          <p:nvPr/>
        </p:nvCxnSpPr>
        <p:spPr>
          <a:xfrm>
            <a:off x="6685564" y="4755280"/>
            <a:ext cx="1368152" cy="13855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44857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build="p"/>
      <p:bldP spid="21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Do</a:t>
            </a:r>
          </a:p>
        </p:txBody>
      </p:sp>
      <p:sp>
        <p:nvSpPr>
          <p:cNvPr id="4" name="L-Shape 3"/>
          <p:cNvSpPr/>
          <p:nvPr/>
        </p:nvSpPr>
        <p:spPr>
          <a:xfrm rot="5400000">
            <a:off x="323528" y="2492896"/>
            <a:ext cx="3096344" cy="1800200"/>
          </a:xfrm>
          <a:prstGeom prst="corner">
            <a:avLst>
              <a:gd name="adj1" fmla="val 32299"/>
              <a:gd name="adj2" fmla="val 50000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TextBox 4"/>
          <p:cNvSpPr txBox="1"/>
          <p:nvPr/>
        </p:nvSpPr>
        <p:spPr>
          <a:xfrm>
            <a:off x="2771800" y="206084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5cm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47664" y="3645024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11cm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1475492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8cm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9" y="4941168"/>
            <a:ext cx="1008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2cm</a:t>
            </a: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971600" y="2736630"/>
            <a:ext cx="576064" cy="0"/>
          </a:xfrm>
          <a:prstGeom prst="line">
            <a:avLst/>
          </a:prstGeom>
          <a:ln w="28575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547664" y="1844824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9" y="3392996"/>
            <a:ext cx="7920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800" dirty="0">
                <a:solidFill>
                  <a:srgbClr val="FF0000"/>
                </a:solidFill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39952" y="166015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A = 8 x 5</a:t>
            </a:r>
          </a:p>
          <a:p>
            <a:r>
              <a:rPr lang="en-GB" sz="3200" dirty="0"/>
              <a:t>             = 40cm</a:t>
            </a:r>
            <a:r>
              <a:rPr lang="en-GB" sz="3200" baseline="30000" dirty="0"/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39952" y="2855838"/>
            <a:ext cx="3312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Area B = 11 x 2</a:t>
            </a:r>
          </a:p>
          <a:p>
            <a:r>
              <a:rPr lang="en-GB" sz="3200" dirty="0"/>
              <a:t>             = 22cm</a:t>
            </a:r>
            <a:r>
              <a:rPr lang="en-GB" sz="3200" baseline="30000" dirty="0"/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39952" y="4007966"/>
            <a:ext cx="37444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Total Area = 40 + 22</a:t>
            </a:r>
          </a:p>
          <a:p>
            <a:r>
              <a:rPr lang="en-GB" sz="3200" dirty="0"/>
              <a:t>                   = 62cm</a:t>
            </a:r>
            <a:r>
              <a:rPr lang="en-GB" sz="3200" baseline="30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5539073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 Do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100B81E-A815-AB46-96A0-C7C6B19624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1417638"/>
            <a:ext cx="3797300" cy="184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1198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You Do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99592" y="908720"/>
            <a:ext cx="6600602" cy="54248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328" y="0"/>
            <a:ext cx="8229600" cy="1143000"/>
          </a:xfrm>
        </p:spPr>
        <p:txBody>
          <a:bodyPr>
            <a:normAutofit/>
          </a:bodyPr>
          <a:lstStyle/>
          <a:p>
            <a:r>
              <a:rPr lang="en-AU" sz="3600" dirty="0"/>
              <a:t>Questions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9552" y="1052735"/>
            <a:ext cx="7920880" cy="4938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6741279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Notes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/>
              <a:t>24, 7 ,30</a:t>
            </a:r>
          </a:p>
          <a:p>
            <a:r>
              <a:rPr lang="en-AU" dirty="0"/>
              <a:t>Date</a:t>
            </a:r>
          </a:p>
          <a:p>
            <a:r>
              <a:rPr lang="en-AU" dirty="0"/>
              <a:t>Title</a:t>
            </a:r>
          </a:p>
          <a:p>
            <a:r>
              <a:rPr lang="en-AU" dirty="0"/>
              <a:t>Essential question</a:t>
            </a:r>
          </a:p>
          <a:p>
            <a:r>
              <a:rPr lang="en-AU" dirty="0"/>
              <a:t>Notes complete </a:t>
            </a:r>
          </a:p>
          <a:p>
            <a:r>
              <a:rPr lang="en-AU" dirty="0"/>
              <a:t>Notes complete with colour and diagrams</a:t>
            </a:r>
          </a:p>
          <a:p>
            <a:r>
              <a:rPr lang="en-AU" dirty="0"/>
              <a:t>Questions completed</a:t>
            </a:r>
          </a:p>
          <a:p>
            <a:r>
              <a:rPr lang="en-AU" dirty="0"/>
              <a:t>Contents </a:t>
            </a:r>
            <a:r>
              <a:rPr lang="en-AU"/>
              <a:t>page filled </a:t>
            </a:r>
            <a:r>
              <a:rPr lang="en-AU" dirty="0"/>
              <a:t>in</a:t>
            </a:r>
          </a:p>
          <a:p>
            <a:r>
              <a:rPr lang="en-AU" dirty="0"/>
              <a:t>Formula page filled in</a:t>
            </a:r>
          </a:p>
          <a:p>
            <a:pPr marL="0" indent="0">
              <a:buNone/>
            </a:pP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Review your notes and write a summary answering the essential question. </a:t>
            </a:r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1711</TotalTime>
  <Words>216</Words>
  <Application>Microsoft Macintosh PowerPoint</Application>
  <PresentationFormat>On-screen Show (4:3)</PresentationFormat>
  <Paragraphs>72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My Measurement Interactive Notebook</vt:lpstr>
      <vt:lpstr>PowerPoint Presentation</vt:lpstr>
      <vt:lpstr>PowerPoint Presentation</vt:lpstr>
      <vt:lpstr>PowerPoint Presentation</vt:lpstr>
      <vt:lpstr>PowerPoint Presentation</vt:lpstr>
      <vt:lpstr>I Do</vt:lpstr>
      <vt:lpstr>We Do</vt:lpstr>
      <vt:lpstr>You Do</vt:lpstr>
      <vt:lpstr>Questions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16.0009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EVANS Clem [Baldivis Secondary College]</cp:lastModifiedBy>
  <cp:revision>91</cp:revision>
  <dcterms:created xsi:type="dcterms:W3CDTF">2014-05-14T02:58:57Z</dcterms:created>
  <dcterms:modified xsi:type="dcterms:W3CDTF">2018-02-09T00:31:52Z</dcterms:modified>
</cp:coreProperties>
</file>
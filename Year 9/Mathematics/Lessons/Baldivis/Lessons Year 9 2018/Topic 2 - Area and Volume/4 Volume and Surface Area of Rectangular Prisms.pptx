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37" r:id="rId5"/>
    <p:sldId id="341" r:id="rId6"/>
    <p:sldId id="342" r:id="rId7"/>
    <p:sldId id="343" r:id="rId8"/>
    <p:sldId id="344" r:id="rId9"/>
    <p:sldId id="335" r:id="rId10"/>
    <p:sldId id="336" r:id="rId11"/>
    <p:sldId id="345" r:id="rId12"/>
    <p:sldId id="327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5" autoAdjust="0"/>
    <p:restoredTop sz="95673" autoAdjust="0"/>
  </p:normalViewPr>
  <p:slideViewPr>
    <p:cSldViewPr>
      <p:cViewPr varScale="1">
        <p:scale>
          <a:sx n="103" d="100"/>
          <a:sy n="103" d="100"/>
        </p:scale>
        <p:origin x="13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13/2/18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13/2/18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and surface area of a prism?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51626" y="1496274"/>
            <a:ext cx="58474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To find the volume of a prism, find the area of the base and</a:t>
            </a:r>
          </a:p>
          <a:p>
            <a:r>
              <a:rPr lang="en-AU" b="1" dirty="0"/>
              <a:t>Multiply it by the height or length of the prism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7189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Volume and Surface Area of Rectangular Prisms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07860" y="1496274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rectangular prism?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D9BA1-135D-3348-9C22-4CADFBC1C4FD}"/>
              </a:ext>
            </a:extLst>
          </p:cNvPr>
          <p:cNvSpPr txBox="1"/>
          <p:nvPr/>
        </p:nvSpPr>
        <p:spPr>
          <a:xfrm>
            <a:off x="2915816" y="248093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Volume = height x width x depth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3D38C6-A22D-D941-9A04-CE542FF8F0D9}"/>
              </a:ext>
            </a:extLst>
          </p:cNvPr>
          <p:cNvSpPr txBox="1"/>
          <p:nvPr/>
        </p:nvSpPr>
        <p:spPr>
          <a:xfrm>
            <a:off x="0" y="3429000"/>
            <a:ext cx="2418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surface area of a rectangular prism?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 of a rectangle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Area of a rectangle = length x width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2852936"/>
            <a:ext cx="3456384" cy="2232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88032" y="3717032"/>
            <a:ext cx="11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44" y="5085184"/>
            <a:ext cx="11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8104" y="2852936"/>
            <a:ext cx="29523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= 4 x 12</a:t>
            </a:r>
          </a:p>
          <a:p>
            <a:endParaRPr lang="en-GB" sz="3200" dirty="0"/>
          </a:p>
          <a:p>
            <a:r>
              <a:rPr lang="en-GB" sz="3200" dirty="0"/>
              <a:t>Area = 48cm</a:t>
            </a:r>
            <a:r>
              <a:rPr lang="en-GB" sz="32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1954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Cuboids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cuboid is a 3-dimensional shape made up of rectangles and/or squares</a:t>
            </a:r>
          </a:p>
        </p:txBody>
      </p:sp>
      <p:sp>
        <p:nvSpPr>
          <p:cNvPr id="4" name="Cube 3"/>
          <p:cNvSpPr/>
          <p:nvPr/>
        </p:nvSpPr>
        <p:spPr>
          <a:xfrm>
            <a:off x="971600" y="3212976"/>
            <a:ext cx="1872208" cy="2304256"/>
          </a:xfrm>
          <a:prstGeom prst="cube">
            <a:avLst>
              <a:gd name="adj" fmla="val 568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851920" y="3212976"/>
            <a:ext cx="489654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sz="3200" dirty="0"/>
              <a:t>It has 6 </a:t>
            </a:r>
            <a:r>
              <a:rPr lang="en-GB" sz="3200" u="sng" dirty="0">
                <a:solidFill>
                  <a:srgbClr val="FF0000"/>
                </a:solidFill>
              </a:rPr>
              <a:t>faces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3200" u="sng" dirty="0">
              <a:solidFill>
                <a:srgbClr val="FF0000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GB" sz="3200" dirty="0"/>
              <a:t>There are three pairs of identical faces</a:t>
            </a:r>
          </a:p>
        </p:txBody>
      </p:sp>
    </p:spTree>
    <p:extLst>
      <p:ext uri="{BB962C8B-B14F-4D97-AF65-F5344CB8AC3E}">
        <p14:creationId xmlns:p14="http://schemas.microsoft.com/office/powerpoint/2010/main" val="170351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076056" y="2708920"/>
            <a:ext cx="367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S.A of A = 6 x 12</a:t>
            </a:r>
          </a:p>
          <a:p>
            <a:r>
              <a:rPr lang="en-GB" sz="2400" dirty="0"/>
              <a:t>S.A of A = 72cm</a:t>
            </a:r>
            <a:r>
              <a:rPr lang="en-GB" sz="2400" baseline="30000" dirty="0"/>
              <a:t>2</a:t>
            </a:r>
          </a:p>
          <a:p>
            <a:endParaRPr lang="en-GB" sz="2400" dirty="0"/>
          </a:p>
          <a:p>
            <a:r>
              <a:rPr lang="en-GB" sz="2400" dirty="0"/>
              <a:t>There are two faces with the same area as A, so multiply your answer by 2</a:t>
            </a:r>
          </a:p>
          <a:p>
            <a:endParaRPr lang="en-GB" sz="2400" dirty="0"/>
          </a:p>
          <a:p>
            <a:r>
              <a:rPr lang="en-GB" sz="2400" dirty="0"/>
              <a:t>2 x 72 = 144cm</a:t>
            </a:r>
            <a:r>
              <a:rPr lang="en-GB" sz="2400" baseline="30000" dirty="0"/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find the surface area, find the area of the three different faces</a:t>
            </a:r>
          </a:p>
        </p:txBody>
      </p:sp>
      <p:sp>
        <p:nvSpPr>
          <p:cNvPr id="4" name="Cube 3"/>
          <p:cNvSpPr/>
          <p:nvPr/>
        </p:nvSpPr>
        <p:spPr>
          <a:xfrm>
            <a:off x="827584" y="3068960"/>
            <a:ext cx="3672408" cy="2448272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907704" y="551723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516" y="430077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9952" y="511401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7565" y="3729022"/>
            <a:ext cx="1080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912" y="3501008"/>
            <a:ext cx="1080120" cy="1446550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8800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2008458" y="258726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rgbClr val="7030A0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6056" y="2708920"/>
            <a:ext cx="367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S.A of B = 5 x 6</a:t>
            </a:r>
          </a:p>
          <a:p>
            <a:r>
              <a:rPr lang="en-GB" sz="2400" dirty="0"/>
              <a:t>S.A of B = 30cm</a:t>
            </a:r>
            <a:r>
              <a:rPr lang="en-GB" sz="2400" baseline="30000" dirty="0"/>
              <a:t>2</a:t>
            </a:r>
          </a:p>
          <a:p>
            <a:endParaRPr lang="en-GB" sz="2400" dirty="0"/>
          </a:p>
          <a:p>
            <a:r>
              <a:rPr lang="en-GB" sz="2400" dirty="0"/>
              <a:t>There are two faces with the same area as B, so multiply your answer by 2</a:t>
            </a:r>
          </a:p>
          <a:p>
            <a:endParaRPr lang="en-GB" sz="2400" dirty="0"/>
          </a:p>
          <a:p>
            <a:r>
              <a:rPr lang="en-GB" sz="2400" dirty="0"/>
              <a:t>2 x 30 = 60cm</a:t>
            </a:r>
            <a:r>
              <a:rPr lang="en-GB" sz="2400" baseline="30000"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6056" y="2708920"/>
            <a:ext cx="367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S.A of C = 5 x 12</a:t>
            </a:r>
          </a:p>
          <a:p>
            <a:r>
              <a:rPr lang="en-GB" sz="2400" dirty="0"/>
              <a:t>S.A of C = 60cm</a:t>
            </a:r>
            <a:r>
              <a:rPr lang="en-GB" sz="2400" baseline="30000" dirty="0"/>
              <a:t>2</a:t>
            </a:r>
          </a:p>
          <a:p>
            <a:endParaRPr lang="en-GB" sz="2400" dirty="0"/>
          </a:p>
          <a:p>
            <a:r>
              <a:rPr lang="en-GB" sz="2400" dirty="0"/>
              <a:t>There are two faces with the same area as C, so multiply your answer by 2</a:t>
            </a:r>
          </a:p>
          <a:p>
            <a:endParaRPr lang="en-GB" sz="2400" dirty="0"/>
          </a:p>
          <a:p>
            <a:r>
              <a:rPr lang="en-GB" sz="2400" dirty="0"/>
              <a:t>2 x 60 = 120cm</a:t>
            </a:r>
            <a:r>
              <a:rPr lang="en-GB" sz="2400" baseline="300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4199" y="2612085"/>
            <a:ext cx="5554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Total Surface Area = 144 + 60 + 120</a:t>
            </a:r>
          </a:p>
          <a:p>
            <a:r>
              <a:rPr lang="en-GB" sz="2400" baseline="30000" dirty="0"/>
              <a:t>		</a:t>
            </a:r>
            <a:r>
              <a:rPr lang="en-GB" sz="2400" dirty="0"/>
              <a:t>       = 324cm</a:t>
            </a:r>
            <a:r>
              <a:rPr lang="en-GB" sz="24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773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allAtOnce"/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2" grpId="0" build="allAtOnce"/>
      <p:bldP spid="13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</a:t>
            </a:r>
          </a:p>
        </p:txBody>
      </p:sp>
      <p:sp>
        <p:nvSpPr>
          <p:cNvPr id="6" name="Cube 5"/>
          <p:cNvSpPr/>
          <p:nvPr/>
        </p:nvSpPr>
        <p:spPr>
          <a:xfrm>
            <a:off x="899592" y="2060848"/>
            <a:ext cx="4320480" cy="3312368"/>
          </a:xfrm>
          <a:prstGeom prst="cube">
            <a:avLst>
              <a:gd name="adj" fmla="val 56370"/>
            </a:avLst>
          </a:prstGeom>
          <a:solidFill>
            <a:srgbClr val="42BDC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763688" y="537321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632" y="2610499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1904" y="249289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</p:spTree>
    <p:extLst>
      <p:ext uri="{BB962C8B-B14F-4D97-AF65-F5344CB8AC3E}">
        <p14:creationId xmlns:p14="http://schemas.microsoft.com/office/powerpoint/2010/main" val="123301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2990"/>
            <a:ext cx="8229600" cy="1143000"/>
          </a:xfrm>
        </p:spPr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A7BAC778-AEC3-144F-BCED-F55F1F743C26}"/>
              </a:ext>
            </a:extLst>
          </p:cNvPr>
          <p:cNvSpPr/>
          <p:nvPr/>
        </p:nvSpPr>
        <p:spPr>
          <a:xfrm>
            <a:off x="935596" y="2852936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71066-F8C6-6647-B90A-F7F34F2BE1D7}"/>
              </a:ext>
            </a:extLst>
          </p:cNvPr>
          <p:cNvSpPr txBox="1"/>
          <p:nvPr/>
        </p:nvSpPr>
        <p:spPr>
          <a:xfrm>
            <a:off x="395536" y="32083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66836-F58E-864B-B7A2-284070A94DCD}"/>
              </a:ext>
            </a:extLst>
          </p:cNvPr>
          <p:cNvSpPr txBox="1"/>
          <p:nvPr/>
        </p:nvSpPr>
        <p:spPr>
          <a:xfrm>
            <a:off x="1583668" y="393305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FBB5-C2C0-8D4A-9F20-F9F88C0729FC}"/>
              </a:ext>
            </a:extLst>
          </p:cNvPr>
          <p:cNvSpPr txBox="1"/>
          <p:nvPr/>
        </p:nvSpPr>
        <p:spPr>
          <a:xfrm>
            <a:off x="2986336" y="37161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06026B5E-0077-A945-95CD-2917B4256C2B}"/>
              </a:ext>
            </a:extLst>
          </p:cNvPr>
          <p:cNvSpPr/>
          <p:nvPr/>
        </p:nvSpPr>
        <p:spPr>
          <a:xfrm>
            <a:off x="4391980" y="2420888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08E73-0A72-3742-8E92-7AC0AE35A0B0}"/>
              </a:ext>
            </a:extLst>
          </p:cNvPr>
          <p:cNvSpPr txBox="1"/>
          <p:nvPr/>
        </p:nvSpPr>
        <p:spPr>
          <a:xfrm>
            <a:off x="4826585" y="210369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4BD04-F0CC-E349-AA82-F2D296363D44}"/>
              </a:ext>
            </a:extLst>
          </p:cNvPr>
          <p:cNvSpPr txBox="1"/>
          <p:nvPr/>
        </p:nvSpPr>
        <p:spPr>
          <a:xfrm>
            <a:off x="5544108" y="30236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080BE-B3D0-D942-8A61-EC549E9DD904}"/>
              </a:ext>
            </a:extLst>
          </p:cNvPr>
          <p:cNvSpPr txBox="1"/>
          <p:nvPr/>
        </p:nvSpPr>
        <p:spPr>
          <a:xfrm>
            <a:off x="5328084" y="39007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6m</a:t>
            </a:r>
          </a:p>
        </p:txBody>
      </p:sp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Calculate the surface area of the following cuboids</a:t>
            </a:r>
          </a:p>
        </p:txBody>
      </p:sp>
      <p:sp>
        <p:nvSpPr>
          <p:cNvPr id="4" name="Cube 3"/>
          <p:cNvSpPr/>
          <p:nvPr/>
        </p:nvSpPr>
        <p:spPr>
          <a:xfrm>
            <a:off x="397380" y="3031967"/>
            <a:ext cx="1728192" cy="28803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757420" y="5912287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4cm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7540" y="561496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5572" y="417480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15cm</a:t>
            </a:r>
          </a:p>
        </p:txBody>
      </p:sp>
      <p:sp>
        <p:nvSpPr>
          <p:cNvPr id="8" name="Cube 7"/>
          <p:cNvSpPr/>
          <p:nvPr/>
        </p:nvSpPr>
        <p:spPr>
          <a:xfrm>
            <a:off x="3565732" y="2887043"/>
            <a:ext cx="1728192" cy="2880320"/>
          </a:xfrm>
          <a:prstGeom prst="cube">
            <a:avLst>
              <a:gd name="adj" fmla="val 74704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3493724" y="576736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5688" y="5100707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10cm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9668" y="4750867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8cm</a:t>
            </a:r>
          </a:p>
        </p:txBody>
      </p:sp>
      <p:sp>
        <p:nvSpPr>
          <p:cNvPr id="12" name="Cube 11"/>
          <p:cNvSpPr/>
          <p:nvPr/>
        </p:nvSpPr>
        <p:spPr>
          <a:xfrm>
            <a:off x="6084168" y="2887043"/>
            <a:ext cx="2952328" cy="2880320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7020272" y="576736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712" y="5398031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2120" y="435946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388" y="4327203"/>
            <a:ext cx="1150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234cm</a:t>
            </a:r>
            <a:r>
              <a:rPr lang="en-GB" sz="2400" baseline="30000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36" y="3913892"/>
            <a:ext cx="1586020" cy="523220"/>
          </a:xfrm>
          <a:prstGeom prst="rect">
            <a:avLst/>
          </a:prstGeom>
          <a:noFill/>
          <a:scene3d>
            <a:camera prst="orthographicFront">
              <a:rot lat="0" lon="0" rev="240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2800" dirty="0"/>
              <a:t>196cm</a:t>
            </a:r>
            <a:r>
              <a:rPr lang="en-GB" sz="2800" baseline="30000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8195" y="4313302"/>
            <a:ext cx="1150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294cm</a:t>
            </a:r>
            <a:r>
              <a:rPr lang="en-GB" sz="24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06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9E83A-ED25-8343-BD79-5313FE2A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" y="438150"/>
            <a:ext cx="76454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389</Words>
  <Application>Microsoft Macintosh PowerPoint</Application>
  <PresentationFormat>On-screen Show (4:3)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Area of a rectangle</vt:lpstr>
      <vt:lpstr>Cuboids</vt:lpstr>
      <vt:lpstr>Surface Area</vt:lpstr>
      <vt:lpstr>Surface Area</vt:lpstr>
      <vt:lpstr>I Do</vt:lpstr>
      <vt:lpstr>We Do</vt:lpstr>
      <vt:lpstr>You Do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99</cp:revision>
  <dcterms:created xsi:type="dcterms:W3CDTF">2014-05-14T02:58:57Z</dcterms:created>
  <dcterms:modified xsi:type="dcterms:W3CDTF">2018-02-13T00:11:14Z</dcterms:modified>
</cp:coreProperties>
</file>
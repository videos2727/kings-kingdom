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63FD3-6271-4B2C-800F-5BB8AFE3410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6747C-3A81-4C8A-9E0A-298945C46B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65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660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2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6747C-3A81-4C8A-9E0A-298945C46BB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22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40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REPEAT with left hand choose maybe an even number  = 14 students?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6747C-3A81-4C8A-9E0A-298945C46BB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087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26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766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13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6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74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76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52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411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2424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7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533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43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E6597C-468B-4404-A08B-5BF3241A984B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49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F24B-9CCD-4758-A74A-5CF09949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5963" y="4227518"/>
            <a:ext cx="5784923" cy="1546400"/>
          </a:xfrm>
        </p:spPr>
        <p:txBody>
          <a:bodyPr>
            <a:noAutofit/>
          </a:bodyPr>
          <a:lstStyle/>
          <a:p>
            <a:pPr algn="l"/>
            <a:r>
              <a:rPr lang="en-AU" sz="4400" dirty="0"/>
              <a:t>INTERACTIVE </a:t>
            </a:r>
            <a:br>
              <a:rPr lang="en-AU" sz="4400" dirty="0"/>
            </a:br>
            <a:r>
              <a:rPr lang="en-AU" sz="4400" dirty="0"/>
              <a:t>NOTBOOK</a:t>
            </a:r>
            <a:br>
              <a:rPr lang="en-AU" sz="4400" dirty="0"/>
            </a:br>
            <a:br>
              <a:rPr lang="en-AU" sz="4400" dirty="0"/>
            </a:br>
            <a:r>
              <a:rPr lang="en-AU" sz="4400" dirty="0"/>
              <a:t>topic: </a:t>
            </a:r>
            <a:r>
              <a:rPr lang="en-AU" sz="4400" b="1" dirty="0"/>
              <a:t>STATISTICS</a:t>
            </a:r>
            <a:br>
              <a:rPr lang="en-AU" sz="4400" b="1" dirty="0"/>
            </a:br>
            <a:r>
              <a:rPr lang="en-AU" sz="4000" dirty="0"/>
              <a:t>class:</a:t>
            </a:r>
            <a:br>
              <a:rPr lang="en-AU" sz="4000" dirty="0"/>
            </a:br>
            <a:r>
              <a:rPr lang="en-AU" sz="4000" dirty="0"/>
              <a:t>teacher:</a:t>
            </a:r>
            <a:br>
              <a:rPr lang="en-AU" sz="4000" dirty="0"/>
            </a:br>
            <a:r>
              <a:rPr lang="en-AU" sz="4000" dirty="0"/>
              <a:t>Semester 2, Term 3</a:t>
            </a:r>
            <a:br>
              <a:rPr lang="en-AU" sz="4400" b="1" dirty="0"/>
            </a:br>
            <a:endParaRPr lang="en-AU" sz="4400" b="1" dirty="0"/>
          </a:p>
        </p:txBody>
      </p:sp>
      <p:pic>
        <p:nvPicPr>
          <p:cNvPr id="3074" name="Picture 2" descr="happy a plus GIF by Papa Johnâs ">
            <a:extLst>
              <a:ext uri="{FF2B5EF4-FFF2-40B4-BE49-F238E27FC236}">
                <a16:creationId xmlns:a16="http://schemas.microsoft.com/office/drawing/2014/main" id="{FBCBDC30-B5ED-494D-8253-F1A4077822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6" y="238537"/>
            <a:ext cx="2415209" cy="241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07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45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A4492-5E01-40EA-AA39-3D3B271E55BB}"/>
              </a:ext>
            </a:extLst>
          </p:cNvPr>
          <p:cNvSpPr/>
          <p:nvPr/>
        </p:nvSpPr>
        <p:spPr>
          <a:xfrm>
            <a:off x="4474796" y="180623"/>
            <a:ext cx="2718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  <a:endParaRPr lang="en-AU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C76A9-007D-473E-A40B-F6B491B883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869"/>
          <a:stretch/>
        </p:blipFill>
        <p:spPr>
          <a:xfrm>
            <a:off x="308830" y="1618020"/>
            <a:ext cx="11596942" cy="3381363"/>
          </a:xfrm>
          <a:prstGeom prst="rect">
            <a:avLst/>
          </a:prstGeom>
        </p:spPr>
      </p:pic>
      <p:pic>
        <p:nvPicPr>
          <p:cNvPr id="1026" name="Picture 2" descr="happy brad pitt GIF">
            <a:extLst>
              <a:ext uri="{FF2B5EF4-FFF2-40B4-BE49-F238E27FC236}">
                <a16:creationId xmlns:a16="http://schemas.microsoft.com/office/drawing/2014/main" id="{F94110E3-5A54-4163-90FC-96CCD0392E0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100" y="4836216"/>
            <a:ext cx="2214769" cy="185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03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B68FB-8CA3-4B94-8E94-C662AED48A44}"/>
              </a:ext>
            </a:extLst>
          </p:cNvPr>
          <p:cNvSpPr/>
          <p:nvPr/>
        </p:nvSpPr>
        <p:spPr>
          <a:xfrm>
            <a:off x="384042" y="356109"/>
            <a:ext cx="3335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Activity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2F99C-3F6F-4011-8990-7E654C081C8E}"/>
              </a:ext>
            </a:extLst>
          </p:cNvPr>
          <p:cNvSpPr txBox="1"/>
          <p:nvPr/>
        </p:nvSpPr>
        <p:spPr>
          <a:xfrm>
            <a:off x="3176833" y="1055802"/>
            <a:ext cx="8644379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 VOLUNTEERS  to stand at the front of the room</a:t>
            </a:r>
          </a:p>
          <a:p>
            <a:r>
              <a:rPr lang="en-AU" sz="2400" dirty="0"/>
              <a:t>(each volunteer to write a number between 1 – 30 on a post it note)</a:t>
            </a:r>
          </a:p>
          <a:p>
            <a:endParaRPr lang="en-AU" sz="2400" dirty="0"/>
          </a:p>
          <a:p>
            <a:r>
              <a:rPr lang="en-AU" sz="2400" dirty="0"/>
              <a:t>2)    Volunteers stand from smallest number to largest.</a:t>
            </a:r>
          </a:p>
          <a:p>
            <a:endParaRPr lang="en-AU" sz="2400" dirty="0"/>
          </a:p>
          <a:p>
            <a:pPr marL="457200" indent="-457200">
              <a:buAutoNum type="arabicParenR" startAt="3"/>
            </a:pPr>
            <a:r>
              <a:rPr lang="en-AU" sz="2400" dirty="0"/>
              <a:t>Class – how would I work out the mean?</a:t>
            </a:r>
          </a:p>
          <a:p>
            <a:endParaRPr lang="en-AU" sz="2400" dirty="0"/>
          </a:p>
          <a:p>
            <a:pPr marL="457200" indent="-457200">
              <a:buAutoNum type="arabicParenR" startAt="4"/>
            </a:pPr>
            <a:r>
              <a:rPr lang="en-AU" sz="2400" dirty="0"/>
              <a:t>How would I work out the median? </a:t>
            </a:r>
          </a:p>
          <a:p>
            <a:pPr marL="457200" indent="-457200">
              <a:buAutoNum type="arabicParenR" startAt="4"/>
            </a:pPr>
            <a:endParaRPr lang="en-AU" sz="2400" dirty="0"/>
          </a:p>
          <a:p>
            <a:pPr marL="457200" indent="-457200">
              <a:buAutoNum type="arabicParenR" startAt="4"/>
            </a:pPr>
            <a:r>
              <a:rPr lang="en-AU" sz="2400" dirty="0"/>
              <a:t>Class – How would I work out the range?</a:t>
            </a:r>
          </a:p>
          <a:p>
            <a:pPr marL="457200" indent="-457200">
              <a:buAutoNum type="arabicParenR" startAt="4"/>
            </a:pPr>
            <a:endParaRPr lang="en-AU" sz="2400" dirty="0"/>
          </a:p>
          <a:p>
            <a:pPr marL="457200" indent="-457200">
              <a:buAutoNum type="arabicParenR" startAt="4"/>
            </a:pPr>
            <a:r>
              <a:rPr lang="en-AU" sz="2400" dirty="0"/>
              <a:t>Class – Are there any outliers? </a:t>
            </a:r>
          </a:p>
          <a:p>
            <a:pPr marL="457200" indent="-457200">
              <a:buAutoNum type="arabicParenR" startAt="4"/>
            </a:pPr>
            <a:endParaRPr lang="en-AU" sz="2400" dirty="0"/>
          </a:p>
          <a:p>
            <a:pPr marL="457200" indent="-457200">
              <a:buAutoNum type="arabicParenR" startAt="4"/>
            </a:pPr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800" dirty="0"/>
          </a:p>
          <a:p>
            <a:endParaRPr lang="en-AU" sz="2800" dirty="0"/>
          </a:p>
        </p:txBody>
      </p:sp>
      <p:pic>
        <p:nvPicPr>
          <p:cNvPr id="2050" name="Picture 2" descr="tribute i volunteer GIF">
            <a:extLst>
              <a:ext uri="{FF2B5EF4-FFF2-40B4-BE49-F238E27FC236}">
                <a16:creationId xmlns:a16="http://schemas.microsoft.com/office/drawing/2014/main" id="{EC8BB3B4-1B55-4223-9506-4517B914B7F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39" y="4869283"/>
            <a:ext cx="4267473" cy="177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27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3637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45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000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8743B3-D9F4-42D2-B164-A78CAED403EA}"/>
                  </a:ext>
                </a:extLst>
              </p:cNvPr>
              <p:cNvSpPr txBox="1"/>
              <p:nvPr/>
            </p:nvSpPr>
            <p:spPr>
              <a:xfrm>
                <a:off x="2335695" y="1602135"/>
                <a:ext cx="9124121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Mean, median, mode help define the centre of a data set.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The </a:t>
                </a:r>
                <a:r>
                  <a:rPr lang="en-AU" sz="2400" b="1" dirty="0"/>
                  <a:t>spread</a:t>
                </a:r>
                <a:r>
                  <a:rPr lang="en-AU" sz="2400" dirty="0"/>
                  <a:t> or </a:t>
                </a:r>
                <a:r>
                  <a:rPr lang="en-AU" sz="2400" b="1" dirty="0"/>
                  <a:t>dispersion </a:t>
                </a:r>
                <a:r>
                  <a:rPr lang="en-AU" sz="2400" dirty="0"/>
                  <a:t>is used to describe how wide a data set is.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We can use a </a:t>
                </a:r>
                <a:r>
                  <a:rPr lang="en-AU" sz="2800" b="1" dirty="0"/>
                  <a:t>5-POINT summary </a:t>
                </a:r>
                <a:r>
                  <a:rPr lang="en-AU" sz="2400" dirty="0"/>
                  <a:t>to help measure the spread of data</a:t>
                </a:r>
              </a:p>
              <a:p>
                <a:endParaRPr lang="en-AU" sz="2400" dirty="0"/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Lowest score</a:t>
                </a:r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Lower quartile (Q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i="1" dirty="0">
                  <a:latin typeface="Cambria Math" panose="02040503050406030204" pitchFamily="18" charset="0"/>
                </a:endParaRPr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:r>
                  <a:rPr lang="en-AU" sz="2400" dirty="0">
                    <a:latin typeface="Cambria Math" panose="02040503050406030204" pitchFamily="18" charset="0"/>
                  </a:rPr>
                  <a:t>Median (Q₂)</a:t>
                </a:r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Upper quartile (Q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lang="en-AU" sz="2400" dirty="0"/>
                  <a:t>)</a:t>
                </a:r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Highest score </a:t>
                </a:r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8743B3-D9F4-42D2-B164-A78CAED40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695" y="1602135"/>
                <a:ext cx="9124121" cy="5693866"/>
              </a:xfrm>
              <a:prstGeom prst="rect">
                <a:avLst/>
              </a:prstGeom>
              <a:blipFill>
                <a:blip r:embed="rId3"/>
                <a:stretch>
                  <a:fillRect l="-1002" t="-857" b="-14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C40F4F1-5F73-493B-81E2-7D70C7EABD9C}"/>
              </a:ext>
            </a:extLst>
          </p:cNvPr>
          <p:cNvSpPr txBox="1"/>
          <p:nvPr/>
        </p:nvSpPr>
        <p:spPr>
          <a:xfrm>
            <a:off x="8408504" y="3959061"/>
            <a:ext cx="2898358" cy="584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dirty="0"/>
              <a:t>Range = HS – LS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2CA98C-554F-4A1E-9381-FD4235673B2D}"/>
                  </a:ext>
                </a:extLst>
              </p:cNvPr>
              <p:cNvSpPr txBox="1"/>
              <p:nvPr/>
            </p:nvSpPr>
            <p:spPr>
              <a:xfrm>
                <a:off x="8630424" y="4844997"/>
                <a:ext cx="2454518" cy="861774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sz="3200" dirty="0"/>
                  <a:t>IQR = Q</a:t>
                </a:r>
                <a14:m>
                  <m:oMath xmlns:m="http://schemas.openxmlformats.org/officeDocument/2006/math">
                    <m:r>
                      <a:rPr lang="en-AU" sz="3200" i="1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lang="en-AU" sz="3200" dirty="0"/>
                  <a:t> – Q</a:t>
                </a:r>
                <a14:m>
                  <m:oMath xmlns:m="http://schemas.openxmlformats.org/officeDocument/2006/math">
                    <m:r>
                      <a:rPr lang="en-AU" sz="3200" i="1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endParaRPr lang="en-AU" sz="3200" dirty="0"/>
              </a:p>
              <a:p>
                <a:r>
                  <a:rPr lang="en-AU" dirty="0"/>
                  <a:t>Interquartile range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2CA98C-554F-4A1E-9381-FD423567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424" y="4844997"/>
                <a:ext cx="2454518" cy="861774"/>
              </a:xfrm>
              <a:prstGeom prst="rect">
                <a:avLst/>
              </a:prstGeom>
              <a:blipFill>
                <a:blip r:embed="rId4"/>
                <a:stretch>
                  <a:fillRect l="-5637" t="-6122" b="-8163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59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5EE3C4-F7BC-4BFB-B7DB-497E168601B3}"/>
              </a:ext>
            </a:extLst>
          </p:cNvPr>
          <p:cNvSpPr/>
          <p:nvPr/>
        </p:nvSpPr>
        <p:spPr>
          <a:xfrm>
            <a:off x="384042" y="356109"/>
            <a:ext cx="3335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Activity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4C7187-7BCA-4254-B9BC-F6E5DF4B826E}"/>
                  </a:ext>
                </a:extLst>
              </p:cNvPr>
              <p:cNvSpPr txBox="1"/>
              <p:nvPr/>
            </p:nvSpPr>
            <p:spPr>
              <a:xfrm>
                <a:off x="3719763" y="556591"/>
                <a:ext cx="8077985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/>
                  <a:t>You will have 30 seconds to draw as many ‘X’ on your page as possible using your DOMINANT HAND.</a:t>
                </a:r>
              </a:p>
              <a:p>
                <a:endParaRPr lang="en-AU" sz="3600" dirty="0"/>
              </a:p>
              <a:p>
                <a:r>
                  <a:rPr lang="en-AU" sz="2400" dirty="0"/>
                  <a:t>choose 11 students to write their answers on a post it note – stand at the front (ordered)</a:t>
                </a:r>
              </a:p>
              <a:p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Go through how to work out the 5-point summary</a:t>
                </a:r>
              </a:p>
              <a:p>
                <a:pPr marL="2628900" lvl="5" indent="-342900">
                  <a:buFont typeface="Wingdings" panose="05000000000000000000" pitchFamily="2" charset="2"/>
                  <a:buChar char="§"/>
                </a:pPr>
                <a:r>
                  <a:rPr lang="en-AU" sz="2000" dirty="0"/>
                  <a:t>Lowest score</a:t>
                </a:r>
              </a:p>
              <a:p>
                <a:pPr marL="2628900" lvl="5" indent="-342900">
                  <a:buFont typeface="Wingdings" panose="05000000000000000000" pitchFamily="2" charset="2"/>
                  <a:buChar char="§"/>
                </a:pPr>
                <a:r>
                  <a:rPr lang="en-AU" sz="2000" dirty="0"/>
                  <a:t>Lower quartile (Q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i="1" dirty="0">
                  <a:latin typeface="Cambria Math" panose="02040503050406030204" pitchFamily="18" charset="0"/>
                </a:endParaRPr>
              </a:p>
              <a:p>
                <a:pPr marL="2628900" lvl="5" indent="-342900">
                  <a:buFont typeface="Wingdings" panose="05000000000000000000" pitchFamily="2" charset="2"/>
                  <a:buChar char="§"/>
                </a:pPr>
                <a:r>
                  <a:rPr lang="en-AU" sz="2000" dirty="0">
                    <a:latin typeface="Cambria Math" panose="02040503050406030204" pitchFamily="18" charset="0"/>
                  </a:rPr>
                  <a:t>Median </a:t>
                </a:r>
              </a:p>
              <a:p>
                <a:pPr marL="2628900" lvl="5" indent="-342900">
                  <a:buFont typeface="Wingdings" panose="05000000000000000000" pitchFamily="2" charset="2"/>
                  <a:buChar char="§"/>
                </a:pPr>
                <a:r>
                  <a:rPr lang="en-AU" sz="2000" dirty="0"/>
                  <a:t>Upper quartile (Q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sz="2000" i="1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endParaRPr lang="en-AU" sz="2000" dirty="0"/>
              </a:p>
              <a:p>
                <a:pPr marL="2628900" lvl="5" indent="-342900">
                  <a:buFont typeface="Wingdings" panose="05000000000000000000" pitchFamily="2" charset="2"/>
                  <a:buChar char="§"/>
                </a:pPr>
                <a:r>
                  <a:rPr lang="en-AU" sz="2000" dirty="0"/>
                  <a:t>Highest score</a:t>
                </a:r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4C7187-7BCA-4254-B9BC-F6E5DF4B8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63" y="556591"/>
                <a:ext cx="8077985" cy="5878532"/>
              </a:xfrm>
              <a:prstGeom prst="rect">
                <a:avLst/>
              </a:prstGeom>
              <a:blipFill>
                <a:blip r:embed="rId3"/>
                <a:stretch>
                  <a:fillRect l="-1887" t="-1347" r="-28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78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45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99C1F3-F94D-4A48-BB61-1E652B56EABE}"/>
              </a:ext>
            </a:extLst>
          </p:cNvPr>
          <p:cNvSpPr txBox="1"/>
          <p:nvPr/>
        </p:nvSpPr>
        <p:spPr>
          <a:xfrm>
            <a:off x="2186609" y="1298662"/>
            <a:ext cx="108137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pPr algn="ctr"/>
            <a:r>
              <a:rPr lang="en-AU" sz="3200" dirty="0"/>
              <a:t>  4 , 5 , 6,  6,  7,  8,  9 , 10 , 10 , 11, 15, 18 , 20</a:t>
            </a:r>
          </a:p>
          <a:p>
            <a:pPr algn="ctr"/>
            <a:endParaRPr lang="en-AU" sz="3200" dirty="0"/>
          </a:p>
          <a:p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D8E1FB9-5DF0-409B-AF31-560C1ADE1CC6}"/>
                  </a:ext>
                </a:extLst>
              </p:cNvPr>
              <p:cNvSpPr/>
              <p:nvPr/>
            </p:nvSpPr>
            <p:spPr>
              <a:xfrm>
                <a:off x="2009835" y="2562639"/>
                <a:ext cx="6096000" cy="411311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sz="2800" b="1" dirty="0"/>
                  <a:t>5-POINT summary</a:t>
                </a:r>
                <a:endParaRPr lang="en-AU" sz="2400" dirty="0"/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Lowest score</a:t>
                </a: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Lower quartile (Q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i="1" dirty="0">
                  <a:latin typeface="Cambria Math" panose="02040503050406030204" pitchFamily="18" charset="0"/>
                </a:endParaRP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AU" sz="2400" dirty="0">
                    <a:latin typeface="Cambria Math" panose="02040503050406030204" pitchFamily="18" charset="0"/>
                  </a:rPr>
                  <a:t>Median (Q₂)</a:t>
                </a: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Upper quartile (Q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lang="en-AU" sz="2400" dirty="0"/>
                  <a:t>)</a:t>
                </a:r>
              </a:p>
              <a:p>
                <a:pPr marL="1257300" lvl="2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AU" sz="2400" dirty="0"/>
                  <a:t>Highest score 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D8E1FB9-5DF0-409B-AF31-560C1ADE1C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835" y="2562639"/>
                <a:ext cx="6096000" cy="4113114"/>
              </a:xfrm>
              <a:prstGeom prst="rect">
                <a:avLst/>
              </a:prstGeom>
              <a:blipFill>
                <a:blip r:embed="rId3"/>
                <a:stretch>
                  <a:fillRect l="-2100" t="-1333" b="-23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D445DE2-6092-49D6-877D-23B9D815E7D5}"/>
              </a:ext>
            </a:extLst>
          </p:cNvPr>
          <p:cNvSpPr/>
          <p:nvPr/>
        </p:nvSpPr>
        <p:spPr>
          <a:xfrm>
            <a:off x="3965713" y="1805519"/>
            <a:ext cx="526774" cy="554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787B21-9BBA-4472-81EB-5C4A3A691EF9}"/>
              </a:ext>
            </a:extLst>
          </p:cNvPr>
          <p:cNvSpPr/>
          <p:nvPr/>
        </p:nvSpPr>
        <p:spPr>
          <a:xfrm>
            <a:off x="10791575" y="1847869"/>
            <a:ext cx="526774" cy="554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8C1D07-B21A-49E2-B99A-D00E25C48308}"/>
              </a:ext>
            </a:extLst>
          </p:cNvPr>
          <p:cNvSpPr/>
          <p:nvPr/>
        </p:nvSpPr>
        <p:spPr>
          <a:xfrm>
            <a:off x="6949463" y="1805519"/>
            <a:ext cx="526774" cy="554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E4A079-A00D-45DA-89FD-6960A321CB95}"/>
              </a:ext>
            </a:extLst>
          </p:cNvPr>
          <p:cNvSpPr/>
          <p:nvPr/>
        </p:nvSpPr>
        <p:spPr>
          <a:xfrm>
            <a:off x="5457588" y="1866091"/>
            <a:ext cx="526774" cy="554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909AD7-915A-413A-BE93-6AF65F954AF3}"/>
              </a:ext>
            </a:extLst>
          </p:cNvPr>
          <p:cNvSpPr/>
          <p:nvPr/>
        </p:nvSpPr>
        <p:spPr>
          <a:xfrm>
            <a:off x="8870519" y="1858580"/>
            <a:ext cx="526774" cy="554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4B62DD-0FCB-4B65-B926-9BB1B88D8D7D}"/>
              </a:ext>
            </a:extLst>
          </p:cNvPr>
          <p:cNvSpPr txBox="1"/>
          <p:nvPr/>
        </p:nvSpPr>
        <p:spPr>
          <a:xfrm>
            <a:off x="8408504" y="3959061"/>
            <a:ext cx="3372846" cy="5847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dirty="0"/>
              <a:t>Range =      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79BE53-2FDC-40FD-B1BC-15EA195D9286}"/>
              </a:ext>
            </a:extLst>
          </p:cNvPr>
          <p:cNvSpPr txBox="1"/>
          <p:nvPr/>
        </p:nvSpPr>
        <p:spPr>
          <a:xfrm>
            <a:off x="8408504" y="4884753"/>
            <a:ext cx="3409908" cy="86177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AU" sz="3200" dirty="0"/>
              <a:t>IQR =                         </a:t>
            </a:r>
          </a:p>
          <a:p>
            <a:r>
              <a:rPr lang="en-AU" dirty="0"/>
              <a:t>Interquartile range </a:t>
            </a:r>
          </a:p>
        </p:txBody>
      </p:sp>
    </p:spTree>
    <p:extLst>
      <p:ext uri="{BB962C8B-B14F-4D97-AF65-F5344CB8AC3E}">
        <p14:creationId xmlns:p14="http://schemas.microsoft.com/office/powerpoint/2010/main" val="35284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FED8DD-C8DA-45FD-8E06-713960EB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54" y="1046131"/>
            <a:ext cx="11665207" cy="1097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CD1400-DED6-42B7-9F7F-8AF01CA757DB}"/>
              </a:ext>
            </a:extLst>
          </p:cNvPr>
          <p:cNvSpPr/>
          <p:nvPr/>
        </p:nvSpPr>
        <p:spPr>
          <a:xfrm>
            <a:off x="4367048" y="0"/>
            <a:ext cx="28019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turn</a:t>
            </a:r>
          </a:p>
        </p:txBody>
      </p:sp>
      <p:pic>
        <p:nvPicPr>
          <p:cNvPr id="3074" name="Picture 2" descr="you got this modern family GIF">
            <a:extLst>
              <a:ext uri="{FF2B5EF4-FFF2-40B4-BE49-F238E27FC236}">
                <a16:creationId xmlns:a16="http://schemas.microsoft.com/office/drawing/2014/main" id="{E72437B0-F024-4AEB-B614-D3707448327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780" y="2355574"/>
            <a:ext cx="3154113" cy="170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47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9B11-32F1-4AC7-AB20-52F51F55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/>
              <a:t>Task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BB783-0C7B-4C63-AD8D-5EA7B5A987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6EAE-3A4C-4E54-B362-132113860B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Essential maths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Exercise 9J (page 554)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Q1)</a:t>
            </a:r>
          </a:p>
          <a:p>
            <a:pPr marL="0" indent="0">
              <a:buNone/>
            </a:pPr>
            <a:r>
              <a:rPr lang="en-AU" dirty="0"/>
              <a:t>Q2)</a:t>
            </a:r>
          </a:p>
          <a:p>
            <a:pPr marL="0" indent="0">
              <a:buNone/>
            </a:pPr>
            <a:r>
              <a:rPr lang="en-AU" dirty="0"/>
              <a:t>Q4)</a:t>
            </a:r>
          </a:p>
          <a:p>
            <a:pPr marL="0" indent="0">
              <a:buNone/>
            </a:pPr>
            <a:r>
              <a:rPr lang="en-AU" dirty="0"/>
              <a:t>Q5)</a:t>
            </a:r>
          </a:p>
        </p:txBody>
      </p:sp>
    </p:spTree>
    <p:extLst>
      <p:ext uri="{BB962C8B-B14F-4D97-AF65-F5344CB8AC3E}">
        <p14:creationId xmlns:p14="http://schemas.microsoft.com/office/powerpoint/2010/main" val="492302313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405</Words>
  <Application>Microsoft Office PowerPoint</Application>
  <PresentationFormat>Widescreen</PresentationFormat>
  <Paragraphs>122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Schoolbook</vt:lpstr>
      <vt:lpstr>Corbel</vt:lpstr>
      <vt:lpstr>Fragment Core</vt:lpstr>
      <vt:lpstr>Wingdings</vt:lpstr>
      <vt:lpstr>Feathered</vt:lpstr>
      <vt:lpstr>INTERACTIVE  NOTBOOK  topic: STATISTICS class: teacher: Semester 2, Term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 NOTBOOK  topic: STATISTICS class: teacher: Semester 2, Term 3 </dc:title>
  <dc:creator>D'SOUZA Jillian [Baldivis Secondary College]</dc:creator>
  <cp:lastModifiedBy>Jillian D'SOUZA</cp:lastModifiedBy>
  <cp:revision>23</cp:revision>
  <dcterms:created xsi:type="dcterms:W3CDTF">2018-07-17T14:55:16Z</dcterms:created>
  <dcterms:modified xsi:type="dcterms:W3CDTF">2018-07-17T15:57:53Z</dcterms:modified>
</cp:coreProperties>
</file>
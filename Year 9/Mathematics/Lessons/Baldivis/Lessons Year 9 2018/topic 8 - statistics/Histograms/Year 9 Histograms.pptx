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31" r:id="rId2"/>
    <p:sldId id="337" r:id="rId3"/>
    <p:sldId id="344" r:id="rId4"/>
    <p:sldId id="334" r:id="rId5"/>
    <p:sldId id="336" r:id="rId6"/>
    <p:sldId id="339" r:id="rId7"/>
    <p:sldId id="338" r:id="rId8"/>
    <p:sldId id="329" r:id="rId9"/>
    <p:sldId id="330" r:id="rId10"/>
    <p:sldId id="341" r:id="rId11"/>
    <p:sldId id="343" r:id="rId12"/>
    <p:sldId id="340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89850" autoAdjust="0"/>
  </p:normalViewPr>
  <p:slideViewPr>
    <p:cSldViewPr>
      <p:cViewPr varScale="1">
        <p:scale>
          <a:sx n="103" d="100"/>
          <a:sy n="103" d="100"/>
        </p:scale>
        <p:origin x="869" y="8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56-4273-8B86-6D8ED1D23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82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4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17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3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55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 through with class piece by piece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39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23/07/2018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5" Type="http://schemas.openxmlformats.org/officeDocument/2006/relationships/hyperlink" Target="http://www.mathsisfun.com/data/standard-normal-distribution.html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2E964-2C96-4483-A97C-D2C618037D09}"/>
              </a:ext>
            </a:extLst>
          </p:cNvPr>
          <p:cNvSpPr/>
          <p:nvPr/>
        </p:nvSpPr>
        <p:spPr>
          <a:xfrm>
            <a:off x="251520" y="337220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A class of students has measured their heights.</a:t>
            </a:r>
          </a:p>
          <a:p>
            <a:endParaRPr lang="en-AU" dirty="0"/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What is the mean, mode, median and range?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FEB2E-C178-42C5-9E82-7D30E90DA214}"/>
              </a:ext>
            </a:extLst>
          </p:cNvPr>
          <p:cNvSpPr/>
          <p:nvPr/>
        </p:nvSpPr>
        <p:spPr>
          <a:xfrm>
            <a:off x="2411760" y="2785492"/>
            <a:ext cx="25471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Mean = 	  161.0740741</a:t>
            </a:r>
          </a:p>
          <a:p>
            <a:r>
              <a:rPr lang="en-AU" dirty="0"/>
              <a:t>Mode =	  156</a:t>
            </a:r>
          </a:p>
          <a:p>
            <a:r>
              <a:rPr lang="en-AU" dirty="0"/>
              <a:t>Median =   162</a:t>
            </a:r>
          </a:p>
          <a:p>
            <a:r>
              <a:rPr lang="en-AU" dirty="0"/>
              <a:t>Range = 	  35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2D2F6-35C6-4344-A97D-CBCD24DB7D96}"/>
              </a:ext>
            </a:extLst>
          </p:cNvPr>
          <p:cNvSpPr txBox="1"/>
          <p:nvPr/>
        </p:nvSpPr>
        <p:spPr>
          <a:xfrm>
            <a:off x="323528" y="430165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could we present this information diagrammatically?</a:t>
            </a:r>
          </a:p>
        </p:txBody>
      </p:sp>
    </p:spTree>
    <p:extLst>
      <p:ext uri="{BB962C8B-B14F-4D97-AF65-F5344CB8AC3E}">
        <p14:creationId xmlns:p14="http://schemas.microsoft.com/office/powerpoint/2010/main" val="32189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827584" y="193204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/>
              <a:t>Today’s lesson is about histograms. </a:t>
            </a:r>
          </a:p>
          <a:p>
            <a:r>
              <a:rPr lang="en-AU" sz="2000" dirty="0"/>
              <a:t>A histogram looks a lot like a column graph but there are a couple of key differences.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60766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490960" y="13675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2267744" y="1705372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627784" y="1705372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915816" y="1705372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3026210" y="1729930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606480" y="137251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Gaps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4435E1-E549-44F4-804F-720ED0B5807D}"/>
              </a:ext>
            </a:extLst>
          </p:cNvPr>
          <p:cNvCxnSpPr>
            <a:cxnSpLocks/>
          </p:cNvCxnSpPr>
          <p:nvPr/>
        </p:nvCxnSpPr>
        <p:spPr>
          <a:xfrm flipH="1">
            <a:off x="5146158" y="1604469"/>
            <a:ext cx="610348" cy="190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38B4E3-F41E-469B-9491-1A375A0C8C02}"/>
              </a:ext>
            </a:extLst>
          </p:cNvPr>
          <p:cNvCxnSpPr>
            <a:cxnSpLocks/>
          </p:cNvCxnSpPr>
          <p:nvPr/>
        </p:nvCxnSpPr>
        <p:spPr>
          <a:xfrm flipH="1">
            <a:off x="5515296" y="1604469"/>
            <a:ext cx="313216" cy="175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453929-9E9B-4D8E-A0BE-E7E09773BD5D}"/>
              </a:ext>
            </a:extLst>
          </p:cNvPr>
          <p:cNvCxnSpPr>
            <a:cxnSpLocks/>
          </p:cNvCxnSpPr>
          <p:nvPr/>
        </p:nvCxnSpPr>
        <p:spPr>
          <a:xfrm flipH="1">
            <a:off x="5868144" y="1604469"/>
            <a:ext cx="104384" cy="165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C82D8-FE53-473E-9505-1A33000A5EBE}"/>
              </a:ext>
            </a:extLst>
          </p:cNvPr>
          <p:cNvCxnSpPr>
            <a:cxnSpLocks/>
          </p:cNvCxnSpPr>
          <p:nvPr/>
        </p:nvCxnSpPr>
        <p:spPr>
          <a:xfrm>
            <a:off x="6082922" y="1629027"/>
            <a:ext cx="158390" cy="170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598257" y="4365841"/>
            <a:ext cx="285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categorical and bars can be swapped around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65DE4-BCFF-4D00-A813-EBCA57861DE2}"/>
              </a:ext>
            </a:extLst>
          </p:cNvPr>
          <p:cNvSpPr txBox="1"/>
          <p:nvPr/>
        </p:nvSpPr>
        <p:spPr>
          <a:xfrm>
            <a:off x="4772624" y="4365839"/>
            <a:ext cx="389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continuous numerical and columns cannot be swapped around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979712" y="3904346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62EAE95-B781-4B46-B723-3309BF460727}"/>
              </a:ext>
            </a:extLst>
          </p:cNvPr>
          <p:cNvCxnSpPr>
            <a:cxnSpLocks/>
          </p:cNvCxnSpPr>
          <p:nvPr/>
        </p:nvCxnSpPr>
        <p:spPr>
          <a:xfrm flipH="1" flipV="1">
            <a:off x="6286088" y="3904346"/>
            <a:ext cx="51816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33441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83605" y="2309447"/>
            <a:ext cx="8910735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Lets look at the data we used for the warm up.  </a:t>
            </a:r>
          </a:p>
          <a:p>
            <a:r>
              <a:rPr lang="en-AU" dirty="0"/>
              <a:t>146, 148, 151, 153, 153, 154, 155, 156, 156, 156, 157, 159, 162, 162, 162, 163, 164, 164, 165, 165, 168, 168, 173, 174, 177, 181.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The range was found to be 35.</a:t>
            </a:r>
          </a:p>
          <a:p>
            <a:endParaRPr lang="en-AU" dirty="0"/>
          </a:p>
          <a:p>
            <a:r>
              <a:rPr lang="en-AU" dirty="0"/>
              <a:t>I want to create a histogram with between 5 and 20 “classes” (or columns).  If you can choose a class width using a number that is easy to calculate with.  A class width of 10 creates only 4 classes, while a class width of 5 (starting at 145) creates 8 classes.  A class width of 2 is possible but will create 16 classes many of which will have only 1 or 2 results in them.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DFF95-20AF-4A7A-8B0A-FB79EA312255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87725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98267" y="2201557"/>
            <a:ext cx="869421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have decided to use class widths of 5.  Lets create a frequency table from our data.</a:t>
            </a:r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145 – 149</a:t>
            </a:r>
          </a:p>
          <a:p>
            <a:r>
              <a:rPr lang="en-AU" dirty="0"/>
              <a:t>150 – 154 </a:t>
            </a:r>
          </a:p>
          <a:p>
            <a:r>
              <a:rPr lang="en-AU" dirty="0"/>
              <a:t>155 – 159 </a:t>
            </a:r>
          </a:p>
          <a:p>
            <a:r>
              <a:rPr lang="en-AU" dirty="0"/>
              <a:t>160 – 164 </a:t>
            </a:r>
          </a:p>
          <a:p>
            <a:r>
              <a:rPr lang="en-AU" dirty="0"/>
              <a:t>165 – 169 </a:t>
            </a:r>
          </a:p>
          <a:p>
            <a:r>
              <a:rPr lang="en-AU" dirty="0"/>
              <a:t>170 – 174 </a:t>
            </a:r>
          </a:p>
          <a:p>
            <a:r>
              <a:rPr lang="en-AU" dirty="0"/>
              <a:t>175 – 179 </a:t>
            </a:r>
          </a:p>
          <a:p>
            <a:r>
              <a:rPr lang="en-AU" dirty="0"/>
              <a:t>180 – 184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9CA59-A2F8-4BD5-8E8D-DCC0402C14EE}"/>
              </a:ext>
            </a:extLst>
          </p:cNvPr>
          <p:cNvSpPr txBox="1"/>
          <p:nvPr/>
        </p:nvSpPr>
        <p:spPr>
          <a:xfrm>
            <a:off x="1252779" y="3309553"/>
            <a:ext cx="2232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||                   = 2</a:t>
            </a:r>
          </a:p>
          <a:p>
            <a:r>
              <a:rPr lang="en-AU" strike="sngStrike" dirty="0"/>
              <a:t>||||</a:t>
            </a:r>
            <a:r>
              <a:rPr lang="en-AU" dirty="0"/>
              <a:t>               = 5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dirty="0"/>
              <a:t>||||               = 4</a:t>
            </a:r>
          </a:p>
          <a:p>
            <a:r>
              <a:rPr lang="en-AU" dirty="0"/>
              <a:t>||                   = 2</a:t>
            </a:r>
          </a:p>
          <a:p>
            <a:r>
              <a:rPr lang="en-AU" dirty="0"/>
              <a:t>|                     = 1</a:t>
            </a:r>
          </a:p>
          <a:p>
            <a:r>
              <a:rPr lang="en-AU" dirty="0"/>
              <a:t>|                    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03373-8416-4C8A-BE42-97E7BB8B1415}"/>
              </a:ext>
            </a:extLst>
          </p:cNvPr>
          <p:cNvSpPr txBox="1"/>
          <p:nvPr/>
        </p:nvSpPr>
        <p:spPr>
          <a:xfrm>
            <a:off x="125761" y="1502840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98670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endParaRPr lang="en-AU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1EEE4CC-3B53-40D8-A6C7-5C10A8B2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986385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8957B2-FECA-4832-8089-8B47FE9ECFF7}"/>
              </a:ext>
            </a:extLst>
          </p:cNvPr>
          <p:cNvSpPr txBox="1"/>
          <p:nvPr/>
        </p:nvSpPr>
        <p:spPr>
          <a:xfrm>
            <a:off x="4305072" y="4935439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4694F-E6A5-418A-B324-C9DB5D4EAAAC}"/>
              </a:ext>
            </a:extLst>
          </p:cNvPr>
          <p:cNvSpPr txBox="1"/>
          <p:nvPr/>
        </p:nvSpPr>
        <p:spPr>
          <a:xfrm>
            <a:off x="2093987" y="3100091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06A94B-4FDE-4101-A61B-EF7237735BDF}"/>
              </a:ext>
            </a:extLst>
          </p:cNvPr>
          <p:cNvSpPr/>
          <p:nvPr/>
        </p:nvSpPr>
        <p:spPr>
          <a:xfrm>
            <a:off x="2834284" y="2850433"/>
            <a:ext cx="4618036" cy="187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8B6F2-1E81-49CE-9361-ABE9A90B1B3F}"/>
              </a:ext>
            </a:extLst>
          </p:cNvPr>
          <p:cNvSpPr txBox="1"/>
          <p:nvPr/>
        </p:nvSpPr>
        <p:spPr>
          <a:xfrm>
            <a:off x="3105984" y="3274160"/>
            <a:ext cx="310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Our maximum frequency is 6 so our y axis must go to at least 6 and we use our class widths to determine the x axis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404FC-85A5-48F5-80A1-A4F700EDCF7E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36A00D-FBF6-4898-8952-79D2BAFF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46" y="2926697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899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8FE347-3C80-4E8D-96D9-03AE5DCF3CDC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pPr marL="342900" indent="-342900">
              <a:buAutoNum type="arabicPeriod"/>
            </a:pPr>
            <a:r>
              <a:rPr lang="en-AU" dirty="0"/>
              <a:t>Use the frequency data from the frequency table to complete the graph and add a title.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6797062-D970-463E-A9A0-01134D541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094" y="3614301"/>
            <a:ext cx="3925483" cy="170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FACF6A3-09C4-4BE7-B90A-D83868A07B24}"/>
              </a:ext>
            </a:extLst>
          </p:cNvPr>
          <p:cNvSpPr txBox="1"/>
          <p:nvPr/>
        </p:nvSpPr>
        <p:spPr>
          <a:xfrm>
            <a:off x="4462857" y="5299491"/>
            <a:ext cx="817697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89F6EB-1312-4B73-A189-09CF4C7C4C39}"/>
              </a:ext>
            </a:extLst>
          </p:cNvPr>
          <p:cNvSpPr txBox="1"/>
          <p:nvPr/>
        </p:nvSpPr>
        <p:spPr>
          <a:xfrm>
            <a:off x="2811546" y="3719036"/>
            <a:ext cx="91389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E2AEDB-5599-4C42-B4B2-279CB559AADA}"/>
              </a:ext>
            </a:extLst>
          </p:cNvPr>
          <p:cNvSpPr txBox="1"/>
          <p:nvPr/>
        </p:nvSpPr>
        <p:spPr>
          <a:xfrm>
            <a:off x="3896302" y="3281769"/>
            <a:ext cx="22807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2DCC1A-FBE9-41A1-8957-601AE6E4B0AD}"/>
              </a:ext>
            </a:extLst>
          </p:cNvPr>
          <p:cNvSpPr txBox="1"/>
          <p:nvPr/>
        </p:nvSpPr>
        <p:spPr>
          <a:xfrm>
            <a:off x="6029850" y="3337302"/>
            <a:ext cx="952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78180-0117-4B80-B864-F2DE71D43093}"/>
              </a:ext>
            </a:extLst>
          </p:cNvPr>
          <p:cNvSpPr txBox="1"/>
          <p:nvPr/>
        </p:nvSpPr>
        <p:spPr>
          <a:xfrm>
            <a:off x="2408036" y="5308595"/>
            <a:ext cx="979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9AD65F-1CCD-4704-9B79-87E736022E8A}"/>
              </a:ext>
            </a:extLst>
          </p:cNvPr>
          <p:cNvCxnSpPr>
            <a:cxnSpLocks/>
          </p:cNvCxnSpPr>
          <p:nvPr/>
        </p:nvCxnSpPr>
        <p:spPr>
          <a:xfrm flipV="1">
            <a:off x="2878812" y="3852239"/>
            <a:ext cx="336019" cy="14389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B8019A-854D-4083-9754-FA38D6602FEB}"/>
              </a:ext>
            </a:extLst>
          </p:cNvPr>
          <p:cNvCxnSpPr>
            <a:cxnSpLocks/>
          </p:cNvCxnSpPr>
          <p:nvPr/>
        </p:nvCxnSpPr>
        <p:spPr>
          <a:xfrm flipV="1">
            <a:off x="3034772" y="5421245"/>
            <a:ext cx="1408281" cy="453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847EA3-3D54-4F54-A015-8FCEA326685D}"/>
              </a:ext>
            </a:extLst>
          </p:cNvPr>
          <p:cNvSpPr txBox="1"/>
          <p:nvPr/>
        </p:nvSpPr>
        <p:spPr>
          <a:xfrm>
            <a:off x="4332073" y="4212235"/>
            <a:ext cx="1166768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316CA8-FC41-4E09-BDF6-35AACDFDA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735" y="3308750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2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78856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6307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80868"/>
            <a:ext cx="48005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24</a:t>
            </a:r>
          </a:p>
          <a:p>
            <a:r>
              <a:rPr lang="en-AU" sz="1333" dirty="0"/>
              <a:t>7</a:t>
            </a:r>
          </a:p>
          <a:p>
            <a:r>
              <a:rPr lang="en-AU" sz="1333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96666" y="1293825"/>
            <a:ext cx="0" cy="4500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1681" y="337220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595" y="886197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814327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13987" y="3783062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2902" y="1947714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3029" y="1506551"/>
            <a:ext cx="21826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2825" y="1506551"/>
            <a:ext cx="5277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3905" y="4001071"/>
            <a:ext cx="6735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4033905" y="2294380"/>
            <a:ext cx="129037" cy="17066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  <a:endCxn id="8" idx="1"/>
          </p:cNvCxnSpPr>
          <p:nvPr/>
        </p:nvCxnSpPr>
        <p:spPr>
          <a:xfrm flipV="1">
            <a:off x="4707487" y="3899793"/>
            <a:ext cx="1306500" cy="2628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69169" y="4176154"/>
            <a:ext cx="660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Scale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7572368" y="3668792"/>
            <a:ext cx="310988" cy="507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2921" y="2549921"/>
            <a:ext cx="1348391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2362683" y="5012499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the data looks in a histogram is important and can be described in main ways </a:t>
            </a:r>
          </a:p>
        </p:txBody>
      </p:sp>
    </p:spTree>
    <p:extLst>
      <p:ext uri="{BB962C8B-B14F-4D97-AF65-F5344CB8AC3E}">
        <p14:creationId xmlns:p14="http://schemas.microsoft.com/office/powerpoint/2010/main" val="25455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90" y="2165705"/>
            <a:ext cx="1261926" cy="1131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9789" y="2132269"/>
            <a:ext cx="4394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Negative Skew</a:t>
            </a:r>
          </a:p>
          <a:p>
            <a:r>
              <a:rPr lang="en-AU" sz="1500" dirty="0"/>
              <a:t>The long "tail" is on the negative or left side </a:t>
            </a:r>
          </a:p>
          <a:p>
            <a:r>
              <a:rPr lang="en-AU" sz="1500" dirty="0"/>
              <a:t>the peak.  The mean is also on the left of the peak. The Median is closer to the peak and the mode is at the peak.</a:t>
            </a:r>
          </a:p>
          <a:p>
            <a:endParaRPr lang="en-AU" sz="1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711" y="3377139"/>
            <a:ext cx="1406283" cy="105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69788" y="3377140"/>
            <a:ext cx="45742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Positive Skew</a:t>
            </a:r>
          </a:p>
          <a:p>
            <a:r>
              <a:rPr lang="en-AU" sz="1500" dirty="0"/>
              <a:t>The long tail is on the positive or right </a:t>
            </a:r>
          </a:p>
          <a:p>
            <a:r>
              <a:rPr lang="en-AU" sz="1500" dirty="0"/>
              <a:t>side of the peak.  The mean is also on the right of the peak value.  The median will be close to the peak and the mode is at the peak</a:t>
            </a:r>
          </a:p>
          <a:p>
            <a:endParaRPr lang="en-AU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4583409" y="1048785"/>
            <a:ext cx="422799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Normal Distribution – Not skewed</a:t>
            </a:r>
          </a:p>
          <a:p>
            <a:r>
              <a:rPr lang="en-AU" sz="1500" dirty="0"/>
              <a:t>A </a:t>
            </a:r>
            <a:r>
              <a:rPr lang="en-AU" sz="1500" dirty="0">
                <a:hlinkClick r:id="rId5"/>
              </a:rPr>
              <a:t>Normal Distribution</a:t>
            </a:r>
            <a:r>
              <a:rPr lang="en-AU" sz="1500" dirty="0"/>
              <a:t> is not skewed. </a:t>
            </a:r>
          </a:p>
          <a:p>
            <a:r>
              <a:rPr lang="en-AU" sz="1500" dirty="0"/>
              <a:t>It is perfectly symmetrical and the Mean, mode and median are all exactly at the peak.</a:t>
            </a:r>
          </a:p>
          <a:p>
            <a:endParaRPr lang="en-AU" sz="1500" dirty="0"/>
          </a:p>
        </p:txBody>
      </p:sp>
      <p:sp>
        <p:nvSpPr>
          <p:cNvPr id="12" name="Line 2"/>
          <p:cNvSpPr/>
          <p:nvPr/>
        </p:nvSpPr>
        <p:spPr>
          <a:xfrm flipV="1">
            <a:off x="0" y="620465"/>
            <a:ext cx="9144000" cy="17643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" name="Line 3"/>
          <p:cNvSpPr/>
          <p:nvPr/>
        </p:nvSpPr>
        <p:spPr>
          <a:xfrm flipV="1">
            <a:off x="0" y="918953"/>
            <a:ext cx="9144000" cy="63503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4" name="CustomShape 4"/>
          <p:cNvSpPr/>
          <p:nvPr/>
        </p:nvSpPr>
        <p:spPr>
          <a:xfrm>
            <a:off x="47087" y="-33479"/>
            <a:ext cx="479700" cy="683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24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333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30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Line 5"/>
          <p:cNvSpPr/>
          <p:nvPr/>
        </p:nvSpPr>
        <p:spPr>
          <a:xfrm>
            <a:off x="2253143" y="998558"/>
            <a:ext cx="36255" cy="4623374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6" name="CustomShape 6"/>
          <p:cNvSpPr/>
          <p:nvPr/>
        </p:nvSpPr>
        <p:spPr>
          <a:xfrm>
            <a:off x="7479624" y="-51588"/>
            <a:ext cx="1319700" cy="380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Date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8"/>
          <p:cNvSpPr/>
          <p:nvPr/>
        </p:nvSpPr>
        <p:spPr>
          <a:xfrm>
            <a:off x="1250930" y="650221"/>
            <a:ext cx="6781200" cy="6849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EQ – How do we describe data distribution. </a:t>
            </a:r>
            <a:endParaRPr lang="en-AU" sz="15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9"/>
          <p:cNvSpPr/>
          <p:nvPr/>
        </p:nvSpPr>
        <p:spPr>
          <a:xfrm>
            <a:off x="1659478" y="156608"/>
            <a:ext cx="4197000" cy="481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5000" tIns="37500" rIns="75000" bIns="37500"/>
          <a:lstStyle/>
          <a:p>
            <a:pPr>
              <a:lnSpc>
                <a:spcPct val="100000"/>
              </a:lnSpc>
            </a:pPr>
            <a:r>
              <a:rPr lang="en-AU" sz="15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Topic  -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369" y="4606269"/>
            <a:ext cx="44287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b="1" dirty="0" err="1"/>
              <a:t>Biomodal</a:t>
            </a:r>
            <a:endParaRPr lang="en-AU" sz="1500" b="1" dirty="0"/>
          </a:p>
          <a:p>
            <a:r>
              <a:rPr lang="en-AU" sz="1500" dirty="0"/>
              <a:t>Bimodal means it has 2 modes.  </a:t>
            </a:r>
          </a:p>
          <a:p>
            <a:r>
              <a:rPr lang="en-AU" sz="1500" dirty="0"/>
              <a:t>On a graph it has 2 peaks which are its 2 modal values.</a:t>
            </a:r>
          </a:p>
          <a:p>
            <a:endParaRPr lang="en-AU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D9323-39FB-4B3E-A8B3-438797578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288" y="4586829"/>
            <a:ext cx="1757164" cy="921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E74403-47A9-4F7B-A82F-E64A32C2EE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19" y="1168534"/>
            <a:ext cx="1645418" cy="100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4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69" y="621767"/>
            <a:ext cx="7056784" cy="49565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07825"/>
              </p:ext>
            </p:extLst>
          </p:nvPr>
        </p:nvGraphicFramePr>
        <p:xfrm>
          <a:off x="4211960" y="3742908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90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276"/>
          <a:stretch/>
        </p:blipFill>
        <p:spPr>
          <a:xfrm>
            <a:off x="1331640" y="553244"/>
            <a:ext cx="7056784" cy="2216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220826"/>
              </p:ext>
            </p:extLst>
          </p:nvPr>
        </p:nvGraphicFramePr>
        <p:xfrm>
          <a:off x="4500431" y="934596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B58C73D-2BF1-4890-846C-8902D4033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090925"/>
              </p:ext>
            </p:extLst>
          </p:nvPr>
        </p:nvGraphicFramePr>
        <p:xfrm>
          <a:off x="2051720" y="27700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40AD3A3-107C-4234-A895-A5FB0185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87" y="2806505"/>
            <a:ext cx="989072" cy="24992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DB89DB-7E3C-4C40-B987-EC729FCC50C6}"/>
              </a:ext>
            </a:extLst>
          </p:cNvPr>
          <p:cNvCxnSpPr/>
          <p:nvPr/>
        </p:nvCxnSpPr>
        <p:spPr>
          <a:xfrm>
            <a:off x="1763688" y="2721441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9FAE58-4831-4B41-8C0A-3F1B03A542EA}"/>
              </a:ext>
            </a:extLst>
          </p:cNvPr>
          <p:cNvCxnSpPr>
            <a:cxnSpLocks/>
          </p:cNvCxnSpPr>
          <p:nvPr/>
        </p:nvCxnSpPr>
        <p:spPr>
          <a:xfrm flipH="1">
            <a:off x="1763688" y="5212498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689A9-3703-4137-BC7B-F0B0D570CD94}"/>
              </a:ext>
            </a:extLst>
          </p:cNvPr>
          <p:cNvSpPr/>
          <p:nvPr/>
        </p:nvSpPr>
        <p:spPr>
          <a:xfrm>
            <a:off x="2051720" y="2721440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7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72BAD-A442-4615-B8EB-C41AEF764311}"/>
              </a:ext>
            </a:extLst>
          </p:cNvPr>
          <p:cNvSpPr txBox="1"/>
          <p:nvPr/>
        </p:nvSpPr>
        <p:spPr>
          <a:xfrm>
            <a:off x="1115616" y="1057300"/>
            <a:ext cx="7416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Glue todays worksheet in the LHS of your workbook and show it to your teacher before you leave.</a:t>
            </a:r>
          </a:p>
          <a:p>
            <a:endParaRPr lang="en-AU" sz="3600" dirty="0"/>
          </a:p>
          <a:p>
            <a:r>
              <a:rPr lang="en-AU" sz="3600" dirty="0"/>
              <a:t>Extra practice is on pages 124 and 125 of the Dr Dwyer </a:t>
            </a:r>
            <a:r>
              <a:rPr lang="en-AU" sz="3600" dirty="0" err="1"/>
              <a:t>yr</a:t>
            </a:r>
            <a:r>
              <a:rPr lang="en-AU" sz="3600" dirty="0"/>
              <a:t> 9 text</a:t>
            </a:r>
          </a:p>
        </p:txBody>
      </p:sp>
    </p:spTree>
    <p:extLst>
      <p:ext uri="{BB962C8B-B14F-4D97-AF65-F5344CB8AC3E}">
        <p14:creationId xmlns:p14="http://schemas.microsoft.com/office/powerpoint/2010/main" val="389811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12837</TotalTime>
  <Words>1078</Words>
  <Application>Microsoft Office PowerPoint</Application>
  <PresentationFormat>On-screen Show (16:10)</PresentationFormat>
  <Paragraphs>178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Berlin Sans FB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LATHAM Alexandria [Baldivis Secondary College]</cp:lastModifiedBy>
  <cp:revision>100</cp:revision>
  <dcterms:created xsi:type="dcterms:W3CDTF">2014-05-14T02:58:57Z</dcterms:created>
  <dcterms:modified xsi:type="dcterms:W3CDTF">2018-07-23T12:04:30Z</dcterms:modified>
</cp:coreProperties>
</file>
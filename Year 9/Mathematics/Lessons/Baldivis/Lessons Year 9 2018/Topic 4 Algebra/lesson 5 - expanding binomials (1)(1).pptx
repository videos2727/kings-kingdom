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3" r:id="rId5"/>
    <p:sldId id="265" r:id="rId6"/>
    <p:sldId id="262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31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2C10B0-C617-46AC-95B2-C05D0981E704}"/>
                  </a:ext>
                </a:extLst>
              </p:cNvPr>
              <p:cNvSpPr txBox="1"/>
              <p:nvPr/>
            </p:nvSpPr>
            <p:spPr>
              <a:xfrm>
                <a:off x="758883" y="1480008"/>
                <a:ext cx="3879179" cy="2884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Simplify</a:t>
                </a:r>
              </a:p>
              <a:p>
                <a:pPr marL="342900" indent="-342900">
                  <a:buFont typeface="+mj-lt"/>
                  <a:buAutoNum type="arabicParenR"/>
                </a:pPr>
                <a:endParaRPr lang="en-AU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𝑎𝑏𝑐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400" b="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2C10B0-C617-46AC-95B2-C05D0981E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83" y="1480008"/>
                <a:ext cx="3879179" cy="2884379"/>
              </a:xfrm>
              <a:prstGeom prst="rect">
                <a:avLst/>
              </a:prstGeom>
              <a:blipFill>
                <a:blip r:embed="rId2"/>
                <a:stretch>
                  <a:fillRect l="-1256" t="-14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C30066-8E33-4139-9168-AE8EEB553B51}"/>
                  </a:ext>
                </a:extLst>
              </p:cNvPr>
              <p:cNvSpPr txBox="1"/>
              <p:nvPr/>
            </p:nvSpPr>
            <p:spPr>
              <a:xfrm>
                <a:off x="8843988" y="1377885"/>
                <a:ext cx="38791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Factorise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21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−14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C30066-8E33-4139-9168-AE8EEB553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88" y="1377885"/>
                <a:ext cx="3879179" cy="1477328"/>
              </a:xfrm>
              <a:prstGeom prst="rect">
                <a:avLst/>
              </a:prstGeom>
              <a:blipFill>
                <a:blip r:embed="rId3"/>
                <a:stretch>
                  <a:fillRect l="-1415" t="-2479" b="-53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/>
              <p:nvPr/>
            </p:nvSpPr>
            <p:spPr>
              <a:xfrm>
                <a:off x="4964809" y="1377885"/>
                <a:ext cx="38791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Expand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05A3B4-456E-4743-9811-D9ADB3911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809" y="1377885"/>
                <a:ext cx="3879179" cy="1477328"/>
              </a:xfrm>
              <a:prstGeom prst="rect">
                <a:avLst/>
              </a:prstGeom>
              <a:blipFill>
                <a:blip r:embed="rId4"/>
                <a:stretch>
                  <a:fillRect l="-1256" t="-2479" b="-53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95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2C10B0-C617-46AC-95B2-C05D0981E704}"/>
                  </a:ext>
                </a:extLst>
              </p:cNvPr>
              <p:cNvSpPr txBox="1"/>
              <p:nvPr/>
            </p:nvSpPr>
            <p:spPr>
              <a:xfrm>
                <a:off x="608054" y="1604057"/>
                <a:ext cx="3879179" cy="2951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Simplify</a:t>
                </a:r>
              </a:p>
              <a:p>
                <a:pPr marL="342900" indent="-342900">
                  <a:buFont typeface="+mj-lt"/>
                  <a:buAutoNum type="arabicParenR"/>
                </a:pPr>
                <a:endParaRPr lang="en-AU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sSup>
                      <m:sSupPr>
                        <m:ctrlP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AU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𝑎𝑏𝑐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𝑏𝑐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2C10B0-C617-46AC-95B2-C05D0981E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54" y="1604057"/>
                <a:ext cx="3879179" cy="2951193"/>
              </a:xfrm>
              <a:prstGeom prst="rect">
                <a:avLst/>
              </a:prstGeom>
              <a:blipFill>
                <a:blip r:embed="rId2"/>
                <a:stretch>
                  <a:fillRect l="-1415" t="-12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17D43-20EC-4C13-845E-B68DC8788A05}"/>
                  </a:ext>
                </a:extLst>
              </p:cNvPr>
              <p:cNvSpPr txBox="1"/>
              <p:nvPr/>
            </p:nvSpPr>
            <p:spPr>
              <a:xfrm>
                <a:off x="8312821" y="1565080"/>
                <a:ext cx="38791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Factorise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(2+3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0" dirty="0"/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21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−14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17D43-20EC-4C13-845E-B68DC8788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821" y="1565080"/>
                <a:ext cx="3879179" cy="1477328"/>
              </a:xfrm>
              <a:prstGeom prst="rect">
                <a:avLst/>
              </a:prstGeom>
              <a:blipFill>
                <a:blip r:embed="rId3"/>
                <a:stretch>
                  <a:fillRect l="-1415" t="-2893" b="-53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665FF9-6A5B-4883-ABEF-DBF1AE4E9B0A}"/>
                  </a:ext>
                </a:extLst>
              </p:cNvPr>
              <p:cNvSpPr txBox="1"/>
              <p:nvPr/>
            </p:nvSpPr>
            <p:spPr>
              <a:xfrm>
                <a:off x="4670245" y="1565080"/>
                <a:ext cx="387917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latin typeface="Cambria Math" panose="02040503050406030204" pitchFamily="18" charset="0"/>
                  </a:rPr>
                  <a:t>Expand</a:t>
                </a:r>
              </a:p>
              <a:p>
                <a:endParaRPr lang="en-AU" b="1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4+3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8+6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arenR"/>
                </a:pPr>
                <a:endParaRPr lang="en-AU" dirty="0"/>
              </a:p>
              <a:p>
                <a:pPr marL="342900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+3−7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>
                  <a:solidFill>
                    <a:srgbClr val="FF0000"/>
                  </a:solidFill>
                </a:endParaRPr>
              </a:p>
              <a:p>
                <a:r>
                  <a:rPr lang="en-AU" b="0" dirty="0">
                    <a:solidFill>
                      <a:srgbClr val="FF0000"/>
                    </a:solidFill>
                  </a:rPr>
                  <a:t>			         </a:t>
                </a:r>
                <a:r>
                  <a:rPr lang="en-AU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665FF9-6A5B-4883-ABEF-DBF1AE4E9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245" y="1565080"/>
                <a:ext cx="3879179" cy="1754326"/>
              </a:xfrm>
              <a:prstGeom prst="rect">
                <a:avLst/>
              </a:prstGeom>
              <a:blipFill>
                <a:blip r:embed="rId4"/>
                <a:stretch>
                  <a:fillRect l="-1258" t="-2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55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What is a binomial?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/>
              <p:nvPr/>
            </p:nvSpPr>
            <p:spPr>
              <a:xfrm>
                <a:off x="2631650" y="2533581"/>
                <a:ext cx="813376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A binomial is an expression with two terms such as: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+5 </m:t>
                    </m:r>
                  </m:oMath>
                </a14:m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−3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product of two binomial expressions can be expanded using the distributive law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+3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+5)</m:t>
                    </m:r>
                  </m:oMath>
                </a14:m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650" y="2533581"/>
                <a:ext cx="8133761" cy="2862322"/>
              </a:xfrm>
              <a:prstGeom prst="rect">
                <a:avLst/>
              </a:prstGeom>
              <a:blipFill>
                <a:blip r:embed="rId2"/>
                <a:stretch>
                  <a:fillRect l="-675" t="-12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213739" y="3917786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69866342"/>
                  </p:ext>
                </p:extLst>
              </p:nvPr>
            </p:nvGraphicFramePr>
            <p:xfrm>
              <a:off x="2756447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8906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69866342"/>
                  </p:ext>
                </p:extLst>
              </p:nvPr>
            </p:nvGraphicFramePr>
            <p:xfrm>
              <a:off x="2756447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00976" b="-1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976" b="-1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43243" r="-200976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40000" r="-20097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/>
              <p:nvPr/>
            </p:nvSpPr>
            <p:spPr>
              <a:xfrm>
                <a:off x="2756447" y="2629489"/>
                <a:ext cx="813376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product of two binomial expressions can be expanded using the distributive law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+5</m:t>
                        </m:r>
                      </m:e>
                    </m:d>
                  </m:oMath>
                </a14:m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Rectangular expansion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47" y="2629489"/>
                <a:ext cx="8133761" cy="2585323"/>
              </a:xfrm>
              <a:prstGeom prst="rect">
                <a:avLst/>
              </a:prstGeom>
              <a:blipFill>
                <a:blip r:embed="rId3"/>
                <a:stretch>
                  <a:fillRect l="-600" t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186667" y="2493195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</p:spTree>
    <p:extLst>
      <p:ext uri="{BB962C8B-B14F-4D97-AF65-F5344CB8AC3E}">
        <p14:creationId xmlns:p14="http://schemas.microsoft.com/office/powerpoint/2010/main" val="179525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42337480"/>
                  </p:ext>
                </p:extLst>
              </p:nvPr>
            </p:nvGraphicFramePr>
            <p:xfrm>
              <a:off x="2897848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8906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42337480"/>
                  </p:ext>
                </p:extLst>
              </p:nvPr>
            </p:nvGraphicFramePr>
            <p:xfrm>
              <a:off x="2897848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00976" b="-1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976" b="-1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43243" r="-200976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43243" r="-100976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3243" r="-976" b="-1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40000" r="-20097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40000" r="-10097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40000" r="-976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/>
              <p:nvPr/>
            </p:nvSpPr>
            <p:spPr>
              <a:xfrm>
                <a:off x="2756447" y="2629489"/>
                <a:ext cx="813376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product of two binomial expressions can be expanded using the distributive law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+5</m:t>
                        </m:r>
                      </m:e>
                    </m:d>
                  </m:oMath>
                </a14:m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Rectangular expansion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47" y="2629489"/>
                <a:ext cx="8133761" cy="2585323"/>
              </a:xfrm>
              <a:prstGeom prst="rect">
                <a:avLst/>
              </a:prstGeom>
              <a:blipFill>
                <a:blip r:embed="rId3"/>
                <a:stretch>
                  <a:fillRect l="-600" t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186667" y="2493195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ECCDB-BBB3-4A3B-A49A-F83BD23E9ECA}"/>
                  </a:ext>
                </a:extLst>
              </p:cNvPr>
              <p:cNvSpPr txBox="1"/>
              <p:nvPr/>
            </p:nvSpPr>
            <p:spPr>
              <a:xfrm>
                <a:off x="6825388" y="4484087"/>
                <a:ext cx="391212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b="0" dirty="0"/>
              </a:p>
              <a:p>
                <a:endParaRPr lang="en-AU" b="0" dirty="0"/>
              </a:p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dirty="0"/>
              </a:p>
              <a:p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ECCDB-BBB3-4A3B-A49A-F83BD23E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388" y="4484087"/>
                <a:ext cx="391212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B4C0B3E0-48F3-4EDB-B000-90245692797C}"/>
              </a:ext>
            </a:extLst>
          </p:cNvPr>
          <p:cNvSpPr/>
          <p:nvPr/>
        </p:nvSpPr>
        <p:spPr>
          <a:xfrm>
            <a:off x="7468278" y="4484087"/>
            <a:ext cx="1130837" cy="41384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424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+2)(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11052043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11052043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12" r="-100935" b="-14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689" r="-621" b="-142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935" r="-200311" b="-102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0000" r="-200311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661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+5)(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+7)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890989-9BEB-4B9A-9189-4C953A76FD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279643"/>
              </p:ext>
            </p:extLst>
          </p:nvPr>
        </p:nvGraphicFramePr>
        <p:xfrm>
          <a:off x="5118755" y="2790334"/>
          <a:ext cx="5876718" cy="258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906">
                  <a:extLst>
                    <a:ext uri="{9D8B030D-6E8A-4147-A177-3AD203B41FA5}">
                      <a16:colId xmlns:a16="http://schemas.microsoft.com/office/drawing/2014/main" val="839121566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3613736940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2679726671"/>
                    </a:ext>
                  </a:extLst>
                </a:gridCol>
              </a:tblGrid>
              <a:tr h="1069810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215320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12877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4670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A50170E-DC19-42CD-BCFB-5C1A807D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711" y="237414"/>
            <a:ext cx="3082887" cy="173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7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Expanding binomials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43610563"/>
                  </p:ext>
                </p:extLst>
              </p:nvPr>
            </p:nvGraphicFramePr>
            <p:xfrm>
              <a:off x="2897848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8906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7F5E464-F678-48D2-9743-8D8ADB5239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43610563"/>
                  </p:ext>
                </p:extLst>
              </p:nvPr>
            </p:nvGraphicFramePr>
            <p:xfrm>
              <a:off x="2897848" y="4441718"/>
              <a:ext cx="3742443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7481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247481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00976" b="-1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976" b="-1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43243" r="-200976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43243" r="-100976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3243" r="-976" b="-1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40000" r="-20097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40000" r="-100976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40000" r="-976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7694" y="1606776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expand binomial products?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/>
              <p:nvPr/>
            </p:nvSpPr>
            <p:spPr>
              <a:xfrm>
                <a:off x="2756447" y="2493195"/>
                <a:ext cx="813376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product of two binomial expressions can be expanded using the distributive law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−6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Rectangular expansion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A87D78-B7DD-4A29-9F89-83AE046C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47" y="2493195"/>
                <a:ext cx="8133761" cy="2585323"/>
              </a:xfrm>
              <a:prstGeom prst="rect">
                <a:avLst/>
              </a:prstGeom>
              <a:blipFill>
                <a:blip r:embed="rId3"/>
                <a:stretch>
                  <a:fillRect l="-600" t="-14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3B6733F-5661-4FA3-93D8-980B9AEFA21A}"/>
              </a:ext>
            </a:extLst>
          </p:cNvPr>
          <p:cNvSpPr txBox="1"/>
          <p:nvPr/>
        </p:nvSpPr>
        <p:spPr>
          <a:xfrm>
            <a:off x="186667" y="2493195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binomials?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ECCDB-BBB3-4A3B-A49A-F83BD23E9ECA}"/>
                  </a:ext>
                </a:extLst>
              </p:cNvPr>
              <p:cNvSpPr txBox="1"/>
              <p:nvPr/>
            </p:nvSpPr>
            <p:spPr>
              <a:xfrm>
                <a:off x="6978085" y="4515343"/>
                <a:ext cx="391212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−18</m:t>
                    </m:r>
                  </m:oMath>
                </a14:m>
                <a:endParaRPr lang="en-AU" b="0" dirty="0"/>
              </a:p>
              <a:p>
                <a:endParaRPr lang="en-AU" b="0" dirty="0"/>
              </a:p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−18</m:t>
                    </m:r>
                  </m:oMath>
                </a14:m>
                <a:endParaRPr lang="en-AU" dirty="0"/>
              </a:p>
              <a:p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CECCDB-BBB3-4A3B-A49A-F83BD23E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085" y="4515343"/>
                <a:ext cx="391212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9BEAD3EF-EB80-4567-B22D-C60AB3C06DC9}"/>
              </a:ext>
            </a:extLst>
          </p:cNvPr>
          <p:cNvSpPr/>
          <p:nvPr/>
        </p:nvSpPr>
        <p:spPr>
          <a:xfrm>
            <a:off x="7634412" y="4515343"/>
            <a:ext cx="1130837" cy="41384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83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−5)(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27988342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7890989-9BEB-4B9A-9189-4C953A76FD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27988342"/>
                  </p:ext>
                </p:extLst>
              </p:nvPr>
            </p:nvGraphicFramePr>
            <p:xfrm>
              <a:off x="5118755" y="2790334"/>
              <a:ext cx="5876718" cy="2584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8906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958906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106981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12" r="-100935" b="-142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689" r="-621" b="-142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1935" r="-200311" b="-102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7572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0000" r="-200311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672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EC89-7A7B-4C23-A540-55E31786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−10)(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A5A2B-8C5A-46B4-9094-444A0305D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1652047" y="658455"/>
                <a:ext cx="10394707" cy="33111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890989-9BEB-4B9A-9189-4C953A76FD47}"/>
              </a:ext>
            </a:extLst>
          </p:cNvPr>
          <p:cNvGraphicFramePr>
            <a:graphicFrameLocks/>
          </p:cNvGraphicFramePr>
          <p:nvPr/>
        </p:nvGraphicFramePr>
        <p:xfrm>
          <a:off x="5118755" y="2790334"/>
          <a:ext cx="5876718" cy="258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906">
                  <a:extLst>
                    <a:ext uri="{9D8B030D-6E8A-4147-A177-3AD203B41FA5}">
                      <a16:colId xmlns:a16="http://schemas.microsoft.com/office/drawing/2014/main" val="839121566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3613736940"/>
                    </a:ext>
                  </a:extLst>
                </a:gridCol>
                <a:gridCol w="1958906">
                  <a:extLst>
                    <a:ext uri="{9D8B030D-6E8A-4147-A177-3AD203B41FA5}">
                      <a16:colId xmlns:a16="http://schemas.microsoft.com/office/drawing/2014/main" val="2679726671"/>
                    </a:ext>
                  </a:extLst>
                </a:gridCol>
              </a:tblGrid>
              <a:tr h="1069810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215320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12877"/>
                  </a:ext>
                </a:extLst>
              </a:tr>
              <a:tr h="757221">
                <a:tc>
                  <a:txBody>
                    <a:bodyPr/>
                    <a:lstStyle/>
                    <a:p>
                      <a:pPr algn="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4670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77525E-0D36-47B2-83DD-41E58ED04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659" y="318391"/>
            <a:ext cx="2740135" cy="203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2FFD-0D1E-4299-9675-F44DA00E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59" y="233313"/>
            <a:ext cx="10396882" cy="1151965"/>
          </a:xfrm>
        </p:spPr>
        <p:txBody>
          <a:bodyPr/>
          <a:lstStyle/>
          <a:p>
            <a:r>
              <a:rPr lang="en-AU" dirty="0"/>
              <a:t>Another way?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E7C84-A791-4E78-8182-F62B0405B0F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76374" y="2600725"/>
                <a:ext cx="10409548" cy="1358534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AU" sz="4000" b="0" dirty="0"/>
                  <a:t> </a:t>
                </a:r>
              </a:p>
              <a:p>
                <a:pPr marL="0" indent="0">
                  <a:buNone/>
                </a:pPr>
                <a:endParaRPr lang="en-AU" sz="4000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E7C84-A791-4E78-8182-F62B0405B0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76374" y="2600725"/>
                <a:ext cx="10409548" cy="1358534"/>
              </a:xfrm>
              <a:blipFill>
                <a:blip r:embed="rId2"/>
                <a:stretch>
                  <a:fillRect t="-324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3DDE61AA-9AE7-4235-9266-C5B8DADA7642}"/>
              </a:ext>
            </a:extLst>
          </p:cNvPr>
          <p:cNvSpPr/>
          <p:nvPr/>
        </p:nvSpPr>
        <p:spPr>
          <a:xfrm>
            <a:off x="4411744" y="1527142"/>
            <a:ext cx="2111604" cy="6127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34978-8575-408D-94A2-6EFFB260847A}"/>
                  </a:ext>
                </a:extLst>
              </p:cNvPr>
              <p:cNvSpPr txBox="1"/>
              <p:nvPr/>
            </p:nvSpPr>
            <p:spPr>
              <a:xfrm>
                <a:off x="5177242" y="862563"/>
                <a:ext cx="58060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34978-8575-408D-94A2-6EFFB2608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242" y="862563"/>
                <a:ext cx="580608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87A8E3-841E-4557-8F8B-98EA427D6F88}"/>
                  </a:ext>
                </a:extLst>
              </p:cNvPr>
              <p:cNvSpPr/>
              <p:nvPr/>
            </p:nvSpPr>
            <p:spPr>
              <a:xfrm>
                <a:off x="1393624" y="3650658"/>
                <a:ext cx="8769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4400" dirty="0"/>
                  <a:t> 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87A8E3-841E-4557-8F8B-98EA427D6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24" y="3650658"/>
                <a:ext cx="87690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827707FC-A200-4E6E-9531-15F3A5F5B6FF}"/>
              </a:ext>
            </a:extLst>
          </p:cNvPr>
          <p:cNvSpPr/>
          <p:nvPr/>
        </p:nvSpPr>
        <p:spPr>
          <a:xfrm>
            <a:off x="4411743" y="1527142"/>
            <a:ext cx="2960017" cy="6127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981DF-EEB1-4EFA-84BC-976D95027DBD}"/>
                  </a:ext>
                </a:extLst>
              </p:cNvPr>
              <p:cNvSpPr txBox="1"/>
              <p:nvPr/>
            </p:nvSpPr>
            <p:spPr>
              <a:xfrm>
                <a:off x="5177242" y="862563"/>
                <a:ext cx="8138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981DF-EEB1-4EFA-84BC-976D95027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242" y="862563"/>
                <a:ext cx="813888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792734-1347-42FD-87C7-B63508FCEDB3}"/>
                  </a:ext>
                </a:extLst>
              </p:cNvPr>
              <p:cNvSpPr/>
              <p:nvPr/>
            </p:nvSpPr>
            <p:spPr>
              <a:xfrm>
                <a:off x="2257741" y="3650658"/>
                <a:ext cx="146008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+ 8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792734-1347-42FD-87C7-B63508FCE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41" y="3650658"/>
                <a:ext cx="1460080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425016C2-0D77-44B1-96AF-6E05BD6C173E}"/>
              </a:ext>
            </a:extLst>
          </p:cNvPr>
          <p:cNvSpPr/>
          <p:nvPr/>
        </p:nvSpPr>
        <p:spPr>
          <a:xfrm flipV="1">
            <a:off x="5387955" y="2694537"/>
            <a:ext cx="1059979" cy="397455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BD649-239C-4EA7-8EBA-026282860BE3}"/>
                  </a:ext>
                </a:extLst>
              </p:cNvPr>
              <p:cNvSpPr txBox="1"/>
              <p:nvPr/>
            </p:nvSpPr>
            <p:spPr>
              <a:xfrm>
                <a:off x="5467546" y="3091992"/>
                <a:ext cx="8138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BD649-239C-4EA7-8EBA-026282860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546" y="3091992"/>
                <a:ext cx="813888" cy="861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FCCF8B-CBAF-4196-B8F9-9CA5A3B2B3DF}"/>
                  </a:ext>
                </a:extLst>
              </p:cNvPr>
              <p:cNvSpPr/>
              <p:nvPr/>
            </p:nvSpPr>
            <p:spPr>
              <a:xfrm>
                <a:off x="3681703" y="3650658"/>
                <a:ext cx="146008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+ 3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FCCF8B-CBAF-4196-B8F9-9CA5A3B2B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703" y="3650658"/>
                <a:ext cx="1460080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1942AC30-0F94-4F50-ACE6-B8783AB81763}"/>
              </a:ext>
            </a:extLst>
          </p:cNvPr>
          <p:cNvSpPr/>
          <p:nvPr/>
        </p:nvSpPr>
        <p:spPr>
          <a:xfrm flipV="1">
            <a:off x="5409372" y="2685108"/>
            <a:ext cx="1962388" cy="47287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124DDF-490F-4817-90F3-BC74B2DAB4BD}"/>
                  </a:ext>
                </a:extLst>
              </p:cNvPr>
              <p:cNvSpPr txBox="1"/>
              <p:nvPr/>
            </p:nvSpPr>
            <p:spPr>
              <a:xfrm>
                <a:off x="5488962" y="3082564"/>
                <a:ext cx="150678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124DDF-490F-4817-90F3-BC74B2DAB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962" y="3082564"/>
                <a:ext cx="1506789" cy="8617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5A88B9F-1C40-4F9B-A7BF-5D83253EB960}"/>
                  </a:ext>
                </a:extLst>
              </p:cNvPr>
              <p:cNvSpPr/>
              <p:nvPr/>
            </p:nvSpPr>
            <p:spPr>
              <a:xfrm>
                <a:off x="5027810" y="3668350"/>
                <a:ext cx="1455848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+ 24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5A88B9F-1C40-4F9B-A7BF-5D83253EB9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10" y="3668350"/>
                <a:ext cx="1455848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152F1F-D36C-46C2-94F0-875FEC839DD0}"/>
                  </a:ext>
                </a:extLst>
              </p:cNvPr>
              <p:cNvSpPr/>
              <p:nvPr/>
            </p:nvSpPr>
            <p:spPr>
              <a:xfrm>
                <a:off x="1393624" y="4624471"/>
                <a:ext cx="3788922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+11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+24</m:t>
                    </m:r>
                  </m:oMath>
                </a14:m>
                <a:r>
                  <a:rPr lang="en-AU" sz="4400" dirty="0"/>
                  <a:t> </a:t>
                </a: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152F1F-D36C-46C2-94F0-875FEC839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24" y="4624471"/>
                <a:ext cx="3788922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84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6" grpId="0"/>
      <p:bldP spid="7" grpId="0" animBg="1"/>
      <p:bldP spid="7" grpId="1" animBg="1"/>
      <p:bldP spid="8" grpId="0"/>
      <p:bldP spid="8" grpId="1"/>
      <p:bldP spid="9" grpId="0"/>
      <p:bldP spid="10" grpId="0" animBg="1"/>
      <p:bldP spid="10" grpId="1" animBg="1"/>
      <p:bldP spid="11" grpId="0"/>
      <p:bldP spid="11" grpId="1"/>
      <p:bldP spid="12" grpId="0"/>
      <p:bldP spid="13" grpId="0" animBg="1"/>
      <p:bldP spid="13" grpId="1" animBg="1"/>
      <p:bldP spid="14" grpId="0"/>
      <p:bldP spid="14" grpId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2FFD-0D1E-4299-9675-F44DA00E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59" y="233313"/>
            <a:ext cx="10396882" cy="1151965"/>
          </a:xfrm>
        </p:spPr>
        <p:txBody>
          <a:bodyPr/>
          <a:lstStyle/>
          <a:p>
            <a:r>
              <a:rPr lang="en-AU" dirty="0"/>
              <a:t>Another way?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E7C84-A791-4E78-8182-F62B0405B0F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76374" y="2600725"/>
                <a:ext cx="10409548" cy="1358534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</m:oMath>
                </a14:m>
                <a:r>
                  <a:rPr lang="en-AU" sz="4000" b="0" dirty="0"/>
                  <a:t> </a:t>
                </a:r>
              </a:p>
              <a:p>
                <a:pPr marL="0" indent="0">
                  <a:buNone/>
                </a:pPr>
                <a:endParaRPr lang="en-AU" sz="4000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E7C84-A791-4E78-8182-F62B0405B0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76374" y="2600725"/>
                <a:ext cx="10409548" cy="1358534"/>
              </a:xfrm>
              <a:blipFill>
                <a:blip r:embed="rId2"/>
                <a:stretch>
                  <a:fillRect t="-324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3DDE61AA-9AE7-4235-9266-C5B8DADA7642}"/>
              </a:ext>
            </a:extLst>
          </p:cNvPr>
          <p:cNvSpPr/>
          <p:nvPr/>
        </p:nvSpPr>
        <p:spPr>
          <a:xfrm>
            <a:off x="4411744" y="1527142"/>
            <a:ext cx="2111604" cy="6127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34978-8575-408D-94A2-6EFFB260847A}"/>
                  </a:ext>
                </a:extLst>
              </p:cNvPr>
              <p:cNvSpPr txBox="1"/>
              <p:nvPr/>
            </p:nvSpPr>
            <p:spPr>
              <a:xfrm>
                <a:off x="5177242" y="862563"/>
                <a:ext cx="580608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834978-8575-408D-94A2-6EFFB2608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242" y="862563"/>
                <a:ext cx="580608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87A8E3-841E-4557-8F8B-98EA427D6F88}"/>
                  </a:ext>
                </a:extLst>
              </p:cNvPr>
              <p:cNvSpPr/>
              <p:nvPr/>
            </p:nvSpPr>
            <p:spPr>
              <a:xfrm>
                <a:off x="1393624" y="3650658"/>
                <a:ext cx="8769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4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4400" dirty="0"/>
                  <a:t> 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87A8E3-841E-4557-8F8B-98EA427D6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24" y="3650658"/>
                <a:ext cx="87690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827707FC-A200-4E6E-9531-15F3A5F5B6FF}"/>
              </a:ext>
            </a:extLst>
          </p:cNvPr>
          <p:cNvSpPr/>
          <p:nvPr/>
        </p:nvSpPr>
        <p:spPr>
          <a:xfrm>
            <a:off x="4411743" y="1527142"/>
            <a:ext cx="2960017" cy="61274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981DF-EEB1-4EFA-84BC-976D95027DBD}"/>
                  </a:ext>
                </a:extLst>
              </p:cNvPr>
              <p:cNvSpPr txBox="1"/>
              <p:nvPr/>
            </p:nvSpPr>
            <p:spPr>
              <a:xfrm>
                <a:off x="5177242" y="862563"/>
                <a:ext cx="8138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7981DF-EEB1-4EFA-84BC-976D95027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242" y="862563"/>
                <a:ext cx="813888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792734-1347-42FD-87C7-B63508FCEDB3}"/>
                  </a:ext>
                </a:extLst>
              </p:cNvPr>
              <p:cNvSpPr/>
              <p:nvPr/>
            </p:nvSpPr>
            <p:spPr>
              <a:xfrm>
                <a:off x="2257741" y="3650658"/>
                <a:ext cx="1772665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+ 10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792734-1347-42FD-87C7-B63508FCE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41" y="3650658"/>
                <a:ext cx="1772665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425016C2-0D77-44B1-96AF-6E05BD6C173E}"/>
              </a:ext>
            </a:extLst>
          </p:cNvPr>
          <p:cNvSpPr/>
          <p:nvPr/>
        </p:nvSpPr>
        <p:spPr>
          <a:xfrm flipV="1">
            <a:off x="5387955" y="2694537"/>
            <a:ext cx="1059979" cy="397455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BD649-239C-4EA7-8EBA-026282860BE3}"/>
                  </a:ext>
                </a:extLst>
              </p:cNvPr>
              <p:cNvSpPr txBox="1"/>
              <p:nvPr/>
            </p:nvSpPr>
            <p:spPr>
              <a:xfrm>
                <a:off x="5467546" y="3091992"/>
                <a:ext cx="8138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8BD649-239C-4EA7-8EBA-026282860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546" y="3091992"/>
                <a:ext cx="813888" cy="861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FCCF8B-CBAF-4196-B8F9-9CA5A3B2B3DF}"/>
                  </a:ext>
                </a:extLst>
              </p:cNvPr>
              <p:cNvSpPr/>
              <p:nvPr/>
            </p:nvSpPr>
            <p:spPr>
              <a:xfrm>
                <a:off x="3681703" y="3650658"/>
                <a:ext cx="146008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+ 9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FCCF8B-CBAF-4196-B8F9-9CA5A3B2B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703" y="3650658"/>
                <a:ext cx="1460080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1942AC30-0F94-4F50-ACE6-B8783AB81763}"/>
              </a:ext>
            </a:extLst>
          </p:cNvPr>
          <p:cNvSpPr/>
          <p:nvPr/>
        </p:nvSpPr>
        <p:spPr>
          <a:xfrm flipV="1">
            <a:off x="5409372" y="2685108"/>
            <a:ext cx="1962388" cy="47287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124DDF-490F-4817-90F3-BC74B2DAB4BD}"/>
                  </a:ext>
                </a:extLst>
              </p:cNvPr>
              <p:cNvSpPr txBox="1"/>
              <p:nvPr/>
            </p:nvSpPr>
            <p:spPr>
              <a:xfrm>
                <a:off x="5488962" y="3082564"/>
                <a:ext cx="150678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32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124DDF-490F-4817-90F3-BC74B2DAB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962" y="3082564"/>
                <a:ext cx="1506789" cy="8617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5A88B9F-1C40-4F9B-A7BF-5D83253EB960}"/>
                  </a:ext>
                </a:extLst>
              </p:cNvPr>
              <p:cNvSpPr/>
              <p:nvPr/>
            </p:nvSpPr>
            <p:spPr>
              <a:xfrm>
                <a:off x="5027810" y="3668350"/>
                <a:ext cx="145584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+ 90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5A88B9F-1C40-4F9B-A7BF-5D83253EB9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10" y="3668350"/>
                <a:ext cx="1455847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152F1F-D36C-46C2-94F0-875FEC839DD0}"/>
                  </a:ext>
                </a:extLst>
              </p:cNvPr>
              <p:cNvSpPr/>
              <p:nvPr/>
            </p:nvSpPr>
            <p:spPr>
              <a:xfrm>
                <a:off x="1393624" y="4624471"/>
                <a:ext cx="347210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+19+90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152F1F-D36C-46C2-94F0-875FEC839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24" y="4624471"/>
                <a:ext cx="347210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4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6" grpId="0"/>
      <p:bldP spid="7" grpId="0" animBg="1"/>
      <p:bldP spid="7" grpId="1" animBg="1"/>
      <p:bldP spid="8" grpId="0"/>
      <p:bldP spid="8" grpId="1"/>
      <p:bldP spid="9" grpId="0"/>
      <p:bldP spid="10" grpId="0" animBg="1"/>
      <p:bldP spid="10" grpId="1" animBg="1"/>
      <p:bldP spid="11" grpId="0"/>
      <p:bldP spid="11" grpId="1"/>
      <p:bldP spid="12" grpId="0"/>
      <p:bldP spid="13" grpId="0" animBg="1"/>
      <p:bldP spid="13" grpId="1" animBg="1"/>
      <p:bldP spid="14" grpId="0"/>
      <p:bldP spid="14" grpId="1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Questions: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EA2FB8-CAFE-4E8C-9BB2-A27E0FB700E0}"/>
              </a:ext>
            </a:extLst>
          </p:cNvPr>
          <p:cNvSpPr txBox="1"/>
          <p:nvPr/>
        </p:nvSpPr>
        <p:spPr>
          <a:xfrm>
            <a:off x="838200" y="1933575"/>
            <a:ext cx="6419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Essential Mathematics</a:t>
            </a:r>
          </a:p>
          <a:p>
            <a:endParaRPr lang="en-AU" sz="3600" dirty="0"/>
          </a:p>
          <a:p>
            <a:r>
              <a:rPr lang="en-AU" sz="3600" dirty="0"/>
              <a:t>Page 449</a:t>
            </a:r>
          </a:p>
        </p:txBody>
      </p:sp>
    </p:spTree>
    <p:extLst>
      <p:ext uri="{BB962C8B-B14F-4D97-AF65-F5344CB8AC3E}">
        <p14:creationId xmlns:p14="http://schemas.microsoft.com/office/powerpoint/2010/main" val="1248506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272</TotalTime>
  <Words>506</Words>
  <Application>Microsoft Office PowerPoint</Application>
  <PresentationFormat>Widescreen</PresentationFormat>
  <Paragraphs>200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PowerPoint Presentation</vt:lpstr>
      <vt:lpstr>PowerPoint Presentation</vt:lpstr>
      <vt:lpstr>Expanding binomials  </vt:lpstr>
      <vt:lpstr>Expanding binomials  </vt:lpstr>
      <vt:lpstr>Expanding binomials  </vt:lpstr>
      <vt:lpstr>WE do </vt:lpstr>
      <vt:lpstr>you do </vt:lpstr>
      <vt:lpstr>Expanding binomials  </vt:lpstr>
      <vt:lpstr>WE do </vt:lpstr>
      <vt:lpstr>you do </vt:lpstr>
      <vt:lpstr>Another way?</vt:lpstr>
      <vt:lpstr>Another way?</vt:lpstr>
      <vt:lpstr>Questions: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97</cp:revision>
  <dcterms:created xsi:type="dcterms:W3CDTF">2018-03-11T07:42:05Z</dcterms:created>
  <dcterms:modified xsi:type="dcterms:W3CDTF">2018-03-18T15:01:23Z</dcterms:modified>
</cp:coreProperties>
</file>
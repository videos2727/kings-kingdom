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60" r:id="rId4"/>
    <p:sldId id="263" r:id="rId5"/>
    <p:sldId id="262" r:id="rId6"/>
    <p:sldId id="264" r:id="rId7"/>
    <p:sldId id="265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46C919-545A-4FEC-AE68-55E6946624F4}" type="datetimeFigureOut">
              <a:rPr lang="en-AU" smtClean="0"/>
              <a:t>12/03/2018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AF0E04-A781-4021-BDF6-15A9F238A2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0432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EE401711-02DC-4F5A-B0A4-D7A4CFB82638}" type="datetimeFigureOut">
              <a:rPr lang="en-US" dirty="0"/>
              <a:t>3/12/2018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10A69-C0BC-4A5A-8FE4-5D0B5D0F11EE}" type="datetimeFigureOut">
              <a:rPr lang="en-US" dirty="0"/>
              <a:t>3/12/2018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3B61-F054-442D-881D-6A81C2774BFE}" type="datetimeFigureOut">
              <a:rPr lang="en-US" dirty="0"/>
              <a:t>3/12/2018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8CD3A-8283-4FC4-856C-D5E0BF662449}" type="datetimeFigureOut">
              <a:rPr lang="en-US" dirty="0"/>
              <a:t>3/12/2018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8FEE8-FC08-4C54-BE1B-81CB6CA05FC8}" type="datetimeFigureOut">
              <a:rPr lang="en-US" dirty="0"/>
              <a:t>3/12/2018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A528B-AADB-4276-9F0D-B13FCF86F309}" type="datetimeFigureOut">
              <a:rPr lang="en-US" dirty="0"/>
              <a:t>3/12/2018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497F-A1E4-4C0B-8811-954A59B26923}" type="datetimeFigureOut">
              <a:rPr lang="en-US" dirty="0"/>
              <a:t>3/12/2018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24E7-1432-4F89-B9E6-59843C6C91FE}" type="datetimeFigureOut">
              <a:rPr lang="en-US" dirty="0"/>
              <a:t>3/12/2018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AAD9C-D29C-4D1E-A739-CC3C95B41085}" type="datetimeFigureOut">
              <a:rPr lang="en-US" dirty="0"/>
              <a:t>3/12/2018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336BD-BA89-4B92-9DBC-679F61142570}" type="datetimeFigureOut">
              <a:rPr lang="en-US" dirty="0"/>
              <a:t>3/12/2018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CB5C7-A3C7-439B-802A-DFE3FCA7ADBD}" type="datetimeFigureOut">
              <a:rPr lang="en-US" dirty="0"/>
              <a:t>3/12/2018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E65EA-47B7-4DBF-958B-A3D4DA4F431A}" type="datetimeFigureOut">
              <a:rPr lang="en-US" dirty="0"/>
              <a:t>3/12/2018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4AAA-CF98-48DB-9517-D7ADD1FD1213}" type="datetimeFigureOut">
              <a:rPr lang="en-US" dirty="0"/>
              <a:t>3/12/2018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9F696-D0E7-4C66-925E-251F9C0B0F21}" type="datetimeFigureOut">
              <a:rPr lang="en-US" dirty="0"/>
              <a:t>3/12/2018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2732E-4FBC-4B01-A175-6B1CAC9B226D}" type="datetimeFigureOut">
              <a:rPr lang="en-US" dirty="0"/>
              <a:t>3/12/2018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4AFC5-17E4-4A26-A144-49682BD36ECA}" type="datetimeFigureOut">
              <a:rPr lang="en-US" dirty="0"/>
              <a:t>3/12/2018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79482-E0DA-4858-9A19-F8B792C0C3D9}" type="datetimeFigureOut">
              <a:rPr lang="en-US" dirty="0"/>
              <a:t>3/12/2018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DC48ED7C-D9A5-4EA8-B309-6E368BFA8F2B}" type="datetimeFigureOut">
              <a:rPr lang="en-US" dirty="0"/>
              <a:t>3/12/2018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png"/><Relationship Id="rId7" Type="http://schemas.openxmlformats.org/officeDocument/2006/relationships/image" Target="../media/image1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27.png"/><Relationship Id="rId5" Type="http://schemas.openxmlformats.org/officeDocument/2006/relationships/image" Target="../media/image23.png"/><Relationship Id="rId10" Type="http://schemas.openxmlformats.org/officeDocument/2006/relationships/image" Target="../media/image26.png"/><Relationship Id="rId4" Type="http://schemas.openxmlformats.org/officeDocument/2006/relationships/image" Target="../media/image22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9.png"/><Relationship Id="rId7" Type="http://schemas.openxmlformats.org/officeDocument/2006/relationships/image" Target="../media/image1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27.png"/><Relationship Id="rId5" Type="http://schemas.openxmlformats.org/officeDocument/2006/relationships/image" Target="../media/image31.png"/><Relationship Id="rId10" Type="http://schemas.openxmlformats.org/officeDocument/2006/relationships/image" Target="../media/image33.png"/><Relationship Id="rId4" Type="http://schemas.openxmlformats.org/officeDocument/2006/relationships/image" Target="../media/image30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923BE-C0EF-44B1-9FDB-A1130A93BA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21420000">
            <a:off x="1032604" y="1392668"/>
            <a:ext cx="9755187" cy="2766528"/>
          </a:xfrm>
        </p:spPr>
        <p:txBody>
          <a:bodyPr>
            <a:normAutofit fontScale="90000"/>
          </a:bodyPr>
          <a:lstStyle/>
          <a:p>
            <a:r>
              <a:rPr lang="en-AU" dirty="0"/>
              <a:t>Algebra</a:t>
            </a:r>
            <a:br>
              <a:rPr lang="en-AU" dirty="0"/>
            </a:br>
            <a:br>
              <a:rPr lang="en-AU" dirty="0"/>
            </a:br>
            <a:r>
              <a:rPr lang="en-AU" sz="4400" dirty="0"/>
              <a:t>Interactive Notebook </a:t>
            </a:r>
            <a:endParaRPr lang="en-AU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FA17EFD-1356-4883-A84A-E579FA1731EE}"/>
              </a:ext>
            </a:extLst>
          </p:cNvPr>
          <p:cNvSpPr txBox="1">
            <a:spLocks/>
          </p:cNvSpPr>
          <p:nvPr/>
        </p:nvSpPr>
        <p:spPr>
          <a:xfrm>
            <a:off x="791623" y="1753344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28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dirty="0"/>
              <a:t>Name : </a:t>
            </a:r>
          </a:p>
          <a:p>
            <a:pPr algn="l"/>
            <a:r>
              <a:rPr lang="en-AU" dirty="0"/>
              <a:t>Class : </a:t>
            </a:r>
          </a:p>
          <a:p>
            <a:pPr algn="l"/>
            <a:r>
              <a:rPr lang="en-AU" dirty="0"/>
              <a:t>Term 1 Semester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711BA6-0986-49BB-8DBE-3CA464DACAC9}"/>
                  </a:ext>
                </a:extLst>
              </p:cNvPr>
              <p:cNvSpPr txBox="1"/>
              <p:nvPr/>
            </p:nvSpPr>
            <p:spPr>
              <a:xfrm>
                <a:off x="8237318" y="4856364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711BA6-0986-49BB-8DBE-3CA464DAC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7318" y="4856364"/>
                <a:ext cx="2474780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89367B-6917-462A-98DF-32E36AD3FA5C}"/>
                  </a:ext>
                </a:extLst>
              </p:cNvPr>
              <p:cNvSpPr txBox="1"/>
              <p:nvPr/>
            </p:nvSpPr>
            <p:spPr>
              <a:xfrm>
                <a:off x="2088364" y="3885861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89367B-6917-462A-98DF-32E36AD3F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8364" y="3885861"/>
                <a:ext cx="168809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B14D1A-27B8-4E70-8AA0-995A5995C4D8}"/>
                  </a:ext>
                </a:extLst>
              </p:cNvPr>
              <p:cNvSpPr txBox="1"/>
              <p:nvPr/>
            </p:nvSpPr>
            <p:spPr>
              <a:xfrm>
                <a:off x="2728817" y="664562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B14D1A-27B8-4E70-8AA0-995A5995C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817" y="664562"/>
                <a:ext cx="964751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08624D-6B7D-4F2C-B0FE-668B6DB788A2}"/>
                  </a:ext>
                </a:extLst>
              </p:cNvPr>
              <p:cNvSpPr txBox="1"/>
              <p:nvPr/>
            </p:nvSpPr>
            <p:spPr>
              <a:xfrm>
                <a:off x="5241309" y="90156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08624D-6B7D-4F2C-B0FE-668B6DB78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309" y="901568"/>
                <a:ext cx="1054969" cy="11443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9393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38016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639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73592" y="5803"/>
            <a:ext cx="9428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7225" y="374467"/>
            <a:ext cx="601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667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27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9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6200" y="153568"/>
            <a:ext cx="9241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Glossary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24082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024082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096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92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7262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89" y="601549"/>
            <a:ext cx="11592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751" y="1196752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5851" y="1196753"/>
            <a:ext cx="7168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89" y="5373217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5247" y="142494"/>
            <a:ext cx="726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FDD631-7939-46A5-826A-B680CC3558B0}"/>
              </a:ext>
            </a:extLst>
          </p:cNvPr>
          <p:cNvSpPr/>
          <p:nvPr/>
        </p:nvSpPr>
        <p:spPr>
          <a:xfrm>
            <a:off x="428945" y="299549"/>
            <a:ext cx="25106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revision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BD008A-17AB-47DA-A46B-D4AFE56D14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635" t="24743" r="36984" b="51203"/>
          <a:stretch/>
        </p:blipFill>
        <p:spPr>
          <a:xfrm>
            <a:off x="763571" y="1470581"/>
            <a:ext cx="10667372" cy="32522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102BD1-66CA-4395-861E-EF8E239FCD6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026" t="34754" r="37448" b="41428"/>
          <a:stretch/>
        </p:blipFill>
        <p:spPr>
          <a:xfrm>
            <a:off x="763571" y="1399515"/>
            <a:ext cx="10548594" cy="3323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956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7132" y="450511"/>
            <a:ext cx="8610600" cy="1293028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/>
              <a:t>Simplifying Expressions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94268" y="0"/>
            <a:ext cx="0" cy="0"/>
          </a:xfrm>
        </p:spPr>
        <p:txBody>
          <a:bodyPr/>
          <a:lstStyle/>
          <a:p>
            <a:pPr algn="ctr"/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-94268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725" y="1606776"/>
            <a:ext cx="49792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dirty="0"/>
              <a:t>EQ: How do I factorise algebraic expressions?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-94268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475511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-94268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dirty="0"/>
              <a:t>24</a:t>
            </a:r>
          </a:p>
          <a:p>
            <a:pPr algn="ctr"/>
            <a:r>
              <a:rPr lang="en-AU" sz="1600" dirty="0"/>
              <a:t>7</a:t>
            </a:r>
          </a:p>
          <a:p>
            <a:pPr algn="ctr"/>
            <a:r>
              <a:rPr lang="en-AU" sz="1600" dirty="0"/>
              <a:t>30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52AEA3-AEB1-42C6-8BB9-4079304B7994}"/>
              </a:ext>
            </a:extLst>
          </p:cNvPr>
          <p:cNvSpPr txBox="1"/>
          <p:nvPr/>
        </p:nvSpPr>
        <p:spPr>
          <a:xfrm>
            <a:off x="94268" y="2479249"/>
            <a:ext cx="2007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How do I factorise?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234E613-0E84-40F4-9181-AAAEA745AB00}"/>
                  </a:ext>
                </a:extLst>
              </p:cNvPr>
              <p:cNvSpPr txBox="1"/>
              <p:nvPr/>
            </p:nvSpPr>
            <p:spPr>
              <a:xfrm>
                <a:off x="609005" y="2872850"/>
                <a:ext cx="7560297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 + 20</m:t>
                      </m:r>
                    </m:oMath>
                  </m:oMathPara>
                </a14:m>
                <a:endParaRPr lang="en-AU" sz="4000" dirty="0"/>
              </a:p>
              <a:p>
                <a:pPr algn="ctr"/>
                <a:endParaRPr lang="en-AU" sz="40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dirty="0" smtClean="0">
                          <a:latin typeface="Cambria Math" panose="02040503050406030204" pitchFamily="18" charset="0"/>
                        </a:rPr>
                        <m:t>                   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__</m:t>
                      </m:r>
                      <m:r>
                        <a:rPr lang="en-AU" sz="4000" b="0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AU" sz="4000" i="1" dirty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__</m:t>
                      </m:r>
                      <m:r>
                        <a:rPr lang="en-AU" sz="4000" b="0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_  +  _</m:t>
                      </m:r>
                      <m:r>
                        <a:rPr lang="en-AU" sz="4000" b="0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__ </m:t>
                      </m:r>
                      <m:r>
                        <a:rPr lang="en-AU" sz="40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234E613-0E84-40F4-9181-AAAEA745A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005" y="2872850"/>
                <a:ext cx="7560297" cy="19389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57C3804-0EBA-4C47-8D11-85BFB9CEB05B}"/>
              </a:ext>
            </a:extLst>
          </p:cNvPr>
          <p:cNvSpPr txBox="1"/>
          <p:nvPr/>
        </p:nvSpPr>
        <p:spPr>
          <a:xfrm>
            <a:off x="6623306" y="1528287"/>
            <a:ext cx="4157219" cy="193899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rgbClr val="00B050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342900" indent="-342900" algn="ctr">
              <a:buAutoNum type="arabicPeriod"/>
            </a:pPr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Find is the HCF</a:t>
            </a:r>
          </a:p>
          <a:p>
            <a:pPr algn="ctr"/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AU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HIGHEST</a:t>
            </a:r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 common factor)</a:t>
            </a:r>
          </a:p>
          <a:p>
            <a:pPr algn="ctr"/>
            <a:endParaRPr lang="en-A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8 = 1, 2, 4, 8</a:t>
            </a:r>
          </a:p>
          <a:p>
            <a:pPr algn="ctr"/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20 = 1, 2, 4, 5, 10, 20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7969AB6-365A-46F1-BAC9-FC1B36DB126F}"/>
              </a:ext>
            </a:extLst>
          </p:cNvPr>
          <p:cNvSpPr/>
          <p:nvPr/>
        </p:nvSpPr>
        <p:spPr>
          <a:xfrm>
            <a:off x="8898635" y="2588697"/>
            <a:ext cx="415673" cy="5054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5B45EB4-208D-49EA-9CF3-1917016D31C0}"/>
              </a:ext>
            </a:extLst>
          </p:cNvPr>
          <p:cNvSpPr/>
          <p:nvPr/>
        </p:nvSpPr>
        <p:spPr>
          <a:xfrm>
            <a:off x="8494078" y="2970891"/>
            <a:ext cx="415673" cy="5054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C9F48B5-1BE5-4A54-B8B9-89C2CCDEB1EC}"/>
                  </a:ext>
                </a:extLst>
              </p:cNvPr>
              <p:cNvSpPr txBox="1"/>
              <p:nvPr/>
            </p:nvSpPr>
            <p:spPr>
              <a:xfrm>
                <a:off x="3404349" y="4103748"/>
                <a:ext cx="55696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4</m:t>
                      </m:r>
                    </m:oMath>
                  </m:oMathPara>
                </a14:m>
                <a:endParaRPr lang="en-AU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C9F48B5-1BE5-4A54-B8B9-89C2CCDEB1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4349" y="4103748"/>
                <a:ext cx="556967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B38A6ED-A9B0-4961-B5F6-F24DC7893069}"/>
                  </a:ext>
                </a:extLst>
              </p:cNvPr>
              <p:cNvSpPr txBox="1"/>
              <p:nvPr/>
            </p:nvSpPr>
            <p:spPr>
              <a:xfrm>
                <a:off x="4765439" y="4103747"/>
                <a:ext cx="55696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</m:t>
                      </m:r>
                      <m:r>
                        <a:rPr lang="en-AU" sz="32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</m:oMath>
                  </m:oMathPara>
                </a14:m>
                <a:endParaRPr lang="en-AU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B38A6ED-A9B0-4961-B5F6-F24DC7893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5439" y="4103747"/>
                <a:ext cx="556967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06CF620-41F7-473E-935A-D3671C773D2D}"/>
                  </a:ext>
                </a:extLst>
              </p:cNvPr>
              <p:cNvSpPr txBox="1"/>
              <p:nvPr/>
            </p:nvSpPr>
            <p:spPr>
              <a:xfrm>
                <a:off x="6552212" y="4069894"/>
                <a:ext cx="59330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5</m:t>
                      </m:r>
                    </m:oMath>
                  </m:oMathPara>
                </a14:m>
                <a:endParaRPr lang="en-AU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06CF620-41F7-473E-935A-D3671C773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2212" y="4069894"/>
                <a:ext cx="593306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row: Curved Right 12">
            <a:extLst>
              <a:ext uri="{FF2B5EF4-FFF2-40B4-BE49-F238E27FC236}">
                <a16:creationId xmlns:a16="http://schemas.microsoft.com/office/drawing/2014/main" id="{7ED256A4-38B5-4FA4-AC96-2B4BB747DB10}"/>
              </a:ext>
            </a:extLst>
          </p:cNvPr>
          <p:cNvSpPr/>
          <p:nvPr/>
        </p:nvSpPr>
        <p:spPr>
          <a:xfrm rot="16200000">
            <a:off x="4084569" y="4280963"/>
            <a:ext cx="514898" cy="157665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4ADAC3F-7528-41A0-84CB-17B9F82860EE}"/>
                  </a:ext>
                </a:extLst>
              </p:cNvPr>
              <p:cNvSpPr txBox="1"/>
              <p:nvPr/>
            </p:nvSpPr>
            <p:spPr>
              <a:xfrm>
                <a:off x="4128940" y="5401559"/>
                <a:ext cx="5467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4ADAC3F-7528-41A0-84CB-17B9F8286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8940" y="5401559"/>
                <a:ext cx="546755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Arrow: Curved Right 20">
            <a:extLst>
              <a:ext uri="{FF2B5EF4-FFF2-40B4-BE49-F238E27FC236}">
                <a16:creationId xmlns:a16="http://schemas.microsoft.com/office/drawing/2014/main" id="{C2EDBFBD-AC03-44FB-9C63-75BC9340E016}"/>
              </a:ext>
            </a:extLst>
          </p:cNvPr>
          <p:cNvSpPr/>
          <p:nvPr/>
        </p:nvSpPr>
        <p:spPr>
          <a:xfrm rot="16200000">
            <a:off x="4955466" y="3420088"/>
            <a:ext cx="514898" cy="331845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8A21942-5E9C-4109-AEC8-5CAA8E921AC4}"/>
                  </a:ext>
                </a:extLst>
              </p:cNvPr>
              <p:cNvSpPr txBox="1"/>
              <p:nvPr/>
            </p:nvSpPr>
            <p:spPr>
              <a:xfrm>
                <a:off x="4939537" y="5373255"/>
                <a:ext cx="5467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8A21942-5E9C-4109-AEC8-5CAA8E921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9537" y="5373255"/>
                <a:ext cx="546755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D8AC290-4029-4FAF-85EF-54BDF7E32095}"/>
                  </a:ext>
                </a:extLst>
              </p:cNvPr>
              <p:cNvSpPr txBox="1"/>
              <p:nvPr/>
            </p:nvSpPr>
            <p:spPr>
              <a:xfrm>
                <a:off x="4116636" y="5853956"/>
                <a:ext cx="3972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D8AC290-4029-4FAF-85EF-54BDF7E32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636" y="5853956"/>
                <a:ext cx="397225" cy="369332"/>
              </a:xfrm>
              <a:prstGeom prst="rect">
                <a:avLst/>
              </a:prstGeom>
              <a:blipFill>
                <a:blip r:embed="rId8"/>
                <a:stretch>
                  <a:fillRect l="-18462" r="-20000" b="-98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F22E98C-8AA2-4EA7-B3B1-156593C585BA}"/>
                  </a:ext>
                </a:extLst>
              </p:cNvPr>
              <p:cNvSpPr txBox="1"/>
              <p:nvPr/>
            </p:nvSpPr>
            <p:spPr>
              <a:xfrm>
                <a:off x="4627935" y="5834920"/>
                <a:ext cx="28373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F22E98C-8AA2-4EA7-B3B1-156593C58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7935" y="5834920"/>
                <a:ext cx="283731" cy="369332"/>
              </a:xfrm>
              <a:prstGeom prst="rect">
                <a:avLst/>
              </a:prstGeom>
              <a:blipFill>
                <a:blip r:embed="rId9"/>
                <a:stretch>
                  <a:fillRect l="-23404" r="-23404" b="-81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CEA5413-A48B-4837-8279-4362A4AA6B10}"/>
                  </a:ext>
                </a:extLst>
              </p:cNvPr>
              <p:cNvSpPr txBox="1"/>
              <p:nvPr/>
            </p:nvSpPr>
            <p:spPr>
              <a:xfrm>
                <a:off x="5016322" y="5853956"/>
                <a:ext cx="39433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CEA5413-A48B-4837-8279-4362A4AA6B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322" y="5853956"/>
                <a:ext cx="394339" cy="369332"/>
              </a:xfrm>
              <a:prstGeom prst="rect">
                <a:avLst/>
              </a:prstGeom>
              <a:blipFill>
                <a:blip r:embed="rId10"/>
                <a:stretch>
                  <a:fillRect l="-20000" r="-20000" b="-98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1355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 animBg="1"/>
      <p:bldP spid="12" grpId="0"/>
      <p:bldP spid="18" grpId="0"/>
      <p:bldP spid="19" grpId="0"/>
      <p:bldP spid="13" grpId="0" animBg="1"/>
      <p:bldP spid="13" grpId="1" animBg="1"/>
      <p:bldP spid="20" grpId="0"/>
      <p:bldP spid="20" grpId="1"/>
      <p:bldP spid="21" grpId="0" animBg="1"/>
      <p:bldP spid="21" grpId="1" animBg="1"/>
      <p:bldP spid="22" grpId="0"/>
      <p:bldP spid="22" grpId="1"/>
      <p:bldP spid="23" grpId="0"/>
      <p:bldP spid="24" grpId="0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AC985-994D-4ADF-8F80-74F1ADF38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3EAB98-047F-46A1-BE25-8C5F385E3912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361220" y="1580535"/>
                <a:ext cx="10394707" cy="3311189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+12</m:t>
                    </m:r>
                  </m:oMath>
                </a14:m>
                <a:endParaRPr lang="en-AU" sz="3200" b="0" dirty="0"/>
              </a:p>
              <a:p>
                <a:pPr marL="0" indent="0">
                  <a:buNone/>
                </a:pPr>
                <a:r>
                  <a:rPr lang="en-AU" sz="3200" dirty="0"/>
                  <a:t> </a:t>
                </a:r>
                <a14:m>
                  <m:oMath xmlns:m="http://schemas.openxmlformats.org/officeDocument/2006/math">
                    <m:r>
                      <a:rPr lang="en-AU" sz="3200" i="1" dirty="0" smtClean="0">
                        <a:latin typeface="Cambria Math" panose="02040503050406030204" pitchFamily="18" charset="0"/>
                      </a:rPr>
                      <m:t>____</m:t>
                    </m:r>
                    <m:r>
                      <a:rPr lang="en-AU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3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3200" i="1" dirty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AU" sz="3200" i="1" dirty="0" smtClean="0">
                        <a:latin typeface="Cambria Math" panose="02040503050406030204" pitchFamily="18" charset="0"/>
                      </a:rPr>
                      <m:t>____</m:t>
                    </m:r>
                    <m:r>
                      <a:rPr lang="en-AU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32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3200" i="1" dirty="0" smtClean="0">
                        <a:latin typeface="Cambria Math" panose="02040503050406030204" pitchFamily="18" charset="0"/>
                      </a:rPr>
                      <m:t>____ </m:t>
                    </m:r>
                    <m:r>
                      <a:rPr lang="en-AU" sz="3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3200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AU" sz="3200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AU" sz="3200" dirty="0"/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 5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+15</m:t>
                    </m:r>
                  </m:oMath>
                </a14:m>
                <a:endParaRPr lang="en-AU" sz="32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AU" sz="3200" i="1" dirty="0">
                        <a:latin typeface="Cambria Math" panose="02040503050406030204" pitchFamily="18" charset="0"/>
                      </a:rPr>
                      <m:t>____ (  ____ + ____ )</m:t>
                    </m:r>
                  </m:oMath>
                </a14:m>
                <a:r>
                  <a:rPr lang="en-AU" sz="3200" dirty="0"/>
                  <a:t> </a:t>
                </a:r>
              </a:p>
              <a:p>
                <a:pPr marL="0" indent="0">
                  <a:buNone/>
                </a:pPr>
                <a:endParaRPr lang="en-AU" sz="32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3EAB98-047F-46A1-BE25-8C5F385E39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361220" y="1580535"/>
                <a:ext cx="10394707" cy="3311189"/>
              </a:xfrm>
              <a:blipFill>
                <a:blip r:embed="rId2"/>
                <a:stretch>
                  <a:fillRect t="-20074" b="-36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8506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7132" y="450511"/>
            <a:ext cx="8610600" cy="1293028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/>
              <a:t>Simplifying Expressions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94268" y="0"/>
            <a:ext cx="0" cy="0"/>
          </a:xfrm>
        </p:spPr>
        <p:txBody>
          <a:bodyPr/>
          <a:lstStyle/>
          <a:p>
            <a:pPr algn="ctr"/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-94268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725" y="1606776"/>
            <a:ext cx="49792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dirty="0"/>
              <a:t>EQ: How do I factorise algebraic expressions?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-94268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475511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-94268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dirty="0"/>
              <a:t>24</a:t>
            </a:r>
          </a:p>
          <a:p>
            <a:pPr algn="ctr"/>
            <a:r>
              <a:rPr lang="en-AU" sz="1600" dirty="0"/>
              <a:t>7</a:t>
            </a:r>
          </a:p>
          <a:p>
            <a:pPr algn="ctr"/>
            <a:r>
              <a:rPr lang="en-AU" sz="1600" dirty="0"/>
              <a:t>30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52AEA3-AEB1-42C6-8BB9-4079304B7994}"/>
              </a:ext>
            </a:extLst>
          </p:cNvPr>
          <p:cNvSpPr txBox="1"/>
          <p:nvPr/>
        </p:nvSpPr>
        <p:spPr>
          <a:xfrm>
            <a:off x="94268" y="2479249"/>
            <a:ext cx="2007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How do I factorise?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234E613-0E84-40F4-9181-AAAEA745AB00}"/>
                  </a:ext>
                </a:extLst>
              </p:cNvPr>
              <p:cNvSpPr txBox="1"/>
              <p:nvPr/>
            </p:nvSpPr>
            <p:spPr>
              <a:xfrm>
                <a:off x="609005" y="2872850"/>
                <a:ext cx="7560297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dirty="0" smtClean="0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 + 20</m:t>
                      </m:r>
                      <m:r>
                        <a:rPr lang="en-AU" sz="4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4000" dirty="0"/>
              </a:p>
              <a:p>
                <a:pPr algn="ctr"/>
                <a:endParaRPr lang="en-AU" sz="40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dirty="0" smtClean="0">
                          <a:latin typeface="Cambria Math" panose="02040503050406030204" pitchFamily="18" charset="0"/>
                        </a:rPr>
                        <m:t>                   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__</m:t>
                      </m:r>
                      <m:r>
                        <a:rPr lang="en-AU" sz="4000" b="0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AU" sz="4000" i="1" dirty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__</m:t>
                      </m:r>
                      <m:r>
                        <a:rPr lang="en-AU" sz="4000" b="0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_  +  _</m:t>
                      </m:r>
                      <m:r>
                        <a:rPr lang="en-AU" sz="4000" b="0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__ </m:t>
                      </m:r>
                      <m:r>
                        <a:rPr lang="en-AU" sz="40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234E613-0E84-40F4-9181-AAAEA745A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005" y="2872850"/>
                <a:ext cx="7560297" cy="19389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57C3804-0EBA-4C47-8D11-85BFB9CEB05B}"/>
              </a:ext>
            </a:extLst>
          </p:cNvPr>
          <p:cNvSpPr txBox="1"/>
          <p:nvPr/>
        </p:nvSpPr>
        <p:spPr>
          <a:xfrm>
            <a:off x="6623306" y="1528287"/>
            <a:ext cx="4157219" cy="193899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rgbClr val="00B050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342900" indent="-342900" algn="ctr">
              <a:buAutoNum type="arabicPeriod"/>
            </a:pPr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Find is the HCF</a:t>
            </a:r>
          </a:p>
          <a:p>
            <a:pPr algn="ctr"/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AU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HIGHEST</a:t>
            </a:r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 common factor)</a:t>
            </a:r>
          </a:p>
          <a:p>
            <a:pPr algn="ctr"/>
            <a:endParaRPr lang="en-A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15 = 1, 3, 5, 15</a:t>
            </a:r>
          </a:p>
          <a:p>
            <a:pPr algn="ctr"/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20 = 1, 2, 4, 5, 10, 20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7969AB6-365A-46F1-BAC9-FC1B36DB126F}"/>
              </a:ext>
            </a:extLst>
          </p:cNvPr>
          <p:cNvSpPr/>
          <p:nvPr/>
        </p:nvSpPr>
        <p:spPr>
          <a:xfrm>
            <a:off x="8918910" y="2609933"/>
            <a:ext cx="415673" cy="5054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5B45EB4-208D-49EA-9CF3-1917016D31C0}"/>
              </a:ext>
            </a:extLst>
          </p:cNvPr>
          <p:cNvSpPr/>
          <p:nvPr/>
        </p:nvSpPr>
        <p:spPr>
          <a:xfrm>
            <a:off x="8819751" y="3010396"/>
            <a:ext cx="415673" cy="5054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C9F48B5-1BE5-4A54-B8B9-89C2CCDEB1EC}"/>
                  </a:ext>
                </a:extLst>
              </p:cNvPr>
              <p:cNvSpPr txBox="1"/>
              <p:nvPr/>
            </p:nvSpPr>
            <p:spPr>
              <a:xfrm>
                <a:off x="3404349" y="4103748"/>
                <a:ext cx="55696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5</m:t>
                      </m:r>
                    </m:oMath>
                  </m:oMathPara>
                </a14:m>
                <a:endParaRPr lang="en-AU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C9F48B5-1BE5-4A54-B8B9-89C2CCDEB1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4349" y="4103748"/>
                <a:ext cx="556967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B38A6ED-A9B0-4961-B5F6-F24DC7893069}"/>
                  </a:ext>
                </a:extLst>
              </p:cNvPr>
              <p:cNvSpPr txBox="1"/>
              <p:nvPr/>
            </p:nvSpPr>
            <p:spPr>
              <a:xfrm>
                <a:off x="4765439" y="4103747"/>
                <a:ext cx="55696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3</m:t>
                      </m:r>
                    </m:oMath>
                  </m:oMathPara>
                </a14:m>
                <a:endParaRPr lang="en-AU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B38A6ED-A9B0-4961-B5F6-F24DC7893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5439" y="4103747"/>
                <a:ext cx="556967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06CF620-41F7-473E-935A-D3671C773D2D}"/>
                  </a:ext>
                </a:extLst>
              </p:cNvPr>
              <p:cNvSpPr txBox="1"/>
              <p:nvPr/>
            </p:nvSpPr>
            <p:spPr>
              <a:xfrm>
                <a:off x="6552212" y="4069894"/>
                <a:ext cx="59330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4</m:t>
                      </m:r>
                    </m:oMath>
                  </m:oMathPara>
                </a14:m>
                <a:endParaRPr lang="en-AU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06CF620-41F7-473E-935A-D3671C773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2212" y="4069894"/>
                <a:ext cx="593306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row: Curved Right 12">
            <a:extLst>
              <a:ext uri="{FF2B5EF4-FFF2-40B4-BE49-F238E27FC236}">
                <a16:creationId xmlns:a16="http://schemas.microsoft.com/office/drawing/2014/main" id="{7ED256A4-38B5-4FA4-AC96-2B4BB747DB10}"/>
              </a:ext>
            </a:extLst>
          </p:cNvPr>
          <p:cNvSpPr/>
          <p:nvPr/>
        </p:nvSpPr>
        <p:spPr>
          <a:xfrm rot="16200000">
            <a:off x="4084569" y="4280963"/>
            <a:ext cx="514898" cy="157665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4ADAC3F-7528-41A0-84CB-17B9F82860EE}"/>
                  </a:ext>
                </a:extLst>
              </p:cNvPr>
              <p:cNvSpPr txBox="1"/>
              <p:nvPr/>
            </p:nvSpPr>
            <p:spPr>
              <a:xfrm>
                <a:off x="4128940" y="5401559"/>
                <a:ext cx="5467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4ADAC3F-7528-41A0-84CB-17B9F8286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8940" y="5401559"/>
                <a:ext cx="546755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Arrow: Curved Right 20">
            <a:extLst>
              <a:ext uri="{FF2B5EF4-FFF2-40B4-BE49-F238E27FC236}">
                <a16:creationId xmlns:a16="http://schemas.microsoft.com/office/drawing/2014/main" id="{C2EDBFBD-AC03-44FB-9C63-75BC9340E016}"/>
              </a:ext>
            </a:extLst>
          </p:cNvPr>
          <p:cNvSpPr/>
          <p:nvPr/>
        </p:nvSpPr>
        <p:spPr>
          <a:xfrm rot="16200000">
            <a:off x="4955466" y="3420088"/>
            <a:ext cx="514898" cy="331845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8A21942-5E9C-4109-AEC8-5CAA8E921AC4}"/>
                  </a:ext>
                </a:extLst>
              </p:cNvPr>
              <p:cNvSpPr txBox="1"/>
              <p:nvPr/>
            </p:nvSpPr>
            <p:spPr>
              <a:xfrm>
                <a:off x="4939537" y="5373255"/>
                <a:ext cx="5467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8A21942-5E9C-4109-AEC8-5CAA8E921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9537" y="5373255"/>
                <a:ext cx="546755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D8AC290-4029-4FAF-85EF-54BDF7E32095}"/>
                  </a:ext>
                </a:extLst>
              </p:cNvPr>
              <p:cNvSpPr txBox="1"/>
              <p:nvPr/>
            </p:nvSpPr>
            <p:spPr>
              <a:xfrm>
                <a:off x="4116636" y="5853956"/>
                <a:ext cx="56714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D8AC290-4029-4FAF-85EF-54BDF7E32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636" y="5853956"/>
                <a:ext cx="567143" cy="369332"/>
              </a:xfrm>
              <a:prstGeom prst="rect">
                <a:avLst/>
              </a:prstGeom>
              <a:blipFill>
                <a:blip r:embed="rId8"/>
                <a:stretch>
                  <a:fillRect l="-13978" r="-15054" b="-114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F22E98C-8AA2-4EA7-B3B1-156593C585BA}"/>
                  </a:ext>
                </a:extLst>
              </p:cNvPr>
              <p:cNvSpPr txBox="1"/>
              <p:nvPr/>
            </p:nvSpPr>
            <p:spPr>
              <a:xfrm>
                <a:off x="4696083" y="5853956"/>
                <a:ext cx="28373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F22E98C-8AA2-4EA7-B3B1-156593C58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6083" y="5853956"/>
                <a:ext cx="283731" cy="369332"/>
              </a:xfrm>
              <a:prstGeom prst="rect">
                <a:avLst/>
              </a:prstGeom>
              <a:blipFill>
                <a:blip r:embed="rId9"/>
                <a:stretch>
                  <a:fillRect l="-23404" r="-23404" b="-81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CEA5413-A48B-4837-8279-4362A4AA6B10}"/>
                  </a:ext>
                </a:extLst>
              </p:cNvPr>
              <p:cNvSpPr txBox="1"/>
              <p:nvPr/>
            </p:nvSpPr>
            <p:spPr>
              <a:xfrm>
                <a:off x="5016322" y="5853956"/>
                <a:ext cx="56714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CEA5413-A48B-4837-8279-4362A4AA6B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322" y="5853956"/>
                <a:ext cx="567143" cy="369332"/>
              </a:xfrm>
              <a:prstGeom prst="rect">
                <a:avLst/>
              </a:prstGeom>
              <a:blipFill>
                <a:blip r:embed="rId10"/>
                <a:stretch>
                  <a:fillRect l="-13978" r="-12903" b="-98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CAB3E0D-0BF4-4F50-8CCA-6869890C0DBC}"/>
              </a:ext>
            </a:extLst>
          </p:cNvPr>
          <p:cNvSpPr txBox="1"/>
          <p:nvPr/>
        </p:nvSpPr>
        <p:spPr>
          <a:xfrm>
            <a:off x="7913302" y="3934469"/>
            <a:ext cx="3401795" cy="46166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rgbClr val="00B05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2. Same variables??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A06EF36-15FD-4281-9D84-DFBF7D99239C}"/>
                  </a:ext>
                </a:extLst>
              </p:cNvPr>
              <p:cNvSpPr txBox="1"/>
              <p:nvPr/>
            </p:nvSpPr>
            <p:spPr>
              <a:xfrm>
                <a:off x="3637757" y="4100695"/>
                <a:ext cx="55696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</m:oMath>
                  </m:oMathPara>
                </a14:m>
                <a:endParaRPr lang="en-AU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A06EF36-15FD-4281-9D84-DFBF7D992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7757" y="4100695"/>
                <a:ext cx="556967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6923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 animBg="1"/>
      <p:bldP spid="12" grpId="0"/>
      <p:bldP spid="18" grpId="0"/>
      <p:bldP spid="19" grpId="0"/>
      <p:bldP spid="13" grpId="0" animBg="1"/>
      <p:bldP spid="13" grpId="1" animBg="1"/>
      <p:bldP spid="20" grpId="0"/>
      <p:bldP spid="20" grpId="1"/>
      <p:bldP spid="21" grpId="0" animBg="1"/>
      <p:bldP spid="21" grpId="1" animBg="1"/>
      <p:bldP spid="22" grpId="0"/>
      <p:bldP spid="22" grpId="1"/>
      <p:bldP spid="23" grpId="0"/>
      <p:bldP spid="24" grpId="0"/>
      <p:bldP spid="25" grpId="0"/>
      <p:bldP spid="11" grpId="0" animBg="1"/>
      <p:bldP spid="2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7132" y="450511"/>
            <a:ext cx="8610600" cy="1293028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/>
              <a:t>Simplifying Expressions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94268" y="0"/>
            <a:ext cx="0" cy="0"/>
          </a:xfrm>
        </p:spPr>
        <p:txBody>
          <a:bodyPr/>
          <a:lstStyle/>
          <a:p>
            <a:pPr algn="ctr"/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-94268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725" y="1606776"/>
            <a:ext cx="49792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dirty="0"/>
              <a:t>EQ: How do I factorise algebraic expressions?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-94268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475511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-94268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dirty="0"/>
              <a:t>24</a:t>
            </a:r>
          </a:p>
          <a:p>
            <a:pPr algn="ctr"/>
            <a:r>
              <a:rPr lang="en-AU" sz="1600" dirty="0"/>
              <a:t>7</a:t>
            </a:r>
          </a:p>
          <a:p>
            <a:pPr algn="ctr"/>
            <a:r>
              <a:rPr lang="en-AU" sz="1600" dirty="0"/>
              <a:t>30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52AEA3-AEB1-42C6-8BB9-4079304B7994}"/>
              </a:ext>
            </a:extLst>
          </p:cNvPr>
          <p:cNvSpPr txBox="1"/>
          <p:nvPr/>
        </p:nvSpPr>
        <p:spPr>
          <a:xfrm>
            <a:off x="94268" y="2479249"/>
            <a:ext cx="2007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How do I factorise?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234E613-0E84-40F4-9181-AAAEA745AB00}"/>
                  </a:ext>
                </a:extLst>
              </p:cNvPr>
              <p:cNvSpPr txBox="1"/>
              <p:nvPr/>
            </p:nvSpPr>
            <p:spPr>
              <a:xfrm>
                <a:off x="609005" y="2872850"/>
                <a:ext cx="7560297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dirty="0" smtClean="0">
                          <a:latin typeface="Cambria Math" panose="02040503050406030204" pitchFamily="18" charset="0"/>
                        </a:rPr>
                        <m:t>18</m:t>
                      </m:r>
                      <m:r>
                        <a:rPr lang="en-AU" sz="4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4000" b="0" i="1" dirty="0" smtClean="0">
                          <a:latin typeface="Cambria Math" panose="02040503050406030204" pitchFamily="18" charset="0"/>
                        </a:rPr>
                        <m:t>²+ 20</m:t>
                      </m:r>
                      <m:r>
                        <a:rPr lang="en-AU" sz="4000" b="0" i="1" dirty="0" smtClean="0">
                          <a:latin typeface="Cambria Math" panose="02040503050406030204" pitchFamily="18" charset="0"/>
                        </a:rPr>
                        <m:t>𝑥𝑦</m:t>
                      </m:r>
                    </m:oMath>
                  </m:oMathPara>
                </a14:m>
                <a:endParaRPr lang="en-AU" sz="4000" dirty="0"/>
              </a:p>
              <a:p>
                <a:pPr algn="ctr"/>
                <a:endParaRPr lang="en-AU" sz="40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dirty="0" smtClean="0">
                          <a:latin typeface="Cambria Math" panose="02040503050406030204" pitchFamily="18" charset="0"/>
                        </a:rPr>
                        <m:t>                   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__</m:t>
                      </m:r>
                      <m:r>
                        <a:rPr lang="en-AU" sz="4000" b="0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AU" sz="4000" i="1" dirty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__</m:t>
                      </m:r>
                      <m:r>
                        <a:rPr lang="en-AU" sz="4000" b="0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_  +  _</m:t>
                      </m:r>
                      <m:r>
                        <a:rPr lang="en-AU" sz="4000" b="0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__ </m:t>
                      </m:r>
                      <m:r>
                        <a:rPr lang="en-AU" sz="40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234E613-0E84-40F4-9181-AAAEA745A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005" y="2872850"/>
                <a:ext cx="7560297" cy="19389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57C3804-0EBA-4C47-8D11-85BFB9CEB05B}"/>
              </a:ext>
            </a:extLst>
          </p:cNvPr>
          <p:cNvSpPr txBox="1"/>
          <p:nvPr/>
        </p:nvSpPr>
        <p:spPr>
          <a:xfrm>
            <a:off x="6623306" y="1528287"/>
            <a:ext cx="4157219" cy="8309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rgbClr val="00B050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342900" indent="-342900" algn="ctr">
              <a:buAutoNum type="arabicPeriod"/>
            </a:pPr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Find is the HCF</a:t>
            </a:r>
          </a:p>
          <a:p>
            <a:pPr algn="ctr"/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AU" sz="24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lHIGHEST</a:t>
            </a:r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 common factor)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C9F48B5-1BE5-4A54-B8B9-89C2CCDEB1EC}"/>
                  </a:ext>
                </a:extLst>
              </p:cNvPr>
              <p:cNvSpPr txBox="1"/>
              <p:nvPr/>
            </p:nvSpPr>
            <p:spPr>
              <a:xfrm>
                <a:off x="3407350" y="4081137"/>
                <a:ext cx="55805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</m:t>
                      </m:r>
                    </m:oMath>
                  </m:oMathPara>
                </a14:m>
                <a:endParaRPr lang="en-AU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C9F48B5-1BE5-4A54-B8B9-89C2CCDEB1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7350" y="4081137"/>
                <a:ext cx="55805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B38A6ED-A9B0-4961-B5F6-F24DC7893069}"/>
                  </a:ext>
                </a:extLst>
              </p:cNvPr>
              <p:cNvSpPr txBox="1"/>
              <p:nvPr/>
            </p:nvSpPr>
            <p:spPr>
              <a:xfrm>
                <a:off x="4765439" y="4103747"/>
                <a:ext cx="55696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9</m:t>
                      </m:r>
                      <m:r>
                        <a:rPr lang="en-AU" sz="32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</m:oMath>
                  </m:oMathPara>
                </a14:m>
                <a:endParaRPr lang="en-AU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B38A6ED-A9B0-4961-B5F6-F24DC7893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5439" y="4103747"/>
                <a:ext cx="556967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06CF620-41F7-473E-935A-D3671C773D2D}"/>
                  </a:ext>
                </a:extLst>
              </p:cNvPr>
              <p:cNvSpPr txBox="1"/>
              <p:nvPr/>
            </p:nvSpPr>
            <p:spPr>
              <a:xfrm>
                <a:off x="6552212" y="4069894"/>
                <a:ext cx="59330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10</m:t>
                      </m:r>
                      <m:r>
                        <a:rPr lang="en-AU" sz="32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06CF620-41F7-473E-935A-D3671C773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2212" y="4069894"/>
                <a:ext cx="593306" cy="584775"/>
              </a:xfrm>
              <a:prstGeom prst="rect">
                <a:avLst/>
              </a:prstGeom>
              <a:blipFill>
                <a:blip r:embed="rId5"/>
                <a:stretch>
                  <a:fillRect l="-123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row: Curved Right 12">
            <a:extLst>
              <a:ext uri="{FF2B5EF4-FFF2-40B4-BE49-F238E27FC236}">
                <a16:creationId xmlns:a16="http://schemas.microsoft.com/office/drawing/2014/main" id="{7ED256A4-38B5-4FA4-AC96-2B4BB747DB10}"/>
              </a:ext>
            </a:extLst>
          </p:cNvPr>
          <p:cNvSpPr/>
          <p:nvPr/>
        </p:nvSpPr>
        <p:spPr>
          <a:xfrm rot="16200000">
            <a:off x="4084569" y="4280963"/>
            <a:ext cx="514898" cy="157665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4ADAC3F-7528-41A0-84CB-17B9F82860EE}"/>
                  </a:ext>
                </a:extLst>
              </p:cNvPr>
              <p:cNvSpPr txBox="1"/>
              <p:nvPr/>
            </p:nvSpPr>
            <p:spPr>
              <a:xfrm>
                <a:off x="4128940" y="5401559"/>
                <a:ext cx="5467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4ADAC3F-7528-41A0-84CB-17B9F8286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8940" y="5401559"/>
                <a:ext cx="546755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Arrow: Curved Right 20">
            <a:extLst>
              <a:ext uri="{FF2B5EF4-FFF2-40B4-BE49-F238E27FC236}">
                <a16:creationId xmlns:a16="http://schemas.microsoft.com/office/drawing/2014/main" id="{C2EDBFBD-AC03-44FB-9C63-75BC9340E016}"/>
              </a:ext>
            </a:extLst>
          </p:cNvPr>
          <p:cNvSpPr/>
          <p:nvPr/>
        </p:nvSpPr>
        <p:spPr>
          <a:xfrm rot="16200000">
            <a:off x="4955466" y="3420088"/>
            <a:ext cx="514898" cy="331845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8A21942-5E9C-4109-AEC8-5CAA8E921AC4}"/>
                  </a:ext>
                </a:extLst>
              </p:cNvPr>
              <p:cNvSpPr txBox="1"/>
              <p:nvPr/>
            </p:nvSpPr>
            <p:spPr>
              <a:xfrm>
                <a:off x="4939537" y="5373255"/>
                <a:ext cx="5467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8A21942-5E9C-4109-AEC8-5CAA8E921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9537" y="5373255"/>
                <a:ext cx="546755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D8AC290-4029-4FAF-85EF-54BDF7E32095}"/>
                  </a:ext>
                </a:extLst>
              </p:cNvPr>
              <p:cNvSpPr txBox="1"/>
              <p:nvPr/>
            </p:nvSpPr>
            <p:spPr>
              <a:xfrm>
                <a:off x="3973750" y="5853956"/>
                <a:ext cx="6828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18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²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D8AC290-4029-4FAF-85EF-54BDF7E32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3750" y="5853956"/>
                <a:ext cx="682879" cy="369332"/>
              </a:xfrm>
              <a:prstGeom prst="rect">
                <a:avLst/>
              </a:prstGeom>
              <a:blipFill>
                <a:blip r:embed="rId8"/>
                <a:stretch>
                  <a:fillRect l="-14286" t="-3279" r="-15179" b="-1475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F22E98C-8AA2-4EA7-B3B1-156593C585BA}"/>
                  </a:ext>
                </a:extLst>
              </p:cNvPr>
              <p:cNvSpPr txBox="1"/>
              <p:nvPr/>
            </p:nvSpPr>
            <p:spPr>
              <a:xfrm>
                <a:off x="4696083" y="5853956"/>
                <a:ext cx="28373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F22E98C-8AA2-4EA7-B3B1-156593C58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6083" y="5853956"/>
                <a:ext cx="283731" cy="369332"/>
              </a:xfrm>
              <a:prstGeom prst="rect">
                <a:avLst/>
              </a:prstGeom>
              <a:blipFill>
                <a:blip r:embed="rId9"/>
                <a:stretch>
                  <a:fillRect l="-23404" r="-23404" b="-81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CEA5413-A48B-4837-8279-4362A4AA6B10}"/>
                  </a:ext>
                </a:extLst>
              </p:cNvPr>
              <p:cNvSpPr txBox="1"/>
              <p:nvPr/>
            </p:nvSpPr>
            <p:spPr>
              <a:xfrm>
                <a:off x="5016322" y="5853956"/>
                <a:ext cx="7346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𝑥𝑦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CEA5413-A48B-4837-8279-4362A4AA6B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322" y="5853956"/>
                <a:ext cx="734625" cy="369332"/>
              </a:xfrm>
              <a:prstGeom prst="rect">
                <a:avLst/>
              </a:prstGeom>
              <a:blipFill>
                <a:blip r:embed="rId10"/>
                <a:stretch>
                  <a:fillRect l="-15000" r="-15833" b="-3606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CAB3E0D-0BF4-4F50-8CCA-6869890C0DBC}"/>
              </a:ext>
            </a:extLst>
          </p:cNvPr>
          <p:cNvSpPr txBox="1"/>
          <p:nvPr/>
        </p:nvSpPr>
        <p:spPr>
          <a:xfrm>
            <a:off x="7913302" y="3934469"/>
            <a:ext cx="3401795" cy="46166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rgbClr val="00B05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2. Same variables??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A06EF36-15FD-4281-9D84-DFBF7D99239C}"/>
                  </a:ext>
                </a:extLst>
              </p:cNvPr>
              <p:cNvSpPr txBox="1"/>
              <p:nvPr/>
            </p:nvSpPr>
            <p:spPr>
              <a:xfrm>
                <a:off x="3637757" y="4100695"/>
                <a:ext cx="55696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</m:oMath>
                  </m:oMathPara>
                </a14:m>
                <a:endParaRPr lang="en-AU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A06EF36-15FD-4281-9D84-DFBF7D992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7757" y="4100695"/>
                <a:ext cx="556967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0088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19" grpId="0"/>
      <p:bldP spid="13" grpId="0" animBg="1"/>
      <p:bldP spid="13" grpId="1" animBg="1"/>
      <p:bldP spid="20" grpId="0"/>
      <p:bldP spid="20" grpId="1"/>
      <p:bldP spid="21" grpId="0" animBg="1"/>
      <p:bldP spid="21" grpId="1" animBg="1"/>
      <p:bldP spid="22" grpId="0"/>
      <p:bldP spid="22" grpId="1"/>
      <p:bldP spid="23" grpId="0"/>
      <p:bldP spid="24" grpId="0"/>
      <p:bldP spid="25" grpId="0"/>
      <p:bldP spid="11" grpId="0" animBg="1"/>
      <p:bldP spid="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AC985-994D-4ADF-8F80-74F1ADF38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3EAB98-047F-46A1-BE25-8C5F385E3912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774175" y="1138084"/>
                <a:ext cx="10394707" cy="3311189"/>
              </a:xfr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 6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 −2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3200" dirty="0"/>
              </a:p>
              <a:p>
                <a:endParaRPr lang="en-AU" sz="3200" dirty="0"/>
              </a:p>
              <a:p>
                <a:endParaRPr lang="en-AU" sz="3200" dirty="0"/>
              </a:p>
              <a:p>
                <a:pPr marL="0" indent="0">
                  <a:buNone/>
                </a:pPr>
                <a:endParaRPr lang="en-AU" sz="3200" dirty="0"/>
              </a:p>
              <a:p>
                <a14:m>
                  <m:oMath xmlns:m="http://schemas.openxmlformats.org/officeDocument/2006/math"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  12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𝑠</m:t>
                    </m:r>
                    <m:sSup>
                      <m:sSupPr>
                        <m:ctrlPr>
                          <a:rPr lang="en-AU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+5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AU" sz="32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sz="2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3EAB98-047F-46A1-BE25-8C5F385E39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774175" y="1138084"/>
                <a:ext cx="10394707" cy="3311189"/>
              </a:xfrm>
              <a:blipFill>
                <a:blip r:embed="rId2"/>
                <a:stretch>
                  <a:fillRect t="-773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2437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04678-4740-4CF7-8324-E0E185A24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Factorising bingo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2E28C-0F38-44BB-901A-45F5C7EFE00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23906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EE8011"/>
      </a:accent1>
      <a:accent2>
        <a:srgbClr val="CEC079"/>
      </a:accent2>
      <a:accent3>
        <a:srgbClr val="93A569"/>
      </a:accent3>
      <a:accent4>
        <a:srgbClr val="69A58B"/>
      </a:accent4>
      <a:accent5>
        <a:srgbClr val="6DAABD"/>
      </a:accent5>
      <a:accent6>
        <a:srgbClr val="B24A4B"/>
      </a:accent6>
      <a:hlink>
        <a:srgbClr val="EE8E11"/>
      </a:hlink>
      <a:folHlink>
        <a:srgbClr val="BFAE7F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686B1E04-F35C-4AB5-985D-0C358CA110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201</TotalTime>
  <Words>292</Words>
  <Application>Microsoft Office PowerPoint</Application>
  <PresentationFormat>Widescreen</PresentationFormat>
  <Paragraphs>107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Cambria Math</vt:lpstr>
      <vt:lpstr>Impact</vt:lpstr>
      <vt:lpstr>Wingdings</vt:lpstr>
      <vt:lpstr>Main Event</vt:lpstr>
      <vt:lpstr>Algebra  Interactive Notebook </vt:lpstr>
      <vt:lpstr>PowerPoint Presentation</vt:lpstr>
      <vt:lpstr>PowerPoint Presentation</vt:lpstr>
      <vt:lpstr>PowerPoint Presentation</vt:lpstr>
      <vt:lpstr>Simplifying Expressions  </vt:lpstr>
      <vt:lpstr>Practice:</vt:lpstr>
      <vt:lpstr>Simplifying Expressions  </vt:lpstr>
      <vt:lpstr>Simplifying Expressions  </vt:lpstr>
      <vt:lpstr>Practice:</vt:lpstr>
      <vt:lpstr>Factorising bingo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 Interactive Notebook</dc:title>
  <dc:creator>D'SOUZA Jillian [Baldivis Secondary College]</dc:creator>
  <cp:lastModifiedBy>D'SOUZA Jillian [Baldivis Secondary College]</cp:lastModifiedBy>
  <cp:revision>75</cp:revision>
  <dcterms:created xsi:type="dcterms:W3CDTF">2018-03-11T07:42:05Z</dcterms:created>
  <dcterms:modified xsi:type="dcterms:W3CDTF">2018-03-12T06:54:11Z</dcterms:modified>
</cp:coreProperties>
</file>
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60" r:id="rId4"/>
    <p:sldId id="269" r:id="rId5"/>
    <p:sldId id="277" r:id="rId6"/>
    <p:sldId id="270" r:id="rId7"/>
    <p:sldId id="278" r:id="rId8"/>
    <p:sldId id="279" r:id="rId9"/>
    <p:sldId id="280" r:id="rId10"/>
    <p:sldId id="281" r:id="rId11"/>
    <p:sldId id="282" r:id="rId12"/>
    <p:sldId id="262" r:id="rId13"/>
    <p:sldId id="28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C919-545A-4FEC-AE68-55E6946624F4}" type="datetimeFigureOut">
              <a:rPr lang="en-AU" smtClean="0"/>
              <a:t>25/03/2018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F0E04-A781-4021-BDF6-15A9F238A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43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23BE-C0EF-44B1-9FDB-A1130A93B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032604" y="1392668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AU" dirty="0"/>
              <a:t>Algebra</a:t>
            </a:r>
            <a:br>
              <a:rPr lang="en-AU" dirty="0"/>
            </a:br>
            <a:br>
              <a:rPr lang="en-AU" dirty="0"/>
            </a:br>
            <a:r>
              <a:rPr lang="en-AU" sz="4400" dirty="0"/>
              <a:t>Interactive Notebook </a:t>
            </a:r>
            <a:endParaRPr lang="en-A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A17EFD-1356-4883-A84A-E579FA1731EE}"/>
              </a:ext>
            </a:extLst>
          </p:cNvPr>
          <p:cNvSpPr txBox="1">
            <a:spLocks/>
          </p:cNvSpPr>
          <p:nvPr/>
        </p:nvSpPr>
        <p:spPr>
          <a:xfrm>
            <a:off x="791623" y="17533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 dirty="0"/>
              <a:t>Term 1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/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/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/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/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9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3592" y="5803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00" y="153568"/>
            <a:ext cx="924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1" y="1196753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72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05C2-F13D-4325-994E-CA9AF40C9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 </a:t>
            </a:r>
          </a:p>
        </p:txBody>
      </p:sp>
      <p:sp>
        <p:nvSpPr>
          <p:cNvPr id="4" name="Line 28">
            <a:extLst>
              <a:ext uri="{FF2B5EF4-FFF2-40B4-BE49-F238E27FC236}">
                <a16:creationId xmlns:a16="http://schemas.microsoft.com/office/drawing/2014/main" id="{A4CD6D5D-E9CF-4FCA-A4CE-6A02E367DA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975" y="160916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" name="Text Box 29">
            <a:extLst>
              <a:ext uri="{FF2B5EF4-FFF2-40B4-BE49-F238E27FC236}">
                <a16:creationId xmlns:a16="http://schemas.microsoft.com/office/drawing/2014/main" id="{C50D3886-BAB6-4A3E-A91A-E1A2321AA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75" y="1609165"/>
            <a:ext cx="7694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Expand these brackets and simplify wherever possible: </a:t>
            </a:r>
          </a:p>
        </p:txBody>
      </p:sp>
      <p:grpSp>
        <p:nvGrpSpPr>
          <p:cNvPr id="6" name="Group 30">
            <a:extLst>
              <a:ext uri="{FF2B5EF4-FFF2-40B4-BE49-F238E27FC236}">
                <a16:creationId xmlns:a16="http://schemas.microsoft.com/office/drawing/2014/main" id="{78432CD4-A0D3-44C6-94C8-F604DDFFA21C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2142565"/>
            <a:ext cx="1962150" cy="457200"/>
            <a:chOff x="144" y="1824"/>
            <a:chExt cx="1236" cy="288"/>
          </a:xfrm>
        </p:grpSpPr>
        <p:sp>
          <p:nvSpPr>
            <p:cNvPr id="7" name="Text Box 31">
              <a:extLst>
                <a:ext uri="{FF2B5EF4-FFF2-40B4-BE49-F238E27FC236}">
                  <a16:creationId xmlns:a16="http://schemas.microsoft.com/office/drawing/2014/main" id="{34F226DD-63BE-4304-8FCE-CADF90A1B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1.</a:t>
              </a:r>
            </a:p>
          </p:txBody>
        </p:sp>
        <p:sp>
          <p:nvSpPr>
            <p:cNvPr id="8" name="Text Box 32">
              <a:extLst>
                <a:ext uri="{FF2B5EF4-FFF2-40B4-BE49-F238E27FC236}">
                  <a16:creationId xmlns:a16="http://schemas.microsoft.com/office/drawing/2014/main" id="{9BD32EBE-5366-4271-9905-C6F86C3B5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9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3(a - 4) =</a:t>
              </a:r>
            </a:p>
          </p:txBody>
        </p:sp>
      </p:grpSp>
      <p:grpSp>
        <p:nvGrpSpPr>
          <p:cNvPr id="9" name="Group 33">
            <a:extLst>
              <a:ext uri="{FF2B5EF4-FFF2-40B4-BE49-F238E27FC236}">
                <a16:creationId xmlns:a16="http://schemas.microsoft.com/office/drawing/2014/main" id="{81576B2A-C231-47EF-AE84-827F0DC3046F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2599765"/>
            <a:ext cx="2190750" cy="457200"/>
            <a:chOff x="144" y="1824"/>
            <a:chExt cx="1380" cy="288"/>
          </a:xfrm>
        </p:grpSpPr>
        <p:sp>
          <p:nvSpPr>
            <p:cNvPr id="10" name="Text Box 34">
              <a:extLst>
                <a:ext uri="{FF2B5EF4-FFF2-40B4-BE49-F238E27FC236}">
                  <a16:creationId xmlns:a16="http://schemas.microsoft.com/office/drawing/2014/main" id="{CDCB7856-B98C-4144-B52E-31AF10EDEC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2.</a:t>
              </a:r>
            </a:p>
          </p:txBody>
        </p:sp>
        <p:sp>
          <p:nvSpPr>
            <p:cNvPr id="11" name="Text Box 35">
              <a:extLst>
                <a:ext uri="{FF2B5EF4-FFF2-40B4-BE49-F238E27FC236}">
                  <a16:creationId xmlns:a16="http://schemas.microsoft.com/office/drawing/2014/main" id="{D08403E4-68C1-4D91-BB5D-82EC7A992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0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6(2c + 5) =</a:t>
              </a:r>
            </a:p>
          </p:txBody>
        </p:sp>
      </p:grpSp>
      <p:grpSp>
        <p:nvGrpSpPr>
          <p:cNvPr id="12" name="Group 36">
            <a:extLst>
              <a:ext uri="{FF2B5EF4-FFF2-40B4-BE49-F238E27FC236}">
                <a16:creationId xmlns:a16="http://schemas.microsoft.com/office/drawing/2014/main" id="{9E08E86E-235C-477F-8A9E-97BD0D38DFEE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3056965"/>
            <a:ext cx="2139950" cy="457200"/>
            <a:chOff x="144" y="1824"/>
            <a:chExt cx="1348" cy="288"/>
          </a:xfrm>
        </p:grpSpPr>
        <p:sp>
          <p:nvSpPr>
            <p:cNvPr id="13" name="Text Box 37">
              <a:extLst>
                <a:ext uri="{FF2B5EF4-FFF2-40B4-BE49-F238E27FC236}">
                  <a16:creationId xmlns:a16="http://schemas.microsoft.com/office/drawing/2014/main" id="{A23770FA-632C-4C04-B97D-E063C11B6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3.</a:t>
              </a:r>
            </a:p>
          </p:txBody>
        </p:sp>
        <p:sp>
          <p:nvSpPr>
            <p:cNvPr id="14" name="Text Box 38">
              <a:extLst>
                <a:ext uri="{FF2B5EF4-FFF2-40B4-BE49-F238E27FC236}">
                  <a16:creationId xmlns:a16="http://schemas.microsoft.com/office/drawing/2014/main" id="{3EA0443E-7631-4BD0-90BC-3F0330B09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0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-2(d + g) =</a:t>
              </a:r>
            </a:p>
          </p:txBody>
        </p:sp>
      </p:grpSp>
      <p:grpSp>
        <p:nvGrpSpPr>
          <p:cNvPr id="15" name="Group 39">
            <a:extLst>
              <a:ext uri="{FF2B5EF4-FFF2-40B4-BE49-F238E27FC236}">
                <a16:creationId xmlns:a16="http://schemas.microsoft.com/office/drawing/2014/main" id="{D1BA5193-C1B3-4B01-B133-4902365D0F9C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3514165"/>
            <a:ext cx="2020888" cy="457200"/>
            <a:chOff x="144" y="1824"/>
            <a:chExt cx="1273" cy="288"/>
          </a:xfrm>
        </p:grpSpPr>
        <p:sp>
          <p:nvSpPr>
            <p:cNvPr id="16" name="Text Box 40">
              <a:extLst>
                <a:ext uri="{FF2B5EF4-FFF2-40B4-BE49-F238E27FC236}">
                  <a16:creationId xmlns:a16="http://schemas.microsoft.com/office/drawing/2014/main" id="{FE1EFAD5-31EE-49F7-93B3-815FAB777C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4.</a:t>
              </a:r>
            </a:p>
          </p:txBody>
        </p:sp>
        <p:sp>
          <p:nvSpPr>
            <p:cNvPr id="17" name="Text Box 41">
              <a:extLst>
                <a:ext uri="{FF2B5EF4-FFF2-40B4-BE49-F238E27FC236}">
                  <a16:creationId xmlns:a16="http://schemas.microsoft.com/office/drawing/2014/main" id="{CCC33CE4-50D5-4549-94B3-754520C46A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9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c(d + 4) =</a:t>
              </a:r>
            </a:p>
          </p:txBody>
        </p:sp>
      </p:grpSp>
      <p:grpSp>
        <p:nvGrpSpPr>
          <p:cNvPr id="18" name="Group 42">
            <a:extLst>
              <a:ext uri="{FF2B5EF4-FFF2-40B4-BE49-F238E27FC236}">
                <a16:creationId xmlns:a16="http://schemas.microsoft.com/office/drawing/2014/main" id="{D65B5174-959F-48BB-8908-037D7D910BFF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3971365"/>
            <a:ext cx="2233613" cy="457200"/>
            <a:chOff x="144" y="1824"/>
            <a:chExt cx="1407" cy="288"/>
          </a:xfrm>
        </p:grpSpPr>
        <p:sp>
          <p:nvSpPr>
            <p:cNvPr id="19" name="Text Box 43">
              <a:extLst>
                <a:ext uri="{FF2B5EF4-FFF2-40B4-BE49-F238E27FC236}">
                  <a16:creationId xmlns:a16="http://schemas.microsoft.com/office/drawing/2014/main" id="{EFFC0398-5CF6-4574-B57B-343554D5E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5.</a:t>
              </a:r>
            </a:p>
          </p:txBody>
        </p:sp>
        <p:sp>
          <p:nvSpPr>
            <p:cNvPr id="20" name="Text Box 44">
              <a:extLst>
                <a:ext uri="{FF2B5EF4-FFF2-40B4-BE49-F238E27FC236}">
                  <a16:creationId xmlns:a16="http://schemas.microsoft.com/office/drawing/2014/main" id="{01C27223-5C4B-488A-AD94-68EA0C017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0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-5(2a - 3) =</a:t>
              </a:r>
            </a:p>
          </p:txBody>
        </p:sp>
      </p:grpSp>
      <p:grpSp>
        <p:nvGrpSpPr>
          <p:cNvPr id="21" name="Group 45">
            <a:extLst>
              <a:ext uri="{FF2B5EF4-FFF2-40B4-BE49-F238E27FC236}">
                <a16:creationId xmlns:a16="http://schemas.microsoft.com/office/drawing/2014/main" id="{86056A9C-EF27-4B77-830A-8336BCA3B9E7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4428565"/>
            <a:ext cx="1962150" cy="457200"/>
            <a:chOff x="144" y="1824"/>
            <a:chExt cx="1236" cy="288"/>
          </a:xfrm>
        </p:grpSpPr>
        <p:sp>
          <p:nvSpPr>
            <p:cNvPr id="22" name="Text Box 46">
              <a:extLst>
                <a:ext uri="{FF2B5EF4-FFF2-40B4-BE49-F238E27FC236}">
                  <a16:creationId xmlns:a16="http://schemas.microsoft.com/office/drawing/2014/main" id="{3BD8733D-77B7-4707-99E0-9D596918A3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6.</a:t>
              </a:r>
            </a:p>
          </p:txBody>
        </p:sp>
        <p:sp>
          <p:nvSpPr>
            <p:cNvPr id="23" name="Text Box 47">
              <a:extLst>
                <a:ext uri="{FF2B5EF4-FFF2-40B4-BE49-F238E27FC236}">
                  <a16:creationId xmlns:a16="http://schemas.microsoft.com/office/drawing/2014/main" id="{6E2680E9-4CC7-4476-8CB4-8C35D6295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9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a(a - 6) =</a:t>
              </a:r>
            </a:p>
          </p:txBody>
        </p:sp>
      </p:grpSp>
      <p:sp>
        <p:nvSpPr>
          <p:cNvPr id="24" name="Text Box 48">
            <a:extLst>
              <a:ext uri="{FF2B5EF4-FFF2-40B4-BE49-F238E27FC236}">
                <a16:creationId xmlns:a16="http://schemas.microsoft.com/office/drawing/2014/main" id="{00BA2A00-C12C-4895-BFD4-348BAC993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6575" y="2142565"/>
            <a:ext cx="1133475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3a - 12</a:t>
            </a:r>
          </a:p>
        </p:txBody>
      </p:sp>
      <p:sp>
        <p:nvSpPr>
          <p:cNvPr id="25" name="Text Box 49">
            <a:extLst>
              <a:ext uri="{FF2B5EF4-FFF2-40B4-BE49-F238E27FC236}">
                <a16:creationId xmlns:a16="http://schemas.microsoft.com/office/drawing/2014/main" id="{33BEC907-1CE2-4D07-B24A-A08998998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975" y="2599765"/>
            <a:ext cx="1362075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12c + 30</a:t>
            </a:r>
          </a:p>
        </p:txBody>
      </p:sp>
      <p:sp>
        <p:nvSpPr>
          <p:cNvPr id="26" name="Text Box 50">
            <a:extLst>
              <a:ext uri="{FF2B5EF4-FFF2-40B4-BE49-F238E27FC236}">
                <a16:creationId xmlns:a16="http://schemas.microsoft.com/office/drawing/2014/main" id="{CB246C92-6F9A-404B-A3E7-8C3A8E529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975" y="3056965"/>
            <a:ext cx="1235075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-2d - 2g</a:t>
            </a:r>
          </a:p>
        </p:txBody>
      </p:sp>
      <p:sp>
        <p:nvSpPr>
          <p:cNvPr id="27" name="Text Box 51">
            <a:extLst>
              <a:ext uri="{FF2B5EF4-FFF2-40B4-BE49-F238E27FC236}">
                <a16:creationId xmlns:a16="http://schemas.microsoft.com/office/drawing/2014/main" id="{90EB4DB2-8653-4E7A-A3CC-2D326AB04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975" y="3514165"/>
            <a:ext cx="1174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cd + 4c</a:t>
            </a:r>
            <a:endParaRPr lang="en-GB" altLang="en-US" b="1" baseline="30000">
              <a:latin typeface="Arial" panose="020B0604020202020204" pitchFamily="34" charset="0"/>
            </a:endParaRPr>
          </a:p>
        </p:txBody>
      </p:sp>
      <p:sp>
        <p:nvSpPr>
          <p:cNvPr id="28" name="Text Box 52">
            <a:extLst>
              <a:ext uri="{FF2B5EF4-FFF2-40B4-BE49-F238E27FC236}">
                <a16:creationId xmlns:a16="http://schemas.microsoft.com/office/drawing/2014/main" id="{7244B3E3-F097-425D-B62F-4BEA235CF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5175" y="3971365"/>
            <a:ext cx="1481138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-10a + 15</a:t>
            </a:r>
            <a:endParaRPr lang="en-GB" altLang="en-US" b="1" baseline="30000">
              <a:latin typeface="Arial" panose="020B0604020202020204" pitchFamily="34" charset="0"/>
            </a:endParaRPr>
          </a:p>
        </p:txBody>
      </p:sp>
      <p:sp>
        <p:nvSpPr>
          <p:cNvPr id="29" name="Text Box 53">
            <a:extLst>
              <a:ext uri="{FF2B5EF4-FFF2-40B4-BE49-F238E27FC236}">
                <a16:creationId xmlns:a16="http://schemas.microsoft.com/office/drawing/2014/main" id="{EF0E359D-371E-4BE9-9FA8-24C0D4269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375" y="4428565"/>
            <a:ext cx="1049338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a</a:t>
            </a:r>
            <a:r>
              <a:rPr lang="en-GB" altLang="en-US" b="1" baseline="30000">
                <a:latin typeface="Arial" panose="020B0604020202020204" pitchFamily="34" charset="0"/>
              </a:rPr>
              <a:t>2 </a:t>
            </a:r>
            <a:r>
              <a:rPr lang="en-GB" altLang="en-US">
                <a:latin typeface="Arial" panose="020B0604020202020204" pitchFamily="34" charset="0"/>
              </a:rPr>
              <a:t>- 6a</a:t>
            </a:r>
          </a:p>
        </p:txBody>
      </p:sp>
      <p:grpSp>
        <p:nvGrpSpPr>
          <p:cNvPr id="30" name="Group 54">
            <a:extLst>
              <a:ext uri="{FF2B5EF4-FFF2-40B4-BE49-F238E27FC236}">
                <a16:creationId xmlns:a16="http://schemas.microsoft.com/office/drawing/2014/main" id="{38F2C857-CBAA-4D5C-B77C-47A3B9797CFD}"/>
              </a:ext>
            </a:extLst>
          </p:cNvPr>
          <p:cNvGrpSpPr>
            <a:grpSpLocks/>
          </p:cNvGrpSpPr>
          <p:nvPr/>
        </p:nvGrpSpPr>
        <p:grpSpPr bwMode="auto">
          <a:xfrm>
            <a:off x="5008775" y="2142565"/>
            <a:ext cx="2241550" cy="457200"/>
            <a:chOff x="144" y="1824"/>
            <a:chExt cx="1412" cy="288"/>
          </a:xfrm>
        </p:grpSpPr>
        <p:sp>
          <p:nvSpPr>
            <p:cNvPr id="31" name="Text Box 55">
              <a:extLst>
                <a:ext uri="{FF2B5EF4-FFF2-40B4-BE49-F238E27FC236}">
                  <a16:creationId xmlns:a16="http://schemas.microsoft.com/office/drawing/2014/main" id="{3B5A6D6A-208C-4458-B2BF-9B8EDBF4AA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7.</a:t>
              </a:r>
            </a:p>
          </p:txBody>
        </p:sp>
        <p:sp>
          <p:nvSpPr>
            <p:cNvPr id="32" name="Text Box 56">
              <a:extLst>
                <a:ext uri="{FF2B5EF4-FFF2-40B4-BE49-F238E27FC236}">
                  <a16:creationId xmlns:a16="http://schemas.microsoft.com/office/drawing/2014/main" id="{1338BCD0-E325-4E1E-AEA8-E17A7DA91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4r(2r + 3) =</a:t>
              </a:r>
            </a:p>
          </p:txBody>
        </p:sp>
      </p:grpSp>
      <p:grpSp>
        <p:nvGrpSpPr>
          <p:cNvPr id="33" name="Group 57">
            <a:extLst>
              <a:ext uri="{FF2B5EF4-FFF2-40B4-BE49-F238E27FC236}">
                <a16:creationId xmlns:a16="http://schemas.microsoft.com/office/drawing/2014/main" id="{444F6D69-DF26-4CFE-951D-3F4508407574}"/>
              </a:ext>
            </a:extLst>
          </p:cNvPr>
          <p:cNvGrpSpPr>
            <a:grpSpLocks/>
          </p:cNvGrpSpPr>
          <p:nvPr/>
        </p:nvGrpSpPr>
        <p:grpSpPr bwMode="auto">
          <a:xfrm>
            <a:off x="5008775" y="2599765"/>
            <a:ext cx="2224088" cy="457200"/>
            <a:chOff x="144" y="1824"/>
            <a:chExt cx="1401" cy="288"/>
          </a:xfrm>
        </p:grpSpPr>
        <p:sp>
          <p:nvSpPr>
            <p:cNvPr id="34" name="Text Box 58">
              <a:extLst>
                <a:ext uri="{FF2B5EF4-FFF2-40B4-BE49-F238E27FC236}">
                  <a16:creationId xmlns:a16="http://schemas.microsoft.com/office/drawing/2014/main" id="{CD534268-54EC-4695-AA7D-64CF07C8D8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8.</a:t>
              </a:r>
            </a:p>
          </p:txBody>
        </p:sp>
        <p:sp>
          <p:nvSpPr>
            <p:cNvPr id="35" name="Text Box 59">
              <a:extLst>
                <a:ext uri="{FF2B5EF4-FFF2-40B4-BE49-F238E27FC236}">
                  <a16:creationId xmlns:a16="http://schemas.microsoft.com/office/drawing/2014/main" id="{6B79B8FE-5A8D-4CF6-A149-381ED5F9F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0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- (4a + 2) =</a:t>
              </a:r>
            </a:p>
          </p:txBody>
        </p:sp>
      </p:grpSp>
      <p:grpSp>
        <p:nvGrpSpPr>
          <p:cNvPr id="36" name="Group 60">
            <a:extLst>
              <a:ext uri="{FF2B5EF4-FFF2-40B4-BE49-F238E27FC236}">
                <a16:creationId xmlns:a16="http://schemas.microsoft.com/office/drawing/2014/main" id="{D652DBE5-DB98-48A1-A86D-45E9A8DFA47E}"/>
              </a:ext>
            </a:extLst>
          </p:cNvPr>
          <p:cNvGrpSpPr>
            <a:grpSpLocks/>
          </p:cNvGrpSpPr>
          <p:nvPr/>
        </p:nvGrpSpPr>
        <p:grpSpPr bwMode="auto">
          <a:xfrm>
            <a:off x="5008775" y="3056965"/>
            <a:ext cx="2392363" cy="457200"/>
            <a:chOff x="144" y="1824"/>
            <a:chExt cx="1507" cy="288"/>
          </a:xfrm>
        </p:grpSpPr>
        <p:sp>
          <p:nvSpPr>
            <p:cNvPr id="37" name="Text Box 61">
              <a:extLst>
                <a:ext uri="{FF2B5EF4-FFF2-40B4-BE49-F238E27FC236}">
                  <a16:creationId xmlns:a16="http://schemas.microsoft.com/office/drawing/2014/main" id="{356F77DE-7FAC-4B9F-80EB-8DC06E4CC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9.</a:t>
              </a:r>
            </a:p>
          </p:txBody>
        </p:sp>
        <p:sp>
          <p:nvSpPr>
            <p:cNvPr id="38" name="Text Box 62">
              <a:extLst>
                <a:ext uri="{FF2B5EF4-FFF2-40B4-BE49-F238E27FC236}">
                  <a16:creationId xmlns:a16="http://schemas.microsoft.com/office/drawing/2014/main" id="{40B7F6B7-030B-4A1E-8681-B70D1C2F7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1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8 - 2(t + 5) =</a:t>
              </a:r>
            </a:p>
          </p:txBody>
        </p:sp>
      </p:grpSp>
      <p:grpSp>
        <p:nvGrpSpPr>
          <p:cNvPr id="39" name="Group 63">
            <a:extLst>
              <a:ext uri="{FF2B5EF4-FFF2-40B4-BE49-F238E27FC236}">
                <a16:creationId xmlns:a16="http://schemas.microsoft.com/office/drawing/2014/main" id="{87C1BE00-A3EC-4FBB-80CD-EAD10CF7A2A3}"/>
              </a:ext>
            </a:extLst>
          </p:cNvPr>
          <p:cNvGrpSpPr>
            <a:grpSpLocks/>
          </p:cNvGrpSpPr>
          <p:nvPr/>
        </p:nvGrpSpPr>
        <p:grpSpPr bwMode="auto">
          <a:xfrm>
            <a:off x="5008775" y="3514165"/>
            <a:ext cx="3783013" cy="457200"/>
            <a:chOff x="144" y="1824"/>
            <a:chExt cx="2383" cy="288"/>
          </a:xfrm>
        </p:grpSpPr>
        <p:sp>
          <p:nvSpPr>
            <p:cNvPr id="40" name="Text Box 64">
              <a:extLst>
                <a:ext uri="{FF2B5EF4-FFF2-40B4-BE49-F238E27FC236}">
                  <a16:creationId xmlns:a16="http://schemas.microsoft.com/office/drawing/2014/main" id="{ECAD47DD-1884-4427-B6EB-5C4E363923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344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10.</a:t>
              </a:r>
            </a:p>
          </p:txBody>
        </p:sp>
        <p:sp>
          <p:nvSpPr>
            <p:cNvPr id="41" name="Text Box 65">
              <a:extLst>
                <a:ext uri="{FF2B5EF4-FFF2-40B4-BE49-F238E27FC236}">
                  <a16:creationId xmlns:a16="http://schemas.microsoft.com/office/drawing/2014/main" id="{FE8877C1-04DB-4251-A649-05986C2A7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20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2(2a + 4) + 4(3a + 6) =</a:t>
              </a:r>
            </a:p>
          </p:txBody>
        </p:sp>
      </p:grpSp>
      <p:grpSp>
        <p:nvGrpSpPr>
          <p:cNvPr id="42" name="Group 66">
            <a:extLst>
              <a:ext uri="{FF2B5EF4-FFF2-40B4-BE49-F238E27FC236}">
                <a16:creationId xmlns:a16="http://schemas.microsoft.com/office/drawing/2014/main" id="{65257793-14DE-417D-94B0-FCEBC5D864B4}"/>
              </a:ext>
            </a:extLst>
          </p:cNvPr>
          <p:cNvGrpSpPr>
            <a:grpSpLocks/>
          </p:cNvGrpSpPr>
          <p:nvPr/>
        </p:nvGrpSpPr>
        <p:grpSpPr bwMode="auto">
          <a:xfrm>
            <a:off x="5008775" y="4276165"/>
            <a:ext cx="3800475" cy="457200"/>
            <a:chOff x="144" y="1824"/>
            <a:chExt cx="2394" cy="288"/>
          </a:xfrm>
        </p:grpSpPr>
        <p:sp>
          <p:nvSpPr>
            <p:cNvPr id="43" name="Text Box 67">
              <a:extLst>
                <a:ext uri="{FF2B5EF4-FFF2-40B4-BE49-F238E27FC236}">
                  <a16:creationId xmlns:a16="http://schemas.microsoft.com/office/drawing/2014/main" id="{783737BA-2464-417C-93FA-F20E63A62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344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11.</a:t>
              </a:r>
            </a:p>
          </p:txBody>
        </p:sp>
        <p:sp>
          <p:nvSpPr>
            <p:cNvPr id="44" name="Text Box 68">
              <a:extLst>
                <a:ext uri="{FF2B5EF4-FFF2-40B4-BE49-F238E27FC236}">
                  <a16:creationId xmlns:a16="http://schemas.microsoft.com/office/drawing/2014/main" id="{9AD2D376-1E3F-4FC0-8A8E-04F2A503B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20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2p(3p + 2) - 5(2p - 1) =</a:t>
              </a:r>
            </a:p>
          </p:txBody>
        </p:sp>
      </p:grpSp>
      <p:sp>
        <p:nvSpPr>
          <p:cNvPr id="45" name="Text Box 72">
            <a:extLst>
              <a:ext uri="{FF2B5EF4-FFF2-40B4-BE49-F238E27FC236}">
                <a16:creationId xmlns:a16="http://schemas.microsoft.com/office/drawing/2014/main" id="{6BD300B9-A2B2-423F-BB03-6BAC27292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8575" y="2142565"/>
            <a:ext cx="1355725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dirty="0">
                <a:latin typeface="Arial" panose="020B0604020202020204" pitchFamily="34" charset="0"/>
              </a:rPr>
              <a:t>8r</a:t>
            </a:r>
            <a:r>
              <a:rPr lang="en-GB" altLang="en-US" b="1" baseline="30000" dirty="0">
                <a:latin typeface="Arial" panose="020B0604020202020204" pitchFamily="34" charset="0"/>
              </a:rPr>
              <a:t>2</a:t>
            </a:r>
            <a:r>
              <a:rPr lang="en-GB" altLang="en-US" dirty="0">
                <a:latin typeface="Arial" panose="020B0604020202020204" pitchFamily="34" charset="0"/>
              </a:rPr>
              <a:t> + 12r</a:t>
            </a:r>
          </a:p>
        </p:txBody>
      </p:sp>
      <p:sp>
        <p:nvSpPr>
          <p:cNvPr id="46" name="Text Box 73">
            <a:extLst>
              <a:ext uri="{FF2B5EF4-FFF2-40B4-BE49-F238E27FC236}">
                <a16:creationId xmlns:a16="http://schemas.microsoft.com/office/drawing/2014/main" id="{52AAE841-7B28-4802-9D0E-D7BCB5427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8575" y="2599765"/>
            <a:ext cx="1065213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-4a - 2</a:t>
            </a:r>
            <a:endParaRPr lang="en-GB" altLang="en-US" b="1" baseline="30000">
              <a:latin typeface="Arial" panose="020B0604020202020204" pitchFamily="34" charset="0"/>
            </a:endParaRPr>
          </a:p>
        </p:txBody>
      </p:sp>
      <p:sp>
        <p:nvSpPr>
          <p:cNvPr id="47" name="Text Box 74">
            <a:extLst>
              <a:ext uri="{FF2B5EF4-FFF2-40B4-BE49-F238E27FC236}">
                <a16:creationId xmlns:a16="http://schemas.microsoft.com/office/drawing/2014/main" id="{027B9BDD-FE1A-4B84-9D8D-AD302FF2A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7175" y="3056965"/>
            <a:ext cx="979488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-2t - 2</a:t>
            </a:r>
          </a:p>
        </p:txBody>
      </p:sp>
      <p:sp>
        <p:nvSpPr>
          <p:cNvPr id="48" name="Text Box 75">
            <a:extLst>
              <a:ext uri="{FF2B5EF4-FFF2-40B4-BE49-F238E27FC236}">
                <a16:creationId xmlns:a16="http://schemas.microsoft.com/office/drawing/2014/main" id="{B2FE05D5-B947-44E5-853E-63A823419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5775" y="3895165"/>
            <a:ext cx="1379538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16a + 32</a:t>
            </a:r>
            <a:endParaRPr lang="en-GB" altLang="en-US" b="1" baseline="30000">
              <a:latin typeface="Arial" panose="020B0604020202020204" pitchFamily="34" charset="0"/>
            </a:endParaRPr>
          </a:p>
        </p:txBody>
      </p:sp>
      <p:sp>
        <p:nvSpPr>
          <p:cNvPr id="139" name="Text Box 76">
            <a:extLst>
              <a:ext uri="{FF2B5EF4-FFF2-40B4-BE49-F238E27FC236}">
                <a16:creationId xmlns:a16="http://schemas.microsoft.com/office/drawing/2014/main" id="{E952C306-5370-4C7A-9399-F27C0D4BA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2909" y="4606365"/>
            <a:ext cx="1735137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dirty="0">
                <a:latin typeface="Arial" panose="020B0604020202020204" pitchFamily="34" charset="0"/>
              </a:rPr>
              <a:t>6p</a:t>
            </a:r>
            <a:r>
              <a:rPr lang="en-GB" altLang="en-US" b="1" baseline="30000" dirty="0">
                <a:latin typeface="Arial" panose="020B0604020202020204" pitchFamily="34" charset="0"/>
              </a:rPr>
              <a:t>2 </a:t>
            </a:r>
            <a:r>
              <a:rPr lang="en-GB" altLang="en-US" dirty="0">
                <a:latin typeface="Arial" panose="020B0604020202020204" pitchFamily="34" charset="0"/>
              </a:rPr>
              <a:t>- 6p + 5</a:t>
            </a:r>
          </a:p>
        </p:txBody>
      </p:sp>
    </p:spTree>
    <p:extLst>
      <p:ext uri="{BB962C8B-B14F-4D97-AF65-F5344CB8AC3E}">
        <p14:creationId xmlns:p14="http://schemas.microsoft.com/office/powerpoint/2010/main" val="264033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a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24" grpId="0" animBg="1" autoUpdateAnimBg="0"/>
      <p:bldP spid="25" grpId="0" animBg="1" autoUpdateAnimBg="0"/>
      <p:bldP spid="26" grpId="0" animBg="1" autoUpdateAnimBg="0"/>
      <p:bldP spid="27" grpId="0" animBg="1" autoUpdateAnimBg="0"/>
      <p:bldP spid="28" grpId="0" animBg="1" autoUpdateAnimBg="0"/>
      <p:bldP spid="29" grpId="0" animBg="1" autoUpdateAnimBg="0"/>
      <p:bldP spid="45" grpId="0" animBg="1" autoUpdateAnimBg="0"/>
      <p:bldP spid="46" grpId="0" animBg="1" autoUpdateAnimBg="0"/>
      <p:bldP spid="47" grpId="0" animBg="1" autoUpdateAnimBg="0"/>
      <p:bldP spid="48" grpId="0" animBg="1" autoUpdateAnimBg="0"/>
      <p:bldP spid="139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51628" y="50256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55385" y="98359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540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6079319" y="125831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539259" y="1272214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79220" y="167792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3345" y="167792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270</a:t>
            </a:r>
          </a:p>
        </p:txBody>
      </p:sp>
      <p:sp>
        <p:nvSpPr>
          <p:cNvPr id="22" name="Oval 21"/>
          <p:cNvSpPr/>
          <p:nvPr/>
        </p:nvSpPr>
        <p:spPr>
          <a:xfrm>
            <a:off x="5270247" y="167792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419879" y="167792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prime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6745393" y="2034994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295343" y="2025756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39169" y="240612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7369" y="239887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135</a:t>
            </a:r>
          </a:p>
        </p:txBody>
      </p:sp>
      <p:sp>
        <p:nvSpPr>
          <p:cNvPr id="18" name="Oval 17"/>
          <p:cNvSpPr/>
          <p:nvPr/>
        </p:nvSpPr>
        <p:spPr>
          <a:xfrm>
            <a:off x="6079320" y="2406121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376149" y="239887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prime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359407" y="2689277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838323" y="2694427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618426" y="3061826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7283" y="307276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54" y="306161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prime</a:t>
            </a:r>
          </a:p>
        </p:txBody>
      </p:sp>
      <p:sp>
        <p:nvSpPr>
          <p:cNvPr id="32" name="Oval 31"/>
          <p:cNvSpPr/>
          <p:nvPr/>
        </p:nvSpPr>
        <p:spPr>
          <a:xfrm>
            <a:off x="7699499" y="3097860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6841531" y="3375136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505720" y="3375136"/>
            <a:ext cx="265636" cy="387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306241" y="3680780"/>
            <a:ext cx="38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358" y="3683500"/>
            <a:ext cx="48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90086" y="367139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prime</a:t>
            </a:r>
          </a:p>
        </p:txBody>
      </p:sp>
      <p:sp>
        <p:nvSpPr>
          <p:cNvPr id="40" name="Oval 39"/>
          <p:cNvSpPr/>
          <p:nvPr/>
        </p:nvSpPr>
        <p:spPr>
          <a:xfrm>
            <a:off x="6275553" y="3699550"/>
            <a:ext cx="365946" cy="3717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1" name="Straight Connector 40"/>
          <p:cNvCxnSpPr/>
          <p:nvPr/>
        </p:nvCxnSpPr>
        <p:spPr>
          <a:xfrm>
            <a:off x="7230430" y="3939190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6947605" y="3947091"/>
            <a:ext cx="222173" cy="410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753745" y="4296529"/>
            <a:ext cx="32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16594" y="4273205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9170" y="4273205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2863" y="424953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prime</a:t>
            </a:r>
          </a:p>
        </p:txBody>
      </p:sp>
      <p:sp>
        <p:nvSpPr>
          <p:cNvPr id="46" name="Oval 45"/>
          <p:cNvSpPr/>
          <p:nvPr/>
        </p:nvSpPr>
        <p:spPr>
          <a:xfrm>
            <a:off x="6711580" y="4301671"/>
            <a:ext cx="376031" cy="3716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Oval 46"/>
          <p:cNvSpPr/>
          <p:nvPr/>
        </p:nvSpPr>
        <p:spPr>
          <a:xfrm>
            <a:off x="7396517" y="4310156"/>
            <a:ext cx="354913" cy="340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9" name="TextBox 48"/>
          <p:cNvSpPr txBox="1"/>
          <p:nvPr/>
        </p:nvSpPr>
        <p:spPr>
          <a:xfrm>
            <a:off x="7316093" y="882065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Find 2 numbers x to give 540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47039" y="1272214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Circle any primes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34794" y="1677928"/>
            <a:ext cx="141387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Continue dividing until all factors are prime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14575" y="3915973"/>
            <a:ext cx="205567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Write the primes in ascending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2995" y="4702265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540=2x2x3x3x3x5</a:t>
            </a:r>
          </a:p>
          <a:p>
            <a:r>
              <a:rPr lang="en-US" dirty="0"/>
              <a:t>       =2</a:t>
            </a:r>
            <a:r>
              <a:rPr lang="en-US" baseline="30000" dirty="0"/>
              <a:t>2</a:t>
            </a:r>
            <a:r>
              <a:rPr lang="en-US" dirty="0"/>
              <a:t>x3</a:t>
            </a:r>
            <a:r>
              <a:rPr lang="en-US" baseline="30000" dirty="0"/>
              <a:t>3</a:t>
            </a:r>
            <a:r>
              <a:rPr lang="en-US" dirty="0"/>
              <a:t>x5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EB0A8B-5A24-4A8D-B53F-499776D0ADE9}"/>
              </a:ext>
            </a:extLst>
          </p:cNvPr>
          <p:cNvSpPr txBox="1"/>
          <p:nvPr/>
        </p:nvSpPr>
        <p:spPr>
          <a:xfrm>
            <a:off x="407963" y="239151"/>
            <a:ext cx="401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prime factors of 540</a:t>
            </a:r>
          </a:p>
        </p:txBody>
      </p:sp>
    </p:spTree>
    <p:extLst>
      <p:ext uri="{BB962C8B-B14F-4D97-AF65-F5344CB8AC3E}">
        <p14:creationId xmlns:p14="http://schemas.microsoft.com/office/powerpoint/2010/main" val="202254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 animBg="1"/>
      <p:bldP spid="23" grpId="0"/>
      <p:bldP spid="15" grpId="0"/>
      <p:bldP spid="17" grpId="0"/>
      <p:bldP spid="18" grpId="0" animBg="1"/>
      <p:bldP spid="26" grpId="0"/>
      <p:bldP spid="29" grpId="0"/>
      <p:bldP spid="30" grpId="0"/>
      <p:bldP spid="31" grpId="0"/>
      <p:bldP spid="32" grpId="0" animBg="1"/>
      <p:bldP spid="37" grpId="0"/>
      <p:bldP spid="38" grpId="0"/>
      <p:bldP spid="39" grpId="0"/>
      <p:bldP spid="40" grpId="0" animBg="1"/>
      <p:bldP spid="36" grpId="0"/>
      <p:bldP spid="43" grpId="0"/>
      <p:bldP spid="44" grpId="0"/>
      <p:bldP spid="45" grpId="0"/>
      <p:bldP spid="46" grpId="0" animBg="1"/>
      <p:bldP spid="47" grpId="0" animBg="1"/>
      <p:bldP spid="49" grpId="0" animBg="1"/>
      <p:bldP spid="50" grpId="0" animBg="1"/>
      <p:bldP spid="51" grpId="0" animBg="1"/>
      <p:bldP spid="53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A82600-9C10-4634-A303-6B0B1493705D}"/>
              </a:ext>
            </a:extLst>
          </p:cNvPr>
          <p:cNvSpPr txBox="1"/>
          <p:nvPr/>
        </p:nvSpPr>
        <p:spPr>
          <a:xfrm>
            <a:off x="1012873" y="351692"/>
            <a:ext cx="3319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factors of  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683B8F-B22D-47A9-96F8-902376209C83}"/>
              </a:ext>
            </a:extLst>
          </p:cNvPr>
          <p:cNvSpPr txBox="1"/>
          <p:nvPr/>
        </p:nvSpPr>
        <p:spPr>
          <a:xfrm>
            <a:off x="7312855" y="351692"/>
            <a:ext cx="3319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factors of  8a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DBDED-94D1-4545-9047-764101C45B98}"/>
              </a:ext>
            </a:extLst>
          </p:cNvPr>
          <p:cNvSpPr txBox="1"/>
          <p:nvPr/>
        </p:nvSpPr>
        <p:spPr>
          <a:xfrm>
            <a:off x="4332848" y="4569655"/>
            <a:ext cx="4013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Which factors appear in both lists?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BDAF08-8A16-4944-8E2C-77FFC9051103}"/>
              </a:ext>
            </a:extLst>
          </p:cNvPr>
          <p:cNvSpPr txBox="1"/>
          <p:nvPr/>
        </p:nvSpPr>
        <p:spPr>
          <a:xfrm>
            <a:off x="4332848" y="5045611"/>
            <a:ext cx="4013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the highest common factor.</a:t>
            </a:r>
          </a:p>
        </p:txBody>
      </p:sp>
    </p:spTree>
    <p:extLst>
      <p:ext uri="{BB962C8B-B14F-4D97-AF65-F5344CB8AC3E}">
        <p14:creationId xmlns:p14="http://schemas.microsoft.com/office/powerpoint/2010/main" val="201721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17B11F-18AB-4B73-80FD-B84F4BEDAE2D}"/>
              </a:ext>
            </a:extLst>
          </p:cNvPr>
          <p:cNvSpPr txBox="1"/>
          <p:nvPr/>
        </p:nvSpPr>
        <p:spPr>
          <a:xfrm>
            <a:off x="754743" y="319314"/>
            <a:ext cx="9942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highest common factor for the following?</a:t>
            </a:r>
          </a:p>
          <a:p>
            <a:endParaRPr lang="en-AU" sz="2400" dirty="0"/>
          </a:p>
          <a:p>
            <a:r>
              <a:rPr lang="en-AU" sz="2400" dirty="0"/>
              <a:t>	                      6x											18y</a:t>
            </a:r>
          </a:p>
        </p:txBody>
      </p:sp>
    </p:spTree>
    <p:extLst>
      <p:ext uri="{BB962C8B-B14F-4D97-AF65-F5344CB8AC3E}">
        <p14:creationId xmlns:p14="http://schemas.microsoft.com/office/powerpoint/2010/main" val="249662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17B11F-18AB-4B73-80FD-B84F4BEDAE2D}"/>
              </a:ext>
            </a:extLst>
          </p:cNvPr>
          <p:cNvSpPr txBox="1"/>
          <p:nvPr/>
        </p:nvSpPr>
        <p:spPr>
          <a:xfrm>
            <a:off x="754743" y="319314"/>
            <a:ext cx="9942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highest common factor for the following?</a:t>
            </a:r>
          </a:p>
          <a:p>
            <a:endParaRPr lang="en-AU" sz="2400" dirty="0"/>
          </a:p>
          <a:p>
            <a:r>
              <a:rPr lang="en-AU" sz="2400" dirty="0"/>
              <a:t>	                      12ab										8a</a:t>
            </a:r>
          </a:p>
        </p:txBody>
      </p:sp>
    </p:spTree>
    <p:extLst>
      <p:ext uri="{BB962C8B-B14F-4D97-AF65-F5344CB8AC3E}">
        <p14:creationId xmlns:p14="http://schemas.microsoft.com/office/powerpoint/2010/main" val="3985387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17B11F-18AB-4B73-80FD-B84F4BEDAE2D}"/>
              </a:ext>
            </a:extLst>
          </p:cNvPr>
          <p:cNvSpPr txBox="1"/>
          <p:nvPr/>
        </p:nvSpPr>
        <p:spPr>
          <a:xfrm>
            <a:off x="754743" y="319314"/>
            <a:ext cx="9942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highest common factor for the following?</a:t>
            </a:r>
          </a:p>
          <a:p>
            <a:endParaRPr lang="en-AU" sz="2400" dirty="0"/>
          </a:p>
          <a:p>
            <a:r>
              <a:rPr lang="en-AU" sz="2400" dirty="0"/>
              <a:t>	                      3fg											4fh</a:t>
            </a:r>
          </a:p>
        </p:txBody>
      </p:sp>
    </p:spTree>
    <p:extLst>
      <p:ext uri="{BB962C8B-B14F-4D97-AF65-F5344CB8AC3E}">
        <p14:creationId xmlns:p14="http://schemas.microsoft.com/office/powerpoint/2010/main" val="1657927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17B11F-18AB-4B73-80FD-B84F4BEDAE2D}"/>
              </a:ext>
            </a:extLst>
          </p:cNvPr>
          <p:cNvSpPr txBox="1"/>
          <p:nvPr/>
        </p:nvSpPr>
        <p:spPr>
          <a:xfrm>
            <a:off x="754743" y="319314"/>
            <a:ext cx="9942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highest common factor for the following?</a:t>
            </a:r>
          </a:p>
          <a:p>
            <a:endParaRPr lang="en-AU" sz="2400" dirty="0"/>
          </a:p>
          <a:p>
            <a:r>
              <a:rPr lang="en-AU" sz="2400" dirty="0"/>
              <a:t>	                      18jk</a:t>
            </a:r>
            <a:r>
              <a:rPr lang="en-AU" sz="2400" baseline="30000" dirty="0"/>
              <a:t>2</a:t>
            </a:r>
            <a:r>
              <a:rPr lang="en-AU" sz="2400" dirty="0"/>
              <a:t>										9jk</a:t>
            </a:r>
          </a:p>
        </p:txBody>
      </p:sp>
    </p:spTree>
    <p:extLst>
      <p:ext uri="{BB962C8B-B14F-4D97-AF65-F5344CB8AC3E}">
        <p14:creationId xmlns:p14="http://schemas.microsoft.com/office/powerpoint/2010/main" val="3324026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17B11F-18AB-4B73-80FD-B84F4BEDAE2D}"/>
              </a:ext>
            </a:extLst>
          </p:cNvPr>
          <p:cNvSpPr txBox="1"/>
          <p:nvPr/>
        </p:nvSpPr>
        <p:spPr>
          <a:xfrm>
            <a:off x="754743" y="319314"/>
            <a:ext cx="9942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highest common factor for the following?</a:t>
            </a:r>
          </a:p>
          <a:p>
            <a:endParaRPr lang="en-AU" sz="2400" dirty="0"/>
          </a:p>
          <a:p>
            <a:r>
              <a:rPr lang="en-AU" sz="2400" dirty="0"/>
              <a:t>	                      27x</a:t>
            </a:r>
            <a:r>
              <a:rPr lang="en-AU" sz="2400" baseline="30000" dirty="0"/>
              <a:t>2</a:t>
            </a:r>
            <a:r>
              <a:rPr lang="en-AU" sz="2400" dirty="0"/>
              <a:t>y											18xy</a:t>
            </a:r>
          </a:p>
        </p:txBody>
      </p:sp>
    </p:spTree>
    <p:extLst>
      <p:ext uri="{BB962C8B-B14F-4D97-AF65-F5344CB8AC3E}">
        <p14:creationId xmlns:p14="http://schemas.microsoft.com/office/powerpoint/2010/main" val="3467050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738" y="54495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0338" y="83118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6724" y="887330"/>
            <a:ext cx="6890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/>
              <a:t>EQ: How do I find the Highest common factor of 2 Algebraic terms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18188" y="134046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70338" y="-58204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24</a:t>
            </a:r>
          </a:p>
          <a:p>
            <a:pPr algn="ctr"/>
            <a:r>
              <a:rPr lang="en-AU" sz="1600" dirty="0"/>
              <a:t>7</a:t>
            </a:r>
          </a:p>
          <a:p>
            <a:pPr algn="ctr"/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2AEA3-AEB1-42C6-8BB9-4079304B7994}"/>
              </a:ext>
            </a:extLst>
          </p:cNvPr>
          <p:cNvSpPr txBox="1"/>
          <p:nvPr/>
        </p:nvSpPr>
        <p:spPr>
          <a:xfrm>
            <a:off x="206724" y="1549479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find factors?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6402E1-DD94-40C1-B201-8DCAF203B7B0}"/>
              </a:ext>
            </a:extLst>
          </p:cNvPr>
          <p:cNvSpPr txBox="1"/>
          <p:nvPr/>
        </p:nvSpPr>
        <p:spPr>
          <a:xfrm>
            <a:off x="2699322" y="1364813"/>
            <a:ext cx="8525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a factor tree to find the prime factors of 2 terms.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24A38D-212C-4F7B-9DA6-C13292530805}"/>
              </a:ext>
            </a:extLst>
          </p:cNvPr>
          <p:cNvSpPr txBox="1"/>
          <p:nvPr/>
        </p:nvSpPr>
        <p:spPr>
          <a:xfrm>
            <a:off x="1195975" y="1635167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12c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C69D625-7D79-4AFD-9B49-75859F1DEB21}"/>
              </a:ext>
            </a:extLst>
          </p:cNvPr>
          <p:cNvCxnSpPr/>
          <p:nvPr/>
        </p:nvCxnSpPr>
        <p:spPr>
          <a:xfrm>
            <a:off x="3969969" y="1907450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F94DD04-91F4-442A-9F98-35A293E82F7E}"/>
              </a:ext>
            </a:extLst>
          </p:cNvPr>
          <p:cNvCxnSpPr/>
          <p:nvPr/>
        </p:nvCxnSpPr>
        <p:spPr>
          <a:xfrm flipH="1">
            <a:off x="3429909" y="1921351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F7EFF89-87A5-4D72-9032-886C21FE003E}"/>
              </a:ext>
            </a:extLst>
          </p:cNvPr>
          <p:cNvSpPr txBox="1"/>
          <p:nvPr/>
        </p:nvSpPr>
        <p:spPr>
          <a:xfrm>
            <a:off x="3122858" y="2406081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AE6B85-ACA4-4D05-8613-6C98CBAF4A98}"/>
              </a:ext>
            </a:extLst>
          </p:cNvPr>
          <p:cNvSpPr txBox="1"/>
          <p:nvPr/>
        </p:nvSpPr>
        <p:spPr>
          <a:xfrm>
            <a:off x="4256983" y="2406081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12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C95FADE-1BAC-4C5B-90E5-F2AE8DE4006E}"/>
              </a:ext>
            </a:extLst>
          </p:cNvPr>
          <p:cNvSpPr/>
          <p:nvPr/>
        </p:nvSpPr>
        <p:spPr>
          <a:xfrm>
            <a:off x="3213885" y="2406081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406251B-DA83-4D2D-A68F-648129A6B4A6}"/>
              </a:ext>
            </a:extLst>
          </p:cNvPr>
          <p:cNvCxnSpPr/>
          <p:nvPr/>
        </p:nvCxnSpPr>
        <p:spPr>
          <a:xfrm>
            <a:off x="4689031" y="2763147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2CABCFF-6E15-4BBB-9334-1494CB91F733}"/>
              </a:ext>
            </a:extLst>
          </p:cNvPr>
          <p:cNvCxnSpPr/>
          <p:nvPr/>
        </p:nvCxnSpPr>
        <p:spPr>
          <a:xfrm flipH="1">
            <a:off x="4238981" y="2753909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2D4CB1E-3C9F-4D8F-B93B-CB7B57EAF545}"/>
              </a:ext>
            </a:extLst>
          </p:cNvPr>
          <p:cNvSpPr txBox="1"/>
          <p:nvPr/>
        </p:nvSpPr>
        <p:spPr>
          <a:xfrm>
            <a:off x="3982807" y="3134273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EF679B-00C4-4D78-8BE0-CFA0F25DA7F5}"/>
              </a:ext>
            </a:extLst>
          </p:cNvPr>
          <p:cNvSpPr txBox="1"/>
          <p:nvPr/>
        </p:nvSpPr>
        <p:spPr>
          <a:xfrm>
            <a:off x="4961007" y="312703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823A425-3525-4187-9269-2DF7A83603A1}"/>
              </a:ext>
            </a:extLst>
          </p:cNvPr>
          <p:cNvSpPr/>
          <p:nvPr/>
        </p:nvSpPr>
        <p:spPr>
          <a:xfrm>
            <a:off x="4022958" y="3134274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32B6C3-9EED-42D1-BD46-CDE6B7E3E978}"/>
              </a:ext>
            </a:extLst>
          </p:cNvPr>
          <p:cNvSpPr txBox="1"/>
          <p:nvPr/>
        </p:nvSpPr>
        <p:spPr>
          <a:xfrm>
            <a:off x="3319787" y="3127030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prime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4942592-5B9E-4E05-A8EB-0BBC61118664}"/>
              </a:ext>
            </a:extLst>
          </p:cNvPr>
          <p:cNvCxnSpPr/>
          <p:nvPr/>
        </p:nvCxnSpPr>
        <p:spPr>
          <a:xfrm>
            <a:off x="5303045" y="3417430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8B90756-DFEC-4605-A3B9-941D86D20B1E}"/>
              </a:ext>
            </a:extLst>
          </p:cNvPr>
          <p:cNvCxnSpPr/>
          <p:nvPr/>
        </p:nvCxnSpPr>
        <p:spPr>
          <a:xfrm flipH="1">
            <a:off x="4781961" y="3422580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48609D9-B599-4657-A80F-733A4C324CAD}"/>
              </a:ext>
            </a:extLst>
          </p:cNvPr>
          <p:cNvSpPr txBox="1"/>
          <p:nvPr/>
        </p:nvSpPr>
        <p:spPr>
          <a:xfrm>
            <a:off x="5562064" y="3789979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2FDEE9-4748-49B3-9E57-F027FF92E952}"/>
              </a:ext>
            </a:extLst>
          </p:cNvPr>
          <p:cNvSpPr txBox="1"/>
          <p:nvPr/>
        </p:nvSpPr>
        <p:spPr>
          <a:xfrm>
            <a:off x="4430921" y="3800915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360119A-6972-4879-8F6E-B67652A57078}"/>
              </a:ext>
            </a:extLst>
          </p:cNvPr>
          <p:cNvSpPr/>
          <p:nvPr/>
        </p:nvSpPr>
        <p:spPr>
          <a:xfrm>
            <a:off x="5643137" y="3826013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ECC8D10-AA4D-46F7-B038-8025FDBD7E6D}"/>
              </a:ext>
            </a:extLst>
          </p:cNvPr>
          <p:cNvSpPr/>
          <p:nvPr/>
        </p:nvSpPr>
        <p:spPr>
          <a:xfrm>
            <a:off x="4509011" y="3825982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F015C1-5084-4756-BCE0-ECC33D32AB95}"/>
              </a:ext>
            </a:extLst>
          </p:cNvPr>
          <p:cNvSpPr txBox="1"/>
          <p:nvPr/>
        </p:nvSpPr>
        <p:spPr>
          <a:xfrm>
            <a:off x="3429909" y="4170247"/>
            <a:ext cx="2213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12c = c x 2 x 2 x 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54D6EB-EC10-4D83-B25B-AD7DF504887F}"/>
              </a:ext>
            </a:extLst>
          </p:cNvPr>
          <p:cNvSpPr txBox="1"/>
          <p:nvPr/>
        </p:nvSpPr>
        <p:spPr>
          <a:xfrm>
            <a:off x="5679728" y="1635167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9c</a:t>
            </a:r>
            <a:r>
              <a:rPr lang="en-AU" baseline="30000" dirty="0"/>
              <a:t>2</a:t>
            </a:r>
            <a:endParaRPr lang="en-AU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F7DE40D-9912-477B-A494-C930400120A3}"/>
              </a:ext>
            </a:extLst>
          </p:cNvPr>
          <p:cNvCxnSpPr/>
          <p:nvPr/>
        </p:nvCxnSpPr>
        <p:spPr>
          <a:xfrm>
            <a:off x="8453722" y="1907450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69C16C9-C60E-4E75-B35E-CC33E231E77F}"/>
              </a:ext>
            </a:extLst>
          </p:cNvPr>
          <p:cNvCxnSpPr/>
          <p:nvPr/>
        </p:nvCxnSpPr>
        <p:spPr>
          <a:xfrm flipH="1">
            <a:off x="7913662" y="1921351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2835D9D-898F-43A6-BCEA-D310E3F6E164}"/>
              </a:ext>
            </a:extLst>
          </p:cNvPr>
          <p:cNvSpPr txBox="1"/>
          <p:nvPr/>
        </p:nvSpPr>
        <p:spPr>
          <a:xfrm>
            <a:off x="7606611" y="2406081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7DA8D2-9B14-4DCE-B3AF-3391A39B4EBC}"/>
              </a:ext>
            </a:extLst>
          </p:cNvPr>
          <p:cNvSpPr txBox="1"/>
          <p:nvPr/>
        </p:nvSpPr>
        <p:spPr>
          <a:xfrm>
            <a:off x="8740736" y="2406081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9c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CAD385D-9B0A-46DB-BA70-0866172C655D}"/>
              </a:ext>
            </a:extLst>
          </p:cNvPr>
          <p:cNvSpPr/>
          <p:nvPr/>
        </p:nvSpPr>
        <p:spPr>
          <a:xfrm>
            <a:off x="7697638" y="2406081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8134485-A75E-474C-A3A6-A24EF30537E0}"/>
              </a:ext>
            </a:extLst>
          </p:cNvPr>
          <p:cNvCxnSpPr/>
          <p:nvPr/>
        </p:nvCxnSpPr>
        <p:spPr>
          <a:xfrm>
            <a:off x="9172784" y="2763147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044CC48-AF47-4D7C-BB97-AD997876B561}"/>
              </a:ext>
            </a:extLst>
          </p:cNvPr>
          <p:cNvCxnSpPr/>
          <p:nvPr/>
        </p:nvCxnSpPr>
        <p:spPr>
          <a:xfrm flipH="1">
            <a:off x="8722734" y="2753909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A508BEE-DE2C-4D50-99B2-776882FBF2C9}"/>
              </a:ext>
            </a:extLst>
          </p:cNvPr>
          <p:cNvSpPr txBox="1"/>
          <p:nvPr/>
        </p:nvSpPr>
        <p:spPr>
          <a:xfrm>
            <a:off x="8466560" y="3134273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9AB743-4448-4400-8F96-23088C6582F7}"/>
              </a:ext>
            </a:extLst>
          </p:cNvPr>
          <p:cNvSpPr txBox="1"/>
          <p:nvPr/>
        </p:nvSpPr>
        <p:spPr>
          <a:xfrm>
            <a:off x="9444760" y="312703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9790CE8-A939-49B9-8DE1-B828A9BDEAD4}"/>
              </a:ext>
            </a:extLst>
          </p:cNvPr>
          <p:cNvSpPr/>
          <p:nvPr/>
        </p:nvSpPr>
        <p:spPr>
          <a:xfrm>
            <a:off x="8506711" y="3134274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8C38C6-7FF1-4F90-957D-BC3355A34E31}"/>
              </a:ext>
            </a:extLst>
          </p:cNvPr>
          <p:cNvSpPr txBox="1"/>
          <p:nvPr/>
        </p:nvSpPr>
        <p:spPr>
          <a:xfrm>
            <a:off x="7803540" y="3127030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prime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03CAD17-E0E3-49BF-BE76-C47BEDEEF6FD}"/>
              </a:ext>
            </a:extLst>
          </p:cNvPr>
          <p:cNvCxnSpPr/>
          <p:nvPr/>
        </p:nvCxnSpPr>
        <p:spPr>
          <a:xfrm>
            <a:off x="9786798" y="3417430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382DA4F-15BD-42C8-AF2E-7E3DDD39ACB2}"/>
              </a:ext>
            </a:extLst>
          </p:cNvPr>
          <p:cNvCxnSpPr/>
          <p:nvPr/>
        </p:nvCxnSpPr>
        <p:spPr>
          <a:xfrm flipH="1">
            <a:off x="9265714" y="3422580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ECCE719-A62D-4C61-989F-573C7CA03E6F}"/>
              </a:ext>
            </a:extLst>
          </p:cNvPr>
          <p:cNvSpPr txBox="1"/>
          <p:nvPr/>
        </p:nvSpPr>
        <p:spPr>
          <a:xfrm>
            <a:off x="10045817" y="3789979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028498F-6804-401F-8E77-38371328D58F}"/>
              </a:ext>
            </a:extLst>
          </p:cNvPr>
          <p:cNvSpPr txBox="1"/>
          <p:nvPr/>
        </p:nvSpPr>
        <p:spPr>
          <a:xfrm>
            <a:off x="8914674" y="3800915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3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D50DE0C-FD69-4BDE-BAC2-B17A32D3B598}"/>
              </a:ext>
            </a:extLst>
          </p:cNvPr>
          <p:cNvSpPr/>
          <p:nvPr/>
        </p:nvSpPr>
        <p:spPr>
          <a:xfrm>
            <a:off x="10126890" y="3826013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F070164-B42C-4479-BC62-3C41F88E2A9E}"/>
              </a:ext>
            </a:extLst>
          </p:cNvPr>
          <p:cNvSpPr/>
          <p:nvPr/>
        </p:nvSpPr>
        <p:spPr>
          <a:xfrm>
            <a:off x="8992764" y="3825982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2A4FA6-C92D-4444-A5B8-EE6D6137318F}"/>
              </a:ext>
            </a:extLst>
          </p:cNvPr>
          <p:cNvSpPr txBox="1"/>
          <p:nvPr/>
        </p:nvSpPr>
        <p:spPr>
          <a:xfrm>
            <a:off x="7913662" y="4170247"/>
            <a:ext cx="2213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9c</a:t>
            </a:r>
            <a:r>
              <a:rPr lang="en-AU" baseline="30000" dirty="0"/>
              <a:t>2</a:t>
            </a:r>
            <a:r>
              <a:rPr lang="en-AU" dirty="0"/>
              <a:t> = c x c 3 x 3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1C9ED46-1181-4040-870D-6706FCF51705}"/>
              </a:ext>
            </a:extLst>
          </p:cNvPr>
          <p:cNvCxnSpPr>
            <a:cxnSpLocks/>
          </p:cNvCxnSpPr>
          <p:nvPr/>
        </p:nvCxnSpPr>
        <p:spPr>
          <a:xfrm>
            <a:off x="2261323" y="1347523"/>
            <a:ext cx="10753" cy="55104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59D34B5F-0278-4425-B37E-B540A7DE14F5}"/>
              </a:ext>
            </a:extLst>
          </p:cNvPr>
          <p:cNvSpPr txBox="1"/>
          <p:nvPr/>
        </p:nvSpPr>
        <p:spPr>
          <a:xfrm>
            <a:off x="3791169" y="4969503"/>
            <a:ext cx="675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numbers and letters that exist in both lists.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89E1FA5-6F8A-4C0F-984F-62D88A656DE2}"/>
              </a:ext>
            </a:extLst>
          </p:cNvPr>
          <p:cNvSpPr txBox="1"/>
          <p:nvPr/>
        </p:nvSpPr>
        <p:spPr>
          <a:xfrm>
            <a:off x="4740817" y="5333388"/>
            <a:ext cx="4173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 and 3   so 3xc or 3c is our HCF</a:t>
            </a:r>
          </a:p>
        </p:txBody>
      </p:sp>
      <p:sp>
        <p:nvSpPr>
          <p:cNvPr id="71" name="Arrow: Down 70">
            <a:extLst>
              <a:ext uri="{FF2B5EF4-FFF2-40B4-BE49-F238E27FC236}">
                <a16:creationId xmlns:a16="http://schemas.microsoft.com/office/drawing/2014/main" id="{0070E4C8-EF2C-48B3-8F9F-3AE82A6A5D15}"/>
              </a:ext>
            </a:extLst>
          </p:cNvPr>
          <p:cNvSpPr/>
          <p:nvPr/>
        </p:nvSpPr>
        <p:spPr>
          <a:xfrm rot="10800000">
            <a:off x="3900547" y="4539579"/>
            <a:ext cx="373329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2" name="Arrow: Down 71">
            <a:extLst>
              <a:ext uri="{FF2B5EF4-FFF2-40B4-BE49-F238E27FC236}">
                <a16:creationId xmlns:a16="http://schemas.microsoft.com/office/drawing/2014/main" id="{22F78778-C782-41E9-BDF7-D7374E3EDC7A}"/>
              </a:ext>
            </a:extLst>
          </p:cNvPr>
          <p:cNvSpPr/>
          <p:nvPr/>
        </p:nvSpPr>
        <p:spPr>
          <a:xfrm rot="10800000">
            <a:off x="4783754" y="4521864"/>
            <a:ext cx="373329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F174B944-2C3F-4D76-BF09-B234254E8C0A}"/>
              </a:ext>
            </a:extLst>
          </p:cNvPr>
          <p:cNvSpPr/>
          <p:nvPr/>
        </p:nvSpPr>
        <p:spPr>
          <a:xfrm rot="10800000">
            <a:off x="8367407" y="4518579"/>
            <a:ext cx="373329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4" name="Arrow: Down 73">
            <a:extLst>
              <a:ext uri="{FF2B5EF4-FFF2-40B4-BE49-F238E27FC236}">
                <a16:creationId xmlns:a16="http://schemas.microsoft.com/office/drawing/2014/main" id="{1D45BFC5-B1BD-4F07-8EF6-4DF84E755AB5}"/>
              </a:ext>
            </a:extLst>
          </p:cNvPr>
          <p:cNvSpPr/>
          <p:nvPr/>
        </p:nvSpPr>
        <p:spPr>
          <a:xfrm rot="10800000">
            <a:off x="8821152" y="4514481"/>
            <a:ext cx="373329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199E4F1-F202-4C3A-8461-DD51917ADF0E}"/>
              </a:ext>
            </a:extLst>
          </p:cNvPr>
          <p:cNvSpPr txBox="1"/>
          <p:nvPr/>
        </p:nvSpPr>
        <p:spPr>
          <a:xfrm>
            <a:off x="127100" y="4385209"/>
            <a:ext cx="1884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use my factor lists to find a HCF?</a:t>
            </a:r>
          </a:p>
        </p:txBody>
      </p:sp>
    </p:spTree>
    <p:extLst>
      <p:ext uri="{BB962C8B-B14F-4D97-AF65-F5344CB8AC3E}">
        <p14:creationId xmlns:p14="http://schemas.microsoft.com/office/powerpoint/2010/main" val="392135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4" grpId="0"/>
      <p:bldP spid="35" grpId="0"/>
      <p:bldP spid="36" grpId="0" animBg="1"/>
      <p:bldP spid="37" grpId="0"/>
      <p:bldP spid="40" grpId="0"/>
      <p:bldP spid="41" grpId="0"/>
      <p:bldP spid="42" grpId="0" animBg="1"/>
      <p:bldP spid="43" grpId="0" animBg="1"/>
      <p:bldP spid="47" grpId="0"/>
      <p:bldP spid="48" grpId="0"/>
      <p:bldP spid="49" grpId="0" animBg="1"/>
      <p:bldP spid="52" grpId="0"/>
      <p:bldP spid="53" grpId="0"/>
      <p:bldP spid="54" grpId="0" animBg="1"/>
      <p:bldP spid="55" grpId="0"/>
      <p:bldP spid="58" grpId="0"/>
      <p:bldP spid="59" grpId="0"/>
      <p:bldP spid="60" grpId="0" animBg="1"/>
      <p:bldP spid="6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D3531-8D41-422B-A408-0BE94B85D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260" y="179363"/>
            <a:ext cx="10396882" cy="1151965"/>
          </a:xfrm>
        </p:spPr>
        <p:txBody>
          <a:bodyPr/>
          <a:lstStyle/>
          <a:p>
            <a:r>
              <a:rPr lang="en-AU" dirty="0"/>
              <a:t>Your turn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69232-38FB-488C-986B-391F0E28BA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5435" y="759656"/>
            <a:ext cx="10394707" cy="5514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cap="none" dirty="0">
                <a:latin typeface="Berlin Sans FB" panose="020E0602020502020306" pitchFamily="34" charset="0"/>
              </a:rPr>
              <a:t>Create factor trees for the following sets of algebraic terms.  Then find the HCF for each set.</a:t>
            </a:r>
          </a:p>
          <a:p>
            <a:pPr marL="457200" indent="-457200">
              <a:buAutoNum type="alphaUcParenR"/>
            </a:pPr>
            <a:r>
              <a:rPr lang="en-AU" sz="2400" cap="none" dirty="0">
                <a:latin typeface="Berlin Sans FB" panose="020E0602020502020306" pitchFamily="34" charset="0"/>
              </a:rPr>
              <a:t>12b and 18b</a:t>
            </a:r>
          </a:p>
          <a:p>
            <a:pPr marL="457200" indent="-457200">
              <a:buAutoNum type="alphaUcParenR"/>
            </a:pPr>
            <a:r>
              <a:rPr lang="en-AU" sz="2400" cap="none" dirty="0">
                <a:latin typeface="Berlin Sans FB" panose="020E0602020502020306" pitchFamily="34" charset="0"/>
              </a:rPr>
              <a:t>9 and 27d</a:t>
            </a:r>
          </a:p>
          <a:p>
            <a:pPr marL="457200" indent="-457200">
              <a:buAutoNum type="alphaUcParenR"/>
            </a:pPr>
            <a:r>
              <a:rPr lang="en-AU" sz="2400" cap="none" dirty="0">
                <a:latin typeface="Berlin Sans FB" panose="020E0602020502020306" pitchFamily="34" charset="0"/>
              </a:rPr>
              <a:t>80j and 64cj</a:t>
            </a:r>
          </a:p>
          <a:p>
            <a:pPr marL="457200" indent="-457200">
              <a:buAutoNum type="alphaUcParenR"/>
            </a:pPr>
            <a:r>
              <a:rPr lang="en-AU" sz="2400" cap="none" dirty="0">
                <a:latin typeface="Berlin Sans FB" panose="020E0602020502020306" pitchFamily="34" charset="0"/>
              </a:rPr>
              <a:t>14t and 21t</a:t>
            </a:r>
            <a:r>
              <a:rPr lang="en-AU" sz="2400" cap="none" baseline="30000" dirty="0">
                <a:latin typeface="Berlin Sans FB" panose="020E0602020502020306" pitchFamily="34" charset="0"/>
              </a:rPr>
              <a:t>2</a:t>
            </a:r>
            <a:endParaRPr lang="en-AU" sz="2400" cap="none" dirty="0">
              <a:latin typeface="Berlin Sans FB" panose="020E0602020502020306" pitchFamily="34" charset="0"/>
            </a:endParaRPr>
          </a:p>
          <a:p>
            <a:pPr marL="457200" indent="-457200">
              <a:buAutoNum type="alphaUcParenR"/>
            </a:pPr>
            <a:r>
              <a:rPr lang="en-AU" sz="2400" cap="none" dirty="0" err="1">
                <a:latin typeface="Berlin Sans FB" panose="020E0602020502020306" pitchFamily="34" charset="0"/>
              </a:rPr>
              <a:t>fgh</a:t>
            </a:r>
            <a:r>
              <a:rPr lang="en-AU" sz="2400" cap="none" dirty="0">
                <a:latin typeface="Berlin Sans FB" panose="020E0602020502020306" pitchFamily="34" charset="0"/>
              </a:rPr>
              <a:t> and 4fh</a:t>
            </a:r>
          </a:p>
          <a:p>
            <a:pPr marL="457200" indent="-457200">
              <a:buAutoNum type="alphaUcParenR"/>
            </a:pPr>
            <a:r>
              <a:rPr lang="en-AU" sz="2400" cap="none" dirty="0">
                <a:latin typeface="Berlin Sans FB" panose="020E0602020502020306" pitchFamily="34" charset="0"/>
              </a:rPr>
              <a:t>15rt and 25hk</a:t>
            </a:r>
          </a:p>
          <a:p>
            <a:pPr marL="457200" indent="-457200">
              <a:buAutoNum type="alphaUcParenR"/>
            </a:pPr>
            <a:r>
              <a:rPr lang="en-AU" sz="2400" cap="none" dirty="0">
                <a:latin typeface="Berlin Sans FB" panose="020E0602020502020306" pitchFamily="34" charset="0"/>
              </a:rPr>
              <a:t>12s</a:t>
            </a:r>
            <a:r>
              <a:rPr lang="en-AU" sz="2400" cap="none" baseline="30000" dirty="0">
                <a:latin typeface="Berlin Sans FB" panose="020E0602020502020306" pitchFamily="34" charset="0"/>
              </a:rPr>
              <a:t>2</a:t>
            </a:r>
            <a:r>
              <a:rPr lang="en-AU" sz="2400" cap="none" dirty="0">
                <a:latin typeface="Berlin Sans FB" panose="020E0602020502020306" pitchFamily="34" charset="0"/>
              </a:rPr>
              <a:t>z and 14sz</a:t>
            </a:r>
            <a:r>
              <a:rPr lang="en-AU" sz="2400" cap="none" baseline="30000" dirty="0">
                <a:latin typeface="Berlin Sans FB" panose="020E0602020502020306" pitchFamily="34" charset="0"/>
              </a:rPr>
              <a:t>2</a:t>
            </a:r>
            <a:endParaRPr lang="en-AU" sz="2400" cap="none" dirty="0">
              <a:latin typeface="Berlin Sans FB" panose="020E0602020502020306" pitchFamily="34" charset="0"/>
            </a:endParaRPr>
          </a:p>
          <a:p>
            <a:endParaRPr lang="en-AU" cap="none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7521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267</TotalTime>
  <Words>468</Words>
  <Application>Microsoft Office PowerPoint</Application>
  <PresentationFormat>Widescreen</PresentationFormat>
  <Paragraphs>141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Berlin Sans FB</vt:lpstr>
      <vt:lpstr>Calibri</vt:lpstr>
      <vt:lpstr>Cambria Math</vt:lpstr>
      <vt:lpstr>Impact</vt:lpstr>
      <vt:lpstr>Main Event</vt:lpstr>
      <vt:lpstr>Algebra  Interactive Notebook </vt:lpstr>
      <vt:lpstr>PowerPoint Presentation</vt:lpstr>
      <vt:lpstr>PowerPoint Presentation</vt:lpstr>
      <vt:lpstr>Practice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Simplifying Expressions  </vt:lpstr>
      <vt:lpstr>Your turn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 Interactive Notebook</dc:title>
  <dc:creator>D'SOUZA Jillian [Baldivis Secondary College]</dc:creator>
  <cp:lastModifiedBy>James WILSON</cp:lastModifiedBy>
  <cp:revision>83</cp:revision>
  <dcterms:created xsi:type="dcterms:W3CDTF">2018-03-11T07:42:05Z</dcterms:created>
  <dcterms:modified xsi:type="dcterms:W3CDTF">2018-03-25T14:55:15Z</dcterms:modified>
</cp:coreProperties>
</file>
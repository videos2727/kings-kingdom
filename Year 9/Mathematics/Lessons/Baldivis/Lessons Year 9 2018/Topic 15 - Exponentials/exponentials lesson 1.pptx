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79" r:id="rId3"/>
    <p:sldId id="287" r:id="rId4"/>
    <p:sldId id="273" r:id="rId5"/>
    <p:sldId id="288" r:id="rId6"/>
    <p:sldId id="289" r:id="rId7"/>
    <p:sldId id="291" r:id="rId8"/>
    <p:sldId id="290" r:id="rId9"/>
    <p:sldId id="292" r:id="rId10"/>
    <p:sldId id="293" r:id="rId11"/>
    <p:sldId id="294" r:id="rId12"/>
    <p:sldId id="278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506" autoAdjust="0"/>
  </p:normalViewPr>
  <p:slideViewPr>
    <p:cSldViewPr>
      <p:cViewPr varScale="1">
        <p:scale>
          <a:sx n="75" d="100"/>
          <a:sy n="75" d="100"/>
        </p:scale>
        <p:origin x="82" y="77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11/18/2018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11/18/2018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581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742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Pass out half sheets of graph paper. </a:t>
            </a:r>
          </a:p>
          <a:p>
            <a:r>
              <a:rPr lang="en-AU" dirty="0"/>
              <a:t>They can graph it on the same graph using different </a:t>
            </a:r>
            <a:r>
              <a:rPr lang="en-AU" dirty="0" err="1"/>
              <a:t>colors</a:t>
            </a:r>
            <a:r>
              <a:rPr lang="en-AU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618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059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11/18/2018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11/18/2018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11/18/2018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11/18/2018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11/18/2018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11/18/2018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11/18/2018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11/18/2018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11/18/2018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11/18/2018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11/18/2018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mFMJC45f1Q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469" y="2376538"/>
            <a:ext cx="10955886" cy="2104923"/>
          </a:xfrm>
        </p:spPr>
        <p:txBody>
          <a:bodyPr/>
          <a:lstStyle/>
          <a:p>
            <a:r>
              <a:rPr lang="en-US" sz="6000" dirty="0"/>
              <a:t>Topic: Graphing Exponentials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828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What are exponential function graphs</a:t>
            </a:r>
            <a:r>
              <a:rPr lang="en-US" dirty="0"/>
              <a:t>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16C4-86C1-41E5-A8ED-04F9E5B30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Warm Up Questions: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F987C8-8781-4F05-ABF8-1D43DBA75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Complete these 5 on your LHS without a calculator.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193F9B-EE1E-4B3E-8B22-724435DD3A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32" t="63653" r="59453" b="19543"/>
          <a:stretch/>
        </p:blipFill>
        <p:spPr>
          <a:xfrm>
            <a:off x="1989956" y="2448136"/>
            <a:ext cx="3690407" cy="2952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8961B3-B183-47D3-A70B-FDF6155F49A3}"/>
              </a:ext>
            </a:extLst>
          </p:cNvPr>
          <p:cNvSpPr txBox="1"/>
          <p:nvPr/>
        </p:nvSpPr>
        <p:spPr>
          <a:xfrm>
            <a:off x="6526460" y="116632"/>
            <a:ext cx="4752528" cy="64633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Topic: Graphing Exponentials</a:t>
            </a:r>
          </a:p>
          <a:p>
            <a:r>
              <a:rPr lang="en-AU" dirty="0"/>
              <a:t>EQ: What are exponential function graphs? </a:t>
            </a:r>
          </a:p>
        </p:txBody>
      </p:sp>
    </p:spTree>
    <p:extLst>
      <p:ext uri="{BB962C8B-B14F-4D97-AF65-F5344CB8AC3E}">
        <p14:creationId xmlns:p14="http://schemas.microsoft.com/office/powerpoint/2010/main" val="299979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7B3CC-1AD6-41B0-9BC1-2061C02A3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442" y="69120"/>
            <a:ext cx="9997754" cy="1368152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Think about how thick a piece of paper is….. If you fold it how thick will that be?</a:t>
            </a:r>
          </a:p>
          <a:p>
            <a:pPr marL="0" indent="0">
              <a:buNone/>
            </a:pPr>
            <a:r>
              <a:rPr lang="en-AU" dirty="0"/>
              <a:t>How many folds would it take to get to the moon?</a:t>
            </a:r>
          </a:p>
        </p:txBody>
      </p:sp>
      <p:pic>
        <p:nvPicPr>
          <p:cNvPr id="4" name="Online Media 3" title="How Folding Paper Can Get You to the Moon">
            <a:hlinkClick r:id="" action="ppaction://media"/>
            <a:extLst>
              <a:ext uri="{FF2B5EF4-FFF2-40B4-BE49-F238E27FC236}">
                <a16:creationId xmlns:a16="http://schemas.microsoft.com/office/drawing/2014/main" id="{8EF4AAE6-A40E-4073-A6B5-36919F93A4F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53852" y="908720"/>
            <a:ext cx="10576499" cy="59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82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Graphing Exponentials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exponential function graphs?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258532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What is an Exponential function?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C2161B-B7A3-4942-A479-AB7B92DF54F7}"/>
              </a:ext>
            </a:extLst>
          </p:cNvPr>
          <p:cNvSpPr txBox="1"/>
          <p:nvPr/>
        </p:nvSpPr>
        <p:spPr>
          <a:xfrm>
            <a:off x="2285757" y="3365581"/>
            <a:ext cx="5248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population growth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radioactive decay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bacteria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420074-1E10-4DBF-9DAC-30B2063C13D0}"/>
              </a:ext>
            </a:extLst>
          </p:cNvPr>
          <p:cNvSpPr txBox="1"/>
          <p:nvPr/>
        </p:nvSpPr>
        <p:spPr>
          <a:xfrm>
            <a:off x="263355" y="3602925"/>
            <a:ext cx="1485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Every day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134A61-1252-41E4-844B-0549DC65AAEA}"/>
              </a:ext>
            </a:extLst>
          </p:cNvPr>
          <p:cNvSpPr txBox="1"/>
          <p:nvPr/>
        </p:nvSpPr>
        <p:spPr>
          <a:xfrm>
            <a:off x="387926" y="4653136"/>
            <a:ext cx="158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Science applications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CB5EB2-E4A0-4BE6-A544-70D5375F7693}"/>
              </a:ext>
            </a:extLst>
          </p:cNvPr>
          <p:cNvSpPr txBox="1"/>
          <p:nvPr/>
        </p:nvSpPr>
        <p:spPr>
          <a:xfrm>
            <a:off x="2230657" y="4653136"/>
            <a:ext cx="90730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Credit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Bank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Loans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Hormone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579394-6B41-40FF-BCFF-8EA8AA49B70A}"/>
              </a:ext>
            </a:extLst>
          </p:cNvPr>
          <p:cNvSpPr txBox="1"/>
          <p:nvPr/>
        </p:nvSpPr>
        <p:spPr>
          <a:xfrm>
            <a:off x="2477687" y="1386050"/>
            <a:ext cx="6984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function where the variable x is in the exponent.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C007AA-038C-4E06-AAD5-C8F9FF45BB16}"/>
                  </a:ext>
                </a:extLst>
              </p:cNvPr>
              <p:cNvSpPr txBox="1"/>
              <p:nvPr/>
            </p:nvSpPr>
            <p:spPr>
              <a:xfrm>
                <a:off x="4975565" y="2165332"/>
                <a:ext cx="132311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C007AA-038C-4E06-AAD5-C8F9FF45B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565" y="2165332"/>
                <a:ext cx="132311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96B637-D165-448A-821C-406144642255}"/>
              </a:ext>
            </a:extLst>
          </p:cNvPr>
          <p:cNvCxnSpPr>
            <a:cxnSpLocks/>
          </p:cNvCxnSpPr>
          <p:nvPr/>
        </p:nvCxnSpPr>
        <p:spPr>
          <a:xfrm flipH="1" flipV="1">
            <a:off x="5971595" y="2638627"/>
            <a:ext cx="654177" cy="6015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8B23C3-74C0-4E3E-BF81-7C47A487E169}"/>
              </a:ext>
            </a:extLst>
          </p:cNvPr>
          <p:cNvCxnSpPr>
            <a:cxnSpLocks/>
          </p:cNvCxnSpPr>
          <p:nvPr/>
        </p:nvCxnSpPr>
        <p:spPr>
          <a:xfrm flipH="1">
            <a:off x="6298684" y="2165332"/>
            <a:ext cx="875848" cy="12202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77E479D-C7A0-447F-9FC8-3483181079E3}"/>
              </a:ext>
            </a:extLst>
          </p:cNvPr>
          <p:cNvSpPr txBox="1"/>
          <p:nvPr/>
        </p:nvSpPr>
        <p:spPr>
          <a:xfrm>
            <a:off x="6767160" y="3240197"/>
            <a:ext cx="98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EA57B6-DF63-4A75-AD3C-EDB6C4DE2BAB}"/>
              </a:ext>
            </a:extLst>
          </p:cNvPr>
          <p:cNvSpPr txBox="1"/>
          <p:nvPr/>
        </p:nvSpPr>
        <p:spPr>
          <a:xfrm>
            <a:off x="7318548" y="1916832"/>
            <a:ext cx="352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Exponent (how many times the Base will be multiplied by itself)</a:t>
            </a: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3" grpId="0"/>
      <p:bldP spid="17" grpId="0"/>
      <p:bldP spid="24" grpId="0"/>
      <p:bldP spid="21" grpId="0"/>
      <p:bldP spid="22" grpId="0"/>
      <p:bldP spid="31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Graphing Exponentials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exponential function graphs?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20313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Example 1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C007AA-038C-4E06-AAD5-C8F9FF45BB16}"/>
                  </a:ext>
                </a:extLst>
              </p:cNvPr>
              <p:cNvSpPr txBox="1"/>
              <p:nvPr/>
            </p:nvSpPr>
            <p:spPr>
              <a:xfrm>
                <a:off x="2926060" y="1488921"/>
                <a:ext cx="13115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C007AA-038C-4E06-AAD5-C8F9FF45B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60" y="1488921"/>
                <a:ext cx="131151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96B637-D165-448A-821C-406144642255}"/>
              </a:ext>
            </a:extLst>
          </p:cNvPr>
          <p:cNvCxnSpPr>
            <a:cxnSpLocks/>
          </p:cNvCxnSpPr>
          <p:nvPr/>
        </p:nvCxnSpPr>
        <p:spPr>
          <a:xfrm flipH="1" flipV="1">
            <a:off x="4006180" y="1929926"/>
            <a:ext cx="959790" cy="1028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77E479D-C7A0-447F-9FC8-3483181079E3}"/>
              </a:ext>
            </a:extLst>
          </p:cNvPr>
          <p:cNvSpPr txBox="1"/>
          <p:nvPr/>
        </p:nvSpPr>
        <p:spPr>
          <a:xfrm>
            <a:off x="4870276" y="1658198"/>
            <a:ext cx="4031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Base is 2 meaning each increase in x will be doubling y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EF5EF4-0055-44F8-9198-DA67688EA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542" y="2869305"/>
            <a:ext cx="3716670" cy="29609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E9B685A-346A-457E-98E9-D8CCF3D915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5943215"/>
                  </p:ext>
                </p:extLst>
              </p:nvPr>
            </p:nvGraphicFramePr>
            <p:xfrm>
              <a:off x="2072545" y="2405427"/>
              <a:ext cx="6480890" cy="76229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648089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2482473914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2602034468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978348147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918897621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</a:tblGrid>
                  <a:tr h="38114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38114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E9B685A-346A-457E-98E9-D8CCF3D915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5943215"/>
                  </p:ext>
                </p:extLst>
              </p:nvPr>
            </p:nvGraphicFramePr>
            <p:xfrm>
              <a:off x="2072545" y="2405427"/>
              <a:ext cx="6480890" cy="76229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648089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2482473914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2602034468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978348147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918897621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</a:tblGrid>
                  <a:tr h="38114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38114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1887" t="-107937" r="-807547" b="-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07937" r="-700000" b="-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2830" t="-107937" r="-606604" b="-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99065" t="-107937" r="-500935" b="-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03774" t="-107937" r="-405660" b="-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98131" t="-107937" r="-301869" b="-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04717" t="-107937" r="-204717" b="-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97196" t="-107937" r="-102804" b="-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905660" t="-107937" r="-3774" b="-206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C523EC2-0A42-493A-A896-E10784686C05}"/>
              </a:ext>
            </a:extLst>
          </p:cNvPr>
          <p:cNvSpPr txBox="1"/>
          <p:nvPr/>
        </p:nvSpPr>
        <p:spPr>
          <a:xfrm>
            <a:off x="4532893" y="3661581"/>
            <a:ext cx="1336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2×2×2 = 8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6D2CC4-2ACA-46A6-BE8C-27E0275DE6B4}"/>
              </a:ext>
            </a:extLst>
          </p:cNvPr>
          <p:cNvCxnSpPr>
            <a:cxnSpLocks/>
          </p:cNvCxnSpPr>
          <p:nvPr/>
        </p:nvCxnSpPr>
        <p:spPr>
          <a:xfrm flipH="1" flipV="1">
            <a:off x="5172713" y="3151980"/>
            <a:ext cx="15826" cy="4687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70DA88C7-C7BB-4C0E-B883-0113A1E3CD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694125"/>
                  </p:ext>
                </p:extLst>
              </p:nvPr>
            </p:nvGraphicFramePr>
            <p:xfrm>
              <a:off x="1725525" y="4219761"/>
              <a:ext cx="6480890" cy="105203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648089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2482473914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2602034468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978348147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918897621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</a:tblGrid>
                  <a:tr h="526019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526019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70DA88C7-C7BB-4C0E-B883-0113A1E3CD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694125"/>
                  </p:ext>
                </p:extLst>
              </p:nvPr>
            </p:nvGraphicFramePr>
            <p:xfrm>
              <a:off x="1725525" y="4219761"/>
              <a:ext cx="6480890" cy="105203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648089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2482473914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2602034468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978348147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918897621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648089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</a:tblGrid>
                  <a:tr h="526019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526019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03774" t="-106977" r="-204717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96262" t="-106977" r="-102804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904717" t="-106977" r="-3774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4AFB0CB-02FC-4DF4-9D9C-B86C0C527959}"/>
              </a:ext>
            </a:extLst>
          </p:cNvPr>
          <p:cNvCxnSpPr>
            <a:cxnSpLocks/>
          </p:cNvCxnSpPr>
          <p:nvPr/>
        </p:nvCxnSpPr>
        <p:spPr>
          <a:xfrm rot="5400000">
            <a:off x="7557662" y="3508430"/>
            <a:ext cx="1052039" cy="370622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19D9D69-526C-448F-9539-0D38CF86D4F8}"/>
              </a:ext>
            </a:extLst>
          </p:cNvPr>
          <p:cNvSpPr txBox="1"/>
          <p:nvPr/>
        </p:nvSpPr>
        <p:spPr>
          <a:xfrm>
            <a:off x="2151939" y="5630525"/>
            <a:ext cx="64808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change gets larger and larger each time – the graph gets steeper as x increases. </a:t>
            </a:r>
          </a:p>
          <a:p>
            <a:r>
              <a:rPr lang="en-AU" dirty="0"/>
              <a:t>The y values get very large, very fast</a:t>
            </a:r>
          </a:p>
        </p:txBody>
      </p:sp>
    </p:spTree>
    <p:extLst>
      <p:ext uri="{BB962C8B-B14F-4D97-AF65-F5344CB8AC3E}">
        <p14:creationId xmlns:p14="http://schemas.microsoft.com/office/powerpoint/2010/main" val="3901195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1" grpId="0"/>
      <p:bldP spid="11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Graphing Exponentials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exponential function graphs?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20313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Example 1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C007AA-038C-4E06-AAD5-C8F9FF45BB16}"/>
                  </a:ext>
                </a:extLst>
              </p:cNvPr>
              <p:cNvSpPr txBox="1"/>
              <p:nvPr/>
            </p:nvSpPr>
            <p:spPr>
              <a:xfrm>
                <a:off x="2926060" y="1488921"/>
                <a:ext cx="13115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C007AA-038C-4E06-AAD5-C8F9FF45B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60" y="1488921"/>
                <a:ext cx="131151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10EF5EF4-0055-44F8-9198-DA67688EA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8003" y="1376421"/>
            <a:ext cx="3716670" cy="29609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E9B685A-346A-457E-98E9-D8CCF3D915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5927975"/>
                  </p:ext>
                </p:extLst>
              </p:nvPr>
            </p:nvGraphicFramePr>
            <p:xfrm>
              <a:off x="2137592" y="2115569"/>
              <a:ext cx="3485298" cy="91695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80883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580883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580883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580883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580883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580883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</a:tblGrid>
                  <a:tr h="458479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458479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E9B685A-346A-457E-98E9-D8CCF3D915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5927975"/>
                  </p:ext>
                </p:extLst>
              </p:nvPr>
            </p:nvGraphicFramePr>
            <p:xfrm>
              <a:off x="2137592" y="2115569"/>
              <a:ext cx="3485298" cy="91695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80883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580883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580883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580883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580883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580883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</a:tblGrid>
                  <a:tr h="458479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458479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2105" t="-108000" r="-406316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08000" r="-302083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3158" t="-108000" r="-205263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98958" t="-108000" r="-10312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04211" t="-108000" r="-4211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4AFB0CB-02FC-4DF4-9D9C-B86C0C527959}"/>
              </a:ext>
            </a:extLst>
          </p:cNvPr>
          <p:cNvCxnSpPr>
            <a:cxnSpLocks/>
          </p:cNvCxnSpPr>
          <p:nvPr/>
        </p:nvCxnSpPr>
        <p:spPr>
          <a:xfrm rot="5400000">
            <a:off x="3419400" y="2987667"/>
            <a:ext cx="504038" cy="451414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19D9D69-526C-448F-9539-0D38CF86D4F8}"/>
              </a:ext>
            </a:extLst>
          </p:cNvPr>
          <p:cNvSpPr txBox="1"/>
          <p:nvPr/>
        </p:nvSpPr>
        <p:spPr>
          <a:xfrm>
            <a:off x="5374331" y="1252214"/>
            <a:ext cx="4294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Let’s zoom in to the area that looks like the line is on the x-axis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96A19F7-788F-44A1-A59F-86EDDC30C779}"/>
              </a:ext>
            </a:extLst>
          </p:cNvPr>
          <p:cNvSpPr/>
          <p:nvPr/>
        </p:nvSpPr>
        <p:spPr>
          <a:xfrm>
            <a:off x="8326660" y="3573016"/>
            <a:ext cx="1080120" cy="6463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63CB20-B31C-419D-88CD-AA54BFD83861}"/>
              </a:ext>
            </a:extLst>
          </p:cNvPr>
          <p:cNvCxnSpPr>
            <a:cxnSpLocks/>
          </p:cNvCxnSpPr>
          <p:nvPr/>
        </p:nvCxnSpPr>
        <p:spPr>
          <a:xfrm>
            <a:off x="7845501" y="1735142"/>
            <a:ext cx="769191" cy="171985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0515723-70F0-4F2F-AD8C-FA53FC052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557120"/>
              </p:ext>
            </p:extLst>
          </p:nvPr>
        </p:nvGraphicFramePr>
        <p:xfrm>
          <a:off x="2092461" y="3485845"/>
          <a:ext cx="3971805" cy="91695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8428">
                  <a:extLst>
                    <a:ext uri="{9D8B030D-6E8A-4147-A177-3AD203B41FA5}">
                      <a16:colId xmlns:a16="http://schemas.microsoft.com/office/drawing/2014/main" val="378603733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89083121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95667263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69143684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376085267"/>
                    </a:ext>
                  </a:extLst>
                </a:gridCol>
                <a:gridCol w="447033">
                  <a:extLst>
                    <a:ext uri="{9D8B030D-6E8A-4147-A177-3AD203B41FA5}">
                      <a16:colId xmlns:a16="http://schemas.microsoft.com/office/drawing/2014/main" val="2042312300"/>
                    </a:ext>
                  </a:extLst>
                </a:gridCol>
              </a:tblGrid>
              <a:tr h="458479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919309"/>
                  </a:ext>
                </a:extLst>
              </a:tr>
              <a:tr h="458479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0.03125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07923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9BE812-6954-4201-A327-A4C508127250}"/>
                  </a:ext>
                </a:extLst>
              </p:cNvPr>
              <p:cNvSpPr txBox="1"/>
              <p:nvPr/>
            </p:nvSpPr>
            <p:spPr>
              <a:xfrm>
                <a:off x="1989954" y="4501569"/>
                <a:ext cx="597666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The numbers get smaller and smaller but never reach 0. Even at x= -20 </a:t>
                </a:r>
              </a:p>
              <a:p>
                <a:r>
                  <a:rPr lang="en-AU" dirty="0"/>
                  <a:t>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AU" dirty="0"/>
                  <a:t> = 0.00000095367</a:t>
                </a:r>
              </a:p>
              <a:p>
                <a:endParaRPr lang="en-AU" dirty="0"/>
              </a:p>
              <a:p>
                <a:r>
                  <a:rPr lang="en-AU" dirty="0"/>
                  <a:t>a straight line that a curve approaches but never actually reaches 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9BE812-6954-4201-A327-A4C508127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954" y="4501569"/>
                <a:ext cx="5976663" cy="2031325"/>
              </a:xfrm>
              <a:prstGeom prst="rect">
                <a:avLst/>
              </a:prstGeom>
              <a:blipFill>
                <a:blip r:embed="rId6"/>
                <a:stretch>
                  <a:fillRect l="-815" t="-1497" r="-7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5027FEA-FED3-46E1-9AFC-AEEA634C0755}"/>
              </a:ext>
            </a:extLst>
          </p:cNvPr>
          <p:cNvSpPr txBox="1"/>
          <p:nvPr/>
        </p:nvSpPr>
        <p:spPr>
          <a:xfrm>
            <a:off x="256279" y="5694045"/>
            <a:ext cx="1704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Asymptote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E8D547-AE8F-4DD6-926E-16A0D0114ED6}"/>
              </a:ext>
            </a:extLst>
          </p:cNvPr>
          <p:cNvSpPr txBox="1"/>
          <p:nvPr/>
        </p:nvSpPr>
        <p:spPr>
          <a:xfrm>
            <a:off x="8326660" y="4581128"/>
            <a:ext cx="3384376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When plotting exponentials </a:t>
            </a:r>
            <a:r>
              <a:rPr lang="en-AU" dirty="0"/>
              <a:t>choose a few x-values and connect with a curved line. Some x values will be hard to plot b/c too small or too big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6B429A-7364-4A9E-8F62-820465217AEA}"/>
              </a:ext>
            </a:extLst>
          </p:cNvPr>
          <p:cNvSpPr txBox="1"/>
          <p:nvPr/>
        </p:nvSpPr>
        <p:spPr>
          <a:xfrm>
            <a:off x="477788" y="4725144"/>
            <a:ext cx="1152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Glossary Alert!</a:t>
            </a:r>
          </a:p>
        </p:txBody>
      </p:sp>
    </p:spTree>
    <p:extLst>
      <p:ext uri="{BB962C8B-B14F-4D97-AF65-F5344CB8AC3E}">
        <p14:creationId xmlns:p14="http://schemas.microsoft.com/office/powerpoint/2010/main" val="283197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8" grpId="0"/>
      <p:bldP spid="5" grpId="0" animBg="1"/>
      <p:bldP spid="15" grpId="0"/>
      <p:bldP spid="17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C6D0-9841-4F98-848C-84027F2C6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96" y="289398"/>
            <a:ext cx="4562972" cy="539227"/>
          </a:xfrm>
        </p:spPr>
        <p:txBody>
          <a:bodyPr>
            <a:normAutofit/>
          </a:bodyPr>
          <a:lstStyle/>
          <a:p>
            <a:r>
              <a:rPr lang="en-AU" dirty="0"/>
              <a:t>LHS - Practice Together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A3767B-CFBF-49E9-8CD0-9932DE384D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341884" y="758252"/>
                <a:ext cx="4645152" cy="762000"/>
              </a:xfr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A3767B-CFBF-49E9-8CD0-9932DE384D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41884" y="758252"/>
                <a:ext cx="4645152" cy="762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38497B8-0A78-4E8C-A1EC-91D774F2F5E7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6490603" y="728904"/>
                <a:ext cx="4645152" cy="762000"/>
              </a:xfr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38497B8-0A78-4E8C-A1EC-91D774F2F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xfrm>
                <a:off x="6490603" y="728904"/>
                <a:ext cx="4645152" cy="7620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0BB4696-3D51-4CE9-A021-7BF579C919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523408"/>
                  </p:ext>
                </p:extLst>
              </p:nvPr>
            </p:nvGraphicFramePr>
            <p:xfrm>
              <a:off x="871339" y="1298313"/>
              <a:ext cx="4061368" cy="106097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07671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1462653780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2556242033"/>
                        </a:ext>
                      </a:extLst>
                    </a:gridCol>
                  </a:tblGrid>
                  <a:tr h="53048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53048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0BB4696-3D51-4CE9-A021-7BF579C919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523408"/>
                  </p:ext>
                </p:extLst>
              </p:nvPr>
            </p:nvGraphicFramePr>
            <p:xfrm>
              <a:off x="871339" y="1298313"/>
              <a:ext cx="4061368" cy="106097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07671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1462653780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2556242033"/>
                        </a:ext>
                      </a:extLst>
                    </a:gridCol>
                  </a:tblGrid>
                  <a:tr h="53048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53048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2410" t="-105682" r="-608434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5682" r="-501190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3614" t="-105682" r="-407229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B2AA401-E993-47A3-B13E-4E26D5A81989}"/>
              </a:ext>
            </a:extLst>
          </p:cNvPr>
          <p:cNvCxnSpPr>
            <a:cxnSpLocks/>
          </p:cNvCxnSpPr>
          <p:nvPr/>
        </p:nvCxnSpPr>
        <p:spPr>
          <a:xfrm rot="5400000">
            <a:off x="2945846" y="2421622"/>
            <a:ext cx="504038" cy="451414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9B10D4E-85D1-48DB-8651-2E10EB864F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8097756"/>
                  </p:ext>
                </p:extLst>
              </p:nvPr>
            </p:nvGraphicFramePr>
            <p:xfrm>
              <a:off x="6488154" y="1309238"/>
              <a:ext cx="5027096" cy="110371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60040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1462653780"/>
                        </a:ext>
                      </a:extLst>
                    </a:gridCol>
                    <a:gridCol w="562600">
                      <a:extLst>
                        <a:ext uri="{9D8B030D-6E8A-4147-A177-3AD203B41FA5}">
                          <a16:colId xmlns:a16="http://schemas.microsoft.com/office/drawing/2014/main" val="2556242033"/>
                        </a:ext>
                      </a:extLst>
                    </a:gridCol>
                  </a:tblGrid>
                  <a:tr h="55185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55185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9B10D4E-85D1-48DB-8651-2E10EB864F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8097756"/>
                  </p:ext>
                </p:extLst>
              </p:nvPr>
            </p:nvGraphicFramePr>
            <p:xfrm>
              <a:off x="6488154" y="1309238"/>
              <a:ext cx="5027096" cy="110371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60040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1462653780"/>
                        </a:ext>
                      </a:extLst>
                    </a:gridCol>
                    <a:gridCol w="562600">
                      <a:extLst>
                        <a:ext uri="{9D8B030D-6E8A-4147-A177-3AD203B41FA5}">
                          <a16:colId xmlns:a16="http://schemas.microsoft.com/office/drawing/2014/main" val="2556242033"/>
                        </a:ext>
                      </a:extLst>
                    </a:gridCol>
                  </a:tblGrid>
                  <a:tr h="55185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55185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57983" t="-105495" r="-240336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79787" t="-105495" r="-204255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72632" t="-105495" r="-102105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97826" t="-105495" r="-5435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B78D54F-4E51-408F-B476-AD425F216ECD}"/>
              </a:ext>
            </a:extLst>
          </p:cNvPr>
          <p:cNvCxnSpPr>
            <a:cxnSpLocks/>
          </p:cNvCxnSpPr>
          <p:nvPr/>
        </p:nvCxnSpPr>
        <p:spPr>
          <a:xfrm rot="5400000">
            <a:off x="9092436" y="2405475"/>
            <a:ext cx="504038" cy="451414"/>
          </a:xfrm>
          <a:prstGeom prst="bentConnector3">
            <a:avLst>
              <a:gd name="adj1" fmla="val 52296"/>
            </a:avLst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AC61033-A683-49BB-93ED-398E5C67D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038772"/>
              </p:ext>
            </p:extLst>
          </p:nvPr>
        </p:nvGraphicFramePr>
        <p:xfrm>
          <a:off x="763946" y="2961797"/>
          <a:ext cx="4416423" cy="96455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6936">
                  <a:extLst>
                    <a:ext uri="{9D8B030D-6E8A-4147-A177-3AD203B41FA5}">
                      <a16:colId xmlns:a16="http://schemas.microsoft.com/office/drawing/2014/main" val="3786037337"/>
                    </a:ext>
                  </a:extLst>
                </a:gridCol>
                <a:gridCol w="707169">
                  <a:extLst>
                    <a:ext uri="{9D8B030D-6E8A-4147-A177-3AD203B41FA5}">
                      <a16:colId xmlns:a16="http://schemas.microsoft.com/office/drawing/2014/main" val="1890831211"/>
                    </a:ext>
                  </a:extLst>
                </a:gridCol>
                <a:gridCol w="768103">
                  <a:extLst>
                    <a:ext uri="{9D8B030D-6E8A-4147-A177-3AD203B41FA5}">
                      <a16:colId xmlns:a16="http://schemas.microsoft.com/office/drawing/2014/main" val="195667263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69143684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37608526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423123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462653780"/>
                    </a:ext>
                  </a:extLst>
                </a:gridCol>
                <a:gridCol w="527991">
                  <a:extLst>
                    <a:ext uri="{9D8B030D-6E8A-4147-A177-3AD203B41FA5}">
                      <a16:colId xmlns:a16="http://schemas.microsoft.com/office/drawing/2014/main" val="2556242033"/>
                    </a:ext>
                  </a:extLst>
                </a:gridCol>
              </a:tblGrid>
              <a:tr h="437127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919309"/>
                  </a:ext>
                </a:extLst>
              </a:tr>
              <a:tr h="527431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07923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6950494-9885-430F-946E-8FEECDC67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629068"/>
              </p:ext>
            </p:extLst>
          </p:nvPr>
        </p:nvGraphicFramePr>
        <p:xfrm>
          <a:off x="6555802" y="2936672"/>
          <a:ext cx="4891800" cy="100404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0350">
                  <a:extLst>
                    <a:ext uri="{9D8B030D-6E8A-4147-A177-3AD203B41FA5}">
                      <a16:colId xmlns:a16="http://schemas.microsoft.com/office/drawing/2014/main" val="3786037337"/>
                    </a:ext>
                  </a:extLst>
                </a:gridCol>
                <a:gridCol w="528710">
                  <a:extLst>
                    <a:ext uri="{9D8B030D-6E8A-4147-A177-3AD203B41FA5}">
                      <a16:colId xmlns:a16="http://schemas.microsoft.com/office/drawing/2014/main" val="1890831211"/>
                    </a:ext>
                  </a:extLst>
                </a:gridCol>
                <a:gridCol w="630630">
                  <a:extLst>
                    <a:ext uri="{9D8B030D-6E8A-4147-A177-3AD203B41FA5}">
                      <a16:colId xmlns:a16="http://schemas.microsoft.com/office/drawing/2014/main" val="1956672634"/>
                    </a:ext>
                  </a:extLst>
                </a:gridCol>
                <a:gridCol w="560560">
                  <a:extLst>
                    <a:ext uri="{9D8B030D-6E8A-4147-A177-3AD203B41FA5}">
                      <a16:colId xmlns:a16="http://schemas.microsoft.com/office/drawing/2014/main" val="691436844"/>
                    </a:ext>
                  </a:extLst>
                </a:gridCol>
                <a:gridCol w="642045">
                  <a:extLst>
                    <a:ext uri="{9D8B030D-6E8A-4147-A177-3AD203B41FA5}">
                      <a16:colId xmlns:a16="http://schemas.microsoft.com/office/drawing/2014/main" val="337608526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423123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62653780"/>
                    </a:ext>
                  </a:extLst>
                </a:gridCol>
                <a:gridCol w="739345">
                  <a:extLst>
                    <a:ext uri="{9D8B030D-6E8A-4147-A177-3AD203B41FA5}">
                      <a16:colId xmlns:a16="http://schemas.microsoft.com/office/drawing/2014/main" val="2556242033"/>
                    </a:ext>
                  </a:extLst>
                </a:gridCol>
              </a:tblGrid>
              <a:tr h="464862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919309"/>
                  </a:ext>
                </a:extLst>
              </a:tr>
              <a:tr h="539179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0792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40FD707-6A54-42AC-8CC3-6EA725E471EA}"/>
              </a:ext>
            </a:extLst>
          </p:cNvPr>
          <p:cNvSpPr txBox="1"/>
          <p:nvPr/>
        </p:nvSpPr>
        <p:spPr>
          <a:xfrm>
            <a:off x="4850477" y="269653"/>
            <a:ext cx="3252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accent6"/>
                </a:solidFill>
              </a:rPr>
              <a:t>Complete the two tables</a:t>
            </a:r>
          </a:p>
        </p:txBody>
      </p:sp>
    </p:spTree>
    <p:extLst>
      <p:ext uri="{BB962C8B-B14F-4D97-AF65-F5344CB8AC3E}">
        <p14:creationId xmlns:p14="http://schemas.microsoft.com/office/powerpoint/2010/main" val="407414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C6D0-9841-4F98-848C-84027F2C6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96" y="289398"/>
            <a:ext cx="3312368" cy="539227"/>
          </a:xfrm>
        </p:spPr>
        <p:txBody>
          <a:bodyPr/>
          <a:lstStyle/>
          <a:p>
            <a:r>
              <a:rPr lang="en-AU" dirty="0"/>
              <a:t>Practice Together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A3767B-CFBF-49E9-8CD0-9932DE384D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341884" y="758252"/>
                <a:ext cx="4645152" cy="762000"/>
              </a:xfr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A3767B-CFBF-49E9-8CD0-9932DE384D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41884" y="758252"/>
                <a:ext cx="4645152" cy="762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38497B8-0A78-4E8C-A1EC-91D774F2F5E7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6490603" y="728904"/>
                <a:ext cx="4645152" cy="762000"/>
              </a:xfr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38497B8-0A78-4E8C-A1EC-91D774F2F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xfrm>
                <a:off x="6490603" y="728904"/>
                <a:ext cx="4645152" cy="7620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0BB4696-3D51-4CE9-A021-7BF579C919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543656"/>
                  </p:ext>
                </p:extLst>
              </p:nvPr>
            </p:nvGraphicFramePr>
            <p:xfrm>
              <a:off x="871339" y="1298313"/>
              <a:ext cx="4061368" cy="106097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07671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1462653780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2556242033"/>
                        </a:ext>
                      </a:extLst>
                    </a:gridCol>
                  </a:tblGrid>
                  <a:tr h="53048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53048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0BB4696-3D51-4CE9-A021-7BF579C919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543656"/>
                  </p:ext>
                </p:extLst>
              </p:nvPr>
            </p:nvGraphicFramePr>
            <p:xfrm>
              <a:off x="871339" y="1298313"/>
              <a:ext cx="4061368" cy="106097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07671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1462653780"/>
                        </a:ext>
                      </a:extLst>
                    </a:gridCol>
                    <a:gridCol w="507671">
                      <a:extLst>
                        <a:ext uri="{9D8B030D-6E8A-4147-A177-3AD203B41FA5}">
                          <a16:colId xmlns:a16="http://schemas.microsoft.com/office/drawing/2014/main" val="2556242033"/>
                        </a:ext>
                      </a:extLst>
                    </a:gridCol>
                  </a:tblGrid>
                  <a:tr h="53048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53048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2410" t="-105682" r="-608434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5682" r="-501190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3614" t="-105682" r="-407229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8810" t="-105682" r="-302381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4819" t="-105682" r="-206024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7619" t="-105682" r="-103571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6024" t="-105682" r="-4819" b="-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B2AA401-E993-47A3-B13E-4E26D5A81989}"/>
              </a:ext>
            </a:extLst>
          </p:cNvPr>
          <p:cNvCxnSpPr>
            <a:cxnSpLocks/>
          </p:cNvCxnSpPr>
          <p:nvPr/>
        </p:nvCxnSpPr>
        <p:spPr>
          <a:xfrm rot="5400000">
            <a:off x="2945846" y="2421622"/>
            <a:ext cx="504038" cy="451414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9B10D4E-85D1-48DB-8651-2E10EB864F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9951791"/>
                  </p:ext>
                </p:extLst>
              </p:nvPr>
            </p:nvGraphicFramePr>
            <p:xfrm>
              <a:off x="6488154" y="1309238"/>
              <a:ext cx="5027096" cy="110371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60040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1462653780"/>
                        </a:ext>
                      </a:extLst>
                    </a:gridCol>
                    <a:gridCol w="562600">
                      <a:extLst>
                        <a:ext uri="{9D8B030D-6E8A-4147-A177-3AD203B41FA5}">
                          <a16:colId xmlns:a16="http://schemas.microsoft.com/office/drawing/2014/main" val="2556242033"/>
                        </a:ext>
                      </a:extLst>
                    </a:gridCol>
                  </a:tblGrid>
                  <a:tr h="55185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55185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0.5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9B10D4E-85D1-48DB-8651-2E10EB864F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9951791"/>
                  </p:ext>
                </p:extLst>
              </p:nvPr>
            </p:nvGraphicFramePr>
            <p:xfrm>
              <a:off x="6488154" y="1309238"/>
              <a:ext cx="5027096" cy="110371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60040">
                      <a:extLst>
                        <a:ext uri="{9D8B030D-6E8A-4147-A177-3AD203B41FA5}">
                          <a16:colId xmlns:a16="http://schemas.microsoft.com/office/drawing/2014/main" val="3786037337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1890831211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1956672634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691436844"/>
                        </a:ext>
                      </a:extLst>
                    </a:gridCol>
                    <a:gridCol w="720080">
                      <a:extLst>
                        <a:ext uri="{9D8B030D-6E8A-4147-A177-3AD203B41FA5}">
                          <a16:colId xmlns:a16="http://schemas.microsoft.com/office/drawing/2014/main" val="3376085267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2042312300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1462653780"/>
                        </a:ext>
                      </a:extLst>
                    </a:gridCol>
                    <a:gridCol w="562600">
                      <a:extLst>
                        <a:ext uri="{9D8B030D-6E8A-4147-A177-3AD203B41FA5}">
                          <a16:colId xmlns:a16="http://schemas.microsoft.com/office/drawing/2014/main" val="2556242033"/>
                        </a:ext>
                      </a:extLst>
                    </a:gridCol>
                  </a:tblGrid>
                  <a:tr h="55185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5919309"/>
                      </a:ext>
                    </a:extLst>
                  </a:tr>
                  <a:tr h="55185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6154" t="-105495" r="-493077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61017" t="-105495" r="-443220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61017" t="-105495" r="-343220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57983" t="-105495" r="-240336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79787" t="-105495" r="-204255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72632" t="-105495" r="-102105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97826" t="-105495" r="-5435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07923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B78D54F-4E51-408F-B476-AD425F216ECD}"/>
              </a:ext>
            </a:extLst>
          </p:cNvPr>
          <p:cNvCxnSpPr>
            <a:cxnSpLocks/>
          </p:cNvCxnSpPr>
          <p:nvPr/>
        </p:nvCxnSpPr>
        <p:spPr>
          <a:xfrm rot="5400000">
            <a:off x="9092436" y="2405475"/>
            <a:ext cx="504038" cy="451414"/>
          </a:xfrm>
          <a:prstGeom prst="bentConnector3">
            <a:avLst>
              <a:gd name="adj1" fmla="val 52296"/>
            </a:avLst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AC61033-A683-49BB-93ED-398E5C67D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396642"/>
              </p:ext>
            </p:extLst>
          </p:nvPr>
        </p:nvGraphicFramePr>
        <p:xfrm>
          <a:off x="763946" y="2961797"/>
          <a:ext cx="4416423" cy="96455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6936">
                  <a:extLst>
                    <a:ext uri="{9D8B030D-6E8A-4147-A177-3AD203B41FA5}">
                      <a16:colId xmlns:a16="http://schemas.microsoft.com/office/drawing/2014/main" val="3786037337"/>
                    </a:ext>
                  </a:extLst>
                </a:gridCol>
                <a:gridCol w="707169">
                  <a:extLst>
                    <a:ext uri="{9D8B030D-6E8A-4147-A177-3AD203B41FA5}">
                      <a16:colId xmlns:a16="http://schemas.microsoft.com/office/drawing/2014/main" val="1890831211"/>
                    </a:ext>
                  </a:extLst>
                </a:gridCol>
                <a:gridCol w="768103">
                  <a:extLst>
                    <a:ext uri="{9D8B030D-6E8A-4147-A177-3AD203B41FA5}">
                      <a16:colId xmlns:a16="http://schemas.microsoft.com/office/drawing/2014/main" val="195667263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69143684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37608526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423123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462653780"/>
                    </a:ext>
                  </a:extLst>
                </a:gridCol>
                <a:gridCol w="527991">
                  <a:extLst>
                    <a:ext uri="{9D8B030D-6E8A-4147-A177-3AD203B41FA5}">
                      <a16:colId xmlns:a16="http://schemas.microsoft.com/office/drawing/2014/main" val="2556242033"/>
                    </a:ext>
                  </a:extLst>
                </a:gridCol>
              </a:tblGrid>
              <a:tr h="437127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919309"/>
                  </a:ext>
                </a:extLst>
              </a:tr>
              <a:tr h="527431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07923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6950494-9885-430F-946E-8FEECDC67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131295"/>
              </p:ext>
            </p:extLst>
          </p:nvPr>
        </p:nvGraphicFramePr>
        <p:xfrm>
          <a:off x="6555802" y="2936672"/>
          <a:ext cx="4891800" cy="100404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0350">
                  <a:extLst>
                    <a:ext uri="{9D8B030D-6E8A-4147-A177-3AD203B41FA5}">
                      <a16:colId xmlns:a16="http://schemas.microsoft.com/office/drawing/2014/main" val="3786037337"/>
                    </a:ext>
                  </a:extLst>
                </a:gridCol>
                <a:gridCol w="528710">
                  <a:extLst>
                    <a:ext uri="{9D8B030D-6E8A-4147-A177-3AD203B41FA5}">
                      <a16:colId xmlns:a16="http://schemas.microsoft.com/office/drawing/2014/main" val="1890831211"/>
                    </a:ext>
                  </a:extLst>
                </a:gridCol>
                <a:gridCol w="630630">
                  <a:extLst>
                    <a:ext uri="{9D8B030D-6E8A-4147-A177-3AD203B41FA5}">
                      <a16:colId xmlns:a16="http://schemas.microsoft.com/office/drawing/2014/main" val="1956672634"/>
                    </a:ext>
                  </a:extLst>
                </a:gridCol>
                <a:gridCol w="560560">
                  <a:extLst>
                    <a:ext uri="{9D8B030D-6E8A-4147-A177-3AD203B41FA5}">
                      <a16:colId xmlns:a16="http://schemas.microsoft.com/office/drawing/2014/main" val="691436844"/>
                    </a:ext>
                  </a:extLst>
                </a:gridCol>
                <a:gridCol w="642045">
                  <a:extLst>
                    <a:ext uri="{9D8B030D-6E8A-4147-A177-3AD203B41FA5}">
                      <a16:colId xmlns:a16="http://schemas.microsoft.com/office/drawing/2014/main" val="337608526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423123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62653780"/>
                    </a:ext>
                  </a:extLst>
                </a:gridCol>
                <a:gridCol w="739345">
                  <a:extLst>
                    <a:ext uri="{9D8B030D-6E8A-4147-A177-3AD203B41FA5}">
                      <a16:colId xmlns:a16="http://schemas.microsoft.com/office/drawing/2014/main" val="2556242033"/>
                    </a:ext>
                  </a:extLst>
                </a:gridCol>
              </a:tblGrid>
              <a:tr h="464862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919309"/>
                  </a:ext>
                </a:extLst>
              </a:tr>
              <a:tr h="539179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079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01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C6D0-9841-4F98-848C-84027F2C6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96" y="289398"/>
            <a:ext cx="3312368" cy="539227"/>
          </a:xfrm>
        </p:spPr>
        <p:txBody>
          <a:bodyPr/>
          <a:lstStyle/>
          <a:p>
            <a:r>
              <a:rPr lang="en-AU" dirty="0"/>
              <a:t>Practice Together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A3767B-CFBF-49E9-8CD0-9932DE384D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341884" y="758252"/>
                <a:ext cx="4645152" cy="762000"/>
              </a:xfr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A3767B-CFBF-49E9-8CD0-9932DE384D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41884" y="758252"/>
                <a:ext cx="4645152" cy="7620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38497B8-0A78-4E8C-A1EC-91D774F2F5E7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6490603" y="728904"/>
                <a:ext cx="4645152" cy="762000"/>
              </a:xfr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38497B8-0A78-4E8C-A1EC-91D774F2F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xfrm>
                <a:off x="6490603" y="728904"/>
                <a:ext cx="4645152" cy="76200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AC61033-A683-49BB-93ED-398E5C67D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530382"/>
              </p:ext>
            </p:extLst>
          </p:nvPr>
        </p:nvGraphicFramePr>
        <p:xfrm>
          <a:off x="962389" y="1259642"/>
          <a:ext cx="4416423" cy="96455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6936">
                  <a:extLst>
                    <a:ext uri="{9D8B030D-6E8A-4147-A177-3AD203B41FA5}">
                      <a16:colId xmlns:a16="http://schemas.microsoft.com/office/drawing/2014/main" val="3786037337"/>
                    </a:ext>
                  </a:extLst>
                </a:gridCol>
                <a:gridCol w="707169">
                  <a:extLst>
                    <a:ext uri="{9D8B030D-6E8A-4147-A177-3AD203B41FA5}">
                      <a16:colId xmlns:a16="http://schemas.microsoft.com/office/drawing/2014/main" val="1890831211"/>
                    </a:ext>
                  </a:extLst>
                </a:gridCol>
                <a:gridCol w="768103">
                  <a:extLst>
                    <a:ext uri="{9D8B030D-6E8A-4147-A177-3AD203B41FA5}">
                      <a16:colId xmlns:a16="http://schemas.microsoft.com/office/drawing/2014/main" val="195667263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69143684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37608526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423123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462653780"/>
                    </a:ext>
                  </a:extLst>
                </a:gridCol>
                <a:gridCol w="527991">
                  <a:extLst>
                    <a:ext uri="{9D8B030D-6E8A-4147-A177-3AD203B41FA5}">
                      <a16:colId xmlns:a16="http://schemas.microsoft.com/office/drawing/2014/main" val="2556242033"/>
                    </a:ext>
                  </a:extLst>
                </a:gridCol>
              </a:tblGrid>
              <a:tr h="437127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919309"/>
                  </a:ext>
                </a:extLst>
              </a:tr>
              <a:tr h="527431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07923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6950494-9885-430F-946E-8FEECDC67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404755"/>
              </p:ext>
            </p:extLst>
          </p:nvPr>
        </p:nvGraphicFramePr>
        <p:xfrm>
          <a:off x="6598468" y="1259642"/>
          <a:ext cx="4891800" cy="100404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0350">
                  <a:extLst>
                    <a:ext uri="{9D8B030D-6E8A-4147-A177-3AD203B41FA5}">
                      <a16:colId xmlns:a16="http://schemas.microsoft.com/office/drawing/2014/main" val="3786037337"/>
                    </a:ext>
                  </a:extLst>
                </a:gridCol>
                <a:gridCol w="528710">
                  <a:extLst>
                    <a:ext uri="{9D8B030D-6E8A-4147-A177-3AD203B41FA5}">
                      <a16:colId xmlns:a16="http://schemas.microsoft.com/office/drawing/2014/main" val="1890831211"/>
                    </a:ext>
                  </a:extLst>
                </a:gridCol>
                <a:gridCol w="630630">
                  <a:extLst>
                    <a:ext uri="{9D8B030D-6E8A-4147-A177-3AD203B41FA5}">
                      <a16:colId xmlns:a16="http://schemas.microsoft.com/office/drawing/2014/main" val="1956672634"/>
                    </a:ext>
                  </a:extLst>
                </a:gridCol>
                <a:gridCol w="560560">
                  <a:extLst>
                    <a:ext uri="{9D8B030D-6E8A-4147-A177-3AD203B41FA5}">
                      <a16:colId xmlns:a16="http://schemas.microsoft.com/office/drawing/2014/main" val="691436844"/>
                    </a:ext>
                  </a:extLst>
                </a:gridCol>
                <a:gridCol w="642045">
                  <a:extLst>
                    <a:ext uri="{9D8B030D-6E8A-4147-A177-3AD203B41FA5}">
                      <a16:colId xmlns:a16="http://schemas.microsoft.com/office/drawing/2014/main" val="337608526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423123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62653780"/>
                    </a:ext>
                  </a:extLst>
                </a:gridCol>
                <a:gridCol w="739345">
                  <a:extLst>
                    <a:ext uri="{9D8B030D-6E8A-4147-A177-3AD203B41FA5}">
                      <a16:colId xmlns:a16="http://schemas.microsoft.com/office/drawing/2014/main" val="2556242033"/>
                    </a:ext>
                  </a:extLst>
                </a:gridCol>
              </a:tblGrid>
              <a:tr h="464862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919309"/>
                  </a:ext>
                </a:extLst>
              </a:tr>
              <a:tr h="539179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07923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B0230FC-F64C-41E3-971E-F88A8D47B1F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1731"/>
          <a:stretch/>
        </p:blipFill>
        <p:spPr>
          <a:xfrm>
            <a:off x="2229877" y="2263683"/>
            <a:ext cx="7549161" cy="440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Graphing Exponentials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exponential function graphs?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C2161B-B7A3-4942-A479-AB7B92DF54F7}"/>
              </a:ext>
            </a:extLst>
          </p:cNvPr>
          <p:cNvSpPr txBox="1"/>
          <p:nvPr/>
        </p:nvSpPr>
        <p:spPr>
          <a:xfrm>
            <a:off x="2265605" y="2227205"/>
            <a:ext cx="80772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If </a:t>
            </a:r>
            <a:r>
              <a:rPr lang="en-AU" sz="2400" b="1" dirty="0">
                <a:solidFill>
                  <a:schemeClr val="accent6"/>
                </a:solidFill>
              </a:rPr>
              <a:t>a</a:t>
            </a:r>
            <a:r>
              <a:rPr lang="en-AU" sz="2400" b="1" dirty="0"/>
              <a:t> </a:t>
            </a:r>
            <a:r>
              <a:rPr lang="en-AU" sz="2400" dirty="0"/>
              <a:t>is greater than 1: as </a:t>
            </a:r>
            <a:r>
              <a:rPr lang="en-AU" sz="2400" b="1" dirty="0">
                <a:solidFill>
                  <a:schemeClr val="accent6"/>
                </a:solidFill>
              </a:rPr>
              <a:t>a</a:t>
            </a:r>
            <a:r>
              <a:rPr lang="en-AU" sz="2400" dirty="0"/>
              <a:t> gets larger the line will increase quicker</a:t>
            </a:r>
          </a:p>
          <a:p>
            <a:endParaRPr lang="en-A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If </a:t>
            </a:r>
            <a:r>
              <a:rPr lang="en-AU" sz="2400" b="1" dirty="0">
                <a:solidFill>
                  <a:schemeClr val="accent6"/>
                </a:solidFill>
              </a:rPr>
              <a:t>a</a:t>
            </a:r>
            <a:r>
              <a:rPr lang="en-AU" sz="2400" dirty="0"/>
              <a:t> is between 0 and 1: the line will be decreasing </a:t>
            </a:r>
          </a:p>
          <a:p>
            <a:endParaRPr lang="en-A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 </a:t>
            </a:r>
            <a:r>
              <a:rPr lang="en-AU" sz="2400" b="1" dirty="0">
                <a:solidFill>
                  <a:schemeClr val="accent6"/>
                </a:solidFill>
              </a:rPr>
              <a:t>a</a:t>
            </a:r>
            <a:r>
              <a:rPr lang="en-AU" sz="2400" b="1" dirty="0"/>
              <a:t> </a:t>
            </a:r>
            <a:r>
              <a:rPr lang="en-AU" sz="2400" dirty="0"/>
              <a:t>cannot be a negative number or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420074-1E10-4DBF-9DAC-30B2063C13D0}"/>
              </a:ext>
            </a:extLst>
          </p:cNvPr>
          <p:cNvSpPr txBox="1"/>
          <p:nvPr/>
        </p:nvSpPr>
        <p:spPr>
          <a:xfrm>
            <a:off x="251878" y="2480729"/>
            <a:ext cx="1582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Changes to </a:t>
            </a:r>
            <a:r>
              <a:rPr lang="en-AU" b="1" dirty="0"/>
              <a:t>a</a:t>
            </a:r>
            <a:r>
              <a:rPr lang="en-AU" dirty="0"/>
              <a:t> (the Base)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C007AA-038C-4E06-AAD5-C8F9FF45BB16}"/>
                  </a:ext>
                </a:extLst>
              </p:cNvPr>
              <p:cNvSpPr txBox="1"/>
              <p:nvPr/>
            </p:nvSpPr>
            <p:spPr>
              <a:xfrm>
                <a:off x="4875060" y="1271973"/>
                <a:ext cx="132311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C007AA-038C-4E06-AAD5-C8F9FF45B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060" y="1271973"/>
                <a:ext cx="132311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4F5CD9-5811-4889-A390-EA8C087F7A43}"/>
              </a:ext>
            </a:extLst>
          </p:cNvPr>
          <p:cNvCxnSpPr>
            <a:cxnSpLocks/>
          </p:cNvCxnSpPr>
          <p:nvPr/>
        </p:nvCxnSpPr>
        <p:spPr>
          <a:xfrm flipH="1" flipV="1">
            <a:off x="7606580" y="4330409"/>
            <a:ext cx="720080" cy="4320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EACC0A-E9E2-41B5-B626-7839208EED30}"/>
                  </a:ext>
                </a:extLst>
              </p:cNvPr>
              <p:cNvSpPr txBox="1"/>
              <p:nvPr/>
            </p:nvSpPr>
            <p:spPr>
              <a:xfrm>
                <a:off x="7966620" y="4998318"/>
                <a:ext cx="3528390" cy="946991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Because 1 to the power of any number is 1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×1×1×1=1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EACC0A-E9E2-41B5-B626-7839208EE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620" y="4998318"/>
                <a:ext cx="3528390" cy="946991"/>
              </a:xfrm>
              <a:prstGeom prst="rect">
                <a:avLst/>
              </a:prstGeom>
              <a:blipFill>
                <a:blip r:embed="rId4"/>
                <a:stretch>
                  <a:fillRect l="-1375" t="-3165"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12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C6D0-9841-4F98-848C-84027F2C6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96" y="289398"/>
            <a:ext cx="3312368" cy="539227"/>
          </a:xfrm>
        </p:spPr>
        <p:txBody>
          <a:bodyPr/>
          <a:lstStyle/>
          <a:p>
            <a:r>
              <a:rPr lang="en-AU" dirty="0"/>
              <a:t>Task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A3767B-CFBF-49E9-8CD0-9932DE384D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5296" y="841005"/>
                <a:ext cx="4645152" cy="762000"/>
              </a:xfr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A3767B-CFBF-49E9-8CD0-9932DE384D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5296" y="841005"/>
                <a:ext cx="4645152" cy="762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AC61033-A683-49BB-93ED-398E5C67D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603391"/>
              </p:ext>
            </p:extLst>
          </p:nvPr>
        </p:nvGraphicFramePr>
        <p:xfrm>
          <a:off x="117748" y="1972020"/>
          <a:ext cx="4416423" cy="96455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6936">
                  <a:extLst>
                    <a:ext uri="{9D8B030D-6E8A-4147-A177-3AD203B41FA5}">
                      <a16:colId xmlns:a16="http://schemas.microsoft.com/office/drawing/2014/main" val="3786037337"/>
                    </a:ext>
                  </a:extLst>
                </a:gridCol>
                <a:gridCol w="707169">
                  <a:extLst>
                    <a:ext uri="{9D8B030D-6E8A-4147-A177-3AD203B41FA5}">
                      <a16:colId xmlns:a16="http://schemas.microsoft.com/office/drawing/2014/main" val="1890831211"/>
                    </a:ext>
                  </a:extLst>
                </a:gridCol>
                <a:gridCol w="768103">
                  <a:extLst>
                    <a:ext uri="{9D8B030D-6E8A-4147-A177-3AD203B41FA5}">
                      <a16:colId xmlns:a16="http://schemas.microsoft.com/office/drawing/2014/main" val="195667263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69143684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37608526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423123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462653780"/>
                    </a:ext>
                  </a:extLst>
                </a:gridCol>
                <a:gridCol w="527991">
                  <a:extLst>
                    <a:ext uri="{9D8B030D-6E8A-4147-A177-3AD203B41FA5}">
                      <a16:colId xmlns:a16="http://schemas.microsoft.com/office/drawing/2014/main" val="2556242033"/>
                    </a:ext>
                  </a:extLst>
                </a:gridCol>
              </a:tblGrid>
              <a:tr h="437127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919309"/>
                  </a:ext>
                </a:extLst>
              </a:tr>
              <a:tr h="527431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07923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B0230FC-F64C-41E3-971E-F88A8D47B1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731"/>
          <a:stretch/>
        </p:blipFill>
        <p:spPr>
          <a:xfrm>
            <a:off x="4654252" y="733740"/>
            <a:ext cx="7549161" cy="440567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F0A4B01-AE02-4E95-8F29-4851EBA01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548776"/>
              </p:ext>
            </p:extLst>
          </p:nvPr>
        </p:nvGraphicFramePr>
        <p:xfrm>
          <a:off x="117747" y="3597694"/>
          <a:ext cx="4416423" cy="96455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6936">
                  <a:extLst>
                    <a:ext uri="{9D8B030D-6E8A-4147-A177-3AD203B41FA5}">
                      <a16:colId xmlns:a16="http://schemas.microsoft.com/office/drawing/2014/main" val="3786037337"/>
                    </a:ext>
                  </a:extLst>
                </a:gridCol>
                <a:gridCol w="707169">
                  <a:extLst>
                    <a:ext uri="{9D8B030D-6E8A-4147-A177-3AD203B41FA5}">
                      <a16:colId xmlns:a16="http://schemas.microsoft.com/office/drawing/2014/main" val="1890831211"/>
                    </a:ext>
                  </a:extLst>
                </a:gridCol>
                <a:gridCol w="768103">
                  <a:extLst>
                    <a:ext uri="{9D8B030D-6E8A-4147-A177-3AD203B41FA5}">
                      <a16:colId xmlns:a16="http://schemas.microsoft.com/office/drawing/2014/main" val="195667263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69143684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37608526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423123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462653780"/>
                    </a:ext>
                  </a:extLst>
                </a:gridCol>
                <a:gridCol w="527991">
                  <a:extLst>
                    <a:ext uri="{9D8B030D-6E8A-4147-A177-3AD203B41FA5}">
                      <a16:colId xmlns:a16="http://schemas.microsoft.com/office/drawing/2014/main" val="2556242033"/>
                    </a:ext>
                  </a:extLst>
                </a:gridCol>
              </a:tblGrid>
              <a:tr h="437127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919309"/>
                  </a:ext>
                </a:extLst>
              </a:tr>
              <a:tr h="527431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079237"/>
                  </a:ext>
                </a:extLst>
              </a:tr>
            </a:tbl>
          </a:graphicData>
        </a:graphic>
      </p:graphicFrame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85218A1-349F-4ED5-8648-00B9AC1B4AC3}"/>
              </a:ext>
            </a:extLst>
          </p:cNvPr>
          <p:cNvCxnSpPr>
            <a:cxnSpLocks/>
          </p:cNvCxnSpPr>
          <p:nvPr/>
        </p:nvCxnSpPr>
        <p:spPr>
          <a:xfrm rot="5400000">
            <a:off x="2305853" y="2967794"/>
            <a:ext cx="504038" cy="451414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666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796" y="239688"/>
            <a:ext cx="5544615" cy="110108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 Sentence Frame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788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An exponential graph is _______________________. Some everyday uses include ________________________. </a:t>
            </a:r>
          </a:p>
          <a:p>
            <a:pPr marL="0" indent="0">
              <a:buNone/>
            </a:pPr>
            <a:r>
              <a:rPr lang="en-AU" sz="2800" dirty="0"/>
              <a:t>List 2 changes to the base: </a:t>
            </a:r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7525</TotalTime>
  <Words>717</Words>
  <Application>Microsoft Office PowerPoint</Application>
  <PresentationFormat>Custom</PresentationFormat>
  <Paragraphs>321</Paragraphs>
  <Slides>12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Cambria Math</vt:lpstr>
      <vt:lpstr>Palatino Linotype</vt:lpstr>
      <vt:lpstr>Watercolor_16x9</vt:lpstr>
      <vt:lpstr>Topic: Graphing Exponentials</vt:lpstr>
      <vt:lpstr>Warm Up Questions: </vt:lpstr>
      <vt:lpstr>PowerPoint Presentation</vt:lpstr>
      <vt:lpstr>Topic: Graphing Exponentials</vt:lpstr>
      <vt:lpstr>Topic: Graphing Exponentials</vt:lpstr>
      <vt:lpstr>Topic: Graphing Exponentials</vt:lpstr>
      <vt:lpstr>LHS - Practice Together </vt:lpstr>
      <vt:lpstr>Practice Together </vt:lpstr>
      <vt:lpstr>Practice Together </vt:lpstr>
      <vt:lpstr>Topic: Graphing Exponentials</vt:lpstr>
      <vt:lpstr>Task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58</cp:revision>
  <dcterms:created xsi:type="dcterms:W3CDTF">2018-07-29T09:37:46Z</dcterms:created>
  <dcterms:modified xsi:type="dcterms:W3CDTF">2018-11-18T12:39:18Z</dcterms:modified>
</cp:coreProperties>
</file>
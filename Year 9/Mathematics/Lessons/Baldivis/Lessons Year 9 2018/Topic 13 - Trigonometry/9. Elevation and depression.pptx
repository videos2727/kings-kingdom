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7" r:id="rId4"/>
    <p:sldId id="267" r:id="rId5"/>
    <p:sldId id="268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66"/>
  </p:normalViewPr>
  <p:slideViewPr>
    <p:cSldViewPr snapToGrid="0" snapToObjects="1">
      <p:cViewPr>
        <p:scale>
          <a:sx n="50" d="100"/>
          <a:sy n="50" d="100"/>
        </p:scale>
        <p:origin x="126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450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66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40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049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4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8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29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77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1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585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2690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995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59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1227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6171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4209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7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1E3F7E5-E39D-3F4F-9F18-848F1B8FC9C4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490439F-9459-2349-A603-3D16A7048D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04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522457"/>
            <a:ext cx="8689976" cy="3379743"/>
          </a:xfrm>
        </p:spPr>
        <p:txBody>
          <a:bodyPr/>
          <a:lstStyle/>
          <a:p>
            <a:r>
              <a:rPr lang="en-AU" dirty="0" smtClean="0"/>
              <a:t>ANGLE OF ELEVATION &amp; DEPRESSION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0558" y="4755847"/>
            <a:ext cx="8689976" cy="1371599"/>
          </a:xfrm>
        </p:spPr>
        <p:txBody>
          <a:bodyPr/>
          <a:lstStyle/>
          <a:p>
            <a:r>
              <a:rPr lang="en-AU" dirty="0"/>
              <a:t>EQ</a:t>
            </a:r>
            <a:r>
              <a:rPr lang="en-AU" dirty="0" smtClean="0"/>
              <a:t>: HOW DO I SOLVE FOR DIFFERENT ANGLES?</a:t>
            </a:r>
            <a:endParaRPr lang="en-AU" dirty="0"/>
          </a:p>
        </p:txBody>
      </p:sp>
      <p:sp>
        <p:nvSpPr>
          <p:cNvPr id="4" name="AutoShape 2" descr="Image result for angle of elev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55625" t="21729" r="21458" b="40494"/>
          <a:stretch/>
        </p:blipFill>
        <p:spPr>
          <a:xfrm>
            <a:off x="8191499" y="297211"/>
            <a:ext cx="3578225" cy="331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82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147" y="2214694"/>
            <a:ext cx="10364451" cy="1596177"/>
          </a:xfrm>
        </p:spPr>
        <p:txBody>
          <a:bodyPr/>
          <a:lstStyle/>
          <a:p>
            <a:r>
              <a:rPr lang="en-US" dirty="0" smtClean="0"/>
              <a:t>Have a go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2823" t="16624" r="66472" b="63870"/>
          <a:stretch/>
        </p:blipFill>
        <p:spPr>
          <a:xfrm>
            <a:off x="913145" y="2651214"/>
            <a:ext cx="3505200" cy="35924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3016" t="58275" r="68373" b="22219"/>
          <a:stretch/>
        </p:blipFill>
        <p:spPr>
          <a:xfrm>
            <a:off x="8710947" y="2151186"/>
            <a:ext cx="2819400" cy="3592461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9383E81-5877-4FCE-AF11-4B9D1D59B1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" t="40416" r="67190" b="4710"/>
          <a:stretch/>
        </p:blipFill>
        <p:spPr bwMode="auto">
          <a:xfrm>
            <a:off x="1095081" y="248651"/>
            <a:ext cx="1542529" cy="1902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FF84478-02E1-499D-9214-95BCCC2377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7" t="40855" r="34347" b="4271"/>
          <a:stretch/>
        </p:blipFill>
        <p:spPr bwMode="auto">
          <a:xfrm>
            <a:off x="5324109" y="248651"/>
            <a:ext cx="1542529" cy="1902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A88EE49-5A03-4546-8FB9-62E17BBB19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67" t="41733" r="1527" b="3393"/>
          <a:stretch/>
        </p:blipFill>
        <p:spPr bwMode="auto">
          <a:xfrm>
            <a:off x="9735071" y="248649"/>
            <a:ext cx="1542529" cy="1902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360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21" y="123165"/>
            <a:ext cx="7072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/>
              <a:t>ANGLE OF ELEVATION &amp; DEPRESSION</a:t>
            </a:r>
            <a:endParaRPr lang="en-AU" sz="32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588" y="78415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31450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821" y="860369"/>
            <a:ext cx="471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SOLVE FOR DIFFERENT ANGLES?</a:t>
            </a:r>
            <a:endParaRPr lang="en-A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4C791C-B80C-43A1-9552-097EE4C91463}"/>
              </a:ext>
            </a:extLst>
          </p:cNvPr>
          <p:cNvCxnSpPr>
            <a:cxnSpLocks/>
          </p:cNvCxnSpPr>
          <p:nvPr/>
        </p:nvCxnSpPr>
        <p:spPr>
          <a:xfrm>
            <a:off x="2818614" y="1212030"/>
            <a:ext cx="0" cy="5645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49BFF3-0F6C-4CBE-9ACB-EE81A92BC47E}"/>
              </a:ext>
            </a:extLst>
          </p:cNvPr>
          <p:cNvCxnSpPr>
            <a:cxnSpLocks/>
          </p:cNvCxnSpPr>
          <p:nvPr/>
        </p:nvCxnSpPr>
        <p:spPr>
          <a:xfrm>
            <a:off x="7665562" y="1364430"/>
            <a:ext cx="0" cy="5645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923508" y="1481772"/>
            <a:ext cx="4241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1242C"/>
                </a:solidFill>
                <a:latin typeface="Lato"/>
              </a:rPr>
              <a:t>When you see an object above you, there's </a:t>
            </a:r>
            <a:r>
              <a:rPr lang="en-US" sz="2400" dirty="0" smtClean="0">
                <a:solidFill>
                  <a:srgbClr val="21242C"/>
                </a:solidFill>
                <a:latin typeface="Lato"/>
              </a:rPr>
              <a:t>an </a:t>
            </a:r>
            <a:r>
              <a:rPr lang="en-US" sz="2400" dirty="0" smtClean="0">
                <a:solidFill>
                  <a:srgbClr val="11ACCD"/>
                </a:solidFill>
                <a:latin typeface="KaTeX_Main"/>
              </a:rPr>
              <a:t>angle</a:t>
            </a:r>
            <a:r>
              <a:rPr lang="en-US" sz="2400" dirty="0">
                <a:solidFill>
                  <a:srgbClr val="11ACCD"/>
                </a:solidFill>
                <a:latin typeface="KaTeX_Main"/>
              </a:rPr>
              <a:t> of </a:t>
            </a:r>
            <a:r>
              <a:rPr lang="en-US" sz="2400" dirty="0">
                <a:solidFill>
                  <a:srgbClr val="21242C"/>
                </a:solidFill>
                <a:latin typeface="Lato"/>
              </a:rPr>
              <a:t> between the horizontal and your line of sight to the object.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0903" t="27531" r="47014" b="51358"/>
          <a:stretch/>
        </p:blipFill>
        <p:spPr>
          <a:xfrm>
            <a:off x="4450707" y="3588029"/>
            <a:ext cx="2373044" cy="127607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l="31494" t="53374" r="46423" b="25515"/>
          <a:stretch/>
        </p:blipFill>
        <p:spPr>
          <a:xfrm>
            <a:off x="3166204" y="5031365"/>
            <a:ext cx="2373044" cy="127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5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21" y="123165"/>
            <a:ext cx="7072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/>
              <a:t>ANGLE OF ELEVATION &amp; DEPRESSION</a:t>
            </a:r>
            <a:endParaRPr lang="en-AU" sz="32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588" y="78415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31450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821" y="860369"/>
            <a:ext cx="471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SOLVE FOR DIFFERENT ANGLES?</a:t>
            </a:r>
            <a:endParaRPr lang="en-A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4C791C-B80C-43A1-9552-097EE4C91463}"/>
              </a:ext>
            </a:extLst>
          </p:cNvPr>
          <p:cNvCxnSpPr>
            <a:cxnSpLocks/>
          </p:cNvCxnSpPr>
          <p:nvPr/>
        </p:nvCxnSpPr>
        <p:spPr>
          <a:xfrm>
            <a:off x="2818614" y="1212030"/>
            <a:ext cx="0" cy="5645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49BFF3-0F6C-4CBE-9ACB-EE81A92BC47E}"/>
              </a:ext>
            </a:extLst>
          </p:cNvPr>
          <p:cNvCxnSpPr>
            <a:cxnSpLocks/>
          </p:cNvCxnSpPr>
          <p:nvPr/>
        </p:nvCxnSpPr>
        <p:spPr>
          <a:xfrm>
            <a:off x="7665562" y="1364430"/>
            <a:ext cx="0" cy="5645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34658" y="1614936"/>
            <a:ext cx="3619500" cy="1512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42C"/>
                </a:solidFill>
                <a:latin typeface="Lato"/>
              </a:rPr>
              <a:t>Similarly, when you see an object below you, there's </a:t>
            </a:r>
            <a:r>
              <a:rPr lang="en-US" dirty="0" smtClean="0">
                <a:solidFill>
                  <a:srgbClr val="21242C"/>
                </a:solidFill>
                <a:latin typeface="Lato"/>
              </a:rPr>
              <a:t>an </a:t>
            </a:r>
            <a:r>
              <a:rPr lang="en-US" dirty="0" smtClean="0">
                <a:solidFill>
                  <a:srgbClr val="E07D10"/>
                </a:solidFill>
                <a:latin typeface="KaTeX_Main"/>
              </a:rPr>
              <a:t>angle</a:t>
            </a:r>
            <a:r>
              <a:rPr lang="en-US" dirty="0">
                <a:solidFill>
                  <a:srgbClr val="E07D10"/>
                </a:solidFill>
                <a:latin typeface="KaTeX_Main"/>
              </a:rPr>
              <a:t> of </a:t>
            </a:r>
            <a:r>
              <a:rPr lang="en-US" dirty="0" smtClean="0">
                <a:solidFill>
                  <a:srgbClr val="E07D10"/>
                </a:solidFill>
                <a:latin typeface="KaTeX_Main"/>
              </a:rPr>
              <a:t>depression </a:t>
            </a:r>
            <a:r>
              <a:rPr lang="en-US" dirty="0" smtClean="0">
                <a:solidFill>
                  <a:srgbClr val="21242C"/>
                </a:solidFill>
                <a:latin typeface="Lato"/>
              </a:rPr>
              <a:t>between the </a:t>
            </a:r>
            <a:r>
              <a:rPr lang="en-US" dirty="0">
                <a:solidFill>
                  <a:srgbClr val="21242C"/>
                </a:solidFill>
                <a:latin typeface="Lato"/>
              </a:rPr>
              <a:t>horizontal and your line of sight to the object.</a:t>
            </a:r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0833" t="24568" r="47292" b="53580"/>
          <a:stretch/>
        </p:blipFill>
        <p:spPr>
          <a:xfrm>
            <a:off x="4426277" y="3218035"/>
            <a:ext cx="2427881" cy="136423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31291" t="52030" r="46834" b="26118"/>
          <a:stretch/>
        </p:blipFill>
        <p:spPr>
          <a:xfrm>
            <a:off x="3095048" y="4945235"/>
            <a:ext cx="2427881" cy="136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3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21" y="123165"/>
            <a:ext cx="7072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/>
              <a:t>ANGLE OF ELEVATION &amp; DEPRESSION</a:t>
            </a:r>
            <a:endParaRPr lang="en-AU" sz="32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588" y="78415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31450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821" y="860369"/>
            <a:ext cx="471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SOLVE FOR DIFFERENT ANGLES?</a:t>
            </a:r>
            <a:endParaRPr lang="en-A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4C791C-B80C-43A1-9552-097EE4C91463}"/>
              </a:ext>
            </a:extLst>
          </p:cNvPr>
          <p:cNvCxnSpPr>
            <a:cxnSpLocks/>
          </p:cNvCxnSpPr>
          <p:nvPr/>
        </p:nvCxnSpPr>
        <p:spPr>
          <a:xfrm>
            <a:off x="2818614" y="1212030"/>
            <a:ext cx="0" cy="5645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048000" y="1614937"/>
            <a:ext cx="8636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From the top of a vertical cliff 40 m high, the angle of depression of an object that is level with the base of the cliff is 34º.  </a:t>
            </a: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How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far is the object from the base of the cliff?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18521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21" y="123165"/>
            <a:ext cx="7072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dirty="0"/>
              <a:t>ANGLE OF ELEVATION &amp; DEPRESSION</a:t>
            </a:r>
            <a:endParaRPr lang="en-AU" sz="32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588" y="784154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1314506"/>
            <a:ext cx="12190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2821" y="860369"/>
            <a:ext cx="471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EQ: HOW DO I SOLVE FOR DIFFERENT ANGLES?</a:t>
            </a:r>
            <a:endParaRPr lang="en-A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4C791C-B80C-43A1-9552-097EE4C91463}"/>
              </a:ext>
            </a:extLst>
          </p:cNvPr>
          <p:cNvCxnSpPr>
            <a:cxnSpLocks/>
          </p:cNvCxnSpPr>
          <p:nvPr/>
        </p:nvCxnSpPr>
        <p:spPr>
          <a:xfrm>
            <a:off x="2818614" y="1212030"/>
            <a:ext cx="0" cy="5645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048000" y="1614937"/>
            <a:ext cx="863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endParaRPr lang="en-A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29191" y="1771526"/>
            <a:ext cx="4907754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turn!!  </a:t>
            </a:r>
          </a:p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Essentials book:</a:t>
            </a:r>
          </a:p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Page 174 &amp; 175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3044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227</TotalTime>
  <Words>155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KaTeX_Main</vt:lpstr>
      <vt:lpstr>Lato</vt:lpstr>
      <vt:lpstr>Times New Roman</vt:lpstr>
      <vt:lpstr>Tw Cen MT</vt:lpstr>
      <vt:lpstr>Droplet</vt:lpstr>
      <vt:lpstr>ANGLE OF ELEVATION &amp; DEPRESSION</vt:lpstr>
      <vt:lpstr>Have a go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Sine Ratio</dc:title>
  <dc:creator>POWER Travis [Baldivis Secondary College]</dc:creator>
  <cp:lastModifiedBy>D'SOUZA Jillian [Baldivis Secondary College]</cp:lastModifiedBy>
  <cp:revision>24</cp:revision>
  <dcterms:created xsi:type="dcterms:W3CDTF">2018-10-07T10:33:48Z</dcterms:created>
  <dcterms:modified xsi:type="dcterms:W3CDTF">2018-10-28T23:48:01Z</dcterms:modified>
</cp:coreProperties>
</file>
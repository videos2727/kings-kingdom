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9" r:id="rId3"/>
    <p:sldId id="265" r:id="rId4"/>
    <p:sldId id="270" r:id="rId5"/>
    <p:sldId id="271" r:id="rId6"/>
    <p:sldId id="272" r:id="rId7"/>
    <p:sldId id="273" r:id="rId8"/>
    <p:sldId id="277" r:id="rId9"/>
    <p:sldId id="275" r:id="rId10"/>
    <p:sldId id="276" r:id="rId11"/>
    <p:sldId id="274" r:id="rId12"/>
    <p:sldId id="2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047" autoAdjust="0"/>
  </p:normalViewPr>
  <p:slideViewPr>
    <p:cSldViewPr snapToGrid="0">
      <p:cViewPr varScale="1">
        <p:scale>
          <a:sx n="52" d="100"/>
          <a:sy n="52" d="100"/>
        </p:scale>
        <p:origin x="122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11/6/2018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11/6/2018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Linear:</a:t>
            </a:r>
          </a:p>
          <a:p>
            <a:r>
              <a:rPr lang="en-AU" dirty="0" smtClean="0"/>
              <a:t>One x value for every y value</a:t>
            </a:r>
          </a:p>
          <a:p>
            <a:r>
              <a:rPr lang="en-AU" dirty="0" smtClean="0"/>
              <a:t>Quadratics:</a:t>
            </a:r>
          </a:p>
          <a:p>
            <a:r>
              <a:rPr lang="en-AU" dirty="0" smtClean="0"/>
              <a:t>Two</a:t>
            </a:r>
            <a:r>
              <a:rPr lang="en-AU" baseline="0" dirty="0" smtClean="0"/>
              <a:t> x values for most y values</a:t>
            </a:r>
            <a:endParaRPr lang="en-A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1126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11/6/2018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11/6/2018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11/6/2018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11/6/2018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11/6/2018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11/6/2018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11/6/2018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11/6/2018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11/6/2018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11/6/2018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11/6/2018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11/6/2018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04636" y="2523157"/>
            <a:ext cx="9601200" cy="1724092"/>
          </a:xfrm>
        </p:spPr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Topic: </a:t>
            </a:r>
            <a:r>
              <a:rPr lang="en-US" dirty="0" smtClean="0"/>
              <a:t>Quadratics</a:t>
            </a:r>
            <a:br>
              <a:rPr lang="en-US" dirty="0" smtClean="0"/>
            </a:br>
            <a:r>
              <a:rPr lang="en-US" dirty="0" smtClean="0">
                <a:solidFill>
                  <a:srgbClr val="00B0F0"/>
                </a:solidFill>
              </a:rPr>
              <a:t>EQ: </a:t>
            </a:r>
            <a:r>
              <a:rPr lang="en-US" dirty="0" smtClean="0"/>
              <a:t>What is quadratics?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2617518"/>
            <a:ext cx="9509760" cy="41276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Quadratic equations are commonplace in theoretical and practical applications of mathematics. They are used to solve problems in geometry and measurement as well as in number theory and physics.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The path that a projectile takes while flying through the air, for example, can be analysed </a:t>
            </a:r>
            <a:r>
              <a:rPr lang="en-AU" b="1" dirty="0"/>
              <a:t>using quadratic equations.</a:t>
            </a:r>
            <a:endParaRPr lang="en-US" b="1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4364177" y="958174"/>
            <a:ext cx="266932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WHY</a:t>
            </a:r>
            <a:endParaRPr lang="en-US" sz="88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20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2262908" y="1901952"/>
                <a:ext cx="8587971" cy="4127627"/>
              </a:xfrm>
            </p:spPr>
            <p:txBody>
              <a:bodyPr>
                <a:normAutofit/>
              </a:bodyPr>
              <a:lstStyle/>
              <a:p>
                <a:pPr marL="45720" indent="0" algn="ctr">
                  <a:lnSpc>
                    <a:spcPct val="150000"/>
                  </a:lnSpc>
                  <a:buNone/>
                </a:pPr>
                <a:r>
                  <a:rPr lang="en-US" sz="2400" b="1" dirty="0" smtClean="0"/>
                  <a:t>The standard quadratic formula is:</a:t>
                </a:r>
              </a:p>
              <a:p>
                <a:pPr marL="4572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𝒃𝒙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AU" sz="2400" b="1" dirty="0" smtClean="0"/>
              </a:p>
              <a:p>
                <a:pPr marL="365760" lvl="1" indent="0" algn="ctr">
                  <a:lnSpc>
                    <a:spcPct val="150000"/>
                  </a:lnSpc>
                  <a:buNone/>
                </a:pPr>
                <a:r>
                  <a:rPr lang="en-US" sz="2200" b="1" dirty="0" smtClean="0"/>
                  <a:t>Where a, b and c are constants</a:t>
                </a:r>
              </a:p>
              <a:p>
                <a:pPr marL="365760" lvl="1" indent="0" algn="ctr">
                  <a:lnSpc>
                    <a:spcPct val="150000"/>
                  </a:lnSpc>
                  <a:buNone/>
                </a:pPr>
                <a:endParaRPr lang="en-US" sz="2200" b="1" dirty="0" smtClean="0"/>
              </a:p>
              <a:p>
                <a:pPr marL="365760" lvl="1" indent="0">
                  <a:lnSpc>
                    <a:spcPct val="150000"/>
                  </a:lnSpc>
                  <a:buNone/>
                </a:pPr>
                <a:r>
                  <a:rPr lang="en-US" sz="2200" b="1" dirty="0"/>
                  <a:t>Unlike a linear equation which has a </a:t>
                </a:r>
                <a:r>
                  <a:rPr lang="en-US" sz="2200" b="1" dirty="0" smtClean="0"/>
                  <a:t>single solution</a:t>
                </a:r>
                <a:r>
                  <a:rPr lang="en-US" sz="2200" b="1" dirty="0"/>
                  <a:t>, quadratic equations can have zero, one or </a:t>
                </a:r>
                <a:r>
                  <a:rPr lang="en-US" sz="2200" b="1" dirty="0" smtClean="0"/>
                  <a:t>two solutions</a:t>
                </a:r>
                <a:r>
                  <a:rPr lang="en-US" sz="2200" b="1" dirty="0"/>
                  <a:t>.</a:t>
                </a:r>
              </a:p>
            </p:txBody>
          </p:sp>
        </mc:Choice>
        <mc:Fallback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2908" y="1901952"/>
                <a:ext cx="8587971" cy="41276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9309" y="2110570"/>
            <a:ext cx="167178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The formula?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452582" y="4230455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is it different from a linear equation?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2165599"/>
            <a:ext cx="5898503" cy="3773383"/>
          </a:xfrm>
        </p:spPr>
      </p:pic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 result for quadratic grap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485" y="2331853"/>
            <a:ext cx="5326216" cy="377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05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51002366"/>
                  </p:ext>
                </p:extLst>
              </p:nvPr>
            </p:nvGraphicFramePr>
            <p:xfrm>
              <a:off x="2904739" y="2344744"/>
              <a:ext cx="7524364" cy="1965842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3762182">
                      <a:extLst>
                        <a:ext uri="{9D8B030D-6E8A-4147-A177-3AD203B41FA5}">
                          <a16:colId xmlns:a16="http://schemas.microsoft.com/office/drawing/2014/main" val="2990740202"/>
                        </a:ext>
                      </a:extLst>
                    </a:gridCol>
                    <a:gridCol w="3762182">
                      <a:extLst>
                        <a:ext uri="{9D8B030D-6E8A-4147-A177-3AD203B41FA5}">
                          <a16:colId xmlns:a16="http://schemas.microsoft.com/office/drawing/2014/main" val="1542847358"/>
                        </a:ext>
                      </a:extLst>
                    </a:gridCol>
                  </a:tblGrid>
                  <a:tr h="9829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Linear </a:t>
                          </a:r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6337550"/>
                      </a:ext>
                    </a:extLst>
                  </a:tr>
                  <a:tr h="9829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sSup>
                                  <m:sSupPr>
                                    <m:ctrlP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8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 smtClean="0"/>
                            <a:t>Quadratic</a:t>
                          </a:r>
                          <a:endParaRPr lang="en-AU" sz="28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93480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51002366"/>
                  </p:ext>
                </p:extLst>
              </p:nvPr>
            </p:nvGraphicFramePr>
            <p:xfrm>
              <a:off x="2904739" y="2344744"/>
              <a:ext cx="7524364" cy="1965842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3762182">
                      <a:extLst>
                        <a:ext uri="{9D8B030D-6E8A-4147-A177-3AD203B41FA5}">
                          <a16:colId xmlns:a16="http://schemas.microsoft.com/office/drawing/2014/main" val="2990740202"/>
                        </a:ext>
                      </a:extLst>
                    </a:gridCol>
                    <a:gridCol w="3762182">
                      <a:extLst>
                        <a:ext uri="{9D8B030D-6E8A-4147-A177-3AD203B41FA5}">
                          <a16:colId xmlns:a16="http://schemas.microsoft.com/office/drawing/2014/main" val="1542847358"/>
                        </a:ext>
                      </a:extLst>
                    </a:gridCol>
                  </a:tblGrid>
                  <a:tr h="982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2" t="-617" r="-100324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Linear </a:t>
                          </a:r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6337550"/>
                      </a:ext>
                    </a:extLst>
                  </a:tr>
                  <a:tr h="982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2" t="-100617" r="-100324" b="-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 smtClean="0"/>
                            <a:t>Quadratic</a:t>
                          </a:r>
                          <a:endParaRPr lang="en-AU" sz="28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934804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2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is it different from a linear equation?</a:t>
            </a:r>
            <a:endParaRPr lang="en-AU" dirty="0"/>
          </a:p>
        </p:txBody>
      </p:sp>
      <p:sp>
        <p:nvSpPr>
          <p:cNvPr id="4" name="Donut 3"/>
          <p:cNvSpPr/>
          <p:nvPr/>
        </p:nvSpPr>
        <p:spPr>
          <a:xfrm>
            <a:off x="5152768" y="3503142"/>
            <a:ext cx="432487" cy="451022"/>
          </a:xfrm>
          <a:prstGeom prst="donut">
            <a:avLst>
              <a:gd name="adj" fmla="val 1380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4" idx="5"/>
          </p:cNvCxnSpPr>
          <p:nvPr/>
        </p:nvCxnSpPr>
        <p:spPr>
          <a:xfrm flipH="1" flipV="1">
            <a:off x="5521919" y="3888113"/>
            <a:ext cx="592559" cy="14623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18198" y="5350476"/>
            <a:ext cx="229835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b="1" dirty="0" smtClean="0"/>
              <a:t>Binomial</a:t>
            </a:r>
          </a:p>
          <a:p>
            <a:r>
              <a:rPr lang="en-AU" sz="2400" b="1" dirty="0" smtClean="0"/>
              <a:t>(power of 2)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5966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 smtClean="0"/>
              <a:t>What is quadratics?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2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is it different from a linear equation?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3385751" y="2217057"/>
                <a:ext cx="3818238" cy="4127627"/>
              </a:xfrm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 smtClean="0"/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AU" sz="3200" b="1" dirty="0" smtClean="0"/>
              </a:p>
              <a:p>
                <a:pPr marL="45720" indent="0">
                  <a:lnSpc>
                    <a:spcPct val="100000"/>
                  </a:lnSpc>
                  <a:buNone/>
                </a:pPr>
                <a:endParaRPr lang="en-AU" sz="3200" b="1" dirty="0" smtClean="0"/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 smtClean="0"/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AU" sz="3200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3200" b="1" i="0" dirty="0" smtClean="0"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 smtClean="0"/>
              </a:p>
              <a:p>
                <a:pPr marL="45720" indent="0">
                  <a:buNone/>
                </a:pPr>
                <a:endParaRPr lang="en-AU" sz="3200" b="1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5751" y="2217057"/>
                <a:ext cx="3818238" cy="41276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8125642" y="2569341"/>
            <a:ext cx="2193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Linear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09470" y="4796361"/>
            <a:ext cx="35926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Quadratic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013521" y="2801663"/>
            <a:ext cx="2112123" cy="458686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ight Arrow 15"/>
          <p:cNvSpPr/>
          <p:nvPr/>
        </p:nvSpPr>
        <p:spPr>
          <a:xfrm>
            <a:off x="6258899" y="5017289"/>
            <a:ext cx="1550571" cy="48147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8427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  <p:bldP spid="14" grpId="0"/>
      <p:bldP spid="9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 smtClean="0"/>
              <a:t>What is quadratics?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3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do I solve quadratic equations?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2800" b="1" dirty="0" smtClean="0"/>
                  <a:t>Using the </a:t>
                </a:r>
                <a:r>
                  <a:rPr lang="en-AU" sz="2800" b="1" dirty="0" smtClean="0">
                    <a:solidFill>
                      <a:srgbClr val="00B0F0"/>
                    </a:solidFill>
                  </a:rPr>
                  <a:t>Null Factor: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>
                    <a:solidFill>
                      <a:srgbClr val="7030A0"/>
                    </a:solidFill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200" b="1" dirty="0" smtClean="0">
                  <a:solidFill>
                    <a:srgbClr val="7030A0"/>
                  </a:solidFill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2400" b="1" dirty="0" smtClean="0">
                    <a:solidFill>
                      <a:schemeClr val="tx1"/>
                    </a:solidFill>
                  </a:rPr>
                  <a:t>Step one: </a:t>
                </a:r>
                <a:r>
                  <a:rPr lang="en-AU" sz="2400" b="1" u="sng" dirty="0" smtClean="0">
                    <a:solidFill>
                      <a:schemeClr val="tx1"/>
                    </a:solidFill>
                  </a:rPr>
                  <a:t>factorise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200" b="1" dirty="0" smtClean="0">
                  <a:solidFill>
                    <a:srgbClr val="7030A0"/>
                  </a:solidFill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2400" b="1" dirty="0" smtClean="0">
                    <a:solidFill>
                      <a:schemeClr val="tx1"/>
                    </a:solidFill>
                  </a:rPr>
                  <a:t>Step two: </a:t>
                </a:r>
                <a:r>
                  <a:rPr lang="en-AU" sz="2400" b="1" u="sng" dirty="0" smtClean="0">
                    <a:solidFill>
                      <a:schemeClr val="tx1"/>
                    </a:solidFill>
                  </a:rPr>
                  <a:t>what must x equal to make the equation true?</a:t>
                </a:r>
              </a:p>
              <a:p>
                <a:pPr marL="45720" indent="0">
                  <a:buNone/>
                </a:pPr>
                <a:endParaRPr lang="en-AU" sz="3200" b="1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  <a:blipFill>
                <a:blip r:embed="rId2"/>
                <a:stretch>
                  <a:fillRect l="-853" t="-14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loud Callout 1"/>
          <p:cNvSpPr/>
          <p:nvPr/>
        </p:nvSpPr>
        <p:spPr>
          <a:xfrm>
            <a:off x="8127899" y="5322932"/>
            <a:ext cx="2681416" cy="1303128"/>
          </a:xfrm>
          <a:prstGeom prst="cloudCallout">
            <a:avLst>
              <a:gd name="adj1" fmla="val -120833"/>
              <a:gd name="adj2" fmla="val -20945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 smtClean="0"/>
              <a:t>How?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00512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 smtClean="0"/>
              <a:t>What is quadratics?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3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do I solve quadratic equations?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2800" b="1" dirty="0" smtClean="0"/>
                  <a:t>Using the </a:t>
                </a:r>
                <a:r>
                  <a:rPr lang="en-AU" sz="2800" b="1" dirty="0" smtClean="0">
                    <a:solidFill>
                      <a:srgbClr val="00B0F0"/>
                    </a:solidFill>
                  </a:rPr>
                  <a:t>Null Factor: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>
                    <a:solidFill>
                      <a:srgbClr val="7030A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AU" sz="3200" b="1" dirty="0" smtClean="0"/>
                  <a:t>	</a:t>
                </a:r>
                <a:endParaRPr lang="en-AU" sz="3200" b="1" i="1" dirty="0" smtClean="0"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/>
                  <a:t>		</a:t>
                </a:r>
                <a:endParaRPr lang="en-AU" sz="3200" b="1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  <a:blipFill>
                <a:blip r:embed="rId2"/>
                <a:stretch>
                  <a:fillRect l="-853" t="-14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0597550"/>
                  </p:ext>
                </p:extLst>
              </p:nvPr>
            </p:nvGraphicFramePr>
            <p:xfrm>
              <a:off x="2822832" y="3576534"/>
              <a:ext cx="8128000" cy="192024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67161959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1280784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6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AU" sz="3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706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AU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+2=0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3514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𝑡h𝑒𝑟𝑒𝑓𝑜𝑟𝑒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𝑡h𝑒𝑟𝑒𝑓𝑜𝑟𝑒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AU" sz="36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3356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0597550"/>
                  </p:ext>
                </p:extLst>
              </p:nvPr>
            </p:nvGraphicFramePr>
            <p:xfrm>
              <a:off x="2822832" y="3576534"/>
              <a:ext cx="8128000" cy="192024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67161959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12807843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952" r="-100450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952" r="-450" b="-2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270645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100000" r="-100450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100000" r="-450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351404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01905" r="-10045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201905" r="-45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3356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504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 smtClean="0"/>
              <a:t>What is quadratics?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3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do I solve quadratic equations?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2800" b="1" dirty="0" smtClean="0"/>
                  <a:t>Using the </a:t>
                </a:r>
                <a:r>
                  <a:rPr lang="en-AU" sz="2800" b="1" dirty="0" smtClean="0">
                    <a:solidFill>
                      <a:srgbClr val="00B0F0"/>
                    </a:solidFill>
                  </a:rPr>
                  <a:t>Null Factor: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>
                    <a:solidFill>
                      <a:srgbClr val="7030A0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d>
                      <m:d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200" b="1" dirty="0" smtClean="0">
                  <a:solidFill>
                    <a:srgbClr val="7030A0"/>
                  </a:solidFill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/>
                  <a:t>	</a:t>
                </a:r>
                <a:endParaRPr lang="en-AU" sz="3200" b="1" i="1" dirty="0" smtClean="0"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/>
                  <a:t>		</a:t>
                </a:r>
                <a:endParaRPr lang="en-AU" sz="3200" b="1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  <a:blipFill>
                <a:blip r:embed="rId2"/>
                <a:stretch>
                  <a:fillRect l="-853" t="-14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218585"/>
                  </p:ext>
                </p:extLst>
              </p:nvPr>
            </p:nvGraphicFramePr>
            <p:xfrm>
              <a:off x="2822832" y="3576534"/>
              <a:ext cx="8128000" cy="192024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67161959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1280784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6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AU" sz="3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6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706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+2=0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−2=0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3514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AU" sz="3600" b="0" i="1" smtClean="0">
                                  <a:latin typeface="Cambria Math" panose="02040503050406030204" pitchFamily="18" charset="0"/>
                                </a:rPr>
                                <m:t>𝑡h𝑒𝑟𝑒𝑓𝑜𝑟𝑒</m:t>
                              </m:r>
                              <m:r>
                                <a:rPr lang="en-AU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36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AU" sz="36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</m:oMath>
                          </a14:m>
                          <a:r>
                            <a:rPr lang="en-AU" sz="3600" b="1" dirty="0" smtClean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en-AU" sz="36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𝑡h𝑒𝑟𝑒𝑓𝑜𝑟𝑒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AU" sz="36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33568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218585"/>
                  </p:ext>
                </p:extLst>
              </p:nvPr>
            </p:nvGraphicFramePr>
            <p:xfrm>
              <a:off x="2822832" y="3576534"/>
              <a:ext cx="8128000" cy="192024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67161959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12807843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952" r="-100450" b="-2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952" r="-450" b="-23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270645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100000" r="-100450" b="-1349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100000" r="-450" b="-1349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351404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01905" r="-100450" b="-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201905" r="-450" b="-3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3356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764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Null Factor on the graph</a:t>
            </a:r>
            <a:endParaRPr lang="en-AU" dirty="0"/>
          </a:p>
        </p:txBody>
      </p:sp>
      <p:pic>
        <p:nvPicPr>
          <p:cNvPr id="4" name="Picture 4" descr="Image result for quadratic 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" y="2022934"/>
            <a:ext cx="5326216" cy="377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4057774" y="2146504"/>
            <a:ext cx="3768171" cy="1734836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41689" y="1689530"/>
            <a:ext cx="1865869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4400" b="1" dirty="0" smtClean="0">
                <a:solidFill>
                  <a:srgbClr val="00B050"/>
                </a:solidFill>
              </a:rPr>
              <a:t>y </a:t>
            </a:r>
            <a:r>
              <a:rPr lang="en-AU" sz="4400" b="1" dirty="0" smtClean="0">
                <a:solidFill>
                  <a:srgbClr val="00B050"/>
                </a:solidFill>
              </a:rPr>
              <a:t>= 0</a:t>
            </a:r>
            <a:endParaRPr lang="en-AU" sz="4400" b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48826" y="3118661"/>
            <a:ext cx="2693773" cy="26776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2800" b="1" dirty="0" smtClean="0"/>
              <a:t>Where y = 0 there are </a:t>
            </a:r>
            <a:r>
              <a:rPr lang="en-AU" sz="2800" b="1" dirty="0" smtClean="0">
                <a:solidFill>
                  <a:srgbClr val="00B0F0"/>
                </a:solidFill>
              </a:rPr>
              <a:t>two x values.</a:t>
            </a:r>
          </a:p>
          <a:p>
            <a:endParaRPr lang="en-AU" sz="2800" dirty="0"/>
          </a:p>
          <a:p>
            <a:r>
              <a:rPr lang="en-AU" sz="2800" dirty="0" smtClean="0"/>
              <a:t>For this graph </a:t>
            </a:r>
            <a:r>
              <a:rPr lang="en-AU" sz="2800" b="1" dirty="0" smtClean="0">
                <a:solidFill>
                  <a:srgbClr val="00B0F0"/>
                </a:solidFill>
              </a:rPr>
              <a:t>x = -2 and 2</a:t>
            </a:r>
            <a:endParaRPr lang="en-AU" sz="2800" b="1" dirty="0">
              <a:solidFill>
                <a:srgbClr val="00B0F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101545" y="3986600"/>
            <a:ext cx="4724400" cy="1536870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5115697" y="4102443"/>
            <a:ext cx="4757352" cy="1421027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60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97472" y="450580"/>
            <a:ext cx="679705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Left-Hand-Side</a:t>
            </a:r>
            <a:endParaRPr lang="en-US" sz="7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1" y="2805884"/>
            <a:ext cx="1092517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9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97472" y="450580"/>
            <a:ext cx="679705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Left-Hand-Side</a:t>
            </a:r>
            <a:endParaRPr lang="en-US" sz="7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6" y="2420251"/>
            <a:ext cx="1128712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1462</TotalTime>
  <Words>269</Words>
  <Application>Microsoft Office PowerPoint</Application>
  <PresentationFormat>Widescreen</PresentationFormat>
  <Paragraphs>74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 Math</vt:lpstr>
      <vt:lpstr>Century Gothic</vt:lpstr>
      <vt:lpstr>Courier New</vt:lpstr>
      <vt:lpstr>Bubbles design template</vt:lpstr>
      <vt:lpstr>Topic: Quadratics EQ: What is quadratics?</vt:lpstr>
      <vt:lpstr>PowerPoint Presentation</vt:lpstr>
      <vt:lpstr>Topic: Quadratics EQ: What is quadratics?</vt:lpstr>
      <vt:lpstr>Topic: Quadratics EQ: What is quadratics?</vt:lpstr>
      <vt:lpstr>Topic: Quadratics EQ: What is quadratics?</vt:lpstr>
      <vt:lpstr>Topic: Quadratics EQ: What is quadratics?</vt:lpstr>
      <vt:lpstr>Topic: Quadratics EQ: What is quadratics?</vt:lpstr>
      <vt:lpstr>Topic: Quadratics EQ: What is quadratics?</vt:lpstr>
      <vt:lpstr>Topic: Quadratics EQ: What is quadratics?</vt:lpstr>
      <vt:lpstr>Null Factor on the graph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Quadratics EQ: What is quadratics?</dc:title>
  <dc:creator>Abigail Stephenson</dc:creator>
  <cp:lastModifiedBy>Abigail Stephenson</cp:lastModifiedBy>
  <cp:revision>14</cp:revision>
  <dcterms:created xsi:type="dcterms:W3CDTF">2018-11-06T07:30:40Z</dcterms:created>
  <dcterms:modified xsi:type="dcterms:W3CDTF">2018-11-07T07:53:25Z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
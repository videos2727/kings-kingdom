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333" r:id="rId3"/>
    <p:sldId id="334" r:id="rId4"/>
    <p:sldId id="335" r:id="rId5"/>
    <p:sldId id="336" r:id="rId6"/>
    <p:sldId id="257" r:id="rId7"/>
    <p:sldId id="308" r:id="rId8"/>
    <p:sldId id="309" r:id="rId9"/>
    <p:sldId id="31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71613" autoAdjust="0"/>
  </p:normalViewPr>
  <p:slideViewPr>
    <p:cSldViewPr snapToGrid="0">
      <p:cViewPr>
        <p:scale>
          <a:sx n="76" d="100"/>
          <a:sy n="76" d="100"/>
        </p:scale>
        <p:origin x="261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7A96B-2A3E-4129-B436-471D45298D2E}" type="datetimeFigureOut">
              <a:rPr lang="en-GB" smtClean="0"/>
              <a:t>14/11/2018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5A83B-7E49-4A5D-BAF1-3B359E77EF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435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3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General Year 9: Demonstrate substitution for the remainder of the table to fill in the values.</a:t>
            </a:r>
          </a:p>
          <a:p>
            <a:r>
              <a:rPr lang="en-AU" dirty="0"/>
              <a:t>Extension Year 9: Students should be able to complete the table without assistance.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762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General Year 9 Class: Work together with the class to list all the co-ordinates.</a:t>
            </a:r>
          </a:p>
          <a:p>
            <a:r>
              <a:rPr lang="en-AU" dirty="0"/>
              <a:t>Extension Year 9: Students should be able to determine the co-ordinates without assistance.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235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General Year 9 Class: Work together with the class to plot the co-ordinates.</a:t>
            </a:r>
          </a:p>
          <a:p>
            <a:r>
              <a:rPr lang="en-AU" dirty="0"/>
              <a:t>Extension Year 9: Students should be able to plot the co-ordinates without assistance.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53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11/14/2018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11/14/2018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11/14/2018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11/14/2018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11/14/2018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11/14/2018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11/14/2018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F4551-9275-46B9-92CB-56DC6CAB3C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Topic: Quadratics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0BE1DF-48BA-4821-ACFD-6EAD207A03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EQ: How do I sketch a parabola with a table of values?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4962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95686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09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Quadratics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14/11/2018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sketch a parabola with a table of values?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CABD9B2B-E6F0-4128-B765-15CC297C3CD7}"/>
              </a:ext>
            </a:extLst>
          </p:cNvPr>
          <p:cNvSpPr txBox="1">
            <a:spLocks noChangeArrowheads="1"/>
          </p:cNvSpPr>
          <p:nvPr/>
        </p:nvSpPr>
        <p:spPr>
          <a:xfrm>
            <a:off x="2141466" y="1421746"/>
            <a:ext cx="9712479" cy="4879278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28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7BDE29C-46B9-4350-84E1-44D3B5C032AC}"/>
              </a:ext>
            </a:extLst>
          </p:cNvPr>
          <p:cNvCxnSpPr>
            <a:cxnSpLocks/>
          </p:cNvCxnSpPr>
          <p:nvPr/>
        </p:nvCxnSpPr>
        <p:spPr>
          <a:xfrm>
            <a:off x="7847152" y="1320613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794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41436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09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Quadratics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14/11/2018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sketch a parabola with a table of values?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7BDE29C-46B9-4350-84E1-44D3B5C032AC}"/>
              </a:ext>
            </a:extLst>
          </p:cNvPr>
          <p:cNvCxnSpPr>
            <a:cxnSpLocks/>
          </p:cNvCxnSpPr>
          <p:nvPr/>
        </p:nvCxnSpPr>
        <p:spPr>
          <a:xfrm>
            <a:off x="8726156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4A73A5E-8C8A-4688-A80D-88C0254517EB}"/>
              </a:ext>
            </a:extLst>
          </p:cNvPr>
          <p:cNvSpPr txBox="1"/>
          <p:nvPr/>
        </p:nvSpPr>
        <p:spPr>
          <a:xfrm>
            <a:off x="1508082" y="1349094"/>
            <a:ext cx="67512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A quadratic equation has an x</a:t>
            </a:r>
            <a:r>
              <a:rPr lang="en-AU" sz="2000" b="1" baseline="30000" dirty="0"/>
              <a:t>2</a:t>
            </a:r>
            <a:r>
              <a:rPr lang="en-AU" sz="2000" b="1" dirty="0"/>
              <a:t> as it’s highest power. When graphed it creates a shape called a parabola.</a:t>
            </a:r>
          </a:p>
          <a:p>
            <a:r>
              <a:rPr lang="en-AU" sz="2000" dirty="0"/>
              <a:t>  Examples are y =x</a:t>
            </a:r>
            <a:r>
              <a:rPr lang="en-AU" sz="2000" baseline="30000" dirty="0"/>
              <a:t>2</a:t>
            </a:r>
            <a:r>
              <a:rPr lang="en-AU" sz="2000" dirty="0"/>
              <a:t>   ,  y = 3x</a:t>
            </a:r>
            <a:r>
              <a:rPr lang="en-AU" sz="2000" baseline="30000" dirty="0"/>
              <a:t>2</a:t>
            </a:r>
            <a:r>
              <a:rPr lang="en-AU" sz="2000" dirty="0"/>
              <a:t> + 2x + 6,  y = -4x</a:t>
            </a:r>
            <a:r>
              <a:rPr lang="en-AU" sz="2000" baseline="30000" dirty="0"/>
              <a:t>2</a:t>
            </a:r>
            <a:r>
              <a:rPr lang="en-AU" sz="2000" dirty="0"/>
              <a:t> - 5</a:t>
            </a:r>
          </a:p>
          <a:p>
            <a:endParaRPr lang="en-AU"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029182-3D1D-4561-A3F6-418660AC91A1}"/>
              </a:ext>
            </a:extLst>
          </p:cNvPr>
          <p:cNvSpPr/>
          <p:nvPr/>
        </p:nvSpPr>
        <p:spPr>
          <a:xfrm>
            <a:off x="8726155" y="1328397"/>
            <a:ext cx="333662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1. To graph a parabola create a table with x values. </a:t>
            </a:r>
          </a:p>
          <a:p>
            <a:r>
              <a:rPr lang="en-AU" dirty="0"/>
              <a:t>(I have used x= -3 to x= 3)</a:t>
            </a:r>
          </a:p>
          <a:p>
            <a:endParaRPr lang="en-AU" dirty="0"/>
          </a:p>
          <a:p>
            <a:r>
              <a:rPr lang="en-AU" dirty="0"/>
              <a:t>2. Substitute the x values into the equation to calculate y values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90F26E-EDCB-4128-AD5A-B2FD7AAB848D}"/>
              </a:ext>
            </a:extLst>
          </p:cNvPr>
          <p:cNvSpPr txBox="1"/>
          <p:nvPr/>
        </p:nvSpPr>
        <p:spPr>
          <a:xfrm>
            <a:off x="1441436" y="3716847"/>
            <a:ext cx="42562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0329C5C-EE77-4C11-8781-1179710C97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483706"/>
              </p:ext>
            </p:extLst>
          </p:nvPr>
        </p:nvGraphicFramePr>
        <p:xfrm>
          <a:off x="1771229" y="4092980"/>
          <a:ext cx="6254896" cy="8863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8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18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18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18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18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0116">
                <a:tc>
                  <a:txBody>
                    <a:bodyPr/>
                    <a:lstStyle/>
                    <a:p>
                      <a:r>
                        <a:rPr lang="en-AU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228">
                <a:tc>
                  <a:txBody>
                    <a:bodyPr/>
                    <a:lstStyle/>
                    <a:p>
                      <a:r>
                        <a:rPr lang="en-AU" sz="1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287E396-8F60-4CB7-8B60-4D3B9C129438}"/>
                  </a:ext>
                </a:extLst>
              </p:cNvPr>
              <p:cNvSpPr txBox="1"/>
              <p:nvPr/>
            </p:nvSpPr>
            <p:spPr>
              <a:xfrm>
                <a:off x="1597977" y="5000915"/>
                <a:ext cx="130295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287E396-8F60-4CB7-8B60-4D3B9C129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977" y="5000915"/>
                <a:ext cx="1302958" cy="276999"/>
              </a:xfrm>
              <a:prstGeom prst="rect">
                <a:avLst/>
              </a:prstGeom>
              <a:blipFill>
                <a:blip r:embed="rId3"/>
                <a:stretch>
                  <a:fillRect b="-282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76C0750-2A1D-4ED0-A861-E48C3454874F}"/>
                  </a:ext>
                </a:extLst>
              </p:cNvPr>
              <p:cNvSpPr txBox="1"/>
              <p:nvPr/>
            </p:nvSpPr>
            <p:spPr>
              <a:xfrm>
                <a:off x="1508082" y="5322363"/>
                <a:ext cx="176325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(    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76C0750-2A1D-4ED0-A861-E48C34548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082" y="5322363"/>
                <a:ext cx="1763259" cy="276999"/>
              </a:xfrm>
              <a:prstGeom prst="rect">
                <a:avLst/>
              </a:prstGeom>
              <a:blipFill>
                <a:blip r:embed="rId4"/>
                <a:stretch>
                  <a:fillRect b="-369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C92EF2B0-A0F2-46F4-8246-71B779FF0835}"/>
              </a:ext>
            </a:extLst>
          </p:cNvPr>
          <p:cNvGrpSpPr/>
          <p:nvPr/>
        </p:nvGrpSpPr>
        <p:grpSpPr>
          <a:xfrm rot="611346">
            <a:off x="2476861" y="4096609"/>
            <a:ext cx="432520" cy="1351749"/>
            <a:chOff x="3033206" y="3273451"/>
            <a:chExt cx="293901" cy="107472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2BA621E-4A29-4F47-B9CF-F5C35FD00EF7}"/>
                </a:ext>
              </a:extLst>
            </p:cNvPr>
            <p:cNvSpPr/>
            <p:nvPr/>
          </p:nvSpPr>
          <p:spPr>
            <a:xfrm>
              <a:off x="3033206" y="3273451"/>
              <a:ext cx="293901" cy="37410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28CE244-0577-42BC-BBB7-276A95A5341C}"/>
                </a:ext>
              </a:extLst>
            </p:cNvPr>
            <p:cNvCxnSpPr>
              <a:cxnSpLocks/>
              <a:stCxn id="22" idx="4"/>
            </p:cNvCxnSpPr>
            <p:nvPr/>
          </p:nvCxnSpPr>
          <p:spPr>
            <a:xfrm rot="20988654" flipH="1">
              <a:off x="3089202" y="3657040"/>
              <a:ext cx="144338" cy="69113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86C274B-2A30-48AB-A87D-0B37B52FA0D8}"/>
                  </a:ext>
                </a:extLst>
              </p:cNvPr>
              <p:cNvSpPr txBox="1"/>
              <p:nvPr/>
            </p:nvSpPr>
            <p:spPr>
              <a:xfrm>
                <a:off x="1597977" y="5691695"/>
                <a:ext cx="114763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 </m:t>
                      </m:r>
                      <m:r>
                        <a:rPr lang="en-AU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86C274B-2A30-48AB-A87D-0B37B52FA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977" y="5691695"/>
                <a:ext cx="1147637" cy="276999"/>
              </a:xfrm>
              <a:prstGeom prst="rect">
                <a:avLst/>
              </a:prstGeom>
              <a:blipFill>
                <a:blip r:embed="rId5"/>
                <a:stretch>
                  <a:fillRect b="-3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9143FE77-FC22-419C-A466-6535FAAADF64}"/>
              </a:ext>
            </a:extLst>
          </p:cNvPr>
          <p:cNvGrpSpPr/>
          <p:nvPr/>
        </p:nvGrpSpPr>
        <p:grpSpPr>
          <a:xfrm>
            <a:off x="2185163" y="4831126"/>
            <a:ext cx="782418" cy="1135392"/>
            <a:chOff x="2679630" y="3943811"/>
            <a:chExt cx="695230" cy="1593445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F70FBC0-AC8D-49A2-9E71-378DA0CFB39F}"/>
                </a:ext>
              </a:extLst>
            </p:cNvPr>
            <p:cNvCxnSpPr>
              <a:stCxn id="27" idx="7"/>
            </p:cNvCxnSpPr>
            <p:nvPr/>
          </p:nvCxnSpPr>
          <p:spPr>
            <a:xfrm flipV="1">
              <a:off x="3010370" y="3943811"/>
              <a:ext cx="364490" cy="127413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E49D36A-65BC-4B05-8DED-AA4BFE983D9E}"/>
                </a:ext>
              </a:extLst>
            </p:cNvPr>
            <p:cNvSpPr/>
            <p:nvPr/>
          </p:nvSpPr>
          <p:spPr>
            <a:xfrm>
              <a:off x="2679630" y="5163155"/>
              <a:ext cx="387486" cy="374101"/>
            </a:xfrm>
            <a:prstGeom prst="ellipse">
              <a:avLst/>
            </a:pr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9F72E71B-3BD1-4D61-BC1A-6CDBB6AC957B}"/>
              </a:ext>
            </a:extLst>
          </p:cNvPr>
          <p:cNvSpPr txBox="1"/>
          <p:nvPr/>
        </p:nvSpPr>
        <p:spPr>
          <a:xfrm>
            <a:off x="2383040" y="5285492"/>
            <a:ext cx="556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-3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0982F7-46DE-4148-BFA9-84F74702D4F6}"/>
              </a:ext>
            </a:extLst>
          </p:cNvPr>
          <p:cNvSpPr txBox="1"/>
          <p:nvPr/>
        </p:nvSpPr>
        <p:spPr>
          <a:xfrm>
            <a:off x="2753857" y="4567793"/>
            <a:ext cx="753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63704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4" grpId="0"/>
      <p:bldP spid="28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41436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09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Quadratics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14/11/2018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sketch a parabola with a table of values?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7BDE29C-46B9-4350-84E1-44D3B5C032AC}"/>
              </a:ext>
            </a:extLst>
          </p:cNvPr>
          <p:cNvCxnSpPr>
            <a:cxnSpLocks/>
          </p:cNvCxnSpPr>
          <p:nvPr/>
        </p:nvCxnSpPr>
        <p:spPr>
          <a:xfrm>
            <a:off x="8726156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4A73A5E-8C8A-4688-A80D-88C0254517EB}"/>
              </a:ext>
            </a:extLst>
          </p:cNvPr>
          <p:cNvSpPr txBox="1"/>
          <p:nvPr/>
        </p:nvSpPr>
        <p:spPr>
          <a:xfrm>
            <a:off x="1508082" y="1349094"/>
            <a:ext cx="67512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The table with the calculated y-values looks like this.</a:t>
            </a:r>
          </a:p>
          <a:p>
            <a:r>
              <a:rPr lang="en-AU" sz="2000" dirty="0"/>
              <a:t>  Examples are y =x</a:t>
            </a:r>
            <a:r>
              <a:rPr lang="en-AU" sz="2000" baseline="30000" dirty="0"/>
              <a:t>2</a:t>
            </a:r>
            <a:r>
              <a:rPr lang="en-AU" sz="2000" dirty="0"/>
              <a:t>   ,  y = 3x</a:t>
            </a:r>
            <a:r>
              <a:rPr lang="en-AU" sz="2000" baseline="30000" dirty="0"/>
              <a:t>2</a:t>
            </a:r>
            <a:r>
              <a:rPr lang="en-AU" sz="2000" dirty="0"/>
              <a:t> + 2x + 6,  y = -4x</a:t>
            </a:r>
            <a:r>
              <a:rPr lang="en-AU" sz="2000" baseline="30000" dirty="0"/>
              <a:t>2</a:t>
            </a:r>
            <a:r>
              <a:rPr lang="en-AU" sz="2000" dirty="0"/>
              <a:t> - 5</a:t>
            </a:r>
          </a:p>
          <a:p>
            <a:endParaRPr lang="en-AU"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029182-3D1D-4561-A3F6-418660AC91A1}"/>
              </a:ext>
            </a:extLst>
          </p:cNvPr>
          <p:cNvSpPr/>
          <p:nvPr/>
        </p:nvSpPr>
        <p:spPr>
          <a:xfrm>
            <a:off x="8726155" y="1328397"/>
            <a:ext cx="333662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1. To graph a parabola create a table with x values. </a:t>
            </a:r>
          </a:p>
          <a:p>
            <a:r>
              <a:rPr lang="en-AU" dirty="0"/>
              <a:t>(I have used x= -3 to x= 3)</a:t>
            </a:r>
          </a:p>
          <a:p>
            <a:endParaRPr lang="en-AU" dirty="0"/>
          </a:p>
          <a:p>
            <a:r>
              <a:rPr lang="en-AU" dirty="0"/>
              <a:t>2. Substitute the x values into the equation to calculate y values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90F26E-EDCB-4128-AD5A-B2FD7AAB848D}"/>
              </a:ext>
            </a:extLst>
          </p:cNvPr>
          <p:cNvSpPr txBox="1"/>
          <p:nvPr/>
        </p:nvSpPr>
        <p:spPr>
          <a:xfrm>
            <a:off x="1508081" y="2142188"/>
            <a:ext cx="42562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/>
              <a:t>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0329C5C-EE77-4C11-8781-1179710C97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673231"/>
              </p:ext>
            </p:extLst>
          </p:nvPr>
        </p:nvGraphicFramePr>
        <p:xfrm>
          <a:off x="1837874" y="2518321"/>
          <a:ext cx="6254896" cy="8863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8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18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18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18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18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011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228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1" dirty="0">
                          <a:solidFill>
                            <a:srgbClr val="0070C0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1" dirty="0">
                          <a:solidFill>
                            <a:srgbClr val="0070C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1" dirty="0">
                          <a:solidFill>
                            <a:srgbClr val="0070C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1" dirty="0">
                          <a:solidFill>
                            <a:srgbClr val="0070C0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7F4F2C8F-A2DC-4DE3-BF42-C485BFACDDCE}"/>
              </a:ext>
            </a:extLst>
          </p:cNvPr>
          <p:cNvSpPr txBox="1"/>
          <p:nvPr/>
        </p:nvSpPr>
        <p:spPr>
          <a:xfrm>
            <a:off x="1522626" y="3529750"/>
            <a:ext cx="6659779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50" b="1" dirty="0"/>
              <a:t>These values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</a:t>
            </a:r>
            <a:endParaRPr lang="en-AU" sz="20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0FA28FD-8C55-47AF-A3B1-A1E91D62D696}"/>
              </a:ext>
            </a:extLst>
          </p:cNvPr>
          <p:cNvCxnSpPr>
            <a:cxnSpLocks/>
          </p:cNvCxnSpPr>
          <p:nvPr/>
        </p:nvCxnSpPr>
        <p:spPr>
          <a:xfrm flipH="1">
            <a:off x="1837873" y="2780698"/>
            <a:ext cx="1031929" cy="12340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4F9E5CF-C4B0-460C-B7A3-6E4F1E0A5664}"/>
              </a:ext>
            </a:extLst>
          </p:cNvPr>
          <p:cNvCxnSpPr>
            <a:cxnSpLocks/>
          </p:cNvCxnSpPr>
          <p:nvPr/>
        </p:nvCxnSpPr>
        <p:spPr>
          <a:xfrm flipH="1">
            <a:off x="2205382" y="3271038"/>
            <a:ext cx="758608" cy="74369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0317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DF1B0DDB-E040-46B8-A22F-FD18BC7A30B8}"/>
              </a:ext>
            </a:extLst>
          </p:cNvPr>
          <p:cNvGrpSpPr/>
          <p:nvPr/>
        </p:nvGrpSpPr>
        <p:grpSpPr>
          <a:xfrm>
            <a:off x="2493326" y="3073151"/>
            <a:ext cx="4946330" cy="3416320"/>
            <a:chOff x="2597525" y="2152071"/>
            <a:chExt cx="4946330" cy="3416320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1185D1AE-95E4-488F-B323-D3813B116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55887" y="2160949"/>
              <a:ext cx="4204342" cy="3314353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D11AB2E-817A-49D3-AAE8-8C619F27E243}"/>
                </a:ext>
              </a:extLst>
            </p:cNvPr>
            <p:cNvSpPr txBox="1"/>
            <p:nvPr/>
          </p:nvSpPr>
          <p:spPr>
            <a:xfrm>
              <a:off x="2597525" y="4644859"/>
              <a:ext cx="49463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800" dirty="0"/>
                <a:t>       -7      -6      -5       -4        -3       -2      -1        0        1        2        3         4        5         6        7        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5ABF0B6-393C-4180-BA96-A29B0206D306}"/>
                </a:ext>
              </a:extLst>
            </p:cNvPr>
            <p:cNvCxnSpPr/>
            <p:nvPr/>
          </p:nvCxnSpPr>
          <p:spPr>
            <a:xfrm>
              <a:off x="2855887" y="4687415"/>
              <a:ext cx="4204342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DB9BB0E-7EE2-4319-9899-F38190CF9C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93570" y="2160949"/>
              <a:ext cx="0" cy="3314353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7AA74A3-BA55-48E4-98E3-F834FA23633F}"/>
                </a:ext>
              </a:extLst>
            </p:cNvPr>
            <p:cNvSpPr txBox="1"/>
            <p:nvPr/>
          </p:nvSpPr>
          <p:spPr>
            <a:xfrm>
              <a:off x="4705165" y="2152071"/>
              <a:ext cx="365525" cy="341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       9</a:t>
              </a:r>
            </a:p>
            <a:p>
              <a:pPr algn="r"/>
              <a:r>
                <a:rPr lang="en-AU" sz="800" dirty="0"/>
                <a:t>      8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     </a:t>
              </a:r>
            </a:p>
            <a:p>
              <a:pPr algn="r"/>
              <a:r>
                <a:rPr lang="en-AU" sz="800" dirty="0"/>
                <a:t>5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4 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3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2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1 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0 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1 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2 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3</a:t>
              </a:r>
            </a:p>
          </p:txBody>
        </p:sp>
      </p:grpSp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41436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09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Quadratics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14/11/2018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sketch a parabola with a table of values?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7BDE29C-46B9-4350-84E1-44D3B5C032AC}"/>
              </a:ext>
            </a:extLst>
          </p:cNvPr>
          <p:cNvCxnSpPr>
            <a:cxnSpLocks/>
          </p:cNvCxnSpPr>
          <p:nvPr/>
        </p:nvCxnSpPr>
        <p:spPr>
          <a:xfrm>
            <a:off x="8726156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B029182-3D1D-4561-A3F6-418660AC91A1}"/>
              </a:ext>
            </a:extLst>
          </p:cNvPr>
          <p:cNvSpPr/>
          <p:nvPr/>
        </p:nvSpPr>
        <p:spPr>
          <a:xfrm>
            <a:off x="8726155" y="1328397"/>
            <a:ext cx="333662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1. To graph a parabola create a table with x values. </a:t>
            </a:r>
          </a:p>
          <a:p>
            <a:r>
              <a:rPr lang="en-AU" dirty="0"/>
              <a:t>(I have used x= -3 to x= 3)</a:t>
            </a:r>
          </a:p>
          <a:p>
            <a:endParaRPr lang="en-AU" dirty="0"/>
          </a:p>
          <a:p>
            <a:r>
              <a:rPr lang="en-AU" dirty="0"/>
              <a:t>2. Substitute the x values into the equation to calculate y values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97D1645-0501-4A6F-8CDA-D12AA6CAB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141165"/>
              </p:ext>
            </p:extLst>
          </p:nvPr>
        </p:nvGraphicFramePr>
        <p:xfrm>
          <a:off x="1825804" y="1672484"/>
          <a:ext cx="6096000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138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1" dirty="0">
                          <a:solidFill>
                            <a:srgbClr val="00B0F0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1" dirty="0">
                          <a:solidFill>
                            <a:srgbClr val="00B0F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1" dirty="0">
                          <a:solidFill>
                            <a:srgbClr val="00B0F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1" dirty="0">
                          <a:solidFill>
                            <a:srgbClr val="00B0F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1" dirty="0">
                          <a:solidFill>
                            <a:srgbClr val="00B0F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1" dirty="0">
                          <a:solidFill>
                            <a:srgbClr val="00B0F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1" dirty="0">
                          <a:solidFill>
                            <a:srgbClr val="00B0F0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11D6E0F5-D619-4016-AAB2-B39B4F06AAF8}"/>
              </a:ext>
            </a:extLst>
          </p:cNvPr>
          <p:cNvSpPr txBox="1"/>
          <p:nvPr/>
        </p:nvSpPr>
        <p:spPr>
          <a:xfrm>
            <a:off x="1623274" y="2409084"/>
            <a:ext cx="6140274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), (-2,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), (-1,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(0, </a:t>
            </a:r>
            <a:r>
              <a:rPr lang="en-AU" sz="2000" b="1" dirty="0">
                <a:solidFill>
                  <a:srgbClr val="002060"/>
                </a:solidFill>
              </a:rPr>
              <a:t>0</a:t>
            </a:r>
            <a:r>
              <a:rPr lang="en-AU" sz="2000" b="1" dirty="0"/>
              <a:t>), (1,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(2,</a:t>
            </a:r>
            <a:r>
              <a:rPr lang="en-AU" sz="2000" b="1" dirty="0">
                <a:solidFill>
                  <a:srgbClr val="002060"/>
                </a:solidFill>
              </a:rPr>
              <a:t> 4</a:t>
            </a:r>
            <a:r>
              <a:rPr lang="en-AU" sz="2000" b="1" dirty="0"/>
              <a:t>), (3,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</a:t>
            </a:r>
            <a:endParaRPr lang="en-AU" sz="2000" dirty="0"/>
          </a:p>
          <a:p>
            <a:endParaRPr lang="en-AU" sz="2000" dirty="0"/>
          </a:p>
          <a:p>
            <a:endParaRPr lang="en-AU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8A4192-5636-4F30-B71F-F122A73F7AD3}"/>
              </a:ext>
            </a:extLst>
          </p:cNvPr>
          <p:cNvSpPr txBox="1"/>
          <p:nvPr/>
        </p:nvSpPr>
        <p:spPr>
          <a:xfrm>
            <a:off x="1534088" y="1276712"/>
            <a:ext cx="30315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/>
              <a:t>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F30BBB9-00CD-491C-B1DE-FE3733CE58E9}"/>
              </a:ext>
            </a:extLst>
          </p:cNvPr>
          <p:cNvSpPr txBox="1"/>
          <p:nvPr/>
        </p:nvSpPr>
        <p:spPr>
          <a:xfrm>
            <a:off x="4870971" y="2888485"/>
            <a:ext cx="141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4F83BC9-1B13-42D6-B88A-64C8C46CE28A}"/>
              </a:ext>
            </a:extLst>
          </p:cNvPr>
          <p:cNvSpPr txBox="1"/>
          <p:nvPr/>
        </p:nvSpPr>
        <p:spPr>
          <a:xfrm>
            <a:off x="6841432" y="5533886"/>
            <a:ext cx="1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x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64D8770-44BB-4C1F-ADD8-B4BCF41B4005}"/>
              </a:ext>
            </a:extLst>
          </p:cNvPr>
          <p:cNvSpPr/>
          <p:nvPr/>
        </p:nvSpPr>
        <p:spPr>
          <a:xfrm>
            <a:off x="8726154" y="3491354"/>
            <a:ext cx="333662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3. Plot the co-ordinates onto the cartesian plane.</a:t>
            </a:r>
          </a:p>
          <a:p>
            <a:endParaRPr lang="en-AU" dirty="0"/>
          </a:p>
          <a:p>
            <a:r>
              <a:rPr lang="en-AU" dirty="0"/>
              <a:t>4. Without using a ruler, join the dots to create a smooth curve.</a:t>
            </a:r>
          </a:p>
        </p:txBody>
      </p:sp>
    </p:spTree>
    <p:extLst>
      <p:ext uri="{BB962C8B-B14F-4D97-AF65-F5344CB8AC3E}">
        <p14:creationId xmlns:p14="http://schemas.microsoft.com/office/powerpoint/2010/main" val="2058198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7AA91-8847-4137-9359-CA17402C1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8DD42-3FE8-4438-AAC8-E06C7F741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Dwyer 9 Exercise 4.6, page 55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7467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116" y="564794"/>
            <a:ext cx="5682580" cy="571080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06" y="1144303"/>
            <a:ext cx="3528058" cy="8090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529" y="2804643"/>
            <a:ext cx="3480815" cy="7838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5" y="4439764"/>
            <a:ext cx="3466980" cy="82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632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116" y="564794"/>
            <a:ext cx="5682580" cy="571080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606" y="1265366"/>
            <a:ext cx="3662389" cy="92809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608" y="2805669"/>
            <a:ext cx="3662389" cy="81931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609" y="4625693"/>
            <a:ext cx="3662389" cy="88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039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116" y="564794"/>
            <a:ext cx="5682580" cy="571080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988" y="1501702"/>
            <a:ext cx="3630695" cy="7730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349" y="3621024"/>
            <a:ext cx="3620188" cy="76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27805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406</TotalTime>
  <Words>613</Words>
  <Application>Microsoft Office PowerPoint</Application>
  <PresentationFormat>Widescreen</PresentationFormat>
  <Paragraphs>139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Cambria Math</vt:lpstr>
      <vt:lpstr>Century Gothic</vt:lpstr>
      <vt:lpstr>Kiwi School Handwriting</vt:lpstr>
      <vt:lpstr>Vapor Trail</vt:lpstr>
      <vt:lpstr>Topic: Quadratics</vt:lpstr>
      <vt:lpstr>PowerPoint Presentation</vt:lpstr>
      <vt:lpstr>PowerPoint Presentation</vt:lpstr>
      <vt:lpstr>PowerPoint Presentation</vt:lpstr>
      <vt:lpstr>PowerPoint Presentation</vt:lpstr>
      <vt:lpstr>TASK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Quadratics</dc:title>
  <dc:creator>Magdeline Lum</dc:creator>
  <cp:lastModifiedBy>Magdeline Lum</cp:lastModifiedBy>
  <cp:revision>9</cp:revision>
  <cp:lastPrinted>2018-11-14T00:55:26Z</cp:lastPrinted>
  <dcterms:created xsi:type="dcterms:W3CDTF">2018-11-13T06:04:40Z</dcterms:created>
  <dcterms:modified xsi:type="dcterms:W3CDTF">2018-11-14T06:47:03Z</dcterms:modified>
</cp:coreProperties>
</file>
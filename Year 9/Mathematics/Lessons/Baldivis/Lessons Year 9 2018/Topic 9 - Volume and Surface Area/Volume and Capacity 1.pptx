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6" r:id="rId4"/>
    <p:sldId id="260" r:id="rId5"/>
    <p:sldId id="267" r:id="rId6"/>
    <p:sldId id="258" r:id="rId7"/>
    <p:sldId id="262" r:id="rId8"/>
    <p:sldId id="263" r:id="rId9"/>
    <p:sldId id="264" r:id="rId10"/>
    <p:sldId id="259" r:id="rId11"/>
    <p:sldId id="265" r:id="rId12"/>
    <p:sldId id="25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1E444-07DF-4593-A56E-D65DDBED3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E5F2A-046D-4BA6-984A-03C39C7C9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57BA8-E198-43C3-BBDE-F3974317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5618A-423A-4A56-996E-8568C551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C6B97-1966-4B20-AFF3-ADB2F1C4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294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C1FC-F19C-4253-991E-195D5AC2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A9F8-2EF5-4760-9EFB-D4F43DC3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1AD87-F95C-4DB7-9140-BFE8C798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C86C6-8838-4EFB-AD18-863BA619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DCF90-8883-4AFC-9C95-B9EC5E29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155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B55F-2D53-43C5-8B8F-63BFB6B4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4F26-941A-4AD2-853B-AA6F0A9F2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91B78-6FA5-4FDD-B839-18F10EE9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94D8A-B27F-49D8-821E-88728F6B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78A5C-6706-4DA7-8F9E-5997FF7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412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581C-54DF-46BC-898C-266D9798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DFF50-B440-4808-9B91-5AFD759E5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D89CD-AEE0-46A0-85F8-23230A980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BE5CD-1233-49F5-B5A8-1A93E140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6AB5B-C680-4739-8365-A2EA1BC6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6AD2C-BB27-40EB-9BE0-07703000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049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A738-187A-4EAE-9EC7-5626ADAA2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4824C-4FC7-4A8B-A68A-DE51BCF00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3A85D-5980-43EA-B107-5E0C8F754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7C63C-79CF-49B0-BCF2-64D806C13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02AD1-4245-4F14-8971-1E6E4751D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D081D2-D5A0-4722-A7F1-E1EAE3A7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BE5B01-584A-48AC-B467-60F5843C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D63C3F-C9E2-444E-9F4C-38C35541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437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01DDB-9382-4B2D-80AC-53B9C89D9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A8261-5008-425D-9C03-26ABA8768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951E3B-4F2E-473D-9676-61CE8557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E935A-7B79-4486-BD55-200C9311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952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74E9F-C0BD-4C7F-8D80-4156A562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0453-2844-4285-BA19-40231D78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D6283-87DF-4462-9264-75CC0599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72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898B9-5A8A-430A-BC3F-E09B1838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F878E-C41E-466F-9B6B-9AAF0FD7F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7EEA8-B261-45E3-A5B6-38073DC67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F7E05-74DD-4D40-91AB-63548373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658EC-0BFB-40A9-B2F8-E29D48D7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93C49-2E88-4CE8-B0C8-87C7C506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313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C3A2-7288-4DEE-AE2B-CF355783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C1403-A5C0-4EDD-8866-9959F8E6F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9655C-D7CD-4D66-B658-30B48A0E4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E13CC-E045-4C86-A83F-8F2942C8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88F95-38A2-4692-BC75-BB54934D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C256-F7F6-4FC0-BE5B-7884A6F7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77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2702-086A-46AF-B9BD-D9298EA0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94BD8-7976-415C-BD4F-7E8F9C76D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A8066-BAF3-4A8B-B344-1A0A20A0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A35DE-C192-4B98-A034-435158D1D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5F525-4DAD-4095-818A-E5EEEC96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112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527BE-6143-4B71-B259-AAC525EC0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81109-02F6-447C-9454-CC8CEF45B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87648-06FD-41F3-93A7-6F10504D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1420B-67E4-46F0-B6A2-B5227BA5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972A0-3331-48EA-AE82-2D91B484E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56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ABCF0-B212-4336-A9FC-03ADBBD65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C197B-3E34-49F2-86D6-0A60067A5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396D8-FA1D-4DAE-8607-0DAD17C83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9281A-3C95-4E93-B903-993D5CF9C55D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773A0-BE63-4940-81E9-F721272CD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DD2A0-4C6D-4AB9-A56B-980BBD1B6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D3B41-7FAA-4F2C-9B44-8CB512985B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857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ED94-9E27-41DF-A6AB-CF8F824A5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28718"/>
          </a:xfrm>
        </p:spPr>
        <p:txBody>
          <a:bodyPr>
            <a:normAutofit fontScale="90000"/>
          </a:bodyPr>
          <a:lstStyle/>
          <a:p>
            <a:r>
              <a:rPr lang="en-AU" dirty="0"/>
              <a:t>Volume and Capacity </a:t>
            </a:r>
            <a:br>
              <a:rPr lang="en-AU" dirty="0"/>
            </a:br>
            <a:r>
              <a:rPr lang="en-AU" dirty="0"/>
              <a:t>EQ: What is the relationship between volume and capacity?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C76B2-54F1-4984-9C17-6789BC40B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38" y="2093844"/>
            <a:ext cx="4399032" cy="439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4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A37F-0778-4051-8436-9C5788A294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The Pun wall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089D0-F298-43A6-A746-9CFA29BC1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Can you think of any?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3019C5-48DF-4070-BD7E-4A83B55F6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59" y="2686169"/>
            <a:ext cx="2852293" cy="32190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32FDE7-E942-442C-9B0A-81A216938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470" y="0"/>
            <a:ext cx="3578453" cy="2686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74687A-E9C2-45B0-8702-7C91C208C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2" y="-2226"/>
            <a:ext cx="2686169" cy="26992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3596E5-0587-4B13-B3CF-233A1F92FF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941" y="22209"/>
            <a:ext cx="3561823" cy="22003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CD1C63-8951-4AC7-AFF5-E7B705A4CD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723" y="3978931"/>
            <a:ext cx="2948935" cy="29489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DFFF627-E5BD-4928-BB71-1CBBD6B170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480" y="3127513"/>
            <a:ext cx="3084520" cy="37082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CA667F-5AF4-4B9E-82C4-3E2200C63A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209" y="3975241"/>
            <a:ext cx="3073100" cy="29489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C65F45E-C6A3-4318-AA88-16015017B9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261" y="-2226"/>
            <a:ext cx="3129739" cy="312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9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5F49-DF23-44ED-9248-B6ED9362A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Always warm up so you don’t pull a brain cell.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303D8D-10FC-4F0B-B889-549C3E0A5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370" t="55803" r="44863" b="32925"/>
          <a:stretch/>
        </p:blipFill>
        <p:spPr>
          <a:xfrm>
            <a:off x="0" y="2584174"/>
            <a:ext cx="6016487" cy="1325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EC03EB-40CD-458A-BE50-560E163B74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956" t="47148" r="44189" b="43338"/>
          <a:stretch/>
        </p:blipFill>
        <p:spPr>
          <a:xfrm>
            <a:off x="185531" y="1503333"/>
            <a:ext cx="5830956" cy="10808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438103-E1AC-4F88-8030-B80BF315FE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349" t="30522" r="57607" b="21907"/>
          <a:stretch/>
        </p:blipFill>
        <p:spPr>
          <a:xfrm>
            <a:off x="6175515" y="1463921"/>
            <a:ext cx="3392700" cy="5028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7596A5-CCE5-4695-A046-CA4CF09AA576}"/>
              </a:ext>
            </a:extLst>
          </p:cNvPr>
          <p:cNvSpPr txBox="1"/>
          <p:nvPr/>
        </p:nvSpPr>
        <p:spPr>
          <a:xfrm>
            <a:off x="10442713" y="1921565"/>
            <a:ext cx="13782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areas of the following composite shapes </a:t>
            </a:r>
          </a:p>
        </p:txBody>
      </p:sp>
    </p:spTree>
    <p:extLst>
      <p:ext uri="{BB962C8B-B14F-4D97-AF65-F5344CB8AC3E}">
        <p14:creationId xmlns:p14="http://schemas.microsoft.com/office/powerpoint/2010/main" val="3484122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B5BB-D889-4717-8AA5-D05516703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87230"/>
          </a:xfrm>
        </p:spPr>
        <p:txBody>
          <a:bodyPr>
            <a:normAutofit fontScale="90000"/>
          </a:bodyPr>
          <a:lstStyle/>
          <a:p>
            <a:r>
              <a:rPr lang="en-AU" dirty="0"/>
              <a:t>Volume and Capacity</a:t>
            </a:r>
            <a:br>
              <a:rPr lang="en-AU" dirty="0"/>
            </a:br>
            <a:r>
              <a:rPr lang="en-AU" dirty="0"/>
              <a:t>EQ: What is the relationship between volume and capacity?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64249-42B3-4B3A-B938-59DC0F358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  <a:p>
            <a:r>
              <a:rPr lang="en-US" altLang="en-US" dirty="0"/>
              <a:t>Volume - The volume of a three-dimensional figure is the amount of space within it. </a:t>
            </a:r>
          </a:p>
          <a:p>
            <a:r>
              <a:rPr lang="en-AU" altLang="en-US" dirty="0"/>
              <a:t>Measured in Units Cubed (e.g. cm3)</a:t>
            </a:r>
          </a:p>
          <a:p>
            <a:r>
              <a:rPr lang="en-AU" altLang="en-US" dirty="0"/>
              <a:t>Volume and capacity are related. </a:t>
            </a:r>
          </a:p>
          <a:p>
            <a:r>
              <a:rPr lang="en-AU" altLang="en-US" dirty="0"/>
              <a:t>Capacity is the amount of material (usually liquid) that a container can hold. </a:t>
            </a:r>
          </a:p>
          <a:p>
            <a:r>
              <a:rPr lang="en-AU" altLang="en-US" dirty="0"/>
              <a:t>Capacity is measured in millilitres, litres and kilolitres.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065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1FCC-57F4-4E7B-8818-CE0D237C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 on Volume Prism Formulas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971B0C-D9D2-4C70-B638-4062E3C0E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576" t="19244" r="22261" b="7952"/>
          <a:stretch/>
        </p:blipFill>
        <p:spPr>
          <a:xfrm>
            <a:off x="198783" y="1311965"/>
            <a:ext cx="7394713" cy="538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11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373F8-302E-4131-9CC4-C49FA3EC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/>
              <a:t>How does Volume relate to Capacity?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80549-1B65-41B7-BEB7-EFCCF05AFEC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AU" altLang="en-US" sz="3600" b="1" dirty="0"/>
              <a:t>1000 mL = 1 L</a:t>
            </a:r>
          </a:p>
          <a:p>
            <a:pPr>
              <a:lnSpc>
                <a:spcPct val="90000"/>
              </a:lnSpc>
            </a:pPr>
            <a:endParaRPr lang="en-AU" altLang="en-US" sz="3600" b="1" dirty="0"/>
          </a:p>
          <a:p>
            <a:pPr>
              <a:lnSpc>
                <a:spcPct val="90000"/>
              </a:lnSpc>
            </a:pPr>
            <a:r>
              <a:rPr lang="en-AU" altLang="en-US" sz="3600" b="1" dirty="0"/>
              <a:t>1000 L = 1 </a:t>
            </a:r>
            <a:r>
              <a:rPr lang="en-AU" altLang="en-US" sz="3600" b="1" dirty="0" err="1"/>
              <a:t>kL</a:t>
            </a:r>
            <a:endParaRPr lang="en-AU" altLang="en-US" sz="3600" b="1" dirty="0"/>
          </a:p>
          <a:p>
            <a:pPr>
              <a:lnSpc>
                <a:spcPct val="90000"/>
              </a:lnSpc>
            </a:pPr>
            <a:endParaRPr lang="en-AU" altLang="en-US" sz="3600" b="1" dirty="0"/>
          </a:p>
          <a:p>
            <a:pPr>
              <a:lnSpc>
                <a:spcPct val="90000"/>
              </a:lnSpc>
            </a:pPr>
            <a:r>
              <a:rPr lang="en-AU" altLang="en-US" sz="3600" b="1" dirty="0"/>
              <a:t>1 cm</a:t>
            </a:r>
            <a:r>
              <a:rPr lang="en-AU" altLang="en-US" sz="3600" b="1" baseline="30000" dirty="0"/>
              <a:t>3</a:t>
            </a:r>
            <a:r>
              <a:rPr lang="en-AU" altLang="en-US" sz="3600" b="1" dirty="0"/>
              <a:t> = 1 mL</a:t>
            </a:r>
          </a:p>
          <a:p>
            <a:pPr>
              <a:lnSpc>
                <a:spcPct val="90000"/>
              </a:lnSpc>
            </a:pPr>
            <a:endParaRPr lang="en-AU" altLang="en-US" sz="3600" b="1" dirty="0"/>
          </a:p>
          <a:p>
            <a:pPr>
              <a:lnSpc>
                <a:spcPct val="90000"/>
              </a:lnSpc>
            </a:pPr>
            <a:r>
              <a:rPr lang="en-AU" altLang="en-US" sz="3600" b="1" dirty="0"/>
              <a:t>1,000cm</a:t>
            </a:r>
            <a:r>
              <a:rPr lang="en-AU" altLang="en-US" sz="3600" b="1" baseline="30000" dirty="0"/>
              <a:t>3</a:t>
            </a:r>
            <a:r>
              <a:rPr lang="en-AU" altLang="en-US" sz="3600" b="1" dirty="0"/>
              <a:t> = 1000ml = 1L</a:t>
            </a:r>
          </a:p>
          <a:p>
            <a:pPr>
              <a:lnSpc>
                <a:spcPct val="90000"/>
              </a:lnSpc>
            </a:pPr>
            <a:endParaRPr lang="en-AU" altLang="en-US" sz="3600" b="1" dirty="0"/>
          </a:p>
          <a:p>
            <a:pPr>
              <a:lnSpc>
                <a:spcPct val="90000"/>
              </a:lnSpc>
            </a:pPr>
            <a:r>
              <a:rPr lang="en-AU" altLang="en-US" sz="3600" b="1" dirty="0"/>
              <a:t>1 m</a:t>
            </a:r>
            <a:r>
              <a:rPr lang="en-AU" altLang="en-US" sz="3600" b="1" baseline="30000" dirty="0"/>
              <a:t>3</a:t>
            </a:r>
            <a:r>
              <a:rPr lang="en-AU" altLang="en-US" sz="3600" b="1" dirty="0"/>
              <a:t> = 1000 L = 1 </a:t>
            </a:r>
            <a:r>
              <a:rPr lang="en-AU" altLang="en-US" sz="3600" b="1" dirty="0" err="1"/>
              <a:t>kL</a:t>
            </a:r>
            <a:endParaRPr lang="en-AU" altLang="en-US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48C26-5DC9-483E-98EA-4576708645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874" t="41348" r="33805" b="47245"/>
          <a:stretch/>
        </p:blipFill>
        <p:spPr>
          <a:xfrm>
            <a:off x="6785112" y="1510747"/>
            <a:ext cx="5304697" cy="1524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10D9A1-29EF-476F-9E02-19E117BF72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761" t="55752" r="38804" b="32939"/>
          <a:stretch/>
        </p:blipFill>
        <p:spPr>
          <a:xfrm>
            <a:off x="5518580" y="3429000"/>
            <a:ext cx="6395125" cy="133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64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CB62-1C3D-4A42-AB30-4A596E4C4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3FA1B3-24FE-4630-8D8D-DE0A3AB3B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391" t="56534" r="33391" b="22133"/>
          <a:stretch/>
        </p:blipFill>
        <p:spPr>
          <a:xfrm>
            <a:off x="0" y="0"/>
            <a:ext cx="9806609" cy="3798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692FE-7C89-4D92-8C17-D1DC5F03A5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48" t="69188" r="31848" b="12252"/>
          <a:stretch/>
        </p:blipFill>
        <p:spPr>
          <a:xfrm>
            <a:off x="0" y="3798031"/>
            <a:ext cx="9806609" cy="28186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5F1722-EAF9-4600-8B75-0F6964AAFEF6}"/>
              </a:ext>
            </a:extLst>
          </p:cNvPr>
          <p:cNvSpPr txBox="1"/>
          <p:nvPr/>
        </p:nvSpPr>
        <p:spPr>
          <a:xfrm>
            <a:off x="10204174" y="2054087"/>
            <a:ext cx="1842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Practise converting units in volume and units in capacity.</a:t>
            </a:r>
          </a:p>
        </p:txBody>
      </p:sp>
    </p:spTree>
    <p:extLst>
      <p:ext uri="{BB962C8B-B14F-4D97-AF65-F5344CB8AC3E}">
        <p14:creationId xmlns:p14="http://schemas.microsoft.com/office/powerpoint/2010/main" val="188097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1DAF-4841-45A0-BECB-73F57461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Volume and Capacity practise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369362-B41B-47A2-ACE9-C5518F462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372" t="23524" r="25856" b="19220"/>
          <a:stretch/>
        </p:blipFill>
        <p:spPr>
          <a:xfrm>
            <a:off x="357808" y="1364974"/>
            <a:ext cx="7827380" cy="52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6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A841-8F32-4FE9-B322-40320C04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F6ED55-1DB7-4BD6-85F8-094459D22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713" t="22000" r="26371" b="6125"/>
          <a:stretch/>
        </p:blipFill>
        <p:spPr>
          <a:xfrm>
            <a:off x="-39757" y="-1"/>
            <a:ext cx="7991061" cy="68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27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5419-9676-40CD-9FC6-72059876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4F75ED-8FC8-4E81-B075-533BA08CCA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5774"/>
            <a:ext cx="9297830" cy="598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7613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D6BE-5016-41DE-BD1F-5C7BF6BCC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Competition Questions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2FB784-0665-4E91-B169-BBABFEC0C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768" t="52456" r="26542" b="12216"/>
          <a:stretch/>
        </p:blipFill>
        <p:spPr>
          <a:xfrm>
            <a:off x="318051" y="1690688"/>
            <a:ext cx="11314143" cy="50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863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D36E-F3AF-4F0C-94B5-62CE0579E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Fermi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00899-AF4A-447E-B807-CD264B3FB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If I filled a Olympic Swimming pool with Fanta how many aluminium cans would it take to empty the pool?</a:t>
            </a:r>
          </a:p>
          <a:p>
            <a:r>
              <a:rPr lang="en-AU" dirty="0"/>
              <a:t>You will have to make assumptions make sure you write them down and show your mathematical reasoning?</a:t>
            </a:r>
          </a:p>
        </p:txBody>
      </p:sp>
    </p:spTree>
    <p:extLst>
      <p:ext uri="{BB962C8B-B14F-4D97-AF65-F5344CB8AC3E}">
        <p14:creationId xmlns:p14="http://schemas.microsoft.com/office/powerpoint/2010/main" val="784339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CE74-1050-4511-92FE-84805FE7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Thankyou and have a wonderful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2B276-B496-4493-9624-6EFC4BFE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Recommendations to improve this lesson: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BBC2C-AF01-4515-AA30-22D1106B4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878" y="2271713"/>
            <a:ext cx="5137910" cy="441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22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202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Volume and Capacity  EQ: What is the relationship between volume and capacity? </vt:lpstr>
      <vt:lpstr>The Pun wall</vt:lpstr>
      <vt:lpstr>Always warm up so you don’t pull a brain cell.</vt:lpstr>
      <vt:lpstr>Volume and Capacity EQ: What is the relationship between volume and capacity?</vt:lpstr>
      <vt:lpstr>Review on Volume Prism Formulas</vt:lpstr>
      <vt:lpstr>How does Volume relate to Capacity?</vt:lpstr>
      <vt:lpstr>PowerPoint Presentation</vt:lpstr>
      <vt:lpstr>Volume and Capacity practise</vt:lpstr>
      <vt:lpstr>PowerPoint Presentation</vt:lpstr>
      <vt:lpstr>PowerPoint Presentation</vt:lpstr>
      <vt:lpstr>Competition Questions </vt:lpstr>
      <vt:lpstr>Fermi Question</vt:lpstr>
      <vt:lpstr>Thankyou and have a wonderful 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and Capacity</dc:title>
  <dc:creator>CRAIG Mason [Baldivis Secondary College]</dc:creator>
  <cp:lastModifiedBy>CRAIG Mason [Baldivis Secondary College]</cp:lastModifiedBy>
  <cp:revision>10</cp:revision>
  <dcterms:created xsi:type="dcterms:W3CDTF">2018-08-13T13:13:27Z</dcterms:created>
  <dcterms:modified xsi:type="dcterms:W3CDTF">2018-08-13T14:39:49Z</dcterms:modified>
</cp:coreProperties>
</file>
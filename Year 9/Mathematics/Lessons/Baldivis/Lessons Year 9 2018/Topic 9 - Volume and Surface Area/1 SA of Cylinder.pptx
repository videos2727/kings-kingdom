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261" r:id="rId5"/>
    <p:sldId id="342" r:id="rId6"/>
    <p:sldId id="353" r:id="rId7"/>
    <p:sldId id="366" r:id="rId8"/>
    <p:sldId id="354" r:id="rId9"/>
    <p:sldId id="355" r:id="rId10"/>
    <p:sldId id="356" r:id="rId11"/>
    <p:sldId id="357" r:id="rId12"/>
    <p:sldId id="352" r:id="rId13"/>
    <p:sldId id="359" r:id="rId14"/>
    <p:sldId id="358" r:id="rId15"/>
    <p:sldId id="368" r:id="rId16"/>
    <p:sldId id="339" r:id="rId17"/>
    <p:sldId id="362" r:id="rId18"/>
    <p:sldId id="363" r:id="rId19"/>
    <p:sldId id="361" r:id="rId20"/>
    <p:sldId id="369" r:id="rId21"/>
    <p:sldId id="374" r:id="rId22"/>
    <p:sldId id="373" r:id="rId23"/>
    <p:sldId id="370" r:id="rId24"/>
    <p:sldId id="371" r:id="rId25"/>
    <p:sldId id="372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0" autoAdjust="0"/>
    <p:restoredTop sz="94660"/>
  </p:normalViewPr>
  <p:slideViewPr>
    <p:cSldViewPr>
      <p:cViewPr varScale="1">
        <p:scale>
          <a:sx n="108" d="100"/>
          <a:sy n="108" d="100"/>
        </p:scale>
        <p:origin x="125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2/8/18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Perimeter, Area and Volume 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Name </a:t>
            </a:r>
          </a:p>
          <a:p>
            <a:r>
              <a:rPr lang="en-AU" dirty="0"/>
              <a:t>Class </a:t>
            </a:r>
          </a:p>
          <a:p>
            <a:r>
              <a:rPr lang="en-AU"/>
              <a:t>Term 3 Semester 2</a:t>
            </a:r>
            <a:endParaRPr lang="en-AU" dirty="0"/>
          </a:p>
        </p:txBody>
      </p:sp>
      <p:sp>
        <p:nvSpPr>
          <p:cNvPr id="4" name="Isosceles Triangle 3"/>
          <p:cNvSpPr/>
          <p:nvPr/>
        </p:nvSpPr>
        <p:spPr>
          <a:xfrm>
            <a:off x="333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rapezoid 4"/>
          <p:cNvSpPr/>
          <p:nvPr/>
        </p:nvSpPr>
        <p:spPr>
          <a:xfrm>
            <a:off x="2699792" y="2348880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Hexagon 5"/>
          <p:cNvSpPr/>
          <p:nvPr/>
        </p:nvSpPr>
        <p:spPr>
          <a:xfrm>
            <a:off x="5076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ecagon 6"/>
          <p:cNvSpPr/>
          <p:nvPr/>
        </p:nvSpPr>
        <p:spPr>
          <a:xfrm>
            <a:off x="7596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Pie 8"/>
          <p:cNvSpPr/>
          <p:nvPr/>
        </p:nvSpPr>
        <p:spPr>
          <a:xfrm>
            <a:off x="683568" y="4653136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8264" y="5301208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-Shape 10"/>
          <p:cNvSpPr/>
          <p:nvPr/>
        </p:nvSpPr>
        <p:spPr>
          <a:xfrm>
            <a:off x="323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7524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339752" y="3717032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What 2 shapes are required to make a cylinder?</a:t>
            </a:r>
          </a:p>
        </p:txBody>
      </p:sp>
      <p:sp>
        <p:nvSpPr>
          <p:cNvPr id="5" name="Flowchart: Direct Access Storage 4"/>
          <p:cNvSpPr/>
          <p:nvPr/>
        </p:nvSpPr>
        <p:spPr>
          <a:xfrm rot="16200000">
            <a:off x="2699792" y="2852936"/>
            <a:ext cx="3456384" cy="2304256"/>
          </a:xfrm>
          <a:prstGeom prst="flowChartMagneticDrum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7558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027" y="2501532"/>
            <a:ext cx="1390008" cy="15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72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p:sp>
        <p:nvSpPr>
          <p:cNvPr id="13" name="Flowchart: Magnetic Disk 12"/>
          <p:cNvSpPr/>
          <p:nvPr/>
        </p:nvSpPr>
        <p:spPr>
          <a:xfrm rot="5400000">
            <a:off x="3411873" y="2636912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428771" y="3320988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02336" y="3444332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731247" y="3878175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247" y="3878175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026453" y="1952597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2482" y="2141576"/>
            <a:ext cx="252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What does the net of a cylinder look like?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525249" y="3813664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249" y="3813664"/>
                <a:ext cx="3669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5468700" y="3231005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/>
          <p:cNvSpPr/>
          <p:nvPr/>
        </p:nvSpPr>
        <p:spPr>
          <a:xfrm>
            <a:off x="5892162" y="2463200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/>
          <p:cNvSpPr/>
          <p:nvPr/>
        </p:nvSpPr>
        <p:spPr>
          <a:xfrm>
            <a:off x="6030168" y="4740134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7" name="Straight Connector 26"/>
          <p:cNvCxnSpPr>
            <a:cxnSpLocks/>
          </p:cNvCxnSpPr>
          <p:nvPr/>
        </p:nvCxnSpPr>
        <p:spPr>
          <a:xfrm flipV="1">
            <a:off x="6254619" y="2862470"/>
            <a:ext cx="407" cy="394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228184" y="2787907"/>
            <a:ext cx="26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</a:t>
            </a:r>
          </a:p>
        </p:txBody>
      </p:sp>
      <p:cxnSp>
        <p:nvCxnSpPr>
          <p:cNvPr id="31" name="Straight Connector 30"/>
          <p:cNvCxnSpPr>
            <a:cxnSpLocks/>
          </p:cNvCxnSpPr>
          <p:nvPr/>
        </p:nvCxnSpPr>
        <p:spPr>
          <a:xfrm flipV="1">
            <a:off x="6415008" y="4748876"/>
            <a:ext cx="407" cy="3944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388573" y="4674313"/>
            <a:ext cx="26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18043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977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977382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700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cxnSpLocks/>
          </p:cNvCxnSpPr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514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230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668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993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230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668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659" y="5427550"/>
            <a:ext cx="2772682" cy="64633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TSA = 2 circles + 1 rectangle</a:t>
            </a:r>
          </a:p>
          <a:p>
            <a:r>
              <a:rPr lang="en-AU" dirty="0"/>
              <a:t>        =</a:t>
            </a:r>
          </a:p>
        </p:txBody>
      </p:sp>
    </p:spTree>
    <p:extLst>
      <p:ext uri="{BB962C8B-B14F-4D97-AF65-F5344CB8AC3E}">
        <p14:creationId xmlns:p14="http://schemas.microsoft.com/office/powerpoint/2010/main" val="91273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/>
              <a:t>How do we find the SA of a Cylinder?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417638"/>
            <a:ext cx="5196408" cy="519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22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230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668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85659" y="5427550"/>
                <a:ext cx="2772682" cy="64633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2 circles + 1 rectangle</a:t>
                </a:r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659" y="5427550"/>
                <a:ext cx="2772682" cy="646331"/>
              </a:xfrm>
              <a:prstGeom prst="rect">
                <a:avLst/>
              </a:prstGeom>
              <a:blipFill rotWithShape="1">
                <a:blip r:embed="rId5"/>
                <a:stretch>
                  <a:fillRect l="-1754" t="-3704" r="-1316" b="-12963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629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230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668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85659" y="5427550"/>
                <a:ext cx="2772682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2 circles + 1 rectangle</a:t>
                </a:r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𝑟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659" y="5427550"/>
                <a:ext cx="2772682" cy="923330"/>
              </a:xfrm>
              <a:prstGeom prst="rect">
                <a:avLst/>
              </a:prstGeom>
              <a:blipFill rotWithShape="1">
                <a:blip r:embed="rId5"/>
                <a:stretch>
                  <a:fillRect l="-1754" t="-2597" r="-1316" b="-844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681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4062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Surface Area 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the TSA of a cylinder.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340" y="419983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842791" y="3617174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6266253" y="2849369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6404259" y="5126303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2932228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𝐴𝑟𝑒𝑎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l-GR" b="0" i="1" smtClean="0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639" y="4288450"/>
                <a:ext cx="1410321" cy="3693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4211960" y="3233271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211960" y="4657782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044" y="3598949"/>
                <a:ext cx="616131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230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7668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932228" y="5832422"/>
                <a:ext cx="4348819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area of</a:t>
                </a:r>
                <a:r>
                  <a:rPr lang="en-AU" dirty="0">
                    <a:solidFill>
                      <a:schemeClr val="accent4">
                        <a:lumMod val="75000"/>
                      </a:schemeClr>
                    </a:solidFill>
                  </a:rPr>
                  <a:t> 2 x </a:t>
                </a:r>
                <a:r>
                  <a:rPr lang="en-AU" dirty="0">
                    <a:solidFill>
                      <a:srgbClr val="FF0000"/>
                    </a:solidFill>
                  </a:rPr>
                  <a:t>circles </a:t>
                </a:r>
                <a:r>
                  <a:rPr lang="en-AU" dirty="0"/>
                  <a:t>+ area of </a:t>
                </a:r>
                <a:r>
                  <a:rPr lang="en-AU" dirty="0">
                    <a:solidFill>
                      <a:schemeClr val="accent5">
                        <a:lumMod val="75000"/>
                      </a:schemeClr>
                    </a:solidFill>
                  </a:rPr>
                  <a:t>1 rectangle</a:t>
                </a:r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 b="0" i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b="0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l-GR" i="1">
                        <a:solidFill>
                          <a:srgbClr val="FF0000"/>
                        </a:solidFill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𝑟</m:t>
                    </m:r>
                    <m:r>
                      <a:rPr lang="en-AU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l-GR" i="1">
                        <a:solidFill>
                          <a:srgbClr val="FF0000"/>
                        </a:solidFill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</m:t>
                    </m:r>
                    <m:r>
                      <a:rPr lang="en-AU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228" y="5832422"/>
                <a:ext cx="4348819" cy="923330"/>
              </a:xfrm>
              <a:prstGeom prst="rect">
                <a:avLst/>
              </a:prstGeom>
              <a:blipFill rotWithShape="0">
                <a:blip r:embed="rId5"/>
                <a:stretch>
                  <a:fillRect l="-979" t="-3268" r="-559" b="-9150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72482" y="2141576"/>
            <a:ext cx="252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What is the net made up of?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71" y="5427550"/>
            <a:ext cx="252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How do I find the Surface Area?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492" y="3214621"/>
            <a:ext cx="3346307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We only need the radius and the height to calculate the SA of a cylinder</a:t>
            </a:r>
          </a:p>
        </p:txBody>
      </p:sp>
    </p:spTree>
    <p:extLst>
      <p:ext uri="{BB962C8B-B14F-4D97-AF65-F5344CB8AC3E}">
        <p14:creationId xmlns:p14="http://schemas.microsoft.com/office/powerpoint/2010/main" val="2578431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p:sp>
        <p:nvSpPr>
          <p:cNvPr id="5" name="Flowchart: Magnetic Disk 4"/>
          <p:cNvSpPr/>
          <p:nvPr/>
        </p:nvSpPr>
        <p:spPr>
          <a:xfrm rot="5400000">
            <a:off x="3411873" y="215606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428771" y="284013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75042" y="295165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3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/>
          <p:cNvCxnSpPr>
            <a:cxnSpLocks/>
          </p:cNvCxnSpPr>
          <p:nvPr/>
        </p:nvCxnSpPr>
        <p:spPr>
          <a:xfrm>
            <a:off x="4245759" y="4326451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Flowchart: Magnetic Disk 21"/>
          <p:cNvSpPr/>
          <p:nvPr/>
        </p:nvSpPr>
        <p:spPr>
          <a:xfrm>
            <a:off x="3474904" y="4402786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4266713" y="395711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4158" y="473227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</p:spTree>
    <p:extLst>
      <p:ext uri="{BB962C8B-B14F-4D97-AF65-F5344CB8AC3E}">
        <p14:creationId xmlns:p14="http://schemas.microsoft.com/office/powerpoint/2010/main" val="4222930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p:sp>
        <p:nvSpPr>
          <p:cNvPr id="5" name="Flowchart: Magnetic Disk 4"/>
          <p:cNvSpPr/>
          <p:nvPr/>
        </p:nvSpPr>
        <p:spPr>
          <a:xfrm rot="5400000">
            <a:off x="3411873" y="215606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428771" y="284013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75042" y="295165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3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796136" y="4304949"/>
                <a:ext cx="2032608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304949"/>
                <a:ext cx="2032608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388" t="-2597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245759" y="4326451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474904" y="4402786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266713" y="395711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4158" y="473227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</p:spTree>
    <p:extLst>
      <p:ext uri="{BB962C8B-B14F-4D97-AF65-F5344CB8AC3E}">
        <p14:creationId xmlns:p14="http://schemas.microsoft.com/office/powerpoint/2010/main" val="2655281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/>
          <p:cNvCxnSpPr>
            <a:cxnSpLocks/>
          </p:cNvCxnSpPr>
          <p:nvPr/>
        </p:nvCxnSpPr>
        <p:spPr>
          <a:xfrm>
            <a:off x="4245759" y="4326451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p:sp>
        <p:nvSpPr>
          <p:cNvPr id="5" name="Flowchart: Magnetic Disk 4"/>
          <p:cNvSpPr/>
          <p:nvPr/>
        </p:nvSpPr>
        <p:spPr>
          <a:xfrm rot="5400000">
            <a:off x="3411873" y="215606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428771" y="284013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75042" y="295165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owchart: Magnetic Disk 7"/>
          <p:cNvSpPr/>
          <p:nvPr/>
        </p:nvSpPr>
        <p:spPr>
          <a:xfrm>
            <a:off x="3474904" y="4402786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TextBox 19"/>
          <p:cNvSpPr txBox="1"/>
          <p:nvPr/>
        </p:nvSpPr>
        <p:spPr>
          <a:xfrm>
            <a:off x="4266713" y="395711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4158" y="473227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3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796136" y="4304949"/>
                <a:ext cx="2292679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304949"/>
                <a:ext cx="2292679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2116" t="-2597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963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p:sp>
        <p:nvSpPr>
          <p:cNvPr id="5" name="Flowchart: Magnetic Disk 4"/>
          <p:cNvSpPr/>
          <p:nvPr/>
        </p:nvSpPr>
        <p:spPr>
          <a:xfrm rot="5400000">
            <a:off x="3411873" y="215606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4428771" y="284013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75042" y="2951656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247" y="3397323"/>
                <a:ext cx="366913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3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796136" y="4304949"/>
                <a:ext cx="2292679" cy="94699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347.58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6" y="4304949"/>
                <a:ext cx="2292679" cy="946991"/>
              </a:xfrm>
              <a:prstGeom prst="rect">
                <a:avLst/>
              </a:prstGeom>
              <a:blipFill rotWithShape="1">
                <a:blip r:embed="rId4"/>
                <a:stretch>
                  <a:fillRect l="-2116" t="-2532" b="-5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245759" y="4326451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474904" y="4402786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266713" y="3957119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4158" y="473227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</p:spTree>
    <p:extLst>
      <p:ext uri="{BB962C8B-B14F-4D97-AF65-F5344CB8AC3E}">
        <p14:creationId xmlns:p14="http://schemas.microsoft.com/office/powerpoint/2010/main" val="1344456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2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347.58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blipFill>
                <a:blip r:embed="rId3"/>
                <a:stretch>
                  <a:fillRect l="-2116" t="-2532" b="-5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024681" y="3145632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253826" y="3221967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045635" y="27763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3080" y="355145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826" y="2036895"/>
            <a:ext cx="767012" cy="844387"/>
          </a:xfrm>
          <a:prstGeom prst="rect">
            <a:avLst/>
          </a:prstGeom>
        </p:spPr>
      </p:pic>
      <p:sp>
        <p:nvSpPr>
          <p:cNvPr id="21" name="Flowchart: Magnetic Disk 20"/>
          <p:cNvSpPr/>
          <p:nvPr/>
        </p:nvSpPr>
        <p:spPr>
          <a:xfrm rot="5400000">
            <a:off x="3322541" y="463344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339439" y="531751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85709" y="5429036"/>
            <a:ext cx="50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4339439" y="4725144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489836" y="4787740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836" y="4787740"/>
                <a:ext cx="2032608" cy="369332"/>
              </a:xfrm>
              <a:prstGeom prst="rect">
                <a:avLst/>
              </a:prstGeom>
              <a:blipFill>
                <a:blip r:embed="rId6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167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2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347.58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blipFill>
                <a:blip r:embed="rId3"/>
                <a:stretch>
                  <a:fillRect l="-2116" t="-2532" b="-5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024681" y="3145632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253826" y="3221967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045635" y="27763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3080" y="355145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826" y="2036895"/>
            <a:ext cx="767012" cy="844387"/>
          </a:xfrm>
          <a:prstGeom prst="rect">
            <a:avLst/>
          </a:prstGeom>
        </p:spPr>
      </p:pic>
      <p:sp>
        <p:nvSpPr>
          <p:cNvPr id="21" name="Flowchart: Magnetic Disk 20"/>
          <p:cNvSpPr/>
          <p:nvPr/>
        </p:nvSpPr>
        <p:spPr>
          <a:xfrm rot="5400000">
            <a:off x="3322541" y="463344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339439" y="531751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85709" y="5429036"/>
            <a:ext cx="50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4339439" y="4725144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489836" y="4787740"/>
                <a:ext cx="2292679" cy="64633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4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8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836" y="4787740"/>
                <a:ext cx="2292679" cy="646331"/>
              </a:xfrm>
              <a:prstGeom prst="rect">
                <a:avLst/>
              </a:prstGeom>
              <a:blipFill>
                <a:blip r:embed="rId6"/>
                <a:stretch>
                  <a:fillRect l="-2116" t="-3704" b="-12963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7897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2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347.58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blipFill>
                <a:blip r:embed="rId3"/>
                <a:stretch>
                  <a:fillRect l="-2116" t="-2532" b="-5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024681" y="3145632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253826" y="3221967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045635" y="27763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3080" y="355145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826" y="2036895"/>
            <a:ext cx="767012" cy="844387"/>
          </a:xfrm>
          <a:prstGeom prst="rect">
            <a:avLst/>
          </a:prstGeom>
        </p:spPr>
      </p:pic>
      <p:sp>
        <p:nvSpPr>
          <p:cNvPr id="21" name="Flowchart: Magnetic Disk 20"/>
          <p:cNvSpPr/>
          <p:nvPr/>
        </p:nvSpPr>
        <p:spPr>
          <a:xfrm rot="5400000">
            <a:off x="3322541" y="463344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339439" y="531751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85709" y="5429036"/>
            <a:ext cx="50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4339439" y="4725144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489836" y="4787740"/>
                <a:ext cx="2292679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4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8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100.5 + 201.1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836" y="4787740"/>
                <a:ext cx="2292679" cy="923330"/>
              </a:xfrm>
              <a:prstGeom prst="rect">
                <a:avLst/>
              </a:prstGeom>
              <a:blipFill>
                <a:blip r:embed="rId6"/>
                <a:stretch>
                  <a:fillRect l="-2116" t="-2597" b="-844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9576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21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Volume of a Prism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483" y="1064756"/>
            <a:ext cx="8489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the formula for the area of a circle is used to find the volume of a cylinder?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424" y="2201557"/>
                <a:ext cx="2032608" cy="369332"/>
              </a:xfrm>
              <a:prstGeom prst="rect">
                <a:avLst/>
              </a:prstGeom>
              <a:blipFill>
                <a:blip r:embed="rId2"/>
                <a:stretch>
                  <a:fillRect l="-2388" t="-6349" b="-2222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347.58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5058" y="3124130"/>
                <a:ext cx="2292679" cy="946991"/>
              </a:xfrm>
              <a:prstGeom prst="rect">
                <a:avLst/>
              </a:prstGeom>
              <a:blipFill>
                <a:blip r:embed="rId3"/>
                <a:stretch>
                  <a:fillRect l="-2116" t="-2532" b="-5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4024681" y="3145632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3253826" y="3221967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4045635" y="27763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93080" y="355145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3826" y="2036895"/>
            <a:ext cx="767012" cy="844387"/>
          </a:xfrm>
          <a:prstGeom prst="rect">
            <a:avLst/>
          </a:prstGeom>
        </p:spPr>
      </p:pic>
      <p:sp>
        <p:nvSpPr>
          <p:cNvPr id="21" name="Flowchart: Magnetic Disk 20"/>
          <p:cNvSpPr/>
          <p:nvPr/>
        </p:nvSpPr>
        <p:spPr>
          <a:xfrm rot="5400000">
            <a:off x="3322541" y="463344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4339439" y="531751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85709" y="5429036"/>
            <a:ext cx="50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1915" y="5874703"/>
                <a:ext cx="64379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4339439" y="4725144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489836" y="4787740"/>
                <a:ext cx="2292679" cy="1200329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4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/>
                      </a:rPr>
                      <m:t>8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100.5 + 201.1</a:t>
                </a:r>
              </a:p>
              <a:p>
                <a:r>
                  <a:rPr lang="en-AU" dirty="0"/>
                  <a:t>        =301.6m</a:t>
                </a:r>
                <a:r>
                  <a:rPr lang="en-AU" baseline="30000" dirty="0"/>
                  <a:t>2</a:t>
                </a:r>
                <a:endParaRPr lang="en-AU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836" y="4787740"/>
                <a:ext cx="2292679" cy="1200329"/>
              </a:xfrm>
              <a:prstGeom prst="rect">
                <a:avLst/>
              </a:prstGeom>
              <a:blipFill>
                <a:blip r:embed="rId6"/>
                <a:stretch>
                  <a:fillRect l="-2116" t="-2010" b="-6533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158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1640" y="548680"/>
            <a:ext cx="3392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Complete exercise 3.8 on page 39.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971550"/>
            <a:ext cx="6264696" cy="557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63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5656" y="692696"/>
            <a:ext cx="5544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Exit pass.   Answer the following on a piece of paper and hand it in to your teacher.</a:t>
            </a:r>
          </a:p>
          <a:p>
            <a:endParaRPr lang="en-AU" dirty="0"/>
          </a:p>
          <a:p>
            <a:r>
              <a:rPr lang="en-AU" dirty="0"/>
              <a:t>Calculate the SA of the following cylinder.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Flowchart: Magnetic Disk 2"/>
          <p:cNvSpPr/>
          <p:nvPr/>
        </p:nvSpPr>
        <p:spPr>
          <a:xfrm rot="5400000">
            <a:off x="1581423" y="247320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2598321" y="315727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339752" y="2972609"/>
            <a:ext cx="130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18m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00797" y="371446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797" y="3714463"/>
                <a:ext cx="64379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2598321" y="2564904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00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 of a cylinder</Template>
  <TotalTime>32</TotalTime>
  <Words>1196</Words>
  <Application>Microsoft Macintosh PowerPoint</Application>
  <PresentationFormat>On-screen Show (4:3)</PresentationFormat>
  <Paragraphs>276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 Math</vt:lpstr>
      <vt:lpstr>Office Theme</vt:lpstr>
      <vt:lpstr>My Perimeter, Area and Volume Interactive Notebook</vt:lpstr>
      <vt:lpstr>PowerPoint Presentation</vt:lpstr>
      <vt:lpstr>PowerPoint Presentation</vt:lpstr>
      <vt:lpstr>PowerPoint Presentation</vt:lpstr>
      <vt:lpstr>What 2 shapes are required to make a cylinder?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 we find the SA of a Cylinder?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Perimeter, Area and Volume Interactive Notebook</dc:title>
  <dc:creator>E4007446</dc:creator>
  <cp:lastModifiedBy>EVANS Clem [Baldivis Secondary College]</cp:lastModifiedBy>
  <cp:revision>7</cp:revision>
  <dcterms:created xsi:type="dcterms:W3CDTF">2017-03-06T12:42:44Z</dcterms:created>
  <dcterms:modified xsi:type="dcterms:W3CDTF">2018-08-01T23:40:52Z</dcterms:modified>
</cp:coreProperties>
</file>
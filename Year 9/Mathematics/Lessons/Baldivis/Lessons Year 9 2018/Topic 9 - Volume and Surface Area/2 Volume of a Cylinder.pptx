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71" r:id="rId2"/>
    <p:sldId id="269" r:id="rId3"/>
    <p:sldId id="270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712"/>
  </p:normalViewPr>
  <p:slideViewPr>
    <p:cSldViewPr snapToGrid="0" snapToObjects="1">
      <p:cViewPr varScale="1">
        <p:scale>
          <a:sx n="107" d="100"/>
          <a:sy n="107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6C12D-2437-D847-A616-E675184F6968}" type="datetimeFigureOut">
              <a:rPr lang="en-US" smtClean="0"/>
              <a:t>9/8/17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F4A1B-CA9A-EB49-94E3-F1BCBDEEF8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45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1AC5D149-C2DC-FB49-B66B-1A6ECD6765A2}" type="slidenum">
              <a:rPr lang="en-US" altLang="en-US"/>
              <a:pPr eaLnBrk="1" hangingPunct="1"/>
              <a:t>2</a:t>
            </a:fld>
            <a:endParaRPr lang="en-US" alt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50337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fld id="{20394F21-C3EF-B54C-8801-A388B98AEBE9}" type="slidenum">
              <a:rPr lang="en-US" altLang="en-US" sz="1200"/>
              <a:pPr algn="r" eaLnBrk="1" hangingPunct="1"/>
              <a:t>3</a:t>
            </a:fld>
            <a:endParaRPr lang="en-US" altLang="en-US" sz="1200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96100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fld id="{00270FFA-34D1-9F42-A997-71F6A52CC625}" type="slidenum">
              <a:rPr lang="en-US" altLang="en-US" sz="1200"/>
              <a:pPr algn="r" eaLnBrk="1" hangingPunct="1"/>
              <a:t>5</a:t>
            </a:fld>
            <a:endParaRPr lang="en-US" altLang="en-US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8519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fld id="{AD4ACF82-EA5E-004E-AEE5-03F75D892193}" type="slidenum">
              <a:rPr lang="en-US" altLang="en-US" sz="1200"/>
              <a:pPr algn="r" eaLnBrk="1" hangingPunct="1"/>
              <a:t>6</a:t>
            </a:fld>
            <a:endParaRPr lang="en-US" altLang="en-US" sz="120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48989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fld id="{470798F8-9C1A-364F-83D5-070AE268BA28}" type="slidenum">
              <a:rPr lang="en-US" altLang="en-US" sz="1200"/>
              <a:pPr algn="r" eaLnBrk="1" hangingPunct="1"/>
              <a:t>7</a:t>
            </a:fld>
            <a:endParaRPr lang="en-US" alt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795026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/>
            <a:fld id="{6DE65467-33F1-ED46-B2F7-58B5E5D2F579}" type="slidenum">
              <a:rPr lang="en-US" altLang="en-US" sz="1200"/>
              <a:pPr algn="r" eaLnBrk="1" hangingPunct="1"/>
              <a:t>8</a:t>
            </a:fld>
            <a:endParaRPr lang="en-US" altLang="en-US" sz="120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97957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D54FFF04-0E7C-7848-A181-FC85C0E42126}" type="slidenum">
              <a:rPr lang="en-US" altLang="en-US"/>
              <a:pPr eaLnBrk="1" hangingPunct="1"/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139980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fld id="{B2E3798F-BE91-5647-A8A4-8FB1D8819609}" type="slidenum">
              <a:rPr lang="en-US" altLang="en-US"/>
              <a:pPr eaLnBrk="1" hangingPunct="1"/>
              <a:t>11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76754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98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10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55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588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54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56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338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956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57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692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08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20E44B-D422-3E43-9D8A-1ACDCEB85B86}" type="datetimeFigureOut">
              <a:rPr lang="en-US" smtClean="0"/>
              <a:t>9/8/17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799E2-D674-374C-B053-8426147925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18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4" Type="http://schemas.openxmlformats.org/officeDocument/2006/relationships/image" Target="../media/image54.jpeg"/><Relationship Id="rId5" Type="http://schemas.openxmlformats.org/officeDocument/2006/relationships/image" Target="../media/image55.jpeg"/><Relationship Id="rId6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hyperlink" Target="http://www.google.co.uk/imgres?imgurl=http://www.clipartpal.com/_thumbs/pd/education/post_up_note.png&amp;imgrefurl=http://www.clipartpal.com/clipart_pd/education/tack_12061.html&amp;usg=__Eqo3u0Y9MMtbowMlJUhVpDPORKI=&amp;h=313&amp;w=253&amp;sz=11&amp;hl=en&amp;start=2&amp;zoom=1&amp;um=1&amp;itbs=1&amp;tbnid=iv7uPk4WKp0BSM:&amp;tbnh=117&amp;tbnw=95&amp;prev=/images?q=post+it+note+clip+art&amp;um=1&amp;hl=en&amp;safe=vss&amp;sa=N&amp;sout=1&amp;ndsp=20&amp;biw=1003&amp;bih=562&amp;tbs=isch:1" TargetMode="External"/><Relationship Id="rId7" Type="http://schemas.openxmlformats.org/officeDocument/2006/relationships/image" Target="../media/image59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29780" y="1166887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AU" dirty="0"/>
              <a:t>My Perimeter, Area and Volume 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9622" y="3818905"/>
            <a:ext cx="4318660" cy="1655762"/>
          </a:xfrm>
        </p:spPr>
        <p:txBody>
          <a:bodyPr/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Term </a:t>
            </a:r>
            <a:r>
              <a:rPr lang="en-AU" dirty="0"/>
              <a:t>3</a:t>
            </a:r>
            <a:r>
              <a:rPr lang="en-AU" dirty="0" smtClean="0"/>
              <a:t> </a:t>
            </a:r>
            <a:r>
              <a:rPr lang="en-AU" dirty="0"/>
              <a:t>Semester </a:t>
            </a:r>
            <a:r>
              <a:rPr lang="en-AU" dirty="0"/>
              <a:t>2</a:t>
            </a:r>
            <a:endParaRPr lang="en-AU" dirty="0"/>
          </a:p>
        </p:txBody>
      </p:sp>
      <p:sp>
        <p:nvSpPr>
          <p:cNvPr id="4" name="Isosceles Triangle 3"/>
          <p:cNvSpPr/>
          <p:nvPr/>
        </p:nvSpPr>
        <p:spPr>
          <a:xfrm>
            <a:off x="1857427" y="2348880"/>
            <a:ext cx="1260140" cy="1396872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rapezoid 4"/>
          <p:cNvSpPr/>
          <p:nvPr/>
        </p:nvSpPr>
        <p:spPr>
          <a:xfrm>
            <a:off x="4223792" y="2780449"/>
            <a:ext cx="1440160" cy="648072"/>
          </a:xfrm>
          <a:prstGeom prst="trapezoi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Hexagon 5"/>
          <p:cNvSpPr/>
          <p:nvPr/>
        </p:nvSpPr>
        <p:spPr>
          <a:xfrm>
            <a:off x="6600056" y="2348880"/>
            <a:ext cx="1512168" cy="1368152"/>
          </a:xfrm>
          <a:prstGeom prst="hexagon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Decagon 6"/>
          <p:cNvSpPr/>
          <p:nvPr/>
        </p:nvSpPr>
        <p:spPr>
          <a:xfrm>
            <a:off x="9120336" y="2852936"/>
            <a:ext cx="1224136" cy="1296144"/>
          </a:xfrm>
          <a:prstGeom prst="decagon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Pie 8"/>
          <p:cNvSpPr/>
          <p:nvPr/>
        </p:nvSpPr>
        <p:spPr>
          <a:xfrm>
            <a:off x="2099556" y="4707098"/>
            <a:ext cx="1368152" cy="1440160"/>
          </a:xfrm>
          <a:prstGeom prst="pi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14142" y="5754874"/>
            <a:ext cx="1152128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-Shape 10"/>
          <p:cNvSpPr/>
          <p:nvPr/>
        </p:nvSpPr>
        <p:spPr>
          <a:xfrm>
            <a:off x="1847528" y="548680"/>
            <a:ext cx="936104" cy="1368152"/>
          </a:xfrm>
          <a:prstGeom prst="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Parallelogram 11"/>
          <p:cNvSpPr/>
          <p:nvPr/>
        </p:nvSpPr>
        <p:spPr>
          <a:xfrm>
            <a:off x="9048328" y="1232756"/>
            <a:ext cx="936104" cy="1116124"/>
          </a:xfrm>
          <a:prstGeom prst="parallelogram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434766" y="5085184"/>
            <a:ext cx="936104" cy="936104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980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8314" y="1071564"/>
            <a:ext cx="9037637" cy="3652837"/>
          </a:xfrm>
        </p:spPr>
        <p:txBody>
          <a:bodyPr/>
          <a:lstStyle/>
          <a:p>
            <a:pPr marL="0" indent="0">
              <a:buNone/>
              <a:defRPr/>
            </a:pPr>
            <a:endParaRPr lang="en-US" sz="2400" b="1" dirty="0">
              <a:solidFill>
                <a:srgbClr val="C00000"/>
              </a:solidFill>
              <a:latin typeface="Comic Sans MS" pitchFamily="66" charset="0"/>
              <a:ea typeface="Kozuka Gothic Pro M" pitchFamily="34" charset="-128"/>
            </a:endParaRPr>
          </a:p>
          <a:p>
            <a:pPr marL="0" indent="0">
              <a:buNone/>
              <a:defRPr/>
            </a:pPr>
            <a:endParaRPr lang="en-US" sz="2400" b="1" dirty="0">
              <a:solidFill>
                <a:srgbClr val="C00000"/>
              </a:solidFill>
              <a:latin typeface="Comic Sans MS" pitchFamily="66" charset="0"/>
              <a:ea typeface="Kozuka Gothic Pro M" pitchFamily="34" charset="-128"/>
            </a:endParaRPr>
          </a:p>
          <a:p>
            <a:pPr marL="0" indent="0">
              <a:buNone/>
              <a:defRPr/>
            </a:pPr>
            <a:r>
              <a:rPr lang="en-US" sz="2400" b="1" dirty="0">
                <a:solidFill>
                  <a:srgbClr val="C00000"/>
                </a:solidFill>
                <a:latin typeface="Comic Sans MS" pitchFamily="66" charset="0"/>
                <a:ea typeface="Kozuka Gothic Pro M" pitchFamily="34" charset="-128"/>
              </a:rPr>
              <a:t>We are learning to:</a:t>
            </a:r>
          </a:p>
          <a:p>
            <a:pPr marL="0" indent="0">
              <a:buFontTx/>
              <a:buChar char="-"/>
              <a:defRPr/>
            </a:pPr>
            <a:r>
              <a:rPr lang="en-US" sz="2400" b="1" dirty="0">
                <a:solidFill>
                  <a:srgbClr val="C00000"/>
                </a:solidFill>
                <a:latin typeface="Comic Sans MS" pitchFamily="66" charset="0"/>
                <a:ea typeface="Kozuka Gothic Pro M" pitchFamily="34" charset="-128"/>
              </a:rPr>
              <a:t> </a:t>
            </a:r>
            <a:r>
              <a:rPr lang="en-US" sz="2400" b="1" dirty="0">
                <a:latin typeface="Comic Sans MS" pitchFamily="66" charset="0"/>
                <a:ea typeface="Kozuka Gothic Pro M" pitchFamily="34" charset="-128"/>
              </a:rPr>
              <a:t>Be reflective learners on previous learning outcomes. (Which PLT skills?) </a:t>
            </a:r>
            <a:endParaRPr lang="en-US" b="1" u="sng" dirty="0"/>
          </a:p>
          <a:p>
            <a:pPr>
              <a:buFontTx/>
              <a:buChar char="-"/>
              <a:defRPr/>
            </a:pPr>
            <a:r>
              <a:rPr lang="en-US" sz="2400" b="1" dirty="0">
                <a:solidFill>
                  <a:srgbClr val="660066"/>
                </a:solidFill>
                <a:latin typeface="Comic Sans MS" pitchFamily="66" charset="0"/>
                <a:ea typeface="Kozuka Gothic Pro M" pitchFamily="34" charset="-128"/>
              </a:rPr>
              <a:t>Accurately calculate the volume of cylinders.</a:t>
            </a:r>
          </a:p>
          <a:p>
            <a:pPr marL="0" indent="0">
              <a:buNone/>
              <a:defRPr/>
            </a:pPr>
            <a:endParaRPr lang="en-US" sz="2400" b="1" dirty="0">
              <a:solidFill>
                <a:srgbClr val="FF3399"/>
              </a:solidFill>
              <a:latin typeface="Comic Sans MS" pitchFamily="66" charset="0"/>
              <a:ea typeface="Kozuka Gothic Pro M" pitchFamily="34" charset="-128"/>
            </a:endParaRPr>
          </a:p>
          <a:p>
            <a:pPr marL="0" indent="0">
              <a:buNone/>
              <a:defRPr/>
            </a:pPr>
            <a:endParaRPr lang="en-US" sz="2400" b="1" dirty="0">
              <a:solidFill>
                <a:srgbClr val="16AA1D"/>
              </a:solidFill>
              <a:latin typeface="Comic Sans MS" pitchFamily="66" charset="0"/>
              <a:ea typeface="Kozuka Gothic Pro M" pitchFamily="34" charset="-128"/>
            </a:endParaRPr>
          </a:p>
        </p:txBody>
      </p:sp>
      <p:sp>
        <p:nvSpPr>
          <p:cNvPr id="2051" name="Rectangle 9"/>
          <p:cNvSpPr>
            <a:spLocks noChangeArrowheads="1"/>
          </p:cNvSpPr>
          <p:nvPr/>
        </p:nvSpPr>
        <p:spPr bwMode="auto">
          <a:xfrm>
            <a:off x="1524001" y="128587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GB" altLang="en-US" sz="2400">
              <a:solidFill>
                <a:srgbClr val="336699"/>
              </a:solidFill>
              <a:latin typeface="Franklin Gothic Demi Cond" charset="0"/>
            </a:endParaRPr>
          </a:p>
        </p:txBody>
      </p:sp>
      <p:sp>
        <p:nvSpPr>
          <p:cNvPr id="18" name="Oval Callout 17"/>
          <p:cNvSpPr/>
          <p:nvPr/>
        </p:nvSpPr>
        <p:spPr>
          <a:xfrm>
            <a:off x="6596063" y="1071564"/>
            <a:ext cx="2214562" cy="642937"/>
          </a:xfrm>
          <a:prstGeom prst="wedgeEllipseCallout">
            <a:avLst>
              <a:gd name="adj1" fmla="val 81827"/>
              <a:gd name="adj2" fmla="val 28588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>
                <a:solidFill>
                  <a:srgbClr val="003366"/>
                </a:solidFill>
              </a:rPr>
              <a:t>Always aim high!</a:t>
            </a:r>
          </a:p>
        </p:txBody>
      </p:sp>
      <p:pic>
        <p:nvPicPr>
          <p:cNvPr id="2053" name="Picture 2" descr="http://www.bradley.tv/animation/animation_still_large_01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5250" y="1071563"/>
            <a:ext cx="168275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4" name="Rectangle 9"/>
          <p:cNvSpPr>
            <a:spLocks noChangeArrowheads="1"/>
          </p:cNvSpPr>
          <p:nvPr/>
        </p:nvSpPr>
        <p:spPr bwMode="auto">
          <a:xfrm>
            <a:off x="1738313" y="714376"/>
            <a:ext cx="61150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4800">
                <a:solidFill>
                  <a:srgbClr val="C00000"/>
                </a:solidFill>
                <a:latin typeface="Corbel" charset="0"/>
              </a:rPr>
              <a:t>		</a:t>
            </a:r>
          </a:p>
          <a:p>
            <a:pPr eaLnBrk="1" hangingPunct="1"/>
            <a:r>
              <a:rPr lang="en-US" altLang="en-US" sz="4800">
                <a:solidFill>
                  <a:srgbClr val="C00000"/>
                </a:solidFill>
                <a:latin typeface="Corbel" charset="0"/>
              </a:rPr>
              <a:t>	</a:t>
            </a:r>
          </a:p>
          <a:p>
            <a:pPr eaLnBrk="1" hangingPunct="1"/>
            <a:r>
              <a:rPr lang="en-US" altLang="en-US" sz="3200" b="1" u="sng">
                <a:latin typeface="Comic Sans MS" charset="0"/>
              </a:rPr>
              <a:t>LESSON OBJECTIVES</a:t>
            </a:r>
          </a:p>
          <a:p>
            <a:pPr eaLnBrk="1" hangingPunct="1"/>
            <a:r>
              <a:rPr lang="en-US" altLang="en-US" sz="4800">
                <a:solidFill>
                  <a:srgbClr val="C00000"/>
                </a:solidFill>
                <a:latin typeface="Corbel" charset="0"/>
              </a:rPr>
              <a:t>               </a:t>
            </a:r>
          </a:p>
        </p:txBody>
      </p:sp>
      <p:sp>
        <p:nvSpPr>
          <p:cNvPr id="2055" name="Line 4"/>
          <p:cNvSpPr>
            <a:spLocks noChangeShapeType="1"/>
          </p:cNvSpPr>
          <p:nvPr/>
        </p:nvSpPr>
        <p:spPr bwMode="auto">
          <a:xfrm>
            <a:off x="152400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2074" name="Rectangle 9"/>
          <p:cNvSpPr>
            <a:spLocks noChangeArrowheads="1"/>
          </p:cNvSpPr>
          <p:nvPr/>
        </p:nvSpPr>
        <p:spPr bwMode="auto">
          <a:xfrm>
            <a:off x="1524001" y="42862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 dirty="0">
                <a:solidFill>
                  <a:srgbClr val="336699"/>
                </a:solidFill>
                <a:latin typeface="Franklin Gothic Demi Cond" charset="0"/>
              </a:rPr>
              <a:t>Personal Learning and Thinking Skills</a:t>
            </a:r>
          </a:p>
        </p:txBody>
      </p:sp>
      <p:sp>
        <p:nvSpPr>
          <p:cNvPr id="2075" name="Rectangle 2"/>
          <p:cNvSpPr>
            <a:spLocks noGrp="1" noChangeArrowheads="1"/>
          </p:cNvSpPr>
          <p:nvPr>
            <p:ph type="title"/>
          </p:nvPr>
        </p:nvSpPr>
        <p:spPr>
          <a:xfrm>
            <a:off x="6881814" y="142875"/>
            <a:ext cx="3786187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Which ones are you using?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50344" y="591205"/>
            <a:ext cx="4473648" cy="3851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5" name="Rounded Rectangle 34"/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522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9"/>
          <p:cNvSpPr>
            <a:spLocks noChangeArrowheads="1"/>
          </p:cNvSpPr>
          <p:nvPr/>
        </p:nvSpPr>
        <p:spPr bwMode="auto">
          <a:xfrm>
            <a:off x="4229100" y="39688"/>
            <a:ext cx="61150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4800">
                <a:solidFill>
                  <a:srgbClr val="C00000"/>
                </a:solidFill>
                <a:latin typeface="Corbel" charset="0"/>
              </a:rPr>
              <a:t>		</a:t>
            </a:r>
          </a:p>
          <a:p>
            <a:pPr eaLnBrk="1" hangingPunct="1"/>
            <a:r>
              <a:rPr lang="en-US" altLang="en-US" sz="4800">
                <a:solidFill>
                  <a:srgbClr val="C00000"/>
                </a:solidFill>
                <a:latin typeface="Corbel" charset="0"/>
              </a:rPr>
              <a:t>	</a:t>
            </a:r>
          </a:p>
          <a:p>
            <a:pPr eaLnBrk="1" hangingPunct="1"/>
            <a:r>
              <a:rPr lang="en-US" altLang="en-US" sz="3200" b="1" u="sng">
                <a:latin typeface="Comic Sans MS" charset="0"/>
              </a:rPr>
              <a:t>STARTER</a:t>
            </a:r>
          </a:p>
          <a:p>
            <a:pPr eaLnBrk="1" hangingPunct="1"/>
            <a:r>
              <a:rPr lang="en-US" altLang="en-US" sz="4800">
                <a:solidFill>
                  <a:srgbClr val="C00000"/>
                </a:solidFill>
                <a:latin typeface="Corbel" charset="0"/>
              </a:rPr>
              <a:t>           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309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239000" y="357188"/>
            <a:ext cx="3429000" cy="652462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Which ones are you using?</a:t>
            </a:r>
          </a:p>
        </p:txBody>
      </p:sp>
      <p:sp>
        <p:nvSpPr>
          <p:cNvPr id="3094" name="Rectangle 9"/>
          <p:cNvSpPr>
            <a:spLocks noChangeArrowheads="1"/>
          </p:cNvSpPr>
          <p:nvPr/>
        </p:nvSpPr>
        <p:spPr bwMode="auto">
          <a:xfrm>
            <a:off x="1487487" y="357188"/>
            <a:ext cx="5051426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PLT Skills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24000" y="571500"/>
            <a:ext cx="1214438" cy="2857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21" name="Rounded Rectangle 20"/>
          <p:cNvSpPr/>
          <p:nvPr/>
        </p:nvSpPr>
        <p:spPr>
          <a:xfrm>
            <a:off x="7453314" y="571500"/>
            <a:ext cx="3214687" cy="2857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97" name="Text Box 40"/>
          <p:cNvSpPr txBox="1">
            <a:spLocks noChangeArrowheads="1"/>
          </p:cNvSpPr>
          <p:nvPr/>
        </p:nvSpPr>
        <p:spPr bwMode="auto">
          <a:xfrm>
            <a:off x="1549400" y="3500438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660066"/>
                </a:solidFill>
              </a:rPr>
              <a:t>EXTENSION</a:t>
            </a:r>
            <a:endParaRPr lang="en-US" altLang="en-US" sz="2400" b="1" u="sng">
              <a:solidFill>
                <a:srgbClr val="660066"/>
              </a:solidFill>
            </a:endParaRPr>
          </a:p>
        </p:txBody>
      </p:sp>
      <p:sp>
        <p:nvSpPr>
          <p:cNvPr id="3098" name="Text Box 40"/>
          <p:cNvSpPr txBox="1">
            <a:spLocks noChangeArrowheads="1"/>
          </p:cNvSpPr>
          <p:nvPr/>
        </p:nvSpPr>
        <p:spPr bwMode="auto">
          <a:xfrm>
            <a:off x="1473200" y="966788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3099" name="TextBox 41"/>
          <p:cNvSpPr txBox="1">
            <a:spLocks noChangeArrowheads="1"/>
          </p:cNvSpPr>
          <p:nvPr/>
        </p:nvSpPr>
        <p:spPr bwMode="auto">
          <a:xfrm>
            <a:off x="1443037" y="1484313"/>
            <a:ext cx="2193926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600"/>
              <a:t>Write down the circumference of a circle formula</a:t>
            </a:r>
          </a:p>
        </p:txBody>
      </p:sp>
      <p:sp>
        <p:nvSpPr>
          <p:cNvPr id="3100" name="Line 4"/>
          <p:cNvSpPr>
            <a:spLocks noChangeShapeType="1"/>
          </p:cNvSpPr>
          <p:nvPr/>
        </p:nvSpPr>
        <p:spPr bwMode="auto">
          <a:xfrm>
            <a:off x="1524000" y="1011238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01" name="TextBox 2"/>
          <p:cNvSpPr txBox="1">
            <a:spLocks noChangeArrowheads="1"/>
          </p:cNvSpPr>
          <p:nvPr/>
        </p:nvSpPr>
        <p:spPr bwMode="auto">
          <a:xfrm>
            <a:off x="1473200" y="1476375"/>
            <a:ext cx="490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3102" name="TextBox 45"/>
          <p:cNvSpPr txBox="1">
            <a:spLocks noChangeArrowheads="1"/>
          </p:cNvSpPr>
          <p:nvPr/>
        </p:nvSpPr>
        <p:spPr bwMode="auto">
          <a:xfrm>
            <a:off x="3425825" y="1471614"/>
            <a:ext cx="4460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3103" name="TextBox 47"/>
          <p:cNvSpPr txBox="1">
            <a:spLocks noChangeArrowheads="1"/>
          </p:cNvSpPr>
          <p:nvPr/>
        </p:nvSpPr>
        <p:spPr bwMode="auto">
          <a:xfrm>
            <a:off x="5711825" y="1457325"/>
            <a:ext cx="490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3104" name="TextBox 41"/>
          <p:cNvSpPr txBox="1">
            <a:spLocks noChangeArrowheads="1"/>
          </p:cNvSpPr>
          <p:nvPr/>
        </p:nvSpPr>
        <p:spPr bwMode="auto">
          <a:xfrm>
            <a:off x="3594101" y="1479550"/>
            <a:ext cx="2195513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600"/>
              <a:t>Write down the area of a circle formula</a:t>
            </a:r>
          </a:p>
        </p:txBody>
      </p:sp>
      <p:sp>
        <p:nvSpPr>
          <p:cNvPr id="2" name="Oval 1"/>
          <p:cNvSpPr/>
          <p:nvPr/>
        </p:nvSpPr>
        <p:spPr>
          <a:xfrm>
            <a:off x="6254751" y="1138239"/>
            <a:ext cx="1355725" cy="11207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06" name="TextBox 47"/>
          <p:cNvSpPr txBox="1">
            <a:spLocks noChangeArrowheads="1"/>
          </p:cNvSpPr>
          <p:nvPr/>
        </p:nvSpPr>
        <p:spPr bwMode="auto">
          <a:xfrm>
            <a:off x="8064500" y="1444625"/>
            <a:ext cx="4905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FF0000"/>
                </a:solidFill>
              </a:rPr>
              <a:t>4)</a:t>
            </a:r>
          </a:p>
        </p:txBody>
      </p:sp>
      <p:sp>
        <p:nvSpPr>
          <p:cNvPr id="3107" name="TextBox 41"/>
          <p:cNvSpPr txBox="1">
            <a:spLocks noChangeArrowheads="1"/>
          </p:cNvSpPr>
          <p:nvPr/>
        </p:nvSpPr>
        <p:spPr bwMode="auto">
          <a:xfrm>
            <a:off x="5848351" y="2266950"/>
            <a:ext cx="21955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600"/>
              <a:t>Calculate the area of the circle </a:t>
            </a:r>
          </a:p>
        </p:txBody>
      </p:sp>
      <p:sp>
        <p:nvSpPr>
          <p:cNvPr id="123" name="Oval 122"/>
          <p:cNvSpPr/>
          <p:nvPr/>
        </p:nvSpPr>
        <p:spPr>
          <a:xfrm>
            <a:off x="8710614" y="1138239"/>
            <a:ext cx="1355725" cy="112077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109" name="TextBox 41"/>
          <p:cNvSpPr txBox="1">
            <a:spLocks noChangeArrowheads="1"/>
          </p:cNvSpPr>
          <p:nvPr/>
        </p:nvSpPr>
        <p:spPr bwMode="auto">
          <a:xfrm>
            <a:off x="8304213" y="2266950"/>
            <a:ext cx="21955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600"/>
              <a:t>Calculate the area of the circle 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6900864" y="1670051"/>
            <a:ext cx="701675" cy="2222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1" name="TextBox 22"/>
          <p:cNvSpPr txBox="1">
            <a:spLocks noChangeArrowheads="1"/>
          </p:cNvSpPr>
          <p:nvPr/>
        </p:nvSpPr>
        <p:spPr bwMode="auto">
          <a:xfrm>
            <a:off x="6946901" y="1660525"/>
            <a:ext cx="7921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/>
              <a:t>10cm</a:t>
            </a:r>
          </a:p>
        </p:txBody>
      </p:sp>
      <p:cxnSp>
        <p:nvCxnSpPr>
          <p:cNvPr id="125" name="Straight Arrow Connector 124"/>
          <p:cNvCxnSpPr/>
          <p:nvPr/>
        </p:nvCxnSpPr>
        <p:spPr>
          <a:xfrm flipV="1">
            <a:off x="8720139" y="1673226"/>
            <a:ext cx="1366837" cy="2222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3" name="TextBox 125"/>
          <p:cNvSpPr txBox="1">
            <a:spLocks noChangeArrowheads="1"/>
          </p:cNvSpPr>
          <p:nvPr/>
        </p:nvSpPr>
        <p:spPr bwMode="auto">
          <a:xfrm>
            <a:off x="9163051" y="1666876"/>
            <a:ext cx="792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/>
              <a:t>200m</a:t>
            </a:r>
          </a:p>
        </p:txBody>
      </p:sp>
      <p:sp>
        <p:nvSpPr>
          <p:cNvPr id="3114" name="TextBox 2"/>
          <p:cNvSpPr txBox="1">
            <a:spLocks noChangeArrowheads="1"/>
          </p:cNvSpPr>
          <p:nvPr/>
        </p:nvSpPr>
        <p:spPr bwMode="auto">
          <a:xfrm>
            <a:off x="1546225" y="3986213"/>
            <a:ext cx="4905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1)</a:t>
            </a:r>
          </a:p>
        </p:txBody>
      </p:sp>
      <p:sp>
        <p:nvSpPr>
          <p:cNvPr id="3115" name="TextBox 45"/>
          <p:cNvSpPr txBox="1">
            <a:spLocks noChangeArrowheads="1"/>
          </p:cNvSpPr>
          <p:nvPr/>
        </p:nvSpPr>
        <p:spPr bwMode="auto">
          <a:xfrm>
            <a:off x="5362575" y="3971925"/>
            <a:ext cx="4460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b="1">
                <a:solidFill>
                  <a:srgbClr val="7030A0"/>
                </a:solidFill>
              </a:rPr>
              <a:t>2)</a:t>
            </a:r>
          </a:p>
        </p:txBody>
      </p:sp>
      <p:grpSp>
        <p:nvGrpSpPr>
          <p:cNvPr id="3116" name="Group 27"/>
          <p:cNvGrpSpPr>
            <a:grpSpLocks/>
          </p:cNvGrpSpPr>
          <p:nvPr/>
        </p:nvGrpSpPr>
        <p:grpSpPr bwMode="auto">
          <a:xfrm>
            <a:off x="2466975" y="4030663"/>
            <a:ext cx="1828800" cy="742950"/>
            <a:chOff x="5207806" y="4747052"/>
            <a:chExt cx="1828800" cy="742884"/>
          </a:xfrm>
        </p:grpSpPr>
        <p:pic>
          <p:nvPicPr>
            <p:cNvPr id="3142" name="Picture 12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>
              <a:fillRect/>
            </a:stretch>
          </p:blipFill>
          <p:spPr bwMode="auto">
            <a:xfrm>
              <a:off x="5207806" y="4747052"/>
              <a:ext cx="1828800" cy="740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cxnSp>
          <p:nvCxnSpPr>
            <p:cNvPr id="26" name="Straight Connector 25"/>
            <p:cNvCxnSpPr/>
            <p:nvPr/>
          </p:nvCxnSpPr>
          <p:spPr>
            <a:xfrm flipV="1">
              <a:off x="5215744" y="5488348"/>
              <a:ext cx="1817687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17" name="Group 135"/>
          <p:cNvGrpSpPr>
            <a:grpSpLocks/>
          </p:cNvGrpSpPr>
          <p:nvPr/>
        </p:nvGrpSpPr>
        <p:grpSpPr bwMode="auto">
          <a:xfrm>
            <a:off x="6570663" y="4043363"/>
            <a:ext cx="1828800" cy="742950"/>
            <a:chOff x="5207806" y="4747052"/>
            <a:chExt cx="1828800" cy="742884"/>
          </a:xfrm>
        </p:grpSpPr>
        <p:pic>
          <p:nvPicPr>
            <p:cNvPr id="3140" name="Picture 12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0000"/>
            <a:stretch>
              <a:fillRect/>
            </a:stretch>
          </p:blipFill>
          <p:spPr bwMode="auto">
            <a:xfrm>
              <a:off x="5207806" y="4747052"/>
              <a:ext cx="1828800" cy="7405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cxnSp>
          <p:nvCxnSpPr>
            <p:cNvPr id="138" name="Straight Connector 137"/>
            <p:cNvCxnSpPr/>
            <p:nvPr/>
          </p:nvCxnSpPr>
          <p:spPr>
            <a:xfrm flipV="1">
              <a:off x="5215743" y="5488348"/>
              <a:ext cx="181768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3" name="TextBox 4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1561876" y="5031762"/>
            <a:ext cx="3598021" cy="584775"/>
          </a:xfrm>
          <a:prstGeom prst="rect">
            <a:avLst/>
          </a:prstGeom>
          <a:blipFill rotWithShape="1">
            <a:blip r:embed="rId4"/>
            <a:stretch>
              <a:fillRect t="-3125" r="-1356" b="-12500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29" name="TextBox 2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460192" y="2298644"/>
            <a:ext cx="2074992" cy="369332"/>
          </a:xfrm>
          <a:prstGeom prst="rect">
            <a:avLst/>
          </a:prstGeom>
          <a:blipFill rotWithShape="1">
            <a:blip r:embed="rId5"/>
            <a:stretch>
              <a:fillRect l="-2647" t="-8197" b="-24590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31" name="TextBox 3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390760" y="2010326"/>
            <a:ext cx="2555764" cy="338554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32" name="TextBox 3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784036" y="2263224"/>
            <a:ext cx="2004824" cy="375552"/>
          </a:xfrm>
          <a:prstGeom prst="rect">
            <a:avLst/>
          </a:prstGeom>
          <a:blipFill rotWithShape="1">
            <a:blip r:embed="rId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45" name="TextBox 14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878612" y="2627620"/>
            <a:ext cx="960519" cy="369332"/>
          </a:xfrm>
          <a:prstGeom prst="rect">
            <a:avLst/>
          </a:prstGeom>
          <a:blipFill rotWithShape="1">
            <a:blip r:embed="rId8"/>
            <a:stretch>
              <a:fillRect l="-5063" t="-8197" b="-24590"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47" name="TextBox 14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76252" y="2767280"/>
            <a:ext cx="2555764" cy="338554"/>
          </a:xfrm>
          <a:prstGeom prst="rect">
            <a:avLst/>
          </a:prstGeom>
          <a:blipFill rotWithShape="1">
            <a:blip r:embed="rId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49" name="TextBox 14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80672" y="3004790"/>
            <a:ext cx="2044342" cy="338554"/>
          </a:xfrm>
          <a:prstGeom prst="rect">
            <a:avLst/>
          </a:prstGeom>
          <a:blipFill rotWithShape="1">
            <a:blip r:embed="rId1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56" name="TextBox 15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767025" y="3261759"/>
            <a:ext cx="1410065" cy="344133"/>
          </a:xfrm>
          <a:prstGeom prst="rect">
            <a:avLst/>
          </a:prstGeom>
          <a:blipFill rotWithShape="1">
            <a:blip r:embed="rId1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57" name="TextBox 15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32060" y="2765469"/>
            <a:ext cx="2555764" cy="338554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58" name="TextBox 15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36481" y="3002979"/>
            <a:ext cx="2271969" cy="338554"/>
          </a:xfrm>
          <a:prstGeom prst="rect">
            <a:avLst/>
          </a:prstGeom>
          <a:blipFill rotWithShape="1">
            <a:blip r:embed="rId1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59" name="TextBox 15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22833" y="3259948"/>
            <a:ext cx="1552733" cy="344133"/>
          </a:xfrm>
          <a:prstGeom prst="rect">
            <a:avLst/>
          </a:prstGeom>
          <a:blipFill rotWithShape="1">
            <a:blip r:embed="rId1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cxnSp>
        <p:nvCxnSpPr>
          <p:cNvPr id="163" name="Straight Arrow Connector 162"/>
          <p:cNvCxnSpPr/>
          <p:nvPr/>
        </p:nvCxnSpPr>
        <p:spPr>
          <a:xfrm flipV="1">
            <a:off x="3268663" y="4846639"/>
            <a:ext cx="1027112" cy="2222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0" name="TextBox 163"/>
          <p:cNvSpPr txBox="1">
            <a:spLocks noChangeArrowheads="1"/>
          </p:cNvSpPr>
          <p:nvPr/>
        </p:nvSpPr>
        <p:spPr bwMode="auto">
          <a:xfrm>
            <a:off x="3476626" y="4822825"/>
            <a:ext cx="7921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/>
              <a:t>2cm</a:t>
            </a:r>
          </a:p>
        </p:txBody>
      </p:sp>
      <p:cxnSp>
        <p:nvCxnSpPr>
          <p:cNvPr id="165" name="Straight Arrow Connector 164"/>
          <p:cNvCxnSpPr/>
          <p:nvPr/>
        </p:nvCxnSpPr>
        <p:spPr>
          <a:xfrm flipV="1">
            <a:off x="6578601" y="4860926"/>
            <a:ext cx="1819275" cy="2222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2" name="TextBox 165"/>
          <p:cNvSpPr txBox="1">
            <a:spLocks noChangeArrowheads="1"/>
          </p:cNvSpPr>
          <p:nvPr/>
        </p:nvSpPr>
        <p:spPr bwMode="auto">
          <a:xfrm>
            <a:off x="7313614" y="4838700"/>
            <a:ext cx="790575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/>
              <a:t>10m</a:t>
            </a:r>
          </a:p>
        </p:txBody>
      </p:sp>
      <p:sp>
        <p:nvSpPr>
          <p:cNvPr id="167" name="TextBox 4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 bwMode="auto">
          <a:xfrm>
            <a:off x="5735961" y="5026825"/>
            <a:ext cx="3598021" cy="584775"/>
          </a:xfrm>
          <a:prstGeom prst="rect">
            <a:avLst/>
          </a:prstGeom>
          <a:blipFill rotWithShape="1">
            <a:blip r:embed="rId15"/>
            <a:stretch>
              <a:fillRect t="-3125" r="-1186" b="-12500"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68" name="TextBox 16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61112" y="5630422"/>
            <a:ext cx="1990673" cy="449226"/>
          </a:xfrm>
          <a:prstGeom prst="rect">
            <a:avLst/>
          </a:prstGeom>
          <a:blipFill rotWithShape="1">
            <a:blip r:embed="rId16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69" name="TextBox 16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49208" y="6000343"/>
            <a:ext cx="1194238" cy="440505"/>
          </a:xfrm>
          <a:prstGeom prst="rect">
            <a:avLst/>
          </a:prstGeom>
          <a:blipFill rotWithShape="1">
            <a:blip r:embed="rId17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70" name="TextBox 16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2107295" y="6397236"/>
            <a:ext cx="1163204" cy="344133"/>
          </a:xfrm>
          <a:prstGeom prst="rect">
            <a:avLst/>
          </a:prstGeom>
          <a:blipFill rotWithShape="1">
            <a:blip r:embed="rId18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71" name="TextBox 17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81865" y="5620304"/>
            <a:ext cx="1990673" cy="449226"/>
          </a:xfrm>
          <a:prstGeom prst="rect">
            <a:avLst/>
          </a:prstGeom>
          <a:blipFill rotWithShape="1">
            <a:blip r:embed="rId19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72" name="TextBox 17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69961" y="5990224"/>
            <a:ext cx="1227900" cy="444032"/>
          </a:xfrm>
          <a:prstGeom prst="rect">
            <a:avLst/>
          </a:prstGeom>
          <a:blipFill rotWithShape="1">
            <a:blip r:embed="rId20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  <p:sp>
        <p:nvSpPr>
          <p:cNvPr id="173" name="TextBox 17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28048" y="6387118"/>
            <a:ext cx="1381724" cy="344133"/>
          </a:xfrm>
          <a:prstGeom prst="rect">
            <a:avLst/>
          </a:prstGeom>
          <a:blipFill rotWithShape="1">
            <a:blip r:embed="rId21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GB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397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5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439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5"/>
            <a:ext cx="27801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Volume </a:t>
            </a:r>
            <a:r>
              <a:rPr lang="en-AU" sz="2400" dirty="0"/>
              <a:t>of a Cylinder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6484" y="1064757"/>
            <a:ext cx="84895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the process for finding </a:t>
            </a:r>
            <a:r>
              <a:rPr lang="en-AU" sz="2400"/>
              <a:t>the </a:t>
            </a:r>
            <a:r>
              <a:rPr lang="en-AU" sz="2400" smtClean="0"/>
              <a:t>Volume </a:t>
            </a:r>
            <a:r>
              <a:rPr lang="en-AU" sz="2400" dirty="0"/>
              <a:t>of a cylinder.</a:t>
            </a:r>
          </a:p>
        </p:txBody>
      </p:sp>
    </p:spTree>
    <p:extLst>
      <p:ext uri="{BB962C8B-B14F-4D97-AF65-F5344CB8AC3E}">
        <p14:creationId xmlns:p14="http://schemas.microsoft.com/office/powerpoint/2010/main" val="540266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427937" y="5575593"/>
            <a:ext cx="569387" cy="307777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5123" name="TextBox 75"/>
          <p:cNvSpPr txBox="1">
            <a:spLocks noChangeArrowheads="1"/>
          </p:cNvSpPr>
          <p:nvPr/>
        </p:nvSpPr>
        <p:spPr bwMode="auto">
          <a:xfrm>
            <a:off x="4008439" y="3984626"/>
            <a:ext cx="7191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/>
              <a:t>6cm</a:t>
            </a:r>
          </a:p>
        </p:txBody>
      </p:sp>
      <p:sp>
        <p:nvSpPr>
          <p:cNvPr id="5124" name="Line 4"/>
          <p:cNvSpPr>
            <a:spLocks noChangeShapeType="1"/>
          </p:cNvSpPr>
          <p:nvPr/>
        </p:nvSpPr>
        <p:spPr bwMode="auto">
          <a:xfrm>
            <a:off x="1524000" y="98107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5143" name="Rectangle 9"/>
          <p:cNvSpPr>
            <a:spLocks noChangeArrowheads="1"/>
          </p:cNvSpPr>
          <p:nvPr/>
        </p:nvSpPr>
        <p:spPr bwMode="auto">
          <a:xfrm>
            <a:off x="1524001" y="42862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PLT Skills</a:t>
            </a:r>
          </a:p>
        </p:txBody>
      </p:sp>
      <p:sp>
        <p:nvSpPr>
          <p:cNvPr id="514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81814" y="142875"/>
            <a:ext cx="3786187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Which ones are you using?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147" name="Text Box 40"/>
          <p:cNvSpPr txBox="1">
            <a:spLocks noChangeArrowheads="1"/>
          </p:cNvSpPr>
          <p:nvPr/>
        </p:nvSpPr>
        <p:spPr bwMode="auto">
          <a:xfrm>
            <a:off x="1512887" y="2714625"/>
            <a:ext cx="2160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EXAMPLES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5148" name="TextBox 1"/>
          <p:cNvSpPr txBox="1">
            <a:spLocks noChangeArrowheads="1"/>
          </p:cNvSpPr>
          <p:nvPr/>
        </p:nvSpPr>
        <p:spPr bwMode="auto">
          <a:xfrm>
            <a:off x="4249739" y="1268414"/>
            <a:ext cx="77231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b="1"/>
              <a:t>VOLUME OF A CYLINDER = AREA OF CIRCLE X LENGTH</a:t>
            </a:r>
          </a:p>
        </p:txBody>
      </p:sp>
      <p:sp>
        <p:nvSpPr>
          <p:cNvPr id="3" name="Rectangle 2"/>
          <p:cNvSpPr/>
          <p:nvPr/>
        </p:nvSpPr>
        <p:spPr>
          <a:xfrm>
            <a:off x="4151313" y="1238250"/>
            <a:ext cx="6521450" cy="406400"/>
          </a:xfrm>
          <a:prstGeom prst="rect">
            <a:avLst/>
          </a:prstGeom>
          <a:solidFill>
            <a:srgbClr val="00B050">
              <a:alpha val="19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150" name="Title 1"/>
          <p:cNvSpPr txBox="1">
            <a:spLocks/>
          </p:cNvSpPr>
          <p:nvPr/>
        </p:nvSpPr>
        <p:spPr bwMode="auto">
          <a:xfrm>
            <a:off x="982663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VOLUME OF CYLINDERS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pic>
        <p:nvPicPr>
          <p:cNvPr id="5151" name="Picture 6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563" y="1241425"/>
            <a:ext cx="2825750" cy="143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4224338" y="1825625"/>
            <a:ext cx="6470650" cy="406400"/>
            <a:chOff x="2699792" y="1825519"/>
            <a:chExt cx="6471504" cy="406641"/>
          </a:xfrm>
        </p:grpSpPr>
        <p:sp>
          <p:nvSpPr>
            <p:cNvPr id="66" name="TextBox 1"/>
            <p:cNvSpPr txBox="1">
              <a:spLocks noRot="1" noChangeAspect="1" noMove="1" noResize="1" noEditPoints="1" noAdjustHandles="1" noChangeArrowheads="1" noChangeShapeType="1" noTextEdit="1"/>
            </p:cNvSpPr>
            <p:nvPr/>
          </p:nvSpPr>
          <p:spPr bwMode="auto">
            <a:xfrm>
              <a:off x="2780765" y="1825519"/>
              <a:ext cx="6390531" cy="392993"/>
            </a:xfrm>
            <a:prstGeom prst="rect">
              <a:avLst/>
            </a:prstGeom>
            <a:blipFill rotWithShape="1">
              <a:blip r:embed="rId5"/>
              <a:stretch>
                <a:fillRect l="-477" b="-16923"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defRPr/>
              </a:pPr>
              <a:r>
                <a:rPr lang="en-GB">
                  <a:noFill/>
                </a:rPr>
                <a:t> </a:t>
              </a: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699792" y="1825519"/>
              <a:ext cx="6358776" cy="406641"/>
            </a:xfrm>
            <a:prstGeom prst="rect">
              <a:avLst/>
            </a:prstGeom>
            <a:solidFill>
              <a:srgbClr val="00B050">
                <a:alpha val="19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8" name="Can 7"/>
          <p:cNvSpPr/>
          <p:nvPr/>
        </p:nvSpPr>
        <p:spPr>
          <a:xfrm rot="5400000">
            <a:off x="2745582" y="2815432"/>
            <a:ext cx="1152525" cy="2379662"/>
          </a:xfrm>
          <a:prstGeom prst="can">
            <a:avLst>
              <a:gd name="adj" fmla="val 10334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0" name="Can 69"/>
          <p:cNvSpPr/>
          <p:nvPr/>
        </p:nvSpPr>
        <p:spPr>
          <a:xfrm>
            <a:off x="7464425" y="2928939"/>
            <a:ext cx="1511300" cy="1857375"/>
          </a:xfrm>
          <a:prstGeom prst="can">
            <a:avLst>
              <a:gd name="adj" fmla="val 47902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5155" name="TextBox 2"/>
          <p:cNvSpPr txBox="1">
            <a:spLocks noChangeArrowheads="1"/>
          </p:cNvSpPr>
          <p:nvPr/>
        </p:nvSpPr>
        <p:spPr bwMode="auto">
          <a:xfrm>
            <a:off x="1501775" y="3141663"/>
            <a:ext cx="490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5156" name="TextBox 2"/>
          <p:cNvSpPr txBox="1">
            <a:spLocks noChangeArrowheads="1"/>
          </p:cNvSpPr>
          <p:nvPr/>
        </p:nvSpPr>
        <p:spPr bwMode="auto">
          <a:xfrm>
            <a:off x="6253164" y="3141663"/>
            <a:ext cx="490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5157" name="TextBox 8"/>
          <p:cNvSpPr txBox="1">
            <a:spLocks noChangeArrowheads="1"/>
          </p:cNvSpPr>
          <p:nvPr/>
        </p:nvSpPr>
        <p:spPr bwMode="auto">
          <a:xfrm>
            <a:off x="1620839" y="4895850"/>
            <a:ext cx="4537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/>
              <a:t>Calculate the volume of the cylinder</a:t>
            </a:r>
          </a:p>
        </p:txBody>
      </p:sp>
      <p:sp>
        <p:nvSpPr>
          <p:cNvPr id="5158" name="TextBox 73"/>
          <p:cNvSpPr txBox="1">
            <a:spLocks noChangeArrowheads="1"/>
          </p:cNvSpPr>
          <p:nvPr/>
        </p:nvSpPr>
        <p:spPr bwMode="auto">
          <a:xfrm>
            <a:off x="6497639" y="4859339"/>
            <a:ext cx="4535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/>
              <a:t>Calculate the volume of the cylinder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flipV="1">
            <a:off x="3949700" y="3995739"/>
            <a:ext cx="579438" cy="2222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0" name="TextBox 76"/>
          <p:cNvSpPr txBox="1">
            <a:spLocks noChangeArrowheads="1"/>
          </p:cNvSpPr>
          <p:nvPr/>
        </p:nvSpPr>
        <p:spPr bwMode="auto">
          <a:xfrm>
            <a:off x="2995613" y="4635501"/>
            <a:ext cx="7921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/>
              <a:t>15cm</a:t>
            </a:r>
          </a:p>
        </p:txBody>
      </p:sp>
      <p:cxnSp>
        <p:nvCxnSpPr>
          <p:cNvPr id="78" name="Straight Arrow Connector 77"/>
          <p:cNvCxnSpPr/>
          <p:nvPr/>
        </p:nvCxnSpPr>
        <p:spPr>
          <a:xfrm flipV="1">
            <a:off x="2582864" y="4657726"/>
            <a:ext cx="1366837" cy="2222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2" name="TextBox 78"/>
          <p:cNvSpPr txBox="1">
            <a:spLocks noChangeArrowheads="1"/>
          </p:cNvSpPr>
          <p:nvPr/>
        </p:nvSpPr>
        <p:spPr bwMode="auto">
          <a:xfrm>
            <a:off x="7967664" y="3230564"/>
            <a:ext cx="8715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/>
              <a:t>16m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flipV="1">
            <a:off x="7450138" y="3241675"/>
            <a:ext cx="1503362" cy="1905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V="1">
            <a:off x="9088438" y="3195639"/>
            <a:ext cx="0" cy="1323975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5" name="TextBox 82"/>
          <p:cNvSpPr txBox="1">
            <a:spLocks noChangeArrowheads="1"/>
          </p:cNvSpPr>
          <p:nvPr/>
        </p:nvSpPr>
        <p:spPr bwMode="auto">
          <a:xfrm>
            <a:off x="9021763" y="3700464"/>
            <a:ext cx="869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/>
              <a:t>18m</a:t>
            </a:r>
          </a:p>
        </p:txBody>
      </p:sp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632646" y="5251688"/>
            <a:ext cx="4751387" cy="307777"/>
          </a:xfrm>
          <a:prstGeom prst="rect">
            <a:avLst/>
          </a:prstGeom>
          <a:blipFill rotWithShape="1">
            <a:blip r:embed="rId6"/>
            <a:stretch>
              <a:fillRect l="-385" t="-1961" b="-17647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1646238" y="5580064"/>
            <a:ext cx="208121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Volume of a cylinder =</a:t>
            </a:r>
          </a:p>
        </p:txBody>
      </p:sp>
      <p:sp>
        <p:nvSpPr>
          <p:cNvPr id="39" name="Rectangle 38"/>
          <p:cNvSpPr>
            <a:spLocks noChangeArrowheads="1"/>
          </p:cNvSpPr>
          <p:nvPr/>
        </p:nvSpPr>
        <p:spPr bwMode="auto">
          <a:xfrm>
            <a:off x="3829050" y="5583239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3983038" y="5575301"/>
            <a:ext cx="2841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4133850" y="5583239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4300539" y="5573714"/>
            <a:ext cx="2825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4452939" y="5562600"/>
            <a:ext cx="27463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4587875" y="5575301"/>
            <a:ext cx="3825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15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1644650" y="5899150"/>
            <a:ext cx="2082800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 b="1">
                <a:solidFill>
                  <a:srgbClr val="7030A0"/>
                </a:solidFill>
              </a:rPr>
              <a:t>Volume of a cylinder =</a:t>
            </a:r>
          </a:p>
        </p:txBody>
      </p:sp>
      <p:sp>
        <p:nvSpPr>
          <p:cNvPr id="46" name="Rectangle 45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3594130" y="5898471"/>
            <a:ext cx="1075359" cy="312586"/>
          </a:xfrm>
          <a:prstGeom prst="rect">
            <a:avLst/>
          </a:prstGeom>
          <a:blipFill rotWithShape="1">
            <a:blip r:embed="rId7"/>
            <a:stretch>
              <a:fillRect l="-1705" b="-19608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48" name="Rectangle 4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323340" y="5566754"/>
            <a:ext cx="569387" cy="307777"/>
          </a:xfrm>
          <a:prstGeom prst="rect">
            <a:avLst/>
          </a:prstGeom>
          <a:blipFill rotWithShape="1">
            <a:blip r:embed="rId8"/>
            <a:stretch>
              <a:fillRect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49" name="TextBox 4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528049" y="5242849"/>
            <a:ext cx="4751387" cy="307777"/>
          </a:xfrm>
          <a:prstGeom prst="rect">
            <a:avLst/>
          </a:prstGeom>
          <a:blipFill rotWithShape="1">
            <a:blip r:embed="rId6"/>
            <a:stretch>
              <a:fillRect l="-385" t="-1961" b="-17647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6542088" y="5570539"/>
            <a:ext cx="20812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Volume of a cylinder =</a:t>
            </a:r>
          </a:p>
        </p:txBody>
      </p:sp>
      <p:sp>
        <p:nvSpPr>
          <p:cNvPr id="51" name="Rectangle 50"/>
          <p:cNvSpPr>
            <a:spLocks noChangeArrowheads="1"/>
          </p:cNvSpPr>
          <p:nvPr/>
        </p:nvSpPr>
        <p:spPr bwMode="auto">
          <a:xfrm>
            <a:off x="8724900" y="5573714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8878888" y="5567364"/>
            <a:ext cx="2841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9029700" y="5573714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9194801" y="5564189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9348789" y="5553076"/>
            <a:ext cx="274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9483725" y="5567364"/>
            <a:ext cx="382588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18</a:t>
            </a:r>
          </a:p>
        </p:txBody>
      </p:sp>
      <p:sp>
        <p:nvSpPr>
          <p:cNvPr id="57" name="TextBox 56"/>
          <p:cNvSpPr txBox="1">
            <a:spLocks noChangeArrowheads="1"/>
          </p:cNvSpPr>
          <p:nvPr/>
        </p:nvSpPr>
        <p:spPr bwMode="auto">
          <a:xfrm>
            <a:off x="6540501" y="5889626"/>
            <a:ext cx="20812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 b="1">
                <a:solidFill>
                  <a:srgbClr val="7030A0"/>
                </a:solidFill>
              </a:rPr>
              <a:t>Volume of a cylinder =</a:t>
            </a:r>
          </a:p>
        </p:txBody>
      </p:sp>
      <p:sp>
        <p:nvSpPr>
          <p:cNvPr id="58" name="Rectangle 57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489533" y="5889632"/>
            <a:ext cx="983987" cy="312586"/>
          </a:xfrm>
          <a:prstGeom prst="rect">
            <a:avLst/>
          </a:prstGeom>
          <a:blipFill rotWithShape="1">
            <a:blip r:embed="rId9"/>
            <a:stretch>
              <a:fillRect l="-1863" b="-19608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9291639" y="5881689"/>
            <a:ext cx="85883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 b="1">
                <a:solidFill>
                  <a:srgbClr val="7030A0"/>
                </a:solidFill>
              </a:rPr>
              <a:t>(1d.p.)</a:t>
            </a:r>
          </a:p>
        </p:txBody>
      </p:sp>
    </p:spTree>
    <p:extLst>
      <p:ext uri="{BB962C8B-B14F-4D97-AF65-F5344CB8AC3E}">
        <p14:creationId xmlns:p14="http://schemas.microsoft.com/office/powerpoint/2010/main" val="837260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46" t="10997" r="17014" b="71927"/>
          <a:stretch>
            <a:fillRect/>
          </a:stretch>
        </p:blipFill>
        <p:spPr bwMode="auto">
          <a:xfrm>
            <a:off x="5070476" y="4413250"/>
            <a:ext cx="2574925" cy="1665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14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22" t="10080" r="15508" b="70599"/>
          <a:stretch>
            <a:fillRect/>
          </a:stretch>
        </p:blipFill>
        <p:spPr bwMode="auto">
          <a:xfrm>
            <a:off x="2082801" y="4283076"/>
            <a:ext cx="2538413" cy="217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152400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6167" name="Rectangle 9"/>
          <p:cNvSpPr>
            <a:spLocks noChangeArrowheads="1"/>
          </p:cNvSpPr>
          <p:nvPr/>
        </p:nvSpPr>
        <p:spPr bwMode="auto">
          <a:xfrm>
            <a:off x="1524001" y="42862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PLT Skills</a:t>
            </a:r>
          </a:p>
        </p:txBody>
      </p:sp>
      <p:sp>
        <p:nvSpPr>
          <p:cNvPr id="61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18325" y="142875"/>
            <a:ext cx="3786188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Which ones are you using?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6171" name="Text Box 40"/>
          <p:cNvSpPr txBox="1">
            <a:spLocks noChangeArrowheads="1"/>
          </p:cNvSpPr>
          <p:nvPr/>
        </p:nvSpPr>
        <p:spPr bwMode="auto">
          <a:xfrm>
            <a:off x="1473201" y="981076"/>
            <a:ext cx="5102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TASK (GRADE C)  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6172" name="Rectangle 1"/>
          <p:cNvSpPr>
            <a:spLocks noChangeArrowheads="1"/>
          </p:cNvSpPr>
          <p:nvPr/>
        </p:nvSpPr>
        <p:spPr bwMode="auto">
          <a:xfrm>
            <a:off x="1492250" y="1350963"/>
            <a:ext cx="906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Calculate the volume for each of the cylinders to 2d.p. below:</a:t>
            </a:r>
          </a:p>
        </p:txBody>
      </p:sp>
      <p:sp>
        <p:nvSpPr>
          <p:cNvPr id="6173" name="TextBox 2"/>
          <p:cNvSpPr txBox="1">
            <a:spLocks noChangeArrowheads="1"/>
          </p:cNvSpPr>
          <p:nvPr/>
        </p:nvSpPr>
        <p:spPr bwMode="auto">
          <a:xfrm>
            <a:off x="1487488" y="1844675"/>
            <a:ext cx="500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1)</a:t>
            </a:r>
          </a:p>
        </p:txBody>
      </p:sp>
      <p:sp>
        <p:nvSpPr>
          <p:cNvPr id="6174" name="TextBox 30"/>
          <p:cNvSpPr txBox="1">
            <a:spLocks noChangeArrowheads="1"/>
          </p:cNvSpPr>
          <p:nvPr/>
        </p:nvSpPr>
        <p:spPr bwMode="auto">
          <a:xfrm>
            <a:off x="4371976" y="1844675"/>
            <a:ext cx="500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2)</a:t>
            </a:r>
          </a:p>
        </p:txBody>
      </p:sp>
      <p:sp>
        <p:nvSpPr>
          <p:cNvPr id="6175" name="TextBox 31"/>
          <p:cNvSpPr txBox="1">
            <a:spLocks noChangeArrowheads="1"/>
          </p:cNvSpPr>
          <p:nvPr/>
        </p:nvSpPr>
        <p:spPr bwMode="auto">
          <a:xfrm>
            <a:off x="7324726" y="1844675"/>
            <a:ext cx="500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3)</a:t>
            </a:r>
          </a:p>
        </p:txBody>
      </p:sp>
      <p:sp>
        <p:nvSpPr>
          <p:cNvPr id="6176" name="TextBox 32"/>
          <p:cNvSpPr txBox="1">
            <a:spLocks noChangeArrowheads="1"/>
          </p:cNvSpPr>
          <p:nvPr/>
        </p:nvSpPr>
        <p:spPr bwMode="auto">
          <a:xfrm>
            <a:off x="1487488" y="4365625"/>
            <a:ext cx="500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4)</a:t>
            </a:r>
          </a:p>
        </p:txBody>
      </p:sp>
      <p:sp>
        <p:nvSpPr>
          <p:cNvPr id="6177" name="TextBox 33"/>
          <p:cNvSpPr txBox="1">
            <a:spLocks noChangeArrowheads="1"/>
          </p:cNvSpPr>
          <p:nvPr/>
        </p:nvSpPr>
        <p:spPr bwMode="auto">
          <a:xfrm>
            <a:off x="4443413" y="4324350"/>
            <a:ext cx="500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5)</a:t>
            </a:r>
          </a:p>
        </p:txBody>
      </p:sp>
      <p:sp>
        <p:nvSpPr>
          <p:cNvPr id="6178" name="TextBox 34"/>
          <p:cNvSpPr txBox="1">
            <a:spLocks noChangeArrowheads="1"/>
          </p:cNvSpPr>
          <p:nvPr/>
        </p:nvSpPr>
        <p:spPr bwMode="auto">
          <a:xfrm>
            <a:off x="7396163" y="4252913"/>
            <a:ext cx="500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FF0000"/>
                </a:solidFill>
              </a:rPr>
              <a:t>6)</a:t>
            </a:r>
          </a:p>
        </p:txBody>
      </p:sp>
      <p:sp>
        <p:nvSpPr>
          <p:cNvPr id="6179" name="Title 1"/>
          <p:cNvSpPr txBox="1">
            <a:spLocks/>
          </p:cNvSpPr>
          <p:nvPr/>
        </p:nvSpPr>
        <p:spPr bwMode="auto">
          <a:xfrm>
            <a:off x="982663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VOLUME OF CYLINDERS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pic>
        <p:nvPicPr>
          <p:cNvPr id="618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8" t="21680" r="64256" b="57159"/>
          <a:stretch>
            <a:fillRect/>
          </a:stretch>
        </p:blipFill>
        <p:spPr bwMode="auto">
          <a:xfrm>
            <a:off x="2055813" y="1865314"/>
            <a:ext cx="2316162" cy="2003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181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8" t="18753" r="68616" b="61864"/>
          <a:stretch>
            <a:fillRect/>
          </a:stretch>
        </p:blipFill>
        <p:spPr bwMode="auto">
          <a:xfrm>
            <a:off x="4872038" y="1909763"/>
            <a:ext cx="2417762" cy="20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182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26" t="18683" r="70323" b="61768"/>
          <a:stretch>
            <a:fillRect/>
          </a:stretch>
        </p:blipFill>
        <p:spPr bwMode="auto">
          <a:xfrm>
            <a:off x="8032750" y="1884363"/>
            <a:ext cx="2311400" cy="205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618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20" t="12506" r="16629" b="59242"/>
          <a:stretch>
            <a:fillRect/>
          </a:stretch>
        </p:blipFill>
        <p:spPr bwMode="auto">
          <a:xfrm>
            <a:off x="8040689" y="4395789"/>
            <a:ext cx="2555875" cy="191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19537" y="3773528"/>
            <a:ext cx="2180447" cy="375552"/>
          </a:xfrm>
          <a:prstGeom prst="rect">
            <a:avLst/>
          </a:prstGeom>
          <a:blipFill rotWithShape="1">
            <a:blip r:embed="rId9"/>
            <a:stretch>
              <a:fillRect l="-2514" t="-4839" b="-25806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31" name="TextBox 3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23666" y="3773528"/>
            <a:ext cx="2180447" cy="375552"/>
          </a:xfrm>
          <a:prstGeom prst="rect">
            <a:avLst/>
          </a:prstGeom>
          <a:blipFill rotWithShape="1">
            <a:blip r:embed="rId10"/>
            <a:stretch>
              <a:fillRect l="-2521" t="-4839" b="-25806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32" name="TextBox 3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896201" y="3845536"/>
            <a:ext cx="2180447" cy="375552"/>
          </a:xfrm>
          <a:prstGeom prst="rect">
            <a:avLst/>
          </a:prstGeom>
          <a:blipFill rotWithShape="1">
            <a:blip r:embed="rId11"/>
            <a:stretch>
              <a:fillRect l="-2235" t="-4918" b="-27869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33" name="TextBox 3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991545" y="6293808"/>
            <a:ext cx="2180447" cy="375552"/>
          </a:xfrm>
          <a:prstGeom prst="rect">
            <a:avLst/>
          </a:prstGeom>
          <a:blipFill rotWithShape="1">
            <a:blip r:embed="rId12"/>
            <a:stretch>
              <a:fillRect l="-2521" t="-4839" b="-25806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34" name="TextBox 3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11698" y="6293808"/>
            <a:ext cx="2180447" cy="375552"/>
          </a:xfrm>
          <a:prstGeom prst="rect">
            <a:avLst/>
          </a:prstGeom>
          <a:blipFill rotWithShape="1">
            <a:blip r:embed="rId13"/>
            <a:stretch>
              <a:fillRect l="-2514" t="-4839" b="-25806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35" name="TextBox 3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56241" y="6293808"/>
            <a:ext cx="2180447" cy="375552"/>
          </a:xfrm>
          <a:prstGeom prst="rect">
            <a:avLst/>
          </a:prstGeom>
          <a:blipFill rotWithShape="1">
            <a:blip r:embed="rId14"/>
            <a:stretch>
              <a:fillRect l="-2235" t="-4839" b="-25806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71169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4" t="17354" r="53906" b="57919"/>
          <a:stretch>
            <a:fillRect/>
          </a:stretch>
        </p:blipFill>
        <p:spPr bwMode="auto">
          <a:xfrm>
            <a:off x="7905750" y="1812925"/>
            <a:ext cx="2654300" cy="1925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17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4" t="42986" r="35117" b="34154"/>
          <a:stretch>
            <a:fillRect/>
          </a:stretch>
        </p:blipFill>
        <p:spPr bwMode="auto">
          <a:xfrm>
            <a:off x="4722814" y="4421188"/>
            <a:ext cx="2668587" cy="1928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17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44" t="17514" r="53368" b="59248"/>
          <a:stretch>
            <a:fillRect/>
          </a:stretch>
        </p:blipFill>
        <p:spPr bwMode="auto">
          <a:xfrm>
            <a:off x="7848601" y="4262439"/>
            <a:ext cx="2663825" cy="2039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60" t="16420" r="55383" b="59412"/>
          <a:stretch>
            <a:fillRect/>
          </a:stretch>
        </p:blipFill>
        <p:spPr bwMode="auto">
          <a:xfrm>
            <a:off x="1703388" y="4276726"/>
            <a:ext cx="2741612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7174" name="Line 4"/>
          <p:cNvSpPr>
            <a:spLocks noChangeShapeType="1"/>
          </p:cNvSpPr>
          <p:nvPr/>
        </p:nvSpPr>
        <p:spPr bwMode="auto">
          <a:xfrm>
            <a:off x="152400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7193" name="Rectangle 9"/>
          <p:cNvSpPr>
            <a:spLocks noChangeArrowheads="1"/>
          </p:cNvSpPr>
          <p:nvPr/>
        </p:nvSpPr>
        <p:spPr bwMode="auto">
          <a:xfrm>
            <a:off x="1524001" y="42862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PLT Skills</a:t>
            </a:r>
          </a:p>
        </p:txBody>
      </p:sp>
      <p:sp>
        <p:nvSpPr>
          <p:cNvPr id="7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918325" y="142875"/>
            <a:ext cx="3786188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Which ones are you using?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7197" name="Text Box 40"/>
          <p:cNvSpPr txBox="1">
            <a:spLocks noChangeArrowheads="1"/>
          </p:cNvSpPr>
          <p:nvPr/>
        </p:nvSpPr>
        <p:spPr bwMode="auto">
          <a:xfrm>
            <a:off x="1473201" y="981076"/>
            <a:ext cx="5102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660066"/>
                </a:solidFill>
              </a:rPr>
              <a:t>EXTENSION (GRADE C)</a:t>
            </a:r>
            <a:endParaRPr lang="en-US" altLang="en-US" sz="2400" b="1" u="sng">
              <a:solidFill>
                <a:srgbClr val="660066"/>
              </a:solidFill>
            </a:endParaRPr>
          </a:p>
        </p:txBody>
      </p:sp>
      <p:sp>
        <p:nvSpPr>
          <p:cNvPr id="7198" name="Rectangle 1"/>
          <p:cNvSpPr>
            <a:spLocks noChangeArrowheads="1"/>
          </p:cNvSpPr>
          <p:nvPr/>
        </p:nvSpPr>
        <p:spPr bwMode="auto">
          <a:xfrm>
            <a:off x="1492250" y="1350963"/>
            <a:ext cx="9067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/>
              <a:t>Calculate the missing lengths for each of the cylinders below:</a:t>
            </a:r>
          </a:p>
        </p:txBody>
      </p:sp>
      <p:sp>
        <p:nvSpPr>
          <p:cNvPr id="7199" name="TextBox 2"/>
          <p:cNvSpPr txBox="1">
            <a:spLocks noChangeArrowheads="1"/>
          </p:cNvSpPr>
          <p:nvPr/>
        </p:nvSpPr>
        <p:spPr bwMode="auto">
          <a:xfrm>
            <a:off x="1487488" y="1844675"/>
            <a:ext cx="500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1)</a:t>
            </a:r>
          </a:p>
        </p:txBody>
      </p:sp>
      <p:sp>
        <p:nvSpPr>
          <p:cNvPr id="7200" name="TextBox 30"/>
          <p:cNvSpPr txBox="1">
            <a:spLocks noChangeArrowheads="1"/>
          </p:cNvSpPr>
          <p:nvPr/>
        </p:nvSpPr>
        <p:spPr bwMode="auto">
          <a:xfrm>
            <a:off x="4371976" y="1844675"/>
            <a:ext cx="500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2)</a:t>
            </a:r>
          </a:p>
        </p:txBody>
      </p:sp>
      <p:sp>
        <p:nvSpPr>
          <p:cNvPr id="7201" name="TextBox 31"/>
          <p:cNvSpPr txBox="1">
            <a:spLocks noChangeArrowheads="1"/>
          </p:cNvSpPr>
          <p:nvPr/>
        </p:nvSpPr>
        <p:spPr bwMode="auto">
          <a:xfrm>
            <a:off x="7324726" y="1844675"/>
            <a:ext cx="500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3)</a:t>
            </a:r>
          </a:p>
        </p:txBody>
      </p:sp>
      <p:sp>
        <p:nvSpPr>
          <p:cNvPr id="7202" name="TextBox 32"/>
          <p:cNvSpPr txBox="1">
            <a:spLocks noChangeArrowheads="1"/>
          </p:cNvSpPr>
          <p:nvPr/>
        </p:nvSpPr>
        <p:spPr bwMode="auto">
          <a:xfrm>
            <a:off x="1487488" y="4333875"/>
            <a:ext cx="5000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4)</a:t>
            </a:r>
          </a:p>
        </p:txBody>
      </p:sp>
      <p:sp>
        <p:nvSpPr>
          <p:cNvPr id="7203" name="TextBox 33"/>
          <p:cNvSpPr txBox="1">
            <a:spLocks noChangeArrowheads="1"/>
          </p:cNvSpPr>
          <p:nvPr/>
        </p:nvSpPr>
        <p:spPr bwMode="auto">
          <a:xfrm>
            <a:off x="4443413" y="4292600"/>
            <a:ext cx="500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5)</a:t>
            </a:r>
          </a:p>
        </p:txBody>
      </p:sp>
      <p:sp>
        <p:nvSpPr>
          <p:cNvPr id="7204" name="TextBox 34"/>
          <p:cNvSpPr txBox="1">
            <a:spLocks noChangeArrowheads="1"/>
          </p:cNvSpPr>
          <p:nvPr/>
        </p:nvSpPr>
        <p:spPr bwMode="auto">
          <a:xfrm>
            <a:off x="7396163" y="4221163"/>
            <a:ext cx="5000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7030A0"/>
                </a:solidFill>
              </a:rPr>
              <a:t>6)</a:t>
            </a:r>
          </a:p>
        </p:txBody>
      </p:sp>
      <p:sp>
        <p:nvSpPr>
          <p:cNvPr id="7205" name="Title 1"/>
          <p:cNvSpPr txBox="1">
            <a:spLocks/>
          </p:cNvSpPr>
          <p:nvPr/>
        </p:nvSpPr>
        <p:spPr bwMode="auto">
          <a:xfrm>
            <a:off x="982663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VOLUME OF CYLINDERS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665289" y="3589338"/>
            <a:ext cx="2179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>
                <a:solidFill>
                  <a:srgbClr val="7030A0"/>
                </a:solidFill>
              </a:rPr>
              <a:t>r = 10cm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722814" y="3508375"/>
            <a:ext cx="2179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>
                <a:solidFill>
                  <a:srgbClr val="7030A0"/>
                </a:solidFill>
              </a:rPr>
              <a:t>r = 8cm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7896225" y="3505200"/>
            <a:ext cx="2179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>
                <a:solidFill>
                  <a:srgbClr val="7030A0"/>
                </a:solidFill>
              </a:rPr>
              <a:t>d = 14cm</a:t>
            </a:r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1703389" y="6262688"/>
            <a:ext cx="2181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>
                <a:solidFill>
                  <a:srgbClr val="7030A0"/>
                </a:solidFill>
              </a:rPr>
              <a:t>d = 24cm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4624389" y="6262688"/>
            <a:ext cx="2181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>
                <a:solidFill>
                  <a:srgbClr val="7030A0"/>
                </a:solidFill>
              </a:rPr>
              <a:t>d = 18cm</a:t>
            </a: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7680325" y="6269038"/>
            <a:ext cx="21796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2000" b="1">
                <a:solidFill>
                  <a:srgbClr val="7030A0"/>
                </a:solidFill>
              </a:rPr>
              <a:t>r = 6cm</a:t>
            </a:r>
          </a:p>
        </p:txBody>
      </p:sp>
      <p:pic>
        <p:nvPicPr>
          <p:cNvPr id="721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5" t="17442" r="57275" b="60300"/>
          <a:stretch>
            <a:fillRect/>
          </a:stretch>
        </p:blipFill>
        <p:spPr bwMode="auto">
          <a:xfrm>
            <a:off x="1779589" y="1879601"/>
            <a:ext cx="2605087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pic>
        <p:nvPicPr>
          <p:cNvPr id="7213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0" t="17274" r="54732" b="60486"/>
          <a:stretch>
            <a:fillRect/>
          </a:stretch>
        </p:blipFill>
        <p:spPr bwMode="auto">
          <a:xfrm>
            <a:off x="4722814" y="1787526"/>
            <a:ext cx="2447925" cy="176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8199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1" grpId="0"/>
      <p:bldP spid="32" grpId="0"/>
      <p:bldP spid="33" grpId="0"/>
      <p:bldP spid="34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4"/>
          <p:cNvSpPr>
            <a:spLocks noChangeShapeType="1"/>
          </p:cNvSpPr>
          <p:nvPr/>
        </p:nvSpPr>
        <p:spPr bwMode="auto">
          <a:xfrm>
            <a:off x="1524000" y="98107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8213" name="Rectangle 9"/>
          <p:cNvSpPr>
            <a:spLocks noChangeArrowheads="1"/>
          </p:cNvSpPr>
          <p:nvPr/>
        </p:nvSpPr>
        <p:spPr bwMode="auto">
          <a:xfrm>
            <a:off x="1524001" y="42862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PLT Skills</a:t>
            </a:r>
          </a:p>
        </p:txBody>
      </p:sp>
      <p:sp>
        <p:nvSpPr>
          <p:cNvPr id="82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81814" y="142875"/>
            <a:ext cx="3786187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Which ones are you using?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8217" name="Text Box 6"/>
          <p:cNvSpPr txBox="1">
            <a:spLocks noChangeArrowheads="1"/>
          </p:cNvSpPr>
          <p:nvPr/>
        </p:nvSpPr>
        <p:spPr bwMode="auto">
          <a:xfrm>
            <a:off x="1344613" y="928688"/>
            <a:ext cx="9144001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2400" b="1" u="sng">
                <a:solidFill>
                  <a:srgbClr val="FF0000"/>
                </a:solidFill>
              </a:rPr>
              <a:t>MINI-PLENARY</a:t>
            </a:r>
            <a:endParaRPr lang="en-US" altLang="en-US" sz="2400" b="1" u="sng">
              <a:solidFill>
                <a:srgbClr val="FF0000"/>
              </a:solidFill>
            </a:endParaRPr>
          </a:p>
        </p:txBody>
      </p:sp>
      <p:sp>
        <p:nvSpPr>
          <p:cNvPr id="8218" name="TextBox 2"/>
          <p:cNvSpPr txBox="1">
            <a:spLocks noChangeArrowheads="1"/>
          </p:cNvSpPr>
          <p:nvPr/>
        </p:nvSpPr>
        <p:spPr bwMode="auto">
          <a:xfrm>
            <a:off x="1558925" y="1497014"/>
            <a:ext cx="89296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2000"/>
              <a:t>A metal bar is 1m long and has a diameter of 6cm. What is the volume of the metal bar?</a:t>
            </a:r>
          </a:p>
        </p:txBody>
      </p:sp>
      <p:sp>
        <p:nvSpPr>
          <p:cNvPr id="8219" name="Title 1"/>
          <p:cNvSpPr txBox="1">
            <a:spLocks/>
          </p:cNvSpPr>
          <p:nvPr/>
        </p:nvSpPr>
        <p:spPr bwMode="auto">
          <a:xfrm>
            <a:off x="982663" y="476250"/>
            <a:ext cx="8229601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/>
            <a:r>
              <a:rPr lang="en-GB" altLang="en-US" sz="2800" b="1" u="sng">
                <a:solidFill>
                  <a:schemeClr val="tx2"/>
                </a:solidFill>
              </a:rPr>
              <a:t>VOLUME OF CYLINDERS </a:t>
            </a:r>
            <a:endParaRPr lang="en-GB" altLang="en-US" sz="2800">
              <a:solidFill>
                <a:schemeClr val="tx2"/>
              </a:solidFill>
            </a:endParaRPr>
          </a:p>
        </p:txBody>
      </p:sp>
      <p:sp>
        <p:nvSpPr>
          <p:cNvPr id="27" name="TextBox 76"/>
          <p:cNvSpPr txBox="1">
            <a:spLocks noChangeArrowheads="1"/>
          </p:cNvSpPr>
          <p:nvPr/>
        </p:nvSpPr>
        <p:spPr bwMode="auto">
          <a:xfrm>
            <a:off x="5649913" y="3806826"/>
            <a:ext cx="7921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100cm</a:t>
            </a:r>
          </a:p>
        </p:txBody>
      </p:sp>
      <p:sp>
        <p:nvSpPr>
          <p:cNvPr id="31" name="TextBox 76"/>
          <p:cNvSpPr txBox="1">
            <a:spLocks noChangeArrowheads="1"/>
          </p:cNvSpPr>
          <p:nvPr/>
        </p:nvSpPr>
        <p:spPr bwMode="auto">
          <a:xfrm>
            <a:off x="8027989" y="3127376"/>
            <a:ext cx="7191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3cm</a:t>
            </a:r>
          </a:p>
        </p:txBody>
      </p:sp>
      <p:sp>
        <p:nvSpPr>
          <p:cNvPr id="32" name="Rectangle 31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803060" y="4689010"/>
            <a:ext cx="569387" cy="307777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33" name="TextBox 3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007769" y="4365105"/>
            <a:ext cx="4751387" cy="307777"/>
          </a:xfrm>
          <a:prstGeom prst="rect">
            <a:avLst/>
          </a:prstGeom>
          <a:blipFill rotWithShape="1">
            <a:blip r:embed="rId4"/>
            <a:stretch>
              <a:fillRect l="-256" t="-1961" b="-17647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4021138" y="4692651"/>
            <a:ext cx="2082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Volume of metal bar =</a:t>
            </a:r>
          </a:p>
        </p:txBody>
      </p:sp>
      <p:sp>
        <p:nvSpPr>
          <p:cNvPr id="40" name="Rectangle 39"/>
          <p:cNvSpPr>
            <a:spLocks noChangeArrowheads="1"/>
          </p:cNvSpPr>
          <p:nvPr/>
        </p:nvSpPr>
        <p:spPr bwMode="auto">
          <a:xfrm>
            <a:off x="6203950" y="4695826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6357938" y="4689476"/>
            <a:ext cx="2841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2" name="Rectangle 41"/>
          <p:cNvSpPr>
            <a:spLocks noChangeArrowheads="1"/>
          </p:cNvSpPr>
          <p:nvPr/>
        </p:nvSpPr>
        <p:spPr bwMode="auto">
          <a:xfrm>
            <a:off x="6508750" y="4695826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3" name="Rectangle 42"/>
          <p:cNvSpPr>
            <a:spLocks noChangeArrowheads="1"/>
          </p:cNvSpPr>
          <p:nvPr/>
        </p:nvSpPr>
        <p:spPr bwMode="auto">
          <a:xfrm>
            <a:off x="6675438" y="4686301"/>
            <a:ext cx="2841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44" name="Rectangle 43"/>
          <p:cNvSpPr>
            <a:spLocks noChangeArrowheads="1"/>
          </p:cNvSpPr>
          <p:nvPr/>
        </p:nvSpPr>
        <p:spPr bwMode="auto">
          <a:xfrm>
            <a:off x="6827839" y="4675189"/>
            <a:ext cx="274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45" name="Rectangle 44"/>
          <p:cNvSpPr>
            <a:spLocks noChangeArrowheads="1"/>
          </p:cNvSpPr>
          <p:nvPr/>
        </p:nvSpPr>
        <p:spPr bwMode="auto">
          <a:xfrm>
            <a:off x="6962775" y="4689476"/>
            <a:ext cx="482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100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19550" y="5011739"/>
            <a:ext cx="20828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 b="1">
                <a:solidFill>
                  <a:srgbClr val="7030A0"/>
                </a:solidFill>
              </a:rPr>
              <a:t>Volume of metal bar =</a:t>
            </a:r>
          </a:p>
        </p:txBody>
      </p:sp>
      <p:sp>
        <p:nvSpPr>
          <p:cNvPr id="47" name="Rectangle 46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969253" y="5011888"/>
            <a:ext cx="926279" cy="312586"/>
          </a:xfrm>
          <a:prstGeom prst="rect">
            <a:avLst/>
          </a:prstGeom>
          <a:blipFill rotWithShape="1">
            <a:blip r:embed="rId5"/>
            <a:stretch>
              <a:fillRect l="-1316" b="-19608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3503614" y="2693989"/>
            <a:ext cx="5184775" cy="1112837"/>
            <a:chOff x="1979712" y="2693486"/>
            <a:chExt cx="5184576" cy="1112970"/>
          </a:xfrm>
        </p:grpSpPr>
        <p:grpSp>
          <p:nvGrpSpPr>
            <p:cNvPr id="8234" name="Group 5"/>
            <p:cNvGrpSpPr>
              <a:grpSpLocks/>
            </p:cNvGrpSpPr>
            <p:nvPr/>
          </p:nvGrpSpPr>
          <p:grpSpPr bwMode="auto">
            <a:xfrm>
              <a:off x="1979712" y="2693486"/>
              <a:ext cx="5184576" cy="1112970"/>
              <a:chOff x="1979712" y="2693486"/>
              <a:chExt cx="5184576" cy="1112970"/>
            </a:xfrm>
          </p:grpSpPr>
          <p:sp>
            <p:nvSpPr>
              <p:cNvPr id="2" name="Flowchart: Direct Access Storage 1"/>
              <p:cNvSpPr/>
              <p:nvPr/>
            </p:nvSpPr>
            <p:spPr>
              <a:xfrm>
                <a:off x="1979712" y="2693486"/>
                <a:ext cx="5184576" cy="1024059"/>
              </a:xfrm>
              <a:prstGeom prst="flowChartMagneticDrum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cxnSp>
            <p:nvCxnSpPr>
              <p:cNvPr id="4" name="Straight Arrow Connector 3"/>
              <p:cNvCxnSpPr/>
              <p:nvPr/>
            </p:nvCxnSpPr>
            <p:spPr>
              <a:xfrm>
                <a:off x="2676597" y="3806456"/>
                <a:ext cx="352411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6397554" y="3182494"/>
                <a:ext cx="76673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235" name="TextBox 6"/>
            <p:cNvSpPr txBox="1">
              <a:spLocks noChangeArrowheads="1"/>
            </p:cNvSpPr>
            <p:nvPr/>
          </p:nvSpPr>
          <p:spPr bwMode="auto">
            <a:xfrm>
              <a:off x="3211480" y="2996952"/>
              <a:ext cx="153680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GB" altLang="en-US" b="1"/>
                <a:t>METAL BAR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918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1" grpId="0"/>
      <p:bldP spid="38" grpId="0"/>
      <p:bldP spid="40" grpId="0"/>
      <p:bldP spid="41" grpId="0"/>
      <p:bldP spid="42" grpId="0"/>
      <p:bldP spid="43" grpId="0"/>
      <p:bldP spid="44" grpId="0"/>
      <p:bldP spid="45" grpId="0"/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6"/>
          <p:cNvGrpSpPr>
            <a:grpSpLocks/>
          </p:cNvGrpSpPr>
          <p:nvPr/>
        </p:nvGrpSpPr>
        <p:grpSpPr bwMode="auto">
          <a:xfrm>
            <a:off x="1631951" y="1412875"/>
            <a:ext cx="5616575" cy="5240338"/>
            <a:chOff x="107504" y="1412776"/>
            <a:chExt cx="5616624" cy="5240509"/>
          </a:xfrm>
        </p:grpSpPr>
        <p:pic>
          <p:nvPicPr>
            <p:cNvPr id="10256" name="Picture 18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307" t="17242" r="30284" b="26869"/>
            <a:stretch>
              <a:fillRect/>
            </a:stretch>
          </p:blipFill>
          <p:spPr bwMode="auto">
            <a:xfrm>
              <a:off x="107504" y="1412776"/>
              <a:ext cx="5404515" cy="52405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sp>
          <p:nvSpPr>
            <p:cNvPr id="3" name="Rectangle 2"/>
            <p:cNvSpPr/>
            <p:nvPr/>
          </p:nvSpPr>
          <p:spPr>
            <a:xfrm>
              <a:off x="4860520" y="5589625"/>
              <a:ext cx="863608" cy="576281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</p:grp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1524000" y="0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GB" altLang="en-US" sz="3600" b="1" u="sng"/>
              <a:t>PLENARY ACTIVITY</a:t>
            </a:r>
            <a:endParaRPr lang="en-US" altLang="en-US" sz="3600" b="1" u="sng"/>
          </a:p>
        </p:txBody>
      </p:sp>
      <p:sp>
        <p:nvSpPr>
          <p:cNvPr id="10244" name="Text Box 40"/>
          <p:cNvSpPr txBox="1">
            <a:spLocks noChangeArrowheads="1"/>
          </p:cNvSpPr>
          <p:nvPr/>
        </p:nvSpPr>
        <p:spPr bwMode="auto">
          <a:xfrm>
            <a:off x="1681163" y="684213"/>
            <a:ext cx="89519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200" b="1" u="sng">
                <a:solidFill>
                  <a:srgbClr val="FF0000"/>
                </a:solidFill>
              </a:rPr>
              <a:t>GRADE C EXAM QUESTION (non-calculator)</a:t>
            </a:r>
            <a:endParaRPr lang="en-US" altLang="en-US" sz="3200" b="1" u="sng">
              <a:solidFill>
                <a:srgbClr val="FF0000"/>
              </a:solidFill>
            </a:endParaRPr>
          </a:p>
        </p:txBody>
      </p:sp>
      <p:sp>
        <p:nvSpPr>
          <p:cNvPr id="20" name="Rectangle 1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904939" y="5035402"/>
            <a:ext cx="344004" cy="307777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21" name="TextBox 2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6001" y="4725145"/>
            <a:ext cx="4751387" cy="307777"/>
          </a:xfrm>
          <a:prstGeom prst="rect">
            <a:avLst/>
          </a:prstGeom>
          <a:blipFill rotWithShape="1">
            <a:blip r:embed="rId4"/>
            <a:stretch>
              <a:fillRect l="-257" t="-1961" b="-17647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6110288" y="5053014"/>
            <a:ext cx="20812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Volume of a cylinder =</a:t>
            </a:r>
          </a:p>
        </p:txBody>
      </p: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8085139" y="5029201"/>
            <a:ext cx="274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8239126" y="5035551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8389939" y="5029201"/>
            <a:ext cx="27463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8555038" y="5032376"/>
            <a:ext cx="2841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7" name="Rectangle 26"/>
          <p:cNvSpPr>
            <a:spLocks noChangeArrowheads="1"/>
          </p:cNvSpPr>
          <p:nvPr/>
        </p:nvSpPr>
        <p:spPr bwMode="auto">
          <a:xfrm>
            <a:off x="8709025" y="5021264"/>
            <a:ext cx="2746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28" name="Rectangle 27"/>
          <p:cNvSpPr>
            <a:spLocks noChangeArrowheads="1"/>
          </p:cNvSpPr>
          <p:nvPr/>
        </p:nvSpPr>
        <p:spPr bwMode="auto">
          <a:xfrm>
            <a:off x="8843963" y="5035551"/>
            <a:ext cx="2841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6108701" y="5372101"/>
            <a:ext cx="20812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400" b="1">
                <a:solidFill>
                  <a:srgbClr val="7030A0"/>
                </a:solidFill>
              </a:rPr>
              <a:t>Volume of a cylinder =</a:t>
            </a:r>
          </a:p>
        </p:txBody>
      </p:sp>
      <p:sp>
        <p:nvSpPr>
          <p:cNvPr id="30" name="Rectangle 29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057485" y="5371928"/>
            <a:ext cx="983987" cy="312586"/>
          </a:xfrm>
          <a:prstGeom prst="rect">
            <a:avLst/>
          </a:prstGeom>
          <a:blipFill rotWithShape="1">
            <a:blip r:embed="rId5"/>
            <a:stretch>
              <a:fillRect l="-1863" b="-19608"/>
            </a:stretch>
          </a:blipFill>
        </p:spPr>
        <p:txBody>
          <a:bodyPr/>
          <a:lstStyle/>
          <a:p>
            <a:r>
              <a:rPr lang="en-GB">
                <a:noFill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904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Line 4"/>
          <p:cNvSpPr>
            <a:spLocks noChangeShapeType="1"/>
          </p:cNvSpPr>
          <p:nvPr/>
        </p:nvSpPr>
        <p:spPr bwMode="auto">
          <a:xfrm>
            <a:off x="1524000" y="1000125"/>
            <a:ext cx="914400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2291" name="Picture 12" descr="Student resources 04 bluegrey PPT 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103938"/>
            <a:ext cx="9144000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9"/>
          <p:cNvSpPr>
            <a:spLocks noChangeArrowheads="1"/>
          </p:cNvSpPr>
          <p:nvPr/>
        </p:nvSpPr>
        <p:spPr bwMode="auto">
          <a:xfrm>
            <a:off x="2309814" y="3929064"/>
            <a:ext cx="78581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/>
              <a:t>. </a:t>
            </a:r>
          </a:p>
        </p:txBody>
      </p:sp>
      <p:sp>
        <p:nvSpPr>
          <p:cNvPr id="12293" name="TextBox 13"/>
          <p:cNvSpPr txBox="1">
            <a:spLocks noChangeArrowheads="1"/>
          </p:cNvSpPr>
          <p:nvPr/>
        </p:nvSpPr>
        <p:spPr bwMode="auto">
          <a:xfrm>
            <a:off x="2381251" y="1428751"/>
            <a:ext cx="73580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altLang="en-US" sz="2400"/>
              <a:t>How well do you understand the task?</a:t>
            </a:r>
          </a:p>
        </p:txBody>
      </p:sp>
      <p:sp>
        <p:nvSpPr>
          <p:cNvPr id="12294" name="TextBox 11"/>
          <p:cNvSpPr txBox="1">
            <a:spLocks noChangeArrowheads="1"/>
          </p:cNvSpPr>
          <p:nvPr/>
        </p:nvSpPr>
        <p:spPr bwMode="auto">
          <a:xfrm>
            <a:off x="2452689" y="4857751"/>
            <a:ext cx="1857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altLang="en-US" b="1"/>
              <a:t>I don’t understand</a:t>
            </a:r>
          </a:p>
        </p:txBody>
      </p:sp>
      <p:sp>
        <p:nvSpPr>
          <p:cNvPr id="12295" name="TextBox 12"/>
          <p:cNvSpPr txBox="1">
            <a:spLocks noChangeArrowheads="1"/>
          </p:cNvSpPr>
          <p:nvPr/>
        </p:nvSpPr>
        <p:spPr bwMode="auto">
          <a:xfrm>
            <a:off x="5310189" y="4857751"/>
            <a:ext cx="1857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altLang="en-US" b="1"/>
              <a:t>I nearly  understand</a:t>
            </a:r>
          </a:p>
        </p:txBody>
      </p:sp>
      <p:sp>
        <p:nvSpPr>
          <p:cNvPr id="12296" name="TextBox 15"/>
          <p:cNvSpPr txBox="1">
            <a:spLocks noChangeArrowheads="1"/>
          </p:cNvSpPr>
          <p:nvPr/>
        </p:nvSpPr>
        <p:spPr bwMode="auto">
          <a:xfrm>
            <a:off x="8024814" y="4854576"/>
            <a:ext cx="18573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altLang="en-US" b="1"/>
              <a:t>I fully understand</a:t>
            </a:r>
          </a:p>
        </p:txBody>
      </p:sp>
      <p:sp>
        <p:nvSpPr>
          <p:cNvPr id="16" name="Oval 15"/>
          <p:cNvSpPr/>
          <p:nvPr/>
        </p:nvSpPr>
        <p:spPr>
          <a:xfrm>
            <a:off x="2095500" y="2500314"/>
            <a:ext cx="2571750" cy="2357437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8" name="Oval 17"/>
          <p:cNvSpPr/>
          <p:nvPr/>
        </p:nvSpPr>
        <p:spPr>
          <a:xfrm>
            <a:off x="4953000" y="2500314"/>
            <a:ext cx="2571750" cy="2357437"/>
          </a:xfrm>
          <a:prstGeom prst="ellipse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7810500" y="2428875"/>
            <a:ext cx="2571750" cy="2357438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pic>
        <p:nvPicPr>
          <p:cNvPr id="12300" name="Picture 20" descr="http://r21freak.com/shadowobsessed/happy-face-istock-456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0" y="2714625"/>
            <a:ext cx="2628900" cy="175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1" name="Picture 2" descr="http://healthhabits.files.wordpress.com/2009/07/sad_face.jpg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813" y="2643188"/>
            <a:ext cx="2120900" cy="2120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2" name="Picture 4" descr="http://thumb11.shutterstock.com.edgesuite.net/display_pic_with_logo/3223/3223,1204826057,11/stock-photo-a-conceptual-image-of-a-very-puzzled-and-confused-cartoon-face-10159492.jpg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189" y="2500314"/>
            <a:ext cx="1792287" cy="233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ounded Rectangle 19"/>
          <p:cNvSpPr/>
          <p:nvPr/>
        </p:nvSpPr>
        <p:spPr>
          <a:xfrm>
            <a:off x="3024166" y="1"/>
            <a:ext cx="1643074" cy="500042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Effective Participator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10512" y="1"/>
            <a:ext cx="1500188" cy="50004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Self Manager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7240" y="1"/>
            <a:ext cx="1643064" cy="50004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Independent Enquirer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24000" y="2"/>
            <a:ext cx="1500188" cy="500041"/>
          </a:xfrm>
          <a:prstGeom prst="roundRect">
            <a:avLst/>
          </a:prstGeom>
          <a:solidFill>
            <a:srgbClr val="FF99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>
                <a:solidFill>
                  <a:schemeClr val="bg1"/>
                </a:solidFill>
              </a:rPr>
              <a:t>Creative Thinker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10710" y="1"/>
            <a:ext cx="1357290" cy="500041"/>
          </a:xfrm>
          <a:prstGeom prst="roundRect">
            <a:avLst/>
          </a:prstGeom>
          <a:solidFill>
            <a:srgbClr val="FF3399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Team Worker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10314" y="1"/>
            <a:ext cx="1500188" cy="500042"/>
          </a:xfrm>
          <a:prstGeom prst="roundRect">
            <a:avLst/>
          </a:prstGeom>
          <a:solidFill>
            <a:srgbClr val="7030A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b="1" dirty="0"/>
              <a:t>Reflective Learner</a:t>
            </a:r>
          </a:p>
        </p:txBody>
      </p:sp>
      <p:sp>
        <p:nvSpPr>
          <p:cNvPr id="12321" name="Rectangle 9"/>
          <p:cNvSpPr>
            <a:spLocks noChangeArrowheads="1"/>
          </p:cNvSpPr>
          <p:nvPr/>
        </p:nvSpPr>
        <p:spPr bwMode="auto">
          <a:xfrm>
            <a:off x="1524001" y="428626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PLT Skills</a:t>
            </a:r>
          </a:p>
        </p:txBody>
      </p:sp>
      <p:sp>
        <p:nvSpPr>
          <p:cNvPr id="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81814" y="142875"/>
            <a:ext cx="3786187" cy="1143000"/>
          </a:xfrm>
        </p:spPr>
        <p:txBody>
          <a:bodyPr/>
          <a:lstStyle/>
          <a:p>
            <a:pPr algn="r"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Which ones are you using?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24000" y="571500"/>
            <a:ext cx="1214438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0" name="Rounded Rectangle 29"/>
          <p:cNvSpPr/>
          <p:nvPr/>
        </p:nvSpPr>
        <p:spPr>
          <a:xfrm>
            <a:off x="7453314" y="571500"/>
            <a:ext cx="3214687" cy="3571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987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24063" y="1285876"/>
            <a:ext cx="8286750" cy="4786313"/>
          </a:xfrm>
        </p:spPr>
        <p:txBody>
          <a:bodyPr/>
          <a:lstStyle/>
          <a:p>
            <a:pPr marL="0" indent="0">
              <a:buNone/>
              <a:defRPr/>
            </a:pPr>
            <a:endParaRPr lang="en-US" sz="1800" b="1" dirty="0">
              <a:solidFill>
                <a:srgbClr val="002060"/>
              </a:solidFill>
              <a:ea typeface="Kozuka Gothic Pro M" pitchFamily="34" charset="-128"/>
            </a:endParaRPr>
          </a:p>
          <a:p>
            <a:pPr marL="0" indent="0">
              <a:buNone/>
              <a:defRPr/>
            </a:pPr>
            <a:endParaRPr lang="en-US" sz="1800" b="1" dirty="0">
              <a:solidFill>
                <a:srgbClr val="002060"/>
              </a:solidFill>
              <a:ea typeface="Kozuka Gothic Pro M" pitchFamily="34" charset="-128"/>
            </a:endParaRPr>
          </a:p>
          <a:p>
            <a:pPr marL="0" indent="0">
              <a:buNone/>
              <a:defRPr/>
            </a:pPr>
            <a:endParaRPr lang="en-US" sz="1800" b="1" dirty="0">
              <a:latin typeface="+mj-lt"/>
              <a:ea typeface="Kozuka Gothic Pro M" pitchFamily="34" charset="-128"/>
            </a:endParaRPr>
          </a:p>
          <a:p>
            <a:pPr marL="0" indent="0">
              <a:buNone/>
              <a:defRPr/>
            </a:pPr>
            <a:endParaRPr lang="en-US" sz="1800" b="1" dirty="0">
              <a:latin typeface="+mj-lt"/>
              <a:ea typeface="Kozuka Gothic Pro M" pitchFamily="34" charset="-128"/>
            </a:endParaRPr>
          </a:p>
          <a:p>
            <a:pPr marL="0" indent="0">
              <a:buNone/>
              <a:defRPr/>
            </a:pPr>
            <a:endParaRPr lang="en-US" sz="1800" dirty="0">
              <a:latin typeface="+mj-lt"/>
              <a:ea typeface="Kozuka Gothic Pro M" pitchFamily="34" charset="-128"/>
            </a:endParaRPr>
          </a:p>
          <a:p>
            <a:pPr marL="0" indent="0">
              <a:buNone/>
              <a:defRPr/>
            </a:pPr>
            <a:endParaRPr lang="en-US" sz="1800" b="1" dirty="0">
              <a:latin typeface="+mj-lt"/>
              <a:ea typeface="Kozuka Gothic Pro M" pitchFamily="34" charset="-128"/>
            </a:endParaRPr>
          </a:p>
          <a:p>
            <a:pPr marL="0" indent="0">
              <a:buNone/>
              <a:defRPr/>
            </a:pPr>
            <a:endParaRPr lang="en-US" sz="1800" b="1" dirty="0">
              <a:latin typeface="+mj-lt"/>
              <a:ea typeface="Kozuka Gothic Pro M" pitchFamily="34" charset="-128"/>
            </a:endParaRPr>
          </a:p>
          <a:p>
            <a:pPr marL="0" indent="0">
              <a:buNone/>
              <a:defRPr/>
            </a:pPr>
            <a:endParaRPr lang="en-US" sz="1800" dirty="0">
              <a:latin typeface="+mj-lt"/>
              <a:ea typeface="Kozuka Gothic Pro M" pitchFamily="34" charset="-128"/>
            </a:endParaRPr>
          </a:p>
          <a:p>
            <a:pPr marL="0" indent="0">
              <a:defRPr/>
            </a:pPr>
            <a:endParaRPr lang="en-US" sz="1800" dirty="0">
              <a:latin typeface="+mj-lt"/>
              <a:ea typeface="Kozuka Gothic Pro M" pitchFamily="34" charset="-128"/>
            </a:endParaRPr>
          </a:p>
          <a:p>
            <a:pPr marL="0" indent="0">
              <a:defRPr/>
            </a:pPr>
            <a:endParaRPr lang="en-US" sz="1800" dirty="0">
              <a:latin typeface="Arial Rounded MT Bold" pitchFamily="34" charset="0"/>
            </a:endParaRPr>
          </a:p>
          <a:p>
            <a:pPr marL="0" indent="0">
              <a:defRPr/>
            </a:pPr>
            <a:endParaRPr lang="en-US" sz="1400" dirty="0">
              <a:latin typeface="Arial Rounded MT Bold" pitchFamily="34" charset="0"/>
            </a:endParaRPr>
          </a:p>
          <a:p>
            <a:pPr marL="0" indent="0">
              <a:defRPr/>
            </a:pPr>
            <a:endParaRPr lang="en-US" sz="1600" dirty="0">
              <a:latin typeface="Franklin Gothic Demi Cond" pitchFamily="34" charset="0"/>
            </a:endParaRPr>
          </a:p>
          <a:p>
            <a:pPr marL="0" indent="0">
              <a:defRPr/>
            </a:pPr>
            <a:endParaRPr lang="en-US" sz="1600" dirty="0">
              <a:latin typeface="Franklin Gothic Demi Cond" pitchFamily="34" charset="0"/>
            </a:endParaRPr>
          </a:p>
          <a:p>
            <a:pPr marL="0" indent="0">
              <a:buNone/>
              <a:defRPr/>
            </a:pPr>
            <a:endParaRPr lang="en-US" sz="1600" i="1" dirty="0">
              <a:latin typeface="Franklin Gothic Demi Cond" pitchFamily="34" charset="0"/>
            </a:endParaRPr>
          </a:p>
        </p:txBody>
      </p:sp>
      <p:sp>
        <p:nvSpPr>
          <p:cNvPr id="13315" name="Line 4"/>
          <p:cNvSpPr>
            <a:spLocks noChangeShapeType="1"/>
          </p:cNvSpPr>
          <p:nvPr/>
        </p:nvSpPr>
        <p:spPr bwMode="auto">
          <a:xfrm>
            <a:off x="2024063" y="928688"/>
            <a:ext cx="8286750" cy="0"/>
          </a:xfrm>
          <a:prstGeom prst="line">
            <a:avLst/>
          </a:prstGeom>
          <a:noFill/>
          <a:ln w="2540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Rectangle 9"/>
          <p:cNvSpPr>
            <a:spLocks noChangeArrowheads="1"/>
          </p:cNvSpPr>
          <p:nvPr/>
        </p:nvSpPr>
        <p:spPr bwMode="auto">
          <a:xfrm>
            <a:off x="1981201" y="260351"/>
            <a:ext cx="505142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2400">
                <a:solidFill>
                  <a:srgbClr val="336699"/>
                </a:solidFill>
                <a:latin typeface="Franklin Gothic Demi Cond" charset="0"/>
              </a:rPr>
              <a:t>Plenary Activity</a:t>
            </a:r>
          </a:p>
        </p:txBody>
      </p:sp>
      <p:pic>
        <p:nvPicPr>
          <p:cNvPr id="13317" name="Picture 12" descr="Student resources 04 bluegrey PPT bas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6103938"/>
            <a:ext cx="9144000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2" descr="thinkingcapwhoa_col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1" y="3571876"/>
            <a:ext cx="2143125" cy="248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Oval Callout 11"/>
          <p:cNvSpPr/>
          <p:nvPr/>
        </p:nvSpPr>
        <p:spPr>
          <a:xfrm>
            <a:off x="3952860" y="3357562"/>
            <a:ext cx="3500462" cy="2071702"/>
          </a:xfrm>
          <a:prstGeom prst="wedgeEllipseCallout">
            <a:avLst>
              <a:gd name="adj1" fmla="val 83266"/>
              <a:gd name="adj2" fmla="val 55254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On your post it notes…</a:t>
            </a:r>
          </a:p>
          <a:p>
            <a:pPr algn="ctr">
              <a:defRPr/>
            </a:pPr>
            <a:r>
              <a:rPr lang="en-GB" dirty="0"/>
              <a:t>Think about how you can improve </a:t>
            </a:r>
            <a:r>
              <a:rPr lang="en-GB"/>
              <a:t>your work. </a:t>
            </a:r>
            <a:endParaRPr lang="en-GB" dirty="0"/>
          </a:p>
        </p:txBody>
      </p:sp>
      <p:pic>
        <p:nvPicPr>
          <p:cNvPr id="13322" name="Picture 2" descr="Post It Paper Pen Clip Ar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1438" y="-26052463"/>
            <a:ext cx="2028825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3" name="Picture 4" descr="http://t2.gstatic.com/images?q=tbn:iv7uPk4WKp0BSM:">
            <a:hlinkClick r:id="rId6"/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1" y="1071563"/>
            <a:ext cx="1928813" cy="237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24" name="Rectangle 5"/>
          <p:cNvSpPr>
            <a:spLocks noChangeArrowheads="1"/>
          </p:cNvSpPr>
          <p:nvPr/>
        </p:nvSpPr>
        <p:spPr bwMode="auto">
          <a:xfrm>
            <a:off x="1809750" y="1143001"/>
            <a:ext cx="600075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4400">
                <a:solidFill>
                  <a:srgbClr val="003366"/>
                </a:solidFill>
                <a:latin typeface="Calibri" charset="0"/>
                <a:ea typeface="Times New Roman" charset="0"/>
                <a:cs typeface="Times New Roman" charset="0"/>
              </a:rPr>
              <a:t>WWW (What Went Well)</a:t>
            </a:r>
            <a:endParaRPr lang="en-GB" altLang="en-US" sz="6000">
              <a:solidFill>
                <a:srgbClr val="003366"/>
              </a:solidFill>
            </a:endParaRPr>
          </a:p>
          <a:p>
            <a:endParaRPr lang="en-GB" altLang="en-US" sz="4400">
              <a:solidFill>
                <a:srgbClr val="003366"/>
              </a:solidFill>
              <a:latin typeface="Calibri" charset="0"/>
              <a:ea typeface="Times New Roman" charset="0"/>
              <a:cs typeface="Times New Roman" charset="0"/>
            </a:endParaRPr>
          </a:p>
          <a:p>
            <a:r>
              <a:rPr lang="en-GB" altLang="en-US" sz="4400">
                <a:solidFill>
                  <a:srgbClr val="003366"/>
                </a:solidFill>
                <a:latin typeface="Calibri" charset="0"/>
                <a:ea typeface="Times New Roman" charset="0"/>
                <a:cs typeface="Times New Roman" charset="0"/>
              </a:rPr>
              <a:t>EBI (Even Better If)</a:t>
            </a:r>
            <a:endParaRPr lang="en-GB" altLang="en-US" sz="8800">
              <a:solidFill>
                <a:srgbClr val="0033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235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532</Words>
  <Application>Microsoft Macintosh PowerPoint</Application>
  <PresentationFormat>Widescreen</PresentationFormat>
  <Paragraphs>241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Calibri Light</vt:lpstr>
      <vt:lpstr>Kozuka Gothic Pro M</vt:lpstr>
      <vt:lpstr>Arial</vt:lpstr>
      <vt:lpstr>Arial Rounded MT Bold</vt:lpstr>
      <vt:lpstr>Calibri</vt:lpstr>
      <vt:lpstr>Comic Sans MS</vt:lpstr>
      <vt:lpstr>Corbel</vt:lpstr>
      <vt:lpstr>Franklin Gothic Demi Cond</vt:lpstr>
      <vt:lpstr>Times New Roman</vt:lpstr>
      <vt:lpstr>Office Theme</vt:lpstr>
      <vt:lpstr>My Perimeter, Area and Volume Interactive Notebook</vt:lpstr>
      <vt:lpstr>Which ones are you using?</vt:lpstr>
      <vt:lpstr>Which ones are you using?</vt:lpstr>
      <vt:lpstr>PowerPoint Presentation</vt:lpstr>
      <vt:lpstr>Which ones are you using?</vt:lpstr>
      <vt:lpstr>Which ones are you using?</vt:lpstr>
      <vt:lpstr>Which ones are you using?</vt:lpstr>
      <vt:lpstr>Which ones are you using?</vt:lpstr>
      <vt:lpstr>PowerPoint Presentation</vt:lpstr>
      <vt:lpstr>Which ones are you using?</vt:lpstr>
      <vt:lpstr>PowerPoint Presentation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Perimeter, Area and Volume Interactive Notebook</dc:title>
  <dc:creator>EVANS Clem [Baldivis Secondary College]</dc:creator>
  <cp:lastModifiedBy>EVANS Clem [Baldivis Secondary College]</cp:lastModifiedBy>
  <cp:revision>2</cp:revision>
  <dcterms:created xsi:type="dcterms:W3CDTF">2017-09-08T03:48:24Z</dcterms:created>
  <dcterms:modified xsi:type="dcterms:W3CDTF">2017-09-08T03:58:12Z</dcterms:modified>
</cp:coreProperties>
</file>
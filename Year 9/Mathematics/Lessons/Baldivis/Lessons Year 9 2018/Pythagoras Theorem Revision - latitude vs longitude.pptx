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66" r:id="rId3"/>
    <p:sldId id="269" r:id="rId4"/>
    <p:sldId id="267" r:id="rId5"/>
    <p:sldId id="268" r:id="rId6"/>
    <p:sldId id="270" r:id="rId7"/>
    <p:sldId id="271" r:id="rId8"/>
    <p:sldId id="272" r:id="rId9"/>
    <p:sldId id="274" r:id="rId10"/>
    <p:sldId id="275" r:id="rId11"/>
    <p:sldId id="276" r:id="rId12"/>
    <p:sldId id="257" r:id="rId13"/>
    <p:sldId id="259" r:id="rId14"/>
    <p:sldId id="260" r:id="rId15"/>
    <p:sldId id="261" r:id="rId16"/>
    <p:sldId id="262" r:id="rId17"/>
    <p:sldId id="264" r:id="rId18"/>
    <p:sldId id="263" r:id="rId19"/>
    <p:sldId id="265" r:id="rId2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58C93-58E2-4C4F-A73F-3850A1CE809E}" type="datetimeFigureOut">
              <a:rPr lang="en-AU" smtClean="0"/>
              <a:t>25/06/2018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626A5C-12F9-4C8B-9710-C9849A3DC9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675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71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48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08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48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80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92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868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22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095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434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99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72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771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92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698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7D8C7-7D77-4B9B-A537-3D1FDAA69FDB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9C8B2-7C0B-48FE-A1E0-4F3DF64832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75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2A3B-2516-4EB1-A89A-9885AFA1F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864" y="398855"/>
            <a:ext cx="7184136" cy="869114"/>
          </a:xfrm>
        </p:spPr>
        <p:txBody>
          <a:bodyPr/>
          <a:lstStyle/>
          <a:p>
            <a:r>
              <a:rPr lang="en-AU" dirty="0"/>
              <a:t>Pythagoras Theorem Revision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14B06-7C73-45BA-B1D0-A0C5E7FB8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575234"/>
            <a:ext cx="6858000" cy="1379802"/>
          </a:xfrm>
        </p:spPr>
        <p:txBody>
          <a:bodyPr/>
          <a:lstStyle/>
          <a:p>
            <a:r>
              <a:rPr lang="en-AU" dirty="0"/>
              <a:t>J. Wilson</a:t>
            </a:r>
          </a:p>
        </p:txBody>
      </p:sp>
    </p:spTree>
    <p:extLst>
      <p:ext uri="{BB962C8B-B14F-4D97-AF65-F5344CB8AC3E}">
        <p14:creationId xmlns:p14="http://schemas.microsoft.com/office/powerpoint/2010/main" val="61791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1E8198-9219-4980-BD45-0F1E8F4D1F5D}"/>
              </a:ext>
            </a:extLst>
          </p:cNvPr>
          <p:cNvSpPr txBox="1"/>
          <p:nvPr/>
        </p:nvSpPr>
        <p:spPr>
          <a:xfrm>
            <a:off x="426720" y="426720"/>
            <a:ext cx="8485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Quickwrite</a:t>
            </a:r>
            <a:endParaRPr lang="en-AU" dirty="0"/>
          </a:p>
          <a:p>
            <a:endParaRPr lang="en-AU" dirty="0"/>
          </a:p>
          <a:p>
            <a:r>
              <a:rPr lang="en-AU" dirty="0"/>
              <a:t>	What is Pythagoras’ Theorem and how do we use it?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9A691-F064-4ED0-850B-DE5F0CBCEC4C}"/>
              </a:ext>
            </a:extLst>
          </p:cNvPr>
          <p:cNvSpPr txBox="1"/>
          <p:nvPr/>
        </p:nvSpPr>
        <p:spPr>
          <a:xfrm>
            <a:off x="524256" y="2517648"/>
            <a:ext cx="8485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Share your </a:t>
            </a:r>
            <a:r>
              <a:rPr lang="en-AU" dirty="0" err="1"/>
              <a:t>quickwrite</a:t>
            </a:r>
            <a:r>
              <a:rPr lang="en-AU" dirty="0"/>
              <a:t> with your neighbour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85329-E224-48C0-920A-367F789527B0}"/>
              </a:ext>
            </a:extLst>
          </p:cNvPr>
          <p:cNvSpPr txBox="1"/>
          <p:nvPr/>
        </p:nvSpPr>
        <p:spPr>
          <a:xfrm>
            <a:off x="524256" y="4061567"/>
            <a:ext cx="8485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Popcorn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475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1E8198-9219-4980-BD45-0F1E8F4D1F5D}"/>
              </a:ext>
            </a:extLst>
          </p:cNvPr>
          <p:cNvSpPr txBox="1"/>
          <p:nvPr/>
        </p:nvSpPr>
        <p:spPr>
          <a:xfrm>
            <a:off x="1165274" y="672905"/>
            <a:ext cx="6888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Okay, let’s see if you were right.</a:t>
            </a:r>
          </a:p>
        </p:txBody>
      </p:sp>
    </p:spTree>
    <p:extLst>
      <p:ext uri="{BB962C8B-B14F-4D97-AF65-F5344CB8AC3E}">
        <p14:creationId xmlns:p14="http://schemas.microsoft.com/office/powerpoint/2010/main" val="239888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87960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25078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01406" y="1276114"/>
            <a:ext cx="0" cy="416950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378124"/>
            <a:ext cx="3639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1869" y="439079"/>
            <a:ext cx="198058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929961"/>
            <a:ext cx="79557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259747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1556116" y="1468509"/>
            <a:ext cx="7177749" cy="1657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sz="16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1645626" y="1393845"/>
            <a:ext cx="7177749" cy="784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5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1500" dirty="0"/>
              <a:t>The square on the hypotenuse is equal to the sum of the squares on the other two sides</a:t>
            </a:r>
          </a:p>
          <a:p>
            <a:pPr algn="ctr"/>
            <a:endParaRPr lang="en-AU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345" y="4589846"/>
            <a:ext cx="1828800" cy="707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753" y="2473565"/>
            <a:ext cx="2025986" cy="2008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CB6FF2-0137-44B3-9E6D-379740192DDE}"/>
              </a:ext>
            </a:extLst>
          </p:cNvPr>
          <p:cNvSpPr txBox="1"/>
          <p:nvPr/>
        </p:nvSpPr>
        <p:spPr>
          <a:xfrm>
            <a:off x="5365582" y="2453449"/>
            <a:ext cx="2772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The hypotenuse is the longest side of a right-angled triangle.</a:t>
            </a:r>
          </a:p>
          <a:p>
            <a:endParaRPr lang="en-AU" sz="1350" dirty="0"/>
          </a:p>
          <a:p>
            <a:r>
              <a:rPr lang="en-AU" sz="1350" dirty="0"/>
              <a:t>It is opposite the right angle.</a:t>
            </a:r>
            <a:endParaRPr lang="en-GB" sz="135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4BA58-6A46-44EF-9DCB-C36CC072C4F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320937" y="2915114"/>
            <a:ext cx="2044645" cy="500378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87960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25078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01406" y="1276114"/>
            <a:ext cx="0" cy="416950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378124"/>
            <a:ext cx="3639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1869" y="439079"/>
            <a:ext cx="198058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929961"/>
            <a:ext cx="79557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259747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1556116" y="1468509"/>
            <a:ext cx="7177749" cy="1657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sz="16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1645626" y="1393845"/>
            <a:ext cx="7177749" cy="784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5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1500" dirty="0"/>
              <a:t>The square on the hypotenuse is equal to the sum of the squares on the other two sides</a:t>
            </a:r>
          </a:p>
          <a:p>
            <a:pPr algn="ctr"/>
            <a:endParaRPr lang="en-AU" sz="13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054BB3-9BA4-4BAD-8B48-67FAFEAA4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677" y="2770917"/>
            <a:ext cx="2843946" cy="2203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345" y="4589846"/>
            <a:ext cx="1828800" cy="707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753" y="2473565"/>
            <a:ext cx="2025986" cy="2008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CB6FF2-0137-44B3-9E6D-379740192DDE}"/>
              </a:ext>
            </a:extLst>
          </p:cNvPr>
          <p:cNvSpPr txBox="1"/>
          <p:nvPr/>
        </p:nvSpPr>
        <p:spPr>
          <a:xfrm>
            <a:off x="5394678" y="2260023"/>
            <a:ext cx="210369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Example:</a:t>
            </a:r>
            <a:endParaRPr lang="en-GB" sz="1350" dirty="0"/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A147-F502-4888-AB78-93CDB093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side is the hypotenuse?</a:t>
            </a:r>
          </a:p>
          <a:p>
            <a:r>
              <a:rPr lang="en-AU" dirty="0"/>
              <a:t>Determine the length of the hypotenuse.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20A2D32-70E8-48DB-BAE5-983F2D5F293A}"/>
              </a:ext>
            </a:extLst>
          </p:cNvPr>
          <p:cNvSpPr/>
          <p:nvPr/>
        </p:nvSpPr>
        <p:spPr>
          <a:xfrm rot="9517399">
            <a:off x="749855" y="3497822"/>
            <a:ext cx="3896139" cy="2027583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0148A-6AF7-482F-86FF-0952D2C96725}"/>
              </a:ext>
            </a:extLst>
          </p:cNvPr>
          <p:cNvSpPr/>
          <p:nvPr/>
        </p:nvSpPr>
        <p:spPr>
          <a:xfrm rot="20356816">
            <a:off x="3821596" y="2916268"/>
            <a:ext cx="387626" cy="30314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13036-2295-4CBD-B9C2-51761330097E}"/>
              </a:ext>
            </a:extLst>
          </p:cNvPr>
          <p:cNvSpPr txBox="1"/>
          <p:nvPr/>
        </p:nvSpPr>
        <p:spPr>
          <a:xfrm>
            <a:off x="1699591" y="3163717"/>
            <a:ext cx="11082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d = 12cm</a:t>
            </a:r>
            <a:endParaRPr lang="en-GB"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2EC5E-BC19-4D88-8CFD-E014CB73F749}"/>
              </a:ext>
            </a:extLst>
          </p:cNvPr>
          <p:cNvSpPr txBox="1"/>
          <p:nvPr/>
        </p:nvSpPr>
        <p:spPr>
          <a:xfrm>
            <a:off x="4522305" y="3479884"/>
            <a:ext cx="8299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e = 5cm</a:t>
            </a:r>
            <a:endParaRPr lang="en-GB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0282A-1D36-4E71-859B-8AEFE4AFD4B2}"/>
              </a:ext>
            </a:extLst>
          </p:cNvPr>
          <p:cNvSpPr txBox="1"/>
          <p:nvPr/>
        </p:nvSpPr>
        <p:spPr>
          <a:xfrm>
            <a:off x="2444477" y="4513990"/>
            <a:ext cx="2534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f</a:t>
            </a:r>
            <a:endParaRPr lang="en-GB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2C21F-CE3E-4D1E-B974-65386641B2E6}"/>
              </a:ext>
            </a:extLst>
          </p:cNvPr>
          <p:cNvSpPr txBox="1"/>
          <p:nvPr/>
        </p:nvSpPr>
        <p:spPr>
          <a:xfrm>
            <a:off x="5436206" y="2471220"/>
            <a:ext cx="34532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Answers</a:t>
            </a:r>
          </a:p>
          <a:p>
            <a:endParaRPr lang="en-AU" sz="1500" dirty="0"/>
          </a:p>
          <a:p>
            <a:r>
              <a:rPr lang="en-AU" sz="1500" dirty="0"/>
              <a:t>The hypotenuse is side f.</a:t>
            </a:r>
            <a:endParaRPr lang="en-GB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5436207" y="3370736"/>
                <a:ext cx="3453248" cy="2063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=144+25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69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169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dirty="0"/>
                  <a:t> cm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207" y="3370736"/>
                <a:ext cx="3453248" cy="20639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79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87960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25078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01406" y="1276114"/>
            <a:ext cx="0" cy="416950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378124"/>
            <a:ext cx="3639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1869" y="439079"/>
            <a:ext cx="198058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929961"/>
            <a:ext cx="79557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the shorter side of a right-angled triangle?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259747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1556116" y="1468509"/>
            <a:ext cx="7177749" cy="1657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sz="16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BFE7D7-8A50-4A05-8C38-FF705CA38858}"/>
                  </a:ext>
                </a:extLst>
              </p:cNvPr>
              <p:cNvSpPr txBox="1"/>
              <p:nvPr/>
            </p:nvSpPr>
            <p:spPr>
              <a:xfrm>
                <a:off x="1580607" y="1326567"/>
                <a:ext cx="6518621" cy="1985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500" dirty="0"/>
                  <a:t>Pythagoras Theorem is about right angles triangles</a:t>
                </a:r>
                <a:r>
                  <a:rPr lang="en-AU" sz="1350" dirty="0"/>
                  <a:t>.</a:t>
                </a:r>
              </a:p>
              <a:p>
                <a:endParaRPr lang="en-AU" sz="1350" dirty="0"/>
              </a:p>
              <a:p>
                <a:endParaRPr lang="en-AU" sz="1350" dirty="0"/>
              </a:p>
              <a:p>
                <a:r>
                  <a:rPr lang="en-AU" sz="1350" dirty="0"/>
                  <a:t>                                                 </a:t>
                </a:r>
              </a:p>
              <a:p>
                <a:r>
                  <a:rPr lang="en-AU" sz="1350" dirty="0"/>
                  <a:t>                                 </a:t>
                </a:r>
              </a:p>
              <a:p>
                <a:endParaRPr lang="en-AU" sz="1350" dirty="0"/>
              </a:p>
              <a:p>
                <a:endParaRPr lang="en-AU" sz="135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1350" i="1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135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1350" dirty="0"/>
              </a:p>
              <a:p>
                <a:endParaRPr lang="en-AU" sz="135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BFE7D7-8A50-4A05-8C38-FF705CA38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607" y="1326567"/>
                <a:ext cx="6518621" cy="1985159"/>
              </a:xfrm>
              <a:prstGeom prst="rect">
                <a:avLst/>
              </a:prstGeom>
              <a:blipFill>
                <a:blip r:embed="rId3"/>
                <a:stretch>
                  <a:fillRect l="-374" t="-9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FCC68339-3BFF-4BE6-A9A2-3788DD076167}"/>
              </a:ext>
            </a:extLst>
          </p:cNvPr>
          <p:cNvSpPr/>
          <p:nvPr/>
        </p:nvSpPr>
        <p:spPr>
          <a:xfrm>
            <a:off x="3533215" y="1685376"/>
            <a:ext cx="2203901" cy="842756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6EF103EF-61FA-409D-911E-4D1B509315C4}"/>
              </a:ext>
            </a:extLst>
          </p:cNvPr>
          <p:cNvGrpSpPr>
            <a:grpSpLocks/>
          </p:cNvGrpSpPr>
          <p:nvPr/>
        </p:nvGrpSpPr>
        <p:grpSpPr bwMode="auto">
          <a:xfrm>
            <a:off x="3533215" y="2361402"/>
            <a:ext cx="243000" cy="166730"/>
            <a:chOff x="1680" y="3120"/>
            <a:chExt cx="240" cy="240"/>
          </a:xfrm>
        </p:grpSpPr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45050F84-951C-4B1D-BDAD-9B1C1D77B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sz="1350" b="1"/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6500B82F-E5E5-4A23-A918-D02A389B1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sz="1350" b="1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40F2956-21F7-4187-920D-0667F34C6028}"/>
              </a:ext>
            </a:extLst>
          </p:cNvPr>
          <p:cNvSpPr txBox="1"/>
          <p:nvPr/>
        </p:nvSpPr>
        <p:spPr>
          <a:xfrm flipH="1">
            <a:off x="4315343" y="2528131"/>
            <a:ext cx="2649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E3E46F-5C4A-4B56-8886-CF1DB4F85FE0}"/>
              </a:ext>
            </a:extLst>
          </p:cNvPr>
          <p:cNvSpPr txBox="1"/>
          <p:nvPr/>
        </p:nvSpPr>
        <p:spPr>
          <a:xfrm flipH="1">
            <a:off x="3198035" y="1968254"/>
            <a:ext cx="2649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73ADDE-4AC2-4835-A6EA-94824C86A17D}"/>
              </a:ext>
            </a:extLst>
          </p:cNvPr>
          <p:cNvSpPr txBox="1"/>
          <p:nvPr/>
        </p:nvSpPr>
        <p:spPr>
          <a:xfrm flipH="1">
            <a:off x="4370196" y="1752970"/>
            <a:ext cx="2649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CE336C-6C5A-4563-B7DA-C9DDEBE6AC98}"/>
                  </a:ext>
                </a:extLst>
              </p:cNvPr>
              <p:cNvSpPr txBox="1"/>
              <p:nvPr/>
            </p:nvSpPr>
            <p:spPr>
              <a:xfrm>
                <a:off x="2352301" y="3324571"/>
                <a:ext cx="4565729" cy="715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350" dirty="0"/>
                  <a:t>Therefore to find the shorter sides:</a:t>
                </a:r>
              </a:p>
              <a:p>
                <a:endParaRPr lang="en-AU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                    </m:t>
                          </m:r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135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135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135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CE336C-6C5A-4563-B7DA-C9DDEBE6A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301" y="3324571"/>
                <a:ext cx="4565729" cy="715581"/>
              </a:xfrm>
              <a:prstGeom prst="rect">
                <a:avLst/>
              </a:prstGeom>
              <a:blipFill>
                <a:blip r:embed="rId4"/>
                <a:stretch>
                  <a:fillRect l="-401" t="-8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F369D4-DCF8-46B9-B684-F7E01EF26755}"/>
                  </a:ext>
                </a:extLst>
              </p:cNvPr>
              <p:cNvSpPr txBox="1"/>
              <p:nvPr/>
            </p:nvSpPr>
            <p:spPr>
              <a:xfrm>
                <a:off x="2765072" y="4052997"/>
                <a:ext cx="2076285" cy="766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350" dirty="0"/>
                  <a:t>		or</a:t>
                </a:r>
              </a:p>
              <a:p>
                <a:endParaRPr lang="en-AU" sz="135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1350" i="1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sz="13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135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AU" sz="13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135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13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AU" sz="135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F369D4-DCF8-46B9-B684-F7E01EF26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072" y="4052997"/>
                <a:ext cx="2076285" cy="766813"/>
              </a:xfrm>
              <a:prstGeom prst="rect">
                <a:avLst/>
              </a:prstGeom>
              <a:blipFill>
                <a:blip r:embed="rId5"/>
                <a:stretch>
                  <a:fillRect t="-15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10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87960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25078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01406" y="1276114"/>
            <a:ext cx="0" cy="416950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378124"/>
            <a:ext cx="3639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1869" y="439079"/>
            <a:ext cx="198058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929961"/>
            <a:ext cx="79557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the shorter side of a right-angled triangle?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259747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1556116" y="1468509"/>
            <a:ext cx="7177749" cy="1657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sz="1650" dirty="0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EC0149A5-3E55-4EF3-8BDD-49D6987110FB}"/>
              </a:ext>
            </a:extLst>
          </p:cNvPr>
          <p:cNvSpPr/>
          <p:nvPr/>
        </p:nvSpPr>
        <p:spPr>
          <a:xfrm rot="7484576">
            <a:off x="2095860" y="2307341"/>
            <a:ext cx="1998222" cy="1188132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4415F8-031B-4491-ADCE-74A7E874AD14}"/>
                  </a:ext>
                </a:extLst>
              </p:cNvPr>
              <p:cNvSpPr txBox="1"/>
              <p:nvPr/>
            </p:nvSpPr>
            <p:spPr>
              <a:xfrm>
                <a:off x="3163937" y="2920443"/>
                <a:ext cx="629724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>
                          <a:latin typeface="Cambria Math" panose="02040503050406030204" pitchFamily="18" charset="0"/>
                        </a:rPr>
                        <m:t>20.4 </m:t>
                      </m:r>
                      <m:r>
                        <a:rPr lang="en-AU" sz="1350" i="1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sz="135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4415F8-031B-4491-ADCE-74A7E874A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937" y="2920443"/>
                <a:ext cx="629724" cy="207749"/>
              </a:xfrm>
              <a:prstGeom prst="rect">
                <a:avLst/>
              </a:prstGeom>
              <a:blipFill>
                <a:blip r:embed="rId3"/>
                <a:stretch>
                  <a:fillRect l="-5825" r="-2913" b="-58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9CF766-0F5B-4067-A0F3-47B84AAEC18F}"/>
                  </a:ext>
                </a:extLst>
              </p:cNvPr>
              <p:cNvSpPr txBox="1"/>
              <p:nvPr/>
            </p:nvSpPr>
            <p:spPr>
              <a:xfrm>
                <a:off x="3662400" y="1832985"/>
                <a:ext cx="533544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>
                          <a:latin typeface="Cambria Math" panose="02040503050406030204" pitchFamily="18" charset="0"/>
                        </a:rPr>
                        <m:t>9.6 </m:t>
                      </m:r>
                      <m:r>
                        <a:rPr lang="en-AU" sz="1350" i="1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sz="135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9CF766-0F5B-4067-A0F3-47B84AAEC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400" y="1832985"/>
                <a:ext cx="533544" cy="207749"/>
              </a:xfrm>
              <a:prstGeom prst="rect">
                <a:avLst/>
              </a:prstGeom>
              <a:blipFill>
                <a:blip r:embed="rId4"/>
                <a:stretch>
                  <a:fillRect l="-6897" r="-4598" b="-58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76E6A3-1F19-4A8B-BB28-CAAAC98166E6}"/>
                  </a:ext>
                </a:extLst>
              </p:cNvPr>
              <p:cNvSpPr txBox="1"/>
              <p:nvPr/>
            </p:nvSpPr>
            <p:spPr>
              <a:xfrm>
                <a:off x="2515865" y="2178051"/>
                <a:ext cx="13510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135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76E6A3-1F19-4A8B-BB28-CAAAC9816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865" y="2178051"/>
                <a:ext cx="135102" cy="207749"/>
              </a:xfrm>
              <a:prstGeom prst="rect">
                <a:avLst/>
              </a:prstGeom>
              <a:blipFill>
                <a:blip r:embed="rId5"/>
                <a:stretch>
                  <a:fillRect l="-18182" r="-13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22973AB-6E59-4399-A5EF-8FD99F3DD2BA}"/>
                  </a:ext>
                </a:extLst>
              </p:cNvPr>
              <p:cNvSpPr txBox="1"/>
              <p:nvPr/>
            </p:nvSpPr>
            <p:spPr>
              <a:xfrm>
                <a:off x="5157454" y="1617088"/>
                <a:ext cx="196720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135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1350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/>
                            </a:rPr>
                            <m:t>20.4</m:t>
                          </m:r>
                        </m:e>
                        <m:sup>
                          <m:r>
                            <a:rPr lang="en-AU" sz="135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1350" i="1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350" i="1">
                              <a:latin typeface="Cambria Math"/>
                            </a:rPr>
                            <m:t>9.6</m:t>
                          </m:r>
                        </m:e>
                        <m:sup>
                          <m:r>
                            <a:rPr lang="en-AU" sz="135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1350" dirty="0"/>
              </a:p>
              <a:p>
                <a:r>
                  <a:rPr lang="en-AU" sz="1350" dirty="0"/>
                  <a:t>         </a:t>
                </a:r>
                <a14:m>
                  <m:oMath xmlns:m="http://schemas.openxmlformats.org/officeDocument/2006/math">
                    <m:r>
                      <a:rPr lang="en-AU" sz="1350">
                        <a:latin typeface="Cambria Math"/>
                      </a:rPr>
                      <m:t>  </m:t>
                    </m:r>
                    <m:r>
                      <a:rPr lang="en-AU" sz="1350" i="1">
                        <a:latin typeface="Cambria Math"/>
                      </a:rPr>
                      <m:t>=416.16−92.16 </m:t>
                    </m:r>
                  </m:oMath>
                </a14:m>
                <a:endParaRPr lang="en-AU" sz="135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>
                          <a:latin typeface="Cambria Math"/>
                        </a:rPr>
                        <m:t>=324             </m:t>
                      </m:r>
                    </m:oMath>
                  </m:oMathPara>
                </a14:m>
                <a:endParaRPr lang="en-AU" sz="1350" dirty="0"/>
              </a:p>
              <a:p>
                <a:endParaRPr lang="en-AU" sz="135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22973AB-6E59-4399-A5EF-8FD99F3DD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54" y="1617088"/>
                <a:ext cx="1967205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6F8A32-6DE8-4539-9A8A-B30C1245D17A}"/>
                  </a:ext>
                </a:extLst>
              </p:cNvPr>
              <p:cNvSpPr txBox="1"/>
              <p:nvPr/>
            </p:nvSpPr>
            <p:spPr>
              <a:xfrm>
                <a:off x="5338203" y="2517336"/>
                <a:ext cx="1014765" cy="532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>
                          <a:latin typeface="Cambria Math"/>
                        </a:rPr>
                        <m:t>𝑥</m:t>
                      </m:r>
                      <m:r>
                        <a:rPr lang="en-AU" sz="1350" i="1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13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1350" i="1">
                              <a:latin typeface="Cambria Math"/>
                            </a:rPr>
                            <m:t>324</m:t>
                          </m:r>
                        </m:e>
                      </m:rad>
                    </m:oMath>
                  </m:oMathPara>
                </a14:m>
                <a:endParaRPr lang="en-AU" sz="1350" dirty="0"/>
              </a:p>
              <a:p>
                <a:r>
                  <a:rPr lang="en-AU" sz="1350" dirty="0"/>
                  <a:t>     </a:t>
                </a:r>
                <a14:m>
                  <m:oMath xmlns:m="http://schemas.openxmlformats.org/officeDocument/2006/math">
                    <m:r>
                      <a:rPr lang="en-AU" sz="1350" i="1">
                        <a:latin typeface="Cambria Math"/>
                      </a:rPr>
                      <m:t>=18 </m:t>
                    </m:r>
                    <m:r>
                      <a:rPr lang="en-AU" sz="1350" i="1">
                        <a:latin typeface="Cambria Math"/>
                      </a:rPr>
                      <m:t>𝑐𝑚</m:t>
                    </m:r>
                  </m:oMath>
                </a14:m>
                <a:endParaRPr lang="en-AU" sz="135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6F8A32-6DE8-4539-9A8A-B30C1245D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203" y="2517336"/>
                <a:ext cx="1014765" cy="5323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4">
            <a:extLst>
              <a:ext uri="{FF2B5EF4-FFF2-40B4-BE49-F238E27FC236}">
                <a16:creationId xmlns:a16="http://schemas.microsoft.com/office/drawing/2014/main" id="{662CB7C9-AF15-4287-8BEA-478DD6E252B3}"/>
              </a:ext>
            </a:extLst>
          </p:cNvPr>
          <p:cNvGrpSpPr>
            <a:grpSpLocks/>
          </p:cNvGrpSpPr>
          <p:nvPr/>
        </p:nvGrpSpPr>
        <p:grpSpPr bwMode="auto">
          <a:xfrm rot="2013339" flipV="1">
            <a:off x="3082979" y="1798692"/>
            <a:ext cx="242097" cy="219938"/>
            <a:chOff x="1680" y="3120"/>
            <a:chExt cx="240" cy="240"/>
          </a:xfrm>
        </p:grpSpPr>
        <p:sp>
          <p:nvSpPr>
            <p:cNvPr id="41" name="Line 5">
              <a:extLst>
                <a:ext uri="{FF2B5EF4-FFF2-40B4-BE49-F238E27FC236}">
                  <a16:creationId xmlns:a16="http://schemas.microsoft.com/office/drawing/2014/main" id="{B04EA6FC-48EE-4958-8528-FE1E32618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sz="1350" b="1"/>
            </a:p>
          </p:txBody>
        </p:sp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F62D536F-AC6C-4F67-82F6-5EF4835E7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sz="1350" b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7E23117-3407-4DE4-83E3-E3F4946156E0}"/>
              </a:ext>
            </a:extLst>
          </p:cNvPr>
          <p:cNvSpPr txBox="1"/>
          <p:nvPr/>
        </p:nvSpPr>
        <p:spPr>
          <a:xfrm>
            <a:off x="2519537" y="3351835"/>
            <a:ext cx="11508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hypotenuse</a:t>
            </a:r>
            <a:endParaRPr lang="en-GB" sz="135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2250D0-D888-4458-8971-7636360FE05A}"/>
              </a:ext>
            </a:extLst>
          </p:cNvPr>
          <p:cNvCxnSpPr>
            <a:cxnSpLocks/>
            <a:endCxn id="22" idx="5"/>
          </p:cNvCxnSpPr>
          <p:nvPr/>
        </p:nvCxnSpPr>
        <p:spPr>
          <a:xfrm flipH="1" flipV="1">
            <a:off x="3094972" y="2901408"/>
            <a:ext cx="48272" cy="53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5141AC1-56F8-483E-8D6A-0AE371647AE8}"/>
              </a:ext>
            </a:extLst>
          </p:cNvPr>
          <p:cNvSpPr txBox="1"/>
          <p:nvPr/>
        </p:nvSpPr>
        <p:spPr>
          <a:xfrm>
            <a:off x="1743143" y="1712396"/>
            <a:ext cx="11508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shorter side</a:t>
            </a:r>
            <a:endParaRPr lang="en-GB" sz="135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DEC7D5-2C9C-4506-A66A-F416014D6AB6}"/>
              </a:ext>
            </a:extLst>
          </p:cNvPr>
          <p:cNvCxnSpPr>
            <a:endCxn id="22" idx="3"/>
          </p:cNvCxnSpPr>
          <p:nvPr/>
        </p:nvCxnSpPr>
        <p:spPr>
          <a:xfrm>
            <a:off x="2144683" y="1975570"/>
            <a:ext cx="462134" cy="587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58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A147-F502-4888-AB78-93CDB093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Determine the length of the unknown side of this right-angled triangle.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20A2D32-70E8-48DB-BAE5-983F2D5F293A}"/>
              </a:ext>
            </a:extLst>
          </p:cNvPr>
          <p:cNvSpPr/>
          <p:nvPr/>
        </p:nvSpPr>
        <p:spPr>
          <a:xfrm rot="9517399">
            <a:off x="749855" y="3497822"/>
            <a:ext cx="3896139" cy="2027583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0148A-6AF7-482F-86FF-0952D2C96725}"/>
              </a:ext>
            </a:extLst>
          </p:cNvPr>
          <p:cNvSpPr/>
          <p:nvPr/>
        </p:nvSpPr>
        <p:spPr>
          <a:xfrm rot="20356816">
            <a:off x="3821596" y="2916268"/>
            <a:ext cx="387626" cy="30314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13036-2295-4CBD-B9C2-51761330097E}"/>
              </a:ext>
            </a:extLst>
          </p:cNvPr>
          <p:cNvSpPr txBox="1"/>
          <p:nvPr/>
        </p:nvSpPr>
        <p:spPr>
          <a:xfrm>
            <a:off x="1699591" y="3163717"/>
            <a:ext cx="11082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d = 8 m</a:t>
            </a:r>
            <a:endParaRPr lang="en-GB"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2EC5E-BC19-4D88-8CFD-E014CB73F749}"/>
              </a:ext>
            </a:extLst>
          </p:cNvPr>
          <p:cNvSpPr txBox="1"/>
          <p:nvPr/>
        </p:nvSpPr>
        <p:spPr>
          <a:xfrm>
            <a:off x="4522305" y="3479884"/>
            <a:ext cx="8299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e </a:t>
            </a:r>
            <a:endParaRPr lang="en-GB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0282A-1D36-4E71-859B-8AEFE4AFD4B2}"/>
              </a:ext>
            </a:extLst>
          </p:cNvPr>
          <p:cNvSpPr txBox="1"/>
          <p:nvPr/>
        </p:nvSpPr>
        <p:spPr>
          <a:xfrm>
            <a:off x="2373819" y="4578971"/>
            <a:ext cx="10718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/>
              <a:t>f = 10 m</a:t>
            </a:r>
            <a:endParaRPr lang="en-GB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5303203" y="2377365"/>
                <a:ext cx="3453248" cy="2063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=100−64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AU" dirty="0"/>
                  <a:t> cm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03" y="2377365"/>
                <a:ext cx="3453248" cy="20639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55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4708-C304-4897-96B5-464543DF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774252"/>
          </a:xfrm>
        </p:spPr>
        <p:txBody>
          <a:bodyPr>
            <a:normAutofit fontScale="90000"/>
          </a:bodyPr>
          <a:lstStyle/>
          <a:p>
            <a:r>
              <a:rPr lang="en-AU" dirty="0"/>
              <a:t>So what is Pythagoras used for?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1BE5B-B1E7-49F1-9630-6500FF5A6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Construction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Navigation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145C81-4F7B-4767-BBDD-47C203DF8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862" y="1044221"/>
            <a:ext cx="2277153" cy="12068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B88754-901E-4B73-94F1-9165DEA07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723" y="2472528"/>
            <a:ext cx="4278923" cy="1174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E8C24C-FB8E-4D04-AB2A-D216E823A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862" y="3833917"/>
            <a:ext cx="2614246" cy="162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5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580EA2-B3C5-4A84-9C0B-606FF5C37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" y="922871"/>
            <a:ext cx="7106749" cy="4053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7C519-0BEE-437C-B4A2-215A2473B134}"/>
              </a:ext>
            </a:extLst>
          </p:cNvPr>
          <p:cNvSpPr txBox="1"/>
          <p:nvPr/>
        </p:nvSpPr>
        <p:spPr>
          <a:xfrm>
            <a:off x="3024554" y="5127285"/>
            <a:ext cx="355209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Now it’s time to do a little practice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CDF84-B1D1-4D32-BF2D-619318E7F78D}"/>
              </a:ext>
            </a:extLst>
          </p:cNvPr>
          <p:cNvSpPr txBox="1"/>
          <p:nvPr/>
        </p:nvSpPr>
        <p:spPr>
          <a:xfrm>
            <a:off x="808892" y="222738"/>
            <a:ext cx="779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quick reminder on Geography……</a:t>
            </a:r>
          </a:p>
        </p:txBody>
      </p:sp>
    </p:spTree>
    <p:extLst>
      <p:ext uri="{BB962C8B-B14F-4D97-AF65-F5344CB8AC3E}">
        <p14:creationId xmlns:p14="http://schemas.microsoft.com/office/powerpoint/2010/main" val="256705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9F509E87-37DB-4148-9DD6-627789AB2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079" y="213087"/>
            <a:ext cx="5667375" cy="3133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428C2-1E93-4008-8C46-F3DA32C6D93C}"/>
              </a:ext>
            </a:extLst>
          </p:cNvPr>
          <p:cNvSpPr txBox="1"/>
          <p:nvPr/>
        </p:nvSpPr>
        <p:spPr>
          <a:xfrm>
            <a:off x="3270424" y="796826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Bergen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8D18C-81F0-4BE2-8861-E15C8CBA60A1}"/>
              </a:ext>
            </a:extLst>
          </p:cNvPr>
          <p:cNvSpPr txBox="1"/>
          <p:nvPr/>
        </p:nvSpPr>
        <p:spPr>
          <a:xfrm>
            <a:off x="7448645" y="966241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Helsinki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4E95F-0010-49E7-A751-91F1F5EAB80F}"/>
              </a:ext>
            </a:extLst>
          </p:cNvPr>
          <p:cNvSpPr txBox="1"/>
          <p:nvPr/>
        </p:nvSpPr>
        <p:spPr>
          <a:xfrm>
            <a:off x="5086915" y="3029306"/>
            <a:ext cx="15785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Copenhagen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D55B9-0D59-47F2-B236-2542CF655681}"/>
              </a:ext>
            </a:extLst>
          </p:cNvPr>
          <p:cNvSpPr txBox="1"/>
          <p:nvPr/>
        </p:nvSpPr>
        <p:spPr>
          <a:xfrm>
            <a:off x="201086" y="189134"/>
            <a:ext cx="2276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Helsinki and Bergen both lie on the 64</a:t>
            </a:r>
            <a:r>
              <a:rPr lang="en-AU" baseline="30000" dirty="0"/>
              <a:t>o</a:t>
            </a:r>
            <a:r>
              <a:rPr lang="en-AU" dirty="0"/>
              <a:t> North line of Latitude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B383DE-829F-4316-9D28-46D883B2F3C6}"/>
              </a:ext>
            </a:extLst>
          </p:cNvPr>
          <p:cNvCxnSpPr>
            <a:cxnSpLocks/>
          </p:cNvCxnSpPr>
          <p:nvPr/>
        </p:nvCxnSpPr>
        <p:spPr>
          <a:xfrm>
            <a:off x="3511724" y="1159252"/>
            <a:ext cx="4260676" cy="1036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1EB4D0-C480-4ADA-BF62-77F28A9E3BD0}"/>
              </a:ext>
            </a:extLst>
          </p:cNvPr>
          <p:cNvCxnSpPr>
            <a:cxnSpLocks/>
          </p:cNvCxnSpPr>
          <p:nvPr/>
        </p:nvCxnSpPr>
        <p:spPr>
          <a:xfrm>
            <a:off x="3476585" y="1185409"/>
            <a:ext cx="1634677" cy="198178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F4C620-3006-4111-9A37-C521EBB0B72A}"/>
              </a:ext>
            </a:extLst>
          </p:cNvPr>
          <p:cNvCxnSpPr>
            <a:cxnSpLocks/>
          </p:cNvCxnSpPr>
          <p:nvPr/>
        </p:nvCxnSpPr>
        <p:spPr>
          <a:xfrm flipH="1">
            <a:off x="5065942" y="1211078"/>
            <a:ext cx="2706458" cy="194991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EF49D5A-F725-41EA-B02E-27ED0A4D457C}"/>
              </a:ext>
            </a:extLst>
          </p:cNvPr>
          <p:cNvSpPr/>
          <p:nvPr/>
        </p:nvSpPr>
        <p:spPr>
          <a:xfrm>
            <a:off x="131712" y="1202956"/>
            <a:ext cx="29031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Together with Copenhagen, they form a right angle triangle.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7F8CE5-88FA-42A7-8EAF-925450B81643}"/>
              </a:ext>
            </a:extLst>
          </p:cNvPr>
          <p:cNvSpPr txBox="1"/>
          <p:nvPr/>
        </p:nvSpPr>
        <p:spPr>
          <a:xfrm rot="19384290">
            <a:off x="6337131" y="1986038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886 km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E97669-1123-4956-8BAF-BEDED465367F}"/>
              </a:ext>
            </a:extLst>
          </p:cNvPr>
          <p:cNvSpPr/>
          <p:nvPr/>
        </p:nvSpPr>
        <p:spPr>
          <a:xfrm>
            <a:off x="117743" y="2315257"/>
            <a:ext cx="29521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From Helsinki to Copenhagen it is 886km, and from Copenhagen to Bergen it is 659km.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4EDA3-38A7-4867-B984-2B9BC59610F9}"/>
              </a:ext>
            </a:extLst>
          </p:cNvPr>
          <p:cNvSpPr txBox="1"/>
          <p:nvPr/>
        </p:nvSpPr>
        <p:spPr>
          <a:xfrm rot="3050540">
            <a:off x="3620800" y="2044063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659 km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288340-FAAE-435E-9DEC-940EC7B81CA9}"/>
              </a:ext>
            </a:extLst>
          </p:cNvPr>
          <p:cNvSpPr/>
          <p:nvPr/>
        </p:nvSpPr>
        <p:spPr>
          <a:xfrm>
            <a:off x="1986692" y="3366063"/>
            <a:ext cx="80581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Use Pythagoras’ Theorem to calculate the distance from Bergen to Helsinki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3EBC32-8493-43B3-9C63-05CB28FCBDFE}"/>
                  </a:ext>
                </a:extLst>
              </p:cNvPr>
              <p:cNvSpPr txBox="1"/>
              <p:nvPr/>
            </p:nvSpPr>
            <p:spPr>
              <a:xfrm>
                <a:off x="2033584" y="3773897"/>
                <a:ext cx="20784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3EBC32-8493-43B3-9C63-05CB28FCB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84" y="3773897"/>
                <a:ext cx="2078446" cy="276999"/>
              </a:xfrm>
              <a:prstGeom prst="rect">
                <a:avLst/>
              </a:prstGeom>
              <a:blipFill>
                <a:blip r:embed="rId3"/>
                <a:stretch>
                  <a:fillRect t="-4348"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8B3D0F-5A2D-45F7-A448-77322D345BE9}"/>
                  </a:ext>
                </a:extLst>
              </p:cNvPr>
              <p:cNvSpPr txBox="1"/>
              <p:nvPr/>
            </p:nvSpPr>
            <p:spPr>
              <a:xfrm>
                <a:off x="2033584" y="4150920"/>
                <a:ext cx="20784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659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886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8B3D0F-5A2D-45F7-A448-77322D345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84" y="4150920"/>
                <a:ext cx="2078446" cy="276999"/>
              </a:xfrm>
              <a:prstGeom prst="rect">
                <a:avLst/>
              </a:prstGeom>
              <a:blipFill>
                <a:blip r:embed="rId4"/>
                <a:stretch>
                  <a:fillRect t="-4444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983D06-314B-4A34-B281-094F62BB012D}"/>
                  </a:ext>
                </a:extLst>
              </p:cNvPr>
              <p:cNvSpPr txBox="1"/>
              <p:nvPr/>
            </p:nvSpPr>
            <p:spPr>
              <a:xfrm>
                <a:off x="1562434" y="4498258"/>
                <a:ext cx="3415981" cy="3006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434281+784996</m:t>
                        </m:r>
                      </m:e>
                      <m:sup/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983D06-314B-4A34-B281-094F62BB0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434" y="4498258"/>
                <a:ext cx="3415981" cy="300660"/>
              </a:xfrm>
              <a:prstGeom prst="rect">
                <a:avLst/>
              </a:prstGeom>
              <a:blipFill>
                <a:blip r:embed="rId5"/>
                <a:stretch>
                  <a:fillRect l="-2317" b="-61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DF0F7E-6C92-4614-A027-DD0BA129D18F}"/>
                  </a:ext>
                </a:extLst>
              </p:cNvPr>
              <p:cNvSpPr txBox="1"/>
              <p:nvPr/>
            </p:nvSpPr>
            <p:spPr>
              <a:xfrm>
                <a:off x="1364816" y="4854357"/>
                <a:ext cx="3415981" cy="309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1219277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DF0F7E-6C92-4614-A027-DD0BA129D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816" y="4854357"/>
                <a:ext cx="3415981" cy="309637"/>
              </a:xfrm>
              <a:prstGeom prst="rect">
                <a:avLst/>
              </a:prstGeom>
              <a:blipFill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B6470B-5FF1-48B1-83BE-CCCA9DB15571}"/>
                  </a:ext>
                </a:extLst>
              </p:cNvPr>
              <p:cNvSpPr txBox="1"/>
              <p:nvPr/>
            </p:nvSpPr>
            <p:spPr>
              <a:xfrm>
                <a:off x="1352349" y="5133206"/>
                <a:ext cx="34159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=1104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B6470B-5FF1-48B1-83BE-CCCA9DB15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349" y="5133206"/>
                <a:ext cx="3415981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BF5E8A8-E4A3-4A73-9A0D-38E9D6A24305}"/>
              </a:ext>
            </a:extLst>
          </p:cNvPr>
          <p:cNvSpPr txBox="1"/>
          <p:nvPr/>
        </p:nvSpPr>
        <p:spPr>
          <a:xfrm>
            <a:off x="5720862" y="4227190"/>
            <a:ext cx="3202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is 25</a:t>
            </a:r>
            <a:r>
              <a:rPr lang="en-AU" baseline="30000" dirty="0"/>
              <a:t>o</a:t>
            </a:r>
            <a:r>
              <a:rPr lang="en-AU" dirty="0"/>
              <a:t> longitude between Bergen and Helsinki so that makes it 44km for every 1</a:t>
            </a:r>
            <a:r>
              <a:rPr lang="en-AU" baseline="30000" dirty="0"/>
              <a:t>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391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26" grpId="0" animBg="1"/>
      <p:bldP spid="27" grpId="0"/>
      <p:bldP spid="28" grpId="0" animBg="1"/>
      <p:bldP spid="29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80E87E-EBB2-472E-8B0D-62D274568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596" y="351286"/>
            <a:ext cx="5497774" cy="2909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428C2-1E93-4008-8C46-F3DA32C6D93C}"/>
              </a:ext>
            </a:extLst>
          </p:cNvPr>
          <p:cNvSpPr txBox="1"/>
          <p:nvPr/>
        </p:nvSpPr>
        <p:spPr>
          <a:xfrm>
            <a:off x="3200728" y="2941064"/>
            <a:ext cx="12305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Marseille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8D18C-81F0-4BE2-8861-E15C8CBA60A1}"/>
              </a:ext>
            </a:extLst>
          </p:cNvPr>
          <p:cNvSpPr txBox="1"/>
          <p:nvPr/>
        </p:nvSpPr>
        <p:spPr>
          <a:xfrm>
            <a:off x="5508373" y="612160"/>
            <a:ext cx="18537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Liechtenstein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4E95F-0010-49E7-A751-91F1F5EAB80F}"/>
              </a:ext>
            </a:extLst>
          </p:cNvPr>
          <p:cNvSpPr txBox="1"/>
          <p:nvPr/>
        </p:nvSpPr>
        <p:spPr>
          <a:xfrm>
            <a:off x="7893189" y="2994343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Split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D55B9-0D59-47F2-B236-2542CF655681}"/>
              </a:ext>
            </a:extLst>
          </p:cNvPr>
          <p:cNvSpPr txBox="1"/>
          <p:nvPr/>
        </p:nvSpPr>
        <p:spPr>
          <a:xfrm>
            <a:off x="201086" y="189134"/>
            <a:ext cx="2276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Marseille and Split both lie on the 43</a:t>
            </a:r>
            <a:r>
              <a:rPr lang="en-AU" baseline="30000" dirty="0"/>
              <a:t>o</a:t>
            </a:r>
            <a:r>
              <a:rPr lang="en-AU" dirty="0"/>
              <a:t> North line of Latitude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B383DE-829F-4316-9D28-46D883B2F3C6}"/>
              </a:ext>
            </a:extLst>
          </p:cNvPr>
          <p:cNvCxnSpPr>
            <a:cxnSpLocks/>
          </p:cNvCxnSpPr>
          <p:nvPr/>
        </p:nvCxnSpPr>
        <p:spPr>
          <a:xfrm flipV="1">
            <a:off x="3835050" y="2893939"/>
            <a:ext cx="4340315" cy="8870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1EB4D0-C480-4ADA-BF62-77F28A9E3BD0}"/>
              </a:ext>
            </a:extLst>
          </p:cNvPr>
          <p:cNvCxnSpPr>
            <a:cxnSpLocks/>
          </p:cNvCxnSpPr>
          <p:nvPr/>
        </p:nvCxnSpPr>
        <p:spPr>
          <a:xfrm flipH="1">
            <a:off x="3835050" y="796826"/>
            <a:ext cx="1617523" cy="222213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F4C620-3006-4111-9A37-C521EBB0B72A}"/>
              </a:ext>
            </a:extLst>
          </p:cNvPr>
          <p:cNvCxnSpPr>
            <a:cxnSpLocks/>
          </p:cNvCxnSpPr>
          <p:nvPr/>
        </p:nvCxnSpPr>
        <p:spPr>
          <a:xfrm flipH="1" flipV="1">
            <a:off x="5452573" y="860562"/>
            <a:ext cx="2678292" cy="198361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EF49D5A-F725-41EA-B02E-27ED0A4D457C}"/>
              </a:ext>
            </a:extLst>
          </p:cNvPr>
          <p:cNvSpPr/>
          <p:nvPr/>
        </p:nvSpPr>
        <p:spPr>
          <a:xfrm>
            <a:off x="131712" y="1202956"/>
            <a:ext cx="29031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Together with Liechtenstein, they form a right angle triangle.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7F8CE5-88FA-42A7-8EAF-925450B81643}"/>
              </a:ext>
            </a:extLst>
          </p:cNvPr>
          <p:cNvSpPr txBox="1"/>
          <p:nvPr/>
        </p:nvSpPr>
        <p:spPr>
          <a:xfrm rot="2290482">
            <a:off x="6337131" y="1986038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680 km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E97669-1123-4956-8BAF-BEDED465367F}"/>
              </a:ext>
            </a:extLst>
          </p:cNvPr>
          <p:cNvSpPr/>
          <p:nvPr/>
        </p:nvSpPr>
        <p:spPr>
          <a:xfrm>
            <a:off x="144716" y="2211002"/>
            <a:ext cx="29521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From Marseille to Liechtenstein it is 544km, and from Liechtenstein to Split it is 680km.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4EDA3-38A7-4867-B984-2B9BC59610F9}"/>
              </a:ext>
            </a:extLst>
          </p:cNvPr>
          <p:cNvSpPr txBox="1"/>
          <p:nvPr/>
        </p:nvSpPr>
        <p:spPr>
          <a:xfrm rot="18432343">
            <a:off x="4502247" y="1723226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544 km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288340-FAAE-435E-9DEC-940EC7B81CA9}"/>
              </a:ext>
            </a:extLst>
          </p:cNvPr>
          <p:cNvSpPr/>
          <p:nvPr/>
        </p:nvSpPr>
        <p:spPr>
          <a:xfrm>
            <a:off x="1986692" y="3366063"/>
            <a:ext cx="80581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Use Pythagoras’ Theorem to calculate the distance from Marseille to Split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3EBC32-8493-43B3-9C63-05CB28FCBDFE}"/>
                  </a:ext>
                </a:extLst>
              </p:cNvPr>
              <p:cNvSpPr txBox="1"/>
              <p:nvPr/>
            </p:nvSpPr>
            <p:spPr>
              <a:xfrm>
                <a:off x="2033584" y="3773897"/>
                <a:ext cx="20784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3EBC32-8493-43B3-9C63-05CB28FCB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84" y="3773897"/>
                <a:ext cx="2078446" cy="276999"/>
              </a:xfrm>
              <a:prstGeom prst="rect">
                <a:avLst/>
              </a:prstGeom>
              <a:blipFill>
                <a:blip r:embed="rId3"/>
                <a:stretch>
                  <a:fillRect t="-4348"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8B3D0F-5A2D-45F7-A448-77322D345BE9}"/>
                  </a:ext>
                </a:extLst>
              </p:cNvPr>
              <p:cNvSpPr txBox="1"/>
              <p:nvPr/>
            </p:nvSpPr>
            <p:spPr>
              <a:xfrm>
                <a:off x="2033584" y="4150920"/>
                <a:ext cx="20784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544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680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8B3D0F-5A2D-45F7-A448-77322D345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84" y="4150920"/>
                <a:ext cx="2078446" cy="276999"/>
              </a:xfrm>
              <a:prstGeom prst="rect">
                <a:avLst/>
              </a:prstGeom>
              <a:blipFill>
                <a:blip r:embed="rId4"/>
                <a:stretch>
                  <a:fillRect t="-4444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983D06-314B-4A34-B281-094F62BB012D}"/>
                  </a:ext>
                </a:extLst>
              </p:cNvPr>
              <p:cNvSpPr txBox="1"/>
              <p:nvPr/>
            </p:nvSpPr>
            <p:spPr>
              <a:xfrm>
                <a:off x="1562434" y="4498258"/>
                <a:ext cx="3415981" cy="3006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295936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462400 </m:t>
                        </m:r>
                      </m:e>
                      <m:sup/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983D06-314B-4A34-B281-094F62BB0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434" y="4498258"/>
                <a:ext cx="3415981" cy="300660"/>
              </a:xfrm>
              <a:prstGeom prst="rect">
                <a:avLst/>
              </a:prstGeom>
              <a:blipFill>
                <a:blip r:embed="rId5"/>
                <a:stretch>
                  <a:fillRect l="-2496" b="-8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DF0F7E-6C92-4614-A027-DD0BA129D18F}"/>
                  </a:ext>
                </a:extLst>
              </p:cNvPr>
              <p:cNvSpPr txBox="1"/>
              <p:nvPr/>
            </p:nvSpPr>
            <p:spPr>
              <a:xfrm>
                <a:off x="1364816" y="4854357"/>
                <a:ext cx="3415981" cy="3152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758338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DF0F7E-6C92-4614-A027-DD0BA129D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816" y="4854357"/>
                <a:ext cx="3415981" cy="315214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B6470B-5FF1-48B1-83BE-CCCA9DB15571}"/>
                  </a:ext>
                </a:extLst>
              </p:cNvPr>
              <p:cNvSpPr txBox="1"/>
              <p:nvPr/>
            </p:nvSpPr>
            <p:spPr>
              <a:xfrm>
                <a:off x="1352349" y="5133206"/>
                <a:ext cx="34159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=871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B6470B-5FF1-48B1-83BE-CCCA9DB15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349" y="5133206"/>
                <a:ext cx="3415981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BF5E8A8-E4A3-4A73-9A0D-38E9D6A24305}"/>
              </a:ext>
            </a:extLst>
          </p:cNvPr>
          <p:cNvSpPr txBox="1"/>
          <p:nvPr/>
        </p:nvSpPr>
        <p:spPr>
          <a:xfrm>
            <a:off x="5720862" y="4227190"/>
            <a:ext cx="3202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is 11</a:t>
            </a:r>
            <a:r>
              <a:rPr lang="en-AU" baseline="30000" dirty="0"/>
              <a:t>o</a:t>
            </a:r>
            <a:r>
              <a:rPr lang="en-AU" dirty="0"/>
              <a:t> longitude between Marseille and Split so that makes it 79km for every 1</a:t>
            </a:r>
            <a:r>
              <a:rPr lang="en-AU" baseline="30000" dirty="0"/>
              <a:t>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499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26" grpId="0" animBg="1"/>
      <p:bldP spid="27" grpId="0"/>
      <p:bldP spid="28" grpId="0" animBg="1"/>
      <p:bldP spid="29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A6C3641-567B-49C1-B07A-A44E48D0A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44" y="0"/>
            <a:ext cx="5495115" cy="3038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428C2-1E93-4008-8C46-F3DA32C6D93C}"/>
              </a:ext>
            </a:extLst>
          </p:cNvPr>
          <p:cNvSpPr txBox="1"/>
          <p:nvPr/>
        </p:nvSpPr>
        <p:spPr>
          <a:xfrm>
            <a:off x="3496762" y="143940"/>
            <a:ext cx="136831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Mexico 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8D18C-81F0-4BE2-8861-E15C8CBA60A1}"/>
              </a:ext>
            </a:extLst>
          </p:cNvPr>
          <p:cNvSpPr txBox="1"/>
          <p:nvPr/>
        </p:nvSpPr>
        <p:spPr>
          <a:xfrm>
            <a:off x="7893189" y="245333"/>
            <a:ext cx="6824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Haiti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4E95F-0010-49E7-A751-91F1F5EAB80F}"/>
              </a:ext>
            </a:extLst>
          </p:cNvPr>
          <p:cNvSpPr txBox="1"/>
          <p:nvPr/>
        </p:nvSpPr>
        <p:spPr>
          <a:xfrm>
            <a:off x="7892723" y="2729913"/>
            <a:ext cx="15074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Bucaramanga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D55B9-0D59-47F2-B236-2542CF655681}"/>
              </a:ext>
            </a:extLst>
          </p:cNvPr>
          <p:cNvSpPr txBox="1"/>
          <p:nvPr/>
        </p:nvSpPr>
        <p:spPr>
          <a:xfrm>
            <a:off x="201086" y="189134"/>
            <a:ext cx="2276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Mexico City and Haiti both lie on the 19</a:t>
            </a:r>
            <a:r>
              <a:rPr lang="en-AU" baseline="30000" dirty="0"/>
              <a:t>o</a:t>
            </a:r>
            <a:r>
              <a:rPr lang="en-AU" dirty="0"/>
              <a:t> North line of Latitude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B383DE-829F-4316-9D28-46D883B2F3C6}"/>
              </a:ext>
            </a:extLst>
          </p:cNvPr>
          <p:cNvCxnSpPr>
            <a:cxnSpLocks/>
          </p:cNvCxnSpPr>
          <p:nvPr/>
        </p:nvCxnSpPr>
        <p:spPr>
          <a:xfrm>
            <a:off x="3610708" y="506662"/>
            <a:ext cx="4770055" cy="1441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1EB4D0-C480-4ADA-BF62-77F28A9E3BD0}"/>
              </a:ext>
            </a:extLst>
          </p:cNvPr>
          <p:cNvCxnSpPr>
            <a:cxnSpLocks/>
          </p:cNvCxnSpPr>
          <p:nvPr/>
        </p:nvCxnSpPr>
        <p:spPr>
          <a:xfrm>
            <a:off x="3610708" y="513272"/>
            <a:ext cx="4506283" cy="221872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F4C620-3006-4111-9A37-C521EBB0B72A}"/>
              </a:ext>
            </a:extLst>
          </p:cNvPr>
          <p:cNvCxnSpPr>
            <a:cxnSpLocks/>
          </p:cNvCxnSpPr>
          <p:nvPr/>
        </p:nvCxnSpPr>
        <p:spPr>
          <a:xfrm flipV="1">
            <a:off x="8116991" y="635583"/>
            <a:ext cx="211039" cy="209640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EF49D5A-F725-41EA-B02E-27ED0A4D457C}"/>
              </a:ext>
            </a:extLst>
          </p:cNvPr>
          <p:cNvSpPr/>
          <p:nvPr/>
        </p:nvSpPr>
        <p:spPr>
          <a:xfrm>
            <a:off x="108212" y="1094171"/>
            <a:ext cx="31528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Together with Bucaramanga</a:t>
            </a:r>
          </a:p>
          <a:p>
            <a:r>
              <a:rPr lang="en-AU" dirty="0"/>
              <a:t> they form a right angle triangle.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7F8CE5-88FA-42A7-8EAF-925450B81643}"/>
              </a:ext>
            </a:extLst>
          </p:cNvPr>
          <p:cNvSpPr txBox="1"/>
          <p:nvPr/>
        </p:nvSpPr>
        <p:spPr>
          <a:xfrm rot="5400000">
            <a:off x="8093803" y="1295428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1269 km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E97669-1123-4956-8BAF-BEDED465367F}"/>
              </a:ext>
            </a:extLst>
          </p:cNvPr>
          <p:cNvSpPr/>
          <p:nvPr/>
        </p:nvSpPr>
        <p:spPr>
          <a:xfrm>
            <a:off x="108212" y="1999208"/>
            <a:ext cx="3449763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/>
              <a:t>From Bucaramanga to Haiti it is 1269 km, and from Bucaramanga to Mexico City it is 3116 km.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4EDA3-38A7-4867-B984-2B9BC59610F9}"/>
              </a:ext>
            </a:extLst>
          </p:cNvPr>
          <p:cNvSpPr txBox="1"/>
          <p:nvPr/>
        </p:nvSpPr>
        <p:spPr>
          <a:xfrm rot="1472188">
            <a:off x="5210909" y="1548682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3116 km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288340-FAAE-435E-9DEC-940EC7B81CA9}"/>
              </a:ext>
            </a:extLst>
          </p:cNvPr>
          <p:cNvSpPr/>
          <p:nvPr/>
        </p:nvSpPr>
        <p:spPr>
          <a:xfrm>
            <a:off x="360939" y="3293071"/>
            <a:ext cx="80581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Use Pythagoras’ Theorem to calculate the distance from Mexico City to Haiti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3EBC32-8493-43B3-9C63-05CB28FCBDFE}"/>
                  </a:ext>
                </a:extLst>
              </p:cNvPr>
              <p:cNvSpPr txBox="1"/>
              <p:nvPr/>
            </p:nvSpPr>
            <p:spPr>
              <a:xfrm>
                <a:off x="2033584" y="3773897"/>
                <a:ext cx="20784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3EBC32-8493-43B3-9C63-05CB28FCB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84" y="3773897"/>
                <a:ext cx="2078446" cy="276999"/>
              </a:xfrm>
              <a:prstGeom prst="rect">
                <a:avLst/>
              </a:prstGeom>
              <a:blipFill>
                <a:blip r:embed="rId3"/>
                <a:stretch>
                  <a:fillRect t="-4348"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8B3D0F-5A2D-45F7-A448-77322D345BE9}"/>
                  </a:ext>
                </a:extLst>
              </p:cNvPr>
              <p:cNvSpPr txBox="1"/>
              <p:nvPr/>
            </p:nvSpPr>
            <p:spPr>
              <a:xfrm>
                <a:off x="1920247" y="4130190"/>
                <a:ext cx="29448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3116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1269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8B3D0F-5A2D-45F7-A448-77322D345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7" y="4130190"/>
                <a:ext cx="2944831" cy="276999"/>
              </a:xfrm>
              <a:prstGeom prst="rect">
                <a:avLst/>
              </a:prstGeom>
              <a:blipFill>
                <a:blip r:embed="rId4"/>
                <a:stretch>
                  <a:fillRect t="-4444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983D06-314B-4A34-B281-094F62BB012D}"/>
                  </a:ext>
                </a:extLst>
              </p:cNvPr>
              <p:cNvSpPr txBox="1"/>
              <p:nvPr/>
            </p:nvSpPr>
            <p:spPr>
              <a:xfrm>
                <a:off x="2304881" y="4437933"/>
                <a:ext cx="3415981" cy="3006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9709456</m:t>
                        </m:r>
                      </m:e>
                      <m:sup/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1610361</m:t>
                        </m:r>
                      </m:e>
                      <m:sup/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983D06-314B-4A34-B281-094F62BB0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4437933"/>
                <a:ext cx="3415981" cy="300660"/>
              </a:xfrm>
              <a:prstGeom prst="rect">
                <a:avLst/>
              </a:prstGeom>
              <a:blipFill>
                <a:blip r:embed="rId5"/>
                <a:stretch>
                  <a:fillRect l="-1786" b="-8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DF0F7E-6C92-4614-A027-DD0BA129D18F}"/>
                  </a:ext>
                </a:extLst>
              </p:cNvPr>
              <p:cNvSpPr txBox="1"/>
              <p:nvPr/>
            </p:nvSpPr>
            <p:spPr>
              <a:xfrm>
                <a:off x="1380488" y="4776913"/>
                <a:ext cx="3415981" cy="3152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8099095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DF0F7E-6C92-4614-A027-DD0BA129D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88" y="4776913"/>
                <a:ext cx="3415981" cy="315214"/>
              </a:xfrm>
              <a:prstGeom prst="rect">
                <a:avLst/>
              </a:prstGeom>
              <a:blipFill>
                <a:blip r:embed="rId6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B6470B-5FF1-48B1-83BE-CCCA9DB15571}"/>
                  </a:ext>
                </a:extLst>
              </p:cNvPr>
              <p:cNvSpPr txBox="1"/>
              <p:nvPr/>
            </p:nvSpPr>
            <p:spPr>
              <a:xfrm>
                <a:off x="1352349" y="5133206"/>
                <a:ext cx="34159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=2846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B6470B-5FF1-48B1-83BE-CCCA9DB15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349" y="5133206"/>
                <a:ext cx="3415981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BF5E8A8-E4A3-4A73-9A0D-38E9D6A24305}"/>
              </a:ext>
            </a:extLst>
          </p:cNvPr>
          <p:cNvSpPr txBox="1"/>
          <p:nvPr/>
        </p:nvSpPr>
        <p:spPr>
          <a:xfrm>
            <a:off x="5720862" y="4227190"/>
            <a:ext cx="3202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is 26.5</a:t>
            </a:r>
            <a:r>
              <a:rPr lang="en-AU" baseline="30000" dirty="0"/>
              <a:t>o</a:t>
            </a:r>
            <a:r>
              <a:rPr lang="en-AU" dirty="0"/>
              <a:t> longitude between Mexico City and Haiti so that makes it 107km for every 1</a:t>
            </a:r>
            <a:r>
              <a:rPr lang="en-AU" baseline="30000" dirty="0"/>
              <a:t>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338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26" grpId="0" animBg="1"/>
      <p:bldP spid="27" grpId="0" animBg="1"/>
      <p:bldP spid="28" grpId="0" animBg="1"/>
      <p:bldP spid="29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C43AE0-3206-4D22-B7D5-29D5E7063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85" y="200500"/>
            <a:ext cx="6057900" cy="2238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428C2-1E93-4008-8C46-F3DA32C6D93C}"/>
              </a:ext>
            </a:extLst>
          </p:cNvPr>
          <p:cNvSpPr txBox="1"/>
          <p:nvPr/>
        </p:nvSpPr>
        <p:spPr>
          <a:xfrm>
            <a:off x="3496762" y="143940"/>
            <a:ext cx="19782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 err="1"/>
              <a:t>Croanjingolong</a:t>
            </a:r>
            <a:r>
              <a:rPr lang="en-AU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8D18C-81F0-4BE2-8861-E15C8CBA60A1}"/>
              </a:ext>
            </a:extLst>
          </p:cNvPr>
          <p:cNvSpPr txBox="1"/>
          <p:nvPr/>
        </p:nvSpPr>
        <p:spPr>
          <a:xfrm>
            <a:off x="7864638" y="1519791"/>
            <a:ext cx="1535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Christchurch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4E95F-0010-49E7-A751-91F1F5EAB80F}"/>
              </a:ext>
            </a:extLst>
          </p:cNvPr>
          <p:cNvSpPr txBox="1"/>
          <p:nvPr/>
        </p:nvSpPr>
        <p:spPr>
          <a:xfrm>
            <a:off x="3261107" y="1532202"/>
            <a:ext cx="15074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Hobart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D55B9-0D59-47F2-B236-2542CF655681}"/>
              </a:ext>
            </a:extLst>
          </p:cNvPr>
          <p:cNvSpPr txBox="1"/>
          <p:nvPr/>
        </p:nvSpPr>
        <p:spPr>
          <a:xfrm>
            <a:off x="124581" y="154416"/>
            <a:ext cx="2764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Hobart and Christchurch both lie on the 43</a:t>
            </a:r>
            <a:r>
              <a:rPr lang="en-AU" baseline="30000" dirty="0"/>
              <a:t>o</a:t>
            </a:r>
            <a:r>
              <a:rPr lang="en-AU" dirty="0"/>
              <a:t> South line of Latitude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B383DE-829F-4316-9D28-46D883B2F3C6}"/>
              </a:ext>
            </a:extLst>
          </p:cNvPr>
          <p:cNvCxnSpPr>
            <a:cxnSpLocks/>
          </p:cNvCxnSpPr>
          <p:nvPr/>
        </p:nvCxnSpPr>
        <p:spPr>
          <a:xfrm>
            <a:off x="3649035" y="457769"/>
            <a:ext cx="5111879" cy="165533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1EB4D0-C480-4ADA-BF62-77F28A9E3BD0}"/>
              </a:ext>
            </a:extLst>
          </p:cNvPr>
          <p:cNvCxnSpPr>
            <a:cxnSpLocks/>
          </p:cNvCxnSpPr>
          <p:nvPr/>
        </p:nvCxnSpPr>
        <p:spPr>
          <a:xfrm flipH="1">
            <a:off x="3167606" y="441457"/>
            <a:ext cx="480286" cy="144096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F4C620-3006-4111-9A37-C521EBB0B72A}"/>
              </a:ext>
            </a:extLst>
          </p:cNvPr>
          <p:cNvCxnSpPr>
            <a:cxnSpLocks/>
          </p:cNvCxnSpPr>
          <p:nvPr/>
        </p:nvCxnSpPr>
        <p:spPr>
          <a:xfrm flipH="1" flipV="1">
            <a:off x="3166463" y="1872349"/>
            <a:ext cx="5620817" cy="22444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EF49D5A-F725-41EA-B02E-27ED0A4D457C}"/>
              </a:ext>
            </a:extLst>
          </p:cNvPr>
          <p:cNvSpPr/>
          <p:nvPr/>
        </p:nvSpPr>
        <p:spPr>
          <a:xfrm>
            <a:off x="108212" y="1094171"/>
            <a:ext cx="31528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Together with </a:t>
            </a:r>
            <a:r>
              <a:rPr lang="en-AU" dirty="0" err="1"/>
              <a:t>Croanjingolong</a:t>
            </a:r>
            <a:r>
              <a:rPr lang="en-AU" dirty="0"/>
              <a:t> Nat. Park they form a right angle triangle.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7F8CE5-88FA-42A7-8EAF-925450B81643}"/>
              </a:ext>
            </a:extLst>
          </p:cNvPr>
          <p:cNvSpPr txBox="1"/>
          <p:nvPr/>
        </p:nvSpPr>
        <p:spPr>
          <a:xfrm rot="17477526">
            <a:off x="2712627" y="919661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620 km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E97669-1123-4956-8BAF-BEDED465367F}"/>
              </a:ext>
            </a:extLst>
          </p:cNvPr>
          <p:cNvSpPr/>
          <p:nvPr/>
        </p:nvSpPr>
        <p:spPr>
          <a:xfrm>
            <a:off x="36401" y="2022638"/>
            <a:ext cx="3449763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/>
              <a:t>From </a:t>
            </a:r>
            <a:r>
              <a:rPr lang="en-AU" dirty="0" err="1"/>
              <a:t>Croanjingolong</a:t>
            </a:r>
            <a:r>
              <a:rPr lang="en-AU" dirty="0"/>
              <a:t> to Christchurch it is 2030 km, and from </a:t>
            </a:r>
            <a:r>
              <a:rPr lang="en-AU" dirty="0" err="1"/>
              <a:t>Croanjingolong</a:t>
            </a:r>
            <a:r>
              <a:rPr lang="en-AU" dirty="0"/>
              <a:t> to Hobart it is 620 km.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4EDA3-38A7-4867-B984-2B9BC59610F9}"/>
              </a:ext>
            </a:extLst>
          </p:cNvPr>
          <p:cNvSpPr txBox="1"/>
          <p:nvPr/>
        </p:nvSpPr>
        <p:spPr>
          <a:xfrm rot="1064109">
            <a:off x="5695019" y="809648"/>
            <a:ext cx="1019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2030 km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288340-FAAE-435E-9DEC-940EC7B81CA9}"/>
              </a:ext>
            </a:extLst>
          </p:cNvPr>
          <p:cNvSpPr/>
          <p:nvPr/>
        </p:nvSpPr>
        <p:spPr>
          <a:xfrm>
            <a:off x="1947795" y="3191912"/>
            <a:ext cx="80581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Use Pythagoras’ Theorem to calculate the distance from </a:t>
            </a:r>
            <a:r>
              <a:rPr lang="en-AU" dirty="0" err="1"/>
              <a:t>Horbart</a:t>
            </a:r>
            <a:r>
              <a:rPr lang="en-AU" dirty="0"/>
              <a:t> to Helsinki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F5E8A8-E4A3-4A73-9A0D-38E9D6A24305}"/>
              </a:ext>
            </a:extLst>
          </p:cNvPr>
          <p:cNvSpPr txBox="1"/>
          <p:nvPr/>
        </p:nvSpPr>
        <p:spPr>
          <a:xfrm>
            <a:off x="5475048" y="4150920"/>
            <a:ext cx="3202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is 25</a:t>
            </a:r>
            <a:r>
              <a:rPr lang="en-AU" baseline="30000" dirty="0"/>
              <a:t>o</a:t>
            </a:r>
            <a:r>
              <a:rPr lang="en-AU" dirty="0"/>
              <a:t> longitude between Hobart and Christchurch so that makes it 85km for every 1</a:t>
            </a:r>
            <a:r>
              <a:rPr lang="en-AU" baseline="30000" dirty="0"/>
              <a:t>o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520CF3-0D5D-4729-AD7B-0F67D35E795B}"/>
                  </a:ext>
                </a:extLst>
              </p:cNvPr>
              <p:cNvSpPr txBox="1"/>
              <p:nvPr/>
            </p:nvSpPr>
            <p:spPr>
              <a:xfrm>
                <a:off x="2033584" y="3773897"/>
                <a:ext cx="20784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520CF3-0D5D-4729-AD7B-0F67D35E7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84" y="3773897"/>
                <a:ext cx="2078446" cy="276999"/>
              </a:xfrm>
              <a:prstGeom prst="rect">
                <a:avLst/>
              </a:prstGeom>
              <a:blipFill>
                <a:blip r:embed="rId3"/>
                <a:stretch>
                  <a:fillRect t="-4348"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5F6161-7E4D-49CB-869C-416A147E7AA5}"/>
                  </a:ext>
                </a:extLst>
              </p:cNvPr>
              <p:cNvSpPr txBox="1"/>
              <p:nvPr/>
            </p:nvSpPr>
            <p:spPr>
              <a:xfrm>
                <a:off x="2033584" y="4150920"/>
                <a:ext cx="20784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2030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620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5F6161-7E4D-49CB-869C-416A147E7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84" y="4150920"/>
                <a:ext cx="2078446" cy="276999"/>
              </a:xfrm>
              <a:prstGeom prst="rect">
                <a:avLst/>
              </a:prstGeom>
              <a:blipFill>
                <a:blip r:embed="rId4"/>
                <a:stretch>
                  <a:fillRect l="-880" t="-4444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57C8484-8226-49A8-B7DB-ED93AF84DC7F}"/>
                  </a:ext>
                </a:extLst>
              </p:cNvPr>
              <p:cNvSpPr txBox="1"/>
              <p:nvPr/>
            </p:nvSpPr>
            <p:spPr>
              <a:xfrm>
                <a:off x="1562434" y="4498258"/>
                <a:ext cx="3415981" cy="3006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4120900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384400 </m:t>
                        </m:r>
                      </m:e>
                      <m:sup/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57C8484-8226-49A8-B7DB-ED93AF84D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434" y="4498258"/>
                <a:ext cx="3415981" cy="300660"/>
              </a:xfrm>
              <a:prstGeom prst="rect">
                <a:avLst/>
              </a:prstGeom>
              <a:blipFill>
                <a:blip r:embed="rId5"/>
                <a:stretch>
                  <a:fillRect l="-2317" b="-61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44E690C-380F-4A31-B9F8-900669C372F2}"/>
                  </a:ext>
                </a:extLst>
              </p:cNvPr>
              <p:cNvSpPr txBox="1"/>
              <p:nvPr/>
            </p:nvSpPr>
            <p:spPr>
              <a:xfrm>
                <a:off x="1364816" y="4854357"/>
                <a:ext cx="3415981" cy="3152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4505300</m:t>
                          </m:r>
                        </m:e>
                      </m:rad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44E690C-380F-4A31-B9F8-900669C37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816" y="4854357"/>
                <a:ext cx="3415981" cy="315214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D9634A4-5B95-4C01-AAF5-19955F8A8ED6}"/>
                  </a:ext>
                </a:extLst>
              </p:cNvPr>
              <p:cNvSpPr txBox="1"/>
              <p:nvPr/>
            </p:nvSpPr>
            <p:spPr>
              <a:xfrm>
                <a:off x="1352349" y="5133206"/>
                <a:ext cx="34159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122 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D9634A4-5B95-4C01-AAF5-19955F8A8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349" y="5133206"/>
                <a:ext cx="3415981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4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26" grpId="0" animBg="1"/>
      <p:bldP spid="27" grpId="0" animBg="1"/>
      <p:bldP spid="28" grpId="0" animBg="1"/>
      <p:bldP spid="29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E51F70-4DC0-4D14-BA2E-39CF7589D502}"/>
              </a:ext>
            </a:extLst>
          </p:cNvPr>
          <p:cNvCxnSpPr/>
          <p:nvPr/>
        </p:nvCxnSpPr>
        <p:spPr>
          <a:xfrm>
            <a:off x="984738" y="386862"/>
            <a:ext cx="0" cy="4853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87A03A-F0CA-42C4-B63F-77923431401A}"/>
              </a:ext>
            </a:extLst>
          </p:cNvPr>
          <p:cNvCxnSpPr/>
          <p:nvPr/>
        </p:nvCxnSpPr>
        <p:spPr>
          <a:xfrm>
            <a:off x="2391508" y="422031"/>
            <a:ext cx="0" cy="4771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67FD9E-2BF7-4666-B414-FA781E7B16C7}"/>
              </a:ext>
            </a:extLst>
          </p:cNvPr>
          <p:cNvCxnSpPr/>
          <p:nvPr/>
        </p:nvCxnSpPr>
        <p:spPr>
          <a:xfrm>
            <a:off x="973015" y="808893"/>
            <a:ext cx="14184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ADF9B7-5840-489B-8D6F-6341F79CF4A1}"/>
              </a:ext>
            </a:extLst>
          </p:cNvPr>
          <p:cNvSpPr txBox="1"/>
          <p:nvPr/>
        </p:nvSpPr>
        <p:spPr>
          <a:xfrm>
            <a:off x="2532185" y="624227"/>
            <a:ext cx="543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25</a:t>
            </a:r>
            <a:r>
              <a:rPr lang="en-AU" baseline="30000" dirty="0"/>
              <a:t>o</a:t>
            </a:r>
            <a:r>
              <a:rPr lang="en-AU" dirty="0"/>
              <a:t> N there is 44km between lines of longitude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0EB983-974D-4CCF-86E4-9756993B5108}"/>
              </a:ext>
            </a:extLst>
          </p:cNvPr>
          <p:cNvCxnSpPr/>
          <p:nvPr/>
        </p:nvCxnSpPr>
        <p:spPr>
          <a:xfrm>
            <a:off x="984738" y="1934308"/>
            <a:ext cx="14184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A193BF0-B1E2-4C81-B0F1-7CCC2C86434E}"/>
              </a:ext>
            </a:extLst>
          </p:cNvPr>
          <p:cNvSpPr txBox="1"/>
          <p:nvPr/>
        </p:nvSpPr>
        <p:spPr>
          <a:xfrm>
            <a:off x="2625969" y="1749642"/>
            <a:ext cx="543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43</a:t>
            </a:r>
            <a:r>
              <a:rPr lang="en-AU" baseline="30000" dirty="0"/>
              <a:t>o</a:t>
            </a:r>
            <a:r>
              <a:rPr lang="en-AU" dirty="0"/>
              <a:t> N there is 79km between lines of longitude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B6454F-B8D0-4AE3-B4F8-C6BB2084F692}"/>
              </a:ext>
            </a:extLst>
          </p:cNvPr>
          <p:cNvCxnSpPr/>
          <p:nvPr/>
        </p:nvCxnSpPr>
        <p:spPr>
          <a:xfrm>
            <a:off x="973015" y="3068543"/>
            <a:ext cx="14184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053DC47-10D0-47C0-8AE4-F7BD36AB5A85}"/>
              </a:ext>
            </a:extLst>
          </p:cNvPr>
          <p:cNvSpPr txBox="1"/>
          <p:nvPr/>
        </p:nvSpPr>
        <p:spPr>
          <a:xfrm>
            <a:off x="2614246" y="2883877"/>
            <a:ext cx="543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19</a:t>
            </a:r>
            <a:r>
              <a:rPr lang="en-AU" baseline="30000" dirty="0"/>
              <a:t>o</a:t>
            </a:r>
            <a:r>
              <a:rPr lang="en-AU" dirty="0"/>
              <a:t> N there is 107km between lines of longitude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DF2A6D-E13C-44D4-B8BB-B2237F86443F}"/>
              </a:ext>
            </a:extLst>
          </p:cNvPr>
          <p:cNvCxnSpPr/>
          <p:nvPr/>
        </p:nvCxnSpPr>
        <p:spPr>
          <a:xfrm>
            <a:off x="973015" y="4700954"/>
            <a:ext cx="14184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F178DE3-32B1-47C9-A188-E51C34DF513E}"/>
              </a:ext>
            </a:extLst>
          </p:cNvPr>
          <p:cNvSpPr txBox="1"/>
          <p:nvPr/>
        </p:nvSpPr>
        <p:spPr>
          <a:xfrm>
            <a:off x="2614246" y="4516288"/>
            <a:ext cx="543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43</a:t>
            </a:r>
            <a:r>
              <a:rPr lang="en-AU" baseline="30000" dirty="0"/>
              <a:t>o</a:t>
            </a:r>
            <a:r>
              <a:rPr lang="en-AU" dirty="0"/>
              <a:t> S there is 86km between lines of longitude </a:t>
            </a:r>
          </a:p>
        </p:txBody>
      </p:sp>
    </p:spTree>
    <p:extLst>
      <p:ext uri="{BB962C8B-B14F-4D97-AF65-F5344CB8AC3E}">
        <p14:creationId xmlns:p14="http://schemas.microsoft.com/office/powerpoint/2010/main" val="4222585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67FD9E-2BF7-4666-B414-FA781E7B16C7}"/>
              </a:ext>
            </a:extLst>
          </p:cNvPr>
          <p:cNvCxnSpPr>
            <a:cxnSpLocks/>
          </p:cNvCxnSpPr>
          <p:nvPr/>
        </p:nvCxnSpPr>
        <p:spPr>
          <a:xfrm flipV="1">
            <a:off x="1195755" y="808889"/>
            <a:ext cx="100818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ADF9B7-5840-489B-8D6F-6341F79CF4A1}"/>
              </a:ext>
            </a:extLst>
          </p:cNvPr>
          <p:cNvSpPr txBox="1"/>
          <p:nvPr/>
        </p:nvSpPr>
        <p:spPr>
          <a:xfrm>
            <a:off x="2532185" y="624227"/>
            <a:ext cx="543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25</a:t>
            </a:r>
            <a:r>
              <a:rPr lang="en-AU" baseline="30000" dirty="0"/>
              <a:t>o</a:t>
            </a:r>
            <a:r>
              <a:rPr lang="en-AU" dirty="0"/>
              <a:t> N there is 44km between lines of longitude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0EB983-974D-4CCF-86E4-9756993B5108}"/>
              </a:ext>
            </a:extLst>
          </p:cNvPr>
          <p:cNvCxnSpPr>
            <a:cxnSpLocks/>
          </p:cNvCxnSpPr>
          <p:nvPr/>
        </p:nvCxnSpPr>
        <p:spPr>
          <a:xfrm>
            <a:off x="1019907" y="1934308"/>
            <a:ext cx="1312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A193BF0-B1E2-4C81-B0F1-7CCC2C86434E}"/>
              </a:ext>
            </a:extLst>
          </p:cNvPr>
          <p:cNvSpPr txBox="1"/>
          <p:nvPr/>
        </p:nvSpPr>
        <p:spPr>
          <a:xfrm>
            <a:off x="2625969" y="1749642"/>
            <a:ext cx="543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43</a:t>
            </a:r>
            <a:r>
              <a:rPr lang="en-AU" baseline="30000" dirty="0"/>
              <a:t>o</a:t>
            </a:r>
            <a:r>
              <a:rPr lang="en-AU" dirty="0"/>
              <a:t> N there is 79km between lines of longitude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B6454F-B8D0-4AE3-B4F8-C6BB2084F692}"/>
              </a:ext>
            </a:extLst>
          </p:cNvPr>
          <p:cNvCxnSpPr/>
          <p:nvPr/>
        </p:nvCxnSpPr>
        <p:spPr>
          <a:xfrm>
            <a:off x="973015" y="3068543"/>
            <a:ext cx="14184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053DC47-10D0-47C0-8AE4-F7BD36AB5A85}"/>
              </a:ext>
            </a:extLst>
          </p:cNvPr>
          <p:cNvSpPr txBox="1"/>
          <p:nvPr/>
        </p:nvSpPr>
        <p:spPr>
          <a:xfrm>
            <a:off x="2614246" y="2883877"/>
            <a:ext cx="543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19</a:t>
            </a:r>
            <a:r>
              <a:rPr lang="en-AU" baseline="30000" dirty="0"/>
              <a:t>o</a:t>
            </a:r>
            <a:r>
              <a:rPr lang="en-AU" dirty="0"/>
              <a:t> N there is 107km between lines of longitude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DF2A6D-E13C-44D4-B8BB-B2237F86443F}"/>
              </a:ext>
            </a:extLst>
          </p:cNvPr>
          <p:cNvCxnSpPr>
            <a:cxnSpLocks/>
          </p:cNvCxnSpPr>
          <p:nvPr/>
        </p:nvCxnSpPr>
        <p:spPr>
          <a:xfrm>
            <a:off x="1101970" y="4700954"/>
            <a:ext cx="11957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F178DE3-32B1-47C9-A188-E51C34DF513E}"/>
              </a:ext>
            </a:extLst>
          </p:cNvPr>
          <p:cNvSpPr txBox="1"/>
          <p:nvPr/>
        </p:nvSpPr>
        <p:spPr>
          <a:xfrm>
            <a:off x="2614246" y="4516288"/>
            <a:ext cx="543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43</a:t>
            </a:r>
            <a:r>
              <a:rPr lang="en-AU" baseline="30000" dirty="0"/>
              <a:t>o</a:t>
            </a:r>
            <a:r>
              <a:rPr lang="en-AU" dirty="0"/>
              <a:t> S there is 86km between lines of longitude </a:t>
            </a:r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08C96042-85FF-4B88-8282-5C2965EDBD36}"/>
              </a:ext>
            </a:extLst>
          </p:cNvPr>
          <p:cNvSpPr/>
          <p:nvPr/>
        </p:nvSpPr>
        <p:spPr>
          <a:xfrm>
            <a:off x="1359877" y="211014"/>
            <a:ext cx="1031631" cy="608427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A0E2162-6A99-458B-A2D4-DF2B78006312}"/>
              </a:ext>
            </a:extLst>
          </p:cNvPr>
          <p:cNvSpPr/>
          <p:nvPr/>
        </p:nvSpPr>
        <p:spPr>
          <a:xfrm flipV="1">
            <a:off x="1359878" y="808893"/>
            <a:ext cx="1031630" cy="479473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6316EBF8-1217-4A3E-B80D-305CD719793D}"/>
              </a:ext>
            </a:extLst>
          </p:cNvPr>
          <p:cNvSpPr/>
          <p:nvPr/>
        </p:nvSpPr>
        <p:spPr>
          <a:xfrm flipH="1">
            <a:off x="961292" y="211014"/>
            <a:ext cx="1172310" cy="608427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AB2EA9F-749A-48F9-88A7-3FF4AD4CEC9E}"/>
              </a:ext>
            </a:extLst>
          </p:cNvPr>
          <p:cNvSpPr/>
          <p:nvPr/>
        </p:nvSpPr>
        <p:spPr>
          <a:xfrm flipH="1" flipV="1">
            <a:off x="961292" y="808891"/>
            <a:ext cx="1172309" cy="479473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5150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411D-9CF6-4CA7-BA3D-84E30E89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734" y="151871"/>
            <a:ext cx="7678616" cy="1104636"/>
          </a:xfrm>
        </p:spPr>
        <p:txBody>
          <a:bodyPr/>
          <a:lstStyle/>
          <a:p>
            <a:r>
              <a:rPr lang="en-AU" dirty="0"/>
              <a:t>What happens when we bend all the lines of longitude like this?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55C21-BCAB-4268-A9DF-5A8A53053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42" y="1352550"/>
            <a:ext cx="81026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58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F903-5F37-4835-9CA0-886242FE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Mercator projection">
            <a:hlinkClick r:id="" action="ppaction://media"/>
            <a:extLst>
              <a:ext uri="{FF2B5EF4-FFF2-40B4-BE49-F238E27FC236}">
                <a16:creationId xmlns:a16="http://schemas.microsoft.com/office/drawing/2014/main" id="{D55701E0-F0C6-444C-AAD1-EFD52FAA155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2395" y="304271"/>
            <a:ext cx="8339210" cy="4691063"/>
          </a:xfrm>
        </p:spPr>
      </p:pic>
    </p:spTree>
    <p:extLst>
      <p:ext uri="{BB962C8B-B14F-4D97-AF65-F5344CB8AC3E}">
        <p14:creationId xmlns:p14="http://schemas.microsoft.com/office/powerpoint/2010/main" val="424859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849</Words>
  <Application>Microsoft Office PowerPoint</Application>
  <PresentationFormat>On-screen Show (16:10)</PresentationFormat>
  <Paragraphs>178</Paragraphs>
  <Slides>19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Kiwi School Handwriting</vt:lpstr>
      <vt:lpstr>Office Theme</vt:lpstr>
      <vt:lpstr>Pythagoras Theorem Revision</vt:lpstr>
      <vt:lpstr>PowerPoint Presentation</vt:lpstr>
      <vt:lpstr>PowerPoint Presentation</vt:lpstr>
      <vt:lpstr>PowerPoint Presentation</vt:lpstr>
      <vt:lpstr>PowerPoint Presentation</vt:lpstr>
      <vt:lpstr>We Do</vt:lpstr>
      <vt:lpstr>PowerPoint Presentation</vt:lpstr>
      <vt:lpstr>PowerPoint Presentation</vt:lpstr>
      <vt:lpstr>We Do</vt:lpstr>
      <vt:lpstr>So what is Pythagoras used for?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happens when we bend all the lines of longitude like this?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16</cp:revision>
  <dcterms:created xsi:type="dcterms:W3CDTF">2018-06-24T14:11:04Z</dcterms:created>
  <dcterms:modified xsi:type="dcterms:W3CDTF">2018-06-24T17:12:45Z</dcterms:modified>
</cp:coreProperties>
</file>
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62" r:id="rId5"/>
    <p:sldId id="264" r:id="rId6"/>
    <p:sldId id="261" r:id="rId7"/>
    <p:sldId id="263" r:id="rId8"/>
    <p:sldId id="257" r:id="rId9"/>
    <p:sldId id="265" r:id="rId1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B164-695C-43A7-ADF4-2B003AF5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AEA42-7D9F-467D-89E0-4C74C1BD9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E7C97-AF45-4FA1-B703-AFF43243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FFA6F-BA3F-4FA3-8CE1-B3F16392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0B3E-94A8-484C-933E-F28DF34C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E807-1F5C-42D9-8393-75E9F653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B0843-A19D-4195-9600-D19F3ECC7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D9CCC-8E2D-44EF-9C15-75D8D39A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48B80-6BCA-490F-B5F1-85722D30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38B3A-9C3E-4917-9898-3AB38783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3E56-DF4A-411E-A79F-13AFA63F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D3868-C4EA-4F72-8B9F-4C4B370DF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BDE9F-B366-41C5-B9D5-D8340E9F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A319F-327B-42AB-A532-A6B00024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8987C-24E8-459A-BE1C-B0E93A34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8C0A-038E-4A11-BCCA-10577779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E0AEF-22A5-43E4-AD5E-4153C052C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5FC58-E88A-42DF-86C5-59646FA6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DC0FA-ECE6-4C60-AFFD-F7E6B776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B36E3-D107-44F2-8BC7-597466DA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74D7E-03B7-460E-9539-7B7BD62D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BBCCF-B609-4D76-9806-6D7EBAA90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0A40A-A303-45B2-9C45-7B2E299E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D8A1D-467A-4313-8861-781FAE09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181A9-ED20-4685-80DE-59AF4D9A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BF6B9-5CF4-4D87-B8DF-8551B22A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70EA1-B8DA-4120-8A0D-1A3F8D306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E07D-37BC-40A4-843B-705E76B6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1DEF-977E-4041-A5D9-3973489E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E211-8409-4597-90ED-33DAB4E2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F121-D309-4DF3-9208-C32A0271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36FC-50E4-4011-8CA5-3276931F0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7715D-44C7-4EE3-9CC9-9CA78E67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DC57-5FAE-47BC-8352-864C6BE1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E4F41-3E41-4A91-AD93-726A6257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400C-DA03-465C-BEE4-3257CC24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93219-A6BF-4A8D-AB5F-B2DE1871C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EAFB5-FA45-42DD-BEB0-55D655F1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5CAF7-DD36-4D0D-8966-0D5AD8DE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A16FE-5C95-4DE1-AC83-ABF33EB7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94DA-E799-4924-8B94-892DC2030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DEDF0-96CB-43DE-925A-4ABC181BA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7BD25-196E-462B-AB7C-821B5E09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286B9-6F0E-4AB5-AEC6-125B8A8C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052-82EA-4BA5-B79E-EF3C3F52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ECD7-9FEA-461B-BE69-448B7BD2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CAFD6-7A44-4876-91C1-7EF7228C7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6B28C-F159-49EB-BCCA-3C426E71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A8915-4251-448B-89B9-7E8B75EC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446E2-A825-46B9-B580-E5C4DC5D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016A-665A-4B4C-BCEE-AACA4D8BA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3E800-AFFD-492C-8274-302CBDB26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818D3-13E4-44F1-B358-7998ADB67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82A3-C5DC-4782-A5AD-D2C8F87D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B587-502B-4328-A7C5-59B22269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8F7C-B9BA-4E95-92C0-C1CE03B2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24E69-4B69-40AD-A091-8E69776AB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7AAA-0453-4708-B5BD-9241BFF4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8881B-A8F1-42C9-ADB5-CA22907F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B701C-754C-48F8-8DE8-3EA2346F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2" name="Picture 71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AU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AU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7" name="Picture 106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08" name="Picture 107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64A79-CBFF-4BD1-A654-21E925651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CFC4E-729E-44F8-B0B0-9AEC3DF03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88B09-697C-4BFE-8A1D-3C212BC7C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587EE-3937-408B-83E2-CE453CF9574E}" type="datetimeFigureOut">
              <a:rPr lang="en-AU" smtClean="0"/>
              <a:t>27/11/2018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6F29D-8F83-4582-9579-0ED632277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FABC7-C778-43B7-97DE-A6298661E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D7186-667C-4E3D-8F43-153DC3D92FB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AU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AU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emf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A4099C-97C3-4883-B238-9334DD945C17}"/>
              </a:ext>
            </a:extLst>
          </p:cNvPr>
          <p:cNvSpPr txBox="1"/>
          <p:nvPr/>
        </p:nvSpPr>
        <p:spPr>
          <a:xfrm>
            <a:off x="346003" y="0"/>
            <a:ext cx="877064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2 rabbits give girth to 2 rabbits</a:t>
            </a:r>
          </a:p>
          <a:p>
            <a:pPr algn="ctr"/>
            <a:r>
              <a:rPr lang="en-AU" dirty="0"/>
              <a:t>These 2 rabbits grow up to give birth to 2 rabbits each.</a:t>
            </a:r>
          </a:p>
          <a:p>
            <a:pPr algn="ctr"/>
            <a:r>
              <a:rPr lang="en-AU" dirty="0"/>
              <a:t>They each give birth to 2 rabbits each </a:t>
            </a:r>
          </a:p>
          <a:p>
            <a:pPr algn="ctr"/>
            <a:r>
              <a:rPr lang="en-AU" dirty="0"/>
              <a:t>who also grow up to give birth to 2 rabbits each  </a:t>
            </a:r>
          </a:p>
          <a:p>
            <a:pPr algn="ctr"/>
            <a:r>
              <a:rPr lang="en-AU" dirty="0"/>
              <a:t>And so do the next generation </a:t>
            </a:r>
          </a:p>
          <a:p>
            <a:pPr algn="ctr"/>
            <a:r>
              <a:rPr lang="en-AU" dirty="0"/>
              <a:t>And the next.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How many rabbits will be born in generation that is born next?</a:t>
            </a:r>
          </a:p>
          <a:p>
            <a:pPr algn="ctr"/>
            <a:endParaRPr lang="en-AU" dirty="0"/>
          </a:p>
          <a:p>
            <a:r>
              <a:rPr lang="en-AU" sz="1600" dirty="0">
                <a:solidFill>
                  <a:srgbClr val="FF0000"/>
                </a:solidFill>
              </a:rPr>
              <a:t>2 rabbits  x 2 rabbits x 2 rabbits x 2 rabbits x 2 rabbits x 2 rabbits x 2 rabbits x 2 rabbits = </a:t>
            </a:r>
          </a:p>
          <a:p>
            <a:r>
              <a:rPr lang="en-AU" dirty="0">
                <a:solidFill>
                  <a:srgbClr val="FF0000"/>
                </a:solidFill>
              </a:rPr>
              <a:t>		2 x 2 x 2 x 2 x 2 x 2 x 2 x 2 = 256 rabbits</a:t>
            </a:r>
          </a:p>
          <a:p>
            <a:r>
              <a:rPr lang="en-AU" dirty="0">
                <a:solidFill>
                  <a:srgbClr val="FF0000"/>
                </a:solidFill>
              </a:rPr>
              <a:t>	So after 8 generations there is 256 rabbits born in the last generation.</a:t>
            </a:r>
          </a:p>
          <a:p>
            <a:endParaRPr lang="en-AU" dirty="0"/>
          </a:p>
          <a:p>
            <a:r>
              <a:rPr lang="en-AU" dirty="0"/>
              <a:t>Now write down the calculation for 15 generations.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dirty="0">
                <a:solidFill>
                  <a:srgbClr val="FF0000"/>
                </a:solidFill>
              </a:rPr>
              <a:t>2 x 2 x 2 x 2 x 2 x 2 x 2 x 2 x 2 x 2 x 2 x 2 x 2 x 2 x 2  = 32,768</a:t>
            </a:r>
          </a:p>
          <a:p>
            <a:endParaRPr lang="en-AU" dirty="0"/>
          </a:p>
          <a:p>
            <a:r>
              <a:rPr lang="en-AU" dirty="0"/>
              <a:t>Now write it down for 25 generations.</a:t>
            </a:r>
          </a:p>
          <a:p>
            <a:endParaRPr lang="en-AU" dirty="0"/>
          </a:p>
          <a:p>
            <a:pPr lvl="1"/>
            <a:r>
              <a:rPr lang="en-AU" sz="1400" dirty="0">
                <a:solidFill>
                  <a:srgbClr val="FF0000"/>
                </a:solidFill>
              </a:rPr>
              <a:t>2 x 2 x 2 x 2 x 2 x 2 x 2 x 2 x 2 x 2 x 2 x 2 x 2 x 2 x 2 x 2 x 2 x 2 x 2 x 2 x 2 x 2 x 2 x 2 x 2 = 33,554,432</a:t>
            </a:r>
          </a:p>
          <a:p>
            <a:pPr lvl="1"/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C7EA9-7418-4CED-866B-E3F6F56CADC2}"/>
              </a:ext>
            </a:extLst>
          </p:cNvPr>
          <p:cNvSpPr txBox="1"/>
          <p:nvPr/>
        </p:nvSpPr>
        <p:spPr>
          <a:xfrm>
            <a:off x="1052225" y="5802234"/>
            <a:ext cx="7633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</a:t>
            </a:r>
            <a:r>
              <a:rPr lang="en-AU" b="1" dirty="0"/>
              <a:t>Can you think of an easier way to write this?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3BE33-E2D1-46AB-B3D9-8BD12AD8669B}"/>
              </a:ext>
            </a:extLst>
          </p:cNvPr>
          <p:cNvSpPr txBox="1"/>
          <p:nvPr/>
        </p:nvSpPr>
        <p:spPr>
          <a:xfrm>
            <a:off x="1052225" y="5802234"/>
            <a:ext cx="7633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</a:t>
            </a:r>
            <a:r>
              <a:rPr lang="en-AU" b="1" dirty="0"/>
              <a:t>Can you think of an easier way to write this?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D0EA-107B-4BA1-A246-5574A45E4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54939"/>
            <a:ext cx="8229240" cy="733812"/>
          </a:xfrm>
        </p:spPr>
        <p:txBody>
          <a:bodyPr/>
          <a:lstStyle/>
          <a:p>
            <a:pPr algn="ctr"/>
            <a:r>
              <a:rPr lang="en-AU" sz="4000" dirty="0"/>
              <a:t>What are the </a:t>
            </a:r>
            <a:r>
              <a:rPr lang="en-AU" sz="4000" dirty="0" err="1"/>
              <a:t>indicies</a:t>
            </a:r>
            <a:r>
              <a:rPr lang="en-AU" sz="4000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F8D2F-3168-40F0-ACC3-8832034A793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653707" y="610417"/>
            <a:ext cx="6418731" cy="1235662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 err="1"/>
              <a:t>Indicies</a:t>
            </a:r>
            <a:r>
              <a:rPr lang="en-AU" sz="2400" dirty="0"/>
              <a:t> are a shortcut way of writing a lot of the same numbers getting multiplied together.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B65C2-052E-4D61-A7A7-C234C40712FB}"/>
              </a:ext>
            </a:extLst>
          </p:cNvPr>
          <p:cNvSpPr txBox="1"/>
          <p:nvPr/>
        </p:nvSpPr>
        <p:spPr>
          <a:xfrm>
            <a:off x="567853" y="1846079"/>
            <a:ext cx="80079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Why do you think we use the index laws?</a:t>
            </a:r>
          </a:p>
          <a:p>
            <a:pPr lvl="1"/>
            <a:r>
              <a:rPr lang="en-AU" dirty="0"/>
              <a:t>	1. It easier to see how many numbers we are working with.</a:t>
            </a:r>
          </a:p>
          <a:p>
            <a:pPr lvl="3"/>
            <a:r>
              <a:rPr lang="en-AU" sz="1600" dirty="0">
                <a:solidFill>
                  <a:srgbClr val="FF0000"/>
                </a:solidFill>
              </a:rPr>
              <a:t>2 x 2 x 2 x 2 x 2 x 2 x 2 x 2 x 2 x 2 x 2 x 2 x 2 x 2 x 2 x 2 x 2 x 2 x 2 x 2 x 2 x 2 x 2 x 2 x 2  </a:t>
            </a:r>
            <a:r>
              <a:rPr lang="en-AU" sz="1600" b="1" dirty="0">
                <a:solidFill>
                  <a:srgbClr val="FF0000"/>
                </a:solidFill>
              </a:rPr>
              <a:t>vs</a:t>
            </a:r>
            <a:r>
              <a:rPr lang="en-AU" sz="1600" dirty="0">
                <a:solidFill>
                  <a:srgbClr val="FF0000"/>
                </a:solidFill>
              </a:rPr>
              <a:t>  2 x 2 x 2 x 2 x 2 x 2 x 2 x 2 x 2 x 2 x 2 x 2 x 2 x 2 x 2 x 2 x 2 x 2 x 2 x 2 x 2 x 2 x 2 x 2 x 2 – </a:t>
            </a:r>
            <a:r>
              <a:rPr lang="en-AU" dirty="0">
                <a:solidFill>
                  <a:srgbClr val="FF0000"/>
                </a:solidFill>
              </a:rPr>
              <a:t>which on is bigger?  </a:t>
            </a:r>
          </a:p>
          <a:p>
            <a:pPr lvl="3"/>
            <a:r>
              <a:rPr lang="en-AU" dirty="0">
                <a:solidFill>
                  <a:srgbClr val="FF0000"/>
                </a:solidFill>
              </a:rPr>
              <a:t>			Or 2</a:t>
            </a:r>
            <a:r>
              <a:rPr lang="en-AU" baseline="30000" dirty="0">
                <a:solidFill>
                  <a:srgbClr val="FF0000"/>
                </a:solidFill>
              </a:rPr>
              <a:t>25</a:t>
            </a:r>
            <a:r>
              <a:rPr lang="en-AU" dirty="0">
                <a:solidFill>
                  <a:srgbClr val="FF0000"/>
                </a:solidFill>
              </a:rPr>
              <a:t> vs 2</a:t>
            </a:r>
            <a:r>
              <a:rPr lang="en-AU" baseline="30000" dirty="0">
                <a:solidFill>
                  <a:srgbClr val="FF0000"/>
                </a:solidFill>
              </a:rPr>
              <a:t>26</a:t>
            </a:r>
            <a:endParaRPr lang="en-AU" dirty="0">
              <a:solidFill>
                <a:srgbClr val="FF0000"/>
              </a:solidFill>
            </a:endParaRPr>
          </a:p>
          <a:p>
            <a:pPr lvl="1"/>
            <a:r>
              <a:rPr lang="en-AU" dirty="0"/>
              <a:t>	2. We are less likely to make a mistake (it’s so easy to lose a “2” 	when you are trying to write them all out over and over again).</a:t>
            </a:r>
          </a:p>
          <a:p>
            <a:pPr lvl="1"/>
            <a:r>
              <a:rPr lang="en-AU" dirty="0"/>
              <a:t>	3. We’re lazy – who wants to write that many multiply signs and the 	same number over and over again.</a:t>
            </a:r>
          </a:p>
          <a:p>
            <a:pPr lvl="2"/>
            <a:r>
              <a:rPr lang="en-AU" dirty="0"/>
              <a:t>4. Finally It’s actually easier once you get used to it.</a:t>
            </a:r>
          </a:p>
          <a:p>
            <a:endParaRPr lang="en-AU" dirty="0"/>
          </a:p>
          <a:p>
            <a:r>
              <a:rPr lang="en-AU" dirty="0"/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95885-2E2F-4D26-B508-F3E2D7F16792}"/>
              </a:ext>
            </a:extLst>
          </p:cNvPr>
          <p:cNvSpPr txBox="1"/>
          <p:nvPr/>
        </p:nvSpPr>
        <p:spPr>
          <a:xfrm>
            <a:off x="290762" y="5293773"/>
            <a:ext cx="8562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So we are actually learning “The Index Laws” so you don’t have to write as much and can do maths with less effort.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0BFEE-0B90-46C7-9C28-68A10A765326}"/>
              </a:ext>
            </a:extLst>
          </p:cNvPr>
          <p:cNvSpPr txBox="1"/>
          <p:nvPr/>
        </p:nvSpPr>
        <p:spPr>
          <a:xfrm>
            <a:off x="290762" y="6219194"/>
            <a:ext cx="8562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You’re Welcome</a:t>
            </a:r>
          </a:p>
        </p:txBody>
      </p:sp>
    </p:spTree>
    <p:extLst>
      <p:ext uri="{BB962C8B-B14F-4D97-AF65-F5344CB8AC3E}">
        <p14:creationId xmlns:p14="http://schemas.microsoft.com/office/powerpoint/2010/main" val="138863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AADEBE-1155-4F9F-90C6-B5A4F0938C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35696" y="2132856"/>
                <a:ext cx="4176464" cy="237626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5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50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GB" sz="15000" i="1">
                              <a:latin typeface="Cambria Math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GB" sz="15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DAADEBE-1155-4F9F-90C6-B5A4F0938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2132856"/>
                <a:ext cx="4176464" cy="2376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FBEE3D-73D8-4300-91F3-5882EB4AF3E4}"/>
              </a:ext>
            </a:extLst>
          </p:cNvPr>
          <p:cNvSpPr txBox="1"/>
          <p:nvPr/>
        </p:nvSpPr>
        <p:spPr>
          <a:xfrm>
            <a:off x="1187624" y="4349621"/>
            <a:ext cx="3024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002060"/>
                </a:solidFill>
              </a:rPr>
              <a:t>base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CA18F7-1C7F-4AB1-8707-AA219B9A415E}"/>
              </a:ext>
            </a:extLst>
          </p:cNvPr>
          <p:cNvCxnSpPr/>
          <p:nvPr/>
        </p:nvCxnSpPr>
        <p:spPr>
          <a:xfrm flipV="1">
            <a:off x="1968364" y="3933056"/>
            <a:ext cx="936104" cy="64807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74646A8-C94C-4C63-9439-E36720EE4570}"/>
              </a:ext>
            </a:extLst>
          </p:cNvPr>
          <p:cNvSpPr txBox="1"/>
          <p:nvPr/>
        </p:nvSpPr>
        <p:spPr>
          <a:xfrm>
            <a:off x="5796136" y="908720"/>
            <a:ext cx="3024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002060"/>
                </a:solidFill>
              </a:rPr>
              <a:t>index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813098-7CA2-4776-B6BB-70FB7DBEFBDD}"/>
              </a:ext>
            </a:extLst>
          </p:cNvPr>
          <p:cNvCxnSpPr/>
          <p:nvPr/>
        </p:nvCxnSpPr>
        <p:spPr>
          <a:xfrm flipH="1">
            <a:off x="4714540" y="1867180"/>
            <a:ext cx="937580" cy="531351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E69BC7-69B4-4356-854D-1B9393216D1A}"/>
              </a:ext>
            </a:extLst>
          </p:cNvPr>
          <p:cNvSpPr txBox="1"/>
          <p:nvPr/>
        </p:nvSpPr>
        <p:spPr>
          <a:xfrm>
            <a:off x="2041732" y="6089625"/>
            <a:ext cx="677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order to use the index laws, the bases must be the same.</a:t>
            </a:r>
          </a:p>
        </p:txBody>
      </p:sp>
    </p:spTree>
    <p:extLst>
      <p:ext uri="{BB962C8B-B14F-4D97-AF65-F5344CB8AC3E}">
        <p14:creationId xmlns:p14="http://schemas.microsoft.com/office/powerpoint/2010/main" val="671771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10F75B-C288-4CA8-AE15-5FC7B286EF0C}"/>
              </a:ext>
            </a:extLst>
          </p:cNvPr>
          <p:cNvSpPr txBox="1"/>
          <p:nvPr/>
        </p:nvSpPr>
        <p:spPr>
          <a:xfrm>
            <a:off x="318655" y="332509"/>
            <a:ext cx="459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/>
              <a:t>Index law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467C98-7A62-42B3-8DD8-74199F53A750}"/>
              </a:ext>
            </a:extLst>
          </p:cNvPr>
          <p:cNvSpPr txBox="1"/>
          <p:nvPr/>
        </p:nvSpPr>
        <p:spPr>
          <a:xfrm>
            <a:off x="2775889" y="332509"/>
            <a:ext cx="52716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 x 7 x 7 x 7 x 7 x 7 = 7</a:t>
            </a:r>
            <a:r>
              <a:rPr lang="en-AU" baseline="30000" dirty="0"/>
              <a:t>6</a:t>
            </a:r>
          </a:p>
          <a:p>
            <a:endParaRPr lang="en-AU" baseline="30000" dirty="0"/>
          </a:p>
          <a:p>
            <a:r>
              <a:rPr lang="en-AU" dirty="0"/>
              <a:t>It could also be written as </a:t>
            </a:r>
          </a:p>
          <a:p>
            <a:endParaRPr lang="en-AU" dirty="0"/>
          </a:p>
          <a:p>
            <a:r>
              <a:rPr lang="en-AU" dirty="0"/>
              <a:t>(7 x 7 x 7) x (7 x 7 x 7) = 7</a:t>
            </a:r>
            <a:r>
              <a:rPr lang="en-AU" baseline="30000" dirty="0"/>
              <a:t>3</a:t>
            </a:r>
            <a:r>
              <a:rPr lang="en-AU" dirty="0"/>
              <a:t> x 7</a:t>
            </a:r>
            <a:r>
              <a:rPr lang="en-AU" baseline="30000" dirty="0"/>
              <a:t>3</a:t>
            </a:r>
          </a:p>
          <a:p>
            <a:endParaRPr lang="en-AU" baseline="30000" dirty="0"/>
          </a:p>
          <a:p>
            <a:r>
              <a:rPr lang="en-AU" dirty="0"/>
              <a:t>	or </a:t>
            </a:r>
          </a:p>
          <a:p>
            <a:endParaRPr lang="en-AU" dirty="0"/>
          </a:p>
          <a:p>
            <a:r>
              <a:rPr lang="en-AU" dirty="0"/>
              <a:t>(7 x 7) x (7 x 7) x (7 x 7) = 7</a:t>
            </a:r>
            <a:r>
              <a:rPr lang="en-AU" baseline="30000" dirty="0"/>
              <a:t>2</a:t>
            </a:r>
            <a:r>
              <a:rPr lang="en-AU" dirty="0"/>
              <a:t> x 7</a:t>
            </a:r>
            <a:r>
              <a:rPr lang="en-AU" baseline="30000" dirty="0"/>
              <a:t>2</a:t>
            </a:r>
            <a:r>
              <a:rPr lang="en-AU" dirty="0"/>
              <a:t> x 7</a:t>
            </a:r>
            <a:r>
              <a:rPr lang="en-AU" baseline="30000" dirty="0"/>
              <a:t>2</a:t>
            </a:r>
          </a:p>
          <a:p>
            <a:endParaRPr lang="en-AU" baseline="30000" dirty="0"/>
          </a:p>
          <a:p>
            <a:endParaRPr lang="en-AU" dirty="0"/>
          </a:p>
          <a:p>
            <a:r>
              <a:rPr lang="en-AU" dirty="0"/>
              <a:t>So 7</a:t>
            </a:r>
            <a:r>
              <a:rPr lang="en-AU" baseline="30000" dirty="0"/>
              <a:t>2</a:t>
            </a:r>
            <a:r>
              <a:rPr lang="en-AU" dirty="0"/>
              <a:t> x 7</a:t>
            </a:r>
            <a:r>
              <a:rPr lang="en-AU" baseline="30000" dirty="0"/>
              <a:t>2</a:t>
            </a:r>
            <a:r>
              <a:rPr lang="en-AU" dirty="0"/>
              <a:t> x 7</a:t>
            </a:r>
            <a:r>
              <a:rPr lang="en-AU" baseline="30000" dirty="0"/>
              <a:t>2</a:t>
            </a:r>
            <a:r>
              <a:rPr lang="en-AU" dirty="0"/>
              <a:t>  = 7</a:t>
            </a:r>
            <a:r>
              <a:rPr lang="en-AU" baseline="30000" dirty="0"/>
              <a:t>3</a:t>
            </a:r>
            <a:r>
              <a:rPr lang="en-AU" dirty="0"/>
              <a:t> x 7</a:t>
            </a:r>
            <a:r>
              <a:rPr lang="en-AU" baseline="30000" dirty="0"/>
              <a:t>3 </a:t>
            </a:r>
            <a:r>
              <a:rPr lang="en-AU" dirty="0"/>
              <a:t>= 7</a:t>
            </a:r>
            <a:r>
              <a:rPr lang="en-AU" baseline="30000" dirty="0"/>
              <a:t>6</a:t>
            </a:r>
            <a:endParaRPr lang="en-AU" dirty="0"/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4A0073-1B57-4DD3-9921-1CE61765E9B2}"/>
              </a:ext>
            </a:extLst>
          </p:cNvPr>
          <p:cNvSpPr txBox="1"/>
          <p:nvPr/>
        </p:nvSpPr>
        <p:spPr>
          <a:xfrm>
            <a:off x="1096458" y="3561359"/>
            <a:ext cx="7643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Index law 1 </a:t>
            </a:r>
            <a:r>
              <a:rPr lang="en-AU" sz="2000" dirty="0"/>
              <a:t>is that </a:t>
            </a:r>
            <a:r>
              <a:rPr lang="en-AU" sz="2000" b="1" dirty="0"/>
              <a:t>when the same bases are multiplied </a:t>
            </a:r>
            <a:r>
              <a:rPr lang="en-AU" sz="2000" dirty="0"/>
              <a:t>together we simply </a:t>
            </a:r>
            <a:r>
              <a:rPr lang="en-AU" sz="2000" b="1" dirty="0"/>
              <a:t>add all the </a:t>
            </a:r>
            <a:r>
              <a:rPr lang="en-AU" sz="2000" b="1" dirty="0" err="1"/>
              <a:t>indicies</a:t>
            </a:r>
            <a:r>
              <a:rPr lang="en-AU" sz="2000" b="1" dirty="0"/>
              <a:t> together.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DE45E-261C-4C41-A18F-95E07F11C039}"/>
              </a:ext>
            </a:extLst>
          </p:cNvPr>
          <p:cNvSpPr/>
          <p:nvPr/>
        </p:nvSpPr>
        <p:spPr>
          <a:xfrm>
            <a:off x="2479965" y="4372146"/>
            <a:ext cx="34836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dirty="0"/>
              <a:t>7</a:t>
            </a:r>
            <a:r>
              <a:rPr lang="en-AU" sz="2400" baseline="30000" dirty="0"/>
              <a:t>2</a:t>
            </a:r>
            <a:r>
              <a:rPr lang="en-AU" sz="2400" dirty="0"/>
              <a:t> x 7</a:t>
            </a:r>
            <a:r>
              <a:rPr lang="en-AU" sz="2400" baseline="30000" dirty="0"/>
              <a:t>2</a:t>
            </a:r>
            <a:r>
              <a:rPr lang="en-AU" sz="2400" dirty="0"/>
              <a:t> x 7</a:t>
            </a:r>
            <a:r>
              <a:rPr lang="en-AU" sz="2400" baseline="30000" dirty="0"/>
              <a:t>2 </a:t>
            </a:r>
            <a:r>
              <a:rPr lang="en-AU" sz="2400" dirty="0"/>
              <a:t> = 7</a:t>
            </a:r>
            <a:r>
              <a:rPr lang="en-AU" sz="2400" baseline="30000" dirty="0"/>
              <a:t>2+2+2</a:t>
            </a:r>
            <a:r>
              <a:rPr lang="en-AU" sz="2400" dirty="0"/>
              <a:t> = 7</a:t>
            </a:r>
            <a:r>
              <a:rPr lang="en-AU" sz="2400" baseline="30000" dirty="0"/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71DB5C-225B-4B63-9856-19BABE2A2957}"/>
              </a:ext>
            </a:extLst>
          </p:cNvPr>
          <p:cNvSpPr/>
          <p:nvPr/>
        </p:nvSpPr>
        <p:spPr>
          <a:xfrm>
            <a:off x="901846" y="4936712"/>
            <a:ext cx="77031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OpenDyslexic"/>
                <a:ea typeface="Times New Roman" panose="02020603050405020304" pitchFamily="18" charset="0"/>
                <a:cs typeface="Times New Roman" panose="02020603050405020304" pitchFamily="18" charset="0"/>
              </a:rPr>
              <a:t>When a number and a letter are both involved we deal with them separately.</a:t>
            </a:r>
            <a:endParaRPr lang="en-A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GB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r>
              <a:rPr lang="en-GB" sz="32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3a</a:t>
            </a:r>
            <a:r>
              <a:rPr lang="en-GB" sz="32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GB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2 x (a x a) x 3 x (a x a x a x a) = 6a</a:t>
            </a:r>
            <a:r>
              <a:rPr lang="en-GB" sz="28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A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9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4AEC5F-FC4F-48C7-A930-4DE6DE744F57}"/>
              </a:ext>
            </a:extLst>
          </p:cNvPr>
          <p:cNvSpPr txBox="1"/>
          <p:nvPr/>
        </p:nvSpPr>
        <p:spPr>
          <a:xfrm>
            <a:off x="533400" y="144607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/>
              <a:t>Index law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E79E5-BF08-4996-A444-4B43350BBF4D}"/>
                  </a:ext>
                </a:extLst>
              </p:cNvPr>
              <p:cNvSpPr txBox="1"/>
              <p:nvPr/>
            </p:nvSpPr>
            <p:spPr>
              <a:xfrm>
                <a:off x="788193" y="144607"/>
                <a:ext cx="8077200" cy="4498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			</a:t>
                </a:r>
              </a:p>
              <a:p>
                <a:endParaRPr lang="en-AU" dirty="0"/>
              </a:p>
              <a:p>
                <a:r>
                  <a:rPr lang="en-AU" dirty="0"/>
                  <a:t> 		3125  ÷ 125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3125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dirty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3125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28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5×5×5×5×5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5×5×5</m:t>
                        </m:r>
                      </m:den>
                    </m:f>
                  </m:oMath>
                </a14:m>
                <a:r>
                  <a:rPr lang="en-AU" dirty="0"/>
                  <a:t>         or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800" dirty="0"/>
                  <a:t> ×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AU" sz="2800" dirty="0"/>
                  <a:t>×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 lvl="1"/>
                <a:r>
                  <a:rPr lang="en-AU" dirty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/>
                  <a:t> = 1    we get                  1 x 1 x 1 x 5 x 5 =  5 x 5 or 5</a:t>
                </a:r>
                <a:r>
                  <a:rPr lang="en-AU" baseline="30000" dirty="0"/>
                  <a:t>2</a:t>
                </a:r>
              </a:p>
              <a:p>
                <a:endParaRPr lang="en-AU" baseline="30000" dirty="0"/>
              </a:p>
              <a:p>
                <a:endParaRPr lang="en-AU" baseline="30000" dirty="0"/>
              </a:p>
              <a:p>
                <a:endParaRPr lang="en-AU" baseline="30000" dirty="0"/>
              </a:p>
              <a:p>
                <a:r>
                  <a:rPr lang="en-AU" b="1" dirty="0"/>
                  <a:t>Index law 2 </a:t>
                </a:r>
                <a:r>
                  <a:rPr lang="en-AU" dirty="0"/>
                  <a:t>is that when the same bases </a:t>
                </a:r>
                <a:r>
                  <a:rPr lang="en-AU" b="1" dirty="0"/>
                  <a:t>are divided, we take away the </a:t>
                </a:r>
                <a:r>
                  <a:rPr lang="en-AU" b="1" dirty="0" err="1"/>
                  <a:t>indicies</a:t>
                </a:r>
                <a:r>
                  <a:rPr lang="en-AU" b="1" dirty="0"/>
                  <a:t> from the bottom number from the top number.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1E79E5-BF08-4996-A444-4B43350BB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193" y="144607"/>
                <a:ext cx="8077200" cy="4498539"/>
              </a:xfrm>
              <a:prstGeom prst="rect">
                <a:avLst/>
              </a:prstGeom>
              <a:blipFill>
                <a:blip r:embed="rId2"/>
                <a:stretch>
                  <a:fillRect l="-604" b="-12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3409F94-41F3-403B-B482-89CF4427BB8C}"/>
              </a:ext>
            </a:extLst>
          </p:cNvPr>
          <p:cNvSpPr txBox="1"/>
          <p:nvPr/>
        </p:nvSpPr>
        <p:spPr>
          <a:xfrm>
            <a:off x="5704393" y="945447"/>
            <a:ext cx="357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Since 3125 = 5</a:t>
            </a:r>
            <a:r>
              <a:rPr lang="en-AU" baseline="30000" dirty="0"/>
              <a:t>5</a:t>
            </a:r>
            <a:r>
              <a:rPr lang="en-AU" dirty="0"/>
              <a:t> and 125 = 5</a:t>
            </a:r>
            <a:r>
              <a:rPr lang="en-AU" baseline="30000" dirty="0"/>
              <a:t>3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48008A-13FB-414E-AB73-113E7588A0E5}"/>
                  </a:ext>
                </a:extLst>
              </p:cNvPr>
              <p:cNvSpPr/>
              <p:nvPr/>
            </p:nvSpPr>
            <p:spPr>
              <a:xfrm>
                <a:off x="893624" y="4948129"/>
                <a:ext cx="2698387" cy="8483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AU" sz="24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n-AU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48008A-13FB-414E-AB73-113E7588A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24" y="4948129"/>
                <a:ext cx="2698387" cy="8483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E020EE3-97C0-4F70-B677-D0EE34066894}"/>
              </a:ext>
            </a:extLst>
          </p:cNvPr>
          <p:cNvSpPr/>
          <p:nvPr/>
        </p:nvSpPr>
        <p:spPr>
          <a:xfrm>
            <a:off x="4793672" y="4893480"/>
            <a:ext cx="52244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E36C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8a</a:t>
            </a:r>
            <a:r>
              <a:rPr lang="en-GB" sz="2400" baseline="30000" dirty="0">
                <a:solidFill>
                  <a:srgbClr val="E36C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400" dirty="0">
                <a:solidFill>
                  <a:srgbClr val="E36C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400" dirty="0">
                <a:solidFill>
                  <a:srgbClr val="E36C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sz="2400" dirty="0">
                <a:solidFill>
                  <a:srgbClr val="E36C0A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 x a x a x a x a)  </a:t>
            </a: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baseline="30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r>
              <a:rPr lang="en-GB" sz="2400" baseline="30000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      </a:t>
            </a: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 x a) </a:t>
            </a:r>
            <a:endParaRPr lang="en-A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42211B-45CD-4E68-94BE-6FB57DC24320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4793672" y="5308979"/>
            <a:ext cx="481229" cy="789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52B75B-220B-458E-9208-46C2D11A5D26}"/>
              </a:ext>
            </a:extLst>
          </p:cNvPr>
          <p:cNvCxnSpPr>
            <a:cxnSpLocks/>
          </p:cNvCxnSpPr>
          <p:nvPr/>
        </p:nvCxnSpPr>
        <p:spPr>
          <a:xfrm>
            <a:off x="5704393" y="5336682"/>
            <a:ext cx="2201357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18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8748360" y="6488640"/>
            <a:ext cx="549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5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Line 2"/>
          <p:cNvSpPr/>
          <p:nvPr/>
        </p:nvSpPr>
        <p:spPr>
          <a:xfrm>
            <a:off x="0" y="980640"/>
            <a:ext cx="9144000" cy="0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14" name="Line 3"/>
          <p:cNvSpPr/>
          <p:nvPr/>
        </p:nvSpPr>
        <p:spPr>
          <a:xfrm>
            <a:off x="0" y="1916640"/>
            <a:ext cx="9144000" cy="0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15" name="CustomShape 4"/>
          <p:cNvSpPr/>
          <p:nvPr/>
        </p:nvSpPr>
        <p:spPr>
          <a:xfrm>
            <a:off x="93600" y="149760"/>
            <a:ext cx="575280" cy="820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24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7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AU" sz="1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30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Line 5"/>
          <p:cNvSpPr/>
          <p:nvPr/>
        </p:nvSpPr>
        <p:spPr>
          <a:xfrm>
            <a:off x="2634840" y="1884960"/>
            <a:ext cx="0" cy="5112720"/>
          </a:xfrm>
          <a:prstGeom prst="line">
            <a:avLst/>
          </a:prstGeom>
          <a:ln>
            <a:solidFill>
              <a:srgbClr val="BE4B48"/>
            </a:solidFill>
            <a:round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17" name="CustomShape 6"/>
          <p:cNvSpPr/>
          <p:nvPr/>
        </p:nvSpPr>
        <p:spPr>
          <a:xfrm>
            <a:off x="1126080" y="404640"/>
            <a:ext cx="175500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Laws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8" name="CustomShape 7"/>
          <p:cNvSpPr/>
          <p:nvPr/>
        </p:nvSpPr>
        <p:spPr>
          <a:xfrm>
            <a:off x="7439040" y="106200"/>
            <a:ext cx="158328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Date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CustomShape 8"/>
          <p:cNvSpPr/>
          <p:nvPr/>
        </p:nvSpPr>
        <p:spPr>
          <a:xfrm>
            <a:off x="119520" y="1063440"/>
            <a:ext cx="8776800" cy="82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EQ – Describe how the index laws can be used to simplify expressions with indices.  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CustomShape 9"/>
          <p:cNvSpPr/>
          <p:nvPr/>
        </p:nvSpPr>
        <p:spPr>
          <a:xfrm>
            <a:off x="-13802" y="3573204"/>
            <a:ext cx="2527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 are the index laws?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1" name="Line 10"/>
          <p:cNvSpPr/>
          <p:nvPr/>
        </p:nvSpPr>
        <p:spPr>
          <a:xfrm>
            <a:off x="5820840" y="3429000"/>
            <a:ext cx="0" cy="3384720"/>
          </a:xfrm>
          <a:prstGeom prst="line">
            <a:avLst/>
          </a:prstGeom>
          <a:ln>
            <a:solidFill>
              <a:srgbClr val="4A7EBB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ustomShape 11"/>
          <p:cNvSpPr/>
          <p:nvPr/>
        </p:nvSpPr>
        <p:spPr>
          <a:xfrm>
            <a:off x="3585960" y="3516120"/>
            <a:ext cx="1276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1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CustomShape 12"/>
          <p:cNvSpPr/>
          <p:nvPr/>
        </p:nvSpPr>
        <p:spPr>
          <a:xfrm>
            <a:off x="6970320" y="3551040"/>
            <a:ext cx="9655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4" name="CustomShape 13"/>
          <p:cNvSpPr/>
          <p:nvPr/>
        </p:nvSpPr>
        <p:spPr>
          <a:xfrm>
            <a:off x="2840040" y="4149360"/>
            <a:ext cx="2860200" cy="522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14"/>
          <p:cNvSpPr/>
          <p:nvPr/>
        </p:nvSpPr>
        <p:spPr>
          <a:xfrm>
            <a:off x="2840040" y="4149360"/>
            <a:ext cx="2860200" cy="52236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CustomShape 15"/>
          <p:cNvSpPr/>
          <p:nvPr/>
        </p:nvSpPr>
        <p:spPr>
          <a:xfrm>
            <a:off x="5820840" y="4108680"/>
            <a:ext cx="3117960" cy="46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CustomShape 16"/>
          <p:cNvSpPr/>
          <p:nvPr/>
        </p:nvSpPr>
        <p:spPr>
          <a:xfrm>
            <a:off x="5820840" y="4108680"/>
            <a:ext cx="3117960" cy="460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17"/>
          <p:cNvSpPr/>
          <p:nvPr/>
        </p:nvSpPr>
        <p:spPr>
          <a:xfrm>
            <a:off x="2802961" y="5249160"/>
            <a:ext cx="3024000" cy="1174680"/>
          </a:xfrm>
          <a:prstGeom prst="rect">
            <a:avLst/>
          </a:prstGeom>
          <a:blipFill>
            <a:blip r:embed="rId4"/>
            <a:stretch>
              <a:fillRect l="-4214" b="-6165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CustomShape 18"/>
          <p:cNvSpPr/>
          <p:nvPr/>
        </p:nvSpPr>
        <p:spPr>
          <a:xfrm>
            <a:off x="5892120" y="5240160"/>
            <a:ext cx="3004200" cy="46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19"/>
          <p:cNvSpPr/>
          <p:nvPr/>
        </p:nvSpPr>
        <p:spPr>
          <a:xfrm>
            <a:off x="5892120" y="5240160"/>
            <a:ext cx="3004200" cy="460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1" name="CustomShape 20"/>
          <p:cNvSpPr/>
          <p:nvPr/>
        </p:nvSpPr>
        <p:spPr>
          <a:xfrm>
            <a:off x="5951160" y="5960160"/>
            <a:ext cx="2392200" cy="853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CustomShape 21"/>
          <p:cNvSpPr/>
          <p:nvPr/>
        </p:nvSpPr>
        <p:spPr>
          <a:xfrm>
            <a:off x="5951160" y="5960160"/>
            <a:ext cx="2392200" cy="8532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3" name="CustomShape 22"/>
          <p:cNvSpPr/>
          <p:nvPr/>
        </p:nvSpPr>
        <p:spPr>
          <a:xfrm>
            <a:off x="3522240" y="4869360"/>
            <a:ext cx="12765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Index Law 2</a:t>
            </a:r>
            <a:endParaRPr lang="en-AU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6" name="CustomShape 25"/>
          <p:cNvSpPr/>
          <p:nvPr/>
        </p:nvSpPr>
        <p:spPr>
          <a:xfrm>
            <a:off x="2986560" y="5886720"/>
            <a:ext cx="5554800" cy="69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762CB169-EA3B-4074-9787-0E27FBF2D0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43796" y="2373809"/>
                <a:ext cx="4176464" cy="237626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6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66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GB" sz="6600" i="1">
                              <a:latin typeface="Cambria Math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GB" sz="6600" dirty="0"/>
              </a:p>
            </p:txBody>
          </p:sp>
        </mc:Choice>
        <mc:Fallback xmlns="">
          <p:sp>
            <p:nvSpPr>
              <p:cNvPr id="29" name="Content Placeholder 2">
                <a:extLst>
                  <a:ext uri="{FF2B5EF4-FFF2-40B4-BE49-F238E27FC236}">
                    <a16:creationId xmlns:a16="http://schemas.microsoft.com/office/drawing/2014/main" id="{762CB169-EA3B-4074-9787-0E27FBF2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796" y="2373809"/>
                <a:ext cx="4176464" cy="23762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CA66BBE-E097-47CC-BF5F-93D3837E014B}"/>
              </a:ext>
            </a:extLst>
          </p:cNvPr>
          <p:cNvSpPr txBox="1"/>
          <p:nvPr/>
        </p:nvSpPr>
        <p:spPr>
          <a:xfrm>
            <a:off x="2609253" y="2956978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002060"/>
                </a:solidFill>
              </a:rPr>
              <a:t>base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67E4B4-A32F-4B9A-AB19-EDAC9F9A35E7}"/>
              </a:ext>
            </a:extLst>
          </p:cNvPr>
          <p:cNvCxnSpPr>
            <a:cxnSpLocks/>
          </p:cNvCxnSpPr>
          <p:nvPr/>
        </p:nvCxnSpPr>
        <p:spPr>
          <a:xfrm flipV="1">
            <a:off x="3802088" y="3099204"/>
            <a:ext cx="1184250" cy="241341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C5CFFD4-3E44-44F7-BB0D-EC3104BBCE97}"/>
              </a:ext>
            </a:extLst>
          </p:cNvPr>
          <p:cNvSpPr txBox="1"/>
          <p:nvPr/>
        </p:nvSpPr>
        <p:spPr>
          <a:xfrm>
            <a:off x="7003892" y="1964754"/>
            <a:ext cx="30243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002060"/>
                </a:solidFill>
              </a:rPr>
              <a:t>index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86DD54-9173-43FE-A8C0-6CE5868EF811}"/>
              </a:ext>
            </a:extLst>
          </p:cNvPr>
          <p:cNvCxnSpPr>
            <a:cxnSpLocks/>
          </p:cNvCxnSpPr>
          <p:nvPr/>
        </p:nvCxnSpPr>
        <p:spPr>
          <a:xfrm flipH="1">
            <a:off x="5889906" y="2373809"/>
            <a:ext cx="1080414" cy="221182"/>
          </a:xfrm>
          <a:prstGeom prst="straightConnector1">
            <a:avLst/>
          </a:prstGeom>
          <a:ln w="381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B08ECA-326A-49AA-855E-DAD85E4CAB0B}"/>
              </a:ext>
            </a:extLst>
          </p:cNvPr>
          <p:cNvSpPr txBox="1"/>
          <p:nvPr/>
        </p:nvSpPr>
        <p:spPr>
          <a:xfrm>
            <a:off x="443344" y="143286"/>
            <a:ext cx="252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try a few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0A243-361D-427E-B8FC-84D6BD9E1B52}"/>
              </a:ext>
            </a:extLst>
          </p:cNvPr>
          <p:cNvSpPr/>
          <p:nvPr/>
        </p:nvSpPr>
        <p:spPr>
          <a:xfrm>
            <a:off x="547253" y="528143"/>
            <a:ext cx="2313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2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9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a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-3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-8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b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D643C-B352-4409-8C76-B7C2089A1C34}"/>
              </a:ext>
            </a:extLst>
          </p:cNvPr>
          <p:cNvSpPr/>
          <p:nvPr/>
        </p:nvSpPr>
        <p:spPr>
          <a:xfrm>
            <a:off x="1030184" y="3485245"/>
            <a:ext cx="252152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7a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3s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9s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6n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8n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en-GB" sz="24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7h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-3h</a:t>
            </a:r>
            <a:r>
              <a:rPr lang="en-GB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GB" sz="24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en-A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96A829-CD49-4EFE-A1C5-683204AB1667}"/>
                  </a:ext>
                </a:extLst>
              </p:cNvPr>
              <p:cNvSpPr/>
              <p:nvPr/>
            </p:nvSpPr>
            <p:spPr>
              <a:xfrm>
                <a:off x="6021967" y="523451"/>
                <a:ext cx="176082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9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endParaRPr lang="en-A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endParaRPr lang="en-GB" sz="24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-3 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</a:p>
              <a:p>
                <a:pPr>
                  <a:spcAft>
                    <a:spcPts val="0"/>
                  </a:spcAft>
                </a:pPr>
                <a:endParaRPr lang="en-GB" sz="24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AU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296A829-CD49-4EFE-A1C5-683204AB1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967" y="523451"/>
                <a:ext cx="1760827" cy="1938992"/>
              </a:xfrm>
              <a:prstGeom prst="rect">
                <a:avLst/>
              </a:prstGeom>
              <a:blipFill>
                <a:blip r:embed="rId2"/>
                <a:stretch>
                  <a:fillRect l="-5536" t="-25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608B4107-4023-4F0E-8C07-5BF5DFD92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713" y="1882223"/>
            <a:ext cx="6297359" cy="15391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531DB8-10C9-4993-ADD3-EDA9A457EA08}"/>
                  </a:ext>
                </a:extLst>
              </p:cNvPr>
              <p:cNvSpPr/>
              <p:nvPr/>
            </p:nvSpPr>
            <p:spPr>
              <a:xfrm>
                <a:off x="5439212" y="3442507"/>
                <a:ext cx="234358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27s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3s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endParaRPr lang="en-A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endParaRPr lang="en-GB" sz="24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6n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8n</a:t>
                </a:r>
                <a:r>
                  <a:rPr lang="en-GB" sz="2400" baseline="30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 </a:t>
                </a:r>
                <a:r>
                  <a:rPr lang="en-GB" sz="20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endParaRPr lang="en-AU" sz="1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531DB8-10C9-4993-ADD3-EDA9A457E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212" y="3442507"/>
                <a:ext cx="2343582" cy="1200329"/>
              </a:xfrm>
              <a:prstGeom prst="rect">
                <a:avLst/>
              </a:prstGeom>
              <a:blipFill>
                <a:blip r:embed="rId4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CAFE22A-AA78-48B0-9986-3D562272E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927" y="4911948"/>
            <a:ext cx="5736686" cy="1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152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2081</TotalTime>
  <Words>377</Words>
  <Application>Microsoft Office PowerPoint</Application>
  <PresentationFormat>On-screen Show (4:3)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DejaVu Sans</vt:lpstr>
      <vt:lpstr>OpenDyslexic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What are the indicies?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92</cp:revision>
  <cp:lastPrinted>2016-02-03T09:08:44Z</cp:lastPrinted>
  <dcterms:created xsi:type="dcterms:W3CDTF">2014-05-14T02:58:57Z</dcterms:created>
  <dcterms:modified xsi:type="dcterms:W3CDTF">2018-11-27T07:19:54Z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The Department of Education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17</vt:i4>
  </property>
</Properties>
</file>
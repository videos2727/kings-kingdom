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56" r:id="rId3"/>
    <p:sldId id="257" r:id="rId4"/>
    <p:sldId id="258" r:id="rId5"/>
    <p:sldId id="259" r:id="rId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0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71500"/>
            <a:ext cx="6000750" cy="247650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3203223"/>
            <a:ext cx="4800600" cy="1622778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7056"/>
            <a:ext cx="2857500" cy="3175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76288"/>
            <a:ext cx="4560491" cy="50672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90500"/>
            <a:ext cx="3714750" cy="412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6899"/>
            <a:ext cx="3639742" cy="40441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508001"/>
            <a:ext cx="3257549" cy="36194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7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79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672167"/>
            <a:ext cx="6400801" cy="1901333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746500"/>
            <a:ext cx="6400800" cy="124883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561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71500"/>
            <a:ext cx="3703241" cy="301272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71501"/>
            <a:ext cx="3700859" cy="3012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40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71500"/>
            <a:ext cx="3487340" cy="480218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1058774"/>
            <a:ext cx="3703241" cy="252544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71500"/>
            <a:ext cx="3498851" cy="480218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1051719"/>
            <a:ext cx="3696891" cy="252544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99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380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24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71500"/>
            <a:ext cx="2743200" cy="11430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71500"/>
            <a:ext cx="4457701" cy="442383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841499"/>
            <a:ext cx="2743200" cy="1742723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131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206500"/>
            <a:ext cx="4514850" cy="9525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762000"/>
            <a:ext cx="2460731" cy="3810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314222"/>
            <a:ext cx="4516041" cy="1707444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95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44500"/>
            <a:ext cx="8114109" cy="26035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3203223"/>
            <a:ext cx="6228158" cy="3810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637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71500"/>
            <a:ext cx="7543800" cy="22860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429000"/>
            <a:ext cx="6401991" cy="1566333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4614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71500"/>
            <a:ext cx="6858001" cy="22860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857500"/>
            <a:ext cx="6400800" cy="317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584223"/>
            <a:ext cx="6400800" cy="1404054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98859" y="676852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307168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0116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857500"/>
            <a:ext cx="6400800" cy="14145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4277484"/>
            <a:ext cx="6401993" cy="7170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185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71500"/>
            <a:ext cx="6858000" cy="22860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3273779"/>
            <a:ext cx="6400801" cy="8748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4148667"/>
            <a:ext cx="6400801" cy="84666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398859" y="676852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307168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5445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71500"/>
            <a:ext cx="7543800" cy="2286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3273778"/>
            <a:ext cx="6400800" cy="698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972277"/>
            <a:ext cx="6400801" cy="10230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534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7892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71500"/>
            <a:ext cx="1543050" cy="3810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71500"/>
            <a:ext cx="5867400" cy="44238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149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469445"/>
            <a:ext cx="2236394" cy="2674056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739444"/>
            <a:ext cx="6400800" cy="125588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71500"/>
            <a:ext cx="6400800" cy="30127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5143500"/>
            <a:ext cx="1200150" cy="3042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5143500"/>
            <a:ext cx="5657850" cy="3042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648730"/>
            <a:ext cx="856684" cy="5582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641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985" y="898605"/>
            <a:ext cx="6400800" cy="1255889"/>
          </a:xfrm>
        </p:spPr>
        <p:txBody>
          <a:bodyPr/>
          <a:lstStyle/>
          <a:p>
            <a:r>
              <a:rPr lang="en-AU" dirty="0"/>
              <a:t>Inverse Proportion 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985" y="984887"/>
            <a:ext cx="6400800" cy="3012723"/>
          </a:xfrm>
        </p:spPr>
        <p:txBody>
          <a:bodyPr/>
          <a:lstStyle/>
          <a:p>
            <a:r>
              <a:rPr lang="en-AU" dirty="0" smtClean="0"/>
              <a:t>EQ: what is inverse proportion, and can we use it to sole real life problems?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670" y="2828002"/>
            <a:ext cx="3849329" cy="288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231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1804" y="1140542"/>
            <a:ext cx="8240751" cy="4145136"/>
          </a:xfrm>
        </p:spPr>
        <p:txBody>
          <a:bodyPr>
            <a:normAutofit lnSpcReduction="10000"/>
          </a:bodyPr>
          <a:lstStyle/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The more Ferrari’s I buy, the more they cost.</a:t>
            </a:r>
          </a:p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1 Ferrari = $400,00</a:t>
            </a:r>
          </a:p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2 Ferrari = $800,000</a:t>
            </a:r>
          </a:p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3 Ferrari = $1,200,000</a:t>
            </a:r>
          </a:p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That is direct proportion</a:t>
            </a:r>
          </a:p>
          <a:p>
            <a:endParaRPr lang="en-AU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Now when I Drive the Ferrari to the beach, </a:t>
            </a:r>
          </a:p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Driving at 20km/hr it takes 30 minutes </a:t>
            </a:r>
          </a:p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Driving at 40km/hr it takes 15 mins </a:t>
            </a:r>
          </a:p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Driving at 80km/hr it takes  7.5mins </a:t>
            </a:r>
          </a:p>
          <a:p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This is an example of inverse proportion.  As one value increases, the other decreases.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934056" y="452284"/>
            <a:ext cx="3752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An Example of Direct Proportion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Inverse Proportion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5278" y="1305079"/>
            <a:ext cx="6858000" cy="1379802"/>
          </a:xfrm>
        </p:spPr>
        <p:txBody>
          <a:bodyPr>
            <a:normAutofit/>
          </a:bodyPr>
          <a:lstStyle/>
          <a:p>
            <a:r>
              <a:rPr lang="en-AU" sz="2400" dirty="0"/>
              <a:t>Inverse proportion is when 1 value increases, the other decreases.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633749"/>
            <a:ext cx="8506521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400" dirty="0"/>
              <a:t>EQ : How do we solve problems with inverse proportion.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2429" y="2084716"/>
            <a:ext cx="6210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it takes 10 people 24 days to build a house, how long would it take 5 people?</a:t>
            </a:r>
          </a:p>
          <a:p>
            <a:endParaRPr lang="en-AU" dirty="0"/>
          </a:p>
          <a:p>
            <a:r>
              <a:rPr lang="en-AU" dirty="0"/>
              <a:t>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9509486"/>
                  </p:ext>
                </p:extLst>
              </p:nvPr>
            </p:nvGraphicFramePr>
            <p:xfrm>
              <a:off x="2442117" y="2739293"/>
              <a:ext cx="3646449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15483">
                      <a:extLst>
                        <a:ext uri="{9D8B030D-6E8A-4147-A177-3AD203B41FA5}">
                          <a16:colId xmlns:a16="http://schemas.microsoft.com/office/drawing/2014/main" xmlns="" val="125745911"/>
                        </a:ext>
                      </a:extLst>
                    </a:gridCol>
                    <a:gridCol w="1215483">
                      <a:extLst>
                        <a:ext uri="{9D8B030D-6E8A-4147-A177-3AD203B41FA5}">
                          <a16:colId xmlns:a16="http://schemas.microsoft.com/office/drawing/2014/main" xmlns="" val="2673622113"/>
                        </a:ext>
                      </a:extLst>
                    </a:gridCol>
                    <a:gridCol w="1215483">
                      <a:extLst>
                        <a:ext uri="{9D8B030D-6E8A-4147-A177-3AD203B41FA5}">
                          <a16:colId xmlns:a16="http://schemas.microsoft.com/office/drawing/2014/main" xmlns="" val="35884516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u="sng" dirty="0"/>
                            <a:t>People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u="sng" dirty="0"/>
                            <a:t>Days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710621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6861639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smtClean="0">
                                    <a:latin typeface="Cambria Math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1915645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9509486"/>
                  </p:ext>
                </p:extLst>
              </p:nvPr>
            </p:nvGraphicFramePr>
            <p:xfrm>
              <a:off x="2442117" y="2739293"/>
              <a:ext cx="3646449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1548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5745911"/>
                        </a:ext>
                      </a:extLst>
                    </a:gridCol>
                    <a:gridCol w="121548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73622113"/>
                        </a:ext>
                      </a:extLst>
                    </a:gridCol>
                    <a:gridCol w="121548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5884516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u="sng" dirty="0"/>
                            <a:t>People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u="sng" dirty="0"/>
                            <a:t>Days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10621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861639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99500" t="-208197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9156458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3562815" y="3276959"/>
            <a:ext cx="1683834" cy="0"/>
          </a:xfrm>
          <a:prstGeom prst="straightConnector1">
            <a:avLst/>
          </a:prstGeom>
          <a:ln w="38100">
            <a:solidFill>
              <a:schemeClr val="tx1">
                <a:lumMod val="95000"/>
                <a:alpha val="6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562815" y="3720064"/>
            <a:ext cx="1683834" cy="0"/>
          </a:xfrm>
          <a:prstGeom prst="straightConnector1">
            <a:avLst/>
          </a:prstGeom>
          <a:ln w="38100">
            <a:solidFill>
              <a:schemeClr val="tx1">
                <a:lumMod val="95000"/>
                <a:alpha val="6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442117" y="3975343"/>
                <a:ext cx="2363789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10 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×24=5 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           240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 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240 ÷ 5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      48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r>
                  <a:rPr lang="en-AU" dirty="0"/>
                  <a:t>It takes 5 people 48 days.</a:t>
                </a: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117" y="3975343"/>
                <a:ext cx="2363789" cy="1384995"/>
              </a:xfrm>
              <a:prstGeom prst="rect">
                <a:avLst/>
              </a:prstGeom>
              <a:blipFill rotWithShape="0">
                <a:blip r:embed="rId3"/>
                <a:stretch>
                  <a:fillRect l="-6202" t="-28194" r="-25323" b="-9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154994" y="3991896"/>
            <a:ext cx="2788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use back tracking to solve these types of problems.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9754"/>
            <a:ext cx="6400800" cy="1255889"/>
          </a:xfrm>
        </p:spPr>
        <p:txBody>
          <a:bodyPr/>
          <a:lstStyle/>
          <a:p>
            <a:r>
              <a:rPr lang="en-AU" dirty="0"/>
              <a:t>Lets try a these together.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53002"/>
            <a:ext cx="8515350" cy="4661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i="1" u="sng" dirty="0">
                <a:solidFill>
                  <a:schemeClr val="tx1">
                    <a:lumMod val="95000"/>
                  </a:schemeClr>
                </a:solidFill>
              </a:rPr>
              <a:t>A cruise ship has enough food to feed 200 passengers for 10 days</a:t>
            </a:r>
            <a:r>
              <a:rPr lang="en-AU" i="1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 marL="685800" lvl="1" indent="-342900">
              <a:buAutoNum type="arabicPeriod"/>
            </a:pPr>
            <a:r>
              <a:rPr lang="en-AU" b="1" dirty="0">
                <a:solidFill>
                  <a:schemeClr val="tx1">
                    <a:lumMod val="95000"/>
                  </a:schemeClr>
                </a:solidFill>
              </a:rPr>
              <a:t>H</a:t>
            </a:r>
            <a:r>
              <a:rPr lang="en-AU" b="1" dirty="0" smtClean="0">
                <a:solidFill>
                  <a:schemeClr val="tx1">
                    <a:lumMod val="95000"/>
                  </a:schemeClr>
                </a:solidFill>
              </a:rPr>
              <a:t>ow </a:t>
            </a:r>
            <a:r>
              <a:rPr lang="en-AU" b="1" dirty="0">
                <a:solidFill>
                  <a:schemeClr val="tx1">
                    <a:lumMod val="95000"/>
                  </a:schemeClr>
                </a:solidFill>
              </a:rPr>
              <a:t>many days could it feed 100 </a:t>
            </a:r>
            <a:r>
              <a:rPr lang="en-AU" b="1" dirty="0" smtClean="0">
                <a:solidFill>
                  <a:schemeClr val="tx1">
                    <a:lumMod val="95000"/>
                  </a:schemeClr>
                </a:solidFill>
              </a:rPr>
              <a:t>passengers(D)?</a:t>
            </a:r>
            <a:endParaRPr lang="en-AU" b="1" dirty="0">
              <a:solidFill>
                <a:schemeClr val="tx1">
                  <a:lumMod val="95000"/>
                </a:schemeClr>
              </a:solidFill>
            </a:endParaRPr>
          </a:p>
          <a:p>
            <a:pPr marL="1028700" lvl="2" indent="-342900">
              <a:buAutoNum type="arabicPeriod"/>
            </a:pPr>
            <a:r>
              <a:rPr lang="en-AU" sz="1050" dirty="0" smtClean="0">
                <a:solidFill>
                  <a:schemeClr val="tx1">
                    <a:lumMod val="95000"/>
                  </a:schemeClr>
                </a:solidFill>
              </a:rPr>
              <a:t>200 x 10 = 100 x </a:t>
            </a:r>
            <a:r>
              <a:rPr lang="en-AU" sz="1050" i="1" dirty="0">
                <a:solidFill>
                  <a:schemeClr val="tx1">
                    <a:lumMod val="95000"/>
                  </a:schemeClr>
                </a:solidFill>
              </a:rPr>
              <a:t>D</a:t>
            </a:r>
            <a:endParaRPr lang="en-AU" sz="1050" i="1" dirty="0" smtClean="0">
              <a:solidFill>
                <a:schemeClr val="tx1">
                  <a:lumMod val="95000"/>
                </a:schemeClr>
              </a:solidFill>
            </a:endParaRPr>
          </a:p>
          <a:p>
            <a:pPr marL="1028700" lvl="2" indent="-342900">
              <a:buAutoNum type="arabicPeriod"/>
            </a:pPr>
            <a:r>
              <a:rPr lang="en-AU" sz="1050" i="1" dirty="0" smtClean="0">
                <a:solidFill>
                  <a:schemeClr val="tx1">
                    <a:lumMod val="95000"/>
                  </a:schemeClr>
                </a:solidFill>
              </a:rPr>
              <a:t>2000 = 100 x D</a:t>
            </a:r>
          </a:p>
          <a:p>
            <a:pPr marL="1028700" lvl="2" indent="-342900">
              <a:buAutoNum type="arabicPeriod"/>
            </a:pPr>
            <a:r>
              <a:rPr lang="en-AU" sz="1050" i="1" dirty="0" smtClean="0">
                <a:solidFill>
                  <a:schemeClr val="tx1">
                    <a:lumMod val="95000"/>
                  </a:schemeClr>
                </a:solidFill>
              </a:rPr>
              <a:t>2000 / 100 = D</a:t>
            </a:r>
          </a:p>
          <a:p>
            <a:pPr marL="1028700" lvl="2" indent="-342900">
              <a:buAutoNum type="arabicPeriod"/>
            </a:pPr>
            <a:r>
              <a:rPr lang="en-AU" sz="1050" b="1" i="1" dirty="0" smtClean="0">
                <a:solidFill>
                  <a:schemeClr val="tx1">
                    <a:lumMod val="95000"/>
                  </a:schemeClr>
                </a:solidFill>
              </a:rPr>
              <a:t>20 = D – 100 passengers could be fed for 20 days. </a:t>
            </a:r>
          </a:p>
          <a:p>
            <a:pPr marL="685800" lvl="1" indent="-342900">
              <a:buAutoNum type="arabicPeriod"/>
            </a:pPr>
            <a:r>
              <a:rPr lang="en-AU" b="1" dirty="0" smtClean="0">
                <a:solidFill>
                  <a:schemeClr val="tx1">
                    <a:lumMod val="95000"/>
                  </a:schemeClr>
                </a:solidFill>
              </a:rPr>
              <a:t>How </a:t>
            </a:r>
            <a:r>
              <a:rPr lang="en-AU" b="1" dirty="0">
                <a:solidFill>
                  <a:schemeClr val="tx1">
                    <a:lumMod val="95000"/>
                  </a:schemeClr>
                </a:solidFill>
              </a:rPr>
              <a:t>many passengers could you feed for 5 </a:t>
            </a:r>
            <a:r>
              <a:rPr lang="en-AU" b="1" dirty="0" smtClean="0">
                <a:solidFill>
                  <a:schemeClr val="tx1">
                    <a:lumMod val="95000"/>
                  </a:schemeClr>
                </a:solidFill>
              </a:rPr>
              <a:t>days(P)?</a:t>
            </a:r>
          </a:p>
          <a:p>
            <a:pPr marL="1028700" lvl="2" indent="-342900">
              <a:buAutoNum type="arabicPeriod"/>
            </a:pPr>
            <a:r>
              <a:rPr lang="en-AU" dirty="0" smtClean="0">
                <a:solidFill>
                  <a:schemeClr val="tx1">
                    <a:lumMod val="95000"/>
                  </a:schemeClr>
                </a:solidFill>
              </a:rPr>
              <a:t>200 x 10 = P x 5</a:t>
            </a:r>
          </a:p>
          <a:p>
            <a:pPr marL="1028700" lvl="2" indent="-342900">
              <a:buAutoNum type="arabicPeriod"/>
            </a:pPr>
            <a:r>
              <a:rPr lang="en-AU" dirty="0" smtClean="0">
                <a:solidFill>
                  <a:schemeClr val="tx1">
                    <a:lumMod val="95000"/>
                  </a:schemeClr>
                </a:solidFill>
              </a:rPr>
              <a:t>2000 = Px5</a:t>
            </a:r>
          </a:p>
          <a:p>
            <a:pPr marL="1028700" lvl="2" indent="-342900">
              <a:buAutoNum type="arabicPeriod"/>
            </a:pPr>
            <a:r>
              <a:rPr lang="en-AU" dirty="0" smtClean="0">
                <a:solidFill>
                  <a:schemeClr val="tx1">
                    <a:lumMod val="95000"/>
                  </a:schemeClr>
                </a:solidFill>
              </a:rPr>
              <a:t>2000 / 5 = P</a:t>
            </a:r>
          </a:p>
          <a:p>
            <a:pPr marL="1028700" lvl="2" indent="-342900">
              <a:buAutoNum type="arabicPeriod"/>
            </a:pPr>
            <a:r>
              <a:rPr lang="en-AU" b="1" dirty="0" smtClean="0">
                <a:solidFill>
                  <a:schemeClr val="tx1">
                    <a:lumMod val="95000"/>
                  </a:schemeClr>
                </a:solidFill>
              </a:rPr>
              <a:t>400 = P – The same amount would feed 400 people in 5 days.</a:t>
            </a:r>
            <a:endParaRPr lang="en-AU" b="1" dirty="0">
              <a:solidFill>
                <a:schemeClr val="tx1">
                  <a:lumMod val="95000"/>
                </a:schemeClr>
              </a:solidFill>
            </a:endParaRPr>
          </a:p>
          <a:p>
            <a:pPr marL="685800" lvl="1" indent="-342900">
              <a:buAutoNum type="arabicPeriod"/>
            </a:pPr>
            <a:r>
              <a:rPr lang="en-AU" b="1" dirty="0" smtClean="0">
                <a:solidFill>
                  <a:schemeClr val="tx1">
                    <a:lumMod val="95000"/>
                  </a:schemeClr>
                </a:solidFill>
              </a:rPr>
              <a:t>How </a:t>
            </a:r>
            <a:r>
              <a:rPr lang="en-AU" b="1" dirty="0">
                <a:solidFill>
                  <a:schemeClr val="tx1">
                    <a:lumMod val="95000"/>
                  </a:schemeClr>
                </a:solidFill>
              </a:rPr>
              <a:t>many days could it last with 175 passengers</a:t>
            </a:r>
            <a:r>
              <a:rPr lang="en-AU" b="1" dirty="0" smtClean="0">
                <a:solidFill>
                  <a:schemeClr val="tx1">
                    <a:lumMod val="95000"/>
                  </a:schemeClr>
                </a:solidFill>
              </a:rPr>
              <a:t>?</a:t>
            </a:r>
          </a:p>
          <a:p>
            <a:pPr marL="1028700" lvl="2" indent="-342900">
              <a:buAutoNum type="arabicPeriod"/>
            </a:pPr>
            <a:r>
              <a:rPr lang="en-AU" dirty="0" smtClean="0">
                <a:solidFill>
                  <a:schemeClr val="tx1">
                    <a:lumMod val="95000"/>
                  </a:schemeClr>
                </a:solidFill>
              </a:rPr>
              <a:t>200 x 10 = 175 x D</a:t>
            </a:r>
          </a:p>
          <a:p>
            <a:pPr marL="1028700" lvl="2" indent="-342900">
              <a:buAutoNum type="arabicPeriod"/>
            </a:pPr>
            <a:r>
              <a:rPr lang="en-AU" dirty="0" smtClean="0">
                <a:solidFill>
                  <a:schemeClr val="tx1">
                    <a:lumMod val="95000"/>
                  </a:schemeClr>
                </a:solidFill>
              </a:rPr>
              <a:t>2000 = 175D</a:t>
            </a:r>
          </a:p>
          <a:p>
            <a:pPr marL="1028700" lvl="2" indent="-342900">
              <a:buAutoNum type="arabicPeriod"/>
            </a:pPr>
            <a:r>
              <a:rPr lang="en-AU" dirty="0" smtClean="0">
                <a:solidFill>
                  <a:schemeClr val="tx1">
                    <a:lumMod val="95000"/>
                  </a:schemeClr>
                </a:solidFill>
              </a:rPr>
              <a:t>2000 / 175 = D</a:t>
            </a:r>
          </a:p>
          <a:p>
            <a:pPr marL="1028700" lvl="2" indent="-342900">
              <a:buAutoNum type="arabicPeriod"/>
            </a:pPr>
            <a:r>
              <a:rPr lang="en-AU" dirty="0" smtClean="0">
                <a:solidFill>
                  <a:schemeClr val="tx1">
                    <a:lumMod val="95000"/>
                  </a:schemeClr>
                </a:solidFill>
              </a:rPr>
              <a:t>11.43 = D – the same amount of food could feed 175 passengers for 11.43 days. </a:t>
            </a:r>
          </a:p>
          <a:p>
            <a:pPr marL="1028700" lvl="2" indent="-342900">
              <a:buAutoNum type="arabicPeriod"/>
            </a:pPr>
            <a:endParaRPr lang="en-AU" dirty="0" smtClean="0">
              <a:solidFill>
                <a:schemeClr val="tx1">
                  <a:lumMod val="95000"/>
                </a:schemeClr>
              </a:solidFill>
            </a:endParaRPr>
          </a:p>
          <a:p>
            <a:pPr marL="685800" lvl="1" indent="-342900">
              <a:buAutoNum type="arabicPeriod"/>
            </a:pPr>
            <a:endParaRPr lang="en-AU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00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137" y="270818"/>
            <a:ext cx="7886700" cy="520919"/>
          </a:xfrm>
        </p:spPr>
        <p:txBody>
          <a:bodyPr>
            <a:normAutofit/>
          </a:bodyPr>
          <a:lstStyle/>
          <a:p>
            <a:r>
              <a:rPr lang="en-AU" dirty="0"/>
              <a:t>Now lets try page Ex 6.8 on Page 80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30" y="791737"/>
            <a:ext cx="6962423" cy="467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8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76</TotalTime>
  <Words>348</Words>
  <Application>Microsoft Macintosh PowerPoint</Application>
  <PresentationFormat>On-screen Show (16:10)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Cambria Math</vt:lpstr>
      <vt:lpstr>Century Gothic</vt:lpstr>
      <vt:lpstr>Wingdings 3</vt:lpstr>
      <vt:lpstr>Slice</vt:lpstr>
      <vt:lpstr>Inverse Proportion  </vt:lpstr>
      <vt:lpstr>PowerPoint Presentation</vt:lpstr>
      <vt:lpstr>Topic : Inverse Proportion</vt:lpstr>
      <vt:lpstr>Lets try a these together. </vt:lpstr>
      <vt:lpstr>Now lets try page Ex 6.8 on Page 80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POWER Travis [Baldivis Secondary College]</cp:lastModifiedBy>
  <cp:revision>10</cp:revision>
  <dcterms:created xsi:type="dcterms:W3CDTF">2017-05-16T13:11:38Z</dcterms:created>
  <dcterms:modified xsi:type="dcterms:W3CDTF">2018-08-20T03:58:28Z</dcterms:modified>
</cp:coreProperties>
</file>
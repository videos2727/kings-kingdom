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3"/>
  </p:notesMasterIdLst>
  <p:sldIdLst>
    <p:sldId id="322" r:id="rId2"/>
    <p:sldId id="338" r:id="rId3"/>
    <p:sldId id="257" r:id="rId4"/>
    <p:sldId id="331" r:id="rId5"/>
    <p:sldId id="337" r:id="rId6"/>
    <p:sldId id="333" r:id="rId7"/>
    <p:sldId id="335" r:id="rId8"/>
    <p:sldId id="336" r:id="rId9"/>
    <p:sldId id="260" r:id="rId10"/>
    <p:sldId id="334" r:id="rId11"/>
    <p:sldId id="30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A81FAE2-396C-4EDD-AC27-FC71003682D8}">
          <p14:sldIdLst>
            <p14:sldId id="322"/>
            <p14:sldId id="338"/>
            <p14:sldId id="257"/>
            <p14:sldId id="331"/>
            <p14:sldId id="337"/>
            <p14:sldId id="333"/>
            <p14:sldId id="335"/>
            <p14:sldId id="336"/>
            <p14:sldId id="260"/>
            <p14:sldId id="334"/>
            <p14:sldId id="30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4EF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>
        <p:scale>
          <a:sx n="86" d="100"/>
          <a:sy n="86" d="100"/>
        </p:scale>
        <p:origin x="66" y="5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F2282E-A42A-413E-AE2C-48286DBF7EC2}" type="datetimeFigureOut">
              <a:rPr lang="en-AU" smtClean="0"/>
              <a:t>7/06/2018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425140-7458-4828-80E5-6CAE1A8C668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442547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1593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530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8136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Dark hair, not dark hair</a:t>
            </a:r>
          </a:p>
          <a:p>
            <a:r>
              <a:rPr lang="en-AU" dirty="0"/>
              <a:t>Short hair, long hair</a:t>
            </a:r>
          </a:p>
          <a:p>
            <a:endParaRPr lang="en-AU" dirty="0"/>
          </a:p>
          <a:p>
            <a:r>
              <a:rPr lang="en-AU" dirty="0"/>
              <a:t>Alternatives: boy / girl, shorts/pants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369C9D-0B2A-4FA1-8511-1F1FCA5D7A80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58504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23E78394-75B3-4DDA-93C4-891EE6443567}" type="datetimeFigureOut">
              <a:rPr lang="en-AU" smtClean="0"/>
              <a:t>7/06/2018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26286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7/06/2018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15968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3E78394-75B3-4DDA-93C4-891EE6443567}" type="datetimeFigureOut">
              <a:rPr lang="en-AU" smtClean="0"/>
              <a:t>7/06/2018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726098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7/06/2018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037414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7/06/2018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5039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7/06/2018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212815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7/06/2018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67685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7/06/2018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439410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7/06/2018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120567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7/06/2018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59283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3E78394-75B3-4DDA-93C4-891EE6443567}" type="datetimeFigureOut">
              <a:rPr lang="en-AU" smtClean="0"/>
              <a:t>7/06/2018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937715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3E78394-75B3-4DDA-93C4-891EE6443567}" type="datetimeFigureOut">
              <a:rPr lang="en-AU" smtClean="0"/>
              <a:t>7/06/2018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915981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3E78394-75B3-4DDA-93C4-891EE6443567}" type="datetimeFigureOut">
              <a:rPr lang="en-AU" smtClean="0"/>
              <a:t>7/06/2018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157152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7/06/2018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591163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7/06/2018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270440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7/06/2018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361549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3E78394-75B3-4DDA-93C4-891EE6443567}" type="datetimeFigureOut">
              <a:rPr lang="en-AU" smtClean="0"/>
              <a:t>7/06/2018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8383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E78394-75B3-4DDA-93C4-891EE6443567}" type="datetimeFigureOut">
              <a:rPr lang="en-AU" smtClean="0"/>
              <a:t>7/06/2018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35561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5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uaj0XcLtN5c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9AC4A-4382-4AAA-8564-DC695DE4C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62527" y="722439"/>
            <a:ext cx="12897855" cy="969771"/>
          </a:xfrm>
        </p:spPr>
        <p:txBody>
          <a:bodyPr>
            <a:normAutofit/>
          </a:bodyPr>
          <a:lstStyle/>
          <a:p>
            <a:r>
              <a:rPr lang="en-AU" sz="3200" dirty="0"/>
              <a:t>Topic: Pythagoras Theorem</a:t>
            </a:r>
            <a:br>
              <a:rPr lang="en-AU" sz="4800" dirty="0"/>
            </a:br>
            <a:r>
              <a:rPr lang="en-AU" sz="2400" dirty="0"/>
              <a:t>EQ: What is the Pythagoras Theorem?</a:t>
            </a:r>
            <a:endParaRPr lang="en-AU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5B6099-D343-42A3-A2D1-E66D219F69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029" y="2413217"/>
            <a:ext cx="6035844" cy="39604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000" b="1" dirty="0"/>
              <a:t>Steps to be successful this lesson: </a:t>
            </a:r>
          </a:p>
          <a:p>
            <a:pPr>
              <a:buAutoNum type="arabicPeriod"/>
            </a:pPr>
            <a:r>
              <a:rPr lang="en-AU" sz="2000" dirty="0"/>
              <a:t>Get materials out (notebook, pen, pencil, ruler, scientific calculator)</a:t>
            </a:r>
          </a:p>
          <a:p>
            <a:pPr>
              <a:buAutoNum type="arabicPeriod"/>
            </a:pPr>
            <a:r>
              <a:rPr lang="en-AU" sz="2000" dirty="0"/>
              <a:t>Rule up notebook and write Topic and EQ</a:t>
            </a:r>
          </a:p>
          <a:p>
            <a:pPr>
              <a:buAutoNum type="arabicPeriod"/>
            </a:pPr>
            <a:r>
              <a:rPr lang="en-AU" sz="2000" dirty="0"/>
              <a:t>Start on review questions </a:t>
            </a:r>
            <a:r>
              <a:rPr lang="en-AU" sz="2000" dirty="0">
                <a:latin typeface="Century Gothic" panose="020B0502020202020204" pitchFamily="34" charset="0"/>
              </a:rPr>
              <a:t>→</a:t>
            </a:r>
            <a:endParaRPr lang="en-AU" sz="2000" dirty="0"/>
          </a:p>
          <a:p>
            <a:pPr>
              <a:buAutoNum type="arabicPeriod"/>
            </a:pPr>
            <a:r>
              <a:rPr lang="en-AU" sz="2000" dirty="0"/>
              <a:t>Check your answers with someone sitting next to you </a:t>
            </a:r>
          </a:p>
          <a:p>
            <a:pPr>
              <a:buAutoNum type="arabicPeriod"/>
            </a:pPr>
            <a:r>
              <a:rPr lang="en-AU" sz="2000" dirty="0"/>
              <a:t>Is your notebook up to date? (Contents page, glossary</a:t>
            </a:r>
            <a:r>
              <a:rPr lang="en-AU" sz="2000"/>
              <a:t>, summary, </a:t>
            </a:r>
            <a:r>
              <a:rPr lang="en-AU" sz="2000" dirty="0"/>
              <a:t>review notes etc.) </a:t>
            </a:r>
          </a:p>
        </p:txBody>
      </p:sp>
      <p:sp>
        <p:nvSpPr>
          <p:cNvPr id="4" name="AutoShape 2" descr="Image result for work hard meme">
            <a:extLst>
              <a:ext uri="{FF2B5EF4-FFF2-40B4-BE49-F238E27FC236}">
                <a16:creationId xmlns:a16="http://schemas.microsoft.com/office/drawing/2014/main" id="{0A6F0259-A35B-4236-92C7-CE1C5DC232B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81700" y="3314700"/>
            <a:ext cx="2286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CCC7E7-14F7-4DC3-8913-B2FD7A220F02}"/>
              </a:ext>
            </a:extLst>
          </p:cNvPr>
          <p:cNvSpPr txBox="1"/>
          <p:nvPr/>
        </p:nvSpPr>
        <p:spPr>
          <a:xfrm>
            <a:off x="6232328" y="1692209"/>
            <a:ext cx="5427657" cy="5025671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square" numCol="1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AU" b="1" dirty="0"/>
              <a:t>Solve</a:t>
            </a:r>
            <a:r>
              <a:rPr lang="en-AU" dirty="0"/>
              <a:t>(on LHS)</a:t>
            </a:r>
          </a:p>
          <a:p>
            <a:pPr>
              <a:lnSpc>
                <a:spcPct val="150000"/>
              </a:lnSpc>
            </a:pPr>
            <a:endParaRPr lang="en-AU" dirty="0"/>
          </a:p>
          <a:p>
            <a:pPr>
              <a:lnSpc>
                <a:spcPct val="150000"/>
              </a:lnSpc>
            </a:pPr>
            <a:endParaRPr lang="en-AU" dirty="0"/>
          </a:p>
          <a:p>
            <a:pPr>
              <a:lnSpc>
                <a:spcPct val="150000"/>
              </a:lnSpc>
            </a:pPr>
            <a:endParaRPr lang="en-AU" dirty="0"/>
          </a:p>
          <a:p>
            <a:pPr>
              <a:lnSpc>
                <a:spcPct val="150000"/>
              </a:lnSpc>
            </a:pPr>
            <a:endParaRPr lang="en-AU" dirty="0"/>
          </a:p>
          <a:p>
            <a:pPr>
              <a:lnSpc>
                <a:spcPct val="150000"/>
              </a:lnSpc>
            </a:pPr>
            <a:endParaRPr lang="en-AU" dirty="0"/>
          </a:p>
          <a:p>
            <a:pPr>
              <a:lnSpc>
                <a:spcPct val="150000"/>
              </a:lnSpc>
            </a:pPr>
            <a:endParaRPr lang="en-AU" dirty="0"/>
          </a:p>
          <a:p>
            <a:pPr>
              <a:lnSpc>
                <a:spcPct val="150000"/>
              </a:lnSpc>
            </a:pPr>
            <a:r>
              <a:rPr lang="en-AU" dirty="0"/>
              <a:t> </a:t>
            </a:r>
          </a:p>
          <a:p>
            <a:pPr>
              <a:lnSpc>
                <a:spcPct val="150000"/>
              </a:lnSpc>
            </a:pPr>
            <a:endParaRPr lang="en-AU" dirty="0"/>
          </a:p>
          <a:p>
            <a:pPr>
              <a:lnSpc>
                <a:spcPct val="150000"/>
              </a:lnSpc>
            </a:pPr>
            <a:endParaRPr lang="en-AU" dirty="0"/>
          </a:p>
          <a:p>
            <a:pPr>
              <a:lnSpc>
                <a:spcPct val="150000"/>
              </a:lnSpc>
            </a:pPr>
            <a:endParaRPr lang="en-AU" dirty="0"/>
          </a:p>
          <a:p>
            <a:pPr>
              <a:lnSpc>
                <a:spcPct val="150000"/>
              </a:lnSpc>
            </a:pPr>
            <a:endParaRPr lang="en-AU" dirty="0"/>
          </a:p>
        </p:txBody>
      </p:sp>
      <p:pic>
        <p:nvPicPr>
          <p:cNvPr id="8" name="Picture 7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D914EB96-FF4B-4D18-B9CB-B8048EFAE6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0100" y="2075861"/>
            <a:ext cx="4525241" cy="4635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0965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9AC4A-4382-4AAA-8564-DC695DE4C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62527" y="722439"/>
            <a:ext cx="12897855" cy="969771"/>
          </a:xfrm>
        </p:spPr>
        <p:txBody>
          <a:bodyPr>
            <a:normAutofit/>
          </a:bodyPr>
          <a:lstStyle/>
          <a:p>
            <a:r>
              <a:rPr lang="en-AU" sz="3200" dirty="0"/>
              <a:t>Topic: Pythagoras Theorem</a:t>
            </a:r>
            <a:br>
              <a:rPr lang="en-AU" sz="4800" dirty="0"/>
            </a:br>
            <a:r>
              <a:rPr lang="en-AU" sz="2400" dirty="0"/>
              <a:t>EQ: What is the Pythagoras Theorem?</a:t>
            </a:r>
            <a:endParaRPr lang="en-AU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5B6099-D343-42A3-A2D1-E66D219F69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029" y="2413217"/>
            <a:ext cx="6035844" cy="39604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000" b="1" dirty="0"/>
              <a:t>Steps to be successful this lesson: </a:t>
            </a:r>
          </a:p>
          <a:p>
            <a:pPr>
              <a:buAutoNum type="arabicPeriod"/>
            </a:pPr>
            <a:r>
              <a:rPr lang="en-AU" sz="2000" dirty="0"/>
              <a:t>Get materials out (notebook, pen, pencil, ruler, scientific calculator)</a:t>
            </a:r>
          </a:p>
          <a:p>
            <a:pPr>
              <a:buAutoNum type="arabicPeriod"/>
            </a:pPr>
            <a:r>
              <a:rPr lang="en-AU" sz="2000" dirty="0"/>
              <a:t>Rule up notebook and write Topic and EQ</a:t>
            </a:r>
          </a:p>
          <a:p>
            <a:pPr>
              <a:buAutoNum type="arabicPeriod"/>
            </a:pPr>
            <a:r>
              <a:rPr lang="en-AU" sz="2000" dirty="0"/>
              <a:t>Start on review questions </a:t>
            </a:r>
            <a:r>
              <a:rPr lang="en-AU" sz="2000" dirty="0">
                <a:latin typeface="Century Gothic" panose="020B0502020202020204" pitchFamily="34" charset="0"/>
              </a:rPr>
              <a:t>→</a:t>
            </a:r>
            <a:endParaRPr lang="en-AU" sz="2000" dirty="0"/>
          </a:p>
          <a:p>
            <a:pPr>
              <a:buAutoNum type="arabicPeriod"/>
            </a:pPr>
            <a:r>
              <a:rPr lang="en-AU" sz="2000" dirty="0"/>
              <a:t>Check your answers with someone sitting next to you </a:t>
            </a:r>
          </a:p>
          <a:p>
            <a:pPr>
              <a:buAutoNum type="arabicPeriod"/>
            </a:pPr>
            <a:r>
              <a:rPr lang="en-AU" sz="2000" dirty="0"/>
              <a:t>Is your notebook up to date? (Contents page, glossary</a:t>
            </a:r>
            <a:r>
              <a:rPr lang="en-AU" sz="2000"/>
              <a:t>, summary, </a:t>
            </a:r>
            <a:r>
              <a:rPr lang="en-AU" sz="2000" dirty="0"/>
              <a:t>review notes etc.) </a:t>
            </a:r>
          </a:p>
        </p:txBody>
      </p:sp>
      <p:sp>
        <p:nvSpPr>
          <p:cNvPr id="4" name="AutoShape 2" descr="Image result for work hard meme">
            <a:extLst>
              <a:ext uri="{FF2B5EF4-FFF2-40B4-BE49-F238E27FC236}">
                <a16:creationId xmlns:a16="http://schemas.microsoft.com/office/drawing/2014/main" id="{0A6F0259-A35B-4236-92C7-CE1C5DC232B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81700" y="3314700"/>
            <a:ext cx="2286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CCC7E7-14F7-4DC3-8913-B2FD7A220F02}"/>
              </a:ext>
            </a:extLst>
          </p:cNvPr>
          <p:cNvSpPr txBox="1"/>
          <p:nvPr/>
        </p:nvSpPr>
        <p:spPr>
          <a:xfrm>
            <a:off x="6232328" y="1692209"/>
            <a:ext cx="5427657" cy="5025671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square" numCol="1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AU" b="1" dirty="0"/>
              <a:t>Solve</a:t>
            </a:r>
            <a:r>
              <a:rPr lang="en-AU" dirty="0"/>
              <a:t>(on LHS)</a:t>
            </a:r>
          </a:p>
          <a:p>
            <a:pPr>
              <a:lnSpc>
                <a:spcPct val="150000"/>
              </a:lnSpc>
            </a:pPr>
            <a:endParaRPr lang="en-AU" dirty="0"/>
          </a:p>
          <a:p>
            <a:pPr>
              <a:lnSpc>
                <a:spcPct val="150000"/>
              </a:lnSpc>
            </a:pPr>
            <a:endParaRPr lang="en-AU" dirty="0"/>
          </a:p>
          <a:p>
            <a:pPr>
              <a:lnSpc>
                <a:spcPct val="150000"/>
              </a:lnSpc>
            </a:pPr>
            <a:endParaRPr lang="en-AU" dirty="0"/>
          </a:p>
          <a:p>
            <a:pPr>
              <a:lnSpc>
                <a:spcPct val="150000"/>
              </a:lnSpc>
            </a:pPr>
            <a:endParaRPr lang="en-AU" dirty="0"/>
          </a:p>
          <a:p>
            <a:pPr>
              <a:lnSpc>
                <a:spcPct val="150000"/>
              </a:lnSpc>
            </a:pPr>
            <a:endParaRPr lang="en-AU" dirty="0"/>
          </a:p>
          <a:p>
            <a:pPr>
              <a:lnSpc>
                <a:spcPct val="150000"/>
              </a:lnSpc>
            </a:pPr>
            <a:endParaRPr lang="en-AU" dirty="0"/>
          </a:p>
          <a:p>
            <a:pPr>
              <a:lnSpc>
                <a:spcPct val="150000"/>
              </a:lnSpc>
            </a:pPr>
            <a:r>
              <a:rPr lang="en-AU" dirty="0"/>
              <a:t> </a:t>
            </a:r>
          </a:p>
          <a:p>
            <a:pPr>
              <a:lnSpc>
                <a:spcPct val="150000"/>
              </a:lnSpc>
            </a:pPr>
            <a:endParaRPr lang="en-AU" dirty="0"/>
          </a:p>
          <a:p>
            <a:pPr>
              <a:lnSpc>
                <a:spcPct val="150000"/>
              </a:lnSpc>
            </a:pPr>
            <a:endParaRPr lang="en-AU" dirty="0"/>
          </a:p>
          <a:p>
            <a:pPr>
              <a:lnSpc>
                <a:spcPct val="150000"/>
              </a:lnSpc>
            </a:pPr>
            <a:endParaRPr lang="en-AU" dirty="0"/>
          </a:p>
          <a:p>
            <a:pPr>
              <a:lnSpc>
                <a:spcPct val="150000"/>
              </a:lnSpc>
            </a:pPr>
            <a:endParaRPr lang="en-AU" dirty="0"/>
          </a:p>
        </p:txBody>
      </p:sp>
      <p:pic>
        <p:nvPicPr>
          <p:cNvPr id="6" name="Picture 5" descr="A close up of text on a white background&#10;&#10;Description generated with very high confidence">
            <a:extLst>
              <a:ext uri="{FF2B5EF4-FFF2-40B4-BE49-F238E27FC236}">
                <a16:creationId xmlns:a16="http://schemas.microsoft.com/office/drawing/2014/main" id="{3381200C-9621-43FD-99A4-AEB24F4787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5475" y="2150225"/>
            <a:ext cx="4312631" cy="4559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0149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b="1" cap="none" dirty="0">
                <a:solidFill>
                  <a:srgbClr val="0070C0"/>
                </a:solidFill>
                <a:latin typeface="DJB Fancy Nancy" panose="02000500000000000000" pitchFamily="2" charset="0"/>
              </a:rPr>
              <a:t>Pythagoras</a:t>
            </a:r>
            <a:br>
              <a:rPr lang="en-US" sz="6600" b="1" cap="none" dirty="0">
                <a:solidFill>
                  <a:srgbClr val="0070C0"/>
                </a:solidFill>
                <a:latin typeface="DJB Fancy Nancy" panose="02000500000000000000" pitchFamily="2" charset="0"/>
              </a:rPr>
            </a:br>
            <a:r>
              <a:rPr lang="en-US" sz="4000" b="1" cap="none" dirty="0">
                <a:solidFill>
                  <a:srgbClr val="0070C0"/>
                </a:solidFill>
                <a:latin typeface="DJB Fancy Nancy" panose="02000500000000000000" pitchFamily="2" charset="0"/>
              </a:rPr>
              <a:t>Calculating the Shorter Side</a:t>
            </a:r>
            <a:endParaRPr lang="en-US" sz="6600" b="1" cap="none" dirty="0">
              <a:solidFill>
                <a:srgbClr val="0070C0"/>
              </a:solidFill>
              <a:latin typeface="DJB Fancy Nancy" panose="02000500000000000000" pitchFamily="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7875" y="3628501"/>
            <a:ext cx="9446339" cy="1384675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Year 9 Mathematics</a:t>
            </a:r>
          </a:p>
        </p:txBody>
      </p:sp>
    </p:spTree>
    <p:extLst>
      <p:ext uri="{BB962C8B-B14F-4D97-AF65-F5344CB8AC3E}">
        <p14:creationId xmlns:p14="http://schemas.microsoft.com/office/powerpoint/2010/main" val="50676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D9594-1BDC-4E1D-9A59-AF7E9DA8B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663200"/>
            <a:ext cx="8610600" cy="1293028"/>
          </a:xfrm>
        </p:spPr>
        <p:txBody>
          <a:bodyPr/>
          <a:lstStyle/>
          <a:p>
            <a:r>
              <a:rPr lang="en-AU" dirty="0"/>
              <a:t>Pythagoras Theorem</a:t>
            </a:r>
            <a:endParaRPr lang="en-GB" dirty="0"/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9D68A154-AAE4-493A-A0A5-2E80A8C202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1775" y="1989138"/>
            <a:ext cx="2808288" cy="3455987"/>
          </a:xfrm>
          <a:prstGeom prst="rtTriangle">
            <a:avLst/>
          </a:prstGeom>
          <a:solidFill>
            <a:srgbClr val="C0C0C0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Text Box 5">
            <a:extLst>
              <a:ext uri="{FF2B5EF4-FFF2-40B4-BE49-F238E27FC236}">
                <a16:creationId xmlns:a16="http://schemas.microsoft.com/office/drawing/2014/main" id="{2383B3C6-B630-41C1-A196-8B3C902F29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5375" y="5518150"/>
            <a:ext cx="496888" cy="823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 sz="4800"/>
              <a:t>a</a:t>
            </a:r>
          </a:p>
        </p:txBody>
      </p:sp>
      <p:sp>
        <p:nvSpPr>
          <p:cNvPr id="9" name="Text Box 6">
            <a:extLst>
              <a:ext uri="{FF2B5EF4-FFF2-40B4-BE49-F238E27FC236}">
                <a16:creationId xmlns:a16="http://schemas.microsoft.com/office/drawing/2014/main" id="{364934C2-CC2C-4E37-B7C9-E32B32F505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2488" y="3357563"/>
            <a:ext cx="546100" cy="823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 sz="4800"/>
              <a:t>b</a:t>
            </a:r>
          </a:p>
        </p:txBody>
      </p:sp>
      <p:sp>
        <p:nvSpPr>
          <p:cNvPr id="10" name="Text Box 7">
            <a:extLst>
              <a:ext uri="{FF2B5EF4-FFF2-40B4-BE49-F238E27FC236}">
                <a16:creationId xmlns:a16="http://schemas.microsoft.com/office/drawing/2014/main" id="{CCCCDFED-BD14-4BF9-A66A-B6EBB35808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2844" y="3017043"/>
            <a:ext cx="496888" cy="823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 sz="4800" dirty="0"/>
              <a:t>c</a:t>
            </a:r>
          </a:p>
        </p:txBody>
      </p:sp>
      <p:sp>
        <p:nvSpPr>
          <p:cNvPr id="11" name="AutoShape 8">
            <a:extLst>
              <a:ext uri="{FF2B5EF4-FFF2-40B4-BE49-F238E27FC236}">
                <a16:creationId xmlns:a16="http://schemas.microsoft.com/office/drawing/2014/main" id="{F89458D0-9E7E-444C-BBAD-93A25725AA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6096" y="1900508"/>
            <a:ext cx="3529012" cy="2017712"/>
          </a:xfrm>
          <a:prstGeom prst="cloudCallout">
            <a:avLst>
              <a:gd name="adj1" fmla="val 18375"/>
              <a:gd name="adj2" fmla="val 122148"/>
            </a:avLst>
          </a:prstGeom>
          <a:noFill/>
          <a:ln w="57150">
            <a:solidFill>
              <a:srgbClr val="66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ctr"/>
            <a:endParaRPr lang="en-US" sz="1800">
              <a:latin typeface="Tahoma" charset="0"/>
            </a:endParaRPr>
          </a:p>
        </p:txBody>
      </p:sp>
      <p:graphicFrame>
        <p:nvGraphicFramePr>
          <p:cNvPr id="12" name="Object 9">
            <a:extLst>
              <a:ext uri="{FF2B5EF4-FFF2-40B4-BE49-F238E27FC236}">
                <a16:creationId xmlns:a16="http://schemas.microsoft.com/office/drawing/2014/main" id="{0E534BD4-62DB-4019-AD99-18376AB3A48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9082845"/>
              </p:ext>
            </p:extLst>
          </p:nvPr>
        </p:nvGraphicFramePr>
        <p:xfrm>
          <a:off x="5867896" y="2333275"/>
          <a:ext cx="2921000" cy="741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name="Equation" r:id="rId3" imgW="799920" imgH="203040" progId="Equation.DSMT4">
                  <p:embed/>
                </p:oleObj>
              </mc:Choice>
              <mc:Fallback>
                <p:oleObj name="Equation" r:id="rId3" imgW="799920" imgH="203040" progId="Equation.DSMT4">
                  <p:embed/>
                  <p:pic>
                    <p:nvPicPr>
                      <p:cNvPr id="3074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896" y="2333275"/>
                        <a:ext cx="2921000" cy="741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0DE7B6C-73E6-4C53-B1BD-F7CD024CA267}"/>
              </a:ext>
            </a:extLst>
          </p:cNvPr>
          <p:cNvCxnSpPr/>
          <p:nvPr/>
        </p:nvCxnSpPr>
        <p:spPr>
          <a:xfrm>
            <a:off x="2771775" y="5157192"/>
            <a:ext cx="360065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5710493-F8AF-48B6-ACE4-21CF2F7AA5DA}"/>
              </a:ext>
            </a:extLst>
          </p:cNvPr>
          <p:cNvCxnSpPr/>
          <p:nvPr/>
        </p:nvCxnSpPr>
        <p:spPr>
          <a:xfrm>
            <a:off x="3131840" y="5157192"/>
            <a:ext cx="0" cy="287933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47798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78E38-9953-4396-B527-9744D7E03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Pythagoras Theorem Video</a:t>
            </a:r>
            <a:endParaRPr lang="en-GB" dirty="0"/>
          </a:p>
        </p:txBody>
      </p:sp>
      <p:pic>
        <p:nvPicPr>
          <p:cNvPr id="4" name="Online Media 3" title="Pythagoras in 2 minutes 2">
            <a:hlinkClick r:id="" action="ppaction://media"/>
            <a:extLst>
              <a:ext uri="{FF2B5EF4-FFF2-40B4-BE49-F238E27FC236}">
                <a16:creationId xmlns:a16="http://schemas.microsoft.com/office/drawing/2014/main" id="{CB0359E2-1DEA-4542-A310-2AE3149081E8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139364" y="1738996"/>
            <a:ext cx="7913272" cy="445121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064FB14-56DC-4736-9F5A-34BFC0CAC80F}"/>
              </a:ext>
            </a:extLst>
          </p:cNvPr>
          <p:cNvSpPr/>
          <p:nvPr/>
        </p:nvSpPr>
        <p:spPr>
          <a:xfrm>
            <a:off x="3072622" y="6333096"/>
            <a:ext cx="57807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https://www.youtube.com/watch?v=uaj0XcLtN5c</a:t>
            </a:r>
          </a:p>
        </p:txBody>
      </p:sp>
    </p:spTree>
    <p:extLst>
      <p:ext uri="{BB962C8B-B14F-4D97-AF65-F5344CB8AC3E}">
        <p14:creationId xmlns:p14="http://schemas.microsoft.com/office/powerpoint/2010/main" val="26965315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47932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Pythagoras Theorem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/06/2018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I calculate the shorter side of a right-angled triangle?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FBFE7D7-8A50-4A05-8C38-FF705CA38858}"/>
                  </a:ext>
                </a:extLst>
              </p:cNvPr>
              <p:cNvSpPr txBox="1"/>
              <p:nvPr/>
            </p:nvSpPr>
            <p:spPr>
              <a:xfrm>
                <a:off x="2107475" y="1387755"/>
                <a:ext cx="8691495" cy="26161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000" dirty="0"/>
                  <a:t>Pythagoras Theorem is about right angles triangles</a:t>
                </a:r>
                <a:r>
                  <a:rPr lang="en-AU" dirty="0"/>
                  <a:t>.</a:t>
                </a:r>
              </a:p>
              <a:p>
                <a:endParaRPr lang="en-AU" dirty="0"/>
              </a:p>
              <a:p>
                <a:endParaRPr lang="en-AU" dirty="0"/>
              </a:p>
              <a:p>
                <a:r>
                  <a:rPr lang="en-AU" dirty="0"/>
                  <a:t>                                                 </a:t>
                </a:r>
              </a:p>
              <a:p>
                <a:r>
                  <a:rPr lang="en-AU" dirty="0"/>
                  <a:t>                                 </a:t>
                </a:r>
              </a:p>
              <a:p>
                <a:endParaRPr lang="en-AU" dirty="0"/>
              </a:p>
              <a:p>
                <a:pPr/>
                <a:endParaRPr lang="en-AU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 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  <a:p>
                <a:endParaRPr lang="en-AU" dirty="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FBFE7D7-8A50-4A05-8C38-FF705CA388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7475" y="1387755"/>
                <a:ext cx="8691495" cy="2616101"/>
              </a:xfrm>
              <a:prstGeom prst="rect">
                <a:avLst/>
              </a:prstGeom>
              <a:blipFill>
                <a:blip r:embed="rId3"/>
                <a:stretch>
                  <a:fillRect l="-772" t="-139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Right Triangle 23">
            <a:extLst>
              <a:ext uri="{FF2B5EF4-FFF2-40B4-BE49-F238E27FC236}">
                <a16:creationId xmlns:a16="http://schemas.microsoft.com/office/drawing/2014/main" id="{FCC68339-3BFF-4BE6-A9A2-3788DD076167}"/>
              </a:ext>
            </a:extLst>
          </p:cNvPr>
          <p:cNvSpPr/>
          <p:nvPr/>
        </p:nvSpPr>
        <p:spPr>
          <a:xfrm>
            <a:off x="4710953" y="1866168"/>
            <a:ext cx="2938534" cy="1123674"/>
          </a:xfrm>
          <a:prstGeom prst="rtTriangl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grpSp>
        <p:nvGrpSpPr>
          <p:cNvPr id="25" name="Group 4">
            <a:extLst>
              <a:ext uri="{FF2B5EF4-FFF2-40B4-BE49-F238E27FC236}">
                <a16:creationId xmlns:a16="http://schemas.microsoft.com/office/drawing/2014/main" id="{6EF103EF-61FA-409D-911E-4D1B509315C4}"/>
              </a:ext>
            </a:extLst>
          </p:cNvPr>
          <p:cNvGrpSpPr>
            <a:grpSpLocks/>
          </p:cNvGrpSpPr>
          <p:nvPr/>
        </p:nvGrpSpPr>
        <p:grpSpPr bwMode="auto">
          <a:xfrm>
            <a:off x="4710953" y="2767535"/>
            <a:ext cx="324000" cy="222307"/>
            <a:chOff x="1680" y="3120"/>
            <a:chExt cx="240" cy="240"/>
          </a:xfrm>
        </p:grpSpPr>
        <p:sp>
          <p:nvSpPr>
            <p:cNvPr id="26" name="Line 5">
              <a:extLst>
                <a:ext uri="{FF2B5EF4-FFF2-40B4-BE49-F238E27FC236}">
                  <a16:creationId xmlns:a16="http://schemas.microsoft.com/office/drawing/2014/main" id="{45050F84-951C-4B1D-BDAD-9B1C1D77B8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0" y="3120"/>
              <a:ext cx="0" cy="240"/>
            </a:xfrm>
            <a:prstGeom prst="line">
              <a:avLst/>
            </a:prstGeom>
            <a:ln>
              <a:headEnd/>
              <a:tailEnd/>
            </a:ln>
            <a:extLst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AU" b="1"/>
            </a:p>
          </p:txBody>
        </p:sp>
        <p:sp>
          <p:nvSpPr>
            <p:cNvPr id="27" name="Line 6">
              <a:extLst>
                <a:ext uri="{FF2B5EF4-FFF2-40B4-BE49-F238E27FC236}">
                  <a16:creationId xmlns:a16="http://schemas.microsoft.com/office/drawing/2014/main" id="{6500B82F-E5E5-4A23-A918-D02A389B1F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3120"/>
              <a:ext cx="240" cy="0"/>
            </a:xfrm>
            <a:prstGeom prst="line">
              <a:avLst/>
            </a:prstGeom>
            <a:ln>
              <a:headEnd/>
              <a:tailEnd/>
            </a:ln>
            <a:extLst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AU" b="1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940F2956-21F7-4187-920D-0667F34C6028}"/>
              </a:ext>
            </a:extLst>
          </p:cNvPr>
          <p:cNvSpPr txBox="1"/>
          <p:nvPr/>
        </p:nvSpPr>
        <p:spPr>
          <a:xfrm flipH="1">
            <a:off x="5753791" y="2989842"/>
            <a:ext cx="353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b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9E3E46F-5C4A-4B56-8886-CF1DB4F85FE0}"/>
              </a:ext>
            </a:extLst>
          </p:cNvPr>
          <p:cNvSpPr txBox="1"/>
          <p:nvPr/>
        </p:nvSpPr>
        <p:spPr>
          <a:xfrm flipH="1">
            <a:off x="4264046" y="2243339"/>
            <a:ext cx="353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373ADDE-4AC2-4835-A6EA-94824C86A17D}"/>
              </a:ext>
            </a:extLst>
          </p:cNvPr>
          <p:cNvSpPr txBox="1"/>
          <p:nvPr/>
        </p:nvSpPr>
        <p:spPr>
          <a:xfrm flipH="1">
            <a:off x="5826928" y="1956293"/>
            <a:ext cx="353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6CE336C-6C5A-4563-B7DA-C9DDEBE6AC98}"/>
                  </a:ext>
                </a:extLst>
              </p:cNvPr>
              <p:cNvSpPr txBox="1"/>
              <p:nvPr/>
            </p:nvSpPr>
            <p:spPr>
              <a:xfrm>
                <a:off x="3136401" y="4051761"/>
                <a:ext cx="6087638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Therefore to find the shorter sides:</a:t>
                </a:r>
              </a:p>
              <a:p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                   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        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              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    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6CE336C-6C5A-4563-B7DA-C9DDEBE6AC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6401" y="4051761"/>
                <a:ext cx="6087638" cy="923330"/>
              </a:xfrm>
              <a:prstGeom prst="rect">
                <a:avLst/>
              </a:prstGeom>
              <a:blipFill>
                <a:blip r:embed="rId4"/>
                <a:stretch>
                  <a:fillRect l="-902" t="-397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AF369D4-DCF8-46B9-B684-F7E01EF26755}"/>
                  </a:ext>
                </a:extLst>
              </p:cNvPr>
              <p:cNvSpPr txBox="1"/>
              <p:nvPr/>
            </p:nvSpPr>
            <p:spPr>
              <a:xfrm>
                <a:off x="3136401" y="5267497"/>
                <a:ext cx="2768380" cy="4054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	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 </m:t>
                    </m:r>
                    <m:rad>
                      <m:radPr>
                        <m:degHide m:val="on"/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− </m:t>
                        </m:r>
                        <m:sSup>
                          <m:sSupPr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rad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AF369D4-DCF8-46B9-B684-F7E01EF267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6401" y="5267497"/>
                <a:ext cx="2768380" cy="40549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C10B2D7-C3B5-4700-8ABA-F0C87926ADA3}"/>
                  </a:ext>
                </a:extLst>
              </p:cNvPr>
              <p:cNvSpPr txBox="1"/>
              <p:nvPr/>
            </p:nvSpPr>
            <p:spPr>
              <a:xfrm>
                <a:off x="6227894" y="5296383"/>
                <a:ext cx="1445011" cy="3454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AU" b="0" i="0" smtClean="0"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AU" b="0" i="0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− </m:t>
                          </m:r>
                          <m:sSup>
                            <m:sSup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C10B2D7-C3B5-4700-8ABA-F0C87926AD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7894" y="5296383"/>
                <a:ext cx="1445011" cy="345416"/>
              </a:xfrm>
              <a:prstGeom prst="rect">
                <a:avLst/>
              </a:prstGeom>
              <a:blipFill>
                <a:blip r:embed="rId6"/>
                <a:stretch>
                  <a:fillRect l="-3797" r="-844" b="-1071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C01326C-33D6-4A2A-A376-DE6C17D02383}"/>
                  </a:ext>
                </a:extLst>
              </p:cNvPr>
              <p:cNvSpPr txBox="1"/>
              <p:nvPr/>
            </p:nvSpPr>
            <p:spPr>
              <a:xfrm>
                <a:off x="8275090" y="5298692"/>
                <a:ext cx="1446743" cy="3431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+ </m:t>
                          </m:r>
                          <m:sSup>
                            <m:sSup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C01326C-33D6-4A2A-A376-DE6C17D023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090" y="5298692"/>
                <a:ext cx="1446743" cy="343107"/>
              </a:xfrm>
              <a:prstGeom prst="rect">
                <a:avLst/>
              </a:prstGeom>
              <a:blipFill>
                <a:blip r:embed="rId7"/>
                <a:stretch>
                  <a:fillRect l="-2101" r="-840" b="-892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47947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DC75B-8D2E-45FB-AF99-CD7720D2B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>
                <a:solidFill>
                  <a:schemeClr val="accent1">
                    <a:lumMod val="75000"/>
                  </a:schemeClr>
                </a:solidFill>
              </a:rPr>
              <a:t>Calculating Hypotenuse</a:t>
            </a:r>
            <a:endParaRPr lang="en-GB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5" name="Right Triangle 24">
            <a:extLst>
              <a:ext uri="{FF2B5EF4-FFF2-40B4-BE49-F238E27FC236}">
                <a16:creationId xmlns:a16="http://schemas.microsoft.com/office/drawing/2014/main" id="{EED2D86A-C129-4897-B9A6-2D619521569D}"/>
              </a:ext>
            </a:extLst>
          </p:cNvPr>
          <p:cNvSpPr/>
          <p:nvPr/>
        </p:nvSpPr>
        <p:spPr>
          <a:xfrm>
            <a:off x="2895600" y="3036530"/>
            <a:ext cx="2160240" cy="1440160"/>
          </a:xfrm>
          <a:prstGeom prst="rtTriangle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1312A18-8B5B-4622-BE4C-E8755B9C96EA}"/>
                  </a:ext>
                </a:extLst>
              </p:cNvPr>
              <p:cNvSpPr txBox="1"/>
              <p:nvPr/>
            </p:nvSpPr>
            <p:spPr>
              <a:xfrm>
                <a:off x="2247528" y="3618110"/>
                <a:ext cx="53617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3 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𝑐𝑚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1312A18-8B5B-4622-BE4C-E8755B9C9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7528" y="3618110"/>
                <a:ext cx="536172" cy="276999"/>
              </a:xfrm>
              <a:prstGeom prst="rect">
                <a:avLst/>
              </a:prstGeom>
              <a:blipFill>
                <a:blip r:embed="rId2"/>
                <a:stretch>
                  <a:fillRect l="-10227" r="-5682" b="-111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069F1E4-97CA-4FD5-BA1C-23DAAEF045F4}"/>
                  </a:ext>
                </a:extLst>
              </p:cNvPr>
              <p:cNvSpPr txBox="1"/>
              <p:nvPr/>
            </p:nvSpPr>
            <p:spPr>
              <a:xfrm>
                <a:off x="3615680" y="4607966"/>
                <a:ext cx="53617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4 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𝑐𝑚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069F1E4-97CA-4FD5-BA1C-23DAAEF045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5680" y="4607966"/>
                <a:ext cx="536172" cy="276999"/>
              </a:xfrm>
              <a:prstGeom prst="rect">
                <a:avLst/>
              </a:prstGeom>
              <a:blipFill>
                <a:blip r:embed="rId3"/>
                <a:stretch>
                  <a:fillRect l="-9091" r="-5682" b="-111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E5C9222-02CB-4172-8777-9C3B5EB086C5}"/>
                  </a:ext>
                </a:extLst>
              </p:cNvPr>
              <p:cNvSpPr txBox="1"/>
              <p:nvPr/>
            </p:nvSpPr>
            <p:spPr>
              <a:xfrm>
                <a:off x="3968532" y="3341111"/>
                <a:ext cx="18332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E5C9222-02CB-4172-8777-9C3B5EB086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8532" y="3341111"/>
                <a:ext cx="183320" cy="276999"/>
              </a:xfrm>
              <a:prstGeom prst="rect">
                <a:avLst/>
              </a:prstGeom>
              <a:blipFill>
                <a:blip r:embed="rId4"/>
                <a:stretch>
                  <a:fillRect l="-20000" r="-13333" b="-217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8D720EC-A840-4345-B5E1-09C8D4E364D2}"/>
                  </a:ext>
                </a:extLst>
              </p:cNvPr>
              <p:cNvSpPr txBox="1"/>
              <p:nvPr/>
            </p:nvSpPr>
            <p:spPr>
              <a:xfrm>
                <a:off x="6558742" y="3100711"/>
                <a:ext cx="1765035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/>
                        </a:rPr>
                        <m:t>= 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3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/>
                        </a:rPr>
                        <m:t>+ 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4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b="0" dirty="0"/>
              </a:p>
              <a:p>
                <a:r>
                  <a:rPr lang="en-AU" dirty="0"/>
                  <a:t>        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=9+16 </m:t>
                    </m:r>
                  </m:oMath>
                </a14:m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=25    </m:t>
                      </m:r>
                    </m:oMath>
                  </m:oMathPara>
                </a14:m>
                <a:endParaRPr lang="en-AU" dirty="0"/>
              </a:p>
              <a:p>
                <a:endParaRPr lang="en-AU" dirty="0"/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8D720EC-A840-4345-B5E1-09C8D4E364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8742" y="3100711"/>
                <a:ext cx="1765035" cy="120032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EDFE42D-FF8D-455E-90DD-335BEBF5FB3C}"/>
                  </a:ext>
                </a:extLst>
              </p:cNvPr>
              <p:cNvSpPr txBox="1"/>
              <p:nvPr/>
            </p:nvSpPr>
            <p:spPr>
              <a:xfrm>
                <a:off x="6727910" y="4132293"/>
                <a:ext cx="1176028" cy="6845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AU" b="0" i="1" smtClean="0">
                              <a:latin typeface="Cambria Math"/>
                            </a:rPr>
                            <m:t>25</m:t>
                          </m:r>
                        </m:e>
                      </m:rad>
                    </m:oMath>
                  </m:oMathPara>
                </a14:m>
                <a:endParaRPr lang="en-AU" dirty="0"/>
              </a:p>
              <a:p>
                <a:r>
                  <a:rPr lang="en-AU" b="0" dirty="0"/>
                  <a:t>    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=5 </m:t>
                    </m:r>
                    <m:r>
                      <a:rPr lang="en-AU" b="0" i="1" smtClean="0">
                        <a:latin typeface="Cambria Math"/>
                      </a:rPr>
                      <m:t>𝑐𝑚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EDFE42D-FF8D-455E-90DD-335BEBF5FB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7910" y="4132293"/>
                <a:ext cx="1176028" cy="684546"/>
              </a:xfrm>
              <a:prstGeom prst="rect">
                <a:avLst/>
              </a:prstGeom>
              <a:blipFill>
                <a:blip r:embed="rId6"/>
                <a:stretch>
                  <a:fillRect r="-51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1" name="Group 4">
            <a:extLst>
              <a:ext uri="{FF2B5EF4-FFF2-40B4-BE49-F238E27FC236}">
                <a16:creationId xmlns:a16="http://schemas.microsoft.com/office/drawing/2014/main" id="{F96079EB-B05F-479C-ABB3-6D10AA437DD4}"/>
              </a:ext>
            </a:extLst>
          </p:cNvPr>
          <p:cNvGrpSpPr>
            <a:grpSpLocks/>
          </p:cNvGrpSpPr>
          <p:nvPr/>
        </p:nvGrpSpPr>
        <p:grpSpPr bwMode="auto">
          <a:xfrm>
            <a:off x="2919919" y="4188658"/>
            <a:ext cx="263713" cy="288032"/>
            <a:chOff x="1680" y="3120"/>
            <a:chExt cx="240" cy="240"/>
          </a:xfrm>
        </p:grpSpPr>
        <p:sp>
          <p:nvSpPr>
            <p:cNvPr id="32" name="Line 5">
              <a:extLst>
                <a:ext uri="{FF2B5EF4-FFF2-40B4-BE49-F238E27FC236}">
                  <a16:creationId xmlns:a16="http://schemas.microsoft.com/office/drawing/2014/main" id="{23EE13BF-A1B0-4757-896A-330EE4FC2C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0" y="3120"/>
              <a:ext cx="0" cy="240"/>
            </a:xfrm>
            <a:prstGeom prst="line">
              <a:avLst/>
            </a:prstGeom>
            <a:ln>
              <a:headEnd/>
              <a:tailEnd/>
            </a:ln>
            <a:ex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en-AU" b="1"/>
            </a:p>
          </p:txBody>
        </p:sp>
        <p:sp>
          <p:nvSpPr>
            <p:cNvPr id="33" name="Line 6">
              <a:extLst>
                <a:ext uri="{FF2B5EF4-FFF2-40B4-BE49-F238E27FC236}">
                  <a16:creationId xmlns:a16="http://schemas.microsoft.com/office/drawing/2014/main" id="{772ADB5E-57B1-42A4-B72B-D63437DAFA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3120"/>
              <a:ext cx="240" cy="0"/>
            </a:xfrm>
            <a:prstGeom prst="line">
              <a:avLst/>
            </a:prstGeom>
            <a:ln>
              <a:headEnd/>
              <a:tailEnd/>
            </a:ln>
            <a:ex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en-AU" b="1"/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0EDAAF37-A6FD-4B1F-B590-B79D64B31B91}"/>
              </a:ext>
            </a:extLst>
          </p:cNvPr>
          <p:cNvSpPr txBox="1"/>
          <p:nvPr/>
        </p:nvSpPr>
        <p:spPr>
          <a:xfrm>
            <a:off x="1540625" y="1995055"/>
            <a:ext cx="93268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Let’s remind ourselves with how we can calculate the length of the hypotenuse of a right-angled triangle.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32720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47932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Pythagoras Theorem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/06/2018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I calculate the shorter side of a right-angled triangle?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p:sp>
        <p:nvSpPr>
          <p:cNvPr id="22" name="Right Triangle 21">
            <a:extLst>
              <a:ext uri="{FF2B5EF4-FFF2-40B4-BE49-F238E27FC236}">
                <a16:creationId xmlns:a16="http://schemas.microsoft.com/office/drawing/2014/main" id="{EC0149A5-3E55-4EF3-8BDD-49D6987110FB}"/>
              </a:ext>
            </a:extLst>
          </p:cNvPr>
          <p:cNvSpPr/>
          <p:nvPr/>
        </p:nvSpPr>
        <p:spPr>
          <a:xfrm rot="7484576">
            <a:off x="2794480" y="2695455"/>
            <a:ext cx="2664296" cy="1584176"/>
          </a:xfrm>
          <a:prstGeom prst="rtTriangl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6B4415F8-031B-4491-ADCE-74A7E874AD14}"/>
                  </a:ext>
                </a:extLst>
              </p:cNvPr>
              <p:cNvSpPr txBox="1"/>
              <p:nvPr/>
            </p:nvSpPr>
            <p:spPr>
              <a:xfrm>
                <a:off x="4218583" y="3512923"/>
                <a:ext cx="84074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0.4 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𝑐𝑚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6B4415F8-031B-4491-ADCE-74A7E874AD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8583" y="3512923"/>
                <a:ext cx="840743" cy="276999"/>
              </a:xfrm>
              <a:prstGeom prst="rect">
                <a:avLst/>
              </a:prstGeom>
              <a:blipFill>
                <a:blip r:embed="rId3"/>
                <a:stretch>
                  <a:fillRect l="-5797" r="-3623" b="-108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849CF766-0F5B-4067-A0F3-47B84AAEC18F}"/>
                  </a:ext>
                </a:extLst>
              </p:cNvPr>
              <p:cNvSpPr txBox="1"/>
              <p:nvPr/>
            </p:nvSpPr>
            <p:spPr>
              <a:xfrm>
                <a:off x="4883199" y="2062980"/>
                <a:ext cx="71250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.6 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𝑐𝑚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849CF766-0F5B-4067-A0F3-47B84AAEC1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3199" y="2062980"/>
                <a:ext cx="712503" cy="276999"/>
              </a:xfrm>
              <a:prstGeom prst="rect">
                <a:avLst/>
              </a:prstGeom>
              <a:blipFill>
                <a:blip r:embed="rId4"/>
                <a:stretch>
                  <a:fillRect l="-6838" r="-4274" b="-108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7A76E6A3-1F19-4A8B-BB28-CAAAC98166E6}"/>
                  </a:ext>
                </a:extLst>
              </p:cNvPr>
              <p:cNvSpPr txBox="1"/>
              <p:nvPr/>
            </p:nvSpPr>
            <p:spPr>
              <a:xfrm>
                <a:off x="3354487" y="2523068"/>
                <a:ext cx="18332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7A76E6A3-1F19-4A8B-BB28-CAAAC98166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4487" y="2523068"/>
                <a:ext cx="183320" cy="276999"/>
              </a:xfrm>
              <a:prstGeom prst="rect">
                <a:avLst/>
              </a:prstGeom>
              <a:blipFill>
                <a:blip r:embed="rId5"/>
                <a:stretch>
                  <a:fillRect l="-20000" r="-13333" b="-444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722973AB-6E59-4399-A5EF-8FD99F3DD2BA}"/>
                  </a:ext>
                </a:extLst>
              </p:cNvPr>
              <p:cNvSpPr txBox="1"/>
              <p:nvPr/>
            </p:nvSpPr>
            <p:spPr>
              <a:xfrm>
                <a:off x="6876606" y="1775118"/>
                <a:ext cx="2577950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/>
                        </a:rPr>
                        <m:t>= 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20.4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/>
                        </a:rPr>
                        <m:t>− 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9.6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b="0" dirty="0"/>
              </a:p>
              <a:p>
                <a:r>
                  <a:rPr lang="en-AU" dirty="0"/>
                  <a:t>         </a:t>
                </a:r>
                <a14:m>
                  <m:oMath xmlns:m="http://schemas.openxmlformats.org/officeDocument/2006/math">
                    <m:r>
                      <a:rPr lang="en-AU" b="0" i="0" smtClean="0">
                        <a:latin typeface="Cambria Math"/>
                      </a:rPr>
                      <m:t>  </m:t>
                    </m:r>
                    <m:r>
                      <a:rPr lang="en-AU" b="0" i="1" smtClean="0">
                        <a:latin typeface="Cambria Math"/>
                      </a:rPr>
                      <m:t>=416.16−92.16 </m:t>
                    </m:r>
                  </m:oMath>
                </a14:m>
                <a:endParaRPr lang="en-AU" b="0" i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=324             </m:t>
                      </m:r>
                    </m:oMath>
                  </m:oMathPara>
                </a14:m>
                <a:endParaRPr lang="en-AU" dirty="0"/>
              </a:p>
              <a:p>
                <a:endParaRPr lang="en-AU" dirty="0"/>
              </a:p>
            </p:txBody>
          </p:sp>
        </mc:Choice>
        <mc:Fallback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722973AB-6E59-4399-A5EF-8FD99F3DD2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6606" y="1775118"/>
                <a:ext cx="2577950" cy="1200329"/>
              </a:xfrm>
              <a:prstGeom prst="rect">
                <a:avLst/>
              </a:prstGeom>
              <a:blipFill>
                <a:blip r:embed="rId6"/>
                <a:stretch>
                  <a:fillRect r="-94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F76F8A32-6DE8-4539-9A8A-B30C1245D17A}"/>
                  </a:ext>
                </a:extLst>
              </p:cNvPr>
              <p:cNvSpPr txBox="1"/>
              <p:nvPr/>
            </p:nvSpPr>
            <p:spPr>
              <a:xfrm>
                <a:off x="7117604" y="2975447"/>
                <a:ext cx="1305101" cy="6789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AU" b="0" i="1" smtClean="0">
                              <a:latin typeface="Cambria Math"/>
                            </a:rPr>
                            <m:t>324</m:t>
                          </m:r>
                        </m:e>
                      </m:rad>
                    </m:oMath>
                  </m:oMathPara>
                </a14:m>
                <a:endParaRPr lang="en-AU" dirty="0"/>
              </a:p>
              <a:p>
                <a:r>
                  <a:rPr lang="en-AU" b="0" dirty="0"/>
                  <a:t>    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=18 </m:t>
                    </m:r>
                    <m:r>
                      <a:rPr lang="en-AU" b="0" i="1" smtClean="0">
                        <a:latin typeface="Cambria Math"/>
                      </a:rPr>
                      <m:t>𝑐𝑚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F76F8A32-6DE8-4539-9A8A-B30C1245D1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7604" y="2975447"/>
                <a:ext cx="1305101" cy="678968"/>
              </a:xfrm>
              <a:prstGeom prst="rect">
                <a:avLst/>
              </a:prstGeom>
              <a:blipFill>
                <a:blip r:embed="rId7"/>
                <a:stretch>
                  <a:fillRect r="-4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0" name="Group 4">
            <a:extLst>
              <a:ext uri="{FF2B5EF4-FFF2-40B4-BE49-F238E27FC236}">
                <a16:creationId xmlns:a16="http://schemas.microsoft.com/office/drawing/2014/main" id="{662CB7C9-AF15-4287-8BEA-478DD6E252B3}"/>
              </a:ext>
            </a:extLst>
          </p:cNvPr>
          <p:cNvGrpSpPr>
            <a:grpSpLocks/>
          </p:cNvGrpSpPr>
          <p:nvPr/>
        </p:nvGrpSpPr>
        <p:grpSpPr bwMode="auto">
          <a:xfrm rot="2013339" flipV="1">
            <a:off x="4110639" y="2017256"/>
            <a:ext cx="322796" cy="293250"/>
            <a:chOff x="1680" y="3120"/>
            <a:chExt cx="240" cy="240"/>
          </a:xfrm>
        </p:grpSpPr>
        <p:sp>
          <p:nvSpPr>
            <p:cNvPr id="41" name="Line 5">
              <a:extLst>
                <a:ext uri="{FF2B5EF4-FFF2-40B4-BE49-F238E27FC236}">
                  <a16:creationId xmlns:a16="http://schemas.microsoft.com/office/drawing/2014/main" id="{B04EA6FC-48EE-4958-8528-FE1E32618D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0" y="3120"/>
              <a:ext cx="0" cy="240"/>
            </a:xfrm>
            <a:prstGeom prst="line">
              <a:avLst/>
            </a:prstGeom>
            <a:ln>
              <a:headEnd/>
              <a:tailEnd/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en-AU" b="1"/>
            </a:p>
          </p:txBody>
        </p:sp>
        <p:sp>
          <p:nvSpPr>
            <p:cNvPr id="42" name="Line 6">
              <a:extLst>
                <a:ext uri="{FF2B5EF4-FFF2-40B4-BE49-F238E27FC236}">
                  <a16:creationId xmlns:a16="http://schemas.microsoft.com/office/drawing/2014/main" id="{F62D536F-AC6C-4F67-82F6-5EF4835E7B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3120"/>
              <a:ext cx="240" cy="0"/>
            </a:xfrm>
            <a:prstGeom prst="line">
              <a:avLst/>
            </a:prstGeom>
            <a:ln>
              <a:headEnd/>
              <a:tailEnd/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en-AU" b="1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7E23117-3407-4DE4-83E3-E3F4946156E0}"/>
              </a:ext>
            </a:extLst>
          </p:cNvPr>
          <p:cNvSpPr txBox="1"/>
          <p:nvPr/>
        </p:nvSpPr>
        <p:spPr>
          <a:xfrm>
            <a:off x="3359382" y="4088114"/>
            <a:ext cx="1534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hypotenuse</a:t>
            </a:r>
            <a:endParaRPr lang="en-GB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32250D0-D888-4458-8971-7636360FE05A}"/>
              </a:ext>
            </a:extLst>
          </p:cNvPr>
          <p:cNvCxnSpPr>
            <a:cxnSpLocks/>
            <a:endCxn id="22" idx="5"/>
          </p:cNvCxnSpPr>
          <p:nvPr/>
        </p:nvCxnSpPr>
        <p:spPr>
          <a:xfrm flipH="1" flipV="1">
            <a:off x="4126628" y="3487543"/>
            <a:ext cx="64363" cy="70761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95141AC1-56F8-483E-8D6A-0AE371647AE8}"/>
              </a:ext>
            </a:extLst>
          </p:cNvPr>
          <p:cNvSpPr txBox="1"/>
          <p:nvPr/>
        </p:nvSpPr>
        <p:spPr>
          <a:xfrm>
            <a:off x="2324191" y="1902195"/>
            <a:ext cx="1534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shorter side</a:t>
            </a:r>
            <a:endParaRPr lang="en-GB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7DEC7D5-2C9C-4506-A66A-F416014D6AB6}"/>
              </a:ext>
            </a:extLst>
          </p:cNvPr>
          <p:cNvCxnSpPr>
            <a:endCxn id="22" idx="3"/>
          </p:cNvCxnSpPr>
          <p:nvPr/>
        </p:nvCxnSpPr>
        <p:spPr>
          <a:xfrm>
            <a:off x="2859578" y="2253093"/>
            <a:ext cx="616178" cy="78304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9586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9074D7-7189-401B-B22C-96E7385E1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2578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15955-A969-4757-9D5D-15C872D23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>
                <a:solidFill>
                  <a:srgbClr val="C00000"/>
                </a:solidFill>
              </a:rPr>
              <a:t>We Do</a:t>
            </a:r>
            <a:endParaRPr lang="en-GB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F5A147-F502-4888-AB78-93CDB093CF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Determine the length of the unknown side of this right-angled triangle.</a:t>
            </a:r>
            <a:endParaRPr lang="en-GB" dirty="0"/>
          </a:p>
        </p:txBody>
      </p:sp>
      <p:sp>
        <p:nvSpPr>
          <p:cNvPr id="4" name="Right Triangle 3">
            <a:extLst>
              <a:ext uri="{FF2B5EF4-FFF2-40B4-BE49-F238E27FC236}">
                <a16:creationId xmlns:a16="http://schemas.microsoft.com/office/drawing/2014/main" id="{220A2D32-70E8-48DB-BAE5-983F2D5F293A}"/>
              </a:ext>
            </a:extLst>
          </p:cNvPr>
          <p:cNvSpPr/>
          <p:nvPr/>
        </p:nvSpPr>
        <p:spPr>
          <a:xfrm rot="9517399">
            <a:off x="999807" y="4282763"/>
            <a:ext cx="5194852" cy="2703444"/>
          </a:xfrm>
          <a:prstGeom prst="rtTriangl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2D0148A-6AF7-482F-86FF-0952D2C96725}"/>
              </a:ext>
            </a:extLst>
          </p:cNvPr>
          <p:cNvSpPr/>
          <p:nvPr/>
        </p:nvSpPr>
        <p:spPr>
          <a:xfrm rot="20356816">
            <a:off x="5095460" y="3507356"/>
            <a:ext cx="516835" cy="40419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513036-2295-4CBD-B9C2-51761330097E}"/>
              </a:ext>
            </a:extLst>
          </p:cNvPr>
          <p:cNvSpPr txBox="1"/>
          <p:nvPr/>
        </p:nvSpPr>
        <p:spPr>
          <a:xfrm>
            <a:off x="2266121" y="3837290"/>
            <a:ext cx="1477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d = 8 m</a:t>
            </a:r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02EC5E-BC19-4D88-8CFD-E014CB73F749}"/>
              </a:ext>
            </a:extLst>
          </p:cNvPr>
          <p:cNvSpPr txBox="1"/>
          <p:nvPr/>
        </p:nvSpPr>
        <p:spPr>
          <a:xfrm>
            <a:off x="6029739" y="4258845"/>
            <a:ext cx="1106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e </a:t>
            </a:r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00282A-1D36-4E71-859B-8AEFE4AFD4B2}"/>
              </a:ext>
            </a:extLst>
          </p:cNvPr>
          <p:cNvSpPr txBox="1"/>
          <p:nvPr/>
        </p:nvSpPr>
        <p:spPr>
          <a:xfrm>
            <a:off x="3165092" y="5724295"/>
            <a:ext cx="1429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f = 10 m</a:t>
            </a: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76E78AB-77CE-4D27-A91B-61665709FED9}"/>
                  </a:ext>
                </a:extLst>
              </p:cNvPr>
              <p:cNvSpPr txBox="1"/>
              <p:nvPr/>
            </p:nvSpPr>
            <p:spPr>
              <a:xfrm>
                <a:off x="7070937" y="2788819"/>
                <a:ext cx="4604331" cy="27776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24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sup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  <m:sup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=1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00−64</m:t>
                      </m:r>
                    </m:oMath>
                  </m:oMathPara>
                </a14:m>
                <a:endParaRPr lang="en-AU" sz="2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36</m:t>
                      </m:r>
                    </m:oMath>
                  </m:oMathPara>
                </a14:m>
                <a:endParaRPr lang="en-AU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AU" sz="240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AU" sz="24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36</m:t>
                          </m:r>
                        </m:e>
                      </m:rad>
                    </m:oMath>
                  </m:oMathPara>
                </a14:m>
                <a:endParaRPr lang="en-AU" sz="2400" dirty="0"/>
              </a:p>
              <a:p>
                <a:pPr algn="ctr"/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en-AU" sz="2400" dirty="0"/>
                  <a:t> cm</a:t>
                </a:r>
                <a:endParaRPr lang="en-AU" sz="2400" b="0" dirty="0"/>
              </a:p>
              <a:p>
                <a:endParaRPr lang="en-GB" sz="240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76E78AB-77CE-4D27-A91B-61665709FE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0937" y="2788819"/>
                <a:ext cx="4604331" cy="277768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88797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>
                <a:solidFill>
                  <a:schemeClr val="accent1">
                    <a:lumMod val="75000"/>
                  </a:schemeClr>
                </a:solidFill>
              </a:rPr>
              <a:t>Task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Excel Worksheets</a:t>
            </a:r>
          </a:p>
          <a:p>
            <a:pPr marL="0" indent="0">
              <a:buNone/>
            </a:pPr>
            <a:r>
              <a:rPr lang="en-AU" dirty="0"/>
              <a:t>Finding the Length of a Side</a:t>
            </a:r>
          </a:p>
          <a:p>
            <a:pPr marL="0" indent="0">
              <a:buNone/>
            </a:pPr>
            <a:r>
              <a:rPr lang="en-AU" dirty="0"/>
              <a:t>Miscellaneous Questions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Dwyer Year 9 Text</a:t>
            </a:r>
          </a:p>
          <a:p>
            <a:pPr marL="0" indent="0">
              <a:buNone/>
            </a:pPr>
            <a:r>
              <a:rPr lang="en-AU" dirty="0"/>
              <a:t>Exercise 12.1 and 12.2 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00796813"/>
      </p:ext>
    </p:extLst>
  </p:cSld>
  <p:clrMapOvr>
    <a:masterClrMapping/>
  </p:clrMapOvr>
</p:sld>
</file>

<file path=ppt/theme/theme1.xml><?xml version="1.0" encoding="utf-8"?>
<a:theme xmlns:a="http://schemas.openxmlformats.org/drawingml/2006/main" name="BSC Theme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C4220D"/>
      </a:accent1>
      <a:accent2>
        <a:srgbClr val="EB7712"/>
      </a:accent2>
      <a:accent3>
        <a:srgbClr val="ECBD31"/>
      </a:accent3>
      <a:accent4>
        <a:srgbClr val="92CE4A"/>
      </a:accent4>
      <a:accent5>
        <a:srgbClr val="50CFB4"/>
      </a:accent5>
      <a:accent6>
        <a:srgbClr val="0D8EC5"/>
      </a:accent6>
      <a:hlink>
        <a:srgbClr val="EA5A0C"/>
      </a:hlink>
      <a:folHlink>
        <a:srgbClr val="F09D3A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SC Theme" id="{C1CBADD6-BB5F-440A-B968-1DF8E3AA1E88}" vid="{968D037D-C1E6-4504-B0AA-F343FEB6676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BSC Theme</Template>
  <TotalTime>6535</TotalTime>
  <Words>423</Words>
  <Application>Microsoft Office PowerPoint</Application>
  <PresentationFormat>Widescreen</PresentationFormat>
  <Paragraphs>118</Paragraphs>
  <Slides>11</Slides>
  <Notes>4</Notes>
  <HiddenSlides>0</HiddenSlides>
  <MMClips>1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1" baseType="lpstr">
      <vt:lpstr>Arial</vt:lpstr>
      <vt:lpstr>Calibri</vt:lpstr>
      <vt:lpstr>Cambria Math</vt:lpstr>
      <vt:lpstr>Century Gothic</vt:lpstr>
      <vt:lpstr>Comic Sans MS</vt:lpstr>
      <vt:lpstr>DJB Fancy Nancy</vt:lpstr>
      <vt:lpstr>Kiwi School Handwriting</vt:lpstr>
      <vt:lpstr>Tahoma</vt:lpstr>
      <vt:lpstr>BSC Theme</vt:lpstr>
      <vt:lpstr>Equation</vt:lpstr>
      <vt:lpstr>Topic: Pythagoras Theorem EQ: What is the Pythagoras Theorem?</vt:lpstr>
      <vt:lpstr>Topic: Pythagoras Theorem EQ: What is the Pythagoras Theorem?</vt:lpstr>
      <vt:lpstr>Pythagoras Calculating the Shorter Side</vt:lpstr>
      <vt:lpstr>Pythagoras Theorem</vt:lpstr>
      <vt:lpstr>Pythagoras Theorem Video</vt:lpstr>
      <vt:lpstr>PowerPoint Presentation</vt:lpstr>
      <vt:lpstr>Calculating Hypotenuse</vt:lpstr>
      <vt:lpstr>PowerPoint Presentation</vt:lpstr>
      <vt:lpstr>PowerPoint Presentation</vt:lpstr>
      <vt:lpstr>We Do</vt:lpstr>
      <vt:lpstr>Task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Probability review</dc:title>
  <dc:creator>Nine Labuschagne</dc:creator>
  <cp:lastModifiedBy>Magdeline Lum</cp:lastModifiedBy>
  <cp:revision>48</cp:revision>
  <dcterms:created xsi:type="dcterms:W3CDTF">2017-10-15T23:31:24Z</dcterms:created>
  <dcterms:modified xsi:type="dcterms:W3CDTF">2018-06-07T15:57:13Z</dcterms:modified>
</cp:coreProperties>
</file>
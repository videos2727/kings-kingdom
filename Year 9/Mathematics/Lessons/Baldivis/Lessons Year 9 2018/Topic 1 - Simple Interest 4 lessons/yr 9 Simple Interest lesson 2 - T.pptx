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7" r:id="rId1"/>
  </p:sldMasterIdLst>
  <p:sldIdLst>
    <p:sldId id="269" r:id="rId2"/>
    <p:sldId id="271" r:id="rId3"/>
    <p:sldId id="257" r:id="rId4"/>
    <p:sldId id="268" r:id="rId5"/>
    <p:sldId id="27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3" autoAdjust="0"/>
    <p:restoredTop sz="94624" autoAdjust="0"/>
  </p:normalViewPr>
  <p:slideViewPr>
    <p:cSldViewPr>
      <p:cViewPr varScale="1">
        <p:scale>
          <a:sx n="51" d="100"/>
          <a:sy n="51" d="100"/>
        </p:scale>
        <p:origin x="62" y="29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C474-0861-469D-881C-742CE7BBD56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145661"/>
      </p:ext>
    </p:extLst>
  </p:cSld>
  <p:clrMapOvr>
    <a:masterClrMapping/>
  </p:clrMapOvr>
  <p:transition spd="slow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B033-6292-441D-A43D-D93E0CFEA2C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84082"/>
      </p:ext>
    </p:extLst>
  </p:cSld>
  <p:clrMapOvr>
    <a:masterClrMapping/>
  </p:clrMapOvr>
  <p:transition spd="slow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56244-4CA3-4F17-8A68-2DA021E4D0A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11114"/>
      </p:ext>
    </p:extLst>
  </p:cSld>
  <p:clrMapOvr>
    <a:masterClrMapping/>
  </p:clrMapOvr>
  <p:transition spd="slow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05103-04B6-48C9-857C-7C45C1A9B82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077536"/>
      </p:ext>
    </p:extLst>
  </p:cSld>
  <p:clrMapOvr>
    <a:masterClrMapping/>
  </p:clrMapOvr>
  <p:transition spd="slow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9E7DD-A85C-4923-917F-183CED04BD5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048030"/>
      </p:ext>
    </p:extLst>
  </p:cSld>
  <p:clrMapOvr>
    <a:masterClrMapping/>
  </p:clrMapOvr>
  <p:transition spd="slow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5E486-A83F-434A-AA11-7CC2D43A8252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4280015"/>
      </p:ext>
    </p:extLst>
  </p:cSld>
  <p:clrMapOvr>
    <a:masterClrMapping/>
  </p:clrMapOvr>
  <p:transition spd="slow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F081-AAB1-44D7-9EDF-9A578B8D0FD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416476"/>
      </p:ext>
    </p:extLst>
  </p:cSld>
  <p:clrMapOvr>
    <a:masterClrMapping/>
  </p:clrMapOvr>
  <p:transition spd="slow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B137-FC94-423B-AA90-2A537E2F059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91262"/>
      </p:ext>
    </p:extLst>
  </p:cSld>
  <p:clrMapOvr>
    <a:masterClrMapping/>
  </p:clrMapOvr>
  <p:transition spd="slow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CCDBF-3802-4C8E-9B6A-455C990D555D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713632"/>
      </p:ext>
    </p:extLst>
  </p:cSld>
  <p:clrMapOvr>
    <a:masterClrMapping/>
  </p:clrMapOvr>
  <p:transition spd="slow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301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559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99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476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598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52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36E7-67C4-440E-8D97-16C0A3B16E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717636"/>
      </p:ext>
    </p:extLst>
  </p:cSld>
  <p:clrMapOvr>
    <a:masterClrMapping/>
  </p:clrMapOvr>
  <p:transition spd="slow">
    <p:split dir="in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F8948-F4CD-41AC-B5EC-D1C210B89F9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0788873"/>
      </p:ext>
    </p:extLst>
  </p:cSld>
  <p:clrMapOvr>
    <a:masterClrMapping/>
  </p:clrMapOvr>
  <p:transition spd="slow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F2E924-0241-443E-BA55-0DA9D8F27D1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17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ransition spd="slow">
    <p:split dir="in"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BF5D4-B2D4-49C9-A9F8-AAC29D346FED}"/>
              </a:ext>
            </a:extLst>
          </p:cNvPr>
          <p:cNvSpPr txBox="1"/>
          <p:nvPr/>
        </p:nvSpPr>
        <p:spPr>
          <a:xfrm>
            <a:off x="179512" y="31860"/>
            <a:ext cx="91222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b="1" u="sng" dirty="0"/>
              <a:t>Today</a:t>
            </a:r>
          </a:p>
          <a:p>
            <a:r>
              <a:rPr lang="en-AU" sz="4800" dirty="0"/>
              <a:t>Topic: Simple Interest Continued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3607-A371-4F54-B4B6-218CB29694BF}"/>
              </a:ext>
            </a:extLst>
          </p:cNvPr>
          <p:cNvSpPr txBox="1"/>
          <p:nvPr/>
        </p:nvSpPr>
        <p:spPr>
          <a:xfrm>
            <a:off x="414334" y="1484784"/>
            <a:ext cx="8143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EQ: How do you calculate simple interest with different units of time?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3685C-1E58-478E-9591-1C0974254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086" y="3024105"/>
            <a:ext cx="3573016" cy="3573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54EA27-F7DD-42A4-9BB5-B0202878D803}"/>
              </a:ext>
            </a:extLst>
          </p:cNvPr>
          <p:cNvSpPr txBox="1"/>
          <p:nvPr/>
        </p:nvSpPr>
        <p:spPr>
          <a:xfrm>
            <a:off x="414334" y="3717032"/>
            <a:ext cx="41576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Mental warm up:</a:t>
            </a:r>
          </a:p>
          <a:p>
            <a:endParaRPr lang="en-AU" sz="2400" b="1" dirty="0">
              <a:solidFill>
                <a:srgbClr val="FF0000"/>
              </a:solidFill>
            </a:endParaRPr>
          </a:p>
          <a:p>
            <a:r>
              <a:rPr lang="en-AU" sz="2400" b="1" dirty="0">
                <a:solidFill>
                  <a:srgbClr val="FF0000"/>
                </a:solidFill>
              </a:rPr>
              <a:t>Chocolate for the first person to find the missing number</a:t>
            </a:r>
          </a:p>
        </p:txBody>
      </p:sp>
    </p:spTree>
    <p:extLst>
      <p:ext uri="{BB962C8B-B14F-4D97-AF65-F5344CB8AC3E}">
        <p14:creationId xmlns:p14="http://schemas.microsoft.com/office/powerpoint/2010/main" val="1487113757"/>
      </p:ext>
    </p:extLst>
  </p:cSld>
  <p:clrMapOvr>
    <a:masterClrMapping/>
  </p:clrMapOvr>
  <p:transition spd="slow"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BB319D-6FB9-447E-8F75-12F17F63C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79067"/>
      </p:ext>
    </p:extLst>
  </p:cSld>
  <p:clrMapOvr>
    <a:masterClrMapping/>
  </p:clrMapOvr>
  <p:transition spd="slow"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1000"/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Warm up (Look at notes from last lesson if stuck)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5346" y="1732451"/>
            <a:ext cx="5398822" cy="212859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AU" sz="2400" dirty="0"/>
              <a:t>P = $3,000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T=3</a:t>
            </a:r>
          </a:p>
          <a:p>
            <a:pPr>
              <a:buFont typeface="Wingdings" pitchFamily="2" charset="2"/>
              <a:buNone/>
            </a:pPr>
            <a:r>
              <a:rPr lang="en-AU" sz="2400" dirty="0"/>
              <a:t>R = 10% convert to decimal </a:t>
            </a:r>
            <a:r>
              <a:rPr lang="en-AU" sz="2400" dirty="0">
                <a:latin typeface="Century Gothic" panose="020B0502020202020204" pitchFamily="34" charset="0"/>
              </a:rPr>
              <a:t>→</a:t>
            </a:r>
            <a:endParaRPr lang="en-AU" sz="2400" b="1" dirty="0">
              <a:solidFill>
                <a:srgbClr val="FFFF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sz="2400" b="1" dirty="0"/>
              <a:t>Calculate simple interest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FFC3D-ED8B-4BD8-B6BE-B78C85630488}"/>
              </a:ext>
            </a:extLst>
          </p:cNvPr>
          <p:cNvSpPr txBox="1"/>
          <p:nvPr/>
        </p:nvSpPr>
        <p:spPr>
          <a:xfrm>
            <a:off x="4860032" y="2784174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0.1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/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=3000×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0.1×3</m:t>
                      </m:r>
                    </m:oMath>
                  </m:oMathPara>
                </a14:m>
                <a:endParaRPr lang="en-AU" sz="32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80FDB5-626C-4155-A154-DE23DB5EC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4818951"/>
                <a:ext cx="343664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0F34F5-DC66-4D92-BDFE-28F771272F1B}"/>
              </a:ext>
            </a:extLst>
          </p:cNvPr>
          <p:cNvSpPr txBox="1"/>
          <p:nvPr/>
        </p:nvSpPr>
        <p:spPr>
          <a:xfrm>
            <a:off x="1693126" y="3673768"/>
            <a:ext cx="44228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solidFill>
                  <a:srgbClr val="FFFF00"/>
                </a:solidFill>
              </a:rPr>
              <a:t>I = PRT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/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=900</m:t>
                      </m:r>
                    </m:oMath>
                  </m:oMathPara>
                </a14:m>
                <a:endParaRPr lang="en-AU" sz="2400" dirty="0">
                  <a:solidFill>
                    <a:srgbClr val="FFFF00"/>
                  </a:solidFill>
                </a:endParaRPr>
              </a:p>
              <a:p>
                <a:endParaRPr lang="en-AU" sz="2400" dirty="0">
                  <a:solidFill>
                    <a:srgbClr val="FFFF00"/>
                  </a:solidFill>
                </a:endParaRPr>
              </a:p>
              <a:p>
                <a:r>
                  <a:rPr lang="en-AU" sz="2400" dirty="0">
                    <a:solidFill>
                      <a:srgbClr val="FFFF00"/>
                    </a:solidFill>
                  </a:rPr>
                  <a:t>Simple interest earned is $900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9B75DB-E9E1-403F-90A5-B1A8781A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279" y="5311394"/>
                <a:ext cx="4591624" cy="1200329"/>
              </a:xfrm>
              <a:prstGeom prst="rect">
                <a:avLst/>
              </a:prstGeom>
              <a:blipFill>
                <a:blip r:embed="rId4"/>
                <a:stretch>
                  <a:fillRect l="-2125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10939" y="1461644"/>
            <a:ext cx="4714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/>
              <a:t>I = PRT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C58526-CB03-4C05-9F86-CFAA08F3EE2E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148175-9ADE-4957-B85B-053D29224569}"/>
              </a:ext>
            </a:extLst>
          </p:cNvPr>
          <p:cNvCxnSpPr/>
          <p:nvPr/>
        </p:nvCxnSpPr>
        <p:spPr>
          <a:xfrm>
            <a:off x="0" y="1499421"/>
            <a:ext cx="9144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6FD608-557B-4F15-848D-86C2316A34F7}"/>
              </a:ext>
            </a:extLst>
          </p:cNvPr>
          <p:cNvSpPr txBox="1"/>
          <p:nvPr/>
        </p:nvSpPr>
        <p:spPr>
          <a:xfrm>
            <a:off x="395536" y="694543"/>
            <a:ext cx="8143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calculate simple interest with different units of time?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BEC7C-E5A6-4CD6-8066-B1D13954FAAB}"/>
              </a:ext>
            </a:extLst>
          </p:cNvPr>
          <p:cNvSpPr txBox="1"/>
          <p:nvPr/>
        </p:nvSpPr>
        <p:spPr>
          <a:xfrm>
            <a:off x="395536" y="99912"/>
            <a:ext cx="8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Simple Interest Continued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7A3D6E-02D1-4D15-98B2-35074056017E}"/>
              </a:ext>
            </a:extLst>
          </p:cNvPr>
          <p:cNvCxnSpPr>
            <a:cxnSpLocks/>
          </p:cNvCxnSpPr>
          <p:nvPr/>
        </p:nvCxnSpPr>
        <p:spPr>
          <a:xfrm>
            <a:off x="1763689" y="1525540"/>
            <a:ext cx="0" cy="526618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4023CF-9B5D-43B1-A5E6-89C68A930C70}"/>
                  </a:ext>
                </a:extLst>
              </p:cNvPr>
              <p:cNvSpPr txBox="1"/>
              <p:nvPr/>
            </p:nvSpPr>
            <p:spPr>
              <a:xfrm>
                <a:off x="2139903" y="2605497"/>
                <a:ext cx="3990182" cy="1241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00B0F0"/>
                    </a:solidFill>
                  </a:rPr>
                  <a:t>12 months in a year</a:t>
                </a:r>
              </a:p>
              <a:p>
                <a:endParaRPr lang="en-AU" sz="2000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𝑚𝑜𝑛𝑡h𝑠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B0F0"/>
                    </a:solidFill>
                  </a:rPr>
                  <a:t> = T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4023CF-9B5D-43B1-A5E6-89C68A930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903" y="2605497"/>
                <a:ext cx="3990182" cy="1241494"/>
              </a:xfrm>
              <a:prstGeom prst="rect">
                <a:avLst/>
              </a:prstGeom>
              <a:blipFill>
                <a:blip r:embed="rId2"/>
                <a:stretch>
                  <a:fillRect l="-1527" t="-2451" b="-39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F8E4F7-2FF8-428B-AF52-7380CBBB222B}"/>
              </a:ext>
            </a:extLst>
          </p:cNvPr>
          <p:cNvSpPr txBox="1"/>
          <p:nvPr/>
        </p:nvSpPr>
        <p:spPr>
          <a:xfrm>
            <a:off x="738264" y="3307560"/>
            <a:ext cx="1409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Months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8A142-EF09-4555-93BC-5C3B626755B0}"/>
              </a:ext>
            </a:extLst>
          </p:cNvPr>
          <p:cNvSpPr txBox="1"/>
          <p:nvPr/>
        </p:nvSpPr>
        <p:spPr>
          <a:xfrm>
            <a:off x="738264" y="4196312"/>
            <a:ext cx="14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Weeks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24C251-A4FE-4E39-8D7C-2A5AABAA2219}"/>
                  </a:ext>
                </a:extLst>
              </p:cNvPr>
              <p:cNvSpPr txBox="1"/>
              <p:nvPr/>
            </p:nvSpPr>
            <p:spPr>
              <a:xfrm>
                <a:off x="2124069" y="4014621"/>
                <a:ext cx="3888092" cy="1333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FFFF00"/>
                    </a:solidFill>
                  </a:rPr>
                  <a:t>52 weeks in a year</a:t>
                </a:r>
              </a:p>
              <a:p>
                <a:endParaRPr lang="en-AU" sz="2000" dirty="0">
                  <a:solidFill>
                    <a:srgbClr val="FFFF0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𝑤𝑒𝑒𝑘𝑠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FFFF00"/>
                    </a:solidFill>
                  </a:rPr>
                  <a:t> = T</a:t>
                </a:r>
                <a:endParaRPr lang="en-AU" sz="2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24C251-A4FE-4E39-8D7C-2A5AABAA2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69" y="4014621"/>
                <a:ext cx="3888092" cy="1333057"/>
              </a:xfrm>
              <a:prstGeom prst="rect">
                <a:avLst/>
              </a:prstGeom>
              <a:blipFill>
                <a:blip r:embed="rId3"/>
                <a:stretch>
                  <a:fillRect l="-1567" t="-2752" b="-50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AD878A9-3AD4-4D09-9CBB-6D31BEF4BE11}"/>
              </a:ext>
            </a:extLst>
          </p:cNvPr>
          <p:cNvSpPr txBox="1"/>
          <p:nvPr/>
        </p:nvSpPr>
        <p:spPr>
          <a:xfrm>
            <a:off x="7750046" y="2499020"/>
            <a:ext cx="2787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YEARS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4FA81-1346-434B-A28A-D356D06FFF6D}"/>
              </a:ext>
            </a:extLst>
          </p:cNvPr>
          <p:cNvSpPr txBox="1"/>
          <p:nvPr/>
        </p:nvSpPr>
        <p:spPr>
          <a:xfrm>
            <a:off x="131313" y="2642500"/>
            <a:ext cx="1509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Conversion to Years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DFEB7-8D61-4D82-AFB0-679CD926A41B}"/>
              </a:ext>
            </a:extLst>
          </p:cNvPr>
          <p:cNvSpPr txBox="1"/>
          <p:nvPr/>
        </p:nvSpPr>
        <p:spPr>
          <a:xfrm>
            <a:off x="106171" y="1861469"/>
            <a:ext cx="1731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REVISION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D0EADF-DA12-4255-90E4-FF1E62AEC31D}"/>
              </a:ext>
            </a:extLst>
          </p:cNvPr>
          <p:cNvSpPr txBox="1"/>
          <p:nvPr/>
        </p:nvSpPr>
        <p:spPr>
          <a:xfrm>
            <a:off x="6843883" y="2190743"/>
            <a:ext cx="4600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unit is 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5A0A2B-F583-4C97-BFCA-54B91F349DDC}"/>
              </a:ext>
            </a:extLst>
          </p:cNvPr>
          <p:cNvSpPr txBox="1"/>
          <p:nvPr/>
        </p:nvSpPr>
        <p:spPr>
          <a:xfrm>
            <a:off x="781529" y="5636265"/>
            <a:ext cx="14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AA0749-0A3B-4574-9DA2-BD2EC0B1B63E}"/>
                  </a:ext>
                </a:extLst>
              </p:cNvPr>
              <p:cNvSpPr txBox="1"/>
              <p:nvPr/>
            </p:nvSpPr>
            <p:spPr>
              <a:xfrm>
                <a:off x="2113295" y="5452372"/>
                <a:ext cx="3754850" cy="1333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7030A0"/>
                    </a:solidFill>
                  </a:rPr>
                  <a:t>365 days in a year</a:t>
                </a:r>
              </a:p>
              <a:p>
                <a:endParaRPr lang="en-AU" sz="2000" dirty="0">
                  <a:solidFill>
                    <a:srgbClr val="7030A0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𝑑𝑎𝑦𝑠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7030A0"/>
                    </a:solidFill>
                  </a:rPr>
                  <a:t> = T</a:t>
                </a:r>
                <a:endParaRPr lang="en-AU" sz="2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AA0749-0A3B-4574-9DA2-BD2EC0B1B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295" y="5452372"/>
                <a:ext cx="3754850" cy="1333057"/>
              </a:xfrm>
              <a:prstGeom prst="rect">
                <a:avLst/>
              </a:prstGeom>
              <a:blipFill>
                <a:blip r:embed="rId4"/>
                <a:stretch>
                  <a:fillRect l="-1786" t="-2283" b="-45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AFE66F-4BA3-4D19-8374-1BD11D02027C}"/>
              </a:ext>
            </a:extLst>
          </p:cNvPr>
          <p:cNvSpPr txBox="1"/>
          <p:nvPr/>
        </p:nvSpPr>
        <p:spPr>
          <a:xfrm>
            <a:off x="6557489" y="3165261"/>
            <a:ext cx="2160915" cy="28623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Moving ahead??</a:t>
            </a:r>
          </a:p>
          <a:p>
            <a:endParaRPr lang="en-AU" dirty="0"/>
          </a:p>
          <a:p>
            <a:r>
              <a:rPr lang="en-AU" dirty="0"/>
              <a:t>Convert these: </a:t>
            </a:r>
          </a:p>
          <a:p>
            <a:endParaRPr lang="en-AU" dirty="0"/>
          </a:p>
          <a:p>
            <a:r>
              <a:rPr lang="en-AU" dirty="0"/>
              <a:t>10 months =  </a:t>
            </a:r>
          </a:p>
          <a:p>
            <a:endParaRPr lang="en-AU" dirty="0"/>
          </a:p>
          <a:p>
            <a:r>
              <a:rPr lang="en-AU" dirty="0"/>
              <a:t>22 weeks = </a:t>
            </a:r>
          </a:p>
          <a:p>
            <a:endParaRPr lang="en-AU" dirty="0"/>
          </a:p>
          <a:p>
            <a:r>
              <a:rPr lang="en-AU" dirty="0"/>
              <a:t>180 days =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716424"/>
      </p:ext>
    </p:extLst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5CA3B-CAC6-46AD-A6E1-6567B26767A4}"/>
              </a:ext>
            </a:extLst>
          </p:cNvPr>
          <p:cNvSpPr txBox="1"/>
          <p:nvPr/>
        </p:nvSpPr>
        <p:spPr>
          <a:xfrm>
            <a:off x="2627784" y="188640"/>
            <a:ext cx="4320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Let’s Try It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AA6B6-2D84-485B-B2C8-C787B75BE2D0}"/>
              </a:ext>
            </a:extLst>
          </p:cNvPr>
          <p:cNvSpPr txBox="1"/>
          <p:nvPr/>
        </p:nvSpPr>
        <p:spPr>
          <a:xfrm>
            <a:off x="-108520" y="764704"/>
            <a:ext cx="9252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P = $2,500 and the interest rate is 12%</a:t>
            </a:r>
          </a:p>
          <a:p>
            <a:pPr algn="ctr"/>
            <a:r>
              <a:rPr lang="en-AU" sz="3200" dirty="0"/>
              <a:t>Find the simple interest (I)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9A7E8-D33F-4405-91DB-55D52456D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001150"/>
              </p:ext>
            </p:extLst>
          </p:nvPr>
        </p:nvGraphicFramePr>
        <p:xfrm>
          <a:off x="467290" y="1873898"/>
          <a:ext cx="8100900" cy="4833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164948404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0462833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1795739107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27106212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652850988"/>
                    </a:ext>
                  </a:extLst>
                </a:gridCol>
              </a:tblGrid>
              <a:tr h="796780"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24 weeks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18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6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250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102996"/>
                  </a:ext>
                </a:extLst>
              </a:tr>
              <a:tr h="13457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/>
                        <a:t>T =</a:t>
                      </a:r>
                    </a:p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747041"/>
                  </a:ext>
                </a:extLst>
              </a:tr>
              <a:tr h="1345713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Working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889057"/>
                  </a:ext>
                </a:extLst>
              </a:tr>
              <a:tr h="134571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dirty="0"/>
                        <a:t>I =</a:t>
                      </a:r>
                    </a:p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5482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62FD3F-905F-4034-9CAE-ECA620CD1825}"/>
              </a:ext>
            </a:extLst>
          </p:cNvPr>
          <p:cNvSpPr txBox="1"/>
          <p:nvPr/>
        </p:nvSpPr>
        <p:spPr>
          <a:xfrm>
            <a:off x="7380312" y="58374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FF00"/>
                </a:solidFill>
              </a:rPr>
              <a:t>NEXT : Fact Finder WS</a:t>
            </a:r>
          </a:p>
        </p:txBody>
      </p:sp>
    </p:spTree>
    <p:extLst>
      <p:ext uri="{BB962C8B-B14F-4D97-AF65-F5344CB8AC3E}">
        <p14:creationId xmlns:p14="http://schemas.microsoft.com/office/powerpoint/2010/main" val="4260650190"/>
      </p:ext>
    </p:extLst>
  </p:cSld>
  <p:clrMapOvr>
    <a:masterClrMapping/>
  </p:clrMapOvr>
  <p:transition spd="slow">
    <p:split dir="in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1026</TotalTime>
  <Words>194</Words>
  <Application>Microsoft Office PowerPoint</Application>
  <PresentationFormat>On-screen Show (4:3)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Calisto MT</vt:lpstr>
      <vt:lpstr>Cambria Math</vt:lpstr>
      <vt:lpstr>Century Gothic</vt:lpstr>
      <vt:lpstr>Trebuchet MS</vt:lpstr>
      <vt:lpstr>Wingdings</vt:lpstr>
      <vt:lpstr>Wingdings 2</vt:lpstr>
      <vt:lpstr>Slate</vt:lpstr>
      <vt:lpstr>PowerPoint Presentation</vt:lpstr>
      <vt:lpstr>PowerPoint Presentation</vt:lpstr>
      <vt:lpstr>Warm up (Look at notes from last lesson if stuck)</vt:lpstr>
      <vt:lpstr>PowerPoint Presentation</vt:lpstr>
      <vt:lpstr>PowerPoint Presentation</vt:lpstr>
    </vt:vector>
  </TitlesOfParts>
  <Company>BGGS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BGGS</dc:creator>
  <cp:lastModifiedBy>E4092707</cp:lastModifiedBy>
  <cp:revision>36</cp:revision>
  <cp:lastPrinted>1601-01-01T00:00:00Z</cp:lastPrinted>
  <dcterms:created xsi:type="dcterms:W3CDTF">2001-02-14T02:34:26Z</dcterms:created>
  <dcterms:modified xsi:type="dcterms:W3CDTF">2018-02-01T23:27:03Z</dcterms:modified>
</cp:coreProperties>
</file>
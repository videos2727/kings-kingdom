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notesMasterIdLst>
    <p:notesMasterId r:id="rId10"/>
  </p:notesMasterIdLst>
  <p:sldIdLst>
    <p:sldId id="269" r:id="rId2"/>
    <p:sldId id="262" r:id="rId3"/>
    <p:sldId id="266" r:id="rId4"/>
    <p:sldId id="265" r:id="rId5"/>
    <p:sldId id="268" r:id="rId6"/>
    <p:sldId id="267" r:id="rId7"/>
    <p:sldId id="264" r:id="rId8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3" autoAdjust="0"/>
    <p:restoredTop sz="94624" autoAdjust="0"/>
  </p:normalViewPr>
  <p:slideViewPr>
    <p:cSldViewPr>
      <p:cViewPr varScale="1">
        <p:scale>
          <a:sx n="81" d="100"/>
          <a:sy n="81" d="100"/>
        </p:scale>
        <p:origin x="15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92D18-154C-45D5-BFCB-BB0D853716B7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AE166-EE2C-4F00-BAD6-FFDACB3CFD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94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145661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84082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11114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77536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048030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280015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41647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91262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713632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0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5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47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598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5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17636"/>
      </p:ext>
    </p:extLst>
  </p:cSld>
  <p:clrMapOvr>
    <a:masterClrMapping/>
  </p:clrMapOvr>
  <p:transition spd="slow">
    <p:split dir="in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788873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1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ransition spd="slow">
    <p:split dir="in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1547664" y="4441804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Today</a:t>
            </a:r>
          </a:p>
          <a:p>
            <a:r>
              <a:rPr lang="en-AU" sz="2400" dirty="0"/>
              <a:t>Topic: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1259632" y="5261490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59165-7A1D-499B-9A60-DC013BDDCD87}"/>
              </a:ext>
            </a:extLst>
          </p:cNvPr>
          <p:cNvSpPr txBox="1"/>
          <p:nvPr/>
        </p:nvSpPr>
        <p:spPr>
          <a:xfrm>
            <a:off x="395536" y="0"/>
            <a:ext cx="78488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u="sng" dirty="0">
                <a:solidFill>
                  <a:srgbClr val="002060"/>
                </a:solidFill>
                <a:latin typeface="Berlin Sans FB" panose="020E0602020502020306" pitchFamily="34" charset="0"/>
              </a:rPr>
              <a:t>Setting up Interactive Notebooks </a:t>
            </a:r>
          </a:p>
          <a:p>
            <a:endParaRPr lang="en-AU" sz="3600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solidFill>
                  <a:srgbClr val="002060"/>
                </a:solidFill>
                <a:latin typeface="Berlin Sans FB" panose="020E0602020502020306" pitchFamily="34" charset="0"/>
              </a:rPr>
              <a:t>Cover Page – Number and Algebra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solidFill>
                  <a:srgbClr val="002060"/>
                </a:solidFill>
                <a:latin typeface="Berlin Sans FB" panose="020E0602020502020306" pitchFamily="34" charset="0"/>
              </a:rPr>
              <a:t>Contents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solidFill>
                  <a:srgbClr val="002060"/>
                </a:solidFill>
                <a:latin typeface="Berlin Sans FB" panose="020E0602020502020306" pitchFamily="34" charset="0"/>
              </a:rPr>
              <a:t>Glossary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solidFill>
                  <a:srgbClr val="002060"/>
                </a:solidFill>
                <a:latin typeface="Berlin Sans FB" panose="020E0602020502020306" pitchFamily="34" charset="0"/>
              </a:rPr>
              <a:t>Rule up and number pages for 4 lessons</a:t>
            </a:r>
            <a:r>
              <a:rPr lang="en-AU" sz="2800" dirty="0">
                <a:solidFill>
                  <a:srgbClr val="00B0F0"/>
                </a:solidFill>
                <a:latin typeface="Berlin Sans FB" panose="020E0602020502020306" pitchFamily="34" charset="0"/>
              </a:rPr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  <p:transition spd="slow"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you want to buy a car, or a house, or something else but you don’t have the ready cash to pay for it. Then you may have to </a:t>
            </a:r>
            <a:r>
              <a:rPr lang="en-AU" b="1" dirty="0">
                <a:solidFill>
                  <a:srgbClr val="FFFF00"/>
                </a:solidFill>
              </a:rPr>
              <a:t>BORROW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/>
              <a:t>the money from a bank. If you do this, then the bank charges an extra fee for the privilege of borrowing money from them.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6" y="3714752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This is called </a:t>
            </a:r>
            <a:r>
              <a:rPr lang="en-AU" b="1" u="sng" dirty="0">
                <a:solidFill>
                  <a:srgbClr val="FFFF00"/>
                </a:solidFill>
              </a:rPr>
              <a:t>INTEREST</a:t>
            </a:r>
            <a:r>
              <a:rPr lang="en-AU" dirty="0">
                <a:solidFill>
                  <a:srgbClr val="FFFF00"/>
                </a:solidFill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414" y="4429132"/>
            <a:ext cx="707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you’re in the fortunate position of having money to </a:t>
            </a:r>
            <a:r>
              <a:rPr lang="en-AU" dirty="0">
                <a:solidFill>
                  <a:srgbClr val="FFFF00"/>
                </a:solidFill>
              </a:rPr>
              <a:t>INVEST</a:t>
            </a:r>
            <a:r>
              <a:rPr lang="en-AU" dirty="0"/>
              <a:t> (the opposite of borrowing), then the bank will pay </a:t>
            </a:r>
            <a:r>
              <a:rPr lang="en-AU" b="1" i="1" u="sng" dirty="0"/>
              <a:t>you</a:t>
            </a:r>
            <a:r>
              <a:rPr lang="en-AU" dirty="0"/>
              <a:t> interest!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274E67-4C40-4851-84D5-508B47852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" t="17801" r="50781" b="51400"/>
          <a:stretch/>
        </p:blipFill>
        <p:spPr>
          <a:xfrm>
            <a:off x="102380" y="183138"/>
            <a:ext cx="8939240" cy="3223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4252BB-0569-4F09-9B25-8C20CFFA5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97" t="17801" r="17713" b="51400"/>
          <a:stretch/>
        </p:blipFill>
        <p:spPr>
          <a:xfrm>
            <a:off x="3203848" y="3573016"/>
            <a:ext cx="5837772" cy="30938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070931-4667-4B3C-BC01-AEFC1782BB88}"/>
              </a:ext>
            </a:extLst>
          </p:cNvPr>
          <p:cNvSpPr txBox="1"/>
          <p:nvPr/>
        </p:nvSpPr>
        <p:spPr>
          <a:xfrm>
            <a:off x="102700" y="4596711"/>
            <a:ext cx="3389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u="sng" dirty="0"/>
              <a:t>Judging Standards </a:t>
            </a:r>
          </a:p>
        </p:txBody>
      </p:sp>
    </p:spTree>
    <p:extLst>
      <p:ext uri="{BB962C8B-B14F-4D97-AF65-F5344CB8AC3E}">
        <p14:creationId xmlns:p14="http://schemas.microsoft.com/office/powerpoint/2010/main" val="3427305495"/>
      </p:ext>
    </p:extLst>
  </p:cSld>
  <p:clrMapOvr>
    <a:masterClrMapping/>
  </p:clrMapOvr>
  <p:transition spd="slow"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77480" y="2548307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I borrow $P for T years</a:t>
            </a:r>
            <a:r>
              <a:rPr lang="en-AU" sz="2400" b="1" dirty="0"/>
              <a:t> </a:t>
            </a:r>
            <a:r>
              <a:rPr lang="en-AU" sz="2400" dirty="0"/>
              <a:t>and the interest is R% per annum.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2403" y="3490098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the amount of interest I pay is equal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792" y="4001522"/>
            <a:ext cx="4714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</a:t>
            </a:r>
            <a:endParaRPr lang="en-AU" sz="7200" u="sng" dirty="0"/>
          </a:p>
          <a:p>
            <a:pPr algn="ctr"/>
            <a:r>
              <a:rPr lang="en-AU" sz="7200" dirty="0"/>
              <a:t>      </a:t>
            </a:r>
          </a:p>
          <a:p>
            <a:pPr algn="ctr"/>
            <a:endParaRPr lang="en-AU" sz="7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80806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C18DC9-2254-42C8-AC1A-8280B50E8367}"/>
              </a:ext>
            </a:extLst>
          </p:cNvPr>
          <p:cNvSpPr txBox="1"/>
          <p:nvPr/>
        </p:nvSpPr>
        <p:spPr>
          <a:xfrm>
            <a:off x="1763691" y="1399880"/>
            <a:ext cx="7488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Principal: The amount you either borrow or invest</a:t>
            </a:r>
          </a:p>
          <a:p>
            <a:r>
              <a:rPr lang="en-AU" sz="2000" dirty="0"/>
              <a:t>Rate: The percentage rate per annum (pa means per year)</a:t>
            </a:r>
          </a:p>
          <a:p>
            <a:r>
              <a:rPr lang="en-AU" sz="2000" dirty="0"/>
              <a:t>Time: The number of years you borrow or invest the principal.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88EA5-DE49-4AB7-98AD-99E3527D9BF0}"/>
              </a:ext>
            </a:extLst>
          </p:cNvPr>
          <p:cNvSpPr txBox="1"/>
          <p:nvPr/>
        </p:nvSpPr>
        <p:spPr>
          <a:xfrm>
            <a:off x="55639" y="1737682"/>
            <a:ext cx="172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Key terms and equation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C4FEC51C-8754-46F0-A048-95582FCB2C4B}"/>
              </a:ext>
            </a:extLst>
          </p:cNvPr>
          <p:cNvSpPr/>
          <p:nvPr/>
        </p:nvSpPr>
        <p:spPr>
          <a:xfrm>
            <a:off x="6444208" y="5026318"/>
            <a:ext cx="1872207" cy="1643042"/>
          </a:xfrm>
          <a:prstGeom prst="borderCallout1">
            <a:avLst>
              <a:gd name="adj1" fmla="val 64649"/>
              <a:gd name="adj2" fmla="val 17346"/>
              <a:gd name="adj3" fmla="val -1971"/>
              <a:gd name="adj4" fmla="val -28262"/>
            </a:avLst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The Rate needs to be converted from a PERCENTAGE to a DECIMAL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79712" y="141462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the amount of interest I pay is equal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9420" y="1720840"/>
            <a:ext cx="4714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</a:t>
            </a:r>
          </a:p>
          <a:p>
            <a:pPr algn="ctr"/>
            <a:r>
              <a:rPr lang="en-AU" sz="7200" dirty="0"/>
              <a:t>     </a:t>
            </a:r>
          </a:p>
          <a:p>
            <a:pPr algn="ctr"/>
            <a:endParaRPr lang="en-AU" sz="7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63689" y="1274490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4023CF-9B5D-43B1-A5E6-89C68A930C70}"/>
              </a:ext>
            </a:extLst>
          </p:cNvPr>
          <p:cNvSpPr txBox="1"/>
          <p:nvPr/>
        </p:nvSpPr>
        <p:spPr>
          <a:xfrm>
            <a:off x="1979712" y="4814068"/>
            <a:ext cx="4392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Earning money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8E4F7-2FF8-428B-AF52-7380CBBB222B}"/>
              </a:ext>
            </a:extLst>
          </p:cNvPr>
          <p:cNvSpPr txBox="1"/>
          <p:nvPr/>
        </p:nvSpPr>
        <p:spPr>
          <a:xfrm>
            <a:off x="117864" y="4937105"/>
            <a:ext cx="1409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Investment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8A142-EF09-4555-93BC-5C3B626755B0}"/>
              </a:ext>
            </a:extLst>
          </p:cNvPr>
          <p:cNvSpPr txBox="1"/>
          <p:nvPr/>
        </p:nvSpPr>
        <p:spPr>
          <a:xfrm>
            <a:off x="354125" y="5675108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4C251-A4FE-4E39-8D7C-2A5AABAA2219}"/>
              </a:ext>
            </a:extLst>
          </p:cNvPr>
          <p:cNvSpPr txBox="1"/>
          <p:nvPr/>
        </p:nvSpPr>
        <p:spPr>
          <a:xfrm>
            <a:off x="1832288" y="5675108"/>
            <a:ext cx="5832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Borrowing money from the bank and paying more money back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878A9-3AD4-4D09-9CBB-6D31BEF4BE11}"/>
              </a:ext>
            </a:extLst>
          </p:cNvPr>
          <p:cNvSpPr txBox="1"/>
          <p:nvPr/>
        </p:nvSpPr>
        <p:spPr>
          <a:xfrm>
            <a:off x="1987551" y="4076065"/>
            <a:ext cx="278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p/a   means each year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4FA81-1346-434B-A28A-D356D06FFF6D}"/>
              </a:ext>
            </a:extLst>
          </p:cNvPr>
          <p:cNvSpPr txBox="1"/>
          <p:nvPr/>
        </p:nvSpPr>
        <p:spPr>
          <a:xfrm>
            <a:off x="135934" y="4150793"/>
            <a:ext cx="140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Per annum</a:t>
            </a:r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57B0CD59-7295-4677-B9F4-F6DAF3301F1A}"/>
              </a:ext>
            </a:extLst>
          </p:cNvPr>
          <p:cNvSpPr/>
          <p:nvPr/>
        </p:nvSpPr>
        <p:spPr>
          <a:xfrm>
            <a:off x="6667261" y="2833133"/>
            <a:ext cx="1872207" cy="1643042"/>
          </a:xfrm>
          <a:prstGeom prst="borderCallout1">
            <a:avLst>
              <a:gd name="adj1" fmla="val 64649"/>
              <a:gd name="adj2" fmla="val 17346"/>
              <a:gd name="adj3" fmla="val -1971"/>
              <a:gd name="adj4" fmla="val -28262"/>
            </a:avLst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The Rate needs to be converted from a PERCENTAGE to a DECIMAL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DFEB7-8D61-4D82-AFB0-679CD926A41B}"/>
              </a:ext>
            </a:extLst>
          </p:cNvPr>
          <p:cNvSpPr txBox="1"/>
          <p:nvPr/>
        </p:nvSpPr>
        <p:spPr>
          <a:xfrm>
            <a:off x="117864" y="2545206"/>
            <a:ext cx="1731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Convert between percentage to decimal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D0EADF-DA12-4255-90E4-FF1E62AEC31D}"/>
              </a:ext>
            </a:extLst>
          </p:cNvPr>
          <p:cNvSpPr txBox="1"/>
          <p:nvPr/>
        </p:nvSpPr>
        <p:spPr>
          <a:xfrm>
            <a:off x="1979712" y="3099205"/>
            <a:ext cx="4600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Divide by 100 (or move decimal point twice to the left)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A31B8-564B-4935-90D5-CB2C8D603E69}"/>
              </a:ext>
            </a:extLst>
          </p:cNvPr>
          <p:cNvSpPr txBox="1"/>
          <p:nvPr/>
        </p:nvSpPr>
        <p:spPr>
          <a:xfrm>
            <a:off x="6579945" y="260648"/>
            <a:ext cx="2456548" cy="646331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Add key words to your glossary!!!!!</a:t>
            </a:r>
          </a:p>
        </p:txBody>
      </p:sp>
    </p:spTree>
    <p:extLst>
      <p:ext uri="{BB962C8B-B14F-4D97-AF65-F5344CB8AC3E}">
        <p14:creationId xmlns:p14="http://schemas.microsoft.com/office/powerpoint/2010/main" val="76716424"/>
      </p:ext>
    </p:extLst>
  </p:cSld>
  <p:clrMapOvr>
    <a:masterClrMapping/>
  </p:clrMapOvr>
  <p:transition spd="slow">
    <p:wheel spokes="8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imple interest meme">
            <a:extLst>
              <a:ext uri="{FF2B5EF4-FFF2-40B4-BE49-F238E27FC236}">
                <a16:creationId xmlns:a16="http://schemas.microsoft.com/office/drawing/2014/main" id="{0C0C867E-A6AE-4361-86E1-C79C553FC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6"/>
            <a:ext cx="6485706" cy="583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954613"/>
      </p:ext>
    </p:extLst>
  </p:cSld>
  <p:clrMapOvr>
    <a:masterClrMapping/>
  </p:clrMapOvr>
  <p:transition spd="slow"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907588">
            <a:off x="357158" y="500042"/>
            <a:ext cx="4643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How it works……….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58" y="1571612"/>
            <a:ext cx="8143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I borrow $2000 (called the </a:t>
            </a:r>
            <a:r>
              <a:rPr lang="en-AU" b="1" dirty="0"/>
              <a:t>Principal, </a:t>
            </a:r>
            <a:r>
              <a:rPr lang="en-AU" dirty="0"/>
              <a:t>or</a:t>
            </a:r>
            <a:r>
              <a:rPr lang="en-AU" b="1" dirty="0"/>
              <a:t> “P”</a:t>
            </a:r>
            <a:r>
              <a:rPr lang="en-AU" dirty="0"/>
              <a:t>)</a:t>
            </a:r>
            <a:r>
              <a:rPr lang="en-AU" b="1" dirty="0"/>
              <a:t> </a:t>
            </a:r>
            <a:r>
              <a:rPr lang="en-AU" dirty="0"/>
              <a:t>and the interest is 15% per annum.</a:t>
            </a:r>
          </a:p>
          <a:p>
            <a:endParaRPr lang="en-AU" dirty="0"/>
          </a:p>
          <a:p>
            <a:r>
              <a:rPr lang="en-AU" dirty="0"/>
              <a:t>for one year </a:t>
            </a:r>
            <a:r>
              <a:rPr lang="en-AU" b="1" dirty="0"/>
              <a:t>(T = 1)</a:t>
            </a:r>
          </a:p>
          <a:p>
            <a:r>
              <a:rPr lang="en-AU" b="1" dirty="0"/>
              <a:t>15% as a decimal = 0.15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2524" y="3080145"/>
                <a:ext cx="81439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Then the amount of interest I pay is equal to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×0.15 ×1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24" y="3080145"/>
                <a:ext cx="8143932" cy="369332"/>
              </a:xfrm>
              <a:prstGeom prst="rect">
                <a:avLst/>
              </a:prstGeom>
              <a:blipFill>
                <a:blip r:embed="rId2"/>
                <a:stretch>
                  <a:fillRect l="-599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732240" y="3091213"/>
            <a:ext cx="2270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= $300.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1044F-16B5-4547-B253-E3B71DFAC98C}"/>
              </a:ext>
            </a:extLst>
          </p:cNvPr>
          <p:cNvSpPr txBox="1"/>
          <p:nvPr/>
        </p:nvSpPr>
        <p:spPr>
          <a:xfrm>
            <a:off x="971600" y="3573016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I paid off the loan in 1 year (T=1) the total I would have to give back to the bank would be </a:t>
            </a:r>
            <a:r>
              <a:rPr lang="en-AU" dirty="0">
                <a:solidFill>
                  <a:srgbClr val="FFFF00"/>
                </a:solidFill>
              </a:rPr>
              <a:t>$2,300 (principal amount + simple interest)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8E15B-17E2-4EF1-9AE8-EC38F50821F2}"/>
              </a:ext>
            </a:extLst>
          </p:cNvPr>
          <p:cNvSpPr txBox="1"/>
          <p:nvPr/>
        </p:nvSpPr>
        <p:spPr>
          <a:xfrm>
            <a:off x="179512" y="4349204"/>
            <a:ext cx="84969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What if I broke my hip and had to stop working for awhile so I couldn’t earn enough to pay it back in 1 year and instead it took me 5 years?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4D935-BC4A-460D-A8B9-BD7F28E43456}"/>
              </a:ext>
            </a:extLst>
          </p:cNvPr>
          <p:cNvSpPr txBox="1"/>
          <p:nvPr/>
        </p:nvSpPr>
        <p:spPr>
          <a:xfrm>
            <a:off x="4397781" y="510307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Everything else stays the same except </a:t>
            </a:r>
            <a:r>
              <a:rPr lang="en-AU" b="1" dirty="0">
                <a:solidFill>
                  <a:srgbClr val="00B0F0"/>
                </a:solidFill>
              </a:rPr>
              <a:t>T =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F60834-1529-493B-BC10-EB27FC20DE11}"/>
                  </a:ext>
                </a:extLst>
              </p:cNvPr>
              <p:cNvSpPr/>
              <p:nvPr/>
            </p:nvSpPr>
            <p:spPr>
              <a:xfrm>
                <a:off x="971600" y="5426708"/>
                <a:ext cx="27526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×0.15 ×5</m:t>
                    </m:r>
                  </m:oMath>
                </a14:m>
                <a:r>
                  <a:rPr lang="en-AU" dirty="0"/>
                  <a:t>= </a:t>
                </a:r>
                <a:r>
                  <a:rPr lang="en-AU" dirty="0">
                    <a:solidFill>
                      <a:srgbClr val="FFFF00"/>
                    </a:solidFill>
                  </a:rPr>
                  <a:t>$1,500</a:t>
                </a: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F60834-1529-493B-BC10-EB27FC20D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426708"/>
                <a:ext cx="2752677" cy="369332"/>
              </a:xfrm>
              <a:prstGeom prst="rect">
                <a:avLst/>
              </a:prstGeom>
              <a:blipFill>
                <a:blip r:embed="rId3"/>
                <a:stretch>
                  <a:fillRect t="-8197" r="-11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64DE62E-AAA7-44AC-8FD9-A3BCFC019A15}"/>
              </a:ext>
            </a:extLst>
          </p:cNvPr>
          <p:cNvSpPr txBox="1"/>
          <p:nvPr/>
        </p:nvSpPr>
        <p:spPr>
          <a:xfrm>
            <a:off x="2915816" y="6237312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Total to pay back to the bank</a:t>
            </a:r>
            <a:r>
              <a:rPr lang="en-AU" dirty="0">
                <a:solidFill>
                  <a:srgbClr val="FFFF00"/>
                </a:solidFill>
              </a:rPr>
              <a:t>: $3,500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614A1-6226-4352-BA31-9308F6F791C7}"/>
              </a:ext>
            </a:extLst>
          </p:cNvPr>
          <p:cNvSpPr txBox="1"/>
          <p:nvPr/>
        </p:nvSpPr>
        <p:spPr>
          <a:xfrm>
            <a:off x="5796136" y="188640"/>
            <a:ext cx="270495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You don’t need to write this just follow along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1" grpId="0" animBg="1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Lets Try it out!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346" y="1732451"/>
            <a:ext cx="5398822" cy="21285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AU" sz="2400" dirty="0"/>
              <a:t>P = $1,000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T=2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R = 20% convert to decimal </a:t>
            </a:r>
            <a:r>
              <a:rPr lang="en-AU" sz="2400" dirty="0">
                <a:latin typeface="Century Gothic" panose="020B0502020202020204" pitchFamily="34" charset="0"/>
              </a:rPr>
              <a:t>→</a:t>
            </a:r>
            <a:endParaRPr lang="en-AU" sz="2400" b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sz="2400" b="1" dirty="0"/>
              <a:t>Calculate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FFC3D-ED8B-4BD8-B6BE-B78C85630488}"/>
              </a:ext>
            </a:extLst>
          </p:cNvPr>
          <p:cNvSpPr txBox="1"/>
          <p:nvPr/>
        </p:nvSpPr>
        <p:spPr>
          <a:xfrm>
            <a:off x="4860032" y="278417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0.2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/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=1000×0.2×2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0F34F5-DC66-4D92-BDFE-28F771272F1B}"/>
              </a:ext>
            </a:extLst>
          </p:cNvPr>
          <p:cNvSpPr txBox="1"/>
          <p:nvPr/>
        </p:nvSpPr>
        <p:spPr>
          <a:xfrm>
            <a:off x="1693126" y="3673768"/>
            <a:ext cx="4422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solidFill>
                  <a:srgbClr val="FFFF00"/>
                </a:solidFill>
              </a:rPr>
              <a:t>I = PRT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/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</m:oMath>
                  </m:oMathPara>
                </a14:m>
                <a:endParaRPr lang="en-AU" sz="2400" dirty="0">
                  <a:solidFill>
                    <a:srgbClr val="FFFF00"/>
                  </a:solidFill>
                </a:endParaRPr>
              </a:p>
              <a:p>
                <a:endParaRPr lang="en-AU" sz="2400" dirty="0">
                  <a:solidFill>
                    <a:srgbClr val="FFFF00"/>
                  </a:solidFill>
                </a:endParaRPr>
              </a:p>
              <a:p>
                <a:r>
                  <a:rPr lang="en-AU" sz="2400" dirty="0">
                    <a:solidFill>
                      <a:srgbClr val="FFFF00"/>
                    </a:solidFill>
                  </a:rPr>
                  <a:t>Simple interest earned is $400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blipFill>
                <a:blip r:embed="rId4"/>
                <a:stretch>
                  <a:fillRect l="-2125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06EEBBC-1122-4E4E-9004-DFB4C0A1868D}"/>
              </a:ext>
            </a:extLst>
          </p:cNvPr>
          <p:cNvSpPr txBox="1"/>
          <p:nvPr/>
        </p:nvSpPr>
        <p:spPr>
          <a:xfrm>
            <a:off x="6497903" y="1732451"/>
            <a:ext cx="2106545" cy="175432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you try with a partner : </a:t>
            </a:r>
          </a:p>
          <a:p>
            <a:endParaRPr lang="en-AU" dirty="0"/>
          </a:p>
          <a:p>
            <a:r>
              <a:rPr lang="en-AU" dirty="0"/>
              <a:t>P = $1,500</a:t>
            </a:r>
          </a:p>
          <a:p>
            <a:r>
              <a:rPr lang="en-AU" dirty="0"/>
              <a:t>T = 3</a:t>
            </a:r>
          </a:p>
          <a:p>
            <a:r>
              <a:rPr lang="en-AU" dirty="0"/>
              <a:t>R= 15%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1007</TotalTime>
  <Words>529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Berlin Sans FB</vt:lpstr>
      <vt:lpstr>Calibri</vt:lpstr>
      <vt:lpstr>Calisto MT</vt:lpstr>
      <vt:lpstr>Cambria Math</vt:lpstr>
      <vt:lpstr>Century Gothic</vt:lpstr>
      <vt:lpstr>Trebuchet MS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Try it out!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BGGS</dc:creator>
  <cp:lastModifiedBy>E4092707</cp:lastModifiedBy>
  <cp:revision>32</cp:revision>
  <cp:lastPrinted>1601-01-01T00:00:00Z</cp:lastPrinted>
  <dcterms:created xsi:type="dcterms:W3CDTF">2001-02-14T02:34:26Z</dcterms:created>
  <dcterms:modified xsi:type="dcterms:W3CDTF">2018-02-01T23:32:58Z</dcterms:modified>
</cp:coreProperties>
</file>
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72" r:id="rId7"/>
    <p:sldId id="261" r:id="rId8"/>
    <p:sldId id="264" r:id="rId9"/>
    <p:sldId id="266" r:id="rId10"/>
    <p:sldId id="276" r:id="rId11"/>
    <p:sldId id="273" r:id="rId12"/>
    <p:sldId id="274" r:id="rId13"/>
    <p:sldId id="275" r:id="rId14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91" autoAdjust="0"/>
    <p:restoredTop sz="94660"/>
  </p:normalViewPr>
  <p:slideViewPr>
    <p:cSldViewPr snapToGrid="0">
      <p:cViewPr varScale="1">
        <p:scale>
          <a:sx n="82" d="100"/>
          <a:sy n="82" d="100"/>
        </p:scale>
        <p:origin x="24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3FDDF-AC33-48E9-8A5D-98AF07B56FA6}" type="datetimeFigureOut">
              <a:rPr lang="en-AU" smtClean="0"/>
              <a:t>17/06/2018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DA40-49E6-42E1-BCBD-F8F6408B39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1734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3FDDF-AC33-48E9-8A5D-98AF07B56FA6}" type="datetimeFigureOut">
              <a:rPr lang="en-AU" smtClean="0"/>
              <a:t>17/06/2018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DA40-49E6-42E1-BCBD-F8F6408B39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8345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3FDDF-AC33-48E9-8A5D-98AF07B56FA6}" type="datetimeFigureOut">
              <a:rPr lang="en-AU" smtClean="0"/>
              <a:t>17/06/2018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DA40-49E6-42E1-BCBD-F8F6408B39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68380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3FDDF-AC33-48E9-8A5D-98AF07B56FA6}" type="datetimeFigureOut">
              <a:rPr lang="en-AU" smtClean="0"/>
              <a:t>17/06/2018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DA40-49E6-42E1-BCBD-F8F6408B39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3606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3FDDF-AC33-48E9-8A5D-98AF07B56FA6}" type="datetimeFigureOut">
              <a:rPr lang="en-AU" smtClean="0"/>
              <a:t>17/06/2018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DA40-49E6-42E1-BCBD-F8F6408B39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8966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3FDDF-AC33-48E9-8A5D-98AF07B56FA6}" type="datetimeFigureOut">
              <a:rPr lang="en-AU" smtClean="0"/>
              <a:t>17/06/2018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DA40-49E6-42E1-BCBD-F8F6408B39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6227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3FDDF-AC33-48E9-8A5D-98AF07B56FA6}" type="datetimeFigureOut">
              <a:rPr lang="en-AU" smtClean="0"/>
              <a:t>17/06/2018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DA40-49E6-42E1-BCBD-F8F6408B39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2625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3FDDF-AC33-48E9-8A5D-98AF07B56FA6}" type="datetimeFigureOut">
              <a:rPr lang="en-AU" smtClean="0"/>
              <a:t>17/06/2018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DA40-49E6-42E1-BCBD-F8F6408B39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0548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3FDDF-AC33-48E9-8A5D-98AF07B56FA6}" type="datetimeFigureOut">
              <a:rPr lang="en-AU" smtClean="0"/>
              <a:t>17/06/2018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DA40-49E6-42E1-BCBD-F8F6408B39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1416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3FDDF-AC33-48E9-8A5D-98AF07B56FA6}" type="datetimeFigureOut">
              <a:rPr lang="en-AU" smtClean="0"/>
              <a:t>17/06/2018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DA40-49E6-42E1-BCBD-F8F6408B39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6620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3FDDF-AC33-48E9-8A5D-98AF07B56FA6}" type="datetimeFigureOut">
              <a:rPr lang="en-AU" smtClean="0"/>
              <a:t>17/06/2018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ADA40-49E6-42E1-BCBD-F8F6408B39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8891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43FDDF-AC33-48E9-8A5D-98AF07B56FA6}" type="datetimeFigureOut">
              <a:rPr lang="en-AU" smtClean="0"/>
              <a:t>17/06/2018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ADA40-49E6-42E1-BCBD-F8F6408B399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0637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958BD-6979-4362-ACD0-8033CD1DBA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Geometric Proofs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70B040-B420-4E48-B75C-88B34CE147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L.O. Understand what a geometric proof is and use proofs to explain answers</a:t>
            </a:r>
          </a:p>
        </p:txBody>
      </p:sp>
    </p:spTree>
    <p:extLst>
      <p:ext uri="{BB962C8B-B14F-4D97-AF65-F5344CB8AC3E}">
        <p14:creationId xmlns:p14="http://schemas.microsoft.com/office/powerpoint/2010/main" val="1664788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5A38A-3476-4CE0-9595-24B345436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Start up.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5C541-A4E0-4448-B805-5E333FF37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75877"/>
            <a:ext cx="7886700" cy="600523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Find the value of the pronumeral in each of these.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8931B6-0257-4A34-9C16-A68422CF6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547446"/>
            <a:ext cx="1543050" cy="1447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B40835-62BC-44A9-A013-0A4EC182C4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4281" y="1718550"/>
            <a:ext cx="1857375" cy="9239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C3D0CA-27CD-4E54-9030-2AF274FBAD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016" y="1511911"/>
            <a:ext cx="1524000" cy="16478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2BA375-CFFE-45C2-BD9A-52CE4D2929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3356463"/>
            <a:ext cx="2012555" cy="11217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781EF8-1671-4D6C-AA3F-8BE0399AAD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95336" y="2831489"/>
            <a:ext cx="2816769" cy="16467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DE8B73-DA43-40DF-A482-545E6B2F1A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6236" y="3336741"/>
            <a:ext cx="2790825" cy="11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526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30B1B-3C57-462E-83AC-3A232E8BA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096" y="1899403"/>
            <a:ext cx="7886700" cy="539791"/>
          </a:xfrm>
        </p:spPr>
        <p:txBody>
          <a:bodyPr>
            <a:normAutofit fontScale="90000"/>
          </a:bodyPr>
          <a:lstStyle/>
          <a:p>
            <a:r>
              <a:rPr lang="en-AU" dirty="0"/>
              <a:t>How do you know?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2503D0-247A-48BF-8230-59200EC74CCA}"/>
              </a:ext>
            </a:extLst>
          </p:cNvPr>
          <p:cNvSpPr/>
          <p:nvPr/>
        </p:nvSpPr>
        <p:spPr>
          <a:xfrm>
            <a:off x="3247294" y="797699"/>
            <a:ext cx="914400" cy="9144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C7BE64B-4581-4297-818A-FDE4EC235334}"/>
              </a:ext>
            </a:extLst>
          </p:cNvPr>
          <p:cNvSpPr txBox="1">
            <a:spLocks/>
          </p:cNvSpPr>
          <p:nvPr/>
        </p:nvSpPr>
        <p:spPr>
          <a:xfrm>
            <a:off x="652096" y="175317"/>
            <a:ext cx="7886700" cy="5397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/>
              <a:t>Is this a square?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61B16AF-E689-433D-8DDA-87E5E8B6E4D9}"/>
              </a:ext>
            </a:extLst>
          </p:cNvPr>
          <p:cNvSpPr txBox="1">
            <a:spLocks/>
          </p:cNvSpPr>
          <p:nvPr/>
        </p:nvSpPr>
        <p:spPr>
          <a:xfrm>
            <a:off x="652096" y="2405348"/>
            <a:ext cx="7886700" cy="5397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/>
              <a:t>How about now?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2786FEA-B431-444B-94B0-8BF511410676}"/>
              </a:ext>
            </a:extLst>
          </p:cNvPr>
          <p:cNvCxnSpPr/>
          <p:nvPr/>
        </p:nvCxnSpPr>
        <p:spPr>
          <a:xfrm>
            <a:off x="3704494" y="738290"/>
            <a:ext cx="0" cy="21101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4DFB8A7-5299-48BE-9FEC-8C6CC86D0169}"/>
              </a:ext>
            </a:extLst>
          </p:cNvPr>
          <p:cNvCxnSpPr>
            <a:cxnSpLocks/>
          </p:cNvCxnSpPr>
          <p:nvPr/>
        </p:nvCxnSpPr>
        <p:spPr>
          <a:xfrm>
            <a:off x="3165233" y="1254899"/>
            <a:ext cx="18757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A91CC0EB-EE3A-4C36-A202-B092757A474B}"/>
              </a:ext>
            </a:extLst>
          </p:cNvPr>
          <p:cNvSpPr/>
          <p:nvPr/>
        </p:nvSpPr>
        <p:spPr>
          <a:xfrm>
            <a:off x="3259018" y="797699"/>
            <a:ext cx="211013" cy="175316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FAA503-5C71-4AC3-ABFB-8D0D87174DFA}"/>
              </a:ext>
            </a:extLst>
          </p:cNvPr>
          <p:cNvSpPr/>
          <p:nvPr/>
        </p:nvSpPr>
        <p:spPr>
          <a:xfrm>
            <a:off x="3950681" y="1536783"/>
            <a:ext cx="211013" cy="175316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EDB20A-F521-4DDF-A3A7-536D27FADC1B}"/>
              </a:ext>
            </a:extLst>
          </p:cNvPr>
          <p:cNvSpPr/>
          <p:nvPr/>
        </p:nvSpPr>
        <p:spPr>
          <a:xfrm>
            <a:off x="3938958" y="809687"/>
            <a:ext cx="211013" cy="175316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A925C-16F7-4D86-8F1F-ECE6C466E403}"/>
              </a:ext>
            </a:extLst>
          </p:cNvPr>
          <p:cNvSpPr/>
          <p:nvPr/>
        </p:nvSpPr>
        <p:spPr>
          <a:xfrm>
            <a:off x="3247296" y="1536783"/>
            <a:ext cx="211013" cy="175316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0A18CD1-6B1D-4BBE-AA82-C421F71C7718}"/>
              </a:ext>
            </a:extLst>
          </p:cNvPr>
          <p:cNvCxnSpPr/>
          <p:nvPr/>
        </p:nvCxnSpPr>
        <p:spPr>
          <a:xfrm>
            <a:off x="3704494" y="1606591"/>
            <a:ext cx="0" cy="21101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0CF4839-1936-4D32-8551-0F288BB1D89C}"/>
              </a:ext>
            </a:extLst>
          </p:cNvPr>
          <p:cNvCxnSpPr>
            <a:cxnSpLocks/>
          </p:cNvCxnSpPr>
          <p:nvPr/>
        </p:nvCxnSpPr>
        <p:spPr>
          <a:xfrm>
            <a:off x="4067909" y="1254899"/>
            <a:ext cx="18757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8988413-F22A-4CD5-AD0C-E1B6B3B324ED}"/>
              </a:ext>
            </a:extLst>
          </p:cNvPr>
          <p:cNvSpPr txBox="1"/>
          <p:nvPr/>
        </p:nvSpPr>
        <p:spPr>
          <a:xfrm>
            <a:off x="762000" y="3552250"/>
            <a:ext cx="94188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So how do you explain why you know it is a square?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A81C09-82C4-4B5E-B85A-724F6384A261}"/>
              </a:ext>
            </a:extLst>
          </p:cNvPr>
          <p:cNvSpPr txBox="1"/>
          <p:nvPr/>
        </p:nvSpPr>
        <p:spPr>
          <a:xfrm>
            <a:off x="1617784" y="4018376"/>
            <a:ext cx="63187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Because  - It is a 4 sided shape</a:t>
            </a:r>
          </a:p>
          <a:p>
            <a:r>
              <a:rPr lang="en-AU" sz="2400" dirty="0"/>
              <a:t>Because  - All sides are the same length</a:t>
            </a:r>
          </a:p>
          <a:p>
            <a:r>
              <a:rPr lang="en-AU" sz="2400" dirty="0"/>
              <a:t>Because  -  All angles are right angle</a:t>
            </a:r>
          </a:p>
          <a:p>
            <a:r>
              <a:rPr lang="en-AU" sz="2400" dirty="0"/>
              <a:t>         Therefore it must be a square.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188DD6F0-6D65-4A40-976F-668BE0539CEB}"/>
              </a:ext>
            </a:extLst>
          </p:cNvPr>
          <p:cNvSpPr txBox="1">
            <a:spLocks/>
          </p:cNvSpPr>
          <p:nvPr/>
        </p:nvSpPr>
        <p:spPr>
          <a:xfrm>
            <a:off x="652096" y="2909305"/>
            <a:ext cx="7886700" cy="5397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/>
              <a:t>What about now?</a:t>
            </a:r>
          </a:p>
        </p:txBody>
      </p:sp>
    </p:spTree>
    <p:extLst>
      <p:ext uri="{BB962C8B-B14F-4D97-AF65-F5344CB8AC3E}">
        <p14:creationId xmlns:p14="http://schemas.microsoft.com/office/powerpoint/2010/main" val="3964465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 animBg="1"/>
      <p:bldP spid="14" grpId="0" animBg="1"/>
      <p:bldP spid="15" grpId="0" animBg="1"/>
      <p:bldP spid="16" grpId="0" animBg="1"/>
      <p:bldP spid="19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946FF26-9D41-411B-AE10-B8657249F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5900" y="911063"/>
            <a:ext cx="3343275" cy="150495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1D9F6F5-5AC4-4A27-9A3A-44DD0355E20B}"/>
              </a:ext>
            </a:extLst>
          </p:cNvPr>
          <p:cNvSpPr txBox="1">
            <a:spLocks/>
          </p:cNvSpPr>
          <p:nvPr/>
        </p:nvSpPr>
        <p:spPr>
          <a:xfrm>
            <a:off x="652096" y="175317"/>
            <a:ext cx="7886700" cy="5397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/>
              <a:t>How do we know the angle is 40</a:t>
            </a:r>
            <a:r>
              <a:rPr lang="en-AU" baseline="30000" dirty="0"/>
              <a:t>o</a:t>
            </a:r>
            <a:r>
              <a:rPr lang="en-AU" dirty="0"/>
              <a:t>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4D87E3-43BA-49CF-BB65-009BB9CA933F}"/>
              </a:ext>
            </a:extLst>
          </p:cNvPr>
          <p:cNvSpPr txBox="1"/>
          <p:nvPr/>
        </p:nvSpPr>
        <p:spPr>
          <a:xfrm>
            <a:off x="422031" y="2822622"/>
            <a:ext cx="73327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Because  - It is a triangle</a:t>
            </a:r>
          </a:p>
          <a:p>
            <a:r>
              <a:rPr lang="en-AU" sz="2400" dirty="0"/>
              <a:t>Because  - The angles in triangles always add to get 180</a:t>
            </a:r>
            <a:r>
              <a:rPr lang="en-AU" sz="2400" baseline="30000" dirty="0"/>
              <a:t>o</a:t>
            </a:r>
            <a:r>
              <a:rPr lang="en-AU" sz="2400" dirty="0"/>
              <a:t>.</a:t>
            </a:r>
          </a:p>
          <a:p>
            <a:r>
              <a:rPr lang="en-AU" sz="2400" dirty="0"/>
              <a:t>Because  -  120</a:t>
            </a:r>
            <a:r>
              <a:rPr lang="en-AU" sz="2400" baseline="30000" dirty="0"/>
              <a:t>o</a:t>
            </a:r>
            <a:r>
              <a:rPr lang="en-AU" sz="2400" dirty="0"/>
              <a:t> + 20</a:t>
            </a:r>
            <a:r>
              <a:rPr lang="en-AU" sz="2400" baseline="30000" dirty="0"/>
              <a:t>o</a:t>
            </a:r>
            <a:r>
              <a:rPr lang="en-AU" sz="2400" dirty="0"/>
              <a:t> + </a:t>
            </a:r>
            <a:r>
              <a:rPr lang="en-AU" sz="2400" i="1" dirty="0"/>
              <a:t>x</a:t>
            </a:r>
            <a:r>
              <a:rPr lang="en-AU" sz="2400" baseline="30000" dirty="0"/>
              <a:t>o</a:t>
            </a:r>
            <a:r>
              <a:rPr lang="en-AU" sz="2400" dirty="0"/>
              <a:t> = 180</a:t>
            </a:r>
            <a:r>
              <a:rPr lang="en-AU" sz="2400" baseline="30000" dirty="0"/>
              <a:t>o</a:t>
            </a:r>
            <a:endParaRPr lang="en-AU" sz="2400" dirty="0"/>
          </a:p>
          <a:p>
            <a:r>
              <a:rPr lang="en-AU" sz="2400" dirty="0"/>
              <a:t>         Therefore </a:t>
            </a:r>
            <a:r>
              <a:rPr lang="en-AU" sz="2400" i="1" dirty="0"/>
              <a:t>x</a:t>
            </a:r>
            <a:r>
              <a:rPr lang="en-AU" sz="2400" baseline="30000" dirty="0"/>
              <a:t>o</a:t>
            </a:r>
            <a:r>
              <a:rPr lang="en-AU" sz="2400" i="1" dirty="0"/>
              <a:t> </a:t>
            </a:r>
            <a:r>
              <a:rPr lang="en-AU" sz="2400" dirty="0"/>
              <a:t>must equal 40.</a:t>
            </a:r>
          </a:p>
        </p:txBody>
      </p:sp>
    </p:spTree>
    <p:extLst>
      <p:ext uri="{BB962C8B-B14F-4D97-AF65-F5344CB8AC3E}">
        <p14:creationId xmlns:p14="http://schemas.microsoft.com/office/powerpoint/2010/main" val="445732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9B4C6C4-C72A-4C9C-BE11-534A74E60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478" y="627185"/>
            <a:ext cx="2657475" cy="25146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D08C72E-5CBA-4A9C-969A-AA14A0BDF792}"/>
              </a:ext>
            </a:extLst>
          </p:cNvPr>
          <p:cNvSpPr txBox="1">
            <a:spLocks/>
          </p:cNvSpPr>
          <p:nvPr/>
        </p:nvSpPr>
        <p:spPr>
          <a:xfrm>
            <a:off x="652096" y="175317"/>
            <a:ext cx="7886700" cy="5397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/>
              <a:t>How do we know angle a is 15</a:t>
            </a:r>
            <a:r>
              <a:rPr lang="en-AU" baseline="30000" dirty="0"/>
              <a:t>o</a:t>
            </a:r>
            <a:r>
              <a:rPr lang="en-AU" dirty="0"/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B22EE7-8AD4-49C8-A8DE-141D58BF489C}"/>
              </a:ext>
            </a:extLst>
          </p:cNvPr>
          <p:cNvSpPr txBox="1"/>
          <p:nvPr/>
        </p:nvSpPr>
        <p:spPr>
          <a:xfrm>
            <a:off x="422031" y="2822622"/>
            <a:ext cx="73327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Because  - It is a right angle</a:t>
            </a:r>
          </a:p>
          <a:p>
            <a:r>
              <a:rPr lang="en-AU" sz="2400" dirty="0"/>
              <a:t>Because  - Right angles always add to get 90</a:t>
            </a:r>
            <a:r>
              <a:rPr lang="en-AU" sz="2400" baseline="30000" dirty="0"/>
              <a:t>o</a:t>
            </a:r>
            <a:r>
              <a:rPr lang="en-AU" sz="2400" dirty="0"/>
              <a:t>.</a:t>
            </a:r>
          </a:p>
          <a:p>
            <a:r>
              <a:rPr lang="en-AU" sz="2400" dirty="0"/>
              <a:t>Because  -  30</a:t>
            </a:r>
            <a:r>
              <a:rPr lang="en-AU" sz="2400" baseline="30000" dirty="0"/>
              <a:t>o</a:t>
            </a:r>
            <a:r>
              <a:rPr lang="en-AU" sz="2400" dirty="0"/>
              <a:t> + 35</a:t>
            </a:r>
            <a:r>
              <a:rPr lang="en-AU" sz="2400" baseline="30000" dirty="0"/>
              <a:t>o</a:t>
            </a:r>
            <a:r>
              <a:rPr lang="en-AU" sz="2400" dirty="0"/>
              <a:t> + </a:t>
            </a:r>
            <a:r>
              <a:rPr lang="en-AU" sz="2400" i="1" dirty="0" err="1"/>
              <a:t>a</a:t>
            </a:r>
            <a:r>
              <a:rPr lang="en-AU" sz="2400" baseline="30000" dirty="0" err="1"/>
              <a:t>o</a:t>
            </a:r>
            <a:r>
              <a:rPr lang="en-AU" sz="2400" dirty="0"/>
              <a:t> = 90</a:t>
            </a:r>
            <a:r>
              <a:rPr lang="en-AU" sz="2400" baseline="30000" dirty="0"/>
              <a:t>o</a:t>
            </a:r>
            <a:endParaRPr lang="en-AU" sz="2400" dirty="0"/>
          </a:p>
          <a:p>
            <a:r>
              <a:rPr lang="en-AU" sz="2400" dirty="0"/>
              <a:t>         Therefore </a:t>
            </a:r>
            <a:r>
              <a:rPr lang="en-AU" sz="2400" i="1" dirty="0" err="1"/>
              <a:t>a</a:t>
            </a:r>
            <a:r>
              <a:rPr lang="en-AU" sz="2400" baseline="30000" dirty="0" err="1"/>
              <a:t>o</a:t>
            </a:r>
            <a:r>
              <a:rPr lang="en-AU" sz="2400" i="1" dirty="0"/>
              <a:t> </a:t>
            </a:r>
            <a:r>
              <a:rPr lang="en-AU" sz="2400" dirty="0"/>
              <a:t>must equal 15.</a:t>
            </a:r>
          </a:p>
        </p:txBody>
      </p:sp>
    </p:spTree>
    <p:extLst>
      <p:ext uri="{BB962C8B-B14F-4D97-AF65-F5344CB8AC3E}">
        <p14:creationId xmlns:p14="http://schemas.microsoft.com/office/powerpoint/2010/main" val="1285287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348EB-5A31-4403-94C5-343BCDC97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516344"/>
          </a:xfrm>
        </p:spPr>
        <p:txBody>
          <a:bodyPr>
            <a:normAutofit fontScale="90000"/>
          </a:bodyPr>
          <a:lstStyle/>
          <a:p>
            <a:r>
              <a:rPr lang="en-AU" dirty="0"/>
              <a:t>Similarity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03FF8-B16E-4FA2-9360-7BF1A6960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11" y="809188"/>
            <a:ext cx="7886700" cy="43401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Last lesson we learnt about Similarity</a:t>
            </a:r>
          </a:p>
          <a:p>
            <a:pPr marL="0" indent="0">
              <a:buNone/>
            </a:pPr>
            <a:r>
              <a:rPr lang="en-AU" dirty="0"/>
              <a:t>	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82BB13-A92F-4509-874A-906CB2CBE03F}"/>
              </a:ext>
            </a:extLst>
          </p:cNvPr>
          <p:cNvSpPr txBox="1"/>
          <p:nvPr/>
        </p:nvSpPr>
        <p:spPr>
          <a:xfrm>
            <a:off x="776463" y="1407429"/>
            <a:ext cx="64087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Two triangles are similar if they obey </a:t>
            </a:r>
            <a:r>
              <a:rPr lang="en-AU" b="1" dirty="0"/>
              <a:t>ANY ONE </a:t>
            </a:r>
            <a:r>
              <a:rPr lang="en-AU" dirty="0"/>
              <a:t>of these conditions: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86E15F-ADA6-4CEC-9A8F-716AF3C4D603}"/>
              </a:ext>
            </a:extLst>
          </p:cNvPr>
          <p:cNvSpPr txBox="1"/>
          <p:nvPr/>
        </p:nvSpPr>
        <p:spPr>
          <a:xfrm>
            <a:off x="1177534" y="2090269"/>
            <a:ext cx="2592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Either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A851B8-9F9C-4C40-89A5-964BD1447822}"/>
              </a:ext>
            </a:extLst>
          </p:cNvPr>
          <p:cNvSpPr txBox="1"/>
          <p:nvPr/>
        </p:nvSpPr>
        <p:spPr>
          <a:xfrm>
            <a:off x="1922585" y="2090269"/>
            <a:ext cx="6616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(1) Two angles on one triangle are equal to two angles on the other </a:t>
            </a:r>
            <a:r>
              <a:rPr lang="en-AU" dirty="0">
                <a:solidFill>
                  <a:srgbClr val="FF0000"/>
                </a:solidFill>
              </a:rPr>
              <a:t>(AA)</a:t>
            </a: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E479C5-CFE4-4546-B0A0-ADD5BA9A29C3}"/>
              </a:ext>
            </a:extLst>
          </p:cNvPr>
          <p:cNvSpPr txBox="1"/>
          <p:nvPr/>
        </p:nvSpPr>
        <p:spPr>
          <a:xfrm>
            <a:off x="1177534" y="2748448"/>
            <a:ext cx="2592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E51C1B-163F-4B68-8A91-2DCA0A5B7DF8}"/>
              </a:ext>
            </a:extLst>
          </p:cNvPr>
          <p:cNvSpPr txBox="1"/>
          <p:nvPr/>
        </p:nvSpPr>
        <p:spPr>
          <a:xfrm>
            <a:off x="1177534" y="3268184"/>
            <a:ext cx="2592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Or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397250-E1B7-4852-9E6F-0F1158273BEF}"/>
              </a:ext>
            </a:extLst>
          </p:cNvPr>
          <p:cNvSpPr/>
          <p:nvPr/>
        </p:nvSpPr>
        <p:spPr>
          <a:xfrm>
            <a:off x="464527" y="1083479"/>
            <a:ext cx="72080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Similar triangles are triangles having the same </a:t>
            </a:r>
            <a:r>
              <a:rPr lang="en-AU" i="1" dirty="0"/>
              <a:t>shape </a:t>
            </a:r>
            <a:r>
              <a:rPr lang="en-AU" dirty="0"/>
              <a:t>but different </a:t>
            </a:r>
            <a:r>
              <a:rPr lang="en-AU" i="1" dirty="0"/>
              <a:t>size.</a:t>
            </a:r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958AF2-642F-4339-8782-C2309F2FDAC0}"/>
              </a:ext>
            </a:extLst>
          </p:cNvPr>
          <p:cNvSpPr txBox="1"/>
          <p:nvPr/>
        </p:nvSpPr>
        <p:spPr>
          <a:xfrm>
            <a:off x="1922584" y="2794615"/>
            <a:ext cx="7383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(2) All three pairs of sides have the same scale factor </a:t>
            </a:r>
            <a:r>
              <a:rPr lang="en-AU" dirty="0">
                <a:solidFill>
                  <a:srgbClr val="FF0000"/>
                </a:solidFill>
              </a:rPr>
              <a:t>(SSS)</a:t>
            </a:r>
            <a:endParaRPr lang="en-A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BC6EFF-66F9-421D-8048-6DF66B722549}"/>
              </a:ext>
            </a:extLst>
          </p:cNvPr>
          <p:cNvSpPr txBox="1"/>
          <p:nvPr/>
        </p:nvSpPr>
        <p:spPr>
          <a:xfrm>
            <a:off x="1957862" y="3292836"/>
            <a:ext cx="6844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(3) Two pairs of sides have the same scale factor, </a:t>
            </a:r>
            <a:r>
              <a:rPr lang="en-AU" b="1" dirty="0"/>
              <a:t>AND </a:t>
            </a:r>
            <a:r>
              <a:rPr lang="en-AU" dirty="0"/>
              <a:t>the angle between them are equal</a:t>
            </a:r>
            <a:r>
              <a:rPr lang="en-AU" dirty="0">
                <a:solidFill>
                  <a:srgbClr val="FF0000"/>
                </a:solidFill>
              </a:rPr>
              <a:t> (SAS)</a:t>
            </a:r>
            <a:endParaRPr lang="en-A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4D714E-6B1B-44AC-86E6-7768D0299E53}"/>
              </a:ext>
            </a:extLst>
          </p:cNvPr>
          <p:cNvSpPr txBox="1"/>
          <p:nvPr/>
        </p:nvSpPr>
        <p:spPr>
          <a:xfrm>
            <a:off x="1957861" y="3969946"/>
            <a:ext cx="6844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(4) In a right angled triangle only, the hypotenuses and one other pair of sides have the same scale factor. </a:t>
            </a:r>
            <a:r>
              <a:rPr lang="en-AU" dirty="0">
                <a:solidFill>
                  <a:srgbClr val="FF0000"/>
                </a:solidFill>
              </a:rPr>
              <a:t>(RHS)</a:t>
            </a:r>
            <a:endParaRPr lang="en-A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7F8000-59F0-4FB9-866F-836F7DC77EEF}"/>
              </a:ext>
            </a:extLst>
          </p:cNvPr>
          <p:cNvSpPr txBox="1"/>
          <p:nvPr/>
        </p:nvSpPr>
        <p:spPr>
          <a:xfrm>
            <a:off x="1177534" y="3965592"/>
            <a:ext cx="2592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3661033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173202D-7731-4E0B-BFD5-83FBCD396E2E}"/>
              </a:ext>
            </a:extLst>
          </p:cNvPr>
          <p:cNvCxnSpPr/>
          <p:nvPr/>
        </p:nvCxnSpPr>
        <p:spPr>
          <a:xfrm>
            <a:off x="0" y="74626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8061F7B-CB80-494E-945D-4F45A3B117C0}"/>
              </a:ext>
            </a:extLst>
          </p:cNvPr>
          <p:cNvCxnSpPr/>
          <p:nvPr/>
        </p:nvCxnSpPr>
        <p:spPr>
          <a:xfrm>
            <a:off x="0" y="125840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4A98E95-C4FC-4B23-B9BE-FC619FBBDCA6}"/>
              </a:ext>
            </a:extLst>
          </p:cNvPr>
          <p:cNvCxnSpPr>
            <a:cxnSpLocks/>
          </p:cNvCxnSpPr>
          <p:nvPr/>
        </p:nvCxnSpPr>
        <p:spPr>
          <a:xfrm>
            <a:off x="1659850" y="1308878"/>
            <a:ext cx="0" cy="442090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9EEBF07-6530-478C-9A7D-EC278755BF3C}"/>
              </a:ext>
            </a:extLst>
          </p:cNvPr>
          <p:cNvSpPr txBox="1"/>
          <p:nvPr/>
        </p:nvSpPr>
        <p:spPr>
          <a:xfrm>
            <a:off x="971600" y="242210"/>
            <a:ext cx="11135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Proofs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191581-EF2B-4C02-A348-19AC4CF6FBDD}"/>
              </a:ext>
            </a:extLst>
          </p:cNvPr>
          <p:cNvSpPr txBox="1"/>
          <p:nvPr/>
        </p:nvSpPr>
        <p:spPr>
          <a:xfrm>
            <a:off x="107860" y="796740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we write a proof?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E07433-6124-455D-A4FA-EAA64DE24BF0}"/>
              </a:ext>
            </a:extLst>
          </p:cNvPr>
          <p:cNvSpPr txBox="1"/>
          <p:nvPr/>
        </p:nvSpPr>
        <p:spPr>
          <a:xfrm>
            <a:off x="1874078" y="1308878"/>
            <a:ext cx="71041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proof is a statement where we write why we know something is true.</a:t>
            </a:r>
          </a:p>
          <a:p>
            <a:r>
              <a:rPr lang="en-AU" dirty="0"/>
              <a:t>With similar triangles we use the similar triangle rules to create a proof.</a:t>
            </a:r>
          </a:p>
          <a:p>
            <a:endParaRPr lang="en-A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36927FA-5DCA-47A4-93C9-C31733D86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583" y="1989320"/>
            <a:ext cx="4743450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991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173202D-7731-4E0B-BFD5-83FBCD396E2E}"/>
              </a:ext>
            </a:extLst>
          </p:cNvPr>
          <p:cNvCxnSpPr/>
          <p:nvPr/>
        </p:nvCxnSpPr>
        <p:spPr>
          <a:xfrm>
            <a:off x="0" y="74626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8061F7B-CB80-494E-945D-4F45A3B117C0}"/>
              </a:ext>
            </a:extLst>
          </p:cNvPr>
          <p:cNvCxnSpPr/>
          <p:nvPr/>
        </p:nvCxnSpPr>
        <p:spPr>
          <a:xfrm>
            <a:off x="0" y="125840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4A98E95-C4FC-4B23-B9BE-FC619FBBDCA6}"/>
              </a:ext>
            </a:extLst>
          </p:cNvPr>
          <p:cNvCxnSpPr>
            <a:cxnSpLocks/>
          </p:cNvCxnSpPr>
          <p:nvPr/>
        </p:nvCxnSpPr>
        <p:spPr>
          <a:xfrm>
            <a:off x="1523528" y="1258405"/>
            <a:ext cx="0" cy="442090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9EEBF07-6530-478C-9A7D-EC278755BF3C}"/>
              </a:ext>
            </a:extLst>
          </p:cNvPr>
          <p:cNvSpPr txBox="1"/>
          <p:nvPr/>
        </p:nvSpPr>
        <p:spPr>
          <a:xfrm>
            <a:off x="971600" y="242210"/>
            <a:ext cx="11135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Proofs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191581-EF2B-4C02-A348-19AC4CF6FBDD}"/>
              </a:ext>
            </a:extLst>
          </p:cNvPr>
          <p:cNvSpPr txBox="1"/>
          <p:nvPr/>
        </p:nvSpPr>
        <p:spPr>
          <a:xfrm>
            <a:off x="107860" y="796740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we write a proof?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E07433-6124-455D-A4FA-EAA64DE24BF0}"/>
              </a:ext>
            </a:extLst>
          </p:cNvPr>
          <p:cNvSpPr txBox="1"/>
          <p:nvPr/>
        </p:nvSpPr>
        <p:spPr>
          <a:xfrm>
            <a:off x="1874078" y="1308878"/>
            <a:ext cx="7104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proof is a statement where we write why we know something is true.</a:t>
            </a:r>
          </a:p>
          <a:p>
            <a:r>
              <a:rPr lang="en-AU" dirty="0"/>
              <a:t>With congruent triangles we use the congruent rules to create a proof.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AFBD2F-DAC5-4F8D-BDE8-F39E7E822F40}"/>
              </a:ext>
            </a:extLst>
          </p:cNvPr>
          <p:cNvSpPr txBox="1"/>
          <p:nvPr/>
        </p:nvSpPr>
        <p:spPr>
          <a:xfrm>
            <a:off x="1781908" y="2609689"/>
            <a:ext cx="72840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1.    List all of the sides and angles that match between the two triangles. </a:t>
            </a:r>
          </a:p>
          <a:p>
            <a:r>
              <a:rPr lang="en-AU" dirty="0"/>
              <a:t>2.    Decide which similarity rule is complete.</a:t>
            </a:r>
          </a:p>
          <a:p>
            <a:r>
              <a:rPr lang="en-AU" dirty="0"/>
              <a:t>3.     Finish with a statement of similarity and state which rule proved this.</a:t>
            </a:r>
          </a:p>
          <a:p>
            <a:pPr marL="342900" indent="-342900">
              <a:buAutoNum type="arabicPeriod" startAt="3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215CC21-2EF7-4EFD-9632-D7C3E82F156B}"/>
                  </a:ext>
                </a:extLst>
              </p:cNvPr>
              <p:cNvSpPr txBox="1"/>
              <p:nvPr/>
            </p:nvSpPr>
            <p:spPr>
              <a:xfrm>
                <a:off x="5355382" y="3504188"/>
                <a:ext cx="3710544" cy="23373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1600" dirty="0"/>
                  <a:t> </a:t>
                </a:r>
                <a14:m>
                  <m:oMath xmlns:m="http://schemas.openxmlformats.org/officeDocument/2006/math">
                    <m:r>
                      <a:rPr lang="en-AU" sz="160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AU" sz="1600" b="0" i="1" smtClean="0">
                        <a:latin typeface="Cambria Math" panose="02040503050406030204" pitchFamily="18" charset="0"/>
                      </a:rPr>
                      <m:t>𝑒𝑐𝑎𝑢𝑠𝑒</m:t>
                    </m:r>
                    <m:r>
                      <a:rPr lang="en-AU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1600" b="0" i="1" smtClean="0">
                        <a:latin typeface="Cambria Math" panose="02040503050406030204" pitchFamily="18" charset="0"/>
                      </a:rPr>
                      <m:t>𝑙𝑖𝑛𝑒</m:t>
                    </m:r>
                    <m:r>
                      <a:rPr lang="en-AU" sz="1600" b="0" i="1" smtClean="0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AU" sz="16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AU" sz="1600" b="0" i="1" smtClean="0">
                            <a:latin typeface="Cambria Math" panose="02040503050406030204" pitchFamily="18" charset="0"/>
                          </a:rPr>
                          <m:t>𝐸𝐴</m:t>
                        </m:r>
                      </m:e>
                    </m:bar>
                    <m:r>
                      <a:rPr lang="en-AU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1600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AU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1600" b="0" i="1" smtClean="0">
                        <a:latin typeface="Cambria Math" panose="02040503050406030204" pitchFamily="18" charset="0"/>
                      </a:rPr>
                      <m:t>𝑝𝑎𝑟𝑎𝑙𝑙𝑒𝑙</m:t>
                    </m:r>
                    <m:r>
                      <a:rPr lang="en-AU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1600" b="0" i="1" smtClean="0">
                        <a:latin typeface="Cambria Math" panose="02040503050406030204" pitchFamily="18" charset="0"/>
                      </a:rPr>
                      <m:t>𝑡𝑜</m:t>
                    </m:r>
                    <m:bar>
                      <m:barPr>
                        <m:pos m:val="top"/>
                        <m:ctrlPr>
                          <a:rPr lang="en-AU" sz="16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AU" sz="1600" b="0" i="1" smtClean="0">
                            <a:latin typeface="Cambria Math" panose="02040503050406030204" pitchFamily="18" charset="0"/>
                          </a:rPr>
                          <m:t>𝐷𝐵</m:t>
                        </m:r>
                      </m:e>
                    </m:bar>
                  </m:oMath>
                </a14:m>
                <a:endParaRPr lang="en-AU" sz="1600" dirty="0"/>
              </a:p>
              <a:p>
                <a14:m>
                  <m:oMath xmlns:m="http://schemas.openxmlformats.org/officeDocument/2006/math">
                    <m:r>
                      <a:rPr lang="en-AU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</m:t>
                    </m:r>
                    <m:r>
                      <a:rPr lang="en-AU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  <m:r>
                      <a:rPr lang="en-AU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𝐸𝐴𝐶</m:t>
                    </m:r>
                    <m:r>
                      <a:rPr lang="en-AU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  <m:r>
                      <a:rPr lang="en-AU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𝐷𝐵𝐶</m:t>
                    </m:r>
                  </m:oMath>
                </a14:m>
                <a:r>
                  <a:rPr lang="en-AU" sz="1600" dirty="0"/>
                  <a:t>.</a:t>
                </a:r>
              </a:p>
              <a:p>
                <a:r>
                  <a:rPr lang="en-AU" sz="1600" dirty="0"/>
                  <a:t>	</a:t>
                </a:r>
                <a14:m>
                  <m:oMath xmlns:m="http://schemas.openxmlformats.org/officeDocument/2006/math">
                    <m:r>
                      <a:rPr lang="en-AU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  <m:r>
                      <a:rPr lang="en-AU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𝐵𝐷</m:t>
                    </m:r>
                    <m:r>
                      <a:rPr lang="en-AU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AU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  <m:r>
                      <a:rPr lang="en-AU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𝐴𝐸</m:t>
                    </m:r>
                    <m:r>
                      <a:rPr lang="en-AU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endParaRPr lang="en-AU" sz="1600" dirty="0"/>
              </a:p>
              <a:p>
                <a:endParaRPr lang="en-AU" sz="1600" dirty="0"/>
              </a:p>
              <a:p>
                <a:endParaRPr lang="en-AU" sz="1600" dirty="0"/>
              </a:p>
              <a:p>
                <a:r>
                  <a:rPr lang="en-AU" sz="1600" dirty="0"/>
                  <a:t>Therefore;</a:t>
                </a:r>
              </a:p>
              <a:p>
                <a:r>
                  <a:rPr lang="en-AU" sz="1600" dirty="0"/>
                  <a:t>	</a:t>
                </a:r>
                <a14:m>
                  <m:oMath xmlns:m="http://schemas.openxmlformats.org/officeDocument/2006/math">
                    <m:r>
                      <a:rPr lang="en-AU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AU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AU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r>
                      <a:rPr lang="en-AU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AU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AU" sz="1600" dirty="0"/>
                  <a:t> </a:t>
                </a:r>
                <a14:m>
                  <m:oMath xmlns:m="http://schemas.openxmlformats.org/officeDocument/2006/math">
                    <m:r>
                      <a:rPr lang="en-AU" sz="16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AU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𝐴𝐸</m:t>
                    </m:r>
                  </m:oMath>
                </a14:m>
                <a:r>
                  <a:rPr lang="en-AU" sz="1600" dirty="0"/>
                  <a:t>C because of AA</a:t>
                </a:r>
              </a:p>
              <a:p>
                <a:r>
                  <a:rPr lang="en-AU" sz="1600" dirty="0"/>
                  <a:t>	</a:t>
                </a:r>
              </a:p>
              <a:p>
                <a:endParaRPr lang="en-AU" sz="16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215CC21-2EF7-4EFD-9632-D7C3E82F15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5382" y="3504188"/>
                <a:ext cx="3710544" cy="2337371"/>
              </a:xfrm>
              <a:prstGeom prst="rect">
                <a:avLst/>
              </a:prstGeom>
              <a:blipFill>
                <a:blip r:embed="rId2"/>
                <a:stretch>
                  <a:fillRect l="-98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9B778185-5ECF-465E-8DD9-45CF37531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6427" y="1971515"/>
            <a:ext cx="4743450" cy="4857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3DF1041-1C04-403F-AF1C-2447A367C3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4431" y="3563976"/>
            <a:ext cx="3253489" cy="1992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134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0A8DE47-7A82-440B-951C-7C9E9173F729}"/>
                  </a:ext>
                </a:extLst>
              </p:cNvPr>
              <p:cNvSpPr txBox="1"/>
              <p:nvPr/>
            </p:nvSpPr>
            <p:spPr>
              <a:xfrm>
                <a:off x="3798277" y="100671"/>
                <a:ext cx="4771292" cy="5216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dirty="0"/>
                  <a:t>Which angles match?</a:t>
                </a:r>
              </a:p>
              <a:p>
                <a:endParaRPr lang="en-AU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AU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𝐷𝐵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𝐶𝐵𝐴</m:t>
                    </m:r>
                  </m:oMath>
                </a14:m>
                <a:r>
                  <a:rPr lang="en-AU" dirty="0"/>
                  <a:t> (shared angle)</a:t>
                </a:r>
              </a:p>
              <a:p>
                <a:r>
                  <a:rPr lang="en-AU" dirty="0"/>
                  <a:t>	Not sure if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𝑎𝑛𝑑</m:t>
                    </m:r>
                    <m:bar>
                      <m:barPr>
                        <m:pos m:val="top"/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𝐷𝐸</m:t>
                        </m:r>
                      </m:e>
                    </m:bar>
                  </m:oMath>
                </a14:m>
                <a:r>
                  <a:rPr lang="en-AU" dirty="0"/>
                  <a:t> are parallel.</a:t>
                </a:r>
              </a:p>
              <a:p>
                <a:endParaRPr lang="en-AU" dirty="0"/>
              </a:p>
              <a:p>
                <a:r>
                  <a:rPr lang="en-AU" b="1" dirty="0"/>
                  <a:t>Which sides have the same scale factor?</a:t>
                </a:r>
              </a:p>
              <a:p>
                <a:endParaRPr lang="en-AU" dirty="0"/>
              </a:p>
              <a:p>
                <a:r>
                  <a:rPr lang="en-AU" dirty="0"/>
                  <a:t>	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b="1" dirty="0"/>
                  <a:t>Write the proof.</a:t>
                </a:r>
              </a:p>
              <a:p>
                <a:r>
                  <a:rPr lang="en-AU" b="1" dirty="0"/>
                  <a:t>	</a:t>
                </a:r>
                <a:r>
                  <a:rPr lang="en-AU" dirty="0"/>
                  <a:t>Because</a:t>
                </a:r>
              </a:p>
              <a:p>
                <a:pPr lvl="1"/>
                <a:r>
                  <a:rPr lang="en-AU" b="1" dirty="0"/>
                  <a:t>	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𝐷𝐵𝐸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𝐶𝐵𝐴</m:t>
                    </m:r>
                  </m:oMath>
                </a14:m>
                <a:r>
                  <a:rPr lang="en-AU" dirty="0"/>
                  <a:t> (shared angle)</a:t>
                </a:r>
              </a:p>
              <a:p>
                <a:pPr lvl="1"/>
                <a:r>
                  <a:rPr lang="en-AU" b="1" dirty="0"/>
                  <a:t>	</a:t>
                </a:r>
                <a:r>
                  <a:rPr lang="en-AU" i="1" dirty="0"/>
                  <a:t>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bar>
                          <m:barPr>
                            <m:pos m:val="top"/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𝐵𝐷</m:t>
                            </m:r>
                          </m:e>
                        </m:bar>
                      </m:num>
                      <m:den>
                        <m:bar>
                          <m:barPr>
                            <m:pos m:val="top"/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𝐵𝐶</m:t>
                            </m:r>
                          </m:e>
                        </m:bar>
                      </m:den>
                    </m:f>
                    <m:r>
                      <a:rPr lang="en-AU" i="1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bar>
                          <m:barPr>
                            <m:pos m:val="top"/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𝐵𝐸</m:t>
                            </m:r>
                          </m:e>
                        </m:bar>
                      </m:num>
                      <m:den>
                        <m:bar>
                          <m:barPr>
                            <m:pos m:val="top"/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𝐵𝐴</m:t>
                            </m:r>
                          </m:e>
                        </m:bar>
                      </m:den>
                    </m:f>
                  </m:oMath>
                </a14:m>
                <a:endParaRPr lang="en-AU" i="1" dirty="0"/>
              </a:p>
              <a:p>
                <a:pPr lvl="1"/>
                <a:endParaRPr lang="en-AU" b="1" dirty="0"/>
              </a:p>
              <a:p>
                <a:r>
                  <a:rPr lang="en-AU" sz="1600" dirty="0"/>
                  <a:t>	Therefore;</a:t>
                </a:r>
              </a:p>
              <a:p>
                <a:r>
                  <a:rPr lang="en-AU" sz="1600" dirty="0"/>
                  <a:t>		</a:t>
                </a:r>
                <a14:m>
                  <m:oMath xmlns:m="http://schemas.openxmlformats.org/officeDocument/2006/math">
                    <m:r>
                      <a:rPr lang="en-AU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AU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𝐸𝐵𝐷</m:t>
                    </m:r>
                    <m:r>
                      <a:rPr lang="en-AU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AU" sz="1600" dirty="0"/>
                  <a:t> </a:t>
                </a:r>
                <a14:m>
                  <m:oMath xmlns:m="http://schemas.openxmlformats.org/officeDocument/2006/math">
                    <m:r>
                      <a:rPr lang="en-AU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AU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𝐴𝐵𝐶</m:t>
                    </m:r>
                  </m:oMath>
                </a14:m>
                <a:r>
                  <a:rPr lang="en-AU" sz="1600" dirty="0"/>
                  <a:t> because of SAS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0A8DE47-7A82-440B-951C-7C9E9173F7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8277" y="100671"/>
                <a:ext cx="4771292" cy="5216108"/>
              </a:xfrm>
              <a:prstGeom prst="rect">
                <a:avLst/>
              </a:prstGeom>
              <a:blipFill>
                <a:blip r:embed="rId2"/>
                <a:stretch>
                  <a:fillRect l="-1022" t="-702" b="-70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ED22C2C-B9D1-40BF-8412-741CB606AC5A}"/>
              </a:ext>
            </a:extLst>
          </p:cNvPr>
          <p:cNvSpPr txBox="1"/>
          <p:nvPr/>
        </p:nvSpPr>
        <p:spPr>
          <a:xfrm>
            <a:off x="246185" y="257445"/>
            <a:ext cx="1875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We do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DCFA4A-B21D-41FB-B900-4354C497C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185" y="626777"/>
            <a:ext cx="2942492" cy="219589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4330486-A9C0-49E3-89DF-29A711367F6F}"/>
                  </a:ext>
                </a:extLst>
              </p:cNvPr>
              <p:cNvSpPr/>
              <p:nvPr/>
            </p:nvSpPr>
            <p:spPr>
              <a:xfrm>
                <a:off x="3494157" y="1926459"/>
                <a:ext cx="3238964" cy="5360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2"/>
                <a:r>
                  <a:rPr lang="en-AU" i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bar>
                          <m:barPr>
                            <m:pos m:val="top"/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𝐵𝐷</m:t>
                            </m:r>
                          </m:e>
                        </m:bar>
                      </m:num>
                      <m:den>
                        <m:bar>
                          <m:barPr>
                            <m:pos m:val="top"/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𝐵𝐶</m:t>
                            </m:r>
                          </m:e>
                        </m:ba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i="1" dirty="0"/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6 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𝑐𝑚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𝑐𝑚</m:t>
                        </m:r>
                      </m:den>
                    </m:f>
                    <m:r>
                      <a:rPr lang="en-AU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endParaRPr lang="en-AU" i="1" dirty="0"/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4330486-A9C0-49E3-89DF-29A711367F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4157" y="1926459"/>
                <a:ext cx="3238964" cy="5360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F9A09AB-4A18-4EDF-AED8-81BC1CB29D80}"/>
                  </a:ext>
                </a:extLst>
              </p:cNvPr>
              <p:cNvSpPr/>
              <p:nvPr/>
            </p:nvSpPr>
            <p:spPr>
              <a:xfrm>
                <a:off x="3494157" y="2554645"/>
                <a:ext cx="3238964" cy="5360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2"/>
                <a:r>
                  <a:rPr lang="en-AU" i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bar>
                          <m:barPr>
                            <m:pos m:val="top"/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𝐵𝐸</m:t>
                            </m:r>
                          </m:e>
                        </m:bar>
                      </m:num>
                      <m:den>
                        <m:bar>
                          <m:barPr>
                            <m:pos m:val="top"/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𝐵𝐴</m:t>
                            </m:r>
                          </m:e>
                        </m:ba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i="1" dirty="0"/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4 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𝑐𝑚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𝑐𝑚</m:t>
                        </m:r>
                      </m:den>
                    </m:f>
                    <m:r>
                      <a:rPr lang="en-AU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endParaRPr lang="en-AU" i="1" dirty="0"/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F9A09AB-4A18-4EDF-AED8-81BC1CB29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4157" y="2554645"/>
                <a:ext cx="3238964" cy="5360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94E8DD3-FB74-4DDD-BE97-D53F584F30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442780"/>
              </p:ext>
            </p:extLst>
          </p:nvPr>
        </p:nvGraphicFramePr>
        <p:xfrm>
          <a:off x="93445" y="3009600"/>
          <a:ext cx="3552092" cy="25573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397">
                  <a:extLst>
                    <a:ext uri="{9D8B030D-6E8A-4147-A177-3AD203B41FA5}">
                      <a16:colId xmlns:a16="http://schemas.microsoft.com/office/drawing/2014/main" val="2875512204"/>
                    </a:ext>
                  </a:extLst>
                </a:gridCol>
                <a:gridCol w="2676695">
                  <a:extLst>
                    <a:ext uri="{9D8B030D-6E8A-4147-A177-3AD203B41FA5}">
                      <a16:colId xmlns:a16="http://schemas.microsoft.com/office/drawing/2014/main" val="2583627441"/>
                    </a:ext>
                  </a:extLst>
                </a:gridCol>
              </a:tblGrid>
              <a:tr h="570031">
                <a:tc>
                  <a:txBody>
                    <a:bodyPr/>
                    <a:lstStyle/>
                    <a:p>
                      <a:r>
                        <a:rPr lang="en-AU" dirty="0"/>
                        <a:t>SAS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 sets of sides have the same scale factor and the angle between is the same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3397629"/>
                  </a:ext>
                </a:extLst>
              </a:tr>
              <a:tr h="570031">
                <a:tc>
                  <a:txBody>
                    <a:bodyPr/>
                    <a:lstStyle/>
                    <a:p>
                      <a:r>
                        <a:rPr lang="en-AU" dirty="0"/>
                        <a:t>AA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 Angle’s match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7235624"/>
                  </a:ext>
                </a:extLst>
              </a:tr>
              <a:tr h="570031">
                <a:tc>
                  <a:txBody>
                    <a:bodyPr/>
                    <a:lstStyle/>
                    <a:p>
                      <a:r>
                        <a:rPr lang="en-AU" dirty="0"/>
                        <a:t>SSS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All 3 sides have same scale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8770737"/>
                  </a:ext>
                </a:extLst>
              </a:tr>
              <a:tr h="570031">
                <a:tc>
                  <a:txBody>
                    <a:bodyPr/>
                    <a:lstStyle/>
                    <a:p>
                      <a:r>
                        <a:rPr lang="en-AU" dirty="0"/>
                        <a:t>RHS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Both are right angled, Hypotenuse and another set of sides have the same scale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808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0225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CC793C9-FCAB-4025-A226-F49B9AD57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491" y="673722"/>
            <a:ext cx="2396258" cy="16824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A8DE47-7A82-440B-951C-7C9E9173F729}"/>
              </a:ext>
            </a:extLst>
          </p:cNvPr>
          <p:cNvSpPr txBox="1"/>
          <p:nvPr/>
        </p:nvSpPr>
        <p:spPr>
          <a:xfrm>
            <a:off x="3798277" y="100671"/>
            <a:ext cx="477129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Which angles match?</a:t>
            </a:r>
          </a:p>
          <a:p>
            <a:endParaRPr lang="en-AU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AU" dirty="0">
                <a:ea typeface="Cambria Math" panose="02040503050406030204" pitchFamily="18" charset="0"/>
              </a:rPr>
              <a:t>	</a:t>
            </a:r>
          </a:p>
          <a:p>
            <a:endParaRPr lang="en-AU" dirty="0">
              <a:ea typeface="Cambria Math" panose="02040503050406030204" pitchFamily="18" charset="0"/>
            </a:endParaRPr>
          </a:p>
          <a:p>
            <a:endParaRPr lang="en-AU" dirty="0"/>
          </a:p>
          <a:p>
            <a:r>
              <a:rPr lang="en-AU" b="1" dirty="0"/>
              <a:t>Which sides have the same scale factor?</a:t>
            </a:r>
          </a:p>
          <a:p>
            <a:endParaRPr lang="en-AU" dirty="0"/>
          </a:p>
          <a:p>
            <a:r>
              <a:rPr lang="en-AU" dirty="0"/>
              <a:t>	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b="1" dirty="0"/>
              <a:t>Write the proof.</a:t>
            </a:r>
          </a:p>
          <a:p>
            <a:r>
              <a:rPr lang="en-AU" b="1" dirty="0"/>
              <a:t>	</a:t>
            </a:r>
            <a:endParaRPr lang="en-AU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D22C2C-B9D1-40BF-8412-741CB606AC5A}"/>
              </a:ext>
            </a:extLst>
          </p:cNvPr>
          <p:cNvSpPr txBox="1"/>
          <p:nvPr/>
        </p:nvSpPr>
        <p:spPr>
          <a:xfrm>
            <a:off x="246185" y="257445"/>
            <a:ext cx="1875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You do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94E8DD3-FB74-4DDD-BE97-D53F584F30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245244"/>
              </p:ext>
            </p:extLst>
          </p:nvPr>
        </p:nvGraphicFramePr>
        <p:xfrm>
          <a:off x="108099" y="3016025"/>
          <a:ext cx="3552092" cy="25573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397">
                  <a:extLst>
                    <a:ext uri="{9D8B030D-6E8A-4147-A177-3AD203B41FA5}">
                      <a16:colId xmlns:a16="http://schemas.microsoft.com/office/drawing/2014/main" val="2875512204"/>
                    </a:ext>
                  </a:extLst>
                </a:gridCol>
                <a:gridCol w="2676695">
                  <a:extLst>
                    <a:ext uri="{9D8B030D-6E8A-4147-A177-3AD203B41FA5}">
                      <a16:colId xmlns:a16="http://schemas.microsoft.com/office/drawing/2014/main" val="2583627441"/>
                    </a:ext>
                  </a:extLst>
                </a:gridCol>
              </a:tblGrid>
              <a:tr h="570031">
                <a:tc>
                  <a:txBody>
                    <a:bodyPr/>
                    <a:lstStyle/>
                    <a:p>
                      <a:r>
                        <a:rPr lang="en-AU" dirty="0"/>
                        <a:t>SAS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 sets of sides have the same scale factor and the angle between is the same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3397629"/>
                  </a:ext>
                </a:extLst>
              </a:tr>
              <a:tr h="570031">
                <a:tc>
                  <a:txBody>
                    <a:bodyPr/>
                    <a:lstStyle/>
                    <a:p>
                      <a:r>
                        <a:rPr lang="en-AU" dirty="0"/>
                        <a:t>AA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 Angle’s match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7235624"/>
                  </a:ext>
                </a:extLst>
              </a:tr>
              <a:tr h="570031">
                <a:tc>
                  <a:txBody>
                    <a:bodyPr/>
                    <a:lstStyle/>
                    <a:p>
                      <a:r>
                        <a:rPr lang="en-AU" dirty="0"/>
                        <a:t>SSS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All 3 sides have same scale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8770737"/>
                  </a:ext>
                </a:extLst>
              </a:tr>
              <a:tr h="570031">
                <a:tc>
                  <a:txBody>
                    <a:bodyPr/>
                    <a:lstStyle/>
                    <a:p>
                      <a:r>
                        <a:rPr lang="en-AU" dirty="0"/>
                        <a:t>RHS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Both are right angled, Hypotenuse and another set of sides have the same scale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808447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6086212-8D81-420D-8A72-D23DA37A3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45" y="1318680"/>
            <a:ext cx="1790700" cy="12573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82C42A-EA94-4D49-A372-8F2D8B0CC486}"/>
              </a:ext>
            </a:extLst>
          </p:cNvPr>
          <p:cNvSpPr txBox="1"/>
          <p:nvPr/>
        </p:nvSpPr>
        <p:spPr>
          <a:xfrm>
            <a:off x="46893" y="2238792"/>
            <a:ext cx="152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4B2623-6940-4B27-845C-0724F09D28CF}"/>
              </a:ext>
            </a:extLst>
          </p:cNvPr>
          <p:cNvSpPr txBox="1"/>
          <p:nvPr/>
        </p:nvSpPr>
        <p:spPr>
          <a:xfrm>
            <a:off x="683315" y="1101870"/>
            <a:ext cx="28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551606-7772-4CD6-A366-8091842CA6D7}"/>
              </a:ext>
            </a:extLst>
          </p:cNvPr>
          <p:cNvSpPr txBox="1"/>
          <p:nvPr/>
        </p:nvSpPr>
        <p:spPr>
          <a:xfrm>
            <a:off x="1685979" y="2281425"/>
            <a:ext cx="28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9A45A4-B7E0-4F9F-8F11-106EB810A187}"/>
              </a:ext>
            </a:extLst>
          </p:cNvPr>
          <p:cNvSpPr txBox="1"/>
          <p:nvPr/>
        </p:nvSpPr>
        <p:spPr>
          <a:xfrm>
            <a:off x="3993974" y="2030959"/>
            <a:ext cx="28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0C2883-5C82-4CDF-8F60-3DAB7D0833D9}"/>
              </a:ext>
            </a:extLst>
          </p:cNvPr>
          <p:cNvSpPr txBox="1"/>
          <p:nvPr/>
        </p:nvSpPr>
        <p:spPr>
          <a:xfrm>
            <a:off x="1798254" y="1984837"/>
            <a:ext cx="28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F98EA6-1613-4314-9E29-9C8D2B5BEE81}"/>
              </a:ext>
            </a:extLst>
          </p:cNvPr>
          <p:cNvSpPr txBox="1"/>
          <p:nvPr/>
        </p:nvSpPr>
        <p:spPr>
          <a:xfrm>
            <a:off x="2746523" y="453943"/>
            <a:ext cx="28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2757185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A8DE47-7A82-440B-951C-7C9E9173F729}"/>
              </a:ext>
            </a:extLst>
          </p:cNvPr>
          <p:cNvSpPr txBox="1"/>
          <p:nvPr/>
        </p:nvSpPr>
        <p:spPr>
          <a:xfrm>
            <a:off x="3798277" y="100671"/>
            <a:ext cx="477129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Which angles match?</a:t>
            </a:r>
          </a:p>
          <a:p>
            <a:endParaRPr lang="en-AU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AU" dirty="0">
                <a:ea typeface="Cambria Math" panose="02040503050406030204" pitchFamily="18" charset="0"/>
              </a:rPr>
              <a:t>	</a:t>
            </a:r>
          </a:p>
          <a:p>
            <a:endParaRPr lang="en-AU" dirty="0">
              <a:ea typeface="Cambria Math" panose="02040503050406030204" pitchFamily="18" charset="0"/>
            </a:endParaRPr>
          </a:p>
          <a:p>
            <a:endParaRPr lang="en-AU" dirty="0"/>
          </a:p>
          <a:p>
            <a:r>
              <a:rPr lang="en-AU" b="1" dirty="0"/>
              <a:t>Which sides have the same scale factor?</a:t>
            </a:r>
          </a:p>
          <a:p>
            <a:endParaRPr lang="en-AU" dirty="0"/>
          </a:p>
          <a:p>
            <a:r>
              <a:rPr lang="en-AU" dirty="0"/>
              <a:t>	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b="1" dirty="0"/>
              <a:t>Write the proof.</a:t>
            </a:r>
          </a:p>
          <a:p>
            <a:r>
              <a:rPr lang="en-AU" b="1" dirty="0"/>
              <a:t>	</a:t>
            </a:r>
            <a:endParaRPr lang="en-AU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D22C2C-B9D1-40BF-8412-741CB606AC5A}"/>
              </a:ext>
            </a:extLst>
          </p:cNvPr>
          <p:cNvSpPr txBox="1"/>
          <p:nvPr/>
        </p:nvSpPr>
        <p:spPr>
          <a:xfrm>
            <a:off x="246185" y="257445"/>
            <a:ext cx="1875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You do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94E8DD3-FB74-4DDD-BE97-D53F584F306D}"/>
              </a:ext>
            </a:extLst>
          </p:cNvPr>
          <p:cNvGraphicFramePr>
            <a:graphicFrameLocks noGrp="1"/>
          </p:cNvGraphicFramePr>
          <p:nvPr/>
        </p:nvGraphicFramePr>
        <p:xfrm>
          <a:off x="93445" y="3009600"/>
          <a:ext cx="3552092" cy="25573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397">
                  <a:extLst>
                    <a:ext uri="{9D8B030D-6E8A-4147-A177-3AD203B41FA5}">
                      <a16:colId xmlns:a16="http://schemas.microsoft.com/office/drawing/2014/main" val="2875512204"/>
                    </a:ext>
                  </a:extLst>
                </a:gridCol>
                <a:gridCol w="2676695">
                  <a:extLst>
                    <a:ext uri="{9D8B030D-6E8A-4147-A177-3AD203B41FA5}">
                      <a16:colId xmlns:a16="http://schemas.microsoft.com/office/drawing/2014/main" val="2583627441"/>
                    </a:ext>
                  </a:extLst>
                </a:gridCol>
              </a:tblGrid>
              <a:tr h="570031">
                <a:tc>
                  <a:txBody>
                    <a:bodyPr/>
                    <a:lstStyle/>
                    <a:p>
                      <a:r>
                        <a:rPr lang="en-AU" dirty="0"/>
                        <a:t>SAS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 sets of sides have the same scale factor and the angle between is the same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3397629"/>
                  </a:ext>
                </a:extLst>
              </a:tr>
              <a:tr h="570031">
                <a:tc>
                  <a:txBody>
                    <a:bodyPr/>
                    <a:lstStyle/>
                    <a:p>
                      <a:r>
                        <a:rPr lang="en-AU" dirty="0"/>
                        <a:t>AA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 Angle’s match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7235624"/>
                  </a:ext>
                </a:extLst>
              </a:tr>
              <a:tr h="570031">
                <a:tc>
                  <a:txBody>
                    <a:bodyPr/>
                    <a:lstStyle/>
                    <a:p>
                      <a:r>
                        <a:rPr lang="en-AU" dirty="0"/>
                        <a:t>SSS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All 3 sides have same scale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8770737"/>
                  </a:ext>
                </a:extLst>
              </a:tr>
              <a:tr h="570031">
                <a:tc>
                  <a:txBody>
                    <a:bodyPr/>
                    <a:lstStyle/>
                    <a:p>
                      <a:r>
                        <a:rPr lang="en-AU" dirty="0"/>
                        <a:t>RHS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Both are right angled, Hypotenuse and another set of sides have the same scale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808447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4003A49A-920A-4149-9535-2CB1EBBEA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302" y="958498"/>
            <a:ext cx="1114425" cy="16668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2A69E3-353B-4F46-8759-881EC77BB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4843" y="100671"/>
            <a:ext cx="1717064" cy="285642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20812DE-4E5A-4CF9-9D6B-C7D4DF80D61E}"/>
              </a:ext>
            </a:extLst>
          </p:cNvPr>
          <p:cNvSpPr txBox="1"/>
          <p:nvPr/>
        </p:nvSpPr>
        <p:spPr>
          <a:xfrm>
            <a:off x="415562" y="2265913"/>
            <a:ext cx="152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6DD807-1183-4A01-931A-382DBE484AEE}"/>
              </a:ext>
            </a:extLst>
          </p:cNvPr>
          <p:cNvSpPr txBox="1"/>
          <p:nvPr/>
        </p:nvSpPr>
        <p:spPr>
          <a:xfrm>
            <a:off x="568302" y="679282"/>
            <a:ext cx="28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29D2F5-DF0F-4497-AA4A-D6766681C0C2}"/>
              </a:ext>
            </a:extLst>
          </p:cNvPr>
          <p:cNvSpPr txBox="1"/>
          <p:nvPr/>
        </p:nvSpPr>
        <p:spPr>
          <a:xfrm>
            <a:off x="1441367" y="2251572"/>
            <a:ext cx="28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C5407D-EC9E-4DD2-B32C-CDA287A8DF58}"/>
              </a:ext>
            </a:extLst>
          </p:cNvPr>
          <p:cNvSpPr txBox="1"/>
          <p:nvPr/>
        </p:nvSpPr>
        <p:spPr>
          <a:xfrm>
            <a:off x="1836772" y="2393605"/>
            <a:ext cx="152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FD4982-4C4C-4566-9A05-69FD62D87EFD}"/>
              </a:ext>
            </a:extLst>
          </p:cNvPr>
          <p:cNvSpPr txBox="1"/>
          <p:nvPr/>
        </p:nvSpPr>
        <p:spPr>
          <a:xfrm>
            <a:off x="1961192" y="10782"/>
            <a:ext cx="28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D00604-2642-4CB0-8A96-4F0A2B32F706}"/>
              </a:ext>
            </a:extLst>
          </p:cNvPr>
          <p:cNvSpPr txBox="1"/>
          <p:nvPr/>
        </p:nvSpPr>
        <p:spPr>
          <a:xfrm>
            <a:off x="3475858" y="2436238"/>
            <a:ext cx="28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Z</a:t>
            </a:r>
          </a:p>
        </p:txBody>
      </p:sp>
    </p:spTree>
    <p:extLst>
      <p:ext uri="{BB962C8B-B14F-4D97-AF65-F5344CB8AC3E}">
        <p14:creationId xmlns:p14="http://schemas.microsoft.com/office/powerpoint/2010/main" val="3683157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A8DE47-7A82-440B-951C-7C9E9173F729}"/>
              </a:ext>
            </a:extLst>
          </p:cNvPr>
          <p:cNvSpPr txBox="1"/>
          <p:nvPr/>
        </p:nvSpPr>
        <p:spPr>
          <a:xfrm>
            <a:off x="3798277" y="100671"/>
            <a:ext cx="477129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Which angles match?</a:t>
            </a:r>
          </a:p>
          <a:p>
            <a:endParaRPr lang="en-AU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AU" dirty="0">
                <a:ea typeface="Cambria Math" panose="02040503050406030204" pitchFamily="18" charset="0"/>
              </a:rPr>
              <a:t>	</a:t>
            </a:r>
          </a:p>
          <a:p>
            <a:endParaRPr lang="en-AU" dirty="0">
              <a:ea typeface="Cambria Math" panose="02040503050406030204" pitchFamily="18" charset="0"/>
            </a:endParaRPr>
          </a:p>
          <a:p>
            <a:endParaRPr lang="en-AU" dirty="0"/>
          </a:p>
          <a:p>
            <a:r>
              <a:rPr lang="en-AU" b="1" dirty="0"/>
              <a:t>Which sides have the same scale factor?</a:t>
            </a:r>
          </a:p>
          <a:p>
            <a:endParaRPr lang="en-AU" dirty="0"/>
          </a:p>
          <a:p>
            <a:r>
              <a:rPr lang="en-AU" dirty="0"/>
              <a:t>	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b="1" dirty="0"/>
              <a:t>Write the proof.</a:t>
            </a:r>
          </a:p>
          <a:p>
            <a:r>
              <a:rPr lang="en-AU" b="1" dirty="0"/>
              <a:t>	</a:t>
            </a:r>
            <a:endParaRPr lang="en-AU" sz="16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94E8DD3-FB74-4DDD-BE97-D53F584F306D}"/>
              </a:ext>
            </a:extLst>
          </p:cNvPr>
          <p:cNvGraphicFramePr>
            <a:graphicFrameLocks noGrp="1"/>
          </p:cNvGraphicFramePr>
          <p:nvPr/>
        </p:nvGraphicFramePr>
        <p:xfrm>
          <a:off x="93445" y="3009600"/>
          <a:ext cx="3552092" cy="25573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397">
                  <a:extLst>
                    <a:ext uri="{9D8B030D-6E8A-4147-A177-3AD203B41FA5}">
                      <a16:colId xmlns:a16="http://schemas.microsoft.com/office/drawing/2014/main" val="2875512204"/>
                    </a:ext>
                  </a:extLst>
                </a:gridCol>
                <a:gridCol w="2676695">
                  <a:extLst>
                    <a:ext uri="{9D8B030D-6E8A-4147-A177-3AD203B41FA5}">
                      <a16:colId xmlns:a16="http://schemas.microsoft.com/office/drawing/2014/main" val="2583627441"/>
                    </a:ext>
                  </a:extLst>
                </a:gridCol>
              </a:tblGrid>
              <a:tr h="570031">
                <a:tc>
                  <a:txBody>
                    <a:bodyPr/>
                    <a:lstStyle/>
                    <a:p>
                      <a:r>
                        <a:rPr lang="en-AU" dirty="0"/>
                        <a:t>SAS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 sets of sides have the same scale factor and the angle between is the same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3397629"/>
                  </a:ext>
                </a:extLst>
              </a:tr>
              <a:tr h="570031">
                <a:tc>
                  <a:txBody>
                    <a:bodyPr/>
                    <a:lstStyle/>
                    <a:p>
                      <a:r>
                        <a:rPr lang="en-AU" dirty="0"/>
                        <a:t>AA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 Angle’s match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7235624"/>
                  </a:ext>
                </a:extLst>
              </a:tr>
              <a:tr h="570031">
                <a:tc>
                  <a:txBody>
                    <a:bodyPr/>
                    <a:lstStyle/>
                    <a:p>
                      <a:r>
                        <a:rPr lang="en-AU" dirty="0"/>
                        <a:t>SSS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All 3 sides have same scale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8770737"/>
                  </a:ext>
                </a:extLst>
              </a:tr>
              <a:tr h="570031">
                <a:tc>
                  <a:txBody>
                    <a:bodyPr/>
                    <a:lstStyle/>
                    <a:p>
                      <a:r>
                        <a:rPr lang="en-AU" dirty="0"/>
                        <a:t>RHS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Both are right angled, Hypotenuse and another set of sides have the same scale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808447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155F2C04-E3B5-4037-8170-51AA4071C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75" y="442111"/>
            <a:ext cx="2376488" cy="21773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0C27C9-A174-4BF4-87A5-47A6826C7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2423" y="1650644"/>
            <a:ext cx="1533114" cy="11638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D22C2C-B9D1-40BF-8412-741CB606AC5A}"/>
              </a:ext>
            </a:extLst>
          </p:cNvPr>
          <p:cNvSpPr txBox="1"/>
          <p:nvPr/>
        </p:nvSpPr>
        <p:spPr>
          <a:xfrm>
            <a:off x="246185" y="257445"/>
            <a:ext cx="1875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You do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1A9BF2-67EA-4EC2-91FA-E5E9D09F2959}"/>
              </a:ext>
            </a:extLst>
          </p:cNvPr>
          <p:cNvSpPr txBox="1"/>
          <p:nvPr/>
        </p:nvSpPr>
        <p:spPr>
          <a:xfrm>
            <a:off x="93445" y="2303161"/>
            <a:ext cx="152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6BB990-DB2E-4E3A-816A-009C7D02D660}"/>
              </a:ext>
            </a:extLst>
          </p:cNvPr>
          <p:cNvSpPr txBox="1"/>
          <p:nvPr/>
        </p:nvSpPr>
        <p:spPr>
          <a:xfrm>
            <a:off x="1475101" y="333666"/>
            <a:ext cx="28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4C88D1-D9E7-4928-8EFA-3AC40D3077FF}"/>
              </a:ext>
            </a:extLst>
          </p:cNvPr>
          <p:cNvSpPr txBox="1"/>
          <p:nvPr/>
        </p:nvSpPr>
        <p:spPr>
          <a:xfrm>
            <a:off x="2388813" y="1318318"/>
            <a:ext cx="28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AD7582-C38B-4CBD-8192-8C88CE197B8B}"/>
              </a:ext>
            </a:extLst>
          </p:cNvPr>
          <p:cNvSpPr txBox="1"/>
          <p:nvPr/>
        </p:nvSpPr>
        <p:spPr>
          <a:xfrm>
            <a:off x="1976407" y="2582446"/>
            <a:ext cx="412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435949-4C19-4150-88F4-2A188E4582D3}"/>
              </a:ext>
            </a:extLst>
          </p:cNvPr>
          <p:cNvSpPr txBox="1"/>
          <p:nvPr/>
        </p:nvSpPr>
        <p:spPr>
          <a:xfrm>
            <a:off x="2921040" y="1300799"/>
            <a:ext cx="28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7F21EA-538F-433B-9FE8-694F0DBDE2F8}"/>
              </a:ext>
            </a:extLst>
          </p:cNvPr>
          <p:cNvSpPr txBox="1"/>
          <p:nvPr/>
        </p:nvSpPr>
        <p:spPr>
          <a:xfrm>
            <a:off x="3491853" y="2213114"/>
            <a:ext cx="28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553755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A8DE47-7A82-440B-951C-7C9E9173F729}"/>
              </a:ext>
            </a:extLst>
          </p:cNvPr>
          <p:cNvSpPr txBox="1"/>
          <p:nvPr/>
        </p:nvSpPr>
        <p:spPr>
          <a:xfrm>
            <a:off x="3798277" y="100671"/>
            <a:ext cx="477129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Which angles match?</a:t>
            </a:r>
          </a:p>
          <a:p>
            <a:endParaRPr lang="en-AU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AU" dirty="0">
                <a:ea typeface="Cambria Math" panose="02040503050406030204" pitchFamily="18" charset="0"/>
              </a:rPr>
              <a:t>	</a:t>
            </a:r>
          </a:p>
          <a:p>
            <a:endParaRPr lang="en-AU" dirty="0">
              <a:ea typeface="Cambria Math" panose="02040503050406030204" pitchFamily="18" charset="0"/>
            </a:endParaRPr>
          </a:p>
          <a:p>
            <a:endParaRPr lang="en-AU" dirty="0"/>
          </a:p>
          <a:p>
            <a:r>
              <a:rPr lang="en-AU" b="1" dirty="0"/>
              <a:t>Which sides have the same scale factor?</a:t>
            </a:r>
          </a:p>
          <a:p>
            <a:endParaRPr lang="en-AU" dirty="0"/>
          </a:p>
          <a:p>
            <a:r>
              <a:rPr lang="en-AU" dirty="0"/>
              <a:t>	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b="1" dirty="0"/>
              <a:t>Write the proof.</a:t>
            </a:r>
          </a:p>
          <a:p>
            <a:r>
              <a:rPr lang="en-AU" b="1" dirty="0"/>
              <a:t>	</a:t>
            </a:r>
            <a:endParaRPr lang="en-AU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D22C2C-B9D1-40BF-8412-741CB606AC5A}"/>
              </a:ext>
            </a:extLst>
          </p:cNvPr>
          <p:cNvSpPr txBox="1"/>
          <p:nvPr/>
        </p:nvSpPr>
        <p:spPr>
          <a:xfrm>
            <a:off x="246185" y="257445"/>
            <a:ext cx="1875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You do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94E8DD3-FB74-4DDD-BE97-D53F584F306D}"/>
              </a:ext>
            </a:extLst>
          </p:cNvPr>
          <p:cNvGraphicFramePr>
            <a:graphicFrameLocks noGrp="1"/>
          </p:cNvGraphicFramePr>
          <p:nvPr/>
        </p:nvGraphicFramePr>
        <p:xfrm>
          <a:off x="93445" y="3009600"/>
          <a:ext cx="3552092" cy="25573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397">
                  <a:extLst>
                    <a:ext uri="{9D8B030D-6E8A-4147-A177-3AD203B41FA5}">
                      <a16:colId xmlns:a16="http://schemas.microsoft.com/office/drawing/2014/main" val="2875512204"/>
                    </a:ext>
                  </a:extLst>
                </a:gridCol>
                <a:gridCol w="2676695">
                  <a:extLst>
                    <a:ext uri="{9D8B030D-6E8A-4147-A177-3AD203B41FA5}">
                      <a16:colId xmlns:a16="http://schemas.microsoft.com/office/drawing/2014/main" val="2583627441"/>
                    </a:ext>
                  </a:extLst>
                </a:gridCol>
              </a:tblGrid>
              <a:tr h="570031">
                <a:tc>
                  <a:txBody>
                    <a:bodyPr/>
                    <a:lstStyle/>
                    <a:p>
                      <a:r>
                        <a:rPr lang="en-AU" dirty="0"/>
                        <a:t>SAS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 sets of sides have the same scale factor and the angle between is the same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3397629"/>
                  </a:ext>
                </a:extLst>
              </a:tr>
              <a:tr h="570031">
                <a:tc>
                  <a:txBody>
                    <a:bodyPr/>
                    <a:lstStyle/>
                    <a:p>
                      <a:r>
                        <a:rPr lang="en-AU" dirty="0"/>
                        <a:t>AA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 Angle’s match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7235624"/>
                  </a:ext>
                </a:extLst>
              </a:tr>
              <a:tr h="570031">
                <a:tc>
                  <a:txBody>
                    <a:bodyPr/>
                    <a:lstStyle/>
                    <a:p>
                      <a:r>
                        <a:rPr lang="en-AU" dirty="0"/>
                        <a:t>SSS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All 3 sides have same scale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8770737"/>
                  </a:ext>
                </a:extLst>
              </a:tr>
              <a:tr h="570031">
                <a:tc>
                  <a:txBody>
                    <a:bodyPr/>
                    <a:lstStyle/>
                    <a:p>
                      <a:r>
                        <a:rPr lang="en-AU" dirty="0"/>
                        <a:t>RHS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Both are right angled, Hypotenuse and another set of sides have the same scale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808447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76C4C626-C79F-4A1D-B2DD-3C7E6A817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85" y="767454"/>
            <a:ext cx="2713892" cy="1856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231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2391</TotalTime>
  <Words>726</Words>
  <Application>Microsoft Office PowerPoint</Application>
  <PresentationFormat>On-screen Show (16:10)</PresentationFormat>
  <Paragraphs>190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Office Theme</vt:lpstr>
      <vt:lpstr>Geometric Proofs</vt:lpstr>
      <vt:lpstr>Start up.</vt:lpstr>
      <vt:lpstr>How do you know?</vt:lpstr>
      <vt:lpstr>PowerPoint Presentation</vt:lpstr>
      <vt:lpstr>PowerPoint Presentation</vt:lpstr>
      <vt:lpstr>Similarity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Geometric Proofs</dc:title>
  <dc:creator>WILSON James [Baldivis Secondary College]</dc:creator>
  <cp:lastModifiedBy>WILSON James [Baldivis Secondary College]</cp:lastModifiedBy>
  <cp:revision>29</cp:revision>
  <dcterms:created xsi:type="dcterms:W3CDTF">2018-03-05T06:28:48Z</dcterms:created>
  <dcterms:modified xsi:type="dcterms:W3CDTF">2018-06-17T08:21:13Z</dcterms:modified>
</cp:coreProperties>
</file>
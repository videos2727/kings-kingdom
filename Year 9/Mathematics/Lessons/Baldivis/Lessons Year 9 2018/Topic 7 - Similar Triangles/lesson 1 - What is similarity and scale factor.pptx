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9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CCFF"/>
    <a:srgbClr val="00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B3C5C-6E8C-437C-A822-5B3082F965CC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3BFF8-A657-4370-99EB-CD093F3724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557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Clicking a correct shape will remove it from</a:t>
            </a:r>
            <a:r>
              <a:rPr lang="en-GB" baseline="0" dirty="0"/>
              <a:t> the screen. Clicking an incorrect one will bring up the red circle.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93BFF8-A657-4370-99EB-CD093F3724CA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34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7880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99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753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764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792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0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2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46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127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18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5A67-0D13-4408-B2ED-3425B6AC25DD}" type="datetimeFigureOut">
              <a:rPr lang="en-GB" smtClean="0"/>
              <a:t>17/06/2018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1686D-4F27-42A3-9931-EF8F858037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5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BCEE4-D4E8-4E9A-B20B-72A83588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4725144"/>
            <a:ext cx="8229600" cy="1143000"/>
          </a:xfrm>
        </p:spPr>
        <p:txBody>
          <a:bodyPr/>
          <a:lstStyle/>
          <a:p>
            <a:r>
              <a:rPr lang="en-AU" dirty="0"/>
              <a:t>By J. Wilson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CDE64-BE69-48FF-8E4A-05B972C3C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9"/>
            <a:ext cx="8229600" cy="1584176"/>
          </a:xfrm>
        </p:spPr>
        <p:txBody>
          <a:bodyPr/>
          <a:lstStyle/>
          <a:p>
            <a:r>
              <a:rPr lang="en-AU" dirty="0"/>
              <a:t>L.O. To understand the concept of similarity, calculate scale factors and use scale factors to calculate missing sides.</a:t>
            </a:r>
          </a:p>
        </p:txBody>
      </p:sp>
    </p:spTree>
    <p:extLst>
      <p:ext uri="{BB962C8B-B14F-4D97-AF65-F5344CB8AC3E}">
        <p14:creationId xmlns:p14="http://schemas.microsoft.com/office/powerpoint/2010/main" val="3226523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Similar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shapes are said to be similar to each other if one is an enlargement of the other.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1187624" y="3756248"/>
            <a:ext cx="2592288" cy="18002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Triangle 4"/>
          <p:cNvSpPr/>
          <p:nvPr/>
        </p:nvSpPr>
        <p:spPr>
          <a:xfrm>
            <a:off x="4355976" y="2788929"/>
            <a:ext cx="4032448" cy="280031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611560" y="5556448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GB" sz="2800" dirty="0"/>
              <a:t>What do you notice about the length of the sides?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GB" sz="2800" dirty="0"/>
              <a:t>What do you notice about the size of the angles?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0192" y="2623081"/>
            <a:ext cx="28803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Angles stay the same, side lengths change</a:t>
            </a:r>
          </a:p>
        </p:txBody>
      </p:sp>
    </p:spTree>
    <p:extLst>
      <p:ext uri="{BB962C8B-B14F-4D97-AF65-F5344CB8AC3E}">
        <p14:creationId xmlns:p14="http://schemas.microsoft.com/office/powerpoint/2010/main" val="424064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Congruence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shapes are said to be congruent if they stay the same shape and size</a:t>
            </a:r>
          </a:p>
          <a:p>
            <a:endParaRPr lang="en-GB" dirty="0"/>
          </a:p>
          <a:p>
            <a:r>
              <a:rPr lang="en-GB" dirty="0"/>
              <a:t>The shapes may be a reflection of each other, or be rotated or translated</a:t>
            </a:r>
          </a:p>
        </p:txBody>
      </p:sp>
      <p:sp>
        <p:nvSpPr>
          <p:cNvPr id="4" name="Right Triangle 3"/>
          <p:cNvSpPr/>
          <p:nvPr/>
        </p:nvSpPr>
        <p:spPr>
          <a:xfrm rot="16200000">
            <a:off x="1367644" y="4761148"/>
            <a:ext cx="1944216" cy="12961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Triangle 4"/>
          <p:cNvSpPr/>
          <p:nvPr/>
        </p:nvSpPr>
        <p:spPr>
          <a:xfrm rot="5400000">
            <a:off x="3584193" y="4761148"/>
            <a:ext cx="1944216" cy="12961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ight Triangle 5"/>
          <p:cNvSpPr/>
          <p:nvPr/>
        </p:nvSpPr>
        <p:spPr>
          <a:xfrm rot="5400000" flipH="1">
            <a:off x="3584193" y="4733648"/>
            <a:ext cx="1944216" cy="12961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ight Triangle 6"/>
          <p:cNvSpPr/>
          <p:nvPr/>
        </p:nvSpPr>
        <p:spPr>
          <a:xfrm rot="16200000">
            <a:off x="7272300" y="1520788"/>
            <a:ext cx="1944216" cy="1296144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580112" y="4437112"/>
            <a:ext cx="33123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Angles and side lengths are the same</a:t>
            </a:r>
          </a:p>
        </p:txBody>
      </p:sp>
    </p:spTree>
    <p:extLst>
      <p:ext uri="{BB962C8B-B14F-4D97-AF65-F5344CB8AC3E}">
        <p14:creationId xmlns:p14="http://schemas.microsoft.com/office/powerpoint/2010/main" val="293824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5" grpId="1" animBg="1"/>
      <p:bldP spid="6" grpId="0" animBg="1"/>
      <p:bldP spid="6" grpId="1" animBg="1"/>
      <p:bldP spid="7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C1882E-BC5D-4346-B1AB-D8957540B1B5}"/>
              </a:ext>
            </a:extLst>
          </p:cNvPr>
          <p:cNvSpPr/>
          <p:nvPr/>
        </p:nvSpPr>
        <p:spPr>
          <a:xfrm>
            <a:off x="1979712" y="1434188"/>
            <a:ext cx="69847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Similar triangles are triangles having the same </a:t>
            </a:r>
            <a:r>
              <a:rPr lang="en-AU" i="1" dirty="0"/>
              <a:t>shape </a:t>
            </a:r>
            <a:r>
              <a:rPr lang="en-AU" dirty="0"/>
              <a:t>but different </a:t>
            </a:r>
            <a:r>
              <a:rPr lang="en-AU" i="1" dirty="0"/>
              <a:t>size.</a:t>
            </a:r>
            <a:endParaRPr lang="en-A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4B4B1-ADFA-4C23-B663-904886BB629D}"/>
              </a:ext>
            </a:extLst>
          </p:cNvPr>
          <p:cNvCxnSpPr/>
          <p:nvPr/>
        </p:nvCxnSpPr>
        <p:spPr>
          <a:xfrm>
            <a:off x="0" y="64117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DA960-3A8A-4F82-A24A-04EFA275452B}"/>
              </a:ext>
            </a:extLst>
          </p:cNvPr>
          <p:cNvCxnSpPr/>
          <p:nvPr/>
        </p:nvCxnSpPr>
        <p:spPr>
          <a:xfrm>
            <a:off x="111808" y="122462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91A11D-EA00-45A8-8AD1-AE8196579C08}"/>
              </a:ext>
            </a:extLst>
          </p:cNvPr>
          <p:cNvSpPr txBox="1"/>
          <p:nvPr/>
        </p:nvSpPr>
        <p:spPr>
          <a:xfrm>
            <a:off x="219668" y="-7948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60C3A0-6B41-488F-B789-709EC04BF0DF}"/>
              </a:ext>
            </a:extLst>
          </p:cNvPr>
          <p:cNvCxnSpPr/>
          <p:nvPr/>
        </p:nvCxnSpPr>
        <p:spPr>
          <a:xfrm>
            <a:off x="1763688" y="1224621"/>
            <a:ext cx="0" cy="55365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7F03D5-684A-47B1-9685-35D9A11B8546}"/>
              </a:ext>
            </a:extLst>
          </p:cNvPr>
          <p:cNvSpPr txBox="1"/>
          <p:nvPr/>
        </p:nvSpPr>
        <p:spPr>
          <a:xfrm>
            <a:off x="7559824" y="14603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32DE3-01D1-413E-BCCC-F57736E433D2}"/>
              </a:ext>
            </a:extLst>
          </p:cNvPr>
          <p:cNvSpPr txBox="1"/>
          <p:nvPr/>
        </p:nvSpPr>
        <p:spPr>
          <a:xfrm>
            <a:off x="1083408" y="208426"/>
            <a:ext cx="271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Similar Triangles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7F085-9E8A-483E-BA33-3878DD1A76BB}"/>
              </a:ext>
            </a:extLst>
          </p:cNvPr>
          <p:cNvSpPr txBox="1"/>
          <p:nvPr/>
        </p:nvSpPr>
        <p:spPr>
          <a:xfrm>
            <a:off x="219668" y="76295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scale factor?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AD80AD-7DE3-4942-82C5-C972646AB1AB}"/>
              </a:ext>
            </a:extLst>
          </p:cNvPr>
          <p:cNvSpPr txBox="1"/>
          <p:nvPr/>
        </p:nvSpPr>
        <p:spPr>
          <a:xfrm>
            <a:off x="2036006" y="1932110"/>
            <a:ext cx="6624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Similar objects can be enlargements or dilations.</a:t>
            </a:r>
          </a:p>
          <a:p>
            <a:r>
              <a:rPr lang="en-AU" dirty="0"/>
              <a:t>The side lengths change but the angle sizes stay the same</a:t>
            </a:r>
          </a:p>
          <a:p>
            <a:endParaRPr lang="en-AU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EAC8F-46B4-4604-AE3F-9E3F60913702}"/>
              </a:ext>
            </a:extLst>
          </p:cNvPr>
          <p:cNvSpPr/>
          <p:nvPr/>
        </p:nvSpPr>
        <p:spPr>
          <a:xfrm>
            <a:off x="2105472" y="2886199"/>
            <a:ext cx="62464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Enlargements have all sides made larger by the same factor.</a:t>
            </a:r>
          </a:p>
          <a:p>
            <a:r>
              <a:rPr lang="en-AU" dirty="0"/>
              <a:t>Dilations have all sides made smaller by the same factor.</a:t>
            </a:r>
          </a:p>
        </p:txBody>
      </p:sp>
    </p:spTree>
    <p:extLst>
      <p:ext uri="{BB962C8B-B14F-4D97-AF65-F5344CB8AC3E}">
        <p14:creationId xmlns:p14="http://schemas.microsoft.com/office/powerpoint/2010/main" val="99516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Arrow 3"/>
          <p:cNvSpPr/>
          <p:nvPr/>
        </p:nvSpPr>
        <p:spPr>
          <a:xfrm>
            <a:off x="1835696" y="2282224"/>
            <a:ext cx="2035245" cy="1008112"/>
          </a:xfrm>
          <a:prstGeom prst="right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ight Arrow 4"/>
          <p:cNvSpPr/>
          <p:nvPr/>
        </p:nvSpPr>
        <p:spPr>
          <a:xfrm rot="10800000">
            <a:off x="6012160" y="4221087"/>
            <a:ext cx="2035245" cy="1008112"/>
          </a:xfrm>
          <a:prstGeom prst="rightArrow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5436096" y="1418128"/>
            <a:ext cx="1152128" cy="1728192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971600" y="741721"/>
            <a:ext cx="576064" cy="12471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Heart 8"/>
          <p:cNvSpPr/>
          <p:nvPr/>
        </p:nvSpPr>
        <p:spPr>
          <a:xfrm>
            <a:off x="647564" y="3573015"/>
            <a:ext cx="1224136" cy="1296144"/>
          </a:xfrm>
          <a:prstGeom prst="hear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Heart 9"/>
          <p:cNvSpPr/>
          <p:nvPr/>
        </p:nvSpPr>
        <p:spPr>
          <a:xfrm>
            <a:off x="7164288" y="2780927"/>
            <a:ext cx="1224136" cy="1296144"/>
          </a:xfrm>
          <a:prstGeom prst="heart">
            <a:avLst/>
          </a:prstGeom>
          <a:solidFill>
            <a:srgbClr val="FF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ightning Bolt 10"/>
          <p:cNvSpPr/>
          <p:nvPr/>
        </p:nvSpPr>
        <p:spPr>
          <a:xfrm>
            <a:off x="4490480" y="4961914"/>
            <a:ext cx="1368152" cy="1512168"/>
          </a:xfrm>
          <a:prstGeom prst="lightningBol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Lightning Bolt 11"/>
          <p:cNvSpPr/>
          <p:nvPr/>
        </p:nvSpPr>
        <p:spPr>
          <a:xfrm rot="13393280">
            <a:off x="3644455" y="1187908"/>
            <a:ext cx="2170798" cy="2399303"/>
          </a:xfrm>
          <a:prstGeom prst="lightningBol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Block Arc 12"/>
          <p:cNvSpPr/>
          <p:nvPr/>
        </p:nvSpPr>
        <p:spPr>
          <a:xfrm>
            <a:off x="7331434" y="935212"/>
            <a:ext cx="1152128" cy="1080121"/>
          </a:xfrm>
          <a:prstGeom prst="blockArc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/>
        </p:nvSpPr>
        <p:spPr>
          <a:xfrm flipV="1">
            <a:off x="4772255" y="3397477"/>
            <a:ext cx="1152128" cy="1080121"/>
          </a:xfrm>
          <a:prstGeom prst="blockArc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Diagonal Stripe 14"/>
          <p:cNvSpPr/>
          <p:nvPr/>
        </p:nvSpPr>
        <p:spPr>
          <a:xfrm>
            <a:off x="395536" y="2387559"/>
            <a:ext cx="720080" cy="1617505"/>
          </a:xfrm>
          <a:prstGeom prst="diagStrip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6" name="Diagonal Stripe 15"/>
          <p:cNvSpPr/>
          <p:nvPr/>
        </p:nvSpPr>
        <p:spPr>
          <a:xfrm flipV="1">
            <a:off x="8047405" y="4975804"/>
            <a:ext cx="720080" cy="1617505"/>
          </a:xfrm>
          <a:prstGeom prst="diagStripe">
            <a:avLst/>
          </a:prstGeom>
          <a:solidFill>
            <a:srgbClr val="0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7" name="Regular Pentagon 16"/>
          <p:cNvSpPr/>
          <p:nvPr/>
        </p:nvSpPr>
        <p:spPr>
          <a:xfrm>
            <a:off x="1945970" y="3126283"/>
            <a:ext cx="1603197" cy="1526854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gular Pentagon 17"/>
          <p:cNvSpPr/>
          <p:nvPr/>
        </p:nvSpPr>
        <p:spPr>
          <a:xfrm rot="10800000">
            <a:off x="6304301" y="5187295"/>
            <a:ext cx="1603197" cy="1526854"/>
          </a:xfrm>
          <a:prstGeom prst="pentagon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5-Point Star 18"/>
          <p:cNvSpPr/>
          <p:nvPr/>
        </p:nvSpPr>
        <p:spPr>
          <a:xfrm>
            <a:off x="2229758" y="908719"/>
            <a:ext cx="1247119" cy="1247119"/>
          </a:xfrm>
          <a:prstGeom prst="star5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5-Point Star 19"/>
          <p:cNvSpPr/>
          <p:nvPr/>
        </p:nvSpPr>
        <p:spPr>
          <a:xfrm rot="2033119">
            <a:off x="2397416" y="4716619"/>
            <a:ext cx="1920050" cy="1920050"/>
          </a:xfrm>
          <a:prstGeom prst="star5">
            <a:avLst/>
          </a:prstGeom>
          <a:solidFill>
            <a:srgbClr val="00CC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Wave 20"/>
          <p:cNvSpPr/>
          <p:nvPr/>
        </p:nvSpPr>
        <p:spPr>
          <a:xfrm>
            <a:off x="7029782" y="1844824"/>
            <a:ext cx="1737703" cy="864096"/>
          </a:xfrm>
          <a:prstGeom prst="wav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Wave 21"/>
          <p:cNvSpPr/>
          <p:nvPr/>
        </p:nvSpPr>
        <p:spPr>
          <a:xfrm rot="18721879">
            <a:off x="246764" y="5157192"/>
            <a:ext cx="1737703" cy="864096"/>
          </a:xfrm>
          <a:prstGeom prst="wav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&quot;No&quot; Symbol 2"/>
          <p:cNvSpPr/>
          <p:nvPr/>
        </p:nvSpPr>
        <p:spPr>
          <a:xfrm>
            <a:off x="2051718" y="673675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&quot;No&quot; Symbol 22"/>
          <p:cNvSpPr/>
          <p:nvPr/>
        </p:nvSpPr>
        <p:spPr>
          <a:xfrm>
            <a:off x="2441651" y="4940529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4" name="&quot;No&quot; Symbol 23"/>
          <p:cNvSpPr/>
          <p:nvPr/>
        </p:nvSpPr>
        <p:spPr>
          <a:xfrm>
            <a:off x="382848" y="563681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&quot;No&quot; Symbol 24"/>
          <p:cNvSpPr/>
          <p:nvPr/>
        </p:nvSpPr>
        <p:spPr>
          <a:xfrm>
            <a:off x="5210561" y="1489009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&quot;No&quot; Symbol 25"/>
          <p:cNvSpPr/>
          <p:nvPr/>
        </p:nvSpPr>
        <p:spPr>
          <a:xfrm>
            <a:off x="4490480" y="4975804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7" name="&quot;No&quot; Symbol 26"/>
          <p:cNvSpPr/>
          <p:nvPr/>
        </p:nvSpPr>
        <p:spPr>
          <a:xfrm>
            <a:off x="3870941" y="1425247"/>
            <a:ext cx="1603197" cy="1603197"/>
          </a:xfrm>
          <a:prstGeom prst="noSmoking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FCFF63-E7A5-41A5-97D8-38BFCB9AAEF5}"/>
              </a:ext>
            </a:extLst>
          </p:cNvPr>
          <p:cNvSpPr txBox="1"/>
          <p:nvPr/>
        </p:nvSpPr>
        <p:spPr>
          <a:xfrm>
            <a:off x="107504" y="893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Lets try together - Which are congruent and which are similar?</a:t>
            </a:r>
          </a:p>
        </p:txBody>
      </p:sp>
    </p:spTree>
    <p:extLst>
      <p:ext uri="{BB962C8B-B14F-4D97-AF65-F5344CB8AC3E}">
        <p14:creationId xmlns:p14="http://schemas.microsoft.com/office/powerpoint/2010/main" val="263985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9" grpId="0" animBg="1"/>
      <p:bldP spid="9" grpId="1" animBg="1"/>
      <p:bldP spid="10" grpId="0" animBg="1"/>
      <p:bldP spid="10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21" grpId="0" animBg="1"/>
      <p:bldP spid="21" grpId="1" animBg="1"/>
      <p:bldP spid="22" grpId="0" animBg="1"/>
      <p:bldP spid="22" grpId="1" animBg="1"/>
      <p:bldP spid="3" grpId="0" animBg="1"/>
      <p:bldP spid="3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918033-DD34-4E41-86B2-66F6E0A14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836712"/>
            <a:ext cx="5343525" cy="56483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67EE28-F946-4E20-A541-0DB7B5D5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272" y="1124744"/>
            <a:ext cx="1343025" cy="468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E1A52C-BE66-4327-89D0-FFFAF58DC39E}"/>
              </a:ext>
            </a:extLst>
          </p:cNvPr>
          <p:cNvSpPr txBox="1"/>
          <p:nvPr/>
        </p:nvSpPr>
        <p:spPr>
          <a:xfrm>
            <a:off x="259904" y="161339"/>
            <a:ext cx="8928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Your turn – Write down if these are congruent, similar or neither?</a:t>
            </a:r>
          </a:p>
        </p:txBody>
      </p:sp>
    </p:spTree>
    <p:extLst>
      <p:ext uri="{BB962C8B-B14F-4D97-AF65-F5344CB8AC3E}">
        <p14:creationId xmlns:p14="http://schemas.microsoft.com/office/powerpoint/2010/main" val="263292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C1882E-BC5D-4346-B1AB-D8957540B1B5}"/>
              </a:ext>
            </a:extLst>
          </p:cNvPr>
          <p:cNvSpPr/>
          <p:nvPr/>
        </p:nvSpPr>
        <p:spPr>
          <a:xfrm>
            <a:off x="1875496" y="1424597"/>
            <a:ext cx="6984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Similar triangles are triangles having the same </a:t>
            </a:r>
            <a:r>
              <a:rPr lang="en-AU" i="1" dirty="0"/>
              <a:t>shape </a:t>
            </a:r>
            <a:r>
              <a:rPr lang="en-AU" dirty="0"/>
              <a:t>but different </a:t>
            </a:r>
            <a:r>
              <a:rPr lang="en-AU" i="1" dirty="0"/>
              <a:t>size.</a:t>
            </a:r>
          </a:p>
          <a:p>
            <a:r>
              <a:rPr lang="en-AU" dirty="0"/>
              <a:t>The side lengths change but the angle sizes stay the same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D4B4B1-ADFA-4C23-B663-904886BB629D}"/>
              </a:ext>
            </a:extLst>
          </p:cNvPr>
          <p:cNvCxnSpPr/>
          <p:nvPr/>
        </p:nvCxnSpPr>
        <p:spPr>
          <a:xfrm>
            <a:off x="0" y="64117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DDA960-3A8A-4F82-A24A-04EFA275452B}"/>
              </a:ext>
            </a:extLst>
          </p:cNvPr>
          <p:cNvCxnSpPr/>
          <p:nvPr/>
        </p:nvCxnSpPr>
        <p:spPr>
          <a:xfrm>
            <a:off x="111808" y="122462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91A11D-EA00-45A8-8AD1-AE8196579C08}"/>
              </a:ext>
            </a:extLst>
          </p:cNvPr>
          <p:cNvSpPr txBox="1"/>
          <p:nvPr/>
        </p:nvSpPr>
        <p:spPr>
          <a:xfrm>
            <a:off x="219668" y="-7948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D60C3A0-6B41-488F-B789-709EC04BF0DF}"/>
              </a:ext>
            </a:extLst>
          </p:cNvPr>
          <p:cNvCxnSpPr/>
          <p:nvPr/>
        </p:nvCxnSpPr>
        <p:spPr>
          <a:xfrm>
            <a:off x="1763688" y="1224621"/>
            <a:ext cx="0" cy="553653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87F03D5-684A-47B1-9685-35D9A11B8546}"/>
              </a:ext>
            </a:extLst>
          </p:cNvPr>
          <p:cNvSpPr txBox="1"/>
          <p:nvPr/>
        </p:nvSpPr>
        <p:spPr>
          <a:xfrm>
            <a:off x="7559824" y="14603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032DE3-01D1-413E-BCCC-F57736E433D2}"/>
              </a:ext>
            </a:extLst>
          </p:cNvPr>
          <p:cNvSpPr txBox="1"/>
          <p:nvPr/>
        </p:nvSpPr>
        <p:spPr>
          <a:xfrm>
            <a:off x="1083408" y="208426"/>
            <a:ext cx="2712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Similar Triangles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77F085-9E8A-483E-BA33-3878DD1A76BB}"/>
              </a:ext>
            </a:extLst>
          </p:cNvPr>
          <p:cNvSpPr txBox="1"/>
          <p:nvPr/>
        </p:nvSpPr>
        <p:spPr>
          <a:xfrm>
            <a:off x="219668" y="76295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the scale factor?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EAC8F-46B4-4604-AE3F-9E3F60913702}"/>
              </a:ext>
            </a:extLst>
          </p:cNvPr>
          <p:cNvSpPr/>
          <p:nvPr/>
        </p:nvSpPr>
        <p:spPr>
          <a:xfrm>
            <a:off x="1945777" y="2192393"/>
            <a:ext cx="62464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Similar objects can be enlargements or dilations.</a:t>
            </a:r>
          </a:p>
          <a:p>
            <a:endParaRPr lang="en-AU" dirty="0"/>
          </a:p>
          <a:p>
            <a:r>
              <a:rPr lang="en-AU" dirty="0"/>
              <a:t>Enlargements have all sides made larger by the same factor. </a:t>
            </a:r>
          </a:p>
          <a:p>
            <a:r>
              <a:rPr lang="en-AU" dirty="0"/>
              <a:t>Dilations have all sides made smaller by the same factor.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E97974F-0165-4E2E-9C9D-4D32728F185F}"/>
                  </a:ext>
                </a:extLst>
              </p:cNvPr>
              <p:cNvSpPr/>
              <p:nvPr/>
            </p:nvSpPr>
            <p:spPr>
              <a:xfrm>
                <a:off x="1945777" y="3645024"/>
                <a:ext cx="6246440" cy="27388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We can calculate the amount the object has been scaled using the following formula.</a:t>
                </a:r>
              </a:p>
              <a:p>
                <a:endParaRPr lang="en-AU" i="1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𝐿𝑒𝑛𝑔𝑡h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𝑆𝑐𝑎𝑙𝑒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r>
                  <a:rPr lang="en-AU" i="1" dirty="0"/>
                  <a:t>   </a:t>
                </a:r>
              </a:p>
              <a:p>
                <a:endParaRPr lang="en-AU" dirty="0"/>
              </a:p>
              <a:p>
                <a:r>
                  <a:rPr lang="en-AU" dirty="0"/>
                  <a:t>A scale factor larger than 1 means the shape is enlarged or scaled up.  </a:t>
                </a:r>
              </a:p>
              <a:p>
                <a:r>
                  <a:rPr lang="en-AU" dirty="0"/>
                  <a:t>A scale factor less than 1 means the shape has been dilated or scaled down.</a:t>
                </a: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E97974F-0165-4E2E-9C9D-4D32728F18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777" y="3645024"/>
                <a:ext cx="6246440" cy="2738891"/>
              </a:xfrm>
              <a:prstGeom prst="rect">
                <a:avLst/>
              </a:prstGeom>
              <a:blipFill>
                <a:blip r:embed="rId2"/>
                <a:stretch>
                  <a:fillRect l="-780" t="-1336" b="-26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880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89C6E46-39DB-4294-8105-CE754975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89" y="773757"/>
            <a:ext cx="4619228" cy="34644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CEB99B-9B39-4912-BF75-E68C06F64816}"/>
              </a:ext>
            </a:extLst>
          </p:cNvPr>
          <p:cNvSpPr txBox="1"/>
          <p:nvPr/>
        </p:nvSpPr>
        <p:spPr>
          <a:xfrm>
            <a:off x="251520" y="26064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Example1. The original shape is on the left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20F9F8-AD47-45FE-9DFD-DAE8FA04B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841" y="2132857"/>
            <a:ext cx="2185636" cy="70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8EF886-607D-46AB-9366-FF224E3B9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718" y="2924945"/>
            <a:ext cx="852095" cy="7200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0FC2AC-E8FD-4DE6-8860-7D366C783B14}"/>
                  </a:ext>
                </a:extLst>
              </p:cNvPr>
              <p:cNvSpPr txBox="1"/>
              <p:nvPr/>
            </p:nvSpPr>
            <p:spPr>
              <a:xfrm>
                <a:off x="530290" y="2197062"/>
                <a:ext cx="8784976" cy="218489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We can calculate the amount the object has been scaled using the following formula.</a:t>
                </a:r>
              </a:p>
              <a:p>
                <a:endParaRPr lang="en-AU" i="1" dirty="0"/>
              </a:p>
              <a:p>
                <a:endParaRPr lang="en-AU" i="1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𝐿𝑒𝑛𝑔𝑡h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𝑆𝑐𝑎𝑙𝑒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r>
                  <a:rPr lang="en-AU" i="1" dirty="0"/>
                  <a:t>   </a:t>
                </a:r>
              </a:p>
              <a:p>
                <a:pPr lvl="2"/>
                <a:endParaRPr lang="en-AU" i="1" dirty="0"/>
              </a:p>
              <a:p>
                <a:pPr lvl="2"/>
                <a:endParaRPr lang="en-AU" i="1" dirty="0"/>
              </a:p>
              <a:p>
                <a:pPr lvl="2"/>
                <a:endParaRPr lang="en-AU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60FC2AC-E8FD-4DE6-8860-7D366C783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90" y="2197062"/>
                <a:ext cx="8784976" cy="2184893"/>
              </a:xfrm>
              <a:prstGeom prst="rect">
                <a:avLst/>
              </a:prstGeom>
              <a:blipFill>
                <a:blip r:embed="rId5"/>
                <a:stretch>
                  <a:fillRect l="-625" t="-139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C1957B8-EAC3-42D5-9212-97FD092AD629}"/>
              </a:ext>
            </a:extLst>
          </p:cNvPr>
          <p:cNvSpPr txBox="1"/>
          <p:nvPr/>
        </p:nvSpPr>
        <p:spPr>
          <a:xfrm>
            <a:off x="530290" y="4710474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 this case, the scale factor is greater than 1 so the shape has been enlarged.</a:t>
            </a:r>
          </a:p>
          <a:p>
            <a:endParaRPr lang="en-AU" dirty="0"/>
          </a:p>
          <a:p>
            <a:r>
              <a:rPr lang="en-AU" dirty="0"/>
              <a:t>If the shape is similar than all corresponding sides will give the same scale factor (more on this rule tomorrow).</a:t>
            </a:r>
          </a:p>
        </p:txBody>
      </p:sp>
    </p:spTree>
    <p:extLst>
      <p:ext uri="{BB962C8B-B14F-4D97-AF65-F5344CB8AC3E}">
        <p14:creationId xmlns:p14="http://schemas.microsoft.com/office/powerpoint/2010/main" val="2903687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DB185CA-9A48-41D9-AA0B-D64E4C846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836712"/>
            <a:ext cx="4608512" cy="30813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1A36AE-F1CF-4655-A0A6-77D44329487E}"/>
              </a:ext>
            </a:extLst>
          </p:cNvPr>
          <p:cNvSpPr txBox="1"/>
          <p:nvPr/>
        </p:nvSpPr>
        <p:spPr>
          <a:xfrm>
            <a:off x="251520" y="260648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2. The original shape is on top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10A6AB-7341-4A11-9D5C-AAA0329190E6}"/>
                  </a:ext>
                </a:extLst>
              </p:cNvPr>
              <p:cNvSpPr txBox="1"/>
              <p:nvPr/>
            </p:nvSpPr>
            <p:spPr>
              <a:xfrm>
                <a:off x="395536" y="4005064"/>
                <a:ext cx="8280920" cy="25783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We can calculate the amount the object has been scaled using the following formula.</a:t>
                </a:r>
              </a:p>
              <a:p>
                <a:endParaRPr lang="en-AU" i="1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𝐿𝑒𝑛𝑔𝑡h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𝑆𝑐𝑎𝑙𝑒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r>
                  <a:rPr lang="en-AU" i="1" dirty="0"/>
                  <a:t>  </a:t>
                </a:r>
              </a:p>
              <a:p>
                <a:pPr lvl="2"/>
                <a:endParaRPr lang="en-AU" i="1" dirty="0"/>
              </a:p>
              <a:p>
                <a:pPr lvl="2"/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0.</m:t>
                    </m:r>
                    <m:acc>
                      <m:accPr>
                        <m:chr m:val="̇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6 </m:t>
                        </m:r>
                      </m:e>
                    </m:acc>
                  </m:oMath>
                </a14:m>
                <a:endParaRPr lang="en-AU" i="1" dirty="0"/>
              </a:p>
              <a:p>
                <a:pPr lvl="2"/>
                <a:endParaRPr lang="en-AU" i="1" dirty="0"/>
              </a:p>
              <a:p>
                <a:r>
                  <a:rPr lang="en-AU" dirty="0"/>
                  <a:t>In this case, the scale factor is greater than 1 so the shape has been enlarged.</a:t>
                </a:r>
              </a:p>
              <a:p>
                <a:pPr lvl="2"/>
                <a:endParaRPr lang="en-AU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F10A6AB-7341-4A11-9D5C-AAA032919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4005064"/>
                <a:ext cx="8280920" cy="2578335"/>
              </a:xfrm>
              <a:prstGeom prst="rect">
                <a:avLst/>
              </a:prstGeom>
              <a:blipFill>
                <a:blip r:embed="rId3"/>
                <a:stretch>
                  <a:fillRect l="-663" t="-14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56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CEB48F-CE25-4001-A341-CBFA43984A5D}"/>
              </a:ext>
            </a:extLst>
          </p:cNvPr>
          <p:cNvSpPr txBox="1"/>
          <p:nvPr/>
        </p:nvSpPr>
        <p:spPr>
          <a:xfrm>
            <a:off x="251520" y="188640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  Find the Scale factor for these 2 sets of shapes.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90EFD-0995-4DE6-8DF7-450A8DD40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24744"/>
            <a:ext cx="3562350" cy="1657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2D5507-FDFA-44D9-AC06-1BEC8526C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645024"/>
            <a:ext cx="1295400" cy="205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DC11CE-CF64-4774-9480-5C572717C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727" y="3679394"/>
            <a:ext cx="1409700" cy="2000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F6B7F9-8E36-4B84-9610-C14013281F98}"/>
              </a:ext>
            </a:extLst>
          </p:cNvPr>
          <p:cNvSpPr txBox="1"/>
          <p:nvPr/>
        </p:nvSpPr>
        <p:spPr>
          <a:xfrm>
            <a:off x="1007232" y="195341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Original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2872C2-B82E-4A01-913B-26988A14E9E2}"/>
              </a:ext>
            </a:extLst>
          </p:cNvPr>
          <p:cNvSpPr txBox="1"/>
          <p:nvPr/>
        </p:nvSpPr>
        <p:spPr>
          <a:xfrm>
            <a:off x="1186449" y="4797152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Original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BAFDC5-B780-41A1-B529-4770736E643C}"/>
                  </a:ext>
                </a:extLst>
              </p:cNvPr>
              <p:cNvSpPr/>
              <p:nvPr/>
            </p:nvSpPr>
            <p:spPr>
              <a:xfrm>
                <a:off x="4101902" y="1124744"/>
                <a:ext cx="4572000" cy="7998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𝐿𝑒𝑛𝑔𝑡h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𝑆𝑐𝑎𝑙𝑒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r>
                  <a:rPr lang="en-AU" i="1" dirty="0"/>
                  <a:t>  </a:t>
                </a:r>
              </a:p>
              <a:p>
                <a:pPr lvl="2"/>
                <a:endParaRPr lang="en-AU" i="1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EBAFDC5-B780-41A1-B529-4770736E64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902" y="1124744"/>
                <a:ext cx="4572000" cy="7998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16A4176-2060-4D08-BE36-721E14AE37D3}"/>
                  </a:ext>
                </a:extLst>
              </p:cNvPr>
              <p:cNvSpPr/>
              <p:nvPr/>
            </p:nvSpPr>
            <p:spPr>
              <a:xfrm>
                <a:off x="3845849" y="1833065"/>
                <a:ext cx="4828053" cy="4896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2"/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</m:oMath>
                </a14:m>
                <a:r>
                  <a:rPr lang="en-AU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</m:oMath>
                </a14:m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AU" i="1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16A4176-2060-4D08-BE36-721E14AE37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849" y="1833065"/>
                <a:ext cx="4828053" cy="489686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13951C-D391-4761-B6BA-F4538C127B26}"/>
                  </a:ext>
                </a:extLst>
              </p:cNvPr>
              <p:cNvSpPr/>
              <p:nvPr/>
            </p:nvSpPr>
            <p:spPr>
              <a:xfrm>
                <a:off x="4044024" y="3573016"/>
                <a:ext cx="4572000" cy="79989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panose="02040503050406030204" pitchFamily="18" charset="0"/>
                          </a:rPr>
                          <m:t>𝑁𝑒𝑤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𝐿𝑒𝑛𝑔𝑡h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𝑜𝑟𝑖𝑔𝑖𝑛𝑎𝑙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𝑠h𝑎𝑝𝑒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𝑙𝑒𝑛𝑔𝑡h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𝑆𝑐𝑎𝑙𝑒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𝐹𝑎𝑐𝑡𝑜𝑟</m:t>
                    </m:r>
                  </m:oMath>
                </a14:m>
                <a:r>
                  <a:rPr lang="en-AU" i="1" dirty="0"/>
                  <a:t>  </a:t>
                </a:r>
              </a:p>
              <a:p>
                <a:pPr lvl="2"/>
                <a:endParaRPr lang="en-AU" i="1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13951C-D391-4761-B6BA-F4538C127B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024" y="3573016"/>
                <a:ext cx="4572000" cy="7998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0A250B-C9AC-43BB-91A3-C9250BFBEEB1}"/>
                  </a:ext>
                </a:extLst>
              </p:cNvPr>
              <p:cNvSpPr/>
              <p:nvPr/>
            </p:nvSpPr>
            <p:spPr>
              <a:xfrm>
                <a:off x="3730427" y="4495916"/>
                <a:ext cx="5132624" cy="485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2"/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</m:oMath>
                </a14:m>
                <a:r>
                  <a:rPr lang="en-AU" i="1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39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b="0" i="1" smtClean="0">
                        <a:latin typeface="Cambria Math" panose="02040503050406030204" pitchFamily="18" charset="0"/>
                      </a:rPr>
                      <m:t>𝑜𝑟</m:t>
                    </m:r>
                  </m:oMath>
                </a14:m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𝑐𝑚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n-AU" i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F0A250B-C9AC-43BB-91A3-C9250BFBE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0427" y="4495916"/>
                <a:ext cx="5132624" cy="485902"/>
              </a:xfrm>
              <a:prstGeom prst="rect">
                <a:avLst/>
              </a:prstGeom>
              <a:blipFill>
                <a:blip r:embed="rId8"/>
                <a:stretch>
                  <a:fillRect b="-25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605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D76606-256A-4C9B-AD12-70240DE0D21D}"/>
              </a:ext>
            </a:extLst>
          </p:cNvPr>
          <p:cNvSpPr txBox="1"/>
          <p:nvPr/>
        </p:nvSpPr>
        <p:spPr>
          <a:xfrm>
            <a:off x="179512" y="260648"/>
            <a:ext cx="8424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if we know the scale factor, and we know the shapes are similar, we use that to find the lengths of unknown sides.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29FDE-91EA-461F-96DB-F7E6A2C0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6"/>
            <a:ext cx="3152775" cy="15525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A82775-3904-4AFF-ACFD-6F880BDBC5EE}"/>
              </a:ext>
            </a:extLst>
          </p:cNvPr>
          <p:cNvSpPr/>
          <p:nvPr/>
        </p:nvSpPr>
        <p:spPr>
          <a:xfrm>
            <a:off x="1619672" y="1628800"/>
            <a:ext cx="28803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137E8D-FCE0-4446-9537-F6B377F53801}"/>
              </a:ext>
            </a:extLst>
          </p:cNvPr>
          <p:cNvSpPr/>
          <p:nvPr/>
        </p:nvSpPr>
        <p:spPr>
          <a:xfrm>
            <a:off x="2267744" y="1612999"/>
            <a:ext cx="288032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911131-D59F-4812-B7CD-A900C9D1A513}"/>
              </a:ext>
            </a:extLst>
          </p:cNvPr>
          <p:cNvSpPr/>
          <p:nvPr/>
        </p:nvSpPr>
        <p:spPr>
          <a:xfrm>
            <a:off x="755576" y="1660832"/>
            <a:ext cx="307328" cy="1839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4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E43A97-4A23-4185-91D5-7A9AE4A80091}"/>
              </a:ext>
            </a:extLst>
          </p:cNvPr>
          <p:cNvSpPr txBox="1"/>
          <p:nvPr/>
        </p:nvSpPr>
        <p:spPr>
          <a:xfrm>
            <a:off x="4164174" y="906979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Find the scale factor</a:t>
            </a:r>
          </a:p>
          <a:p>
            <a:pPr marL="800100" lvl="1" indent="-342900">
              <a:buAutoNum type="arabicPeriod"/>
            </a:pP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ADC544-B01F-4CA8-B2B3-15256349AD42}"/>
              </a:ext>
            </a:extLst>
          </p:cNvPr>
          <p:cNvSpPr txBox="1"/>
          <p:nvPr/>
        </p:nvSpPr>
        <p:spPr>
          <a:xfrm>
            <a:off x="971600" y="1917290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original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455ADC3-D0DE-4F1F-B0BA-F9A3131EC5D5}"/>
                  </a:ext>
                </a:extLst>
              </p:cNvPr>
              <p:cNvSpPr/>
              <p:nvPr/>
            </p:nvSpPr>
            <p:spPr>
              <a:xfrm>
                <a:off x="4268627" y="1327407"/>
                <a:ext cx="2733761" cy="666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𝐿𝑒𝑛𝑔𝑡h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455ADC3-D0DE-4F1F-B0BA-F9A3131EC5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27" y="1327407"/>
                <a:ext cx="2733761" cy="6668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E7CF849-44F9-4DBD-B30D-C52F131F52FA}"/>
                  </a:ext>
                </a:extLst>
              </p:cNvPr>
              <p:cNvSpPr/>
              <p:nvPr/>
            </p:nvSpPr>
            <p:spPr>
              <a:xfrm>
                <a:off x="6845597" y="1386041"/>
                <a:ext cx="1140056" cy="4840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i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i="1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2</a:t>
                </a: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E7CF849-44F9-4DBD-B30D-C52F131F52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597" y="1386041"/>
                <a:ext cx="1140056" cy="484043"/>
              </a:xfrm>
              <a:prstGeom prst="rect">
                <a:avLst/>
              </a:prstGeom>
              <a:blipFill>
                <a:blip r:embed="rId4"/>
                <a:stretch>
                  <a:fillRect r="-3743" b="-7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EA2A613-112A-424B-A199-BB38A6DAEB73}"/>
              </a:ext>
            </a:extLst>
          </p:cNvPr>
          <p:cNvSpPr txBox="1"/>
          <p:nvPr/>
        </p:nvSpPr>
        <p:spPr>
          <a:xfrm>
            <a:off x="4067944" y="2326284"/>
            <a:ext cx="46826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 startAt="2"/>
            </a:pPr>
            <a:r>
              <a:rPr lang="en-AU" dirty="0"/>
              <a:t>Use the scale factor to find the missing sides</a:t>
            </a:r>
          </a:p>
          <a:p>
            <a:pPr marL="342900" indent="-342900">
              <a:buAutoNum type="arabicPeriod" startAt="2"/>
            </a:pPr>
            <a:endParaRPr lang="en-AU" dirty="0"/>
          </a:p>
          <a:p>
            <a:pPr marL="342900" indent="-342900">
              <a:buAutoNum type="arabicPeriod" startAt="2"/>
            </a:pPr>
            <a:endParaRPr lang="en-AU" dirty="0"/>
          </a:p>
          <a:p>
            <a:pPr marL="800100" lvl="1" indent="-342900">
              <a:buAutoNum type="arabicPeriod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1972FC-FB78-448E-9DB1-BBC8C540B53E}"/>
                  </a:ext>
                </a:extLst>
              </p:cNvPr>
              <p:cNvSpPr/>
              <p:nvPr/>
            </p:nvSpPr>
            <p:spPr>
              <a:xfrm>
                <a:off x="4391980" y="2859764"/>
                <a:ext cx="2733761" cy="666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𝐿𝑒𝑛𝑔𝑡h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1972FC-FB78-448E-9DB1-BBC8C540B5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1980" y="2859764"/>
                <a:ext cx="2733761" cy="6668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4823797-43DD-4BDD-9A59-9D1B433573BE}"/>
                  </a:ext>
                </a:extLst>
              </p:cNvPr>
              <p:cNvSpPr/>
              <p:nvPr/>
            </p:nvSpPr>
            <p:spPr>
              <a:xfrm>
                <a:off x="7002388" y="2972915"/>
                <a:ext cx="968535" cy="1039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i="1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2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4823797-43DD-4BDD-9A59-9D1B433573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388" y="2972915"/>
                <a:ext cx="968535" cy="1039515"/>
              </a:xfrm>
              <a:prstGeom prst="rect">
                <a:avLst/>
              </a:prstGeom>
              <a:blipFill>
                <a:blip r:embed="rId6"/>
                <a:stretch>
                  <a:fillRect l="-5660" r="-3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3EC073-149D-4DB2-A1B2-34DBE1127094}"/>
                  </a:ext>
                </a:extLst>
              </p:cNvPr>
              <p:cNvSpPr/>
              <p:nvPr/>
            </p:nvSpPr>
            <p:spPr>
              <a:xfrm>
                <a:off x="6400475" y="3602462"/>
                <a:ext cx="203029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𝑚𝑢𝑠𝑡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3EC073-149D-4DB2-A1B2-34DBE11270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475" y="3602462"/>
                <a:ext cx="203029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2B5C5A1-3B0E-43D4-94E8-5E38598770C4}"/>
                  </a:ext>
                </a:extLst>
              </p:cNvPr>
              <p:cNvSpPr/>
              <p:nvPr/>
            </p:nvSpPr>
            <p:spPr>
              <a:xfrm>
                <a:off x="4268627" y="4173244"/>
                <a:ext cx="2733761" cy="6668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𝑁𝑒𝑤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𝐿𝑒𝑛𝑔𝑡h</m:t>
                          </m:r>
                        </m:num>
                        <m:den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𝑜𝑟𝑖𝑔𝑖𝑛𝑎𝑙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𝑠h𝑎𝑝𝑒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𝑙𝑒𝑛𝑔𝑡h</m:t>
                          </m:r>
                        </m:den>
                      </m:f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2B5C5A1-3B0E-43D4-94E8-5E3859877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627" y="4173244"/>
                <a:ext cx="2733761" cy="6668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1F3A3F-1652-47DF-858C-3905F2224927}"/>
                  </a:ext>
                </a:extLst>
              </p:cNvPr>
              <p:cNvSpPr/>
              <p:nvPr/>
            </p:nvSpPr>
            <p:spPr>
              <a:xfrm>
                <a:off x="6879035" y="4286395"/>
                <a:ext cx="884473" cy="1016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i="1" dirty="0"/>
                  <a:t>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/>
                  <a:t>2</a:t>
                </a: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1F3A3F-1652-47DF-858C-3905F2224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035" y="4286395"/>
                <a:ext cx="884473" cy="1016945"/>
              </a:xfrm>
              <a:prstGeom prst="rect">
                <a:avLst/>
              </a:prstGeom>
              <a:blipFill>
                <a:blip r:embed="rId9"/>
                <a:stretch>
                  <a:fillRect l="-5479" r="-47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5113ADA-0E61-4360-A227-97F18E9E17EE}"/>
                  </a:ext>
                </a:extLst>
              </p:cNvPr>
              <p:cNvSpPr/>
              <p:nvPr/>
            </p:nvSpPr>
            <p:spPr>
              <a:xfrm>
                <a:off x="6277122" y="4915942"/>
                <a:ext cx="20336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𝑚𝑢𝑠𝑡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18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5113ADA-0E61-4360-A227-97F18E9E1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122" y="4915942"/>
                <a:ext cx="2033698" cy="369332"/>
              </a:xfrm>
              <a:prstGeom prst="rect">
                <a:avLst/>
              </a:prstGeom>
              <a:blipFill>
                <a:blip r:embed="rId1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342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E160A9-FC44-47CA-8832-1B04CAB51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46" y="620688"/>
            <a:ext cx="7910686" cy="58823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F3AFF4-411C-411E-A545-DC759D151B81}"/>
              </a:ext>
            </a:extLst>
          </p:cNvPr>
          <p:cNvSpPr txBox="1"/>
          <p:nvPr/>
        </p:nvSpPr>
        <p:spPr>
          <a:xfrm>
            <a:off x="539552" y="18864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</a:t>
            </a:r>
          </a:p>
        </p:txBody>
      </p:sp>
    </p:spTree>
    <p:extLst>
      <p:ext uri="{BB962C8B-B14F-4D97-AF65-F5344CB8AC3E}">
        <p14:creationId xmlns:p14="http://schemas.microsoft.com/office/powerpoint/2010/main" val="29560350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532537-C000-4E27-AC56-5C76F4178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51694"/>
            <a:ext cx="7601842" cy="594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57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604</Words>
  <Application>Microsoft Office PowerPoint</Application>
  <PresentationFormat>On-screen Show (4:3)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 Math</vt:lpstr>
      <vt:lpstr>Office Theme</vt:lpstr>
      <vt:lpstr>By J. Wilson</vt:lpstr>
      <vt:lpstr>Similar Shapes</vt:lpstr>
      <vt:lpstr>Congruence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Congruence</dc:title>
  <dc:creator>Daniel Burke</dc:creator>
  <cp:lastModifiedBy>WILSON James [Baldivis Secondary College]</cp:lastModifiedBy>
  <cp:revision>18</cp:revision>
  <dcterms:created xsi:type="dcterms:W3CDTF">2012-03-18T18:52:20Z</dcterms:created>
  <dcterms:modified xsi:type="dcterms:W3CDTF">2018-06-17T06:51:25Z</dcterms:modified>
</cp:coreProperties>
</file>
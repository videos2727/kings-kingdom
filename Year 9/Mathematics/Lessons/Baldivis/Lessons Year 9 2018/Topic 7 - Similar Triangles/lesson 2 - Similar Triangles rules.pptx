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8" r:id="rId2"/>
    <p:sldId id="349" r:id="rId3"/>
    <p:sldId id="350" r:id="rId4"/>
    <p:sldId id="320" r:id="rId5"/>
    <p:sldId id="347" r:id="rId6"/>
    <p:sldId id="351" r:id="rId7"/>
    <p:sldId id="352" r:id="rId8"/>
    <p:sldId id="353" r:id="rId9"/>
    <p:sldId id="355" r:id="rId10"/>
    <p:sldId id="344" r:id="rId11"/>
    <p:sldId id="357" r:id="rId12"/>
    <p:sldId id="358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63" d="100"/>
          <a:sy n="63" d="100"/>
        </p:scale>
        <p:origin x="73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17/06/2018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17/06/2018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WordArt 4"/>
          <p:cNvSpPr>
            <a:spLocks noChangeArrowheads="1" noChangeShapeType="1" noTextEdit="1"/>
          </p:cNvSpPr>
          <p:nvPr/>
        </p:nvSpPr>
        <p:spPr bwMode="auto">
          <a:xfrm>
            <a:off x="1116013" y="476250"/>
            <a:ext cx="5813441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2. Similar Triangles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476375" y="1341438"/>
            <a:ext cx="69119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…are triangles having the same </a:t>
            </a:r>
            <a:r>
              <a:rPr lang="en-AU" i="1" dirty="0"/>
              <a:t>shape </a:t>
            </a:r>
            <a:r>
              <a:rPr lang="en-AU" dirty="0"/>
              <a:t>but different </a:t>
            </a:r>
            <a:r>
              <a:rPr lang="en-AU" i="1" dirty="0"/>
              <a:t>size.</a:t>
            </a:r>
            <a:endParaRPr lang="en-AU" dirty="0"/>
          </a:p>
        </p:txBody>
      </p:sp>
      <p:sp>
        <p:nvSpPr>
          <p:cNvPr id="15366" name="AutoShape 6"/>
          <p:cNvSpPr>
            <a:spLocks noChangeArrowheads="1"/>
          </p:cNvSpPr>
          <p:nvPr/>
        </p:nvSpPr>
        <p:spPr bwMode="auto">
          <a:xfrm>
            <a:off x="1547813" y="2924175"/>
            <a:ext cx="1439862" cy="72072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367" name="AutoShape 7"/>
          <p:cNvSpPr>
            <a:spLocks noChangeArrowheads="1"/>
          </p:cNvSpPr>
          <p:nvPr/>
        </p:nvSpPr>
        <p:spPr bwMode="auto">
          <a:xfrm>
            <a:off x="3635375" y="2420938"/>
            <a:ext cx="2449513" cy="1439862"/>
          </a:xfrm>
          <a:prstGeom prst="rtTriangle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 rot="5400000">
            <a:off x="1659702" y="4696410"/>
            <a:ext cx="2019963" cy="1212343"/>
          </a:xfrm>
          <a:prstGeom prst="rtTriangle">
            <a:avLst/>
          </a:prstGeom>
          <a:gradFill rotWithShape="1">
            <a:gsLst>
              <a:gs pos="0">
                <a:srgbClr val="FFFF66"/>
              </a:gs>
              <a:gs pos="100000">
                <a:srgbClr val="FFFF66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369" name="AutoShape 9"/>
          <p:cNvSpPr>
            <a:spLocks noChangeArrowheads="1"/>
          </p:cNvSpPr>
          <p:nvPr/>
        </p:nvSpPr>
        <p:spPr bwMode="auto">
          <a:xfrm rot="16200000" flipH="1">
            <a:off x="4536285" y="4472783"/>
            <a:ext cx="2014536" cy="1368423"/>
          </a:xfrm>
          <a:prstGeom prst="rtTriangle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370" name="AutoShape 10"/>
          <p:cNvSpPr>
            <a:spLocks noChangeArrowheads="1"/>
          </p:cNvSpPr>
          <p:nvPr/>
        </p:nvSpPr>
        <p:spPr bwMode="auto">
          <a:xfrm rot="5400000">
            <a:off x="5508526" y="2132263"/>
            <a:ext cx="1511149" cy="936276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6804025" y="1916113"/>
            <a:ext cx="1944688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800"/>
              <a:t>These are all similar triangles as they are all the same shape, even though some are rotated or flipped. 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6877050" y="4365625"/>
            <a:ext cx="19431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800">
                <a:solidFill>
                  <a:srgbClr val="E05D28"/>
                </a:solidFill>
              </a:rPr>
              <a:t>Note that the 3 angles of each are the same.</a:t>
            </a:r>
          </a:p>
        </p:txBody>
      </p:sp>
      <p:grpSp>
        <p:nvGrpSpPr>
          <p:cNvPr id="15378" name="Group 18"/>
          <p:cNvGrpSpPr>
            <a:grpSpLocks/>
          </p:cNvGrpSpPr>
          <p:nvPr/>
        </p:nvGrpSpPr>
        <p:grpSpPr bwMode="auto">
          <a:xfrm>
            <a:off x="1979613" y="2565400"/>
            <a:ext cx="4573588" cy="3390900"/>
            <a:chOff x="1223" y="1616"/>
            <a:chExt cx="2881" cy="2136"/>
          </a:xfrm>
        </p:grpSpPr>
        <p:sp>
          <p:nvSpPr>
            <p:cNvPr id="15373" name="Text Box 13"/>
            <p:cNvSpPr txBox="1">
              <a:spLocks noChangeArrowheads="1"/>
            </p:cNvSpPr>
            <p:nvPr/>
          </p:nvSpPr>
          <p:spPr bwMode="auto">
            <a:xfrm>
              <a:off x="3560" y="3385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>
                  <a:solidFill>
                    <a:schemeClr val="bg1"/>
                  </a:solidFill>
                </a:rPr>
                <a:t>20</a:t>
              </a:r>
              <a:r>
                <a:rPr lang="en-AU" sz="1800">
                  <a:solidFill>
                    <a:schemeClr val="bg1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15374" name="Text Box 14"/>
            <p:cNvSpPr txBox="1">
              <a:spLocks noChangeArrowheads="1"/>
            </p:cNvSpPr>
            <p:nvPr/>
          </p:nvSpPr>
          <p:spPr bwMode="auto">
            <a:xfrm>
              <a:off x="1338" y="2115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dirty="0"/>
                <a:t>20</a:t>
              </a:r>
              <a:r>
                <a:rPr lang="en-AU" sz="1800" dirty="0">
                  <a:sym typeface="Symbol" pitchFamily="18" charset="2"/>
                </a:rPr>
                <a:t></a:t>
              </a:r>
            </a:p>
          </p:txBody>
        </p:sp>
        <p:sp>
          <p:nvSpPr>
            <p:cNvPr id="15375" name="Text Box 15"/>
            <p:cNvSpPr txBox="1">
              <a:spLocks noChangeArrowheads="1"/>
            </p:cNvSpPr>
            <p:nvPr/>
          </p:nvSpPr>
          <p:spPr bwMode="auto">
            <a:xfrm>
              <a:off x="1223" y="3521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dirty="0">
                  <a:solidFill>
                    <a:schemeClr val="bg1"/>
                  </a:solidFill>
                </a:rPr>
                <a:t>20</a:t>
              </a:r>
              <a:r>
                <a:rPr lang="en-AU" sz="1800" dirty="0">
                  <a:solidFill>
                    <a:schemeClr val="bg1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15376" name="Text Box 16"/>
            <p:cNvSpPr txBox="1">
              <a:spLocks noChangeArrowheads="1"/>
            </p:cNvSpPr>
            <p:nvPr/>
          </p:nvSpPr>
          <p:spPr bwMode="auto">
            <a:xfrm>
              <a:off x="3560" y="1616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>
                  <a:solidFill>
                    <a:schemeClr val="bg1"/>
                  </a:solidFill>
                </a:rPr>
                <a:t>20</a:t>
              </a:r>
              <a:r>
                <a:rPr lang="en-AU" sz="1800">
                  <a:solidFill>
                    <a:schemeClr val="bg1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15377" name="Text Box 17"/>
            <p:cNvSpPr txBox="1">
              <a:spLocks noChangeArrowheads="1"/>
            </p:cNvSpPr>
            <p:nvPr/>
          </p:nvSpPr>
          <p:spPr bwMode="auto">
            <a:xfrm>
              <a:off x="3289" y="2251"/>
              <a:ext cx="5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/>
                <a:t>20</a:t>
              </a:r>
              <a:r>
                <a:rPr lang="en-AU" sz="1800">
                  <a:sym typeface="Symbol" pitchFamily="18" charset="2"/>
                </a:rPr>
                <a:t></a:t>
              </a:r>
            </a:p>
          </p:txBody>
        </p:sp>
      </p:grpSp>
      <p:grpSp>
        <p:nvGrpSpPr>
          <p:cNvPr id="15384" name="Group 24"/>
          <p:cNvGrpSpPr>
            <a:grpSpLocks/>
          </p:cNvGrpSpPr>
          <p:nvPr/>
        </p:nvGrpSpPr>
        <p:grpSpPr bwMode="auto">
          <a:xfrm>
            <a:off x="1476375" y="1844675"/>
            <a:ext cx="5327650" cy="2805113"/>
            <a:chOff x="930" y="1162"/>
            <a:chExt cx="3356" cy="1767"/>
          </a:xfrm>
        </p:grpSpPr>
        <p:sp>
          <p:nvSpPr>
            <p:cNvPr id="15379" name="Text Box 19"/>
            <p:cNvSpPr txBox="1">
              <a:spLocks noChangeArrowheads="1"/>
            </p:cNvSpPr>
            <p:nvPr/>
          </p:nvSpPr>
          <p:spPr bwMode="auto">
            <a:xfrm>
              <a:off x="3152" y="2614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dirty="0">
                  <a:solidFill>
                    <a:schemeClr val="bg1"/>
                  </a:solidFill>
                </a:rPr>
                <a:t>71</a:t>
              </a:r>
              <a:r>
                <a:rPr lang="en-AU" sz="1800" dirty="0">
                  <a:solidFill>
                    <a:schemeClr val="bg1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15380" name="Text Box 20"/>
            <p:cNvSpPr txBox="1">
              <a:spLocks noChangeArrowheads="1"/>
            </p:cNvSpPr>
            <p:nvPr/>
          </p:nvSpPr>
          <p:spPr bwMode="auto">
            <a:xfrm>
              <a:off x="1655" y="2698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dirty="0"/>
                <a:t>71</a:t>
              </a:r>
              <a:r>
                <a:rPr lang="en-AU" sz="1800" dirty="0">
                  <a:sym typeface="Symbol" pitchFamily="18" charset="2"/>
                </a:rPr>
                <a:t></a:t>
              </a:r>
            </a:p>
          </p:txBody>
        </p:sp>
        <p:sp>
          <p:nvSpPr>
            <p:cNvPr id="15381" name="Text Box 21"/>
            <p:cNvSpPr txBox="1">
              <a:spLocks noChangeArrowheads="1"/>
            </p:cNvSpPr>
            <p:nvPr/>
          </p:nvSpPr>
          <p:spPr bwMode="auto">
            <a:xfrm>
              <a:off x="2245" y="1616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/>
                <a:t>71</a:t>
              </a:r>
              <a:r>
                <a:rPr lang="en-AU" sz="1800">
                  <a:sym typeface="Symbol" pitchFamily="18" charset="2"/>
                </a:rPr>
                <a:t></a:t>
              </a:r>
            </a:p>
          </p:txBody>
        </p:sp>
        <p:sp>
          <p:nvSpPr>
            <p:cNvPr id="15382" name="Text Box 22"/>
            <p:cNvSpPr txBox="1">
              <a:spLocks noChangeArrowheads="1"/>
            </p:cNvSpPr>
            <p:nvPr/>
          </p:nvSpPr>
          <p:spPr bwMode="auto">
            <a:xfrm>
              <a:off x="3787" y="1162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>
                  <a:solidFill>
                    <a:schemeClr val="bg1"/>
                  </a:solidFill>
                </a:rPr>
                <a:t>71</a:t>
              </a:r>
              <a:r>
                <a:rPr lang="en-AU" sz="1800">
                  <a:solidFill>
                    <a:schemeClr val="bg1"/>
                  </a:solidFill>
                  <a:sym typeface="Symbol" pitchFamily="18" charset="2"/>
                </a:rPr>
                <a:t></a:t>
              </a:r>
            </a:p>
          </p:txBody>
        </p:sp>
        <p:sp>
          <p:nvSpPr>
            <p:cNvPr id="15383" name="Text Box 23"/>
            <p:cNvSpPr txBox="1">
              <a:spLocks noChangeArrowheads="1"/>
            </p:cNvSpPr>
            <p:nvPr/>
          </p:nvSpPr>
          <p:spPr bwMode="auto">
            <a:xfrm>
              <a:off x="930" y="1888"/>
              <a:ext cx="49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/>
                <a:t>71</a:t>
              </a:r>
              <a:r>
                <a:rPr lang="en-AU" sz="1800">
                  <a:sym typeface="Symbol" pitchFamily="18" charset="2"/>
                </a:rPr>
                <a:t>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333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2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2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0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0"/>
                            </p:stCondLst>
                            <p:childTnLst>
                              <p:par>
                                <p:cTn id="28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70" decel="100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770" decel="100000"/>
                                        <p:tgtEl>
                                          <p:spTgt spid="1536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5" dur="77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/>
      <p:bldP spid="153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WordArt 4"/>
          <p:cNvSpPr>
            <a:spLocks noChangeArrowheads="1" noChangeShapeType="1" noTextEdit="1"/>
          </p:cNvSpPr>
          <p:nvPr/>
        </p:nvSpPr>
        <p:spPr bwMode="auto">
          <a:xfrm>
            <a:off x="1116013" y="476250"/>
            <a:ext cx="42386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Similar Triangles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403350" y="1268413"/>
            <a:ext cx="68405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dirty="0"/>
              <a:t>Can be overlayed one on top of the other – so it’s easy to see corresponding angles are equal</a:t>
            </a:r>
          </a:p>
        </p:txBody>
      </p:sp>
      <p:sp>
        <p:nvSpPr>
          <p:cNvPr id="16390" name="AutoShape 6"/>
          <p:cNvSpPr>
            <a:spLocks noChangeArrowheads="1"/>
          </p:cNvSpPr>
          <p:nvPr/>
        </p:nvSpPr>
        <p:spPr bwMode="auto">
          <a:xfrm>
            <a:off x="1979613" y="2708275"/>
            <a:ext cx="3024187" cy="324167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2" name="AutoShape 8"/>
          <p:cNvSpPr>
            <a:spLocks noChangeArrowheads="1"/>
          </p:cNvSpPr>
          <p:nvPr/>
        </p:nvSpPr>
        <p:spPr bwMode="auto">
          <a:xfrm>
            <a:off x="4068763" y="2708275"/>
            <a:ext cx="1871662" cy="201612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3" name="AutoShape 9"/>
          <p:cNvSpPr>
            <a:spLocks noChangeArrowheads="1"/>
          </p:cNvSpPr>
          <p:nvPr/>
        </p:nvSpPr>
        <p:spPr bwMode="auto">
          <a:xfrm>
            <a:off x="6416675" y="2708275"/>
            <a:ext cx="1250950" cy="1350963"/>
          </a:xfrm>
          <a:prstGeom prst="rtTriangle">
            <a:avLst/>
          </a:prstGeom>
          <a:solidFill>
            <a:srgbClr val="E05D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634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85185E-6 L -0.2283 1.85185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96296E-6 L -0.48507 0.0027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/>
      <p:bldP spid="16392" grpId="0" animBg="1"/>
      <p:bldP spid="163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971550" y="765175"/>
            <a:ext cx="66246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If 2 triangles are similar, then their matching pairs of sides are in ratio</a:t>
            </a:r>
          </a:p>
        </p:txBody>
      </p:sp>
      <p:grpSp>
        <p:nvGrpSpPr>
          <p:cNvPr id="17429" name="Group 21"/>
          <p:cNvGrpSpPr>
            <a:grpSpLocks/>
          </p:cNvGrpSpPr>
          <p:nvPr/>
        </p:nvGrpSpPr>
        <p:grpSpPr bwMode="auto">
          <a:xfrm>
            <a:off x="4787900" y="1773238"/>
            <a:ext cx="4032250" cy="2519362"/>
            <a:chOff x="3016" y="1117"/>
            <a:chExt cx="2540" cy="1587"/>
          </a:xfrm>
        </p:grpSpPr>
        <p:grpSp>
          <p:nvGrpSpPr>
            <p:cNvPr id="17419" name="Group 11"/>
            <p:cNvGrpSpPr>
              <a:grpSpLocks/>
            </p:cNvGrpSpPr>
            <p:nvPr/>
          </p:nvGrpSpPr>
          <p:grpSpPr bwMode="auto">
            <a:xfrm>
              <a:off x="3016" y="1117"/>
              <a:ext cx="2540" cy="1315"/>
              <a:chOff x="3016" y="1117"/>
              <a:chExt cx="2540" cy="1315"/>
            </a:xfrm>
          </p:grpSpPr>
          <p:sp>
            <p:nvSpPr>
              <p:cNvPr id="17416" name="Line 8"/>
              <p:cNvSpPr>
                <a:spLocks noChangeShapeType="1"/>
              </p:cNvSpPr>
              <p:nvPr/>
            </p:nvSpPr>
            <p:spPr bwMode="auto">
              <a:xfrm flipH="1">
                <a:off x="3016" y="1117"/>
                <a:ext cx="408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7" name="Line 9"/>
              <p:cNvSpPr>
                <a:spLocks noChangeShapeType="1"/>
              </p:cNvSpPr>
              <p:nvPr/>
            </p:nvSpPr>
            <p:spPr bwMode="auto">
              <a:xfrm>
                <a:off x="3424" y="1117"/>
                <a:ext cx="2132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8" name="Line 10"/>
              <p:cNvSpPr>
                <a:spLocks noChangeShapeType="1"/>
              </p:cNvSpPr>
              <p:nvPr/>
            </p:nvSpPr>
            <p:spPr bwMode="auto">
              <a:xfrm flipH="1">
                <a:off x="3016" y="2432"/>
                <a:ext cx="2540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4331" y="1480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/>
                <a:t>b</a:t>
              </a:r>
            </a:p>
          </p:txBody>
        </p:sp>
        <p:sp>
          <p:nvSpPr>
            <p:cNvPr id="17424" name="Text Box 16"/>
            <p:cNvSpPr txBox="1">
              <a:spLocks noChangeArrowheads="1"/>
            </p:cNvSpPr>
            <p:nvPr/>
          </p:nvSpPr>
          <p:spPr bwMode="auto">
            <a:xfrm>
              <a:off x="4014" y="2416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f</a:t>
              </a:r>
            </a:p>
          </p:txBody>
        </p:sp>
        <p:sp>
          <p:nvSpPr>
            <p:cNvPr id="17425" name="Text Box 17"/>
            <p:cNvSpPr txBox="1">
              <a:spLocks noChangeArrowheads="1"/>
            </p:cNvSpPr>
            <p:nvPr/>
          </p:nvSpPr>
          <p:spPr bwMode="auto">
            <a:xfrm>
              <a:off x="3061" y="1480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d</a:t>
              </a:r>
            </a:p>
          </p:txBody>
        </p:sp>
      </p:grpSp>
      <p:grpSp>
        <p:nvGrpSpPr>
          <p:cNvPr id="17428" name="Group 20"/>
          <p:cNvGrpSpPr>
            <a:grpSpLocks/>
          </p:cNvGrpSpPr>
          <p:nvPr/>
        </p:nvGrpSpPr>
        <p:grpSpPr bwMode="auto">
          <a:xfrm>
            <a:off x="1403350" y="2060575"/>
            <a:ext cx="2520950" cy="1512888"/>
            <a:chOff x="884" y="1298"/>
            <a:chExt cx="1588" cy="953"/>
          </a:xfrm>
        </p:grpSpPr>
        <p:grpSp>
          <p:nvGrpSpPr>
            <p:cNvPr id="17420" name="Group 12"/>
            <p:cNvGrpSpPr>
              <a:grpSpLocks/>
            </p:cNvGrpSpPr>
            <p:nvPr/>
          </p:nvGrpSpPr>
          <p:grpSpPr bwMode="auto">
            <a:xfrm>
              <a:off x="975" y="1298"/>
              <a:ext cx="1497" cy="681"/>
              <a:chOff x="975" y="1298"/>
              <a:chExt cx="1497" cy="681"/>
            </a:xfrm>
          </p:grpSpPr>
          <p:sp>
            <p:nvSpPr>
              <p:cNvPr id="17413" name="Line 5"/>
              <p:cNvSpPr>
                <a:spLocks noChangeShapeType="1"/>
              </p:cNvSpPr>
              <p:nvPr/>
            </p:nvSpPr>
            <p:spPr bwMode="auto">
              <a:xfrm flipH="1">
                <a:off x="975" y="1298"/>
                <a:ext cx="227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4" name="Line 6"/>
              <p:cNvSpPr>
                <a:spLocks noChangeShapeType="1"/>
              </p:cNvSpPr>
              <p:nvPr/>
            </p:nvSpPr>
            <p:spPr bwMode="auto">
              <a:xfrm>
                <a:off x="1202" y="1298"/>
                <a:ext cx="1270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5" name="Line 7"/>
              <p:cNvSpPr>
                <a:spLocks noChangeShapeType="1"/>
              </p:cNvSpPr>
              <p:nvPr/>
            </p:nvSpPr>
            <p:spPr bwMode="auto">
              <a:xfrm flipH="1">
                <a:off x="975" y="1979"/>
                <a:ext cx="1497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1519" y="1963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e</a:t>
              </a: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1837" y="1434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/>
                <a:t>a</a:t>
              </a:r>
            </a:p>
          </p:txBody>
        </p:sp>
        <p:sp>
          <p:nvSpPr>
            <p:cNvPr id="17426" name="Text Box 18"/>
            <p:cNvSpPr txBox="1">
              <a:spLocks noChangeArrowheads="1"/>
            </p:cNvSpPr>
            <p:nvPr/>
          </p:nvSpPr>
          <p:spPr bwMode="auto">
            <a:xfrm>
              <a:off x="884" y="1434"/>
              <a:ext cx="4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c</a:t>
              </a:r>
            </a:p>
          </p:txBody>
        </p:sp>
      </p:grpSp>
      <p:graphicFrame>
        <p:nvGraphicFramePr>
          <p:cNvPr id="17427" name="Object 19"/>
          <p:cNvGraphicFramePr>
            <a:graphicFrameLocks noChangeAspect="1"/>
          </p:cNvGraphicFramePr>
          <p:nvPr/>
        </p:nvGraphicFramePr>
        <p:xfrm>
          <a:off x="3276600" y="4221163"/>
          <a:ext cx="244792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21163"/>
                        <a:ext cx="2447925" cy="144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979613" y="5734050"/>
            <a:ext cx="60483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000">
                <a:solidFill>
                  <a:srgbClr val="362DE3"/>
                </a:solidFill>
              </a:rPr>
              <a:t>Provided they’re similar, that is, the angles of one are equal to angles of the other</a:t>
            </a:r>
          </a:p>
        </p:txBody>
      </p:sp>
    </p:spTree>
    <p:extLst>
      <p:ext uri="{BB962C8B-B14F-4D97-AF65-F5344CB8AC3E}">
        <p14:creationId xmlns:p14="http://schemas.microsoft.com/office/powerpoint/2010/main" val="387904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665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015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008" y="-7831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67744" y="1601504"/>
            <a:ext cx="0" cy="542789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8902" y="8907"/>
            <a:ext cx="2575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742344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characteristics of similar triangles and how do we determine similarity?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504" y="220486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similar shapes?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4" y="1730326"/>
            <a:ext cx="5184576" cy="1383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272" y="3242812"/>
            <a:ext cx="6807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20689" y="7185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20689" y="16546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160" y="-11240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5696" y="1661555"/>
            <a:ext cx="0" cy="5374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6305" y="142531"/>
            <a:ext cx="2575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4463" y="2593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738" y="795539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characteristics of similar triangles and how do we determine similarity?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504" y="220486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similar shapes?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65" y="1927241"/>
            <a:ext cx="6629400" cy="1295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566EE-61E5-48E1-A796-E3FC867F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857" y="3975759"/>
            <a:ext cx="4321063" cy="16701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3D0E2B-9C7A-4CFD-8FD0-73D2C874A693}"/>
              </a:ext>
            </a:extLst>
          </p:cNvPr>
          <p:cNvSpPr txBox="1"/>
          <p:nvPr/>
        </p:nvSpPr>
        <p:spPr>
          <a:xfrm>
            <a:off x="2321323" y="3242892"/>
            <a:ext cx="661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we know 2 triangles are similar we write a statement of similarity.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5630AC-09B3-4B2F-903B-09CE17A32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875" y="3609924"/>
            <a:ext cx="2206179" cy="2955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A1420B-8735-4889-AF1F-B06D3D250169}"/>
              </a:ext>
            </a:extLst>
          </p:cNvPr>
          <p:cNvSpPr txBox="1"/>
          <p:nvPr/>
        </p:nvSpPr>
        <p:spPr>
          <a:xfrm>
            <a:off x="1903640" y="3853624"/>
            <a:ext cx="114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A0A40-23FE-44C3-AD53-D6FD05837445}"/>
              </a:ext>
            </a:extLst>
          </p:cNvPr>
          <p:cNvSpPr txBox="1"/>
          <p:nvPr/>
        </p:nvSpPr>
        <p:spPr>
          <a:xfrm>
            <a:off x="1894120" y="4146840"/>
            <a:ext cx="2746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these 2 triangles have 2 sets of sides with the same ratio and the angle between is the same.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4DB0E50-0D26-4754-ADB1-60059978837D}"/>
                  </a:ext>
                </a:extLst>
              </p:cNvPr>
              <p:cNvSpPr/>
              <p:nvPr/>
            </p:nvSpPr>
            <p:spPr>
              <a:xfrm>
                <a:off x="2051720" y="5956606"/>
                <a:ext cx="550484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We can say that because of rule SAS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𝐻𝐺𝐽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𝑅𝑄𝑆</m:t>
                    </m:r>
                  </m:oMath>
                </a14:m>
                <a:r>
                  <a:rPr lang="en-AU" dirty="0"/>
                  <a:t>  </a:t>
                </a:r>
              </a:p>
              <a:p>
                <a:r>
                  <a:rPr lang="en-AU" dirty="0"/>
                  <a:t>   </a:t>
                </a: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4DB0E50-0D26-4754-ADB1-600599788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5956606"/>
                <a:ext cx="5504840" cy="646331"/>
              </a:xfrm>
              <a:prstGeom prst="rect">
                <a:avLst/>
              </a:prstGeom>
              <a:blipFill>
                <a:blip r:embed="rId5"/>
                <a:stretch>
                  <a:fillRect l="-997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488571-F01E-409A-834F-66C7BCFFECA8}"/>
              </a:ext>
            </a:extLst>
          </p:cNvPr>
          <p:cNvSpPr txBox="1"/>
          <p:nvPr/>
        </p:nvSpPr>
        <p:spPr>
          <a:xfrm>
            <a:off x="1277634" y="18846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E30492-A3B2-4921-A5C8-C28A93C996F9}"/>
              </a:ext>
            </a:extLst>
          </p:cNvPr>
          <p:cNvSpPr txBox="1"/>
          <p:nvPr/>
        </p:nvSpPr>
        <p:spPr>
          <a:xfrm>
            <a:off x="1763630" y="868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AA9D51-C031-467F-B39C-861315A56196}"/>
              </a:ext>
            </a:extLst>
          </p:cNvPr>
          <p:cNvSpPr txBox="1"/>
          <p:nvPr/>
        </p:nvSpPr>
        <p:spPr>
          <a:xfrm>
            <a:off x="2781606" y="18612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0664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are these triangles Similar?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119675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(1)</a:t>
            </a:r>
          </a:p>
        </p:txBody>
      </p:sp>
      <p:sp>
        <p:nvSpPr>
          <p:cNvPr id="4" name="Isosceles Triangle 3"/>
          <p:cNvSpPr/>
          <p:nvPr/>
        </p:nvSpPr>
        <p:spPr bwMode="auto">
          <a:xfrm>
            <a:off x="1547664" y="1196752"/>
            <a:ext cx="1296144" cy="792088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5" name="Isosceles Triangle 4"/>
          <p:cNvSpPr/>
          <p:nvPr/>
        </p:nvSpPr>
        <p:spPr bwMode="auto">
          <a:xfrm>
            <a:off x="3419872" y="1196752"/>
            <a:ext cx="2016224" cy="1296144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85662" y="1427584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2702" y="129634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6568" y="192960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9652" y="127796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8" y="1491244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4712" y="2487687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6160" y="2882879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only be SSS rule as no angles involved.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414303" y="3479764"/>
                <a:ext cx="2481320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303" y="3479764"/>
                <a:ext cx="2481320" cy="70134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366160" y="4248996"/>
                <a:ext cx="53285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So all sides have the same scale factor and hence the triangles are similar </a:t>
                </a:r>
                <a:endParaRPr lang="en-A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𝐷𝐸𝐹</m:t>
                    </m:r>
                  </m:oMath>
                </a14:m>
                <a:r>
                  <a:rPr lang="en-AU" dirty="0"/>
                  <a:t>  </a:t>
                </a:r>
                <a:r>
                  <a:rPr lang="en-AU" dirty="0">
                    <a:solidFill>
                      <a:srgbClr val="FF0000"/>
                    </a:solidFill>
                  </a:rPr>
                  <a:t>(SSS rule)</a:t>
                </a:r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60" y="4248996"/>
                <a:ext cx="5328592" cy="923330"/>
              </a:xfrm>
              <a:prstGeom prst="rect">
                <a:avLst/>
              </a:prstGeom>
              <a:blipFill>
                <a:blip r:embed="rId3"/>
                <a:stretch>
                  <a:fillRect l="-915" t="-3311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C043A2D-220E-4350-9D2D-4B0A67ACE45C}"/>
              </a:ext>
            </a:extLst>
          </p:cNvPr>
          <p:cNvSpPr txBox="1"/>
          <p:nvPr/>
        </p:nvSpPr>
        <p:spPr>
          <a:xfrm>
            <a:off x="1277634" y="18846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F6135-0ECE-4113-B669-3ADF46D47225}"/>
              </a:ext>
            </a:extLst>
          </p:cNvPr>
          <p:cNvSpPr txBox="1"/>
          <p:nvPr/>
        </p:nvSpPr>
        <p:spPr>
          <a:xfrm>
            <a:off x="1763630" y="868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13016-DEAD-41A0-AA9E-7F99944E1CC4}"/>
              </a:ext>
            </a:extLst>
          </p:cNvPr>
          <p:cNvSpPr txBox="1"/>
          <p:nvPr/>
        </p:nvSpPr>
        <p:spPr>
          <a:xfrm>
            <a:off x="2781606" y="18612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1B22F-69A4-4853-9549-08837FEB3536}"/>
              </a:ext>
            </a:extLst>
          </p:cNvPr>
          <p:cNvSpPr txBox="1"/>
          <p:nvPr/>
        </p:nvSpPr>
        <p:spPr>
          <a:xfrm>
            <a:off x="3176939" y="23491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4BD18-6E33-465F-9564-B8ADDCF6789B}"/>
              </a:ext>
            </a:extLst>
          </p:cNvPr>
          <p:cNvSpPr txBox="1"/>
          <p:nvPr/>
        </p:nvSpPr>
        <p:spPr>
          <a:xfrm>
            <a:off x="3862575" y="8847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ED439-5BD4-4B51-A8C7-E207BCC70987}"/>
              </a:ext>
            </a:extLst>
          </p:cNvPr>
          <p:cNvSpPr txBox="1"/>
          <p:nvPr/>
        </p:nvSpPr>
        <p:spPr>
          <a:xfrm>
            <a:off x="5399146" y="23030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33295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544" y="119675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(2)</a:t>
            </a:r>
          </a:p>
        </p:txBody>
      </p:sp>
      <p:sp>
        <p:nvSpPr>
          <p:cNvPr id="4" name="Isosceles Triangle 3"/>
          <p:cNvSpPr/>
          <p:nvPr/>
        </p:nvSpPr>
        <p:spPr bwMode="auto">
          <a:xfrm>
            <a:off x="1547664" y="1196752"/>
            <a:ext cx="1296144" cy="792088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5" name="Isosceles Triangle 4"/>
          <p:cNvSpPr/>
          <p:nvPr/>
        </p:nvSpPr>
        <p:spPr bwMode="auto">
          <a:xfrm>
            <a:off x="3419872" y="1196752"/>
            <a:ext cx="2016224" cy="1296144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44380" y="2062381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51</a:t>
            </a:r>
            <a:r>
              <a:rPr lang="en-AU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02702" y="129634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6568" y="192960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528" y="1491244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4712" y="2487687"/>
            <a:ext cx="91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6160" y="2882879"/>
            <a:ext cx="716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only be SAS rule as only one angle involved.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414303" y="3479764"/>
                <a:ext cx="1973745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13.5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303" y="3479764"/>
                <a:ext cx="1973745" cy="69384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403648" y="4437112"/>
                <a:ext cx="63367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So two sides are in the same ratio and their included sides are equal </a:t>
                </a:r>
              </a:p>
              <a:p>
                <a:r>
                  <a:rPr lang="en-AU" dirty="0">
                    <a:solidFill>
                      <a:srgbClr val="FF0000"/>
                    </a:solidFill>
                  </a:rPr>
                  <a:t>		</a:t>
                </a:r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𝐻𝐼𝐽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𝐾𝑀𝑁</m:t>
                    </m:r>
                  </m:oMath>
                </a14:m>
                <a:r>
                  <a:rPr lang="en-AU" dirty="0"/>
                  <a:t> </a:t>
                </a:r>
                <a:r>
                  <a:rPr lang="en-AU" dirty="0">
                    <a:solidFill>
                      <a:srgbClr val="FF0000"/>
                    </a:solidFill>
                  </a:rPr>
                  <a:t>(SAS rule)</a:t>
                </a:r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4437112"/>
                <a:ext cx="6336704" cy="923330"/>
              </a:xfrm>
              <a:prstGeom prst="rect">
                <a:avLst/>
              </a:prstGeom>
              <a:blipFill>
                <a:blip r:embed="rId3"/>
                <a:stretch>
                  <a:fillRect l="-769" t="-3974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123728" y="1628800"/>
            <a:ext cx="64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51</a:t>
            </a:r>
            <a:r>
              <a:rPr lang="en-AU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8528" y="3479764"/>
            <a:ext cx="3061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6600"/>
                </a:solidFill>
              </a:rPr>
              <a:t>And their included angles are both 51</a:t>
            </a:r>
            <a:r>
              <a:rPr lang="en-AU" dirty="0">
                <a:solidFill>
                  <a:srgbClr val="006600"/>
                </a:solidFill>
                <a:sym typeface="Symbol" panose="05050102010706020507" pitchFamily="18" charset="2"/>
              </a:rPr>
              <a:t></a:t>
            </a:r>
            <a:endParaRPr lang="en-AU" dirty="0">
              <a:solidFill>
                <a:srgbClr val="0066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B457A-2235-4D11-97C3-05428974433C}"/>
              </a:ext>
            </a:extLst>
          </p:cNvPr>
          <p:cNvSpPr txBox="1"/>
          <p:nvPr/>
        </p:nvSpPr>
        <p:spPr>
          <a:xfrm>
            <a:off x="1277634" y="18846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EC1DF-1A37-489A-8B8F-B5AE652F12F6}"/>
              </a:ext>
            </a:extLst>
          </p:cNvPr>
          <p:cNvSpPr txBox="1"/>
          <p:nvPr/>
        </p:nvSpPr>
        <p:spPr>
          <a:xfrm>
            <a:off x="1763630" y="868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130B4-AA0C-4FD9-A936-EFA6D4B0AA6C}"/>
              </a:ext>
            </a:extLst>
          </p:cNvPr>
          <p:cNvSpPr txBox="1"/>
          <p:nvPr/>
        </p:nvSpPr>
        <p:spPr>
          <a:xfrm>
            <a:off x="2781606" y="18612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J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CB4297-9CEA-4CC2-8FBA-E1DCF8C849C3}"/>
              </a:ext>
            </a:extLst>
          </p:cNvPr>
          <p:cNvSpPr txBox="1"/>
          <p:nvPr/>
        </p:nvSpPr>
        <p:spPr>
          <a:xfrm>
            <a:off x="3176939" y="23491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FDC16-9EDB-43EF-B429-A018E63244EE}"/>
              </a:ext>
            </a:extLst>
          </p:cNvPr>
          <p:cNvSpPr txBox="1"/>
          <p:nvPr/>
        </p:nvSpPr>
        <p:spPr>
          <a:xfrm>
            <a:off x="3862575" y="8847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0E511B-641D-43D0-95F4-DC4C574407A6}"/>
              </a:ext>
            </a:extLst>
          </p:cNvPr>
          <p:cNvSpPr txBox="1"/>
          <p:nvPr/>
        </p:nvSpPr>
        <p:spPr>
          <a:xfrm>
            <a:off x="5399146" y="23030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12D95-D470-416C-B192-3922E5FA2823}"/>
              </a:ext>
            </a:extLst>
          </p:cNvPr>
          <p:cNvSpPr txBox="1"/>
          <p:nvPr/>
        </p:nvSpPr>
        <p:spPr>
          <a:xfrm>
            <a:off x="323528" y="33265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are these triangles Similar?</a:t>
            </a:r>
          </a:p>
        </p:txBody>
      </p:sp>
    </p:spTree>
    <p:extLst>
      <p:ext uri="{BB962C8B-B14F-4D97-AF65-F5344CB8AC3E}">
        <p14:creationId xmlns:p14="http://schemas.microsoft.com/office/powerpoint/2010/main" val="334019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544" y="119675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(3)</a:t>
            </a:r>
          </a:p>
        </p:txBody>
      </p:sp>
      <p:sp>
        <p:nvSpPr>
          <p:cNvPr id="4" name="Isosceles Triangle 3"/>
          <p:cNvSpPr/>
          <p:nvPr/>
        </p:nvSpPr>
        <p:spPr bwMode="auto">
          <a:xfrm>
            <a:off x="1547664" y="1196752"/>
            <a:ext cx="1296144" cy="792088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5" name="Isosceles Triangle 4"/>
          <p:cNvSpPr/>
          <p:nvPr/>
        </p:nvSpPr>
        <p:spPr bwMode="auto">
          <a:xfrm>
            <a:off x="3419872" y="1196752"/>
            <a:ext cx="2016224" cy="1296144"/>
          </a:xfrm>
          <a:prstGeom prst="triangle">
            <a:avLst>
              <a:gd name="adj" fmla="val 2683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>
              <a:ln>
                <a:noFill/>
              </a:ln>
              <a:solidFill>
                <a:srgbClr val="0D1111"/>
              </a:solidFill>
              <a:effectLst/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81428" y="1341238"/>
            <a:ext cx="64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51</a:t>
            </a:r>
            <a:r>
              <a:rPr lang="en-AU" sz="2000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79759" y="1296993"/>
            <a:ext cx="69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63</a:t>
            </a:r>
            <a:r>
              <a:rPr lang="en-AU" sz="2000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41969" y="2092786"/>
            <a:ext cx="919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66</a:t>
            </a:r>
            <a:r>
              <a:rPr lang="en-AU" sz="2000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6160" y="2882879"/>
            <a:ext cx="716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only be AA rule as angles only are involved.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403648" y="4437112"/>
                <a:ext cx="69847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So all angles are equal </a:t>
                </a:r>
              </a:p>
              <a:p>
                <a:r>
                  <a:rPr lang="en-AU" dirty="0">
                    <a:solidFill>
                      <a:srgbClr val="FF0000"/>
                    </a:solidFill>
                  </a:rPr>
                  <a:t>	</a:t>
                </a:r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𝑆𝑇𝑅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∆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𝑋𝑍𝑌</m:t>
                    </m:r>
                  </m:oMath>
                </a14:m>
                <a:r>
                  <a:rPr lang="en-AU" dirty="0"/>
                  <a:t> </a:t>
                </a:r>
                <a:r>
                  <a:rPr lang="en-AU" dirty="0">
                    <a:solidFill>
                      <a:srgbClr val="FF0000"/>
                    </a:solidFill>
                  </a:rPr>
                  <a:t>(AA rule)</a:t>
                </a:r>
                <a:endParaRPr lang="en-AU" dirty="0">
                  <a:solidFill>
                    <a:srgbClr val="0066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4437112"/>
                <a:ext cx="6984776" cy="646331"/>
              </a:xfrm>
              <a:prstGeom prst="rect">
                <a:avLst/>
              </a:prstGeom>
              <a:blipFill>
                <a:blip r:embed="rId2"/>
                <a:stretch>
                  <a:fillRect l="-698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123728" y="1628800"/>
            <a:ext cx="64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51</a:t>
            </a:r>
            <a:r>
              <a:rPr lang="en-AU" sz="2000" dirty="0">
                <a:solidFill>
                  <a:schemeClr val="bg1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3501008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missing angle from Triangle 1 is 180 – 114 = 66</a:t>
            </a:r>
            <a:r>
              <a:rPr lang="en-AU" dirty="0">
                <a:sym typeface="Symbol" panose="05050102010706020507" pitchFamily="18" charset="2"/>
              </a:rPr>
              <a:t>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403648" y="3903439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missing angle from Triangle 2 is 180 – 117 = 63</a:t>
            </a:r>
            <a:r>
              <a:rPr lang="en-AU" dirty="0">
                <a:sym typeface="Symbol" panose="05050102010706020507" pitchFamily="18" charset="2"/>
              </a:rPr>
              <a:t>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547664" y="1628800"/>
            <a:ext cx="919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FF66"/>
                </a:solidFill>
              </a:rPr>
              <a:t>66</a:t>
            </a:r>
            <a:r>
              <a:rPr lang="en-AU" sz="2000" dirty="0">
                <a:solidFill>
                  <a:srgbClr val="FFFF66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rgbClr val="FFFF6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0471" y="2132856"/>
            <a:ext cx="69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FF66"/>
                </a:solidFill>
              </a:rPr>
              <a:t>63</a:t>
            </a:r>
            <a:r>
              <a:rPr lang="en-AU" sz="2000" dirty="0">
                <a:solidFill>
                  <a:srgbClr val="FFFF66"/>
                </a:solidFill>
                <a:sym typeface="Symbol" panose="05050102010706020507" pitchFamily="18" charset="2"/>
              </a:rPr>
              <a:t></a:t>
            </a:r>
            <a:endParaRPr lang="en-AU" sz="2000" dirty="0">
              <a:solidFill>
                <a:srgbClr val="FFFF66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31BF75-78AC-4BCA-A0BC-C5CA5CEDFB1F}"/>
              </a:ext>
            </a:extLst>
          </p:cNvPr>
          <p:cNvSpPr txBox="1"/>
          <p:nvPr/>
        </p:nvSpPr>
        <p:spPr>
          <a:xfrm>
            <a:off x="1277634" y="18846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374EC-D841-472B-A5FF-FDE952F9CAA2}"/>
              </a:ext>
            </a:extLst>
          </p:cNvPr>
          <p:cNvSpPr txBox="1"/>
          <p:nvPr/>
        </p:nvSpPr>
        <p:spPr>
          <a:xfrm>
            <a:off x="1763630" y="8680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044C89-1F20-46F5-B8B3-3609A9299717}"/>
              </a:ext>
            </a:extLst>
          </p:cNvPr>
          <p:cNvSpPr txBox="1"/>
          <p:nvPr/>
        </p:nvSpPr>
        <p:spPr>
          <a:xfrm>
            <a:off x="2781606" y="186128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061D55-7C4E-4220-B80C-53A6829224CB}"/>
              </a:ext>
            </a:extLst>
          </p:cNvPr>
          <p:cNvSpPr txBox="1"/>
          <p:nvPr/>
        </p:nvSpPr>
        <p:spPr>
          <a:xfrm>
            <a:off x="3176939" y="234918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020F25-0EF3-449B-B9ED-39B5103EC628}"/>
              </a:ext>
            </a:extLst>
          </p:cNvPr>
          <p:cNvSpPr txBox="1"/>
          <p:nvPr/>
        </p:nvSpPr>
        <p:spPr>
          <a:xfrm>
            <a:off x="3862575" y="88473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DCFC17-6B98-4F8D-ADFA-A98DCABF3FAF}"/>
              </a:ext>
            </a:extLst>
          </p:cNvPr>
          <p:cNvSpPr txBox="1"/>
          <p:nvPr/>
        </p:nvSpPr>
        <p:spPr>
          <a:xfrm>
            <a:off x="5399146" y="230302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C50D43-6F67-41C8-9372-2C75E727956D}"/>
              </a:ext>
            </a:extLst>
          </p:cNvPr>
          <p:cNvSpPr txBox="1"/>
          <p:nvPr/>
        </p:nvSpPr>
        <p:spPr>
          <a:xfrm>
            <a:off x="323528" y="33265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are these triangles Similar?</a:t>
            </a:r>
          </a:p>
        </p:txBody>
      </p:sp>
    </p:spTree>
    <p:extLst>
      <p:ext uri="{BB962C8B-B14F-4D97-AF65-F5344CB8AC3E}">
        <p14:creationId xmlns:p14="http://schemas.microsoft.com/office/powerpoint/2010/main" val="21228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1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1181073" y="593993"/>
            <a:ext cx="6911975" cy="2246301"/>
            <a:chOff x="785786" y="141265"/>
            <a:chExt cx="6911975" cy="2246301"/>
          </a:xfrm>
        </p:grpSpPr>
        <p:grpSp>
          <p:nvGrpSpPr>
            <p:cNvPr id="3" name="Group 2"/>
            <p:cNvGrpSpPr/>
            <p:nvPr/>
          </p:nvGrpSpPr>
          <p:grpSpPr>
            <a:xfrm>
              <a:off x="785786" y="285728"/>
              <a:ext cx="2663825" cy="1655762"/>
              <a:chOff x="1692275" y="1052513"/>
              <a:chExt cx="2663825" cy="1655762"/>
            </a:xfrm>
          </p:grpSpPr>
          <p:sp>
            <p:nvSpPr>
              <p:cNvPr id="4" name="AutoShape 4"/>
              <p:cNvSpPr>
                <a:spLocks noChangeArrowheads="1"/>
              </p:cNvSpPr>
              <p:nvPr/>
            </p:nvSpPr>
            <p:spPr bwMode="auto">
              <a:xfrm>
                <a:off x="2195513" y="1196975"/>
                <a:ext cx="1728787" cy="1152525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" name="Line 6"/>
              <p:cNvSpPr>
                <a:spLocks noChangeShapeType="1"/>
              </p:cNvSpPr>
              <p:nvPr/>
            </p:nvSpPr>
            <p:spPr bwMode="auto">
              <a:xfrm>
                <a:off x="2195513" y="2133600"/>
                <a:ext cx="21590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" name="Line 7"/>
              <p:cNvSpPr>
                <a:spLocks noChangeShapeType="1"/>
              </p:cNvSpPr>
              <p:nvPr/>
            </p:nvSpPr>
            <p:spPr bwMode="auto">
              <a:xfrm>
                <a:off x="2411413" y="2133600"/>
                <a:ext cx="0" cy="21590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7" name="Text Box 11"/>
              <p:cNvSpPr txBox="1">
                <a:spLocks noChangeArrowheads="1"/>
              </p:cNvSpPr>
              <p:nvPr/>
            </p:nvSpPr>
            <p:spPr bwMode="auto">
              <a:xfrm>
                <a:off x="3132138" y="2060575"/>
                <a:ext cx="935037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dirty="0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30°</a:t>
                </a:r>
              </a:p>
            </p:txBody>
          </p:sp>
          <p:sp>
            <p:nvSpPr>
              <p:cNvPr id="8" name="Text Box 14"/>
              <p:cNvSpPr txBox="1">
                <a:spLocks noChangeArrowheads="1"/>
              </p:cNvSpPr>
              <p:nvPr/>
            </p:nvSpPr>
            <p:spPr bwMode="auto">
              <a:xfrm>
                <a:off x="1835150" y="1052513"/>
                <a:ext cx="5762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Arial" charset="0"/>
                  </a:rPr>
                  <a:t>A</a:t>
                </a:r>
                <a:endParaRPr lang="en-AU">
                  <a:latin typeface="Arial" charset="0"/>
                </a:endParaRPr>
              </a:p>
            </p:txBody>
          </p:sp>
          <p:sp>
            <p:nvSpPr>
              <p:cNvPr id="9" name="Text Box 15"/>
              <p:cNvSpPr txBox="1">
                <a:spLocks noChangeArrowheads="1"/>
              </p:cNvSpPr>
              <p:nvPr/>
            </p:nvSpPr>
            <p:spPr bwMode="auto">
              <a:xfrm>
                <a:off x="1835151" y="2179638"/>
                <a:ext cx="450834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latin typeface="Arial" charset="0"/>
                  </a:rPr>
                  <a:t>B</a:t>
                </a:r>
                <a:endParaRPr lang="en-AU" dirty="0">
                  <a:latin typeface="Arial" charset="0"/>
                </a:endParaRPr>
              </a:p>
            </p:txBody>
          </p:sp>
          <p:sp>
            <p:nvSpPr>
              <p:cNvPr id="10" name="Text Box 16"/>
              <p:cNvSpPr txBox="1">
                <a:spLocks noChangeArrowheads="1"/>
              </p:cNvSpPr>
              <p:nvPr/>
            </p:nvSpPr>
            <p:spPr bwMode="auto">
              <a:xfrm>
                <a:off x="3779838" y="2251075"/>
                <a:ext cx="5762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Arial" charset="0"/>
                  </a:rPr>
                  <a:t>C</a:t>
                </a:r>
                <a:endParaRPr lang="en-AU">
                  <a:latin typeface="Arial" charset="0"/>
                </a:endParaRPr>
              </a:p>
            </p:txBody>
          </p:sp>
          <p:sp>
            <p:nvSpPr>
              <p:cNvPr id="11" name="Text Box 23"/>
              <p:cNvSpPr txBox="1">
                <a:spLocks noChangeArrowheads="1"/>
              </p:cNvSpPr>
              <p:nvPr/>
            </p:nvSpPr>
            <p:spPr bwMode="auto">
              <a:xfrm>
                <a:off x="1692275" y="1628775"/>
                <a:ext cx="93503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>
                    <a:latin typeface="Arial" charset="0"/>
                    <a:cs typeface="Arial" charset="0"/>
                  </a:rPr>
                  <a:t>3cm</a:t>
                </a:r>
              </a:p>
            </p:txBody>
          </p:sp>
          <p:sp>
            <p:nvSpPr>
              <p:cNvPr id="12" name="Text Box 25"/>
              <p:cNvSpPr txBox="1">
                <a:spLocks noChangeArrowheads="1"/>
              </p:cNvSpPr>
              <p:nvPr/>
            </p:nvSpPr>
            <p:spPr bwMode="auto">
              <a:xfrm>
                <a:off x="3059113" y="1557338"/>
                <a:ext cx="935037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i="1" dirty="0">
                    <a:latin typeface="Arial" charset="0"/>
                    <a:cs typeface="Arial" charset="0"/>
                  </a:rPr>
                  <a:t>x</a:t>
                </a:r>
                <a:r>
                  <a:rPr lang="en-US" sz="1800" dirty="0">
                    <a:latin typeface="Arial" charset="0"/>
                    <a:cs typeface="Arial" charset="0"/>
                  </a:rPr>
                  <a:t> cm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097311" y="141265"/>
              <a:ext cx="3600450" cy="2246301"/>
              <a:chOff x="5003800" y="908050"/>
              <a:chExt cx="3600450" cy="2246301"/>
            </a:xfrm>
          </p:grpSpPr>
          <p:sp>
            <p:nvSpPr>
              <p:cNvPr id="14" name="AutoShape 5"/>
              <p:cNvSpPr>
                <a:spLocks noChangeArrowheads="1"/>
              </p:cNvSpPr>
              <p:nvPr/>
            </p:nvSpPr>
            <p:spPr bwMode="auto">
              <a:xfrm>
                <a:off x="5435600" y="1052513"/>
                <a:ext cx="2665413" cy="1800225"/>
              </a:xfrm>
              <a:prstGeom prst="rtTriangl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5" name="Line 8"/>
              <p:cNvSpPr>
                <a:spLocks noChangeShapeType="1"/>
              </p:cNvSpPr>
              <p:nvPr/>
            </p:nvSpPr>
            <p:spPr bwMode="auto">
              <a:xfrm>
                <a:off x="5435600" y="2578089"/>
                <a:ext cx="215900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>
                <a:off x="5651500" y="2578089"/>
                <a:ext cx="0" cy="21590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" name="Text Box 10"/>
              <p:cNvSpPr txBox="1">
                <a:spLocks noChangeArrowheads="1"/>
              </p:cNvSpPr>
              <p:nvPr/>
            </p:nvSpPr>
            <p:spPr bwMode="auto">
              <a:xfrm>
                <a:off x="7380288" y="2506651"/>
                <a:ext cx="935037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>
                    <a:latin typeface="Arial" charset="0"/>
                    <a:cs typeface="Arial" charset="0"/>
                  </a:rPr>
                  <a:t>30°</a:t>
                </a:r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5075238" y="908050"/>
                <a:ext cx="5762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Arial" charset="0"/>
                  </a:rPr>
                  <a:t>D</a:t>
                </a:r>
                <a:endParaRPr lang="en-AU">
                  <a:latin typeface="Arial" charset="0"/>
                </a:endParaRPr>
              </a:p>
            </p:txBody>
          </p:sp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5148263" y="2697151"/>
                <a:ext cx="5762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Arial" charset="0"/>
                  </a:rPr>
                  <a:t>E</a:t>
                </a:r>
                <a:endParaRPr lang="en-AU">
                  <a:latin typeface="Arial" charset="0"/>
                </a:endParaRPr>
              </a:p>
            </p:txBody>
          </p:sp>
          <p:sp>
            <p:nvSpPr>
              <p:cNvPr id="20" name="Text Box 19"/>
              <p:cNvSpPr txBox="1">
                <a:spLocks noChangeArrowheads="1"/>
              </p:cNvSpPr>
              <p:nvPr/>
            </p:nvSpPr>
            <p:spPr bwMode="auto">
              <a:xfrm>
                <a:off x="8027988" y="2625714"/>
                <a:ext cx="5762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latin typeface="Arial" charset="0"/>
                  </a:rPr>
                  <a:t>F</a:t>
                </a:r>
                <a:endParaRPr lang="en-AU">
                  <a:latin typeface="Arial" charset="0"/>
                </a:endParaRPr>
              </a:p>
            </p:txBody>
          </p:sp>
          <p:sp>
            <p:nvSpPr>
              <p:cNvPr id="21" name="Text Box 22"/>
              <p:cNvSpPr txBox="1">
                <a:spLocks noChangeArrowheads="1"/>
              </p:cNvSpPr>
              <p:nvPr/>
            </p:nvSpPr>
            <p:spPr bwMode="auto">
              <a:xfrm>
                <a:off x="5003800" y="1785926"/>
                <a:ext cx="935038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>
                    <a:latin typeface="Arial" charset="0"/>
                    <a:cs typeface="Arial" charset="0"/>
                  </a:rPr>
                  <a:t>5cm</a:t>
                </a:r>
              </a:p>
            </p:txBody>
          </p:sp>
          <p:sp>
            <p:nvSpPr>
              <p:cNvPr id="22" name="Text Box 24"/>
              <p:cNvSpPr txBox="1">
                <a:spLocks noChangeArrowheads="1"/>
              </p:cNvSpPr>
              <p:nvPr/>
            </p:nvSpPr>
            <p:spPr bwMode="auto">
              <a:xfrm>
                <a:off x="6732588" y="1641464"/>
                <a:ext cx="935037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>
                    <a:latin typeface="Arial" charset="0"/>
                    <a:cs typeface="Arial" charset="0"/>
                  </a:rPr>
                  <a:t>9cm</a:t>
                </a:r>
              </a:p>
            </p:txBody>
          </p:sp>
          <p:sp>
            <p:nvSpPr>
              <p:cNvPr id="23" name="Text Box 26"/>
              <p:cNvSpPr txBox="1">
                <a:spLocks noChangeArrowheads="1"/>
              </p:cNvSpPr>
              <p:nvPr/>
            </p:nvSpPr>
            <p:spPr bwMode="auto">
              <a:xfrm>
                <a:off x="6372225" y="2787639"/>
                <a:ext cx="935038" cy="3667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800" i="1">
                    <a:latin typeface="Arial" charset="0"/>
                    <a:cs typeface="Arial" charset="0"/>
                  </a:rPr>
                  <a:t>y </a:t>
                </a:r>
                <a:r>
                  <a:rPr lang="en-US" sz="1800">
                    <a:latin typeface="Arial" charset="0"/>
                    <a:cs typeface="Arial" charset="0"/>
                  </a:rPr>
                  <a:t>cm</a:t>
                </a:r>
                <a:endParaRPr lang="en-US" sz="1800" i="1">
                  <a:latin typeface="Arial" charset="0"/>
                  <a:cs typeface="Arial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16111" y="3771313"/>
                <a:ext cx="621510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800" dirty="0">
                    <a:solidFill>
                      <a:schemeClr val="tx1"/>
                    </a:solidFill>
                  </a:rPr>
                  <a:t>They have 2 matching angles  </a:t>
                </a:r>
                <a14:m>
                  <m:oMath xmlns:m="http://schemas.openxmlformats.org/officeDocument/2006/math">
                    <m:r>
                      <a:rPr lang="en-AU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E  and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C =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F</a:t>
                </a:r>
                <a:endParaRPr lang="en-AU" dirty="0">
                  <a:solidFill>
                    <a:schemeClr val="tx1"/>
                  </a:solidFill>
                </a:endParaRPr>
              </a:p>
              <a:p>
                <a:r>
                  <a:rPr lang="en-AU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so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𝑆𝑇𝑅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∆</m:t>
                    </m:r>
                    <m:r>
                      <a:rPr lang="en-AU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𝑋𝑍𝑌</m:t>
                    </m:r>
                  </m:oMath>
                </a14:m>
                <a:r>
                  <a:rPr lang="en-AU" sz="1800" dirty="0">
                    <a:solidFill>
                      <a:schemeClr val="tx1"/>
                    </a:solidFill>
                  </a:rPr>
                  <a:t>  (AA)</a:t>
                </a: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111" y="3771313"/>
                <a:ext cx="6215106" cy="646331"/>
              </a:xfrm>
              <a:prstGeom prst="rect">
                <a:avLst/>
              </a:prstGeom>
              <a:blipFill>
                <a:blip r:embed="rId2"/>
                <a:stretch>
                  <a:fillRect l="-784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A277C46-C089-4A30-AC0D-EEF88C913281}"/>
              </a:ext>
            </a:extLst>
          </p:cNvPr>
          <p:cNvSpPr txBox="1"/>
          <p:nvPr/>
        </p:nvSpPr>
        <p:spPr>
          <a:xfrm>
            <a:off x="323528" y="33265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are these triangles Similar?</a:t>
            </a:r>
          </a:p>
        </p:txBody>
      </p:sp>
    </p:spTree>
    <p:extLst>
      <p:ext uri="{BB962C8B-B14F-4D97-AF65-F5344CB8AC3E}">
        <p14:creationId xmlns:p14="http://schemas.microsoft.com/office/powerpoint/2010/main" val="406333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4042"/>
          </a:xfrm>
        </p:spPr>
        <p:txBody>
          <a:bodyPr>
            <a:normAutofit fontScale="90000"/>
          </a:bodyPr>
          <a:lstStyle/>
          <a:p>
            <a:r>
              <a:rPr lang="en-AU" dirty="0"/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C2FB5-CFAC-41ED-94A4-69A121CEA915}"/>
              </a:ext>
            </a:extLst>
          </p:cNvPr>
          <p:cNvSpPr txBox="1"/>
          <p:nvPr/>
        </p:nvSpPr>
        <p:spPr>
          <a:xfrm>
            <a:off x="611560" y="543000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Essential Mathematics Exercise 7G  - Page 426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A818A-43EB-4007-A45D-880F14107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0694"/>
            <a:ext cx="8005754" cy="453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5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49DF08-B53D-49E0-B9CD-D292E3DF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8640"/>
            <a:ext cx="7334250" cy="4695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B39C4E-0284-43B3-9587-2D9FD8AC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5157192"/>
            <a:ext cx="65722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6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364A31-6EF9-4CA9-A50A-353A374A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32656"/>
            <a:ext cx="7713515" cy="50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1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</TotalTime>
  <Words>509</Words>
  <Application>Microsoft Office PowerPoint</Application>
  <PresentationFormat>On-screen Show (4:3)</PresentationFormat>
  <Paragraphs>134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Comic Sans MS</vt:lpstr>
      <vt:lpstr>Symbol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132</cp:revision>
  <dcterms:created xsi:type="dcterms:W3CDTF">2014-05-14T02:58:57Z</dcterms:created>
  <dcterms:modified xsi:type="dcterms:W3CDTF">2018-06-17T12:42:48Z</dcterms:modified>
</cp:coreProperties>
</file>
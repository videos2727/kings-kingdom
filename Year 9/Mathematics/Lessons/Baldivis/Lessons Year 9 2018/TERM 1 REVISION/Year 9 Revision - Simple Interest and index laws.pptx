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1C6CC-8D5D-4198-831B-BC1A412B7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50508"/>
          </a:xfrm>
        </p:spPr>
        <p:txBody>
          <a:bodyPr/>
          <a:lstStyle/>
          <a:p>
            <a:r>
              <a:rPr lang="en-AU" dirty="0" err="1"/>
              <a:t>Yr</a:t>
            </a:r>
            <a:r>
              <a:rPr lang="en-AU" dirty="0"/>
              <a:t> 9 Revision  Lesson 1.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3D2E5-53A9-4A4C-8BE9-4AB8F06B7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Simple interest and Index laws</a:t>
            </a:r>
          </a:p>
        </p:txBody>
      </p:sp>
    </p:spTree>
    <p:extLst>
      <p:ext uri="{BB962C8B-B14F-4D97-AF65-F5344CB8AC3E}">
        <p14:creationId xmlns:p14="http://schemas.microsoft.com/office/powerpoint/2010/main" val="1766148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E43E3A2-8475-4FEF-BAF4-D9EF0A032486}"/>
              </a:ext>
            </a:extLst>
          </p:cNvPr>
          <p:cNvSpPr/>
          <p:nvPr/>
        </p:nvSpPr>
        <p:spPr>
          <a:xfrm>
            <a:off x="630381" y="897293"/>
            <a:ext cx="11319164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u="sng" dirty="0"/>
              <a:t>Interest</a:t>
            </a:r>
            <a:r>
              <a:rPr lang="en-AU" sz="2800" dirty="0"/>
              <a:t>: The amount paid to a lender on top of the amount you burrowed.</a:t>
            </a:r>
            <a:endParaRPr lang="en-AU" sz="2800" u="sng" dirty="0"/>
          </a:p>
          <a:p>
            <a:r>
              <a:rPr lang="en-AU" sz="3200" u="sng" dirty="0"/>
              <a:t>Principal</a:t>
            </a:r>
            <a:r>
              <a:rPr lang="en-AU" sz="2800" dirty="0"/>
              <a:t>: The amount you either borrow or invest</a:t>
            </a:r>
          </a:p>
          <a:p>
            <a:r>
              <a:rPr lang="en-AU" sz="3200" u="sng" dirty="0"/>
              <a:t>Rate</a:t>
            </a:r>
            <a:r>
              <a:rPr lang="en-AU" sz="2800" dirty="0"/>
              <a:t>: The percentage rate per annum (pa means per year)</a:t>
            </a:r>
          </a:p>
          <a:p>
            <a:r>
              <a:rPr lang="en-AU" sz="3200" u="sng" dirty="0"/>
              <a:t>Time</a:t>
            </a:r>
            <a:r>
              <a:rPr lang="en-AU" sz="2800" dirty="0"/>
              <a:t>: The number of years you borrow or invest the principal.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A7AB03-F785-44CA-8E9C-6ACB0678EC79}"/>
              </a:ext>
            </a:extLst>
          </p:cNvPr>
          <p:cNvSpPr txBox="1"/>
          <p:nvPr/>
        </p:nvSpPr>
        <p:spPr>
          <a:xfrm>
            <a:off x="568036" y="374073"/>
            <a:ext cx="3325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Simple Interest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5700D3-6A67-43EB-8016-F88ABE634DE6}"/>
              </a:ext>
            </a:extLst>
          </p:cNvPr>
          <p:cNvSpPr/>
          <p:nvPr/>
        </p:nvSpPr>
        <p:spPr>
          <a:xfrm>
            <a:off x="2549236" y="3867789"/>
            <a:ext cx="15760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3600" dirty="0"/>
              <a:t>I = PRT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0B23040-8CC5-482E-9152-8C88D0D564C8}"/>
                  </a:ext>
                </a:extLst>
              </p:cNvPr>
              <p:cNvSpPr/>
              <p:nvPr/>
            </p:nvSpPr>
            <p:spPr>
              <a:xfrm>
                <a:off x="4921208" y="3810367"/>
                <a:ext cx="1583062" cy="9505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sz="3600" dirty="0"/>
                  <a:t>P=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i="1"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3600" i="1">
                            <a:latin typeface="Cambria Math" panose="02040503050406030204" pitchFamily="18" charset="0"/>
                          </a:rPr>
                          <m:t>𝑅𝑇</m:t>
                        </m:r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AU" sz="3600" dirty="0"/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0B23040-8CC5-482E-9152-8C88D0D564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1208" y="3810367"/>
                <a:ext cx="1583062" cy="950517"/>
              </a:xfrm>
              <a:prstGeom prst="rect">
                <a:avLst/>
              </a:prstGeom>
              <a:blipFill>
                <a:blip r:embed="rId2"/>
                <a:stretch>
                  <a:fillRect l="-11538" b="-256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BCE4468-DA2D-4475-B0AC-9C6F5D093EF3}"/>
                  </a:ext>
                </a:extLst>
              </p:cNvPr>
              <p:cNvSpPr/>
              <p:nvPr/>
            </p:nvSpPr>
            <p:spPr>
              <a:xfrm>
                <a:off x="7285527" y="3810368"/>
                <a:ext cx="1587871" cy="9505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sz="3600" dirty="0"/>
                  <a:t>R=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i="1"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𝑃𝑇</m:t>
                        </m:r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AU" sz="3600" dirty="0"/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BCE4468-DA2D-4475-B0AC-9C6F5D093E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5527" y="3810368"/>
                <a:ext cx="1587871" cy="950517"/>
              </a:xfrm>
              <a:prstGeom prst="rect">
                <a:avLst/>
              </a:prstGeom>
              <a:blipFill>
                <a:blip r:embed="rId3"/>
                <a:stretch>
                  <a:fillRect l="-11494" b="-256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7904100-55A7-4167-A512-478D8EBD39B3}"/>
                  </a:ext>
                </a:extLst>
              </p:cNvPr>
              <p:cNvSpPr/>
              <p:nvPr/>
            </p:nvSpPr>
            <p:spPr>
              <a:xfrm>
                <a:off x="9654655" y="3810369"/>
                <a:ext cx="1516634" cy="9505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sz="3600" dirty="0"/>
                  <a:t>T=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i="1"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𝑅𝑃</m:t>
                        </m:r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AU" sz="3600" dirty="0"/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7904100-55A7-4167-A512-478D8EBD39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655" y="3810369"/>
                <a:ext cx="1516634" cy="950517"/>
              </a:xfrm>
              <a:prstGeom prst="rect">
                <a:avLst/>
              </a:prstGeom>
              <a:blipFill>
                <a:blip r:embed="rId4"/>
                <a:stretch>
                  <a:fillRect l="-12450" b="-256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A855AA9-EADC-4E13-AB0A-6E1348A5DC9A}"/>
              </a:ext>
            </a:extLst>
          </p:cNvPr>
          <p:cNvSpPr txBox="1"/>
          <p:nvPr/>
        </p:nvSpPr>
        <p:spPr>
          <a:xfrm>
            <a:off x="1094509" y="5144997"/>
            <a:ext cx="103909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For each of these equations, rate is a decimal.</a:t>
            </a:r>
          </a:p>
          <a:p>
            <a:endParaRPr lang="en-AU" sz="2400" dirty="0"/>
          </a:p>
          <a:p>
            <a:r>
              <a:rPr lang="en-AU" sz="2400" dirty="0"/>
              <a:t>Decimal x100 = percentage			percentage ÷ 100 = decimal    </a:t>
            </a:r>
          </a:p>
        </p:txBody>
      </p:sp>
    </p:spTree>
    <p:extLst>
      <p:ext uri="{BB962C8B-B14F-4D97-AF65-F5344CB8AC3E}">
        <p14:creationId xmlns:p14="http://schemas.microsoft.com/office/powerpoint/2010/main" val="2085718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BA0F3F7-CB31-441F-90EC-887A585580ED}"/>
              </a:ext>
            </a:extLst>
          </p:cNvPr>
          <p:cNvSpPr/>
          <p:nvPr/>
        </p:nvSpPr>
        <p:spPr>
          <a:xfrm>
            <a:off x="1066799" y="230602"/>
            <a:ext cx="10958945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AU" sz="2400" dirty="0"/>
              <a:t>Anne has $40,000 in a savings account for 3 years that earns 6% annually. How much does she earn?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7AAFD5-9EBF-4644-9E56-A8C59F2D2D79}"/>
              </a:ext>
            </a:extLst>
          </p:cNvPr>
          <p:cNvSpPr txBox="1"/>
          <p:nvPr/>
        </p:nvSpPr>
        <p:spPr>
          <a:xfrm>
            <a:off x="2729346" y="1310026"/>
            <a:ext cx="63592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= P.R.T</a:t>
            </a:r>
          </a:p>
          <a:p>
            <a:endParaRPr lang="en-US" dirty="0"/>
          </a:p>
          <a:p>
            <a:r>
              <a:rPr lang="en-US" dirty="0"/>
              <a:t>P  =  40,000        R = 6 ÷ 100 = 0.06	 	T = 3</a:t>
            </a:r>
          </a:p>
          <a:p>
            <a:endParaRPr lang="en-US" dirty="0"/>
          </a:p>
          <a:p>
            <a:r>
              <a:rPr lang="en-US" dirty="0"/>
              <a:t>I = 40,000  x 0.06  x 3</a:t>
            </a:r>
          </a:p>
          <a:p>
            <a:r>
              <a:rPr lang="en-US" dirty="0"/>
              <a:t>I = $7,200 </a:t>
            </a:r>
            <a:endParaRPr lang="en-A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86FAFF-52A5-4CA2-8FC9-059897EA9BF1}"/>
              </a:ext>
            </a:extLst>
          </p:cNvPr>
          <p:cNvSpPr/>
          <p:nvPr/>
        </p:nvSpPr>
        <p:spPr>
          <a:xfrm>
            <a:off x="1066798" y="3332790"/>
            <a:ext cx="10958945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AU" sz="2400" dirty="0"/>
              <a:t>Mark has paid $60,000 in interest over 5 years on a $300,000 home load. What is the interest rate?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8C9F7C1-429B-4BB1-8A19-5B16095C7174}"/>
                  </a:ext>
                </a:extLst>
              </p:cNvPr>
              <p:cNvSpPr txBox="1"/>
              <p:nvPr/>
            </p:nvSpPr>
            <p:spPr>
              <a:xfrm>
                <a:off x="2729346" y="4163787"/>
                <a:ext cx="6359236" cy="246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AU" dirty="0"/>
              </a:p>
              <a:p>
                <a:endParaRPr lang="en-US" dirty="0"/>
              </a:p>
              <a:p>
                <a:r>
                  <a:rPr lang="en-US" dirty="0"/>
                  <a:t>I  =  60,000        P= $300,000 	T = 5</a:t>
                </a:r>
              </a:p>
              <a:p>
                <a:endParaRPr lang="en-US" dirty="0"/>
              </a:p>
              <a:p>
                <a:r>
                  <a:rPr lang="en-US" dirty="0"/>
                  <a:t>R = 60,000  ÷ (300,000 x 5)</a:t>
                </a:r>
              </a:p>
              <a:p>
                <a:r>
                  <a:rPr lang="en-US" dirty="0"/>
                  <a:t>R = 0.04</a:t>
                </a:r>
              </a:p>
              <a:p>
                <a:r>
                  <a:rPr lang="en-US" dirty="0"/>
                  <a:t>      To convert to percentage – multiply by 100</a:t>
                </a:r>
              </a:p>
              <a:p>
                <a:r>
                  <a:rPr lang="en-US" dirty="0"/>
                  <a:t>	R = 0.04 x 100 = 4%</a:t>
                </a:r>
                <a:endParaRPr lang="en-AU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8C9F7C1-429B-4BB1-8A19-5B16095C7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346" y="4163787"/>
                <a:ext cx="6359236" cy="2460354"/>
              </a:xfrm>
              <a:prstGeom prst="rect">
                <a:avLst/>
              </a:prstGeom>
              <a:blipFill>
                <a:blip r:embed="rId2"/>
                <a:stretch>
                  <a:fillRect l="-863" b="-272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6365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AA2A295-FA56-4F79-AC10-B73F3D1AAE59}"/>
              </a:ext>
            </a:extLst>
          </p:cNvPr>
          <p:cNvSpPr/>
          <p:nvPr/>
        </p:nvSpPr>
        <p:spPr>
          <a:xfrm>
            <a:off x="1066799" y="230602"/>
            <a:ext cx="10958945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AU" sz="2400" dirty="0"/>
              <a:t>Robbo is burrowing $15,000 from his mate Davey. He says he will repay a total of $22,000 and that makes the loan worth 5% annually. How long is he planning on taking to repay the loan?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4AE4DE-2062-46D9-AF22-8B72FC848C71}"/>
                  </a:ext>
                </a:extLst>
              </p:cNvPr>
              <p:cNvSpPr txBox="1"/>
              <p:nvPr/>
            </p:nvSpPr>
            <p:spPr>
              <a:xfrm>
                <a:off x="3186546" y="1683823"/>
                <a:ext cx="6359236" cy="30248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T=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𝑃𝑅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AU" dirty="0"/>
              </a:p>
              <a:p>
                <a:endParaRPr lang="en-US" dirty="0"/>
              </a:p>
              <a:p>
                <a:r>
                  <a:rPr lang="en-US" dirty="0"/>
                  <a:t>I  =  22,000 – 15,000 = $7,000       P= $15,000	R = 5</a:t>
                </a:r>
              </a:p>
              <a:p>
                <a:endParaRPr lang="en-US" dirty="0"/>
              </a:p>
              <a:p>
                <a:r>
                  <a:rPr lang="en-US" dirty="0"/>
                  <a:t>T = 7,000  ÷ (15,000 x 5)</a:t>
                </a:r>
              </a:p>
              <a:p>
                <a:r>
                  <a:rPr lang="en-US" dirty="0"/>
                  <a:t>T = 9.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So 9 years and 0.33 x 365</a:t>
                </a:r>
              </a:p>
              <a:p>
                <a:endParaRPr lang="en-US" dirty="0"/>
              </a:p>
              <a:p>
                <a:r>
                  <a:rPr lang="en-US" dirty="0"/>
                  <a:t>9 years and 122 days </a:t>
                </a:r>
                <a:endParaRPr lang="en-AU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4AE4DE-2062-46D9-AF22-8B72FC848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6546" y="1683823"/>
                <a:ext cx="6359236" cy="3024867"/>
              </a:xfrm>
              <a:prstGeom prst="rect">
                <a:avLst/>
              </a:prstGeom>
              <a:blipFill>
                <a:blip r:embed="rId2"/>
                <a:stretch>
                  <a:fillRect l="-863" b="-22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0625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FD7D0-F50A-4DD4-BDB4-40F36F1EE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888" y="111492"/>
            <a:ext cx="8911687" cy="553526"/>
          </a:xfrm>
        </p:spPr>
        <p:txBody>
          <a:bodyPr>
            <a:normAutofit fontScale="90000"/>
          </a:bodyPr>
          <a:lstStyle/>
          <a:p>
            <a:r>
              <a:rPr lang="en-US" dirty="0"/>
              <a:t>Index Laws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267746-BDEE-4BF7-AA65-6D7862485960}"/>
                  </a:ext>
                </a:extLst>
              </p:cNvPr>
              <p:cNvSpPr txBox="1"/>
              <p:nvPr/>
            </p:nvSpPr>
            <p:spPr>
              <a:xfrm>
                <a:off x="1482435" y="568036"/>
                <a:ext cx="10487891" cy="60309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Index numbers are just a count of how many of the same number (or letter) are multiplied together.</a:t>
                </a:r>
              </a:p>
              <a:p>
                <a:endParaRPr lang="en-US" sz="2400" dirty="0"/>
              </a:p>
              <a:p>
                <a:pPr lvl="1"/>
                <a:r>
                  <a:rPr lang="en-US" sz="2000" dirty="0"/>
                  <a:t>5</a:t>
                </a:r>
                <a:r>
                  <a:rPr lang="en-US" sz="2000" baseline="30000" dirty="0"/>
                  <a:t>3</a:t>
                </a:r>
                <a:r>
                  <a:rPr lang="en-US" sz="2000" dirty="0"/>
                  <a:t> means there are 3 number 5’s all multiplied together (</a:t>
                </a:r>
                <a:r>
                  <a:rPr lang="en-US" sz="2000" dirty="0" err="1"/>
                  <a:t>eg</a:t>
                </a:r>
                <a:r>
                  <a:rPr lang="en-US" sz="2000" dirty="0"/>
                  <a:t>  5 x 5 x 5 )</a:t>
                </a:r>
              </a:p>
              <a:p>
                <a:pPr lvl="1"/>
                <a:r>
                  <a:rPr lang="en-US" sz="2000" dirty="0"/>
                  <a:t>21</a:t>
                </a:r>
                <a:r>
                  <a:rPr lang="en-US" sz="2000" baseline="30000" dirty="0"/>
                  <a:t>4</a:t>
                </a:r>
                <a:r>
                  <a:rPr lang="en-US" sz="2000" dirty="0"/>
                  <a:t> means 4 number 21’s multiplied together ( 21 x 21 x 21 x 21)</a:t>
                </a:r>
              </a:p>
              <a:p>
                <a:pPr lvl="1"/>
                <a:r>
                  <a:rPr lang="en-US" sz="2000" baseline="30000" dirty="0"/>
                  <a:t>c5</a:t>
                </a:r>
                <a:r>
                  <a:rPr lang="en-US" sz="2000" dirty="0"/>
                  <a:t> means 5 letter “c” multiplied together (c x c x c x c x c)</a:t>
                </a:r>
                <a:endParaRPr lang="en-AU" sz="2000" dirty="0"/>
              </a:p>
              <a:p>
                <a:endParaRPr lang="en-US" sz="2400" dirty="0"/>
              </a:p>
              <a:p>
                <a:r>
                  <a:rPr lang="en-US" sz="2400" dirty="0"/>
                  <a:t>T</a:t>
                </a:r>
                <a:r>
                  <a:rPr lang="en-AU" sz="2400" dirty="0"/>
                  <a:t>here are 6 laws we have learnt that help us work with these counts.</a:t>
                </a:r>
              </a:p>
              <a:p>
                <a:endParaRPr lang="en-US" sz="2400" dirty="0"/>
              </a:p>
              <a:p>
                <a:r>
                  <a:rPr lang="en-AU" sz="2000" b="1" dirty="0">
                    <a:latin typeface="Cambria Math" charset="0"/>
                    <a:ea typeface="Cambria Math" charset="0"/>
                    <a:cs typeface="Cambria Math" charset="0"/>
                  </a:rPr>
                  <a:t>Law 1								Law 2</a:t>
                </a:r>
                <a:r>
                  <a:rPr lang="en-AU" b="1" dirty="0">
                    <a:latin typeface="Cambria Math" charset="0"/>
                    <a:ea typeface="Cambria Math" charset="0"/>
                    <a:cs typeface="Cambria Math" charset="0"/>
                  </a:rPr>
                  <a:t> 							Law 3</a:t>
                </a:r>
              </a:p>
              <a:p>
                <a:r>
                  <a:rPr lang="en-AU" sz="2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	a</a:t>
                </a:r>
                <a:r>
                  <a:rPr lang="en-AU" sz="2000" baseline="30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m</a:t>
                </a:r>
                <a:r>
                  <a:rPr lang="en-AU" sz="2400" baseline="30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  </a:t>
                </a:r>
                <a:r>
                  <a:rPr lang="en-AU" sz="24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× a</a:t>
                </a:r>
                <a:r>
                  <a:rPr lang="en-AU" sz="2400" baseline="30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n </a:t>
                </a:r>
                <a:r>
                  <a:rPr lang="en-AU" sz="24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 = </a:t>
                </a:r>
                <a:r>
                  <a:rPr lang="en-AU" sz="2400" dirty="0" err="1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a</a:t>
                </a:r>
                <a:r>
                  <a:rPr lang="en-AU" sz="2400" baseline="30000" dirty="0" err="1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m+n</a:t>
                </a:r>
                <a:r>
                  <a:rPr lang="en-AU" sz="2400" baseline="30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 			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20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sz="20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𝑚</m:t>
                        </m:r>
                      </m:sup>
                    </m:sSup>
                    <m:r>
                      <a:rPr lang="en-AU" sz="20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 ÷</m:t>
                    </m:r>
                    <m:sSup>
                      <m:sSupPr>
                        <m:ctrlPr>
                          <a:rPr lang="en-AU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20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sz="20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𝑛</m:t>
                        </m:r>
                        <m:r>
                          <a:rPr lang="en-AU" sz="20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AU" sz="2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20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sz="20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𝑚</m:t>
                        </m:r>
                        <m:r>
                          <a:rPr lang="en-AU" sz="20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 −</m:t>
                        </m:r>
                        <m:r>
                          <a:rPr lang="en-AU" sz="20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AU" sz="2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				(a</a:t>
                </a:r>
                <a:r>
                  <a:rPr lang="en-AU" sz="2000" baseline="30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m</a:t>
                </a:r>
                <a:r>
                  <a:rPr lang="en-AU" sz="2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)</a:t>
                </a:r>
                <a:r>
                  <a:rPr lang="en-AU" sz="2000" baseline="30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n </a:t>
                </a:r>
                <a:r>
                  <a:rPr lang="en-AU" sz="2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 = a </a:t>
                </a:r>
                <a:r>
                  <a:rPr lang="en-AU" sz="2000" baseline="30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m x n </a:t>
                </a:r>
              </a:p>
              <a:p>
                <a:endParaRPr lang="en-US" sz="2000" baseline="30000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charset="0"/>
                </a:endParaRPr>
              </a:p>
              <a:p>
                <a:endParaRPr lang="en-US" sz="2000" b="1" baseline="300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mbria Math" charset="0"/>
                </a:endParaRPr>
              </a:p>
              <a:p>
                <a:r>
                  <a:rPr lang="en-US" sz="2000" b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Law 4								Law 5						Zeroth Law</a:t>
                </a:r>
              </a:p>
              <a:p>
                <a:pPr lvl="1"/>
                <a:r>
                  <a:rPr lang="en-AU" sz="2000" dirty="0">
                    <a:latin typeface="Cambria Math" charset="0"/>
                    <a:ea typeface="Cambria Math" charset="0"/>
                    <a:cs typeface="Cambria Math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AU" sz="2000" i="1">
                        <a:latin typeface="Cambria Math" charset="0"/>
                        <a:ea typeface="Cambria Math" charset="0"/>
                        <a:cs typeface="Cambria Math" charset="0"/>
                      </a:rPr>
                      <m:t>𝑎</m:t>
                    </m:r>
                    <m:r>
                      <a:rPr lang="en-AU" sz="2000" i="1">
                        <a:latin typeface="Cambria Math" charset="0"/>
                        <a:ea typeface="Cambria Math" charset="0"/>
                        <a:cs typeface="Cambria Math" charset="0"/>
                      </a:rPr>
                      <m:t> × </m:t>
                    </m:r>
                    <m:r>
                      <a:rPr lang="en-AU" sz="2000" i="1">
                        <a:latin typeface="Cambria Math" charset="0"/>
                        <a:ea typeface="Cambria Math" charset="0"/>
                        <a:cs typeface="Cambria Math" charset="0"/>
                      </a:rPr>
                      <m:t>𝑏</m:t>
                    </m:r>
                    <m:sSup>
                      <m:sSupPr>
                        <m:ctrlPr>
                          <a:rPr lang="en-AU" sz="20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20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)</m:t>
                        </m:r>
                      </m:e>
                      <m:sup>
                        <m:r>
                          <a:rPr lang="en-AU" sz="20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000" dirty="0">
                    <a:latin typeface="Cambria Math" charset="0"/>
                    <a:ea typeface="Cambria Math" charset="0"/>
                    <a:cs typeface="Cambria Math" charset="0"/>
                  </a:rPr>
                  <a:t> = a</a:t>
                </a:r>
                <a:r>
                  <a:rPr lang="en-AU" sz="2000" baseline="30000" dirty="0">
                    <a:latin typeface="Cambria Math" charset="0"/>
                    <a:ea typeface="Cambria Math" charset="0"/>
                    <a:cs typeface="Cambria Math" charset="0"/>
                  </a:rPr>
                  <a:t>2</a:t>
                </a:r>
                <a:r>
                  <a:rPr lang="en-AU" sz="2000" dirty="0">
                    <a:latin typeface="Cambria Math" charset="0"/>
                    <a:ea typeface="Cambria Math" charset="0"/>
                    <a:cs typeface="Cambria Math" charset="0"/>
                  </a:rPr>
                  <a:t> x b</a:t>
                </a:r>
                <a:r>
                  <a:rPr lang="en-AU" sz="2000" baseline="30000" dirty="0">
                    <a:latin typeface="Cambria Math" charset="0"/>
                    <a:ea typeface="Cambria Math" charset="0"/>
                    <a:cs typeface="Cambria Math" charset="0"/>
                  </a:rPr>
                  <a:t>2 </a:t>
                </a:r>
                <a:r>
                  <a:rPr lang="en-AU" sz="2000" dirty="0">
                    <a:latin typeface="Cambria Math" charset="0"/>
                    <a:ea typeface="Cambria Math" charset="0"/>
                    <a:cs typeface="Cambria Math" charset="0"/>
                  </a:rPr>
                  <a:t>= a</a:t>
                </a:r>
                <a:r>
                  <a:rPr lang="en-AU" sz="2000" baseline="30000" dirty="0">
                    <a:latin typeface="Cambria Math" charset="0"/>
                    <a:ea typeface="Cambria Math" charset="0"/>
                    <a:cs typeface="Cambria Math" charset="0"/>
                  </a:rPr>
                  <a:t>2</a:t>
                </a:r>
                <a:r>
                  <a:rPr lang="en-AU" sz="2000" dirty="0">
                    <a:latin typeface="Cambria Math" charset="0"/>
                    <a:ea typeface="Cambria Math" charset="0"/>
                    <a:cs typeface="Cambria Math" charset="0"/>
                  </a:rPr>
                  <a:t>b</a:t>
                </a:r>
                <a:r>
                  <a:rPr lang="en-AU" sz="2000" baseline="30000" dirty="0">
                    <a:latin typeface="Cambria Math" charset="0"/>
                    <a:ea typeface="Cambria Math" charset="0"/>
                    <a:cs typeface="Cambria Math" charset="0"/>
                  </a:rPr>
                  <a:t>2</a:t>
                </a:r>
                <a:r>
                  <a:rPr lang="en-AU" sz="2000" dirty="0">
                    <a:latin typeface="Cambria Math" charset="0"/>
                    <a:ea typeface="Cambria Math" charset="0"/>
                    <a:cs typeface="Cambria Math" charset="0"/>
                  </a:rPr>
                  <a:t> 			y </a:t>
                </a:r>
                <a:r>
                  <a:rPr lang="en-AU" sz="2000" baseline="30000" dirty="0">
                    <a:latin typeface="Cambria Math" charset="0"/>
                    <a:ea typeface="Cambria Math" charset="0"/>
                    <a:cs typeface="Cambria Math" charset="0"/>
                  </a:rPr>
                  <a:t>-3 </a:t>
                </a:r>
                <a:r>
                  <a:rPr lang="en-AU" sz="2000" dirty="0">
                    <a:latin typeface="Cambria Math" charset="0"/>
                    <a:ea typeface="Cambria Math" charset="0"/>
                    <a:cs typeface="Cambria Math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sz="20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bg-BG" sz="20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AU" sz="20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AU" sz="20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AU" sz="2000" dirty="0">
                    <a:latin typeface="Cambria Math" charset="0"/>
                    <a:ea typeface="Cambria Math" charset="0"/>
                    <a:cs typeface="Cambria Math" charset="0"/>
                  </a:rPr>
                  <a:t>						a</a:t>
                </a:r>
                <a:r>
                  <a:rPr lang="en-AU" sz="2000" baseline="30000" dirty="0">
                    <a:latin typeface="Cambria Math" charset="0"/>
                    <a:ea typeface="Cambria Math" charset="0"/>
                    <a:cs typeface="Cambria Math" charset="0"/>
                  </a:rPr>
                  <a:t>0</a:t>
                </a:r>
                <a:r>
                  <a:rPr lang="en-AU" sz="2000" dirty="0">
                    <a:latin typeface="Cambria Math" charset="0"/>
                    <a:ea typeface="Cambria Math" charset="0"/>
                    <a:cs typeface="Cambria Math" charset="0"/>
                  </a:rPr>
                  <a:t> = 1</a:t>
                </a:r>
              </a:p>
              <a:p>
                <a:pPr lvl="1"/>
                <a:r>
                  <a:rPr lang="en-AU" sz="2000" dirty="0">
                    <a:latin typeface="Cambria Math" charset="0"/>
                    <a:ea typeface="Cambria Math" charset="0"/>
                    <a:cs typeface="Cambria Math" charset="0"/>
                  </a:rPr>
                  <a:t>	also</a:t>
                </a:r>
              </a:p>
              <a:p>
                <a:pPr lvl="1"/>
                <a:r>
                  <a:rPr lang="en-AU" sz="2400" dirty="0">
                    <a:latin typeface="Cambria Math" charset="0"/>
                    <a:ea typeface="Cambria Math" charset="0"/>
                    <a:cs typeface="Cambria Math" charset="0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>
                            <a:latin typeface="Cambria Math" panose="02040503050406030204" pitchFamily="18" charset="0"/>
                            <a:ea typeface="Cambria Math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sz="2400" i="1">
                                <a:latin typeface="Cambria Math" panose="02040503050406030204" pitchFamily="18" charset="0"/>
                                <a:ea typeface="Cambria Math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AU" sz="2400" i="1">
                                    <a:latin typeface="Cambria Math" panose="02040503050406030204" pitchFamily="18" charset="0"/>
                                    <a:ea typeface="Cambria Math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sz="2400" dirty="0">
                    <a:latin typeface="Cambria Math" charset="0"/>
                    <a:ea typeface="Cambria Math" charset="0"/>
                    <a:cs typeface="Cambria Math" charset="0"/>
                  </a:rPr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sz="2400" b="1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bg-BG" sz="2400" b="1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AU" sz="2400" b="1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AU" sz="2400" b="1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𝟑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bg-BG" sz="2400" b="1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AU" sz="2400" b="1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AU" sz="2400" b="1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𝟑</m:t>
                            </m:r>
                          </m:sup>
                        </m:sSup>
                      </m:den>
                    </m:f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267746-BDEE-4BF7-AA65-6D7862485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435" y="568036"/>
                <a:ext cx="10487891" cy="6030946"/>
              </a:xfrm>
              <a:prstGeom prst="rect">
                <a:avLst/>
              </a:prstGeom>
              <a:blipFill>
                <a:blip r:embed="rId2"/>
                <a:stretch>
                  <a:fillRect l="-872" t="-808" r="-29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8459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06907-60E9-4027-A553-AA9EED0B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3216" y="263892"/>
            <a:ext cx="8911687" cy="1280890"/>
          </a:xfrm>
        </p:spPr>
        <p:txBody>
          <a:bodyPr/>
          <a:lstStyle/>
          <a:p>
            <a:r>
              <a:rPr lang="en-US" dirty="0"/>
              <a:t>Law 1</a:t>
            </a:r>
            <a:br>
              <a:rPr lang="en-US" dirty="0"/>
            </a:br>
            <a:r>
              <a:rPr lang="en-US" dirty="0"/>
              <a:t>	</a:t>
            </a:r>
            <a:r>
              <a:rPr lang="en-AU" sz="32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a</a:t>
            </a:r>
            <a:r>
              <a:rPr lang="en-AU" sz="3200" baseline="300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m</a:t>
            </a:r>
            <a:r>
              <a:rPr lang="en-AU" baseline="300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  </a:t>
            </a:r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× a</a:t>
            </a:r>
            <a:r>
              <a:rPr lang="en-AU" baseline="300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n </a:t>
            </a:r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 = </a:t>
            </a:r>
            <a:r>
              <a:rPr lang="en-AU" dirty="0" err="1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a</a:t>
            </a:r>
            <a:r>
              <a:rPr lang="en-AU" baseline="30000" dirty="0" err="1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m+n</a:t>
            </a:r>
            <a:r>
              <a:rPr lang="en-AU" baseline="300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 	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740B40-FCE2-42ED-8B80-0F76987BC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451" y="1683658"/>
            <a:ext cx="9129215" cy="8701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34BB26-D589-4E4F-8471-FCB9B2C48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451" y="3381829"/>
            <a:ext cx="9667393" cy="50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9E27FE-B9CD-4246-B784-10706B422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4451" y="4958256"/>
            <a:ext cx="9797143" cy="4120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4B6EA6-EC79-4CF9-B97D-86885A5C43E2}"/>
              </a:ext>
            </a:extLst>
          </p:cNvPr>
          <p:cNvSpPr txBox="1"/>
          <p:nvPr/>
        </p:nvSpPr>
        <p:spPr>
          <a:xfrm>
            <a:off x="2202873" y="2687782"/>
            <a:ext cx="906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4+3</a:t>
            </a:r>
            <a:r>
              <a:rPr lang="en-US" dirty="0"/>
              <a:t> = 2</a:t>
            </a:r>
            <a:r>
              <a:rPr lang="en-US" baseline="30000" dirty="0"/>
              <a:t>6</a:t>
            </a:r>
            <a:r>
              <a:rPr lang="en-US" dirty="0"/>
              <a:t>				5</a:t>
            </a:r>
            <a:r>
              <a:rPr lang="en-US" baseline="30000" dirty="0"/>
              <a:t>6+3</a:t>
            </a:r>
            <a:r>
              <a:rPr lang="en-US" dirty="0"/>
              <a:t> = 5</a:t>
            </a:r>
            <a:r>
              <a:rPr lang="en-US" baseline="30000" dirty="0"/>
              <a:t>9</a:t>
            </a:r>
            <a:r>
              <a:rPr lang="en-US" dirty="0"/>
              <a:t>					7</a:t>
            </a:r>
            <a:r>
              <a:rPr lang="en-US" baseline="30000" dirty="0"/>
              <a:t>2+4</a:t>
            </a:r>
            <a:r>
              <a:rPr lang="en-US" dirty="0"/>
              <a:t> = 7</a:t>
            </a:r>
            <a:r>
              <a:rPr lang="en-US" baseline="30000" dirty="0"/>
              <a:t>6</a:t>
            </a:r>
            <a:r>
              <a:rPr lang="en-US" dirty="0"/>
              <a:t>				   8</a:t>
            </a:r>
            <a:r>
              <a:rPr lang="en-US" baseline="30000" dirty="0"/>
              <a:t>9+1</a:t>
            </a:r>
            <a:r>
              <a:rPr lang="en-US" dirty="0"/>
              <a:t> = 8</a:t>
            </a:r>
            <a:r>
              <a:rPr lang="en-US" baseline="30000" dirty="0"/>
              <a:t>10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E4D366-26CA-4D6B-9161-E5D87EF9E830}"/>
              </a:ext>
            </a:extLst>
          </p:cNvPr>
          <p:cNvSpPr txBox="1"/>
          <p:nvPr/>
        </p:nvSpPr>
        <p:spPr>
          <a:xfrm>
            <a:off x="2062586" y="4348492"/>
            <a:ext cx="906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  <a:r>
              <a:rPr lang="en-US" baseline="30000" dirty="0"/>
              <a:t>2+1</a:t>
            </a:r>
            <a:r>
              <a:rPr lang="en-US" dirty="0"/>
              <a:t>= d</a:t>
            </a:r>
            <a:r>
              <a:rPr lang="en-US" baseline="30000" dirty="0"/>
              <a:t>3</a:t>
            </a:r>
            <a:r>
              <a:rPr lang="en-US" dirty="0"/>
              <a:t>				y</a:t>
            </a:r>
            <a:r>
              <a:rPr lang="en-US" baseline="30000" dirty="0"/>
              <a:t>2+1+4</a:t>
            </a:r>
            <a:r>
              <a:rPr lang="en-US" dirty="0"/>
              <a:t> = y</a:t>
            </a:r>
            <a:r>
              <a:rPr lang="en-US" baseline="30000" dirty="0"/>
              <a:t>7</a:t>
            </a:r>
            <a:r>
              <a:rPr lang="en-US" dirty="0"/>
              <a:t>					b</a:t>
            </a:r>
            <a:r>
              <a:rPr lang="en-US" baseline="30000" dirty="0"/>
              <a:t>1+5+2 </a:t>
            </a:r>
            <a:r>
              <a:rPr lang="en-US" dirty="0"/>
              <a:t>= b</a:t>
            </a:r>
            <a:r>
              <a:rPr lang="en-US" baseline="30000" dirty="0"/>
              <a:t>8</a:t>
            </a:r>
            <a:r>
              <a:rPr lang="en-US" dirty="0"/>
              <a:t>		      q</a:t>
            </a:r>
            <a:r>
              <a:rPr lang="en-US" baseline="30000" dirty="0"/>
              <a:t>6+3+2</a:t>
            </a:r>
            <a:r>
              <a:rPr lang="en-US" dirty="0"/>
              <a:t> = q</a:t>
            </a:r>
            <a:r>
              <a:rPr lang="en-US" baseline="30000" dirty="0"/>
              <a:t>11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DFF283-BDCB-449E-A67C-D60C4D80C26D}"/>
              </a:ext>
            </a:extLst>
          </p:cNvPr>
          <p:cNvSpPr txBox="1"/>
          <p:nvPr/>
        </p:nvSpPr>
        <p:spPr>
          <a:xfrm>
            <a:off x="1803216" y="5610718"/>
            <a:ext cx="9460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5x3xm</a:t>
            </a:r>
            <a:r>
              <a:rPr lang="en-US" baseline="30000" dirty="0"/>
              <a:t>3+2</a:t>
            </a:r>
            <a:r>
              <a:rPr lang="en-US" dirty="0"/>
              <a:t> = 15m</a:t>
            </a:r>
            <a:r>
              <a:rPr lang="en-US" baseline="30000" dirty="0"/>
              <a:t>5</a:t>
            </a:r>
            <a:r>
              <a:rPr lang="en-US" dirty="0"/>
              <a:t>		      4x2xe</a:t>
            </a:r>
            <a:r>
              <a:rPr lang="en-US" baseline="30000" dirty="0"/>
              <a:t>4+2</a:t>
            </a:r>
            <a:r>
              <a:rPr lang="en-US" dirty="0"/>
              <a:t> x f</a:t>
            </a:r>
            <a:r>
              <a:rPr lang="en-US" baseline="30000" dirty="0"/>
              <a:t>2x2</a:t>
            </a:r>
            <a:r>
              <a:rPr lang="en-US" dirty="0"/>
              <a:t> = 8e</a:t>
            </a:r>
            <a:r>
              <a:rPr lang="en-US" baseline="30000" dirty="0"/>
              <a:t>6</a:t>
            </a:r>
            <a:r>
              <a:rPr lang="en-US" dirty="0"/>
              <a:t>f</a:t>
            </a:r>
            <a:r>
              <a:rPr lang="en-US" baseline="30000" dirty="0"/>
              <a:t>4</a:t>
            </a:r>
            <a:r>
              <a:rPr lang="en-US" dirty="0"/>
              <a:t>        		20c</a:t>
            </a:r>
            <a:r>
              <a:rPr lang="en-US" baseline="30000" dirty="0"/>
              <a:t>7</a:t>
            </a:r>
            <a:r>
              <a:rPr lang="en-US" dirty="0"/>
              <a:t>d</a:t>
            </a:r>
            <a:r>
              <a:rPr lang="en-US" baseline="30000" dirty="0"/>
              <a:t>2</a:t>
            </a:r>
            <a:r>
              <a:rPr lang="en-US" dirty="0"/>
              <a:t>		       18y</a:t>
            </a:r>
            <a:r>
              <a:rPr lang="en-US" baseline="30000" dirty="0"/>
              <a:t>2</a:t>
            </a:r>
            <a:r>
              <a:rPr lang="en-US" dirty="0"/>
              <a:t>z</a:t>
            </a:r>
            <a:r>
              <a:rPr lang="en-US" baseline="30000" dirty="0"/>
              <a:t>7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86789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F02D515-B21B-4A1F-A453-F77A9EF97FC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553834" y="166910"/>
                <a:ext cx="8911687" cy="1280890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/>
                  <a:t>Law 2</a:t>
                </a:r>
                <a:br>
                  <a:rPr lang="en-US" dirty="0"/>
                </a:br>
                <a:r>
                  <a:rPr lang="en-US" dirty="0"/>
                  <a:t>	</a:t>
                </a:r>
                <a:r>
                  <a:rPr lang="en-AU" dirty="0">
                    <a:ea typeface="Cambria Math" panose="02040503050406030204" pitchFamily="18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𝑚</m:t>
                        </m:r>
                      </m:sup>
                    </m:sSup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 ÷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𝑛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𝑚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 −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br>
                  <a:rPr lang="en-US" dirty="0"/>
                </a:br>
                <a:endParaRPr lang="en-AU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F02D515-B21B-4A1F-A453-F77A9EF97F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553834" y="166910"/>
                <a:ext cx="8911687" cy="1280890"/>
              </a:xfrm>
              <a:blipFill>
                <a:blip r:embed="rId2"/>
                <a:stretch>
                  <a:fillRect l="-1778" t="-61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3CD2B0B-44E4-4645-B691-A7457EB74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834" y="1447800"/>
            <a:ext cx="9099652" cy="14383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7BD4BD-5E88-49E4-9B52-863C62D4C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3320" y="3688835"/>
            <a:ext cx="8892201" cy="9564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E599D3-2EAE-4972-B851-37AB2865DE09}"/>
              </a:ext>
            </a:extLst>
          </p:cNvPr>
          <p:cNvSpPr txBox="1"/>
          <p:nvPr/>
        </p:nvSpPr>
        <p:spPr>
          <a:xfrm>
            <a:off x="2202873" y="2687782"/>
            <a:ext cx="906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r>
              <a:rPr lang="en-US" baseline="30000" dirty="0"/>
              <a:t>6-4 </a:t>
            </a:r>
            <a:r>
              <a:rPr lang="en-US" dirty="0"/>
              <a:t>= a</a:t>
            </a:r>
            <a:r>
              <a:rPr lang="en-US" baseline="30000" dirty="0"/>
              <a:t>2</a:t>
            </a:r>
            <a:r>
              <a:rPr lang="en-US" dirty="0"/>
              <a:t>				x</a:t>
            </a:r>
            <a:r>
              <a:rPr lang="en-US" baseline="30000" dirty="0"/>
              <a:t>5-2</a:t>
            </a:r>
            <a:r>
              <a:rPr lang="en-US" dirty="0"/>
              <a:t> = x</a:t>
            </a:r>
            <a:r>
              <a:rPr lang="en-US" baseline="30000" dirty="0"/>
              <a:t>3</a:t>
            </a:r>
            <a:r>
              <a:rPr lang="en-US" dirty="0"/>
              <a:t>				q</a:t>
            </a:r>
            <a:r>
              <a:rPr lang="en-US" baseline="30000" dirty="0"/>
              <a:t>12-2</a:t>
            </a:r>
            <a:r>
              <a:rPr lang="en-US" dirty="0"/>
              <a:t> = q</a:t>
            </a:r>
            <a:r>
              <a:rPr lang="en-US" baseline="30000" dirty="0"/>
              <a:t>10</a:t>
            </a:r>
            <a:r>
              <a:rPr lang="en-US" dirty="0"/>
              <a:t>				   d</a:t>
            </a:r>
            <a:r>
              <a:rPr lang="en-US" baseline="30000" dirty="0"/>
              <a:t>7-6</a:t>
            </a:r>
            <a:r>
              <a:rPr lang="en-US" dirty="0"/>
              <a:t> = d</a:t>
            </a:r>
            <a:r>
              <a:rPr lang="en-US" baseline="30000" dirty="0"/>
              <a:t>1</a:t>
            </a:r>
            <a:r>
              <a:rPr lang="en-US" dirty="0"/>
              <a:t> = d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1AC3B4-1ECB-484A-9A70-44B77DD07D40}"/>
                  </a:ext>
                </a:extLst>
              </p:cNvPr>
              <p:cNvSpPr txBox="1"/>
              <p:nvPr/>
            </p:nvSpPr>
            <p:spPr>
              <a:xfrm>
                <a:off x="1995055" y="4907696"/>
                <a:ext cx="9060872" cy="484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2b</a:t>
                </a:r>
                <a:r>
                  <a:rPr lang="en-US" baseline="30000" dirty="0"/>
                  <a:t>5</a:t>
                </a:r>
                <a:r>
                  <a:rPr lang="en-US" dirty="0"/>
                  <a:t>				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baseline="30000" dirty="0"/>
                  <a:t>5</a:t>
                </a:r>
                <a:r>
                  <a:rPr lang="en-US" dirty="0"/>
                  <a:t>					2a</a:t>
                </a:r>
                <a:r>
                  <a:rPr lang="en-US" baseline="30000" dirty="0"/>
                  <a:t>7</a:t>
                </a:r>
                <a:r>
                  <a:rPr lang="en-US" dirty="0"/>
                  <a:t>				   	2y</a:t>
                </a:r>
                <a:r>
                  <a:rPr lang="en-US" baseline="30000" dirty="0"/>
                  <a:t>15-7</a:t>
                </a:r>
                <a:r>
                  <a:rPr lang="en-US" dirty="0"/>
                  <a:t> = 2y</a:t>
                </a:r>
                <a:r>
                  <a:rPr lang="en-US" baseline="30000" dirty="0"/>
                  <a:t>8</a:t>
                </a:r>
                <a:endParaRPr lang="en-AU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1AC3B4-1ECB-484A-9A70-44B77DD07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055" y="4907696"/>
                <a:ext cx="9060872" cy="484876"/>
              </a:xfrm>
              <a:prstGeom prst="rect">
                <a:avLst/>
              </a:prstGeom>
              <a:blipFill>
                <a:blip r:embed="rId5"/>
                <a:stretch>
                  <a:fillRect l="-538" b="-5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4614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CBDB2-98CF-489D-B50D-7758DA3D0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962" y="97637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en-US" dirty="0"/>
              <a:t>Index Law 3</a:t>
            </a:r>
            <a:br>
              <a:rPr lang="en-US" dirty="0"/>
            </a:br>
            <a:r>
              <a:rPr lang="en-US" dirty="0"/>
              <a:t>	</a:t>
            </a:r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(a</a:t>
            </a:r>
            <a:r>
              <a:rPr lang="en-AU" baseline="300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m</a:t>
            </a:r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)</a:t>
            </a:r>
            <a:r>
              <a:rPr lang="en-AU" baseline="300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n </a:t>
            </a:r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 = a </a:t>
            </a:r>
            <a:r>
              <a:rPr lang="en-AU" baseline="300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m x n </a:t>
            </a:r>
            <a:br>
              <a:rPr lang="en-AU" baseline="300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</a:br>
            <a:br>
              <a:rPr lang="en-US" dirty="0"/>
            </a:b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5720BC-50E9-4402-8BFF-6C5A5A836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961" y="1666831"/>
            <a:ext cx="10055121" cy="8473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34425A-47C7-40D3-A036-2703F143D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733" y="3824290"/>
            <a:ext cx="5141209" cy="3672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7A5165-351B-402C-8CCC-8298FEC927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9372" y="3824290"/>
            <a:ext cx="4525694" cy="4578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DF47AB-6999-41CF-8DD2-0F5EB29BD618}"/>
              </a:ext>
            </a:extLst>
          </p:cNvPr>
          <p:cNvSpPr txBox="1"/>
          <p:nvPr/>
        </p:nvSpPr>
        <p:spPr>
          <a:xfrm>
            <a:off x="2202873" y="2687782"/>
            <a:ext cx="906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  <a:r>
              <a:rPr lang="en-US" baseline="30000" dirty="0"/>
              <a:t>6x2 </a:t>
            </a:r>
            <a:r>
              <a:rPr lang="en-US" dirty="0"/>
              <a:t>= y</a:t>
            </a:r>
            <a:r>
              <a:rPr lang="en-US" baseline="30000" dirty="0"/>
              <a:t>12</a:t>
            </a:r>
            <a:r>
              <a:rPr lang="en-US" dirty="0"/>
              <a:t>			m</a:t>
            </a:r>
            <a:r>
              <a:rPr lang="en-US" baseline="30000" dirty="0"/>
              <a:t>3x6</a:t>
            </a:r>
            <a:r>
              <a:rPr lang="en-US" dirty="0"/>
              <a:t> = m</a:t>
            </a:r>
            <a:r>
              <a:rPr lang="en-US" baseline="30000" dirty="0"/>
              <a:t>18</a:t>
            </a:r>
            <a:r>
              <a:rPr lang="en-US" dirty="0"/>
              <a:t>				x</a:t>
            </a:r>
            <a:r>
              <a:rPr lang="en-US" baseline="30000" dirty="0"/>
              <a:t>2x5</a:t>
            </a:r>
            <a:r>
              <a:rPr lang="en-US" dirty="0"/>
              <a:t> = x</a:t>
            </a:r>
            <a:r>
              <a:rPr lang="en-US" baseline="30000" dirty="0"/>
              <a:t>10</a:t>
            </a:r>
            <a:r>
              <a:rPr lang="en-US" dirty="0"/>
              <a:t>				   b</a:t>
            </a:r>
            <a:r>
              <a:rPr lang="en-US" baseline="30000" dirty="0"/>
              <a:t>3x4</a:t>
            </a:r>
            <a:r>
              <a:rPr lang="en-US" dirty="0"/>
              <a:t> = b</a:t>
            </a:r>
            <a:r>
              <a:rPr lang="en-US" baseline="30000" dirty="0"/>
              <a:t>12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A66A90-3DA8-4249-80F1-D72D57094A55}"/>
              </a:ext>
            </a:extLst>
          </p:cNvPr>
          <p:cNvSpPr txBox="1"/>
          <p:nvPr/>
        </p:nvSpPr>
        <p:spPr>
          <a:xfrm>
            <a:off x="1404733" y="4635529"/>
            <a:ext cx="10454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baseline="30000" dirty="0"/>
              <a:t>5</a:t>
            </a:r>
            <a:r>
              <a:rPr lang="en-US" dirty="0"/>
              <a:t> x b</a:t>
            </a:r>
            <a:r>
              <a:rPr lang="en-US" baseline="30000" dirty="0"/>
              <a:t>9 </a:t>
            </a:r>
            <a:r>
              <a:rPr lang="en-US" dirty="0"/>
              <a:t>= b</a:t>
            </a:r>
            <a:r>
              <a:rPr lang="en-US" baseline="30000" dirty="0"/>
              <a:t>14</a:t>
            </a:r>
            <a:r>
              <a:rPr lang="en-US" dirty="0"/>
              <a:t>				a</a:t>
            </a:r>
            <a:r>
              <a:rPr lang="en-US" baseline="30000" dirty="0"/>
              <a:t>6</a:t>
            </a:r>
            <a:r>
              <a:rPr lang="en-US" dirty="0"/>
              <a:t> x a</a:t>
            </a:r>
            <a:r>
              <a:rPr lang="en-US" baseline="30000" dirty="0"/>
              <a:t>4</a:t>
            </a:r>
            <a:r>
              <a:rPr lang="en-US" dirty="0"/>
              <a:t> = a</a:t>
            </a:r>
            <a:r>
              <a:rPr lang="en-US" baseline="30000" dirty="0"/>
              <a:t>10</a:t>
            </a:r>
            <a:r>
              <a:rPr lang="en-US" dirty="0"/>
              <a:t>				d</a:t>
            </a:r>
            <a:r>
              <a:rPr lang="en-US" baseline="30000" dirty="0"/>
              <a:t>12</a:t>
            </a:r>
            <a:r>
              <a:rPr lang="en-US" dirty="0"/>
              <a:t> x d</a:t>
            </a:r>
            <a:r>
              <a:rPr lang="en-US" baseline="30000" dirty="0"/>
              <a:t>12</a:t>
            </a:r>
            <a:r>
              <a:rPr lang="en-US" dirty="0"/>
              <a:t> = d</a:t>
            </a:r>
            <a:r>
              <a:rPr lang="en-US" baseline="30000" dirty="0"/>
              <a:t>24</a:t>
            </a:r>
            <a:r>
              <a:rPr lang="en-US" dirty="0"/>
              <a:t>				 y</a:t>
            </a:r>
            <a:r>
              <a:rPr lang="en-US" baseline="30000" dirty="0"/>
              <a:t>12</a:t>
            </a:r>
            <a:r>
              <a:rPr lang="en-US" dirty="0"/>
              <a:t> x y</a:t>
            </a:r>
            <a:r>
              <a:rPr lang="en-US" baseline="30000" dirty="0"/>
              <a:t>4 </a:t>
            </a:r>
            <a:r>
              <a:rPr lang="en-US" dirty="0"/>
              <a:t> =  y</a:t>
            </a:r>
            <a:r>
              <a:rPr lang="en-US" baseline="30000" dirty="0"/>
              <a:t>16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2578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EE3C0A7-C80B-4BDF-9674-04719DC5D06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636961" y="180764"/>
                <a:ext cx="8911687" cy="1280890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/>
                  <a:t>Index Law 4</a:t>
                </a:r>
                <a:br>
                  <a:rPr lang="en-US" dirty="0"/>
                </a:br>
                <a:r>
                  <a:rPr lang="en-US" dirty="0"/>
                  <a:t>	</a:t>
                </a:r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𝑎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 × 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𝑏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)</m:t>
                        </m:r>
                      </m:e>
                      <m:sup>
                        <m: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 = a</a:t>
                </a:r>
                <a:r>
                  <a:rPr lang="en-AU" baseline="30000" dirty="0">
                    <a:latin typeface="Cambria Math" charset="0"/>
                    <a:ea typeface="Cambria Math" charset="0"/>
                    <a:cs typeface="Cambria Math" charset="0"/>
                  </a:rPr>
                  <a:t>2</a:t>
                </a:r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 x b</a:t>
                </a:r>
                <a:r>
                  <a:rPr lang="en-AU" baseline="30000" dirty="0">
                    <a:latin typeface="Cambria Math" charset="0"/>
                    <a:ea typeface="Cambria Math" charset="0"/>
                    <a:cs typeface="Cambria Math" charset="0"/>
                  </a:rPr>
                  <a:t>2 </a:t>
                </a:r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= a</a:t>
                </a:r>
                <a:r>
                  <a:rPr lang="en-AU" baseline="30000" dirty="0">
                    <a:latin typeface="Cambria Math" charset="0"/>
                    <a:ea typeface="Cambria Math" charset="0"/>
                    <a:cs typeface="Cambria Math" charset="0"/>
                  </a:rPr>
                  <a:t>2</a:t>
                </a:r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b</a:t>
                </a:r>
                <a:r>
                  <a:rPr lang="en-AU" baseline="30000" dirty="0">
                    <a:latin typeface="Cambria Math" charset="0"/>
                    <a:ea typeface="Cambria Math" charset="0"/>
                    <a:cs typeface="Cambria Math" charset="0"/>
                  </a:rPr>
                  <a:t>2</a:t>
                </a:r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     also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i="1">
                                <a:latin typeface="Cambria Math" panose="02040503050406030204" pitchFamily="18" charset="0"/>
                                <a:ea typeface="Cambria Math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AU" i="1">
                                    <a:latin typeface="Cambria Math" panose="02040503050406030204" pitchFamily="18" charset="0"/>
                                    <a:ea typeface="Cambria Math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b="1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bg-BG" b="1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AU" b="1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AU" b="1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𝟑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bg-BG" b="1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AU" b="1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AU" b="1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𝟑</m:t>
                            </m:r>
                          </m:sup>
                        </m:sSup>
                      </m:den>
                    </m:f>
                  </m:oMath>
                </a14:m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   </a:t>
                </a:r>
                <a:br>
                  <a:rPr lang="en-US" dirty="0"/>
                </a:br>
                <a:r>
                  <a:rPr lang="en-US" dirty="0"/>
                  <a:t>	</a:t>
                </a:r>
                <a:endParaRPr lang="en-AU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EE3C0A7-C80B-4BDF-9674-04719DC5D0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636961" y="180764"/>
                <a:ext cx="8911687" cy="1280890"/>
              </a:xfrm>
              <a:blipFill>
                <a:blip r:embed="rId2"/>
                <a:stretch>
                  <a:fillRect l="-1780" t="-6190" b="-157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6195AB9-C5B9-4200-B280-E4B694736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436" y="2148114"/>
            <a:ext cx="9617632" cy="8792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C8DE95-A4B0-4979-B413-B9B757D3B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36" y="4281713"/>
            <a:ext cx="10015582" cy="10740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464C1E-9C95-4409-96CF-BBDED902C2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0254" y="2566260"/>
            <a:ext cx="1593804" cy="4201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395C09-1A36-401E-82BE-49B361E5F073}"/>
              </a:ext>
            </a:extLst>
          </p:cNvPr>
          <p:cNvSpPr txBox="1"/>
          <p:nvPr/>
        </p:nvSpPr>
        <p:spPr>
          <a:xfrm>
            <a:off x="1487776" y="3260843"/>
            <a:ext cx="906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3</a:t>
            </a:r>
            <a:r>
              <a:rPr lang="en-US" dirty="0"/>
              <a:t>x</a:t>
            </a:r>
            <a:r>
              <a:rPr lang="en-US" baseline="30000" dirty="0"/>
              <a:t>3</a:t>
            </a:r>
            <a:r>
              <a:rPr lang="en-US" dirty="0"/>
              <a:t> = 8x</a:t>
            </a:r>
            <a:r>
              <a:rPr lang="en-US" baseline="30000" dirty="0"/>
              <a:t>3</a:t>
            </a:r>
            <a:r>
              <a:rPr lang="en-US" dirty="0"/>
              <a:t>			5</a:t>
            </a:r>
            <a:r>
              <a:rPr lang="en-US" baseline="30000" dirty="0"/>
              <a:t>2</a:t>
            </a:r>
            <a:r>
              <a:rPr lang="en-US" dirty="0"/>
              <a:t>y</a:t>
            </a:r>
            <a:r>
              <a:rPr lang="en-US" baseline="30000" dirty="0"/>
              <a:t>2 </a:t>
            </a:r>
            <a:r>
              <a:rPr lang="en-US" dirty="0"/>
              <a:t>= 25y</a:t>
            </a:r>
            <a:r>
              <a:rPr lang="en-US" baseline="30000" dirty="0"/>
              <a:t>2			</a:t>
            </a:r>
            <a:r>
              <a:rPr lang="en-US" dirty="0"/>
              <a:t>	4</a:t>
            </a:r>
            <a:r>
              <a:rPr lang="en-US" baseline="30000" dirty="0"/>
              <a:t>3</a:t>
            </a:r>
            <a:r>
              <a:rPr lang="en-US" dirty="0"/>
              <a:t>a</a:t>
            </a:r>
            <a:r>
              <a:rPr lang="en-US" baseline="30000" dirty="0"/>
              <a:t>2x3</a:t>
            </a:r>
            <a:r>
              <a:rPr lang="en-US" dirty="0"/>
              <a:t> = 4</a:t>
            </a:r>
            <a:r>
              <a:rPr lang="en-US" baseline="30000" dirty="0"/>
              <a:t>3</a:t>
            </a:r>
            <a:r>
              <a:rPr lang="en-US" dirty="0"/>
              <a:t>a</a:t>
            </a:r>
            <a:r>
              <a:rPr lang="en-US" baseline="30000" dirty="0"/>
              <a:t>6</a:t>
            </a:r>
            <a:r>
              <a:rPr lang="en-US" dirty="0"/>
              <a:t>				   5</a:t>
            </a:r>
            <a:r>
              <a:rPr lang="en-US" baseline="30000" dirty="0"/>
              <a:t>4</a:t>
            </a:r>
            <a:r>
              <a:rPr lang="en-US" dirty="0"/>
              <a:t>c</a:t>
            </a:r>
            <a:r>
              <a:rPr lang="en-US" baseline="30000" dirty="0"/>
              <a:t>8</a:t>
            </a:r>
            <a:r>
              <a:rPr lang="en-US" dirty="0"/>
              <a:t>d</a:t>
            </a:r>
            <a:r>
              <a:rPr lang="en-US" baseline="30000" dirty="0"/>
              <a:t>12</a:t>
            </a:r>
            <a:r>
              <a:rPr lang="en-US" dirty="0"/>
              <a:t>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5528BA-0467-41CC-AC00-FA3C7BE67206}"/>
                  </a:ext>
                </a:extLst>
              </p:cNvPr>
              <p:cNvSpPr txBox="1"/>
              <p:nvPr/>
            </p:nvSpPr>
            <p:spPr>
              <a:xfrm>
                <a:off x="1210030" y="5671094"/>
                <a:ext cx="9060872" cy="672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			</a:t>
                </a:r>
                <a:r>
                  <a:rPr lang="en-US" sz="2400" baseline="30000" dirty="0"/>
                  <a:t>	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aseline="30000" dirty="0"/>
                  <a:t>		</a:t>
                </a:r>
                <a:r>
                  <a:rPr lang="en-US" sz="2400" dirty="0"/>
                  <a:t>	 	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	  		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5528BA-0467-41CC-AC00-FA3C7BE67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0030" y="5671094"/>
                <a:ext cx="9060872" cy="6724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4018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E6730C-FC9D-4439-A323-3DC88BC1CC2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567689" y="139201"/>
                <a:ext cx="8911687" cy="1301672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/>
                  <a:t>Index Law 5</a:t>
                </a:r>
                <a:br>
                  <a:rPr lang="en-US" dirty="0"/>
                </a:br>
                <a:r>
                  <a:rPr lang="en-US" dirty="0"/>
                  <a:t>	</a:t>
                </a:r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y </a:t>
                </a:r>
                <a:r>
                  <a:rPr lang="en-AU" baseline="30000" dirty="0">
                    <a:latin typeface="Cambria Math" charset="0"/>
                    <a:ea typeface="Cambria Math" charset="0"/>
                    <a:cs typeface="Cambria Math" charset="0"/>
                  </a:rPr>
                  <a:t>-3 </a:t>
                </a:r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bg-BG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AU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AU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		    also      y </a:t>
                </a:r>
                <a:r>
                  <a:rPr lang="en-AU" baseline="30000" dirty="0">
                    <a:latin typeface="Cambria Math" charset="0"/>
                    <a:ea typeface="Cambria Math" charset="0"/>
                    <a:cs typeface="Cambria Math" charset="0"/>
                  </a:rPr>
                  <a:t>3 </a:t>
                </a:r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bg-BG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AU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−</m:t>
                            </m:r>
                            <m:r>
                              <a:rPr lang="en-AU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		</a:t>
                </a:r>
                <a:br>
                  <a:rPr lang="en-US" dirty="0"/>
                </a:br>
                <a:r>
                  <a:rPr lang="en-US" dirty="0"/>
                  <a:t>	</a:t>
                </a:r>
                <a:endParaRPr lang="en-AU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E6730C-FC9D-4439-A323-3DC88BC1CC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567689" y="139201"/>
                <a:ext cx="8911687" cy="1301672"/>
              </a:xfrm>
              <a:blipFill>
                <a:blip r:embed="rId2"/>
                <a:stretch>
                  <a:fillRect l="-1710" t="-6103" b="-42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F9553F8-9D16-424E-B4A4-324E2CD4B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298" y="1872343"/>
            <a:ext cx="7108689" cy="8837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648AF3-DF37-44C3-9CC1-BC8964D4C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949" y="2314234"/>
            <a:ext cx="3390024" cy="8733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B633CB-0624-4820-98C7-FCD3CC1E12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7298" y="4224110"/>
            <a:ext cx="4214571" cy="10415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4DC517-206A-491D-8ACF-949CF97A5BED}"/>
                  </a:ext>
                </a:extLst>
              </p:cNvPr>
              <p:cNvSpPr txBox="1"/>
              <p:nvPr/>
            </p:nvSpPr>
            <p:spPr>
              <a:xfrm>
                <a:off x="1567689" y="3145247"/>
                <a:ext cx="9060872" cy="6158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400" dirty="0"/>
                  <a:t>			</a:t>
                </a:r>
                <a:r>
                  <a:rPr lang="en-US" sz="2400" baseline="30000" dirty="0"/>
                  <a:t>	</a:t>
                </a:r>
                <a:r>
                  <a:rPr lang="en-US" sz="2400" dirty="0"/>
                  <a:t> 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aseline="30000" dirty="0"/>
                  <a:t>		</a:t>
                </a:r>
                <a:r>
                  <a:rPr lang="en-US" sz="2400" dirty="0"/>
                  <a:t>	 		 m</a:t>
                </a:r>
                <a:r>
                  <a:rPr lang="en-US" sz="2400" baseline="30000" dirty="0"/>
                  <a:t>5</a:t>
                </a:r>
                <a:r>
                  <a:rPr lang="en-US" sz="2400" dirty="0"/>
                  <a:t>	  			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baseline="30000" dirty="0"/>
                  <a:t>4</a:t>
                </a:r>
                <a:endParaRPr lang="en-AU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4DC517-206A-491D-8ACF-949CF97A5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7689" y="3145247"/>
                <a:ext cx="9060872" cy="615874"/>
              </a:xfrm>
              <a:prstGeom prst="rect">
                <a:avLst/>
              </a:prstGeom>
              <a:blipFill>
                <a:blip r:embed="rId6"/>
                <a:stretch>
                  <a:fillRect b="-79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FEB00F-4BD4-4E66-9E79-F7C4E572D14D}"/>
                  </a:ext>
                </a:extLst>
              </p:cNvPr>
              <p:cNvSpPr txBox="1"/>
              <p:nvPr/>
            </p:nvSpPr>
            <p:spPr>
              <a:xfrm>
                <a:off x="1775506" y="5374142"/>
                <a:ext cx="9060872" cy="708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/>
                        </m:sSup>
                      </m:den>
                    </m:f>
                  </m:oMath>
                </a14:m>
                <a:r>
                  <a:rPr lang="en-US" sz="2400" dirty="0"/>
                  <a:t>			</a:t>
                </a:r>
                <a:r>
                  <a:rPr lang="en-US" sz="2400" baseline="30000" dirty="0"/>
                  <a:t>	</a:t>
                </a:r>
                <a:r>
                  <a:rPr lang="en-US" sz="2400" dirty="0"/>
                  <a:t> 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nor/>
                      </m:rPr>
                      <a:rPr lang="en-US" sz="2400" dirty="0"/>
                      <m:t>	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aseline="30000" dirty="0"/>
                  <a:t>		</a:t>
                </a:r>
                <a:r>
                  <a:rPr lang="en-US" sz="2400" dirty="0"/>
                  <a:t>	 		</a:t>
                </a:r>
                <a:endParaRPr lang="en-AU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FEB00F-4BD4-4E66-9E79-F7C4E572D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06" y="5374142"/>
                <a:ext cx="9060872" cy="7089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8597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DB4CF-B519-40BD-8C1C-F1AB8D305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4671" y="277746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en-US" dirty="0"/>
              <a:t>Zeroth Law</a:t>
            </a:r>
            <a:br>
              <a:rPr lang="en-US" dirty="0"/>
            </a:br>
            <a:r>
              <a:rPr lang="en-US" dirty="0"/>
              <a:t>	</a:t>
            </a:r>
            <a:r>
              <a:rPr lang="en-AU" dirty="0">
                <a:latin typeface="Cambria Math" charset="0"/>
                <a:ea typeface="Cambria Math" charset="0"/>
                <a:cs typeface="Cambria Math" charset="0"/>
              </a:rPr>
              <a:t>a</a:t>
            </a:r>
            <a:r>
              <a:rPr lang="en-AU" baseline="30000" dirty="0">
                <a:latin typeface="Cambria Math" charset="0"/>
                <a:ea typeface="Cambria Math" charset="0"/>
                <a:cs typeface="Cambria Math" charset="0"/>
              </a:rPr>
              <a:t>0</a:t>
            </a:r>
            <a:r>
              <a:rPr lang="en-AU" dirty="0">
                <a:latin typeface="Cambria Math" charset="0"/>
                <a:ea typeface="Cambria Math" charset="0"/>
                <a:cs typeface="Cambria Math" charset="0"/>
              </a:rPr>
              <a:t> = 1</a:t>
            </a:r>
            <a:br>
              <a:rPr lang="en-AU" dirty="0">
                <a:latin typeface="Cambria Math" charset="0"/>
                <a:ea typeface="Cambria Math" charset="0"/>
                <a:cs typeface="Cambria Math" charset="0"/>
              </a:rPr>
            </a:b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E74D667-BFD3-47AB-8657-FD6D31025392}"/>
                  </a:ext>
                </a:extLst>
              </p:cNvPr>
              <p:cNvSpPr txBox="1"/>
              <p:nvPr/>
            </p:nvSpPr>
            <p:spPr>
              <a:xfrm>
                <a:off x="1510146" y="1731819"/>
                <a:ext cx="8631382" cy="3657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Solve the following</a:t>
                </a:r>
              </a:p>
              <a:p>
                <a:pPr marL="342900" indent="-342900">
                  <a:buAutoNum type="alphaLcParenR"/>
                </a:pPr>
                <a:r>
                  <a:rPr lang="en-US" dirty="0"/>
                  <a:t>5</a:t>
                </a:r>
                <a:r>
                  <a:rPr lang="en-US" baseline="30000" dirty="0"/>
                  <a:t>0</a:t>
                </a:r>
                <a:r>
                  <a:rPr lang="en-US" dirty="0"/>
                  <a:t> = 						b) 6 x 3</a:t>
                </a:r>
                <a:r>
                  <a:rPr lang="en-US" baseline="30000" dirty="0"/>
                  <a:t>0</a:t>
                </a:r>
                <a:r>
                  <a:rPr lang="en-US" dirty="0"/>
                  <a:t> =					c) d</a:t>
                </a:r>
                <a:r>
                  <a:rPr lang="en-US" baseline="30000" dirty="0"/>
                  <a:t>0</a:t>
                </a:r>
                <a:r>
                  <a:rPr lang="en-US" dirty="0"/>
                  <a:t> =</a:t>
                </a:r>
              </a:p>
              <a:p>
                <a:pPr marL="342900" indent="-342900">
                  <a:buAutoNum type="alphaLcParenR"/>
                </a:pPr>
                <a:endParaRPr lang="en-US" dirty="0"/>
              </a:p>
              <a:p>
                <a:pPr marL="342900" indent="-342900">
                  <a:buAutoNum type="alphaLcParenR"/>
                </a:pPr>
                <a:endParaRPr lang="en-US" dirty="0"/>
              </a:p>
              <a:p>
                <a:pPr marL="342900" indent="-342900">
                  <a:buAutoNum type="alphaLcParenR"/>
                </a:pPr>
                <a:endParaRPr lang="en-US" dirty="0"/>
              </a:p>
              <a:p>
                <a:pPr marL="342900" indent="-342900">
                  <a:buAutoNum type="alphaLcParenR"/>
                </a:pPr>
                <a:endParaRPr lang="en-US" dirty="0"/>
              </a:p>
              <a:p>
                <a:r>
                  <a:rPr lang="en-US" dirty="0"/>
                  <a:t>d) 5s</a:t>
                </a:r>
                <a:r>
                  <a:rPr lang="en-US" baseline="30000" dirty="0"/>
                  <a:t>0</a:t>
                </a:r>
                <a:r>
                  <a:rPr lang="en-US" dirty="0"/>
                  <a:t> = 						e) 4f</a:t>
                </a:r>
                <a:r>
                  <a:rPr lang="en-US" baseline="30000" dirty="0"/>
                  <a:t>0</a:t>
                </a:r>
                <a:r>
                  <a:rPr lang="en-US" dirty="0"/>
                  <a:t> – e</a:t>
                </a:r>
                <a:r>
                  <a:rPr lang="en-US" baseline="30000" dirty="0"/>
                  <a:t>0</a:t>
                </a:r>
                <a:r>
                  <a:rPr lang="en-US" dirty="0"/>
                  <a:t> = 					f) (t – 21g</a:t>
                </a:r>
                <a:r>
                  <a:rPr lang="en-US" baseline="30000" dirty="0"/>
                  <a:t>2</a:t>
                </a:r>
                <a:r>
                  <a:rPr lang="en-US" dirty="0"/>
                  <a:t>)</a:t>
                </a:r>
                <a:r>
                  <a:rPr lang="en-US" baseline="30000" dirty="0"/>
                  <a:t>0</a:t>
                </a:r>
                <a:r>
                  <a:rPr lang="en-US" dirty="0"/>
                  <a:t> = 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e)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412 −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aseline="30000" dirty="0"/>
                  <a:t>0</a:t>
                </a:r>
                <a:r>
                  <a:rPr lang="en-US" dirty="0"/>
                  <a:t> –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𝑟𝑡𝑦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dirty="0"/>
                  <a:t> =       </a:t>
                </a:r>
                <a:endParaRPr lang="en-AU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E74D667-BFD3-47AB-8657-FD6D31025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146" y="1731819"/>
                <a:ext cx="8631382" cy="3657220"/>
              </a:xfrm>
              <a:prstGeom prst="rect">
                <a:avLst/>
              </a:prstGeom>
              <a:blipFill>
                <a:blip r:embed="rId2"/>
                <a:stretch>
                  <a:fillRect l="-636" t="-8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9D71DB-024B-46C6-8679-BD22D7533596}"/>
                  </a:ext>
                </a:extLst>
              </p:cNvPr>
              <p:cNvSpPr txBox="1"/>
              <p:nvPr/>
            </p:nvSpPr>
            <p:spPr>
              <a:xfrm>
                <a:off x="2024889" y="2438665"/>
                <a:ext cx="90608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			</a:t>
                </a:r>
                <a:r>
                  <a:rPr lang="en-US" sz="2400" baseline="30000" dirty="0"/>
                  <a:t>	</a:t>
                </a:r>
                <a:r>
                  <a:rPr lang="en-US" sz="2400" dirty="0"/>
                  <a:t> 		6x1 = 6</a:t>
                </a:r>
                <a:r>
                  <a:rPr lang="en-US" sz="2400" baseline="30000" dirty="0"/>
                  <a:t>		</a:t>
                </a:r>
                <a:r>
                  <a:rPr lang="en-US" sz="2400" dirty="0"/>
                  <a:t>	 		 1	  			</a:t>
                </a:r>
                <a:endParaRPr lang="en-AU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9D71DB-024B-46C6-8679-BD22D7533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889" y="2438665"/>
                <a:ext cx="9060872" cy="461665"/>
              </a:xfrm>
              <a:prstGeom prst="rect">
                <a:avLst/>
              </a:prstGeom>
              <a:blipFill>
                <a:blip r:embed="rId3"/>
                <a:stretch>
                  <a:fillRect l="-134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AE90D29-BBAB-4737-A35E-60554ED2DCCE}"/>
              </a:ext>
            </a:extLst>
          </p:cNvPr>
          <p:cNvSpPr txBox="1"/>
          <p:nvPr/>
        </p:nvSpPr>
        <p:spPr>
          <a:xfrm>
            <a:off x="1664671" y="3913852"/>
            <a:ext cx="9060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5x1 = 5			</a:t>
            </a:r>
            <a:r>
              <a:rPr lang="en-US" sz="2400" baseline="30000" dirty="0"/>
              <a:t>	</a:t>
            </a:r>
            <a:r>
              <a:rPr lang="en-US" sz="2400" dirty="0"/>
              <a:t> 		4-1 = 3</a:t>
            </a:r>
            <a:r>
              <a:rPr lang="en-US" sz="2400" baseline="30000" dirty="0"/>
              <a:t>		</a:t>
            </a:r>
            <a:r>
              <a:rPr lang="en-US" sz="2400" dirty="0"/>
              <a:t>	 		 1	  			</a:t>
            </a:r>
            <a:endParaRPr lang="en-AU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2BCB6E-EE22-4D26-912E-182E6BC002C2}"/>
              </a:ext>
            </a:extLst>
          </p:cNvPr>
          <p:cNvSpPr txBox="1"/>
          <p:nvPr/>
        </p:nvSpPr>
        <p:spPr>
          <a:xfrm>
            <a:off x="2509798" y="5434134"/>
            <a:ext cx="9060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6-1 = 5			</a:t>
            </a:r>
            <a:r>
              <a:rPr lang="en-US" sz="2400" baseline="30000" dirty="0"/>
              <a:t>	</a:t>
            </a:r>
            <a:r>
              <a:rPr lang="en-US" sz="2400" dirty="0"/>
              <a:t> 			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94272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166</TotalTime>
  <Words>372</Words>
  <Application>Microsoft Office PowerPoint</Application>
  <PresentationFormat>Widescreen</PresentationFormat>
  <Paragraphs>90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Cambria Math</vt:lpstr>
      <vt:lpstr>Century Gothic</vt:lpstr>
      <vt:lpstr>Wingdings 3</vt:lpstr>
      <vt:lpstr>Wisp</vt:lpstr>
      <vt:lpstr>Yr 9 Revision  Lesson 1.</vt:lpstr>
      <vt:lpstr>PowerPoint Presentation</vt:lpstr>
      <vt:lpstr>PowerPoint Presentation</vt:lpstr>
      <vt:lpstr>PowerPoint Presentation</vt:lpstr>
      <vt:lpstr>Index Laws</vt:lpstr>
      <vt:lpstr>Law 1  am  × an  = am+n  </vt:lpstr>
      <vt:lpstr>Law 2   a^m  ÷a^(n )= a^(m -n) </vt:lpstr>
      <vt:lpstr>Index Law 3  (am)n  = a m x n   </vt:lpstr>
      <vt:lpstr>Index Law 4   (a × b)^2 = a2 x b2 = a2b2     also (a/x)^3=  a^3/x^3      </vt:lpstr>
      <vt:lpstr>Index Law 5  y -3 = 1/y^3       also      y 3 = 1/y^(-3)     </vt:lpstr>
      <vt:lpstr>Zeroth Law  a0 = 1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Yr 9 Revision  Lesson 1.</dc:title>
  <dc:creator>WILSON James [Baldivis Secondary College]</dc:creator>
  <cp:lastModifiedBy>WILSON James [Baldivis Secondary College]</cp:lastModifiedBy>
  <cp:revision>18</cp:revision>
  <dcterms:created xsi:type="dcterms:W3CDTF">2018-04-08T07:35:03Z</dcterms:created>
  <dcterms:modified xsi:type="dcterms:W3CDTF">2018-04-08T10:21:04Z</dcterms:modified>
</cp:coreProperties>
</file>
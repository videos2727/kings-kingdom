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310" r:id="rId2"/>
    <p:sldId id="322" r:id="rId3"/>
    <p:sldId id="257" r:id="rId4"/>
    <p:sldId id="267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260" r:id="rId16"/>
    <p:sldId id="32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73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61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26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6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1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03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9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mmons.wikimedia.org/wiki/File:Jakob_Bernoulli.jpeg" TargetMode="Externa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897" y="722439"/>
            <a:ext cx="8748347" cy="969771"/>
          </a:xfrm>
        </p:spPr>
        <p:txBody>
          <a:bodyPr>
            <a:normAutofit fontScale="90000"/>
          </a:bodyPr>
          <a:lstStyle/>
          <a:p>
            <a:r>
              <a:rPr lang="en-AU" sz="3200" dirty="0"/>
              <a:t>Topic: Two step Probability </a:t>
            </a:r>
            <a:r>
              <a:rPr lang="en-AU" sz="2800" dirty="0"/>
              <a:t>with replacement </a:t>
            </a:r>
            <a:br>
              <a:rPr lang="en-AU" sz="4800" dirty="0"/>
            </a:br>
            <a:r>
              <a:rPr lang="en-AU" sz="2400" dirty="0"/>
              <a:t>EQ: What is experimental probability with replacement?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98076" y="2227304"/>
            <a:ext cx="5160787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3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19231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897" y="722439"/>
            <a:ext cx="8748347" cy="969771"/>
          </a:xfrm>
        </p:spPr>
        <p:txBody>
          <a:bodyPr>
            <a:normAutofit fontScale="90000"/>
          </a:bodyPr>
          <a:lstStyle/>
          <a:p>
            <a:r>
              <a:rPr lang="en-AU" sz="3200" dirty="0"/>
              <a:t>Topic: Two step Probability </a:t>
            </a:r>
            <a:r>
              <a:rPr lang="en-AU" sz="2800" dirty="0"/>
              <a:t>with replacement </a:t>
            </a:r>
            <a:br>
              <a:rPr lang="en-AU" sz="4800" dirty="0"/>
            </a:br>
            <a:r>
              <a:rPr lang="en-AU" sz="2400" dirty="0"/>
              <a:t>EQ: What is experimental probability with replacement?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98077" y="2227304"/>
            <a:ext cx="5122070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</a:t>
            </a:r>
            <a:r>
              <a:rPr lang="en-AU" b="1"/>
              <a:t>questions </a:t>
            </a:r>
            <a:r>
              <a:rPr lang="en-AU"/>
              <a:t>(on </a:t>
            </a:r>
            <a:r>
              <a:rPr lang="en-AU" dirty="0"/>
              <a:t>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406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276623" r="-201778" b="-2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376623" r="-201778" b="-1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70513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495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Two Step Probability With Replacement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Experimental vs. 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/>
              <p:nvPr/>
            </p:nvSpPr>
            <p:spPr>
              <a:xfrm>
                <a:off x="2194570" y="4312297"/>
                <a:ext cx="4790306" cy="2494081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You tossed  a coin 10 times and recorded a head 3 times, a tail 7 times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alt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70" y="4312297"/>
                <a:ext cx="4790306" cy="2494081"/>
              </a:xfrm>
              <a:prstGeom prst="rect">
                <a:avLst/>
              </a:prstGeom>
              <a:blipFill>
                <a:blip r:embed="rId4"/>
                <a:stretch>
                  <a:fillRect l="-888" t="-971" r="-1777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/>
              <p:nvPr/>
            </p:nvSpPr>
            <p:spPr>
              <a:xfrm>
                <a:off x="7241016" y="4286354"/>
                <a:ext cx="4790306" cy="2543132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Toss a coin and getting a head or a tail.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16" y="4286354"/>
                <a:ext cx="4790306" cy="2543132"/>
              </a:xfrm>
              <a:prstGeom prst="rect">
                <a:avLst/>
              </a:prstGeom>
              <a:blipFill>
                <a:blip r:embed="rId5"/>
                <a:stretch>
                  <a:fillRect l="-1015" t="-955" r="-635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Experimental vs. 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403235A-B26A-4CE7-8926-11EA7A63D28E}"/>
              </a:ext>
            </a:extLst>
          </p:cNvPr>
          <p:cNvSpPr/>
          <p:nvPr/>
        </p:nvSpPr>
        <p:spPr>
          <a:xfrm>
            <a:off x="2211977" y="4503868"/>
            <a:ext cx="8186058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Law of Large Numbers was first published in 1713 by </a:t>
            </a:r>
            <a:r>
              <a:rPr lang="en-US" altLang="en-US" dirty="0" err="1"/>
              <a:t>Jocob</a:t>
            </a:r>
            <a:r>
              <a:rPr lang="en-US" altLang="en-US" dirty="0"/>
              <a:t> Bernoulli.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It is a fundamental concept for probability and statistic.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This Law states that as the number of trials increase, the experimental probability will get closer and closer to the theoretical probability.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3131E3-EDD1-4176-B545-BF3D67D8BA7F}"/>
              </a:ext>
            </a:extLst>
          </p:cNvPr>
          <p:cNvSpPr txBox="1"/>
          <p:nvPr/>
        </p:nvSpPr>
        <p:spPr>
          <a:xfrm>
            <a:off x="-151080" y="4343652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The Law of Large numbers</a:t>
            </a:r>
          </a:p>
        </p:txBody>
      </p:sp>
      <p:pic>
        <p:nvPicPr>
          <p:cNvPr id="8" name="Picture 7" descr="A black and white photo of a person&#10;&#10;Description generated with high confidence">
            <a:extLst>
              <a:ext uri="{FF2B5EF4-FFF2-40B4-BE49-F238E27FC236}">
                <a16:creationId xmlns:a16="http://schemas.microsoft.com/office/drawing/2014/main" id="{D807BF9E-A43E-4B95-9C39-B22A35852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416480" y="4371150"/>
            <a:ext cx="1586230" cy="192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6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45704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894689"/>
              </p:ext>
            </p:extLst>
          </p:nvPr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26686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45704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210872"/>
              </p:ext>
            </p:extLst>
          </p:nvPr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D9DD5AB-C00C-4DD7-A5FC-2D15293ADC76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78179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45704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34100"/>
              </p:ext>
            </p:extLst>
          </p:nvPr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1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probability of;</a:t>
            </a:r>
          </a:p>
          <a:p>
            <a:r>
              <a:rPr lang="en-AU" dirty="0"/>
              <a:t>	1. getting a 4 and a tails?   P(4 and T)</a:t>
            </a:r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6849D5-6D38-4AE4-B6A4-20895013C4CB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157759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571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dirty="0">
                  <a:ea typeface="Cambria Math" panose="02040503050406030204" pitchFamily="18" charset="0"/>
                </a:endParaRP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probability of;</a:t>
                </a:r>
              </a:p>
              <a:p>
                <a:r>
                  <a:rPr lang="en-AU" dirty="0"/>
                  <a:t>	1. getting a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571188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7330440" y="4509675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03E8E6-ED2C-441A-865F-E139E8DB98BB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27942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899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899226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76862"/>
              </p:ext>
            </p:extLst>
          </p:nvPr>
        </p:nvGraphicFramePr>
        <p:xfrm>
          <a:off x="2670969" y="323055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7302779" y="3953414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27BCF-C61B-4D22-A8FB-C8A81198671A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4359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861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861074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130984"/>
              </p:ext>
            </p:extLst>
          </p:nvPr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6043865" y="3514242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4876240" y="353333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26BA9-2423-4045-B4D2-9D19397E3F0D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94138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5276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</a:t>
                </a: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5276573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6043865" y="3514242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4876240" y="353333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801D9B-0A3D-4D4A-91BC-97869E3CD272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87505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55120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 P(3)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5512022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4838786" y="3928808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3679051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4844C5-64ED-4956-838D-18C6532DD61E}"/>
              </a:ext>
            </a:extLst>
          </p:cNvPr>
          <p:cNvSpPr/>
          <p:nvPr/>
        </p:nvSpPr>
        <p:spPr>
          <a:xfrm>
            <a:off x="4868933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F985B7-9180-4A12-B32F-14A82131C2F9}"/>
              </a:ext>
            </a:extLst>
          </p:cNvPr>
          <p:cNvSpPr/>
          <p:nvPr/>
        </p:nvSpPr>
        <p:spPr>
          <a:xfrm>
            <a:off x="7235447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238CC6-6DFD-4E60-8F6D-843B73BDB462}"/>
              </a:ext>
            </a:extLst>
          </p:cNvPr>
          <p:cNvSpPr/>
          <p:nvPr/>
        </p:nvSpPr>
        <p:spPr>
          <a:xfrm>
            <a:off x="8372651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E1532F-B1D2-4E96-B412-4910221BC53B}"/>
              </a:ext>
            </a:extLst>
          </p:cNvPr>
          <p:cNvSpPr/>
          <p:nvPr/>
        </p:nvSpPr>
        <p:spPr>
          <a:xfrm>
            <a:off x="8372651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DEC165-F604-47C3-B1E2-E826790317CD}"/>
              </a:ext>
            </a:extLst>
          </p:cNvPr>
          <p:cNvSpPr/>
          <p:nvPr/>
        </p:nvSpPr>
        <p:spPr>
          <a:xfrm>
            <a:off x="9501077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0473A7-20A1-4E75-B06F-1A22346B08E4}"/>
              </a:ext>
            </a:extLst>
          </p:cNvPr>
          <p:cNvSpPr/>
          <p:nvPr/>
        </p:nvSpPr>
        <p:spPr>
          <a:xfrm>
            <a:off x="9548299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6BE66-E507-442D-8ABA-3C41077CA9ED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227562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29DE-E6F6-4214-918E-11B8236C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980" y="747521"/>
            <a:ext cx="9464040" cy="437762"/>
          </a:xfrm>
        </p:spPr>
        <p:txBody>
          <a:bodyPr>
            <a:normAutofit fontScale="90000"/>
          </a:bodyPr>
          <a:lstStyle/>
          <a:p>
            <a:r>
              <a:rPr lang="en-AU" dirty="0"/>
              <a:t>Worked example.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88F6-4FD7-4C15-9466-1FA0350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" y="1356361"/>
            <a:ext cx="10012412" cy="550164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Jeff owns a brown shirt, a white shirt and a black shirt.  He also owns a pair of black pants and a pair of blue jeans.  How many combinations can he make from these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FB38C-C6FA-49F6-AD1E-577C6FFD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020" y="0"/>
            <a:ext cx="1245870" cy="4057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73BDBE-BCAC-427A-BF37-4A5B8E93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45" y="2099840"/>
            <a:ext cx="4394909" cy="2658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95017-B098-4397-943A-B414FDC1E5BB}"/>
              </a:ext>
            </a:extLst>
          </p:cNvPr>
          <p:cNvSpPr txBox="1"/>
          <p:nvPr/>
        </p:nvSpPr>
        <p:spPr>
          <a:xfrm>
            <a:off x="476072" y="4142184"/>
            <a:ext cx="612967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today Jeff is wearing a brown shirt and blue jeans?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944FE-66A5-42D5-A523-E49933C4D6CE}"/>
              </a:ext>
            </a:extLst>
          </p:cNvPr>
          <p:cNvSpPr txBox="1"/>
          <p:nvPr/>
        </p:nvSpPr>
        <p:spPr>
          <a:xfrm>
            <a:off x="476072" y="2453423"/>
            <a:ext cx="670743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the probability that;</a:t>
            </a:r>
          </a:p>
          <a:p>
            <a:r>
              <a:rPr lang="en-AU" sz="2160" dirty="0"/>
              <a:t>today Jeff is wearing a white shirt and blue jeans?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DA88A-4BDF-4111-8AE2-EBE92F8F6EF9}"/>
              </a:ext>
            </a:extLst>
          </p:cNvPr>
          <p:cNvSpPr txBox="1"/>
          <p:nvPr/>
        </p:nvSpPr>
        <p:spPr>
          <a:xfrm>
            <a:off x="476072" y="5289273"/>
            <a:ext cx="65379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today Jeff is not wearing a white shirt?</a:t>
            </a:r>
          </a:p>
        </p:txBody>
      </p:sp>
    </p:spTree>
    <p:extLst>
      <p:ext uri="{BB962C8B-B14F-4D97-AF65-F5344CB8AC3E}">
        <p14:creationId xmlns:p14="http://schemas.microsoft.com/office/powerpoint/2010/main" val="69601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6229</TotalTime>
  <Words>1411</Words>
  <Application>Microsoft Office PowerPoint</Application>
  <PresentationFormat>Widescreen</PresentationFormat>
  <Paragraphs>432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Topic: Two step Probability with replacement  EQ: What is experimental probability with replacement?</vt:lpstr>
      <vt:lpstr>Topic: Two step Probability with replacement  EQ: What is experimental probability with replacement?</vt:lpstr>
      <vt:lpstr>Two Step Probability With Replacement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E4092707</cp:lastModifiedBy>
  <cp:revision>21</cp:revision>
  <dcterms:created xsi:type="dcterms:W3CDTF">2017-10-15T23:31:24Z</dcterms:created>
  <dcterms:modified xsi:type="dcterms:W3CDTF">2018-04-29T08:14:02Z</dcterms:modified>
</cp:coreProperties>
</file>
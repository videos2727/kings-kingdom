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5"/>
  </p:notesMasterIdLst>
  <p:sldIdLst>
    <p:sldId id="270" r:id="rId2"/>
    <p:sldId id="269" r:id="rId3"/>
    <p:sldId id="257" r:id="rId4"/>
    <p:sldId id="267" r:id="rId5"/>
    <p:sldId id="259" r:id="rId6"/>
    <p:sldId id="263" r:id="rId7"/>
    <p:sldId id="260" r:id="rId8"/>
    <p:sldId id="261" r:id="rId9"/>
    <p:sldId id="264" r:id="rId10"/>
    <p:sldId id="265" r:id="rId11"/>
    <p:sldId id="266" r:id="rId12"/>
    <p:sldId id="271" r:id="rId13"/>
    <p:sldId id="26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F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2282E-A42A-413E-AE2C-48286DBF7EC2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425140-7458-4828-80E5-6CAE1A8C66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4254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159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928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925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1109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3661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0773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5136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5427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130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082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23E78394-75B3-4DDA-93C4-891EE6443567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533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8490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3527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030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0241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3842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5428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5221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1264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6670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90343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57612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0725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1822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13393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44865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9386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E78394-75B3-4DDA-93C4-891EE6443567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4749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9AC4A-4382-4AAA-8564-DC695DE4C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446" y="764373"/>
            <a:ext cx="11664462" cy="1293028"/>
          </a:xfrm>
        </p:spPr>
        <p:txBody>
          <a:bodyPr>
            <a:normAutofit/>
          </a:bodyPr>
          <a:lstStyle/>
          <a:p>
            <a:r>
              <a:rPr lang="en-AU" dirty="0"/>
              <a:t>Topic: Probability </a:t>
            </a:r>
            <a:br>
              <a:rPr lang="en-AU" dirty="0"/>
            </a:br>
            <a:r>
              <a:rPr lang="en-AU" sz="2400" dirty="0"/>
              <a:t>EQ: </a:t>
            </a:r>
            <a:r>
              <a:rPr lang="en-AU" sz="2400" cap="none" dirty="0"/>
              <a:t>What have we learnt about probability so far?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B6099-D343-42A3-A2D1-E66D219F6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446" y="2542032"/>
            <a:ext cx="5996354" cy="39867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b="1" dirty="0"/>
              <a:t>Steps to be successful this lesson: </a:t>
            </a:r>
          </a:p>
          <a:p>
            <a:pPr marL="457200" indent="-457200">
              <a:buAutoNum type="arabicPeriod"/>
            </a:pPr>
            <a:r>
              <a:rPr lang="en-AU" sz="2000" dirty="0"/>
              <a:t>Get materials out (notebook, pen, pencil, ruler, calculator)</a:t>
            </a:r>
          </a:p>
          <a:p>
            <a:pPr marL="457200" indent="-457200">
              <a:buAutoNum type="arabicPeriod"/>
            </a:pPr>
            <a:r>
              <a:rPr lang="en-AU" sz="2000" dirty="0"/>
              <a:t>Rule up notebook and write Topic and EQ</a:t>
            </a:r>
          </a:p>
          <a:p>
            <a:pPr marL="457200" indent="-457200">
              <a:buAutoNum type="arabicPeriod"/>
            </a:pPr>
            <a:r>
              <a:rPr lang="en-AU" sz="2000" dirty="0"/>
              <a:t>Start on review questions </a:t>
            </a:r>
            <a:r>
              <a:rPr lang="en-AU" sz="2000" dirty="0">
                <a:latin typeface="Century Gothic" panose="020B0502020202020204" pitchFamily="34" charset="0"/>
              </a:rPr>
              <a:t>→</a:t>
            </a:r>
            <a:endParaRPr lang="en-AU" sz="2000" dirty="0"/>
          </a:p>
          <a:p>
            <a:pPr marL="457200" indent="-457200">
              <a:buAutoNum type="arabicPeriod"/>
            </a:pPr>
            <a:r>
              <a:rPr lang="en-AU" sz="2000" dirty="0"/>
              <a:t>Check your answers with someone sitting next to you </a:t>
            </a:r>
          </a:p>
          <a:p>
            <a:pPr marL="457200" indent="-457200">
              <a:buAutoNum type="arabicPeriod"/>
            </a:pPr>
            <a:r>
              <a:rPr lang="en-AU" sz="2000" dirty="0"/>
              <a:t>Is your notebook up to date? (Contents page, glossary, review notes etc.) </a:t>
            </a:r>
          </a:p>
        </p:txBody>
      </p:sp>
      <p:sp>
        <p:nvSpPr>
          <p:cNvPr id="4" name="AutoShape 2" descr="Image result for work hard meme">
            <a:extLst>
              <a:ext uri="{FF2B5EF4-FFF2-40B4-BE49-F238E27FC236}">
                <a16:creationId xmlns:a16="http://schemas.microsoft.com/office/drawing/2014/main" id="{0A6F0259-A35B-4236-92C7-CE1C5DC232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3DAEE7-0358-453A-8D20-D5D645F98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92" y="46451"/>
            <a:ext cx="2842113" cy="21481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ECCC7E7-14F7-4DC3-8913-B2FD7A220F02}"/>
                  </a:ext>
                </a:extLst>
              </p:cNvPr>
              <p:cNvSpPr txBox="1"/>
              <p:nvPr/>
            </p:nvSpPr>
            <p:spPr>
              <a:xfrm>
                <a:off x="6842760" y="1903385"/>
                <a:ext cx="4900598" cy="4199291"/>
              </a:xfrm>
              <a:prstGeom prst="rect">
                <a:avLst/>
              </a:prstGeom>
              <a:noFill/>
              <a:ln w="19050">
                <a:solidFill>
                  <a:srgbClr val="C00000"/>
                </a:solidFill>
              </a:ln>
            </p:spPr>
            <p:txBody>
              <a:bodyPr wrap="square" numCol="1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AU" b="1" dirty="0"/>
                  <a:t>Review questions </a:t>
                </a:r>
                <a:r>
                  <a:rPr lang="en-AU" dirty="0"/>
                  <a:t>(no calculator on LHS) </a:t>
                </a:r>
              </a:p>
              <a:p>
                <a:pPr marL="342900" indent="-342900">
                  <a:lnSpc>
                    <a:spcPct val="150000"/>
                  </a:lnSpc>
                  <a:buAutoNum type="alphaLcParenR"/>
                </a:pPr>
                <a:r>
                  <a:rPr lang="en-AU" dirty="0"/>
                  <a:t>What is the formula for area of a triangle? </a:t>
                </a:r>
              </a:p>
              <a:p>
                <a:pPr marL="342900" indent="-342900">
                  <a:lnSpc>
                    <a:spcPct val="150000"/>
                  </a:lnSpc>
                  <a:buAutoNum type="alphaLcParenR"/>
                </a:pPr>
                <a:r>
                  <a:rPr lang="en-AU" dirty="0"/>
                  <a:t>What is the area and perimeter of a rectangle 3m by 4m ? </a:t>
                </a:r>
                <a:endParaRPr lang="en-AU" sz="1600" b="1" dirty="0">
                  <a:solidFill>
                    <a:srgbClr val="FF0000"/>
                  </a:solidFill>
                </a:endParaRPr>
              </a:p>
              <a:p>
                <a:pPr marL="342900" indent="-342900">
                  <a:lnSpc>
                    <a:spcPct val="150000"/>
                  </a:lnSpc>
                  <a:buAutoNum type="alphaLcParenR"/>
                </a:pPr>
                <a:r>
                  <a:rPr lang="en-AU" dirty="0"/>
                  <a:t>Simplify 5a – 7a </a:t>
                </a:r>
              </a:p>
              <a:p>
                <a:pPr marL="342900" indent="-342900">
                  <a:lnSpc>
                    <a:spcPct val="150000"/>
                  </a:lnSpc>
                  <a:buAutoNum type="alphaLcParenR"/>
                </a:pPr>
                <a:r>
                  <a:rPr lang="en-AU" dirty="0"/>
                  <a:t>Expand 3(x – 2) </a:t>
                </a:r>
              </a:p>
              <a:p>
                <a:pPr marL="342900" indent="-342900">
                  <a:lnSpc>
                    <a:spcPct val="150000"/>
                  </a:lnSpc>
                  <a:buAutoNum type="alphaLcParenR"/>
                </a:pPr>
                <a:r>
                  <a:rPr lang="en-AU" dirty="0"/>
                  <a:t>Factorise 6x + 4 </a:t>
                </a:r>
                <a:endParaRPr lang="en-AU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AU" dirty="0">
                    <a:ea typeface="Cambria Math" panose="02040503050406030204" pitchFamily="18" charset="0"/>
                  </a:rPr>
                  <a:t> </a:t>
                </a:r>
              </a:p>
              <a:p>
                <a:pPr marL="342900" indent="-342900">
                  <a:lnSpc>
                    <a:spcPct val="150000"/>
                  </a:lnSpc>
                  <a:buAutoNum type="alphaLcParenR"/>
                </a:pPr>
                <a:r>
                  <a:rPr lang="en-AU" dirty="0"/>
                  <a:t>14 × 15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ECCC7E7-14F7-4DC3-8913-B2FD7A220F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760" y="1903385"/>
                <a:ext cx="4900598" cy="4199291"/>
              </a:xfrm>
              <a:prstGeom prst="rect">
                <a:avLst/>
              </a:prstGeom>
              <a:blipFill>
                <a:blip r:embed="rId3"/>
                <a:stretch>
                  <a:fillRect l="-993" b="-1012"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5782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9AC4A-4382-4AAA-8564-DC695DE4C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446" y="764373"/>
            <a:ext cx="11664462" cy="1293028"/>
          </a:xfrm>
        </p:spPr>
        <p:txBody>
          <a:bodyPr>
            <a:normAutofit/>
          </a:bodyPr>
          <a:lstStyle/>
          <a:p>
            <a:r>
              <a:rPr lang="en-AU" dirty="0"/>
              <a:t>Topic: Probability </a:t>
            </a:r>
            <a:br>
              <a:rPr lang="en-AU" dirty="0"/>
            </a:br>
            <a:r>
              <a:rPr lang="en-AU" sz="2400" dirty="0"/>
              <a:t>EQ: </a:t>
            </a:r>
            <a:r>
              <a:rPr lang="en-AU" sz="2400" cap="none" dirty="0"/>
              <a:t>What have we learnt about probability so far?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B6099-D343-42A3-A2D1-E66D219F6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446" y="2542032"/>
            <a:ext cx="5996354" cy="39867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b="1" dirty="0"/>
              <a:t>Steps to be successful this lesson: </a:t>
            </a:r>
          </a:p>
          <a:p>
            <a:pPr marL="457200" indent="-457200">
              <a:buAutoNum type="arabicPeriod"/>
            </a:pPr>
            <a:r>
              <a:rPr lang="en-AU" sz="2000" dirty="0"/>
              <a:t>Get materials out (notebook, pen, pencil, ruler, calculator)</a:t>
            </a:r>
          </a:p>
          <a:p>
            <a:pPr marL="457200" indent="-457200">
              <a:buAutoNum type="arabicPeriod"/>
            </a:pPr>
            <a:r>
              <a:rPr lang="en-AU" sz="2000" dirty="0"/>
              <a:t>Rule up notebook and write Topic and EQ</a:t>
            </a:r>
          </a:p>
          <a:p>
            <a:pPr marL="457200" indent="-457200">
              <a:buAutoNum type="arabicPeriod"/>
            </a:pPr>
            <a:r>
              <a:rPr lang="en-AU" sz="2000" dirty="0"/>
              <a:t>Start on review questions </a:t>
            </a:r>
            <a:r>
              <a:rPr lang="en-AU" sz="2000" dirty="0">
                <a:latin typeface="Century Gothic" panose="020B0502020202020204" pitchFamily="34" charset="0"/>
              </a:rPr>
              <a:t>→</a:t>
            </a:r>
            <a:endParaRPr lang="en-AU" sz="2000" dirty="0"/>
          </a:p>
          <a:p>
            <a:pPr marL="457200" indent="-457200">
              <a:buAutoNum type="arabicPeriod"/>
            </a:pPr>
            <a:r>
              <a:rPr lang="en-AU" sz="2000" dirty="0"/>
              <a:t>Check your answers with someone sitting next to you </a:t>
            </a:r>
          </a:p>
          <a:p>
            <a:pPr marL="457200" indent="-457200">
              <a:buAutoNum type="arabicPeriod"/>
            </a:pPr>
            <a:r>
              <a:rPr lang="en-AU" sz="2000" dirty="0"/>
              <a:t>Is your notebook up to date? (Contents page, glossary, review notes etc.) </a:t>
            </a:r>
          </a:p>
        </p:txBody>
      </p:sp>
      <p:sp>
        <p:nvSpPr>
          <p:cNvPr id="4" name="AutoShape 2" descr="Image result for work hard meme">
            <a:extLst>
              <a:ext uri="{FF2B5EF4-FFF2-40B4-BE49-F238E27FC236}">
                <a16:creationId xmlns:a16="http://schemas.microsoft.com/office/drawing/2014/main" id="{0A6F0259-A35B-4236-92C7-CE1C5DC232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3DAEE7-0358-453A-8D20-D5D645F98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92" y="46451"/>
            <a:ext cx="2842113" cy="21481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ECCC7E7-14F7-4DC3-8913-B2FD7A220F02}"/>
                  </a:ext>
                </a:extLst>
              </p:cNvPr>
              <p:cNvSpPr txBox="1"/>
              <p:nvPr/>
            </p:nvSpPr>
            <p:spPr>
              <a:xfrm>
                <a:off x="6842760" y="1903385"/>
                <a:ext cx="4900598" cy="4739824"/>
              </a:xfrm>
              <a:prstGeom prst="rect">
                <a:avLst/>
              </a:prstGeom>
              <a:noFill/>
              <a:ln w="19050">
                <a:solidFill>
                  <a:srgbClr val="C00000"/>
                </a:solidFill>
              </a:ln>
            </p:spPr>
            <p:txBody>
              <a:bodyPr wrap="square" numCol="1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AU" b="1" dirty="0"/>
                  <a:t>Review questions </a:t>
                </a:r>
                <a:r>
                  <a:rPr lang="en-AU" dirty="0"/>
                  <a:t>(no calculator on LHS) </a:t>
                </a:r>
              </a:p>
              <a:p>
                <a:pPr marL="342900" indent="-342900">
                  <a:lnSpc>
                    <a:spcPct val="150000"/>
                  </a:lnSpc>
                  <a:buAutoNum type="alphaLcParenR"/>
                </a:pPr>
                <a:r>
                  <a:rPr lang="en-AU" dirty="0"/>
                  <a:t>What is the formula for area of a triangle? </a:t>
                </a:r>
                <a14:m>
                  <m:oMath xmlns:m="http://schemas.openxmlformats.org/officeDocument/2006/math">
                    <m:r>
                      <a:rPr lang="en-AU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𝑨𝒓𝒆𝒂</m:t>
                    </m:r>
                    <m:r>
                      <a:rPr lang="en-AU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AU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𝒃</m:t>
                    </m:r>
                    <m:r>
                      <a:rPr lang="en-AU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𝒉</m:t>
                    </m:r>
                  </m:oMath>
                </a14:m>
                <a:endParaRPr lang="en-AU" b="1" i="1" dirty="0">
                  <a:solidFill>
                    <a:srgbClr val="FF0000"/>
                  </a:solidFill>
                </a:endParaRPr>
              </a:p>
              <a:p>
                <a:pPr marL="342900" indent="-342900">
                  <a:lnSpc>
                    <a:spcPct val="150000"/>
                  </a:lnSpc>
                  <a:buAutoNum type="alphaLcParenR"/>
                </a:pPr>
                <a:r>
                  <a:rPr lang="en-AU" dirty="0"/>
                  <a:t>What is the area and perimeter of a rectangle 3m by 4m ? </a:t>
                </a:r>
                <a:r>
                  <a:rPr lang="en-AU" sz="1600" b="1" dirty="0">
                    <a:solidFill>
                      <a:srgbClr val="FF0000"/>
                    </a:solidFill>
                  </a:rPr>
                  <a:t>Area= 12m²   Perimeter = 14m</a:t>
                </a:r>
              </a:p>
              <a:p>
                <a:pPr marL="342900" indent="-342900">
                  <a:lnSpc>
                    <a:spcPct val="150000"/>
                  </a:lnSpc>
                  <a:buAutoNum type="alphaLcParenR"/>
                </a:pPr>
                <a:r>
                  <a:rPr lang="en-AU" dirty="0"/>
                  <a:t>Simplify 5a – 7a = </a:t>
                </a:r>
                <a:r>
                  <a:rPr lang="en-AU" dirty="0">
                    <a:solidFill>
                      <a:srgbClr val="FF0000"/>
                    </a:solidFill>
                  </a:rPr>
                  <a:t>-2a</a:t>
                </a:r>
              </a:p>
              <a:p>
                <a:pPr marL="342900" indent="-342900">
                  <a:lnSpc>
                    <a:spcPct val="150000"/>
                  </a:lnSpc>
                  <a:buAutoNum type="alphaLcParenR"/>
                </a:pPr>
                <a:r>
                  <a:rPr lang="en-AU" dirty="0"/>
                  <a:t>Expand 3(x – 2) = </a:t>
                </a:r>
                <a:r>
                  <a:rPr lang="en-AU" dirty="0">
                    <a:solidFill>
                      <a:srgbClr val="FF0000"/>
                    </a:solidFill>
                  </a:rPr>
                  <a:t>3x - 6</a:t>
                </a:r>
              </a:p>
              <a:p>
                <a:pPr marL="342900" indent="-342900">
                  <a:lnSpc>
                    <a:spcPct val="150000"/>
                  </a:lnSpc>
                  <a:buAutoNum type="alphaLcParenR"/>
                </a:pPr>
                <a:r>
                  <a:rPr lang="en-AU" dirty="0"/>
                  <a:t>Factorise 6x + 4 = </a:t>
                </a:r>
                <a:r>
                  <a:rPr lang="en-AU" dirty="0">
                    <a:solidFill>
                      <a:srgbClr val="FF0000"/>
                    </a:solidFill>
                  </a:rPr>
                  <a:t>2(3x + 2)</a:t>
                </a:r>
              </a:p>
              <a:p>
                <a:pPr marL="342900" indent="-342900">
                  <a:lnSpc>
                    <a:spcPct val="150000"/>
                  </a:lnSpc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AU" dirty="0"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lang="en-AU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:endParaRPr lang="en-AU" dirty="0">
                  <a:ea typeface="Cambria Math" panose="020405030504060302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AutoNum type="alphaLcParenR"/>
                </a:pPr>
                <a:r>
                  <a:rPr lang="en-AU" dirty="0"/>
                  <a:t>14 × 15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ECCC7E7-14F7-4DC3-8913-B2FD7A220F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760" y="1903385"/>
                <a:ext cx="4900598" cy="4739824"/>
              </a:xfrm>
              <a:prstGeom prst="rect">
                <a:avLst/>
              </a:prstGeom>
              <a:blipFill>
                <a:blip r:embed="rId3"/>
                <a:stretch>
                  <a:fillRect l="-993" b="-1024"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D6499450-2EF6-4BDF-9DD6-4064B285F4F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7850" t="53200" r="35500" b="32267"/>
          <a:stretch/>
        </p:blipFill>
        <p:spPr>
          <a:xfrm>
            <a:off x="4803648" y="5646513"/>
            <a:ext cx="2029968" cy="996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587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Probability review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Miss L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(updated 2018 by </a:t>
            </a: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Ms.Latham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)</a:t>
            </a: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9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4323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9" y="1738377"/>
            <a:ext cx="1845939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Symbol Revision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have we learnt about probability so far?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pic>
        <p:nvPicPr>
          <p:cNvPr id="1026" name="Picture 2" descr="Related image">
            <a:extLst>
              <a:ext uri="{FF2B5EF4-FFF2-40B4-BE49-F238E27FC236}">
                <a16:creationId xmlns:a16="http://schemas.microsoft.com/office/drawing/2014/main" id="{E705E79A-8F69-4271-BFF6-C6CF7E8C37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8996" y="1577012"/>
            <a:ext cx="4408610" cy="2892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lated image">
            <a:extLst>
              <a:ext uri="{FF2B5EF4-FFF2-40B4-BE49-F238E27FC236}">
                <a16:creationId xmlns:a16="http://schemas.microsoft.com/office/drawing/2014/main" id="{23600E62-F099-45EB-B46C-87AD48D109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7384" y="1659680"/>
            <a:ext cx="3319748" cy="2726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9F4D63-FC33-473C-940F-C262E50F8D13}"/>
                  </a:ext>
                </a:extLst>
              </p:cNvPr>
              <p:cNvSpPr txBox="1"/>
              <p:nvPr/>
            </p:nvSpPr>
            <p:spPr>
              <a:xfrm>
                <a:off x="2308996" y="4725812"/>
                <a:ext cx="7916456" cy="249299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AU" b="0" dirty="0"/>
                  <a:t>Examples:			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&lt;8</m:t>
                    </m:r>
                  </m:oMath>
                </a14:m>
                <a:r>
                  <a:rPr lang="en-AU" b="0" dirty="0">
                    <a:ea typeface="Cambria Math" panose="02040503050406030204" pitchFamily="18" charset="0"/>
                  </a:rPr>
                  <a:t> 		</a:t>
                </a:r>
                <a:r>
                  <a:rPr lang="en-AU" dirty="0"/>
                  <a:t>3 is less than 8 	</a:t>
                </a:r>
              </a:p>
              <a:p>
                <a:pPr algn="ctr"/>
                <a:endParaRPr lang="en-AU" dirty="0"/>
              </a:p>
              <a:p>
                <a:r>
                  <a:rPr lang="en-AU" dirty="0">
                    <a:ea typeface="Cambria Math" panose="02040503050406030204" pitchFamily="18" charset="0"/>
                  </a:rPr>
                  <a:t>					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&lt;5</m:t>
                    </m:r>
                  </m:oMath>
                </a14:m>
                <a:r>
                  <a:rPr lang="en-AU" dirty="0"/>
                  <a:t>		numbers less than 5</a:t>
                </a:r>
              </a:p>
              <a:p>
                <a:endParaRPr lang="en-AU" dirty="0"/>
              </a:p>
              <a:p>
                <a:r>
                  <a:rPr lang="en-AU" dirty="0"/>
                  <a:t>					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AU" dirty="0"/>
                  <a:t>	numbers greater than </a:t>
                </a:r>
                <a:r>
                  <a:rPr lang="en-AU" b="1" dirty="0"/>
                  <a:t>or equal </a:t>
                </a:r>
                <a:r>
                  <a:rPr lang="en-AU" dirty="0"/>
                  <a:t>to 10</a:t>
                </a:r>
              </a:p>
              <a:p>
                <a:pPr algn="ctr"/>
                <a:endParaRPr lang="en-AU" b="0" dirty="0">
                  <a:ea typeface="Cambria Math" panose="02040503050406030204" pitchFamily="18" charset="0"/>
                </a:endParaRPr>
              </a:p>
              <a:p>
                <a:pPr algn="ctr"/>
                <a:endParaRPr lang="en-AU" dirty="0"/>
              </a:p>
              <a:p>
                <a:pPr algn="ctr"/>
                <a:endParaRPr lang="en-AU" dirty="0"/>
              </a:p>
              <a:p>
                <a:pPr algn="ctr"/>
                <a:endParaRPr lang="en-AU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9F4D63-FC33-473C-940F-C262E50F8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8996" y="4725812"/>
                <a:ext cx="7916456" cy="2492990"/>
              </a:xfrm>
              <a:prstGeom prst="rect">
                <a:avLst/>
              </a:prstGeom>
              <a:blipFill>
                <a:blip r:embed="rId5"/>
                <a:stretch>
                  <a:fillRect l="-1849" t="-31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0835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4323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9" y="1738377"/>
            <a:ext cx="1845939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probability?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have we learnt about probability so far?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sz="3200" b="1" dirty="0"/>
              <a:t>Probability</a:t>
            </a:r>
            <a:r>
              <a:rPr lang="en-US" sz="3200" dirty="0"/>
              <a:t>: is the likelihood that an event will occur.</a:t>
            </a:r>
          </a:p>
          <a:p>
            <a:pPr lvl="1">
              <a:defRPr/>
            </a:pPr>
            <a:r>
              <a:rPr lang="en-US" sz="3200" dirty="0"/>
              <a:t>Probability can be written as a fraction or decimal.</a:t>
            </a:r>
          </a:p>
          <a:p>
            <a:pPr>
              <a:defRPr/>
            </a:pPr>
            <a:endParaRPr lang="en-US" dirty="0"/>
          </a:p>
        </p:txBody>
      </p:sp>
      <p:pic>
        <p:nvPicPr>
          <p:cNvPr id="14" name="Picture 1" descr="prob[1]">
            <a:extLst>
              <a:ext uri="{FF2B5EF4-FFF2-40B4-BE49-F238E27FC236}">
                <a16:creationId xmlns:a16="http://schemas.microsoft.com/office/drawing/2014/main" id="{04A2866A-E7E8-4002-BB5B-BCC7734305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500718"/>
            <a:ext cx="87645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 Box 6">
            <a:extLst>
              <a:ext uri="{FF2B5EF4-FFF2-40B4-BE49-F238E27FC236}">
                <a16:creationId xmlns:a16="http://schemas.microsoft.com/office/drawing/2014/main" id="{A743B007-EE6F-4CD5-BDCF-4E46B90B5B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262718"/>
            <a:ext cx="1905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0">
                <a:cs typeface="Times New Roman" panose="02020603050405020304" pitchFamily="18" charset="0"/>
              </a:rPr>
              <a:t>_______________</a:t>
            </a:r>
            <a:br>
              <a:rPr lang="en-US" altLang="en-US" sz="1400" b="0">
                <a:cs typeface="Times New Roman" panose="02020603050405020304" pitchFamily="18" charset="0"/>
              </a:rPr>
            </a:br>
            <a:br>
              <a:rPr lang="en-US" altLang="en-US" sz="1400" b="0">
                <a:cs typeface="Times New Roman" panose="02020603050405020304" pitchFamily="18" charset="0"/>
              </a:rPr>
            </a:br>
            <a:endParaRPr lang="en-US" altLang="en-US" sz="1800" b="0"/>
          </a:p>
        </p:txBody>
      </p:sp>
      <p:sp>
        <p:nvSpPr>
          <p:cNvPr id="16" name="Text Box 3">
            <a:extLst>
              <a:ext uri="{FF2B5EF4-FFF2-40B4-BE49-F238E27FC236}">
                <a16:creationId xmlns:a16="http://schemas.microsoft.com/office/drawing/2014/main" id="{B06CDCE4-1D90-48C5-8CFA-1C5A35D8C8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729318"/>
            <a:ext cx="2209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 b="0"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br>
              <a:rPr lang="en-US" altLang="en-US" sz="1400" b="0">
                <a:cs typeface="Times New Roman" panose="02020603050405020304" pitchFamily="18" charset="0"/>
              </a:rPr>
            </a:br>
            <a:br>
              <a:rPr lang="en-US" altLang="en-US" sz="1400" b="0">
                <a:cs typeface="Times New Roman" panose="02020603050405020304" pitchFamily="18" charset="0"/>
              </a:rPr>
            </a:br>
            <a:endParaRPr lang="en-US" altLang="en-US" sz="1800" b="0"/>
          </a:p>
        </p:txBody>
      </p:sp>
      <p:sp>
        <p:nvSpPr>
          <p:cNvPr id="17" name="Text Box 2">
            <a:extLst>
              <a:ext uri="{FF2B5EF4-FFF2-40B4-BE49-F238E27FC236}">
                <a16:creationId xmlns:a16="http://schemas.microsoft.com/office/drawing/2014/main" id="{994ED137-78AB-4C70-8B82-F0FA42183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4262718"/>
            <a:ext cx="13716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 b="0" dirty="0"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0" dirty="0">
                <a:cs typeface="Times New Roman" panose="02020603050405020304" pitchFamily="18" charset="0"/>
              </a:rPr>
              <a:t>_______________</a:t>
            </a:r>
            <a:br>
              <a:rPr lang="en-US" altLang="en-US" sz="1400" b="0" dirty="0">
                <a:cs typeface="Times New Roman" panose="02020603050405020304" pitchFamily="18" charset="0"/>
              </a:rPr>
            </a:br>
            <a:br>
              <a:rPr lang="en-US" altLang="en-US" sz="1400" b="0" dirty="0">
                <a:cs typeface="Times New Roman" panose="02020603050405020304" pitchFamily="18" charset="0"/>
              </a:rPr>
            </a:br>
            <a:endParaRPr lang="en-US" altLang="en-US" sz="1800" b="0" dirty="0"/>
          </a:p>
        </p:txBody>
      </p:sp>
      <p:sp>
        <p:nvSpPr>
          <p:cNvPr id="18" name="Text Box 5">
            <a:extLst>
              <a:ext uri="{FF2B5EF4-FFF2-40B4-BE49-F238E27FC236}">
                <a16:creationId xmlns:a16="http://schemas.microsoft.com/office/drawing/2014/main" id="{A28B8D8C-58DF-48FA-A157-01F4D4833F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01200" y="3729318"/>
            <a:ext cx="1524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br>
              <a:rPr lang="en-US" altLang="en-US" sz="1400" b="0">
                <a:cs typeface="Times New Roman" panose="02020603050405020304" pitchFamily="18" charset="0"/>
              </a:rPr>
            </a:br>
            <a:br>
              <a:rPr lang="en-US" altLang="en-US" sz="1400" b="0">
                <a:cs typeface="Times New Roman" panose="02020603050405020304" pitchFamily="18" charset="0"/>
              </a:rPr>
            </a:br>
            <a:endParaRPr lang="en-US" altLang="en-US" sz="1800" b="0"/>
          </a:p>
        </p:txBody>
      </p:sp>
      <p:sp>
        <p:nvSpPr>
          <p:cNvPr id="19" name="Text Box 4">
            <a:extLst>
              <a:ext uri="{FF2B5EF4-FFF2-40B4-BE49-F238E27FC236}">
                <a16:creationId xmlns:a16="http://schemas.microsoft.com/office/drawing/2014/main" id="{60DC615B-0966-463B-AFB6-249E88A28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3729318"/>
            <a:ext cx="3124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 b="0"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0">
                <a:cs typeface="Times New Roman" panose="02020603050405020304" pitchFamily="18" charset="0"/>
              </a:rPr>
              <a:t>_______________</a:t>
            </a:r>
            <a:br>
              <a:rPr lang="en-US" altLang="en-US" sz="1400" b="0">
                <a:cs typeface="Times New Roman" panose="02020603050405020304" pitchFamily="18" charset="0"/>
              </a:rPr>
            </a:br>
            <a:br>
              <a:rPr lang="en-US" altLang="en-US" sz="1400" b="0">
                <a:cs typeface="Times New Roman" panose="02020603050405020304" pitchFamily="18" charset="0"/>
              </a:rPr>
            </a:br>
            <a:endParaRPr lang="en-US" altLang="en-US" sz="1800" b="0"/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4323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9" y="1738377"/>
            <a:ext cx="1845939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probability?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have we learnt about probability so far?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Rectangle 3">
            <a:extLst>
              <a:ext uri="{FF2B5EF4-FFF2-40B4-BE49-F238E27FC236}">
                <a16:creationId xmlns:a16="http://schemas.microsoft.com/office/drawing/2014/main" id="{38CA0ADA-FEE1-4F90-8A53-66EF28B0864F}"/>
              </a:ext>
            </a:extLst>
          </p:cNvPr>
          <p:cNvSpPr txBox="1">
            <a:spLocks noChangeArrowheads="1"/>
          </p:cNvSpPr>
          <p:nvPr/>
        </p:nvSpPr>
        <p:spPr>
          <a:xfrm>
            <a:off x="1847528" y="1414601"/>
            <a:ext cx="9144000" cy="53492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sz="2800" b="1" dirty="0"/>
              <a:t>Probability is always between 0 and 1.</a:t>
            </a:r>
          </a:p>
          <a:p>
            <a:pPr marL="0" indent="0">
              <a:buNone/>
              <a:defRPr/>
            </a:pPr>
            <a:endParaRPr lang="en-US" sz="2800" dirty="0"/>
          </a:p>
          <a:p>
            <a:pPr marL="0" indent="0">
              <a:buNone/>
              <a:defRPr/>
            </a:pPr>
            <a:r>
              <a:rPr lang="en-US" sz="2800" b="1" dirty="0"/>
              <a:t>Probability = 0 means that the event will NEVER happen. </a:t>
            </a:r>
          </a:p>
          <a:p>
            <a:pPr lvl="1">
              <a:defRPr/>
            </a:pPr>
            <a:r>
              <a:rPr lang="en-US" sz="2800" dirty="0"/>
              <a:t>Example: The probability that the Perth Wildcats will win the AFL Grand Final this year.</a:t>
            </a:r>
          </a:p>
          <a:p>
            <a:pPr>
              <a:buFont typeface="Wingdings" panose="05000000000000000000" pitchFamily="2" charset="2"/>
              <a:buNone/>
              <a:defRPr/>
            </a:pPr>
            <a:endParaRPr lang="en-US" sz="2800" dirty="0"/>
          </a:p>
          <a:p>
            <a:pPr marL="0" indent="0">
              <a:buNone/>
              <a:defRPr/>
            </a:pPr>
            <a:r>
              <a:rPr lang="en-US" sz="2800" b="1" dirty="0"/>
              <a:t>Probability = 1 means the event will ALWAYS happen.</a:t>
            </a:r>
          </a:p>
          <a:p>
            <a:pPr lvl="1">
              <a:defRPr/>
            </a:pPr>
            <a:r>
              <a:rPr lang="en-US" sz="2800" dirty="0"/>
              <a:t> Example: The probability that Christmas will be on December 25</a:t>
            </a:r>
            <a:r>
              <a:rPr lang="en-US" sz="2800" baseline="30000" dirty="0"/>
              <a:t>th</a:t>
            </a:r>
            <a:r>
              <a:rPr lang="en-US" sz="2800" dirty="0"/>
              <a:t> next year.</a:t>
            </a:r>
          </a:p>
          <a:p>
            <a:pPr lvl="1">
              <a:defRPr/>
            </a:pPr>
            <a:endParaRPr lang="en-US" sz="2800" dirty="0">
              <a:solidFill>
                <a:srgbClr val="FF0000"/>
              </a:solidFill>
            </a:endParaRPr>
          </a:p>
          <a:p>
            <a:pPr>
              <a:defRPr/>
            </a:pPr>
            <a:endParaRPr lang="en-US" sz="2800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None/>
              <a:defRPr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40004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1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868064-A396-456A-A56D-2B0AB9EF8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190" y="1283352"/>
            <a:ext cx="11093824" cy="538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304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4323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9" y="1738377"/>
            <a:ext cx="1845939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calculate probability?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have we learnt about probability so far?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C5B15BDD-A090-4F9B-A148-7E5FEE2C0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4541" y="1934503"/>
            <a:ext cx="7851223" cy="240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068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4323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9" y="1738377"/>
            <a:ext cx="1845939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calculate probability?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have we learnt about probability so far?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A965F1D7-7C28-4A0B-8C2F-5DFBF2B7F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3160" y="1463490"/>
            <a:ext cx="5692004" cy="53177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62213EF-427D-443C-A326-099F1D1E0FE8}"/>
              </a:ext>
            </a:extLst>
          </p:cNvPr>
          <p:cNvSpPr/>
          <p:nvPr/>
        </p:nvSpPr>
        <p:spPr>
          <a:xfrm>
            <a:off x="8453264" y="1387627"/>
            <a:ext cx="352743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2800" b="1" dirty="0"/>
              <a:t>Sample space: </a:t>
            </a:r>
            <a:r>
              <a:rPr lang="en-US" altLang="en-US" sz="2800" dirty="0"/>
              <a:t>A list of all the possible outcomes.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B21444-CE47-4915-91A1-4C5197277009}"/>
              </a:ext>
            </a:extLst>
          </p:cNvPr>
          <p:cNvSpPr/>
          <p:nvPr/>
        </p:nvSpPr>
        <p:spPr>
          <a:xfrm>
            <a:off x="2474257" y="3939988"/>
            <a:ext cx="5123329" cy="1008530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08E116-2E75-4494-AB56-8713DC2FAC0B}"/>
              </a:ext>
            </a:extLst>
          </p:cNvPr>
          <p:cNvSpPr/>
          <p:nvPr/>
        </p:nvSpPr>
        <p:spPr>
          <a:xfrm>
            <a:off x="2474256" y="5836024"/>
            <a:ext cx="5123329" cy="945166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BDC31F0-3ADA-423A-82C4-FA19B9B7B5F6}"/>
              </a:ext>
            </a:extLst>
          </p:cNvPr>
          <p:cNvSpPr/>
          <p:nvPr/>
        </p:nvSpPr>
        <p:spPr>
          <a:xfrm>
            <a:off x="2411521" y="4948518"/>
            <a:ext cx="5123329" cy="945166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BB6295D-B772-44AF-95AD-71D6CF66E6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7899" y="3992244"/>
            <a:ext cx="4431567" cy="135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335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4" grpId="0" animBg="1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4323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9" y="1738377"/>
            <a:ext cx="1845939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calculate probability?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have we learnt about probability so far?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362213EF-427D-443C-A326-099F1D1E0FE8}"/>
              </a:ext>
            </a:extLst>
          </p:cNvPr>
          <p:cNvSpPr/>
          <p:nvPr/>
        </p:nvSpPr>
        <p:spPr>
          <a:xfrm>
            <a:off x="8453264" y="1387627"/>
            <a:ext cx="352743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2800" b="1" dirty="0"/>
              <a:t>Sample space: </a:t>
            </a:r>
            <a:r>
              <a:rPr lang="en-US" altLang="en-US" sz="2800" dirty="0"/>
              <a:t>A list of all the possible outcomes.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BB6295D-B772-44AF-95AD-71D6CF66E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6974" y="3939988"/>
            <a:ext cx="4315026" cy="132392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1A79693-DA24-4D70-BE36-8124599230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1009" y="1394582"/>
            <a:ext cx="5964352" cy="522832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CB21444-CE47-4915-91A1-4C5197277009}"/>
              </a:ext>
            </a:extLst>
          </p:cNvPr>
          <p:cNvSpPr/>
          <p:nvPr/>
        </p:nvSpPr>
        <p:spPr>
          <a:xfrm>
            <a:off x="2474256" y="3939988"/>
            <a:ext cx="5123329" cy="900558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08E116-2E75-4494-AB56-8713DC2FAC0B}"/>
              </a:ext>
            </a:extLst>
          </p:cNvPr>
          <p:cNvSpPr/>
          <p:nvPr/>
        </p:nvSpPr>
        <p:spPr>
          <a:xfrm>
            <a:off x="2411520" y="5718883"/>
            <a:ext cx="5123329" cy="796054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BDC31F0-3ADA-423A-82C4-FA19B9B7B5F6}"/>
              </a:ext>
            </a:extLst>
          </p:cNvPr>
          <p:cNvSpPr/>
          <p:nvPr/>
        </p:nvSpPr>
        <p:spPr>
          <a:xfrm>
            <a:off x="2378476" y="4818324"/>
            <a:ext cx="5543840" cy="792588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3751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4" grpId="0" animBg="1"/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08996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4323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1767" y="1856816"/>
            <a:ext cx="2257658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complementary Probability?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have we learnt about probability so far?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-11767" y="132048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362213EF-427D-443C-A326-099F1D1E0FE8}"/>
              </a:ext>
            </a:extLst>
          </p:cNvPr>
          <p:cNvSpPr/>
          <p:nvPr/>
        </p:nvSpPr>
        <p:spPr>
          <a:xfrm>
            <a:off x="2539969" y="1440496"/>
            <a:ext cx="875623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2800" b="1" dirty="0"/>
              <a:t>Complement: </a:t>
            </a:r>
            <a:r>
              <a:rPr lang="en-US" altLang="en-US" sz="2800" dirty="0"/>
              <a:t>means an event not happening.</a:t>
            </a:r>
          </a:p>
          <a:p>
            <a:pPr>
              <a:defRPr/>
            </a:pPr>
            <a:r>
              <a:rPr lang="en-US" altLang="en-US" sz="2800" dirty="0"/>
              <a:t>Ex. The complement of having long hair is not having long hair. </a:t>
            </a:r>
          </a:p>
          <a:p>
            <a:pPr>
              <a:defRPr/>
            </a:pPr>
            <a:endParaRPr lang="en-US" altLang="en-US" sz="2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1109F8-D78B-4FEF-B556-EF59FD330E26}"/>
              </a:ext>
            </a:extLst>
          </p:cNvPr>
          <p:cNvSpPr txBox="1"/>
          <p:nvPr/>
        </p:nvSpPr>
        <p:spPr>
          <a:xfrm>
            <a:off x="2449759" y="2841984"/>
            <a:ext cx="89234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7030A0"/>
                </a:solidFill>
              </a:rPr>
              <a:t>The complement of event A is not event A which can be written as A’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99625A-3F39-4C2E-A99A-20A7A0B9EF79}"/>
              </a:ext>
            </a:extLst>
          </p:cNvPr>
          <p:cNvSpPr txBox="1"/>
          <p:nvPr/>
        </p:nvSpPr>
        <p:spPr>
          <a:xfrm>
            <a:off x="6096000" y="3364826"/>
            <a:ext cx="16441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highlight>
                  <a:srgbClr val="FFFF00"/>
                </a:highlight>
              </a:rPr>
              <a:t>Not A = A’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6D0236-A814-466E-A720-1750BA8A2979}"/>
              </a:ext>
            </a:extLst>
          </p:cNvPr>
          <p:cNvSpPr/>
          <p:nvPr/>
        </p:nvSpPr>
        <p:spPr>
          <a:xfrm>
            <a:off x="2372102" y="3897999"/>
            <a:ext cx="939740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The sum of the probability of an event and its complete is 1</a:t>
            </a:r>
          </a:p>
          <a:p>
            <a:r>
              <a:rPr lang="en-AU" sz="2400" b="1" dirty="0">
                <a:solidFill>
                  <a:srgbClr val="0070C0"/>
                </a:solidFill>
              </a:rPr>
              <a:t>P(A) + P(A’) = 1</a:t>
            </a:r>
          </a:p>
          <a:p>
            <a:endParaRPr lang="en-AU" sz="2400" b="1" dirty="0">
              <a:solidFill>
                <a:srgbClr val="0070C0"/>
              </a:solidFill>
            </a:endParaRPr>
          </a:p>
          <a:p>
            <a:r>
              <a:rPr lang="en-AU" sz="2400" b="1" dirty="0">
                <a:solidFill>
                  <a:srgbClr val="0070C0"/>
                </a:solidFill>
              </a:rPr>
              <a:t>Therefore P(A’) = 1 -  P(A)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A824AA8-5AD7-4D47-88F4-B7DAB1135C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2102" y="5527696"/>
            <a:ext cx="8923263" cy="1195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973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E96CB1-9426-44F2-936C-E6D5A1822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7692"/>
            <a:ext cx="12226037" cy="4044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282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6208</TotalTime>
  <Words>678</Words>
  <Application>Microsoft Office PowerPoint</Application>
  <PresentationFormat>Widescreen</PresentationFormat>
  <Paragraphs>133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Arial</vt:lpstr>
      <vt:lpstr>Calibri</vt:lpstr>
      <vt:lpstr>Cambria Math</vt:lpstr>
      <vt:lpstr>Century Gothic</vt:lpstr>
      <vt:lpstr>DJB Fancy Nancy</vt:lpstr>
      <vt:lpstr>Kiwi School Handwriting</vt:lpstr>
      <vt:lpstr>Tahoma</vt:lpstr>
      <vt:lpstr>Times New Roman</vt:lpstr>
      <vt:lpstr>Wingdings</vt:lpstr>
      <vt:lpstr>Vapor Trail</vt:lpstr>
      <vt:lpstr>Topic: Probability  EQ: What have we learnt about probability so far?</vt:lpstr>
      <vt:lpstr>Topic: Probability  EQ: What have we learnt about probability so far?</vt:lpstr>
      <vt:lpstr>Probability review</vt:lpstr>
      <vt:lpstr>PowerPoint Presentation</vt:lpstr>
      <vt:lpstr>PowerPoint Presentation</vt:lpstr>
      <vt:lpstr>PowerPoint Presentation</vt:lpstr>
      <vt:lpstr>PowerPoint Presentation</vt:lpstr>
      <vt:lpstr>Practice</vt:lpstr>
      <vt:lpstr>PowerPoint Presentation</vt:lpstr>
      <vt:lpstr>PowerPoint Presentation</vt:lpstr>
      <vt:lpstr>PowerPoint Presentation</vt:lpstr>
      <vt:lpstr>PowerPoint Presentation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review</dc:title>
  <dc:creator>Nine Labuschagne</dc:creator>
  <cp:lastModifiedBy>E4092707</cp:lastModifiedBy>
  <cp:revision>11</cp:revision>
  <dcterms:created xsi:type="dcterms:W3CDTF">2017-10-15T23:31:24Z</dcterms:created>
  <dcterms:modified xsi:type="dcterms:W3CDTF">2018-04-29T08:44:31Z</dcterms:modified>
</cp:coreProperties>
</file>
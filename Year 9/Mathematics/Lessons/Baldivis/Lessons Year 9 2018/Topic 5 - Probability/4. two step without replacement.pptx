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3"/>
  </p:notesMasterIdLst>
  <p:sldIdLst>
    <p:sldId id="310" r:id="rId2"/>
    <p:sldId id="322" r:id="rId3"/>
    <p:sldId id="257" r:id="rId4"/>
    <p:sldId id="267" r:id="rId5"/>
    <p:sldId id="325" r:id="rId6"/>
    <p:sldId id="260" r:id="rId7"/>
    <p:sldId id="326" r:id="rId8"/>
    <p:sldId id="327" r:id="rId9"/>
    <p:sldId id="328" r:id="rId10"/>
    <p:sldId id="329" r:id="rId11"/>
    <p:sldId id="324" r:id="rId12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64" autoAdjust="0"/>
    <p:restoredTop sz="94660"/>
  </p:normalViewPr>
  <p:slideViewPr>
    <p:cSldViewPr snapToGrid="0">
      <p:cViewPr varScale="1">
        <p:scale>
          <a:sx n="83" d="100"/>
          <a:sy n="83" d="100"/>
        </p:scale>
        <p:origin x="77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2282E-A42A-413E-AE2C-48286DBF7EC2}" type="datetimeFigureOut">
              <a:rPr lang="en-AU" smtClean="0"/>
              <a:t>18/05/2018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25140-7458-4828-80E5-6CAE1A8C66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4254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59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28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307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84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3E78394-75B3-4DDA-93C4-891EE6443567}" type="datetimeFigureOut">
              <a:rPr lang="en-AU" smtClean="0"/>
              <a:t>18/05/2018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533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18/05/2018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8490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18/05/2018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3527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18/05/2018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030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18/05/2018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41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18/05/2018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3842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18/05/2018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428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18/05/2018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5221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18/05/2018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1264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18/05/2018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6670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18/05/2018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9034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18/05/2018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7612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18/05/2018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0725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18/05/2018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1822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18/05/2018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13393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18/05/2018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44865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18/05/2018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9386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78394-75B3-4DDA-93C4-891EE6443567}" type="datetimeFigureOut">
              <a:rPr lang="en-AU" smtClean="0"/>
              <a:t>18/05/2018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4749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9AC4A-4382-4AAA-8564-DC695DE4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0813" y="722439"/>
            <a:ext cx="10192431" cy="969771"/>
          </a:xfrm>
        </p:spPr>
        <p:txBody>
          <a:bodyPr>
            <a:normAutofit/>
          </a:bodyPr>
          <a:lstStyle/>
          <a:p>
            <a:r>
              <a:rPr lang="en-AU" sz="3200" dirty="0"/>
              <a:t>Topic: Two step Probability </a:t>
            </a:r>
            <a:r>
              <a:rPr lang="en-AU" sz="2000" b="1" cap="none" dirty="0"/>
              <a:t>without</a:t>
            </a:r>
            <a:r>
              <a:rPr lang="en-AU" sz="2000" cap="none" dirty="0"/>
              <a:t> replacement </a:t>
            </a:r>
            <a:br>
              <a:rPr lang="en-AU" sz="4800" dirty="0"/>
            </a:br>
            <a:r>
              <a:rPr lang="en-AU" sz="2400" dirty="0"/>
              <a:t>EQ: </a:t>
            </a:r>
            <a:r>
              <a:rPr lang="en-AU" sz="2400" cap="none" dirty="0"/>
              <a:t>What Is Experimental Probability </a:t>
            </a:r>
            <a:r>
              <a:rPr lang="en-AU" sz="2400" b="1" cap="none" dirty="0"/>
              <a:t>Without</a:t>
            </a:r>
            <a:r>
              <a:rPr lang="en-AU" sz="2400" cap="none" dirty="0"/>
              <a:t> Replacement</a:t>
            </a:r>
            <a:r>
              <a:rPr lang="en-AU" sz="2400" dirty="0"/>
              <a:t>?</a:t>
            </a:r>
            <a:endParaRPr lang="en-AU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B6099-D343-42A3-A2D1-E66D219F6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029" y="2413217"/>
            <a:ext cx="6035844" cy="3960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/>
              <a:t>Steps to be successful this lesson: </a:t>
            </a:r>
          </a:p>
          <a:p>
            <a:pPr>
              <a:buAutoNum type="arabicPeriod"/>
            </a:pPr>
            <a:r>
              <a:rPr lang="en-AU" sz="2000" dirty="0"/>
              <a:t>Get materials out (notebook, pen, pencil, ruler, calculator)</a:t>
            </a:r>
          </a:p>
          <a:p>
            <a:pPr>
              <a:buAutoNum type="arabicPeriod"/>
            </a:pPr>
            <a:r>
              <a:rPr lang="en-AU" sz="2000" dirty="0"/>
              <a:t>Rule up notebook and write Topic and EQ</a:t>
            </a:r>
          </a:p>
          <a:p>
            <a:pPr>
              <a:buAutoNum type="arabicPeriod"/>
            </a:pPr>
            <a:r>
              <a:rPr lang="en-AU" sz="2000" dirty="0"/>
              <a:t>Start on review questions </a:t>
            </a:r>
            <a:r>
              <a:rPr lang="en-AU" sz="2000" dirty="0">
                <a:latin typeface="Century Gothic" panose="020B0502020202020204" pitchFamily="34" charset="0"/>
              </a:rPr>
              <a:t>→</a:t>
            </a:r>
            <a:endParaRPr lang="en-AU" sz="2000" dirty="0"/>
          </a:p>
          <a:p>
            <a:pPr>
              <a:buAutoNum type="arabicPeriod"/>
            </a:pPr>
            <a:r>
              <a:rPr lang="en-AU" sz="2000" dirty="0"/>
              <a:t>Check your answers with someone sitting next to you </a:t>
            </a:r>
          </a:p>
          <a:p>
            <a:pPr>
              <a:buAutoNum type="arabicPeriod"/>
            </a:pPr>
            <a:r>
              <a:rPr lang="en-AU" sz="2000" dirty="0"/>
              <a:t>Is your notebook up to date? (Contents page, glossary, review notes etc.) </a:t>
            </a:r>
          </a:p>
        </p:txBody>
      </p:sp>
      <p:sp>
        <p:nvSpPr>
          <p:cNvPr id="4" name="AutoShape 2" descr="Image result for work hard meme">
            <a:extLst>
              <a:ext uri="{FF2B5EF4-FFF2-40B4-BE49-F238E27FC236}">
                <a16:creationId xmlns:a16="http://schemas.microsoft.com/office/drawing/2014/main" id="{0A6F0259-A35B-4236-92C7-CE1C5DC232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CCC7E7-14F7-4DC3-8913-B2FD7A220F02}"/>
              </a:ext>
            </a:extLst>
          </p:cNvPr>
          <p:cNvSpPr txBox="1"/>
          <p:nvPr/>
        </p:nvSpPr>
        <p:spPr>
          <a:xfrm>
            <a:off x="6554114" y="1692210"/>
            <a:ext cx="5374857" cy="3779176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b="1" dirty="0"/>
              <a:t>Review questions </a:t>
            </a:r>
            <a:r>
              <a:rPr lang="en-AU" dirty="0"/>
              <a:t>(on LHS) </a:t>
            </a:r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0BED29-A078-4BF2-A195-30B65AFA56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351" t="20000" r="23702" b="55385"/>
          <a:stretch/>
        </p:blipFill>
        <p:spPr>
          <a:xfrm>
            <a:off x="6554113" y="2413217"/>
            <a:ext cx="5374857" cy="158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340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9AC4A-4382-4AAA-8564-DC695DE4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0813" y="722439"/>
            <a:ext cx="10192431" cy="969771"/>
          </a:xfrm>
        </p:spPr>
        <p:txBody>
          <a:bodyPr>
            <a:normAutofit/>
          </a:bodyPr>
          <a:lstStyle/>
          <a:p>
            <a:r>
              <a:rPr lang="en-AU" sz="3200" dirty="0"/>
              <a:t>Topic: Two step Probability </a:t>
            </a:r>
            <a:r>
              <a:rPr lang="en-AU" sz="2000" b="1" cap="none" dirty="0"/>
              <a:t>without</a:t>
            </a:r>
            <a:r>
              <a:rPr lang="en-AU" sz="2000" cap="none" dirty="0"/>
              <a:t> replacement </a:t>
            </a:r>
            <a:br>
              <a:rPr lang="en-AU" sz="4800" dirty="0"/>
            </a:br>
            <a:r>
              <a:rPr lang="en-AU" sz="2400" dirty="0"/>
              <a:t>EQ: </a:t>
            </a:r>
            <a:r>
              <a:rPr lang="en-AU" sz="2400" cap="none" dirty="0"/>
              <a:t>What Is Experimental Probability </a:t>
            </a:r>
            <a:r>
              <a:rPr lang="en-AU" sz="2400" b="1" cap="none" dirty="0"/>
              <a:t>Without</a:t>
            </a:r>
            <a:r>
              <a:rPr lang="en-AU" sz="2400" cap="none" dirty="0"/>
              <a:t> Replacement</a:t>
            </a:r>
            <a:r>
              <a:rPr lang="en-AU" sz="2400" dirty="0"/>
              <a:t>?</a:t>
            </a:r>
            <a:endParaRPr lang="en-AU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B6099-D343-42A3-A2D1-E66D219F6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029" y="2413217"/>
            <a:ext cx="6035844" cy="3960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/>
              <a:t>Steps to be successful this lesson: </a:t>
            </a:r>
          </a:p>
          <a:p>
            <a:pPr>
              <a:buAutoNum type="arabicPeriod"/>
            </a:pPr>
            <a:r>
              <a:rPr lang="en-AU" sz="2000" dirty="0"/>
              <a:t>Get materials out (notebook, pen, pencil, ruler, calculator)</a:t>
            </a:r>
          </a:p>
          <a:p>
            <a:pPr>
              <a:buAutoNum type="arabicPeriod"/>
            </a:pPr>
            <a:r>
              <a:rPr lang="en-AU" sz="2000" dirty="0"/>
              <a:t>Rule up notebook and write Topic and EQ</a:t>
            </a:r>
          </a:p>
          <a:p>
            <a:pPr>
              <a:buAutoNum type="arabicPeriod"/>
            </a:pPr>
            <a:r>
              <a:rPr lang="en-AU" sz="2000" dirty="0"/>
              <a:t>Start on review questions </a:t>
            </a:r>
            <a:r>
              <a:rPr lang="en-AU" sz="2000" dirty="0">
                <a:latin typeface="Century Gothic" panose="020B0502020202020204" pitchFamily="34" charset="0"/>
              </a:rPr>
              <a:t>→</a:t>
            </a:r>
            <a:endParaRPr lang="en-AU" sz="2000" dirty="0"/>
          </a:p>
          <a:p>
            <a:pPr>
              <a:buAutoNum type="arabicPeriod"/>
            </a:pPr>
            <a:r>
              <a:rPr lang="en-AU" sz="2000" dirty="0"/>
              <a:t>Check your answers with someone sitting next to you </a:t>
            </a:r>
          </a:p>
          <a:p>
            <a:pPr>
              <a:buAutoNum type="arabicPeriod"/>
            </a:pPr>
            <a:r>
              <a:rPr lang="en-AU" sz="2000" dirty="0"/>
              <a:t>Is your notebook up to date? (Contents page, glossary, review notes etc.) </a:t>
            </a:r>
          </a:p>
        </p:txBody>
      </p:sp>
      <p:sp>
        <p:nvSpPr>
          <p:cNvPr id="4" name="AutoShape 2" descr="Image result for work hard meme">
            <a:extLst>
              <a:ext uri="{FF2B5EF4-FFF2-40B4-BE49-F238E27FC236}">
                <a16:creationId xmlns:a16="http://schemas.microsoft.com/office/drawing/2014/main" id="{0A6F0259-A35B-4236-92C7-CE1C5DC232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CCC7E7-14F7-4DC3-8913-B2FD7A220F02}"/>
              </a:ext>
            </a:extLst>
          </p:cNvPr>
          <p:cNvSpPr txBox="1"/>
          <p:nvPr/>
        </p:nvSpPr>
        <p:spPr>
          <a:xfrm>
            <a:off x="6516746" y="1707288"/>
            <a:ext cx="5374857" cy="461017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b="1" dirty="0"/>
              <a:t>Review questions </a:t>
            </a:r>
            <a:r>
              <a:rPr lang="en-AU" dirty="0"/>
              <a:t>(on LHS) </a:t>
            </a:r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0BED29-A078-4BF2-A195-30B65AFA56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351" t="20000" r="23702" b="55385"/>
          <a:stretch/>
        </p:blipFill>
        <p:spPr>
          <a:xfrm>
            <a:off x="6554113" y="2413217"/>
            <a:ext cx="5374857" cy="15852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AA2B2B-F3D1-4283-BCCB-A3AC853818DC}"/>
              </a:ext>
            </a:extLst>
          </p:cNvPr>
          <p:cNvSpPr txBox="1"/>
          <p:nvPr/>
        </p:nvSpPr>
        <p:spPr>
          <a:xfrm>
            <a:off x="6532905" y="3997296"/>
            <a:ext cx="2035972" cy="152349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1600" dirty="0"/>
              <a:t>9×11 = 99		</a:t>
            </a:r>
          </a:p>
          <a:p>
            <a:pPr>
              <a:lnSpc>
                <a:spcPct val="150000"/>
              </a:lnSpc>
            </a:pPr>
            <a:r>
              <a:rPr lang="en-AU" sz="1600" dirty="0"/>
              <a:t>4× 5 = 20</a:t>
            </a:r>
          </a:p>
          <a:p>
            <a:pPr>
              <a:lnSpc>
                <a:spcPct val="150000"/>
              </a:lnSpc>
            </a:pPr>
            <a:r>
              <a:rPr lang="en-AU" sz="1600" dirty="0"/>
              <a:t>99 + 20 = 119 m²</a:t>
            </a:r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5A87FD-2AD9-4ABE-8DAA-35DBF3EF336B}"/>
              </a:ext>
            </a:extLst>
          </p:cNvPr>
          <p:cNvSpPr txBox="1"/>
          <p:nvPr/>
        </p:nvSpPr>
        <p:spPr>
          <a:xfrm>
            <a:off x="8568877" y="4158544"/>
            <a:ext cx="20359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1600" dirty="0"/>
              <a:t>8×16 = 128		</a:t>
            </a:r>
          </a:p>
          <a:p>
            <a:pPr>
              <a:lnSpc>
                <a:spcPct val="150000"/>
              </a:lnSpc>
            </a:pPr>
            <a:r>
              <a:rPr lang="en-AU" sz="1600" dirty="0"/>
              <a:t>0.5 ×4 × 16 = 32</a:t>
            </a:r>
          </a:p>
          <a:p>
            <a:pPr>
              <a:lnSpc>
                <a:spcPct val="150000"/>
              </a:lnSpc>
            </a:pPr>
            <a:r>
              <a:rPr lang="en-AU" sz="1600" dirty="0"/>
              <a:t>128 + 32 = 160 m²</a:t>
            </a:r>
          </a:p>
          <a:p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4748F7-C038-4DD5-A1FA-66BFBDC5233E}"/>
              </a:ext>
            </a:extLst>
          </p:cNvPr>
          <p:cNvSpPr txBox="1"/>
          <p:nvPr/>
        </p:nvSpPr>
        <p:spPr>
          <a:xfrm>
            <a:off x="9804736" y="5403893"/>
            <a:ext cx="2035972" cy="78418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1600" dirty="0"/>
              <a:t>0.5 ×5.8×3.4 = 9.86	</a:t>
            </a:r>
          </a:p>
          <a:p>
            <a:pPr>
              <a:lnSpc>
                <a:spcPct val="150000"/>
              </a:lnSpc>
            </a:pPr>
            <a:r>
              <a:rPr lang="en-AU" sz="1600" dirty="0"/>
              <a:t>9.86× 5 = 49.3 m²</a:t>
            </a:r>
          </a:p>
        </p:txBody>
      </p:sp>
    </p:spTree>
    <p:extLst>
      <p:ext uri="{BB962C8B-B14F-4D97-AF65-F5344CB8AC3E}">
        <p14:creationId xmlns:p14="http://schemas.microsoft.com/office/powerpoint/2010/main" val="909499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Two Step Probability Without Replacement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9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963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Two step Probability without replacement 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probability without replacement?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What is experimental probability without replacement?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F07E34-2B61-4CF8-A45B-2EAA011652E4}"/>
              </a:ext>
            </a:extLst>
          </p:cNvPr>
          <p:cNvSpPr txBox="1"/>
          <p:nvPr/>
        </p:nvSpPr>
        <p:spPr>
          <a:xfrm>
            <a:off x="2147763" y="1738376"/>
            <a:ext cx="9497382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In some experiments, the sample space (list of possible outcomes) may change for the different events. </a:t>
            </a:r>
          </a:p>
          <a:p>
            <a:endParaRPr lang="en-AU" sz="2000" dirty="0"/>
          </a:p>
          <a:p>
            <a:r>
              <a:rPr lang="en-AU" sz="2000" dirty="0"/>
              <a:t>The probability for each event will be different.</a:t>
            </a:r>
          </a:p>
          <a:p>
            <a:endParaRPr lang="en-AU" dirty="0"/>
          </a:p>
          <a:p>
            <a:r>
              <a:rPr lang="en-AU" sz="2000" dirty="0"/>
              <a:t>Example : There are 10 marbles in a bag and you choose one and keep it (for the first selection there were 10 marbles), you choose another marble and keep it (for the second selection there were only 9 marbles to choose from). </a:t>
            </a:r>
          </a:p>
          <a:p>
            <a:endParaRPr lang="en-AU" sz="2000" dirty="0"/>
          </a:p>
          <a:p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43083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963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Two step Probability without replacement 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-410060" y="1326777"/>
            <a:ext cx="218687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Example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What is experimental probability without replacement?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305D72D-5F7C-48F3-98C3-EDB4A00751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875" t="11410" r="39135" b="56131"/>
          <a:stretch/>
        </p:blipFill>
        <p:spPr>
          <a:xfrm>
            <a:off x="34556" y="1841286"/>
            <a:ext cx="6451258" cy="40630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754E1F-7EDF-4DEC-86E3-CB52A0869A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875" t="66309" r="43169" b="11538"/>
          <a:stretch/>
        </p:blipFill>
        <p:spPr>
          <a:xfrm>
            <a:off x="6485814" y="2211723"/>
            <a:ext cx="5656912" cy="282459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BC05BB9-E6E4-4638-84B0-4C6245C341ED}"/>
              </a:ext>
            </a:extLst>
          </p:cNvPr>
          <p:cNvSpPr txBox="1"/>
          <p:nvPr/>
        </p:nvSpPr>
        <p:spPr>
          <a:xfrm>
            <a:off x="7415005" y="1348599"/>
            <a:ext cx="3842238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1600" dirty="0"/>
              <a:t>Since the cards are selected at the same time there is no replacement. </a:t>
            </a:r>
          </a:p>
        </p:txBody>
      </p:sp>
    </p:spTree>
    <p:extLst>
      <p:ext uri="{BB962C8B-B14F-4D97-AF65-F5344CB8AC3E}">
        <p14:creationId xmlns:p14="http://schemas.microsoft.com/office/powerpoint/2010/main" val="3110905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963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Two step Probability without replacement 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-410060" y="1326777"/>
            <a:ext cx="218687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Example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What is experimental probability without replacement?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A3F5CE8-7297-49E1-A8F4-E91AFBE2D35D}"/>
              </a:ext>
            </a:extLst>
          </p:cNvPr>
          <p:cNvSpPr txBox="1"/>
          <p:nvPr/>
        </p:nvSpPr>
        <p:spPr>
          <a:xfrm>
            <a:off x="1776812" y="1482353"/>
            <a:ext cx="993454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bucket contains 4 blue marbles, 3 red marbles and 3 yellow marbles, two marbles are selected without replacement.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Draw the tree diagram and label the probabilities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P(BY)=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P(BB)=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94390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045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C3262-839F-4CC1-B5DC-60E7C6C27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854B0D-067E-4463-945E-36B8F7EEC1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7015" t="88184" r="49289" b="5562"/>
          <a:stretch/>
        </p:blipFill>
        <p:spPr>
          <a:xfrm>
            <a:off x="6520873" y="1755138"/>
            <a:ext cx="5790140" cy="6045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ACA4828-08A2-42D4-87C2-933D91FE26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697" t="18855" r="43305" b="11597"/>
          <a:stretch/>
        </p:blipFill>
        <p:spPr>
          <a:xfrm>
            <a:off x="350982" y="260395"/>
            <a:ext cx="6262254" cy="583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987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88ACD-C0FC-4B12-9538-640CF4BE1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6422AD-5DD1-482F-956B-23929193E8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242" t="16161" r="39242" b="12023"/>
          <a:stretch/>
        </p:blipFill>
        <p:spPr>
          <a:xfrm>
            <a:off x="212434" y="422500"/>
            <a:ext cx="6530109" cy="5671127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DB0402-1438-4F49-945B-CAD4A784AA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242" t="90365" r="44183" b="4957"/>
          <a:stretch/>
        </p:blipFill>
        <p:spPr>
          <a:xfrm>
            <a:off x="6427143" y="1756581"/>
            <a:ext cx="5738513" cy="363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492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1551EB-9FE5-473C-A5B0-D1705C153654}"/>
              </a:ext>
            </a:extLst>
          </p:cNvPr>
          <p:cNvSpPr txBox="1"/>
          <p:nvPr/>
        </p:nvSpPr>
        <p:spPr>
          <a:xfrm>
            <a:off x="1441938" y="1661746"/>
            <a:ext cx="54336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Individual work:</a:t>
            </a:r>
          </a:p>
          <a:p>
            <a:endParaRPr lang="en-AU" dirty="0"/>
          </a:p>
          <a:p>
            <a:r>
              <a:rPr lang="en-AU" dirty="0"/>
              <a:t>Tree diagrams without replacement WS </a:t>
            </a:r>
          </a:p>
        </p:txBody>
      </p:sp>
    </p:spTree>
    <p:extLst>
      <p:ext uri="{BB962C8B-B14F-4D97-AF65-F5344CB8AC3E}">
        <p14:creationId xmlns:p14="http://schemas.microsoft.com/office/powerpoint/2010/main" val="2140902269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6395</TotalTime>
  <Words>369</Words>
  <Application>Microsoft Office PowerPoint</Application>
  <PresentationFormat>Widescreen</PresentationFormat>
  <Paragraphs>87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Century Gothic</vt:lpstr>
      <vt:lpstr>DJB Fancy Nancy</vt:lpstr>
      <vt:lpstr>Kiwi School Handwriting</vt:lpstr>
      <vt:lpstr>Vapor Trail</vt:lpstr>
      <vt:lpstr>Topic: Two step Probability without replacement  EQ: What Is Experimental Probability Without Replacement?</vt:lpstr>
      <vt:lpstr>Topic: Two step Probability without replacement  EQ: What Is Experimental Probability Without Replacement?</vt:lpstr>
      <vt:lpstr>Two Step Probability Without Replacement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review</dc:title>
  <dc:creator>Nine Labuschagne</dc:creator>
  <cp:lastModifiedBy>E4092707</cp:lastModifiedBy>
  <cp:revision>31</cp:revision>
  <cp:lastPrinted>2018-05-17T23:11:48Z</cp:lastPrinted>
  <dcterms:created xsi:type="dcterms:W3CDTF">2017-10-15T23:31:24Z</dcterms:created>
  <dcterms:modified xsi:type="dcterms:W3CDTF">2018-05-17T23:22:39Z</dcterms:modified>
</cp:coreProperties>
</file>
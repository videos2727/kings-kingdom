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6"/>
    <p:restoredTop sz="94664"/>
  </p:normalViewPr>
  <p:slideViewPr>
    <p:cSldViewPr snapToGrid="0" snapToObjects="1">
      <p:cViewPr varScale="1">
        <p:scale>
          <a:sx n="71" d="100"/>
          <a:sy n="71" d="100"/>
        </p:scale>
        <p:origin x="168"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2/28/18</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Practical applications of index laws</a:t>
            </a:r>
            <a:endParaRPr lang="en-AU" dirty="0"/>
          </a:p>
        </p:txBody>
      </p:sp>
    </p:spTree>
    <p:extLst>
      <p:ext uri="{BB962C8B-B14F-4D97-AF65-F5344CB8AC3E}">
        <p14:creationId xmlns:p14="http://schemas.microsoft.com/office/powerpoint/2010/main" val="5246485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Indices in Real life</a:t>
            </a:r>
            <a:endParaRPr lang="en-AU" dirty="0"/>
          </a:p>
        </p:txBody>
      </p:sp>
      <p:sp>
        <p:nvSpPr>
          <p:cNvPr id="3" name="Content Placeholder 2"/>
          <p:cNvSpPr>
            <a:spLocks noGrp="1"/>
          </p:cNvSpPr>
          <p:nvPr>
            <p:ph idx="1"/>
          </p:nvPr>
        </p:nvSpPr>
        <p:spPr>
          <a:xfrm>
            <a:off x="685801" y="1479915"/>
            <a:ext cx="10131425" cy="3649133"/>
          </a:xfrm>
        </p:spPr>
        <p:txBody>
          <a:bodyPr/>
          <a:lstStyle/>
          <a:p>
            <a:r>
              <a:rPr lang="en-US" dirty="0"/>
              <a:t>If you have ever used a computer, mobile phone, or media player such as an iPod or iPad, you have probably heard of terms such as ‘bit’ and ‘byte’, or more likely ‘kilobyte’ (kB), ‘megabyte’ (MB) or ‘gigabyte’ (GB). These words are used </a:t>
            </a:r>
            <a:r>
              <a:rPr lang="en-US" dirty="0" smtClean="0"/>
              <a:t>to </a:t>
            </a:r>
            <a:r>
              <a:rPr lang="en-US" dirty="0"/>
              <a:t>describe the capacity of these devices to store documents, web pages, text messages, photos, music or videos in the form of electronic data. </a:t>
            </a:r>
            <a:endParaRPr lang="en-US" dirty="0" smtClean="0"/>
          </a:p>
          <a:p>
            <a:r>
              <a:rPr lang="en-US" dirty="0" smtClean="0"/>
              <a:t>The common values for storage sizes are 1gb, 2gb, 4gb, 8gb, 16gb, 32gb, 64gb, 128gb, 256gb, 512gb and 1024gb (1TB). </a:t>
            </a:r>
          </a:p>
          <a:p>
            <a:r>
              <a:rPr lang="en-US" dirty="0" smtClean="0"/>
              <a:t>Is there a pattern for these given sizes?</a:t>
            </a:r>
          </a:p>
          <a:p>
            <a:endParaRPr lang="en-US" dirty="0"/>
          </a:p>
          <a:p>
            <a:endParaRPr lang="en-AU" dirty="0"/>
          </a:p>
        </p:txBody>
      </p:sp>
    </p:spTree>
    <p:extLst>
      <p:ext uri="{BB962C8B-B14F-4D97-AF65-F5344CB8AC3E}">
        <p14:creationId xmlns:p14="http://schemas.microsoft.com/office/powerpoint/2010/main" val="71922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Size pattern for Storage</a:t>
            </a:r>
            <a:endParaRPr lang="en-AU" dirty="0"/>
          </a:p>
        </p:txBody>
      </p:sp>
      <p:sp>
        <p:nvSpPr>
          <p:cNvPr id="3" name="Content Placeholder 2"/>
          <p:cNvSpPr>
            <a:spLocks noGrp="1"/>
          </p:cNvSpPr>
          <p:nvPr>
            <p:ph idx="1"/>
          </p:nvPr>
        </p:nvSpPr>
        <p:spPr/>
        <p:txBody>
          <a:bodyPr/>
          <a:lstStyle/>
          <a:p>
            <a:r>
              <a:rPr lang="en-AU" dirty="0" smtClean="0"/>
              <a:t>The sizes in the previous examples double, from one to the next. </a:t>
            </a:r>
          </a:p>
          <a:p>
            <a:r>
              <a:rPr lang="en-AU" dirty="0" smtClean="0"/>
              <a:t>1 x 2 =2, 2x2 = 4, 4x2=8 </a:t>
            </a:r>
            <a:r>
              <a:rPr lang="en-AU" dirty="0" err="1" smtClean="0"/>
              <a:t>ect</a:t>
            </a:r>
            <a:r>
              <a:rPr lang="en-AU" dirty="0" smtClean="0"/>
              <a:t>.. So how does this relate to indices? </a:t>
            </a:r>
          </a:p>
          <a:p>
            <a:r>
              <a:rPr lang="en-AU" dirty="0" smtClean="0"/>
              <a:t>The way the we establish data size is with binary code,  which uses powers of 2.</a:t>
            </a:r>
          </a:p>
          <a:p>
            <a:r>
              <a:rPr lang="en-AU" dirty="0" smtClean="0"/>
              <a:t>2</a:t>
            </a:r>
            <a:r>
              <a:rPr lang="en-AU" baseline="30000" dirty="0" smtClean="0"/>
              <a:t>0 </a:t>
            </a:r>
            <a:r>
              <a:rPr lang="en-AU" dirty="0" smtClean="0"/>
              <a:t> = 1 </a:t>
            </a:r>
            <a:r>
              <a:rPr lang="en-AU" dirty="0" err="1" smtClean="0"/>
              <a:t>gb</a:t>
            </a:r>
            <a:endParaRPr lang="en-AU" dirty="0" smtClean="0"/>
          </a:p>
          <a:p>
            <a:r>
              <a:rPr lang="en-AU" dirty="0" smtClean="0"/>
              <a:t>2</a:t>
            </a:r>
            <a:r>
              <a:rPr lang="en-AU" baseline="30000" dirty="0" smtClean="0"/>
              <a:t>1  </a:t>
            </a:r>
            <a:r>
              <a:rPr lang="en-AU" dirty="0" smtClean="0"/>
              <a:t>= 2 </a:t>
            </a:r>
            <a:r>
              <a:rPr lang="en-AU" dirty="0" err="1" smtClean="0"/>
              <a:t>gb</a:t>
            </a:r>
            <a:endParaRPr lang="en-AU" dirty="0" smtClean="0"/>
          </a:p>
          <a:p>
            <a:r>
              <a:rPr lang="en-AU" dirty="0" smtClean="0"/>
              <a:t>2</a:t>
            </a:r>
            <a:r>
              <a:rPr lang="en-AU" baseline="30000" dirty="0" smtClean="0"/>
              <a:t>2  </a:t>
            </a:r>
            <a:r>
              <a:rPr lang="en-AU" dirty="0" smtClean="0"/>
              <a:t>= 4 </a:t>
            </a:r>
            <a:r>
              <a:rPr lang="en-AU" dirty="0" err="1" smtClean="0"/>
              <a:t>gb</a:t>
            </a:r>
            <a:endParaRPr lang="en-AU" dirty="0" smtClean="0"/>
          </a:p>
          <a:p>
            <a:r>
              <a:rPr lang="en-AU" dirty="0" smtClean="0"/>
              <a:t>2</a:t>
            </a:r>
            <a:r>
              <a:rPr lang="en-AU" baseline="30000" dirty="0" smtClean="0"/>
              <a:t>3 </a:t>
            </a:r>
            <a:r>
              <a:rPr lang="en-AU" dirty="0" smtClean="0"/>
              <a:t>=  8 </a:t>
            </a:r>
            <a:r>
              <a:rPr lang="en-AU" dirty="0" err="1" smtClean="0"/>
              <a:t>gb</a:t>
            </a:r>
            <a:endParaRPr lang="en-AU" dirty="0" smtClean="0"/>
          </a:p>
          <a:p>
            <a:r>
              <a:rPr lang="en-AU" dirty="0" smtClean="0"/>
              <a:t>See the pattern?</a:t>
            </a:r>
            <a:endParaRPr lang="en-AU" dirty="0"/>
          </a:p>
        </p:txBody>
      </p:sp>
    </p:spTree>
    <p:extLst>
      <p:ext uri="{BB962C8B-B14F-4D97-AF65-F5344CB8AC3E}">
        <p14:creationId xmlns:p14="http://schemas.microsoft.com/office/powerpoint/2010/main" val="6884106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6078990"/>
              </p:ext>
            </p:extLst>
          </p:nvPr>
        </p:nvGraphicFramePr>
        <p:xfrm>
          <a:off x="851338" y="2825473"/>
          <a:ext cx="9771377" cy="3078480"/>
        </p:xfrm>
        <a:graphic>
          <a:graphicData uri="http://schemas.openxmlformats.org/drawingml/2006/table">
            <a:tbl>
              <a:tblPr/>
              <a:tblGrid>
                <a:gridCol w="1017813"/>
                <a:gridCol w="1295563"/>
                <a:gridCol w="2945866"/>
                <a:gridCol w="4512135"/>
              </a:tblGrid>
              <a:tr h="0">
                <a:tc>
                  <a:txBody>
                    <a:bodyPr/>
                    <a:lstStyle/>
                    <a:p>
                      <a:r>
                        <a:rPr lang="sk-SK" sz="2000" b="1" dirty="0" smtClean="0">
                          <a:solidFill>
                            <a:schemeClr val="tx1">
                              <a:lumMod val="95000"/>
                            </a:schemeClr>
                          </a:solidFill>
                          <a:effectLst/>
                          <a:latin typeface="+mn-lt"/>
                        </a:rPr>
                        <a:t>Prefix </a:t>
                      </a:r>
                      <a:endParaRPr lang="sk-SK" sz="6000" dirty="0">
                        <a:solidFill>
                          <a:schemeClr val="tx1">
                            <a:lumMod val="95000"/>
                          </a:schemeClr>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a:effectLst/>
                          <a:latin typeface="+mn-lt"/>
                        </a:rPr>
                        <a:t>Symbol </a:t>
                      </a:r>
                      <a:endParaRPr lang="en-US" sz="600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a:effectLst/>
                          <a:latin typeface="+mn-lt"/>
                        </a:rPr>
                        <a:t>Decimal value </a:t>
                      </a:r>
                      <a:endParaRPr lang="en-US" sz="600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latin typeface="+mn-lt"/>
                        </a:rPr>
                        <a:t>Binary value </a:t>
                      </a:r>
                      <a:endParaRPr lang="en-U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dirty="0">
                          <a:solidFill>
                            <a:schemeClr val="tx1">
                              <a:lumMod val="95000"/>
                            </a:schemeClr>
                          </a:solidFill>
                          <a:effectLst/>
                          <a:latin typeface="+mn-lt"/>
                        </a:rPr>
                        <a:t>kilo </a:t>
                      </a:r>
                      <a:endParaRPr lang="en-US" sz="6000" dirty="0">
                        <a:solidFill>
                          <a:schemeClr val="tx1">
                            <a:lumMod val="95000"/>
                          </a:schemeClr>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effectLst/>
                          <a:latin typeface="+mn-lt"/>
                        </a:rPr>
                        <a:t>Kb</a:t>
                      </a:r>
                      <a:endParaRPr lang="en-U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10</a:t>
                      </a:r>
                      <a:r>
                        <a:rPr lang="is-IS" sz="1800" baseline="30000" dirty="0">
                          <a:effectLst/>
                          <a:latin typeface="+mn-lt"/>
                        </a:rPr>
                        <a:t>3</a:t>
                      </a:r>
                      <a:r>
                        <a:rPr lang="is-IS" sz="1800" dirty="0">
                          <a:effectLst/>
                          <a:latin typeface="+mn-lt"/>
                        </a:rPr>
                        <a:t> </a:t>
                      </a:r>
                      <a:r>
                        <a:rPr lang="is-IS" sz="2000" dirty="0">
                          <a:effectLst/>
                          <a:latin typeface="+mn-lt"/>
                        </a:rPr>
                        <a:t>(1000)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i-FI" sz="2000" dirty="0">
                          <a:effectLst/>
                          <a:latin typeface="+mn-lt"/>
                        </a:rPr>
                        <a:t>2</a:t>
                      </a:r>
                      <a:r>
                        <a:rPr lang="fi-FI" sz="1800" baseline="30000" dirty="0">
                          <a:effectLst/>
                          <a:latin typeface="+mn-lt"/>
                        </a:rPr>
                        <a:t>10</a:t>
                      </a:r>
                      <a:r>
                        <a:rPr lang="fi-FI" sz="1800" dirty="0">
                          <a:effectLst/>
                          <a:latin typeface="+mn-lt"/>
                        </a:rPr>
                        <a:t> </a:t>
                      </a:r>
                      <a:r>
                        <a:rPr lang="fi-FI" sz="2000" dirty="0">
                          <a:effectLst/>
                          <a:latin typeface="+mn-lt"/>
                        </a:rPr>
                        <a:t>= 1024 </a:t>
                      </a:r>
                      <a:endParaRPr lang="fi-FI"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dirty="0">
                          <a:solidFill>
                            <a:schemeClr val="tx1">
                              <a:lumMod val="95000"/>
                            </a:schemeClr>
                          </a:solidFill>
                          <a:effectLst/>
                          <a:latin typeface="+mn-lt"/>
                        </a:rPr>
                        <a:t>mega </a:t>
                      </a:r>
                      <a:endParaRPr lang="en-US" sz="6000" dirty="0">
                        <a:solidFill>
                          <a:schemeClr val="tx1">
                            <a:lumMod val="95000"/>
                          </a:schemeClr>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effectLst/>
                          <a:latin typeface="+mn-lt"/>
                        </a:rPr>
                        <a:t>Mb</a:t>
                      </a:r>
                      <a:endParaRPr lang="en-U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10</a:t>
                      </a:r>
                      <a:r>
                        <a:rPr lang="is-IS" sz="1800" baseline="30000" dirty="0">
                          <a:effectLst/>
                          <a:latin typeface="+mn-lt"/>
                        </a:rPr>
                        <a:t>6</a:t>
                      </a:r>
                      <a:r>
                        <a:rPr lang="is-IS" sz="1800" dirty="0">
                          <a:effectLst/>
                          <a:latin typeface="+mn-lt"/>
                        </a:rPr>
                        <a:t> </a:t>
                      </a:r>
                      <a:r>
                        <a:rPr lang="is-IS" sz="2000" dirty="0">
                          <a:effectLst/>
                          <a:latin typeface="+mn-lt"/>
                        </a:rPr>
                        <a:t>(1000000)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2</a:t>
                      </a:r>
                      <a:r>
                        <a:rPr lang="is-IS" sz="1800" baseline="30000" dirty="0">
                          <a:effectLst/>
                          <a:latin typeface="+mn-lt"/>
                        </a:rPr>
                        <a:t>20</a:t>
                      </a:r>
                      <a:r>
                        <a:rPr lang="is-IS" sz="1800" dirty="0">
                          <a:effectLst/>
                          <a:latin typeface="+mn-lt"/>
                        </a:rPr>
                        <a:t> </a:t>
                      </a:r>
                      <a:r>
                        <a:rPr lang="is-IS" sz="2000" dirty="0">
                          <a:effectLst/>
                          <a:latin typeface="+mn-lt"/>
                        </a:rPr>
                        <a:t>= 1048576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dirty="0" err="1">
                          <a:solidFill>
                            <a:schemeClr val="tx1">
                              <a:lumMod val="95000"/>
                            </a:schemeClr>
                          </a:solidFill>
                          <a:effectLst/>
                          <a:latin typeface="+mn-lt"/>
                        </a:rPr>
                        <a:t>giga</a:t>
                      </a:r>
                      <a:r>
                        <a:rPr lang="en-US" sz="2000" dirty="0">
                          <a:solidFill>
                            <a:schemeClr val="tx1">
                              <a:lumMod val="95000"/>
                            </a:schemeClr>
                          </a:solidFill>
                          <a:effectLst/>
                          <a:latin typeface="+mn-lt"/>
                        </a:rPr>
                        <a:t> </a:t>
                      </a:r>
                      <a:endParaRPr lang="en-US" sz="6000" dirty="0">
                        <a:solidFill>
                          <a:schemeClr val="tx1">
                            <a:lumMod val="95000"/>
                          </a:schemeClr>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effectLst/>
                          <a:latin typeface="+mn-lt"/>
                        </a:rPr>
                        <a:t>Gb </a:t>
                      </a:r>
                      <a:endParaRPr lang="en-U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10</a:t>
                      </a:r>
                      <a:r>
                        <a:rPr lang="is-IS" sz="1800" baseline="30000" dirty="0">
                          <a:effectLst/>
                          <a:latin typeface="+mn-lt"/>
                        </a:rPr>
                        <a:t>9</a:t>
                      </a:r>
                      <a:r>
                        <a:rPr lang="is-IS" sz="1800" dirty="0">
                          <a:effectLst/>
                          <a:latin typeface="+mn-lt"/>
                        </a:rPr>
                        <a:t> </a:t>
                      </a:r>
                      <a:r>
                        <a:rPr lang="is-IS" sz="2000" dirty="0">
                          <a:effectLst/>
                          <a:latin typeface="+mn-lt"/>
                        </a:rPr>
                        <a:t>(1000000000)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2</a:t>
                      </a:r>
                      <a:r>
                        <a:rPr lang="is-IS" sz="1800" baseline="30000" dirty="0">
                          <a:effectLst/>
                          <a:latin typeface="+mn-lt"/>
                        </a:rPr>
                        <a:t>30</a:t>
                      </a:r>
                      <a:r>
                        <a:rPr lang="is-IS" sz="1800" dirty="0">
                          <a:effectLst/>
                          <a:latin typeface="+mn-lt"/>
                        </a:rPr>
                        <a:t> </a:t>
                      </a:r>
                      <a:r>
                        <a:rPr lang="is-IS" sz="2000" dirty="0">
                          <a:effectLst/>
                          <a:latin typeface="+mn-lt"/>
                        </a:rPr>
                        <a:t>= 1073741824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a:solidFill>
                            <a:schemeClr val="tx1">
                              <a:lumMod val="95000"/>
                            </a:schemeClr>
                          </a:solidFill>
                          <a:effectLst/>
                          <a:latin typeface="+mn-lt"/>
                        </a:rPr>
                        <a:t>tera </a:t>
                      </a:r>
                      <a:endParaRPr lang="en-US" sz="6000">
                        <a:solidFill>
                          <a:schemeClr val="tx1">
                            <a:lumMod val="95000"/>
                          </a:schemeClr>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effectLst/>
                          <a:latin typeface="+mn-lt"/>
                        </a:rPr>
                        <a:t>Tb</a:t>
                      </a:r>
                      <a:endParaRPr lang="en-U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10</a:t>
                      </a:r>
                      <a:r>
                        <a:rPr lang="is-IS" sz="1800" baseline="30000" dirty="0">
                          <a:effectLst/>
                          <a:latin typeface="+mn-lt"/>
                        </a:rPr>
                        <a:t>12</a:t>
                      </a:r>
                      <a:r>
                        <a:rPr lang="is-IS" sz="1800" dirty="0">
                          <a:effectLst/>
                          <a:latin typeface="+mn-lt"/>
                        </a:rPr>
                        <a:t> </a:t>
                      </a:r>
                      <a:r>
                        <a:rPr lang="is-IS" sz="2000" dirty="0">
                          <a:effectLst/>
                          <a:latin typeface="+mn-lt"/>
                        </a:rPr>
                        <a:t>(1000000000000)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2</a:t>
                      </a:r>
                      <a:r>
                        <a:rPr lang="is-IS" sz="1800" baseline="30000" dirty="0">
                          <a:effectLst/>
                          <a:latin typeface="+mn-lt"/>
                        </a:rPr>
                        <a:t>40</a:t>
                      </a:r>
                      <a:r>
                        <a:rPr lang="is-IS" sz="1800" dirty="0">
                          <a:effectLst/>
                          <a:latin typeface="+mn-lt"/>
                        </a:rPr>
                        <a:t> </a:t>
                      </a:r>
                      <a:r>
                        <a:rPr lang="is-IS" sz="2000" dirty="0">
                          <a:effectLst/>
                          <a:latin typeface="+mn-lt"/>
                        </a:rPr>
                        <a:t>= 1099511627776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a:solidFill>
                            <a:schemeClr val="tx1">
                              <a:lumMod val="95000"/>
                            </a:schemeClr>
                          </a:solidFill>
                          <a:effectLst/>
                          <a:latin typeface="+mn-lt"/>
                        </a:rPr>
                        <a:t>peta </a:t>
                      </a:r>
                      <a:endParaRPr lang="en-US" sz="6000">
                        <a:solidFill>
                          <a:schemeClr val="tx1">
                            <a:lumMod val="95000"/>
                          </a:schemeClr>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err="1" smtClean="0">
                          <a:effectLst/>
                          <a:latin typeface="+mn-lt"/>
                        </a:rPr>
                        <a:t>Pb</a:t>
                      </a:r>
                      <a:endParaRPr lang="en-U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10</a:t>
                      </a:r>
                      <a:r>
                        <a:rPr lang="is-IS" sz="1800" baseline="30000" dirty="0">
                          <a:effectLst/>
                          <a:latin typeface="+mn-lt"/>
                        </a:rPr>
                        <a:t>15 </a:t>
                      </a:r>
                      <a:r>
                        <a:rPr lang="is-IS" sz="2000" dirty="0">
                          <a:effectLst/>
                          <a:latin typeface="+mn-lt"/>
                        </a:rPr>
                        <a:t>(1000000000000000)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2</a:t>
                      </a:r>
                      <a:r>
                        <a:rPr lang="is-IS" sz="1800" baseline="30000" dirty="0">
                          <a:effectLst/>
                          <a:latin typeface="+mn-lt"/>
                        </a:rPr>
                        <a:t>50 </a:t>
                      </a:r>
                      <a:r>
                        <a:rPr lang="is-IS" sz="2000" dirty="0">
                          <a:effectLst/>
                          <a:latin typeface="+mn-lt"/>
                        </a:rPr>
                        <a:t>= 1125899906842624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pt-BR" sz="2000" dirty="0" err="1">
                          <a:solidFill>
                            <a:schemeClr val="tx1">
                              <a:lumMod val="95000"/>
                            </a:schemeClr>
                          </a:solidFill>
                          <a:effectLst/>
                          <a:latin typeface="+mn-lt"/>
                        </a:rPr>
                        <a:t>exa</a:t>
                      </a:r>
                      <a:r>
                        <a:rPr lang="pt-BR" sz="2000" dirty="0">
                          <a:solidFill>
                            <a:schemeClr val="tx1">
                              <a:lumMod val="95000"/>
                            </a:schemeClr>
                          </a:solidFill>
                          <a:effectLst/>
                          <a:latin typeface="+mn-lt"/>
                        </a:rPr>
                        <a:t> </a:t>
                      </a:r>
                      <a:endParaRPr lang="pt-BR" sz="6000" dirty="0">
                        <a:solidFill>
                          <a:schemeClr val="tx1">
                            <a:lumMod val="95000"/>
                          </a:schemeClr>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err="1" smtClean="0">
                          <a:effectLst/>
                          <a:latin typeface="+mn-lt"/>
                        </a:rPr>
                        <a:t>Eb</a:t>
                      </a:r>
                      <a:endParaRPr lang="en-U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10</a:t>
                      </a:r>
                      <a:r>
                        <a:rPr lang="is-IS" sz="1800" baseline="30000" dirty="0">
                          <a:effectLst/>
                          <a:latin typeface="+mn-lt"/>
                        </a:rPr>
                        <a:t>18 </a:t>
                      </a:r>
                      <a:r>
                        <a:rPr lang="is-IS" sz="2000" dirty="0">
                          <a:effectLst/>
                          <a:latin typeface="+mn-lt"/>
                        </a:rPr>
                        <a:t>(1000000000000000000)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s-IS" sz="2000" dirty="0">
                          <a:effectLst/>
                          <a:latin typeface="+mn-lt"/>
                        </a:rPr>
                        <a:t>2</a:t>
                      </a:r>
                      <a:r>
                        <a:rPr lang="is-IS" sz="1800" baseline="30000" dirty="0">
                          <a:effectLst/>
                          <a:latin typeface="+mn-lt"/>
                        </a:rPr>
                        <a:t>60 </a:t>
                      </a:r>
                      <a:r>
                        <a:rPr lang="is-IS" sz="2000" dirty="0">
                          <a:effectLst/>
                          <a:latin typeface="+mn-lt"/>
                        </a:rPr>
                        <a:t>= 1152921504606846976 </a:t>
                      </a:r>
                      <a:endParaRPr lang="is-IS" sz="6000" dirty="0">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TextBox 2"/>
          <p:cNvSpPr txBox="1"/>
          <p:nvPr/>
        </p:nvSpPr>
        <p:spPr>
          <a:xfrm>
            <a:off x="851338" y="614855"/>
            <a:ext cx="10718640" cy="1846659"/>
          </a:xfrm>
          <a:prstGeom prst="rect">
            <a:avLst/>
          </a:prstGeom>
          <a:noFill/>
        </p:spPr>
        <p:txBody>
          <a:bodyPr wrap="none" rtlCol="0">
            <a:spAutoFit/>
          </a:bodyPr>
          <a:lstStyle/>
          <a:p>
            <a:r>
              <a:rPr lang="en-AU" sz="2400" i="1" u="sng" dirty="0" smtClean="0"/>
              <a:t>Use the table below to determine the total number of bytes in the following devices</a:t>
            </a:r>
            <a:endParaRPr lang="en-AU" i="1" u="sng" dirty="0"/>
          </a:p>
          <a:p>
            <a:pPr marL="342900" indent="-342900">
              <a:buAutoNum type="arabicParenR"/>
            </a:pPr>
            <a:r>
              <a:rPr lang="en-AU" dirty="0" smtClean="0"/>
              <a:t>A 64gb Samsung S7</a:t>
            </a:r>
          </a:p>
          <a:p>
            <a:pPr marL="342900" indent="-342900">
              <a:buAutoNum type="arabicParenR"/>
            </a:pPr>
            <a:r>
              <a:rPr lang="en-AU" dirty="0" smtClean="0"/>
              <a:t>A 32mb flash movie</a:t>
            </a:r>
          </a:p>
          <a:p>
            <a:pPr marL="342900" indent="-342900">
              <a:buAutoNum type="arabicParenR"/>
            </a:pPr>
            <a:r>
              <a:rPr lang="en-AU" dirty="0" smtClean="0"/>
              <a:t>A 256kb email </a:t>
            </a:r>
          </a:p>
          <a:p>
            <a:pPr marL="342900" indent="-342900">
              <a:buAutoNum type="arabicParenR"/>
            </a:pPr>
            <a:r>
              <a:rPr lang="en-AU" dirty="0" smtClean="0"/>
              <a:t>A 3.5Mb </a:t>
            </a:r>
            <a:r>
              <a:rPr lang="en-AU" dirty="0" err="1" smtClean="0"/>
              <a:t>powerpoint</a:t>
            </a:r>
            <a:endParaRPr lang="en-AU" dirty="0" smtClean="0"/>
          </a:p>
          <a:p>
            <a:pPr marL="342900" indent="-342900">
              <a:buAutoNum type="arabicParenR"/>
            </a:pPr>
            <a:r>
              <a:rPr lang="en-AU" dirty="0" smtClean="0"/>
              <a:t>A 174kb word document</a:t>
            </a:r>
            <a:endParaRPr lang="en-AU" dirty="0"/>
          </a:p>
        </p:txBody>
      </p:sp>
      <p:sp>
        <p:nvSpPr>
          <p:cNvPr id="4" name="TextBox 3"/>
          <p:cNvSpPr txBox="1"/>
          <p:nvPr/>
        </p:nvSpPr>
        <p:spPr>
          <a:xfrm>
            <a:off x="4836770" y="984186"/>
            <a:ext cx="5785945" cy="1477328"/>
          </a:xfrm>
          <a:prstGeom prst="rect">
            <a:avLst/>
          </a:prstGeom>
          <a:noFill/>
        </p:spPr>
        <p:txBody>
          <a:bodyPr wrap="square" rtlCol="0">
            <a:spAutoFit/>
          </a:bodyPr>
          <a:lstStyle/>
          <a:p>
            <a:r>
              <a:rPr lang="en-AU" dirty="0" smtClean="0"/>
              <a:t>a)   64 x 1073741824 = 68,719,476,736 bytes</a:t>
            </a:r>
          </a:p>
          <a:p>
            <a:pPr marL="342900" indent="-342900">
              <a:buAutoNum type="alphaLcParenR" startAt="2"/>
            </a:pPr>
            <a:r>
              <a:rPr lang="en-AU" dirty="0" smtClean="0"/>
              <a:t>32 x </a:t>
            </a:r>
            <a:r>
              <a:rPr lang="is-IS" dirty="0" smtClean="0"/>
              <a:t>1048576=</a:t>
            </a:r>
            <a:r>
              <a:rPr lang="en-AU" dirty="0" smtClean="0"/>
              <a:t> 33,554,432 bytes</a:t>
            </a:r>
          </a:p>
          <a:p>
            <a:pPr marL="342900" indent="-342900">
              <a:buAutoNum type="alphaLcParenR" startAt="2"/>
            </a:pPr>
            <a:r>
              <a:rPr lang="en-AU" dirty="0" smtClean="0"/>
              <a:t>256 x 1024 = 262,144 bytes</a:t>
            </a:r>
          </a:p>
          <a:p>
            <a:pPr marL="342900" indent="-342900">
              <a:buAutoNum type="alphaLcParenR" startAt="2"/>
            </a:pPr>
            <a:r>
              <a:rPr lang="en-AU" dirty="0" smtClean="0"/>
              <a:t>3.5 x </a:t>
            </a:r>
            <a:r>
              <a:rPr lang="is-IS" dirty="0"/>
              <a:t>1048576 </a:t>
            </a:r>
            <a:r>
              <a:rPr lang="is-IS" dirty="0" smtClean="0"/>
              <a:t> = 3,670,016 bytes</a:t>
            </a:r>
          </a:p>
          <a:p>
            <a:pPr marL="342900" indent="-342900">
              <a:buAutoNum type="alphaLcParenR" startAt="2"/>
            </a:pPr>
            <a:r>
              <a:rPr lang="is-IS" dirty="0" smtClean="0"/>
              <a:t>174 x 1024 = 178,176 bytes</a:t>
            </a:r>
            <a:endParaRPr lang="en-AU" dirty="0"/>
          </a:p>
        </p:txBody>
      </p:sp>
    </p:spTree>
    <p:extLst>
      <p:ext uri="{BB962C8B-B14F-4D97-AF65-F5344CB8AC3E}">
        <p14:creationId xmlns:p14="http://schemas.microsoft.com/office/powerpoint/2010/main" val="167899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Another example: Decibel ratings</a:t>
            </a:r>
            <a:endParaRPr lang="en-AU" dirty="0"/>
          </a:p>
        </p:txBody>
      </p:sp>
      <p:sp>
        <p:nvSpPr>
          <p:cNvPr id="3" name="Content Placeholder 2"/>
          <p:cNvSpPr>
            <a:spLocks noGrp="1"/>
          </p:cNvSpPr>
          <p:nvPr>
            <p:ph idx="1"/>
          </p:nvPr>
        </p:nvSpPr>
        <p:spPr>
          <a:xfrm>
            <a:off x="685800" y="1785968"/>
            <a:ext cx="10131425" cy="3649133"/>
          </a:xfrm>
        </p:spPr>
        <p:txBody>
          <a:bodyPr/>
          <a:lstStyle/>
          <a:p>
            <a:r>
              <a:rPr lang="en-US" dirty="0"/>
              <a:t>The intensity of sound is measured in watts per square </a:t>
            </a:r>
            <a:r>
              <a:rPr lang="en-US" dirty="0" err="1"/>
              <a:t>metre</a:t>
            </a:r>
            <a:r>
              <a:rPr lang="en-US" dirty="0"/>
              <a:t>. The level of sound (loudness) is measured in decibels</a:t>
            </a:r>
            <a:r>
              <a:rPr lang="en-US" dirty="0" smtClean="0"/>
              <a:t>.</a:t>
            </a:r>
          </a:p>
          <a:p>
            <a:r>
              <a:rPr lang="en-US" dirty="0" smtClean="0"/>
              <a:t> </a:t>
            </a:r>
            <a:r>
              <a:rPr lang="en-US" dirty="0"/>
              <a:t>The </a:t>
            </a:r>
            <a:r>
              <a:rPr lang="en-US" dirty="0" smtClean="0"/>
              <a:t>lowest sound that humans can hear </a:t>
            </a:r>
            <a:r>
              <a:rPr lang="en-US" dirty="0"/>
              <a:t>is 10</a:t>
            </a:r>
            <a:r>
              <a:rPr lang="en-US" baseline="30000" dirty="0"/>
              <a:t>-12</a:t>
            </a:r>
            <a:r>
              <a:rPr lang="en-US" dirty="0"/>
              <a:t> </a:t>
            </a:r>
            <a:r>
              <a:rPr lang="en-US" dirty="0" smtClean="0"/>
              <a:t>watts/m</a:t>
            </a:r>
            <a:r>
              <a:rPr lang="en-US" baseline="30000" dirty="0" smtClean="0"/>
              <a:t>2</a:t>
            </a:r>
            <a:r>
              <a:rPr lang="en-US" dirty="0" smtClean="0"/>
              <a:t> and </a:t>
            </a:r>
            <a:r>
              <a:rPr lang="en-US" dirty="0"/>
              <a:t>is defined as a level of sound of 0 decibels (dB). </a:t>
            </a:r>
            <a:r>
              <a:rPr lang="en-US" dirty="0" smtClean="0"/>
              <a:t> This is where our hearing starts. </a:t>
            </a:r>
          </a:p>
          <a:p>
            <a:r>
              <a:rPr lang="en-US" dirty="0" smtClean="0"/>
              <a:t>All </a:t>
            </a:r>
            <a:r>
              <a:rPr lang="en-US" dirty="0"/>
              <a:t>other decibel levels are calculated by comparing the sound intensity with the threshold of human hearing. To do this we follow a simple rule. </a:t>
            </a:r>
            <a:endParaRPr lang="en-US" dirty="0" smtClean="0"/>
          </a:p>
          <a:p>
            <a:r>
              <a:rPr lang="en-AU" dirty="0" smtClean="0"/>
              <a:t>Decibel’s are multiples of each other. </a:t>
            </a:r>
            <a:endParaRPr lang="en-AU" dirty="0"/>
          </a:p>
        </p:txBody>
      </p:sp>
    </p:spTree>
    <p:extLst>
      <p:ext uri="{BB962C8B-B14F-4D97-AF65-F5344CB8AC3E}">
        <p14:creationId xmlns:p14="http://schemas.microsoft.com/office/powerpoint/2010/main" val="3571714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68165"/>
            <a:ext cx="10131425" cy="1456267"/>
          </a:xfrm>
        </p:spPr>
        <p:txBody>
          <a:bodyPr/>
          <a:lstStyle/>
          <a:p>
            <a:r>
              <a:rPr lang="en-AU" dirty="0" smtClean="0"/>
              <a:t>Working out decibels:</a:t>
            </a:r>
            <a:endParaRPr lang="en-AU"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624431"/>
            <a:ext cx="10817671" cy="4366465"/>
          </a:xfrm>
        </p:spPr>
      </p:pic>
    </p:spTree>
    <p:extLst>
      <p:ext uri="{BB962C8B-B14F-4D97-AF65-F5344CB8AC3E}">
        <p14:creationId xmlns:p14="http://schemas.microsoft.com/office/powerpoint/2010/main" val="7844166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Decibels in reverse</a:t>
            </a:r>
            <a:endParaRPr lang="en-AU"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1" y="1916814"/>
            <a:ext cx="10668936" cy="4250904"/>
          </a:xfrm>
        </p:spPr>
      </p:pic>
    </p:spTree>
    <p:extLst>
      <p:ext uri="{BB962C8B-B14F-4D97-AF65-F5344CB8AC3E}">
        <p14:creationId xmlns:p14="http://schemas.microsoft.com/office/powerpoint/2010/main" val="15499354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Have a go at finding the watts/</a:t>
            </a:r>
            <a:r>
              <a:rPr lang="en-AU" dirty="0" err="1" smtClean="0"/>
              <a:t>db’s</a:t>
            </a:r>
            <a:r>
              <a:rPr lang="en-AU" dirty="0" smtClean="0"/>
              <a:t> below</a:t>
            </a:r>
            <a:endParaRPr lang="en-AU"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1015" y="1759415"/>
            <a:ext cx="9174426" cy="4862102"/>
          </a:xfrm>
        </p:spPr>
      </p:pic>
    </p:spTree>
    <p:extLst>
      <p:ext uri="{BB962C8B-B14F-4D97-AF65-F5344CB8AC3E}">
        <p14:creationId xmlns:p14="http://schemas.microsoft.com/office/powerpoint/2010/main" val="25394468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55</TotalTime>
  <Words>452</Words>
  <Application>Microsoft Macintosh PowerPoint</Application>
  <PresentationFormat>Widescreen</PresentationFormat>
  <Paragraphs>61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Calibri Light</vt:lpstr>
      <vt:lpstr>Arial</vt:lpstr>
      <vt:lpstr>Celestial</vt:lpstr>
      <vt:lpstr>Practical applications of index laws</vt:lpstr>
      <vt:lpstr>Indices in Real life</vt:lpstr>
      <vt:lpstr>Size pattern for Storage</vt:lpstr>
      <vt:lpstr>PowerPoint Presentation</vt:lpstr>
      <vt:lpstr>Another example: Decibel ratings</vt:lpstr>
      <vt:lpstr>Working out decibels:</vt:lpstr>
      <vt:lpstr>Decibels in reverse</vt:lpstr>
      <vt:lpstr>Have a go at finding the watts/db’s below</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applications</dc:title>
  <dc:creator>POWER Travis [Baldivis Secondary College]</dc:creator>
  <cp:lastModifiedBy>POWER Travis [Baldivis Secondary College]</cp:lastModifiedBy>
  <cp:revision>7</cp:revision>
  <dcterms:created xsi:type="dcterms:W3CDTF">2018-02-28T12:24:36Z</dcterms:created>
  <dcterms:modified xsi:type="dcterms:W3CDTF">2018-02-28T13:19:38Z</dcterms:modified>
</cp:coreProperties>
</file>
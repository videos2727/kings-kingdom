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0" r:id="rId2"/>
    <p:sldId id="259" r:id="rId3"/>
    <p:sldId id="258" r:id="rId4"/>
    <p:sldId id="303" r:id="rId5"/>
    <p:sldId id="304" r:id="rId6"/>
    <p:sldId id="314" r:id="rId7"/>
    <p:sldId id="315" r:id="rId8"/>
    <p:sldId id="316" r:id="rId9"/>
    <p:sldId id="317" r:id="rId10"/>
    <p:sldId id="318" r:id="rId11"/>
    <p:sldId id="319" r:id="rId12"/>
    <p:sldId id="328" r:id="rId13"/>
    <p:sldId id="329" r:id="rId14"/>
    <p:sldId id="292" r:id="rId15"/>
    <p:sldId id="291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6625" autoAdjust="0"/>
  </p:normalViewPr>
  <p:slideViewPr>
    <p:cSldViewPr>
      <p:cViewPr varScale="1">
        <p:scale>
          <a:sx n="83" d="100"/>
          <a:sy n="83" d="100"/>
        </p:scale>
        <p:origin x="1445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25/02/2019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25/02/2019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25/02/2019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25/02/2019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25/02/2019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7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7766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Laws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the index laws can be used to simplify expressions with indices. 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–Expand the following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b="0" i="1" dirty="0" smtClean="0">
                  <a:latin typeface="Cambria Math"/>
                </a:endParaRPr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5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7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5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7</m:t>
                        </m:r>
                      </m:sup>
                    </m:sSup>
                    <m:r>
                      <a:rPr lang="en-AU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>
                  <a:ea typeface="Cambria Math"/>
                </a:endParaRPr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i="1">
                                <a:latin typeface="Cambria Math"/>
                              </a:rPr>
                              <m:t>3</m:t>
                            </m:r>
                          </m:e>
                          <m:sup>
                            <m:r>
                              <a:rPr lang="en-AU" i="1">
                                <a:latin typeface="Cambria Math"/>
                              </a:rPr>
                              <m:t>7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i="1">
                                <a:latin typeface="Cambria Math"/>
                              </a:rPr>
                              <m:t>3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/>
                              </a:rPr>
                              <m:t>5</m:t>
                            </m:r>
                          </m:sup>
                        </m:sSup>
                      </m:den>
                    </m:f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sup>
                    </m:sSup>
                    <m:r>
                      <a:rPr lang="en-AU" i="1" smtClean="0">
                        <a:latin typeface="Cambria Math"/>
                        <a:ea typeface="Cambria Math"/>
                      </a:rPr>
                      <m:t>÷</m:t>
                    </m:r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3738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7766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Laws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the index laws can be used to simplify expressions with indices.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1972846"/>
            <a:ext cx="2556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index laws?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6084168" y="2157512"/>
            <a:ext cx="0" cy="43311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711848" y="2003624"/>
            <a:ext cx="1122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Law</a:t>
            </a:r>
            <a:endParaRPr lang="en-AU" u="sng" dirty="0"/>
          </a:p>
        </p:txBody>
      </p:sp>
      <p:sp>
        <p:nvSpPr>
          <p:cNvPr id="16" name="TextBox 15"/>
          <p:cNvSpPr txBox="1"/>
          <p:nvPr/>
        </p:nvSpPr>
        <p:spPr>
          <a:xfrm>
            <a:off x="7098256" y="2038748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Example</a:t>
            </a:r>
            <a:endParaRPr lang="en-AU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999301" y="2636912"/>
                <a:ext cx="286084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sz="280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9301" y="2636912"/>
                <a:ext cx="2860848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3849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7766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Laws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the index laws can be used to simplify expressions with indices.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1972846"/>
            <a:ext cx="2556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index laws?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724128" y="2089092"/>
            <a:ext cx="0" cy="43311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711848" y="2003624"/>
            <a:ext cx="1122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Law</a:t>
            </a:r>
            <a:endParaRPr lang="en-AU" u="sng" dirty="0"/>
          </a:p>
        </p:txBody>
      </p:sp>
      <p:sp>
        <p:nvSpPr>
          <p:cNvPr id="16" name="TextBox 15"/>
          <p:cNvSpPr txBox="1"/>
          <p:nvPr/>
        </p:nvSpPr>
        <p:spPr>
          <a:xfrm>
            <a:off x="7098256" y="2038748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Example</a:t>
            </a:r>
            <a:endParaRPr lang="en-AU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999301" y="2636912"/>
                <a:ext cx="286084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sz="280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9301" y="2636912"/>
                <a:ext cx="2860848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860149" y="2509292"/>
                <a:ext cx="311861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7</m:t>
                          </m:r>
                        </m:sup>
                      </m:sSup>
                      <m:r>
                        <a:rPr lang="en-AU" sz="24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7+4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11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0149" y="2509292"/>
                <a:ext cx="3118610" cy="46166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3648348" y="3356992"/>
            <a:ext cx="1292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Law 2</a:t>
            </a:r>
            <a:endParaRPr lang="en-AU" u="sng" dirty="0"/>
          </a:p>
        </p:txBody>
      </p:sp>
    </p:spTree>
    <p:extLst>
      <p:ext uri="{BB962C8B-B14F-4D97-AF65-F5344CB8AC3E}">
        <p14:creationId xmlns:p14="http://schemas.microsoft.com/office/powerpoint/2010/main" val="3624454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7766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Laws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the index laws can be used to simplify expressions with indices.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1972846"/>
            <a:ext cx="2556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index laws?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940152" y="2089092"/>
            <a:ext cx="0" cy="43311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711848" y="2003624"/>
            <a:ext cx="1122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Law</a:t>
            </a:r>
            <a:endParaRPr lang="en-AU" u="sng" dirty="0"/>
          </a:p>
        </p:txBody>
      </p:sp>
      <p:sp>
        <p:nvSpPr>
          <p:cNvPr id="16" name="TextBox 15"/>
          <p:cNvSpPr txBox="1"/>
          <p:nvPr/>
        </p:nvSpPr>
        <p:spPr>
          <a:xfrm>
            <a:off x="7098256" y="2038748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Example</a:t>
            </a:r>
            <a:endParaRPr lang="en-AU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965021" y="2636912"/>
                <a:ext cx="286084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sz="280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021" y="2636912"/>
                <a:ext cx="2860848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954216" y="2596206"/>
                <a:ext cx="311861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7</m:t>
                          </m:r>
                        </m:sup>
                      </m:sSup>
                      <m:r>
                        <a:rPr lang="en-AU" sz="24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7+4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11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4216" y="2596206"/>
                <a:ext cx="3118610" cy="46166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965021" y="3851920"/>
                <a:ext cx="287206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sz="2800" i="1">
                          <a:latin typeface="Cambria Math"/>
                          <a:ea typeface="Cambria Math"/>
                        </a:rPr>
                        <m:t>÷</m:t>
                      </m:r>
                      <m:sSup>
                        <m:sSup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021" y="3851920"/>
                <a:ext cx="2872068" cy="52322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3648348" y="3356992"/>
            <a:ext cx="1292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Law 2</a:t>
            </a:r>
            <a:endParaRPr lang="en-AU" u="sng" dirty="0"/>
          </a:p>
        </p:txBody>
      </p:sp>
    </p:spTree>
    <p:extLst>
      <p:ext uri="{BB962C8B-B14F-4D97-AF65-F5344CB8AC3E}">
        <p14:creationId xmlns:p14="http://schemas.microsoft.com/office/powerpoint/2010/main" val="2924883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7766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Laws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the index laws can be used to simplify expressions with indices.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1972846"/>
            <a:ext cx="2556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index laws?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940152" y="2089092"/>
            <a:ext cx="0" cy="43311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711848" y="2003624"/>
            <a:ext cx="1122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Law</a:t>
            </a:r>
            <a:endParaRPr lang="en-AU" u="sng" dirty="0"/>
          </a:p>
        </p:txBody>
      </p:sp>
      <p:sp>
        <p:nvSpPr>
          <p:cNvPr id="16" name="TextBox 15"/>
          <p:cNvSpPr txBox="1"/>
          <p:nvPr/>
        </p:nvSpPr>
        <p:spPr>
          <a:xfrm>
            <a:off x="7098256" y="2038748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Example</a:t>
            </a:r>
            <a:endParaRPr lang="en-AU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965021" y="2636912"/>
                <a:ext cx="286084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sz="280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021" y="2636912"/>
                <a:ext cx="2860848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954216" y="2596206"/>
                <a:ext cx="311861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7</m:t>
                          </m:r>
                        </m:sup>
                      </m:sSup>
                      <m:r>
                        <a:rPr lang="en-AU" sz="24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7+4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11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4216" y="2596206"/>
                <a:ext cx="3118610" cy="46166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965021" y="3806820"/>
                <a:ext cx="287206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sz="2800" i="1">
                          <a:latin typeface="Cambria Math"/>
                          <a:ea typeface="Cambria Math"/>
                        </a:rPr>
                        <m:t>÷</m:t>
                      </m:r>
                      <m:sSup>
                        <m:sSup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021" y="3806820"/>
                <a:ext cx="2872068" cy="52322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067836" y="3812044"/>
                <a:ext cx="300499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7</m:t>
                          </m:r>
                        </m:sup>
                      </m:sSup>
                      <m:r>
                        <a:rPr lang="en-AU" sz="2400" i="1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7−4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7836" y="3812044"/>
                <a:ext cx="3004990" cy="46166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3648348" y="3356992"/>
            <a:ext cx="1292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Law 2</a:t>
            </a:r>
            <a:endParaRPr lang="en-AU" u="sng" dirty="0"/>
          </a:p>
        </p:txBody>
      </p:sp>
    </p:spTree>
    <p:extLst>
      <p:ext uri="{BB962C8B-B14F-4D97-AF65-F5344CB8AC3E}">
        <p14:creationId xmlns:p14="http://schemas.microsoft.com/office/powerpoint/2010/main" val="2568958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7766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Laws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the index laws can be used to simplify expressions with indices.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1972846"/>
            <a:ext cx="2556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index laws?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940152" y="2089092"/>
            <a:ext cx="0" cy="43311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711848" y="2003624"/>
            <a:ext cx="1122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Law</a:t>
            </a:r>
            <a:endParaRPr lang="en-AU" u="sng" dirty="0"/>
          </a:p>
        </p:txBody>
      </p:sp>
      <p:sp>
        <p:nvSpPr>
          <p:cNvPr id="16" name="TextBox 15"/>
          <p:cNvSpPr txBox="1"/>
          <p:nvPr/>
        </p:nvSpPr>
        <p:spPr>
          <a:xfrm>
            <a:off x="7098256" y="2038748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Example</a:t>
            </a:r>
            <a:endParaRPr lang="en-AU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965021" y="2636912"/>
                <a:ext cx="286084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sz="280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021" y="2636912"/>
                <a:ext cx="2860848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954216" y="2596206"/>
                <a:ext cx="311861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7</m:t>
                          </m:r>
                        </m:sup>
                      </m:sSup>
                      <m:r>
                        <a:rPr lang="en-AU" sz="24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7+4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11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4216" y="2596206"/>
                <a:ext cx="3118610" cy="46166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925533" y="3666912"/>
                <a:ext cx="3024739" cy="11755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sz="2800" i="1">
                          <a:latin typeface="Cambria Math"/>
                          <a:ea typeface="Cambria Math"/>
                        </a:rPr>
                        <m:t>÷</m:t>
                      </m:r>
                      <m:sSup>
                        <m:sSup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 smtClean="0"/>
              </a:p>
              <a:p>
                <a:r>
                  <a:rPr lang="en-AU" sz="2800" dirty="0" smtClean="0"/>
                  <a:t>or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sz="2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800" b="0" i="1" smtClean="0">
                                <a:latin typeface="Cambria Math"/>
                              </a:rPr>
                              <m:t>𝑎</m:t>
                            </m:r>
                          </m:e>
                          <m:sup>
                            <m:r>
                              <a:rPr lang="en-AU" sz="2800" b="0" i="1" smtClean="0">
                                <a:latin typeface="Cambria Math"/>
                              </a:rPr>
                              <m:t>𝑚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AU" sz="2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800" b="0" i="1" smtClean="0">
                                <a:latin typeface="Cambria Math"/>
                              </a:rPr>
                              <m:t>𝑎</m:t>
                            </m:r>
                          </m:e>
                          <m:sup>
                            <m:r>
                              <a:rPr lang="en-AU" sz="2800" b="0" i="1" smtClean="0">
                                <a:latin typeface="Cambria Math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a:rPr lang="en-AU" sz="2800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AU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en-AU" sz="2800" b="0" i="1" smtClean="0">
                            <a:latin typeface="Cambria Math"/>
                          </a:rPr>
                          <m:t>𝑚</m:t>
                        </m:r>
                        <m:r>
                          <a:rPr lang="en-AU" sz="2800" b="0" i="1" smtClean="0">
                            <a:latin typeface="Cambria Math"/>
                          </a:rPr>
                          <m:t>−</m:t>
                        </m:r>
                        <m:r>
                          <a:rPr lang="en-AU" sz="2800" b="0" i="1" smtClean="0"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5533" y="3666912"/>
                <a:ext cx="3024739" cy="1175515"/>
              </a:xfrm>
              <a:prstGeom prst="rect">
                <a:avLst/>
              </a:prstGeom>
              <a:blipFill rotWithShape="1">
                <a:blip r:embed="rId4"/>
                <a:stretch>
                  <a:fillRect l="-4234" b="-67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067836" y="3693612"/>
                <a:ext cx="300499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7</m:t>
                          </m:r>
                        </m:sup>
                      </m:sSup>
                      <m:r>
                        <a:rPr lang="en-AU" sz="2400" i="1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7−4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7836" y="3693612"/>
                <a:ext cx="3004990" cy="46166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6084356" y="4152282"/>
                <a:ext cx="2392963" cy="8538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AU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7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AU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7−4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356" y="4152282"/>
                <a:ext cx="2392963" cy="853823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3648348" y="3189218"/>
            <a:ext cx="1292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Law 2</a:t>
            </a:r>
            <a:endParaRPr lang="en-AU" u="sng" dirty="0"/>
          </a:p>
        </p:txBody>
      </p:sp>
    </p:spTree>
    <p:extLst>
      <p:ext uri="{BB962C8B-B14F-4D97-AF65-F5344CB8AC3E}">
        <p14:creationId xmlns:p14="http://schemas.microsoft.com/office/powerpoint/2010/main" val="2178017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7766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Laws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the index laws can be used to simplify expressions with indices.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1972846"/>
            <a:ext cx="2556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index laws?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954216" y="1916832"/>
            <a:ext cx="0" cy="33847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711848" y="2003624"/>
            <a:ext cx="1292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Law 1</a:t>
            </a:r>
            <a:endParaRPr lang="en-AU" u="sng" dirty="0"/>
          </a:p>
        </p:txBody>
      </p:sp>
      <p:sp>
        <p:nvSpPr>
          <p:cNvPr id="16" name="TextBox 15"/>
          <p:cNvSpPr txBox="1"/>
          <p:nvPr/>
        </p:nvSpPr>
        <p:spPr>
          <a:xfrm>
            <a:off x="7098256" y="2038748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Example</a:t>
            </a:r>
            <a:endParaRPr lang="en-AU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973157" y="2636912"/>
                <a:ext cx="286084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sz="280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3157" y="2636912"/>
                <a:ext cx="2860848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954216" y="2596206"/>
                <a:ext cx="311861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7</m:t>
                          </m:r>
                        </m:sup>
                      </m:sSup>
                      <m:r>
                        <a:rPr lang="en-AU" sz="24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7+4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11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4216" y="2596206"/>
                <a:ext cx="3118610" cy="46166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973157" y="3727624"/>
                <a:ext cx="3024739" cy="11755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sz="2800" i="1">
                          <a:latin typeface="Cambria Math"/>
                          <a:ea typeface="Cambria Math"/>
                        </a:rPr>
                        <m:t>÷</m:t>
                      </m:r>
                      <m:sSup>
                        <m:sSup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 smtClean="0"/>
              </a:p>
              <a:p>
                <a:r>
                  <a:rPr lang="en-AU" sz="2800" dirty="0" smtClean="0"/>
                  <a:t>or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sz="2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800" b="0" i="1" smtClean="0">
                                <a:latin typeface="Cambria Math"/>
                              </a:rPr>
                              <m:t>𝑎</m:t>
                            </m:r>
                          </m:e>
                          <m:sup>
                            <m:r>
                              <a:rPr lang="en-AU" sz="2800" b="0" i="1" smtClean="0">
                                <a:latin typeface="Cambria Math"/>
                              </a:rPr>
                              <m:t>𝑚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AU" sz="2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800" b="0" i="1" smtClean="0">
                                <a:latin typeface="Cambria Math"/>
                              </a:rPr>
                              <m:t>𝑎</m:t>
                            </m:r>
                          </m:e>
                          <m:sup>
                            <m:r>
                              <a:rPr lang="en-AU" sz="2800" b="0" i="1" smtClean="0">
                                <a:latin typeface="Cambria Math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a:rPr lang="en-AU" sz="2800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AU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en-AU" sz="2800" b="0" i="1" smtClean="0">
                            <a:latin typeface="Cambria Math"/>
                          </a:rPr>
                          <m:t>𝑚</m:t>
                        </m:r>
                        <m:r>
                          <a:rPr lang="en-AU" sz="2800" b="0" i="1" smtClean="0">
                            <a:latin typeface="Cambria Math"/>
                          </a:rPr>
                          <m:t>−</m:t>
                        </m:r>
                        <m:r>
                          <a:rPr lang="en-AU" sz="2800" b="0" i="1" smtClean="0"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3157" y="3727624"/>
                <a:ext cx="3024739" cy="1175515"/>
              </a:xfrm>
              <a:prstGeom prst="rect">
                <a:avLst/>
              </a:prstGeom>
              <a:blipFill rotWithShape="1">
                <a:blip r:embed="rId4"/>
                <a:stretch>
                  <a:fillRect l="-4234" b="-62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025390" y="3727624"/>
                <a:ext cx="300499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7</m:t>
                          </m:r>
                        </m:sup>
                      </m:sSup>
                      <m:r>
                        <a:rPr lang="en-AU" sz="2400" i="1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7−4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5390" y="3727624"/>
                <a:ext cx="3004990" cy="46166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6084356" y="4447781"/>
                <a:ext cx="2392963" cy="8538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AU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7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AU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7−4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356" y="4447781"/>
                <a:ext cx="2392963" cy="853823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>
            <a:off x="3648348" y="3356992"/>
            <a:ext cx="1292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Law 2</a:t>
            </a:r>
            <a:endParaRPr lang="en-AU" u="sng" dirty="0"/>
          </a:p>
        </p:txBody>
      </p:sp>
      <p:sp>
        <p:nvSpPr>
          <p:cNvPr id="5" name="TextBox 4"/>
          <p:cNvSpPr txBox="1"/>
          <p:nvPr/>
        </p:nvSpPr>
        <p:spPr>
          <a:xfrm>
            <a:off x="381503" y="5517232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cxnSp>
        <p:nvCxnSpPr>
          <p:cNvPr id="24" name="Straight Connector 23"/>
          <p:cNvCxnSpPr/>
          <p:nvPr/>
        </p:nvCxnSpPr>
        <p:spPr>
          <a:xfrm>
            <a:off x="0" y="5445224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2986477" y="5886564"/>
                <a:ext cx="1630831" cy="6954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>
                              <a:latin typeface="Cambria Math"/>
                            </a:rPr>
                            <m:t>3</m:t>
                          </m:r>
                          <m:sSup>
                            <m:sSupPr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i="1">
                              <a:latin typeface="Cambria Math"/>
                            </a:rPr>
                            <m:t>𝑦</m:t>
                          </m:r>
                          <m:r>
                            <a:rPr lang="en-AU" i="1">
                              <a:latin typeface="Cambria Math"/>
                              <a:ea typeface="Cambria Math"/>
                            </a:rPr>
                            <m:t>×4</m:t>
                          </m:r>
                          <m:sSup>
                            <m:sSupPr>
                              <m:ctrlPr>
                                <a:rPr lang="en-AU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i="1"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AU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latin typeface="Cambria Math"/>
                                  <a:ea typeface="Cambria Math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AU" i="1">
                                  <a:latin typeface="Cambria Math"/>
                                  <a:ea typeface="Cambria Math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477" y="5886564"/>
                <a:ext cx="1630831" cy="695447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/>
          <p:cNvSpPr txBox="1"/>
          <p:nvPr/>
        </p:nvSpPr>
        <p:spPr>
          <a:xfrm>
            <a:off x="2947137" y="5517232"/>
            <a:ext cx="931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Simplify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82966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7766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Laws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the index laws can be used to simplify expressions with indices.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1972846"/>
            <a:ext cx="2556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index laws?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954216" y="1916832"/>
            <a:ext cx="0" cy="33847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711848" y="2003624"/>
            <a:ext cx="1292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Law 1</a:t>
            </a:r>
            <a:endParaRPr lang="en-AU" u="sng" dirty="0"/>
          </a:p>
        </p:txBody>
      </p:sp>
      <p:sp>
        <p:nvSpPr>
          <p:cNvPr id="16" name="TextBox 15"/>
          <p:cNvSpPr txBox="1"/>
          <p:nvPr/>
        </p:nvSpPr>
        <p:spPr>
          <a:xfrm>
            <a:off x="7098256" y="2038748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Example</a:t>
            </a:r>
            <a:endParaRPr lang="en-AU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973157" y="2636912"/>
                <a:ext cx="286084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sz="280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3157" y="2636912"/>
                <a:ext cx="2860848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954216" y="2596206"/>
                <a:ext cx="311861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7</m:t>
                          </m:r>
                        </m:sup>
                      </m:sSup>
                      <m:r>
                        <a:rPr lang="en-AU" sz="24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7+4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11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4216" y="2596206"/>
                <a:ext cx="3118610" cy="46166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973157" y="3727624"/>
                <a:ext cx="3024739" cy="11755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sz="2800" i="1">
                          <a:latin typeface="Cambria Math"/>
                          <a:ea typeface="Cambria Math"/>
                        </a:rPr>
                        <m:t>÷</m:t>
                      </m:r>
                      <m:sSup>
                        <m:sSup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 smtClean="0"/>
              </a:p>
              <a:p>
                <a:r>
                  <a:rPr lang="en-AU" sz="2800" dirty="0" smtClean="0"/>
                  <a:t>or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sz="2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800" b="0" i="1" smtClean="0">
                                <a:latin typeface="Cambria Math"/>
                              </a:rPr>
                              <m:t>𝑎</m:t>
                            </m:r>
                          </m:e>
                          <m:sup>
                            <m:r>
                              <a:rPr lang="en-AU" sz="2800" b="0" i="1" smtClean="0">
                                <a:latin typeface="Cambria Math"/>
                              </a:rPr>
                              <m:t>𝑚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AU" sz="2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800" b="0" i="1" smtClean="0">
                                <a:latin typeface="Cambria Math"/>
                              </a:rPr>
                              <m:t>𝑎</m:t>
                            </m:r>
                          </m:e>
                          <m:sup>
                            <m:r>
                              <a:rPr lang="en-AU" sz="2800" b="0" i="1" smtClean="0">
                                <a:latin typeface="Cambria Math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a:rPr lang="en-AU" sz="2800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AU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en-AU" sz="2800" b="0" i="1" smtClean="0">
                            <a:latin typeface="Cambria Math"/>
                          </a:rPr>
                          <m:t>𝑚</m:t>
                        </m:r>
                        <m:r>
                          <a:rPr lang="en-AU" sz="2800" b="0" i="1" smtClean="0">
                            <a:latin typeface="Cambria Math"/>
                          </a:rPr>
                          <m:t>−</m:t>
                        </m:r>
                        <m:r>
                          <a:rPr lang="en-AU" sz="2800" b="0" i="1" smtClean="0"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3157" y="3727624"/>
                <a:ext cx="3024739" cy="1175515"/>
              </a:xfrm>
              <a:prstGeom prst="rect">
                <a:avLst/>
              </a:prstGeom>
              <a:blipFill rotWithShape="1">
                <a:blip r:embed="rId4"/>
                <a:stretch>
                  <a:fillRect l="-4234" b="-62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025390" y="3727624"/>
                <a:ext cx="300499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7</m:t>
                          </m:r>
                        </m:sup>
                      </m:sSup>
                      <m:r>
                        <a:rPr lang="en-AU" sz="2400" i="1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7−4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5390" y="3727624"/>
                <a:ext cx="3004990" cy="46166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6084356" y="4447781"/>
                <a:ext cx="2392963" cy="8538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AU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7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AU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7−4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356" y="4447781"/>
                <a:ext cx="2392963" cy="853823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>
            <a:off x="3648348" y="3356992"/>
            <a:ext cx="1292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Law 2</a:t>
            </a:r>
            <a:endParaRPr lang="en-AU" u="sng" dirty="0"/>
          </a:p>
        </p:txBody>
      </p:sp>
      <p:sp>
        <p:nvSpPr>
          <p:cNvPr id="5" name="TextBox 4"/>
          <p:cNvSpPr txBox="1"/>
          <p:nvPr/>
        </p:nvSpPr>
        <p:spPr>
          <a:xfrm>
            <a:off x="381503" y="5517232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cxnSp>
        <p:nvCxnSpPr>
          <p:cNvPr id="24" name="Straight Connector 23"/>
          <p:cNvCxnSpPr/>
          <p:nvPr/>
        </p:nvCxnSpPr>
        <p:spPr>
          <a:xfrm>
            <a:off x="0" y="5445224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2986477" y="5886564"/>
                <a:ext cx="5555623" cy="6954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>
                              <a:latin typeface="Cambria Math"/>
                            </a:rPr>
                            <m:t>3</m:t>
                          </m:r>
                          <m:sSup>
                            <m:sSupPr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i="1">
                              <a:latin typeface="Cambria Math"/>
                            </a:rPr>
                            <m:t>𝑦</m:t>
                          </m:r>
                          <m:r>
                            <a:rPr lang="en-AU" i="1">
                              <a:latin typeface="Cambria Math"/>
                              <a:ea typeface="Cambria Math"/>
                            </a:rPr>
                            <m:t>×4</m:t>
                          </m:r>
                          <m:sSup>
                            <m:sSupPr>
                              <m:ctrlPr>
                                <a:rPr lang="en-AU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i="1"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AU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latin typeface="Cambria Math"/>
                                  <a:ea typeface="Cambria Math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AU" i="1">
                                  <a:latin typeface="Cambria Math"/>
                                  <a:ea typeface="Cambria Math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×4×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×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sup>
                          </m:s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×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sup>
                          </m:s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×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×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sup>
                          </m:s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×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=6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4</m:t>
                          </m:r>
                        </m:sup>
                      </m:sSup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477" y="5886564"/>
                <a:ext cx="5555623" cy="695447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/>
          <p:cNvSpPr txBox="1"/>
          <p:nvPr/>
        </p:nvSpPr>
        <p:spPr>
          <a:xfrm>
            <a:off x="2947137" y="5517232"/>
            <a:ext cx="931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Simplify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39944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Cambridge </a:t>
            </a:r>
            <a:r>
              <a:rPr lang="en-AU" dirty="0" err="1" smtClean="0"/>
              <a:t>Textbooks</a:t>
            </a:r>
            <a:r>
              <a:rPr lang="en-AU" dirty="0" err="1" smtClean="0"/>
              <a:t>Page</a:t>
            </a:r>
            <a:r>
              <a:rPr lang="en-AU" dirty="0" smtClean="0"/>
              <a:t> </a:t>
            </a:r>
            <a:r>
              <a:rPr lang="en-AU" dirty="0" smtClean="0"/>
              <a:t>335 and </a:t>
            </a:r>
            <a:r>
              <a:rPr lang="en-AU" dirty="0" smtClean="0"/>
              <a:t>336</a:t>
            </a: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1862757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1554</TotalTime>
  <Words>368</Words>
  <Application>Microsoft Office PowerPoint</Application>
  <PresentationFormat>On-screen Show (4:3)</PresentationFormat>
  <Paragraphs>172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 Math</vt:lpstr>
      <vt:lpstr>Office Theme</vt:lpstr>
      <vt:lpstr>My Number Interactive Notebook</vt:lpstr>
      <vt:lpstr>PowerPoint Presentation</vt:lpstr>
      <vt:lpstr>PowerPoint Presentation</vt:lpstr>
      <vt:lpstr>PowerPoint Presentation</vt:lpstr>
      <vt:lpstr>Task –Expand the following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 [Baldivis Secondary College]</cp:lastModifiedBy>
  <cp:revision>73</cp:revision>
  <dcterms:created xsi:type="dcterms:W3CDTF">2014-05-14T02:58:57Z</dcterms:created>
  <dcterms:modified xsi:type="dcterms:W3CDTF">2019-02-25T13:27:32Z</dcterms:modified>
</cp:coreProperties>
</file>
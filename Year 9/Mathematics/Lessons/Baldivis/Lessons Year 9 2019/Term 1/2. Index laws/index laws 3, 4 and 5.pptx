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75"/>
    <p:restoredTop sz="94664"/>
  </p:normalViewPr>
  <p:slideViewPr>
    <p:cSldViewPr snapToGrid="0" snapToObjects="1">
      <p:cViewPr varScale="1">
        <p:scale>
          <a:sx n="78" d="100"/>
          <a:sy n="78" d="100"/>
        </p:scale>
        <p:origin x="176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3C72BB5B-C905-0446-97C4-1059B57C47BC}" type="datetimeFigureOut">
              <a:rPr lang="en-AU" smtClean="0"/>
              <a:t>26/02/2018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9E398F0D-F63F-6143-B5D0-D3F35CCC83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8026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2BB5B-C905-0446-97C4-1059B57C47BC}" type="datetimeFigureOut">
              <a:rPr lang="en-AU" smtClean="0"/>
              <a:t>26/02/2018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98F0D-F63F-6143-B5D0-D3F35CCC83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9581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C72BB5B-C905-0446-97C4-1059B57C47BC}" type="datetimeFigureOut">
              <a:rPr lang="en-AU" smtClean="0"/>
              <a:t>26/02/2018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E398F0D-F63F-6143-B5D0-D3F35CCC83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6074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2BB5B-C905-0446-97C4-1059B57C47BC}" type="datetimeFigureOut">
              <a:rPr lang="en-AU" smtClean="0"/>
              <a:t>26/02/2018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98F0D-F63F-6143-B5D0-D3F35CCC83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849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2BB5B-C905-0446-97C4-1059B57C47BC}" type="datetimeFigureOut">
              <a:rPr lang="en-AU" smtClean="0"/>
              <a:t>26/02/2018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98F0D-F63F-6143-B5D0-D3F35CCC83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0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2BB5B-C905-0446-97C4-1059B57C47BC}" type="datetimeFigureOut">
              <a:rPr lang="en-AU" smtClean="0"/>
              <a:t>26/02/2018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98F0D-F63F-6143-B5D0-D3F35CCC83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845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2BB5B-C905-0446-97C4-1059B57C47BC}" type="datetimeFigureOut">
              <a:rPr lang="en-AU" smtClean="0"/>
              <a:t>26/02/2018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98F0D-F63F-6143-B5D0-D3F35CCC83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1053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2BB5B-C905-0446-97C4-1059B57C47BC}" type="datetimeFigureOut">
              <a:rPr lang="en-AU" smtClean="0"/>
              <a:t>26/02/2018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98F0D-F63F-6143-B5D0-D3F35CCC83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8915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2BB5B-C905-0446-97C4-1059B57C47BC}" type="datetimeFigureOut">
              <a:rPr lang="en-AU" smtClean="0"/>
              <a:t>26/02/2018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98F0D-F63F-6143-B5D0-D3F35CCC83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8983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2BB5B-C905-0446-97C4-1059B57C47BC}" type="datetimeFigureOut">
              <a:rPr lang="en-AU" smtClean="0"/>
              <a:t>26/02/2018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98F0D-F63F-6143-B5D0-D3F35CCC83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0939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C72BB5B-C905-0446-97C4-1059B57C47BC}" type="datetimeFigureOut">
              <a:rPr lang="en-AU" smtClean="0"/>
              <a:t>26/02/2018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E398F0D-F63F-6143-B5D0-D3F35CCC83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60254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C72BB5B-C905-0446-97C4-1059B57C47BC}" type="datetimeFigureOut">
              <a:rPr lang="en-AU" smtClean="0"/>
              <a:t>26/02/2018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E398F0D-F63F-6143-B5D0-D3F35CCC830D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9638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C72BB5B-C905-0446-97C4-1059B57C47BC}" type="datetimeFigureOut">
              <a:rPr lang="en-AU" smtClean="0"/>
              <a:t>26/02/2018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E398F0D-F63F-6143-B5D0-D3F35CCC83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815320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2BB5B-C905-0446-97C4-1059B57C47BC}" type="datetimeFigureOut">
              <a:rPr lang="en-AU" smtClean="0"/>
              <a:t>26/02/2018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98F0D-F63F-6143-B5D0-D3F35CCC83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55509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2BB5B-C905-0446-97C4-1059B57C47BC}" type="datetimeFigureOut">
              <a:rPr lang="en-AU" smtClean="0"/>
              <a:t>26/02/2018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98F0D-F63F-6143-B5D0-D3F35CCC83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63148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2BB5B-C905-0446-97C4-1059B57C47BC}" type="datetimeFigureOut">
              <a:rPr lang="en-AU" smtClean="0"/>
              <a:t>26/02/2018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98F0D-F63F-6143-B5D0-D3F35CCC83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60496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C72BB5B-C905-0446-97C4-1059B57C47BC}" type="datetimeFigureOut">
              <a:rPr lang="en-AU" smtClean="0"/>
              <a:t>26/02/2018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E398F0D-F63F-6143-B5D0-D3F35CCC83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8591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72BB5B-C905-0446-97C4-1059B57C47BC}" type="datetimeFigureOut">
              <a:rPr lang="en-AU" smtClean="0"/>
              <a:t>26/02/2018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398F0D-F63F-6143-B5D0-D3F35CCC83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37303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Index laws 3/4/5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8996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3581400" y="450511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mtClean="0"/>
              <a:t>Title: What are indices? </a:t>
            </a:r>
            <a:endParaRPr lang="en-AU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895600" y="2667526"/>
            <a:ext cx="9175531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 smtClean="0">
                <a:latin typeface="Cambria Math" charset="0"/>
                <a:ea typeface="Cambria Math" charset="0"/>
                <a:cs typeface="Cambria Math" charset="0"/>
              </a:rPr>
              <a:t>Index law 3: </a:t>
            </a:r>
            <a:r>
              <a:rPr lang="en-AU" dirty="0">
                <a:latin typeface="Cambria Math" charset="0"/>
                <a:ea typeface="Cambria Math" charset="0"/>
                <a:cs typeface="Cambria Math" charset="0"/>
              </a:rPr>
              <a:t>(</a:t>
            </a:r>
            <a:r>
              <a:rPr lang="en-AU" dirty="0" smtClean="0">
                <a:latin typeface="Cambria Math" charset="0"/>
                <a:ea typeface="Cambria Math" charset="0"/>
                <a:cs typeface="Cambria Math" charset="0"/>
              </a:rPr>
              <a:t>a</a:t>
            </a:r>
            <a:r>
              <a:rPr lang="en-AU" baseline="30000" dirty="0" smtClean="0">
                <a:latin typeface="Cambria Math" charset="0"/>
                <a:ea typeface="Cambria Math" charset="0"/>
                <a:cs typeface="Cambria Math" charset="0"/>
              </a:rPr>
              <a:t>m</a:t>
            </a:r>
            <a:r>
              <a:rPr lang="en-AU" dirty="0" smtClean="0">
                <a:latin typeface="Cambria Math" charset="0"/>
                <a:ea typeface="Cambria Math" charset="0"/>
                <a:cs typeface="Cambria Math" charset="0"/>
              </a:rPr>
              <a:t>)</a:t>
            </a:r>
            <a:r>
              <a:rPr lang="en-AU" baseline="30000" dirty="0" smtClean="0">
                <a:latin typeface="Cambria Math" charset="0"/>
                <a:ea typeface="Cambria Math" charset="0"/>
                <a:cs typeface="Cambria Math" charset="0"/>
              </a:rPr>
              <a:t>n </a:t>
            </a:r>
            <a:r>
              <a:rPr lang="en-AU" dirty="0" smtClean="0">
                <a:latin typeface="Cambria Math" charset="0"/>
                <a:ea typeface="Cambria Math" charset="0"/>
                <a:cs typeface="Cambria Math" charset="0"/>
              </a:rPr>
              <a:t> = a </a:t>
            </a:r>
            <a:r>
              <a:rPr lang="en-AU" baseline="30000" dirty="0" smtClean="0">
                <a:latin typeface="Cambria Math" charset="0"/>
                <a:ea typeface="Cambria Math" charset="0"/>
                <a:cs typeface="Cambria Math" charset="0"/>
              </a:rPr>
              <a:t>m x n </a:t>
            </a:r>
            <a:endParaRPr lang="en-AU" baseline="30000" dirty="0">
              <a:latin typeface="Cambria Math" charset="0"/>
              <a:ea typeface="Cambria Math" charset="0"/>
              <a:cs typeface="Cambria Math" charset="0"/>
            </a:endParaRPr>
          </a:p>
          <a:p>
            <a:r>
              <a:rPr lang="en-AU" dirty="0" smtClean="0">
                <a:latin typeface="Cambria Math" charset="0"/>
                <a:ea typeface="Cambria Math" charset="0"/>
                <a:cs typeface="Cambria Math" charset="0"/>
              </a:rPr>
              <a:t> When there are </a:t>
            </a:r>
            <a:r>
              <a:rPr lang="en-AU" dirty="0" err="1" smtClean="0">
                <a:latin typeface="Cambria Math" charset="0"/>
                <a:ea typeface="Cambria Math" charset="0"/>
                <a:cs typeface="Cambria Math" charset="0"/>
              </a:rPr>
              <a:t>indicies</a:t>
            </a:r>
            <a:r>
              <a:rPr lang="en-AU" dirty="0" smtClean="0">
                <a:latin typeface="Cambria Math" charset="0"/>
                <a:ea typeface="Cambria Math" charset="0"/>
                <a:cs typeface="Cambria Math" charset="0"/>
              </a:rPr>
              <a:t> inside and out side of a parenthesis, they multiply.</a:t>
            </a:r>
          </a:p>
          <a:p>
            <a:r>
              <a:rPr lang="en-AU" dirty="0" err="1" smtClean="0">
                <a:latin typeface="Cambria Math" charset="0"/>
                <a:ea typeface="Cambria Math" charset="0"/>
                <a:cs typeface="Cambria Math" charset="0"/>
              </a:rPr>
              <a:t>Eg</a:t>
            </a:r>
            <a:r>
              <a:rPr lang="en-AU" dirty="0" smtClean="0">
                <a:latin typeface="Cambria Math" charset="0"/>
                <a:ea typeface="Cambria Math" charset="0"/>
                <a:cs typeface="Cambria Math" charset="0"/>
              </a:rPr>
              <a:t>; (x</a:t>
            </a:r>
            <a:r>
              <a:rPr lang="en-AU" baseline="30000" dirty="0" smtClean="0">
                <a:latin typeface="Cambria Math" charset="0"/>
                <a:ea typeface="Cambria Math" charset="0"/>
                <a:cs typeface="Cambria Math" charset="0"/>
              </a:rPr>
              <a:t>4</a:t>
            </a:r>
            <a:r>
              <a:rPr lang="en-AU" dirty="0" smtClean="0">
                <a:latin typeface="Cambria Math" charset="0"/>
                <a:ea typeface="Cambria Math" charset="0"/>
                <a:cs typeface="Cambria Math" charset="0"/>
              </a:rPr>
              <a:t>)</a:t>
            </a:r>
            <a:r>
              <a:rPr lang="en-AU" baseline="30000" dirty="0" smtClean="0">
                <a:latin typeface="Cambria Math" charset="0"/>
                <a:ea typeface="Cambria Math" charset="0"/>
                <a:cs typeface="Cambria Math" charset="0"/>
              </a:rPr>
              <a:t>3  </a:t>
            </a:r>
            <a:r>
              <a:rPr lang="en-AU" dirty="0" smtClean="0">
                <a:latin typeface="Cambria Math" charset="0"/>
                <a:ea typeface="Cambria Math" charset="0"/>
                <a:cs typeface="Cambria Math" charset="0"/>
              </a:rPr>
              <a:t> - think about what </a:t>
            </a:r>
            <a:r>
              <a:rPr lang="en-AU" dirty="0" err="1" smtClean="0">
                <a:latin typeface="Cambria Math" charset="0"/>
                <a:ea typeface="Cambria Math" charset="0"/>
                <a:cs typeface="Cambria Math" charset="0"/>
              </a:rPr>
              <a:t>indicies</a:t>
            </a:r>
            <a:r>
              <a:rPr lang="en-AU" dirty="0" smtClean="0">
                <a:latin typeface="Cambria Math" charset="0"/>
                <a:ea typeface="Cambria Math" charset="0"/>
                <a:cs typeface="Cambria Math" charset="0"/>
              </a:rPr>
              <a:t> mean.</a:t>
            </a:r>
          </a:p>
          <a:p>
            <a:r>
              <a:rPr lang="en-AU" dirty="0">
                <a:latin typeface="Cambria Math" charset="0"/>
                <a:ea typeface="Cambria Math" charset="0"/>
                <a:cs typeface="Cambria Math" charset="0"/>
              </a:rPr>
              <a:t>(</a:t>
            </a:r>
            <a:r>
              <a:rPr lang="en-AU" dirty="0" smtClean="0">
                <a:latin typeface="Cambria Math" charset="0"/>
                <a:ea typeface="Cambria Math" charset="0"/>
                <a:cs typeface="Cambria Math" charset="0"/>
              </a:rPr>
              <a:t>x</a:t>
            </a:r>
            <a:r>
              <a:rPr lang="en-AU" baseline="30000" dirty="0" smtClean="0">
                <a:latin typeface="Cambria Math" charset="0"/>
                <a:ea typeface="Cambria Math" charset="0"/>
                <a:cs typeface="Cambria Math" charset="0"/>
              </a:rPr>
              <a:t>4</a:t>
            </a:r>
            <a:r>
              <a:rPr lang="en-AU" dirty="0" smtClean="0">
                <a:latin typeface="Cambria Math" charset="0"/>
                <a:ea typeface="Cambria Math" charset="0"/>
                <a:cs typeface="Cambria Math" charset="0"/>
              </a:rPr>
              <a:t>)</a:t>
            </a:r>
            <a:r>
              <a:rPr lang="en-AU" baseline="30000" dirty="0" smtClean="0">
                <a:latin typeface="Cambria Math" charset="0"/>
                <a:ea typeface="Cambria Math" charset="0"/>
                <a:cs typeface="Cambria Math" charset="0"/>
              </a:rPr>
              <a:t>3</a:t>
            </a:r>
            <a:r>
              <a:rPr lang="en-AU" dirty="0" smtClean="0">
                <a:latin typeface="Cambria Math" charset="0"/>
                <a:ea typeface="Cambria Math" charset="0"/>
                <a:cs typeface="Cambria Math" charset="0"/>
              </a:rPr>
              <a:t> means </a:t>
            </a:r>
            <a:r>
              <a:rPr lang="en-AU" u="sng" dirty="0">
                <a:latin typeface="Cambria Math" charset="0"/>
                <a:ea typeface="Cambria Math" charset="0"/>
                <a:cs typeface="Cambria Math" charset="0"/>
              </a:rPr>
              <a:t>(</a:t>
            </a:r>
            <a:r>
              <a:rPr lang="en-AU" u="sng" dirty="0" smtClean="0">
                <a:latin typeface="Cambria Math" charset="0"/>
                <a:ea typeface="Cambria Math" charset="0"/>
                <a:cs typeface="Cambria Math" charset="0"/>
              </a:rPr>
              <a:t>x</a:t>
            </a:r>
            <a:r>
              <a:rPr lang="en-AU" u="sng" baseline="30000" dirty="0" smtClean="0">
                <a:latin typeface="Cambria Math" charset="0"/>
                <a:ea typeface="Cambria Math" charset="0"/>
                <a:cs typeface="Cambria Math" charset="0"/>
              </a:rPr>
              <a:t>4</a:t>
            </a:r>
            <a:r>
              <a:rPr lang="en-AU" u="sng" dirty="0" smtClean="0">
                <a:latin typeface="Cambria Math" charset="0"/>
                <a:ea typeface="Cambria Math" charset="0"/>
                <a:cs typeface="Cambria Math" charset="0"/>
              </a:rPr>
              <a:t>) </a:t>
            </a:r>
            <a:r>
              <a:rPr lang="en-AU" dirty="0" smtClean="0">
                <a:latin typeface="Cambria Math" charset="0"/>
                <a:ea typeface="Cambria Math" charset="0"/>
                <a:cs typeface="Cambria Math" charset="0"/>
              </a:rPr>
              <a:t>x </a:t>
            </a:r>
            <a:r>
              <a:rPr lang="en-AU" u="sng" dirty="0">
                <a:latin typeface="Cambria Math" charset="0"/>
                <a:ea typeface="Cambria Math" charset="0"/>
                <a:cs typeface="Cambria Math" charset="0"/>
              </a:rPr>
              <a:t>(x</a:t>
            </a:r>
            <a:r>
              <a:rPr lang="en-AU" u="sng" baseline="30000" dirty="0">
                <a:latin typeface="Cambria Math" charset="0"/>
                <a:ea typeface="Cambria Math" charset="0"/>
                <a:cs typeface="Cambria Math" charset="0"/>
              </a:rPr>
              <a:t>4</a:t>
            </a:r>
            <a:r>
              <a:rPr lang="en-AU" u="sng" dirty="0" smtClean="0">
                <a:latin typeface="Cambria Math" charset="0"/>
                <a:ea typeface="Cambria Math" charset="0"/>
                <a:cs typeface="Cambria Math" charset="0"/>
              </a:rPr>
              <a:t>) </a:t>
            </a:r>
            <a:r>
              <a:rPr lang="en-AU" dirty="0" smtClean="0">
                <a:latin typeface="Cambria Math" charset="0"/>
                <a:ea typeface="Cambria Math" charset="0"/>
                <a:cs typeface="Cambria Math" charset="0"/>
              </a:rPr>
              <a:t>x </a:t>
            </a:r>
            <a:r>
              <a:rPr lang="en-AU" u="sng" dirty="0">
                <a:latin typeface="Cambria Math" charset="0"/>
                <a:ea typeface="Cambria Math" charset="0"/>
                <a:cs typeface="Cambria Math" charset="0"/>
              </a:rPr>
              <a:t>(x</a:t>
            </a:r>
            <a:r>
              <a:rPr lang="en-AU" u="sng" baseline="30000" dirty="0">
                <a:latin typeface="Cambria Math" charset="0"/>
                <a:ea typeface="Cambria Math" charset="0"/>
                <a:cs typeface="Cambria Math" charset="0"/>
              </a:rPr>
              <a:t>4</a:t>
            </a:r>
            <a:r>
              <a:rPr lang="en-AU" u="sng" dirty="0" smtClean="0">
                <a:latin typeface="Cambria Math" charset="0"/>
                <a:ea typeface="Cambria Math" charset="0"/>
                <a:cs typeface="Cambria Math" charset="0"/>
              </a:rPr>
              <a:t>), </a:t>
            </a:r>
            <a:r>
              <a:rPr lang="en-AU" dirty="0" smtClean="0">
                <a:latin typeface="Cambria Math" charset="0"/>
                <a:ea typeface="Cambria Math" charset="0"/>
                <a:cs typeface="Cambria Math" charset="0"/>
              </a:rPr>
              <a:t>then use the first index law, </a:t>
            </a:r>
          </a:p>
          <a:p>
            <a:r>
              <a:rPr lang="en-AU" dirty="0" smtClean="0">
                <a:latin typeface="Cambria Math" charset="0"/>
                <a:ea typeface="Cambria Math" charset="0"/>
                <a:cs typeface="Cambria Math" charset="0"/>
              </a:rPr>
              <a:t>x</a:t>
            </a:r>
            <a:r>
              <a:rPr lang="en-AU" baseline="30000" dirty="0" smtClean="0">
                <a:latin typeface="Cambria Math" charset="0"/>
                <a:ea typeface="Cambria Math" charset="0"/>
                <a:cs typeface="Cambria Math" charset="0"/>
              </a:rPr>
              <a:t>4+4+4 = </a:t>
            </a:r>
            <a:r>
              <a:rPr lang="en-AU" dirty="0" smtClean="0">
                <a:latin typeface="Cambria Math" charset="0"/>
                <a:ea typeface="Cambria Math" charset="0"/>
                <a:cs typeface="Cambria Math" charset="0"/>
              </a:rPr>
              <a:t>x</a:t>
            </a:r>
            <a:r>
              <a:rPr lang="en-AU" baseline="30000" dirty="0" smtClean="0">
                <a:latin typeface="Cambria Math" charset="0"/>
                <a:ea typeface="Cambria Math" charset="0"/>
                <a:cs typeface="Cambria Math" charset="0"/>
              </a:rPr>
              <a:t>12</a:t>
            </a:r>
            <a:endParaRPr lang="en-AU" dirty="0" smtClean="0">
              <a:latin typeface="Cambria Math" charset="0"/>
              <a:ea typeface="Cambria Math" charset="0"/>
              <a:cs typeface="Cambria Math" charset="0"/>
            </a:endParaRPr>
          </a:p>
          <a:p>
            <a:pPr marL="0" indent="0">
              <a:buNone/>
            </a:pPr>
            <a:r>
              <a:rPr lang="en-AU" dirty="0" smtClean="0">
                <a:latin typeface="Cambria Math" charset="0"/>
                <a:ea typeface="Cambria Math" charset="0"/>
                <a:cs typeface="Cambria Math" charset="0"/>
              </a:rPr>
              <a:t>4 + 4 +4 is the same as 4 x 3, therefore we can use the third law to simplify that if an index is inside the bracket, you multiply by the index outside the brackets. </a:t>
            </a:r>
          </a:p>
          <a:p>
            <a:endParaRPr lang="en-AU" u="sng" baseline="30000" dirty="0" smtClean="0">
              <a:latin typeface="Cambria Math" charset="0"/>
              <a:ea typeface="Cambria Math" charset="0"/>
              <a:cs typeface="Cambria Math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69779" y="2270234"/>
            <a:ext cx="0" cy="4587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8993" y="1813034"/>
            <a:ext cx="10434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EQ: What is the third, fourth and fifth index law, and how do we use them to solve problems. 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2895600" y="2345304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mtClean="0"/>
              <a:t>Notes:</a:t>
            </a:r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227023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0" y="142507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0" y="2358103"/>
            <a:ext cx="1337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mtClean="0"/>
              <a:t>Questions: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6448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3581400" y="450511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mtClean="0"/>
              <a:t>Title: What are indices?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/>
              <p:cNvSpPr txBox="1">
                <a:spLocks/>
              </p:cNvSpPr>
              <p:nvPr/>
            </p:nvSpPr>
            <p:spPr>
              <a:xfrm>
                <a:off x="2895600" y="2667526"/>
                <a:ext cx="9175531" cy="402412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AU" dirty="0" smtClean="0">
                    <a:latin typeface="Cambria Math" charset="0"/>
                    <a:ea typeface="Cambria Math" charset="0"/>
                    <a:cs typeface="Cambria Math" charset="0"/>
                  </a:rPr>
                  <a:t>Index law 4: (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𝑎</m:t>
                    </m:r>
                    <m:r>
                      <a:rPr lang="en-AU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× </m:t>
                    </m:r>
                    <m:r>
                      <a:rPr lang="en-AU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𝑏</m:t>
                    </m:r>
                    <m:sSup>
                      <m:sSupPr>
                        <m:ctrlPr>
                          <a:rPr lang="en-AU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)</m:t>
                        </m:r>
                      </m:e>
                      <m:sup>
                        <m:r>
                          <a:rPr lang="en-AU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 smtClean="0">
                    <a:latin typeface="Cambria Math" charset="0"/>
                    <a:ea typeface="Cambria Math" charset="0"/>
                    <a:cs typeface="Cambria Math" charset="0"/>
                  </a:rPr>
                  <a:t> = a</a:t>
                </a:r>
                <a:r>
                  <a:rPr lang="en-AU" baseline="30000" dirty="0" smtClean="0">
                    <a:latin typeface="Cambria Math" charset="0"/>
                    <a:ea typeface="Cambria Math" charset="0"/>
                    <a:cs typeface="Cambria Math" charset="0"/>
                  </a:rPr>
                  <a:t>2</a:t>
                </a:r>
                <a:r>
                  <a:rPr lang="en-AU" dirty="0" smtClean="0">
                    <a:latin typeface="Cambria Math" charset="0"/>
                    <a:ea typeface="Cambria Math" charset="0"/>
                    <a:cs typeface="Cambria Math" charset="0"/>
                  </a:rPr>
                  <a:t> x b</a:t>
                </a:r>
                <a:r>
                  <a:rPr lang="en-AU" baseline="30000" dirty="0" smtClean="0">
                    <a:latin typeface="Cambria Math" charset="0"/>
                    <a:ea typeface="Cambria Math" charset="0"/>
                    <a:cs typeface="Cambria Math" charset="0"/>
                  </a:rPr>
                  <a:t>2 </a:t>
                </a:r>
                <a:r>
                  <a:rPr lang="en-AU" dirty="0" smtClean="0">
                    <a:latin typeface="Cambria Math" charset="0"/>
                    <a:ea typeface="Cambria Math" charset="0"/>
                    <a:cs typeface="Cambria Math" charset="0"/>
                  </a:rPr>
                  <a:t>= a</a:t>
                </a:r>
                <a:r>
                  <a:rPr lang="en-AU" baseline="30000" dirty="0" smtClean="0">
                    <a:latin typeface="Cambria Math" charset="0"/>
                    <a:ea typeface="Cambria Math" charset="0"/>
                    <a:cs typeface="Cambria Math" charset="0"/>
                  </a:rPr>
                  <a:t>2</a:t>
                </a:r>
                <a:r>
                  <a:rPr lang="en-AU" dirty="0" smtClean="0">
                    <a:latin typeface="Cambria Math" charset="0"/>
                    <a:ea typeface="Cambria Math" charset="0"/>
                    <a:cs typeface="Cambria Math" charset="0"/>
                  </a:rPr>
                  <a:t>b</a:t>
                </a:r>
                <a:r>
                  <a:rPr lang="en-AU" baseline="30000" dirty="0" smtClean="0">
                    <a:latin typeface="Cambria Math" charset="0"/>
                    <a:ea typeface="Cambria Math" charset="0"/>
                    <a:cs typeface="Cambria Math" charset="0"/>
                  </a:rPr>
                  <a:t>2</a:t>
                </a:r>
                <a:r>
                  <a:rPr lang="en-AU" dirty="0" smtClean="0">
                    <a:latin typeface="Cambria Math" charset="0"/>
                    <a:ea typeface="Cambria Math" charset="0"/>
                    <a:cs typeface="Cambria Math" charset="0"/>
                  </a:rPr>
                  <a:t> OR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(</m:t>
                    </m:r>
                    <m:f>
                      <m:fPr>
                        <m:ctrlPr>
                          <a:rPr lang="bg-BG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𝑎</m:t>
                        </m:r>
                      </m:num>
                      <m:den>
                        <m:r>
                          <a:rPr lang="en-AU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AU" dirty="0" smtClean="0">
                    <a:latin typeface="Cambria Math" charset="0"/>
                    <a:ea typeface="Cambria Math" charset="0"/>
                    <a:cs typeface="Cambria Math" charset="0"/>
                  </a:rPr>
                  <a:t>)</a:t>
                </a:r>
                <a:r>
                  <a:rPr lang="en-AU" baseline="30000" dirty="0" smtClean="0">
                    <a:latin typeface="Cambria Math" charset="0"/>
                    <a:ea typeface="Cambria Math" charset="0"/>
                    <a:cs typeface="Cambria Math" charset="0"/>
                  </a:rPr>
                  <a:t>3</a:t>
                </a:r>
                <a:r>
                  <a:rPr lang="en-AU" dirty="0" smtClean="0">
                    <a:latin typeface="Cambria Math" charset="0"/>
                    <a:ea typeface="Cambria Math" charset="0"/>
                    <a:cs typeface="Cambria Math" charset="0"/>
                  </a:rPr>
                  <a:t>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b="1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bg-BG" b="1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pPr>
                          <m:e>
                            <m:r>
                              <a:rPr lang="en-AU" b="1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AU" b="1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𝟑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bg-BG" b="1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pPr>
                          <m:e>
                            <m:r>
                              <a:rPr lang="en-AU" b="1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AU" b="1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𝟑</m:t>
                            </m:r>
                          </m:sup>
                        </m:sSup>
                      </m:den>
                    </m:f>
                  </m:oMath>
                </a14:m>
                <a:r>
                  <a:rPr lang="en-AU" b="1" baseline="30000" dirty="0" smtClean="0">
                    <a:latin typeface="Cambria Math" charset="0"/>
                    <a:ea typeface="Cambria Math" charset="0"/>
                    <a:cs typeface="Cambria Math" charset="0"/>
                  </a:rPr>
                  <a:t> </a:t>
                </a:r>
              </a:p>
              <a:p>
                <a:r>
                  <a:rPr lang="en-AU" dirty="0" smtClean="0">
                    <a:latin typeface="Cambria Math" charset="0"/>
                    <a:ea typeface="Cambria Math" charset="0"/>
                    <a:cs typeface="Cambria Math" charset="0"/>
                  </a:rPr>
                  <a:t>Combined with index law 3, this law tells us that if we have more than one variable in the parenthesis, both are raised to the index outside. </a:t>
                </a:r>
              </a:p>
              <a:p>
                <a:r>
                  <a:rPr lang="en-AU" dirty="0" smtClean="0">
                    <a:latin typeface="Cambria Math" charset="0"/>
                    <a:ea typeface="Cambria Math" charset="0"/>
                    <a:cs typeface="Cambria Math" charset="0"/>
                  </a:rPr>
                  <a:t>e.g. </a:t>
                </a:r>
              </a:p>
              <a:p>
                <a:pPr lvl="1"/>
                <a:r>
                  <a:rPr lang="en-AU" dirty="0" smtClean="0">
                    <a:latin typeface="Cambria Math" charset="0"/>
                    <a:ea typeface="Cambria Math" charset="0"/>
                    <a:cs typeface="Cambria Math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3</m:t>
                        </m:r>
                        <m:r>
                          <a:rPr lang="en-AU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2</m:t>
                        </m:r>
                      </m:sup>
                    </m:sSup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  <m:r>
                      <a:rPr lang="en-AU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2</m:t>
                    </m:r>
                    <m:r>
                      <a:rPr lang="en-AU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𝑥</m:t>
                    </m:r>
                    <m:sSup>
                      <m:sSupPr>
                        <m:ctrlPr>
                          <a:rPr lang="en-AU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)</m:t>
                        </m:r>
                      </m:e>
                      <m:sup>
                        <m:r>
                          <a:rPr lang="en-AU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lvl="1"/>
                <a:r>
                  <a:rPr lang="en-AU" dirty="0" smtClean="0">
                    <a:latin typeface="Cambria Math" charset="0"/>
                    <a:ea typeface="Cambria Math" charset="0"/>
                    <a:cs typeface="Cambria Math" charset="0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2</m:t>
                        </m:r>
                      </m:sup>
                    </m:sSup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  <m:sSup>
                      <m:sSupPr>
                        <m:ctrlPr>
                          <a:rPr lang="en-AU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2×2</m:t>
                        </m:r>
                      </m:sup>
                    </m:sSup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  <m:sSup>
                      <m:sSupPr>
                        <m:ctrlPr>
                          <a:rPr lang="en-AU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2</m:t>
                        </m:r>
                      </m:sup>
                    </m:sSup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  <m:sSup>
                      <m:sSupPr>
                        <m:ctrlPr>
                          <a:rPr lang="en-AU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2×2</m:t>
                        </m:r>
                      </m:sup>
                    </m:sSup>
                  </m:oMath>
                </a14:m>
                <a:endParaRPr lang="en-AU" dirty="0" smtClean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lvl="1"/>
                <a:r>
                  <a:rPr lang="en-AU" dirty="0" smtClean="0">
                    <a:latin typeface="Cambria Math" charset="0"/>
                    <a:ea typeface="Cambria Math" charset="0"/>
                    <a:cs typeface="Cambria Math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9</m:t>
                    </m:r>
                    <m:sSup>
                      <m:sSupPr>
                        <m:ctrlPr>
                          <a:rPr lang="en-AU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AU" dirty="0" smtClean="0">
                    <a:latin typeface="Cambria Math" charset="0"/>
                    <a:ea typeface="Cambria Math" charset="0"/>
                    <a:cs typeface="Cambria Math" charset="0"/>
                  </a:rPr>
                  <a:t>x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4</m:t>
                    </m:r>
                    <m:sSup>
                      <m:sSupPr>
                        <m:ctrlPr>
                          <a:rPr lang="en-AU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4</m:t>
                        </m:r>
                      </m:sup>
                    </m:sSup>
                  </m:oMath>
                </a14:m>
                <a:endParaRPr lang="en-AU" dirty="0" smtClean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lvl="1"/>
                <a:r>
                  <a:rPr lang="en-AU" dirty="0" smtClean="0">
                    <a:latin typeface="Cambria Math" charset="0"/>
                    <a:ea typeface="Cambria Math" charset="0"/>
                    <a:cs typeface="Cambria Math" charset="0"/>
                  </a:rPr>
                  <a:t>=36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4</m:t>
                        </m:r>
                      </m:sup>
                    </m:sSup>
                    <m:sSup>
                      <m:sSupPr>
                        <m:ctrlPr>
                          <a:rPr lang="en-AU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4</m:t>
                        </m:r>
                      </m:sup>
                    </m:sSup>
                  </m:oMath>
                </a14:m>
                <a:endParaRPr lang="en-AU" dirty="0" smtClean="0">
                  <a:latin typeface="Cambria Math" charset="0"/>
                  <a:ea typeface="Cambria Math" charset="0"/>
                  <a:cs typeface="Cambria Math" charset="0"/>
                </a:endParaRPr>
              </a:p>
            </p:txBody>
          </p:sp>
        </mc:Choice>
        <mc:Fallback>
          <p:sp>
            <p:nvSpPr>
              <p:cNvPr id="5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600" y="2667526"/>
                <a:ext cx="9175531" cy="4024125"/>
              </a:xfrm>
              <a:prstGeom prst="rect">
                <a:avLst/>
              </a:prstGeom>
              <a:blipFill rotWithShape="0">
                <a:blip r:embed="rId2"/>
                <a:stretch>
                  <a:fillRect l="-86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/>
          <p:cNvCxnSpPr/>
          <p:nvPr/>
        </p:nvCxnSpPr>
        <p:spPr>
          <a:xfrm>
            <a:off x="2569779" y="2270234"/>
            <a:ext cx="0" cy="4587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8993" y="1813034"/>
            <a:ext cx="10434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EQ: What is the third, fourth and fifth index law, and how do we use them to solve problems. 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2895600" y="2345304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mtClean="0"/>
              <a:t>Notes:</a:t>
            </a:r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227023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0" y="142507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0" y="2358103"/>
            <a:ext cx="1337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mtClean="0"/>
              <a:t>Questions: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967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3581400" y="450511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mtClean="0"/>
              <a:t>Title: What are indices?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/>
              <p:cNvSpPr txBox="1">
                <a:spLocks/>
              </p:cNvSpPr>
              <p:nvPr/>
            </p:nvSpPr>
            <p:spPr>
              <a:xfrm>
                <a:off x="2895600" y="2667526"/>
                <a:ext cx="9175531" cy="402412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AU" dirty="0" smtClean="0">
                    <a:latin typeface="Cambria Math" charset="0"/>
                    <a:ea typeface="Cambria Math" charset="0"/>
                    <a:cs typeface="Cambria Math" charset="0"/>
                  </a:rPr>
                  <a:t>Index law 5: y </a:t>
                </a:r>
                <a:r>
                  <a:rPr lang="en-AU" baseline="30000" dirty="0" smtClean="0">
                    <a:latin typeface="Cambria Math" charset="0"/>
                    <a:ea typeface="Cambria Math" charset="0"/>
                    <a:cs typeface="Cambria Math" charset="0"/>
                  </a:rPr>
                  <a:t>-3 </a:t>
                </a:r>
                <a:r>
                  <a:rPr lang="en-AU" dirty="0" smtClean="0">
                    <a:latin typeface="Cambria Math" charset="0"/>
                    <a:ea typeface="Cambria Math" charset="0"/>
                    <a:cs typeface="Cambria Math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bg-BG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endParaRPr lang="en-AU" u="sng" baseline="30000" dirty="0" smtClean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r>
                  <a:rPr lang="en-AU" dirty="0" smtClean="0">
                    <a:latin typeface="Cambria Math" charset="0"/>
                    <a:ea typeface="Cambria Math" charset="0"/>
                    <a:cs typeface="Cambria Math" charset="0"/>
                  </a:rPr>
                  <a:t>When there is a negative index, we can write it below a one to make it positive. </a:t>
                </a:r>
              </a:p>
              <a:p>
                <a:endParaRPr lang="en-AU" dirty="0" smtClean="0">
                  <a:latin typeface="Cambria Math" charset="0"/>
                  <a:ea typeface="Cambria Math" charset="0"/>
                  <a:cs typeface="Cambria Math" charset="0"/>
                </a:endParaRPr>
              </a:p>
            </p:txBody>
          </p:sp>
        </mc:Choice>
        <mc:Fallback>
          <p:sp>
            <p:nvSpPr>
              <p:cNvPr id="5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600" y="2667526"/>
                <a:ext cx="9175531" cy="4024125"/>
              </a:xfrm>
              <a:prstGeom prst="rect">
                <a:avLst/>
              </a:prstGeom>
              <a:blipFill rotWithShape="0">
                <a:blip r:embed="rId2"/>
                <a:stretch>
                  <a:fillRect l="-731" t="-60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/>
          <p:cNvCxnSpPr/>
          <p:nvPr/>
        </p:nvCxnSpPr>
        <p:spPr>
          <a:xfrm>
            <a:off x="2569779" y="2270234"/>
            <a:ext cx="0" cy="4587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8993" y="1813034"/>
            <a:ext cx="10434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EQ: What is the third, fourth and fifth index law, and how do we use them to solve problems. 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2895600" y="2345304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mtClean="0"/>
              <a:t>Notes:</a:t>
            </a:r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227023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0" y="142507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0" y="2358103"/>
            <a:ext cx="1337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mtClean="0"/>
              <a:t>Questions:</a:t>
            </a:r>
            <a:endParaRPr lang="en-AU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0387" y="3980628"/>
            <a:ext cx="4835580" cy="271102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3061224" y="3977847"/>
                <a:ext cx="3477718" cy="24014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smtClean="0">
                    <a:latin typeface="Cambria Math" charset="0"/>
                    <a:ea typeface="Cambria Math" charset="0"/>
                    <a:cs typeface="Cambria Math" charset="0"/>
                  </a:rPr>
                  <a:t>The example on the right shows how this process of cancelling negative indices can be used to create the positive below a one.  </a:t>
                </a:r>
                <a:r>
                  <a:rPr lang="en-AU" sz="2000" dirty="0" smtClean="0"/>
                  <a:t> </a:t>
                </a:r>
              </a:p>
              <a:p>
                <a:endParaRPr lang="en-AU" sz="2000" dirty="0"/>
              </a:p>
              <a:p>
                <a:r>
                  <a:rPr lang="en-AU" sz="2000" dirty="0" smtClean="0"/>
                  <a:t>Also-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sz="200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bg-BG" sz="2000" i="1" smtClean="0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AU" sz="2000" b="0" i="1" smtClean="0">
                                <a:latin typeface="Cambria Math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AU" sz="2000" b="0" i="1" smtClean="0">
                                <a:latin typeface="Cambria Math" charset="0"/>
                              </a:rPr>
                              <m:t>−3</m:t>
                            </m:r>
                          </m:sup>
                        </m:sSup>
                      </m:den>
                    </m:f>
                    <m:r>
                      <a:rPr lang="en-AU" sz="2000" b="0" i="1" smtClean="0">
                        <a:latin typeface="Cambria Math" charset="0"/>
                      </a:rPr>
                      <m:t>=</m:t>
                    </m:r>
                    <m:sSup>
                      <m:sSupPr>
                        <m:ctrlPr>
                          <a:rPr lang="en-AU" sz="2000" b="0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AU" sz="2000" b="0" i="1" smtClean="0"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AU" sz="2000" b="0" i="1" smtClean="0">
                            <a:latin typeface="Cambria Math" charset="0"/>
                          </a:rPr>
                          <m:t>3</m:t>
                        </m:r>
                      </m:sup>
                    </m:sSup>
                  </m:oMath>
                </a14:m>
                <a:endParaRPr lang="en-AU" sz="2000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1224" y="3977847"/>
                <a:ext cx="3477718" cy="2401491"/>
              </a:xfrm>
              <a:prstGeom prst="rect">
                <a:avLst/>
              </a:prstGeom>
              <a:blipFill rotWithShape="0">
                <a:blip r:embed="rId4"/>
                <a:stretch>
                  <a:fillRect l="-1751" t="-152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434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Guided practise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Solve the following using index laws 3/4/5</a:t>
            </a:r>
          </a:p>
          <a:p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2961944"/>
            <a:ext cx="4953000" cy="685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925" y="4025899"/>
            <a:ext cx="8166100" cy="1549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900" y="2995043"/>
            <a:ext cx="4775200" cy="355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1900" y="4025899"/>
            <a:ext cx="32258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647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Practise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100" y="3499865"/>
            <a:ext cx="8027464" cy="1587850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100" y="1851781"/>
            <a:ext cx="8163134" cy="162936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100" y="5087715"/>
            <a:ext cx="9519280" cy="8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7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2389</TotalTime>
  <Words>255</Words>
  <Application>Microsoft Macintosh PowerPoint</Application>
  <PresentationFormat>Widescreen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Cambria Math</vt:lpstr>
      <vt:lpstr>Century Gothic</vt:lpstr>
      <vt:lpstr>Arial</vt:lpstr>
      <vt:lpstr>Vapor Trail</vt:lpstr>
      <vt:lpstr>Index laws 3/4/5</vt:lpstr>
      <vt:lpstr>PowerPoint Presentation</vt:lpstr>
      <vt:lpstr>PowerPoint Presentation</vt:lpstr>
      <vt:lpstr>PowerPoint Presentation</vt:lpstr>
      <vt:lpstr>Guided practise</vt:lpstr>
      <vt:lpstr>Practise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Index laws 3/4/5</dc:title>
  <dc:creator>POWER Travis [Baldivis Secondary College]</dc:creator>
  <cp:lastModifiedBy>POWER Travis [Baldivis Secondary College]</cp:lastModifiedBy>
  <cp:revision>7</cp:revision>
  <dcterms:created xsi:type="dcterms:W3CDTF">2018-02-20T02:48:31Z</dcterms:created>
  <dcterms:modified xsi:type="dcterms:W3CDTF">2018-02-26T08:18:52Z</dcterms:modified>
</cp:coreProperties>
</file>
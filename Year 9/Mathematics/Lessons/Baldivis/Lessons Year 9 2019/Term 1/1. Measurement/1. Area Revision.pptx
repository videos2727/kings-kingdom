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61" r:id="rId3"/>
    <p:sldId id="271" r:id="rId4"/>
    <p:sldId id="272" r:id="rId5"/>
    <p:sldId id="263" r:id="rId6"/>
    <p:sldId id="265" r:id="rId7"/>
    <p:sldId id="274" r:id="rId8"/>
    <p:sldId id="275" r:id="rId9"/>
    <p:sldId id="276" r:id="rId10"/>
    <p:sldId id="277" r:id="rId11"/>
    <p:sldId id="278" r:id="rId12"/>
    <p:sldId id="27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5000" autoAdjust="0"/>
  </p:normalViewPr>
  <p:slideViewPr>
    <p:cSldViewPr snapToGrid="0">
      <p:cViewPr varScale="1">
        <p:scale>
          <a:sx n="71" d="100"/>
          <a:sy n="71" d="100"/>
        </p:scale>
        <p:origin x="78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C5F78-1F38-45E6-87FC-A5A1923F60A2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E0DED-8A69-445F-BCEE-9AC1980D49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3418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51485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043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45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34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1205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1909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80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5071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150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7874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2169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39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854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92885-807B-4397-B129-F23744D990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0C8E8-3D53-49DC-A922-CCCA3A98FF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B9BB2-7730-4CED-B450-3D235AA6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45B70-B35A-4B45-B5E8-71D0B4F30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26E64-708A-4D5B-95C1-98CE1C00E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5744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89D8F-AABC-4DEA-AD1B-7ABB4B901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E30E8-E6EB-4912-884A-D996E22BF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008B3-768A-4ED6-B986-79D4F0B9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9DDDE6-8402-40C7-BE0E-B8B80160C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5921C-0963-4AEF-9EF8-179C0F40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136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40582-A67A-4479-BE3C-58F8E471E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5412D-DE3F-4569-82E3-A18348419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975EF-3301-4E90-B0A7-D4FFEC517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5B08D-6BAF-4FFA-AC30-A8C40C61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1758F-B823-4AA1-BB23-7689DDCF9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2377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266B6-060A-4F9A-BC23-BAEDE08E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D2A81-866C-45FB-924F-C9D6A962BD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52715-BD04-45AE-839C-CB70EF7E2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56D27-D4DB-41E7-8540-4878847C7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EAE19-98C0-41DC-ADAE-17D08E538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49655-A703-4209-B1ED-71261991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818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810E7-828C-4196-A08B-579B2CDD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9FC7E-F036-4720-84C1-20C0550BC5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B70F06-748A-474D-B6FD-86B30AEAD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BF9449-79C3-4E8A-9C8F-643C22A5BD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AD91E2-E49A-43A0-A43C-420AB47FD9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E5126A-D498-461A-A7B2-708B6D03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BC739B-7B45-4BA0-85BC-E5442AEEC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B4BE3C-ABFD-4AD5-92D6-E340D8C30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3376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79A0-7C0C-4D3A-996B-57235BAC1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513A84-F5D8-4080-AA36-836396F2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3492E5-4A75-4C6C-8A61-6D118675D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2D857-BC16-4B9E-BEF4-A7B5E769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4561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A73E34-AE78-40A2-9535-8003171BB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A153AD-2560-4291-BD96-C8529557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F7E41-30CF-41AD-813D-B406EF82F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559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91108-4C23-4B16-8D1D-80EABD3B8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8BA5A-D674-4233-A182-BDA6C96F2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463D7E-9F55-4461-B58F-B0877BCA4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9838D-90FC-46CD-A0D3-1942D2E6C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AE448-73B5-47D5-A7D4-9CE5D0F9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AF7F6-B918-440A-BE79-4DD53BB6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974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51135-09CF-4084-954B-EEC6468AD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47057-1B9C-432B-8507-E90A3CE03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F33949-3640-4379-9CF1-C975C139C1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CB9C2-3FDD-4197-88C8-5A5140C56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3A5B4-845F-4CDE-ACD4-7541FBE32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7C3E06-09AE-462F-8E18-64D6E1D49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2928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9CEFA-1BC7-4D82-B7BF-4BCBA62B3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7560A-C834-44CA-BF45-E30BE4BD7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3CE5F-A658-4769-817F-68C362FE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C0C88-29EC-4986-ADC2-B02BD4C9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4D085-F728-47BF-925F-256B5466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2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B8CEFF-9BE5-4C13-8884-E24AD424AF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D186C-37CC-4839-9F49-BE2A72DE3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2CF75-4AD0-4748-93C4-D245F5A9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2AA94-B2BE-4DCB-8606-6A9DDB99A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B81CF-33ED-4E53-89C5-83B21C5BA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23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44159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25603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55961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60364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9808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FF213-E666-4F59-B4D0-0765C8226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3F905-FD2F-4C10-87D8-98EF3B185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C690B-EA75-439B-84F4-00A8A8EF07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AB787D-978F-4243-9F9A-B7457EF34F2E}" type="datetimeFigureOut">
              <a:rPr lang="en-AU" smtClean="0"/>
              <a:t>4/02/2019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1C67F-98B8-47BC-A216-2E7766014A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0E9E9-DB1A-4BFE-B61F-E29F2DA9D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DD51B-600E-4F99-89C4-EF1EA1C1E1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8193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jpeg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 err="1">
                <a:solidFill>
                  <a:srgbClr val="7C7F91"/>
                </a:solidFill>
                <a:latin typeface="Fragment Core" panose="02000504040000020003" pitchFamily="50" charset="0"/>
              </a:rPr>
              <a:t>Mrs</a:t>
            </a: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 Stretch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9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Measurement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652183" y="3181487"/>
            <a:ext cx="10824882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Area Revision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convert area units and find the area of shapes?</a:t>
            </a:r>
          </a:p>
        </p:txBody>
      </p:sp>
      <p:sp>
        <p:nvSpPr>
          <p:cNvPr id="2" name="Cloud 1">
            <a:extLst>
              <a:ext uri="{FF2B5EF4-FFF2-40B4-BE49-F238E27FC236}">
                <a16:creationId xmlns:a16="http://schemas.microsoft.com/office/drawing/2014/main" id="{98AF4026-9E1B-49E1-A8EF-3A5394DC66AD}"/>
              </a:ext>
            </a:extLst>
          </p:cNvPr>
          <p:cNvSpPr/>
          <p:nvPr/>
        </p:nvSpPr>
        <p:spPr>
          <a:xfrm>
            <a:off x="8791303" y="548979"/>
            <a:ext cx="2899954" cy="2184432"/>
          </a:xfrm>
          <a:prstGeom prst="cloud">
            <a:avLst/>
          </a:prstGeom>
          <a:solidFill>
            <a:srgbClr val="FF99F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200" b="1" dirty="0">
                <a:latin typeface="Harrington" panose="04040505050A02020702" pitchFamily="82" charset="0"/>
              </a:rPr>
              <a:t>Rule up 3 column notes!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is Area?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7ED2322-936A-4055-A8FF-725374DEEBB2}"/>
              </a:ext>
            </a:extLst>
          </p:cNvPr>
          <p:cNvSpPr txBox="1">
            <a:spLocks noChangeArrowheads="1"/>
          </p:cNvSpPr>
          <p:nvPr/>
        </p:nvSpPr>
        <p:spPr>
          <a:xfrm>
            <a:off x="1986430" y="1694610"/>
            <a:ext cx="6623050" cy="584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GB" altLang="en-US">
                <a:solidFill>
                  <a:srgbClr val="000000"/>
                </a:solidFill>
                <a:ea typeface="ＭＳ Ｐゴシック" panose="020B0600070205080204" pitchFamily="34" charset="-128"/>
              </a:rPr>
              <a:t>Area measures the surface of something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F846BB1-4BBB-49A9-8B2E-1EC287CF69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043705" y="3628185"/>
            <a:ext cx="1439863" cy="1439862"/>
          </a:xfrm>
          <a:prstGeom prst="rect">
            <a:avLst/>
          </a:prstGeom>
          <a:solidFill>
            <a:srgbClr val="008000">
              <a:alpha val="87842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7E83D9D-ED3B-4BBE-895C-77FF487CE626}"/>
              </a:ext>
            </a:extLst>
          </p:cNvPr>
          <p:cNvGrpSpPr>
            <a:grpSpLocks/>
          </p:cNvGrpSpPr>
          <p:nvPr/>
        </p:nvGrpSpPr>
        <p:grpSpPr bwMode="auto">
          <a:xfrm>
            <a:off x="3043705" y="2928097"/>
            <a:ext cx="1439863" cy="530225"/>
            <a:chOff x="1066" y="1781"/>
            <a:chExt cx="907" cy="334"/>
          </a:xfrm>
        </p:grpSpPr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1E9A6CFE-1A3F-43FE-A1E1-906753BBFD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6" y="2115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Box 6">
              <a:extLst>
                <a:ext uri="{FF2B5EF4-FFF2-40B4-BE49-F238E27FC236}">
                  <a16:creationId xmlns:a16="http://schemas.microsoft.com/office/drawing/2014/main" id="{BBC8450E-77E2-4206-ABCF-B7CFF8D5BE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1781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</a:t>
              </a: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 </a:t>
              </a:r>
              <a:r>
                <a:rPr lang="en-GB" altLang="en-US">
                  <a:latin typeface="Calibri" panose="020F0502020204030204" pitchFamily="34" charset="0"/>
                </a:rPr>
                <a:t>metre</a:t>
              </a:r>
            </a:p>
          </p:txBody>
        </p:sp>
      </p:grpSp>
      <p:grpSp>
        <p:nvGrpSpPr>
          <p:cNvPr id="17" name="Group 9">
            <a:extLst>
              <a:ext uri="{FF2B5EF4-FFF2-40B4-BE49-F238E27FC236}">
                <a16:creationId xmlns:a16="http://schemas.microsoft.com/office/drawing/2014/main" id="{4E46D902-BA1D-4644-9709-BB0B7355C519}"/>
              </a:ext>
            </a:extLst>
          </p:cNvPr>
          <p:cNvGrpSpPr>
            <a:grpSpLocks/>
          </p:cNvGrpSpPr>
          <p:nvPr/>
        </p:nvGrpSpPr>
        <p:grpSpPr bwMode="auto">
          <a:xfrm>
            <a:off x="1603843" y="3626597"/>
            <a:ext cx="1439862" cy="1439863"/>
            <a:chOff x="159" y="2204"/>
            <a:chExt cx="907" cy="907"/>
          </a:xfrm>
        </p:grpSpPr>
        <p:sp>
          <p:nvSpPr>
            <p:cNvPr id="18" name="Line 7">
              <a:extLst>
                <a:ext uri="{FF2B5EF4-FFF2-40B4-BE49-F238E27FC236}">
                  <a16:creationId xmlns:a16="http://schemas.microsoft.com/office/drawing/2014/main" id="{771205BD-92CF-4831-8A87-5D2286F16CF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522" y="2658"/>
              <a:ext cx="907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8">
              <a:extLst>
                <a:ext uri="{FF2B5EF4-FFF2-40B4-BE49-F238E27FC236}">
                  <a16:creationId xmlns:a16="http://schemas.microsoft.com/office/drawing/2014/main" id="{7D3B5B8B-7815-4558-BEB9-84DA04D33F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" y="2478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metre</a:t>
              </a:r>
            </a:p>
          </p:txBody>
        </p:sp>
      </p:grpSp>
      <p:sp>
        <p:nvSpPr>
          <p:cNvPr id="20" name="Rectangle 11">
            <a:extLst>
              <a:ext uri="{FF2B5EF4-FFF2-40B4-BE49-F238E27FC236}">
                <a16:creationId xmlns:a16="http://schemas.microsoft.com/office/drawing/2014/main" id="{D99469CC-FC2E-4804-A846-DE8EC509C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8580" y="5198222"/>
            <a:ext cx="2519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 square metre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D27F2A30-FF88-47B2-A8A6-A1CE4B818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480" y="4061572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1 m</a:t>
            </a:r>
            <a:r>
              <a:rPr lang="en-GB" altLang="en-US" baseline="30000" dirty="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ABA2F971-4283-4687-932C-B75433D2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868" y="3823447"/>
            <a:ext cx="1079500" cy="1079500"/>
          </a:xfrm>
          <a:prstGeom prst="rect">
            <a:avLst/>
          </a:prstGeom>
          <a:solidFill>
            <a:schemeClr val="tx1">
              <a:alpha val="27843"/>
            </a:scheme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3" name="Group 34">
            <a:extLst>
              <a:ext uri="{FF2B5EF4-FFF2-40B4-BE49-F238E27FC236}">
                <a16:creationId xmlns:a16="http://schemas.microsoft.com/office/drawing/2014/main" id="{0B3DEAE7-7471-43C0-A301-B393607469B8}"/>
              </a:ext>
            </a:extLst>
          </p:cNvPr>
          <p:cNvGrpSpPr>
            <a:grpSpLocks/>
          </p:cNvGrpSpPr>
          <p:nvPr/>
        </p:nvGrpSpPr>
        <p:grpSpPr bwMode="auto">
          <a:xfrm>
            <a:off x="4986805" y="3250360"/>
            <a:ext cx="2160588" cy="1674812"/>
            <a:chOff x="2290" y="1967"/>
            <a:chExt cx="1361" cy="1055"/>
          </a:xfrm>
        </p:grpSpPr>
        <p:grpSp>
          <p:nvGrpSpPr>
            <p:cNvPr id="24" name="Group 33">
              <a:extLst>
                <a:ext uri="{FF2B5EF4-FFF2-40B4-BE49-F238E27FC236}">
                  <a16:creationId xmlns:a16="http://schemas.microsoft.com/office/drawing/2014/main" id="{C6864518-FF9D-4834-BF20-60EA27ABA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5" y="1967"/>
              <a:ext cx="726" cy="288"/>
              <a:chOff x="2925" y="1967"/>
              <a:chExt cx="726" cy="288"/>
            </a:xfrm>
          </p:grpSpPr>
          <p:sp>
            <p:nvSpPr>
              <p:cNvPr id="27" name="Text Box 16">
                <a:extLst>
                  <a:ext uri="{FF2B5EF4-FFF2-40B4-BE49-F238E27FC236}">
                    <a16:creationId xmlns:a16="http://schemas.microsoft.com/office/drawing/2014/main" id="{B57701DE-8E24-4829-ACCE-4B2EBE0BCA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2" y="1967"/>
                <a:ext cx="67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l">
                  <a:spcBef>
                    <a:spcPct val="50000"/>
                  </a:spcBef>
                </a:pPr>
                <a:r>
                  <a:rPr lang="en-GB" altLang="en-US">
                    <a:latin typeface="Calibri" panose="020F0502020204030204" pitchFamily="34" charset="0"/>
                  </a:rPr>
                  <a:t>1</a:t>
                </a:r>
                <a:r>
                  <a:rPr lang="en-GB" altLang="en-US">
                    <a:solidFill>
                      <a:srgbClr val="000000"/>
                    </a:solidFill>
                    <a:latin typeface="Calibri" panose="020F0502020204030204" pitchFamily="34" charset="0"/>
                  </a:rPr>
                  <a:t> </a:t>
                </a:r>
                <a:r>
                  <a:rPr lang="en-GB" altLang="en-US">
                    <a:latin typeface="Calibri" panose="020F0502020204030204" pitchFamily="34" charset="0"/>
                  </a:rPr>
                  <a:t>cm</a:t>
                </a:r>
              </a:p>
            </p:txBody>
          </p:sp>
          <p:sp>
            <p:nvSpPr>
              <p:cNvPr id="28" name="Line 15">
                <a:extLst>
                  <a:ext uri="{FF2B5EF4-FFF2-40B4-BE49-F238E27FC236}">
                    <a16:creationId xmlns:a16="http://schemas.microsoft.com/office/drawing/2014/main" id="{D5056CC4-9A05-4093-B979-FD428047C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5" y="2255"/>
                <a:ext cx="68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D1E10CE8-3465-45BD-8E7D-4DA9F6E9178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2518" y="2682"/>
              <a:ext cx="68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F718644C-EF2E-4A30-8960-21759C3775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0" y="2523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latin typeface="Calibri" panose="020F0502020204030204" pitchFamily="34" charset="0"/>
                </a:rPr>
                <a:t>1 cm</a:t>
              </a:r>
            </a:p>
          </p:txBody>
        </p:sp>
      </p:grpSp>
      <p:sp>
        <p:nvSpPr>
          <p:cNvPr id="29" name="Rectangle 21">
            <a:extLst>
              <a:ext uri="{FF2B5EF4-FFF2-40B4-BE49-F238E27FC236}">
                <a16:creationId xmlns:a16="http://schemas.microsoft.com/office/drawing/2014/main" id="{62DAA864-16E1-4C19-89B3-3A82ACDAD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305" y="4133010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cm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16563443-5C27-4769-8531-854DEF510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9305" y="3842497"/>
            <a:ext cx="900113" cy="900113"/>
          </a:xfrm>
          <a:prstGeom prst="rect">
            <a:avLst/>
          </a:prstGeom>
          <a:solidFill>
            <a:srgbClr val="FF3300">
              <a:alpha val="59999"/>
            </a:srgbClr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31" name="Group 35">
            <a:extLst>
              <a:ext uri="{FF2B5EF4-FFF2-40B4-BE49-F238E27FC236}">
                <a16:creationId xmlns:a16="http://schemas.microsoft.com/office/drawing/2014/main" id="{A44CF402-1FFE-4262-9E45-53E62AF4E4E0}"/>
              </a:ext>
            </a:extLst>
          </p:cNvPr>
          <p:cNvGrpSpPr>
            <a:grpSpLocks/>
          </p:cNvGrpSpPr>
          <p:nvPr/>
        </p:nvGrpSpPr>
        <p:grpSpPr bwMode="auto">
          <a:xfrm>
            <a:off x="7436318" y="3269410"/>
            <a:ext cx="2085975" cy="1474787"/>
            <a:chOff x="3833" y="1979"/>
            <a:chExt cx="1314" cy="929"/>
          </a:xfrm>
        </p:grpSpPr>
        <p:sp>
          <p:nvSpPr>
            <p:cNvPr id="32" name="Text Box 25">
              <a:extLst>
                <a:ext uri="{FF2B5EF4-FFF2-40B4-BE49-F238E27FC236}">
                  <a16:creationId xmlns:a16="http://schemas.microsoft.com/office/drawing/2014/main" id="{FB41342C-AC37-4343-BA06-CC2A929D63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8" y="1979"/>
              <a:ext cx="67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 mm</a:t>
              </a:r>
            </a:p>
          </p:txBody>
        </p:sp>
        <p:sp>
          <p:nvSpPr>
            <p:cNvPr id="33" name="Line 27">
              <a:extLst>
                <a:ext uri="{FF2B5EF4-FFF2-40B4-BE49-F238E27FC236}">
                  <a16:creationId xmlns:a16="http://schemas.microsoft.com/office/drawing/2014/main" id="{8FD006F1-3A56-42F8-9B54-DCCB92D5B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0" y="2296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28">
              <a:extLst>
                <a:ext uri="{FF2B5EF4-FFF2-40B4-BE49-F238E27FC236}">
                  <a16:creationId xmlns:a16="http://schemas.microsoft.com/office/drawing/2014/main" id="{971DBCDC-6A2F-4FB9-B3C1-CD53191063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5400000">
              <a:off x="4138" y="2625"/>
              <a:ext cx="56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stealth" w="med" len="med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 Box 29">
              <a:extLst>
                <a:ext uri="{FF2B5EF4-FFF2-40B4-BE49-F238E27FC236}">
                  <a16:creationId xmlns:a16="http://schemas.microsoft.com/office/drawing/2014/main" id="{5607C789-8DF2-4407-8E97-E8867EACD0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" y="2432"/>
              <a:ext cx="9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GB" altLang="en-US">
                  <a:solidFill>
                    <a:srgbClr val="000000"/>
                  </a:solidFill>
                  <a:latin typeface="Calibri" panose="020F0502020204030204" pitchFamily="34" charset="0"/>
                </a:rPr>
                <a:t>1 mm</a:t>
              </a:r>
            </a:p>
          </p:txBody>
        </p:sp>
      </p:grpSp>
      <p:sp>
        <p:nvSpPr>
          <p:cNvPr id="36" name="Rectangle 30">
            <a:extLst>
              <a:ext uri="{FF2B5EF4-FFF2-40B4-BE49-F238E27FC236}">
                <a16:creationId xmlns:a16="http://schemas.microsoft.com/office/drawing/2014/main" id="{0CB23119-9220-4722-B36D-22D5B51E7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44380" y="3988547"/>
            <a:ext cx="1008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GB" altLang="en-US">
                <a:solidFill>
                  <a:srgbClr val="000000"/>
                </a:solidFill>
                <a:latin typeface="Calibri" panose="020F0502020204030204" pitchFamily="34" charset="0"/>
              </a:rPr>
              <a:t>1 mm</a:t>
            </a:r>
            <a:r>
              <a:rPr lang="en-GB" altLang="en-US" baseline="30000">
                <a:solidFill>
                  <a:srgbClr val="000000"/>
                </a:solidFill>
                <a:latin typeface="Calibri" panose="020F050202020403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animBg="1"/>
      <p:bldP spid="20" grpId="0" build="p"/>
      <p:bldP spid="21" grpId="0" build="p"/>
      <p:bldP spid="22" grpId="0" animBg="1"/>
      <p:bldP spid="29" grpId="0" build="p"/>
      <p:bldP spid="30" grpId="0" animBg="1"/>
      <p:bldP spid="36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61828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19618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Converting Units of Length</a:t>
            </a:r>
          </a:p>
        </p:txBody>
      </p:sp>
      <p:pic>
        <p:nvPicPr>
          <p:cNvPr id="17" name="Picture 4" descr="http://passyworldofmathematics.com/Images/pwmImagesFour/ConvertMetricOne550x407JPG.jpg">
            <a:extLst>
              <a:ext uri="{FF2B5EF4-FFF2-40B4-BE49-F238E27FC236}">
                <a16:creationId xmlns:a16="http://schemas.microsoft.com/office/drawing/2014/main" id="{50A4C145-6AC4-4095-9B0D-D84967280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t="23811" r="1081" b="21437"/>
          <a:stretch/>
        </p:blipFill>
        <p:spPr bwMode="auto">
          <a:xfrm>
            <a:off x="2076994" y="1730994"/>
            <a:ext cx="6153798" cy="2520562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4BCA2F2-7FAD-4E9B-9696-EA84F0F4444C}"/>
              </a:ext>
            </a:extLst>
          </p:cNvPr>
          <p:cNvSpPr txBox="1"/>
          <p:nvPr/>
        </p:nvSpPr>
        <p:spPr>
          <a:xfrm>
            <a:off x="8412318" y="1899517"/>
            <a:ext cx="36833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To make a unit bigger you DIVIDE</a:t>
            </a:r>
          </a:p>
          <a:p>
            <a:endParaRPr lang="en-AU" sz="2400" dirty="0"/>
          </a:p>
          <a:p>
            <a:r>
              <a:rPr lang="en-AU" sz="2400" b="1" dirty="0">
                <a:solidFill>
                  <a:srgbClr val="FF0000"/>
                </a:solidFill>
              </a:rPr>
              <a:t>To make a unit smaller you MULTIPLY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740D5-1FDB-4A01-9EB5-F929B6E635B2}"/>
              </a:ext>
            </a:extLst>
          </p:cNvPr>
          <p:cNvSpPr txBox="1"/>
          <p:nvPr/>
        </p:nvSpPr>
        <p:spPr>
          <a:xfrm>
            <a:off x="2187558" y="4388813"/>
            <a:ext cx="36833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1. 46 km to m </a:t>
            </a:r>
          </a:p>
          <a:p>
            <a:endParaRPr lang="en-AU" sz="2400" b="1" dirty="0"/>
          </a:p>
          <a:p>
            <a:r>
              <a:rPr lang="en-AU" sz="2400" b="1" dirty="0"/>
              <a:t>2. 500 mm to cm</a:t>
            </a:r>
          </a:p>
          <a:p>
            <a:endParaRPr lang="en-AU" sz="2400" b="1" dirty="0"/>
          </a:p>
          <a:p>
            <a:r>
              <a:rPr lang="en-AU" sz="2400" b="1" dirty="0"/>
              <a:t>3. 830 cm to km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626681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961828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19618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800" b="1" dirty="0">
                <a:solidFill>
                  <a:prstClr val="black"/>
                </a:solidFill>
                <a:latin typeface="Fragment Core" panose="02000504040000020003" pitchFamily="50" charset="0"/>
              </a:rPr>
              <a:t>Converting Area Units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BCA2F2-7FAD-4E9B-9696-EA84F0F4444C}"/>
              </a:ext>
            </a:extLst>
          </p:cNvPr>
          <p:cNvSpPr txBox="1"/>
          <p:nvPr/>
        </p:nvSpPr>
        <p:spPr>
          <a:xfrm>
            <a:off x="8412318" y="1899517"/>
            <a:ext cx="368330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0070C0"/>
                </a:solidFill>
              </a:rPr>
              <a:t>To make a unit bigger you DIVIDE</a:t>
            </a:r>
          </a:p>
          <a:p>
            <a:endParaRPr lang="en-AU" sz="2400" dirty="0"/>
          </a:p>
          <a:p>
            <a:r>
              <a:rPr lang="en-AU" sz="2400" b="1" dirty="0">
                <a:solidFill>
                  <a:srgbClr val="FF0000"/>
                </a:solidFill>
              </a:rPr>
              <a:t>To make a unit smaller you MULTIPLY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7740D5-1FDB-4A01-9EB5-F929B6E635B2}"/>
                  </a:ext>
                </a:extLst>
              </p:cNvPr>
              <p:cNvSpPr txBox="1"/>
              <p:nvPr/>
            </p:nvSpPr>
            <p:spPr>
              <a:xfrm>
                <a:off x="2187558" y="4388813"/>
                <a:ext cx="3683309" cy="1963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/>
                  <a:t>1. 46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𝒌𝒎</m:t>
                        </m:r>
                      </m:e>
                      <m:sup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</a:t>
                </a:r>
              </a:p>
              <a:p>
                <a:endParaRPr lang="en-AU" sz="2400" b="1" dirty="0"/>
              </a:p>
              <a:p>
                <a:r>
                  <a:rPr lang="en-AU" sz="2400" b="1" dirty="0"/>
                  <a:t>2. 500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</a:t>
                </a:r>
              </a:p>
              <a:p>
                <a:endParaRPr lang="en-AU" sz="2400" b="1" dirty="0"/>
              </a:p>
              <a:p>
                <a:r>
                  <a:rPr lang="en-AU" sz="2400" b="1" dirty="0"/>
                  <a:t>3. 830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𝒌𝒎</m:t>
                        </m:r>
                      </m:e>
                      <m:sup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2400" b="1" dirty="0"/>
                  <a:t> </a:t>
                </a:r>
                <a:endParaRPr lang="en-AU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A7740D5-1FDB-4A01-9EB5-F929B6E63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558" y="4388813"/>
                <a:ext cx="3683309" cy="1963999"/>
              </a:xfrm>
              <a:prstGeom prst="rect">
                <a:avLst/>
              </a:prstGeom>
              <a:blipFill>
                <a:blip r:embed="rId3"/>
                <a:stretch>
                  <a:fillRect l="-2649" t="-1863" b="-6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0" descr="http://passyworldofmathematics.com/Images/pwmImagesFour/ConvertMetricTwo550x392JPG.jpg">
            <a:extLst>
              <a:ext uri="{FF2B5EF4-FFF2-40B4-BE49-F238E27FC236}">
                <a16:creationId xmlns:a16="http://schemas.microsoft.com/office/drawing/2014/main" id="{38FB73BC-76C8-466A-8D19-B0DB599B26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22740" r="1222" b="20466"/>
          <a:stretch/>
        </p:blipFill>
        <p:spPr bwMode="auto">
          <a:xfrm>
            <a:off x="2028165" y="1757888"/>
            <a:ext cx="6251466" cy="256180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6421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3993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7AF97-2A28-4BCE-9A3E-C34F1F6455A9}"/>
                  </a:ext>
                </a:extLst>
              </p:cNvPr>
              <p:cNvSpPr txBox="1"/>
              <p:nvPr/>
            </p:nvSpPr>
            <p:spPr>
              <a:xfrm>
                <a:off x="462963" y="1376671"/>
                <a:ext cx="4801561" cy="45466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3200" b="1" dirty="0"/>
                  <a:t>1.   4.9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200" b="1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𝒄𝒎</m:t>
                        </m:r>
                      </m:e>
                      <m:sup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200" b="1" dirty="0"/>
                  <a:t> </a:t>
                </a:r>
              </a:p>
              <a:p>
                <a:endParaRPr lang="en-AU" sz="3200" b="1" dirty="0"/>
              </a:p>
              <a:p>
                <a:r>
                  <a:rPr lang="en-AU" sz="3200" b="1" dirty="0"/>
                  <a:t>2.   62 cm to mm</a:t>
                </a:r>
              </a:p>
              <a:p>
                <a:endParaRPr lang="en-AU" sz="3200" b="1" dirty="0"/>
              </a:p>
              <a:p>
                <a:r>
                  <a:rPr lang="en-AU" sz="3200" b="1" dirty="0"/>
                  <a:t>3.   58.69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3200" b="1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p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3200" b="1" dirty="0"/>
              </a:p>
              <a:p>
                <a:endParaRPr lang="en-AU" sz="3200" b="1" dirty="0"/>
              </a:p>
              <a:p>
                <a:r>
                  <a:rPr lang="en-AU" sz="3200" b="1" dirty="0"/>
                  <a:t>4.   8 km to mm</a:t>
                </a:r>
              </a:p>
              <a:p>
                <a:endParaRPr lang="en-AU" sz="3200" b="1" dirty="0"/>
              </a:p>
              <a:p>
                <a:r>
                  <a:rPr lang="en-AU" sz="3200" b="1" dirty="0"/>
                  <a:t>5.    9,052 mm to km</a:t>
                </a:r>
                <a:endParaRPr lang="en-AU" sz="3200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877AF97-2A28-4BCE-9A3E-C34F1F645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63" y="1376671"/>
                <a:ext cx="4801561" cy="4546629"/>
              </a:xfrm>
              <a:prstGeom prst="rect">
                <a:avLst/>
              </a:prstGeom>
              <a:blipFill>
                <a:blip r:embed="rId3"/>
                <a:stretch>
                  <a:fillRect l="-3299" t="-1340" b="-34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 descr="http://passyworldofmathematics.com/Images/pwmImagesFour/ConvertMetricOne550x407JPG.jpg">
            <a:extLst>
              <a:ext uri="{FF2B5EF4-FFF2-40B4-BE49-F238E27FC236}">
                <a16:creationId xmlns:a16="http://schemas.microsoft.com/office/drawing/2014/main" id="{58818DE3-89E4-48EC-B1BA-B72ED73F7A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/>
          <a:srcRect t="23811" r="1081" b="21437"/>
          <a:stretch/>
        </p:blipFill>
        <p:spPr bwMode="auto">
          <a:xfrm>
            <a:off x="8306090" y="3576918"/>
            <a:ext cx="3422948" cy="1402021"/>
          </a:xfrm>
          <a:prstGeom prst="rect">
            <a:avLst/>
          </a:prstGeom>
          <a:noFill/>
        </p:spPr>
      </p:pic>
      <p:pic>
        <p:nvPicPr>
          <p:cNvPr id="5" name="Picture 4" descr="http://passyworldofmathematics.com/Images/pwmImagesFour/ConvertMetricTwo550x392JPG.jpg">
            <a:extLst>
              <a:ext uri="{FF2B5EF4-FFF2-40B4-BE49-F238E27FC236}">
                <a16:creationId xmlns:a16="http://schemas.microsoft.com/office/drawing/2014/main" id="{863716BF-0F43-4EBC-A9F1-ACD4115081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/>
          <a:srcRect t="22740" r="1222" b="20466"/>
          <a:stretch/>
        </p:blipFill>
        <p:spPr bwMode="auto">
          <a:xfrm>
            <a:off x="8243181" y="5037174"/>
            <a:ext cx="3589170" cy="14708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49233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2000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How do we find the area of 2 dimensional shapes?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740D5-1FDB-4A01-9EB5-F929B6E635B2}"/>
              </a:ext>
            </a:extLst>
          </p:cNvPr>
          <p:cNvSpPr txBox="1"/>
          <p:nvPr/>
        </p:nvSpPr>
        <p:spPr>
          <a:xfrm>
            <a:off x="2187558" y="1709856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Rectangle</a:t>
            </a:r>
          </a:p>
          <a:p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50AB22-B644-4839-917D-20AD7311CD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732" y="1805519"/>
            <a:ext cx="3515422" cy="18457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385986-0376-4173-B4AA-2010AB1BC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325" y="1927199"/>
            <a:ext cx="3064054" cy="16562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1AE65A1-77A2-4BDB-A61F-CF10F722B9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5949" y="4935072"/>
            <a:ext cx="4144892" cy="175938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144BB4F-5EF8-4B4C-9555-C9B87DD7F42F}"/>
              </a:ext>
            </a:extLst>
          </p:cNvPr>
          <p:cNvSpPr txBox="1"/>
          <p:nvPr/>
        </p:nvSpPr>
        <p:spPr>
          <a:xfrm>
            <a:off x="2187557" y="4511326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Parallelogram </a:t>
            </a:r>
          </a:p>
          <a:p>
            <a:endParaRPr lang="en-AU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AF03F-BF26-4D41-8BC0-4167A06BB8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4325" y="4660521"/>
            <a:ext cx="2966418" cy="1558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38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49233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2000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How do we find the area of 2 dimensional shapes?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740D5-1FDB-4A01-9EB5-F929B6E635B2}"/>
              </a:ext>
            </a:extLst>
          </p:cNvPr>
          <p:cNvSpPr txBox="1"/>
          <p:nvPr/>
        </p:nvSpPr>
        <p:spPr>
          <a:xfrm>
            <a:off x="2187558" y="1709856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Triangle</a:t>
            </a:r>
          </a:p>
          <a:p>
            <a:endParaRPr lang="en-AU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4BB4F-5EF8-4B4C-9555-C9B87DD7F42F}"/>
              </a:ext>
            </a:extLst>
          </p:cNvPr>
          <p:cNvSpPr txBox="1"/>
          <p:nvPr/>
        </p:nvSpPr>
        <p:spPr>
          <a:xfrm>
            <a:off x="2187557" y="4511326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Trapezium </a:t>
            </a:r>
          </a:p>
          <a:p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518953-F41F-44B1-8D2A-62E3E3BF5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614" y="1889671"/>
            <a:ext cx="3527146" cy="21335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695B4E-7FCB-4310-8488-177DCF6406F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160"/>
          <a:stretch/>
        </p:blipFill>
        <p:spPr>
          <a:xfrm>
            <a:off x="8571107" y="1805519"/>
            <a:ext cx="3420200" cy="14621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F0E87554-3E80-45CB-AC4B-E750500CCD7B}"/>
              </a:ext>
            </a:extLst>
          </p:cNvPr>
          <p:cNvSpPr/>
          <p:nvPr/>
        </p:nvSpPr>
        <p:spPr>
          <a:xfrm>
            <a:off x="10650071" y="2386834"/>
            <a:ext cx="1163159" cy="880801"/>
          </a:xfrm>
          <a:prstGeom prst="rect">
            <a:avLst/>
          </a:prstGeom>
          <a:solidFill>
            <a:srgbClr val="EEF7F7"/>
          </a:solidFill>
          <a:ln>
            <a:solidFill>
              <a:srgbClr val="EE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08680C5-AFC3-4116-B2DA-5563C922A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96878" y="4729235"/>
            <a:ext cx="4055125" cy="20439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8CD2CBB-915F-4B65-AFF4-81C730E0A8E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1403"/>
          <a:stretch/>
        </p:blipFill>
        <p:spPr>
          <a:xfrm>
            <a:off x="8450583" y="4308009"/>
            <a:ext cx="3558126" cy="164903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46BCB05-87B8-4B2E-A0F0-0729ACF8E471}"/>
              </a:ext>
            </a:extLst>
          </p:cNvPr>
          <p:cNvSpPr/>
          <p:nvPr/>
        </p:nvSpPr>
        <p:spPr>
          <a:xfrm>
            <a:off x="11542859" y="5261733"/>
            <a:ext cx="465850" cy="595209"/>
          </a:xfrm>
          <a:prstGeom prst="rect">
            <a:avLst/>
          </a:prstGeom>
          <a:solidFill>
            <a:srgbClr val="EEF7F7"/>
          </a:solidFill>
          <a:ln>
            <a:solidFill>
              <a:srgbClr val="EE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4472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17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49233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2000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How do we find the area of 2 dimensional shapes?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7740D5-1FDB-4A01-9EB5-F929B6E635B2}"/>
              </a:ext>
            </a:extLst>
          </p:cNvPr>
          <p:cNvSpPr txBox="1"/>
          <p:nvPr/>
        </p:nvSpPr>
        <p:spPr>
          <a:xfrm>
            <a:off x="6616713" y="1904913"/>
            <a:ext cx="2093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Kite</a:t>
            </a:r>
          </a:p>
          <a:p>
            <a:endParaRPr lang="en-AU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4BB4F-5EF8-4B4C-9555-C9B87DD7F42F}"/>
              </a:ext>
            </a:extLst>
          </p:cNvPr>
          <p:cNvSpPr txBox="1"/>
          <p:nvPr/>
        </p:nvSpPr>
        <p:spPr>
          <a:xfrm>
            <a:off x="2107786" y="1904912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Rhombus </a:t>
            </a:r>
          </a:p>
          <a:p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D25BD4-097A-4728-9B4B-02DF3EFFD3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571" y="2396863"/>
            <a:ext cx="3352370" cy="31624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228726-B91A-46B2-899D-03A0DC0466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755" y="2607403"/>
            <a:ext cx="2331925" cy="35767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08B8B8-BE22-40B7-90D6-2CD19029E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5048" y="2125355"/>
            <a:ext cx="2551824" cy="120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17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49233" y="1296351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32201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>
                <a:solidFill>
                  <a:srgbClr val="FF5050"/>
                </a:solidFill>
                <a:latin typeface="Fragment Core" panose="02000504040000020003" pitchFamily="50" charset="0"/>
              </a:rPr>
              <a:t>Area Revision</a:t>
            </a:r>
            <a:endParaRPr lang="en-AU" sz="40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</a:t>
            </a:r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do we convert area units and find the area of shapes?</a:t>
            </a:r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9ACA63F-4B8D-4A2E-9BBE-D90FD3A7F00E}"/>
              </a:ext>
            </a:extLst>
          </p:cNvPr>
          <p:cNvCxnSpPr>
            <a:cxnSpLocks/>
          </p:cNvCxnSpPr>
          <p:nvPr/>
        </p:nvCxnSpPr>
        <p:spPr>
          <a:xfrm>
            <a:off x="8345974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876F9E-0D49-42C3-8A71-F13EC59A4574}"/>
              </a:ext>
            </a:extLst>
          </p:cNvPr>
          <p:cNvSpPr txBox="1"/>
          <p:nvPr/>
        </p:nvSpPr>
        <p:spPr>
          <a:xfrm>
            <a:off x="4250062" y="1315025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Examples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4E49EE-EEDA-4EB4-96B1-31E667E529E4}"/>
              </a:ext>
            </a:extLst>
          </p:cNvPr>
          <p:cNvSpPr txBox="1"/>
          <p:nvPr/>
        </p:nvSpPr>
        <p:spPr>
          <a:xfrm>
            <a:off x="9532958" y="1296351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Steps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E8FC5E-8EFC-4BD2-9D7F-323460BD3461}"/>
              </a:ext>
            </a:extLst>
          </p:cNvPr>
          <p:cNvSpPr txBox="1"/>
          <p:nvPr/>
        </p:nvSpPr>
        <p:spPr>
          <a:xfrm>
            <a:off x="0" y="1484019"/>
            <a:ext cx="200008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latin typeface="Fragment Core" panose="02000504040000020003" pitchFamily="50" charset="0"/>
              </a:rPr>
              <a:t>How do we find the area of 2 dimensional shapes?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44BB4F-5EF8-4B4C-9555-C9B87DD7F42F}"/>
              </a:ext>
            </a:extLst>
          </p:cNvPr>
          <p:cNvSpPr txBox="1"/>
          <p:nvPr/>
        </p:nvSpPr>
        <p:spPr>
          <a:xfrm>
            <a:off x="2408407" y="1899782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Circle </a:t>
            </a:r>
          </a:p>
          <a:p>
            <a:endParaRPr lang="en-AU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987A48-7621-40D1-9E8C-932241B1D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437" y="1805518"/>
            <a:ext cx="2011353" cy="20522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907D023-1B3A-438F-ABD1-009B43214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978" y="1805518"/>
            <a:ext cx="3642808" cy="14016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C517117-C314-4506-987B-03703AE781F9}"/>
              </a:ext>
            </a:extLst>
          </p:cNvPr>
          <p:cNvSpPr/>
          <p:nvPr/>
        </p:nvSpPr>
        <p:spPr>
          <a:xfrm>
            <a:off x="9605746" y="2133504"/>
            <a:ext cx="2301625" cy="597275"/>
          </a:xfrm>
          <a:prstGeom prst="rect">
            <a:avLst/>
          </a:prstGeom>
          <a:solidFill>
            <a:srgbClr val="EEF7F7"/>
          </a:solidFill>
          <a:ln>
            <a:solidFill>
              <a:srgbClr val="EE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8EE0F9-26BE-42A7-9846-1D65FBB2A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213" y="4688814"/>
            <a:ext cx="2011354" cy="19419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A733FB-E731-4296-A763-207A33BEF3BB}"/>
              </a:ext>
            </a:extLst>
          </p:cNvPr>
          <p:cNvSpPr txBox="1"/>
          <p:nvPr/>
        </p:nvSpPr>
        <p:spPr>
          <a:xfrm>
            <a:off x="2305313" y="4343315"/>
            <a:ext cx="3683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Sector of a Sector  </a:t>
            </a:r>
          </a:p>
          <a:p>
            <a:endParaRPr lang="en-AU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64130F-6513-47A0-834C-A6E07F7B54CE}"/>
              </a:ext>
            </a:extLst>
          </p:cNvPr>
          <p:cNvSpPr txBox="1"/>
          <p:nvPr/>
        </p:nvSpPr>
        <p:spPr>
          <a:xfrm>
            <a:off x="8419522" y="4343315"/>
            <a:ext cx="24406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Sector of a Sector  </a:t>
            </a:r>
          </a:p>
          <a:p>
            <a:endParaRPr lang="en-AU" sz="24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043AE1D-D5D3-4E16-9903-4ADB2554D3E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760" t="9071"/>
          <a:stretch/>
        </p:blipFill>
        <p:spPr>
          <a:xfrm>
            <a:off x="8462013" y="4935751"/>
            <a:ext cx="3519806" cy="12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60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3" grpId="0" animBg="1"/>
      <p:bldP spid="22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51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D9130F-70EB-446B-AD21-93ADA5708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21" y="1656721"/>
            <a:ext cx="9384681" cy="479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715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8085" y="102106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6005EA-5885-4236-905B-7098EB825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" y="666049"/>
            <a:ext cx="8538763" cy="568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361</Words>
  <Application>Microsoft Office PowerPoint</Application>
  <PresentationFormat>Widescreen</PresentationFormat>
  <Paragraphs>115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Cambria Math</vt:lpstr>
      <vt:lpstr>Fragment Core</vt:lpstr>
      <vt:lpstr>Harrington</vt:lpstr>
      <vt:lpstr>Times New Roman</vt:lpstr>
      <vt:lpstr>Office Theme</vt:lpstr>
      <vt:lpstr>Measurement</vt:lpstr>
      <vt:lpstr>What is Area?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</dc:title>
  <dc:creator>Nine Stretch</dc:creator>
  <cp:lastModifiedBy>Nine Stretch</cp:lastModifiedBy>
  <cp:revision>13</cp:revision>
  <dcterms:created xsi:type="dcterms:W3CDTF">2019-02-04T02:42:05Z</dcterms:created>
  <dcterms:modified xsi:type="dcterms:W3CDTF">2019-02-04T07:37:36Z</dcterms:modified>
</cp:coreProperties>
</file>
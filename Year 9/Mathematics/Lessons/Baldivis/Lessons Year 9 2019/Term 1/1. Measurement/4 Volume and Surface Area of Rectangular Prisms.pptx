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337" r:id="rId3"/>
    <p:sldId id="342" r:id="rId4"/>
    <p:sldId id="343" r:id="rId5"/>
    <p:sldId id="344" r:id="rId6"/>
    <p:sldId id="335" r:id="rId7"/>
    <p:sldId id="336" r:id="rId8"/>
    <p:sldId id="345" r:id="rId9"/>
    <p:sldId id="32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82" d="100"/>
          <a:sy n="82" d="100"/>
        </p:scale>
        <p:origin x="146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10/02/2019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B36274-F2B9-4C45-BBB4-0EDF4CD651A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tino Linoty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107" y="1371600"/>
            <a:ext cx="6859786" cy="3505200"/>
          </a:xfrm>
        </p:spPr>
        <p:txBody>
          <a:bodyPr>
            <a:noAutofit/>
          </a:bodyPr>
          <a:lstStyle>
            <a:lvl1pPr>
              <a:defRPr sz="540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107" y="4953000"/>
            <a:ext cx="6173808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35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970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2514601"/>
            <a:ext cx="6859786" cy="2819400"/>
          </a:xfrm>
        </p:spPr>
        <p:txBody>
          <a:bodyPr anchor="b">
            <a:noAutofit/>
          </a:bodyPr>
          <a:lstStyle>
            <a:lvl1pPr algn="l">
              <a:defRPr sz="4951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7" y="990600"/>
            <a:ext cx="617380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9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9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97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9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9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9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9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571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533400"/>
            <a:ext cx="720277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108" y="1828800"/>
            <a:ext cx="3484771" cy="41910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7824" y="1828800"/>
            <a:ext cx="3487059" cy="41910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759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08" y="533400"/>
            <a:ext cx="72027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8" y="1828800"/>
            <a:ext cx="348477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0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108" y="2667000"/>
            <a:ext cx="3484771" cy="33528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 baseline="0"/>
            </a:lvl6pPr>
            <a:lvl7pPr>
              <a:defRPr sz="1050" baseline="0"/>
            </a:lvl7pPr>
            <a:lvl8pPr>
              <a:defRPr sz="1050" baseline="0"/>
            </a:lvl8pPr>
            <a:lvl9pPr>
              <a:defRPr sz="105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112" y="1828800"/>
            <a:ext cx="348477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0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112" y="2667000"/>
            <a:ext cx="3484771" cy="33528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1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62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562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624" y="2590800"/>
            <a:ext cx="2458089" cy="1924050"/>
          </a:xfrm>
        </p:spPr>
        <p:txBody>
          <a:bodyPr anchor="b">
            <a:normAutofit/>
          </a:bodyPr>
          <a:lstStyle>
            <a:lvl1pPr algn="l">
              <a:defRPr sz="2401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627624" y="4648200"/>
            <a:ext cx="2458089" cy="1371600"/>
          </a:xfrm>
        </p:spPr>
        <p:txBody>
          <a:bodyPr>
            <a:normAutofit/>
          </a:bodyPr>
          <a:lstStyle>
            <a:lvl1pPr marL="0" indent="0">
              <a:spcBef>
                <a:spcPts val="45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3886021" y="838200"/>
            <a:ext cx="4630357" cy="51816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2/10/2019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666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624" y="2590800"/>
            <a:ext cx="2458089" cy="1924050"/>
          </a:xfrm>
        </p:spPr>
        <p:txBody>
          <a:bodyPr anchor="b">
            <a:normAutofit/>
          </a:bodyPr>
          <a:lstStyle>
            <a:lvl1pPr algn="l">
              <a:defRPr sz="2401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627624" y="4648200"/>
            <a:ext cx="2458089" cy="1371600"/>
          </a:xfrm>
        </p:spPr>
        <p:txBody>
          <a:bodyPr>
            <a:normAutofit/>
          </a:bodyPr>
          <a:lstStyle>
            <a:lvl1pPr marL="0" indent="0">
              <a:spcBef>
                <a:spcPts val="450"/>
              </a:spcBef>
              <a:buNone/>
              <a:defRPr sz="120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4114681" y="836610"/>
            <a:ext cx="4401697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1800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857" y="458788"/>
            <a:ext cx="4970963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8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60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5914" y="533400"/>
            <a:ext cx="1028968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2106" y="533400"/>
            <a:ext cx="6059479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2/10/2019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71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2108" y="533400"/>
            <a:ext cx="720277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8" y="1828800"/>
            <a:ext cx="7202776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138759" y="6172201"/>
            <a:ext cx="51481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6458441" y="6172201"/>
            <a:ext cx="99030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2/10/2019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01739" y="6172201"/>
            <a:ext cx="743144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1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983" rtl="0" eaLnBrk="1" latinLnBrk="0" hangingPunct="1">
        <a:lnSpc>
          <a:spcPct val="90000"/>
        </a:lnSpc>
        <a:spcBef>
          <a:spcPct val="0"/>
        </a:spcBef>
        <a:buNone/>
        <a:defRPr sz="2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923" indent="-167923" algn="l" defTabSz="685983" rtl="0" eaLnBrk="1" latinLnBrk="0" hangingPunct="1">
        <a:lnSpc>
          <a:spcPct val="90000"/>
        </a:lnSpc>
        <a:spcBef>
          <a:spcPts val="135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291" indent="-167923" algn="l" defTabSz="685983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56171" indent="-128622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5284" indent="-129813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06308" indent="-129813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83853" indent="-130337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62208" indent="-130337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440564" indent="-130337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618920" indent="-130337" algn="l" defTabSz="685983" rtl="0" eaLnBrk="1" latinLnBrk="0" hangingPunct="1">
        <a:lnSpc>
          <a:spcPct val="90000"/>
        </a:lnSpc>
        <a:spcBef>
          <a:spcPts val="45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533" y="2504927"/>
            <a:ext cx="7894934" cy="924073"/>
          </a:xfrm>
        </p:spPr>
        <p:txBody>
          <a:bodyPr/>
          <a:lstStyle/>
          <a:p>
            <a:r>
              <a:rPr lang="en-US" sz="4501" dirty="0"/>
              <a:t>Topic: Volume and surface area of rectangular prisms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find the volume and surface area of prisms?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000" dirty="0"/>
              <a:t>How do you find the volume and surface area of a prism?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651626" y="1496273"/>
            <a:ext cx="5592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1. Find the area of the base</a:t>
            </a:r>
          </a:p>
          <a:p>
            <a:r>
              <a:rPr lang="en-AU" b="1" dirty="0"/>
              <a:t>2. Multiply it by the height or length of the prism</a:t>
            </a:r>
          </a:p>
          <a:p>
            <a:r>
              <a:rPr lang="en-AU" b="1" dirty="0"/>
              <a:t>3. Final answer uses units³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718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Volume and Surface Area of Rectangular Prisms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07860" y="1496274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rectangular prism?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9BA1-135D-3348-9C22-4CADFBC1C4FD}"/>
              </a:ext>
            </a:extLst>
          </p:cNvPr>
          <p:cNvSpPr txBox="1"/>
          <p:nvPr/>
        </p:nvSpPr>
        <p:spPr>
          <a:xfrm>
            <a:off x="2915815" y="2480934"/>
            <a:ext cx="4956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D38C6-A22D-D941-9A04-CE542FF8F0D9}"/>
              </a:ext>
            </a:extLst>
          </p:cNvPr>
          <p:cNvSpPr txBox="1"/>
          <p:nvPr/>
        </p:nvSpPr>
        <p:spPr>
          <a:xfrm>
            <a:off x="0" y="3429000"/>
            <a:ext cx="2418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surface area of a rectangular prism?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0D469-4DF2-49D6-BE0A-90761918F4F2}"/>
              </a:ext>
            </a:extLst>
          </p:cNvPr>
          <p:cNvSpPr txBox="1"/>
          <p:nvPr/>
        </p:nvSpPr>
        <p:spPr>
          <a:xfrm>
            <a:off x="2585157" y="3535961"/>
            <a:ext cx="5592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1. Find the area of the 3 different sides (faces)</a:t>
            </a:r>
          </a:p>
          <a:p>
            <a:r>
              <a:rPr lang="en-AU" b="1" dirty="0"/>
              <a:t>2. Multiply each area by 2 (for the duplicate sides)</a:t>
            </a:r>
          </a:p>
          <a:p>
            <a:r>
              <a:rPr lang="en-AU" b="1" dirty="0"/>
              <a:t>3. Add all together for the </a:t>
            </a:r>
            <a:r>
              <a:rPr lang="en-AU" b="1" u="sng" dirty="0"/>
              <a:t>TSA (Total Surface Area)</a:t>
            </a:r>
          </a:p>
          <a:p>
            <a:r>
              <a:rPr lang="en-AU" b="1" dirty="0"/>
              <a:t>4. Final answer uses units²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Cuboids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108" y="1828800"/>
            <a:ext cx="7202776" cy="1024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 cuboid is a 3-dimensional shape made up of rectangles and/or squares</a:t>
            </a:r>
          </a:p>
        </p:txBody>
      </p:sp>
      <p:sp>
        <p:nvSpPr>
          <p:cNvPr id="4" name="Cube 3"/>
          <p:cNvSpPr/>
          <p:nvPr/>
        </p:nvSpPr>
        <p:spPr>
          <a:xfrm>
            <a:off x="971600" y="3212976"/>
            <a:ext cx="1872208" cy="2304256"/>
          </a:xfrm>
          <a:prstGeom prst="cube">
            <a:avLst>
              <a:gd name="adj" fmla="val 5682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851920" y="3212976"/>
            <a:ext cx="48965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It has 6 </a:t>
            </a:r>
            <a:r>
              <a:rPr lang="en-GB" sz="3200" u="sng" dirty="0">
                <a:solidFill>
                  <a:srgbClr val="FF0000"/>
                </a:solidFill>
              </a:rPr>
              <a:t>faces</a:t>
            </a:r>
          </a:p>
          <a:p>
            <a:pPr marL="342900" indent="-342900">
              <a:buFont typeface="Arial" pitchFamily="34" charset="0"/>
              <a:buChar char="•"/>
            </a:pPr>
            <a:endParaRPr lang="en-GB" sz="3200" u="sng" dirty="0">
              <a:solidFill>
                <a:srgbClr val="FF000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GB" sz="3200" dirty="0"/>
              <a:t>There are three pairs of identical faces</a:t>
            </a:r>
          </a:p>
        </p:txBody>
      </p:sp>
    </p:spTree>
    <p:extLst>
      <p:ext uri="{BB962C8B-B14F-4D97-AF65-F5344CB8AC3E}">
        <p14:creationId xmlns:p14="http://schemas.microsoft.com/office/powerpoint/2010/main" val="170351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A = 6 x 12</a:t>
            </a:r>
          </a:p>
          <a:p>
            <a:r>
              <a:rPr lang="en-GB" sz="2400" dirty="0"/>
              <a:t>S.A of A = 72cm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A,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72 = 144cm</a:t>
            </a:r>
            <a:r>
              <a:rPr lang="en-GB" sz="2400" baseline="30000" dirty="0"/>
              <a:t>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Example – Watch (Don’t copy)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find the surface area, find the area of the three different faces</a:t>
            </a:r>
          </a:p>
        </p:txBody>
      </p:sp>
      <p:sp>
        <p:nvSpPr>
          <p:cNvPr id="4" name="Cube 3"/>
          <p:cNvSpPr/>
          <p:nvPr/>
        </p:nvSpPr>
        <p:spPr>
          <a:xfrm>
            <a:off x="827584" y="3068960"/>
            <a:ext cx="3672408" cy="2448272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907704" y="55172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12cm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516" y="430077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9952" y="511401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7565" y="3729022"/>
            <a:ext cx="1080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912" y="3501008"/>
            <a:ext cx="1080120" cy="144655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8800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008458" y="258726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B = 5 x 6</a:t>
            </a:r>
          </a:p>
          <a:p>
            <a:r>
              <a:rPr lang="en-GB" sz="2400" dirty="0"/>
              <a:t>S.A of B = 30cm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B,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30 = 60cm</a:t>
            </a:r>
            <a:r>
              <a:rPr lang="en-GB" sz="2400" baseline="30000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056" y="2708920"/>
            <a:ext cx="367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S.A of C = 5 x 12</a:t>
            </a:r>
          </a:p>
          <a:p>
            <a:r>
              <a:rPr lang="en-GB" sz="2400" dirty="0"/>
              <a:t>S.A of C = 60cm</a:t>
            </a:r>
            <a:r>
              <a:rPr lang="en-GB" sz="2400" baseline="30000" dirty="0"/>
              <a:t>2</a:t>
            </a:r>
          </a:p>
          <a:p>
            <a:endParaRPr lang="en-GB" sz="2400" dirty="0"/>
          </a:p>
          <a:p>
            <a:r>
              <a:rPr lang="en-GB" sz="2400" dirty="0"/>
              <a:t>There are two faces with the same area as C, so multiply your answer by 2</a:t>
            </a:r>
          </a:p>
          <a:p>
            <a:endParaRPr lang="en-GB" sz="2400" dirty="0"/>
          </a:p>
          <a:p>
            <a:r>
              <a:rPr lang="en-GB" sz="2400" dirty="0"/>
              <a:t>2 x 60 = 120cm</a:t>
            </a:r>
            <a:r>
              <a:rPr lang="en-GB" sz="24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4199" y="2612085"/>
            <a:ext cx="5554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Total Surface Area = 144 + 60 + 120</a:t>
            </a:r>
          </a:p>
          <a:p>
            <a:r>
              <a:rPr lang="en-GB" sz="2400" baseline="30000" dirty="0"/>
              <a:t>		</a:t>
            </a:r>
            <a:r>
              <a:rPr lang="en-GB" sz="2400" dirty="0"/>
              <a:t>       = 324cm</a:t>
            </a:r>
            <a:r>
              <a:rPr lang="en-GB" sz="24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773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allAtOnce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2" grpId="0" build="allAtOnce"/>
      <p:bldP spid="1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568" y="153204"/>
            <a:ext cx="7202776" cy="1143000"/>
          </a:xfrm>
        </p:spPr>
        <p:txBody>
          <a:bodyPr/>
          <a:lstStyle/>
          <a:p>
            <a:r>
              <a:rPr lang="en-GB" dirty="0"/>
              <a:t>Surface Area</a:t>
            </a:r>
            <a:br>
              <a:rPr lang="en-GB" dirty="0"/>
            </a:br>
            <a:r>
              <a:rPr lang="en-GB" dirty="0"/>
              <a:t> Follow along and copy down into your notes</a:t>
            </a:r>
          </a:p>
        </p:txBody>
      </p:sp>
      <p:sp>
        <p:nvSpPr>
          <p:cNvPr id="6" name="Cube 5"/>
          <p:cNvSpPr/>
          <p:nvPr/>
        </p:nvSpPr>
        <p:spPr>
          <a:xfrm>
            <a:off x="899592" y="2060848"/>
            <a:ext cx="4320480" cy="3312368"/>
          </a:xfrm>
          <a:prstGeom prst="cube">
            <a:avLst>
              <a:gd name="adj" fmla="val 56370"/>
            </a:avLst>
          </a:prstGeom>
          <a:solidFill>
            <a:srgbClr val="42BDC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763688" y="537321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632" y="261049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1904" y="249289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123301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be 15">
            <a:extLst>
              <a:ext uri="{FF2B5EF4-FFF2-40B4-BE49-F238E27FC236}">
                <a16:creationId xmlns:a16="http://schemas.microsoft.com/office/drawing/2014/main" id="{A7BAC778-AEC3-144F-BCED-F55F1F743C26}"/>
              </a:ext>
            </a:extLst>
          </p:cNvPr>
          <p:cNvSpPr/>
          <p:nvPr/>
        </p:nvSpPr>
        <p:spPr>
          <a:xfrm>
            <a:off x="935596" y="2852936"/>
            <a:ext cx="2304256" cy="10801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71066-F8C6-6647-B90A-F7F34F2BE1D7}"/>
              </a:ext>
            </a:extLst>
          </p:cNvPr>
          <p:cNvSpPr txBox="1"/>
          <p:nvPr/>
        </p:nvSpPr>
        <p:spPr>
          <a:xfrm>
            <a:off x="395536" y="320833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66836-F58E-864B-B7A2-284070A94DCD}"/>
              </a:ext>
            </a:extLst>
          </p:cNvPr>
          <p:cNvSpPr txBox="1"/>
          <p:nvPr/>
        </p:nvSpPr>
        <p:spPr>
          <a:xfrm>
            <a:off x="1583668" y="393305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A0FBB5-C2C0-8D4A-9F20-F9F88C0729FC}"/>
              </a:ext>
            </a:extLst>
          </p:cNvPr>
          <p:cNvSpPr txBox="1"/>
          <p:nvPr/>
        </p:nvSpPr>
        <p:spPr>
          <a:xfrm>
            <a:off x="2986336" y="37161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A6D177-87AB-4544-8996-AA0A5A82F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143000"/>
          </a:xfrm>
        </p:spPr>
        <p:txBody>
          <a:bodyPr/>
          <a:lstStyle/>
          <a:p>
            <a:r>
              <a:rPr lang="en-GB" dirty="0"/>
              <a:t>Volume</a:t>
            </a:r>
            <a:br>
              <a:rPr lang="en-GB" dirty="0"/>
            </a:br>
            <a:r>
              <a:rPr lang="en-GB" dirty="0"/>
              <a:t> Follow along and copy down into your notes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92" y="230596"/>
            <a:ext cx="7202776" cy="1143000"/>
          </a:xfrm>
        </p:spPr>
        <p:txBody>
          <a:bodyPr/>
          <a:lstStyle/>
          <a:p>
            <a:r>
              <a:rPr lang="en-GB" dirty="0"/>
              <a:t>Your Turn Volume!</a:t>
            </a:r>
            <a:br>
              <a:rPr lang="en-GB" dirty="0"/>
            </a:br>
            <a:endParaRPr lang="en-GB" dirty="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06026B5E-0077-A945-95CD-2917B4256C2B}"/>
              </a:ext>
            </a:extLst>
          </p:cNvPr>
          <p:cNvSpPr/>
          <p:nvPr/>
        </p:nvSpPr>
        <p:spPr>
          <a:xfrm>
            <a:off x="4391980" y="2420888"/>
            <a:ext cx="1152128" cy="1696834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08E73-0A72-3742-8E92-7AC0AE35A0B0}"/>
              </a:ext>
            </a:extLst>
          </p:cNvPr>
          <p:cNvSpPr txBox="1"/>
          <p:nvPr/>
        </p:nvSpPr>
        <p:spPr>
          <a:xfrm>
            <a:off x="4826585" y="210369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4BD04-F0CC-E349-AA82-F2D296363D44}"/>
              </a:ext>
            </a:extLst>
          </p:cNvPr>
          <p:cNvSpPr txBox="1"/>
          <p:nvPr/>
        </p:nvSpPr>
        <p:spPr>
          <a:xfrm>
            <a:off x="5544108" y="302366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080BE-B3D0-D942-8A61-EC549E9DD904}"/>
              </a:ext>
            </a:extLst>
          </p:cNvPr>
          <p:cNvSpPr txBox="1"/>
          <p:nvPr/>
        </p:nvSpPr>
        <p:spPr>
          <a:xfrm>
            <a:off x="5328084" y="39007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E1E9A-5D5E-4DE1-A881-EED8F3B8A102}"/>
              </a:ext>
            </a:extLst>
          </p:cNvPr>
          <p:cNvSpPr txBox="1"/>
          <p:nvPr/>
        </p:nvSpPr>
        <p:spPr>
          <a:xfrm>
            <a:off x="6459522" y="112564"/>
            <a:ext cx="259228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Things to keep in mind: 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Draw a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Label your sides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Keep your working out organized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Use units in final answer</a:t>
            </a:r>
          </a:p>
        </p:txBody>
      </p:sp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4" y="251881"/>
            <a:ext cx="7202776" cy="621824"/>
          </a:xfrm>
        </p:spPr>
        <p:txBody>
          <a:bodyPr/>
          <a:lstStyle/>
          <a:p>
            <a:r>
              <a:rPr lang="en-GB" dirty="0"/>
              <a:t>Your Turn! Surface Area</a:t>
            </a:r>
          </a:p>
        </p:txBody>
      </p:sp>
      <p:sp>
        <p:nvSpPr>
          <p:cNvPr id="4" name="Cube 3"/>
          <p:cNvSpPr/>
          <p:nvPr/>
        </p:nvSpPr>
        <p:spPr>
          <a:xfrm>
            <a:off x="397380" y="3031967"/>
            <a:ext cx="1728192" cy="2880320"/>
          </a:xfrm>
          <a:prstGeom prst="cub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757420" y="591228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4cm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7540" y="56149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5572" y="417480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15cm</a:t>
            </a:r>
          </a:p>
        </p:txBody>
      </p:sp>
      <p:sp>
        <p:nvSpPr>
          <p:cNvPr id="8" name="Cube 7"/>
          <p:cNvSpPr/>
          <p:nvPr/>
        </p:nvSpPr>
        <p:spPr>
          <a:xfrm>
            <a:off x="3565732" y="2887043"/>
            <a:ext cx="1728192" cy="2880320"/>
          </a:xfrm>
          <a:prstGeom prst="cube">
            <a:avLst>
              <a:gd name="adj" fmla="val 74704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493724" y="57673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5688" y="510070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10cm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9668" y="475086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8cm</a:t>
            </a:r>
          </a:p>
        </p:txBody>
      </p:sp>
      <p:sp>
        <p:nvSpPr>
          <p:cNvPr id="12" name="Cube 11"/>
          <p:cNvSpPr/>
          <p:nvPr/>
        </p:nvSpPr>
        <p:spPr>
          <a:xfrm>
            <a:off x="6084168" y="2887043"/>
            <a:ext cx="2952328" cy="2880320"/>
          </a:xfrm>
          <a:prstGeom prst="cub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7020272" y="576736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712" y="539803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2120" y="435946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388" y="4327203"/>
            <a:ext cx="115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234cm</a:t>
            </a:r>
            <a:r>
              <a:rPr lang="en-GB" sz="2400" baseline="30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36" y="3913892"/>
            <a:ext cx="1586020" cy="523220"/>
          </a:xfrm>
          <a:prstGeom prst="rect">
            <a:avLst/>
          </a:prstGeom>
          <a:noFill/>
          <a:scene3d>
            <a:camera prst="orthographicFront">
              <a:rot lat="0" lon="0" rev="2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GB" sz="2800" dirty="0"/>
              <a:t>196cm</a:t>
            </a:r>
            <a:r>
              <a:rPr lang="en-GB" sz="2800" baseline="300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8195" y="4313302"/>
            <a:ext cx="1150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294cm</a:t>
            </a:r>
            <a:r>
              <a:rPr lang="en-GB" sz="2400" baseline="30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965F7-B2AC-49D9-852F-81E50A0EA456}"/>
              </a:ext>
            </a:extLst>
          </p:cNvPr>
          <p:cNvSpPr txBox="1"/>
          <p:nvPr/>
        </p:nvSpPr>
        <p:spPr>
          <a:xfrm>
            <a:off x="6459522" y="112564"/>
            <a:ext cx="259228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Things to keep in mind: 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Draw a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Label your sides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Keep your working out organized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Use units in final answer</a:t>
            </a:r>
          </a:p>
        </p:txBody>
      </p:sp>
    </p:spTree>
    <p:extLst>
      <p:ext uri="{BB962C8B-B14F-4D97-AF65-F5344CB8AC3E}">
        <p14:creationId xmlns:p14="http://schemas.microsoft.com/office/powerpoint/2010/main" val="34206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9E83A-ED25-8343-BD79-5313FE2A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438150"/>
            <a:ext cx="76454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</TotalTime>
  <Words>411</Words>
  <Application>Microsoft Office PowerPoint</Application>
  <PresentationFormat>On-screen Show (4:3)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Palatino Linotype</vt:lpstr>
      <vt:lpstr>Watercolor_16x9</vt:lpstr>
      <vt:lpstr>Topic: Volume and surface area of rectangular prisms </vt:lpstr>
      <vt:lpstr>PowerPoint Presentation</vt:lpstr>
      <vt:lpstr>Cuboids</vt:lpstr>
      <vt:lpstr>Surface Area Example – Watch (Don’t copy) </vt:lpstr>
      <vt:lpstr>Surface Area  Follow along and copy down into your notes</vt:lpstr>
      <vt:lpstr>Volume  Follow along and copy down into your notes</vt:lpstr>
      <vt:lpstr>Your Turn Volume! </vt:lpstr>
      <vt:lpstr>Your Turn! Surface Area</vt:lpstr>
      <vt:lpstr>Questions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Alexandria Latham</cp:lastModifiedBy>
  <cp:revision>101</cp:revision>
  <dcterms:created xsi:type="dcterms:W3CDTF">2014-05-14T02:58:57Z</dcterms:created>
  <dcterms:modified xsi:type="dcterms:W3CDTF">2019-02-10T12:16:27Z</dcterms:modified>
</cp:coreProperties>
</file>
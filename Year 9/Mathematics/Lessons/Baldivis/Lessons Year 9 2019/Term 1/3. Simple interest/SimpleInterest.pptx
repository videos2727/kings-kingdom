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3" r:id="rId2"/>
    <p:sldId id="260" r:id="rId3"/>
    <p:sldId id="268" r:id="rId4"/>
    <p:sldId id="269" r:id="rId5"/>
    <p:sldId id="270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2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7/03/2019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345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4918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0298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7/03/2019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7/03/2019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7/03/2019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7/03/2019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640" y="548680"/>
            <a:ext cx="8229600" cy="276490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AU" i="1" dirty="0"/>
              <a:t>Advertisement</a:t>
            </a:r>
          </a:p>
          <a:p>
            <a:pPr marL="0" indent="0">
              <a:buNone/>
            </a:pPr>
            <a:r>
              <a:rPr lang="en-AU" b="1" dirty="0"/>
              <a:t>Term Deposits</a:t>
            </a:r>
            <a:r>
              <a:rPr lang="en-AU" dirty="0"/>
              <a:t> </a:t>
            </a:r>
            <a:r>
              <a:rPr lang="en-AU" sz="2400" dirty="0"/>
              <a:t>up to </a:t>
            </a:r>
            <a:r>
              <a:rPr lang="en-AU" b="1" dirty="0"/>
              <a:t>7.75%</a:t>
            </a:r>
            <a:r>
              <a:rPr lang="en-AU" sz="2400" dirty="0"/>
              <a:t>PA</a:t>
            </a:r>
          </a:p>
          <a:p>
            <a:pPr marL="0" indent="0">
              <a:buNone/>
            </a:pPr>
            <a:r>
              <a:rPr lang="en-AU" sz="2400" dirty="0"/>
              <a:t>Rates effective 27/11/95. Rates starting from 5.50%pa to a maximum of 7.75%pa depending on term and amount invested. Based on deposits of $25,000 upwards with fixed terms of 1 month to 96 months. Rates subject to change without notice.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5EF4BA-8313-42CA-BCAC-EA6959F5FC08}"/>
              </a:ext>
            </a:extLst>
          </p:cNvPr>
          <p:cNvSpPr txBox="1"/>
          <p:nvPr/>
        </p:nvSpPr>
        <p:spPr>
          <a:xfrm>
            <a:off x="468640" y="3717032"/>
            <a:ext cx="8229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What are the highest and lowest rates?</a:t>
            </a:r>
          </a:p>
          <a:p>
            <a:endParaRPr lang="en-AU" sz="2800" dirty="0"/>
          </a:p>
          <a:p>
            <a:r>
              <a:rPr lang="en-AU" sz="2800" dirty="0"/>
              <a:t>Why are different rates available?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74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Simple 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Simple Interest and how do you calculate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CF5EBE-C85A-4158-B33C-6995EFA63E75}"/>
              </a:ext>
            </a:extLst>
          </p:cNvPr>
          <p:cNvSpPr txBox="1"/>
          <p:nvPr/>
        </p:nvSpPr>
        <p:spPr>
          <a:xfrm>
            <a:off x="3059832" y="2276872"/>
            <a:ext cx="568863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When you put money into a financial institution they will pay you interest on it. When you borrow money from a financial institution they will charge you interest on the loan.</a:t>
            </a:r>
          </a:p>
          <a:p>
            <a:endParaRPr lang="en-AU" sz="2000" dirty="0"/>
          </a:p>
          <a:p>
            <a:r>
              <a:rPr lang="en-AU" sz="2000" dirty="0"/>
              <a:t>The type of interest paid or charged is dependent on the product (type of account)</a:t>
            </a:r>
          </a:p>
          <a:p>
            <a:endParaRPr lang="en-AU" sz="2000" dirty="0"/>
          </a:p>
          <a:p>
            <a:r>
              <a:rPr lang="en-AU" sz="2000" dirty="0"/>
              <a:t>Simple (or flat rate) interest means that the interest is calculated on the initial investment or loan. 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74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Simple 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Simple Interest and how do you calculate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F45D14-19A9-4191-B538-7BFC493DE8F0}"/>
              </a:ext>
            </a:extLst>
          </p:cNvPr>
          <p:cNvSpPr txBox="1"/>
          <p:nvPr/>
        </p:nvSpPr>
        <p:spPr>
          <a:xfrm>
            <a:off x="3131840" y="2204864"/>
            <a:ext cx="5608096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terms used when looking at interest are </a:t>
            </a:r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u="sng" dirty="0"/>
              <a:t>Investment</a:t>
            </a:r>
            <a:r>
              <a:rPr lang="en-AU" dirty="0"/>
              <a:t> – The original amount deposited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u="sng" dirty="0"/>
              <a:t>Principal</a:t>
            </a:r>
            <a:r>
              <a:rPr lang="en-AU" dirty="0"/>
              <a:t> – The amount invested or borrowed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u="sng" dirty="0"/>
              <a:t>Rate</a:t>
            </a:r>
            <a:r>
              <a:rPr lang="en-AU" dirty="0"/>
              <a:t> – interest rate per annum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u="sng" dirty="0"/>
              <a:t>Per annum (PA or pa)</a:t>
            </a:r>
            <a:r>
              <a:rPr lang="en-AU" dirty="0"/>
              <a:t> – whole year; 12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u="sng" dirty="0"/>
              <a:t>Time/Term</a:t>
            </a:r>
            <a:r>
              <a:rPr lang="en-AU" dirty="0"/>
              <a:t> -  time in months/years the money is loaned or invested</a:t>
            </a:r>
          </a:p>
          <a:p>
            <a:endParaRPr lang="en-AU" dirty="0"/>
          </a:p>
          <a:p>
            <a:r>
              <a:rPr lang="en-AU" dirty="0"/>
              <a:t>The formula for calculating interest is</a:t>
            </a:r>
          </a:p>
          <a:p>
            <a:endParaRPr lang="en-AU" dirty="0"/>
          </a:p>
          <a:p>
            <a:pPr algn="ctr"/>
            <a:r>
              <a:rPr lang="en-AU" sz="2400" dirty="0"/>
              <a:t>Interest = Principal x Rate x Time</a:t>
            </a:r>
          </a:p>
          <a:p>
            <a:pPr algn="ctr"/>
            <a:r>
              <a:rPr lang="en-AU" sz="2400" dirty="0"/>
              <a:t>Or       I = P x R x T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299013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74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Simple 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Simple Interest and how do you calculate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BA83C5-8134-4313-913A-219C687C7055}"/>
              </a:ext>
            </a:extLst>
          </p:cNvPr>
          <p:cNvSpPr txBox="1"/>
          <p:nvPr/>
        </p:nvSpPr>
        <p:spPr>
          <a:xfrm>
            <a:off x="3131840" y="2204864"/>
            <a:ext cx="57606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</a:p>
          <a:p>
            <a:endParaRPr lang="en-AU" dirty="0"/>
          </a:p>
          <a:p>
            <a:r>
              <a:rPr lang="en-AU" dirty="0"/>
              <a:t>Annette invests $15,000 for 2 years at 7% pa. How much interest does she earn using simple interest</a:t>
            </a:r>
          </a:p>
          <a:p>
            <a:endParaRPr lang="en-AU" dirty="0"/>
          </a:p>
          <a:p>
            <a:r>
              <a:rPr lang="en-AU" dirty="0"/>
              <a:t>P = $15,000</a:t>
            </a:r>
          </a:p>
          <a:p>
            <a:r>
              <a:rPr lang="en-AU" dirty="0"/>
              <a:t>R = 7%pa</a:t>
            </a:r>
          </a:p>
          <a:p>
            <a:r>
              <a:rPr lang="en-AU" dirty="0"/>
              <a:t>T = 2 years</a:t>
            </a:r>
          </a:p>
          <a:p>
            <a:endParaRPr lang="en-AU" dirty="0"/>
          </a:p>
          <a:p>
            <a:r>
              <a:rPr lang="en-AU" dirty="0"/>
              <a:t>I = P x R x T</a:t>
            </a:r>
          </a:p>
          <a:p>
            <a:endParaRPr lang="en-AU" dirty="0"/>
          </a:p>
          <a:p>
            <a:r>
              <a:rPr lang="en-AU" dirty="0"/>
              <a:t>I = 15000 x 7/100 x 2</a:t>
            </a:r>
          </a:p>
          <a:p>
            <a:endParaRPr lang="en-AU" dirty="0"/>
          </a:p>
          <a:p>
            <a:r>
              <a:rPr lang="en-AU" dirty="0"/>
              <a:t>I = $2,100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2807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74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Simple 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Simple Interest and how do you calculate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33EA55-23A4-4BDD-9412-B8BFD2AAE2A3}"/>
              </a:ext>
            </a:extLst>
          </p:cNvPr>
          <p:cNvSpPr txBox="1"/>
          <p:nvPr/>
        </p:nvSpPr>
        <p:spPr>
          <a:xfrm>
            <a:off x="3131840" y="2132856"/>
            <a:ext cx="57606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</a:p>
          <a:p>
            <a:endParaRPr lang="en-AU" dirty="0"/>
          </a:p>
          <a:p>
            <a:r>
              <a:rPr lang="en-AU" dirty="0"/>
              <a:t>Annette has $15,000 to invest. What interest will she earn if she invests it at 3.6%pa for 3 months.</a:t>
            </a:r>
          </a:p>
          <a:p>
            <a:endParaRPr lang="en-AU" dirty="0"/>
          </a:p>
          <a:p>
            <a:r>
              <a:rPr lang="en-AU" dirty="0"/>
              <a:t>P = $15,000</a:t>
            </a:r>
          </a:p>
          <a:p>
            <a:r>
              <a:rPr lang="en-AU" dirty="0"/>
              <a:t>R = 3.6%</a:t>
            </a:r>
          </a:p>
          <a:p>
            <a:r>
              <a:rPr lang="en-AU" dirty="0"/>
              <a:t>T = 3 months</a:t>
            </a:r>
          </a:p>
          <a:p>
            <a:endParaRPr lang="en-AU" dirty="0"/>
          </a:p>
          <a:p>
            <a:r>
              <a:rPr lang="en-AU" dirty="0"/>
              <a:t>I = P x R x T</a:t>
            </a:r>
          </a:p>
          <a:p>
            <a:endParaRPr lang="en-AU" dirty="0"/>
          </a:p>
          <a:p>
            <a:r>
              <a:rPr lang="en-AU" dirty="0"/>
              <a:t>I = 15000 x 3.6/100 x 3/12</a:t>
            </a:r>
          </a:p>
          <a:p>
            <a:endParaRPr lang="en-AU" dirty="0"/>
          </a:p>
          <a:p>
            <a:r>
              <a:rPr lang="en-AU"/>
              <a:t>I = $135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4411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BD9B9F-950C-498B-B916-DF2F7274F7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6750" t="15186" r="52625" b="12463"/>
          <a:stretch/>
        </p:blipFill>
        <p:spPr>
          <a:xfrm>
            <a:off x="1331639" y="1397345"/>
            <a:ext cx="6775953" cy="483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418</Words>
  <Application>Microsoft Office PowerPoint</Application>
  <PresentationFormat>On-screen Show (4:3)</PresentationFormat>
  <Paragraphs>90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DHUE Natasha [Baldivis Secondary College]</cp:lastModifiedBy>
  <cp:revision>11</cp:revision>
  <dcterms:created xsi:type="dcterms:W3CDTF">2016-10-20T03:14:06Z</dcterms:created>
  <dcterms:modified xsi:type="dcterms:W3CDTF">2019-03-07T00:47:12Z</dcterms:modified>
</cp:coreProperties>
</file>
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5" r:id="rId1"/>
  </p:sldMasterIdLst>
  <p:sldIdLst>
    <p:sldId id="269" r:id="rId2"/>
    <p:sldId id="271" r:id="rId3"/>
    <p:sldId id="257" r:id="rId4"/>
    <p:sldId id="268" r:id="rId5"/>
    <p:sldId id="272" r:id="rId6"/>
    <p:sldId id="274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3" autoAdjust="0"/>
    <p:restoredTop sz="80108" autoAdjust="0"/>
  </p:normalViewPr>
  <p:slideViewPr>
    <p:cSldViewPr>
      <p:cViewPr varScale="1">
        <p:scale>
          <a:sx n="53" d="100"/>
          <a:sy n="53" d="100"/>
        </p:scale>
        <p:origin x="168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ADAC1-2A85-4B95-8FA0-4B224E2F4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7690DF-39BA-4657-AD04-BA151CF605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8AFE7-98BD-4611-BF4A-BCF565B05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1E80F-4654-4ACA-9F7E-1D17F33AF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8E229-7FE3-4C73-BBA1-4FAC08FB2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9C474-0861-469D-881C-742CE7BBD563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9929158"/>
      </p:ext>
    </p:extLst>
  </p:cSld>
  <p:clrMapOvr>
    <a:masterClrMapping/>
  </p:clrMapOvr>
  <p:transition spd="slow">
    <p:split dir="in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4127C-E959-4186-9722-0C1FB1C63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FDF50-5C8E-4B41-886A-2CAD887AC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9E1E6-0889-4CAB-82BD-26CB5360A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4C1BA-9297-4276-8F8B-EECA75AB4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022CA-1BCD-49F7-9A53-19F904F10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4B033-6292-441D-A43D-D93E0CFEA2CF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124788"/>
      </p:ext>
    </p:extLst>
  </p:cSld>
  <p:clrMapOvr>
    <a:masterClrMapping/>
  </p:clrMapOvr>
  <p:transition spd="slow">
    <p:split dir="in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75722-F416-4A39-B235-037B3050D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DCC032-C802-4561-B2E9-3CE14AE08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61FCA-01DA-4066-945F-AD40A40E7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4735CA-4815-46C6-90F1-0F2AD9D16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89DFE-329E-455B-B1AC-4D49F0E34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56244-4CA3-4F17-8A68-2DA021E4D0AC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6206965"/>
      </p:ext>
    </p:extLst>
  </p:cSld>
  <p:clrMapOvr>
    <a:masterClrMapping/>
  </p:clrMapOvr>
  <p:transition spd="slow">
    <p:split dir="in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EE9E9-3D1D-492E-9036-4762C02F2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FFEFD-F94E-4EF2-9778-D6BF3924D8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2FC215-86AE-4F7E-8991-0161BD287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2E8C41-D807-4330-AB92-BAAC7D71C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3C2E98-FBD7-436E-8EC7-B23CE399A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0A7665-C885-4A01-AF31-E771EADD3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05103-04B6-48C9-857C-7C45C1A9B82F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0097042"/>
      </p:ext>
    </p:extLst>
  </p:cSld>
  <p:clrMapOvr>
    <a:masterClrMapping/>
  </p:clrMapOvr>
  <p:transition spd="slow">
    <p:split dir="in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142BC-9953-4B67-BF33-96B4DFCD4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59FF88-B854-44D2-B3FC-0EA065249C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0DDB2A-DF67-4DC9-8574-435480E597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8E5932-4754-483D-9547-4D91EEA7B9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9D234D-30DF-44F7-BAFA-B05874E9B8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02B385-D6D9-4E87-90B2-B4D209926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10F845-05EC-4DDF-8C89-6A9CA268E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6E3D6E-4790-4EAC-98C3-88FE598FD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9E7DD-A85C-4923-917F-183CED04BD5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7395781"/>
      </p:ext>
    </p:extLst>
  </p:cSld>
  <p:clrMapOvr>
    <a:masterClrMapping/>
  </p:clrMapOvr>
  <p:transition spd="slow">
    <p:split dir="in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F0915-4034-452E-86F5-409D5ED67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6C1F3C-76F0-4644-94EF-D3AACE5CF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8F4A8D-E4AF-4D42-89E0-7CC1BB3BE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E0A828-9297-49A6-8587-427780500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E486-A83F-434A-AA11-7CC2D43A8252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6219239"/>
      </p:ext>
    </p:extLst>
  </p:cSld>
  <p:clrMapOvr>
    <a:masterClrMapping/>
  </p:clrMapOvr>
  <p:transition spd="slow">
    <p:split dir="in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4DA892-72B7-4A2E-9DA5-C5909DD57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E7205F-3013-4F71-A8B5-C2353F1A8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78A67B-0C48-4452-8185-98A30F365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EF081-AAB1-44D7-9EDF-9A578B8D0FDC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1543996"/>
      </p:ext>
    </p:extLst>
  </p:cSld>
  <p:clrMapOvr>
    <a:masterClrMapping/>
  </p:clrMapOvr>
  <p:transition spd="slow">
    <p:split dir="in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74A8A-3C42-4A6F-91A8-B06E8AEFE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B117E-0677-4DAE-BFB5-B3A516F8A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663B15-A67A-4F30-900A-1EF782D2D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41A145-3328-4494-A440-AC514FCE9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D6B933-7110-42E6-8559-241BF18F0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AD388B-86FB-459C-8047-ABC0C8917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9B137-FC94-423B-AA90-2A537E2F059A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2066150"/>
      </p:ext>
    </p:extLst>
  </p:cSld>
  <p:clrMapOvr>
    <a:masterClrMapping/>
  </p:clrMapOvr>
  <p:transition spd="slow">
    <p:split dir="in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BDA3C-16EE-4691-843D-E1BA57682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191DA6-0FD2-403B-B509-680A8E7BE2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17DD72-F3D4-46B1-8AAC-B5C55CFF13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46BA92-5D10-46D8-90A0-48C7C8BB3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2C1FDA-5BDE-4E01-AD0C-2FC12D376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C78DFA-E820-4530-B362-769F5FAF5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CCDBF-3802-4C8E-9B6A-455C990D555D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07204"/>
      </p:ext>
    </p:extLst>
  </p:cSld>
  <p:clrMapOvr>
    <a:masterClrMapping/>
  </p:clrMapOvr>
  <p:transition spd="slow">
    <p:split dir="in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73547-0FFD-406C-8882-AE26CB6FF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AC486E-7813-4C5B-9801-542B1626B6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EE577-86E1-4BD9-A8D0-AB1AB746B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5D03B-CE24-4090-8AE5-CE94A64BC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7AA17-0013-478E-8097-DE3AC2D42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236E7-67C4-440E-8D97-16C0A3B16EC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6012305"/>
      </p:ext>
    </p:extLst>
  </p:cSld>
  <p:clrMapOvr>
    <a:masterClrMapping/>
  </p:clrMapOvr>
  <p:transition spd="slow">
    <p:split dir="in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28A9F5-6158-4E8A-8C33-3768345D8A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4A4644-EFC5-4537-9E9A-9E679C197A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70328-8133-422E-BEAD-37C0D00DD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94CDB-1640-4258-A539-8AA85335A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B3DE6-39E0-4712-95C5-A69B2A851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F8948-F4CD-41AC-B5EC-D1C210B89F94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38748"/>
      </p:ext>
    </p:extLst>
  </p:cSld>
  <p:clrMapOvr>
    <a:masterClrMapping/>
  </p:clrMapOvr>
  <p:transition spd="slow">
    <p:split dir="in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6473A3-0B79-4FA7-9F56-DE46584BC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2EBD50-EED3-4397-A1CB-0FA037975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C7088-CEF2-4EBE-B95D-E0FA511DF3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49F5D-C5D3-41BB-863F-40E76F946E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840B9-8D83-4AFB-95D9-C1AA0F5D6C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F2E924-0241-443E-BA55-0DA9D8F27D11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8827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6" r:id="rId1"/>
    <p:sldLayoutId id="2147483957" r:id="rId2"/>
    <p:sldLayoutId id="2147483958" r:id="rId3"/>
    <p:sldLayoutId id="2147483959" r:id="rId4"/>
    <p:sldLayoutId id="2147483960" r:id="rId5"/>
    <p:sldLayoutId id="2147483961" r:id="rId6"/>
    <p:sldLayoutId id="2147483962" r:id="rId7"/>
    <p:sldLayoutId id="2147483963" r:id="rId8"/>
    <p:sldLayoutId id="2147483964" r:id="rId9"/>
    <p:sldLayoutId id="2147483965" r:id="rId10"/>
    <p:sldLayoutId id="2147483966" r:id="rId11"/>
  </p:sldLayoutIdLst>
  <p:transition spd="slow">
    <p:split dir="in"/>
  </p:transition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1000"/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6BF5D4-B2D4-49C9-A9F8-AAC29D346FED}"/>
              </a:ext>
            </a:extLst>
          </p:cNvPr>
          <p:cNvSpPr txBox="1"/>
          <p:nvPr/>
        </p:nvSpPr>
        <p:spPr>
          <a:xfrm>
            <a:off x="179512" y="31860"/>
            <a:ext cx="912221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800" b="1" u="sng" dirty="0"/>
              <a:t>Today</a:t>
            </a:r>
          </a:p>
          <a:p>
            <a:r>
              <a:rPr lang="en-AU" sz="4800" dirty="0"/>
              <a:t>Topic: Simple Interest Continued</a:t>
            </a:r>
            <a:endParaRPr lang="en-AU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C3607-A371-4F54-B4B6-218CB29694BF}"/>
              </a:ext>
            </a:extLst>
          </p:cNvPr>
          <p:cNvSpPr txBox="1"/>
          <p:nvPr/>
        </p:nvSpPr>
        <p:spPr>
          <a:xfrm>
            <a:off x="414334" y="1484784"/>
            <a:ext cx="81439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/>
              <a:t>EQ: How do you calculate simple interest with different units of time?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E3685C-1E58-478E-9591-1C09742543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086" y="3024105"/>
            <a:ext cx="3573016" cy="35730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54EA27-F7DD-42A4-9BB5-B0202878D803}"/>
              </a:ext>
            </a:extLst>
          </p:cNvPr>
          <p:cNvSpPr txBox="1"/>
          <p:nvPr/>
        </p:nvSpPr>
        <p:spPr>
          <a:xfrm>
            <a:off x="414334" y="3717032"/>
            <a:ext cx="41576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Mental warm up:</a:t>
            </a:r>
          </a:p>
          <a:p>
            <a:endParaRPr lang="en-AU" sz="2400" b="1" dirty="0">
              <a:solidFill>
                <a:srgbClr val="FF0000"/>
              </a:solidFill>
            </a:endParaRPr>
          </a:p>
          <a:p>
            <a:r>
              <a:rPr lang="en-AU" sz="2400" b="1" dirty="0">
                <a:solidFill>
                  <a:srgbClr val="FF0000"/>
                </a:solidFill>
              </a:rPr>
              <a:t>Chocolate for the first person to find the missing number</a:t>
            </a:r>
          </a:p>
        </p:txBody>
      </p:sp>
    </p:spTree>
    <p:extLst>
      <p:ext uri="{BB962C8B-B14F-4D97-AF65-F5344CB8AC3E}">
        <p14:creationId xmlns:p14="http://schemas.microsoft.com/office/powerpoint/2010/main" val="1487113757"/>
      </p:ext>
    </p:extLst>
  </p:cSld>
  <p:clrMapOvr>
    <a:masterClrMapping/>
  </p:clrMapOvr>
  <p:transition spd="slow"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CBB319D-6FB9-447E-8F75-12F17F63C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179067"/>
      </p:ext>
    </p:extLst>
  </p:cSld>
  <p:clrMapOvr>
    <a:masterClrMapping/>
  </p:clrMapOvr>
  <p:transition spd="slow">
    <p:split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1000"/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b="1" dirty="0"/>
              <a:t>Warm up (Look at notes from last lesson if stuck)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685346" y="1732451"/>
            <a:ext cx="5398822" cy="2128598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None/>
            </a:pPr>
            <a:r>
              <a:rPr lang="en-AU" sz="2400" dirty="0"/>
              <a:t>P = $3,000</a:t>
            </a:r>
          </a:p>
          <a:p>
            <a:pPr>
              <a:buFont typeface="Wingdings" pitchFamily="2" charset="2"/>
              <a:buNone/>
            </a:pPr>
            <a:r>
              <a:rPr lang="en-AU" sz="2400" dirty="0"/>
              <a:t>T=3</a:t>
            </a:r>
          </a:p>
          <a:p>
            <a:pPr>
              <a:buFont typeface="Wingdings" pitchFamily="2" charset="2"/>
              <a:buNone/>
            </a:pPr>
            <a:r>
              <a:rPr lang="en-AU" sz="2400" dirty="0"/>
              <a:t>R = 10% convert to decimal </a:t>
            </a:r>
            <a:r>
              <a:rPr lang="en-AU" sz="2400" dirty="0">
                <a:latin typeface="Century Gothic" panose="020B0502020202020204" pitchFamily="34" charset="0"/>
              </a:rPr>
              <a:t>→</a:t>
            </a:r>
            <a:endParaRPr lang="en-AU" sz="2400" b="1" dirty="0">
              <a:solidFill>
                <a:srgbClr val="FFFF00"/>
              </a:solidFill>
            </a:endParaRPr>
          </a:p>
          <a:p>
            <a:pPr>
              <a:buFont typeface="Wingdings" pitchFamily="2" charset="2"/>
              <a:buNone/>
            </a:pPr>
            <a:r>
              <a:rPr lang="en-AU" sz="2400" b="1" dirty="0"/>
              <a:t>Calculate simple interest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AFFC3D-ED8B-4BD8-B6BE-B78C85630488}"/>
              </a:ext>
            </a:extLst>
          </p:cNvPr>
          <p:cNvSpPr txBox="1"/>
          <p:nvPr/>
        </p:nvSpPr>
        <p:spPr>
          <a:xfrm>
            <a:off x="4860032" y="2784174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FFFF00"/>
                </a:solidFill>
                <a:latin typeface="Century Gothic" panose="020B0502020202020204" pitchFamily="34" charset="0"/>
              </a:rPr>
              <a:t>0.1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E80FDB5-626C-4155-A154-DE23DB5ECD38}"/>
                  </a:ext>
                </a:extLst>
              </p:cNvPr>
              <p:cNvSpPr txBox="1"/>
              <p:nvPr/>
            </p:nvSpPr>
            <p:spPr>
              <a:xfrm>
                <a:off x="2483768" y="4818951"/>
                <a:ext cx="343664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=3000×0.1×3</m:t>
                      </m:r>
                    </m:oMath>
                  </m:oMathPara>
                </a14:m>
                <a:endParaRPr lang="en-AU" sz="32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E80FDB5-626C-4155-A154-DE23DB5ECD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3768" y="4818951"/>
                <a:ext cx="3436646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4F0F34F5-DC66-4D92-BDFE-28F771272F1B}"/>
              </a:ext>
            </a:extLst>
          </p:cNvPr>
          <p:cNvSpPr txBox="1"/>
          <p:nvPr/>
        </p:nvSpPr>
        <p:spPr>
          <a:xfrm>
            <a:off x="1693126" y="3673768"/>
            <a:ext cx="442288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6000" dirty="0">
                <a:solidFill>
                  <a:srgbClr val="FFFF00"/>
                </a:solidFill>
              </a:rPr>
              <a:t>I = PRT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D9B75DB-E9E1-403F-90A5-B1A8781A9432}"/>
                  </a:ext>
                </a:extLst>
              </p:cNvPr>
              <p:cNvSpPr txBox="1"/>
              <p:nvPr/>
            </p:nvSpPr>
            <p:spPr>
              <a:xfrm>
                <a:off x="1906279" y="5311394"/>
                <a:ext cx="459162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AU" sz="2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=900</m:t>
                      </m:r>
                    </m:oMath>
                  </m:oMathPara>
                </a14:m>
                <a:endParaRPr lang="en-AU" sz="2400" dirty="0">
                  <a:solidFill>
                    <a:srgbClr val="FFFF00"/>
                  </a:solidFill>
                </a:endParaRPr>
              </a:p>
              <a:p>
                <a:endParaRPr lang="en-AU" sz="2400" dirty="0">
                  <a:solidFill>
                    <a:srgbClr val="FFFF00"/>
                  </a:solidFill>
                </a:endParaRPr>
              </a:p>
              <a:p>
                <a:r>
                  <a:rPr lang="en-AU" sz="2400" dirty="0">
                    <a:solidFill>
                      <a:srgbClr val="FFFF00"/>
                    </a:solidFill>
                  </a:rPr>
                  <a:t>Simple interest earned is $900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D9B75DB-E9E1-403F-90A5-B1A8781A9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6279" y="5311394"/>
                <a:ext cx="4591624" cy="1200329"/>
              </a:xfrm>
              <a:prstGeom prst="rect">
                <a:avLst/>
              </a:prstGeom>
              <a:blipFill>
                <a:blip r:embed="rId4"/>
                <a:stretch>
                  <a:fillRect l="-2125" b="-1066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2810939" y="1461644"/>
            <a:ext cx="47149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7200" dirty="0"/>
              <a:t>I = PRT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C58526-CB03-4C05-9F86-CFAA08F3EE2E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148175-9ADE-4957-B85B-053D29224569}"/>
              </a:ext>
            </a:extLst>
          </p:cNvPr>
          <p:cNvCxnSpPr/>
          <p:nvPr/>
        </p:nvCxnSpPr>
        <p:spPr>
          <a:xfrm>
            <a:off x="0" y="1499421"/>
            <a:ext cx="9144000" cy="0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36FD608-557B-4F15-848D-86C2316A34F7}"/>
              </a:ext>
            </a:extLst>
          </p:cNvPr>
          <p:cNvSpPr txBox="1"/>
          <p:nvPr/>
        </p:nvSpPr>
        <p:spPr>
          <a:xfrm>
            <a:off x="395536" y="694543"/>
            <a:ext cx="81439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EQ: How do you calculate simple interest with different units of time?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2BEC7C-E5A6-4CD6-8066-B1D13954FAAB}"/>
              </a:ext>
            </a:extLst>
          </p:cNvPr>
          <p:cNvSpPr txBox="1"/>
          <p:nvPr/>
        </p:nvSpPr>
        <p:spPr>
          <a:xfrm>
            <a:off x="395536" y="99912"/>
            <a:ext cx="81439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Topic: Simple Interest Continued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A7A3D6E-02D1-4D15-98B2-35074056017E}"/>
              </a:ext>
            </a:extLst>
          </p:cNvPr>
          <p:cNvCxnSpPr>
            <a:cxnSpLocks/>
          </p:cNvCxnSpPr>
          <p:nvPr/>
        </p:nvCxnSpPr>
        <p:spPr>
          <a:xfrm>
            <a:off x="1763689" y="1525540"/>
            <a:ext cx="0" cy="5266182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34023CF-9B5D-43B1-A5E6-89C68A930C70}"/>
                  </a:ext>
                </a:extLst>
              </p:cNvPr>
              <p:cNvSpPr txBox="1"/>
              <p:nvPr/>
            </p:nvSpPr>
            <p:spPr>
              <a:xfrm>
                <a:off x="2139903" y="2605497"/>
                <a:ext cx="3990182" cy="12414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>
                    <a:solidFill>
                      <a:srgbClr val="00B0F0"/>
                    </a:solidFill>
                  </a:rPr>
                  <a:t>12 months in a year</a:t>
                </a:r>
              </a:p>
              <a:p>
                <a:endParaRPr lang="en-AU" sz="2000" dirty="0">
                  <a:solidFill>
                    <a:srgbClr val="00B0F0"/>
                  </a:solidFill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𝑚𝑜𝑛𝑡h𝑠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lang="en-AU" sz="2400" dirty="0">
                    <a:solidFill>
                      <a:srgbClr val="00B0F0"/>
                    </a:solidFill>
                  </a:rPr>
                  <a:t> = T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34023CF-9B5D-43B1-A5E6-89C68A930C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9903" y="2605497"/>
                <a:ext cx="3990182" cy="1241494"/>
              </a:xfrm>
              <a:prstGeom prst="rect">
                <a:avLst/>
              </a:prstGeom>
              <a:blipFill>
                <a:blip r:embed="rId2"/>
                <a:stretch>
                  <a:fillRect l="-1527" t="-2451" b="-39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70F8E4F7-2FF8-428B-AF52-7380CBBB222B}"/>
              </a:ext>
            </a:extLst>
          </p:cNvPr>
          <p:cNvSpPr txBox="1"/>
          <p:nvPr/>
        </p:nvSpPr>
        <p:spPr>
          <a:xfrm>
            <a:off x="738264" y="3307560"/>
            <a:ext cx="14095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Months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C8A142-EF09-4555-93BC-5C3B626755B0}"/>
              </a:ext>
            </a:extLst>
          </p:cNvPr>
          <p:cNvSpPr txBox="1"/>
          <p:nvPr/>
        </p:nvSpPr>
        <p:spPr>
          <a:xfrm>
            <a:off x="738264" y="4196312"/>
            <a:ext cx="1409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Weeks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24C251-A4FE-4E39-8D7C-2A5AABAA2219}"/>
                  </a:ext>
                </a:extLst>
              </p:cNvPr>
              <p:cNvSpPr txBox="1"/>
              <p:nvPr/>
            </p:nvSpPr>
            <p:spPr>
              <a:xfrm>
                <a:off x="2124069" y="4014621"/>
                <a:ext cx="3888092" cy="13330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>
                    <a:solidFill>
                      <a:schemeClr val="accent6">
                        <a:lumMod val="50000"/>
                      </a:schemeClr>
                    </a:solidFill>
                  </a:rPr>
                  <a:t>52 weeks in a year</a:t>
                </a:r>
              </a:p>
              <a:p>
                <a:endParaRPr lang="en-AU" sz="2000" dirty="0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2800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sz="2800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800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sz="2800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8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𝑤𝑒𝑒𝑘𝑠</m:t>
                        </m:r>
                      </m:num>
                      <m:den>
                        <m:r>
                          <a:rPr lang="en-AU" sz="28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52</m:t>
                        </m:r>
                      </m:den>
                    </m:f>
                  </m:oMath>
                </a14:m>
                <a:r>
                  <a:rPr lang="en-AU" sz="2800" dirty="0">
                    <a:solidFill>
                      <a:schemeClr val="accent6">
                        <a:lumMod val="50000"/>
                      </a:schemeClr>
                    </a:solidFill>
                  </a:rPr>
                  <a:t> = T</a:t>
                </a:r>
                <a:endParaRPr lang="en-AU" sz="2000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24C251-A4FE-4E39-8D7C-2A5AABAA22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4069" y="4014621"/>
                <a:ext cx="3888092" cy="1333057"/>
              </a:xfrm>
              <a:prstGeom prst="rect">
                <a:avLst/>
              </a:prstGeom>
              <a:blipFill>
                <a:blip r:embed="rId3"/>
                <a:stretch>
                  <a:fillRect l="-1567" t="-2752" b="-596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AD878A9-3AD4-4D09-9CBB-6D31BEF4BE11}"/>
              </a:ext>
            </a:extLst>
          </p:cNvPr>
          <p:cNvSpPr txBox="1"/>
          <p:nvPr/>
        </p:nvSpPr>
        <p:spPr>
          <a:xfrm>
            <a:off x="7750046" y="2499020"/>
            <a:ext cx="27879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YEARS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14FA81-1346-434B-A28A-D356D06FFF6D}"/>
              </a:ext>
            </a:extLst>
          </p:cNvPr>
          <p:cNvSpPr txBox="1"/>
          <p:nvPr/>
        </p:nvSpPr>
        <p:spPr>
          <a:xfrm>
            <a:off x="131313" y="2642500"/>
            <a:ext cx="1509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Conversion to Years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CDFEB7-8D61-4D82-AFB0-679CD926A41B}"/>
              </a:ext>
            </a:extLst>
          </p:cNvPr>
          <p:cNvSpPr txBox="1"/>
          <p:nvPr/>
        </p:nvSpPr>
        <p:spPr>
          <a:xfrm>
            <a:off x="106171" y="1861469"/>
            <a:ext cx="17319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REVISION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7D0EADF-DA12-4255-90E4-FF1E62AEC31D}"/>
              </a:ext>
            </a:extLst>
          </p:cNvPr>
          <p:cNvSpPr txBox="1"/>
          <p:nvPr/>
        </p:nvSpPr>
        <p:spPr>
          <a:xfrm>
            <a:off x="6843883" y="2190743"/>
            <a:ext cx="46002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What unit is T?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5A0A2B-F583-4C97-BFCA-54B91F349DDC}"/>
              </a:ext>
            </a:extLst>
          </p:cNvPr>
          <p:cNvSpPr txBox="1"/>
          <p:nvPr/>
        </p:nvSpPr>
        <p:spPr>
          <a:xfrm>
            <a:off x="781529" y="5636265"/>
            <a:ext cx="1409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7AA0749-0A3B-4574-9DA2-BD2EC0B1B63E}"/>
                  </a:ext>
                </a:extLst>
              </p:cNvPr>
              <p:cNvSpPr txBox="1"/>
              <p:nvPr/>
            </p:nvSpPr>
            <p:spPr>
              <a:xfrm>
                <a:off x="2113295" y="5452372"/>
                <a:ext cx="3754850" cy="13330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>
                    <a:solidFill>
                      <a:srgbClr val="7030A0"/>
                    </a:solidFill>
                  </a:rPr>
                  <a:t>365 days in a year</a:t>
                </a:r>
              </a:p>
              <a:p>
                <a:endParaRPr lang="en-AU" sz="2000" dirty="0">
                  <a:solidFill>
                    <a:srgbClr val="7030A0"/>
                  </a:solidFill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𝑑𝑎𝑦𝑠</m:t>
                        </m:r>
                      </m:num>
                      <m:den>
                        <m:r>
                          <a:rPr lang="en-AU" sz="2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365</m:t>
                        </m:r>
                      </m:den>
                    </m:f>
                  </m:oMath>
                </a14:m>
                <a:r>
                  <a:rPr lang="en-AU" sz="2800" dirty="0">
                    <a:solidFill>
                      <a:srgbClr val="7030A0"/>
                    </a:solidFill>
                  </a:rPr>
                  <a:t> = T</a:t>
                </a:r>
                <a:endParaRPr lang="en-AU" sz="20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7AA0749-0A3B-4574-9DA2-BD2EC0B1B6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3295" y="5452372"/>
                <a:ext cx="3754850" cy="1333057"/>
              </a:xfrm>
              <a:prstGeom prst="rect">
                <a:avLst/>
              </a:prstGeom>
              <a:blipFill>
                <a:blip r:embed="rId4"/>
                <a:stretch>
                  <a:fillRect l="-1786" t="-2283" b="-456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E4AFE66F-4BA3-4D19-8374-1BD11D02027C}"/>
              </a:ext>
            </a:extLst>
          </p:cNvPr>
          <p:cNvSpPr txBox="1"/>
          <p:nvPr/>
        </p:nvSpPr>
        <p:spPr>
          <a:xfrm>
            <a:off x="6557489" y="3165261"/>
            <a:ext cx="2160915" cy="2862322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Moving ahead??</a:t>
            </a:r>
          </a:p>
          <a:p>
            <a:endParaRPr lang="en-AU" dirty="0"/>
          </a:p>
          <a:p>
            <a:r>
              <a:rPr lang="en-AU" dirty="0"/>
              <a:t>Convert these: </a:t>
            </a:r>
          </a:p>
          <a:p>
            <a:endParaRPr lang="en-AU" dirty="0"/>
          </a:p>
          <a:p>
            <a:r>
              <a:rPr lang="en-AU" dirty="0"/>
              <a:t>10 months =  </a:t>
            </a:r>
          </a:p>
          <a:p>
            <a:endParaRPr lang="en-AU" dirty="0"/>
          </a:p>
          <a:p>
            <a:r>
              <a:rPr lang="en-AU" dirty="0"/>
              <a:t>22 weeks = </a:t>
            </a:r>
          </a:p>
          <a:p>
            <a:endParaRPr lang="en-AU" dirty="0"/>
          </a:p>
          <a:p>
            <a:r>
              <a:rPr lang="en-AU" dirty="0"/>
              <a:t>180 days =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716424"/>
      </p:ext>
    </p:extLst>
  </p:cSld>
  <p:clrMapOvr>
    <a:masterClrMapping/>
  </p:clrMapOvr>
  <p:transition spd="slow">
    <p:wheel spokes="8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05CA3B-CAC6-46AD-A6E1-6567B26767A4}"/>
              </a:ext>
            </a:extLst>
          </p:cNvPr>
          <p:cNvSpPr txBox="1"/>
          <p:nvPr/>
        </p:nvSpPr>
        <p:spPr>
          <a:xfrm>
            <a:off x="2627784" y="188640"/>
            <a:ext cx="43204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/>
              <a:t>Let’s Try It Out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EAA6B6-2D84-485B-B2C8-C787B75BE2D0}"/>
              </a:ext>
            </a:extLst>
          </p:cNvPr>
          <p:cNvSpPr txBox="1"/>
          <p:nvPr/>
        </p:nvSpPr>
        <p:spPr>
          <a:xfrm>
            <a:off x="-108520" y="764704"/>
            <a:ext cx="92525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P = $2,500 and the interest rate is 12%</a:t>
            </a:r>
          </a:p>
          <a:p>
            <a:pPr algn="ctr"/>
            <a:r>
              <a:rPr lang="en-AU" sz="3200" dirty="0"/>
              <a:t>Find the simple interest (I)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9C9A7E8-D33F-4405-91DB-55D52456DC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3001150"/>
              </p:ext>
            </p:extLst>
          </p:nvPr>
        </p:nvGraphicFramePr>
        <p:xfrm>
          <a:off x="467290" y="1873898"/>
          <a:ext cx="8100900" cy="4833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180">
                  <a:extLst>
                    <a:ext uri="{9D8B030D-6E8A-4147-A177-3AD203B41FA5}">
                      <a16:colId xmlns:a16="http://schemas.microsoft.com/office/drawing/2014/main" val="4164948404"/>
                    </a:ext>
                  </a:extLst>
                </a:gridCol>
                <a:gridCol w="1620180">
                  <a:extLst>
                    <a:ext uri="{9D8B030D-6E8A-4147-A177-3AD203B41FA5}">
                      <a16:colId xmlns:a16="http://schemas.microsoft.com/office/drawing/2014/main" val="3604628338"/>
                    </a:ext>
                  </a:extLst>
                </a:gridCol>
                <a:gridCol w="1620180">
                  <a:extLst>
                    <a:ext uri="{9D8B030D-6E8A-4147-A177-3AD203B41FA5}">
                      <a16:colId xmlns:a16="http://schemas.microsoft.com/office/drawing/2014/main" val="1795739107"/>
                    </a:ext>
                  </a:extLst>
                </a:gridCol>
                <a:gridCol w="1620180">
                  <a:extLst>
                    <a:ext uri="{9D8B030D-6E8A-4147-A177-3AD203B41FA5}">
                      <a16:colId xmlns:a16="http://schemas.microsoft.com/office/drawing/2014/main" val="3271062128"/>
                    </a:ext>
                  </a:extLst>
                </a:gridCol>
                <a:gridCol w="1620180">
                  <a:extLst>
                    <a:ext uri="{9D8B030D-6E8A-4147-A177-3AD203B41FA5}">
                      <a16:colId xmlns:a16="http://schemas.microsoft.com/office/drawing/2014/main" val="652850988"/>
                    </a:ext>
                  </a:extLst>
                </a:gridCol>
              </a:tblGrid>
              <a:tr h="796780">
                <a:tc>
                  <a:txBody>
                    <a:bodyPr/>
                    <a:lstStyle/>
                    <a:p>
                      <a:pPr algn="ctr"/>
                      <a:endParaRPr lang="en-A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24 weeks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18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6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250 days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2102996"/>
                  </a:ext>
                </a:extLst>
              </a:tr>
              <a:tr h="134571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2400" dirty="0"/>
                        <a:t>T =</a:t>
                      </a:r>
                    </a:p>
                    <a:p>
                      <a:pPr algn="ctr"/>
                      <a:endParaRPr lang="en-A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6747041"/>
                  </a:ext>
                </a:extLst>
              </a:tr>
              <a:tr h="1345713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Working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9889057"/>
                  </a:ext>
                </a:extLst>
              </a:tr>
              <a:tr h="134571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2400" dirty="0"/>
                        <a:t>I =</a:t>
                      </a:r>
                    </a:p>
                    <a:p>
                      <a:pPr algn="ctr"/>
                      <a:endParaRPr lang="en-A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75482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0650190"/>
      </p:ext>
    </p:extLst>
  </p:cSld>
  <p:clrMapOvr>
    <a:masterClrMapping/>
  </p:clrMapOvr>
  <p:transition spd="slow">
    <p:split dir="in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AFF9B7-670F-4D11-8043-4D3605C1FFF3}"/>
              </a:ext>
            </a:extLst>
          </p:cNvPr>
          <p:cNvSpPr txBox="1"/>
          <p:nvPr/>
        </p:nvSpPr>
        <p:spPr>
          <a:xfrm>
            <a:off x="2627784" y="2924944"/>
            <a:ext cx="34563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Fact Finder WS</a:t>
            </a:r>
          </a:p>
          <a:p>
            <a:endParaRPr lang="en-AU" dirty="0">
              <a:solidFill>
                <a:srgbClr val="FF0000"/>
              </a:solidFill>
            </a:endParaRPr>
          </a:p>
          <a:p>
            <a:r>
              <a:rPr lang="en-AU" dirty="0">
                <a:solidFill>
                  <a:srgbClr val="FF0000"/>
                </a:solidFill>
              </a:rPr>
              <a:t>Q1 and Q2 today we will use this worksheet again tomorrow</a:t>
            </a:r>
          </a:p>
        </p:txBody>
      </p:sp>
    </p:spTree>
    <p:extLst>
      <p:ext uri="{BB962C8B-B14F-4D97-AF65-F5344CB8AC3E}">
        <p14:creationId xmlns:p14="http://schemas.microsoft.com/office/powerpoint/2010/main" val="1448356852"/>
      </p:ext>
    </p:extLst>
  </p:cSld>
  <p:clrMapOvr>
    <a:masterClrMapping/>
  </p:clrMapOvr>
  <p:transition spd="slow">
    <p:split dir="in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1049</TotalTime>
  <Words>203</Words>
  <Application>Microsoft Office PowerPoint</Application>
  <PresentationFormat>On-screen Show (4:3)</PresentationFormat>
  <Paragraphs>58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Century Gothic</vt:lpstr>
      <vt:lpstr>Wingdings</vt:lpstr>
      <vt:lpstr>Office Theme</vt:lpstr>
      <vt:lpstr>PowerPoint Presentation</vt:lpstr>
      <vt:lpstr>PowerPoint Presentation</vt:lpstr>
      <vt:lpstr>Warm up (Look at notes from last lesson if stuck)</vt:lpstr>
      <vt:lpstr>PowerPoint Presentation</vt:lpstr>
      <vt:lpstr>PowerPoint Presentation</vt:lpstr>
      <vt:lpstr>PowerPoint Presentation</vt:lpstr>
    </vt:vector>
  </TitlesOfParts>
  <Company>BGGS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Interest</dc:title>
  <dc:creator>BGGS</dc:creator>
  <cp:lastModifiedBy>Sarah James</cp:lastModifiedBy>
  <cp:revision>39</cp:revision>
  <cp:lastPrinted>1601-01-01T00:00:00Z</cp:lastPrinted>
  <dcterms:created xsi:type="dcterms:W3CDTF">2001-02-14T02:34:26Z</dcterms:created>
  <dcterms:modified xsi:type="dcterms:W3CDTF">2019-02-28T11:59:14Z</dcterms:modified>
</cp:coreProperties>
</file>
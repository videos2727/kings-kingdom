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60" r:id="rId4"/>
    <p:sldId id="263" r:id="rId5"/>
    <p:sldId id="274" r:id="rId6"/>
    <p:sldId id="262" r:id="rId7"/>
    <p:sldId id="275" r:id="rId8"/>
    <p:sldId id="276" r:id="rId9"/>
    <p:sldId id="277" r:id="rId10"/>
    <p:sldId id="278" r:id="rId11"/>
    <p:sldId id="269" r:id="rId12"/>
    <p:sldId id="270" r:id="rId13"/>
    <p:sldId id="279" r:id="rId14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6C919-545A-4FEC-AE68-55E6946624F4}" type="datetimeFigureOut">
              <a:rPr lang="en-AU" smtClean="0"/>
              <a:t>18/03/2018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AF0E04-A781-4021-BDF6-15A9F238A2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0432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EE401711-02DC-4F5A-B0A4-D7A4CFB82638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0A69-C0BC-4A5A-8FE4-5D0B5D0F11EE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3B61-F054-442D-881D-6A81C2774BFE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CD3A-8283-4FC4-856C-D5E0BF662449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8FEE8-FC08-4C54-BE1B-81CB6CA05FC8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A528B-AADB-4276-9F0D-B13FCF86F309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497F-A1E4-4C0B-8811-954A59B26923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24E7-1432-4F89-B9E6-59843C6C91FE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AD9C-D29C-4D1E-A739-CC3C95B41085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336BD-BA89-4B92-9DBC-679F61142570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B5C7-A3C7-439B-802A-DFE3FCA7ADBD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E65EA-47B7-4DBF-958B-A3D4DA4F431A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4AAA-CF98-48DB-9517-D7ADD1FD1213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9F696-D0E7-4C66-925E-251F9C0B0F21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2732E-4FBC-4B01-A175-6B1CAC9B226D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FC5-17E4-4A26-A144-49682BD36ECA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79482-E0DA-4858-9A19-F8B792C0C3D9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DC48ED7C-D9A5-4EA8-B309-6E368BFA8F2B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play.kahoot.it/#/k/6570041a-94cb-4887-bbdd-72f0f334ffe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923BE-C0EF-44B1-9FDB-A1130A93B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1032604" y="1392668"/>
            <a:ext cx="9755187" cy="2766528"/>
          </a:xfrm>
        </p:spPr>
        <p:txBody>
          <a:bodyPr>
            <a:normAutofit fontScale="90000"/>
          </a:bodyPr>
          <a:lstStyle/>
          <a:p>
            <a:r>
              <a:rPr lang="en-AU" dirty="0"/>
              <a:t>Algebra</a:t>
            </a:r>
            <a:br>
              <a:rPr lang="en-AU" dirty="0"/>
            </a:br>
            <a:br>
              <a:rPr lang="en-AU" dirty="0"/>
            </a:br>
            <a:r>
              <a:rPr lang="en-AU" sz="4400" dirty="0"/>
              <a:t>Interactive Notebook </a:t>
            </a:r>
            <a:endParaRPr lang="en-AU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FA17EFD-1356-4883-A84A-E579FA1731EE}"/>
              </a:ext>
            </a:extLst>
          </p:cNvPr>
          <p:cNvSpPr txBox="1">
            <a:spLocks/>
          </p:cNvSpPr>
          <p:nvPr/>
        </p:nvSpPr>
        <p:spPr>
          <a:xfrm>
            <a:off x="791623" y="1753344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8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dirty="0"/>
              <a:t>Name : </a:t>
            </a:r>
          </a:p>
          <a:p>
            <a:pPr algn="l"/>
            <a:r>
              <a:rPr lang="en-AU" dirty="0"/>
              <a:t>Class : </a:t>
            </a:r>
          </a:p>
          <a:p>
            <a:pPr algn="l"/>
            <a:r>
              <a:rPr lang="en-AU" dirty="0"/>
              <a:t>Term 1 Semester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711BA6-0986-49BB-8DBE-3CA464DACAC9}"/>
                  </a:ext>
                </a:extLst>
              </p:cNvPr>
              <p:cNvSpPr txBox="1"/>
              <p:nvPr/>
            </p:nvSpPr>
            <p:spPr>
              <a:xfrm>
                <a:off x="8237318" y="4856364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711BA6-0986-49BB-8DBE-3CA464DAC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7318" y="4856364"/>
                <a:ext cx="2474780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9367B-6917-462A-98DF-32E36AD3FA5C}"/>
                  </a:ext>
                </a:extLst>
              </p:cNvPr>
              <p:cNvSpPr txBox="1"/>
              <p:nvPr/>
            </p:nvSpPr>
            <p:spPr>
              <a:xfrm>
                <a:off x="2088364" y="3885861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9367B-6917-462A-98DF-32E36AD3F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364" y="3885861"/>
                <a:ext cx="168809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14D1A-27B8-4E70-8AA0-995A5995C4D8}"/>
                  </a:ext>
                </a:extLst>
              </p:cNvPr>
              <p:cNvSpPr txBox="1"/>
              <p:nvPr/>
            </p:nvSpPr>
            <p:spPr>
              <a:xfrm>
                <a:off x="2728817" y="664562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14D1A-27B8-4E70-8AA0-995A5995C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817" y="664562"/>
                <a:ext cx="96475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08624D-6B7D-4F2C-B0FE-668B6DB788A2}"/>
                  </a:ext>
                </a:extLst>
              </p:cNvPr>
              <p:cNvSpPr txBox="1"/>
              <p:nvPr/>
            </p:nvSpPr>
            <p:spPr>
              <a:xfrm>
                <a:off x="5241309" y="90156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08624D-6B7D-4F2C-B0FE-668B6DB78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309" y="901568"/>
                <a:ext cx="1054969" cy="11443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9393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8016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39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73592" y="5803"/>
            <a:ext cx="9428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7225" y="374467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667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7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9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6200" y="153568"/>
            <a:ext cx="9241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Glossary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24082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24082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96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2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89" y="601549"/>
            <a:ext cx="1159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51" y="1196753"/>
            <a:ext cx="7168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7" y="142494"/>
            <a:ext cx="726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FDD631-7939-46A5-826A-B680CC3558B0}"/>
              </a:ext>
            </a:extLst>
          </p:cNvPr>
          <p:cNvSpPr/>
          <p:nvPr/>
        </p:nvSpPr>
        <p:spPr>
          <a:xfrm>
            <a:off x="428945" y="299549"/>
            <a:ext cx="25106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revision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05A3B4-456E-4743-9811-D9ADB3911755}"/>
                  </a:ext>
                </a:extLst>
              </p:cNvPr>
              <p:cNvSpPr txBox="1"/>
              <p:nvPr/>
            </p:nvSpPr>
            <p:spPr>
              <a:xfrm>
                <a:off x="1118673" y="1575848"/>
                <a:ext cx="3879179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i="1" dirty="0">
                    <a:latin typeface="Cambria Math" panose="02040503050406030204" pitchFamily="18" charset="0"/>
                  </a:rPr>
                  <a:t>Expand binomials</a:t>
                </a:r>
              </a:p>
              <a:p>
                <a:endParaRPr lang="en-AU" b="1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+mj-lt"/>
                  <a:buAutoNum type="arabicParenR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+5</m:t>
                        </m:r>
                      </m:e>
                    </m:d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+11</m:t>
                        </m:r>
                      </m:e>
                    </m:d>
                  </m:oMath>
                </a14:m>
                <a:endParaRPr lang="en-AU" b="0" dirty="0"/>
              </a:p>
              <a:p>
                <a:pPr marL="342900" indent="-342900">
                  <a:buFont typeface="+mj-lt"/>
                  <a:buAutoNum type="arabicParenR"/>
                </a:pPr>
                <a:endParaRPr lang="en-AU" dirty="0"/>
              </a:p>
              <a:p>
                <a:pPr marL="342900" indent="-342900">
                  <a:buFont typeface="+mj-lt"/>
                  <a:buAutoNum type="arabicParenR"/>
                </a:pPr>
                <a:endParaRPr lang="en-AU" dirty="0"/>
              </a:p>
              <a:p>
                <a:pPr marL="342900" indent="-342900">
                  <a:buFont typeface="+mj-lt"/>
                  <a:buAutoNum type="arabicParenR"/>
                </a:pPr>
                <a:endParaRPr lang="en-AU" dirty="0"/>
              </a:p>
              <a:p>
                <a:pPr marL="342900" indent="-342900">
                  <a:buFont typeface="+mj-lt"/>
                  <a:buAutoNum type="arabicParenR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−10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−4)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05A3B4-456E-4743-9811-D9ADB3911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673" y="1575848"/>
                <a:ext cx="3879179" cy="2031325"/>
              </a:xfrm>
              <a:prstGeom prst="rect">
                <a:avLst/>
              </a:prstGeom>
              <a:blipFill>
                <a:blip r:embed="rId2"/>
                <a:stretch>
                  <a:fillRect l="-1415" t="-2102" b="-3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6956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FDD631-7939-46A5-826A-B680CC3558B0}"/>
              </a:ext>
            </a:extLst>
          </p:cNvPr>
          <p:cNvSpPr/>
          <p:nvPr/>
        </p:nvSpPr>
        <p:spPr>
          <a:xfrm>
            <a:off x="428945" y="299549"/>
            <a:ext cx="25106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revision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05A3B4-456E-4743-9811-D9ADB3911755}"/>
                  </a:ext>
                </a:extLst>
              </p:cNvPr>
              <p:cNvSpPr txBox="1"/>
              <p:nvPr/>
            </p:nvSpPr>
            <p:spPr>
              <a:xfrm>
                <a:off x="1118673" y="1575848"/>
                <a:ext cx="3879179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i="1" dirty="0">
                    <a:latin typeface="Cambria Math" panose="02040503050406030204" pitchFamily="18" charset="0"/>
                  </a:rPr>
                  <a:t>Expand binomials</a:t>
                </a:r>
              </a:p>
              <a:p>
                <a:endParaRPr lang="en-AU" b="1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+mj-lt"/>
                  <a:buAutoNum type="arabicParenR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+5</m:t>
                        </m:r>
                      </m:e>
                    </m:d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+11</m:t>
                        </m:r>
                      </m:e>
                    </m:d>
                  </m:oMath>
                </a14:m>
                <a:endParaRPr lang="en-AU" b="0" dirty="0"/>
              </a:p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A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+5</m:t>
                    </m:r>
                    <m:r>
                      <a:rPr lang="en-AU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+11</m:t>
                    </m:r>
                    <m:r>
                      <a:rPr lang="en-AU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+55</m:t>
                    </m:r>
                    <m:r>
                      <m:rPr>
                        <m:nor/>
                      </m:rPr>
                      <a:rPr lang="en-AU" dirty="0">
                        <a:solidFill>
                          <a:srgbClr val="FF0000"/>
                        </a:solidFill>
                      </a:rPr>
                      <m:t> </m:t>
                    </m:r>
                  </m:oMath>
                </a14:m>
                <a:r>
                  <a:rPr lang="en-AU" dirty="0">
                    <a:solidFill>
                      <a:srgbClr val="FF0000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AU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+16</m:t>
                    </m:r>
                    <m:r>
                      <a:rPr lang="en-AU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+55</m:t>
                    </m:r>
                    <m:r>
                      <m:rPr>
                        <m:nor/>
                      </m:rPr>
                      <a:rPr lang="en-AU" dirty="0">
                        <a:solidFill>
                          <a:srgbClr val="FF0000"/>
                        </a:solidFill>
                      </a:rPr>
                      <m:t> </m:t>
                    </m:r>
                  </m:oMath>
                </a14:m>
                <a:r>
                  <a:rPr lang="en-AU" dirty="0">
                    <a:solidFill>
                      <a:srgbClr val="FF0000"/>
                    </a:solidFill>
                  </a:rPr>
                  <a:t> </a:t>
                </a:r>
              </a:p>
              <a:p>
                <a:endParaRPr lang="en-AU" dirty="0"/>
              </a:p>
              <a:p>
                <a:pPr marL="342900" indent="-342900">
                  <a:buFont typeface="+mj-lt"/>
                  <a:buAutoNum type="arabicParenR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−10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−4)</m:t>
                    </m:r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r>
                      <a:rPr lang="en-AU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A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−10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−40</m:t>
                    </m:r>
                    <m:r>
                      <m:rPr>
                        <m:nor/>
                      </m:rPr>
                      <a:rPr lang="en-AU" dirty="0">
                        <a:solidFill>
                          <a:srgbClr val="FF0000"/>
                        </a:solidFill>
                      </a:rPr>
                      <m:t> </m:t>
                    </m:r>
                  </m:oMath>
                </a14:m>
                <a:r>
                  <a:rPr lang="en-AU" dirty="0">
                    <a:solidFill>
                      <a:srgbClr val="FF0000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AU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−14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−40</m:t>
                    </m:r>
                    <m:r>
                      <m:rPr>
                        <m:nor/>
                      </m:rPr>
                      <a:rPr lang="en-AU" dirty="0">
                        <a:solidFill>
                          <a:srgbClr val="FF0000"/>
                        </a:solidFill>
                      </a:rPr>
                      <m:t> </m:t>
                    </m:r>
                  </m:oMath>
                </a14:m>
                <a:r>
                  <a:rPr lang="en-AU" dirty="0">
                    <a:solidFill>
                      <a:srgbClr val="FF0000"/>
                    </a:solidFill>
                  </a:rPr>
                  <a:t> 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05A3B4-456E-4743-9811-D9ADB3911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673" y="1575848"/>
                <a:ext cx="3879179" cy="2862322"/>
              </a:xfrm>
              <a:prstGeom prst="rect">
                <a:avLst/>
              </a:prstGeom>
              <a:blipFill>
                <a:blip r:embed="rId2"/>
                <a:stretch>
                  <a:fillRect l="-1415" t="-14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528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7132" y="450511"/>
            <a:ext cx="8610600" cy="1293028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Expanding binomials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4268" y="0"/>
            <a:ext cx="0" cy="0"/>
          </a:xfrm>
        </p:spPr>
        <p:txBody>
          <a:bodyPr/>
          <a:lstStyle/>
          <a:p>
            <a:pPr algn="ctr"/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94268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17694" y="1606776"/>
            <a:ext cx="43733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dirty="0"/>
              <a:t>EQ: How do I expand binomial products?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-94268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475511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-94268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dirty="0"/>
              <a:t>24</a:t>
            </a:r>
          </a:p>
          <a:p>
            <a:pPr algn="ctr"/>
            <a:r>
              <a:rPr lang="en-AU" sz="1600" dirty="0"/>
              <a:t>7</a:t>
            </a:r>
          </a:p>
          <a:p>
            <a:pPr algn="ctr"/>
            <a:r>
              <a:rPr lang="en-AU" sz="1600" dirty="0"/>
              <a:t>30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B6733F-5661-4FA3-93D8-980B9AEFA21A}"/>
              </a:ext>
            </a:extLst>
          </p:cNvPr>
          <p:cNvSpPr txBox="1"/>
          <p:nvPr/>
        </p:nvSpPr>
        <p:spPr>
          <a:xfrm>
            <a:off x="213739" y="2473764"/>
            <a:ext cx="2007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expand binomials?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CFF110-0786-4A57-AD79-9CBA39FA458F}"/>
                  </a:ext>
                </a:extLst>
              </p:cNvPr>
              <p:cNvSpPr txBox="1"/>
              <p:nvPr/>
            </p:nvSpPr>
            <p:spPr>
              <a:xfrm>
                <a:off x="2729375" y="2523042"/>
                <a:ext cx="805991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  (2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−3)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CFF110-0786-4A57-AD79-9CBA39FA4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375" y="2523042"/>
                <a:ext cx="8059917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Content Placeholder 3">
                <a:extLst>
                  <a:ext uri="{FF2B5EF4-FFF2-40B4-BE49-F238E27FC236}">
                    <a16:creationId xmlns:a16="http://schemas.microsoft.com/office/drawing/2014/main" id="{8AF43AB2-C65C-4C89-912B-69FDC8769B5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9213490"/>
                  </p:ext>
                </p:extLst>
              </p:nvPr>
            </p:nvGraphicFramePr>
            <p:xfrm>
              <a:off x="2756447" y="3582186"/>
              <a:ext cx="5209203" cy="240572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6401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1736401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1736401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995903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704909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  <a:tr h="704909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oMath>
                          </a14:m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1467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Content Placeholder 3">
                <a:extLst>
                  <a:ext uri="{FF2B5EF4-FFF2-40B4-BE49-F238E27FC236}">
                    <a16:creationId xmlns:a16="http://schemas.microsoft.com/office/drawing/2014/main" id="{8AF43AB2-C65C-4C89-912B-69FDC8769B5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9213490"/>
                  </p:ext>
                </p:extLst>
              </p:nvPr>
            </p:nvGraphicFramePr>
            <p:xfrm>
              <a:off x="2756447" y="3582186"/>
              <a:ext cx="5209203" cy="240572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6401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1736401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1736401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995903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r="-100702" b="-1426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000" r="-702" b="-1426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7049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41379" r="-200702" b="-1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  <a:tr h="7049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41379" r="-200702" b="-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1467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2135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7132" y="450511"/>
            <a:ext cx="8610600" cy="1293028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Expanding binomials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4268" y="0"/>
            <a:ext cx="0" cy="0"/>
          </a:xfrm>
        </p:spPr>
        <p:txBody>
          <a:bodyPr/>
          <a:lstStyle/>
          <a:p>
            <a:pPr algn="ctr"/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94268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17694" y="1606776"/>
            <a:ext cx="43733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dirty="0"/>
              <a:t>EQ: How do I expand binomial products?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-94268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475511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-94268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dirty="0"/>
              <a:t>24</a:t>
            </a:r>
          </a:p>
          <a:p>
            <a:pPr algn="ctr"/>
            <a:r>
              <a:rPr lang="en-AU" sz="1600" dirty="0"/>
              <a:t>7</a:t>
            </a:r>
          </a:p>
          <a:p>
            <a:pPr algn="ctr"/>
            <a:r>
              <a:rPr lang="en-AU" sz="1600" dirty="0"/>
              <a:t>30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B6733F-5661-4FA3-93D8-980B9AEFA21A}"/>
              </a:ext>
            </a:extLst>
          </p:cNvPr>
          <p:cNvSpPr txBox="1"/>
          <p:nvPr/>
        </p:nvSpPr>
        <p:spPr>
          <a:xfrm>
            <a:off x="213739" y="2473764"/>
            <a:ext cx="2007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expand binomials?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CFF110-0786-4A57-AD79-9CBA39FA458F}"/>
                  </a:ext>
                </a:extLst>
              </p:cNvPr>
              <p:cNvSpPr txBox="1"/>
              <p:nvPr/>
            </p:nvSpPr>
            <p:spPr>
              <a:xfrm>
                <a:off x="2729375" y="2523042"/>
                <a:ext cx="805991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  (2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−3)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CFF110-0786-4A57-AD79-9CBA39FA4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375" y="2523042"/>
                <a:ext cx="8059917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Content Placeholder 3">
                <a:extLst>
                  <a:ext uri="{FF2B5EF4-FFF2-40B4-BE49-F238E27FC236}">
                    <a16:creationId xmlns:a16="http://schemas.microsoft.com/office/drawing/2014/main" id="{8AF43AB2-C65C-4C89-912B-69FDC8769B5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948026978"/>
                  </p:ext>
                </p:extLst>
              </p:nvPr>
            </p:nvGraphicFramePr>
            <p:xfrm>
              <a:off x="2756447" y="3582186"/>
              <a:ext cx="5209203" cy="240572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6401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1736401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1736401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995903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704909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  <a:tr h="704909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oMath>
                          </a14:m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1467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Content Placeholder 3">
                <a:extLst>
                  <a:ext uri="{FF2B5EF4-FFF2-40B4-BE49-F238E27FC236}">
                    <a16:creationId xmlns:a16="http://schemas.microsoft.com/office/drawing/2014/main" id="{8AF43AB2-C65C-4C89-912B-69FDC8769B5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948026978"/>
                  </p:ext>
                </p:extLst>
              </p:nvPr>
            </p:nvGraphicFramePr>
            <p:xfrm>
              <a:off x="2756447" y="3582186"/>
              <a:ext cx="5209203" cy="240572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6401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1736401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1736401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995903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r="-100702" b="-1426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000" r="-702" b="-1426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7049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41379" r="-200702" b="-1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41379" r="-100702" b="-1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  <a:tr h="7049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41379" r="-200702" b="-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1467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32089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7132" y="450511"/>
            <a:ext cx="8610600" cy="1293028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Expanding binomials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4268" y="0"/>
            <a:ext cx="0" cy="0"/>
          </a:xfrm>
        </p:spPr>
        <p:txBody>
          <a:bodyPr/>
          <a:lstStyle/>
          <a:p>
            <a:pPr algn="ctr"/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94268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17694" y="1606776"/>
            <a:ext cx="43733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dirty="0"/>
              <a:t>EQ: How do I expand binomial products?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-94268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475511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-94268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dirty="0"/>
              <a:t>24</a:t>
            </a:r>
          </a:p>
          <a:p>
            <a:pPr algn="ctr"/>
            <a:r>
              <a:rPr lang="en-AU" sz="1600" dirty="0"/>
              <a:t>7</a:t>
            </a:r>
          </a:p>
          <a:p>
            <a:pPr algn="ctr"/>
            <a:r>
              <a:rPr lang="en-AU" sz="1600" dirty="0"/>
              <a:t>30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B6733F-5661-4FA3-93D8-980B9AEFA21A}"/>
              </a:ext>
            </a:extLst>
          </p:cNvPr>
          <p:cNvSpPr txBox="1"/>
          <p:nvPr/>
        </p:nvSpPr>
        <p:spPr>
          <a:xfrm>
            <a:off x="213739" y="2473764"/>
            <a:ext cx="2007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expand binomials?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CFF110-0786-4A57-AD79-9CBA39FA458F}"/>
                  </a:ext>
                </a:extLst>
              </p:cNvPr>
              <p:cNvSpPr txBox="1"/>
              <p:nvPr/>
            </p:nvSpPr>
            <p:spPr>
              <a:xfrm>
                <a:off x="2729375" y="2523042"/>
                <a:ext cx="805991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  (2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−3)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CFF110-0786-4A57-AD79-9CBA39FA4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375" y="2523042"/>
                <a:ext cx="8059917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Content Placeholder 3">
                <a:extLst>
                  <a:ext uri="{FF2B5EF4-FFF2-40B4-BE49-F238E27FC236}">
                    <a16:creationId xmlns:a16="http://schemas.microsoft.com/office/drawing/2014/main" id="{8AF43AB2-C65C-4C89-912B-69FDC8769B5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050176760"/>
                  </p:ext>
                </p:extLst>
              </p:nvPr>
            </p:nvGraphicFramePr>
            <p:xfrm>
              <a:off x="2756447" y="3582186"/>
              <a:ext cx="5209203" cy="240572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6401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1736401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1736401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995903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704909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  <a:tr h="704909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oMath>
                          </a14:m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1467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Content Placeholder 3">
                <a:extLst>
                  <a:ext uri="{FF2B5EF4-FFF2-40B4-BE49-F238E27FC236}">
                    <a16:creationId xmlns:a16="http://schemas.microsoft.com/office/drawing/2014/main" id="{8AF43AB2-C65C-4C89-912B-69FDC8769B5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050176760"/>
                  </p:ext>
                </p:extLst>
              </p:nvPr>
            </p:nvGraphicFramePr>
            <p:xfrm>
              <a:off x="2756447" y="3582186"/>
              <a:ext cx="5209203" cy="240572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6401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1736401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1736401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995903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r="-100702" b="-1426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000" r="-702" b="-1426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7049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41379" r="-200702" b="-1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41379" r="-100702" b="-1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41379" r="-702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  <a:tr h="7049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41379" r="-200702" b="-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1467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7478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7132" y="450511"/>
            <a:ext cx="8610600" cy="1293028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Expanding binomials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4268" y="0"/>
            <a:ext cx="0" cy="0"/>
          </a:xfrm>
        </p:spPr>
        <p:txBody>
          <a:bodyPr/>
          <a:lstStyle/>
          <a:p>
            <a:pPr algn="ctr"/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94268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17694" y="1606776"/>
            <a:ext cx="43733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dirty="0"/>
              <a:t>EQ: How do I expand binomial products?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-94268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475511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-94268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dirty="0"/>
              <a:t>24</a:t>
            </a:r>
          </a:p>
          <a:p>
            <a:pPr algn="ctr"/>
            <a:r>
              <a:rPr lang="en-AU" sz="1600" dirty="0"/>
              <a:t>7</a:t>
            </a:r>
          </a:p>
          <a:p>
            <a:pPr algn="ctr"/>
            <a:r>
              <a:rPr lang="en-AU" sz="1600" dirty="0"/>
              <a:t>30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B6733F-5661-4FA3-93D8-980B9AEFA21A}"/>
              </a:ext>
            </a:extLst>
          </p:cNvPr>
          <p:cNvSpPr txBox="1"/>
          <p:nvPr/>
        </p:nvSpPr>
        <p:spPr>
          <a:xfrm>
            <a:off x="213739" y="2473764"/>
            <a:ext cx="2007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expand binomials?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CFF110-0786-4A57-AD79-9CBA39FA458F}"/>
                  </a:ext>
                </a:extLst>
              </p:cNvPr>
              <p:cNvSpPr txBox="1"/>
              <p:nvPr/>
            </p:nvSpPr>
            <p:spPr>
              <a:xfrm>
                <a:off x="2729375" y="2523042"/>
                <a:ext cx="805991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  (2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−3)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CFF110-0786-4A57-AD79-9CBA39FA4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375" y="2523042"/>
                <a:ext cx="8059917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Content Placeholder 3">
                <a:extLst>
                  <a:ext uri="{FF2B5EF4-FFF2-40B4-BE49-F238E27FC236}">
                    <a16:creationId xmlns:a16="http://schemas.microsoft.com/office/drawing/2014/main" id="{8AF43AB2-C65C-4C89-912B-69FDC8769B5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827595669"/>
                  </p:ext>
                </p:extLst>
              </p:nvPr>
            </p:nvGraphicFramePr>
            <p:xfrm>
              <a:off x="2756447" y="3582186"/>
              <a:ext cx="5209203" cy="240572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6401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1736401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1736401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995903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704909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  <a:tr h="704909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oMath>
                          </a14:m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1467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Content Placeholder 3">
                <a:extLst>
                  <a:ext uri="{FF2B5EF4-FFF2-40B4-BE49-F238E27FC236}">
                    <a16:creationId xmlns:a16="http://schemas.microsoft.com/office/drawing/2014/main" id="{8AF43AB2-C65C-4C89-912B-69FDC8769B5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827595669"/>
                  </p:ext>
                </p:extLst>
              </p:nvPr>
            </p:nvGraphicFramePr>
            <p:xfrm>
              <a:off x="2756447" y="3582186"/>
              <a:ext cx="5209203" cy="240572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6401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1736401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1736401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995903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r="-100702" b="-1426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000" r="-702" b="-1426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7049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41379" r="-200702" b="-1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41379" r="-100702" b="-1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41379" r="-702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  <a:tr h="7049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41379" r="-200702" b="-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41379" r="-100702" b="-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1467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07570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7132" y="450511"/>
            <a:ext cx="8610600" cy="1293028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Expanding binomials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4268" y="0"/>
            <a:ext cx="0" cy="0"/>
          </a:xfrm>
        </p:spPr>
        <p:txBody>
          <a:bodyPr/>
          <a:lstStyle/>
          <a:p>
            <a:pPr algn="ctr"/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94268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17694" y="1606776"/>
            <a:ext cx="43733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dirty="0"/>
              <a:t>EQ: How do I expand binomial products?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-94268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475511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-94268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dirty="0"/>
              <a:t>24</a:t>
            </a:r>
          </a:p>
          <a:p>
            <a:pPr algn="ctr"/>
            <a:r>
              <a:rPr lang="en-AU" sz="1600" dirty="0"/>
              <a:t>7</a:t>
            </a:r>
          </a:p>
          <a:p>
            <a:pPr algn="ctr"/>
            <a:r>
              <a:rPr lang="en-AU" sz="1600" dirty="0"/>
              <a:t>30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B6733F-5661-4FA3-93D8-980B9AEFA21A}"/>
              </a:ext>
            </a:extLst>
          </p:cNvPr>
          <p:cNvSpPr txBox="1"/>
          <p:nvPr/>
        </p:nvSpPr>
        <p:spPr>
          <a:xfrm>
            <a:off x="213739" y="2473764"/>
            <a:ext cx="2007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expand binomials?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CFF110-0786-4A57-AD79-9CBA39FA458F}"/>
                  </a:ext>
                </a:extLst>
              </p:cNvPr>
              <p:cNvSpPr txBox="1"/>
              <p:nvPr/>
            </p:nvSpPr>
            <p:spPr>
              <a:xfrm>
                <a:off x="2729375" y="2523042"/>
                <a:ext cx="805991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  (2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−3)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CFF110-0786-4A57-AD79-9CBA39FA4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375" y="2523042"/>
                <a:ext cx="8059917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Content Placeholder 3">
                <a:extLst>
                  <a:ext uri="{FF2B5EF4-FFF2-40B4-BE49-F238E27FC236}">
                    <a16:creationId xmlns:a16="http://schemas.microsoft.com/office/drawing/2014/main" id="{8AF43AB2-C65C-4C89-912B-69FDC8769B56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2756447" y="3582186"/>
              <a:ext cx="5209203" cy="240572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6401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1736401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1736401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995903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704909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  <a:tr h="704909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oMath>
                          </a14:m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−9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1467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Content Placeholder 3">
                <a:extLst>
                  <a:ext uri="{FF2B5EF4-FFF2-40B4-BE49-F238E27FC236}">
                    <a16:creationId xmlns:a16="http://schemas.microsoft.com/office/drawing/2014/main" id="{8AF43AB2-C65C-4C89-912B-69FDC8769B56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2756447" y="3582186"/>
              <a:ext cx="5209203" cy="240572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6401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1736401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1736401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995903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r="-100702" b="-1426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000" r="-702" b="-1426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7049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41379" r="-200702" b="-1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41379" r="-100702" b="-1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41379" r="-702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  <a:tr h="7049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41379" r="-200702" b="-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41379" r="-100702" b="-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41379" r="-702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1467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8368CB3-51E3-4FA4-BCAC-58A374219223}"/>
                  </a:ext>
                </a:extLst>
              </p:cNvPr>
              <p:cNvSpPr txBox="1"/>
              <p:nvPr/>
            </p:nvSpPr>
            <p:spPr>
              <a:xfrm>
                <a:off x="8347434" y="4137499"/>
                <a:ext cx="2882905" cy="13849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−9</m:t>
                      </m:r>
                    </m:oMath>
                  </m:oMathPara>
                </a14:m>
                <a:endParaRPr lang="en-AU" sz="2400" dirty="0"/>
              </a:p>
              <a:p>
                <a:endParaRPr lang="en-AU" sz="2400" dirty="0"/>
              </a:p>
              <a:p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−9</m:t>
                    </m:r>
                  </m:oMath>
                </a14:m>
                <a:r>
                  <a:rPr lang="en-AU" sz="2400" dirty="0"/>
                  <a:t> 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8368CB3-51E3-4FA4-BCAC-58A374219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7434" y="4137499"/>
                <a:ext cx="2882905" cy="1384995"/>
              </a:xfrm>
              <a:prstGeom prst="rect">
                <a:avLst/>
              </a:prstGeom>
              <a:blipFill>
                <a:blip r:embed="rId4"/>
                <a:stretch>
                  <a:fillRect l="-2326" r="-253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855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4EC89-7A7B-4C23-A540-55E317863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WE do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AA5A2B-8C5A-46B4-9094-444A0305DA43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-1652047" y="658455"/>
                <a:ext cx="10394707" cy="3311189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(5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+8)(5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−8)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AA5A2B-8C5A-46B4-9094-444A0305DA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-1652047" y="658455"/>
                <a:ext cx="10394707" cy="331118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B7890989-9BEB-4B9A-9189-4C953A76FD4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990089694"/>
                  </p:ext>
                </p:extLst>
              </p:nvPr>
            </p:nvGraphicFramePr>
            <p:xfrm>
              <a:off x="5118755" y="2790334"/>
              <a:ext cx="5876718" cy="25842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8906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1958906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1958906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1069810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757221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  <a:tr h="757221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oMath>
                          </a14:m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1467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B7890989-9BEB-4B9A-9189-4C953A76FD4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990089694"/>
                  </p:ext>
                </p:extLst>
              </p:nvPr>
            </p:nvGraphicFramePr>
            <p:xfrm>
              <a:off x="5118755" y="2790334"/>
              <a:ext cx="5876718" cy="25842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8906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1958906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1958906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1069810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312" r="-100935" b="-1426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9689" r="-621" b="-1426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7572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41935" r="-200311" b="-1024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  <a:tr h="7572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40000" r="-200311" b="-16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1467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86614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4EC89-7A7B-4C23-A540-55E317863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 do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AA5A2B-8C5A-46B4-9094-444A0305DA43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-1652047" y="658455"/>
                <a:ext cx="10394707" cy="3311189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(4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+5)(2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−4)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AA5A2B-8C5A-46B4-9094-444A0305DA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-1652047" y="658455"/>
                <a:ext cx="10394707" cy="331118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7890989-9BEB-4B9A-9189-4C953A76FD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9279643"/>
              </p:ext>
            </p:extLst>
          </p:nvPr>
        </p:nvGraphicFramePr>
        <p:xfrm>
          <a:off x="5118755" y="2790334"/>
          <a:ext cx="5876718" cy="2584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8906">
                  <a:extLst>
                    <a:ext uri="{9D8B030D-6E8A-4147-A177-3AD203B41FA5}">
                      <a16:colId xmlns:a16="http://schemas.microsoft.com/office/drawing/2014/main" val="839121566"/>
                    </a:ext>
                  </a:extLst>
                </a:gridCol>
                <a:gridCol w="1958906">
                  <a:extLst>
                    <a:ext uri="{9D8B030D-6E8A-4147-A177-3AD203B41FA5}">
                      <a16:colId xmlns:a16="http://schemas.microsoft.com/office/drawing/2014/main" val="3613736940"/>
                    </a:ext>
                  </a:extLst>
                </a:gridCol>
                <a:gridCol w="1958906">
                  <a:extLst>
                    <a:ext uri="{9D8B030D-6E8A-4147-A177-3AD203B41FA5}">
                      <a16:colId xmlns:a16="http://schemas.microsoft.com/office/drawing/2014/main" val="2679726671"/>
                    </a:ext>
                  </a:extLst>
                </a:gridCol>
              </a:tblGrid>
              <a:tr h="1069810">
                <a:tc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215320"/>
                  </a:ext>
                </a:extLst>
              </a:tr>
              <a:tr h="757221">
                <a:tc>
                  <a:txBody>
                    <a:bodyPr/>
                    <a:lstStyle/>
                    <a:p>
                      <a:pPr algn="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512877"/>
                  </a:ext>
                </a:extLst>
              </a:tr>
              <a:tr h="757221">
                <a:tc>
                  <a:txBody>
                    <a:bodyPr/>
                    <a:lstStyle/>
                    <a:p>
                      <a:pPr algn="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146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7070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AE39E-3DF5-46FC-9A75-5B7514892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A91CB0-5524-4BC0-90C9-97879CDCA94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8239759" y="258799"/>
            <a:ext cx="3225165" cy="1812543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83DC2C-6C18-43D8-817C-D09A3AC800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424" t="48551" r="48505" b="44529"/>
          <a:stretch/>
        </p:blipFill>
        <p:spPr>
          <a:xfrm>
            <a:off x="490194" y="2820500"/>
            <a:ext cx="4194928" cy="202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726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AC985-994D-4ADF-8F80-74F1ADF38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Questions: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EA2FB8-CAFE-4E8C-9BB2-A27E0FB700E0}"/>
              </a:ext>
            </a:extLst>
          </p:cNvPr>
          <p:cNvSpPr txBox="1"/>
          <p:nvPr/>
        </p:nvSpPr>
        <p:spPr>
          <a:xfrm>
            <a:off x="838200" y="1933575"/>
            <a:ext cx="111244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>
                <a:hlinkClick r:id="rId2"/>
              </a:rPr>
              <a:t>https://play.kahoot.it/#/k/6570041a-94cb-4887-bbdd-72f0f334ffe8</a:t>
            </a:r>
            <a:endParaRPr lang="en-AU" sz="3600" dirty="0"/>
          </a:p>
          <a:p>
            <a:endParaRPr lang="en-AU" sz="3600" dirty="0"/>
          </a:p>
          <a:p>
            <a:r>
              <a:rPr lang="en-AU" sz="3600" dirty="0"/>
              <a:t>Kahoot quiz</a:t>
            </a:r>
          </a:p>
        </p:txBody>
      </p:sp>
    </p:spTree>
    <p:extLst>
      <p:ext uri="{BB962C8B-B14F-4D97-AF65-F5344CB8AC3E}">
        <p14:creationId xmlns:p14="http://schemas.microsoft.com/office/powerpoint/2010/main" val="12485069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287</TotalTime>
  <Words>348</Words>
  <Application>Microsoft Office PowerPoint</Application>
  <PresentationFormat>Widescreen</PresentationFormat>
  <Paragraphs>148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 Math</vt:lpstr>
      <vt:lpstr>Impact</vt:lpstr>
      <vt:lpstr>Main Event</vt:lpstr>
      <vt:lpstr>Algebra  Interactive Notebook </vt:lpstr>
      <vt:lpstr>PowerPoint Presentation</vt:lpstr>
      <vt:lpstr>PowerPoint Presentation</vt:lpstr>
      <vt:lpstr>PowerPoint Presentation</vt:lpstr>
      <vt:lpstr>PowerPoint Presentation</vt:lpstr>
      <vt:lpstr>Expanding binomials  </vt:lpstr>
      <vt:lpstr>Expanding binomials  </vt:lpstr>
      <vt:lpstr>Expanding binomials  </vt:lpstr>
      <vt:lpstr>Expanding binomials  </vt:lpstr>
      <vt:lpstr>Expanding binomials  </vt:lpstr>
      <vt:lpstr>WE do </vt:lpstr>
      <vt:lpstr>you do </vt:lpstr>
      <vt:lpstr>practice</vt:lpstr>
      <vt:lpstr>Questions: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 Interactive Notebook</dc:title>
  <dc:creator>D'SOUZA Jillian [Baldivis Secondary College]</dc:creator>
  <cp:lastModifiedBy>D'SOUZA Jillian [Baldivis Secondary College]</cp:lastModifiedBy>
  <cp:revision>101</cp:revision>
  <dcterms:created xsi:type="dcterms:W3CDTF">2018-03-11T07:42:05Z</dcterms:created>
  <dcterms:modified xsi:type="dcterms:W3CDTF">2018-03-18T15:07:43Z</dcterms:modified>
</cp:coreProperties>
</file>
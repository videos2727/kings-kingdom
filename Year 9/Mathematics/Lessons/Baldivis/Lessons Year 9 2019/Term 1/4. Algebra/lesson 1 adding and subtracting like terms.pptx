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2" r:id="rId5"/>
    <p:sldId id="273" r:id="rId6"/>
    <p:sldId id="264" r:id="rId7"/>
    <p:sldId id="258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20D1-A200-46DE-BE4F-DB5DADF1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Math Jokes of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0D66-5663-4EBD-BD56-7F34400D01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Parallel lines have so much in common... it’s a shame they’ll never meet!</a:t>
            </a:r>
          </a:p>
          <a:p>
            <a:r>
              <a:rPr lang="en-AU" dirty="0"/>
              <a:t>Q: How can you make seven an even number? A: Take the 's' out!</a:t>
            </a:r>
          </a:p>
          <a:p>
            <a:r>
              <a:rPr lang="en-AU" dirty="0"/>
              <a:t>Q: Why is a math book depressed? A: Because it has so many problems.</a:t>
            </a:r>
          </a:p>
          <a:p>
            <a:r>
              <a:rPr lang="en-AU" dirty="0"/>
              <a:t>There was a statistician that drowned trying to cross a river... it was three feet deep, on average.</a:t>
            </a:r>
          </a:p>
          <a:p>
            <a:r>
              <a:rPr lang="en-AU" dirty="0"/>
              <a:t>How do you stay warm in an empty room? Go into the corner where it is always 90 degrees.</a:t>
            </a:r>
          </a:p>
          <a:p>
            <a:r>
              <a:rPr lang="en-AU" dirty="0"/>
              <a:t>There are three kinds of people in the world: those who can count and those who can't.</a:t>
            </a:r>
          </a:p>
          <a:p>
            <a:r>
              <a:rPr lang="en-AU" dirty="0"/>
              <a:t>Q: How do you know your math tutor is hungry? A: She'll work for pi.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058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7072E-18F0-4CD8-B553-9A4841BFFCFB}"/>
              </a:ext>
            </a:extLst>
          </p:cNvPr>
          <p:cNvSpPr txBox="1"/>
          <p:nvPr/>
        </p:nvSpPr>
        <p:spPr>
          <a:xfrm>
            <a:off x="151858" y="2287797"/>
            <a:ext cx="26950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>
                <a:latin typeface="Arial" panose="020B0604020202020204" pitchFamily="34" charset="0"/>
                <a:cs typeface="Arial" panose="020B0604020202020204" pitchFamily="34" charset="0"/>
              </a:rPr>
              <a:t>Glossary terms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constant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variable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F0A8B-D1DE-4DDF-8BEF-AA064B24B1A5}"/>
                  </a:ext>
                </a:extLst>
              </p:cNvPr>
              <p:cNvSpPr txBox="1"/>
              <p:nvPr/>
            </p:nvSpPr>
            <p:spPr>
              <a:xfrm>
                <a:off x="2654621" y="2852044"/>
                <a:ext cx="8427563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number with nothing else attached to it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1, 2, 5, 47, 936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letter that represents an unknown number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number in front of the variable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3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𝑐𝑜𝑒𝑓𝑓𝑖𝑐𝑖𝑒𝑛𝑡</m:t>
                    </m:r>
                  </m:oMath>
                </a14:m>
                <a:endParaRPr lang="en-AU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5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𝑐𝑜𝑒𝑓𝑓𝑖𝑐𝑖𝑒𝑛𝑡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F0A8B-D1DE-4DDF-8BEF-AA064B24B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21" y="2852044"/>
                <a:ext cx="8427563" cy="3139321"/>
              </a:xfrm>
              <a:prstGeom prst="rect">
                <a:avLst/>
              </a:prstGeom>
              <a:blipFill>
                <a:blip r:embed="rId2"/>
                <a:stretch>
                  <a:fillRect l="-578" t="-1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EC273-8067-486B-AF2E-1041B6F946B9}"/>
              </a:ext>
            </a:extLst>
          </p:cNvPr>
          <p:cNvSpPr txBox="1"/>
          <p:nvPr/>
        </p:nvSpPr>
        <p:spPr>
          <a:xfrm>
            <a:off x="377072" y="2488676"/>
            <a:ext cx="210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is a like term?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23B1C-6DEC-4B38-A775-1459B6BD7F04}"/>
                  </a:ext>
                </a:extLst>
              </p:cNvPr>
              <p:cNvSpPr txBox="1"/>
              <p:nvPr/>
            </p:nvSpPr>
            <p:spPr>
              <a:xfrm>
                <a:off x="2733773" y="2488676"/>
                <a:ext cx="7626285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are the terms that have the </a:t>
                </a:r>
                <a:r>
                  <a:rPr lang="en-US" alt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same variables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5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7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4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 6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8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Group the above into ‘like terms’: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4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6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8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</m:oMath>
                </a14:m>
                <a:r>
                  <a:rPr lang="en-AU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</m:oMath>
                </a14:m>
                <a:r>
                  <a:rPr lang="en-AU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ALWAYS IN ALPHABETICAL ORDER!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23B1C-6DEC-4B38-A775-1459B6BD7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73" y="2488676"/>
                <a:ext cx="7626285" cy="3693319"/>
              </a:xfrm>
              <a:prstGeom prst="rect">
                <a:avLst/>
              </a:prstGeom>
              <a:blipFill>
                <a:blip r:embed="rId2"/>
                <a:stretch>
                  <a:fillRect l="-639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8B2CCA-1086-404F-91D8-3E3B9B589206}"/>
              </a:ext>
            </a:extLst>
          </p:cNvPr>
          <p:cNvSpPr/>
          <p:nvPr/>
        </p:nvSpPr>
        <p:spPr>
          <a:xfrm>
            <a:off x="3115295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2FFA8F-44F8-425F-AD7A-26E101A9D603}"/>
              </a:ext>
            </a:extLst>
          </p:cNvPr>
          <p:cNvSpPr/>
          <p:nvPr/>
        </p:nvSpPr>
        <p:spPr>
          <a:xfrm>
            <a:off x="6096000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0D2AB1-F061-45BB-BB2E-DC81D646FF64}"/>
              </a:ext>
            </a:extLst>
          </p:cNvPr>
          <p:cNvSpPr/>
          <p:nvPr/>
        </p:nvSpPr>
        <p:spPr>
          <a:xfrm>
            <a:off x="9197609" y="2909991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84C68B-A23E-4E87-8D65-BBB43DFCF019}"/>
              </a:ext>
            </a:extLst>
          </p:cNvPr>
          <p:cNvSpPr/>
          <p:nvPr/>
        </p:nvSpPr>
        <p:spPr>
          <a:xfrm>
            <a:off x="8202105" y="2957041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16A819-83CC-4CA5-B025-672A5FEE08FD}"/>
              </a:ext>
            </a:extLst>
          </p:cNvPr>
          <p:cNvSpPr/>
          <p:nvPr/>
        </p:nvSpPr>
        <p:spPr>
          <a:xfrm>
            <a:off x="7175369" y="297118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910C4B-5992-4BFD-82B4-5FD1471BFB2B}"/>
              </a:ext>
            </a:extLst>
          </p:cNvPr>
          <p:cNvSpPr/>
          <p:nvPr/>
        </p:nvSpPr>
        <p:spPr>
          <a:xfrm>
            <a:off x="5075144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E69D95-DD9A-445A-B9FA-38BD9C7B1BDF}"/>
              </a:ext>
            </a:extLst>
          </p:cNvPr>
          <p:cNvSpPr/>
          <p:nvPr/>
        </p:nvSpPr>
        <p:spPr>
          <a:xfrm>
            <a:off x="4079640" y="295704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274293-10A8-4466-85B2-8FBF1B76C0B0}"/>
              </a:ext>
            </a:extLst>
          </p:cNvPr>
          <p:cNvCxnSpPr/>
          <p:nvPr/>
        </p:nvCxnSpPr>
        <p:spPr>
          <a:xfrm>
            <a:off x="3737464" y="5439266"/>
            <a:ext cx="10607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4" grpId="0" animBg="1"/>
      <p:bldP spid="14" grpId="1" animBg="1"/>
      <p:bldP spid="15" grpId="0" animBg="1"/>
      <p:bldP spid="15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1F0-15B2-4EA9-B65F-D192823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2E84C-0D55-4386-8B95-F1D9CB182D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578393" y="402308"/>
            <a:ext cx="2798010" cy="1757809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639" r="-300000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639" r="-200901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39" r="-100299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639" r="-601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00000" r="-300000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00000" r="-2009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00000" r="-100299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00000" r="-601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03279" r="-300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203279" r="-20090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203279" r="-1002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03279" r="-601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850A12-344E-4464-8B50-1174ABB184D4}"/>
              </a:ext>
            </a:extLst>
          </p:cNvPr>
          <p:cNvSpPr txBox="1"/>
          <p:nvPr/>
        </p:nvSpPr>
        <p:spPr>
          <a:xfrm>
            <a:off x="557672" y="1790785"/>
            <a:ext cx="545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GROUP  THE FOLLOWING INTO LIKE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559" r="-49964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559" r="-401418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9" r="-30000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64" t="-559" r="-201064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647" t="-559" r="-100353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418" t="-559" r="-709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90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927597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9275976" cy="2554545"/>
              </a:xfrm>
              <a:prstGeom prst="rect">
                <a:avLst/>
              </a:prstGeom>
              <a:blipFill>
                <a:blip r:embed="rId2"/>
                <a:stretch>
                  <a:fillRect l="-329" t="-7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8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D38E9-1D3B-495F-A743-AD8D39719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38" t="19381" r="43402" b="62676"/>
          <a:stretch/>
        </p:blipFill>
        <p:spPr>
          <a:xfrm>
            <a:off x="4939645" y="582105"/>
            <a:ext cx="4703975" cy="2937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AA8C5-953B-4312-9B1F-5D20FC596215}"/>
              </a:ext>
            </a:extLst>
          </p:cNvPr>
          <p:cNvSpPr txBox="1"/>
          <p:nvPr/>
        </p:nvSpPr>
        <p:spPr>
          <a:xfrm>
            <a:off x="9741901" y="683442"/>
            <a:ext cx="35067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2a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19c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3k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18o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-w</a:t>
            </a:r>
          </a:p>
          <a:p>
            <a:pPr>
              <a:lnSpc>
                <a:spcPct val="150000"/>
              </a:lnSpc>
            </a:pPr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101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+7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−2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b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blipFill>
                <a:blip r:embed="rId2"/>
                <a:stretch>
                  <a:fillRect l="-352" t="-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54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+7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−2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b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F81F1A9-D3EC-4389-9639-7F7560E569AA}"/>
              </a:ext>
            </a:extLst>
          </p:cNvPr>
          <p:cNvSpPr/>
          <p:nvPr/>
        </p:nvSpPr>
        <p:spPr>
          <a:xfrm>
            <a:off x="2413262" y="580106"/>
            <a:ext cx="1414021" cy="129382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3C3BC7-0C66-4599-8AB4-DB1F040A45EB}"/>
              </a:ext>
            </a:extLst>
          </p:cNvPr>
          <p:cNvSpPr/>
          <p:nvPr/>
        </p:nvSpPr>
        <p:spPr>
          <a:xfrm>
            <a:off x="5459691" y="460169"/>
            <a:ext cx="1770668" cy="149041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427727-A42D-4153-97A7-A0C9F6610C6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120273" y="1873935"/>
            <a:ext cx="857838" cy="877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7FD753-D232-4A0F-893F-17655EC3EC3E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3978111" y="1950580"/>
            <a:ext cx="2366914" cy="8009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76ECB9C-5D7C-4045-ABA9-35E208386C85}"/>
              </a:ext>
            </a:extLst>
          </p:cNvPr>
          <p:cNvSpPr/>
          <p:nvPr/>
        </p:nvSpPr>
        <p:spPr>
          <a:xfrm>
            <a:off x="3799787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BA488-8920-4B65-9AFE-342BB06EE8A3}"/>
              </a:ext>
            </a:extLst>
          </p:cNvPr>
          <p:cNvSpPr/>
          <p:nvPr/>
        </p:nvSpPr>
        <p:spPr>
          <a:xfrm>
            <a:off x="7231930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1E500E-48D8-4A3D-B6BD-060A731CE588}"/>
              </a:ext>
            </a:extLst>
          </p:cNvPr>
          <p:cNvCxnSpPr>
            <a:cxnSpLocks/>
          </p:cNvCxnSpPr>
          <p:nvPr/>
        </p:nvCxnSpPr>
        <p:spPr>
          <a:xfrm>
            <a:off x="4631705" y="2015799"/>
            <a:ext cx="2101995" cy="7816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347DC4-E607-4790-8971-8D42BEE1A5EC}"/>
              </a:ext>
            </a:extLst>
          </p:cNvPr>
          <p:cNvCxnSpPr>
            <a:cxnSpLocks/>
          </p:cNvCxnSpPr>
          <p:nvPr/>
        </p:nvCxnSpPr>
        <p:spPr>
          <a:xfrm flipH="1">
            <a:off x="6733700" y="1996486"/>
            <a:ext cx="1406737" cy="831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AF546-84C4-4A48-B95E-90BA770A8133}"/>
              </a:ext>
            </a:extLst>
          </p:cNvPr>
          <p:cNvSpPr/>
          <p:nvPr/>
        </p:nvSpPr>
        <p:spPr>
          <a:xfrm>
            <a:off x="2413262" y="2751535"/>
            <a:ext cx="2748306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AU" sz="2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AU" sz="135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CE74E37-64BD-4C0F-AD7E-CC9F8346C3CD}"/>
              </a:ext>
            </a:extLst>
          </p:cNvPr>
          <p:cNvSpPr/>
          <p:nvPr/>
        </p:nvSpPr>
        <p:spPr>
          <a:xfrm>
            <a:off x="5339656" y="2714226"/>
            <a:ext cx="3386128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3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16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+ 10</m:t>
                    </m:r>
                    <m:r>
                      <a:rPr lang="en-AU" sz="16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5" grpId="0" uiExpand="1" build="allAtOnce"/>
      <p:bldP spid="26" grpId="0" animBg="1"/>
      <p:bldP spid="2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BD52E-3415-4884-846E-4F307DE54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6" t="37706" r="56452" b="46336"/>
          <a:stretch/>
        </p:blipFill>
        <p:spPr>
          <a:xfrm>
            <a:off x="3667431" y="1591958"/>
            <a:ext cx="5827246" cy="2429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/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  <m:sSup>
                        <m:sSupPr>
                          <m:ctrlP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p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𝟏𝟏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85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927" y="287685"/>
            <a:ext cx="7272473" cy="58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838" y="1727472"/>
            <a:ext cx="9443702" cy="37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BB86-AF68-41E0-8CB1-9C5D643D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EXIT </a:t>
            </a:r>
            <a:r>
              <a:rPr lang="en-AU" dirty="0" err="1"/>
              <a:t>pASS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DCA90-613C-4DC4-9FB8-C0BA5B4922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AU" sz="4000" dirty="0"/>
              <a:t>Place </a:t>
            </a:r>
            <a:r>
              <a:rPr lang="en-AU" sz="4000" u="sng" dirty="0"/>
              <a:t>FIVE</a:t>
            </a:r>
            <a:r>
              <a:rPr lang="en-AU" sz="4000" dirty="0"/>
              <a:t> PROBLEMS ON THE BOARD AND HAVE YOUR WONDERFUL STUDENTS ANSWER THEM.</a:t>
            </a:r>
          </a:p>
          <a:p>
            <a:pPr marL="0" indent="0">
              <a:buNone/>
            </a:pP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102236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103</TotalTime>
  <Words>611</Words>
  <Application>Microsoft Office PowerPoint</Application>
  <PresentationFormat>Widescreen</PresentationFormat>
  <Paragraphs>163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Math Jokes of the day</vt:lpstr>
      <vt:lpstr>Simplifying Expressions  </vt:lpstr>
      <vt:lpstr>Simplifying Expressions  </vt:lpstr>
      <vt:lpstr>Practice: lhs</vt:lpstr>
      <vt:lpstr>Simplifying Expressions  </vt:lpstr>
      <vt:lpstr>Practice: lhs</vt:lpstr>
      <vt:lpstr>Simplifying Expressions  </vt:lpstr>
      <vt:lpstr>3x+7y -2x +3y </vt:lpstr>
      <vt:lpstr>Practice: lhs</vt:lpstr>
      <vt:lpstr>Task</vt:lpstr>
      <vt:lpstr>Answers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CRAIG Mason [Baldivis Secondary College]</cp:lastModifiedBy>
  <cp:revision>26</cp:revision>
  <dcterms:created xsi:type="dcterms:W3CDTF">2018-03-11T07:42:05Z</dcterms:created>
  <dcterms:modified xsi:type="dcterms:W3CDTF">2019-03-17T13:17:07Z</dcterms:modified>
</cp:coreProperties>
</file>
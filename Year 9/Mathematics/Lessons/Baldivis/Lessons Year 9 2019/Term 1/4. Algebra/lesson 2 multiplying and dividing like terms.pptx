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4"/>
  </p:notesMasterIdLst>
  <p:sldIdLst>
    <p:sldId id="256" r:id="rId2"/>
    <p:sldId id="259" r:id="rId3"/>
    <p:sldId id="260" r:id="rId4"/>
    <p:sldId id="262" r:id="rId5"/>
    <p:sldId id="269" r:id="rId6"/>
    <p:sldId id="270" r:id="rId7"/>
    <p:sldId id="263" r:id="rId8"/>
    <p:sldId id="264" r:id="rId9"/>
    <p:sldId id="265" r:id="rId10"/>
    <p:sldId id="266" r:id="rId11"/>
    <p:sldId id="267" r:id="rId12"/>
    <p:sldId id="268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4" d="100"/>
          <a:sy n="64" d="100"/>
        </p:scale>
        <p:origin x="138" y="2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46C919-545A-4FEC-AE68-55E6946624F4}" type="datetimeFigureOut">
              <a:rPr lang="en-AU" smtClean="0"/>
              <a:t>17/03/2019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AF0E04-A781-4021-BDF6-15A9F238A22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504320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rickwork-HD-R1a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 useBgFill="1">
        <p:nvSpPr>
          <p:cNvPr id="12" name="Freeform 11"/>
          <p:cNvSpPr/>
          <p:nvPr/>
        </p:nvSpPr>
        <p:spPr>
          <a:xfrm>
            <a:off x="-15875" y="0"/>
            <a:ext cx="11683810" cy="6588125"/>
          </a:xfrm>
          <a:custGeom>
            <a:avLst/>
            <a:gdLst/>
            <a:ahLst/>
            <a:cxnLst/>
            <a:rect l="l" t="t" r="r" b="b"/>
            <a:pathLst>
              <a:path w="11683810" h="6588125">
                <a:moveTo>
                  <a:pt x="0" y="0"/>
                </a:moveTo>
                <a:lnTo>
                  <a:pt x="11318691" y="0"/>
                </a:lnTo>
                <a:lnTo>
                  <a:pt x="11683810" y="5976938"/>
                </a:lnTo>
                <a:lnTo>
                  <a:pt x="15875" y="6588125"/>
                </a:lnTo>
                <a:cubicBezTo>
                  <a:pt x="10583" y="4386792"/>
                  <a:pt x="5292" y="2185458"/>
                  <a:pt x="0" y="0"/>
                </a:cubicBezTo>
                <a:close/>
              </a:path>
            </a:pathLst>
          </a:custGeom>
          <a:ln>
            <a:noFill/>
          </a:ln>
          <a:effectLst>
            <a:outerShdw blurRad="101600" dist="152400" dir="4380000" algn="tl" rotWithShape="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4" name="Freeform 13"/>
          <p:cNvSpPr/>
          <p:nvPr/>
        </p:nvSpPr>
        <p:spPr>
          <a:xfrm>
            <a:off x="0" y="4282257"/>
            <a:ext cx="11329257" cy="2028845"/>
          </a:xfrm>
          <a:custGeom>
            <a:avLst/>
            <a:gdLst/>
            <a:ahLst/>
            <a:cxnLst/>
            <a:rect l="l" t="t" r="r" b="b"/>
            <a:pathLst>
              <a:path w="11329257" h="2028845">
                <a:moveTo>
                  <a:pt x="0" y="588520"/>
                </a:moveTo>
                <a:lnTo>
                  <a:pt x="11244075" y="0"/>
                </a:lnTo>
                <a:lnTo>
                  <a:pt x="11329257" y="1424838"/>
                </a:lnTo>
                <a:lnTo>
                  <a:pt x="0" y="2028845"/>
                </a:lnTo>
                <a:lnTo>
                  <a:pt x="0" y="588520"/>
                </a:lnTo>
                <a:close/>
              </a:path>
            </a:pathLst>
          </a:custGeom>
          <a:gradFill flip="none" rotWithShape="1">
            <a:gsLst>
              <a:gs pos="3400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6" name="Freeform 25"/>
          <p:cNvSpPr/>
          <p:nvPr/>
        </p:nvSpPr>
        <p:spPr>
          <a:xfrm>
            <a:off x="0" y="0"/>
            <a:ext cx="8719579" cy="456877"/>
          </a:xfrm>
          <a:custGeom>
            <a:avLst/>
            <a:gdLst/>
            <a:ahLst/>
            <a:cxnLst/>
            <a:rect l="l" t="t" r="r" b="b"/>
            <a:pathLst>
              <a:path w="8719579" h="456877">
                <a:moveTo>
                  <a:pt x="0" y="0"/>
                </a:moveTo>
                <a:lnTo>
                  <a:pt x="8719579" y="0"/>
                </a:lnTo>
                <a:lnTo>
                  <a:pt x="0" y="456877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3400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5" name="Freeform 14"/>
          <p:cNvSpPr/>
          <p:nvPr/>
        </p:nvSpPr>
        <p:spPr>
          <a:xfrm rot="21420000">
            <a:off x="-161800" y="293317"/>
            <a:ext cx="11367116" cy="5751804"/>
          </a:xfrm>
          <a:custGeom>
            <a:avLst/>
            <a:gdLst/>
            <a:ahLst/>
            <a:cxnLst/>
            <a:rect l="l" t="t" r="r" b="b"/>
            <a:pathLst>
              <a:path w="11367116" h="5751804">
                <a:moveTo>
                  <a:pt x="11346705" y="0"/>
                </a:moveTo>
                <a:cubicBezTo>
                  <a:pt x="11353509" y="1915114"/>
                  <a:pt x="11360312" y="3830229"/>
                  <a:pt x="11367116" y="5745343"/>
                </a:cubicBezTo>
                <a:lnTo>
                  <a:pt x="0" y="5751804"/>
                </a:lnTo>
              </a:path>
            </a:pathLst>
          </a:custGeom>
          <a:ln w="82550">
            <a:solidFill>
              <a:schemeClr val="tx1">
                <a:lumMod val="50000"/>
                <a:lumOff val="50000"/>
              </a:schemeClr>
            </a:solidFill>
            <a:miter lim="800000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 rot="21420000">
            <a:off x="891201" y="662656"/>
            <a:ext cx="9755187" cy="2766528"/>
          </a:xfrm>
        </p:spPr>
        <p:txBody>
          <a:bodyPr anchor="b">
            <a:normAutofit/>
          </a:bodyPr>
          <a:lstStyle>
            <a:lvl1pPr algn="r">
              <a:defRPr sz="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 rot="21420000">
            <a:off x="983062" y="3505209"/>
            <a:ext cx="9755187" cy="550333"/>
          </a:xfrm>
        </p:spPr>
        <p:txBody>
          <a:bodyPr anchor="t">
            <a:noAutofit/>
          </a:bodyPr>
          <a:lstStyle>
            <a:lvl1pPr marL="0" indent="0" algn="r">
              <a:buNone/>
              <a:defRPr sz="28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 rot="21420000">
            <a:off x="4948541" y="4578463"/>
            <a:ext cx="6143653" cy="1163112"/>
          </a:xfrm>
        </p:spPr>
        <p:txBody>
          <a:bodyPr/>
          <a:lstStyle>
            <a:lvl1pPr algn="ctr">
              <a:defRPr sz="5400">
                <a:solidFill>
                  <a:schemeClr val="accent1">
                    <a:lumMod val="40000"/>
                    <a:lumOff val="60000"/>
                  </a:schemeClr>
                </a:solidFill>
              </a:defRPr>
            </a:lvl1pPr>
          </a:lstStyle>
          <a:p>
            <a:fld id="{EE401711-02DC-4F5A-B0A4-D7A4CFB82638}" type="datetimeFigureOut">
              <a:rPr lang="en-US" dirty="0"/>
              <a:t>3/17/2019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 rot="21420000">
            <a:off x="-9144" y="4882896"/>
            <a:ext cx="4050792" cy="1197864"/>
          </a:xfrm>
        </p:spPr>
        <p:txBody>
          <a:bodyPr vert="horz" lIns="91440" tIns="45720" rIns="91440" bIns="45720" rtlCol="0" anchor="ctr"/>
          <a:lstStyle>
            <a:lvl1pPr algn="r">
              <a:defRPr lang="en-US" sz="5400" dirty="0"/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21420000">
            <a:off x="9851758" y="3832648"/>
            <a:ext cx="907186" cy="498470"/>
          </a:xfrm>
        </p:spPr>
        <p:txBody>
          <a:bodyPr/>
          <a:lstStyle>
            <a:lvl1pPr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5" name="5-Point Star 24"/>
          <p:cNvSpPr/>
          <p:nvPr/>
        </p:nvSpPr>
        <p:spPr>
          <a:xfrm rot="21420000">
            <a:off x="4221385" y="5111356"/>
            <a:ext cx="515386" cy="515386"/>
          </a:xfrm>
          <a:prstGeom prst="star5">
            <a:avLst>
              <a:gd name="adj" fmla="val 26693"/>
              <a:gd name="hf" fmla="val 105146"/>
              <a:gd name="vf" fmla="val 110557"/>
            </a:avLst>
          </a:prstGeom>
          <a:solidFill>
            <a:schemeClr val="accent1">
              <a:lumMod val="40000"/>
              <a:lumOff val="60000"/>
              <a:alpha val="6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800" y="2063396"/>
            <a:ext cx="10394707" cy="331118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C10A69-C0BC-4A5A-8FE4-5D0B5D0F11EE}" type="datetimeFigureOut">
              <a:rPr lang="en-US" dirty="0"/>
              <a:t>3/17/2019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4707" cy="3193487"/>
          </a:xfrm>
        </p:spPr>
        <p:txBody>
          <a:bodyPr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3742267"/>
            <a:ext cx="10394707" cy="1639614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653B61-F054-442D-881D-6A81C2774BFE}" type="datetimeFigureOut">
              <a:rPr lang="en-US" dirty="0"/>
              <a:t>3/17/2019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814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800" y="2063396"/>
            <a:ext cx="5088714" cy="3311189"/>
          </a:xfrm>
        </p:spPr>
        <p:txBody>
          <a:bodyPr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5993971" y="2063396"/>
            <a:ext cx="5086538" cy="3311189"/>
          </a:xfrm>
        </p:spPr>
        <p:txBody>
          <a:bodyPr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A8CD3A-8283-4FC4-856C-D5E0BF662449}" type="datetimeFigureOut">
              <a:rPr lang="en-US" dirty="0"/>
              <a:t>3/17/2019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4707" cy="115814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8356" y="2063396"/>
            <a:ext cx="4856158" cy="67999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685802" y="2861733"/>
            <a:ext cx="5088712" cy="2512852"/>
          </a:xfrm>
        </p:spPr>
        <p:txBody>
          <a:bodyPr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8191" y="2063396"/>
            <a:ext cx="4864491" cy="67999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5993969" y="2861733"/>
            <a:ext cx="5088713" cy="2512852"/>
          </a:xfrm>
        </p:spPr>
        <p:txBody>
          <a:bodyPr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D8FEE8-FC08-4C54-BE1B-81CB6CA05FC8}" type="datetimeFigureOut">
              <a:rPr lang="en-US" dirty="0"/>
              <a:t>3/17/2019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EA528B-AADB-4276-9F0D-B13FCF86F309}" type="datetimeFigureOut">
              <a:rPr lang="en-US" dirty="0"/>
              <a:t>3/17/2019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6497F-A1E4-4C0B-8811-954A59B26923}" type="datetimeFigureOut">
              <a:rPr lang="en-US" dirty="0"/>
              <a:t>3/17/2019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3643" y="685800"/>
            <a:ext cx="4126860" cy="2023252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46132" y="685800"/>
            <a:ext cx="6034375" cy="468878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3642" y="2709052"/>
            <a:ext cx="4126861" cy="2665533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824E7-1432-4F89-B9E6-59843C6C91FE}" type="datetimeFigureOut">
              <a:rPr lang="en-US" dirty="0"/>
              <a:t>3/17/2019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85800"/>
            <a:ext cx="6345302" cy="2023252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82362" y="0"/>
            <a:ext cx="3598146" cy="5071533"/>
          </a:xfr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1" y="2709052"/>
            <a:ext cx="6345301" cy="2362481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AAD9C-D29C-4D1E-A739-CC3C95B41085}" type="datetimeFigureOut">
              <a:rPr lang="en-US" dirty="0"/>
              <a:t>3/17/2019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106333"/>
            <a:ext cx="10394708" cy="58884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5801" y="685799"/>
            <a:ext cx="10392513" cy="3194903"/>
          </a:xfr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780" y="4702923"/>
            <a:ext cx="10394728" cy="682472"/>
          </a:xfrm>
        </p:spPr>
        <p:txBody>
          <a:bodyPr anchor="t"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3336BD-BA89-4B92-9DBC-679F61142570}" type="datetimeFigureOut">
              <a:rPr lang="en-US" dirty="0"/>
              <a:t>3/17/2019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902" cy="3194903"/>
          </a:xfrm>
        </p:spPr>
        <p:txBody>
          <a:bodyPr anchor="ctr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779" y="4106333"/>
            <a:ext cx="10394729" cy="127360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6CB5C7-A3C7-439B-802A-DFE3FCA7ADBD}" type="datetimeFigureOut">
              <a:rPr lang="en-US" dirty="0"/>
              <a:t>3/17/2019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1732" y="685800"/>
            <a:ext cx="9525020" cy="2916704"/>
          </a:xfrm>
        </p:spPr>
        <p:txBody>
          <a:bodyPr anchor="ctr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550264" y="3610032"/>
            <a:ext cx="8667956" cy="377768"/>
          </a:xfrm>
        </p:spPr>
        <p:txBody>
          <a:bodyPr anchor="t">
            <a:normAutofit/>
          </a:bodyPr>
          <a:lstStyle>
            <a:lvl1pPr marL="0" indent="0" algn="r"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1" y="4106334"/>
            <a:ext cx="10396882" cy="1268252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E65EA-47B7-4DBF-958B-A3D4DA4F431A}" type="datetimeFigureOut">
              <a:rPr lang="en-US" dirty="0"/>
              <a:t>3/17/2019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685801" y="89262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73083" y="292282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723854"/>
            <a:ext cx="10394707" cy="2511835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4247468"/>
            <a:ext cx="10394707" cy="114064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DA4AAA-CF98-48DB-9517-D7ADD1FD1213}" type="datetimeFigureOut">
              <a:rPr lang="en-US" dirty="0"/>
              <a:t>3/17/2019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85802" y="685800"/>
            <a:ext cx="10394706" cy="1151965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2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802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34622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234621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770380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770380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9F696-D0E7-4C66-925E-251F9C0B0F21}" type="datetimeFigureOut">
              <a:rPr lang="en-US" dirty="0"/>
              <a:t>3/17/2019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1965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91840" y="381302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5780" y="2063395"/>
            <a:ext cx="3310128" cy="1536725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91840" y="4389287"/>
            <a:ext cx="3310128" cy="98529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37410" y="381302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235999" y="2063395"/>
            <a:ext cx="3310128" cy="1535237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235999" y="4389286"/>
            <a:ext cx="3310128" cy="98530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768944" y="381302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768819" y="2063394"/>
            <a:ext cx="3310128" cy="1537196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768819" y="4389284"/>
            <a:ext cx="3310128" cy="985302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2732E-4FBC-4B01-A175-6B1CAC9B226D}" type="datetimeFigureOut">
              <a:rPr lang="en-US" dirty="0"/>
              <a:t>3/17/2019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800" y="2063396"/>
            <a:ext cx="10394707" cy="3311190"/>
          </a:xfrm>
        </p:spPr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84AFC5-17E4-4A26-A144-49682BD36ECA}" type="datetimeFigureOut">
              <a:rPr lang="en-US" dirty="0"/>
              <a:t>3/17/2019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15862" y="685800"/>
            <a:ext cx="2264646" cy="4688785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800" y="685800"/>
            <a:ext cx="7904431" cy="4688785"/>
          </a:xfrm>
        </p:spPr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679482-E0DA-4858-9A19-F8B792C0C3D9}" type="datetimeFigureOut">
              <a:rPr lang="en-US" dirty="0"/>
              <a:t>3/17/2019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jp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rickwork-HD-R1a.jp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10" name="Group 9"/>
          <p:cNvGrpSpPr/>
          <p:nvPr/>
        </p:nvGrpSpPr>
        <p:grpSpPr>
          <a:xfrm>
            <a:off x="-25397" y="0"/>
            <a:ext cx="12005350" cy="6644081"/>
            <a:chOff x="-25397" y="0"/>
            <a:chExt cx="12005350" cy="6644081"/>
          </a:xfrm>
        </p:grpSpPr>
        <p:sp useBgFill="1">
          <p:nvSpPr>
            <p:cNvPr id="11" name="Rectangle 10"/>
            <p:cNvSpPr/>
            <p:nvPr/>
          </p:nvSpPr>
          <p:spPr>
            <a:xfrm>
              <a:off x="1" y="0"/>
              <a:ext cx="11979952" cy="6644081"/>
            </a:xfrm>
            <a:prstGeom prst="rect">
              <a:avLst/>
            </a:prstGeom>
            <a:ln>
              <a:noFill/>
            </a:ln>
            <a:effectLst>
              <a:outerShdw blurRad="98425" dist="76200" dir="4380000" algn="tl" rotWithShape="0">
                <a:srgbClr val="000000">
                  <a:alpha val="68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-25397" y="0"/>
              <a:ext cx="11773291" cy="6419514"/>
            </a:xfrm>
            <a:custGeom>
              <a:avLst/>
              <a:gdLst/>
              <a:ahLst/>
              <a:cxnLst/>
              <a:rect l="l" t="t" r="r" b="b"/>
              <a:pathLst>
                <a:path w="11773291" h="6419514">
                  <a:moveTo>
                    <a:pt x="11750059" y="0"/>
                  </a:moveTo>
                  <a:lnTo>
                    <a:pt x="11773291" y="6419514"/>
                  </a:lnTo>
                  <a:lnTo>
                    <a:pt x="0" y="6411047"/>
                  </a:lnTo>
                </a:path>
              </a:pathLst>
            </a:custGeom>
            <a:ln w="82550">
              <a:solidFill>
                <a:schemeClr val="tx1">
                  <a:lumMod val="50000"/>
                  <a:lumOff val="50000"/>
                </a:schemeClr>
              </a:solidFill>
              <a:miter lim="800000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sp>
        <p:sp>
          <p:nvSpPr>
            <p:cNvPr id="13" name="Rectangle 12"/>
            <p:cNvSpPr/>
            <p:nvPr/>
          </p:nvSpPr>
          <p:spPr>
            <a:xfrm>
              <a:off x="1" y="5600215"/>
              <a:ext cx="11706512" cy="780581"/>
            </a:xfrm>
            <a:prstGeom prst="rect">
              <a:avLst/>
            </a:prstGeom>
            <a:gradFill flip="none" rotWithShape="1">
              <a:gsLst>
                <a:gs pos="34000">
                  <a:schemeClr val="accent1"/>
                </a:gs>
                <a:gs pos="100000">
                  <a:schemeClr val="accent1">
                    <a:lumMod val="7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19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063396"/>
            <a:ext cx="10396883" cy="33111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98083" y="5757334"/>
            <a:ext cx="3784600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200" cap="all" baseline="0">
                <a:solidFill>
                  <a:schemeClr val="accent1">
                    <a:lumMod val="40000"/>
                    <a:lumOff val="60000"/>
                  </a:schemeClr>
                </a:solidFill>
              </a:defRPr>
            </a:lvl1pPr>
          </a:lstStyle>
          <a:p>
            <a:fld id="{DC48ED7C-D9A5-4EA8-B309-6E368BFA8F2B}" type="datetimeFigureOut">
              <a:rPr lang="en-US" dirty="0"/>
              <a:t>3/17/2019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1" y="5757334"/>
            <a:ext cx="5499719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200" cap="all" baseline="0">
                <a:solidFill>
                  <a:schemeClr val="accent1">
                    <a:lumMod val="40000"/>
                    <a:lumOff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287121" y="5757334"/>
            <a:ext cx="907186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200" cap="all" baseline="0">
                <a:solidFill>
                  <a:schemeClr val="accent1">
                    <a:lumMod val="40000"/>
                    <a:lumOff val="60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solidFill>
            <a:schemeClr val="accent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riddles.fyi/there-are-10-people-on-a-boat-and-nobody-is-below-deck-but-not-a-single-person-is-in-sight-how-is-this-possible/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9.gi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9.gi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7923BE-C0EF-44B1-9FDB-A1130A93BA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 rot="21420000">
            <a:off x="1032604" y="1392668"/>
            <a:ext cx="9755187" cy="2766528"/>
          </a:xfrm>
        </p:spPr>
        <p:txBody>
          <a:bodyPr>
            <a:normAutofit fontScale="90000"/>
          </a:bodyPr>
          <a:lstStyle/>
          <a:p>
            <a:r>
              <a:rPr lang="en-AU" dirty="0"/>
              <a:t>Algebra</a:t>
            </a:r>
            <a:br>
              <a:rPr lang="en-AU" dirty="0"/>
            </a:br>
            <a:br>
              <a:rPr lang="en-AU" dirty="0"/>
            </a:br>
            <a:r>
              <a:rPr lang="en-AU" sz="4400" dirty="0"/>
              <a:t>Interactive Notebook </a:t>
            </a:r>
            <a:endParaRPr lang="en-AU" dirty="0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5FA17EFD-1356-4883-A84A-E579FA1731EE}"/>
              </a:ext>
            </a:extLst>
          </p:cNvPr>
          <p:cNvSpPr txBox="1">
            <a:spLocks/>
          </p:cNvSpPr>
          <p:nvPr/>
        </p:nvSpPr>
        <p:spPr>
          <a:xfrm>
            <a:off x="791623" y="1753344"/>
            <a:ext cx="6400800" cy="17526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r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60000"/>
              <a:buFont typeface="Arial" panose="020B0604020202020204" pitchFamily="34" charset="0"/>
              <a:buNone/>
              <a:defRPr sz="2800" kern="1200" cap="all" baseline="0">
                <a:solidFill>
                  <a:schemeClr val="bg1">
                    <a:lumMod val="50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60000"/>
              <a:buFont typeface="Arial" panose="020B0604020202020204" pitchFamily="34" charset="0"/>
              <a:buNone/>
              <a:defRPr sz="20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60000"/>
              <a:buFont typeface="Arial" panose="020B0604020202020204" pitchFamily="34" charset="0"/>
              <a:buNone/>
              <a:defRPr sz="18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60000"/>
              <a:buFont typeface="Arial" panose="020B0604020202020204" pitchFamily="34" charset="0"/>
              <a:buNone/>
              <a:defRPr sz="16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60000"/>
              <a:buFont typeface="Arial" panose="020B0604020202020204" pitchFamily="34" charset="0"/>
              <a:buNone/>
              <a:defRPr sz="16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60000"/>
              <a:buFont typeface="Arial" panose="020B0604020202020204" pitchFamily="34" charset="0"/>
              <a:buNone/>
              <a:defRPr sz="16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60000"/>
              <a:buFont typeface="Arial" panose="020B0604020202020204" pitchFamily="34" charset="0"/>
              <a:buNone/>
              <a:defRPr sz="16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60000"/>
              <a:buFont typeface="Arial" panose="020B0604020202020204" pitchFamily="34" charset="0"/>
              <a:buNone/>
              <a:defRPr sz="16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60000"/>
              <a:buFont typeface="Arial" panose="020B0604020202020204" pitchFamily="34" charset="0"/>
              <a:buNone/>
              <a:defRPr sz="16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AU" dirty="0"/>
              <a:t>Name : </a:t>
            </a:r>
          </a:p>
          <a:p>
            <a:pPr algn="l"/>
            <a:r>
              <a:rPr lang="en-AU" dirty="0"/>
              <a:t>Class : </a:t>
            </a:r>
          </a:p>
          <a:p>
            <a:pPr algn="l"/>
            <a:r>
              <a:rPr lang="en-AU" dirty="0"/>
              <a:t>Term 1 Semester 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9711BA6-0986-49BB-8DBE-3CA464DACAC9}"/>
                  </a:ext>
                </a:extLst>
              </p:cNvPr>
              <p:cNvSpPr txBox="1"/>
              <p:nvPr/>
            </p:nvSpPr>
            <p:spPr>
              <a:xfrm>
                <a:off x="8237318" y="4856364"/>
                <a:ext cx="2474780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600" b="0" i="1" smtClean="0">
                          <a:solidFill>
                            <a:srgbClr val="00B0F0"/>
                          </a:solidFill>
                          <a:latin typeface="Cambria Math"/>
                        </a:rPr>
                        <m:t>𝑦</m:t>
                      </m:r>
                      <m:r>
                        <a:rPr lang="en-AU" sz="3600" b="0" i="1" smtClean="0">
                          <a:solidFill>
                            <a:srgbClr val="00B0F0"/>
                          </a:solidFill>
                          <a:latin typeface="Cambria Math"/>
                        </a:rPr>
                        <m:t>=2</m:t>
                      </m:r>
                      <m:r>
                        <a:rPr lang="en-AU" sz="3600" b="0" i="1" smtClean="0">
                          <a:solidFill>
                            <a:srgbClr val="00B0F0"/>
                          </a:solidFill>
                          <a:latin typeface="Cambria Math"/>
                        </a:rPr>
                        <m:t>𝑥</m:t>
                      </m:r>
                      <m:r>
                        <a:rPr lang="en-AU" sz="3600" b="0" i="1" smtClean="0">
                          <a:solidFill>
                            <a:srgbClr val="00B0F0"/>
                          </a:solidFill>
                          <a:latin typeface="Cambria Math"/>
                        </a:rPr>
                        <m:t>+1</m:t>
                      </m:r>
                    </m:oMath>
                  </m:oMathPara>
                </a14:m>
                <a:endParaRPr lang="en-AU" sz="3600" dirty="0">
                  <a:solidFill>
                    <a:srgbClr val="00B0F0"/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9711BA6-0986-49BB-8DBE-3CA464DACA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37318" y="4856364"/>
                <a:ext cx="2474780" cy="64633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D89367B-6917-462A-98DF-32E36AD3FA5C}"/>
                  </a:ext>
                </a:extLst>
              </p:cNvPr>
              <p:cNvSpPr txBox="1"/>
              <p:nvPr/>
            </p:nvSpPr>
            <p:spPr>
              <a:xfrm>
                <a:off x="2088364" y="3885861"/>
                <a:ext cx="1688091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2</m:t>
                      </m:r>
                      <m:r>
                        <a:rPr lang="en-AU" sz="3200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𝑥</m:t>
                      </m:r>
                      <m:r>
                        <a:rPr lang="en-AU" sz="3200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+3</m:t>
                      </m:r>
                      <m:r>
                        <a:rPr lang="en-AU" sz="3200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𝑦</m:t>
                      </m:r>
                    </m:oMath>
                  </m:oMathPara>
                </a14:m>
                <a:endParaRPr lang="en-AU" sz="32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D89367B-6917-462A-98DF-32E36AD3FA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88364" y="3885861"/>
                <a:ext cx="1688091" cy="58477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2B14D1A-27B8-4E70-8AA0-995A5995C4D8}"/>
                  </a:ext>
                </a:extLst>
              </p:cNvPr>
              <p:cNvSpPr txBox="1"/>
              <p:nvPr/>
            </p:nvSpPr>
            <p:spPr>
              <a:xfrm>
                <a:off x="2728817" y="664562"/>
                <a:ext cx="964751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b="0" i="1" smtClean="0">
                          <a:solidFill>
                            <a:srgbClr val="FF9900"/>
                          </a:solidFill>
                          <a:latin typeface="Cambria Math"/>
                        </a:rPr>
                        <m:t>3</m:t>
                      </m:r>
                      <m:r>
                        <a:rPr lang="en-AU" sz="3200" b="0" i="1" smtClean="0">
                          <a:solidFill>
                            <a:srgbClr val="FF9900"/>
                          </a:solidFill>
                          <a:latin typeface="Cambria Math"/>
                        </a:rPr>
                        <m:t>𝑎𝑏</m:t>
                      </m:r>
                    </m:oMath>
                  </m:oMathPara>
                </a14:m>
                <a:endParaRPr lang="en-AU" sz="3200" dirty="0">
                  <a:solidFill>
                    <a:srgbClr val="FF9900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2B14D1A-27B8-4E70-8AA0-995A5995C4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28817" y="664562"/>
                <a:ext cx="964751" cy="58477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208624D-6B7D-4F2C-B0FE-668B6DB788A2}"/>
                  </a:ext>
                </a:extLst>
              </p:cNvPr>
              <p:cNvSpPr txBox="1"/>
              <p:nvPr/>
            </p:nvSpPr>
            <p:spPr>
              <a:xfrm>
                <a:off x="5241309" y="901568"/>
                <a:ext cx="1054969" cy="114435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36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3600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5</m:t>
                          </m:r>
                          <m:r>
                            <a:rPr lang="en-AU" sz="3600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𝑥𝑦</m:t>
                          </m:r>
                        </m:num>
                        <m:den>
                          <m:r>
                            <a:rPr lang="en-AU" sz="3600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6</m:t>
                          </m:r>
                        </m:den>
                      </m:f>
                    </m:oMath>
                  </m:oMathPara>
                </a14:m>
                <a:endParaRPr lang="en-AU" sz="36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208624D-6B7D-4F2C-B0FE-668B6DB788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41309" y="901568"/>
                <a:ext cx="1054969" cy="114435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493930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6024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524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72465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3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1380163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2639616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2173592" y="5803"/>
            <a:ext cx="94288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/>
              <a:t>Contents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47225" y="374467"/>
            <a:ext cx="60144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/>
              <a:t>Page</a:t>
            </a:r>
          </a:p>
        </p:txBody>
      </p:sp>
      <p:cxnSp>
        <p:nvCxnSpPr>
          <p:cNvPr id="16" name="Straight Connector 15"/>
          <p:cNvCxnSpPr/>
          <p:nvPr/>
        </p:nvCxnSpPr>
        <p:spPr>
          <a:xfrm>
            <a:off x="3667810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2927646" y="344357"/>
            <a:ext cx="5765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/>
              <a:t>Date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79776" y="344357"/>
            <a:ext cx="13988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Description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96200" y="153568"/>
            <a:ext cx="92416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/>
              <a:t>Glossary</a:t>
            </a:r>
          </a:p>
        </p:txBody>
      </p:sp>
    </p:spTree>
    <p:extLst>
      <p:ext uri="{BB962C8B-B14F-4D97-AF65-F5344CB8AC3E}">
        <p14:creationId xmlns:p14="http://schemas.microsoft.com/office/powerpoint/2010/main" val="15154573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6024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524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72465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7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6024082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6024082" y="1196752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6096089" y="5373216"/>
            <a:ext cx="472615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7392144" y="1196752"/>
            <a:ext cx="0" cy="417646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057262" y="66690"/>
            <a:ext cx="43195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/>
              <a:t>24</a:t>
            </a:r>
          </a:p>
          <a:p>
            <a:r>
              <a:rPr lang="en-AU" sz="1000" dirty="0"/>
              <a:t>7</a:t>
            </a:r>
          </a:p>
          <a:p>
            <a:r>
              <a:rPr lang="en-AU" sz="1000" dirty="0"/>
              <a:t>30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96089" y="601549"/>
            <a:ext cx="115929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/>
              <a:t>Essential Question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91751" y="1196752"/>
            <a:ext cx="4924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/>
              <a:t>Notes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45851" y="1196753"/>
            <a:ext cx="71686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/>
              <a:t>Questions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89" y="5373217"/>
            <a:ext cx="6799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/>
              <a:t>Summary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75247" y="142494"/>
            <a:ext cx="7264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Tasks</a:t>
            </a:r>
          </a:p>
        </p:txBody>
      </p:sp>
    </p:spTree>
    <p:extLst>
      <p:ext uri="{BB962C8B-B14F-4D97-AF65-F5344CB8AC3E}">
        <p14:creationId xmlns:p14="http://schemas.microsoft.com/office/powerpoint/2010/main" val="22165325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81400" y="450511"/>
            <a:ext cx="8610600" cy="1293028"/>
          </a:xfrm>
        </p:spPr>
        <p:txBody>
          <a:bodyPr>
            <a:normAutofit fontScale="90000"/>
          </a:bodyPr>
          <a:lstStyle/>
          <a:p>
            <a:r>
              <a:rPr lang="en-AU" dirty="0"/>
              <a:t>Simplifying Expressions</a:t>
            </a:r>
            <a:br>
              <a:rPr lang="en-AU" dirty="0"/>
            </a:br>
            <a:r>
              <a:rPr lang="en-AU" dirty="0"/>
              <a:t> 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0AA07FF-6C82-49C6-9E45-DADC7656E5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AU"/>
          </a:p>
        </p:txBody>
      </p:sp>
      <p:cxnSp>
        <p:nvCxnSpPr>
          <p:cNvPr id="9" name="Straight Connector 8"/>
          <p:cNvCxnSpPr/>
          <p:nvPr/>
        </p:nvCxnSpPr>
        <p:spPr>
          <a:xfrm>
            <a:off x="0" y="1425075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008993" y="1606776"/>
            <a:ext cx="545694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000" dirty="0"/>
              <a:t>EQ: What is a ‘like term’ and how do I collect them? 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1F53A89E-35E6-4F0A-904C-B603F82063EC}"/>
              </a:ext>
            </a:extLst>
          </p:cNvPr>
          <p:cNvCxnSpPr/>
          <p:nvPr/>
        </p:nvCxnSpPr>
        <p:spPr>
          <a:xfrm>
            <a:off x="0" y="2270234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E2BBF380-94B7-4623-955E-24A25D1DD4F0}"/>
              </a:ext>
            </a:extLst>
          </p:cNvPr>
          <p:cNvCxnSpPr/>
          <p:nvPr/>
        </p:nvCxnSpPr>
        <p:spPr>
          <a:xfrm>
            <a:off x="2569779" y="2270234"/>
            <a:ext cx="0" cy="458776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79FF8880-C897-464A-9790-4086757C11A5}"/>
              </a:ext>
            </a:extLst>
          </p:cNvPr>
          <p:cNvSpPr txBox="1"/>
          <p:nvPr/>
        </p:nvSpPr>
        <p:spPr>
          <a:xfrm>
            <a:off x="0" y="337812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</p:spTree>
    <p:extLst>
      <p:ext uri="{BB962C8B-B14F-4D97-AF65-F5344CB8AC3E}">
        <p14:creationId xmlns:p14="http://schemas.microsoft.com/office/powerpoint/2010/main" val="39213557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B8C334-67D7-4181-82A8-4F9524933E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Riddle of the day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655AD8-CE3E-4C3C-BD2A-5AD4DF788EEA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r>
              <a:rPr lang="en-AU" sz="3200" b="1" dirty="0">
                <a:hlinkClick r:id="rId2"/>
              </a:rPr>
              <a:t>There are 10 people on a boat and nobody is below deck but not a single person is in sight. How is this possible?</a:t>
            </a:r>
            <a:endParaRPr lang="en-AU" sz="3200" dirty="0"/>
          </a:p>
        </p:txBody>
      </p:sp>
    </p:spTree>
    <p:extLst>
      <p:ext uri="{BB962C8B-B14F-4D97-AF65-F5344CB8AC3E}">
        <p14:creationId xmlns:p14="http://schemas.microsoft.com/office/powerpoint/2010/main" val="31394605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9266A6-6E3F-4413-A7FE-DC97906DD8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Answer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8BBA46-0B38-4D4D-9E91-0A1EB18F25A5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r>
              <a:rPr lang="en-AU" sz="3600" dirty="0"/>
              <a:t>They are all married.</a:t>
            </a:r>
          </a:p>
        </p:txBody>
      </p:sp>
    </p:spTree>
    <p:extLst>
      <p:ext uri="{BB962C8B-B14F-4D97-AF65-F5344CB8AC3E}">
        <p14:creationId xmlns:p14="http://schemas.microsoft.com/office/powerpoint/2010/main" val="34373845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B23896-E33A-42A7-8501-56C520C65D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Revision - </a:t>
            </a:r>
            <a:r>
              <a:rPr lang="en-AU" dirty="0" err="1"/>
              <a:t>lhs</a:t>
            </a:r>
            <a:endParaRPr lang="en-AU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2DC4A28E-347E-4AC0-A7CE-EC56642A1AB2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 rotWithShape="1">
          <a:blip r:embed="rId2"/>
          <a:srcRect l="27369" t="45770" r="52985" b="8114"/>
          <a:stretch/>
        </p:blipFill>
        <p:spPr>
          <a:xfrm>
            <a:off x="4977354" y="450131"/>
            <a:ext cx="3930976" cy="519022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63E8A63-B494-4E38-88BA-C64F92783101}"/>
                  </a:ext>
                </a:extLst>
              </p:cNvPr>
              <p:cNvSpPr txBox="1"/>
              <p:nvPr/>
            </p:nvSpPr>
            <p:spPr>
              <a:xfrm>
                <a:off x="8908330" y="450131"/>
                <a:ext cx="2878413" cy="41549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AU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𝟐</m:t>
                    </m:r>
                    <m:r>
                      <a:rPr lang="en-AU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𝒂</m:t>
                    </m:r>
                  </m:oMath>
                </a14:m>
                <a:endParaRPr lang="en-AU" sz="24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AU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𝟑</m:t>
                    </m:r>
                    <m:r>
                      <a:rPr lang="en-AU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𝒂</m:t>
                    </m:r>
                  </m:oMath>
                </a14:m>
                <a:endParaRPr lang="en-AU" sz="24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AU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𝟒</m:t>
                    </m:r>
                    <m:r>
                      <a:rPr lang="en-AU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𝒂</m:t>
                    </m:r>
                    <m:r>
                      <a:rPr lang="en-AU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+ </m:t>
                    </m:r>
                    <m:r>
                      <a:rPr lang="en-AU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𝒃</m:t>
                    </m:r>
                  </m:oMath>
                </a14:m>
                <a:endParaRPr lang="en-AU" sz="24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AU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𝟐</m:t>
                    </m:r>
                    <m:r>
                      <a:rPr lang="en-AU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𝒂</m:t>
                    </m:r>
                    <m:r>
                      <a:rPr lang="en-AU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+ </m:t>
                    </m:r>
                    <m:r>
                      <a:rPr lang="en-AU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𝟒</m:t>
                    </m:r>
                    <m:r>
                      <a:rPr lang="en-AU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𝒃</m:t>
                    </m:r>
                  </m:oMath>
                </a14:m>
                <a:endParaRPr lang="en-AU" sz="24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AU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𝟒</m:t>
                    </m:r>
                    <m:r>
                      <a:rPr lang="en-AU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𝒂</m:t>
                    </m:r>
                    <m:r>
                      <a:rPr lang="en-AU" sz="24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  <m:r>
                      <a:rPr lang="en-AU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+</m:t>
                    </m:r>
                    <m:r>
                      <a:rPr lang="en-AU" sz="24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  <m:r>
                      <a:rPr lang="en-AU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𝟑</m:t>
                    </m:r>
                    <m:r>
                      <a:rPr lang="en-AU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𝒃</m:t>
                    </m:r>
                  </m:oMath>
                </a14:m>
                <a:endParaRPr lang="en-AU" sz="24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AU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𝟒</m:t>
                    </m:r>
                    <m:r>
                      <a:rPr lang="en-AU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𝒂</m:t>
                    </m:r>
                    <m:r>
                      <a:rPr lang="en-AU" sz="24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  <m:r>
                      <a:rPr lang="en-AU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+</m:t>
                    </m:r>
                    <m:r>
                      <a:rPr lang="en-AU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𝟓</m:t>
                    </m:r>
                    <m:r>
                      <a:rPr lang="en-AU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𝒃</m:t>
                    </m:r>
                    <m:r>
                      <a:rPr lang="en-AU" sz="24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  <m:r>
                      <a:rPr lang="en-AU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+</m:t>
                    </m:r>
                    <m:r>
                      <a:rPr lang="en-AU" sz="24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  <m:r>
                      <a:rPr lang="en-AU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𝟑</m:t>
                    </m:r>
                    <m:r>
                      <a:rPr lang="en-AU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𝒄</m:t>
                    </m:r>
                  </m:oMath>
                </a14:m>
                <a:endParaRPr lang="en-AU" sz="24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AU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𝟓</m:t>
                    </m:r>
                    <m:r>
                      <a:rPr lang="en-AU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𝒙</m:t>
                    </m:r>
                    <m:r>
                      <a:rPr lang="en-AU" sz="24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  <m:r>
                      <a:rPr lang="en-AU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+</m:t>
                    </m:r>
                    <m:r>
                      <a:rPr lang="en-AU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𝟏𝟔</m:t>
                    </m:r>
                    <m:r>
                      <a:rPr lang="en-AU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𝒚</m:t>
                    </m:r>
                  </m:oMath>
                </a14:m>
                <a:endParaRPr lang="en-AU" sz="24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AU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𝟐𝟐</m:t>
                    </m:r>
                    <m:r>
                      <a:rPr lang="en-AU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𝑨</m:t>
                    </m:r>
                    <m:r>
                      <a:rPr lang="en-AU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+</m:t>
                    </m:r>
                    <m:r>
                      <a:rPr lang="en-AU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𝟏𝟎</m:t>
                    </m:r>
                    <m:r>
                      <a:rPr lang="en-AU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𝑩</m:t>
                    </m:r>
                  </m:oMath>
                </a14:m>
                <a:endParaRPr lang="en-AU" sz="24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AU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𝟏𝟓</m:t>
                    </m:r>
                    <m:r>
                      <a:rPr lang="en-AU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𝒅</m:t>
                    </m:r>
                    <m:r>
                      <a:rPr lang="en-AU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+</m:t>
                    </m:r>
                    <m:r>
                      <a:rPr lang="en-AU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𝟒</m:t>
                    </m:r>
                    <m:r>
                      <a:rPr lang="en-AU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𝒇</m:t>
                    </m:r>
                  </m:oMath>
                </a14:m>
                <a:endParaRPr lang="en-AU" sz="24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AU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𝟒</m:t>
                    </m:r>
                    <m:r>
                      <a:rPr lang="en-AU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𝒙</m:t>
                    </m:r>
                    <m:r>
                      <a:rPr lang="en-AU" sz="24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  <m:r>
                      <a:rPr lang="en-AU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+</m:t>
                    </m:r>
                    <m:r>
                      <a:rPr lang="en-AU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𝟐</m:t>
                    </m:r>
                    <m:r>
                      <a:rPr lang="en-AU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𝒚</m:t>
                    </m:r>
                    <m:r>
                      <a:rPr lang="en-AU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+ </m:t>
                    </m:r>
                    <m:r>
                      <a:rPr lang="en-AU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𝟐</m:t>
                    </m:r>
                    <m:r>
                      <a:rPr lang="en-AU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𝒛</m:t>
                    </m:r>
                  </m:oMath>
                </a14:m>
                <a:endParaRPr lang="en-AU" sz="24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AU" sz="24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63E8A63-B494-4E38-88BA-C64F927831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08330" y="450131"/>
                <a:ext cx="2878413" cy="4154984"/>
              </a:xfrm>
              <a:prstGeom prst="rect">
                <a:avLst/>
              </a:prstGeom>
              <a:blipFill>
                <a:blip r:embed="rId3"/>
                <a:stretch>
                  <a:fillRect l="-3171" t="-102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928337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81400" y="450511"/>
            <a:ext cx="8610600" cy="1293028"/>
          </a:xfrm>
        </p:spPr>
        <p:txBody>
          <a:bodyPr>
            <a:normAutofit fontScale="90000"/>
          </a:bodyPr>
          <a:lstStyle/>
          <a:p>
            <a:r>
              <a:rPr lang="en-AU" dirty="0"/>
              <a:t>Simplifying Expressions</a:t>
            </a:r>
            <a:br>
              <a:rPr lang="en-AU" dirty="0"/>
            </a:br>
            <a:r>
              <a:rPr lang="en-AU" dirty="0"/>
              <a:t> 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0AA07FF-6C82-49C6-9E45-DADC7656E5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AU"/>
          </a:p>
        </p:txBody>
      </p:sp>
      <p:cxnSp>
        <p:nvCxnSpPr>
          <p:cNvPr id="9" name="Straight Connector 8"/>
          <p:cNvCxnSpPr/>
          <p:nvPr/>
        </p:nvCxnSpPr>
        <p:spPr>
          <a:xfrm>
            <a:off x="0" y="1425075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008993" y="1606776"/>
            <a:ext cx="545694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000" dirty="0"/>
              <a:t>EQ: What is a ‘like term’ and how do I collect them? 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1F53A89E-35E6-4F0A-904C-B603F82063EC}"/>
              </a:ext>
            </a:extLst>
          </p:cNvPr>
          <p:cNvCxnSpPr/>
          <p:nvPr/>
        </p:nvCxnSpPr>
        <p:spPr>
          <a:xfrm>
            <a:off x="0" y="2270234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E2BBF380-94B7-4623-955E-24A25D1DD4F0}"/>
              </a:ext>
            </a:extLst>
          </p:cNvPr>
          <p:cNvCxnSpPr/>
          <p:nvPr/>
        </p:nvCxnSpPr>
        <p:spPr>
          <a:xfrm>
            <a:off x="2569779" y="2270234"/>
            <a:ext cx="0" cy="458776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79FF8880-C897-464A-9790-4086757C11A5}"/>
              </a:ext>
            </a:extLst>
          </p:cNvPr>
          <p:cNvSpPr txBox="1"/>
          <p:nvPr/>
        </p:nvSpPr>
        <p:spPr>
          <a:xfrm>
            <a:off x="0" y="337812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F7BC648-DF6F-4D0E-AEDB-343D92181C20}"/>
              </a:ext>
            </a:extLst>
          </p:cNvPr>
          <p:cNvSpPr txBox="1"/>
          <p:nvPr/>
        </p:nvSpPr>
        <p:spPr>
          <a:xfrm>
            <a:off x="122548" y="2516957"/>
            <a:ext cx="231899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latin typeface="Arial" panose="020B0604020202020204" pitchFamily="34" charset="0"/>
                <a:cs typeface="Arial" panose="020B0604020202020204" pitchFamily="34" charset="0"/>
              </a:rPr>
              <a:t>How do I multiply and divide like terms?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0A571A7-0939-4377-86CF-E79C15A5C9A5}"/>
                  </a:ext>
                </a:extLst>
              </p:cNvPr>
              <p:cNvSpPr txBox="1"/>
              <p:nvPr/>
            </p:nvSpPr>
            <p:spPr>
              <a:xfrm>
                <a:off x="2698017" y="2516957"/>
                <a:ext cx="5852094" cy="34163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>
                    <a:latin typeface="Arial" panose="020B0604020202020204" pitchFamily="34" charset="0"/>
                    <a:cs typeface="Arial" panose="020B0604020202020204" pitchFamily="34" charset="0"/>
                  </a:rPr>
                  <a:t>Simplify the following expressions</a:t>
                </a:r>
              </a:p>
              <a:p>
                <a:endParaRPr lang="en-AU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r>
                  <a:rPr lang="en-AU" dirty="0">
                    <a:latin typeface="Arial" panose="020B0604020202020204" pitchFamily="34" charset="0"/>
                    <a:cs typeface="Arial" panose="020B0604020202020204" pitchFamily="34" charset="0"/>
                  </a:rPr>
                  <a:t>Example:</a:t>
                </a:r>
              </a:p>
              <a:p>
                <a:pPr marL="342900" indent="-342900">
                  <a:buFont typeface="+mj-lt"/>
                  <a:buAutoNum type="alphaLcParenR"/>
                </a:pPr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4 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×3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𝑎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 =</m:t>
                    </m:r>
                  </m:oMath>
                </a14:m>
                <a:endParaRPr lang="en-AU" b="0" dirty="0">
                  <a:latin typeface="Arial" panose="020B0604020202020204" pitchFamily="34" charset="0"/>
                  <a:ea typeface="Cambria Math" panose="02040503050406030204" pitchFamily="18" charset="0"/>
                  <a:cs typeface="Arial" panose="020B0604020202020204" pitchFamily="34" charset="0"/>
                </a:endParaRPr>
              </a:p>
              <a:p>
                <a:pPr marL="342900" indent="-342900">
                  <a:buFont typeface="+mj-lt"/>
                  <a:buAutoNum type="alphaLcParenR"/>
                </a:pPr>
                <a:endParaRPr lang="en-AU" dirty="0">
                  <a:latin typeface="Arial" panose="020B0604020202020204" pitchFamily="34" charset="0"/>
                  <a:ea typeface="Cambria Math" panose="02040503050406030204" pitchFamily="18" charset="0"/>
                  <a:cs typeface="Arial" panose="020B0604020202020204" pitchFamily="34" charset="0"/>
                </a:endParaRPr>
              </a:p>
              <a:p>
                <a:pPr marL="342900" indent="-342900">
                  <a:buFont typeface="+mj-lt"/>
                  <a:buAutoNum type="alphaLcParenR"/>
                </a:pPr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3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𝑑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 ×4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𝑒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</m:oMath>
                </a14:m>
                <a:endParaRPr lang="en-AU" b="0" dirty="0">
                  <a:latin typeface="Arial" panose="020B0604020202020204" pitchFamily="34" charset="0"/>
                  <a:ea typeface="Cambria Math" panose="02040503050406030204" pitchFamily="18" charset="0"/>
                  <a:cs typeface="Arial" panose="020B0604020202020204" pitchFamily="34" charset="0"/>
                </a:endParaRPr>
              </a:p>
              <a:p>
                <a:pPr marL="342900" indent="-342900">
                  <a:buFont typeface="+mj-lt"/>
                  <a:buAutoNum type="alphaLcParenR"/>
                </a:pPr>
                <a:endParaRPr lang="en-AU" b="0" dirty="0">
                  <a:latin typeface="Arial" panose="020B0604020202020204" pitchFamily="34" charset="0"/>
                  <a:ea typeface="Cambria Math" panose="02040503050406030204" pitchFamily="18" charset="0"/>
                  <a:cs typeface="Arial" panose="020B0604020202020204" pitchFamily="34" charset="0"/>
                </a:endParaRPr>
              </a:p>
              <a:p>
                <a:pPr marL="342900" indent="-342900">
                  <a:buFont typeface="+mj-lt"/>
                  <a:buAutoNum type="alphaLcParenR"/>
                </a:pPr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6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𝑎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 ×3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𝑎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</m:oMath>
                </a14:m>
                <a:endParaRPr lang="en-AU" b="0" dirty="0">
                  <a:latin typeface="Arial" panose="020B0604020202020204" pitchFamily="34" charset="0"/>
                  <a:ea typeface="Cambria Math" panose="02040503050406030204" pitchFamily="18" charset="0"/>
                  <a:cs typeface="Arial" panose="020B0604020202020204" pitchFamily="34" charset="0"/>
                </a:endParaRPr>
              </a:p>
              <a:p>
                <a:pPr marL="342900" indent="-342900">
                  <a:buFont typeface="+mj-lt"/>
                  <a:buAutoNum type="alphaLcParenR"/>
                </a:pPr>
                <a:endParaRPr lang="en-AU" b="0" dirty="0">
                  <a:latin typeface="Arial" panose="020B0604020202020204" pitchFamily="34" charset="0"/>
                  <a:ea typeface="Cambria Math" panose="02040503050406030204" pitchFamily="18" charset="0"/>
                  <a:cs typeface="Arial" panose="020B0604020202020204" pitchFamily="34" charset="0"/>
                </a:endParaRPr>
              </a:p>
              <a:p>
                <a:pPr marL="342900" indent="-342900">
                  <a:buFont typeface="+mj-lt"/>
                  <a:buAutoNum type="alphaLcParenR"/>
                </a:pPr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5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𝑚𝑛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 ×−2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𝑚</m:t>
                    </m:r>
                  </m:oMath>
                </a14:m>
                <a:r>
                  <a:rPr lang="en-AU" b="0" dirty="0">
                    <a:latin typeface="Arial" panose="020B0604020202020204" pitchFamily="34" charset="0"/>
                    <a:ea typeface="Cambria Math" panose="02040503050406030204" pitchFamily="18" charset="0"/>
                    <a:cs typeface="Arial" panose="020B0604020202020204" pitchFamily="34" charset="0"/>
                  </a:rPr>
                  <a:t>²</a:t>
                </a:r>
                <a14:m>
                  <m:oMath xmlns:m="http://schemas.openxmlformats.org/officeDocument/2006/math">
                    <m:r>
                      <a:rPr lang="en-AU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𝑛</m:t>
                    </m:r>
                  </m:oMath>
                </a14:m>
                <a:r>
                  <a:rPr lang="en-AU" b="0" dirty="0">
                    <a:latin typeface="Arial" panose="020B0604020202020204" pitchFamily="34" charset="0"/>
                    <a:ea typeface="Cambria Math" panose="02040503050406030204" pitchFamily="18" charset="0"/>
                    <a:cs typeface="Arial" panose="020B0604020202020204" pitchFamily="34" charset="0"/>
                  </a:rPr>
                  <a:t> =</a:t>
                </a:r>
              </a:p>
              <a:p>
                <a:pPr marL="342900" indent="-342900">
                  <a:buFont typeface="+mj-lt"/>
                  <a:buAutoNum type="alphaLcParenR"/>
                </a:pPr>
                <a:endParaRPr lang="en-AU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342900" indent="-342900">
                  <a:buFont typeface="+mj-lt"/>
                  <a:buAutoNum type="alphaLcParenR"/>
                </a:pPr>
                <a:endParaRPr lang="en-AU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0A571A7-0939-4377-86CF-E79C15A5C9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98017" y="2516957"/>
                <a:ext cx="5852094" cy="3416320"/>
              </a:xfrm>
              <a:prstGeom prst="rect">
                <a:avLst/>
              </a:prstGeom>
              <a:blipFill>
                <a:blip r:embed="rId2"/>
                <a:stretch>
                  <a:fillRect l="-938" t="-107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247985CE-686C-4E07-B1EE-96E9E47F9A27}"/>
              </a:ext>
            </a:extLst>
          </p:cNvPr>
          <p:cNvSpPr txBox="1"/>
          <p:nvPr/>
        </p:nvSpPr>
        <p:spPr>
          <a:xfrm>
            <a:off x="8347586" y="2749462"/>
            <a:ext cx="2851355" cy="1938992"/>
          </a:xfrm>
          <a:prstGeom prst="rect">
            <a:avLst/>
          </a:prstGeom>
          <a:noFill/>
          <a:ln w="38100">
            <a:solidFill>
              <a:schemeClr val="tx1"/>
            </a:solidFill>
            <a:prstDash val="dashDot"/>
          </a:ln>
        </p:spPr>
        <p:txBody>
          <a:bodyPr wrap="square" rtlCol="0">
            <a:spAutoFit/>
          </a:bodyPr>
          <a:lstStyle/>
          <a:p>
            <a:pPr algn="ctr"/>
            <a:r>
              <a:rPr lang="en-AU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Don’t forget</a:t>
            </a:r>
          </a:p>
          <a:p>
            <a:pPr algn="ctr"/>
            <a:endParaRPr lang="en-AU" sz="20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AU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NUMBERS first</a:t>
            </a:r>
          </a:p>
          <a:p>
            <a:pPr algn="ctr"/>
            <a:endParaRPr lang="en-AU" sz="20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AU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ALPHABET (in order) second</a:t>
            </a:r>
          </a:p>
        </p:txBody>
      </p:sp>
    </p:spTree>
    <p:extLst>
      <p:ext uri="{BB962C8B-B14F-4D97-AF65-F5344CB8AC3E}">
        <p14:creationId xmlns:p14="http://schemas.microsoft.com/office/powerpoint/2010/main" val="13182800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1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5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F51063-55D5-45BE-974A-174AA991C4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practice: - </a:t>
            </a:r>
            <a:r>
              <a:rPr lang="en-AU" dirty="0" err="1"/>
              <a:t>lhs</a:t>
            </a:r>
            <a:endParaRPr lang="en-AU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42C7FF5-057C-4BE4-AB0F-3204BE3BB0D7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8135331" y="233511"/>
            <a:ext cx="3409623" cy="1704812"/>
          </a:xfr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4E76DA0-7355-4D7B-919E-A6F45F04E00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2036" t="21168" r="30335" b="74571"/>
          <a:stretch/>
        </p:blipFill>
        <p:spPr>
          <a:xfrm>
            <a:off x="1051561" y="2110215"/>
            <a:ext cx="9026090" cy="45423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44E3D37-05CC-4D18-8A87-63105C6BF6A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0877" t="46817" r="31494" b="48922"/>
          <a:stretch/>
        </p:blipFill>
        <p:spPr>
          <a:xfrm>
            <a:off x="1051561" y="3248409"/>
            <a:ext cx="9026090" cy="45423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9E74269-99CB-4AE8-9C90-312EC8D9FD32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1936" t="54322" r="28194" b="41934"/>
          <a:stretch/>
        </p:blipFill>
        <p:spPr>
          <a:xfrm>
            <a:off x="1051561" y="4386603"/>
            <a:ext cx="9026090" cy="3811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8470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81400" y="450511"/>
            <a:ext cx="8610600" cy="1293028"/>
          </a:xfrm>
        </p:spPr>
        <p:txBody>
          <a:bodyPr>
            <a:normAutofit fontScale="90000"/>
          </a:bodyPr>
          <a:lstStyle/>
          <a:p>
            <a:r>
              <a:rPr lang="en-AU" dirty="0"/>
              <a:t>Simplifying Expressions</a:t>
            </a:r>
            <a:br>
              <a:rPr lang="en-AU" dirty="0"/>
            </a:br>
            <a:r>
              <a:rPr lang="en-AU" dirty="0"/>
              <a:t> 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0AA07FF-6C82-49C6-9E45-DADC7656E5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AU"/>
          </a:p>
        </p:txBody>
      </p:sp>
      <p:cxnSp>
        <p:nvCxnSpPr>
          <p:cNvPr id="9" name="Straight Connector 8"/>
          <p:cNvCxnSpPr/>
          <p:nvPr/>
        </p:nvCxnSpPr>
        <p:spPr>
          <a:xfrm>
            <a:off x="0" y="1425075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008993" y="1606776"/>
            <a:ext cx="545694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000" dirty="0"/>
              <a:t>EQ: What is a ‘like term’ and how do I collect them? 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1F53A89E-35E6-4F0A-904C-B603F82063EC}"/>
              </a:ext>
            </a:extLst>
          </p:cNvPr>
          <p:cNvCxnSpPr/>
          <p:nvPr/>
        </p:nvCxnSpPr>
        <p:spPr>
          <a:xfrm>
            <a:off x="0" y="2270234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E2BBF380-94B7-4623-955E-24A25D1DD4F0}"/>
              </a:ext>
            </a:extLst>
          </p:cNvPr>
          <p:cNvCxnSpPr/>
          <p:nvPr/>
        </p:nvCxnSpPr>
        <p:spPr>
          <a:xfrm>
            <a:off x="2569779" y="2270234"/>
            <a:ext cx="0" cy="458776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79FF8880-C897-464A-9790-4086757C11A5}"/>
              </a:ext>
            </a:extLst>
          </p:cNvPr>
          <p:cNvSpPr txBox="1"/>
          <p:nvPr/>
        </p:nvSpPr>
        <p:spPr>
          <a:xfrm>
            <a:off x="0" y="337812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F7BC648-DF6F-4D0E-AEDB-343D92181C20}"/>
              </a:ext>
            </a:extLst>
          </p:cNvPr>
          <p:cNvSpPr txBox="1"/>
          <p:nvPr/>
        </p:nvSpPr>
        <p:spPr>
          <a:xfrm>
            <a:off x="122548" y="2516957"/>
            <a:ext cx="231899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latin typeface="Arial" panose="020B0604020202020204" pitchFamily="34" charset="0"/>
                <a:cs typeface="Arial" panose="020B0604020202020204" pitchFamily="34" charset="0"/>
              </a:rPr>
              <a:t>How do I multiply and divide like terms?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0A571A7-0939-4377-86CF-E79C15A5C9A5}"/>
                  </a:ext>
                </a:extLst>
              </p:cNvPr>
              <p:cNvSpPr txBox="1"/>
              <p:nvPr/>
            </p:nvSpPr>
            <p:spPr>
              <a:xfrm>
                <a:off x="2803894" y="2399640"/>
                <a:ext cx="5852094" cy="40791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>
                    <a:latin typeface="Arial" panose="020B0604020202020204" pitchFamily="34" charset="0"/>
                    <a:cs typeface="Arial" panose="020B0604020202020204" pitchFamily="34" charset="0"/>
                  </a:rPr>
                  <a:t>Simplify the following expressions</a:t>
                </a:r>
              </a:p>
              <a:p>
                <a:endParaRPr lang="en-AU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r>
                  <a:rPr lang="en-AU" dirty="0">
                    <a:latin typeface="Arial" panose="020B0604020202020204" pitchFamily="34" charset="0"/>
                    <a:cs typeface="Arial" panose="020B0604020202020204" pitchFamily="34" charset="0"/>
                  </a:rPr>
                  <a:t>Example:</a:t>
                </a:r>
              </a:p>
              <a:p>
                <a:pPr marL="342900" indent="-342900">
                  <a:buFont typeface="+mj-lt"/>
                  <a:buAutoNum type="alphaLcParenR"/>
                </a:pPr>
                <a14:m>
                  <m:oMath xmlns:m="http://schemas.openxmlformats.org/officeDocument/2006/math">
                    <m:r>
                      <a:rPr lang="en-AU" sz="2400" b="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8</m:t>
                    </m:r>
                    <m:r>
                      <a:rPr lang="en-AU" sz="2400" b="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𝑏</m:t>
                    </m:r>
                    <m:r>
                      <a:rPr lang="en-AU" sz="2400" b="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÷2=   </m:t>
                    </m:r>
                    <m:f>
                      <m:fPr>
                        <m:ctrlPr>
                          <a:rPr lang="en-AU" sz="2400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fPr>
                      <m:num>
                        <m:r>
                          <a:rPr lang="en-AU" sz="2400" b="0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8</m:t>
                        </m:r>
                        <m:r>
                          <a:rPr lang="en-AU" sz="2400" b="0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𝑏</m:t>
                        </m:r>
                      </m:num>
                      <m:den>
                        <m:r>
                          <a:rPr lang="en-AU" sz="2400" b="0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2</m:t>
                        </m:r>
                      </m:den>
                    </m:f>
                    <m:r>
                      <a:rPr lang="en-AU" sz="2400" b="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  <m:r>
                      <a:rPr lang="en-AU" sz="240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  4</m:t>
                    </m:r>
                    <m:r>
                      <a:rPr lang="en-AU" sz="240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𝑏</m:t>
                    </m:r>
                  </m:oMath>
                </a14:m>
                <a:endParaRPr lang="en-AU" sz="2000" i="1" dirty="0">
                  <a:latin typeface="Cambria Math" panose="02040503050406030204" pitchFamily="18" charset="0"/>
                  <a:cs typeface="Arial" panose="020B0604020202020204" pitchFamily="34" charset="0"/>
                </a:endParaRPr>
              </a:p>
              <a:p>
                <a:pPr marL="342900" indent="-342900">
                  <a:buFont typeface="+mj-lt"/>
                  <a:buAutoNum type="alphaLcParenR"/>
                </a:pPr>
                <a:endParaRPr lang="en-AU" sz="2000" i="1" dirty="0">
                  <a:latin typeface="Cambria Math" panose="02040503050406030204" pitchFamily="18" charset="0"/>
                  <a:cs typeface="Arial" panose="020B0604020202020204" pitchFamily="34" charset="0"/>
                </a:endParaRPr>
              </a:p>
              <a:p>
                <a:pPr marL="342900" indent="-342900">
                  <a:buFont typeface="+mj-lt"/>
                  <a:buAutoNum type="alphaLcParenR"/>
                </a:pPr>
                <a14:m>
                  <m:oMath xmlns:m="http://schemas.openxmlformats.org/officeDocument/2006/math">
                    <m:r>
                      <a:rPr lang="en-AU" sz="2400" b="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6</m:t>
                    </m:r>
                    <m:r>
                      <a:rPr lang="en-AU" sz="2400" b="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𝑑</m:t>
                    </m:r>
                    <m:r>
                      <a:rPr lang="en-AU" sz="2400" i="1" dirty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÷</m:t>
                    </m:r>
                    <m:r>
                      <a:rPr lang="en-AU" sz="2400" b="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4</m:t>
                    </m:r>
                    <m:r>
                      <a:rPr lang="en-AU" sz="2400" b="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𝑑</m:t>
                    </m:r>
                    <m:r>
                      <a:rPr lang="en-AU" sz="2400" i="1" dirty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   </m:t>
                    </m:r>
                    <m:f>
                      <m:fPr>
                        <m:ctrlPr>
                          <a:rPr lang="en-AU" sz="2400" i="1" dirty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fPr>
                      <m:num>
                        <m:r>
                          <a:rPr lang="en-AU" sz="2400" b="0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6</m:t>
                        </m:r>
                        <m:r>
                          <a:rPr lang="en-AU" sz="2400" b="0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𝑑</m:t>
                        </m:r>
                      </m:num>
                      <m:den>
                        <m:r>
                          <a:rPr lang="en-AU" sz="2400" b="0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4</m:t>
                        </m:r>
                        <m:r>
                          <a:rPr lang="en-AU" sz="2400" b="0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𝑑</m:t>
                        </m:r>
                      </m:den>
                    </m:f>
                    <m:r>
                      <a:rPr lang="en-AU" sz="2400" i="1" dirty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=</m:t>
                    </m:r>
                  </m:oMath>
                </a14:m>
                <a:r>
                  <a:rPr lang="en-AU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400" i="1" dirty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fPr>
                      <m:num>
                        <m:r>
                          <a:rPr lang="en-AU" sz="2400" b="0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3</m:t>
                        </m:r>
                      </m:num>
                      <m:den>
                        <m:r>
                          <a:rPr lang="en-AU" sz="2400" b="0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2</m:t>
                        </m:r>
                      </m:den>
                    </m:f>
                    <m:r>
                      <a:rPr lang="en-AU" sz="2400" i="1" dirty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</m:oMath>
                </a14:m>
                <a:endParaRPr lang="en-AU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342900" indent="-342900">
                  <a:buFont typeface="+mj-lt"/>
                  <a:buAutoNum type="alphaLcParenR"/>
                </a:pPr>
                <a:endParaRPr lang="en-AU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342900" indent="-342900">
                  <a:buFont typeface="+mj-lt"/>
                  <a:buAutoNum type="alphaLcParenR"/>
                </a:pPr>
                <a14:m>
                  <m:oMath xmlns:m="http://schemas.openxmlformats.org/officeDocument/2006/math">
                    <m:r>
                      <a:rPr lang="en-AU" sz="240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1</m:t>
                    </m:r>
                    <m:r>
                      <a:rPr lang="en-AU" sz="2400" b="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8</m:t>
                    </m:r>
                    <m:r>
                      <a:rPr lang="en-AU" sz="2400" b="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𝑎𝑦</m:t>
                    </m:r>
                    <m:r>
                      <a:rPr lang="en-AU" sz="2400" i="1" dirty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÷4</m:t>
                    </m:r>
                    <m:r>
                      <a:rPr lang="en-AU" sz="2400" b="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𝑎</m:t>
                    </m:r>
                    <m:r>
                      <a:rPr lang="en-AU" sz="2400" i="1" dirty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   </m:t>
                    </m:r>
                    <m:f>
                      <m:fPr>
                        <m:ctrlPr>
                          <a:rPr lang="en-AU" sz="2400" i="1" dirty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fPr>
                      <m:num>
                        <m:r>
                          <a:rPr lang="en-AU" sz="2400" b="0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18</m:t>
                        </m:r>
                        <m:r>
                          <a:rPr lang="en-AU" sz="2400" b="0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𝑎𝑦</m:t>
                        </m:r>
                      </m:num>
                      <m:den>
                        <m:r>
                          <a:rPr lang="en-AU" sz="2400" i="1" dirty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4</m:t>
                        </m:r>
                        <m:r>
                          <a:rPr lang="en-AU" sz="2400" b="0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𝑎</m:t>
                        </m:r>
                      </m:den>
                    </m:f>
                    <m:r>
                      <a:rPr lang="en-AU" sz="2400" i="1" dirty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=</m:t>
                    </m:r>
                  </m:oMath>
                </a14:m>
                <a:r>
                  <a:rPr lang="en-AU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400" i="1" dirty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fPr>
                      <m:num>
                        <m:r>
                          <a:rPr lang="en-AU" sz="2400" b="0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9</m:t>
                        </m:r>
                        <m:r>
                          <a:rPr lang="en-AU" sz="2400" b="0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𝑦</m:t>
                        </m:r>
                      </m:num>
                      <m:den>
                        <m:r>
                          <a:rPr lang="en-AU" sz="2400" i="1" dirty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2</m:t>
                        </m:r>
                      </m:den>
                    </m:f>
                    <m:r>
                      <a:rPr lang="en-AU" sz="2400" i="1" dirty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</m:oMath>
                </a14:m>
                <a:endParaRPr lang="en-AU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342900" indent="-342900">
                  <a:buFont typeface="+mj-lt"/>
                  <a:buAutoNum type="alphaLcParenR"/>
                </a:pPr>
                <a:endParaRPr lang="en-AU" sz="2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342900" indent="-342900">
                  <a:buFont typeface="+mj-lt"/>
                  <a:buAutoNum type="alphaLcParenR"/>
                </a:pPr>
                <a:endParaRPr lang="en-AU" sz="2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342900" indent="-342900">
                  <a:buFont typeface="+mj-lt"/>
                  <a:buAutoNum type="alphaLcParenR"/>
                </a:pPr>
                <a:endParaRPr lang="en-AU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0A571A7-0939-4377-86CF-E79C15A5C9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03894" y="2399640"/>
                <a:ext cx="5852094" cy="4079194"/>
              </a:xfrm>
              <a:prstGeom prst="rect">
                <a:avLst/>
              </a:prstGeom>
              <a:blipFill>
                <a:blip r:embed="rId2"/>
                <a:stretch>
                  <a:fillRect l="-938" t="-89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D250593-6ED0-4573-BD12-F111A3A2C9E9}"/>
              </a:ext>
            </a:extLst>
          </p:cNvPr>
          <p:cNvCxnSpPr>
            <a:cxnSpLocks/>
          </p:cNvCxnSpPr>
          <p:nvPr/>
        </p:nvCxnSpPr>
        <p:spPr>
          <a:xfrm flipH="1">
            <a:off x="5033913" y="4138367"/>
            <a:ext cx="160256" cy="160256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33283A0-F655-4971-A698-609DF0430FA8}"/>
              </a:ext>
            </a:extLst>
          </p:cNvPr>
          <p:cNvCxnSpPr>
            <a:cxnSpLocks/>
          </p:cNvCxnSpPr>
          <p:nvPr/>
        </p:nvCxnSpPr>
        <p:spPr>
          <a:xfrm flipH="1">
            <a:off x="5033913" y="4467518"/>
            <a:ext cx="160256" cy="160256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55DD8D1A-2A9E-4742-982A-6CE260265751}"/>
              </a:ext>
            </a:extLst>
          </p:cNvPr>
          <p:cNvCxnSpPr>
            <a:cxnSpLocks/>
          </p:cNvCxnSpPr>
          <p:nvPr/>
        </p:nvCxnSpPr>
        <p:spPr>
          <a:xfrm flipH="1">
            <a:off x="5484843" y="5035484"/>
            <a:ext cx="160256" cy="160256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09495C9A-9212-4B33-8F4D-3791231D4252}"/>
              </a:ext>
            </a:extLst>
          </p:cNvPr>
          <p:cNvCxnSpPr>
            <a:cxnSpLocks/>
          </p:cNvCxnSpPr>
          <p:nvPr/>
        </p:nvCxnSpPr>
        <p:spPr>
          <a:xfrm flipH="1">
            <a:off x="5494270" y="5362853"/>
            <a:ext cx="160256" cy="160256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301685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F51063-55D5-45BE-974A-174AA991C4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practice: - </a:t>
            </a:r>
            <a:r>
              <a:rPr lang="en-AU" dirty="0" err="1"/>
              <a:t>lhs</a:t>
            </a:r>
            <a:endParaRPr lang="en-AU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42C7FF5-057C-4BE4-AB0F-3204BE3BB0D7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8135331" y="233511"/>
            <a:ext cx="3409623" cy="1704812"/>
          </a:xfr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54A2A57-B596-4BAD-9829-2F1B4D6C58B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2605" t="44741" r="29374" b="51037"/>
          <a:stretch/>
        </p:blipFill>
        <p:spPr>
          <a:xfrm>
            <a:off x="608796" y="2286246"/>
            <a:ext cx="10181123" cy="50353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0A7F657-4C7C-4F33-BBDA-732012F42DB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2376" t="68832" r="29603" b="27454"/>
          <a:stretch/>
        </p:blipFill>
        <p:spPr>
          <a:xfrm>
            <a:off x="608797" y="3378467"/>
            <a:ext cx="10104119" cy="43961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05A2E8F-AEDF-4586-A940-B5D498C76291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1789" t="64690" r="28789" b="31649"/>
          <a:stretch/>
        </p:blipFill>
        <p:spPr>
          <a:xfrm>
            <a:off x="608796" y="4572000"/>
            <a:ext cx="10104119" cy="4210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19804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B8C17E-2303-48D6-938F-5720697A0CB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37673" y="677358"/>
            <a:ext cx="10394707" cy="331118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AU" sz="3200" dirty="0"/>
              <a:t>ESSENTIAL MATHEMATICS: </a:t>
            </a:r>
          </a:p>
          <a:p>
            <a:pPr marL="0" indent="0">
              <a:buNone/>
            </a:pPr>
            <a:endParaRPr lang="en-AU" sz="3200" dirty="0"/>
          </a:p>
          <a:p>
            <a:pPr marL="0" indent="0">
              <a:buNone/>
            </a:pPr>
            <a:r>
              <a:rPr lang="en-AU" sz="3200"/>
              <a:t>PAGE</a:t>
            </a:r>
            <a:endParaRPr lang="en-AU" sz="3200" dirty="0"/>
          </a:p>
        </p:txBody>
      </p:sp>
    </p:spTree>
    <p:extLst>
      <p:ext uri="{BB962C8B-B14F-4D97-AF65-F5344CB8AC3E}">
        <p14:creationId xmlns:p14="http://schemas.microsoft.com/office/powerpoint/2010/main" val="330874543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ain Event">
  <a:themeElements>
    <a:clrScheme name="Main Event">
      <a:dk1>
        <a:sysClr val="windowText" lastClr="000000"/>
      </a:dk1>
      <a:lt1>
        <a:sysClr val="window" lastClr="FFFFFF"/>
      </a:lt1>
      <a:dk2>
        <a:srgbClr val="424242"/>
      </a:dk2>
      <a:lt2>
        <a:srgbClr val="C8C8C8"/>
      </a:lt2>
      <a:accent1>
        <a:srgbClr val="EE8011"/>
      </a:accent1>
      <a:accent2>
        <a:srgbClr val="CEC079"/>
      </a:accent2>
      <a:accent3>
        <a:srgbClr val="93A569"/>
      </a:accent3>
      <a:accent4>
        <a:srgbClr val="69A58B"/>
      </a:accent4>
      <a:accent5>
        <a:srgbClr val="6DAABD"/>
      </a:accent5>
      <a:accent6>
        <a:srgbClr val="B24A4B"/>
      </a:accent6>
      <a:hlink>
        <a:srgbClr val="EE8E11"/>
      </a:hlink>
      <a:folHlink>
        <a:srgbClr val="BFAE7F"/>
      </a:folHlink>
    </a:clrScheme>
    <a:fontScheme name="Main Event">
      <a:majorFont>
        <a:latin typeface="Impact" panose="020B080603090205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Impact" panose="020B080603090205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ain Even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blipFill>
          <a:blip xmlns:r="http://schemas.openxmlformats.org/officeDocument/2006/relationships" r:embed="rId1">
            <a:duotone>
              <a:schemeClr val="phClr">
                <a:shade val="88000"/>
                <a:lumMod val="88000"/>
              </a:schemeClr>
              <a:schemeClr val="phClr"/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25400" dist="127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0"/>
        </a:gradFill>
        <a:blipFill>
          <a:blip xmlns:r="http://schemas.openxmlformats.org/officeDocument/2006/relationships" r:embed="rId2">
            <a:duotone>
              <a:schemeClr val="phClr">
                <a:shade val="48000"/>
                <a:satMod val="110000"/>
                <a:lumMod val="40000"/>
              </a:schemeClr>
              <a:schemeClr val="phClr">
                <a:tint val="90000"/>
                <a:lumMod val="10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in Event" id="{AC372BB4-D83D-411E-B849-B641926BA760}" vid="{686B1E04-F35C-4AB5-985D-0C358CA1105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TM04033927[[fn=Main Event]]</Template>
  <TotalTime>120</TotalTime>
  <Words>278</Words>
  <Application>Microsoft Office PowerPoint</Application>
  <PresentationFormat>Widescreen</PresentationFormat>
  <Paragraphs>86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Cambria Math</vt:lpstr>
      <vt:lpstr>Impact</vt:lpstr>
      <vt:lpstr>Main Event</vt:lpstr>
      <vt:lpstr>Algebra  Interactive Notebook </vt:lpstr>
      <vt:lpstr>PowerPoint Presentation</vt:lpstr>
      <vt:lpstr>PowerPoint Presentation</vt:lpstr>
      <vt:lpstr>Simplifying Expressions  </vt:lpstr>
      <vt:lpstr>Riddle of the day </vt:lpstr>
      <vt:lpstr>Answer</vt:lpstr>
      <vt:lpstr>Revision - lhs</vt:lpstr>
      <vt:lpstr>Simplifying Expressions  </vt:lpstr>
      <vt:lpstr>practice: - lhs</vt:lpstr>
      <vt:lpstr>Simplifying Expressions  </vt:lpstr>
      <vt:lpstr>practice: - lhs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Algebra  Interactive Notebook</dc:title>
  <dc:creator>D'SOUZA Jillian [Baldivis Secondary College]</dc:creator>
  <cp:lastModifiedBy>CRAIG Mason [Baldivis Secondary College]</cp:lastModifiedBy>
  <cp:revision>45</cp:revision>
  <dcterms:created xsi:type="dcterms:W3CDTF">2018-03-11T07:42:05Z</dcterms:created>
  <dcterms:modified xsi:type="dcterms:W3CDTF">2019-03-17T13:21:13Z</dcterms:modified>
</cp:coreProperties>
</file>
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9"/>
  </p:notesMasterIdLst>
  <p:sldIdLst>
    <p:sldId id="256" r:id="rId2"/>
    <p:sldId id="259" r:id="rId3"/>
    <p:sldId id="260" r:id="rId4"/>
    <p:sldId id="265" r:id="rId5"/>
    <p:sldId id="262" r:id="rId6"/>
    <p:sldId id="263" r:id="rId7"/>
    <p:sldId id="264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68" d="100"/>
          <a:sy n="68" d="100"/>
        </p:scale>
        <p:origin x="616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E46C919-545A-4FEC-AE68-55E6946624F4}" type="datetimeFigureOut">
              <a:rPr lang="en-AU" smtClean="0"/>
              <a:t>18/03/2018</a:t>
            </a:fld>
            <a:endParaRPr lang="en-AU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2AF0E04-A781-4021-BDF6-15A9F238A22C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9504320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>
            <a:extLst>
              <a:ext uri="{FF2B5EF4-FFF2-40B4-BE49-F238E27FC236}">
                <a16:creationId xmlns:a16="http://schemas.microsoft.com/office/drawing/2014/main" id="{6F8E4BE7-AF0D-41BC-AE6E-4D8209C5302A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DF48AD7B-EDBA-460C-921E-D90B28F52EE6}" type="slidenum">
              <a:rPr lang="en-US" altLang="en-US"/>
              <a:pPr algn="r" eaLnBrk="1" hangingPunct="1">
                <a:spcBef>
                  <a:spcPct val="0"/>
                </a:spcBef>
              </a:pPr>
              <a:t>4</a:t>
            </a:fld>
            <a:endParaRPr lang="en-US" altLang="en-US"/>
          </a:p>
        </p:txBody>
      </p:sp>
      <p:sp>
        <p:nvSpPr>
          <p:cNvPr id="26627" name="Rectangle 2">
            <a:extLst>
              <a:ext uri="{FF2B5EF4-FFF2-40B4-BE49-F238E27FC236}">
                <a16:creationId xmlns:a16="http://schemas.microsoft.com/office/drawing/2014/main" id="{9F91BEAA-A71C-48AE-8D33-62CA6FC3C1F3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8" name="Rectangle 3">
            <a:extLst>
              <a:ext uri="{FF2B5EF4-FFF2-40B4-BE49-F238E27FC236}">
                <a16:creationId xmlns:a16="http://schemas.microsoft.com/office/drawing/2014/main" id="{65D81EC7-2A9D-4BE0-98E8-81421DF7F40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GB" altLang="en-US" b="1">
                <a:latin typeface="Arial" panose="020B0604020202020204" pitchFamily="34" charset="0"/>
              </a:rPr>
              <a:t>Teacher notes</a:t>
            </a:r>
          </a:p>
          <a:p>
            <a:pPr eaLnBrk="1" hangingPunct="1"/>
            <a:r>
              <a:rPr lang="en-GB" altLang="en-US">
                <a:latin typeface="Arial" panose="020B0604020202020204" pitchFamily="34" charset="0"/>
              </a:rPr>
              <a:t>Select a bracketed expression and ask a volunteer to find its corresponding expansion.</a:t>
            </a:r>
          </a:p>
          <a:p>
            <a:pPr eaLnBrk="1" hangingPunct="1"/>
            <a:endParaRPr lang="en-GB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6215269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7">
            <a:extLst>
              <a:ext uri="{FF2B5EF4-FFF2-40B4-BE49-F238E27FC236}">
                <a16:creationId xmlns:a16="http://schemas.microsoft.com/office/drawing/2014/main" id="{313359D2-06D4-4FFB-B8EC-779AEC983A88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0A783A86-EE8A-400E-9A32-25107181BC2D}" type="slidenum">
              <a:rPr lang="en-US" altLang="en-US"/>
              <a:pPr algn="r" eaLnBrk="1" hangingPunct="1">
                <a:spcBef>
                  <a:spcPct val="0"/>
                </a:spcBef>
              </a:pPr>
              <a:t>5</a:t>
            </a:fld>
            <a:endParaRPr lang="en-US" altLang="en-US" dirty="0"/>
          </a:p>
        </p:txBody>
      </p:sp>
      <p:sp>
        <p:nvSpPr>
          <p:cNvPr id="16387" name="Rectangle 2">
            <a:extLst>
              <a:ext uri="{FF2B5EF4-FFF2-40B4-BE49-F238E27FC236}">
                <a16:creationId xmlns:a16="http://schemas.microsoft.com/office/drawing/2014/main" id="{8ECC27C7-FC10-4C00-A3CA-151E15A5BF86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388" name="Rectangle 3">
            <a:extLst>
              <a:ext uri="{FF2B5EF4-FFF2-40B4-BE49-F238E27FC236}">
                <a16:creationId xmlns:a16="http://schemas.microsoft.com/office/drawing/2014/main" id="{7A32DAB8-3999-4969-BFAF-2F365361AF5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GB" altLang="en-US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3774131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7">
            <a:extLst>
              <a:ext uri="{FF2B5EF4-FFF2-40B4-BE49-F238E27FC236}">
                <a16:creationId xmlns:a16="http://schemas.microsoft.com/office/drawing/2014/main" id="{122A9ECD-E52C-49D5-BDA2-3100A6AA9475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358A636D-7E7E-441D-9B5D-C91AC57ED9C4}" type="slidenum">
              <a:rPr lang="en-US" altLang="en-US"/>
              <a:pPr algn="r" eaLnBrk="1" hangingPunct="1">
                <a:spcBef>
                  <a:spcPct val="0"/>
                </a:spcBef>
              </a:pPr>
              <a:t>6</a:t>
            </a:fld>
            <a:endParaRPr lang="en-US" altLang="en-US" dirty="0"/>
          </a:p>
        </p:txBody>
      </p:sp>
      <p:sp>
        <p:nvSpPr>
          <p:cNvPr id="18435" name="Rectangle 2">
            <a:extLst>
              <a:ext uri="{FF2B5EF4-FFF2-40B4-BE49-F238E27FC236}">
                <a16:creationId xmlns:a16="http://schemas.microsoft.com/office/drawing/2014/main" id="{747742EE-8159-44ED-9CB8-9776AAAD5C00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436" name="Rectangle 3">
            <a:extLst>
              <a:ext uri="{FF2B5EF4-FFF2-40B4-BE49-F238E27FC236}">
                <a16:creationId xmlns:a16="http://schemas.microsoft.com/office/drawing/2014/main" id="{550581DB-6F6A-4885-B1F4-470B72F25E3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GB" altLang="en-US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893167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7">
            <a:extLst>
              <a:ext uri="{FF2B5EF4-FFF2-40B4-BE49-F238E27FC236}">
                <a16:creationId xmlns:a16="http://schemas.microsoft.com/office/drawing/2014/main" id="{65CD30E4-4FD6-4B78-89B9-F6316BB3434C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7A9653B8-95EC-4464-9420-87187C3C8C37}" type="slidenum">
              <a:rPr lang="en-US" altLang="en-US"/>
              <a:pPr algn="r" eaLnBrk="1" hangingPunct="1">
                <a:spcBef>
                  <a:spcPct val="0"/>
                </a:spcBef>
              </a:pPr>
              <a:t>7</a:t>
            </a:fld>
            <a:endParaRPr lang="en-US" altLang="en-US" dirty="0"/>
          </a:p>
        </p:txBody>
      </p:sp>
      <p:sp>
        <p:nvSpPr>
          <p:cNvPr id="20483" name="Rectangle 2">
            <a:extLst>
              <a:ext uri="{FF2B5EF4-FFF2-40B4-BE49-F238E27FC236}">
                <a16:creationId xmlns:a16="http://schemas.microsoft.com/office/drawing/2014/main" id="{B4EE4BA5-3AAD-4795-9A5D-7678E8BFAAA6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484" name="Rectangle 3">
            <a:extLst>
              <a:ext uri="{FF2B5EF4-FFF2-40B4-BE49-F238E27FC236}">
                <a16:creationId xmlns:a16="http://schemas.microsoft.com/office/drawing/2014/main" id="{785444CE-ECBB-40E5-9B82-664E1BD157D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GB" altLang="en-US" b="1" dirty="0">
                <a:latin typeface="Arial" panose="020B0604020202020204" pitchFamily="34" charset="0"/>
              </a:rPr>
              <a:t>Teacher notes</a:t>
            </a:r>
          </a:p>
          <a:p>
            <a:pPr eaLnBrk="1" hangingPunct="1"/>
            <a:r>
              <a:rPr lang="en-GB" altLang="en-US" dirty="0">
                <a:latin typeface="Arial" panose="020B0604020202020204" pitchFamily="34" charset="0"/>
              </a:rPr>
              <a:t>Any of the terms in the expansion can be hidden or revealed to practice squaring expressions.</a:t>
            </a:r>
          </a:p>
        </p:txBody>
      </p:sp>
    </p:spTree>
    <p:extLst>
      <p:ext uri="{BB962C8B-B14F-4D97-AF65-F5344CB8AC3E}">
        <p14:creationId xmlns:p14="http://schemas.microsoft.com/office/powerpoint/2010/main" val="33009744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Brickwork-HD-R1a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 useBgFill="1">
        <p:nvSpPr>
          <p:cNvPr id="12" name="Freeform 11"/>
          <p:cNvSpPr/>
          <p:nvPr/>
        </p:nvSpPr>
        <p:spPr>
          <a:xfrm>
            <a:off x="-15875" y="0"/>
            <a:ext cx="11683810" cy="6588125"/>
          </a:xfrm>
          <a:custGeom>
            <a:avLst/>
            <a:gdLst/>
            <a:ahLst/>
            <a:cxnLst/>
            <a:rect l="l" t="t" r="r" b="b"/>
            <a:pathLst>
              <a:path w="11683810" h="6588125">
                <a:moveTo>
                  <a:pt x="0" y="0"/>
                </a:moveTo>
                <a:lnTo>
                  <a:pt x="11318691" y="0"/>
                </a:lnTo>
                <a:lnTo>
                  <a:pt x="11683810" y="5976938"/>
                </a:lnTo>
                <a:lnTo>
                  <a:pt x="15875" y="6588125"/>
                </a:lnTo>
                <a:cubicBezTo>
                  <a:pt x="10583" y="4386792"/>
                  <a:pt x="5292" y="2185458"/>
                  <a:pt x="0" y="0"/>
                </a:cubicBezTo>
                <a:close/>
              </a:path>
            </a:pathLst>
          </a:custGeom>
          <a:ln>
            <a:noFill/>
          </a:ln>
          <a:effectLst>
            <a:outerShdw blurRad="101600" dist="152400" dir="4380000" algn="tl" rotWithShape="0">
              <a:srgbClr val="000000">
                <a:alpha val="4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4" name="Freeform 13"/>
          <p:cNvSpPr/>
          <p:nvPr/>
        </p:nvSpPr>
        <p:spPr>
          <a:xfrm>
            <a:off x="0" y="4282257"/>
            <a:ext cx="11329257" cy="2028845"/>
          </a:xfrm>
          <a:custGeom>
            <a:avLst/>
            <a:gdLst/>
            <a:ahLst/>
            <a:cxnLst/>
            <a:rect l="l" t="t" r="r" b="b"/>
            <a:pathLst>
              <a:path w="11329257" h="2028845">
                <a:moveTo>
                  <a:pt x="0" y="588520"/>
                </a:moveTo>
                <a:lnTo>
                  <a:pt x="11244075" y="0"/>
                </a:lnTo>
                <a:lnTo>
                  <a:pt x="11329257" y="1424838"/>
                </a:lnTo>
                <a:lnTo>
                  <a:pt x="0" y="2028845"/>
                </a:lnTo>
                <a:lnTo>
                  <a:pt x="0" y="588520"/>
                </a:lnTo>
                <a:close/>
              </a:path>
            </a:pathLst>
          </a:custGeom>
          <a:gradFill flip="none" rotWithShape="1">
            <a:gsLst>
              <a:gs pos="3400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6" name="Freeform 25"/>
          <p:cNvSpPr/>
          <p:nvPr/>
        </p:nvSpPr>
        <p:spPr>
          <a:xfrm>
            <a:off x="0" y="0"/>
            <a:ext cx="8719579" cy="456877"/>
          </a:xfrm>
          <a:custGeom>
            <a:avLst/>
            <a:gdLst/>
            <a:ahLst/>
            <a:cxnLst/>
            <a:rect l="l" t="t" r="r" b="b"/>
            <a:pathLst>
              <a:path w="8719579" h="456877">
                <a:moveTo>
                  <a:pt x="0" y="0"/>
                </a:moveTo>
                <a:lnTo>
                  <a:pt x="8719579" y="0"/>
                </a:lnTo>
                <a:lnTo>
                  <a:pt x="0" y="456877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3400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5" name="Freeform 14"/>
          <p:cNvSpPr/>
          <p:nvPr/>
        </p:nvSpPr>
        <p:spPr>
          <a:xfrm rot="21420000">
            <a:off x="-161800" y="293317"/>
            <a:ext cx="11367116" cy="5751804"/>
          </a:xfrm>
          <a:custGeom>
            <a:avLst/>
            <a:gdLst/>
            <a:ahLst/>
            <a:cxnLst/>
            <a:rect l="l" t="t" r="r" b="b"/>
            <a:pathLst>
              <a:path w="11367116" h="5751804">
                <a:moveTo>
                  <a:pt x="11346705" y="0"/>
                </a:moveTo>
                <a:cubicBezTo>
                  <a:pt x="11353509" y="1915114"/>
                  <a:pt x="11360312" y="3830229"/>
                  <a:pt x="11367116" y="5745343"/>
                </a:cubicBezTo>
                <a:lnTo>
                  <a:pt x="0" y="5751804"/>
                </a:lnTo>
              </a:path>
            </a:pathLst>
          </a:custGeom>
          <a:ln w="82550">
            <a:solidFill>
              <a:schemeClr val="tx1">
                <a:lumMod val="50000"/>
                <a:lumOff val="50000"/>
              </a:schemeClr>
            </a:solidFill>
            <a:miter lim="800000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 rot="21420000">
            <a:off x="891201" y="662656"/>
            <a:ext cx="9755187" cy="2766528"/>
          </a:xfrm>
        </p:spPr>
        <p:txBody>
          <a:bodyPr anchor="b">
            <a:normAutofit/>
          </a:bodyPr>
          <a:lstStyle>
            <a:lvl1pPr algn="r">
              <a:defRPr sz="8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 rot="21420000">
            <a:off x="983062" y="3505209"/>
            <a:ext cx="9755187" cy="550333"/>
          </a:xfrm>
        </p:spPr>
        <p:txBody>
          <a:bodyPr anchor="t">
            <a:noAutofit/>
          </a:bodyPr>
          <a:lstStyle>
            <a:lvl1pPr marL="0" indent="0" algn="r">
              <a:buNone/>
              <a:defRPr sz="28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 rot="21420000">
            <a:off x="4948541" y="4578463"/>
            <a:ext cx="6143653" cy="1163112"/>
          </a:xfrm>
        </p:spPr>
        <p:txBody>
          <a:bodyPr/>
          <a:lstStyle>
            <a:lvl1pPr algn="ctr">
              <a:defRPr sz="5400">
                <a:solidFill>
                  <a:schemeClr val="accent1">
                    <a:lumMod val="40000"/>
                    <a:lumOff val="60000"/>
                  </a:schemeClr>
                </a:solidFill>
              </a:defRPr>
            </a:lvl1pPr>
          </a:lstStyle>
          <a:p>
            <a:fld id="{EE401711-02DC-4F5A-B0A4-D7A4CFB82638}" type="datetimeFigureOut">
              <a:rPr lang="en-US" dirty="0"/>
              <a:t>3/18/2018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 rot="21420000">
            <a:off x="-9144" y="4882896"/>
            <a:ext cx="4050792" cy="1197864"/>
          </a:xfrm>
        </p:spPr>
        <p:txBody>
          <a:bodyPr vert="horz" lIns="91440" tIns="45720" rIns="91440" bIns="45720" rtlCol="0" anchor="ctr"/>
          <a:lstStyle>
            <a:lvl1pPr algn="r">
              <a:defRPr lang="en-US" sz="5400" dirty="0"/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 rot="21420000">
            <a:off x="9851758" y="3832648"/>
            <a:ext cx="907186" cy="498470"/>
          </a:xfrm>
        </p:spPr>
        <p:txBody>
          <a:bodyPr/>
          <a:lstStyle>
            <a:lvl1pPr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5" name="5-Point Star 24"/>
          <p:cNvSpPr/>
          <p:nvPr/>
        </p:nvSpPr>
        <p:spPr>
          <a:xfrm rot="21420000">
            <a:off x="4221385" y="5111356"/>
            <a:ext cx="515386" cy="515386"/>
          </a:xfrm>
          <a:prstGeom prst="star5">
            <a:avLst>
              <a:gd name="adj" fmla="val 26693"/>
              <a:gd name="hf" fmla="val 105146"/>
              <a:gd name="vf" fmla="val 110557"/>
            </a:avLst>
          </a:prstGeom>
          <a:solidFill>
            <a:schemeClr val="accent1">
              <a:lumMod val="40000"/>
              <a:lumOff val="60000"/>
              <a:alpha val="6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685800" y="2063396"/>
            <a:ext cx="10394707" cy="3311189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C10A69-C0BC-4A5A-8FE4-5D0B5D0F11EE}" type="datetimeFigureOut">
              <a:rPr lang="en-US" dirty="0"/>
              <a:t>3/18/2018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4707" cy="3193487"/>
          </a:xfrm>
        </p:spPr>
        <p:txBody>
          <a:bodyPr anchor="b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3742267"/>
            <a:ext cx="10394707" cy="1639614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653B61-F054-442D-881D-6A81C2774BFE}" type="datetimeFigureOut">
              <a:rPr lang="en-US" dirty="0"/>
              <a:t>3/18/2018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6882" cy="115814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685800" y="2063396"/>
            <a:ext cx="5088714" cy="3311189"/>
          </a:xfrm>
        </p:spPr>
        <p:txBody>
          <a:bodyPr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5993971" y="2063396"/>
            <a:ext cx="5086538" cy="3311189"/>
          </a:xfrm>
        </p:spPr>
        <p:txBody>
          <a:bodyPr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A8CD3A-8283-4FC4-856C-D5E0BF662449}" type="datetimeFigureOut">
              <a:rPr lang="en-US" dirty="0"/>
              <a:t>3/18/2018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4707" cy="115814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8356" y="2063396"/>
            <a:ext cx="4856158" cy="679994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6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685802" y="2861733"/>
            <a:ext cx="5088712" cy="2512852"/>
          </a:xfrm>
        </p:spPr>
        <p:txBody>
          <a:bodyPr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8191" y="2063396"/>
            <a:ext cx="4864491" cy="679994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6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5993969" y="2861733"/>
            <a:ext cx="5088713" cy="2512852"/>
          </a:xfrm>
        </p:spPr>
        <p:txBody>
          <a:bodyPr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D8FEE8-FC08-4C54-BE1B-81CB6CA05FC8}" type="datetimeFigureOut">
              <a:rPr lang="en-US" dirty="0"/>
              <a:t>3/18/2018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EA528B-AADB-4276-9F0D-B13FCF86F309}" type="datetimeFigureOut">
              <a:rPr lang="en-US" dirty="0"/>
              <a:t>3/18/2018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6497F-A1E4-4C0B-8811-954A59B26923}" type="datetimeFigureOut">
              <a:rPr lang="en-US" dirty="0"/>
              <a:t>3/18/2018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3643" y="685800"/>
            <a:ext cx="4126860" cy="2023252"/>
          </a:xfrm>
        </p:spPr>
        <p:txBody>
          <a:bodyPr anchor="b">
            <a:normAutofit/>
          </a:bodyPr>
          <a:lstStyle>
            <a:lvl1pPr algn="ctr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5046132" y="685800"/>
            <a:ext cx="6034375" cy="468878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3642" y="2709052"/>
            <a:ext cx="4126861" cy="2665533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1824E7-1432-4F89-B9E6-59843C6C91FE}" type="datetimeFigureOut">
              <a:rPr lang="en-US" dirty="0"/>
              <a:t>3/18/2018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685800"/>
            <a:ext cx="6345302" cy="2023252"/>
          </a:xfrm>
        </p:spPr>
        <p:txBody>
          <a:bodyPr anchor="b">
            <a:normAutofit/>
          </a:bodyPr>
          <a:lstStyle>
            <a:lvl1pPr algn="ctr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82362" y="0"/>
            <a:ext cx="3598146" cy="5071533"/>
          </a:xfr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1" y="2709052"/>
            <a:ext cx="6345301" cy="2362481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0AAD9C-D29C-4D1E-A739-CC3C95B41085}" type="datetimeFigureOut">
              <a:rPr lang="en-US" dirty="0"/>
              <a:t>3/18/2018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106333"/>
            <a:ext cx="10394708" cy="58884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5801" y="685799"/>
            <a:ext cx="10392513" cy="3194903"/>
          </a:xfr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780" y="4702923"/>
            <a:ext cx="10394728" cy="682472"/>
          </a:xfrm>
        </p:spPr>
        <p:txBody>
          <a:bodyPr anchor="t"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3336BD-BA89-4B92-9DBC-679F61142570}" type="datetimeFigureOut">
              <a:rPr lang="en-US" dirty="0"/>
              <a:t>3/18/2018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6902" cy="3194903"/>
          </a:xfrm>
        </p:spPr>
        <p:txBody>
          <a:bodyPr anchor="ctr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779" y="4106333"/>
            <a:ext cx="10394729" cy="127360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6CB5C7-A3C7-439B-802A-DFE3FCA7ADBD}" type="datetimeFigureOut">
              <a:rPr lang="en-US" dirty="0"/>
              <a:t>3/18/2018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1732" y="685800"/>
            <a:ext cx="9525020" cy="2916704"/>
          </a:xfrm>
        </p:spPr>
        <p:txBody>
          <a:bodyPr anchor="ctr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550264" y="3610032"/>
            <a:ext cx="8667956" cy="377768"/>
          </a:xfrm>
        </p:spPr>
        <p:txBody>
          <a:bodyPr anchor="t">
            <a:normAutofit/>
          </a:bodyPr>
          <a:lstStyle>
            <a:lvl1pPr marL="0" indent="0" algn="r">
              <a:buNone/>
              <a:defRPr sz="14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1" y="4106334"/>
            <a:ext cx="10396882" cy="1268252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E65EA-47B7-4DBF-958B-A3D4DA4F431A}" type="datetimeFigureOut">
              <a:rPr lang="en-US" dirty="0"/>
              <a:t>3/18/2018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685801" y="89262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473083" y="292282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723854"/>
            <a:ext cx="10394707" cy="2511835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4247468"/>
            <a:ext cx="10394707" cy="114064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DA4AAA-CF98-48DB-9517-D7ADD1FD1213}" type="datetimeFigureOut">
              <a:rPr lang="en-US" dirty="0"/>
              <a:t>3/18/2018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85802" y="685800"/>
            <a:ext cx="10394706" cy="1151965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802" y="206339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802" y="2639658"/>
            <a:ext cx="3310128" cy="273492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34622" y="206339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234621" y="2639658"/>
            <a:ext cx="3310128" cy="273492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770380" y="206339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770380" y="2639658"/>
            <a:ext cx="3310128" cy="273492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9F696-D0E7-4C66-925E-251F9C0B0F21}" type="datetimeFigureOut">
              <a:rPr lang="en-US" dirty="0"/>
              <a:t>3/18/2018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6882" cy="1151965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91840" y="381302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2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5780" y="2063395"/>
            <a:ext cx="3310128" cy="1536725"/>
          </a:xfrm>
          <a:prstGeom prst="roundRect">
            <a:avLst>
              <a:gd name="adj" fmla="val 0"/>
            </a:avLst>
          </a:prstGeo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91840" y="4389287"/>
            <a:ext cx="3310128" cy="98529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37410" y="381302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2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235999" y="2063395"/>
            <a:ext cx="3310128" cy="1535237"/>
          </a:xfrm>
          <a:prstGeom prst="roundRect">
            <a:avLst>
              <a:gd name="adj" fmla="val 0"/>
            </a:avLst>
          </a:prstGeo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235999" y="4389286"/>
            <a:ext cx="3310128" cy="98530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768944" y="381302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2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768819" y="2063394"/>
            <a:ext cx="3310128" cy="1537196"/>
          </a:xfrm>
          <a:prstGeom prst="roundRect">
            <a:avLst>
              <a:gd name="adj" fmla="val 0"/>
            </a:avLst>
          </a:prstGeo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768819" y="4389284"/>
            <a:ext cx="3310128" cy="985302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C2732E-4FBC-4B01-A175-6B1CAC9B226D}" type="datetimeFigureOut">
              <a:rPr lang="en-US" dirty="0"/>
              <a:t>3/18/2018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685800" y="2063396"/>
            <a:ext cx="10394707" cy="3311190"/>
          </a:xfrm>
        </p:spPr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84AFC5-17E4-4A26-A144-49682BD36ECA}" type="datetimeFigureOut">
              <a:rPr lang="en-US" dirty="0"/>
              <a:t>3/18/2018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15862" y="685800"/>
            <a:ext cx="2264646" cy="4688785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685800" y="685800"/>
            <a:ext cx="7904431" cy="4688785"/>
          </a:xfrm>
        </p:spPr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679482-E0DA-4858-9A19-F8B792C0C3D9}" type="datetimeFigureOut">
              <a:rPr lang="en-US" dirty="0"/>
              <a:t>3/18/2018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jp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Brickwork-HD-R1a.jp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10" name="Group 9"/>
          <p:cNvGrpSpPr/>
          <p:nvPr/>
        </p:nvGrpSpPr>
        <p:grpSpPr>
          <a:xfrm>
            <a:off x="-25397" y="0"/>
            <a:ext cx="12005350" cy="6644081"/>
            <a:chOff x="-25397" y="0"/>
            <a:chExt cx="12005350" cy="6644081"/>
          </a:xfrm>
        </p:grpSpPr>
        <p:sp useBgFill="1">
          <p:nvSpPr>
            <p:cNvPr id="11" name="Rectangle 10"/>
            <p:cNvSpPr/>
            <p:nvPr/>
          </p:nvSpPr>
          <p:spPr>
            <a:xfrm>
              <a:off x="1" y="0"/>
              <a:ext cx="11979952" cy="6644081"/>
            </a:xfrm>
            <a:prstGeom prst="rect">
              <a:avLst/>
            </a:prstGeom>
            <a:ln>
              <a:noFill/>
            </a:ln>
            <a:effectLst>
              <a:outerShdw blurRad="98425" dist="76200" dir="4380000" algn="tl" rotWithShape="0">
                <a:srgbClr val="000000">
                  <a:alpha val="68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>
            <a:xfrm>
              <a:off x="-25397" y="0"/>
              <a:ext cx="11773291" cy="6419514"/>
            </a:xfrm>
            <a:custGeom>
              <a:avLst/>
              <a:gdLst/>
              <a:ahLst/>
              <a:cxnLst/>
              <a:rect l="l" t="t" r="r" b="b"/>
              <a:pathLst>
                <a:path w="11773291" h="6419514">
                  <a:moveTo>
                    <a:pt x="11750059" y="0"/>
                  </a:moveTo>
                  <a:lnTo>
                    <a:pt x="11773291" y="6419514"/>
                  </a:lnTo>
                  <a:lnTo>
                    <a:pt x="0" y="6411047"/>
                  </a:lnTo>
                </a:path>
              </a:pathLst>
            </a:custGeom>
            <a:ln w="82550">
              <a:solidFill>
                <a:schemeClr val="tx1">
                  <a:lumMod val="50000"/>
                  <a:lumOff val="50000"/>
                </a:schemeClr>
              </a:solidFill>
              <a:miter lim="800000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sp>
        <p:sp>
          <p:nvSpPr>
            <p:cNvPr id="13" name="Rectangle 12"/>
            <p:cNvSpPr/>
            <p:nvPr/>
          </p:nvSpPr>
          <p:spPr>
            <a:xfrm>
              <a:off x="1" y="5600215"/>
              <a:ext cx="11706512" cy="780581"/>
            </a:xfrm>
            <a:prstGeom prst="rect">
              <a:avLst/>
            </a:prstGeom>
            <a:gradFill flip="none" rotWithShape="1">
              <a:gsLst>
                <a:gs pos="34000">
                  <a:schemeClr val="accent1"/>
                </a:gs>
                <a:gs pos="100000">
                  <a:schemeClr val="accent1">
                    <a:lumMod val="75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6882" cy="11519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063396"/>
            <a:ext cx="10396883" cy="331118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98083" y="5757334"/>
            <a:ext cx="3784600" cy="4984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200" cap="all" baseline="0">
                <a:solidFill>
                  <a:schemeClr val="accent1">
                    <a:lumMod val="40000"/>
                    <a:lumOff val="60000"/>
                  </a:schemeClr>
                </a:solidFill>
              </a:defRPr>
            </a:lvl1pPr>
          </a:lstStyle>
          <a:p>
            <a:fld id="{DC48ED7C-D9A5-4EA8-B309-6E368BFA8F2B}" type="datetimeFigureOut">
              <a:rPr lang="en-US" dirty="0"/>
              <a:t>3/18/2018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1" y="5757334"/>
            <a:ext cx="5499719" cy="4984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200" cap="all" baseline="0">
                <a:solidFill>
                  <a:schemeClr val="accent1">
                    <a:lumMod val="40000"/>
                    <a:lumOff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287121" y="5757334"/>
            <a:ext cx="907186" cy="4984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200" cap="all" baseline="0">
                <a:solidFill>
                  <a:schemeClr val="accent1">
                    <a:lumMod val="40000"/>
                    <a:lumOff val="60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kern="1200" cap="all" baseline="0">
          <a:solidFill>
            <a:schemeClr val="accent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20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8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6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7923BE-C0EF-44B1-9FDB-A1130A93BAD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 rot="21420000">
            <a:off x="1032604" y="1392668"/>
            <a:ext cx="9755187" cy="2766528"/>
          </a:xfrm>
        </p:spPr>
        <p:txBody>
          <a:bodyPr>
            <a:normAutofit fontScale="90000"/>
          </a:bodyPr>
          <a:lstStyle/>
          <a:p>
            <a:r>
              <a:rPr lang="en-AU" dirty="0"/>
              <a:t>Algebra</a:t>
            </a:r>
            <a:br>
              <a:rPr lang="en-AU" dirty="0"/>
            </a:br>
            <a:br>
              <a:rPr lang="en-AU" dirty="0"/>
            </a:br>
            <a:r>
              <a:rPr lang="en-AU" sz="4400" dirty="0"/>
              <a:t>Interactive Notebook </a:t>
            </a:r>
            <a:endParaRPr lang="en-AU" dirty="0"/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5FA17EFD-1356-4883-A84A-E579FA1731EE}"/>
              </a:ext>
            </a:extLst>
          </p:cNvPr>
          <p:cNvSpPr txBox="1">
            <a:spLocks/>
          </p:cNvSpPr>
          <p:nvPr/>
        </p:nvSpPr>
        <p:spPr>
          <a:xfrm>
            <a:off x="791623" y="1753344"/>
            <a:ext cx="6400800" cy="175260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r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60000"/>
              <a:buFont typeface="Arial" panose="020B0604020202020204" pitchFamily="34" charset="0"/>
              <a:buNone/>
              <a:defRPr sz="2800" kern="1200" cap="all" baseline="0">
                <a:solidFill>
                  <a:schemeClr val="bg1">
                    <a:lumMod val="50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60000"/>
              <a:buFont typeface="Arial" panose="020B0604020202020204" pitchFamily="34" charset="0"/>
              <a:buNone/>
              <a:defRPr sz="20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60000"/>
              <a:buFont typeface="Arial" panose="020B0604020202020204" pitchFamily="34" charset="0"/>
              <a:buNone/>
              <a:defRPr sz="18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60000"/>
              <a:buFont typeface="Arial" panose="020B0604020202020204" pitchFamily="34" charset="0"/>
              <a:buNone/>
              <a:defRPr sz="16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60000"/>
              <a:buFont typeface="Arial" panose="020B0604020202020204" pitchFamily="34" charset="0"/>
              <a:buNone/>
              <a:defRPr sz="16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60000"/>
              <a:buFont typeface="Arial" panose="020B0604020202020204" pitchFamily="34" charset="0"/>
              <a:buNone/>
              <a:defRPr sz="16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60000"/>
              <a:buFont typeface="Arial" panose="020B0604020202020204" pitchFamily="34" charset="0"/>
              <a:buNone/>
              <a:defRPr sz="16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60000"/>
              <a:buFont typeface="Arial" panose="020B0604020202020204" pitchFamily="34" charset="0"/>
              <a:buNone/>
              <a:defRPr sz="16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60000"/>
              <a:buFont typeface="Arial" panose="020B0604020202020204" pitchFamily="34" charset="0"/>
              <a:buNone/>
              <a:defRPr sz="16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AU" dirty="0"/>
              <a:t>Name : </a:t>
            </a:r>
          </a:p>
          <a:p>
            <a:pPr algn="l"/>
            <a:r>
              <a:rPr lang="en-AU" dirty="0"/>
              <a:t>Class : </a:t>
            </a:r>
          </a:p>
          <a:p>
            <a:pPr algn="l"/>
            <a:r>
              <a:rPr lang="en-AU" dirty="0"/>
              <a:t>Term 1 Semester 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9711BA6-0986-49BB-8DBE-3CA464DACAC9}"/>
                  </a:ext>
                </a:extLst>
              </p:cNvPr>
              <p:cNvSpPr txBox="1"/>
              <p:nvPr/>
            </p:nvSpPr>
            <p:spPr>
              <a:xfrm>
                <a:off x="8237318" y="4856364"/>
                <a:ext cx="2474780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3600" b="0" i="1" smtClean="0">
                          <a:solidFill>
                            <a:srgbClr val="00B0F0"/>
                          </a:solidFill>
                          <a:latin typeface="Cambria Math"/>
                        </a:rPr>
                        <m:t>𝑦</m:t>
                      </m:r>
                      <m:r>
                        <a:rPr lang="en-AU" sz="3600" b="0" i="1" smtClean="0">
                          <a:solidFill>
                            <a:srgbClr val="00B0F0"/>
                          </a:solidFill>
                          <a:latin typeface="Cambria Math"/>
                        </a:rPr>
                        <m:t>=2</m:t>
                      </m:r>
                      <m:r>
                        <a:rPr lang="en-AU" sz="3600" b="0" i="1" smtClean="0">
                          <a:solidFill>
                            <a:srgbClr val="00B0F0"/>
                          </a:solidFill>
                          <a:latin typeface="Cambria Math"/>
                        </a:rPr>
                        <m:t>𝑥</m:t>
                      </m:r>
                      <m:r>
                        <a:rPr lang="en-AU" sz="3600" b="0" i="1" smtClean="0">
                          <a:solidFill>
                            <a:srgbClr val="00B0F0"/>
                          </a:solidFill>
                          <a:latin typeface="Cambria Math"/>
                        </a:rPr>
                        <m:t>+1</m:t>
                      </m:r>
                    </m:oMath>
                  </m:oMathPara>
                </a14:m>
                <a:endParaRPr lang="en-AU" sz="3600" dirty="0">
                  <a:solidFill>
                    <a:srgbClr val="00B0F0"/>
                  </a:solidFill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9711BA6-0986-49BB-8DBE-3CA464DACA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37318" y="4856364"/>
                <a:ext cx="2474780" cy="646331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D89367B-6917-462A-98DF-32E36AD3FA5C}"/>
                  </a:ext>
                </a:extLst>
              </p:cNvPr>
              <p:cNvSpPr txBox="1"/>
              <p:nvPr/>
            </p:nvSpPr>
            <p:spPr>
              <a:xfrm>
                <a:off x="2088364" y="3885861"/>
                <a:ext cx="1688091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3200" b="0" i="1" smtClean="0">
                          <a:solidFill>
                            <a:srgbClr val="00B050"/>
                          </a:solidFill>
                          <a:latin typeface="Cambria Math"/>
                        </a:rPr>
                        <m:t>2</m:t>
                      </m:r>
                      <m:r>
                        <a:rPr lang="en-AU" sz="3200" b="0" i="1" smtClean="0">
                          <a:solidFill>
                            <a:srgbClr val="00B050"/>
                          </a:solidFill>
                          <a:latin typeface="Cambria Math"/>
                        </a:rPr>
                        <m:t>𝑥</m:t>
                      </m:r>
                      <m:r>
                        <a:rPr lang="en-AU" sz="3200" b="0" i="1" smtClean="0">
                          <a:solidFill>
                            <a:srgbClr val="00B050"/>
                          </a:solidFill>
                          <a:latin typeface="Cambria Math"/>
                        </a:rPr>
                        <m:t>+3</m:t>
                      </m:r>
                      <m:r>
                        <a:rPr lang="en-AU" sz="3200" b="0" i="1" smtClean="0">
                          <a:solidFill>
                            <a:srgbClr val="00B050"/>
                          </a:solidFill>
                          <a:latin typeface="Cambria Math"/>
                        </a:rPr>
                        <m:t>𝑦</m:t>
                      </m:r>
                    </m:oMath>
                  </m:oMathPara>
                </a14:m>
                <a:endParaRPr lang="en-AU" sz="3200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D89367B-6917-462A-98DF-32E36AD3FA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88364" y="3885861"/>
                <a:ext cx="1688091" cy="58477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2B14D1A-27B8-4E70-8AA0-995A5995C4D8}"/>
                  </a:ext>
                </a:extLst>
              </p:cNvPr>
              <p:cNvSpPr txBox="1"/>
              <p:nvPr/>
            </p:nvSpPr>
            <p:spPr>
              <a:xfrm>
                <a:off x="2728817" y="664562"/>
                <a:ext cx="964751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3200" b="0" i="1" smtClean="0">
                          <a:solidFill>
                            <a:srgbClr val="FF9900"/>
                          </a:solidFill>
                          <a:latin typeface="Cambria Math"/>
                        </a:rPr>
                        <m:t>3</m:t>
                      </m:r>
                      <m:r>
                        <a:rPr lang="en-AU" sz="3200" b="0" i="1" smtClean="0">
                          <a:solidFill>
                            <a:srgbClr val="FF9900"/>
                          </a:solidFill>
                          <a:latin typeface="Cambria Math"/>
                        </a:rPr>
                        <m:t>𝑎𝑏</m:t>
                      </m:r>
                    </m:oMath>
                  </m:oMathPara>
                </a14:m>
                <a:endParaRPr lang="en-AU" sz="3200" dirty="0">
                  <a:solidFill>
                    <a:srgbClr val="FF9900"/>
                  </a:solidFill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2B14D1A-27B8-4E70-8AA0-995A5995C4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28817" y="664562"/>
                <a:ext cx="964751" cy="58477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A208624D-6B7D-4F2C-B0FE-668B6DB788A2}"/>
                  </a:ext>
                </a:extLst>
              </p:cNvPr>
              <p:cNvSpPr txBox="1"/>
              <p:nvPr/>
            </p:nvSpPr>
            <p:spPr>
              <a:xfrm>
                <a:off x="5241309" y="901568"/>
                <a:ext cx="1054969" cy="114435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36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3600" b="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5</m:t>
                          </m:r>
                          <m:r>
                            <a:rPr lang="en-AU" sz="3600" b="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𝑥𝑦</m:t>
                          </m:r>
                        </m:num>
                        <m:den>
                          <m:r>
                            <a:rPr lang="en-AU" sz="3600" b="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6</m:t>
                          </m:r>
                        </m:den>
                      </m:f>
                    </m:oMath>
                  </m:oMathPara>
                </a14:m>
                <a:endParaRPr lang="en-AU" sz="36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A208624D-6B7D-4F2C-B0FE-668B6DB788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41309" y="901568"/>
                <a:ext cx="1054969" cy="114435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493930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6024081" y="0"/>
            <a:ext cx="72008" cy="69573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524403" y="647466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72465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3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1380163" y="620688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2639616" y="404664"/>
            <a:ext cx="0" cy="58679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2173592" y="5803"/>
            <a:ext cx="94288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/>
              <a:t>Contents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747225" y="374467"/>
            <a:ext cx="60144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/>
              <a:t>Page</a:t>
            </a:r>
          </a:p>
        </p:txBody>
      </p:sp>
      <p:cxnSp>
        <p:nvCxnSpPr>
          <p:cNvPr id="16" name="Straight Connector 15"/>
          <p:cNvCxnSpPr/>
          <p:nvPr/>
        </p:nvCxnSpPr>
        <p:spPr>
          <a:xfrm>
            <a:off x="3667810" y="404664"/>
            <a:ext cx="0" cy="58679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2927646" y="344357"/>
            <a:ext cx="57650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/>
              <a:t>Date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79776" y="344357"/>
            <a:ext cx="13988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Description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96200" y="153568"/>
            <a:ext cx="92416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/>
              <a:t>Glossary</a:t>
            </a:r>
          </a:p>
        </p:txBody>
      </p:sp>
    </p:spTree>
    <p:extLst>
      <p:ext uri="{BB962C8B-B14F-4D97-AF65-F5344CB8AC3E}">
        <p14:creationId xmlns:p14="http://schemas.microsoft.com/office/powerpoint/2010/main" val="15154573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6024081" y="0"/>
            <a:ext cx="72008" cy="69573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524403" y="647466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72465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7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6024082" y="620688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6024082" y="1196752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6096089" y="5373216"/>
            <a:ext cx="472615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7392144" y="1196752"/>
            <a:ext cx="0" cy="4176464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6057262" y="66690"/>
            <a:ext cx="43195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000" dirty="0"/>
              <a:t>24</a:t>
            </a:r>
          </a:p>
          <a:p>
            <a:r>
              <a:rPr lang="en-AU" sz="1000" dirty="0"/>
              <a:t>7</a:t>
            </a:r>
          </a:p>
          <a:p>
            <a:r>
              <a:rPr lang="en-AU" sz="1000" dirty="0"/>
              <a:t>30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96089" y="601549"/>
            <a:ext cx="115929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/>
              <a:t>Essential Question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91751" y="1196752"/>
            <a:ext cx="49244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/>
              <a:t>Notes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45851" y="1196753"/>
            <a:ext cx="71686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/>
              <a:t>Questions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96089" y="5373217"/>
            <a:ext cx="67999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/>
              <a:t>Summary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75247" y="142494"/>
            <a:ext cx="7264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Tasks</a:t>
            </a:r>
          </a:p>
        </p:txBody>
      </p:sp>
    </p:spTree>
    <p:extLst>
      <p:ext uri="{BB962C8B-B14F-4D97-AF65-F5344CB8AC3E}">
        <p14:creationId xmlns:p14="http://schemas.microsoft.com/office/powerpoint/2010/main" val="22165325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4">
            <a:extLst>
              <a:ext uri="{FF2B5EF4-FFF2-40B4-BE49-F238E27FC236}">
                <a16:creationId xmlns:a16="http://schemas.microsoft.com/office/drawing/2014/main" id="{1567005B-4E31-4C68-B916-3A5D81738546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676374" y="82484"/>
            <a:ext cx="10396882" cy="1151965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dirty="0"/>
              <a:t>The difference between two squares</a:t>
            </a:r>
            <a:endParaRPr lang="en-GB" altLang="en-US" dirty="0"/>
          </a:p>
        </p:txBody>
      </p:sp>
      <p:pic>
        <p:nvPicPr>
          <p:cNvPr id="159748" name="Picture 4" descr="forward_arrow_colour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48B4CA62-06A9-4EBF-BD01-740819F277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71089" y="6129339"/>
            <a:ext cx="630237" cy="574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5607" name="Picture 12" descr="matchdifferencesbetweensquares">
            <a:extLst>
              <a:ext uri="{FF2B5EF4-FFF2-40B4-BE49-F238E27FC236}">
                <a16:creationId xmlns:a16="http://schemas.microsoft.com/office/drawing/2014/main" id="{4312430E-DCFC-40A8-A118-67519DB886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53162" y="1371038"/>
            <a:ext cx="7115044" cy="43417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7159058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7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525" name="Rectangle 21">
            <a:extLst>
              <a:ext uri="{FF2B5EF4-FFF2-40B4-BE49-F238E27FC236}">
                <a16:creationId xmlns:a16="http://schemas.microsoft.com/office/drawing/2014/main" id="{7E58CB13-6EDA-467E-B5EF-41CCE3975A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64506" y="1535608"/>
            <a:ext cx="8569325" cy="4398963"/>
          </a:xfrm>
          <a:prstGeom prst="rect">
            <a:avLst/>
          </a:prstGeom>
          <a:solidFill>
            <a:srgbClr val="E6E3F5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>
                <a:solidFill>
                  <a:srgbClr val="01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rgbClr val="01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rgbClr val="01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rgbClr val="01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rgbClr val="01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1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1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1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1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AU" altLang="en-US" dirty="0"/>
          </a:p>
        </p:txBody>
      </p:sp>
      <p:sp>
        <p:nvSpPr>
          <p:cNvPr id="15363" name="Rectangle 20">
            <a:extLst>
              <a:ext uri="{FF2B5EF4-FFF2-40B4-BE49-F238E27FC236}">
                <a16:creationId xmlns:a16="http://schemas.microsoft.com/office/drawing/2014/main" id="{CD603309-54D4-4829-93A8-5B9FC4DEDC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49439" y="827088"/>
            <a:ext cx="8562975" cy="647700"/>
          </a:xfrm>
          <a:prstGeom prst="rect">
            <a:avLst/>
          </a:prstGeom>
          <a:solidFill>
            <a:srgbClr val="FDEABD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>
                <a:solidFill>
                  <a:srgbClr val="01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rgbClr val="01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rgbClr val="01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rgbClr val="01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rgbClr val="01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1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1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1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1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AU" altLang="en-US" dirty="0"/>
          </a:p>
        </p:txBody>
      </p:sp>
      <p:sp>
        <p:nvSpPr>
          <p:cNvPr id="15364" name="Rectangle 4">
            <a:extLst>
              <a:ext uri="{FF2B5EF4-FFF2-40B4-BE49-F238E27FC236}">
                <a16:creationId xmlns:a16="http://schemas.microsoft.com/office/drawing/2014/main" id="{8EE3071E-C056-469A-9FEA-5FB6F66FB642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Squaring expressions</a:t>
            </a:r>
            <a:endParaRPr lang="en-GB" altLang="en-US" dirty="0"/>
          </a:p>
        </p:txBody>
      </p:sp>
      <p:sp>
        <p:nvSpPr>
          <p:cNvPr id="15365" name="Text Box 5">
            <a:extLst>
              <a:ext uri="{FF2B5EF4-FFF2-40B4-BE49-F238E27FC236}">
                <a16:creationId xmlns:a16="http://schemas.microsoft.com/office/drawing/2014/main" id="{AFE1063E-1C72-40CF-AA70-AC845093D2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16907" y="1679574"/>
            <a:ext cx="46609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CC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rgbClr val="01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rgbClr val="01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rgbClr val="01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rgbClr val="01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rgbClr val="01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1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1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1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1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GB" altLang="en-US" b="1" dirty="0"/>
              <a:t>Expand and simplify: (2 – 3</a:t>
            </a:r>
            <a:r>
              <a:rPr lang="en-GB" altLang="en-US" b="1" i="1" dirty="0">
                <a:latin typeface="Times New Roman" panose="02020603050405020304" pitchFamily="18" charset="0"/>
              </a:rPr>
              <a:t>a</a:t>
            </a:r>
            <a:r>
              <a:rPr lang="en-GB" altLang="en-US" b="1" dirty="0"/>
              <a:t>)</a:t>
            </a:r>
            <a:r>
              <a:rPr lang="en-GB" altLang="en-US" b="1" baseline="30000" dirty="0"/>
              <a:t>2</a:t>
            </a:r>
          </a:p>
        </p:txBody>
      </p:sp>
      <p:sp>
        <p:nvSpPr>
          <p:cNvPr id="32775" name="Text Box 7">
            <a:extLst>
              <a:ext uri="{FF2B5EF4-FFF2-40B4-BE49-F238E27FC236}">
                <a16:creationId xmlns:a16="http://schemas.microsoft.com/office/drawing/2014/main" id="{36108753-3489-42E0-BC64-F1BCC7F67D3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44914" y="2295525"/>
            <a:ext cx="371633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rgbClr val="01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rgbClr val="01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rgbClr val="01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rgbClr val="01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rgbClr val="01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1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1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1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1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GB" altLang="en-US" dirty="0"/>
              <a:t>(2 – 3</a:t>
            </a:r>
            <a:r>
              <a:rPr lang="en-GB" altLang="en-US" i="1" dirty="0">
                <a:latin typeface="Times New Roman" panose="02020603050405020304" pitchFamily="18" charset="0"/>
              </a:rPr>
              <a:t>a</a:t>
            </a:r>
            <a:r>
              <a:rPr lang="en-GB" altLang="en-US" dirty="0"/>
              <a:t>)</a:t>
            </a:r>
            <a:r>
              <a:rPr lang="en-GB" altLang="en-US" baseline="30000" dirty="0"/>
              <a:t>2 </a:t>
            </a:r>
            <a:r>
              <a:rPr lang="en-GB" altLang="en-US" dirty="0"/>
              <a:t>= (2 – 3</a:t>
            </a:r>
            <a:r>
              <a:rPr lang="en-GB" altLang="en-US" i="1" dirty="0">
                <a:latin typeface="Times New Roman" panose="02020603050405020304" pitchFamily="18" charset="0"/>
              </a:rPr>
              <a:t>a</a:t>
            </a:r>
            <a:r>
              <a:rPr lang="en-GB" altLang="en-US" dirty="0"/>
              <a:t>)(2 – 3</a:t>
            </a:r>
            <a:r>
              <a:rPr lang="en-GB" altLang="en-US" i="1" dirty="0">
                <a:latin typeface="Times New Roman" panose="02020603050405020304" pitchFamily="18" charset="0"/>
              </a:rPr>
              <a:t>a</a:t>
            </a:r>
            <a:r>
              <a:rPr lang="en-GB" altLang="en-US" dirty="0"/>
              <a:t>)</a:t>
            </a:r>
          </a:p>
        </p:txBody>
      </p:sp>
      <p:sp>
        <p:nvSpPr>
          <p:cNvPr id="32783" name="Text Box 15">
            <a:extLst>
              <a:ext uri="{FF2B5EF4-FFF2-40B4-BE49-F238E27FC236}">
                <a16:creationId xmlns:a16="http://schemas.microsoft.com/office/drawing/2014/main" id="{DCDC795B-55BE-4281-A399-5050120860A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21250" y="4100513"/>
            <a:ext cx="3619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rgbClr val="01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rgbClr val="01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rgbClr val="01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rgbClr val="01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rgbClr val="01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1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1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1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1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GB" altLang="en-US" dirty="0"/>
              <a:t>=</a:t>
            </a:r>
          </a:p>
        </p:txBody>
      </p:sp>
      <p:sp>
        <p:nvSpPr>
          <p:cNvPr id="32784" name="Text Box 16">
            <a:extLst>
              <a:ext uri="{FF2B5EF4-FFF2-40B4-BE49-F238E27FC236}">
                <a16:creationId xmlns:a16="http://schemas.microsoft.com/office/drawing/2014/main" id="{4350B838-F9CD-4AB0-BB25-0920049BB0E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27638" y="4100513"/>
            <a:ext cx="35401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rgbClr val="01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rgbClr val="01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rgbClr val="01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rgbClr val="01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rgbClr val="01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1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1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1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1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GB" altLang="en-US" dirty="0"/>
              <a:t>4</a:t>
            </a:r>
          </a:p>
        </p:txBody>
      </p:sp>
      <p:sp>
        <p:nvSpPr>
          <p:cNvPr id="32785" name="Text Box 17">
            <a:extLst>
              <a:ext uri="{FF2B5EF4-FFF2-40B4-BE49-F238E27FC236}">
                <a16:creationId xmlns:a16="http://schemas.microsoft.com/office/drawing/2014/main" id="{97596554-268E-4D90-8462-54969092E3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11801" y="4100513"/>
            <a:ext cx="7604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rgbClr val="01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rgbClr val="01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rgbClr val="01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rgbClr val="01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rgbClr val="01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1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1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1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1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GB" altLang="en-US" dirty="0"/>
              <a:t>– 6</a:t>
            </a:r>
            <a:r>
              <a:rPr lang="en-GB" altLang="en-US" i="1" dirty="0">
                <a:latin typeface="Times New Roman" panose="02020603050405020304" pitchFamily="18" charset="0"/>
              </a:rPr>
              <a:t>a</a:t>
            </a:r>
          </a:p>
        </p:txBody>
      </p:sp>
      <p:sp>
        <p:nvSpPr>
          <p:cNvPr id="32786" name="Text Box 18">
            <a:extLst>
              <a:ext uri="{FF2B5EF4-FFF2-40B4-BE49-F238E27FC236}">
                <a16:creationId xmlns:a16="http://schemas.microsoft.com/office/drawing/2014/main" id="{2792F4E8-30AB-4691-BA1E-1DE7DEF830C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97601" y="4100513"/>
            <a:ext cx="7604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rgbClr val="01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rgbClr val="01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rgbClr val="01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rgbClr val="01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rgbClr val="01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1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1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1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1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GB" altLang="en-US" dirty="0"/>
              <a:t>– 6</a:t>
            </a:r>
            <a:r>
              <a:rPr lang="en-GB" altLang="en-US" i="1" dirty="0">
                <a:latin typeface="Times New Roman" panose="02020603050405020304" pitchFamily="18" charset="0"/>
              </a:rPr>
              <a:t>a</a:t>
            </a:r>
          </a:p>
        </p:txBody>
      </p:sp>
      <p:sp>
        <p:nvSpPr>
          <p:cNvPr id="32787" name="Text Box 19">
            <a:extLst>
              <a:ext uri="{FF2B5EF4-FFF2-40B4-BE49-F238E27FC236}">
                <a16:creationId xmlns:a16="http://schemas.microsoft.com/office/drawing/2014/main" id="{C828F29D-94A5-4E5E-A3E4-9B158898EB2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83401" y="4100513"/>
            <a:ext cx="88106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rgbClr val="01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rgbClr val="01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rgbClr val="01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rgbClr val="01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rgbClr val="01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1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1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1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1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GB" altLang="en-US" dirty="0"/>
              <a:t>+ 9</a:t>
            </a:r>
            <a:r>
              <a:rPr lang="en-GB" altLang="en-US" i="1" dirty="0">
                <a:latin typeface="Times New Roman" panose="02020603050405020304" pitchFamily="18" charset="0"/>
              </a:rPr>
              <a:t>a</a:t>
            </a:r>
            <a:r>
              <a:rPr lang="en-GB" altLang="en-US" baseline="30000" dirty="0"/>
              <a:t>2</a:t>
            </a:r>
          </a:p>
        </p:txBody>
      </p:sp>
      <p:sp>
        <p:nvSpPr>
          <p:cNvPr id="32788" name="Text Box 20">
            <a:extLst>
              <a:ext uri="{FF2B5EF4-FFF2-40B4-BE49-F238E27FC236}">
                <a16:creationId xmlns:a16="http://schemas.microsoft.com/office/drawing/2014/main" id="{7F074717-7EC3-4DD6-AC5A-6A80C50F6D6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35538" y="4913313"/>
            <a:ext cx="222726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rgbClr val="01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rgbClr val="01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rgbClr val="01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rgbClr val="01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rgbClr val="01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1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1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1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1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GB" altLang="en-US" dirty="0">
                <a:solidFill>
                  <a:srgbClr val="000066"/>
                </a:solidFill>
              </a:rPr>
              <a:t>= </a:t>
            </a:r>
            <a:r>
              <a:rPr lang="en-GB" altLang="en-US" b="1" dirty="0">
                <a:solidFill>
                  <a:srgbClr val="000066"/>
                </a:solidFill>
              </a:rPr>
              <a:t>4 – 12</a:t>
            </a:r>
            <a:r>
              <a:rPr lang="en-GB" altLang="en-US" b="1" i="1" dirty="0">
                <a:solidFill>
                  <a:srgbClr val="000066"/>
                </a:solidFill>
                <a:latin typeface="Times New Roman" panose="02020603050405020304" pitchFamily="18" charset="0"/>
              </a:rPr>
              <a:t>a</a:t>
            </a:r>
            <a:r>
              <a:rPr lang="en-GB" altLang="en-US" b="1" dirty="0">
                <a:solidFill>
                  <a:srgbClr val="000066"/>
                </a:solidFill>
              </a:rPr>
              <a:t> + 9</a:t>
            </a:r>
            <a:r>
              <a:rPr lang="en-GB" altLang="en-US" b="1" i="1" dirty="0">
                <a:solidFill>
                  <a:srgbClr val="000066"/>
                </a:solidFill>
                <a:latin typeface="Times New Roman" panose="02020603050405020304" pitchFamily="18" charset="0"/>
              </a:rPr>
              <a:t>a</a:t>
            </a:r>
            <a:r>
              <a:rPr lang="en-GB" altLang="en-US" b="1" baseline="30000" dirty="0">
                <a:solidFill>
                  <a:srgbClr val="000066"/>
                </a:solidFill>
              </a:rPr>
              <a:t>2</a:t>
            </a:r>
            <a:endParaRPr lang="en-GB" altLang="en-US" b="1" dirty="0">
              <a:solidFill>
                <a:srgbClr val="000066"/>
              </a:solidFill>
            </a:endParaRPr>
          </a:p>
        </p:txBody>
      </p:sp>
      <p:pic>
        <p:nvPicPr>
          <p:cNvPr id="149523" name="Picture 19" descr="forward_arrow_colour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73AF5CEF-75D6-422B-8FDC-836DAC21FA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71089" y="6129339"/>
            <a:ext cx="630237" cy="574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956251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775" grpId="0"/>
      <p:bldP spid="32783" grpId="0"/>
      <p:bldP spid="32784" grpId="0"/>
      <p:bldP spid="32785" grpId="0"/>
      <p:bldP spid="32786" grpId="0"/>
      <p:bldP spid="32787" grpId="0"/>
      <p:bldP spid="32788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AutoShape 20">
            <a:extLst>
              <a:ext uri="{FF2B5EF4-FFF2-40B4-BE49-F238E27FC236}">
                <a16:creationId xmlns:a16="http://schemas.microsoft.com/office/drawing/2014/main" id="{F48CA8B0-6518-429E-BBC7-116B767B20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98963" y="2046289"/>
            <a:ext cx="3244850" cy="720725"/>
          </a:xfrm>
          <a:prstGeom prst="roundRect">
            <a:avLst>
              <a:gd name="adj" fmla="val 16667"/>
            </a:avLst>
          </a:prstGeom>
          <a:solidFill>
            <a:srgbClr val="BBDBFB"/>
          </a:solidFill>
          <a:ln w="28575">
            <a:solidFill>
              <a:srgbClr val="0B6FD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>
                <a:solidFill>
                  <a:srgbClr val="01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rgbClr val="01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rgbClr val="01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rgbClr val="01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rgbClr val="01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1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1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1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1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AU" altLang="en-US" dirty="0"/>
          </a:p>
        </p:txBody>
      </p:sp>
      <p:sp>
        <p:nvSpPr>
          <p:cNvPr id="17411" name="Rectangle 4">
            <a:extLst>
              <a:ext uri="{FF2B5EF4-FFF2-40B4-BE49-F238E27FC236}">
                <a16:creationId xmlns:a16="http://schemas.microsoft.com/office/drawing/2014/main" id="{C7891294-9048-4032-902B-B4B45B8EF54F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582106" y="-50518"/>
            <a:ext cx="10396882" cy="1151965"/>
          </a:xfrm>
        </p:spPr>
        <p:txBody>
          <a:bodyPr/>
          <a:lstStyle/>
          <a:p>
            <a:pPr eaLnBrk="1" hangingPunct="1"/>
            <a:r>
              <a:rPr lang="en-US" altLang="en-US" dirty="0"/>
              <a:t>Squaring expressions</a:t>
            </a:r>
            <a:endParaRPr lang="en-GB" altLang="en-US" dirty="0"/>
          </a:p>
        </p:txBody>
      </p:sp>
      <p:sp>
        <p:nvSpPr>
          <p:cNvPr id="17412" name="Text Box 6">
            <a:extLst>
              <a:ext uri="{FF2B5EF4-FFF2-40B4-BE49-F238E27FC236}">
                <a16:creationId xmlns:a16="http://schemas.microsoft.com/office/drawing/2014/main" id="{2B4FCE92-2446-481C-8B57-D5C354018E6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21188" y="2184400"/>
            <a:ext cx="324326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rgbClr val="01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rgbClr val="01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rgbClr val="01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rgbClr val="01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rgbClr val="01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1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1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1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1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GB" altLang="en-US" dirty="0"/>
              <a:t>(</a:t>
            </a:r>
            <a:r>
              <a:rPr lang="en-GB" altLang="en-US" i="1" dirty="0">
                <a:latin typeface="Times New Roman" panose="02020603050405020304" pitchFamily="18" charset="0"/>
              </a:rPr>
              <a:t>a</a:t>
            </a:r>
            <a:r>
              <a:rPr lang="en-GB" altLang="en-US" dirty="0"/>
              <a:t> + </a:t>
            </a:r>
            <a:r>
              <a:rPr lang="en-GB" altLang="en-US" i="1" dirty="0">
                <a:latin typeface="Times New Roman" panose="02020603050405020304" pitchFamily="18" charset="0"/>
              </a:rPr>
              <a:t>b</a:t>
            </a:r>
            <a:r>
              <a:rPr lang="en-GB" altLang="en-US" dirty="0"/>
              <a:t>)</a:t>
            </a:r>
            <a:r>
              <a:rPr lang="en-GB" altLang="en-US" baseline="30000" dirty="0"/>
              <a:t>2</a:t>
            </a:r>
            <a:r>
              <a:rPr lang="en-GB" altLang="en-US" dirty="0"/>
              <a:t> = </a:t>
            </a:r>
            <a:r>
              <a:rPr lang="en-GB" altLang="en-US" i="1" dirty="0">
                <a:latin typeface="Times New Roman" panose="02020603050405020304" pitchFamily="18" charset="0"/>
              </a:rPr>
              <a:t>a</a:t>
            </a:r>
            <a:r>
              <a:rPr lang="en-GB" altLang="en-US" baseline="30000" dirty="0"/>
              <a:t>2</a:t>
            </a:r>
            <a:r>
              <a:rPr lang="en-GB" altLang="en-US" dirty="0"/>
              <a:t> + 2</a:t>
            </a:r>
            <a:r>
              <a:rPr lang="en-GB" altLang="en-US" i="1" dirty="0">
                <a:latin typeface="Times New Roman" panose="02020603050405020304" pitchFamily="18" charset="0"/>
              </a:rPr>
              <a:t>ab </a:t>
            </a:r>
            <a:r>
              <a:rPr lang="en-GB" altLang="en-US" dirty="0"/>
              <a:t>+ </a:t>
            </a:r>
            <a:r>
              <a:rPr lang="en-GB" altLang="en-US" i="1" dirty="0">
                <a:latin typeface="Times New Roman" panose="02020603050405020304" pitchFamily="18" charset="0"/>
              </a:rPr>
              <a:t>b</a:t>
            </a:r>
            <a:r>
              <a:rPr lang="en-GB" altLang="en-US" baseline="30000" dirty="0"/>
              <a:t>2 </a:t>
            </a:r>
          </a:p>
        </p:txBody>
      </p:sp>
      <p:sp>
        <p:nvSpPr>
          <p:cNvPr id="33799" name="Text Box 7">
            <a:extLst>
              <a:ext uri="{FF2B5EF4-FFF2-40B4-BE49-F238E27FC236}">
                <a16:creationId xmlns:a16="http://schemas.microsoft.com/office/drawing/2014/main" id="{524C5EDD-C4C6-4BCD-A1F4-F3C5B805DD0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52775" y="3171826"/>
            <a:ext cx="1722438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rgbClr val="01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rgbClr val="01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rgbClr val="01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rgbClr val="01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rgbClr val="01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1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1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1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1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GB" altLang="en-US" dirty="0"/>
              <a:t>The first term squared…</a:t>
            </a:r>
          </a:p>
        </p:txBody>
      </p:sp>
      <p:sp>
        <p:nvSpPr>
          <p:cNvPr id="33800" name="Text Box 8">
            <a:extLst>
              <a:ext uri="{FF2B5EF4-FFF2-40B4-BE49-F238E27FC236}">
                <a16:creationId xmlns:a16="http://schemas.microsoft.com/office/drawing/2014/main" id="{4876000C-AAD4-4069-8F3A-9A188D33A13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54613" y="3146425"/>
            <a:ext cx="1744662" cy="15696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rgbClr val="01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rgbClr val="01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rgbClr val="01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rgbClr val="01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rgbClr val="01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1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1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1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1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GB" altLang="en-US" dirty="0"/>
              <a:t>…plus 2 × the product of the two terms…</a:t>
            </a:r>
          </a:p>
        </p:txBody>
      </p:sp>
      <p:sp>
        <p:nvSpPr>
          <p:cNvPr id="33801" name="Text Box 9">
            <a:extLst>
              <a:ext uri="{FF2B5EF4-FFF2-40B4-BE49-F238E27FC236}">
                <a16:creationId xmlns:a16="http://schemas.microsoft.com/office/drawing/2014/main" id="{9FC6A206-6557-4016-898B-E2D73B589F0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19964" y="3146426"/>
            <a:ext cx="1927225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rgbClr val="01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rgbClr val="01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rgbClr val="01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rgbClr val="01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rgbClr val="01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1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1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1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1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GB" altLang="en-US" dirty="0"/>
              <a:t>…plus the second term squared.</a:t>
            </a:r>
          </a:p>
        </p:txBody>
      </p:sp>
      <p:sp>
        <p:nvSpPr>
          <p:cNvPr id="33802" name="Text Box 10">
            <a:extLst>
              <a:ext uri="{FF2B5EF4-FFF2-40B4-BE49-F238E27FC236}">
                <a16:creationId xmlns:a16="http://schemas.microsoft.com/office/drawing/2014/main" id="{E731FEBB-48C3-4486-9CF5-4E1F0425FD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05000" y="4975225"/>
            <a:ext cx="196373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rgbClr val="01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rgbClr val="01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rgbClr val="01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rgbClr val="01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rgbClr val="01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1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1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1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1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GB" altLang="en-US" dirty="0"/>
              <a:t>For example,</a:t>
            </a:r>
          </a:p>
        </p:txBody>
      </p:sp>
      <p:sp>
        <p:nvSpPr>
          <p:cNvPr id="33803" name="Text Box 11">
            <a:extLst>
              <a:ext uri="{FF2B5EF4-FFF2-40B4-BE49-F238E27FC236}">
                <a16:creationId xmlns:a16="http://schemas.microsoft.com/office/drawing/2014/main" id="{C60D53F2-DDC0-4851-BDC8-B6FAC8F6374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75101" y="5661025"/>
            <a:ext cx="429736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rgbClr val="01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rgbClr val="01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rgbClr val="01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rgbClr val="01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rgbClr val="01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1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1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1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1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GB" altLang="en-US" dirty="0"/>
              <a:t>(3</a:t>
            </a:r>
            <a:r>
              <a:rPr lang="en-GB" altLang="en-US" i="1" dirty="0">
                <a:latin typeface="Times New Roman" panose="02020603050405020304" pitchFamily="18" charset="0"/>
              </a:rPr>
              <a:t>m</a:t>
            </a:r>
            <a:r>
              <a:rPr lang="en-GB" altLang="en-US" dirty="0"/>
              <a:t> + 2</a:t>
            </a:r>
            <a:r>
              <a:rPr lang="en-GB" altLang="en-US" i="1" dirty="0">
                <a:latin typeface="Times New Roman" panose="02020603050405020304" pitchFamily="18" charset="0"/>
              </a:rPr>
              <a:t>n</a:t>
            </a:r>
            <a:r>
              <a:rPr lang="en-GB" altLang="en-US" dirty="0"/>
              <a:t>)</a:t>
            </a:r>
            <a:r>
              <a:rPr lang="en-GB" altLang="en-US" baseline="30000" dirty="0"/>
              <a:t>2</a:t>
            </a:r>
            <a:r>
              <a:rPr lang="en-GB" altLang="en-US" dirty="0"/>
              <a:t> = 9</a:t>
            </a:r>
            <a:r>
              <a:rPr lang="en-GB" altLang="en-US" i="1" dirty="0">
                <a:latin typeface="Times New Roman" panose="02020603050405020304" pitchFamily="18" charset="0"/>
              </a:rPr>
              <a:t>m</a:t>
            </a:r>
            <a:r>
              <a:rPr lang="en-GB" altLang="en-US" baseline="30000" dirty="0"/>
              <a:t>2</a:t>
            </a:r>
            <a:r>
              <a:rPr lang="en-GB" altLang="en-US" dirty="0"/>
              <a:t> + 12</a:t>
            </a:r>
            <a:r>
              <a:rPr lang="en-GB" altLang="en-US" i="1" dirty="0">
                <a:latin typeface="Times New Roman" panose="02020603050405020304" pitchFamily="18" charset="0"/>
              </a:rPr>
              <a:t>mn </a:t>
            </a:r>
            <a:r>
              <a:rPr lang="en-GB" altLang="en-US" dirty="0"/>
              <a:t>+ 4</a:t>
            </a:r>
            <a:r>
              <a:rPr lang="en-GB" altLang="en-US" i="1" dirty="0">
                <a:latin typeface="Times New Roman" panose="02020603050405020304" pitchFamily="18" charset="0"/>
              </a:rPr>
              <a:t>n</a:t>
            </a:r>
            <a:r>
              <a:rPr lang="en-GB" altLang="en-US" baseline="30000" dirty="0"/>
              <a:t>2 </a:t>
            </a:r>
          </a:p>
        </p:txBody>
      </p:sp>
      <p:pic>
        <p:nvPicPr>
          <p:cNvPr id="151564" name="Picture 12" descr="forward_arrow_colour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F7348C00-441C-4FDB-82E6-28139C1A87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71089" y="6129339"/>
            <a:ext cx="630237" cy="574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85" name="Line 13">
            <a:extLst>
              <a:ext uri="{FF2B5EF4-FFF2-40B4-BE49-F238E27FC236}">
                <a16:creationId xmlns:a16="http://schemas.microsoft.com/office/drawing/2014/main" id="{306A6F6F-AA4B-44C5-A4C7-8A0466BA86E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010025" y="2584450"/>
            <a:ext cx="1847850" cy="558800"/>
          </a:xfrm>
          <a:prstGeom prst="line">
            <a:avLst/>
          </a:prstGeom>
          <a:noFill/>
          <a:ln w="28575">
            <a:solidFill>
              <a:srgbClr val="0B6FD2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AU" dirty="0"/>
          </a:p>
        </p:txBody>
      </p:sp>
      <p:sp>
        <p:nvSpPr>
          <p:cNvPr id="151566" name="AutoShape 14">
            <a:extLst>
              <a:ext uri="{FF2B5EF4-FFF2-40B4-BE49-F238E27FC236}">
                <a16:creationId xmlns:a16="http://schemas.microsoft.com/office/drawing/2014/main" id="{2B8D291C-3A55-43D9-A630-2163F9E4B7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92975" y="3143250"/>
            <a:ext cx="1981200" cy="1301750"/>
          </a:xfrm>
          <a:prstGeom prst="roundRect">
            <a:avLst>
              <a:gd name="adj" fmla="val 16667"/>
            </a:avLst>
          </a:prstGeom>
          <a:noFill/>
          <a:ln w="28575">
            <a:solidFill>
              <a:srgbClr val="0B6FD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B6FD2">
                    <a:alpha val="14902"/>
                  </a:srgbClr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>
                <a:solidFill>
                  <a:srgbClr val="01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rgbClr val="01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rgbClr val="01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rgbClr val="01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rgbClr val="01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1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1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1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1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AU" altLang="en-US" dirty="0"/>
          </a:p>
        </p:txBody>
      </p:sp>
      <p:sp>
        <p:nvSpPr>
          <p:cNvPr id="2" name="Line 13">
            <a:extLst>
              <a:ext uri="{FF2B5EF4-FFF2-40B4-BE49-F238E27FC236}">
                <a16:creationId xmlns:a16="http://schemas.microsoft.com/office/drawing/2014/main" id="{7A8C2E3E-DEA6-4CAA-971F-E0473177E22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167438" y="2578100"/>
            <a:ext cx="469900" cy="565150"/>
          </a:xfrm>
          <a:prstGeom prst="line">
            <a:avLst/>
          </a:prstGeom>
          <a:noFill/>
          <a:ln w="28575">
            <a:solidFill>
              <a:srgbClr val="0B6FD2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AU" dirty="0"/>
          </a:p>
        </p:txBody>
      </p:sp>
      <p:sp>
        <p:nvSpPr>
          <p:cNvPr id="151568" name="AutoShape 16">
            <a:extLst>
              <a:ext uri="{FF2B5EF4-FFF2-40B4-BE49-F238E27FC236}">
                <a16:creationId xmlns:a16="http://schemas.microsoft.com/office/drawing/2014/main" id="{772C0EC1-389C-437F-94AD-2534C8E50C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14663" y="3138489"/>
            <a:ext cx="1884362" cy="1316037"/>
          </a:xfrm>
          <a:prstGeom prst="roundRect">
            <a:avLst>
              <a:gd name="adj" fmla="val 16667"/>
            </a:avLst>
          </a:prstGeom>
          <a:noFill/>
          <a:ln w="28575">
            <a:solidFill>
              <a:srgbClr val="0B6FD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B6FD2">
                    <a:alpha val="14902"/>
                  </a:srgbClr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>
                <a:solidFill>
                  <a:srgbClr val="01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rgbClr val="01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rgbClr val="01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rgbClr val="01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rgbClr val="01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1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1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1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1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AU" altLang="en-US" dirty="0"/>
          </a:p>
        </p:txBody>
      </p:sp>
      <p:sp>
        <p:nvSpPr>
          <p:cNvPr id="3" name="Line 13">
            <a:extLst>
              <a:ext uri="{FF2B5EF4-FFF2-40B4-BE49-F238E27FC236}">
                <a16:creationId xmlns:a16="http://schemas.microsoft.com/office/drawing/2014/main" id="{B1D00D57-C3E2-40EF-B01D-35F6B88E16E1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7272339" y="2566989"/>
            <a:ext cx="822325" cy="581025"/>
          </a:xfrm>
          <a:prstGeom prst="line">
            <a:avLst/>
          </a:prstGeom>
          <a:noFill/>
          <a:ln w="28575">
            <a:solidFill>
              <a:srgbClr val="0B6FD2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AU" dirty="0"/>
          </a:p>
        </p:txBody>
      </p:sp>
      <p:sp>
        <p:nvSpPr>
          <p:cNvPr id="151570" name="AutoShape 18">
            <a:extLst>
              <a:ext uri="{FF2B5EF4-FFF2-40B4-BE49-F238E27FC236}">
                <a16:creationId xmlns:a16="http://schemas.microsoft.com/office/drawing/2014/main" id="{A030BEA1-3D9B-46EE-907C-CC9B481DE7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26039" y="3140075"/>
            <a:ext cx="1920875" cy="1612900"/>
          </a:xfrm>
          <a:prstGeom prst="roundRect">
            <a:avLst>
              <a:gd name="adj" fmla="val 16667"/>
            </a:avLst>
          </a:prstGeom>
          <a:noFill/>
          <a:ln w="28575">
            <a:solidFill>
              <a:srgbClr val="0B6FD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B6FD2">
                    <a:alpha val="14902"/>
                  </a:srgbClr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>
                <a:solidFill>
                  <a:srgbClr val="01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rgbClr val="01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rgbClr val="01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rgbClr val="01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rgbClr val="01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1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1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1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1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AU" altLang="en-US" dirty="0"/>
          </a:p>
        </p:txBody>
      </p:sp>
      <p:sp>
        <p:nvSpPr>
          <p:cNvPr id="17425" name="Text Box 5">
            <a:extLst>
              <a:ext uri="{FF2B5EF4-FFF2-40B4-BE49-F238E27FC236}">
                <a16:creationId xmlns:a16="http://schemas.microsoft.com/office/drawing/2014/main" id="{1AB3913E-EAA6-4FC0-A16B-CA70518A7CA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82775" y="898526"/>
            <a:ext cx="8535988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CC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rgbClr val="01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rgbClr val="01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rgbClr val="01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rgbClr val="01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rgbClr val="01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1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1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1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1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GB" altLang="en-US" dirty="0"/>
              <a:t>It can be seen that there is a pattern relating a squared expression and its form once expanded and simplified.</a:t>
            </a:r>
            <a:endParaRPr lang="en-GB" altLang="en-US" baseline="30000" dirty="0"/>
          </a:p>
        </p:txBody>
      </p:sp>
    </p:spTree>
    <p:extLst>
      <p:ext uri="{BB962C8B-B14F-4D97-AF65-F5344CB8AC3E}">
        <p14:creationId xmlns:p14="http://schemas.microsoft.com/office/powerpoint/2010/main" val="13909382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5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0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5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5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5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799" grpId="0"/>
      <p:bldP spid="33800" grpId="0"/>
      <p:bldP spid="33801" grpId="0"/>
      <p:bldP spid="33802" grpId="0"/>
      <p:bldP spid="33803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4">
            <a:extLst>
              <a:ext uri="{FF2B5EF4-FFF2-40B4-BE49-F238E27FC236}">
                <a16:creationId xmlns:a16="http://schemas.microsoft.com/office/drawing/2014/main" id="{9691E507-A098-40AC-BBC0-E10B1A4F5337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Squaring expressions</a:t>
            </a:r>
            <a:endParaRPr lang="en-GB" altLang="en-US" dirty="0"/>
          </a:p>
        </p:txBody>
      </p:sp>
      <p:pic>
        <p:nvPicPr>
          <p:cNvPr id="153604" name="Picture 4" descr="forward_arrow_colour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9D69EBD6-B9B4-41C3-A0D6-F952BCBC66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71089" y="6129339"/>
            <a:ext cx="630237" cy="574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9463" name="squaringexpressions.jpg" descr="squaringexpressions">
            <a:extLst>
              <a:ext uri="{FF2B5EF4-FFF2-40B4-BE49-F238E27FC236}">
                <a16:creationId xmlns:a16="http://schemas.microsoft.com/office/drawing/2014/main" id="{8EC259DA-7AD0-4802-A00C-55A3C94A2D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2651" y="1837765"/>
            <a:ext cx="6888801" cy="42036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8566677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ain Event">
  <a:themeElements>
    <a:clrScheme name="Main Event">
      <a:dk1>
        <a:sysClr val="windowText" lastClr="000000"/>
      </a:dk1>
      <a:lt1>
        <a:sysClr val="window" lastClr="FFFFFF"/>
      </a:lt1>
      <a:dk2>
        <a:srgbClr val="424242"/>
      </a:dk2>
      <a:lt2>
        <a:srgbClr val="C8C8C8"/>
      </a:lt2>
      <a:accent1>
        <a:srgbClr val="EE8011"/>
      </a:accent1>
      <a:accent2>
        <a:srgbClr val="CEC079"/>
      </a:accent2>
      <a:accent3>
        <a:srgbClr val="93A569"/>
      </a:accent3>
      <a:accent4>
        <a:srgbClr val="69A58B"/>
      </a:accent4>
      <a:accent5>
        <a:srgbClr val="6DAABD"/>
      </a:accent5>
      <a:accent6>
        <a:srgbClr val="B24A4B"/>
      </a:accent6>
      <a:hlink>
        <a:srgbClr val="EE8E11"/>
      </a:hlink>
      <a:folHlink>
        <a:srgbClr val="BFAE7F"/>
      </a:folHlink>
    </a:clrScheme>
    <a:fontScheme name="Main Event">
      <a:majorFont>
        <a:latin typeface="Impact" panose="020B080603090205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Impact" panose="020B080603090205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Main Event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blipFill>
          <a:blip xmlns:r="http://schemas.openxmlformats.org/officeDocument/2006/relationships" r:embed="rId1">
            <a:duotone>
              <a:schemeClr val="phClr">
                <a:shade val="88000"/>
                <a:lumMod val="88000"/>
              </a:schemeClr>
              <a:schemeClr val="phClr"/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25400" dist="127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0"/>
        </a:gradFill>
        <a:blipFill>
          <a:blip xmlns:r="http://schemas.openxmlformats.org/officeDocument/2006/relationships" r:embed="rId2">
            <a:duotone>
              <a:schemeClr val="phClr">
                <a:shade val="48000"/>
                <a:satMod val="110000"/>
                <a:lumMod val="40000"/>
              </a:schemeClr>
              <a:schemeClr val="phClr">
                <a:tint val="90000"/>
                <a:lumMod val="106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ain Event" id="{AC372BB4-D83D-411E-B849-B641926BA760}" vid="{686B1E04-F35C-4AB5-985D-0C358CA1105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TM04033927[[fn=Main Event]]</Template>
  <TotalTime>293</TotalTime>
  <Words>202</Words>
  <Application>Microsoft Office PowerPoint</Application>
  <PresentationFormat>Widescreen</PresentationFormat>
  <Paragraphs>52</Paragraphs>
  <Slides>7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Arial</vt:lpstr>
      <vt:lpstr>Calibri</vt:lpstr>
      <vt:lpstr>Cambria Math</vt:lpstr>
      <vt:lpstr>Impact</vt:lpstr>
      <vt:lpstr>Times New Roman</vt:lpstr>
      <vt:lpstr>Main Event</vt:lpstr>
      <vt:lpstr>Algebra  Interactive Notebook </vt:lpstr>
      <vt:lpstr>PowerPoint Presentation</vt:lpstr>
      <vt:lpstr>PowerPoint Presentation</vt:lpstr>
      <vt:lpstr>The difference between two squares</vt:lpstr>
      <vt:lpstr>Squaring expressions</vt:lpstr>
      <vt:lpstr>Squaring expressions</vt:lpstr>
      <vt:lpstr>Squaring expressions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Algebra  Interactive Notebook</dc:title>
  <dc:creator>D'SOUZA Jillian [Baldivis Secondary College]</dc:creator>
  <cp:lastModifiedBy>D'SOUZA Jillian [Baldivis Secondary College]</cp:lastModifiedBy>
  <cp:revision>102</cp:revision>
  <dcterms:created xsi:type="dcterms:W3CDTF">2018-03-11T07:42:05Z</dcterms:created>
  <dcterms:modified xsi:type="dcterms:W3CDTF">2018-03-18T15:19:44Z</dcterms:modified>
</cp:coreProperties>
</file>
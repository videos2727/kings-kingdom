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4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128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how do I use the distributive law to expand brackets?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188536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single brackets?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128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how do I use the distributive law to expand brackets?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188536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single brackets?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E023F52-F718-4E17-8E57-7B019B5C1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730" y="3161640"/>
            <a:ext cx="5486400" cy="22098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C8265FEF-19F2-4FAF-A243-854259035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730" y="3847440"/>
            <a:ext cx="34321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e.g.  </a:t>
            </a:r>
            <a:r>
              <a:rPr lang="en-GB" altLang="en-US" sz="4000">
                <a:latin typeface="Arial" panose="020B0604020202020204" pitchFamily="34" charset="0"/>
              </a:rPr>
              <a:t>4(2a + 3) =</a:t>
            </a:r>
            <a:r>
              <a:rPr lang="en-GB" altLang="en-US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EBF1205B-4A62-4E9D-B492-D8C6B42B231F}"/>
              </a:ext>
            </a:extLst>
          </p:cNvPr>
          <p:cNvGrpSpPr>
            <a:grpSpLocks/>
          </p:cNvGrpSpPr>
          <p:nvPr/>
        </p:nvGrpSpPr>
        <p:grpSpPr bwMode="auto">
          <a:xfrm>
            <a:off x="3748130" y="3126715"/>
            <a:ext cx="3263900" cy="1346200"/>
            <a:chOff x="1248" y="698"/>
            <a:chExt cx="2056" cy="848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B96807E-D538-4771-8B44-918466135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698"/>
              <a:ext cx="528" cy="484"/>
              <a:chOff x="1248" y="698"/>
              <a:chExt cx="528" cy="484"/>
            </a:xfrm>
          </p:grpSpPr>
          <p:sp>
            <p:nvSpPr>
              <p:cNvPr id="20" name="AutoShape 19">
                <a:extLst>
                  <a:ext uri="{FF2B5EF4-FFF2-40B4-BE49-F238E27FC236}">
                    <a16:creationId xmlns:a16="http://schemas.microsoft.com/office/drawing/2014/main" id="{9B341214-734D-4DC4-9A71-696A3A3E9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60"/>
                <a:ext cx="528" cy="222"/>
              </a:xfrm>
              <a:prstGeom prst="curvedDownArrow">
                <a:avLst>
                  <a:gd name="adj1" fmla="val 47568"/>
                  <a:gd name="adj2" fmla="val 95135"/>
                  <a:gd name="adj3" fmla="val 33333"/>
                </a:avLst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21" name="Text Box 20">
                <a:extLst>
                  <a:ext uri="{FF2B5EF4-FFF2-40B4-BE49-F238E27FC236}">
                    <a16:creationId xmlns:a16="http://schemas.microsoft.com/office/drawing/2014/main" id="{2054F19B-CAFA-47F9-9D62-4EC3558E4C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2" y="69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altLang="en-US">
                    <a:latin typeface="Arial" panose="020B0604020202020204" pitchFamily="34" charset="0"/>
                  </a:rPr>
                  <a:t>x</a:t>
                </a:r>
              </a:p>
            </p:txBody>
          </p:sp>
        </p:grp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A25819E0-6E02-4DD7-A2B8-3E4AA5B5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104"/>
              <a:ext cx="4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4000">
                  <a:latin typeface="Arial" panose="020B0604020202020204" pitchFamily="34" charset="0"/>
                </a:rPr>
                <a:t>8a</a:t>
              </a:r>
              <a:endParaRPr lang="en-GB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30C1ADA-A26E-4E7A-991B-3C22B3A3F5C9}"/>
              </a:ext>
            </a:extLst>
          </p:cNvPr>
          <p:cNvGrpSpPr>
            <a:grpSpLocks/>
          </p:cNvGrpSpPr>
          <p:nvPr/>
        </p:nvGrpSpPr>
        <p:grpSpPr bwMode="auto">
          <a:xfrm>
            <a:off x="3671930" y="3771240"/>
            <a:ext cx="4548188" cy="1676400"/>
            <a:chOff x="1200" y="1104"/>
            <a:chExt cx="2865" cy="1056"/>
          </a:xfrm>
        </p:grpSpPr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4341BFBA-F428-4E23-9549-CEF61FF20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536"/>
              <a:ext cx="1248" cy="384"/>
            </a:xfrm>
            <a:prstGeom prst="curvedUpArrow">
              <a:avLst>
                <a:gd name="adj1" fmla="val 32846"/>
                <a:gd name="adj2" fmla="val 87524"/>
                <a:gd name="adj3" fmla="val 30731"/>
              </a:avLst>
            </a:prstGeom>
            <a:solidFill>
              <a:srgbClr val="D6009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C0EAE0A6-E96C-4C51-8C9B-0459984D5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AF720637-C85A-4FF9-B78C-B82F7D69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04"/>
              <a:ext cx="80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4000" dirty="0">
                  <a:latin typeface="Arial" panose="020B0604020202020204" pitchFamily="34" charset="0"/>
                </a:rPr>
                <a:t>+ 12</a:t>
              </a:r>
              <a:r>
                <a:rPr lang="en-GB" altLang="en-US" dirty="0">
                  <a:latin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6" name="AutoShape 26">
            <a:extLst>
              <a:ext uri="{FF2B5EF4-FFF2-40B4-BE49-F238E27FC236}">
                <a16:creationId xmlns:a16="http://schemas.microsoft.com/office/drawing/2014/main" id="{EACC8B33-97CE-4135-90FC-DF8AA6AC5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930" y="2399640"/>
            <a:ext cx="4800600" cy="1143000"/>
          </a:xfrm>
          <a:prstGeom prst="wedgeRoundRectCallout">
            <a:avLst>
              <a:gd name="adj1" fmla="val 49306"/>
              <a:gd name="adj2" fmla="val 6819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altLang="en-US" sz="2000" b="1" dirty="0">
                <a:latin typeface="Arial" panose="020B0604020202020204" pitchFamily="34" charset="0"/>
              </a:rPr>
              <a:t>Remember to multiply all the terms inside the bracket by the term immediately in front of the bracket</a:t>
            </a: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BF3D6E7D-84B3-47D2-8996-A49DC29B7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130" y="552384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49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2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128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how do I use the distributive law to expand brackets?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188536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single brackets?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/>
              <p:nvPr/>
            </p:nvSpPr>
            <p:spPr>
              <a:xfrm>
                <a:off x="2709862" y="2479249"/>
                <a:ext cx="6619875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3 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+8</m:t>
                        </m:r>
                      </m:e>
                    </m:d>
                  </m:oMath>
                </a14:m>
                <a:r>
                  <a:rPr lang="en-AU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0 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5 −3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6 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+2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8 (3 + 2a + 4b) =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2" y="2479249"/>
                <a:ext cx="6619875" cy="3139321"/>
              </a:xfrm>
              <a:prstGeom prst="rect">
                <a:avLst/>
              </a:prstGeom>
              <a:blipFill>
                <a:blip r:embed="rId2"/>
                <a:stretch>
                  <a:fillRect l="-829" t="-1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E02B34D7-7F76-403B-823D-12C0138ACAE4}"/>
              </a:ext>
            </a:extLst>
          </p:cNvPr>
          <p:cNvSpPr/>
          <p:nvPr/>
        </p:nvSpPr>
        <p:spPr>
          <a:xfrm rot="5400000" flipV="1">
            <a:off x="3297990" y="2731073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0D3C15BB-14D6-4367-8B33-DDC80953AA9F}"/>
              </a:ext>
            </a:extLst>
          </p:cNvPr>
          <p:cNvSpPr/>
          <p:nvPr/>
        </p:nvSpPr>
        <p:spPr>
          <a:xfrm rot="5400000" flipV="1">
            <a:off x="3477492" y="2547797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E214C022-329C-4BAF-8FD1-63677BE6484F}"/>
              </a:ext>
            </a:extLst>
          </p:cNvPr>
          <p:cNvSpPr/>
          <p:nvPr/>
        </p:nvSpPr>
        <p:spPr>
          <a:xfrm rot="5400000" flipV="1">
            <a:off x="3338063" y="3314199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F2E6C848-45B5-464E-A5D5-51808A5CB534}"/>
              </a:ext>
            </a:extLst>
          </p:cNvPr>
          <p:cNvSpPr/>
          <p:nvPr/>
        </p:nvSpPr>
        <p:spPr>
          <a:xfrm rot="5400000" flipV="1">
            <a:off x="3517565" y="3130923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DC54BB1C-4E0F-4073-9678-1217DBBEEA0B}"/>
              </a:ext>
            </a:extLst>
          </p:cNvPr>
          <p:cNvSpPr/>
          <p:nvPr/>
        </p:nvSpPr>
        <p:spPr>
          <a:xfrm rot="5400000" flipV="1">
            <a:off x="3273847" y="3851980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Right 23">
            <a:extLst>
              <a:ext uri="{FF2B5EF4-FFF2-40B4-BE49-F238E27FC236}">
                <a16:creationId xmlns:a16="http://schemas.microsoft.com/office/drawing/2014/main" id="{09EEC6E2-55B0-403D-8829-5C49772C68F5}"/>
              </a:ext>
            </a:extLst>
          </p:cNvPr>
          <p:cNvSpPr/>
          <p:nvPr/>
        </p:nvSpPr>
        <p:spPr>
          <a:xfrm rot="5400000" flipV="1">
            <a:off x="3453349" y="3668704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Right 24">
            <a:extLst>
              <a:ext uri="{FF2B5EF4-FFF2-40B4-BE49-F238E27FC236}">
                <a16:creationId xmlns:a16="http://schemas.microsoft.com/office/drawing/2014/main" id="{631CE7CC-0B68-42F5-B0C7-D150DB6D08CD}"/>
              </a:ext>
            </a:extLst>
          </p:cNvPr>
          <p:cNvSpPr/>
          <p:nvPr/>
        </p:nvSpPr>
        <p:spPr>
          <a:xfrm rot="5400000" flipV="1">
            <a:off x="3273848" y="4386270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Right 25">
            <a:extLst>
              <a:ext uri="{FF2B5EF4-FFF2-40B4-BE49-F238E27FC236}">
                <a16:creationId xmlns:a16="http://schemas.microsoft.com/office/drawing/2014/main" id="{40794A75-DDE8-48C2-AC1F-228C80F8174C}"/>
              </a:ext>
            </a:extLst>
          </p:cNvPr>
          <p:cNvSpPr/>
          <p:nvPr/>
        </p:nvSpPr>
        <p:spPr>
          <a:xfrm rot="5400000" flipV="1">
            <a:off x="3453350" y="4202994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Right 26">
            <a:extLst>
              <a:ext uri="{FF2B5EF4-FFF2-40B4-BE49-F238E27FC236}">
                <a16:creationId xmlns:a16="http://schemas.microsoft.com/office/drawing/2014/main" id="{66D88F1A-D659-4F0F-878F-FD2248C69989}"/>
              </a:ext>
            </a:extLst>
          </p:cNvPr>
          <p:cNvSpPr/>
          <p:nvPr/>
        </p:nvSpPr>
        <p:spPr>
          <a:xfrm rot="5400000" flipV="1">
            <a:off x="3706723" y="3932857"/>
            <a:ext cx="256100" cy="13389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9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05C2-F13D-4325-994E-CA9AF40C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1255-18C0-40B3-A4C0-8563285AC5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Line 28">
            <a:extLst>
              <a:ext uri="{FF2B5EF4-FFF2-40B4-BE49-F238E27FC236}">
                <a16:creationId xmlns:a16="http://schemas.microsoft.com/office/drawing/2014/main" id="{A4CD6D5D-E9CF-4FCA-A4CE-6A02E367D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975" y="160916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C50D3886-BAB6-4A3E-A91A-E1A2321AA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75" y="1609165"/>
            <a:ext cx="7694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Expand these brackets and simplify wherever possible: 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78432CD4-A0D3-44C6-94C8-F604DDFFA21C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2142565"/>
            <a:ext cx="1962150" cy="457200"/>
            <a:chOff x="144" y="1824"/>
            <a:chExt cx="1236" cy="288"/>
          </a:xfrm>
        </p:grpSpPr>
        <p:sp>
          <p:nvSpPr>
            <p:cNvPr id="7" name="Text Box 31">
              <a:extLst>
                <a:ext uri="{FF2B5EF4-FFF2-40B4-BE49-F238E27FC236}">
                  <a16:creationId xmlns:a16="http://schemas.microsoft.com/office/drawing/2014/main" id="{34F226DD-63BE-4304-8FCE-CADF90A1B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1.</a:t>
              </a:r>
            </a:p>
          </p:txBody>
        </p:sp>
        <p:sp>
          <p:nvSpPr>
            <p:cNvPr id="8" name="Text Box 32">
              <a:extLst>
                <a:ext uri="{FF2B5EF4-FFF2-40B4-BE49-F238E27FC236}">
                  <a16:creationId xmlns:a16="http://schemas.microsoft.com/office/drawing/2014/main" id="{9BD32EBE-5366-4271-9905-C6F86C3B5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3(a - 4) =</a:t>
              </a:r>
            </a:p>
          </p:txBody>
        </p:sp>
      </p:grpSp>
      <p:grpSp>
        <p:nvGrpSpPr>
          <p:cNvPr id="9" name="Group 33">
            <a:extLst>
              <a:ext uri="{FF2B5EF4-FFF2-40B4-BE49-F238E27FC236}">
                <a16:creationId xmlns:a16="http://schemas.microsoft.com/office/drawing/2014/main" id="{81576B2A-C231-47EF-AE84-827F0DC3046F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2599765"/>
            <a:ext cx="2190750" cy="457200"/>
            <a:chOff x="144" y="1824"/>
            <a:chExt cx="1380" cy="288"/>
          </a:xfrm>
        </p:grpSpPr>
        <p:sp>
          <p:nvSpPr>
            <p:cNvPr id="10" name="Text Box 34">
              <a:extLst>
                <a:ext uri="{FF2B5EF4-FFF2-40B4-BE49-F238E27FC236}">
                  <a16:creationId xmlns:a16="http://schemas.microsoft.com/office/drawing/2014/main" id="{CDCB7856-B98C-4144-B52E-31AF10EDE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2.</a:t>
              </a:r>
            </a:p>
          </p:txBody>
        </p:sp>
        <p:sp>
          <p:nvSpPr>
            <p:cNvPr id="11" name="Text Box 35">
              <a:extLst>
                <a:ext uri="{FF2B5EF4-FFF2-40B4-BE49-F238E27FC236}">
                  <a16:creationId xmlns:a16="http://schemas.microsoft.com/office/drawing/2014/main" id="{D08403E4-68C1-4D91-BB5D-82EC7A992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6(2c + 5) =</a:t>
              </a:r>
            </a:p>
          </p:txBody>
        </p:sp>
      </p:grpSp>
      <p:grpSp>
        <p:nvGrpSpPr>
          <p:cNvPr id="12" name="Group 36">
            <a:extLst>
              <a:ext uri="{FF2B5EF4-FFF2-40B4-BE49-F238E27FC236}">
                <a16:creationId xmlns:a16="http://schemas.microsoft.com/office/drawing/2014/main" id="{9E08E86E-235C-477F-8A9E-97BD0D38DFEE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056965"/>
            <a:ext cx="2139950" cy="457200"/>
            <a:chOff x="144" y="1824"/>
            <a:chExt cx="1348" cy="288"/>
          </a:xfrm>
        </p:grpSpPr>
        <p:sp>
          <p:nvSpPr>
            <p:cNvPr id="13" name="Text Box 37">
              <a:extLst>
                <a:ext uri="{FF2B5EF4-FFF2-40B4-BE49-F238E27FC236}">
                  <a16:creationId xmlns:a16="http://schemas.microsoft.com/office/drawing/2014/main" id="{A23770FA-632C-4C04-B97D-E063C11B6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3.</a:t>
              </a:r>
            </a:p>
          </p:txBody>
        </p:sp>
        <p:sp>
          <p:nvSpPr>
            <p:cNvPr id="14" name="Text Box 38">
              <a:extLst>
                <a:ext uri="{FF2B5EF4-FFF2-40B4-BE49-F238E27FC236}">
                  <a16:creationId xmlns:a16="http://schemas.microsoft.com/office/drawing/2014/main" id="{3EA0443E-7631-4BD0-90BC-3F0330B09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-2(d + g) =</a:t>
              </a:r>
            </a:p>
          </p:txBody>
        </p:sp>
      </p:grpSp>
      <p:grpSp>
        <p:nvGrpSpPr>
          <p:cNvPr id="15" name="Group 39">
            <a:extLst>
              <a:ext uri="{FF2B5EF4-FFF2-40B4-BE49-F238E27FC236}">
                <a16:creationId xmlns:a16="http://schemas.microsoft.com/office/drawing/2014/main" id="{D1BA5193-C1B3-4B01-B133-4902365D0F9C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514165"/>
            <a:ext cx="2020888" cy="457200"/>
            <a:chOff x="144" y="1824"/>
            <a:chExt cx="1273" cy="288"/>
          </a:xfrm>
        </p:grpSpPr>
        <p:sp>
          <p:nvSpPr>
            <p:cNvPr id="16" name="Text Box 40">
              <a:extLst>
                <a:ext uri="{FF2B5EF4-FFF2-40B4-BE49-F238E27FC236}">
                  <a16:creationId xmlns:a16="http://schemas.microsoft.com/office/drawing/2014/main" id="{FE1EFAD5-31EE-49F7-93B3-815FAB777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4.</a:t>
              </a:r>
            </a:p>
          </p:txBody>
        </p:sp>
        <p:sp>
          <p:nvSpPr>
            <p:cNvPr id="17" name="Text Box 41">
              <a:extLst>
                <a:ext uri="{FF2B5EF4-FFF2-40B4-BE49-F238E27FC236}">
                  <a16:creationId xmlns:a16="http://schemas.microsoft.com/office/drawing/2014/main" id="{CCC33CE4-50D5-4549-94B3-754520C46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c(d + 4) =</a:t>
              </a:r>
            </a:p>
          </p:txBody>
        </p:sp>
      </p:grpSp>
      <p:grpSp>
        <p:nvGrpSpPr>
          <p:cNvPr id="18" name="Group 42">
            <a:extLst>
              <a:ext uri="{FF2B5EF4-FFF2-40B4-BE49-F238E27FC236}">
                <a16:creationId xmlns:a16="http://schemas.microsoft.com/office/drawing/2014/main" id="{D65B5174-959F-48BB-8908-037D7D910BFF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971365"/>
            <a:ext cx="2233613" cy="457200"/>
            <a:chOff x="144" y="1824"/>
            <a:chExt cx="1407" cy="288"/>
          </a:xfrm>
        </p:grpSpPr>
        <p:sp>
          <p:nvSpPr>
            <p:cNvPr id="19" name="Text Box 43">
              <a:extLst>
                <a:ext uri="{FF2B5EF4-FFF2-40B4-BE49-F238E27FC236}">
                  <a16:creationId xmlns:a16="http://schemas.microsoft.com/office/drawing/2014/main" id="{EFFC0398-5CF6-4574-B57B-343554D5E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5.</a:t>
              </a:r>
            </a:p>
          </p:txBody>
        </p:sp>
        <p:sp>
          <p:nvSpPr>
            <p:cNvPr id="20" name="Text Box 44">
              <a:extLst>
                <a:ext uri="{FF2B5EF4-FFF2-40B4-BE49-F238E27FC236}">
                  <a16:creationId xmlns:a16="http://schemas.microsoft.com/office/drawing/2014/main" id="{01C27223-5C4B-488A-AD94-68EA0C017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-5(2a - 3) =</a:t>
              </a:r>
            </a:p>
          </p:txBody>
        </p:sp>
      </p:grpSp>
      <p:grpSp>
        <p:nvGrpSpPr>
          <p:cNvPr id="21" name="Group 45">
            <a:extLst>
              <a:ext uri="{FF2B5EF4-FFF2-40B4-BE49-F238E27FC236}">
                <a16:creationId xmlns:a16="http://schemas.microsoft.com/office/drawing/2014/main" id="{86056A9C-EF27-4B77-830A-8336BCA3B9E7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4428565"/>
            <a:ext cx="1962150" cy="457200"/>
            <a:chOff x="144" y="1824"/>
            <a:chExt cx="1236" cy="288"/>
          </a:xfrm>
        </p:grpSpPr>
        <p:sp>
          <p:nvSpPr>
            <p:cNvPr id="22" name="Text Box 46">
              <a:extLst>
                <a:ext uri="{FF2B5EF4-FFF2-40B4-BE49-F238E27FC236}">
                  <a16:creationId xmlns:a16="http://schemas.microsoft.com/office/drawing/2014/main" id="{3BD8733D-77B7-4707-99E0-9D596918A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6.</a:t>
              </a:r>
            </a:p>
          </p:txBody>
        </p:sp>
        <p:sp>
          <p:nvSpPr>
            <p:cNvPr id="23" name="Text Box 47">
              <a:extLst>
                <a:ext uri="{FF2B5EF4-FFF2-40B4-BE49-F238E27FC236}">
                  <a16:creationId xmlns:a16="http://schemas.microsoft.com/office/drawing/2014/main" id="{6E2680E9-4CC7-4476-8CB4-8C35D6295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a(a - 6) =</a:t>
              </a:r>
            </a:p>
          </p:txBody>
        </p:sp>
      </p:grpSp>
      <p:sp>
        <p:nvSpPr>
          <p:cNvPr id="24" name="Text Box 48">
            <a:extLst>
              <a:ext uri="{FF2B5EF4-FFF2-40B4-BE49-F238E27FC236}">
                <a16:creationId xmlns:a16="http://schemas.microsoft.com/office/drawing/2014/main" id="{00BA2A00-C12C-4895-BFD4-348BAC993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575" y="2142565"/>
            <a:ext cx="11334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3a - 12</a:t>
            </a:r>
          </a:p>
        </p:txBody>
      </p:sp>
      <p:sp>
        <p:nvSpPr>
          <p:cNvPr id="25" name="Text Box 49">
            <a:extLst>
              <a:ext uri="{FF2B5EF4-FFF2-40B4-BE49-F238E27FC236}">
                <a16:creationId xmlns:a16="http://schemas.microsoft.com/office/drawing/2014/main" id="{33BEC907-1CE2-4D07-B24A-A08998998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2599765"/>
            <a:ext cx="13620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12c + 30</a:t>
            </a:r>
          </a:p>
        </p:txBody>
      </p:sp>
      <p:sp>
        <p:nvSpPr>
          <p:cNvPr id="26" name="Text Box 50">
            <a:extLst>
              <a:ext uri="{FF2B5EF4-FFF2-40B4-BE49-F238E27FC236}">
                <a16:creationId xmlns:a16="http://schemas.microsoft.com/office/drawing/2014/main" id="{CB246C92-6F9A-404B-A3E7-8C3A8E529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3056965"/>
            <a:ext cx="12350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-2d - 2g</a:t>
            </a:r>
          </a:p>
        </p:txBody>
      </p:sp>
      <p:sp>
        <p:nvSpPr>
          <p:cNvPr id="27" name="Text Box 51">
            <a:extLst>
              <a:ext uri="{FF2B5EF4-FFF2-40B4-BE49-F238E27FC236}">
                <a16:creationId xmlns:a16="http://schemas.microsoft.com/office/drawing/2014/main" id="{90EB4DB2-8653-4E7A-A3CC-2D326AB0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3514165"/>
            <a:ext cx="1174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cd + 4c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28" name="Text Box 52">
            <a:extLst>
              <a:ext uri="{FF2B5EF4-FFF2-40B4-BE49-F238E27FC236}">
                <a16:creationId xmlns:a16="http://schemas.microsoft.com/office/drawing/2014/main" id="{7244B3E3-F097-425D-B62F-4BEA235CF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175" y="3971365"/>
            <a:ext cx="14811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-10a + 15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29" name="Text Box 53">
            <a:extLst>
              <a:ext uri="{FF2B5EF4-FFF2-40B4-BE49-F238E27FC236}">
                <a16:creationId xmlns:a16="http://schemas.microsoft.com/office/drawing/2014/main" id="{EF0E359D-371E-4BE9-9FA8-24C0D426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375" y="4428565"/>
            <a:ext cx="10493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a</a:t>
            </a:r>
            <a:r>
              <a:rPr lang="en-GB" altLang="en-US" b="1" baseline="30000">
                <a:latin typeface="Arial" panose="020B0604020202020204" pitchFamily="34" charset="0"/>
              </a:rPr>
              <a:t>2 </a:t>
            </a:r>
            <a:r>
              <a:rPr lang="en-GB" altLang="en-US">
                <a:latin typeface="Arial" panose="020B0604020202020204" pitchFamily="34" charset="0"/>
              </a:rPr>
              <a:t>- 6a</a:t>
            </a:r>
          </a:p>
        </p:txBody>
      </p:sp>
      <p:grpSp>
        <p:nvGrpSpPr>
          <p:cNvPr id="30" name="Group 54">
            <a:extLst>
              <a:ext uri="{FF2B5EF4-FFF2-40B4-BE49-F238E27FC236}">
                <a16:creationId xmlns:a16="http://schemas.microsoft.com/office/drawing/2014/main" id="{38F2C857-CBAA-4D5C-B77C-47A3B9797CFD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2142565"/>
            <a:ext cx="2241550" cy="457200"/>
            <a:chOff x="144" y="1824"/>
            <a:chExt cx="1412" cy="288"/>
          </a:xfrm>
        </p:grpSpPr>
        <p:sp>
          <p:nvSpPr>
            <p:cNvPr id="31" name="Text Box 55">
              <a:extLst>
                <a:ext uri="{FF2B5EF4-FFF2-40B4-BE49-F238E27FC236}">
                  <a16:creationId xmlns:a16="http://schemas.microsoft.com/office/drawing/2014/main" id="{3B5A6D6A-208C-4458-B2BF-9B8EDBF4A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7.</a:t>
              </a:r>
            </a:p>
          </p:txBody>
        </p:sp>
        <p:sp>
          <p:nvSpPr>
            <p:cNvPr id="32" name="Text Box 56">
              <a:extLst>
                <a:ext uri="{FF2B5EF4-FFF2-40B4-BE49-F238E27FC236}">
                  <a16:creationId xmlns:a16="http://schemas.microsoft.com/office/drawing/2014/main" id="{1338BCD0-E325-4E1E-AEA8-E17A7DA91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4r(2r + 3) =</a:t>
              </a:r>
            </a:p>
          </p:txBody>
        </p:sp>
      </p:grpSp>
      <p:grpSp>
        <p:nvGrpSpPr>
          <p:cNvPr id="33" name="Group 57">
            <a:extLst>
              <a:ext uri="{FF2B5EF4-FFF2-40B4-BE49-F238E27FC236}">
                <a16:creationId xmlns:a16="http://schemas.microsoft.com/office/drawing/2014/main" id="{444F6D69-DF26-4CFE-951D-3F4508407574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2599765"/>
            <a:ext cx="2224088" cy="457200"/>
            <a:chOff x="144" y="1824"/>
            <a:chExt cx="1401" cy="288"/>
          </a:xfrm>
        </p:grpSpPr>
        <p:sp>
          <p:nvSpPr>
            <p:cNvPr id="34" name="Text Box 58">
              <a:extLst>
                <a:ext uri="{FF2B5EF4-FFF2-40B4-BE49-F238E27FC236}">
                  <a16:creationId xmlns:a16="http://schemas.microsoft.com/office/drawing/2014/main" id="{CD534268-54EC-4695-AA7D-64CF07C8D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8.</a:t>
              </a:r>
            </a:p>
          </p:txBody>
        </p:sp>
        <p:sp>
          <p:nvSpPr>
            <p:cNvPr id="35" name="Text Box 59">
              <a:extLst>
                <a:ext uri="{FF2B5EF4-FFF2-40B4-BE49-F238E27FC236}">
                  <a16:creationId xmlns:a16="http://schemas.microsoft.com/office/drawing/2014/main" id="{6B79B8FE-5A8D-4CF6-A149-381ED5F9F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 (4a + 2) =</a:t>
              </a:r>
            </a:p>
          </p:txBody>
        </p:sp>
      </p:grpSp>
      <p:grpSp>
        <p:nvGrpSpPr>
          <p:cNvPr id="36" name="Group 60">
            <a:extLst>
              <a:ext uri="{FF2B5EF4-FFF2-40B4-BE49-F238E27FC236}">
                <a16:creationId xmlns:a16="http://schemas.microsoft.com/office/drawing/2014/main" id="{D652DBE5-DB98-48A1-A86D-45E9A8DFA47E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3056965"/>
            <a:ext cx="2392363" cy="457200"/>
            <a:chOff x="144" y="1824"/>
            <a:chExt cx="1507" cy="288"/>
          </a:xfrm>
        </p:grpSpPr>
        <p:sp>
          <p:nvSpPr>
            <p:cNvPr id="37" name="Text Box 61">
              <a:extLst>
                <a:ext uri="{FF2B5EF4-FFF2-40B4-BE49-F238E27FC236}">
                  <a16:creationId xmlns:a16="http://schemas.microsoft.com/office/drawing/2014/main" id="{356F77DE-7FAC-4B9F-80EB-8DC06E4CC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9.</a:t>
              </a:r>
            </a:p>
          </p:txBody>
        </p:sp>
        <p:sp>
          <p:nvSpPr>
            <p:cNvPr id="38" name="Text Box 62">
              <a:extLst>
                <a:ext uri="{FF2B5EF4-FFF2-40B4-BE49-F238E27FC236}">
                  <a16:creationId xmlns:a16="http://schemas.microsoft.com/office/drawing/2014/main" id="{40B7F6B7-030B-4A1E-8681-B70D1C2F7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1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8 - 2(t + 5) =</a:t>
              </a:r>
            </a:p>
          </p:txBody>
        </p:sp>
      </p:grpSp>
      <p:grpSp>
        <p:nvGrpSpPr>
          <p:cNvPr id="39" name="Group 63">
            <a:extLst>
              <a:ext uri="{FF2B5EF4-FFF2-40B4-BE49-F238E27FC236}">
                <a16:creationId xmlns:a16="http://schemas.microsoft.com/office/drawing/2014/main" id="{87C1BE00-A3EC-4FBB-80CD-EAD10CF7A2A3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3514165"/>
            <a:ext cx="3783013" cy="457200"/>
            <a:chOff x="144" y="1824"/>
            <a:chExt cx="2383" cy="288"/>
          </a:xfrm>
        </p:grpSpPr>
        <p:sp>
          <p:nvSpPr>
            <p:cNvPr id="40" name="Text Box 64">
              <a:extLst>
                <a:ext uri="{FF2B5EF4-FFF2-40B4-BE49-F238E27FC236}">
                  <a16:creationId xmlns:a16="http://schemas.microsoft.com/office/drawing/2014/main" id="{ECAD47DD-1884-4427-B6EB-5C4E36392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344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10.</a:t>
              </a:r>
            </a:p>
          </p:txBody>
        </p:sp>
        <p:sp>
          <p:nvSpPr>
            <p:cNvPr id="41" name="Text Box 65">
              <a:extLst>
                <a:ext uri="{FF2B5EF4-FFF2-40B4-BE49-F238E27FC236}">
                  <a16:creationId xmlns:a16="http://schemas.microsoft.com/office/drawing/2014/main" id="{FE8877C1-04DB-4251-A649-05986C2A7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20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2(2a + 4) + 4(3a + 6) =</a:t>
              </a:r>
            </a:p>
          </p:txBody>
        </p:sp>
      </p:grpSp>
      <p:grpSp>
        <p:nvGrpSpPr>
          <p:cNvPr id="42" name="Group 66">
            <a:extLst>
              <a:ext uri="{FF2B5EF4-FFF2-40B4-BE49-F238E27FC236}">
                <a16:creationId xmlns:a16="http://schemas.microsoft.com/office/drawing/2014/main" id="{65257793-14DE-417D-94B0-FCEBC5D864B4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4276165"/>
            <a:ext cx="3800475" cy="457200"/>
            <a:chOff x="144" y="1824"/>
            <a:chExt cx="2394" cy="288"/>
          </a:xfrm>
        </p:grpSpPr>
        <p:sp>
          <p:nvSpPr>
            <p:cNvPr id="43" name="Text Box 67">
              <a:extLst>
                <a:ext uri="{FF2B5EF4-FFF2-40B4-BE49-F238E27FC236}">
                  <a16:creationId xmlns:a16="http://schemas.microsoft.com/office/drawing/2014/main" id="{783737BA-2464-417C-93FA-F20E63A62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344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11.</a:t>
              </a:r>
            </a:p>
          </p:txBody>
        </p:sp>
        <p:sp>
          <p:nvSpPr>
            <p:cNvPr id="44" name="Text Box 68">
              <a:extLst>
                <a:ext uri="{FF2B5EF4-FFF2-40B4-BE49-F238E27FC236}">
                  <a16:creationId xmlns:a16="http://schemas.microsoft.com/office/drawing/2014/main" id="{9AD2D376-1E3F-4FC0-8A8E-04F2A503B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20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2p(3p + 2) - 5(2p - 1) =</a:t>
              </a:r>
            </a:p>
          </p:txBody>
        </p:sp>
      </p:grpSp>
      <p:sp>
        <p:nvSpPr>
          <p:cNvPr id="45" name="Text Box 72">
            <a:extLst>
              <a:ext uri="{FF2B5EF4-FFF2-40B4-BE49-F238E27FC236}">
                <a16:creationId xmlns:a16="http://schemas.microsoft.com/office/drawing/2014/main" id="{6BD300B9-A2B2-423F-BB03-6BAC27292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575" y="2142565"/>
            <a:ext cx="135572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dirty="0">
                <a:latin typeface="Arial" panose="020B0604020202020204" pitchFamily="34" charset="0"/>
              </a:rPr>
              <a:t>8r</a:t>
            </a:r>
            <a:r>
              <a:rPr lang="en-GB" altLang="en-US" b="1" baseline="30000" dirty="0">
                <a:latin typeface="Arial" panose="020B0604020202020204" pitchFamily="34" charset="0"/>
              </a:rPr>
              <a:t>2</a:t>
            </a:r>
            <a:r>
              <a:rPr lang="en-GB" altLang="en-US" dirty="0">
                <a:latin typeface="Arial" panose="020B0604020202020204" pitchFamily="34" charset="0"/>
              </a:rPr>
              <a:t> + 12r</a:t>
            </a:r>
          </a:p>
        </p:txBody>
      </p:sp>
      <p:sp>
        <p:nvSpPr>
          <p:cNvPr id="46" name="Text Box 73">
            <a:extLst>
              <a:ext uri="{FF2B5EF4-FFF2-40B4-BE49-F238E27FC236}">
                <a16:creationId xmlns:a16="http://schemas.microsoft.com/office/drawing/2014/main" id="{52AAE841-7B28-4802-9D0E-D7BCB5427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575" y="2599765"/>
            <a:ext cx="106521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-4a - 2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47" name="Text Box 74">
            <a:extLst>
              <a:ext uri="{FF2B5EF4-FFF2-40B4-BE49-F238E27FC236}">
                <a16:creationId xmlns:a16="http://schemas.microsoft.com/office/drawing/2014/main" id="{027B9BDD-FE1A-4B84-9D8D-AD302FF2A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175" y="3056965"/>
            <a:ext cx="97948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-2t - 2</a:t>
            </a:r>
          </a:p>
        </p:txBody>
      </p:sp>
      <p:sp>
        <p:nvSpPr>
          <p:cNvPr id="48" name="Text Box 75">
            <a:extLst>
              <a:ext uri="{FF2B5EF4-FFF2-40B4-BE49-F238E27FC236}">
                <a16:creationId xmlns:a16="http://schemas.microsoft.com/office/drawing/2014/main" id="{B2FE05D5-B947-44E5-853E-63A823419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775" y="3895165"/>
            <a:ext cx="13795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16a + 32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139" name="Text Box 76">
            <a:extLst>
              <a:ext uri="{FF2B5EF4-FFF2-40B4-BE49-F238E27FC236}">
                <a16:creationId xmlns:a16="http://schemas.microsoft.com/office/drawing/2014/main" id="{E952C306-5370-4C7A-9399-F27C0D4BA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909" y="4606365"/>
            <a:ext cx="173513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latin typeface="Arial" panose="020B0604020202020204" pitchFamily="34" charset="0"/>
              </a:rPr>
              <a:t>6p</a:t>
            </a:r>
            <a:r>
              <a:rPr lang="en-GB" altLang="en-US" b="1" baseline="30000" dirty="0">
                <a:latin typeface="Arial" panose="020B0604020202020204" pitchFamily="34" charset="0"/>
              </a:rPr>
              <a:t>2 </a:t>
            </a:r>
            <a:r>
              <a:rPr lang="en-GB" altLang="en-US" dirty="0">
                <a:latin typeface="Arial" panose="020B0604020202020204" pitchFamily="34" charset="0"/>
              </a:rPr>
              <a:t>- 6p + 5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1009474-032A-4FE1-8B45-0BDA0FF4ED42}"/>
              </a:ext>
            </a:extLst>
          </p:cNvPr>
          <p:cNvSpPr txBox="1"/>
          <p:nvPr/>
        </p:nvSpPr>
        <p:spPr>
          <a:xfrm>
            <a:off x="4371393" y="5803134"/>
            <a:ext cx="559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have some fun page - 214</a:t>
            </a:r>
          </a:p>
        </p:txBody>
      </p:sp>
    </p:spTree>
    <p:extLst>
      <p:ext uri="{BB962C8B-B14F-4D97-AF65-F5344CB8AC3E}">
        <p14:creationId xmlns:p14="http://schemas.microsoft.com/office/powerpoint/2010/main" val="26403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a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4" grpId="0" animBg="1" autoUpdateAnimBg="0"/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45" grpId="0" animBg="1" autoUpdateAnimBg="0"/>
      <p:bldP spid="46" grpId="0" animBg="1" autoUpdateAnimBg="0"/>
      <p:bldP spid="47" grpId="0" animBg="1" autoUpdateAnimBg="0"/>
      <p:bldP spid="48" grpId="0" animBg="1" autoUpdateAnimBg="0"/>
      <p:bldP spid="139" grpId="0" animBg="1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139</TotalTime>
  <Words>323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Simplifying Expressions  </vt:lpstr>
      <vt:lpstr>Simplifying Expressions  </vt:lpstr>
      <vt:lpstr>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D'SOUZA Jillian [Baldivis Secondary College]</cp:lastModifiedBy>
  <cp:revision>54</cp:revision>
  <dcterms:created xsi:type="dcterms:W3CDTF">2018-03-11T07:42:05Z</dcterms:created>
  <dcterms:modified xsi:type="dcterms:W3CDTF">2018-03-11T10:52:00Z</dcterms:modified>
</cp:coreProperties>
</file>
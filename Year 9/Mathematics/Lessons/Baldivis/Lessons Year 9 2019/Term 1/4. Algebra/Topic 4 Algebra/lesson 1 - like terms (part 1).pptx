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2" r:id="rId5"/>
    <p:sldId id="264" r:id="rId6"/>
    <p:sldId id="258" r:id="rId7"/>
    <p:sldId id="263" r:id="rId8"/>
    <p:sldId id="265" r:id="rId9"/>
    <p:sldId id="266" r:id="rId10"/>
    <p:sldId id="267" r:id="rId11"/>
    <p:sldId id="268" r:id="rId12"/>
    <p:sldId id="269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7072E-18F0-4CD8-B553-9A4841BFFCFB}"/>
              </a:ext>
            </a:extLst>
          </p:cNvPr>
          <p:cNvSpPr txBox="1"/>
          <p:nvPr/>
        </p:nvSpPr>
        <p:spPr>
          <a:xfrm>
            <a:off x="151858" y="2287797"/>
            <a:ext cx="26950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>
                <a:latin typeface="Arial" panose="020B0604020202020204" pitchFamily="34" charset="0"/>
                <a:cs typeface="Arial" panose="020B0604020202020204" pitchFamily="34" charset="0"/>
              </a:rPr>
              <a:t>Glossary terms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constant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variable</a:t>
            </a: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F0A8B-D1DE-4DDF-8BEF-AA064B24B1A5}"/>
                  </a:ext>
                </a:extLst>
              </p:cNvPr>
              <p:cNvSpPr txBox="1"/>
              <p:nvPr/>
            </p:nvSpPr>
            <p:spPr>
              <a:xfrm>
                <a:off x="2654621" y="2852044"/>
                <a:ext cx="8427563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A number with nothing else attached to it</a:t>
                </a:r>
              </a:p>
              <a:p>
                <a:r>
                  <a:rPr lang="en-A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</a:t>
                </a:r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1, 2, 5, 47, 936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A letter that represents an unknown number</a:t>
                </a:r>
              </a:p>
              <a:p>
                <a:r>
                  <a:rPr lang="en-A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</a:t>
                </a:r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The number in front of the variable</a:t>
                </a:r>
              </a:p>
              <a:p>
                <a:r>
                  <a:rPr lang="en-A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Eg</a:t>
                </a:r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3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𝑡h𝑒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𝑐𝑜𝑒𝑓𝑓𝑖𝑐𝑖𝑒𝑛𝑡</m:t>
                    </m:r>
                  </m:oMath>
                </a14:m>
                <a:endParaRPr lang="en-AU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5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𝑡h𝑒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𝑐𝑜𝑒𝑓𝑓𝑖𝑐𝑖𝑒𝑛𝑡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F0A8B-D1DE-4DDF-8BEF-AA064B24B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621" y="2852044"/>
                <a:ext cx="8427563" cy="3139321"/>
              </a:xfrm>
              <a:prstGeom prst="rect">
                <a:avLst/>
              </a:prstGeom>
              <a:blipFill>
                <a:blip r:embed="rId2"/>
                <a:stretch>
                  <a:fillRect l="-578" t="-11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10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EC273-8067-486B-AF2E-1041B6F946B9}"/>
              </a:ext>
            </a:extLst>
          </p:cNvPr>
          <p:cNvSpPr txBox="1"/>
          <p:nvPr/>
        </p:nvSpPr>
        <p:spPr>
          <a:xfrm>
            <a:off x="377072" y="2488676"/>
            <a:ext cx="210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What is a like term?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723B1C-6DEC-4B38-A775-1459B6BD7F04}"/>
                  </a:ext>
                </a:extLst>
              </p:cNvPr>
              <p:cNvSpPr txBox="1"/>
              <p:nvPr/>
            </p:nvSpPr>
            <p:spPr>
              <a:xfrm>
                <a:off x="2733773" y="2488676"/>
                <a:ext cx="7626285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are the terms that have the </a:t>
                </a:r>
                <a:r>
                  <a:rPr lang="en-US" altLang="en-US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same variables</a:t>
                </a: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5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7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4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  6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 3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𝑦𝑥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8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Group the above into ‘like terms’:</a:t>
                </a: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4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6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8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alt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3</m:t>
                    </m:r>
                    <m:r>
                      <a:rPr lang="en-AU" alt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𝑦𝑥</m:t>
                    </m:r>
                  </m:oMath>
                </a14:m>
                <a:r>
                  <a:rPr lang="en-AU" alt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3</m:t>
                    </m:r>
                    <m:r>
                      <a:rPr lang="en-AU" altLang="en-US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</m:oMath>
                </a14:m>
                <a:r>
                  <a:rPr lang="en-AU" alt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ALWAYS IN ALPHABETICAL ORDER!</a:t>
                </a:r>
              </a:p>
              <a:p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723B1C-6DEC-4B38-A775-1459B6BD7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73" y="2488676"/>
                <a:ext cx="7626285" cy="3693319"/>
              </a:xfrm>
              <a:prstGeom prst="rect">
                <a:avLst/>
              </a:prstGeom>
              <a:blipFill>
                <a:blip r:embed="rId2"/>
                <a:stretch>
                  <a:fillRect l="-639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958B2CCA-1086-404F-91D8-3E3B9B589206}"/>
              </a:ext>
            </a:extLst>
          </p:cNvPr>
          <p:cNvSpPr/>
          <p:nvPr/>
        </p:nvSpPr>
        <p:spPr>
          <a:xfrm>
            <a:off x="3115295" y="2969527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2FFA8F-44F8-425F-AD7A-26E101A9D603}"/>
              </a:ext>
            </a:extLst>
          </p:cNvPr>
          <p:cNvSpPr/>
          <p:nvPr/>
        </p:nvSpPr>
        <p:spPr>
          <a:xfrm>
            <a:off x="6096000" y="2969527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0D2AB1-F061-45BB-BB2E-DC81D646FF64}"/>
              </a:ext>
            </a:extLst>
          </p:cNvPr>
          <p:cNvSpPr/>
          <p:nvPr/>
        </p:nvSpPr>
        <p:spPr>
          <a:xfrm>
            <a:off x="9197609" y="2909991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84C68B-A23E-4E87-8D65-BBB43DFCF019}"/>
              </a:ext>
            </a:extLst>
          </p:cNvPr>
          <p:cNvSpPr/>
          <p:nvPr/>
        </p:nvSpPr>
        <p:spPr>
          <a:xfrm>
            <a:off x="8202105" y="2957041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A16A819-83CC-4CA5-B025-672A5FEE08FD}"/>
              </a:ext>
            </a:extLst>
          </p:cNvPr>
          <p:cNvSpPr/>
          <p:nvPr/>
        </p:nvSpPr>
        <p:spPr>
          <a:xfrm>
            <a:off x="7175369" y="2971182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910C4B-5992-4BFD-82B4-5FD1471BFB2B}"/>
              </a:ext>
            </a:extLst>
          </p:cNvPr>
          <p:cNvSpPr/>
          <p:nvPr/>
        </p:nvSpPr>
        <p:spPr>
          <a:xfrm>
            <a:off x="5075144" y="2969527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E69D95-DD9A-445A-B9FA-38BD9C7B1BDF}"/>
              </a:ext>
            </a:extLst>
          </p:cNvPr>
          <p:cNvSpPr/>
          <p:nvPr/>
        </p:nvSpPr>
        <p:spPr>
          <a:xfrm>
            <a:off x="4079640" y="2957042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274293-10A8-4466-85B2-8FBF1B76C0B0}"/>
              </a:ext>
            </a:extLst>
          </p:cNvPr>
          <p:cNvCxnSpPr/>
          <p:nvPr/>
        </p:nvCxnSpPr>
        <p:spPr>
          <a:xfrm>
            <a:off x="3737464" y="5439266"/>
            <a:ext cx="106077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4" grpId="0" animBg="1"/>
      <p:bldP spid="14" grpId="1" animBg="1"/>
      <p:bldP spid="15" grpId="0" animBg="1"/>
      <p:bldP spid="15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31F0-15B2-4EA9-B65F-D192823F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2E84C-0D55-4386-8B95-F1D9CB182D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578393" y="402308"/>
            <a:ext cx="2798010" cy="1757809"/>
          </a:xfr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698595"/>
                  </p:ext>
                </p:extLst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698595"/>
                  </p:ext>
                </p:extLst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639" r="-300000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639" r="-200901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639" r="-100299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639" r="-601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00000" r="-300000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00000" r="-200901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00000" r="-100299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00000" r="-601" b="-1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203279" r="-300000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203279" r="-20090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203279" r="-10029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203279" r="-601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2850A12-344E-4464-8B50-1174ABB184D4}"/>
              </a:ext>
            </a:extLst>
          </p:cNvPr>
          <p:cNvSpPr txBox="1"/>
          <p:nvPr/>
        </p:nvSpPr>
        <p:spPr>
          <a:xfrm>
            <a:off x="557672" y="1790785"/>
            <a:ext cx="545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GROUP  THE FOLLOWING INTO LIKE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3667783"/>
                  </p:ext>
                </p:extLst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𝒂𝒃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3667783"/>
                  </p:ext>
                </p:extLst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" t="-559" r="-499647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09" t="-559" r="-401418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59" r="-300000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064" t="-559" r="-201064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647" t="-559" r="-100353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418" t="-559" r="-709" b="-1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908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32033-4EB2-43D5-8E91-BA571C47BE6A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 add and subtract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/>
              <p:nvPr/>
            </p:nvSpPr>
            <p:spPr>
              <a:xfrm>
                <a:off x="2846894" y="2516957"/>
                <a:ext cx="927597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can be combined when they are added or subtracted to simplify the expression.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𝑦𝑥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894" y="2516957"/>
                <a:ext cx="9275976" cy="2554545"/>
              </a:xfrm>
              <a:prstGeom prst="rect">
                <a:avLst/>
              </a:prstGeom>
              <a:blipFill>
                <a:blip r:embed="rId2"/>
                <a:stretch>
                  <a:fillRect l="-329" t="-7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81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B9AF-E71A-4DCA-83D2-2F2A2C892B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D38E9-1D3B-495F-A743-AD8D39719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38" t="19381" r="43402" b="62676"/>
          <a:stretch/>
        </p:blipFill>
        <p:spPr>
          <a:xfrm>
            <a:off x="4939645" y="582105"/>
            <a:ext cx="4703975" cy="2937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AA8C5-953B-4312-9B1F-5D20FC596215}"/>
              </a:ext>
            </a:extLst>
          </p:cNvPr>
          <p:cNvSpPr txBox="1"/>
          <p:nvPr/>
        </p:nvSpPr>
        <p:spPr>
          <a:xfrm>
            <a:off x="9741901" y="683442"/>
            <a:ext cx="35067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2a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19c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3k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18o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-w</a:t>
            </a:r>
          </a:p>
          <a:p>
            <a:pPr>
              <a:lnSpc>
                <a:spcPct val="150000"/>
              </a:lnSpc>
            </a:pPr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41017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32033-4EB2-43D5-8E91-BA571C47BE6A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 add and subtract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/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can be combined when they are added or subtracted to simplify the expression.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+7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−2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b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blipFill>
                <a:blip r:embed="rId2"/>
                <a:stretch>
                  <a:fillRect l="-352" t="-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54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+7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−2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b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F81F1A9-D3EC-4389-9639-7F7560E569AA}"/>
              </a:ext>
            </a:extLst>
          </p:cNvPr>
          <p:cNvSpPr/>
          <p:nvPr/>
        </p:nvSpPr>
        <p:spPr>
          <a:xfrm>
            <a:off x="2413262" y="580106"/>
            <a:ext cx="1414021" cy="1293829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3C3BC7-0C66-4599-8AB4-DB1F040A45EB}"/>
              </a:ext>
            </a:extLst>
          </p:cNvPr>
          <p:cNvSpPr/>
          <p:nvPr/>
        </p:nvSpPr>
        <p:spPr>
          <a:xfrm>
            <a:off x="5459691" y="460169"/>
            <a:ext cx="1770668" cy="1490411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427727-A42D-4153-97A7-A0C9F6610C68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120273" y="1873935"/>
            <a:ext cx="857838" cy="8776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7FD753-D232-4A0F-893F-17655EC3EC3E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3978111" y="1950580"/>
            <a:ext cx="2366914" cy="8009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76ECB9C-5D7C-4045-ABA9-35E208386C85}"/>
              </a:ext>
            </a:extLst>
          </p:cNvPr>
          <p:cNvSpPr/>
          <p:nvPr/>
        </p:nvSpPr>
        <p:spPr>
          <a:xfrm>
            <a:off x="3799787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FBA488-8920-4B65-9AFE-342BB06EE8A3}"/>
              </a:ext>
            </a:extLst>
          </p:cNvPr>
          <p:cNvSpPr/>
          <p:nvPr/>
        </p:nvSpPr>
        <p:spPr>
          <a:xfrm>
            <a:off x="7231930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1E500E-48D8-4A3D-B6BD-060A731CE588}"/>
              </a:ext>
            </a:extLst>
          </p:cNvPr>
          <p:cNvCxnSpPr>
            <a:cxnSpLocks/>
          </p:cNvCxnSpPr>
          <p:nvPr/>
        </p:nvCxnSpPr>
        <p:spPr>
          <a:xfrm>
            <a:off x="4631705" y="2015799"/>
            <a:ext cx="2101995" cy="7816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347DC4-E607-4790-8971-8D42BEE1A5EC}"/>
              </a:ext>
            </a:extLst>
          </p:cNvPr>
          <p:cNvCxnSpPr>
            <a:cxnSpLocks/>
          </p:cNvCxnSpPr>
          <p:nvPr/>
        </p:nvCxnSpPr>
        <p:spPr>
          <a:xfrm flipH="1">
            <a:off x="6733700" y="1996486"/>
            <a:ext cx="1406737" cy="8316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AF546-84C4-4A48-B95E-90BA770A8133}"/>
              </a:ext>
            </a:extLst>
          </p:cNvPr>
          <p:cNvSpPr/>
          <p:nvPr/>
        </p:nvSpPr>
        <p:spPr>
          <a:xfrm>
            <a:off x="2413262" y="2751535"/>
            <a:ext cx="2748306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                                                       </a:t>
                </a:r>
                <a14:m>
                  <m:oMath xmlns:m="http://schemas.openxmlformats.org/officeDocument/2006/math">
                    <m:r>
                      <a:rPr lang="en-AU" sz="2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AU" sz="135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2CE74E37-64BD-4C0F-AD7E-CC9F8346C3CD}"/>
              </a:ext>
            </a:extLst>
          </p:cNvPr>
          <p:cNvSpPr/>
          <p:nvPr/>
        </p:nvSpPr>
        <p:spPr>
          <a:xfrm>
            <a:off x="5339656" y="2714226"/>
            <a:ext cx="3386128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AU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+3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3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AU" sz="16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+ 10</m:t>
                    </m:r>
                    <m:r>
                      <a:rPr lang="en-AU" sz="16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02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9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0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4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5" grpId="0" uiExpand="1" build="allAtOnce"/>
      <p:bldP spid="26" grpId="0" animBg="1"/>
      <p:bldP spid="2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B9AF-E71A-4DCA-83D2-2F2A2C892B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BD52E-3415-4884-846E-4F307DE546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16" t="37706" r="56452" b="46336"/>
          <a:stretch/>
        </p:blipFill>
        <p:spPr>
          <a:xfrm>
            <a:off x="3667431" y="1591958"/>
            <a:ext cx="5827246" cy="2429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/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 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𝒈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𝟖</m:t>
                      </m:r>
                      <m:sSup>
                        <m:sSupPr>
                          <m:ctrlP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p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𝟏𝟏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85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6927" y="287685"/>
            <a:ext cx="7272473" cy="58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0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838" y="1727472"/>
            <a:ext cx="9443702" cy="37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201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95</TotalTime>
  <Words>458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Simplifying Expressions  </vt:lpstr>
      <vt:lpstr>Simplifying Expressions  </vt:lpstr>
      <vt:lpstr>Simplifying Expressions  </vt:lpstr>
      <vt:lpstr>Practice: lhs</vt:lpstr>
      <vt:lpstr>Simplifying Expressions  </vt:lpstr>
      <vt:lpstr>Practice: lhs</vt:lpstr>
      <vt:lpstr>Simplifying Expressions  </vt:lpstr>
      <vt:lpstr>3x+7y -2x +3y </vt:lpstr>
      <vt:lpstr>Practice: lhs</vt:lpstr>
      <vt:lpstr>Task</vt:lpstr>
      <vt:lpstr>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 </dc:title>
  <dc:creator>D'SOUZA Jillian [Baldivis Secondary College]</dc:creator>
  <cp:lastModifiedBy>D'SOUZA Jillian [Baldivis Secondary College]</cp:lastModifiedBy>
  <cp:revision>25</cp:revision>
  <dcterms:created xsi:type="dcterms:W3CDTF">2018-03-11T07:42:05Z</dcterms:created>
  <dcterms:modified xsi:type="dcterms:W3CDTF">2018-03-11T12:07:26Z</dcterms:modified>
</cp:coreProperties>
</file>
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5"/>
  </p:notesMasterIdLst>
  <p:sldIdLst>
    <p:sldId id="257" r:id="rId2"/>
    <p:sldId id="272" r:id="rId3"/>
    <p:sldId id="271" r:id="rId4"/>
    <p:sldId id="330" r:id="rId5"/>
    <p:sldId id="332" r:id="rId6"/>
    <p:sldId id="333" r:id="rId7"/>
    <p:sldId id="334" r:id="rId8"/>
    <p:sldId id="336" r:id="rId9"/>
    <p:sldId id="335" r:id="rId10"/>
    <p:sldId id="340" r:id="rId11"/>
    <p:sldId id="328" r:id="rId12"/>
    <p:sldId id="337" r:id="rId13"/>
    <p:sldId id="339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39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9-06-13T03:46:44.260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1457 271 5784 0 0,'-45'-36'1704'0'0,"45"34"-1608"0"0,0 2-2 0 0,0 0-6 0 0,0 0-6 0 0,0 0-2 0 0,-47-54 1116 0 0,35 31 0 0 0,11 22-1171 0 0,0 0 0 0 0,0 0 1 0 0,0 0-1 0 0,0 0 0 0 0,0 0 0 0 0,0 0 1 0 0,0 0-1 0 0,0 0 0 0 0,0 0 0 0 0,1-1 1 0 0,-1 1-1 0 0,0 0 0 0 0,1 0 1 0 0,-1-1-1 0 0,1 1 0 0 0,0-1 0 0 0,-1 1 1 0 0,1 0-1 0 0,0-1 0 0 0,0 1 0 0 0,0-1 1 0 0,0 1-1 0 0,0 0 0 0 0,0-2-25 0 0,-32-48 1106 0 0,31 48-1059 0 0,0 1 0 0 0,0-1 0 0 0,-1 1 1 0 0,1-1-1 0 0,0 1 0 0 0,-1 0 0 0 0,0 0 1 0 0,1-1-1 0 0,-1 1 0 0 0,0 0 1 0 0,0 1-1 0 0,0-1 0 0 0,0 0 0 0 0,-1 0 1 0 0,1 1-1 0 0,0 0 0 0 0,-1-1 0 0 0,1 1 1 0 0,-1 0-1 0 0,-2-1-47 0 0,-53-16 805 0 0,-43 8-425 0 0,-117 7 130 0 0,109 12-53 0 0,-46 9 326 0 0,62 4-783 0 0,-4 10 168 0 0,82-26-112 0 0,-1 0-81 0 0,1 0 0 0 0,-1 1 1 0 0,2 0-1 0 0,-1 1 0 0 0,1 1 0 0 0,0 0 0 0 0,-7 7 25 0 0,-21 18 80 0 0,33-28-66 0 0,1 1 0 0 0,-1 0 0 0 0,1 0 0 0 0,1 1 0 0 0,-1 0 0 0 0,1 0 0 0 0,0 0 0 0 0,-1 5-14 0 0,-50 87 54 0 0,1 26-54 0 0,45-95 0 0 0,1 0 0 0 0,1 1 0 0 0,2 0 0 0 0,1 0 0 0 0,1 1 0 0 0,2 0 0 0 0,1 8 0 0 0,-1 62 0 0 0,19 5 60 0 0,31 49 181 0 0,1-61-177 0 0,-6-30-54 0 0,16-3 118 0 0,60 14 144 0 0,9-21-66 0 0,-45-33-140 0 0,32-2-66 0 0,-49-14 0 0 0,-19-2 17 0 0,1-1-1 0 0,-1-3 1 0 0,1-2-1 0 0,15-3-16 0 0,-39 3-2 0 0,129-35 2 0 0,-98 22 5 0 0,-17 5 10 0 0,-1-2 0 0 0,1-1 0 0 0,-2-1-1 0 0,8-6-14 0 0,40-33 64 0 0,-71 42-3 0 0,0-1 0 0 0,-1 0-1 0 0,-1-1 1 0 0,0 0-1 0 0,0-1 1 0 0,-1 0-1 0 0,2-5-60 0 0,31-68 288 0 0,-24 15-73 0 0,12-25 10 0 0,-18-5 5 0 0,-11 22 68 0 0,-5-3-58 0 0,-1-9-58 0 0,-7 2-12 0 0,8 7-15 0 0,-6 39-32 0 0,9 33-85 0 0,0-1 0 0 0,-1 1 1 0 0,0 0-1 0 0,-1 0 0 0 0,0 0 0 0 0,-1 0 0 0 0,1 1 1 0 0,-2-1-1 0 0,-3-3-38 0 0,-13-28 80 0 0,-23-7-14 0 0,-49-25-352 0 0,21 22-540 0 0,7 11-844 0 0,40 27-527 0 0,11 7-3463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9-06-13T03:46:45.79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1192 272 4864 0 0,'0'0'223'0'0,"2"-1"31"0"0,15-7 317 0 0,-15 7-283 0 0,0-9 704 0 0,11-2-644 0 0,-12 11-250 0 0,-1 1-8 0 0,1-1-17 0 0,2-7-58 0 0,-3-8 171 0 0,-5 4 452 0 0,-46-38 1618 0 0,4 14-922 0 0,-15-2-244 0 0,38 26-693 0 0,12 5-194 0 0,0 1-1 0 0,-1 0 0 0 0,1 1 0 0 0,-1 0 1 0 0,-1 1-1 0 0,1 0 0 0 0,-1 1 1 0 0,-4 0-203 0 0,-109-19 1189 0 0,-41 31-483 0 0,136-4-627 0 0,-96 26 234 0 0,35 3-139 0 0,27 2-333 0 0,41-18 330 0 0,-54 56-141 0 0,57-46-69 0 0,10-14 28 0 0,0 0 0 0 0,1 1 0 0 0,1 0 0 0 0,1 1 0 0 0,0 0 0 0 0,1 0-1 0 0,0 1 1 0 0,-4 16 11 0 0,-25 122-53 0 0,16-31 309 0 0,-5-14-448 0 0,23-94 190 0 0,1 0 1 0 0,0 0-1 0 0,1 0 0 0 0,1 0 0 0 0,1 0 0 0 0,1 10 2 0 0,0-3 22 0 0,1 0-1 0 0,2 0 0 0 0,0 0 1 0 0,1-1-1 0 0,1 0 0 0 0,2 2-21 0 0,17 41 72 0 0,35 57 72 0 0,7-14-69 0 0,-44-83-29 0 0,-17-16-39 0 0,0-1 0 0 0,1 0 0 0 0,0-1 0 0 0,0 1 1 0 0,1-2-1 0 0,0 1 0 0 0,0-1 0 0 0,0-1 0 0 0,1 1 0 0 0,1-1-7 0 0,180 55 203 0 0,-104-38-150 0 0,28-8-53 0 0,49 5 64 0 0,-79-25-10 0 0,12-11 20 0 0,57-16 1 0 0,-43-22 382 0 0,-24-27 305 0 0,-67 60-685 0 0,-2-2 0 0 0,0 0 1 0 0,-2 0-1 0 0,-1-1 0 0 0,4-11-77 0 0,8-11 128 0 0,21-74 208 0 0,-17 11-154 0 0,-16-9-46 0 0,-21 8-115 0 0,-9 19 118 0 0,-10-13-13 0 0,-43-50-444 0 0,57 137 388 0 0,1 1-49 0 0,0 2 0 0 0,-1-1 0 0 0,-1 1 0 0 0,0 1 0 0 0,-1 0 0 0 0,0 1-1 0 0,-1 0 1 0 0,-1 1 0 0 0,-1 0-21 0 0,-69-46 456 0 0,76 52-499 0 0,0 0-1 0 0,-1 0 1 0 0,0 2-1 0 0,0-1 0 0 0,0 1 1 0 0,0 0-1 0 0,0 1 1 0 0,-1 1-1 0 0,0-1 0 0 0,1 1 1 0 0,-2 1 43 0 0,-10-3-33 0 0,8 1-54 0 0,5 0-103 0 0,0 1 1 0 0,0 1-1 0 0,1 0 1 0 0,-1 0-1 0 0,0 0 1 0 0,0 1-1 0 0,0 1 1 0 0,0-1-1 0 0,-1 2 190 0 0,-6 1-1067 0 0,1-3-41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9-06-13T03:47:01.534"/>
    </inkml:context>
    <inkml:brush xml:id="br0">
      <inkml:brushProperty name="width" value="0.2" units="cm"/>
      <inkml:brushProperty name="height" value="0.2" units="cm"/>
      <inkml:brushProperty name="color" value="#EEB3A6"/>
      <inkml:brushProperty name="inkEffects" value="rosegold"/>
      <inkml:brushProperty name="anchorX" value="2677.11206"/>
      <inkml:brushProperty name="anchorY" value="2007.37952"/>
      <inkml:brushProperty name="scaleFactor" value="0.5"/>
    </inkml:brush>
  </inkml:definitions>
  <inkml:trace contextRef="#ctx0" brushRef="#br0">1771 224 8840 0 0,'0'0'0'0'0,"0"-1"960"0"0,-1 0-1120 0 0,0 1 320 0 0,-1-3-160 0 0,0-2 168 0 0,-3-2-30 0 0,-2-1 20 0 0,0-2 2 0 0,-2 0 177 0 0,1 2-13 0 0,0-1 24 0 0,-1 1 3 0 0,1 0-270 0 0,0 0 22 0 0,-1 0-33 0 0,-1 1-4 0 0,-2 0-77 0 0,0 0 22 0 0,-1 2-11 0 0,0-1 0 0 0,-1 0 186 0 0,-3 0 162 0 0,-1 1-230 0 0,-1 0 160 0 0,-5 0 269 0 0,1 2-379 0 0,1 0 19 0 0,1-1-21 0 0,-1 1-22 0 0,1 0 2 0 0,4 1 16 0 0,1-1-4 0 0,-2 1 2 0 0,-2 0 0 0 0,-1 1 0 0 0,-3 0 0 0 0,-1 2 0 0 0,-4 1 0 0 0,-2 0 0 0 0,-2 2 9 0 0,0 0-2 0 0,-10 3 94 0 0,0 0-241 0 0,1 2 0 0 0,1 0 102 0 0,1 1-70 0 0,-6 1 90 0 0,1 2-98 0 0,1 0 86 0 0,2 1-16 0 0,0-1 4 0 0,0 1 2 0 0,1 1 47 0 0,2-1-14 0 0,1 0 17 0 0,2 0-4 0 0,0 0-194 0 0,1 0 56 0 0,0-1-28 0 0,2 0 75 0 0,2 0 25 0 0,0-1 16 0 0,1 1 1 0 0,2 2 3 0 0,1-1 10 0 0,2 1 6 0 0,0 0-2 0 0,-1 4 133 0 0,0 3-206 0 0,2 0 67 0 0,2 2-24 0 0,3 2-121 0 0,1 1 34 0 0,3 1-17 0 0,1 1 0 0 0,3 2 75 0 0,2 1-96 0 0,2 0 134 0 0,2 2-142 0 0,3 1 118 0 0,2 2-110 0 0,4-1 31 0 0,1 1-10 0 0,4 0 75 0 0,0 2-96 0 0,2 0 31 0 0,2 2-10 0 0,2-1 84 0 0,2-1-108 0 0,1-1 36 0 0,3-1 72 0 0,3-1-108 0 0,2-1 111 0 0,5-1-108 0 0,2 0 106 0 0,5-3-22 0 0,2-2 7 0 0,2-2 2 0 0,1-3 0 0 0,2-1-84 0 0,1-3 24 0 0,1-1-12 0 0,0-1 0 0 0,0-2 0 0 0,1-2 0 0 0,0-1 0 0 0,8 1 0 0 0,-2 0 0 0 0,2-2 0 0 0,-1-2 0 0 0,-3-3 0 0 0,-2-1 75 0 0,-2-2-96 0 0,0-2 31 0 0,1-2-10 0 0,-1-1 0 0 0,0-1 0 0 0,0-1 0 0 0,-1-2 0 0 0,0-3 0 0 0,-3-3 0 0 0,-2 0 0 0 0,1-1 75 0 0,-3-1-96 0 0,-1 0 31 0 0,-3-1 65 0 0,-1 0-96 0 0,-2-2 31 0 0,1-1 74 0 0,0 0-108 0 0,-1-2 36 0 0,0-2 63 0 0,0 1-96 0 0,0-2 31 0 0,-2 2-10 0 0,-2-2 75 0 0,-2 1-96 0 0,0-1 31 0 0,-2 0-10 0 0,-1-1 0 0 0,-2 0 0 0 0,0 0 75 0 0,-2-1-96 0 0,0 0 106 0 0,-2-1-106 0 0,-3 0 106 0 0,-1 0-32 0 0,-3-1 11 0 0,-2-2 0 0 0,-4 1 0 0 0,-2-3 56 0 0,-4 0 3 0 0,-3-1 2 0 0,-2-1 3 0 0,-3 0 38 0 0,-3 0 7 0 0,0 0 0 0 0,-2 0 3 0 0,-2-1-205 0 0,-2 1 58 0 0,0-1-29 0 0,-1 2 0 0 0,0 1 0 0 0,-2 0 0 0 0,0 1 0 0 0,-3 0 0 0 0,1 1 0 0 0,-1 1 0 0 0,1 0 0 0 0,-2 1 0 0 0,2 0 94 0 0,-1 0-46 0 0,-1 1-56 0 0,0-1 130 0 0,-2 1-79 0 0,0 1 26 0 0,-1-1-79 0 0,0 2 132 0 0,-2 1-154 0 0,-1-1 123 0 0,-1 1-112 0 0,0 2 31 0 0,0 2-10 0 0,-2 2 0 0 0,0 3 0 0 0,2 1 0 0 0,3 3-102 0 0,1 0-18 0 0,1 3-2 0 0,1 0-15 0 0,-6 2-1500 0 0,0 2-4510 0 0,3 2-7 0 0,6 1-2592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9-06-13T03:47:02.991"/>
    </inkml:context>
    <inkml:brush xml:id="br0">
      <inkml:brushProperty name="width" value="0.2" units="cm"/>
      <inkml:brushProperty name="height" value="0.2" units="cm"/>
      <inkml:brushProperty name="color" value="#EEB3A6"/>
      <inkml:brushProperty name="inkEffects" value="rosegold"/>
      <inkml:brushProperty name="anchorX" value="3815.04346"/>
      <inkml:brushProperty name="anchorY" value="2863.78809"/>
      <inkml:brushProperty name="scaleFactor" value="0.5"/>
    </inkml:brush>
  </inkml:definitions>
  <inkml:trace contextRef="#ctx0" brushRef="#br0">1374 267 6912 0 0,'0'0'0'0'0,"0"0"608"0"0,0 0-560 0 0,-2-1 496 0 0,-2-1-102 0 0,-1-2 46 0 0,-2-1 6 0 0,0 0-64 0 0,0-1 1 0 0,-1-1-4 0 0,-2-2 305 0 0,-1 1-620 0 0,1-1 186 0 0,-1-1-72 0 0,0 0 26 0 0,0 1-8 0 0,-1 1 4 0 0,0 0 0 0 0,0 1 74 0 0,-2 2-11 0 0,-1 1 17 0 0,-1 1-1 0 0,-3 0 10 0 0,1-1-2 0 0,-1 2 1 0 0,-4-2 186 0 0,-6 1-332 0 0,1 0-53 0 0,-1 1 5 0 0,3-1-22 0 0,0 2 0 0 0,1-2 0 0 0,1 1 56 0 0,-1 1 3 0 0,1 0 2 0 0,0 1 3 0 0,-2 2-18 0 0,-2-1 4 0 0,2 1-2 0 0,-2 0 0 0 0,-1 2-18 0 0,0 1-5 0 0,-1 2 0 0 0,-1 2-1 0 0,-2-1-18 0 0,-2 3 4 0 0,1-1-2 0 0,1 1 0 0 0,-1 1 38 0 0,1 1-12 0 0,1 1 6 0 0,2 0 0 0 0,1 1-93 0 0,1 1 8 0 0,2 0-9 0 0,1 2-2 0 0,1 1-74 0 0,1 2 114 0 0,0 2-131 0 0,1 1 134 0 0,1 2-134 0 0,0 2 40 0 0,1 1 71 0 0,1 2-108 0 0,2 0 36 0 0,1 1 72 0 0,2 3-108 0 0,3 0 36 0 0,2 1 63 0 0,3 0-96 0 0,2 0 31 0 0,3-1-10 0 0,4 0 0 0 0,5 9 0 0 0,3 1 0 0 0,3 2 0 0 0,4-2 0 0 0,2-1 0 0 0,1-3 0 0 0,3-1 0 0 0,8 4 0 0 0,2 0 0 0 0,2-2 0 0 0,0-2 0 0 0,1-1 0 0 0,0-2 0 0 0,2-1 0 0 0,1-3 0 0 0,3-1 0 0 0,0-3 0 0 0,2-2 75 0 0,0-3-96 0 0,1-2 31 0 0,11 1-10 0 0,0-2 0 0 0,0-4 0 0 0,-1-3 0 0 0,-2-3 103 0 0,-3-2-132 0 0,-1-3 137 0 0,0-2-135 0 0,0-3 143 0 0,2 0-145 0 0,-2-2 155 0 0,-1-1-158 0 0,0-1 198 0 0,7-3 24 0 0,-1-1-123 0 0,-1-2-66 0 0,-4-1 15 0 0,-4-1-16 0 0,-3 0-93 0 0,-4-2 120 0 0,-2 0-41 0 0,-3 0 108 0 0,-3-1-121 0 0,0 0 134 0 0,4-3-41 0 0,3-5 33 0 0,-2-2-43 0 0,-3 0-61 0 0,-1-2 239 0 0,-4 0-195 0 0,-5 0 66 0 0,-4 2-17 0 0,-3 0 28 0 0,-4 0 2 0 0,-2 1 0 0 0,-3 1 2 0 0,0-2 47 0 0,-3-1-14 0 0,-1-2 17 0 0,-2-1-4 0 0,-1-1 30 0 0,-3-11 216 0 0,-1-1-284 0 0,-2-1-128 0 0,0-1 32 0 0,0 1-32 0 0,-1 1-74 0 0,-1 2 170 0 0,-1 0-26 0 0,-1 3 24 0 0,-4-7 0 0 0,-5-4-35 0 0,-5-5 85 0 0,0 3-101 0 0,-1 4 31 0 0,0 6-10 0 0,0 3-74 0 0,1 6 95 0 0,-2 2-106 0 0,1 3 106 0 0,-2 2-106 0 0,-1 0 106 0 0,-3 0-106 0 0,-1 0 106 0 0,-2 0-106 0 0,0-1 31 0 0,0 0-10 0 0,-6 0-84 0 0,-2 0-13 0 0,-1 1-11 0 0,-9-1-152 0 0,-1 3 172 0 0,0 1-59 0 0,2 2 19 0 0,-16-1-1092 0 0,1 2 1115 0 0,-11 2-4268 0 0,44 9-5197 0 0,0 0-1825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9-06-13T03:47:14.837"/>
    </inkml:context>
    <inkml:brush xml:id="br0">
      <inkml:brushProperty name="width" value="0.2" units="cm"/>
      <inkml:brushProperty name="height" value="0.2" units="cm"/>
      <inkml:brushProperty name="color" value="#FF4E00"/>
      <inkml:brushProperty name="inkEffects" value="rainbow"/>
      <inkml:brushProperty name="anchorX" value="4849.62012"/>
      <inkml:brushProperty name="anchorY" value="3765.28589"/>
      <inkml:brushProperty name="scaleFactor" value="0.5"/>
    </inkml:brush>
  </inkml:definitions>
  <inkml:trace contextRef="#ctx0" brushRef="#br0">1411 257 9528 0 0,'0'0'0'0'0,"0"0"992"0"0,0 0-1158 0 0,-3-2 332 0 0,-1-1-45 0 0,0 1-72 0 0,-2-2 19 0 0,1-1-2 0 0,-2 0 184 0 0,0 0-24 0 0,0 1 27 0 0,1-1 2 0 0,-1 0-298 0 0,0-1 86 0 0,0-1-43 0 0,1 0 261 0 0,-3-2 187 0 0,1-1-299 0 0,-2 1 234 0 0,1 0-44 0 0,-1 0 9 0 0,-1-1 4 0 0,-2 1-66 0 0,-1-2 10 0 0,-1 0-6 0 0,-1-1-2 0 0,-2 1-19 0 0,-7-1 304 0 0,-2 0-395 0 0,-2 2 111 0 0,-2-1-48 0 0,-1 2 0 0 0,1 2-1 0 0,0 1-65 0 0,2 2 0 0 0,-1 2-5 0 0,1 1-2 0 0,-2 2-196 0 0,1 1 56 0 0,-1 1-28 0 0,1 1 0 0 0,1 1 0 0 0,1-1 0 0 0,1 1 0 0 0,0 0 0 0 0,0 1 0 0 0,0-1 0 0 0,0 2 0 0 0,-4 1 0 0 0,-1 1 131 0 0,1 0-66 0 0,0 2 18 0 0,1 1-20 0 0,1 0 3 0 0,1 1-2 0 0,1 1 0 0 0,0 0 38 0 0,1 1-12 0 0,4 0 6 0 0,1 3 0 0 0,1 2-112 0 0,2 1 144 0 0,-1 2-160 0 0,0 0 160 0 0,0 3-160 0 0,0 0 48 0 0,1 3 68 0 0,1 0-108 0 0,1 4 36 0 0,1 2-12 0 0,1 1 0 0 0,3 0 0 0 0,1 1 0 0 0,2 0 0 0 0,0 2 0 0 0,2 0 0 0 0,-1 0 0 0 0,2 1 0 0 0,1-2 0 0 0,1 0 0 0 0,1-1 0 0 0,1-1 0 0 0,2-1 75 0 0,1 0-96 0 0,1 0 246 0 0,0-1-72 0 0,1 1 31 0 0,1 0 0 0 0,-1-1-214 0 0,1 0-89 0 0,1-2 31 0 0,0-1-17 0 0,1-1 195 0 0,2 0-7 0 0,0-1 24 0 0,1-1 3 0 0,2 0-128 0 0,0 0 36 0 0,3 0-18 0 0,0 0 0 0 0,1-1 0 0 0,0 0 0 0 0,2 0 0 0 0,0-1 0 0 0,2-2 0 0 0,2 1 0 0 0,0-2 0 0 0,2 0 0 0 0,1 0 0 0 0,1-1 0 0 0,0-1 75 0 0,1-1-96 0 0,-1 0 31 0 0,-1-2-10 0 0,1-3 0 0 0,-1 0 0 0 0,-1-2 0 0 0,5 2 0 0 0,1 0 0 0 0,2-1 75 0 0,-2-1-96 0 0,0-1 31 0 0,0-2-10 0 0,3-1 84 0 0,1-1-108 0 0,1-2 111 0 0,1 0-108 0 0,1-2 31 0 0,2-1-10 0 0,0-2 0 0 0,1 0 0 0 0,0-2 0 0 0,0 0 0 0 0,-1-2 75 0 0,-1 0-96 0 0,-1-3 31 0 0,0 0-10 0 0,-1-1 0 0 0,0-1 0 0 0,-1-1 0 0 0,0 0 0 0 0,0-1 0 0 0,0-1 0 0 0,-2 0 0 0 0,-1 0 0 0 0,0-1 0 0 0,0-1 0 0 0,-2 0 0 0 0,0-1 0 0 0,-1 0 0 0 0,-1 0 0 0 0,-3-2 0 0 0,-1-1 0 0 0,-2-1 0 0 0,-3-2 0 0 0,1-1 0 0 0,0-1 0 0 0,-1 0 0 0 0,0-2 75 0 0,-2-1-3 0 0,-1-1 5 0 0,-2-1 3 0 0,-2-2 0 0 0,0 1-18 0 0,-3-2 4 0 0,-1-1-2 0 0,-1 0 0 0 0,-2 0-74 0 0,-1 0 114 0 0,-2 0-131 0 0,-2-1 134 0 0,0-1-134 0 0,-2 0 40 0 0,0-2-13 0 0,-1-1 0 0 0,-3 1 0 0 0,0-1 75 0 0,-2 0-22 0 0,-3 0 11 0 0,0-1 112 0 0,0-1-4 0 0,-1-1 8 0 0,0-1 4 0 0,0 1-214 0 0,0 0 60 0 0,2 1-30 0 0,0 1 0 0 0,0 2 103 0 0,-1 0-58 0 0,1 1 23 0 0,-1-1-4 0 0,-1 3-74 0 0,1-1 20 0 0,-1 2-122 0 0,-1 1 144 0 0,1 2-48 0 0,-1 2 16 0 0,-1 0 0 0 0,-5-4 131 0 0,-1 1-56 0 0,-1 2 14 0 0,-1 1 0 0 0,0 2-103 0 0,0 3 140 0 0,-1 2-158 0 0,0 0 160 0 0,-2 1-160 0 0,-1 0 48 0 0,-2 1-16 0 0,1 1 0 0 0,-3 2 0 0 0,-1 1 0 0 0,-1-2-74 0 0,-2 2 95 0 0,0 2-134 0 0,-2 1 67 0 0,-1 2-22 0 0,0 2 4 0 0,-1 2-37 0 0,-2 1 10 0 0,0 3-5 0 0,-1 1 0 0 0,-17 5-1941 0 0,-2 1-6949 0 0,9 1-2706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9-06-13T03:47:19.649"/>
    </inkml:context>
    <inkml:brush xml:id="br0">
      <inkml:brushProperty name="width" value="0.2" units="cm"/>
      <inkml:brushProperty name="height" value="0.2" units="cm"/>
      <inkml:brushProperty name="color" value="#FF4E00"/>
      <inkml:brushProperty name="inkEffects" value="rainbow"/>
      <inkml:brushProperty name="anchorX" value="6078.72461"/>
      <inkml:brushProperty name="anchorY" value="4634.92432"/>
      <inkml:brushProperty name="scaleFactor" value="0.5"/>
    </inkml:brush>
  </inkml:definitions>
  <inkml:trace contextRef="#ctx0" brushRef="#br0">572 85 5064 0 0,'0'0'0'0'0,"0"0"448"0"0,0 0-411 0 0,0 0 1154 0 0,0 0-150 0 0,1 0 136 0 0,0 0 26 0 0,1-2-976 0 0,-1 0 281 0 0,-1 0-383 0 0,1-1 32 0 0,-1-1-23 0 0,0 1-16 0 0,0-2 4 0 0,0 0-142 0 0,0 0 40 0 0,0 0-132 0 0,0 1 144 0 0,-1-1-160 0 0,0 1 234 0 0,-1 1 16 0 0,1 1 20 0 0,1 1 8 0 0,-3 0 198 0 0,1 1-10 0 0,0 0 25 0 0,-1-1 4 0 0,-1-1-83 0 0,-1-1 14 0 0,1-1-18 0 0,0 2 2 0 0,0-2-86 0 0,0 1 5 0 0,0 0-6 0 0,-2 1-3 0 0,2 1-47 0 0,-3-1 154 0 0,-2 0-206 0 0,-3 2-18 0 0,1 0-74 0 0,0 2 122 0 0,0-1-155 0 0,0 2 197 0 0,1 2-86 0 0,0-1 19 0 0,0 1 0 0 0,0 1 7 0 0,-4 0 119 0 0,1 0-155 0 0,-1-1 80 0 0,2 2-15 0 0,-1-1 0 0 0,2-1 2 0 0,0 1-28 0 0,0 0-1 0 0,1 0-2 0 0,-1-1-1 0 0,0 1 28 0 0,-1-1-8 0 0,-1 1 4 0 0,0 0 0 0 0,0 2-56 0 0,-1 0 7 0 0,1 1-6 0 0,1 1-1 0 0,0 1-84 0 0,0 0 99 0 0,1 0-108 0 0,1 1 106 0 0,0-1-106 0 0,0 0 31 0 0,0 1-10 0 0,0-1 0 0 0,0 1 0 0 0,1 1 0 0 0,1 0 0 0 0,1 1 0 0 0,2-1 0 0 0,3 0 0 0 0,-1 0 0 0 0,1 0 0 0 0,0 0 0 0 0,0 1 0 0 0,0-1 0 0 0,-1 1 0 0 0,0-1 0 0 0,-1 2 0 0 0,-1 1 0 0 0,-1 0 0 0 0,0 2 0 0 0,1-1 0 0 0,1 0 0 0 0,0 2 0 0 0,1-1 0 0 0,0 3 0 0 0,1-2 0 0 0,1 2 0 0 0,-1-2 0 0 0,1 0 0 0 0,-1 0-102 0 0,3-1 131 0 0,0-1-44 0 0,1 1 15 0 0,1-2 0 0 0,1 3 0 0 0,2 0 0 0 0,-2 0 0 0 0,0-1 0 0 0,-1 0 0 0 0,-2-1 0 0 0,2 0 0 0 0,0 0 75 0 0,-2-1-96 0 0,0 0 31 0 0,1-1-84 0 0,1 4 95 0 0,-1-1-32 0 0,1-1 11 0 0,-1-1 0 0 0,-1 0 0 0 0,0-1 0 0 0,1 0 0 0 0,1-1 0 0 0,1 0 0 0 0,1 0 0 0 0,0 0 0 0 0,1 0 0 0 0,0-2 0 0 0,1 1 0 0 0,-1-1 0 0 0,1 2 0 0 0,0-1 0 0 0,2 0 0 0 0,0 1 0 0 0,3 1 0 0 0,1 0-74 0 0,0-1 95 0 0,0-1-32 0 0,0 0 11 0 0,-1-2 0 0 0,0-1 0 0 0,-1-1 0 0 0,1 0 0 0 0,0 0 0 0 0,0-1 0 0 0,-1-1 0 0 0,0 0 0 0 0,1-1 0 0 0,0 0 0 0 0,0-2 0 0 0,0 0 0 0 0,0 1 0 0 0,-1 0 0 0 0,1 0 0 0 0,-2-1 0 0 0,3 1 0 0 0,0 1 0 0 0,1-1 0 0 0,0-2 0 0 0,0 0 0 0 0,1 0 0 0 0,-1-2 0 0 0,-1 1 0 0 0,1-1 0 0 0,-2 0 0 0 0,0-1 0 0 0,0-1 0 0 0,0 1 0 0 0,-1-2 0 0 0,1 1 0 0 0,-3 0 0 0 0,0-1 0 0 0,1-1 0 0 0,0 1 0 0 0,0-1 0 0 0,0 0 0 0 0,0-1 0 0 0,1-1 0 0 0,-1 0 0 0 0,1-1 0 0 0,-3 2 0 0 0,0-2 0 0 0,0 0 0 0 0,-1 0 0 0 0,1-1 0 0 0,1-1 0 0 0,0-1 0 0 0,1-1 0 0 0,0 1 0 0 0,-1-1 75 0 0,0 1-96 0 0,1-2 31 0 0,0 1 65 0 0,1 0-96 0 0,-1 0 125 0 0,-1 0-131 0 0,-1 0 40 0 0,-1 0-13 0 0,-1 0 0 0 0,-1-2 0 0 0,0 1 0 0 0,1-1 0 0 0,0 1 0 0 0,1-1 0 0 0,0 0 0 0 0,0 1 0 0 0,-1-2 0 0 0,2-1 0 0 0,1 0 0 0 0,-1 0 0 0 0,1 0 0 0 0,-1 1 0 0 0,1 1 0 0 0,0 0 0 0 0,0-2 103 0 0,1 0-132 0 0,-1-1 155 0 0,0 0-158 0 0,-2 2 179 0 0,-1-1-91 0 0,0 2 20 0 0,-1 0-3 0 0,0 0-85 0 0,0 1 24 0 0,0 0-12 0 0,0-1 0 0 0,0 1 75 0 0,0 0-96 0 0,-1 0 31 0 0,0 0-10 0 0,1-1 0 0 0,-2 2 0 0 0,0-3 0 0 0,-1 0 75 0 0,0-3-22 0 0,-1-1-63 0 0,1 0 20 0 0,0 2-10 0 0,-1 0 75 0 0,0 2-96 0 0,0-1 31 0 0,-1 0 65 0 0,0 1-96 0 0,0-1 106 0 0,0 0 6 0 0,-1 0-1 0 0,0-1 6 0 0,-1 1 0 0 0,1-1-112 0 0,-2 0 126 0 0,-1 1-137 0 0,1 0 134 0 0,0 0-134 0 0,-1 0 134 0 0,-1 0-134 0 0,0 1 134 0 0,-1-1-134 0 0,0 0 40 0 0,0 2-13 0 0,0-1 75 0 0,0 1-96 0 0,0 1 31 0 0,-1-1-10 0 0,1 0 0 0 0,0 1 0 0 0,0 0 0 0 0,0 1 0 0 0,1 0 0 0 0,0 1 103 0 0,0 1-58 0 0,-1 0-51 0 0,0-1 128 0 0,-1 1-79 0 0,1 0 26 0 0,1 0-79 0 0,-1 1 132 0 0,1-1-154 0 0,0 2 48 0 0,-2 1-16 0 0,1 1 0 0 0,-1-1 0 0 0,0 0-93 0 0,0 0 8 0 0,0-1 103 0 0,1 0-34 0 0,1 0 16 0 0,-2-1 0 0 0,0 2 0 0 0,-1-2 0 0 0,2 2 0 0 0,-1-1 0 0 0,0 1 0 0 0,-1-3 0 0 0,0 0-74 0 0,2 2 95 0 0,0-1-32 0 0,-2 0 11 0 0,1 0 0 0 0,0 0 0 0 0,-1 0 0 0 0,0 1 75 0 0,1 0-96 0 0,-1 1 31 0 0,0 0-10 0 0,-2 1 0 0 0,0 1 0 0 0,-1 0 0 0 0,-2 2-93 0 0,1 0 36 0 0,-1 0-17 0 0,-1 1-63 0 0,1 0 0 0 0,0 1-5 0 0,0 0-2 0 0,-6-1-877 0 0,0 0 932 0 0,-4-4-1357 0 0,2-1 1318 0 0,-3-8-2054 0 0,3-2-4486 0 0,4 2-2187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9-06-13T03:47:26.951"/>
    </inkml:context>
    <inkml:brush xml:id="br0">
      <inkml:brushProperty name="width" value="0.2" units="cm"/>
      <inkml:brushProperty name="height" value="0.2" units="cm"/>
      <inkml:brushProperty name="color" value="#33CCFF"/>
    </inkml:brush>
  </inkml:definitions>
  <inkml:trace contextRef="#ctx0" brushRef="#br0">749 287 8840 0 0,'0'0'400'0'0,"0"0"0"0"0,-2 0-256 0 0,-87-32 2064 0 0,50 8-1432 0 0,3-7 8 0 0,-41-2 697 0 0,66 29-1239 0 0,0 1 1 0 0,0 0-1 0 0,-1 0 0 0 0,0 1 1 0 0,1 1-1 0 0,-1 0 0 0 0,0 0 0 0 0,-5 2-242 0 0,6-1 240 0 0,-4-1-111 0 0,1 1-1 0 0,-1 0 1 0 0,0 2-1 0 0,1 0 1 0 0,-1 0-1 0 0,1 1 1 0 0,0 1-1 0 0,-3 1-128 0 0,-72 47 344 0 0,80-45-300 0 0,-2 2-25 0 0,0 0 0 0 0,1 1 1 0 0,0 0-1 0 0,1 0 0 0 0,0 1 0 0 0,0 0 0 0 0,1 1 0 0 0,1 0 0 0 0,-1 1-19 0 0,-3 11-1 0 0,2 1-1 0 0,0 0 0 0 0,2 0 0 0 0,1 1 1 0 0,1 0-1 0 0,0 7 2 0 0,-6 311-118 0 0,36-67 118 0 0,-17-231-10 0 0,2-1-1 0 0,1-1 0 0 0,3 0 1 0 0,1 0-1 0 0,2-2 0 0 0,11 18 11 0 0,-19-44 1 0 0,0-1 0 0 0,1 0-1 0 0,0-1 1 0 0,1 0 0 0 0,1 0-1 0 0,0-1 1 0 0,1-1 0 0 0,0 0-1 0 0,1 0 1 0 0,5 2-1 0 0,-3-5 22 0 0,0-1 0 0 0,1 0 1 0 0,0-1-1 0 0,0-1 0 0 0,0 0 0 0 0,2-1-22 0 0,-11-3 4 0 0,14 4 32 0 0,0-2-1 0 0,1 0 1 0 0,0-2-1 0 0,-1 0 1 0 0,1-2-1 0 0,0-1 0 0 0,17-2-35 0 0,-12 2 31 0 0,0-2-1 0 0,-1-1 1 0 0,1-1-1 0 0,-1-2 1 0 0,0 0-1 0 0,-1-2 1 0 0,0-1-1 0 0,0-1 1 0 0,-1-1-1 0 0,0-1 1 0 0,-1-1-1 0 0,-1-2 1 0 0,0 0-1 0 0,6-8-30 0 0,-21 17 8 0 0,7-7 36 0 0,0 0 1 0 0,-1-1 0 0 0,0-1 0 0 0,-1 0-1 0 0,-1-1 1 0 0,5-11-45 0 0,46-87 273 0 0,-17-84 186 0 0,-40 29 265 0 0,-8 137-614 0 0,-1 1 1 0 0,-2-1-1 0 0,-1 1 0 0 0,-8-23-110 0 0,2 6 72 0 0,-46-129 184 0 0,40 140-169 0 0,-2 1 0 0 0,-1 1 0 0 0,-2 0 0 0 0,-1 2 0 0 0,-2 1-1 0 0,-1 0 1 0 0,-4-1-87 0 0,13 14 79 0 0,-1 1-1 0 0,0 0 1 0 0,-1 1-1 0 0,-1 1 0 0 0,-1 1 1 0 0,0 1-1 0 0,-1 1 0 0 0,-1 1 1 0 0,0 1-1 0 0,-1 1-78 0 0,-20-6-41 0 0,36 12-21 0 0,-2 0-1 0 0,1 1 0 0 0,0 0 1 0 0,-1 1-1 0 0,0 0 0 0 0,1 1 1 0 0,-1 0-1 0 0,0 0 0 0 0,0 1 0 0 0,0 1 1 0 0,-1 0-1 0 0,-8 1 63 0 0,-50 18-2003 0 0,48-5 223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9-06-13T03:47:28.559"/>
    </inkml:context>
    <inkml:brush xml:id="br0">
      <inkml:brushProperty name="width" value="0.2" units="cm"/>
      <inkml:brushProperty name="height" value="0.2" units="cm"/>
      <inkml:brushProperty name="color" value="#33CCFF"/>
    </inkml:brush>
  </inkml:definitions>
  <inkml:trace contextRef="#ctx0" brushRef="#br0">734 236 3224 0 0,'0'0'143'0'0,"-3"-3"1032"0"0,0 1 2949 0 0,-32-36-1209 0 0,-21-8-2754 0 0,-11 34 606 0 0,-42 20 2244 0 0,37 11-1425 0 0,62-13-1493 0 0,-47 42 219 0 0,9 27-312 0 0,-4 53 326 0 0,1-17 383 0 0,21-75-656 0 0,-17 42 11 0 0,35-53-64 0 0,-34 39 0 0 0,20-4 0 0 0,17-2 0 0 0,8 11-12 0 0,17 45-48 0 0,0-48 60 0 0,25 80 0 0 0,-4-71 0 0 0,-1-25 64 0 0,68 69 160 0 0,-93-108-224 0 0,1-1 0 0 0,0 0 0 0 0,0-1 0 0 0,1 0 0 0 0,1-1 0 0 0,-1-1 0 0 0,1 0 0 0 0,3 0 0 0 0,27 11 7 0 0,61 15-78 0 0,-16-32 71 0 0,-71-2 0 0 0,-2 0 0 0 0,1 0 0 0 0,-1-1 0 0 0,1 0 0 0 0,-1-1 0 0 0,0-1 0 0 0,0-1 0 0 0,0 0 0 0 0,7-4 0 0 0,85-50 0 0 0,-36-15 0 0 0,-36 23 54 0 0,17-50 82 0 0,-28 8 21 0 0,-11-13 15 0 0,-8-35 123 0 0,-11-102 451 0 0,-5 78-226 0 0,-53-34 208 0 0,52 174-573 0 0,-2 1 0 0 0,0 0-1 0 0,-2 1 1 0 0,-1 0 0 0 0,-17-18-155 0 0,29 35-3 0 0,-15-12 2 0 0,0 1-1 0 0,-1 0 1 0 0,-1 1 0 0 0,0 2-1 0 0,-1 0 1 0 0,-1 1 0 0 0,0 2-1 0 0,-1 0 1 0 0,0 1 0 0 0,-1 1-1 0 0,1 2 1 0 0,-2 0 0 0 0,1 2-1 0 0,-1 1 1 0 0,-22-1 1 0 0,-92-5-2740 0 0,119 10 1569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699089-F078-4D02-AEF3-F8E8963ADD5E}" type="datetimeFigureOut">
              <a:rPr lang="en-AU" smtClean="0"/>
              <a:t>25/06/2019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B05EFC-853B-4BCC-846B-989BD9C5B81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821600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7456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9517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2787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83D95DAB-D3D4-49D2-B541-86D70FA215EE}" type="datetimeFigureOut">
              <a:rPr lang="en-AU" smtClean="0"/>
              <a:t>25/06/2019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5A591-C245-44AC-A81C-FFF190FE1DEB}" type="slidenum">
              <a:rPr lang="en-AU" smtClean="0"/>
              <a:t>‹#›</a:t>
            </a:fld>
            <a:endParaRPr lang="en-AU"/>
          </a:p>
        </p:txBody>
      </p:sp>
      <p:cxnSp>
        <p:nvCxnSpPr>
          <p:cNvPr id="13" name="Straight Connector 12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blipFill dpi="0" rotWithShape="1"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133350" ty="-6350" sx="50000" sy="5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9415793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95DAB-D3D4-49D2-B541-86D70FA215EE}" type="datetimeFigureOut">
              <a:rPr lang="en-AU" smtClean="0"/>
              <a:t>25/06/2019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5A591-C245-44AC-A81C-FFF190FE1DE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1933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95DAB-D3D4-49D2-B541-86D70FA215EE}" type="datetimeFigureOut">
              <a:rPr lang="en-AU" smtClean="0"/>
              <a:t>25/06/2019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5A591-C245-44AC-A81C-FFF190FE1DEB}" type="slidenum">
              <a:rPr lang="en-AU" smtClean="0"/>
              <a:t>‹#›</a:t>
            </a:fld>
            <a:endParaRPr lang="en-AU"/>
          </a:p>
        </p:txBody>
      </p:sp>
      <p:cxnSp>
        <p:nvCxnSpPr>
          <p:cNvPr id="12" name="Straight Connector 11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0" y="-1"/>
            <a:ext cx="12192000" cy="4572000"/>
          </a:xfrm>
          <a:prstGeom prst="rect">
            <a:avLst/>
          </a:prstGeom>
          <a:blipFill dpi="0" rotWithShape="1">
            <a:blip r:embed="rId2">
              <a:duotone>
                <a:schemeClr val="accent3">
                  <a:shade val="45000"/>
                  <a:satMod val="135000"/>
                </a:schemeClr>
                <a:prstClr val="white"/>
              </a:duotone>
            </a:blip>
            <a:srcRect/>
            <a:tile tx="-133350" ty="-6350" sx="50000" sy="5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6597282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95DAB-D3D4-49D2-B541-86D70FA215EE}" type="datetimeFigureOut">
              <a:rPr lang="en-AU" smtClean="0"/>
              <a:t>25/06/2019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5A591-C245-44AC-A81C-FFF190FE1DE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79427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95DAB-D3D4-49D2-B541-86D70FA215EE}" type="datetimeFigureOut">
              <a:rPr lang="en-AU" smtClean="0"/>
              <a:t>25/06/2019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5A591-C245-44AC-A81C-FFF190FE1DE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027459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95DAB-D3D4-49D2-B541-86D70FA215EE}" type="datetimeFigureOut">
              <a:rPr lang="en-AU" smtClean="0"/>
              <a:t>25/06/2019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5A591-C245-44AC-A81C-FFF190FE1DE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561369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95DAB-D3D4-49D2-B541-86D70FA215EE}" type="datetimeFigureOut">
              <a:rPr lang="en-AU" smtClean="0"/>
              <a:t>25/06/2019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5A591-C245-44AC-A81C-FFF190FE1DE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94691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95DAB-D3D4-49D2-B541-86D70FA215EE}" type="datetimeFigureOut">
              <a:rPr lang="en-AU" smtClean="0"/>
              <a:t>25/06/2019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5A591-C245-44AC-A81C-FFF190FE1DE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96446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95DAB-D3D4-49D2-B541-86D70FA215EE}" type="datetimeFigureOut">
              <a:rPr lang="en-AU" smtClean="0"/>
              <a:t>25/06/2019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5A591-C245-44AC-A81C-FFF190FE1DEB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47573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95DAB-D3D4-49D2-B541-86D70FA215EE}" type="datetimeFigureOut">
              <a:rPr lang="en-AU" smtClean="0"/>
              <a:t>25/06/2019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5A591-C245-44AC-A81C-FFF190FE1DE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619467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95DAB-D3D4-49D2-B541-86D70FA215EE}" type="datetimeFigureOut">
              <a:rPr lang="en-AU" smtClean="0"/>
              <a:t>25/06/2019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5A591-C245-44AC-A81C-FFF190FE1DEB}" type="slidenum">
              <a:rPr lang="en-AU" smtClean="0"/>
              <a:t>‹#›</a:t>
            </a:fld>
            <a:endParaRPr lang="en-AU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6221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83D95DAB-D3D4-49D2-B541-86D70FA215EE}" type="datetimeFigureOut">
              <a:rPr lang="en-AU" smtClean="0"/>
              <a:t>25/06/2019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065A591-C245-44AC-A81C-FFF190FE1DEB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1722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13" Type="http://schemas.openxmlformats.org/officeDocument/2006/relationships/image" Target="../media/image19.png"/><Relationship Id="rId18" Type="http://schemas.openxmlformats.org/officeDocument/2006/relationships/customXml" Target="../ink/ink8.xml"/><Relationship Id="rId3" Type="http://schemas.openxmlformats.org/officeDocument/2006/relationships/image" Target="../media/image14.png"/><Relationship Id="rId7" Type="http://schemas.openxmlformats.org/officeDocument/2006/relationships/image" Target="../media/image16.png"/><Relationship Id="rId12" Type="http://schemas.openxmlformats.org/officeDocument/2006/relationships/customXml" Target="../ink/ink5.xml"/><Relationship Id="rId17" Type="http://schemas.openxmlformats.org/officeDocument/2006/relationships/image" Target="../media/image21.png"/><Relationship Id="rId2" Type="http://schemas.openxmlformats.org/officeDocument/2006/relationships/image" Target="../media/image13.png"/><Relationship Id="rId16" Type="http://schemas.openxmlformats.org/officeDocument/2006/relationships/customXml" Target="../ink/ink7.xml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2.xml"/><Relationship Id="rId11" Type="http://schemas.openxmlformats.org/officeDocument/2006/relationships/image" Target="../media/image18.png"/><Relationship Id="rId5" Type="http://schemas.openxmlformats.org/officeDocument/2006/relationships/image" Target="../media/image15.png"/><Relationship Id="rId15" Type="http://schemas.openxmlformats.org/officeDocument/2006/relationships/image" Target="../media/image20.png"/><Relationship Id="rId10" Type="http://schemas.openxmlformats.org/officeDocument/2006/relationships/customXml" Target="../ink/ink4.xml"/><Relationship Id="rId19" Type="http://schemas.openxmlformats.org/officeDocument/2006/relationships/image" Target="../media/image22.png"/><Relationship Id="rId4" Type="http://schemas.openxmlformats.org/officeDocument/2006/relationships/customXml" Target="../ink/ink1.xml"/><Relationship Id="rId9" Type="http://schemas.openxmlformats.org/officeDocument/2006/relationships/image" Target="../media/image17.png"/><Relationship Id="rId14" Type="http://schemas.openxmlformats.org/officeDocument/2006/relationships/customXml" Target="../ink/ink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gif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B48F8-9466-440D-A9F3-F2B2521124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4638502"/>
            <a:ext cx="7772400" cy="2141121"/>
          </a:xfrm>
        </p:spPr>
        <p:txBody>
          <a:bodyPr>
            <a:normAutofit/>
          </a:bodyPr>
          <a:lstStyle/>
          <a:p>
            <a:r>
              <a:rPr lang="en-AU" dirty="0"/>
              <a:t>Topic: Scale Factor</a:t>
            </a:r>
            <a:br>
              <a:rPr lang="en-AU" dirty="0"/>
            </a:br>
            <a:r>
              <a:rPr lang="en-AU" dirty="0"/>
              <a:t>Eq: How do we find the scale factor?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DC19A6-8ABE-4460-BA4E-1D935A4A27E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/>
              <a:t>Year 9</a:t>
            </a:r>
          </a:p>
        </p:txBody>
      </p:sp>
    </p:spTree>
    <p:extLst>
      <p:ext uri="{BB962C8B-B14F-4D97-AF65-F5344CB8AC3E}">
        <p14:creationId xmlns:p14="http://schemas.microsoft.com/office/powerpoint/2010/main" val="32721193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C813E-DF4E-4AC4-A3B9-E234B83D4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5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B66361-39FD-46A5-9288-B07DD6A907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1979022"/>
            <a:ext cx="9720073" cy="4023360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AU" sz="2400" dirty="0"/>
              <a:t>Complete last lessons summary.</a:t>
            </a:r>
          </a:p>
          <a:p>
            <a:pPr marL="457200" indent="-457200">
              <a:buFont typeface="+mj-lt"/>
              <a:buAutoNum type="arabicPeriod"/>
            </a:pPr>
            <a:r>
              <a:rPr lang="en-AU" sz="2400" dirty="0"/>
              <a:t>Draw a scalene triangle.</a:t>
            </a:r>
          </a:p>
          <a:p>
            <a:pPr marL="457200" indent="-457200">
              <a:buFont typeface="+mj-lt"/>
              <a:buAutoNum type="arabicPeriod"/>
            </a:pPr>
            <a:r>
              <a:rPr lang="en-AU" sz="2400" dirty="0"/>
              <a:t>What is an isosceles triangle?</a:t>
            </a:r>
          </a:p>
          <a:p>
            <a:pPr marL="457200" indent="-457200">
              <a:buFont typeface="+mj-lt"/>
              <a:buAutoNum type="arabicPeriod"/>
            </a:pPr>
            <a:r>
              <a:rPr lang="en-AU" sz="2400" dirty="0"/>
              <a:t>What does congruent mean?</a:t>
            </a:r>
          </a:p>
          <a:p>
            <a:pPr marL="457200" indent="-457200">
              <a:buFont typeface="+mj-lt"/>
              <a:buAutoNum type="arabicPeriod"/>
            </a:pPr>
            <a:r>
              <a:rPr lang="en-AU" sz="2400" dirty="0"/>
              <a:t>Are the following two triangles congruent? Prove it.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725BD7B-AD6A-4806-9F79-DF954A817AEA}"/>
              </a:ext>
            </a:extLst>
          </p:cNvPr>
          <p:cNvSpPr txBox="1">
            <a:spLocks/>
          </p:cNvSpPr>
          <p:nvPr/>
        </p:nvSpPr>
        <p:spPr>
          <a:xfrm>
            <a:off x="147903" y="4892040"/>
            <a:ext cx="7772400" cy="18759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sz="3600" dirty="0"/>
              <a:t>Topic: Scale Factor</a:t>
            </a:r>
            <a:br>
              <a:rPr lang="en-AU" sz="3600" dirty="0"/>
            </a:br>
            <a:r>
              <a:rPr lang="en-AU" sz="3600" dirty="0"/>
              <a:t>Eq: How do we enlarge and reduce triangles?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AD44608-F176-42CD-B734-E9557DA0B0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0595" y="2343365"/>
            <a:ext cx="3763462" cy="2794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07810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269868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0070C0"/>
                </a:solidFill>
                <a:latin typeface="Fragment Core" panose="02000504040000020003" pitchFamily="50" charset="0"/>
              </a:rPr>
              <a:t>Scale Factor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386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0070C0"/>
                </a:solidFill>
                <a:latin typeface="Fragment Core" panose="02000504040000020003" pitchFamily="50" charset="0"/>
              </a:rPr>
              <a:t>EQ – How do we find the scale factor?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CD51082D-CC2F-4CA3-90BE-2A8129E508AE}"/>
              </a:ext>
            </a:extLst>
          </p:cNvPr>
          <p:cNvSpPr txBox="1">
            <a:spLocks/>
          </p:cNvSpPr>
          <p:nvPr/>
        </p:nvSpPr>
        <p:spPr>
          <a:xfrm>
            <a:off x="-1" y="1462415"/>
            <a:ext cx="1847521" cy="1325880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Char char=" 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2400" dirty="0"/>
              <a:t>What does scale factor mean?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78A709E-8BC3-4695-941A-0255D758E1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2867" y="1423916"/>
            <a:ext cx="10212191" cy="105776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DFDA691-87E8-476E-828A-ACB2096319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2867" y="2768969"/>
            <a:ext cx="4664251" cy="352544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E5FE876-51BD-4FE6-BD68-F58BF03C6B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0431" y="2788295"/>
            <a:ext cx="5131388" cy="3506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6681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269868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0070C0"/>
                </a:solidFill>
                <a:latin typeface="Fragment Core" panose="02000504040000020003" pitchFamily="50" charset="0"/>
              </a:rPr>
              <a:t>Scale Factor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CD51082D-CC2F-4CA3-90BE-2A8129E508AE}"/>
              </a:ext>
            </a:extLst>
          </p:cNvPr>
          <p:cNvSpPr txBox="1">
            <a:spLocks/>
          </p:cNvSpPr>
          <p:nvPr/>
        </p:nvSpPr>
        <p:spPr>
          <a:xfrm>
            <a:off x="-1" y="1462415"/>
            <a:ext cx="1847521" cy="1325880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Char char=" 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2400" dirty="0"/>
              <a:t>How do we calculate the scale factor?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B8A77A-08F9-48D3-B722-A4BD26C363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6770" y="1394939"/>
            <a:ext cx="10263643" cy="113969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342F2282-B695-49B3-BF37-DB97F2859568}"/>
                  </a:ext>
                </a:extLst>
              </p:cNvPr>
              <p:cNvSpPr/>
              <p:nvPr/>
            </p:nvSpPr>
            <p:spPr>
              <a:xfrm>
                <a:off x="2029096" y="3078624"/>
                <a:ext cx="10161313" cy="198214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AU" sz="2400" dirty="0"/>
                  <a:t>We can calculate the amount the object has been scaled using the following formula.</a:t>
                </a:r>
              </a:p>
              <a:p>
                <a:endParaRPr lang="en-AU" sz="2400" i="1" dirty="0"/>
              </a:p>
              <a:p>
                <a:pPr lvl="2" algn="ctr"/>
                <a14:m>
                  <m:oMath xmlns:m="http://schemas.openxmlformats.org/officeDocument/2006/math">
                    <m:f>
                      <m:fPr>
                        <m:ctrlPr>
                          <a:rPr lang="en-AU" sz="32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32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𝑵𝒆𝒘</m:t>
                        </m:r>
                        <m:r>
                          <a:rPr lang="en-AU" sz="32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32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  <m:r>
                          <a:rPr lang="en-AU" sz="32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𝒉𝒂𝒑𝒆</m:t>
                        </m:r>
                        <m:r>
                          <a:rPr lang="en-AU" sz="32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32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𝑳𝒆𝒏𝒈𝒕𝒉</m:t>
                        </m:r>
                      </m:num>
                      <m:den>
                        <m:r>
                          <a:rPr lang="en-AU" sz="32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𝑶</m:t>
                        </m:r>
                        <m:r>
                          <a:rPr lang="en-AU" sz="32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𝒓𝒊𝒈𝒊𝒏𝒂𝒍</m:t>
                        </m:r>
                        <m:r>
                          <a:rPr lang="en-AU" sz="32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32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  <m:r>
                          <a:rPr lang="en-AU" sz="32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𝒉𝒂𝒑𝒆</m:t>
                        </m:r>
                        <m:r>
                          <a:rPr lang="en-AU" sz="32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32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𝒍𝒆𝒏𝒈𝒕𝒉</m:t>
                        </m:r>
                      </m:den>
                    </m:f>
                    <m:r>
                      <a:rPr lang="en-AU" sz="32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32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𝑺𝒄𝒂𝒍𝒆</m:t>
                    </m:r>
                    <m:r>
                      <a:rPr lang="en-AU" sz="32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32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𝑭𝒂𝒄𝒕𝒐𝒓</m:t>
                    </m:r>
                  </m:oMath>
                </a14:m>
                <a:r>
                  <a:rPr lang="en-AU" sz="3200" b="1" i="1" dirty="0">
                    <a:solidFill>
                      <a:srgbClr val="7030A0"/>
                    </a:solidFill>
                  </a:rPr>
                  <a:t>  </a:t>
                </a:r>
                <a:r>
                  <a:rPr lang="en-AU" sz="2400" i="1" dirty="0"/>
                  <a:t> </a:t>
                </a: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342F2282-B695-49B3-BF37-DB97F285956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9096" y="3078624"/>
                <a:ext cx="10161313" cy="1982146"/>
              </a:xfrm>
              <a:prstGeom prst="rect">
                <a:avLst/>
              </a:prstGeom>
              <a:blipFill>
                <a:blip r:embed="rId4"/>
                <a:stretch>
                  <a:fillRect l="-960" t="-246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0EDF4AEA-FC00-482C-850E-F96CD65BAAF1}"/>
              </a:ext>
            </a:extLst>
          </p:cNvPr>
          <p:cNvSpPr txBox="1"/>
          <p:nvPr/>
        </p:nvSpPr>
        <p:spPr>
          <a:xfrm>
            <a:off x="24386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0070C0"/>
                </a:solidFill>
                <a:latin typeface="Fragment Core" panose="02000504040000020003" pitchFamily="50" charset="0"/>
              </a:rPr>
              <a:t>EQ – How do we find the scale factor?</a:t>
            </a:r>
          </a:p>
        </p:txBody>
      </p:sp>
    </p:spTree>
    <p:extLst>
      <p:ext uri="{BB962C8B-B14F-4D97-AF65-F5344CB8AC3E}">
        <p14:creationId xmlns:p14="http://schemas.microsoft.com/office/powerpoint/2010/main" val="4229551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6AE7D-13DE-46FD-84AC-A3DBB1375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Example 1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A0B435-A346-49E0-BF3B-AC85891D03D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9554"/>
          <a:stretch/>
        </p:blipFill>
        <p:spPr>
          <a:xfrm>
            <a:off x="3994400" y="447186"/>
            <a:ext cx="7899331" cy="239620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C5BB81F-B576-454D-A551-0642E074D079}"/>
              </a:ext>
            </a:extLst>
          </p:cNvPr>
          <p:cNvSpPr/>
          <p:nvPr/>
        </p:nvSpPr>
        <p:spPr>
          <a:xfrm>
            <a:off x="5222966" y="585216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AU" b="1" dirty="0"/>
              <a:t>Original Shape                                   New shape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FC090BAB-7E47-403D-998D-F11CD5B76A0B}"/>
                  </a:ext>
                </a:extLst>
              </p:cNvPr>
              <p:cNvSpPr/>
              <p:nvPr/>
            </p:nvSpPr>
            <p:spPr>
              <a:xfrm>
                <a:off x="213360" y="3207241"/>
                <a:ext cx="6187442" cy="67864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2"/>
                <a14:m>
                  <m:oMath xmlns:m="http://schemas.openxmlformats.org/officeDocument/2006/math">
                    <m:f>
                      <m:fPr>
                        <m:ctrlPr>
                          <a:rPr lang="en-AU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𝑵𝒆𝒘</m:t>
                        </m:r>
                        <m:r>
                          <a:rPr lang="en-AU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𝑺𝒉𝒂𝒑𝒆</m:t>
                        </m:r>
                        <m:r>
                          <a:rPr lang="en-AU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𝑳𝒆𝒏𝒈𝒕𝒉</m:t>
                        </m:r>
                      </m:num>
                      <m:den>
                        <m:r>
                          <a:rPr lang="en-AU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𝑶𝒓𝒊𝒈𝒊𝒏𝒂𝒍</m:t>
                        </m:r>
                        <m:r>
                          <a:rPr lang="en-AU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𝑺𝒉𝒂𝒑𝒆</m:t>
                        </m:r>
                        <m:r>
                          <a:rPr lang="en-AU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𝒍𝒆𝒏𝒈𝒕𝒉</m:t>
                        </m:r>
                      </m:den>
                    </m:f>
                    <m:r>
                      <a:rPr lang="en-AU" sz="24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24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𝑺𝒄𝒂𝒍𝒆</m:t>
                    </m:r>
                    <m:r>
                      <a:rPr lang="en-AU" sz="24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4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𝑭𝒂𝒄𝒕𝒐𝒓</m:t>
                    </m:r>
                  </m:oMath>
                </a14:m>
                <a:r>
                  <a:rPr lang="en-AU" sz="2400" b="1" i="1" dirty="0">
                    <a:solidFill>
                      <a:srgbClr val="7030A0"/>
                    </a:solidFill>
                  </a:rPr>
                  <a:t>  </a:t>
                </a:r>
                <a:r>
                  <a:rPr lang="en-AU" i="1" dirty="0"/>
                  <a:t> </a:t>
                </a: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FC090BAB-7E47-403D-998D-F11CD5B76A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360" y="3207241"/>
                <a:ext cx="6187442" cy="67864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>
            <a:extLst>
              <a:ext uri="{FF2B5EF4-FFF2-40B4-BE49-F238E27FC236}">
                <a16:creationId xmlns:a16="http://schemas.microsoft.com/office/drawing/2014/main" id="{06FD04AC-B0F5-4175-9273-4BEE5C441EBF}"/>
              </a:ext>
            </a:extLst>
          </p:cNvPr>
          <p:cNvSpPr/>
          <p:nvPr/>
        </p:nvSpPr>
        <p:spPr>
          <a:xfrm>
            <a:off x="304802" y="6041951"/>
            <a:ext cx="6096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AU" sz="2400" dirty="0"/>
              <a:t>Was the shape enlarged or reduced? Why?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D3BE83A-B7F4-47FC-AE93-273DB7B4BF01}"/>
              </a:ext>
            </a:extLst>
          </p:cNvPr>
          <p:cNvSpPr/>
          <p:nvPr/>
        </p:nvSpPr>
        <p:spPr>
          <a:xfrm>
            <a:off x="5884164" y="5792863"/>
            <a:ext cx="6096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sz="2400" dirty="0">
                <a:solidFill>
                  <a:srgbClr val="7030A0"/>
                </a:solidFill>
              </a:rPr>
              <a:t>In this case, the scale factor is greater than 1 so the shape has been enlarged.</a:t>
            </a:r>
          </a:p>
        </p:txBody>
      </p:sp>
    </p:spTree>
    <p:extLst>
      <p:ext uri="{BB962C8B-B14F-4D97-AF65-F5344CB8AC3E}">
        <p14:creationId xmlns:p14="http://schemas.microsoft.com/office/powerpoint/2010/main" val="3557222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7A583-C631-46A9-A16F-78D276B6D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Example 2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EFF914A-12F5-42FF-9CDD-9988D0559B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7014" y="273667"/>
            <a:ext cx="5298822" cy="3546566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95AD244-EEF6-421E-9A2C-ED3A06DAAACE}"/>
              </a:ext>
            </a:extLst>
          </p:cNvPr>
          <p:cNvSpPr/>
          <p:nvPr/>
        </p:nvSpPr>
        <p:spPr>
          <a:xfrm>
            <a:off x="7143641" y="1166511"/>
            <a:ext cx="171341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1" dirty="0"/>
              <a:t>Original Shape                                   </a:t>
            </a:r>
          </a:p>
          <a:p>
            <a:endParaRPr lang="en-AU" b="1" dirty="0"/>
          </a:p>
          <a:p>
            <a:endParaRPr lang="en-AU" b="1" dirty="0"/>
          </a:p>
          <a:p>
            <a:endParaRPr lang="en-AU" b="1" dirty="0"/>
          </a:p>
          <a:p>
            <a:endParaRPr lang="en-AU" b="1" dirty="0"/>
          </a:p>
          <a:p>
            <a:endParaRPr lang="en-AU" b="1" dirty="0"/>
          </a:p>
          <a:p>
            <a:r>
              <a:rPr lang="en-AU" b="1" dirty="0"/>
              <a:t>New shape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8F3F5BCB-2230-4DA1-B3AC-7DD0A7BEDDE4}"/>
                  </a:ext>
                </a:extLst>
              </p:cNvPr>
              <p:cNvSpPr/>
              <p:nvPr/>
            </p:nvSpPr>
            <p:spPr>
              <a:xfrm>
                <a:off x="301259" y="1971187"/>
                <a:ext cx="6187442" cy="67864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2"/>
                <a14:m>
                  <m:oMath xmlns:m="http://schemas.openxmlformats.org/officeDocument/2006/math">
                    <m:f>
                      <m:fPr>
                        <m:ctrlPr>
                          <a:rPr lang="en-AU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𝑵𝒆𝒘</m:t>
                        </m:r>
                        <m:r>
                          <a:rPr lang="en-AU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𝑺𝒉𝒂𝒑𝒆</m:t>
                        </m:r>
                        <m:r>
                          <a:rPr lang="en-AU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𝑳𝒆𝒏𝒈𝒕𝒉</m:t>
                        </m:r>
                      </m:num>
                      <m:den>
                        <m:r>
                          <a:rPr lang="en-AU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𝑶𝒓𝒊𝒈𝒊𝒏𝒂𝒍</m:t>
                        </m:r>
                        <m:r>
                          <a:rPr lang="en-AU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𝑺𝒉𝒂𝒑𝒆</m:t>
                        </m:r>
                        <m:r>
                          <a:rPr lang="en-AU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𝒍𝒆𝒏𝒈𝒕𝒉</m:t>
                        </m:r>
                      </m:den>
                    </m:f>
                    <m:r>
                      <a:rPr lang="en-AU" sz="24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24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𝑺𝒄𝒂𝒍𝒆</m:t>
                    </m:r>
                    <m:r>
                      <a:rPr lang="en-AU" sz="24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4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𝑭𝒂𝒄𝒕𝒐𝒓</m:t>
                    </m:r>
                  </m:oMath>
                </a14:m>
                <a:r>
                  <a:rPr lang="en-AU" sz="2400" b="1" i="1" dirty="0">
                    <a:solidFill>
                      <a:srgbClr val="7030A0"/>
                    </a:solidFill>
                  </a:rPr>
                  <a:t>  </a:t>
                </a:r>
                <a:r>
                  <a:rPr lang="en-AU" i="1" dirty="0"/>
                  <a:t> </a:t>
                </a: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8F3F5BCB-2230-4DA1-B3AC-7DD0A7BEDDE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259" y="1971187"/>
                <a:ext cx="6187442" cy="67864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09DA0480-DD68-4811-9DE2-58F35E8F19EB}"/>
              </a:ext>
            </a:extLst>
          </p:cNvPr>
          <p:cNvSpPr/>
          <p:nvPr/>
        </p:nvSpPr>
        <p:spPr>
          <a:xfrm>
            <a:off x="301259" y="5989699"/>
            <a:ext cx="6096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AU" sz="2400" dirty="0"/>
              <a:t>Was the shape enlarged or reduced? Why?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C620D30-E75B-4A0A-92D0-B2DE03C0E0C2}"/>
              </a:ext>
            </a:extLst>
          </p:cNvPr>
          <p:cNvSpPr/>
          <p:nvPr/>
        </p:nvSpPr>
        <p:spPr>
          <a:xfrm>
            <a:off x="5884164" y="5753336"/>
            <a:ext cx="6096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AU" sz="2400" dirty="0">
                <a:solidFill>
                  <a:srgbClr val="7030A0"/>
                </a:solidFill>
              </a:rPr>
              <a:t>A scale factor less than 1 means the shape has been reduced.</a:t>
            </a:r>
          </a:p>
        </p:txBody>
      </p:sp>
    </p:spTree>
    <p:extLst>
      <p:ext uri="{BB962C8B-B14F-4D97-AF65-F5344CB8AC3E}">
        <p14:creationId xmlns:p14="http://schemas.microsoft.com/office/powerpoint/2010/main" val="878044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44680-A190-446B-96AE-B728A451D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Example 3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02FA44F-D264-4B8B-9ED8-A3BED09734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8631" y="254725"/>
            <a:ext cx="6016794" cy="2792039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6545F96-B597-4713-BC32-EE7012C1DACD}"/>
              </a:ext>
            </a:extLst>
          </p:cNvPr>
          <p:cNvSpPr/>
          <p:nvPr/>
        </p:nvSpPr>
        <p:spPr>
          <a:xfrm>
            <a:off x="6294120" y="1819655"/>
            <a:ext cx="503137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1" dirty="0"/>
              <a:t>Original Shape                         New shape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BB03D191-378B-4880-8F75-37F348B0BBC4}"/>
                  </a:ext>
                </a:extLst>
              </p:cNvPr>
              <p:cNvSpPr/>
              <p:nvPr/>
            </p:nvSpPr>
            <p:spPr>
              <a:xfrm>
                <a:off x="0" y="3132590"/>
                <a:ext cx="6187442" cy="67864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2"/>
                <a14:m>
                  <m:oMath xmlns:m="http://schemas.openxmlformats.org/officeDocument/2006/math">
                    <m:f>
                      <m:fPr>
                        <m:ctrlPr>
                          <a:rPr lang="en-AU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𝑵𝒆𝒘</m:t>
                        </m:r>
                        <m:r>
                          <a:rPr lang="en-AU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𝑺𝒉𝒂𝒑𝒆</m:t>
                        </m:r>
                        <m:r>
                          <a:rPr lang="en-AU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𝑳𝒆𝒏𝒈𝒕𝒉</m:t>
                        </m:r>
                      </m:num>
                      <m:den>
                        <m:r>
                          <a:rPr lang="en-AU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𝑶𝒓𝒊𝒈𝒊𝒏𝒂𝒍</m:t>
                        </m:r>
                        <m:r>
                          <a:rPr lang="en-AU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𝑺𝒉𝒂𝒑𝒆</m:t>
                        </m:r>
                        <m:r>
                          <a:rPr lang="en-AU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𝒍𝒆𝒏𝒈𝒕𝒉</m:t>
                        </m:r>
                      </m:den>
                    </m:f>
                    <m:r>
                      <a:rPr lang="en-AU" sz="24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24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𝑺𝒄𝒂𝒍𝒆</m:t>
                    </m:r>
                    <m:r>
                      <a:rPr lang="en-AU" sz="24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4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𝑭𝒂𝒄𝒕𝒐𝒓</m:t>
                    </m:r>
                  </m:oMath>
                </a14:m>
                <a:r>
                  <a:rPr lang="en-AU" sz="2400" b="1" i="1" dirty="0">
                    <a:solidFill>
                      <a:srgbClr val="7030A0"/>
                    </a:solidFill>
                  </a:rPr>
                  <a:t>  </a:t>
                </a:r>
                <a:r>
                  <a:rPr lang="en-AU" i="1" dirty="0"/>
                  <a:t> </a:t>
                </a: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BB03D191-378B-4880-8F75-37F348B0BBC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132590"/>
                <a:ext cx="6187442" cy="67864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C24BD203-51FE-492E-BAA5-F557305EF22D}"/>
              </a:ext>
            </a:extLst>
          </p:cNvPr>
          <p:cNvSpPr/>
          <p:nvPr/>
        </p:nvSpPr>
        <p:spPr>
          <a:xfrm>
            <a:off x="6754199" y="3234263"/>
            <a:ext cx="447332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dirty="0"/>
              <a:t>Does the scale factor apply to each number pair?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1588F8CE-B7C8-40BC-9335-BB657FE3474A}"/>
                  </a:ext>
                </a:extLst>
              </p14:cNvPr>
              <p14:cNvContentPartPr/>
              <p14:nvPr/>
            </p14:nvContentPartPr>
            <p14:xfrm>
              <a:off x="6461743" y="664920"/>
              <a:ext cx="582120" cy="5544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1588F8CE-B7C8-40BC-9335-BB657FE3474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426103" y="629280"/>
                <a:ext cx="653760" cy="62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E9A7944F-6AF1-44EE-8BD3-47A36EDC4DC4}"/>
                  </a:ext>
                </a:extLst>
              </p14:cNvPr>
              <p14:cNvContentPartPr/>
              <p14:nvPr/>
            </p14:nvContentPartPr>
            <p14:xfrm>
              <a:off x="9259663" y="368280"/>
              <a:ext cx="587880" cy="56628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E9A7944F-6AF1-44EE-8BD3-47A36EDC4DC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223663" y="332640"/>
                <a:ext cx="659520" cy="63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8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0DEEDEE1-DAFC-46DD-9D76-8D91E0CC4E9E}"/>
                  </a:ext>
                </a:extLst>
              </p14:cNvPr>
              <p14:cNvContentPartPr/>
              <p14:nvPr/>
            </p14:nvContentPartPr>
            <p14:xfrm>
              <a:off x="6409903" y="2488320"/>
              <a:ext cx="816480" cy="57888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0DEEDEE1-DAFC-46DD-9D76-8D91E0CC4E9E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374263" y="2452680"/>
                <a:ext cx="888120" cy="65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0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46686611-F7F6-402D-95CE-D238DEB593CC}"/>
                  </a:ext>
                </a:extLst>
              </p14:cNvPr>
              <p14:cNvContentPartPr/>
              <p14:nvPr/>
            </p14:nvContentPartPr>
            <p14:xfrm>
              <a:off x="9216463" y="2466720"/>
              <a:ext cx="754200" cy="60480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46686611-F7F6-402D-95CE-D238DEB593C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180463" y="2430720"/>
                <a:ext cx="825840" cy="67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2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603F1487-9F37-4224-A4FD-3BB5036C4A0A}"/>
                  </a:ext>
                </a:extLst>
              </p14:cNvPr>
              <p14:cNvContentPartPr/>
              <p14:nvPr/>
            </p14:nvContentPartPr>
            <p14:xfrm>
              <a:off x="10797943" y="1440360"/>
              <a:ext cx="702720" cy="71352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603F1487-9F37-4224-A4FD-3BB5036C4A0A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0761943" y="1404720"/>
                <a:ext cx="774360" cy="78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4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A3D5CEF1-F96E-4B16-BC17-39C15DBA47D3}"/>
                  </a:ext>
                </a:extLst>
              </p14:cNvPr>
              <p14:cNvContentPartPr/>
              <p14:nvPr/>
            </p14:nvContentPartPr>
            <p14:xfrm>
              <a:off x="7999303" y="1664640"/>
              <a:ext cx="385200" cy="50544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A3D5CEF1-F96E-4B16-BC17-39C15DBA47D3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963303" y="1628640"/>
                <a:ext cx="456840" cy="57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F19D5B00-3AAE-47BA-A8DD-DF33168914E4}"/>
                  </a:ext>
                </a:extLst>
              </p14:cNvPr>
              <p14:cNvContentPartPr/>
              <p14:nvPr/>
            </p14:nvContentPartPr>
            <p14:xfrm>
              <a:off x="5841823" y="1746000"/>
              <a:ext cx="432360" cy="60588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F19D5B00-3AAE-47BA-A8DD-DF33168914E4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805823" y="1710360"/>
                <a:ext cx="504000" cy="67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BA2532CD-A39B-4E19-A22A-3160A77388A7}"/>
                  </a:ext>
                </a:extLst>
              </p14:cNvPr>
              <p14:cNvContentPartPr/>
              <p14:nvPr/>
            </p14:nvContentPartPr>
            <p14:xfrm>
              <a:off x="8397103" y="1597320"/>
              <a:ext cx="393120" cy="58320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BA2532CD-A39B-4E19-A22A-3160A77388A7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8361103" y="1561680"/>
                <a:ext cx="464760" cy="654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88172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7D409-47C4-43E8-8353-44509811F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Task on the L.H.S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55F1844-60DF-43C6-B03B-DC114C0BEE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654" y="1788929"/>
            <a:ext cx="10430691" cy="471732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1300FD4-E57D-4B03-A50A-45841062B2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1113" y="260302"/>
            <a:ext cx="6321453" cy="752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58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CAAC7-1452-4965-890E-1BD8B80DE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Example 4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C60F873-7392-4D5C-8F55-A4E859B8C2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2748" y="0"/>
            <a:ext cx="6351405" cy="31451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5FA3813-2EBB-489E-950F-B3B72D43829A}"/>
              </a:ext>
            </a:extLst>
          </p:cNvPr>
          <p:cNvSpPr txBox="1"/>
          <p:nvPr/>
        </p:nvSpPr>
        <p:spPr>
          <a:xfrm>
            <a:off x="0" y="2643795"/>
            <a:ext cx="84249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Finally, if we know the scale factor, and we know the shapes are similar, we use that to find the lengths of unknown sides.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9CC234-F5A4-44AC-AA87-ED7D019526FE}"/>
              </a:ext>
            </a:extLst>
          </p:cNvPr>
          <p:cNvSpPr txBox="1"/>
          <p:nvPr/>
        </p:nvSpPr>
        <p:spPr>
          <a:xfrm>
            <a:off x="129371" y="3710590"/>
            <a:ext cx="41160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AU" sz="2400" b="1" dirty="0">
                <a:solidFill>
                  <a:srgbClr val="7030A0"/>
                </a:solidFill>
              </a:rPr>
              <a:t>Find the scale factor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60C8841E-28B8-406E-8830-3BAD04D1427D}"/>
                  </a:ext>
                </a:extLst>
              </p:cNvPr>
              <p:cNvSpPr/>
              <p:nvPr/>
            </p:nvSpPr>
            <p:spPr>
              <a:xfrm>
                <a:off x="129371" y="4264672"/>
                <a:ext cx="5226400" cy="58105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2"/>
                <a14:m>
                  <m:oMath xmlns:m="http://schemas.openxmlformats.org/officeDocument/2006/math">
                    <m:f>
                      <m:fPr>
                        <m:ctrlPr>
                          <a:rPr lang="en-AU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𝑵𝒆𝒘</m:t>
                        </m:r>
                        <m:r>
                          <a:rPr lang="en-AU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𝑺𝒉𝒂𝒑𝒆</m:t>
                        </m:r>
                        <m:r>
                          <a:rPr lang="en-AU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𝑳𝒆𝒏𝒈𝒕𝒉</m:t>
                        </m:r>
                      </m:num>
                      <m:den>
                        <m:r>
                          <a:rPr lang="en-AU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𝑶𝒓𝒊𝒈𝒊𝒏𝒂𝒍</m:t>
                        </m:r>
                        <m:r>
                          <a:rPr lang="en-AU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𝑺𝒉𝒂𝒑𝒆</m:t>
                        </m:r>
                        <m:r>
                          <a:rPr lang="en-AU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𝒍𝒆𝒏𝒈𝒕𝒉</m:t>
                        </m:r>
                      </m:den>
                    </m:f>
                    <m:r>
                      <a:rPr lang="en-AU" sz="20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20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𝑺𝒄𝒂𝒍𝒆</m:t>
                    </m:r>
                    <m:r>
                      <a:rPr lang="en-AU" sz="20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0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𝑭𝒂𝒄𝒕𝒐𝒓</m:t>
                    </m:r>
                  </m:oMath>
                </a14:m>
                <a:r>
                  <a:rPr lang="en-AU" sz="2000" b="1" i="1" dirty="0">
                    <a:solidFill>
                      <a:schemeClr val="tx1"/>
                    </a:solidFill>
                  </a:rPr>
                  <a:t>  </a:t>
                </a:r>
                <a:r>
                  <a:rPr lang="en-AU" sz="1600" i="1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60C8841E-28B8-406E-8830-3BAD04D1427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371" y="4264672"/>
                <a:ext cx="5226400" cy="58105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DE9783A2-C152-4840-BF81-DB64AE52CD3B}"/>
                  </a:ext>
                </a:extLst>
              </p:cNvPr>
              <p:cNvSpPr/>
              <p:nvPr/>
            </p:nvSpPr>
            <p:spPr>
              <a:xfrm>
                <a:off x="1594328" y="5138862"/>
                <a:ext cx="1700658" cy="70160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AU" sz="2800" i="1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AU" sz="28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AU" sz="28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sz="2800" i="1"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a:rPr lang="en-AU" sz="2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AU" sz="2800" dirty="0"/>
                  <a:t>2</a:t>
                </a: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DE9783A2-C152-4840-BF81-DB64AE52CD3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4328" y="5138862"/>
                <a:ext cx="1700658" cy="701602"/>
              </a:xfrm>
              <a:prstGeom prst="rect">
                <a:avLst/>
              </a:prstGeom>
              <a:blipFill>
                <a:blip r:embed="rId4"/>
                <a:stretch>
                  <a:fillRect r="-6093" b="-1130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AE749525-A389-4ED0-B716-94ADC888C4DA}"/>
              </a:ext>
            </a:extLst>
          </p:cNvPr>
          <p:cNvSpPr txBox="1"/>
          <p:nvPr/>
        </p:nvSpPr>
        <p:spPr>
          <a:xfrm>
            <a:off x="6004898" y="3704088"/>
            <a:ext cx="56671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 startAt="2"/>
            </a:pPr>
            <a:r>
              <a:rPr lang="en-AU" sz="2400" b="1" dirty="0">
                <a:solidFill>
                  <a:srgbClr val="7030A0"/>
                </a:solidFill>
              </a:rPr>
              <a:t>Use the scale factor to find the missing sides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BB5594D3-05AB-4CFC-A24C-C7DCD1D6BD72}"/>
                  </a:ext>
                </a:extLst>
              </p:cNvPr>
              <p:cNvSpPr/>
              <p:nvPr/>
            </p:nvSpPr>
            <p:spPr>
              <a:xfrm>
                <a:off x="6836231" y="4570116"/>
                <a:ext cx="1309461" cy="135530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AU" sz="2400" i="1" dirty="0"/>
                  <a:t>If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20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AU" sz="24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AU" sz="2400" dirty="0"/>
                  <a:t>2</a:t>
                </a:r>
              </a:p>
              <a:p>
                <a:endParaRPr lang="en-AU" sz="2400" dirty="0"/>
              </a:p>
              <a:p>
                <a:endParaRPr lang="en-AU" sz="2400" dirty="0"/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BB5594D3-05AB-4CFC-A24C-C7DCD1D6BD7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6231" y="4570116"/>
                <a:ext cx="1309461" cy="1355307"/>
              </a:xfrm>
              <a:prstGeom prst="rect">
                <a:avLst/>
              </a:prstGeom>
              <a:blipFill>
                <a:blip r:embed="rId5"/>
                <a:stretch>
                  <a:fillRect l="-6977" r="-651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889E3ED2-8B90-4821-A2B2-640C6D9F3B5B}"/>
                  </a:ext>
                </a:extLst>
              </p:cNvPr>
              <p:cNvSpPr/>
              <p:nvPr/>
            </p:nvSpPr>
            <p:spPr>
              <a:xfrm>
                <a:off x="8272124" y="4614896"/>
                <a:ext cx="2650726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𝑡h𝑒𝑛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𝑚𝑢𝑠𝑡</m:t>
                      </m:r>
                      <m:r>
                        <a:rPr lang="en-AU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10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889E3ED2-8B90-4821-A2B2-640C6D9F3B5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2124" y="4614896"/>
                <a:ext cx="2650726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F2A237CF-DFC8-4BE3-9AAD-F90A7B3CDF40}"/>
                  </a:ext>
                </a:extLst>
              </p:cNvPr>
              <p:cNvSpPr/>
              <p:nvPr/>
            </p:nvSpPr>
            <p:spPr>
              <a:xfrm>
                <a:off x="6836231" y="5663498"/>
                <a:ext cx="1197892" cy="95583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AU" sz="2400" i="1" dirty="0"/>
                  <a:t>If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a:rPr lang="en-AU" sz="24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AU" sz="2400" dirty="0"/>
                  <a:t>2</a:t>
                </a:r>
              </a:p>
              <a:p>
                <a:endParaRPr lang="en-AU" sz="2400" dirty="0"/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F2A237CF-DFC8-4BE3-9AAD-F90A7B3CDF4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6231" y="5663498"/>
                <a:ext cx="1197892" cy="955839"/>
              </a:xfrm>
              <a:prstGeom prst="rect">
                <a:avLst/>
              </a:prstGeom>
              <a:blipFill>
                <a:blip r:embed="rId7"/>
                <a:stretch>
                  <a:fillRect l="-7614" r="-710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7580CA9C-24C4-4D87-9080-DB7906D7CEBA}"/>
                  </a:ext>
                </a:extLst>
              </p:cNvPr>
              <p:cNvSpPr/>
              <p:nvPr/>
            </p:nvSpPr>
            <p:spPr>
              <a:xfrm>
                <a:off x="8145692" y="5694590"/>
                <a:ext cx="2654701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𝑡h𝑒𝑛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𝑚𝑢𝑠𝑡</m:t>
                      </m:r>
                      <m:r>
                        <a:rPr lang="en-AU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18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7580CA9C-24C4-4D87-9080-DB7906D7CEB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5692" y="5694590"/>
                <a:ext cx="2654701" cy="461665"/>
              </a:xfrm>
              <a:prstGeom prst="rect">
                <a:avLst/>
              </a:prstGeom>
              <a:blipFill>
                <a:blip r:embed="rId8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81624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3" grpId="0"/>
      <p:bldP spid="14" grpId="0"/>
      <p:bldP spid="15" grpId="0"/>
      <p:bldP spid="16" grpId="0"/>
      <p:bldP spid="17" grpId="0"/>
      <p:bldP spid="18" grpId="0"/>
      <p:bldP spid="1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269868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0070C0"/>
                </a:solidFill>
                <a:latin typeface="Fragment Core" panose="02000504040000020003" pitchFamily="50" charset="0"/>
              </a:rPr>
              <a:t>Scale Factor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CD51082D-CC2F-4CA3-90BE-2A8129E508AE}"/>
              </a:ext>
            </a:extLst>
          </p:cNvPr>
          <p:cNvSpPr txBox="1">
            <a:spLocks/>
          </p:cNvSpPr>
          <p:nvPr/>
        </p:nvSpPr>
        <p:spPr>
          <a:xfrm>
            <a:off x="-1" y="1462414"/>
            <a:ext cx="1847521" cy="2140593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Char char=" 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2400" dirty="0"/>
              <a:t>How do we calculate the scale factor using the shapes area?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42F2282-B695-49B3-BF37-DB97F2859568}"/>
              </a:ext>
            </a:extLst>
          </p:cNvPr>
          <p:cNvSpPr/>
          <p:nvPr/>
        </p:nvSpPr>
        <p:spPr>
          <a:xfrm>
            <a:off x="6328274" y="808531"/>
            <a:ext cx="278160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dirty="0"/>
              <a:t>Extension Work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EDF4AEA-FC00-482C-850E-F96CD65BAAF1}"/>
              </a:ext>
            </a:extLst>
          </p:cNvPr>
          <p:cNvSpPr txBox="1"/>
          <p:nvPr/>
        </p:nvSpPr>
        <p:spPr>
          <a:xfrm>
            <a:off x="234953" y="76838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0070C0"/>
                </a:solidFill>
                <a:latin typeface="Fragment Core" panose="02000504040000020003" pitchFamily="50" charset="0"/>
              </a:rPr>
              <a:t>EQ – How do we find the scale factor?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5666362-A956-4880-9624-1B4496D15A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9100" y="1395902"/>
            <a:ext cx="7742719" cy="352862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9FAD03F-A10E-4B43-8F80-C82F92E130F2}"/>
                  </a:ext>
                </a:extLst>
              </p:cNvPr>
              <p:cNvSpPr txBox="1"/>
              <p:nvPr/>
            </p:nvSpPr>
            <p:spPr>
              <a:xfrm>
                <a:off x="2040340" y="2106615"/>
                <a:ext cx="4926841" cy="41633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/>
                  <a:t>The </a:t>
                </a:r>
                <a:r>
                  <a:rPr lang="en-AU" sz="2400" b="1" dirty="0"/>
                  <a:t>lengths </a:t>
                </a:r>
                <a:r>
                  <a:rPr lang="en-AU" sz="2400" dirty="0"/>
                  <a:t> of the larger square are 3 times longer than the smaller square.</a:t>
                </a:r>
              </a:p>
              <a:p>
                <a:endParaRPr lang="en-AU" sz="2400" dirty="0"/>
              </a:p>
              <a:p>
                <a:r>
                  <a:rPr lang="en-AU" sz="2400" dirty="0"/>
                  <a:t>Hence the </a:t>
                </a:r>
                <a:r>
                  <a:rPr lang="en-AU" sz="2400" b="1" dirty="0"/>
                  <a:t>scale factor </a:t>
                </a:r>
                <a:r>
                  <a:rPr lang="en-AU" sz="2400" dirty="0"/>
                  <a:t>is 3</a:t>
                </a:r>
              </a:p>
              <a:p>
                <a:endParaRPr lang="en-AU" sz="2400" dirty="0"/>
              </a:p>
              <a:p>
                <a:r>
                  <a:rPr lang="en-AU" sz="2400" dirty="0"/>
                  <a:t>The </a:t>
                </a:r>
                <a:r>
                  <a:rPr lang="en-AU" sz="2400" b="1" dirty="0"/>
                  <a:t>area</a:t>
                </a:r>
                <a:r>
                  <a:rPr lang="en-AU" sz="2400" dirty="0"/>
                  <a:t> of the small square is 9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2400"/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AU" sz="2400"/>
                          <m:t>cm</m:t>
                        </m:r>
                      </m:e>
                      <m:sup>
                        <m:r>
                          <a:rPr lang="en-AU" sz="2400"/>
                          <m:t>2</m:t>
                        </m:r>
                      </m:sup>
                    </m:sSup>
                  </m:oMath>
                </a14:m>
                <a:r>
                  <a:rPr lang="en-AU" sz="2400" dirty="0"/>
                  <a:t> and the area of the larger square is 81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AU" sz="2400">
                            <a:latin typeface="Cambria Math" panose="02040503050406030204" pitchFamily="18" charset="0"/>
                          </a:rPr>
                          <m:t>cm</m:t>
                        </m:r>
                      </m:e>
                      <m:sup>
                        <m:r>
                          <a:rPr lang="en-AU" sz="240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AU" sz="2400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AU" sz="2400" dirty="0"/>
              </a:p>
              <a:p>
                <a:endParaRPr lang="en-AU" sz="2400" dirty="0"/>
              </a:p>
              <a:p>
                <a:r>
                  <a:rPr lang="en-AU" sz="2400" dirty="0"/>
                  <a:t>How much larger is the area of the larger square? </a:t>
                </a: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9FAD03F-A10E-4B43-8F80-C82F92E130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0340" y="2106615"/>
                <a:ext cx="4926841" cy="4163319"/>
              </a:xfrm>
              <a:prstGeom prst="rect">
                <a:avLst/>
              </a:prstGeom>
              <a:blipFill>
                <a:blip r:embed="rId4"/>
                <a:stretch>
                  <a:fillRect l="-1980" t="-1171" r="-866" b="-24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Content Placeholder 2">
                <a:extLst>
                  <a:ext uri="{FF2B5EF4-FFF2-40B4-BE49-F238E27FC236}">
                    <a16:creationId xmlns:a16="http://schemas.microsoft.com/office/drawing/2014/main" id="{3CA4C775-85DD-418A-B48C-D56FBB85CF2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157932" y="5766597"/>
                <a:ext cx="4360458" cy="868573"/>
              </a:xfrm>
              <a:prstGeom prst="rect">
                <a:avLst/>
              </a:prstGeom>
              <a:ln w="57150">
                <a:solidFill>
                  <a:schemeClr val="accent6">
                    <a:lumMod val="75000"/>
                  </a:schemeClr>
                </a:solidFill>
              </a:ln>
            </p:spPr>
            <p:txBody>
              <a:bodyPr/>
              <a:lstStyle>
                <a:lvl1pPr marL="91440" indent="-91440" algn="l" defTabSz="914400" rtl="0" eaLnBrk="1" latinLnBrk="0" hangingPunct="1">
                  <a:lnSpc>
                    <a:spcPct val="9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chemeClr val="accent1"/>
                  </a:buClr>
                  <a:buSzPct val="100000"/>
                  <a:buFont typeface="Tw Cen MT" panose="020B0602020104020603" pitchFamily="34" charset="0"/>
                  <a:buChar char=" "/>
                  <a:defRPr sz="2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265176" indent="-13716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Wingdings 3" pitchFamily="18" charset="2"/>
                  <a:buChar char="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448056" indent="-13716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Wingdings 3" pitchFamily="18" charset="2"/>
                  <a:buChar char="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594360" indent="-13716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Wingdings 3" pitchFamily="18" charset="2"/>
                  <a:buChar char="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777240" indent="-13716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Wingdings 3" pitchFamily="18" charset="2"/>
                  <a:buChar char="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914400" indent="-13716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Wingdings 3" pitchFamily="18" charset="2"/>
                  <a:buChar char="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060704" indent="-13716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Wingdings 3" pitchFamily="18" charset="2"/>
                  <a:buChar char="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1216152" indent="-13716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Wingdings 3" pitchFamily="18" charset="2"/>
                  <a:buChar char="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1362456" indent="-13716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Wingdings 3" pitchFamily="18" charset="2"/>
                  <a:buChar char="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AU" sz="2400" b="1" dirty="0"/>
                  <a:t>If the scale factor is </a:t>
                </a:r>
                <a14:m>
                  <m:oMath xmlns:m="http://schemas.openxmlformats.org/officeDocument/2006/math">
                    <m:r>
                      <a:rPr lang="en-AU" sz="2400" b="1" i="1"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r>
                  <a:rPr lang="en-AU" sz="2400" b="1" i="1" dirty="0"/>
                  <a:t> </a:t>
                </a:r>
                <a:r>
                  <a:rPr lang="en-AU" sz="2400" b="1" dirty="0"/>
                  <a:t>then the area scale factor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24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b="1" i="1"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p>
                        <m:r>
                          <a:rPr lang="en-AU" sz="24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AU" sz="2400" b="1" i="1" dirty="0"/>
                  <a:t> </a:t>
                </a:r>
              </a:p>
            </p:txBody>
          </p:sp>
        </mc:Choice>
        <mc:Fallback>
          <p:sp>
            <p:nvSpPr>
              <p:cNvPr id="14" name="Content Placeholder 2">
                <a:extLst>
                  <a:ext uri="{FF2B5EF4-FFF2-40B4-BE49-F238E27FC236}">
                    <a16:creationId xmlns:a16="http://schemas.microsoft.com/office/drawing/2014/main" id="{3CA4C775-85DD-418A-B48C-D56FBB85CF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7932" y="5766597"/>
                <a:ext cx="4360458" cy="868573"/>
              </a:xfrm>
              <a:prstGeom prst="rect">
                <a:avLst/>
              </a:prstGeom>
              <a:blipFill>
                <a:blip r:embed="rId5"/>
                <a:stretch>
                  <a:fillRect t="-6623" r="-1657" b="-662"/>
                </a:stretch>
              </a:blipFill>
              <a:ln w="57150">
                <a:solidFill>
                  <a:schemeClr val="accent6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53098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B6E65F-97FC-4575-A0E0-1C1DA3815E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24129" y="2286000"/>
            <a:ext cx="4389120" cy="3931920"/>
          </a:xfrm>
        </p:spPr>
        <p:txBody>
          <a:bodyPr vert="horz" lIns="45720" tIns="45720" rIns="45720" bIns="45720" rtlCol="0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You have 3 minutes to write a summary that answers the Essential Question.</a:t>
            </a:r>
          </a:p>
          <a:p>
            <a:pPr>
              <a:lnSpc>
                <a:spcPct val="90000"/>
              </a:lnSpc>
            </a:pPr>
            <a:endParaRPr lang="en-US" sz="24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90000"/>
              </a:lnSpc>
            </a:pPr>
            <a:r>
              <a:rPr lang="en-US" sz="2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 prepared to share your summary with the people sitting in your row.</a:t>
            </a:r>
          </a:p>
          <a:p>
            <a:pPr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A0DF45F-1C42-47BF-AA63-C5CA5C7A93FB}"/>
              </a:ext>
            </a:extLst>
          </p:cNvPr>
          <p:cNvSpPr txBox="1">
            <a:spLocks/>
          </p:cNvSpPr>
          <p:nvPr/>
        </p:nvSpPr>
        <p:spPr>
          <a:xfrm>
            <a:off x="3388940" y="5052714"/>
            <a:ext cx="5859561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2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AU" dirty="0"/>
              <a:t>Write your summary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2F6280C-AA55-475F-ABCB-4D8341373F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2606" y="129539"/>
            <a:ext cx="5910398" cy="3309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00491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7D409-47C4-43E8-8353-44509811F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Task on the L.H.S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EAB3FC1-5252-4D2E-ACA1-12DD554B27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762" y="0"/>
            <a:ext cx="1117918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4085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299C5-FE74-43E4-992F-7D2D137C4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answer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F7A1954-9DD2-4AA2-9198-6C2743A4C0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334" y="2415948"/>
            <a:ext cx="8535331" cy="2822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754907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99CB38"/>
      </a:accent1>
      <a:accent2>
        <a:srgbClr val="63A537"/>
      </a:accent2>
      <a:accent3>
        <a:srgbClr val="E6D024"/>
      </a:accent3>
      <a:accent4>
        <a:srgbClr val="CC9700"/>
      </a:accent4>
      <a:accent5>
        <a:srgbClr val="4EB3CF"/>
      </a:accent5>
      <a:accent6>
        <a:srgbClr val="378DA6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29F68FFC-748B-4FC3-BF39-7F84A6D5840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60</TotalTime>
  <Words>418</Words>
  <Application>Microsoft Office PowerPoint</Application>
  <PresentationFormat>Widescreen</PresentationFormat>
  <Paragraphs>82</Paragraphs>
  <Slides>13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Calibri</vt:lpstr>
      <vt:lpstr>Cambria Math</vt:lpstr>
      <vt:lpstr>Fragment Core</vt:lpstr>
      <vt:lpstr>Tw Cen MT</vt:lpstr>
      <vt:lpstr>Tw Cen MT Condensed</vt:lpstr>
      <vt:lpstr>Wingdings 3</vt:lpstr>
      <vt:lpstr>Integral</vt:lpstr>
      <vt:lpstr>Topic: Scale Factor Eq: How do we find the scale factor?</vt:lpstr>
      <vt:lpstr>5 questions</vt:lpstr>
      <vt:lpstr>PowerPoint Presentation</vt:lpstr>
      <vt:lpstr>PowerPoint Presentation</vt:lpstr>
      <vt:lpstr>Example 1</vt:lpstr>
      <vt:lpstr>Example 2</vt:lpstr>
      <vt:lpstr>Example 3</vt:lpstr>
      <vt:lpstr>Task on the L.H.S</vt:lpstr>
      <vt:lpstr>Example 4</vt:lpstr>
      <vt:lpstr>PowerPoint Presentation</vt:lpstr>
      <vt:lpstr>PowerPoint Presentation</vt:lpstr>
      <vt:lpstr>Task on the L.H.S</vt:lpstr>
      <vt:lpstr>answer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Scale Factor Eq: How do we enlarge and reduce triangles?</dc:title>
  <dc:creator>STRETCH Nine [Baldivis Secondary College]</dc:creator>
  <cp:lastModifiedBy>STRETCH Nine [Baldivis Secondary College]</cp:lastModifiedBy>
  <cp:revision>19</cp:revision>
  <dcterms:created xsi:type="dcterms:W3CDTF">2019-06-13T03:22:00Z</dcterms:created>
  <dcterms:modified xsi:type="dcterms:W3CDTF">2019-06-25T02:30:59Z</dcterms:modified>
</cp:coreProperties>
</file>
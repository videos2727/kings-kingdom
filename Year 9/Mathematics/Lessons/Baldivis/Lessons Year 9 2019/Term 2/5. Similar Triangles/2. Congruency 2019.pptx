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7" r:id="rId2"/>
    <p:sldId id="272" r:id="rId3"/>
    <p:sldId id="271" r:id="rId4"/>
    <p:sldId id="329" r:id="rId5"/>
    <p:sldId id="330" r:id="rId6"/>
    <p:sldId id="277" r:id="rId7"/>
    <p:sldId id="328" r:id="rId8"/>
    <p:sldId id="279" r:id="rId9"/>
    <p:sldId id="33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6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39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C7FC4-ADAD-47D0-A476-692D0027DC62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F4B62-5DFA-4A32-9F2D-A39F892816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3125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45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256A058-A4C0-4BB4-BC3A-4C00602ED6FA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5BE2-1A0A-40E3-BCC7-00CC231BF62A}" type="slidenum">
              <a:rPr lang="en-AU" smtClean="0"/>
              <a:t>‹#›</a:t>
            </a:fld>
            <a:endParaRPr lang="en-AU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73134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A058-A4C0-4BB4-BC3A-4C00602ED6FA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5BE2-1A0A-40E3-BCC7-00CC231BF6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196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A058-A4C0-4BB4-BC3A-4C00602ED6FA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5BE2-1A0A-40E3-BCC7-00CC231BF62A}" type="slidenum">
              <a:rPr lang="en-AU" smtClean="0"/>
              <a:t>‹#›</a:t>
            </a:fld>
            <a:endParaRPr lang="en-AU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67950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A058-A4C0-4BB4-BC3A-4C00602ED6FA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5BE2-1A0A-40E3-BCC7-00CC231BF6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8266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A058-A4C0-4BB4-BC3A-4C00602ED6FA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5BE2-1A0A-40E3-BCC7-00CC231BF6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069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A058-A4C0-4BB4-BC3A-4C00602ED6FA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5BE2-1A0A-40E3-BCC7-00CC231BF6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4132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A058-A4C0-4BB4-BC3A-4C00602ED6FA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5BE2-1A0A-40E3-BCC7-00CC231BF6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970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A058-A4C0-4BB4-BC3A-4C00602ED6FA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5BE2-1A0A-40E3-BCC7-00CC231BF6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1729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A058-A4C0-4BB4-BC3A-4C00602ED6FA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5BE2-1A0A-40E3-BCC7-00CC231BF62A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905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A058-A4C0-4BB4-BC3A-4C00602ED6FA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5BE2-1A0A-40E3-BCC7-00CC231BF6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629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A058-A4C0-4BB4-BC3A-4C00602ED6FA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5BE2-1A0A-40E3-BCC7-00CC231BF62A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538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256A058-A4C0-4BB4-BC3A-4C00602ED6FA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4DB5BE2-1A0A-40E3-BCC7-00CC231BF62A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230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undeniableme.wordpress.com/2010/06/09/these-are-the-days-of-our-live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nc-nd/3.0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B48F8-9466-440D-A9F3-F2B252112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638502"/>
            <a:ext cx="7772400" cy="2141121"/>
          </a:xfrm>
        </p:spPr>
        <p:txBody>
          <a:bodyPr>
            <a:normAutofit/>
          </a:bodyPr>
          <a:lstStyle/>
          <a:p>
            <a:r>
              <a:rPr lang="en-AU" dirty="0"/>
              <a:t>Topic: Congruency</a:t>
            </a:r>
            <a:br>
              <a:rPr lang="en-AU" dirty="0"/>
            </a:br>
            <a:r>
              <a:rPr lang="en-AU" dirty="0"/>
              <a:t>Eq: How do we know triangles are the same?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DC19A6-8ABE-4460-BA4E-1D935A4A27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3272119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813E-DF4E-4AC4-A3B9-E234B83D4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5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66361-39FD-46A5-9288-B07DD6A90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79022"/>
            <a:ext cx="9720073" cy="40233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400" dirty="0"/>
              <a:t>Complete last lessons summary.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Name angle C.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What is an acute angled triangle?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Find the missing side of the following triangle: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How big are the angles in an equilateral triangle?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8760FCB6-0F63-4C77-83B8-021BF04C9C3E}"/>
              </a:ext>
            </a:extLst>
          </p:cNvPr>
          <p:cNvSpPr/>
          <p:nvPr/>
        </p:nvSpPr>
        <p:spPr>
          <a:xfrm>
            <a:off x="9223432" y="3046258"/>
            <a:ext cx="2227217" cy="2488474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548D2-22C6-429D-8785-C196D787EE3E}"/>
              </a:ext>
            </a:extLst>
          </p:cNvPr>
          <p:cNvSpPr txBox="1"/>
          <p:nvPr/>
        </p:nvSpPr>
        <p:spPr>
          <a:xfrm>
            <a:off x="8460081" y="4542336"/>
            <a:ext cx="763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7 cm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6151A7-AE32-4A97-B651-0AF241121720}"/>
              </a:ext>
            </a:extLst>
          </p:cNvPr>
          <p:cNvSpPr txBox="1"/>
          <p:nvPr/>
        </p:nvSpPr>
        <p:spPr>
          <a:xfrm>
            <a:off x="9876084" y="5466584"/>
            <a:ext cx="1000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9.5 cm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248074-6346-4496-97CF-9FAB96CDC45A}"/>
              </a:ext>
            </a:extLst>
          </p:cNvPr>
          <p:cNvSpPr txBox="1"/>
          <p:nvPr/>
        </p:nvSpPr>
        <p:spPr>
          <a:xfrm>
            <a:off x="10376382" y="38810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2E0D50-4352-4E63-90EC-59F7238634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186" b="15166"/>
          <a:stretch/>
        </p:blipFill>
        <p:spPr>
          <a:xfrm>
            <a:off x="8550618" y="106791"/>
            <a:ext cx="3481043" cy="208074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725BD7B-AD6A-4806-9F79-DF954A817AEA}"/>
              </a:ext>
            </a:extLst>
          </p:cNvPr>
          <p:cNvSpPr txBox="1">
            <a:spLocks/>
          </p:cNvSpPr>
          <p:nvPr/>
        </p:nvSpPr>
        <p:spPr>
          <a:xfrm>
            <a:off x="147903" y="4892040"/>
            <a:ext cx="7772400" cy="1875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/>
              <a:t>Topic: Congruency</a:t>
            </a:r>
            <a:br>
              <a:rPr lang="en-AU" sz="3600"/>
            </a:br>
            <a:r>
              <a:rPr lang="en-AU" sz="3600"/>
              <a:t>Eq: How do we know triangles are the same?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213078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8046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0070C0"/>
                </a:solidFill>
                <a:latin typeface="Fragment Core" panose="02000504040000020003" pitchFamily="50" charset="0"/>
              </a:rPr>
              <a:t>Congruency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86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0070C0"/>
                </a:solidFill>
                <a:latin typeface="Fragment Core" panose="02000504040000020003" pitchFamily="50" charset="0"/>
              </a:rPr>
              <a:t>EQ – How do we know triangles are the same?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D51082D-CC2F-4CA3-90BE-2A8129E508AE}"/>
              </a:ext>
            </a:extLst>
          </p:cNvPr>
          <p:cNvSpPr txBox="1">
            <a:spLocks/>
          </p:cNvSpPr>
          <p:nvPr/>
        </p:nvSpPr>
        <p:spPr>
          <a:xfrm>
            <a:off x="-1" y="1462415"/>
            <a:ext cx="1847521" cy="132588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What is congruent?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8CCE8E42-5CF5-466D-A60D-2D405D4B5B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79809" y="1462414"/>
                <a:ext cx="10002004" cy="4997169"/>
              </a:xfrm>
              <a:prstGeom prst="rect">
                <a:avLst/>
              </a:prstGeom>
            </p:spPr>
            <p:txBody>
              <a:bodyPr/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517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480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7724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60704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16152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3624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AU" sz="2400" dirty="0"/>
                  <a:t>Two triangles are </a:t>
                </a:r>
                <a:r>
                  <a:rPr lang="en-AU" sz="2400" b="1" dirty="0"/>
                  <a:t>congruent</a:t>
                </a:r>
                <a:r>
                  <a:rPr lang="en-AU" sz="2400" dirty="0"/>
                  <a:t> if they are identical in </a:t>
                </a:r>
                <a:r>
                  <a:rPr lang="en-AU" sz="2400" b="1" dirty="0"/>
                  <a:t>all </a:t>
                </a:r>
                <a:r>
                  <a:rPr lang="en-AU" sz="2400" dirty="0"/>
                  <a:t>respects.</a:t>
                </a:r>
              </a:p>
              <a:p>
                <a:pPr marL="0" indent="0">
                  <a:buNone/>
                </a:pPr>
                <a:r>
                  <a:rPr lang="en-AU" sz="2400" dirty="0"/>
                  <a:t>This means that: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AU" sz="2400" dirty="0"/>
                  <a:t>The sides are the same length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AU" sz="2400" dirty="0"/>
                  <a:t>The angles are the same size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AU" sz="2400" dirty="0"/>
              </a:p>
              <a:p>
                <a:pPr marL="0" indent="-45720">
                  <a:buNone/>
                </a:pPr>
                <a:r>
                  <a:rPr lang="en-AU" sz="2400" dirty="0"/>
                  <a:t>The following two triangles are congruent because all the angles and sides are identical. We can write it like this:</a:t>
                </a:r>
              </a:p>
              <a:p>
                <a:pPr marL="0" indent="-45720">
                  <a:buNone/>
                </a:pPr>
                <a:endParaRPr lang="en-AU" sz="2400" dirty="0"/>
              </a:p>
              <a:p>
                <a:pPr marL="0" indent="-4572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𝐴𝐵𝐶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 ∆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𝐷𝐸𝐹</m:t>
                      </m:r>
                    </m:oMath>
                  </m:oMathPara>
                </a14:m>
                <a:endParaRPr lang="en-AU" sz="2400" dirty="0"/>
              </a:p>
              <a:p>
                <a:pPr marL="0" indent="-45720">
                  <a:buNone/>
                </a:pPr>
                <a:endParaRPr lang="en-AU" sz="2400" dirty="0"/>
              </a:p>
              <a:p>
                <a:pPr marL="0" indent="-45720">
                  <a:buNone/>
                </a:pP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AU" sz="2400" dirty="0"/>
                  <a:t> means ‘</a:t>
                </a:r>
                <a:r>
                  <a:rPr lang="en-AU" sz="2400" i="1" dirty="0"/>
                  <a:t>is congruent to</a:t>
                </a:r>
                <a:r>
                  <a:rPr lang="en-AU" sz="2400" dirty="0"/>
                  <a:t>’</a:t>
                </a:r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8CCE8E42-5CF5-466D-A60D-2D405D4B5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809" y="1462414"/>
                <a:ext cx="10002004" cy="4997169"/>
              </a:xfrm>
              <a:prstGeom prst="rect">
                <a:avLst/>
              </a:prstGeom>
              <a:blipFill>
                <a:blip r:embed="rId3"/>
                <a:stretch>
                  <a:fillRect l="-975" t="-17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BBF7708-75EF-4072-8F09-EEB6E51245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992" t="2485" r="6829" b="60765"/>
          <a:stretch/>
        </p:blipFill>
        <p:spPr>
          <a:xfrm>
            <a:off x="7230291" y="4078331"/>
            <a:ext cx="4532811" cy="17643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1E7FB54-0F27-42F8-9873-5226E3F4D91A}"/>
              </a:ext>
            </a:extLst>
          </p:cNvPr>
          <p:cNvSpPr/>
          <p:nvPr/>
        </p:nvSpPr>
        <p:spPr>
          <a:xfrm rot="21364665">
            <a:off x="9562011" y="5559338"/>
            <a:ext cx="2201090" cy="5068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A1CC68-1E6B-4943-9B36-ADB3254D9F34}"/>
              </a:ext>
            </a:extLst>
          </p:cNvPr>
          <p:cNvSpPr/>
          <p:nvPr/>
        </p:nvSpPr>
        <p:spPr>
          <a:xfrm>
            <a:off x="6468292" y="5718263"/>
            <a:ext cx="2201090" cy="5068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668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D8B9D3-138C-4DC5-9EEE-1C6C5F33FAEC}"/>
              </a:ext>
            </a:extLst>
          </p:cNvPr>
          <p:cNvSpPr txBox="1"/>
          <p:nvPr/>
        </p:nvSpPr>
        <p:spPr>
          <a:xfrm>
            <a:off x="2833023" y="0"/>
            <a:ext cx="65259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0070C0"/>
                </a:solidFill>
                <a:latin typeface="Fragment Core" panose="02000504040000020003" pitchFamily="50" charset="0"/>
              </a:rPr>
              <a:t>Tests for Congruent Triangles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E7AE1E-3E35-4C2B-A341-43BE5CBAF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51" y="793135"/>
            <a:ext cx="10824297" cy="59603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F0BE49-9791-44BC-A327-BDD5CA976A60}"/>
              </a:ext>
            </a:extLst>
          </p:cNvPr>
          <p:cNvSpPr/>
          <p:nvPr/>
        </p:nvSpPr>
        <p:spPr>
          <a:xfrm>
            <a:off x="947057" y="3546566"/>
            <a:ext cx="4447903" cy="7968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F74624-8618-4E8D-8876-879D28DEEE7B}"/>
              </a:ext>
            </a:extLst>
          </p:cNvPr>
          <p:cNvSpPr/>
          <p:nvPr/>
        </p:nvSpPr>
        <p:spPr>
          <a:xfrm>
            <a:off x="947057" y="4428648"/>
            <a:ext cx="4447903" cy="10577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C00BB8-A2E1-4435-9ED5-4F17DFC1F998}"/>
              </a:ext>
            </a:extLst>
          </p:cNvPr>
          <p:cNvSpPr/>
          <p:nvPr/>
        </p:nvSpPr>
        <p:spPr>
          <a:xfrm>
            <a:off x="894804" y="5571647"/>
            <a:ext cx="4447903" cy="5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C0230C-1211-4ACC-B5A5-CD4D04750A19}"/>
              </a:ext>
            </a:extLst>
          </p:cNvPr>
          <p:cNvSpPr/>
          <p:nvPr/>
        </p:nvSpPr>
        <p:spPr>
          <a:xfrm>
            <a:off x="6409509" y="793135"/>
            <a:ext cx="4447903" cy="356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F75F21-BD72-4FA3-B3CE-A3579322B34A}"/>
              </a:ext>
            </a:extLst>
          </p:cNvPr>
          <p:cNvSpPr/>
          <p:nvPr/>
        </p:nvSpPr>
        <p:spPr>
          <a:xfrm>
            <a:off x="6226628" y="1234779"/>
            <a:ext cx="4447903" cy="22530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E61BB3-84AF-49C7-9C59-1FE7E8C52B23}"/>
              </a:ext>
            </a:extLst>
          </p:cNvPr>
          <p:cNvSpPr/>
          <p:nvPr/>
        </p:nvSpPr>
        <p:spPr>
          <a:xfrm>
            <a:off x="6516188" y="3573031"/>
            <a:ext cx="4991960" cy="14561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22148E-F739-41BD-A648-2E46572B70E3}"/>
              </a:ext>
            </a:extLst>
          </p:cNvPr>
          <p:cNvSpPr/>
          <p:nvPr/>
        </p:nvSpPr>
        <p:spPr>
          <a:xfrm>
            <a:off x="6516188" y="5114449"/>
            <a:ext cx="4991960" cy="15737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20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4C0175E-BAAF-44A0-8FA0-E258C0DB4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80" y="707886"/>
            <a:ext cx="10668839" cy="60662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D8B9D3-138C-4DC5-9EEE-1C6C5F33FAEC}"/>
              </a:ext>
            </a:extLst>
          </p:cNvPr>
          <p:cNvSpPr txBox="1"/>
          <p:nvPr/>
        </p:nvSpPr>
        <p:spPr>
          <a:xfrm>
            <a:off x="2833023" y="0"/>
            <a:ext cx="65259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0070C0"/>
                </a:solidFill>
                <a:latin typeface="Fragment Core" panose="02000504040000020003" pitchFamily="50" charset="0"/>
              </a:rPr>
              <a:t>Tests for Congruent Triangles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F0BE49-9791-44BC-A327-BDD5CA976A60}"/>
              </a:ext>
            </a:extLst>
          </p:cNvPr>
          <p:cNvSpPr/>
          <p:nvPr/>
        </p:nvSpPr>
        <p:spPr>
          <a:xfrm>
            <a:off x="947057" y="3190772"/>
            <a:ext cx="4447903" cy="11526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F74624-8618-4E8D-8876-879D28DEEE7B}"/>
              </a:ext>
            </a:extLst>
          </p:cNvPr>
          <p:cNvSpPr/>
          <p:nvPr/>
        </p:nvSpPr>
        <p:spPr>
          <a:xfrm>
            <a:off x="947057" y="4448242"/>
            <a:ext cx="4447903" cy="10577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C00BB8-A2E1-4435-9ED5-4F17DFC1F998}"/>
              </a:ext>
            </a:extLst>
          </p:cNvPr>
          <p:cNvSpPr/>
          <p:nvPr/>
        </p:nvSpPr>
        <p:spPr>
          <a:xfrm>
            <a:off x="1132534" y="5505993"/>
            <a:ext cx="4804535" cy="12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C0230C-1211-4ACC-B5A5-CD4D04750A19}"/>
              </a:ext>
            </a:extLst>
          </p:cNvPr>
          <p:cNvSpPr/>
          <p:nvPr/>
        </p:nvSpPr>
        <p:spPr>
          <a:xfrm>
            <a:off x="6585858" y="739655"/>
            <a:ext cx="4447903" cy="356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F75F21-BD72-4FA3-B3CE-A3579322B34A}"/>
              </a:ext>
            </a:extLst>
          </p:cNvPr>
          <p:cNvSpPr/>
          <p:nvPr/>
        </p:nvSpPr>
        <p:spPr>
          <a:xfrm>
            <a:off x="6448697" y="1181300"/>
            <a:ext cx="4447903" cy="1895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E61BB3-84AF-49C7-9C59-1FE7E8C52B23}"/>
              </a:ext>
            </a:extLst>
          </p:cNvPr>
          <p:cNvSpPr/>
          <p:nvPr/>
        </p:nvSpPr>
        <p:spPr>
          <a:xfrm>
            <a:off x="6585858" y="3095348"/>
            <a:ext cx="4991960" cy="3054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500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D2E7-BFFB-4C74-9E51-CCDF64A31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DCB2F7-AE75-4BCA-BDF3-D60A1DA76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4655"/>
            <a:ext cx="12192000" cy="26816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D817C3-F8EB-4DFF-8B85-B8E7A4D9C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98905"/>
            <a:ext cx="12192000" cy="229371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9A50050-212D-4747-8442-DB02BEB9D037}"/>
              </a:ext>
            </a:extLst>
          </p:cNvPr>
          <p:cNvSpPr/>
          <p:nvPr/>
        </p:nvSpPr>
        <p:spPr>
          <a:xfrm>
            <a:off x="7609114" y="4498905"/>
            <a:ext cx="4049486" cy="1499616"/>
          </a:xfrm>
          <a:prstGeom prst="rect">
            <a:avLst/>
          </a:prstGeom>
          <a:solidFill>
            <a:srgbClr val="E5F6FE"/>
          </a:solidFill>
          <a:ln>
            <a:solidFill>
              <a:srgbClr val="E5F6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DB9372-3AEF-49AB-BE51-352E0FD6A9DE}"/>
              </a:ext>
            </a:extLst>
          </p:cNvPr>
          <p:cNvSpPr/>
          <p:nvPr/>
        </p:nvSpPr>
        <p:spPr>
          <a:xfrm>
            <a:off x="7702731" y="6272783"/>
            <a:ext cx="4049486" cy="454587"/>
          </a:xfrm>
          <a:prstGeom prst="rect">
            <a:avLst/>
          </a:prstGeom>
          <a:solidFill>
            <a:srgbClr val="E5F6FE"/>
          </a:solidFill>
          <a:ln>
            <a:solidFill>
              <a:srgbClr val="E5F6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223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B846-6EC2-44DD-AA6E-979741CE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59317"/>
            <a:ext cx="4389120" cy="17495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spc="100" dirty="0"/>
              <a:t>Write Your Summary</a:t>
            </a:r>
          </a:p>
        </p:txBody>
      </p:sp>
      <p:pic>
        <p:nvPicPr>
          <p:cNvPr id="6" name="Picture Placeholder 5" descr="A picture containing table&#10;&#10;Description automatically generated">
            <a:extLst>
              <a:ext uri="{FF2B5EF4-FFF2-40B4-BE49-F238E27FC236}">
                <a16:creationId xmlns:a16="http://schemas.microsoft.com/office/drawing/2014/main" id="{148E7043-18B4-4389-82A0-C4B4F0E354E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2935" b="32935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6E65F-97FC-4575-A0E0-1C1DA3815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9" y="2286000"/>
            <a:ext cx="4389120" cy="3931920"/>
          </a:xfrm>
        </p:spPr>
        <p:txBody>
          <a:bodyPr vert="horz" lIns="45720" tIns="45720" rIns="4572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have 3 minutes to write a summary that answers the Essential Question.</a:t>
            </a:r>
          </a:p>
          <a:p>
            <a:pPr>
              <a:lnSpc>
                <a:spcPct val="90000"/>
              </a:lnSpc>
            </a:pP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 prepared to share your summary with the people sitting in your row.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E6F8F-C6B7-4C88-A2A5-372F5C7FCBC9}"/>
              </a:ext>
            </a:extLst>
          </p:cNvPr>
          <p:cNvSpPr txBox="1"/>
          <p:nvPr/>
        </p:nvSpPr>
        <p:spPr>
          <a:xfrm>
            <a:off x="8823848" y="5700917"/>
            <a:ext cx="240803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GB" sz="700">
                <a:solidFill>
                  <a:srgbClr val="FFFFFF"/>
                </a:solidFill>
                <a:hlinkClick r:id="rId3" tooltip="http://undeniableme.wordpress.com/2010/06/09/these-are-the-days-of-our-live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GB" sz="700">
                <a:solidFill>
                  <a:srgbClr val="FFFFFF"/>
                </a:solidFill>
              </a:rPr>
              <a:t> by Unknown Author is licensed under </a:t>
            </a:r>
            <a:r>
              <a:rPr lang="en-GB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049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3EB34B-21FB-4891-828E-39F5290F4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8893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511A7EB-4C17-4568-8AE7-B45C34CCE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703" y="6396109"/>
            <a:ext cx="5209297" cy="38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23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826270-2B19-4556-9F6C-A65C9C689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3940"/>
            <a:ext cx="12192000" cy="56405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7609AD-BF6F-4D66-AABF-E1E72BBC91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3135"/>
          <a:stretch/>
        </p:blipFill>
        <p:spPr>
          <a:xfrm>
            <a:off x="0" y="51689"/>
            <a:ext cx="12192000" cy="8246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4193AF-591C-493D-880A-E7FC87856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994" y="6124859"/>
            <a:ext cx="5446190" cy="73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05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1183</TotalTime>
  <Words>184</Words>
  <Application>Microsoft Office PowerPoint</Application>
  <PresentationFormat>Widescreen</PresentationFormat>
  <Paragraphs>38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Cambria Math</vt:lpstr>
      <vt:lpstr>Fragment Core</vt:lpstr>
      <vt:lpstr>Tw Cen MT</vt:lpstr>
      <vt:lpstr>Tw Cen MT Condensed</vt:lpstr>
      <vt:lpstr>Wingdings 3</vt:lpstr>
      <vt:lpstr>Integral</vt:lpstr>
      <vt:lpstr>Topic: Congruency Eq: How do we know triangles are the same?</vt:lpstr>
      <vt:lpstr>5 questions</vt:lpstr>
      <vt:lpstr>PowerPoint Presentation</vt:lpstr>
      <vt:lpstr>PowerPoint Presentation</vt:lpstr>
      <vt:lpstr>PowerPoint Presentation</vt:lpstr>
      <vt:lpstr>Example 1</vt:lpstr>
      <vt:lpstr>Write Your Summary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Congruency Eq: How do we know triangles are the same?</dc:title>
  <dc:creator>STRETCH Nine [Baldivis Secondary College]</dc:creator>
  <cp:lastModifiedBy>STRETCH Nine [Baldivis Secondary College]</cp:lastModifiedBy>
  <cp:revision>16</cp:revision>
  <dcterms:created xsi:type="dcterms:W3CDTF">2019-06-12T06:09:21Z</dcterms:created>
  <dcterms:modified xsi:type="dcterms:W3CDTF">2019-06-25T02:06:17Z</dcterms:modified>
</cp:coreProperties>
</file>
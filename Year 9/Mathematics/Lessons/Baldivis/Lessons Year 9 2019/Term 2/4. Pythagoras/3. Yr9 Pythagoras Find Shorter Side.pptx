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1" r:id="rId2"/>
    <p:sldId id="508" r:id="rId3"/>
    <p:sldId id="502" r:id="rId4"/>
    <p:sldId id="475" r:id="rId5"/>
    <p:sldId id="260" r:id="rId6"/>
    <p:sldId id="507" r:id="rId7"/>
    <p:sldId id="506" r:id="rId8"/>
    <p:sldId id="50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74" autoAdjust="0"/>
    <p:restoredTop sz="80766" autoAdjust="0"/>
  </p:normalViewPr>
  <p:slideViewPr>
    <p:cSldViewPr>
      <p:cViewPr varScale="1">
        <p:scale>
          <a:sx n="73" d="100"/>
          <a:sy n="73" d="100"/>
        </p:scale>
        <p:origin x="1236" y="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Possible resources</a:t>
            </a:r>
          </a:p>
          <a:p>
            <a:r>
              <a:rPr lang="en-AU" dirty="0"/>
              <a:t>http://www.scootle.edu.au/ec/viewing/L6559/index.html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0542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17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9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Pythagoras’ Theorem</a:t>
            </a:r>
            <a:br>
              <a:rPr lang="en-GB" dirty="0"/>
            </a:br>
            <a:r>
              <a:rPr lang="en-GB" dirty="0"/>
              <a:t>Working out a Shorter Side</a:t>
            </a:r>
          </a:p>
        </p:txBody>
      </p:sp>
    </p:spTree>
    <p:extLst>
      <p:ext uri="{BB962C8B-B14F-4D97-AF65-F5344CB8AC3E}">
        <p14:creationId xmlns:p14="http://schemas.microsoft.com/office/powerpoint/2010/main" val="1629306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66B6-08BE-444D-A933-836D0114E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AU" sz="3600" b="1" dirty="0"/>
              <a:t>Warm Up (LHS)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1A83A3-E18D-4B23-8F43-AC9BB82171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52736"/>
                <a:ext cx="8229600" cy="504056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Write your summary from the last lesson.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What is the hypotenuse of a right-triangle with shorter sides of 3m and 4m?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Simplify the following fractions:</a:t>
                </a:r>
                <a:br>
                  <a:rPr lang="en-AU" sz="2400" dirty="0"/>
                </a:br>
                <a:r>
                  <a:rPr lang="en-AU" sz="2400" dirty="0"/>
                  <a:t>⃝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2400" dirty="0"/>
                  <a:t>              ⃝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/>
                  <a:t>                ⃝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lang="en-AU" sz="2400" dirty="0"/>
                  <a:t>                ⃝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lang="en-AU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Kim makes cordial in a ratio of 4:1 (water to cordial). How much water will she need to make 600mL of mix?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Solve the following equation:</a:t>
                </a:r>
                <a:br>
                  <a:rPr lang="en-AU" sz="2400" dirty="0"/>
                </a:br>
                <a14:m>
                  <m:oMath xmlns:m="http://schemas.openxmlformats.org/officeDocument/2006/math"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16=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1A83A3-E18D-4B23-8F43-AC9BB82171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52736"/>
                <a:ext cx="8229600" cy="5040560"/>
              </a:xfrm>
              <a:blipFill>
                <a:blip r:embed="rId2"/>
                <a:stretch>
                  <a:fillRect l="-1185" t="-1209" r="-8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0854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791893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163069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07704" y="1172036"/>
            <a:ext cx="0" cy="55339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4616" y="290413"/>
            <a:ext cx="37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Topic: </a:t>
            </a:r>
            <a:r>
              <a:rPr lang="en-AU" sz="2400" dirty="0"/>
              <a:t>Right-Angled Triangles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45540" y="353230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239747"/>
            <a:ext cx="18722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000" dirty="0">
                <a:latin typeface="Kiwi School Handwriting" panose="00000500000000000000" pitchFamily="2" charset="0"/>
              </a:rPr>
              <a:t>What is Pythagoras’ Theorem?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172036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8299DF-99F8-4115-9766-1C07BF2A5419}"/>
                  </a:ext>
                </a:extLst>
              </p:cNvPr>
              <p:cNvSpPr txBox="1"/>
              <p:nvPr/>
            </p:nvSpPr>
            <p:spPr>
              <a:xfrm>
                <a:off x="6726505" y="4865726"/>
                <a:ext cx="1838069" cy="15678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AU" sz="2000" dirty="0">
                    <a:solidFill>
                      <a:srgbClr val="7030A0"/>
                    </a:solidFill>
                  </a:rPr>
                  <a:t>a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= c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- b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</a:t>
                </a:r>
              </a:p>
              <a:p>
                <a:r>
                  <a:rPr lang="en-AU" sz="2000" dirty="0">
                    <a:solidFill>
                      <a:srgbClr val="7030A0"/>
                    </a:solidFill>
                  </a:rPr>
                  <a:t>x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= 10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- 8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</a:t>
                </a:r>
              </a:p>
              <a:p>
                <a:r>
                  <a:rPr lang="en-AU" sz="2000" dirty="0">
                    <a:solidFill>
                      <a:srgbClr val="7030A0"/>
                    </a:solidFill>
                  </a:rPr>
                  <a:t>x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= 100 – 64 = 36</a:t>
                </a:r>
              </a:p>
              <a:p>
                <a:r>
                  <a:rPr lang="en-AU" sz="2000" dirty="0">
                    <a:solidFill>
                      <a:srgbClr val="7030A0"/>
                    </a:solidFill>
                  </a:rPr>
                  <a:t>x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</m:rad>
                  </m:oMath>
                </a14:m>
                <a:r>
                  <a:rPr lang="en-AU" sz="2000" dirty="0">
                    <a:solidFill>
                      <a:srgbClr val="7030A0"/>
                    </a:solidFill>
                  </a:rPr>
                  <a:t> </a:t>
                </a:r>
              </a:p>
              <a:p>
                <a:r>
                  <a:rPr lang="en-AU" sz="2000" dirty="0">
                    <a:solidFill>
                      <a:srgbClr val="7030A0"/>
                    </a:solidFill>
                  </a:rPr>
                  <a:t>x = 6cm 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8299DF-99F8-4115-9766-1C07BF2A5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505" y="4865726"/>
                <a:ext cx="1838069" cy="1567865"/>
              </a:xfrm>
              <a:prstGeom prst="rect">
                <a:avLst/>
              </a:prstGeom>
              <a:blipFill>
                <a:blip r:embed="rId3"/>
                <a:stretch>
                  <a:fillRect l="-8278" t="-5058" r="-7285" b="-93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8CAE5D96-C9A8-4F59-96C1-A12289F6E26B}"/>
              </a:ext>
            </a:extLst>
          </p:cNvPr>
          <p:cNvGrpSpPr/>
          <p:nvPr/>
        </p:nvGrpSpPr>
        <p:grpSpPr>
          <a:xfrm>
            <a:off x="4154326" y="1260655"/>
            <a:ext cx="2196722" cy="1272139"/>
            <a:chOff x="3491881" y="1772816"/>
            <a:chExt cx="2756369" cy="173685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792C6CB-AAF3-460E-BE9A-223A328C7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91881" y="1772816"/>
              <a:ext cx="2376253" cy="140097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4E9B22C-5802-482D-B099-C16099AC06DD}"/>
                </a:ext>
              </a:extLst>
            </p:cNvPr>
            <p:cNvSpPr txBox="1"/>
            <p:nvPr/>
          </p:nvSpPr>
          <p:spPr>
            <a:xfrm>
              <a:off x="4355976" y="2118831"/>
              <a:ext cx="2936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c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F2FD2CE-A5FB-48FF-9983-5EB62CE67549}"/>
                </a:ext>
              </a:extLst>
            </p:cNvPr>
            <p:cNvSpPr txBox="1"/>
            <p:nvPr/>
          </p:nvSpPr>
          <p:spPr>
            <a:xfrm>
              <a:off x="5940152" y="2284855"/>
              <a:ext cx="3080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D7D20E3-3A6B-403F-8589-7F826487E333}"/>
                </a:ext>
              </a:extLst>
            </p:cNvPr>
            <p:cNvSpPr txBox="1"/>
            <p:nvPr/>
          </p:nvSpPr>
          <p:spPr>
            <a:xfrm>
              <a:off x="4678356" y="3109557"/>
              <a:ext cx="319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b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338205F-DFB5-47EE-B89A-7D9067B33896}"/>
              </a:ext>
            </a:extLst>
          </p:cNvPr>
          <p:cNvSpPr txBox="1"/>
          <p:nvPr/>
        </p:nvSpPr>
        <p:spPr>
          <a:xfrm>
            <a:off x="143509" y="842250"/>
            <a:ext cx="795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latin typeface="Kiwi School Handwriting" panose="00000500000000000000" pitchFamily="2" charset="0"/>
              </a:rPr>
              <a:t>How can we work out shorter side of right-angled triangles</a:t>
            </a:r>
            <a:r>
              <a:rPr lang="en-AU" dirty="0"/>
              <a:t>?</a:t>
            </a:r>
            <a:r>
              <a:rPr lang="en-AU" sz="1799" b="1" dirty="0">
                <a:latin typeface="Kiwi School Handwriting" panose="00000500000000000000" pitchFamily="2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2419FE-4DD9-4E51-B8DC-578DEC831EF0}"/>
              </a:ext>
            </a:extLst>
          </p:cNvPr>
          <p:cNvSpPr txBox="1"/>
          <p:nvPr/>
        </p:nvSpPr>
        <p:spPr>
          <a:xfrm>
            <a:off x="-19927" y="2532794"/>
            <a:ext cx="18722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000" dirty="0">
                <a:latin typeface="Kiwi School Handwriting" panose="00000500000000000000" pitchFamily="2" charset="0"/>
              </a:rPr>
              <a:t>How do we use it to find a shorter side?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9D911D-90A9-4E00-B621-C1AD70F60D2A}"/>
              </a:ext>
            </a:extLst>
          </p:cNvPr>
          <p:cNvSpPr txBox="1"/>
          <p:nvPr/>
        </p:nvSpPr>
        <p:spPr>
          <a:xfrm>
            <a:off x="2001924" y="3648504"/>
            <a:ext cx="26680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Example: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727515F-8E1A-4F0D-85B8-B28F99B14D85}"/>
              </a:ext>
            </a:extLst>
          </p:cNvPr>
          <p:cNvGrpSpPr/>
          <p:nvPr/>
        </p:nvGrpSpPr>
        <p:grpSpPr>
          <a:xfrm>
            <a:off x="3984979" y="3404356"/>
            <a:ext cx="2418161" cy="1544757"/>
            <a:chOff x="3491881" y="1772816"/>
            <a:chExt cx="2788803" cy="1803998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B5B58DD-C4CD-42DE-AE1D-E52BFE34D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91881" y="1772816"/>
              <a:ext cx="2376253" cy="1400972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C836D35-96DC-4283-B44A-24A5F0E58928}"/>
                </a:ext>
              </a:extLst>
            </p:cNvPr>
            <p:cNvSpPr txBox="1"/>
            <p:nvPr/>
          </p:nvSpPr>
          <p:spPr>
            <a:xfrm>
              <a:off x="3968503" y="2072291"/>
              <a:ext cx="874806" cy="4672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10cm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6564EDB-AEB1-478C-8DAD-4012C47A5BE8}"/>
                </a:ext>
              </a:extLst>
            </p:cNvPr>
            <p:cNvSpPr txBox="1"/>
            <p:nvPr/>
          </p:nvSpPr>
          <p:spPr>
            <a:xfrm>
              <a:off x="5940152" y="2284855"/>
              <a:ext cx="340532" cy="467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x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E9BF42B-35FE-40C6-8532-6691897A531E}"/>
                </a:ext>
              </a:extLst>
            </p:cNvPr>
            <p:cNvSpPr txBox="1"/>
            <p:nvPr/>
          </p:nvSpPr>
          <p:spPr>
            <a:xfrm>
              <a:off x="4678356" y="3109557"/>
              <a:ext cx="725061" cy="467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8cm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3D55EF2D-00A7-42C3-96A8-3FABEF176541}"/>
              </a:ext>
            </a:extLst>
          </p:cNvPr>
          <p:cNvSpPr txBox="1"/>
          <p:nvPr/>
        </p:nvSpPr>
        <p:spPr>
          <a:xfrm>
            <a:off x="1979711" y="5053136"/>
            <a:ext cx="4608503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Step 1: Write the equation </a:t>
            </a:r>
          </a:p>
          <a:p>
            <a:r>
              <a:rPr lang="en-AU" sz="2000" dirty="0"/>
              <a:t>Step 2: Rewrite it using the values we know</a:t>
            </a:r>
          </a:p>
          <a:p>
            <a:r>
              <a:rPr lang="en-AU" sz="2000" dirty="0"/>
              <a:t>Step 3: Solve for the unknown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B03C42-5A9D-400F-87F3-796F3404F021}"/>
              </a:ext>
            </a:extLst>
          </p:cNvPr>
          <p:cNvSpPr txBox="1"/>
          <p:nvPr/>
        </p:nvSpPr>
        <p:spPr>
          <a:xfrm>
            <a:off x="2111981" y="1336657"/>
            <a:ext cx="183806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a</a:t>
            </a:r>
            <a:r>
              <a:rPr lang="en-AU" sz="2400" baseline="30000" dirty="0"/>
              <a:t>2</a:t>
            </a:r>
            <a:r>
              <a:rPr lang="en-AU" sz="2400" dirty="0"/>
              <a:t> + b</a:t>
            </a:r>
            <a:r>
              <a:rPr lang="en-AU" sz="2400" baseline="30000" dirty="0"/>
              <a:t>2</a:t>
            </a:r>
            <a:r>
              <a:rPr lang="en-AU" sz="2400" dirty="0"/>
              <a:t> = c</a:t>
            </a:r>
            <a:r>
              <a:rPr lang="en-AU" sz="2400" baseline="30000" dirty="0"/>
              <a:t>2</a:t>
            </a:r>
            <a:r>
              <a:rPr lang="en-AU" sz="2400" dirty="0"/>
              <a:t>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5D6472-035D-4069-A6C3-B3764536A259}"/>
              </a:ext>
            </a:extLst>
          </p:cNvPr>
          <p:cNvSpPr txBox="1"/>
          <p:nvPr/>
        </p:nvSpPr>
        <p:spPr>
          <a:xfrm>
            <a:off x="2001924" y="2617360"/>
            <a:ext cx="7009188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To work out a shorter side, rewrite the formula as: </a:t>
            </a:r>
          </a:p>
          <a:p>
            <a:r>
              <a:rPr lang="en-AU" sz="2400" dirty="0"/>
              <a:t>a</a:t>
            </a:r>
            <a:r>
              <a:rPr lang="en-AU" sz="2400" baseline="30000" dirty="0"/>
              <a:t>2</a:t>
            </a:r>
            <a:r>
              <a:rPr lang="en-AU" sz="2400" dirty="0"/>
              <a:t> = c</a:t>
            </a:r>
            <a:r>
              <a:rPr lang="en-AU" sz="2400" baseline="30000" dirty="0"/>
              <a:t>2</a:t>
            </a:r>
            <a:r>
              <a:rPr lang="en-AU" sz="2400" dirty="0"/>
              <a:t> - b</a:t>
            </a:r>
            <a:r>
              <a:rPr lang="en-AU" sz="2400" baseline="30000" dirty="0"/>
              <a:t>2</a:t>
            </a:r>
            <a:r>
              <a:rPr lang="en-AU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80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611560" y="1556792"/>
            <a:ext cx="2880320" cy="2160240"/>
            <a:chOff x="611560" y="2924944"/>
            <a:chExt cx="2376264" cy="1728192"/>
          </a:xfrm>
        </p:grpSpPr>
        <p:sp>
          <p:nvSpPr>
            <p:cNvPr id="3" name="Right Triangle 2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63888" y="2420888"/>
                <a:ext cx="4320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8" y="2420888"/>
                <a:ext cx="43204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79712" y="3717032"/>
                <a:ext cx="4320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 dirty="0" smtClean="0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3717032"/>
                <a:ext cx="432048" cy="76944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691680" y="1916832"/>
                <a:ext cx="4320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0" i="1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1916832"/>
                <a:ext cx="432048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211960" y="1052736"/>
            <a:ext cx="4536504" cy="9541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1:</a:t>
            </a:r>
            <a:r>
              <a:rPr lang="en-GB" sz="2800" dirty="0"/>
              <a:t> To work out the shorter side.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1960" y="2348880"/>
            <a:ext cx="4589140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2:</a:t>
            </a:r>
            <a:r>
              <a:rPr lang="en-GB" sz="2800" dirty="0"/>
              <a:t> Form an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165600" y="2996952"/>
                <a:ext cx="304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3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3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600" y="2996952"/>
                <a:ext cx="304800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4211960" y="3789040"/>
            <a:ext cx="4536504" cy="95410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3:</a:t>
            </a:r>
            <a:r>
              <a:rPr lang="en-GB" sz="2800" dirty="0"/>
              <a:t> Solve the equation to find the unknown side.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211960" y="4773855"/>
                <a:ext cx="4248472" cy="1258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3600" b="0" i="1" smtClean="0">
                          <a:latin typeface="Cambria Math"/>
                        </a:rPr>
                        <m:t>=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25−</m:t>
                      </m:r>
                      <m:r>
                        <a:rPr lang="en-GB" sz="3600" b="0" i="1" smtClean="0">
                          <a:latin typeface="Cambria Math"/>
                        </a:rPr>
                        <m:t>16=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br>
                  <a:rPr lang="en-GB" sz="3600" b="0" dirty="0"/>
                </a:br>
                <a14:m>
                  <m:oMath xmlns:m="http://schemas.openxmlformats.org/officeDocument/2006/math">
                    <m:r>
                      <a:rPr lang="en-GB" sz="3600" b="0" i="1" smtClean="0">
                        <a:latin typeface="Cambria Math"/>
                      </a:rPr>
                      <m:t>𝑥</m:t>
                    </m:r>
                    <m:r>
                      <a:rPr lang="en-GB" sz="3600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3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</m:oMath>
                </a14:m>
                <a:r>
                  <a:rPr lang="en-GB" sz="3600" dirty="0"/>
                  <a:t> or 3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4773855"/>
                <a:ext cx="4248472" cy="1258230"/>
              </a:xfrm>
              <a:prstGeom prst="rect">
                <a:avLst/>
              </a:prstGeom>
              <a:blipFill>
                <a:blip r:embed="rId6"/>
                <a:stretch>
                  <a:fillRect b="-169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>
            <a:off x="1115616" y="1340768"/>
            <a:ext cx="648072" cy="720080"/>
          </a:xfrm>
          <a:prstGeom prst="straightConnector1">
            <a:avLst/>
          </a:prstGeom>
          <a:ln w="76200"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99796" y="2933452"/>
            <a:ext cx="1619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The shorter side appears on its own.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6918548" y="3052068"/>
            <a:ext cx="432048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20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Let’s Try this Together</a:t>
              </a: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2" name="Rectangle 21"/>
          <p:cNvSpPr/>
          <p:nvPr/>
        </p:nvSpPr>
        <p:spPr>
          <a:xfrm>
            <a:off x="4222870" y="2922048"/>
            <a:ext cx="4582872" cy="73928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11960" y="4773855"/>
            <a:ext cx="4561756" cy="17974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9796" y="1490038"/>
            <a:ext cx="1276804" cy="4215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/>
              <a:t>Reveal &gt;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64027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918" y="764704"/>
            <a:ext cx="3974163" cy="513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22A52-C2A0-4824-9412-9AC6357FA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0"/>
            <a:ext cx="8229600" cy="876540"/>
          </a:xfrm>
        </p:spPr>
        <p:txBody>
          <a:bodyPr/>
          <a:lstStyle/>
          <a:p>
            <a:pPr algn="l"/>
            <a:r>
              <a:rPr lang="en-AU" dirty="0"/>
              <a:t>Practice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B1A63F-EBBE-46B6-B240-32AA26C35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752752"/>
            <a:ext cx="7013678" cy="602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520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22A52-C2A0-4824-9412-9AC6357FA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12491"/>
            <a:ext cx="8229600" cy="1143000"/>
          </a:xfrm>
        </p:spPr>
        <p:txBody>
          <a:bodyPr/>
          <a:lstStyle/>
          <a:p>
            <a:pPr algn="l"/>
            <a:r>
              <a:rPr lang="en-AU" dirty="0"/>
              <a:t>Extend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01A12C-BE34-4199-AD32-E31043386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340768"/>
            <a:ext cx="8316416" cy="502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553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791893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163069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616" y="290413"/>
            <a:ext cx="37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Topic: </a:t>
            </a:r>
            <a:r>
              <a:rPr lang="en-AU" sz="2400" dirty="0"/>
              <a:t>Right-Angled Triangles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45540" y="353230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172036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C075E63-DA94-453C-B129-912863142F25}"/>
              </a:ext>
            </a:extLst>
          </p:cNvPr>
          <p:cNvSpPr txBox="1"/>
          <p:nvPr/>
        </p:nvSpPr>
        <p:spPr>
          <a:xfrm>
            <a:off x="323528" y="1501823"/>
            <a:ext cx="8568952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Summary</a:t>
            </a:r>
          </a:p>
          <a:p>
            <a:endParaRPr lang="en-AU" sz="2000" dirty="0"/>
          </a:p>
          <a:p>
            <a:r>
              <a:rPr lang="en-AU" sz="2000" dirty="0"/>
              <a:t>To work out a shorter side of a right-angled triangle when we know the hypotenuse and the other side we rewrite Pythagoras’ Theorem to get the unknown side by itself. It looks like ________ = ________ - __________.</a:t>
            </a:r>
          </a:p>
          <a:p>
            <a:endParaRPr lang="en-AU" sz="2000" dirty="0"/>
          </a:p>
          <a:p>
            <a:r>
              <a:rPr lang="en-AU" sz="2000" dirty="0"/>
              <a:t>Our last step is to take the ___________________ of the answer.</a:t>
            </a:r>
          </a:p>
          <a:p>
            <a:endParaRPr lang="en-AU" sz="2000" dirty="0"/>
          </a:p>
          <a:p>
            <a:endParaRPr lang="en-AU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85DAFC-ED5C-4AE9-94A2-2D26D2A4370F}"/>
              </a:ext>
            </a:extLst>
          </p:cNvPr>
          <p:cNvSpPr txBox="1"/>
          <p:nvPr/>
        </p:nvSpPr>
        <p:spPr>
          <a:xfrm>
            <a:off x="143509" y="842250"/>
            <a:ext cx="795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latin typeface="Kiwi School Handwriting" panose="00000500000000000000" pitchFamily="2" charset="0"/>
              </a:rPr>
              <a:t>How can we work out a shorter side of right-angled triangles</a:t>
            </a:r>
            <a:r>
              <a:rPr lang="en-AU" dirty="0"/>
              <a:t>?</a:t>
            </a:r>
            <a:r>
              <a:rPr lang="en-AU" sz="1799" b="1" dirty="0">
                <a:latin typeface="Kiwi School Handwriting" panose="000005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0331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18909</TotalTime>
  <Words>309</Words>
  <Application>Microsoft Office PowerPoint</Application>
  <PresentationFormat>On-screen Show (4:3)</PresentationFormat>
  <Paragraphs>64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Kiwi School Handwriting</vt:lpstr>
      <vt:lpstr>Office Theme</vt:lpstr>
      <vt:lpstr>Pythagoras’ Theorem Working out a Shorter Side</vt:lpstr>
      <vt:lpstr>Warm Up (LHS)</vt:lpstr>
      <vt:lpstr>PowerPoint Presentation</vt:lpstr>
      <vt:lpstr>PowerPoint Presentation</vt:lpstr>
      <vt:lpstr>PowerPoint Presentation</vt:lpstr>
      <vt:lpstr>Practice</vt:lpstr>
      <vt:lpstr>Extend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Barry Stanton</cp:lastModifiedBy>
  <cp:revision>646</cp:revision>
  <dcterms:created xsi:type="dcterms:W3CDTF">2013-02-28T07:36:55Z</dcterms:created>
  <dcterms:modified xsi:type="dcterms:W3CDTF">2019-06-05T12:39:30Z</dcterms:modified>
</cp:coreProperties>
</file>
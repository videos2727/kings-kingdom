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91" r:id="rId2"/>
    <p:sldId id="507" r:id="rId3"/>
    <p:sldId id="267" r:id="rId4"/>
    <p:sldId id="472" r:id="rId5"/>
    <p:sldId id="503" r:id="rId6"/>
    <p:sldId id="502" r:id="rId7"/>
    <p:sldId id="506" r:id="rId8"/>
    <p:sldId id="505" r:id="rId9"/>
    <p:sldId id="50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616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74" autoAdjust="0"/>
    <p:restoredTop sz="80766" autoAdjust="0"/>
  </p:normalViewPr>
  <p:slideViewPr>
    <p:cSldViewPr>
      <p:cViewPr varScale="1">
        <p:scale>
          <a:sx n="73" d="100"/>
          <a:sy n="73" d="100"/>
        </p:scale>
        <p:origin x="1236" y="3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Possible resources</a:t>
            </a:r>
          </a:p>
          <a:p>
            <a:r>
              <a:rPr lang="en-AU" dirty="0"/>
              <a:t>http://www.scootle.edu.au/ec/viewing/L6559/index.html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05421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28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Or use 1cm graph paper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687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We are trying to get them to see that the number of total number of squares against the shorter sides is the same as the number of squares 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55842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177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193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Introducing Pythagoras’ Theorem</a:t>
            </a:r>
          </a:p>
        </p:txBody>
      </p:sp>
    </p:spTree>
    <p:extLst>
      <p:ext uri="{BB962C8B-B14F-4D97-AF65-F5344CB8AC3E}">
        <p14:creationId xmlns:p14="http://schemas.microsoft.com/office/powerpoint/2010/main" val="1629306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966B6-08BE-444D-A933-836D0114E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706090"/>
          </a:xfrm>
        </p:spPr>
        <p:txBody>
          <a:bodyPr>
            <a:normAutofit/>
          </a:bodyPr>
          <a:lstStyle/>
          <a:p>
            <a:pPr algn="l"/>
            <a:r>
              <a:rPr lang="en-AU" sz="3600" b="1" dirty="0"/>
              <a:t>Warm Up (LHS)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A83A3-E18D-4B23-8F43-AC9BB8217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4056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400" dirty="0"/>
              <a:t>Write your summary from the last lesson.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400" dirty="0"/>
              <a:t>What is the sum of the interior angles of a triangle?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400" dirty="0"/>
              <a:t>What is the length of the missing side?</a:t>
            </a:r>
            <a:br>
              <a:rPr lang="en-AU" sz="2400" dirty="0"/>
            </a:br>
            <a:br>
              <a:rPr lang="en-AU" sz="2400" dirty="0"/>
            </a:br>
            <a:br>
              <a:rPr lang="en-AU" sz="2400" dirty="0"/>
            </a:br>
            <a:endParaRPr lang="en-AU" sz="2400" dirty="0"/>
          </a:p>
          <a:p>
            <a:pPr marL="514350" indent="-514350">
              <a:buFont typeface="+mj-lt"/>
              <a:buAutoNum type="arabicPeriod"/>
            </a:pPr>
            <a:endParaRPr lang="en-AU" sz="2400" dirty="0"/>
          </a:p>
          <a:p>
            <a:pPr marL="514350" indent="-514350">
              <a:buFont typeface="+mj-lt"/>
              <a:buAutoNum type="arabicPeriod"/>
            </a:pPr>
            <a:endParaRPr lang="en-AU" sz="2400" dirty="0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9A397BB4-A1C4-464C-886F-7C87A61551B6}"/>
              </a:ext>
            </a:extLst>
          </p:cNvPr>
          <p:cNvSpPr/>
          <p:nvPr/>
        </p:nvSpPr>
        <p:spPr>
          <a:xfrm>
            <a:off x="3347864" y="2636912"/>
            <a:ext cx="2520280" cy="1100363"/>
          </a:xfrm>
          <a:prstGeom prst="rt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558B8C-40FA-44D0-A855-2A9BC4799396}"/>
              </a:ext>
            </a:extLst>
          </p:cNvPr>
          <p:cNvSpPr txBox="1"/>
          <p:nvPr/>
        </p:nvSpPr>
        <p:spPr>
          <a:xfrm>
            <a:off x="4355976" y="2796706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13m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F28B32-5A91-4104-8A3B-84C80FB507C1}"/>
              </a:ext>
            </a:extLst>
          </p:cNvPr>
          <p:cNvSpPr txBox="1"/>
          <p:nvPr/>
        </p:nvSpPr>
        <p:spPr>
          <a:xfrm>
            <a:off x="4208811" y="3737275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12m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BA285A-CF86-4B2B-A5D0-7340E1AA2594}"/>
              </a:ext>
            </a:extLst>
          </p:cNvPr>
          <p:cNvSpPr txBox="1"/>
          <p:nvPr/>
        </p:nvSpPr>
        <p:spPr>
          <a:xfrm>
            <a:off x="3059002" y="3002427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2030854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791893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163069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501406" y="1172036"/>
            <a:ext cx="0" cy="4845082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44616" y="290413"/>
            <a:ext cx="37572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>
                <a:latin typeface="Kiwi School Handwriting" panose="00000500000000000000" pitchFamily="2" charset="0"/>
              </a:rPr>
              <a:t>Topic: </a:t>
            </a:r>
            <a:r>
              <a:rPr lang="en-AU" sz="2400" dirty="0"/>
              <a:t>Right-Angled Triangles</a:t>
            </a:r>
            <a:endParaRPr lang="en-AU" sz="24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45540" y="353230"/>
            <a:ext cx="1620180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238654"/>
            <a:ext cx="1640155" cy="922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US" sz="1799" dirty="0">
                <a:latin typeface="Kiwi School Handwriting" panose="00000500000000000000" pitchFamily="2" charset="0"/>
              </a:rPr>
              <a:t>What is a right-angled triangle?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3509" y="842250"/>
            <a:ext cx="795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>
                <a:latin typeface="Kiwi School Handwriting" panose="00000500000000000000" pitchFamily="2" charset="0"/>
              </a:rPr>
              <a:t>EQ – </a:t>
            </a:r>
            <a:r>
              <a:rPr lang="en-AU" b="1" dirty="0">
                <a:latin typeface="Kiwi School Handwriting" panose="00000500000000000000" pitchFamily="2" charset="0"/>
              </a:rPr>
              <a:t>What is special about right-angled triangles</a:t>
            </a:r>
            <a:r>
              <a:rPr lang="en-AU" dirty="0"/>
              <a:t>?</a:t>
            </a:r>
            <a:r>
              <a:rPr lang="en-AU" sz="1799" b="1" dirty="0"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1172036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1647387" y="1291202"/>
            <a:ext cx="717774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A right-angled triangle is a triangle with one angle that is 90</a:t>
            </a:r>
            <a:r>
              <a:rPr lang="en-AU" sz="2000" baseline="30000" dirty="0"/>
              <a:t>o</a:t>
            </a:r>
            <a:r>
              <a:rPr lang="en-AU" sz="2000" dirty="0"/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92C6CB-AAF3-460E-BE9A-223A328C7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1" y="1772816"/>
            <a:ext cx="2376253" cy="14009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075E63-DA94-453C-B129-912863142F25}"/>
              </a:ext>
            </a:extLst>
          </p:cNvPr>
          <p:cNvSpPr txBox="1"/>
          <p:nvPr/>
        </p:nvSpPr>
        <p:spPr>
          <a:xfrm>
            <a:off x="1647387" y="3530324"/>
            <a:ext cx="717774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The long side is called the hypotenuse. </a:t>
            </a:r>
          </a:p>
        </p:txBody>
      </p:sp>
    </p:spTree>
    <p:extLst>
      <p:ext uri="{BB962C8B-B14F-4D97-AF65-F5344CB8AC3E}">
        <p14:creationId xmlns:p14="http://schemas.microsoft.com/office/powerpoint/2010/main" val="243083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1052736"/>
            <a:ext cx="83164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Draw this right-angled triangle in you’re the middle of the LHS of your book. Measure out the shorter sides carefully. </a:t>
            </a:r>
          </a:p>
          <a:p>
            <a:r>
              <a:rPr lang="en-GB" sz="2400" dirty="0"/>
              <a:t>Measure the length of the longest side </a:t>
            </a:r>
            <a:r>
              <a:rPr lang="en-GB" sz="2400" u="sng" dirty="0"/>
              <a:t>using a ruler</a:t>
            </a:r>
            <a:r>
              <a:rPr lang="en-GB" sz="2400"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9912" y="5133075"/>
            <a:ext cx="1080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4cm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4208" y="3717032"/>
            <a:ext cx="1080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3cm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46C2F1E-9A1F-4716-8E03-5A6A81BDD34A}"/>
              </a:ext>
            </a:extLst>
          </p:cNvPr>
          <p:cNvGrpSpPr/>
          <p:nvPr/>
        </p:nvGrpSpPr>
        <p:grpSpPr>
          <a:xfrm>
            <a:off x="1907704" y="2492896"/>
            <a:ext cx="4536504" cy="2664296"/>
            <a:chOff x="1907704" y="2492896"/>
            <a:chExt cx="4536504" cy="2664296"/>
          </a:xfrm>
        </p:grpSpPr>
        <p:sp>
          <p:nvSpPr>
            <p:cNvPr id="3" name="Right Triangle 2"/>
            <p:cNvSpPr/>
            <p:nvPr/>
          </p:nvSpPr>
          <p:spPr>
            <a:xfrm flipH="1">
              <a:off x="1907704" y="2492896"/>
              <a:ext cx="4536504" cy="2664296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6156176" y="4869160"/>
              <a:ext cx="288032" cy="2880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8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b="1" dirty="0"/>
                <a:t>Activity</a:t>
              </a:r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54956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75F7458-8F6A-4031-AFAA-CF987C96E93C}"/>
              </a:ext>
            </a:extLst>
          </p:cNvPr>
          <p:cNvSpPr txBox="1"/>
          <p:nvPr/>
        </p:nvSpPr>
        <p:spPr>
          <a:xfrm>
            <a:off x="30488" y="332656"/>
            <a:ext cx="1555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 Jigsaw to Try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406C34-DF76-4EB9-A6FE-04B80D79055F}"/>
              </a:ext>
            </a:extLst>
          </p:cNvPr>
          <p:cNvSpPr txBox="1"/>
          <p:nvPr/>
        </p:nvSpPr>
        <p:spPr>
          <a:xfrm>
            <a:off x="4788024" y="332656"/>
            <a:ext cx="1555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 Jigsaw to Try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95DE5E77-C974-4BC9-A25F-D4A3484791A1}"/>
              </a:ext>
            </a:extLst>
          </p:cNvPr>
          <p:cNvGrpSpPr/>
          <p:nvPr/>
        </p:nvGrpSpPr>
        <p:grpSpPr>
          <a:xfrm>
            <a:off x="5193010" y="1234022"/>
            <a:ext cx="3050245" cy="3535346"/>
            <a:chOff x="4975074" y="2610789"/>
            <a:chExt cx="3050245" cy="353534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B33F245-E9A6-455E-AD9F-3EF844E1B57A}"/>
                </a:ext>
              </a:extLst>
            </p:cNvPr>
            <p:cNvGrpSpPr/>
            <p:nvPr/>
          </p:nvGrpSpPr>
          <p:grpSpPr>
            <a:xfrm rot="19383505">
              <a:off x="6945239" y="3044080"/>
              <a:ext cx="1080080" cy="1082169"/>
              <a:chOff x="4139952" y="3216424"/>
              <a:chExt cx="1080080" cy="1082169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BC565A7-D889-4862-BF63-C14B515C2B97}"/>
                  </a:ext>
                </a:extLst>
              </p:cNvPr>
              <p:cNvSpPr/>
              <p:nvPr/>
            </p:nvSpPr>
            <p:spPr>
              <a:xfrm>
                <a:off x="4859952" y="3938593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50721D3-60AB-4122-990E-E9E4A88C9D36}"/>
                  </a:ext>
                </a:extLst>
              </p:cNvPr>
              <p:cNvSpPr/>
              <p:nvPr/>
            </p:nvSpPr>
            <p:spPr>
              <a:xfrm>
                <a:off x="4499952" y="3938593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F91DC3E-3095-41C7-8749-B5E8A326678B}"/>
                  </a:ext>
                </a:extLst>
              </p:cNvPr>
              <p:cNvSpPr/>
              <p:nvPr/>
            </p:nvSpPr>
            <p:spPr>
              <a:xfrm>
                <a:off x="4147209" y="3938593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D8E6DB1-9B1B-4A8B-9870-1AA2F7F3A237}"/>
                  </a:ext>
                </a:extLst>
              </p:cNvPr>
              <p:cNvSpPr/>
              <p:nvPr/>
            </p:nvSpPr>
            <p:spPr>
              <a:xfrm>
                <a:off x="4860032" y="357642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2625721-547C-402D-A2A8-BE84ED1E7937}"/>
                  </a:ext>
                </a:extLst>
              </p:cNvPr>
              <p:cNvSpPr/>
              <p:nvPr/>
            </p:nvSpPr>
            <p:spPr>
              <a:xfrm>
                <a:off x="4502327" y="357642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F96DC76-D3AD-49D7-90BC-E6D38B16D923}"/>
                  </a:ext>
                </a:extLst>
              </p:cNvPr>
              <p:cNvSpPr/>
              <p:nvPr/>
            </p:nvSpPr>
            <p:spPr>
              <a:xfrm>
                <a:off x="4139952" y="357642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1317D4A-3343-4DC3-8F88-0FA3190730A8}"/>
                  </a:ext>
                </a:extLst>
              </p:cNvPr>
              <p:cNvSpPr/>
              <p:nvPr/>
            </p:nvSpPr>
            <p:spPr>
              <a:xfrm>
                <a:off x="4860032" y="321642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1C91DB1-6E22-427A-A4CB-37E46A1D530E}"/>
                  </a:ext>
                </a:extLst>
              </p:cNvPr>
              <p:cNvSpPr/>
              <p:nvPr/>
            </p:nvSpPr>
            <p:spPr>
              <a:xfrm>
                <a:off x="4502327" y="321642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4EDDD95-3D50-4000-9B10-4FB285BF0695}"/>
                  </a:ext>
                </a:extLst>
              </p:cNvPr>
              <p:cNvSpPr/>
              <p:nvPr/>
            </p:nvSpPr>
            <p:spPr>
              <a:xfrm>
                <a:off x="4139952" y="321642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6707D154-AE19-4CDC-AADE-AE945BA8CC25}"/>
                </a:ext>
              </a:extLst>
            </p:cNvPr>
            <p:cNvGrpSpPr/>
            <p:nvPr/>
          </p:nvGrpSpPr>
          <p:grpSpPr>
            <a:xfrm rot="3213862">
              <a:off x="4977008" y="2608855"/>
              <a:ext cx="1440120" cy="1443988"/>
              <a:chOff x="5004048" y="4005064"/>
              <a:chExt cx="1440120" cy="1443988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BE0C213-50CF-4A20-B703-E36C364AA38D}"/>
                  </a:ext>
                </a:extLst>
              </p:cNvPr>
              <p:cNvSpPr/>
              <p:nvPr/>
            </p:nvSpPr>
            <p:spPr>
              <a:xfrm>
                <a:off x="5004048" y="5089052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9D9D568F-532D-4993-B55B-89D6748F9E61}"/>
                  </a:ext>
                </a:extLst>
              </p:cNvPr>
              <p:cNvSpPr/>
              <p:nvPr/>
            </p:nvSpPr>
            <p:spPr>
              <a:xfrm>
                <a:off x="5004048" y="4729052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04069A8-CBEF-468B-95F5-B17451FBB2D2}"/>
                  </a:ext>
                </a:extLst>
              </p:cNvPr>
              <p:cNvSpPr/>
              <p:nvPr/>
            </p:nvSpPr>
            <p:spPr>
              <a:xfrm>
                <a:off x="5004048" y="4369052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2F4D1EDB-0321-481F-95D0-5E4AFFF23481}"/>
                  </a:ext>
                </a:extLst>
              </p:cNvPr>
              <p:cNvSpPr/>
              <p:nvPr/>
            </p:nvSpPr>
            <p:spPr>
              <a:xfrm>
                <a:off x="5004048" y="4009052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DF3850C-DE4B-440E-879F-F2234F967FDF}"/>
                  </a:ext>
                </a:extLst>
              </p:cNvPr>
              <p:cNvSpPr/>
              <p:nvPr/>
            </p:nvSpPr>
            <p:spPr>
              <a:xfrm>
                <a:off x="5364088" y="508506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A38A5076-B93C-473A-B936-9D0961C596BA}"/>
                  </a:ext>
                </a:extLst>
              </p:cNvPr>
              <p:cNvSpPr/>
              <p:nvPr/>
            </p:nvSpPr>
            <p:spPr>
              <a:xfrm>
                <a:off x="5364088" y="472506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24622CC-0EC7-405E-9C7A-406960A3AAF5}"/>
                  </a:ext>
                </a:extLst>
              </p:cNvPr>
              <p:cNvSpPr/>
              <p:nvPr/>
            </p:nvSpPr>
            <p:spPr>
              <a:xfrm>
                <a:off x="5364088" y="436506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3B215E47-3EDA-439B-9D8F-C0A6501A44B9}"/>
                  </a:ext>
                </a:extLst>
              </p:cNvPr>
              <p:cNvSpPr/>
              <p:nvPr/>
            </p:nvSpPr>
            <p:spPr>
              <a:xfrm>
                <a:off x="5364088" y="400506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7A19E951-25A3-47BA-9C23-9648A37A9187}"/>
                  </a:ext>
                </a:extLst>
              </p:cNvPr>
              <p:cNvSpPr/>
              <p:nvPr/>
            </p:nvSpPr>
            <p:spPr>
              <a:xfrm>
                <a:off x="5724128" y="508522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BF9FEC6F-F632-4F73-AE68-EEC37831FD30}"/>
                  </a:ext>
                </a:extLst>
              </p:cNvPr>
              <p:cNvSpPr/>
              <p:nvPr/>
            </p:nvSpPr>
            <p:spPr>
              <a:xfrm>
                <a:off x="5724128" y="472522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B103E09-30AE-4B3E-98B7-20C982A3430C}"/>
                  </a:ext>
                </a:extLst>
              </p:cNvPr>
              <p:cNvSpPr/>
              <p:nvPr/>
            </p:nvSpPr>
            <p:spPr>
              <a:xfrm>
                <a:off x="5724128" y="436522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72AFB74D-ED8F-4EE8-A7AF-F4965235D3A2}"/>
                  </a:ext>
                </a:extLst>
              </p:cNvPr>
              <p:cNvSpPr/>
              <p:nvPr/>
            </p:nvSpPr>
            <p:spPr>
              <a:xfrm>
                <a:off x="5724128" y="400522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F907771-AA05-4D54-8A2F-08955C5BCDA0}"/>
                  </a:ext>
                </a:extLst>
              </p:cNvPr>
              <p:cNvSpPr/>
              <p:nvPr/>
            </p:nvSpPr>
            <p:spPr>
              <a:xfrm>
                <a:off x="6084168" y="508506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D6CEE81-067D-4152-94D9-71AF6A7BF809}"/>
                  </a:ext>
                </a:extLst>
              </p:cNvPr>
              <p:cNvSpPr/>
              <p:nvPr/>
            </p:nvSpPr>
            <p:spPr>
              <a:xfrm>
                <a:off x="6084168" y="472506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3772B5B9-3CFD-47E2-8162-4639DE553B22}"/>
                  </a:ext>
                </a:extLst>
              </p:cNvPr>
              <p:cNvSpPr/>
              <p:nvPr/>
            </p:nvSpPr>
            <p:spPr>
              <a:xfrm>
                <a:off x="6084168" y="436506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3E74AB6E-3C38-4695-A782-9DC5AD222400}"/>
                  </a:ext>
                </a:extLst>
              </p:cNvPr>
              <p:cNvSpPr/>
              <p:nvPr/>
            </p:nvSpPr>
            <p:spPr>
              <a:xfrm>
                <a:off x="6084168" y="400506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B87BFF4F-7432-4C72-A2C2-6419BF585713}"/>
                </a:ext>
              </a:extLst>
            </p:cNvPr>
            <p:cNvGrpSpPr/>
            <p:nvPr/>
          </p:nvGrpSpPr>
          <p:grpSpPr>
            <a:xfrm>
              <a:off x="5565287" y="4345935"/>
              <a:ext cx="1800200" cy="1800200"/>
              <a:chOff x="5580112" y="4293096"/>
              <a:chExt cx="1800200" cy="1800200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AFDE87BB-C79A-4149-BFFF-21855A7F7F27}"/>
                  </a:ext>
                </a:extLst>
              </p:cNvPr>
              <p:cNvSpPr/>
              <p:nvPr/>
            </p:nvSpPr>
            <p:spPr>
              <a:xfrm>
                <a:off x="5580152" y="537708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45BF1FE-A6C3-46EB-9C1B-58E817C16475}"/>
                  </a:ext>
                </a:extLst>
              </p:cNvPr>
              <p:cNvSpPr/>
              <p:nvPr/>
            </p:nvSpPr>
            <p:spPr>
              <a:xfrm>
                <a:off x="5580152" y="501708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C1B1128E-2C6E-495C-88DB-A526A0E4E86F}"/>
                  </a:ext>
                </a:extLst>
              </p:cNvPr>
              <p:cNvSpPr/>
              <p:nvPr/>
            </p:nvSpPr>
            <p:spPr>
              <a:xfrm>
                <a:off x="5580152" y="465708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B5003057-A672-4EE2-BD00-911CF32E895C}"/>
                  </a:ext>
                </a:extLst>
              </p:cNvPr>
              <p:cNvSpPr/>
              <p:nvPr/>
            </p:nvSpPr>
            <p:spPr>
              <a:xfrm>
                <a:off x="5580152" y="429708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8BB9D8F7-5B16-40DF-B45E-107D41D1800A}"/>
                  </a:ext>
                </a:extLst>
              </p:cNvPr>
              <p:cNvSpPr/>
              <p:nvPr/>
            </p:nvSpPr>
            <p:spPr>
              <a:xfrm>
                <a:off x="5940192" y="537309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D54D102B-235E-4118-88B6-4FED58B0F3C2}"/>
                  </a:ext>
                </a:extLst>
              </p:cNvPr>
              <p:cNvSpPr/>
              <p:nvPr/>
            </p:nvSpPr>
            <p:spPr>
              <a:xfrm>
                <a:off x="5940192" y="501309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2DA10973-CEEB-41AA-A364-71A481E7E48C}"/>
                  </a:ext>
                </a:extLst>
              </p:cNvPr>
              <p:cNvSpPr/>
              <p:nvPr/>
            </p:nvSpPr>
            <p:spPr>
              <a:xfrm>
                <a:off x="5940192" y="465309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741BAF7B-4F53-49B4-93D8-F09FDC8DF196}"/>
                  </a:ext>
                </a:extLst>
              </p:cNvPr>
              <p:cNvSpPr/>
              <p:nvPr/>
            </p:nvSpPr>
            <p:spPr>
              <a:xfrm>
                <a:off x="5940192" y="429309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208FD1CF-ED2A-40E4-907C-B8D671969AB5}"/>
                  </a:ext>
                </a:extLst>
              </p:cNvPr>
              <p:cNvSpPr/>
              <p:nvPr/>
            </p:nvSpPr>
            <p:spPr>
              <a:xfrm>
                <a:off x="6300232" y="537325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D2F702E-6E87-48EB-9268-4A3E0682C62E}"/>
                  </a:ext>
                </a:extLst>
              </p:cNvPr>
              <p:cNvSpPr/>
              <p:nvPr/>
            </p:nvSpPr>
            <p:spPr>
              <a:xfrm>
                <a:off x="6300232" y="501325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BDA1BDB5-F209-41F8-B3A7-13EB3ADA32D4}"/>
                  </a:ext>
                </a:extLst>
              </p:cNvPr>
              <p:cNvSpPr/>
              <p:nvPr/>
            </p:nvSpPr>
            <p:spPr>
              <a:xfrm>
                <a:off x="6300232" y="465325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9DB2A9CC-A29D-4445-995D-F13F5552D674}"/>
                  </a:ext>
                </a:extLst>
              </p:cNvPr>
              <p:cNvSpPr/>
              <p:nvPr/>
            </p:nvSpPr>
            <p:spPr>
              <a:xfrm>
                <a:off x="6300232" y="429325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228B2A38-40F1-4BAE-8A75-4798ABBBF2F4}"/>
                  </a:ext>
                </a:extLst>
              </p:cNvPr>
              <p:cNvSpPr/>
              <p:nvPr/>
            </p:nvSpPr>
            <p:spPr>
              <a:xfrm>
                <a:off x="6660272" y="537309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62069613-3B94-4629-BC6B-3C25693E3193}"/>
                  </a:ext>
                </a:extLst>
              </p:cNvPr>
              <p:cNvSpPr/>
              <p:nvPr/>
            </p:nvSpPr>
            <p:spPr>
              <a:xfrm>
                <a:off x="6660272" y="501309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A03CF1A4-A7C4-4F1C-8CC8-38A5F73038F0}"/>
                  </a:ext>
                </a:extLst>
              </p:cNvPr>
              <p:cNvSpPr/>
              <p:nvPr/>
            </p:nvSpPr>
            <p:spPr>
              <a:xfrm>
                <a:off x="6660272" y="465309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25111EBC-A195-48F1-BF2D-832519F52D61}"/>
                  </a:ext>
                </a:extLst>
              </p:cNvPr>
              <p:cNvSpPr/>
              <p:nvPr/>
            </p:nvSpPr>
            <p:spPr>
              <a:xfrm>
                <a:off x="6660272" y="429309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33D308A4-BFEB-4F1B-8956-437AC5C9D1D5}"/>
                  </a:ext>
                </a:extLst>
              </p:cNvPr>
              <p:cNvSpPr/>
              <p:nvPr/>
            </p:nvSpPr>
            <p:spPr>
              <a:xfrm>
                <a:off x="7020312" y="537325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E8DE0C1E-21D8-428D-9996-70F019F1D67A}"/>
                  </a:ext>
                </a:extLst>
              </p:cNvPr>
              <p:cNvSpPr/>
              <p:nvPr/>
            </p:nvSpPr>
            <p:spPr>
              <a:xfrm>
                <a:off x="7020312" y="501325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C6A3D264-DAAC-4DE8-BF0E-FBED4F2CC967}"/>
                  </a:ext>
                </a:extLst>
              </p:cNvPr>
              <p:cNvSpPr/>
              <p:nvPr/>
            </p:nvSpPr>
            <p:spPr>
              <a:xfrm>
                <a:off x="7020312" y="465325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138AB3DD-B574-4F6F-AF88-C1950AB390CF}"/>
                  </a:ext>
                </a:extLst>
              </p:cNvPr>
              <p:cNvSpPr/>
              <p:nvPr/>
            </p:nvSpPr>
            <p:spPr>
              <a:xfrm>
                <a:off x="7020312" y="429325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65CDB363-E946-4E45-9EAE-5B08CF2195BF}"/>
                  </a:ext>
                </a:extLst>
              </p:cNvPr>
              <p:cNvSpPr/>
              <p:nvPr/>
            </p:nvSpPr>
            <p:spPr>
              <a:xfrm>
                <a:off x="5580112" y="573329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A7008138-F324-45D4-AE78-BC954A57E74B}"/>
                  </a:ext>
                </a:extLst>
              </p:cNvPr>
              <p:cNvSpPr/>
              <p:nvPr/>
            </p:nvSpPr>
            <p:spPr>
              <a:xfrm>
                <a:off x="5940152" y="5729308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205BC19E-F767-46A5-AD63-1A69C4618DCF}"/>
                  </a:ext>
                </a:extLst>
              </p:cNvPr>
              <p:cNvSpPr/>
              <p:nvPr/>
            </p:nvSpPr>
            <p:spPr>
              <a:xfrm>
                <a:off x="6300192" y="5729468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B0BC9597-5BF0-4F35-ABD4-0FE2E4CE528C}"/>
                  </a:ext>
                </a:extLst>
              </p:cNvPr>
              <p:cNvSpPr/>
              <p:nvPr/>
            </p:nvSpPr>
            <p:spPr>
              <a:xfrm>
                <a:off x="6660232" y="5729308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40F9A365-46E0-46BD-86DB-5B6F3070D92B}"/>
                  </a:ext>
                </a:extLst>
              </p:cNvPr>
              <p:cNvSpPr/>
              <p:nvPr/>
            </p:nvSpPr>
            <p:spPr>
              <a:xfrm>
                <a:off x="7020272" y="5729468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sp>
          <p:nvSpPr>
            <p:cNvPr id="69" name="Right Triangle 68">
              <a:extLst>
                <a:ext uri="{FF2B5EF4-FFF2-40B4-BE49-F238E27FC236}">
                  <a16:creationId xmlns:a16="http://schemas.microsoft.com/office/drawing/2014/main" id="{64FE8277-258A-4CC0-87BB-959A1971076E}"/>
                </a:ext>
              </a:extLst>
            </p:cNvPr>
            <p:cNvSpPr/>
            <p:nvPr/>
          </p:nvSpPr>
          <p:spPr>
            <a:xfrm rot="13988152" flipH="1">
              <a:off x="5925447" y="3622787"/>
              <a:ext cx="1080000" cy="1440000"/>
            </a:xfrm>
            <a:prstGeom prst="rt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7C67A38-11AD-4264-A418-0C1B16970570}"/>
              </a:ext>
            </a:extLst>
          </p:cNvPr>
          <p:cNvGrpSpPr/>
          <p:nvPr/>
        </p:nvGrpSpPr>
        <p:grpSpPr>
          <a:xfrm>
            <a:off x="385703" y="1187806"/>
            <a:ext cx="3050245" cy="3535346"/>
            <a:chOff x="4975074" y="2610789"/>
            <a:chExt cx="3050245" cy="3535346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06DEA7E8-41C1-4679-BADB-EA4F2B2E8A0E}"/>
                </a:ext>
              </a:extLst>
            </p:cNvPr>
            <p:cNvGrpSpPr/>
            <p:nvPr/>
          </p:nvGrpSpPr>
          <p:grpSpPr>
            <a:xfrm rot="19383505">
              <a:off x="6945239" y="3044080"/>
              <a:ext cx="1080080" cy="1082169"/>
              <a:chOff x="4139952" y="3216424"/>
              <a:chExt cx="1080080" cy="1082169"/>
            </a:xfrm>
          </p:grpSpPr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A26D9370-EB4B-47B3-BA33-5582B90FE8CE}"/>
                  </a:ext>
                </a:extLst>
              </p:cNvPr>
              <p:cNvSpPr/>
              <p:nvPr/>
            </p:nvSpPr>
            <p:spPr>
              <a:xfrm>
                <a:off x="4859952" y="3938593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B42472DD-9279-4C60-98B8-580391232FBF}"/>
                  </a:ext>
                </a:extLst>
              </p:cNvPr>
              <p:cNvSpPr/>
              <p:nvPr/>
            </p:nvSpPr>
            <p:spPr>
              <a:xfrm>
                <a:off x="4499952" y="3938593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B6859FE4-84CC-4CF6-B0D1-41B59FA370BC}"/>
                  </a:ext>
                </a:extLst>
              </p:cNvPr>
              <p:cNvSpPr/>
              <p:nvPr/>
            </p:nvSpPr>
            <p:spPr>
              <a:xfrm>
                <a:off x="4147209" y="3938593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9F4C59CF-CB97-4542-87A5-A0CA576336A6}"/>
                  </a:ext>
                </a:extLst>
              </p:cNvPr>
              <p:cNvSpPr/>
              <p:nvPr/>
            </p:nvSpPr>
            <p:spPr>
              <a:xfrm>
                <a:off x="4860032" y="357642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B84331EA-4BE6-4BB2-AEFF-1F7297C94419}"/>
                  </a:ext>
                </a:extLst>
              </p:cNvPr>
              <p:cNvSpPr/>
              <p:nvPr/>
            </p:nvSpPr>
            <p:spPr>
              <a:xfrm>
                <a:off x="4502327" y="357642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A8A61E38-DDBE-49C7-9111-67035EE350EF}"/>
                  </a:ext>
                </a:extLst>
              </p:cNvPr>
              <p:cNvSpPr/>
              <p:nvPr/>
            </p:nvSpPr>
            <p:spPr>
              <a:xfrm>
                <a:off x="4139952" y="357642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2B34EA30-FE8F-4EEE-9E67-1459C94B18C2}"/>
                  </a:ext>
                </a:extLst>
              </p:cNvPr>
              <p:cNvSpPr/>
              <p:nvPr/>
            </p:nvSpPr>
            <p:spPr>
              <a:xfrm>
                <a:off x="4860032" y="321642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26E51E3B-EF47-4019-BED2-B0CEB8593045}"/>
                  </a:ext>
                </a:extLst>
              </p:cNvPr>
              <p:cNvSpPr/>
              <p:nvPr/>
            </p:nvSpPr>
            <p:spPr>
              <a:xfrm>
                <a:off x="4502327" y="321642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F6C0F151-E133-4736-83DC-CD928741AEC8}"/>
                  </a:ext>
                </a:extLst>
              </p:cNvPr>
              <p:cNvSpPr/>
              <p:nvPr/>
            </p:nvSpPr>
            <p:spPr>
              <a:xfrm>
                <a:off x="4139952" y="321642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A06EA1C8-2589-41CC-8879-5DD4C4B24C3A}"/>
                </a:ext>
              </a:extLst>
            </p:cNvPr>
            <p:cNvGrpSpPr/>
            <p:nvPr/>
          </p:nvGrpSpPr>
          <p:grpSpPr>
            <a:xfrm rot="3213862">
              <a:off x="4977008" y="2608855"/>
              <a:ext cx="1440120" cy="1443988"/>
              <a:chOff x="5004048" y="4005064"/>
              <a:chExt cx="1440120" cy="1443988"/>
            </a:xfrm>
          </p:grpSpPr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95445DA2-E1B3-45AC-8A95-F9340C15FDB7}"/>
                  </a:ext>
                </a:extLst>
              </p:cNvPr>
              <p:cNvSpPr/>
              <p:nvPr/>
            </p:nvSpPr>
            <p:spPr>
              <a:xfrm>
                <a:off x="5004048" y="5089052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D3E7D420-7CB5-4BDD-9A9F-544123901CBC}"/>
                  </a:ext>
                </a:extLst>
              </p:cNvPr>
              <p:cNvSpPr/>
              <p:nvPr/>
            </p:nvSpPr>
            <p:spPr>
              <a:xfrm>
                <a:off x="5004048" y="4729052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249D5502-0B65-4879-9A06-ADBDA3509082}"/>
                  </a:ext>
                </a:extLst>
              </p:cNvPr>
              <p:cNvSpPr/>
              <p:nvPr/>
            </p:nvSpPr>
            <p:spPr>
              <a:xfrm>
                <a:off x="5004048" y="4369052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06BC662A-9F1C-499F-BE48-4487AC140D24}"/>
                  </a:ext>
                </a:extLst>
              </p:cNvPr>
              <p:cNvSpPr/>
              <p:nvPr/>
            </p:nvSpPr>
            <p:spPr>
              <a:xfrm>
                <a:off x="5004048" y="4009052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50A07844-9277-41A9-90A6-85859FC519E6}"/>
                  </a:ext>
                </a:extLst>
              </p:cNvPr>
              <p:cNvSpPr/>
              <p:nvPr/>
            </p:nvSpPr>
            <p:spPr>
              <a:xfrm>
                <a:off x="5364088" y="508506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04C0D982-ED34-4018-B38C-5729955DA465}"/>
                  </a:ext>
                </a:extLst>
              </p:cNvPr>
              <p:cNvSpPr/>
              <p:nvPr/>
            </p:nvSpPr>
            <p:spPr>
              <a:xfrm>
                <a:off x="5364088" y="472506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DCFDA9E1-72FC-4C1D-A3B3-72E437C8AB7A}"/>
                  </a:ext>
                </a:extLst>
              </p:cNvPr>
              <p:cNvSpPr/>
              <p:nvPr/>
            </p:nvSpPr>
            <p:spPr>
              <a:xfrm>
                <a:off x="5364088" y="436506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E8DB523F-1533-40E0-810A-8430EAA5992D}"/>
                  </a:ext>
                </a:extLst>
              </p:cNvPr>
              <p:cNvSpPr/>
              <p:nvPr/>
            </p:nvSpPr>
            <p:spPr>
              <a:xfrm>
                <a:off x="5364088" y="400506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6FECA059-9A3F-4A2B-BB11-52B8F5621EB3}"/>
                  </a:ext>
                </a:extLst>
              </p:cNvPr>
              <p:cNvSpPr/>
              <p:nvPr/>
            </p:nvSpPr>
            <p:spPr>
              <a:xfrm>
                <a:off x="5724128" y="508522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B1F4EAE8-FEAF-44A6-A158-2A58AB9D0D0A}"/>
                  </a:ext>
                </a:extLst>
              </p:cNvPr>
              <p:cNvSpPr/>
              <p:nvPr/>
            </p:nvSpPr>
            <p:spPr>
              <a:xfrm>
                <a:off x="5724128" y="472522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7934BD63-C1B4-4485-956E-3733D74DEEB7}"/>
                  </a:ext>
                </a:extLst>
              </p:cNvPr>
              <p:cNvSpPr/>
              <p:nvPr/>
            </p:nvSpPr>
            <p:spPr>
              <a:xfrm>
                <a:off x="5724128" y="436522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AEA92608-D5FE-41F0-B115-B4979931AE21}"/>
                  </a:ext>
                </a:extLst>
              </p:cNvPr>
              <p:cNvSpPr/>
              <p:nvPr/>
            </p:nvSpPr>
            <p:spPr>
              <a:xfrm>
                <a:off x="5724128" y="400522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AB9AF421-64FE-4935-AF7B-0F79C8B530A0}"/>
                  </a:ext>
                </a:extLst>
              </p:cNvPr>
              <p:cNvSpPr/>
              <p:nvPr/>
            </p:nvSpPr>
            <p:spPr>
              <a:xfrm>
                <a:off x="6084168" y="508506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4D235A6-8EC1-4408-83AC-9ADD597C6905}"/>
                  </a:ext>
                </a:extLst>
              </p:cNvPr>
              <p:cNvSpPr/>
              <p:nvPr/>
            </p:nvSpPr>
            <p:spPr>
              <a:xfrm>
                <a:off x="6084168" y="472506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05BC368D-9FCD-49C6-9870-E5F5AE6A1208}"/>
                  </a:ext>
                </a:extLst>
              </p:cNvPr>
              <p:cNvSpPr/>
              <p:nvPr/>
            </p:nvSpPr>
            <p:spPr>
              <a:xfrm>
                <a:off x="6084168" y="436506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0D00D841-9650-43E1-A802-EC3AE4918F57}"/>
                  </a:ext>
                </a:extLst>
              </p:cNvPr>
              <p:cNvSpPr/>
              <p:nvPr/>
            </p:nvSpPr>
            <p:spPr>
              <a:xfrm>
                <a:off x="6084168" y="400506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CC42873D-A61E-43F5-967A-0D9D8CF7FCBB}"/>
                </a:ext>
              </a:extLst>
            </p:cNvPr>
            <p:cNvGrpSpPr/>
            <p:nvPr/>
          </p:nvGrpSpPr>
          <p:grpSpPr>
            <a:xfrm>
              <a:off x="5565287" y="4345935"/>
              <a:ext cx="1800200" cy="1800200"/>
              <a:chOff x="5580112" y="4293096"/>
              <a:chExt cx="1800200" cy="1800200"/>
            </a:xfrm>
          </p:grpSpPr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57E7436F-9A54-41BE-A71C-642E96D1E59C}"/>
                  </a:ext>
                </a:extLst>
              </p:cNvPr>
              <p:cNvSpPr/>
              <p:nvPr/>
            </p:nvSpPr>
            <p:spPr>
              <a:xfrm>
                <a:off x="5580152" y="537708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D91FD9A4-EC2E-418E-87B0-5658CAFF60FF}"/>
                  </a:ext>
                </a:extLst>
              </p:cNvPr>
              <p:cNvSpPr/>
              <p:nvPr/>
            </p:nvSpPr>
            <p:spPr>
              <a:xfrm>
                <a:off x="5580152" y="501708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6627DEB9-C3E5-4F28-8A47-A2486CCABB40}"/>
                  </a:ext>
                </a:extLst>
              </p:cNvPr>
              <p:cNvSpPr/>
              <p:nvPr/>
            </p:nvSpPr>
            <p:spPr>
              <a:xfrm>
                <a:off x="5580152" y="465708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62A1EB9F-21E5-4F1D-B943-820CCC01271F}"/>
                  </a:ext>
                </a:extLst>
              </p:cNvPr>
              <p:cNvSpPr/>
              <p:nvPr/>
            </p:nvSpPr>
            <p:spPr>
              <a:xfrm>
                <a:off x="5580152" y="429708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DD026219-649A-44FD-9620-61A93292B1E7}"/>
                  </a:ext>
                </a:extLst>
              </p:cNvPr>
              <p:cNvSpPr/>
              <p:nvPr/>
            </p:nvSpPr>
            <p:spPr>
              <a:xfrm>
                <a:off x="5940192" y="537309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6B962514-B525-4FEA-BB74-D7C4802AF604}"/>
                  </a:ext>
                </a:extLst>
              </p:cNvPr>
              <p:cNvSpPr/>
              <p:nvPr/>
            </p:nvSpPr>
            <p:spPr>
              <a:xfrm>
                <a:off x="5940192" y="501309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3F3D466F-B543-4C9E-8317-F0F4A64C7816}"/>
                  </a:ext>
                </a:extLst>
              </p:cNvPr>
              <p:cNvSpPr/>
              <p:nvPr/>
            </p:nvSpPr>
            <p:spPr>
              <a:xfrm>
                <a:off x="5940192" y="465309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6F785F6A-3B05-4FB9-A4E3-657D323BFBAE}"/>
                  </a:ext>
                </a:extLst>
              </p:cNvPr>
              <p:cNvSpPr/>
              <p:nvPr/>
            </p:nvSpPr>
            <p:spPr>
              <a:xfrm>
                <a:off x="5940192" y="429309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F07BAC8B-1C19-4502-8679-940F494F8F27}"/>
                  </a:ext>
                </a:extLst>
              </p:cNvPr>
              <p:cNvSpPr/>
              <p:nvPr/>
            </p:nvSpPr>
            <p:spPr>
              <a:xfrm>
                <a:off x="6300232" y="537325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BC77FC6C-24F7-4A7C-87FC-0A54596A245B}"/>
                  </a:ext>
                </a:extLst>
              </p:cNvPr>
              <p:cNvSpPr/>
              <p:nvPr/>
            </p:nvSpPr>
            <p:spPr>
              <a:xfrm>
                <a:off x="6300232" y="501325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040B4F3A-1EA3-41A3-9DDB-4AA1D75D5391}"/>
                  </a:ext>
                </a:extLst>
              </p:cNvPr>
              <p:cNvSpPr/>
              <p:nvPr/>
            </p:nvSpPr>
            <p:spPr>
              <a:xfrm>
                <a:off x="6300232" y="465325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48D9A61E-9316-4D1F-B78B-B9E4E1D49890}"/>
                  </a:ext>
                </a:extLst>
              </p:cNvPr>
              <p:cNvSpPr/>
              <p:nvPr/>
            </p:nvSpPr>
            <p:spPr>
              <a:xfrm>
                <a:off x="6300232" y="429325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7522B4DC-3498-4126-ADCA-DE39FB38A87C}"/>
                  </a:ext>
                </a:extLst>
              </p:cNvPr>
              <p:cNvSpPr/>
              <p:nvPr/>
            </p:nvSpPr>
            <p:spPr>
              <a:xfrm>
                <a:off x="6660272" y="537309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E95DAFC8-75BB-43EA-87D8-50AC40FC24C8}"/>
                  </a:ext>
                </a:extLst>
              </p:cNvPr>
              <p:cNvSpPr/>
              <p:nvPr/>
            </p:nvSpPr>
            <p:spPr>
              <a:xfrm>
                <a:off x="6660272" y="501309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7942FD64-A356-45F4-927D-F120625CA1E6}"/>
                  </a:ext>
                </a:extLst>
              </p:cNvPr>
              <p:cNvSpPr/>
              <p:nvPr/>
            </p:nvSpPr>
            <p:spPr>
              <a:xfrm>
                <a:off x="6660272" y="465309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86FD16FA-C123-43F1-A195-5D4D91F4FEF7}"/>
                  </a:ext>
                </a:extLst>
              </p:cNvPr>
              <p:cNvSpPr/>
              <p:nvPr/>
            </p:nvSpPr>
            <p:spPr>
              <a:xfrm>
                <a:off x="6660272" y="429309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002EEB51-FF70-4B4C-A0EC-E30221EB4888}"/>
                  </a:ext>
                </a:extLst>
              </p:cNvPr>
              <p:cNvSpPr/>
              <p:nvPr/>
            </p:nvSpPr>
            <p:spPr>
              <a:xfrm>
                <a:off x="7020312" y="537325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FCD3D5C2-25EE-4F45-A089-FED379DDBDB1}"/>
                  </a:ext>
                </a:extLst>
              </p:cNvPr>
              <p:cNvSpPr/>
              <p:nvPr/>
            </p:nvSpPr>
            <p:spPr>
              <a:xfrm>
                <a:off x="7020312" y="501325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C09AE7A5-0709-474C-8A22-118216DC16C4}"/>
                  </a:ext>
                </a:extLst>
              </p:cNvPr>
              <p:cNvSpPr/>
              <p:nvPr/>
            </p:nvSpPr>
            <p:spPr>
              <a:xfrm>
                <a:off x="7020312" y="465325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D48D6A70-BD52-4F57-8B74-C2CB666A00DA}"/>
                  </a:ext>
                </a:extLst>
              </p:cNvPr>
              <p:cNvSpPr/>
              <p:nvPr/>
            </p:nvSpPr>
            <p:spPr>
              <a:xfrm>
                <a:off x="7020312" y="429325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92FE4BA0-E643-44BB-A47E-07AD434C164F}"/>
                  </a:ext>
                </a:extLst>
              </p:cNvPr>
              <p:cNvSpPr/>
              <p:nvPr/>
            </p:nvSpPr>
            <p:spPr>
              <a:xfrm>
                <a:off x="5580112" y="573329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A384CAAB-CA9A-4DB6-A396-E2382B0AB200}"/>
                  </a:ext>
                </a:extLst>
              </p:cNvPr>
              <p:cNvSpPr/>
              <p:nvPr/>
            </p:nvSpPr>
            <p:spPr>
              <a:xfrm>
                <a:off x="5940152" y="5729308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390969DB-76D0-4366-AE86-955042B321AA}"/>
                  </a:ext>
                </a:extLst>
              </p:cNvPr>
              <p:cNvSpPr/>
              <p:nvPr/>
            </p:nvSpPr>
            <p:spPr>
              <a:xfrm>
                <a:off x="6300192" y="5729468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DF65AC4C-816D-406F-A312-0BDEA33BEF9B}"/>
                  </a:ext>
                </a:extLst>
              </p:cNvPr>
              <p:cNvSpPr/>
              <p:nvPr/>
            </p:nvSpPr>
            <p:spPr>
              <a:xfrm>
                <a:off x="6660232" y="5729308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99A1CAA2-739B-4E4F-8CBC-5747AB443B04}"/>
                  </a:ext>
                </a:extLst>
              </p:cNvPr>
              <p:cNvSpPr/>
              <p:nvPr/>
            </p:nvSpPr>
            <p:spPr>
              <a:xfrm>
                <a:off x="7020272" y="5729468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sp>
          <p:nvSpPr>
            <p:cNvPr id="75" name="Right Triangle 74">
              <a:extLst>
                <a:ext uri="{FF2B5EF4-FFF2-40B4-BE49-F238E27FC236}">
                  <a16:creationId xmlns:a16="http://schemas.microsoft.com/office/drawing/2014/main" id="{48806A4C-BF00-409A-BF66-91E997DEE7B8}"/>
                </a:ext>
              </a:extLst>
            </p:cNvPr>
            <p:cNvSpPr/>
            <p:nvPr/>
          </p:nvSpPr>
          <p:spPr>
            <a:xfrm rot="13988152" flipH="1">
              <a:off x="5925447" y="3622787"/>
              <a:ext cx="1080000" cy="1440000"/>
            </a:xfrm>
            <a:prstGeom prst="rt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F36C2806-F992-4029-89F0-C0EFB1A334CC}"/>
              </a:ext>
            </a:extLst>
          </p:cNvPr>
          <p:cNvSpPr txBox="1"/>
          <p:nvPr/>
        </p:nvSpPr>
        <p:spPr>
          <a:xfrm>
            <a:off x="5194183" y="5299203"/>
            <a:ext cx="3364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Count the squares near each side.</a:t>
            </a:r>
          </a:p>
          <a:p>
            <a:r>
              <a:rPr lang="en-AU" dirty="0"/>
              <a:t>What patterns do you see?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F46EED23-8581-4092-A944-B3BC548D238E}"/>
              </a:ext>
            </a:extLst>
          </p:cNvPr>
          <p:cNvSpPr txBox="1"/>
          <p:nvPr/>
        </p:nvSpPr>
        <p:spPr>
          <a:xfrm>
            <a:off x="342826" y="5233321"/>
            <a:ext cx="3364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Count the squares near each side.</a:t>
            </a:r>
          </a:p>
          <a:p>
            <a:r>
              <a:rPr lang="en-AU" dirty="0"/>
              <a:t>What patterns do you see?</a:t>
            </a:r>
          </a:p>
        </p:txBody>
      </p:sp>
    </p:spTree>
    <p:extLst>
      <p:ext uri="{BB962C8B-B14F-4D97-AF65-F5344CB8AC3E}">
        <p14:creationId xmlns:p14="http://schemas.microsoft.com/office/powerpoint/2010/main" val="3929828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791893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163069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619672" y="1172036"/>
            <a:ext cx="0" cy="535330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44616" y="290413"/>
            <a:ext cx="37572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>
                <a:latin typeface="Kiwi School Handwriting" panose="00000500000000000000" pitchFamily="2" charset="0"/>
              </a:rPr>
              <a:t>Topic: </a:t>
            </a:r>
            <a:r>
              <a:rPr lang="en-AU" sz="2400" dirty="0"/>
              <a:t>Right-Angled Triangles</a:t>
            </a:r>
            <a:endParaRPr lang="en-AU" sz="24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45540" y="353230"/>
            <a:ext cx="1620180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238654"/>
            <a:ext cx="1640155" cy="922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US" sz="1799" dirty="0">
                <a:latin typeface="Kiwi School Handwriting" panose="00000500000000000000" pitchFamily="2" charset="0"/>
              </a:rPr>
              <a:t>What is a right-angled triangle?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1172036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1786739" y="1291202"/>
            <a:ext cx="717774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A right-angled triangle is a triangle with one angle that is 90</a:t>
            </a:r>
            <a:r>
              <a:rPr lang="en-AU" sz="2000" baseline="30000" dirty="0"/>
              <a:t>o</a:t>
            </a:r>
            <a:r>
              <a:rPr lang="en-AU" sz="2000" dirty="0"/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92C6CB-AAF3-460E-BE9A-223A328C7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1" y="1772816"/>
            <a:ext cx="2376253" cy="14009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075E63-DA94-453C-B129-912863142F25}"/>
              </a:ext>
            </a:extLst>
          </p:cNvPr>
          <p:cNvSpPr txBox="1"/>
          <p:nvPr/>
        </p:nvSpPr>
        <p:spPr>
          <a:xfrm>
            <a:off x="1786739" y="3530324"/>
            <a:ext cx="7177749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The long side is called the hypotenuse.</a:t>
            </a:r>
          </a:p>
          <a:p>
            <a:r>
              <a:rPr lang="en-AU" sz="2000" dirty="0"/>
              <a:t>We can label this side as ‘c’</a:t>
            </a:r>
          </a:p>
          <a:p>
            <a:r>
              <a:rPr lang="en-AU" sz="2000" dirty="0"/>
              <a:t>and the other sides as ‘a’ and ‘b’.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C8A203-FAA4-4A81-8C4D-C46FB8FEADCC}"/>
              </a:ext>
            </a:extLst>
          </p:cNvPr>
          <p:cNvSpPr txBox="1"/>
          <p:nvPr/>
        </p:nvSpPr>
        <p:spPr>
          <a:xfrm>
            <a:off x="-1" y="4725287"/>
            <a:ext cx="1640155" cy="922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US" sz="1799" dirty="0">
                <a:latin typeface="Kiwi School Handwriting" panose="00000500000000000000" pitchFamily="2" charset="0"/>
              </a:rPr>
              <a:t>What is the rule for the sides?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8299DF-99F8-4115-9766-1C07BF2A5419}"/>
              </a:ext>
            </a:extLst>
          </p:cNvPr>
          <p:cNvSpPr txBox="1"/>
          <p:nvPr/>
        </p:nvSpPr>
        <p:spPr>
          <a:xfrm>
            <a:off x="1761822" y="4781752"/>
            <a:ext cx="266802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a</a:t>
            </a:r>
            <a:r>
              <a:rPr lang="en-AU" sz="2000" baseline="30000" dirty="0"/>
              <a:t>2</a:t>
            </a:r>
            <a:r>
              <a:rPr lang="en-AU" sz="2000" dirty="0"/>
              <a:t> + b</a:t>
            </a:r>
            <a:r>
              <a:rPr lang="en-AU" sz="2000" baseline="30000" dirty="0"/>
              <a:t>2</a:t>
            </a:r>
            <a:r>
              <a:rPr lang="en-AU" sz="2000" dirty="0"/>
              <a:t> = c</a:t>
            </a:r>
            <a:r>
              <a:rPr lang="en-AU" sz="2000" baseline="30000" dirty="0"/>
              <a:t>2</a:t>
            </a:r>
            <a:r>
              <a:rPr lang="en-AU" sz="2000" dirty="0"/>
              <a:t> 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AB5300-8AC6-4A4D-AE13-4821504784BA}"/>
              </a:ext>
            </a:extLst>
          </p:cNvPr>
          <p:cNvSpPr txBox="1"/>
          <p:nvPr/>
        </p:nvSpPr>
        <p:spPr>
          <a:xfrm>
            <a:off x="1761822" y="5342838"/>
            <a:ext cx="583451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This is called Pythagoras’ Theorem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E9B22C-5802-482D-B099-C16099AC06DD}"/>
              </a:ext>
            </a:extLst>
          </p:cNvPr>
          <p:cNvSpPr txBox="1"/>
          <p:nvPr/>
        </p:nvSpPr>
        <p:spPr>
          <a:xfrm>
            <a:off x="4355976" y="2118831"/>
            <a:ext cx="2936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2FD2CE-A5FB-48FF-9983-5EB62CE67549}"/>
              </a:ext>
            </a:extLst>
          </p:cNvPr>
          <p:cNvSpPr txBox="1"/>
          <p:nvPr/>
        </p:nvSpPr>
        <p:spPr>
          <a:xfrm>
            <a:off x="5940152" y="2284855"/>
            <a:ext cx="3080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7D20E3-3A6B-403F-8589-7F826487E333}"/>
              </a:ext>
            </a:extLst>
          </p:cNvPr>
          <p:cNvSpPr txBox="1"/>
          <p:nvPr/>
        </p:nvSpPr>
        <p:spPr>
          <a:xfrm>
            <a:off x="4678356" y="3109557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DFF8EB-CDDE-4043-AA44-25763009B748}"/>
              </a:ext>
            </a:extLst>
          </p:cNvPr>
          <p:cNvSpPr txBox="1"/>
          <p:nvPr/>
        </p:nvSpPr>
        <p:spPr>
          <a:xfrm>
            <a:off x="143509" y="842250"/>
            <a:ext cx="795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>
                <a:latin typeface="Kiwi School Handwriting" panose="00000500000000000000" pitchFamily="2" charset="0"/>
              </a:rPr>
              <a:t>EQ – </a:t>
            </a:r>
            <a:r>
              <a:rPr lang="en-AU" b="1" dirty="0">
                <a:latin typeface="Kiwi School Handwriting" panose="00000500000000000000" pitchFamily="2" charset="0"/>
              </a:rPr>
              <a:t>What is special about right-angled triangles</a:t>
            </a:r>
            <a:r>
              <a:rPr lang="en-AU" dirty="0"/>
              <a:t>?</a:t>
            </a:r>
            <a:r>
              <a:rPr lang="en-AU" sz="1799" b="1" dirty="0">
                <a:latin typeface="Kiwi School Handwriting" panose="000005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5806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464780-D9B7-40B5-BBD4-6ED7F0C3D66C}"/>
              </a:ext>
            </a:extLst>
          </p:cNvPr>
          <p:cNvSpPr txBox="1"/>
          <p:nvPr/>
        </p:nvSpPr>
        <p:spPr>
          <a:xfrm>
            <a:off x="444616" y="290413"/>
            <a:ext cx="10361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>
                <a:latin typeface="Kiwi School Handwriting" panose="00000500000000000000" pitchFamily="2" charset="0"/>
              </a:rPr>
              <a:t>We Do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2276FB-3CEF-4B22-83E1-05BEF56ABDE1}"/>
              </a:ext>
            </a:extLst>
          </p:cNvPr>
          <p:cNvSpPr txBox="1"/>
          <p:nvPr/>
        </p:nvSpPr>
        <p:spPr>
          <a:xfrm>
            <a:off x="611560" y="980728"/>
            <a:ext cx="717774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Use Pythagoras Theorem to test if this is a right angled triangle.</a:t>
            </a:r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4AF28078-E796-4853-B6FA-C3ADEABB4CA5}"/>
              </a:ext>
            </a:extLst>
          </p:cNvPr>
          <p:cNvSpPr/>
          <p:nvPr/>
        </p:nvSpPr>
        <p:spPr>
          <a:xfrm rot="19850988">
            <a:off x="2415855" y="1847390"/>
            <a:ext cx="2952328" cy="108012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7DE105-7FF2-4D55-B119-3650E6E9F00C}"/>
              </a:ext>
            </a:extLst>
          </p:cNvPr>
          <p:cNvSpPr txBox="1"/>
          <p:nvPr/>
        </p:nvSpPr>
        <p:spPr>
          <a:xfrm>
            <a:off x="2025404" y="3028890"/>
            <a:ext cx="6286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6cm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B6EE1C-56FF-4647-9C35-DD172BBA325E}"/>
              </a:ext>
            </a:extLst>
          </p:cNvPr>
          <p:cNvSpPr txBox="1"/>
          <p:nvPr/>
        </p:nvSpPr>
        <p:spPr>
          <a:xfrm>
            <a:off x="3347864" y="1998780"/>
            <a:ext cx="8162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10 cm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84C936-B093-4F7E-BB47-9F940DE4E3B0}"/>
              </a:ext>
            </a:extLst>
          </p:cNvPr>
          <p:cNvSpPr txBox="1"/>
          <p:nvPr/>
        </p:nvSpPr>
        <p:spPr>
          <a:xfrm>
            <a:off x="3943302" y="2998652"/>
            <a:ext cx="6286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8cm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B436DD-05E4-4683-B72D-777500CD2063}"/>
              </a:ext>
            </a:extLst>
          </p:cNvPr>
          <p:cNvSpPr txBox="1"/>
          <p:nvPr/>
        </p:nvSpPr>
        <p:spPr>
          <a:xfrm>
            <a:off x="962674" y="4132199"/>
            <a:ext cx="266802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400" dirty="0"/>
              <a:t>a</a:t>
            </a:r>
            <a:r>
              <a:rPr lang="en-AU" sz="2400" baseline="30000" dirty="0"/>
              <a:t>2</a:t>
            </a:r>
            <a:r>
              <a:rPr lang="en-AU" sz="2400" dirty="0"/>
              <a:t> + b</a:t>
            </a:r>
            <a:r>
              <a:rPr lang="en-AU" sz="2400" baseline="30000" dirty="0"/>
              <a:t>2</a:t>
            </a:r>
            <a:r>
              <a:rPr lang="en-AU" sz="2400" dirty="0"/>
              <a:t> = c</a:t>
            </a:r>
            <a:r>
              <a:rPr lang="en-AU" sz="2400" baseline="30000" dirty="0"/>
              <a:t>2</a:t>
            </a:r>
            <a:r>
              <a:rPr lang="en-AU" sz="2400" dirty="0"/>
              <a:t>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2E4B50-32B8-429B-ACBC-351923139D7B}"/>
              </a:ext>
            </a:extLst>
          </p:cNvPr>
          <p:cNvSpPr txBox="1"/>
          <p:nvPr/>
        </p:nvSpPr>
        <p:spPr>
          <a:xfrm>
            <a:off x="2683821" y="4177912"/>
            <a:ext cx="2668028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400" dirty="0"/>
              <a:t>LHS:     8</a:t>
            </a:r>
            <a:r>
              <a:rPr lang="en-AU" sz="2400" baseline="30000" dirty="0"/>
              <a:t>2</a:t>
            </a:r>
            <a:r>
              <a:rPr lang="en-AU" sz="2400" dirty="0"/>
              <a:t> + 6</a:t>
            </a:r>
            <a:r>
              <a:rPr lang="en-AU" sz="2400" baseline="30000" dirty="0"/>
              <a:t>2</a:t>
            </a:r>
            <a:r>
              <a:rPr lang="en-AU" sz="2400" dirty="0"/>
              <a:t> </a:t>
            </a:r>
          </a:p>
          <a:p>
            <a:r>
              <a:rPr lang="en-AU" sz="2400" dirty="0"/>
              <a:t>         = 64 + 36</a:t>
            </a:r>
          </a:p>
          <a:p>
            <a:r>
              <a:rPr lang="en-AU" sz="2400" dirty="0"/>
              <a:t>         = 100 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5D5232-2927-41C1-8514-AACA0ECE9B79}"/>
              </a:ext>
            </a:extLst>
          </p:cNvPr>
          <p:cNvSpPr txBox="1"/>
          <p:nvPr/>
        </p:nvSpPr>
        <p:spPr>
          <a:xfrm>
            <a:off x="5076056" y="4188815"/>
            <a:ext cx="2668028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400" dirty="0"/>
              <a:t>RHS:    10</a:t>
            </a:r>
            <a:r>
              <a:rPr lang="en-AU" sz="2400" baseline="30000" dirty="0"/>
              <a:t>2</a:t>
            </a:r>
            <a:r>
              <a:rPr lang="en-AU" sz="2400" dirty="0"/>
              <a:t>  </a:t>
            </a:r>
          </a:p>
          <a:p>
            <a:r>
              <a:rPr lang="en-AU" sz="2400" dirty="0"/>
              <a:t>         = 100</a:t>
            </a:r>
          </a:p>
          <a:p>
            <a:r>
              <a:rPr lang="en-AU" sz="2400" dirty="0"/>
              <a:t>         = LHS 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2934B4-2751-4BCB-98CC-27AEE7B2652F}"/>
              </a:ext>
            </a:extLst>
          </p:cNvPr>
          <p:cNvSpPr txBox="1"/>
          <p:nvPr/>
        </p:nvSpPr>
        <p:spPr>
          <a:xfrm>
            <a:off x="2609288" y="5517232"/>
            <a:ext cx="2668028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400" dirty="0"/>
              <a:t>Yes it is a right angled triangle</a:t>
            </a:r>
          </a:p>
        </p:txBody>
      </p:sp>
    </p:spTree>
    <p:extLst>
      <p:ext uri="{BB962C8B-B14F-4D97-AF65-F5344CB8AC3E}">
        <p14:creationId xmlns:p14="http://schemas.microsoft.com/office/powerpoint/2010/main" val="2200508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D70B39A-9F4F-4D08-AF9F-27A4D06F5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84" y="1173188"/>
            <a:ext cx="8954631" cy="45116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464780-D9B7-40B5-BBD4-6ED7F0C3D66C}"/>
              </a:ext>
            </a:extLst>
          </p:cNvPr>
          <p:cNvSpPr txBox="1"/>
          <p:nvPr/>
        </p:nvSpPr>
        <p:spPr>
          <a:xfrm>
            <a:off x="444616" y="290413"/>
            <a:ext cx="1078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>
                <a:latin typeface="Kiwi School Handwriting" panose="00000500000000000000" pitchFamily="2" charset="0"/>
              </a:rPr>
              <a:t>You Do</a:t>
            </a:r>
          </a:p>
        </p:txBody>
      </p:sp>
    </p:spTree>
    <p:extLst>
      <p:ext uri="{BB962C8B-B14F-4D97-AF65-F5344CB8AC3E}">
        <p14:creationId xmlns:p14="http://schemas.microsoft.com/office/powerpoint/2010/main" val="2026176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791893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163069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616" y="290413"/>
            <a:ext cx="37572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>
                <a:latin typeface="Kiwi School Handwriting" panose="00000500000000000000" pitchFamily="2" charset="0"/>
              </a:rPr>
              <a:t>Topic: </a:t>
            </a:r>
            <a:r>
              <a:rPr lang="en-AU" sz="2400" dirty="0"/>
              <a:t>Right-Angled Triangles</a:t>
            </a:r>
            <a:endParaRPr lang="en-AU" sz="24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45540" y="353230"/>
            <a:ext cx="1620180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3509" y="842250"/>
            <a:ext cx="795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>
                <a:latin typeface="Kiwi School Handwriting" panose="00000500000000000000" pitchFamily="2" charset="0"/>
              </a:rPr>
              <a:t>EQ – </a:t>
            </a:r>
            <a:r>
              <a:rPr lang="en-AU" b="1" dirty="0">
                <a:latin typeface="Kiwi School Handwriting" panose="00000500000000000000" pitchFamily="2" charset="0"/>
              </a:rPr>
              <a:t>How can we work out the sides of right-angled triangles</a:t>
            </a:r>
            <a:r>
              <a:rPr lang="en-AU" dirty="0"/>
              <a:t>?</a:t>
            </a:r>
            <a:r>
              <a:rPr lang="en-AU" sz="1799" b="1" dirty="0"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1172036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C075E63-DA94-453C-B129-912863142F25}"/>
              </a:ext>
            </a:extLst>
          </p:cNvPr>
          <p:cNvSpPr txBox="1"/>
          <p:nvPr/>
        </p:nvSpPr>
        <p:spPr>
          <a:xfrm>
            <a:off x="323528" y="1501823"/>
            <a:ext cx="8568952" cy="24622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Summary</a:t>
            </a:r>
          </a:p>
          <a:p>
            <a:endParaRPr lang="en-AU" sz="2000" dirty="0"/>
          </a:p>
          <a:p>
            <a:r>
              <a:rPr lang="en-AU" sz="2000" dirty="0"/>
              <a:t>The longest side of a right-angled triangle is called _________________.</a:t>
            </a:r>
          </a:p>
          <a:p>
            <a:endParaRPr lang="en-AU" sz="2000" dirty="0"/>
          </a:p>
          <a:p>
            <a:r>
              <a:rPr lang="en-AU" sz="2000" dirty="0"/>
              <a:t>To work it out when we know the two shorter sides we use __________________ which is written as  ______ + ________ = __________.</a:t>
            </a:r>
          </a:p>
          <a:p>
            <a:endParaRPr lang="en-AU" sz="2000" dirty="0"/>
          </a:p>
          <a:p>
            <a:r>
              <a:rPr lang="en-AU" sz="2000" dirty="0"/>
              <a:t>Our final step is to calculate the square root of the sum.</a:t>
            </a:r>
          </a:p>
        </p:txBody>
      </p:sp>
    </p:spTree>
    <p:extLst>
      <p:ext uri="{BB962C8B-B14F-4D97-AF65-F5344CB8AC3E}">
        <p14:creationId xmlns:p14="http://schemas.microsoft.com/office/powerpoint/2010/main" val="2170331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18948</TotalTime>
  <Words>426</Words>
  <Application>Microsoft Office PowerPoint</Application>
  <PresentationFormat>On-screen Show (4:3)</PresentationFormat>
  <Paragraphs>82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Kiwi School Handwriting</vt:lpstr>
      <vt:lpstr>Office Theme</vt:lpstr>
      <vt:lpstr>Introducing Pythagoras’ Theorem</vt:lpstr>
      <vt:lpstr>Warm Up (LHS)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Barry Stanton</cp:lastModifiedBy>
  <cp:revision>643</cp:revision>
  <dcterms:created xsi:type="dcterms:W3CDTF">2013-02-28T07:36:55Z</dcterms:created>
  <dcterms:modified xsi:type="dcterms:W3CDTF">2019-06-05T13:00:54Z</dcterms:modified>
</cp:coreProperties>
</file>
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1" r:id="rId2"/>
    <p:sldId id="507" r:id="rId3"/>
    <p:sldId id="502" r:id="rId4"/>
    <p:sldId id="475" r:id="rId5"/>
    <p:sldId id="260" r:id="rId6"/>
    <p:sldId id="476" r:id="rId7"/>
    <p:sldId id="506" r:id="rId8"/>
    <p:sldId id="50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4" autoAdjust="0"/>
    <p:restoredTop sz="80766" autoAdjust="0"/>
  </p:normalViewPr>
  <p:slideViewPr>
    <p:cSldViewPr>
      <p:cViewPr varScale="1">
        <p:scale>
          <a:sx n="73" d="100"/>
          <a:sy n="73" d="100"/>
        </p:scale>
        <p:origin x="1236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Possible resources</a:t>
            </a:r>
          </a:p>
          <a:p>
            <a:r>
              <a:rPr lang="en-AU" dirty="0"/>
              <a:t>http://www.scootle.edu.au/ec/viewing/L6559/index.html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542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17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9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05/06/2019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Pythagoras’ Theorem</a:t>
            </a:r>
            <a:br>
              <a:rPr lang="en-GB" dirty="0"/>
            </a:br>
            <a:r>
              <a:rPr lang="en-GB" dirty="0"/>
              <a:t>Working out the hypotenuse</a:t>
            </a:r>
          </a:p>
        </p:txBody>
      </p:sp>
    </p:spTree>
    <p:extLst>
      <p:ext uri="{BB962C8B-B14F-4D97-AF65-F5344CB8AC3E}">
        <p14:creationId xmlns:p14="http://schemas.microsoft.com/office/powerpoint/2010/main" val="1629306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66B6-08BE-444D-A933-836D0114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AU" sz="3600" b="1" dirty="0"/>
              <a:t>Warm Up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1A83A3-E18D-4B23-8F43-AC9BB82171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2736"/>
                <a:ext cx="8229600" cy="504056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Write your summary from the last lesson.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What is Pythagoras’ Theorem?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What is the area of a rectangle that is 6m by 5m?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Calculate</a:t>
                </a:r>
                <a:br>
                  <a:rPr lang="en-AU" sz="2400" dirty="0"/>
                </a:br>
                <a:r>
                  <a:rPr lang="en-AU" sz="2400" dirty="0"/>
                  <a:t>   ⃝  4</a:t>
                </a:r>
                <a:r>
                  <a:rPr lang="en-AU" sz="2400" baseline="30000" dirty="0"/>
                  <a:t>2           </a:t>
                </a:r>
                <a:r>
                  <a:rPr lang="en-AU" sz="2400" dirty="0"/>
                  <a:t>    ⃝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AU" sz="2400" dirty="0"/>
                  <a:t>               ⃝ 6</a:t>
                </a:r>
                <a:r>
                  <a:rPr lang="en-AU" sz="2400" baseline="30000" dirty="0"/>
                  <a:t>2</a:t>
                </a:r>
                <a:r>
                  <a:rPr lang="en-AU" sz="2400" dirty="0"/>
                  <a:t>              ⃝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</m:oMath>
                </a14:m>
                <a:endParaRPr lang="en-AU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400" dirty="0"/>
                  <a:t>The cost price of an article is $150. If it is sold for $175:</a:t>
                </a:r>
              </a:p>
              <a:p>
                <a:pPr marL="0" indent="0">
                  <a:buNone/>
                </a:pPr>
                <a:r>
                  <a:rPr lang="en-GB" sz="2400" dirty="0"/>
                  <a:t>a.     determine the profit made</a:t>
                </a:r>
              </a:p>
              <a:p>
                <a:pPr marL="0" indent="0">
                  <a:buNone/>
                </a:pPr>
                <a:r>
                  <a:rPr lang="en-GB" sz="2400" dirty="0"/>
                  <a:t>b.     express the profit as a percentage of the cost price.</a:t>
                </a:r>
                <a:endParaRPr lang="en-AU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1A83A3-E18D-4B23-8F43-AC9BB8217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2736"/>
                <a:ext cx="8229600" cy="5040560"/>
              </a:xfrm>
              <a:blipFill>
                <a:blip r:embed="rId2"/>
                <a:stretch>
                  <a:fillRect l="-1185" t="-12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085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16306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07704" y="1172036"/>
            <a:ext cx="0" cy="55339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290413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45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261938"/>
            <a:ext cx="18722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000" dirty="0">
                <a:latin typeface="Kiwi School Handwriting" panose="00000500000000000000" pitchFamily="2" charset="0"/>
              </a:rPr>
              <a:t>What is Pythagoras’ Theorem?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8299DF-99F8-4115-9766-1C07BF2A5419}"/>
                  </a:ext>
                </a:extLst>
              </p:cNvPr>
              <p:cNvSpPr txBox="1"/>
              <p:nvPr/>
            </p:nvSpPr>
            <p:spPr>
              <a:xfrm>
                <a:off x="7056472" y="4152678"/>
                <a:ext cx="1838069" cy="1582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AU" sz="2000" dirty="0">
                    <a:solidFill>
                      <a:srgbClr val="7030A0"/>
                    </a:solidFill>
                  </a:rPr>
                  <a:t>a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+ b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= c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 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1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+ 2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= c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     </a:t>
                </a:r>
                <a:r>
                  <a:rPr lang="en-AU" sz="20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1 + 4 = c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  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c</a:t>
                </a:r>
                <a:r>
                  <a:rPr lang="en-AU" sz="20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000" dirty="0">
                    <a:solidFill>
                      <a:srgbClr val="7030A0"/>
                    </a:solidFill>
                  </a:rPr>
                  <a:t> = 5</a:t>
                </a: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c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sz="2000" dirty="0">
                    <a:solidFill>
                      <a:srgbClr val="7030A0"/>
                    </a:solidFill>
                  </a:rPr>
                  <a:t> cm 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8299DF-99F8-4115-9766-1C07BF2A5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472" y="4152678"/>
                <a:ext cx="1838069" cy="1582164"/>
              </a:xfrm>
              <a:prstGeom prst="rect">
                <a:avLst/>
              </a:prstGeom>
              <a:blipFill>
                <a:blip r:embed="rId3"/>
                <a:stretch>
                  <a:fillRect l="-8638" t="-5000" b="-84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CAE5D96-C9A8-4F59-96C1-A12289F6E26B}"/>
              </a:ext>
            </a:extLst>
          </p:cNvPr>
          <p:cNvGrpSpPr/>
          <p:nvPr/>
        </p:nvGrpSpPr>
        <p:grpSpPr>
          <a:xfrm>
            <a:off x="4031462" y="1322004"/>
            <a:ext cx="2304256" cy="1388155"/>
            <a:chOff x="3491881" y="1772816"/>
            <a:chExt cx="2756369" cy="173685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792C6CB-AAF3-460E-BE9A-223A328C7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1881" y="1772816"/>
              <a:ext cx="2376253" cy="140097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E9B22C-5802-482D-B099-C16099AC06DD}"/>
                </a:ext>
              </a:extLst>
            </p:cNvPr>
            <p:cNvSpPr txBox="1"/>
            <p:nvPr/>
          </p:nvSpPr>
          <p:spPr>
            <a:xfrm>
              <a:off x="4355976" y="2118831"/>
              <a:ext cx="2936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c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2FD2CE-A5FB-48FF-9983-5EB62CE67549}"/>
                </a:ext>
              </a:extLst>
            </p:cNvPr>
            <p:cNvSpPr txBox="1"/>
            <p:nvPr/>
          </p:nvSpPr>
          <p:spPr>
            <a:xfrm>
              <a:off x="5940152" y="2284855"/>
              <a:ext cx="3080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7D20E3-3A6B-403F-8589-7F826487E333}"/>
                </a:ext>
              </a:extLst>
            </p:cNvPr>
            <p:cNvSpPr txBox="1"/>
            <p:nvPr/>
          </p:nvSpPr>
          <p:spPr>
            <a:xfrm>
              <a:off x="4678356" y="3109557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338205F-DFB5-47EE-B89A-7D9067B33896}"/>
              </a:ext>
            </a:extLst>
          </p:cNvPr>
          <p:cNvSpPr txBox="1"/>
          <p:nvPr/>
        </p:nvSpPr>
        <p:spPr>
          <a:xfrm>
            <a:off x="143509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work out the hypotenuse of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2419FE-4DD9-4E51-B8DC-578DEC831EF0}"/>
              </a:ext>
            </a:extLst>
          </p:cNvPr>
          <p:cNvSpPr txBox="1"/>
          <p:nvPr/>
        </p:nvSpPr>
        <p:spPr>
          <a:xfrm>
            <a:off x="35496" y="3119405"/>
            <a:ext cx="1872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000" dirty="0">
                <a:latin typeface="Kiwi School Handwriting" panose="00000500000000000000" pitchFamily="2" charset="0"/>
              </a:rPr>
              <a:t>How do we use it to find the hypotenuse?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9D911D-90A9-4E00-B621-C1AD70F60D2A}"/>
              </a:ext>
            </a:extLst>
          </p:cNvPr>
          <p:cNvSpPr txBox="1"/>
          <p:nvPr/>
        </p:nvSpPr>
        <p:spPr>
          <a:xfrm>
            <a:off x="2001924" y="3147882"/>
            <a:ext cx="26680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Example: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27515F-8E1A-4F0D-85B8-B28F99B14D85}"/>
              </a:ext>
            </a:extLst>
          </p:cNvPr>
          <p:cNvGrpSpPr/>
          <p:nvPr/>
        </p:nvGrpSpPr>
        <p:grpSpPr>
          <a:xfrm>
            <a:off x="3984979" y="2903734"/>
            <a:ext cx="2668028" cy="1487259"/>
            <a:chOff x="3491881" y="1772816"/>
            <a:chExt cx="3076969" cy="1736851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B5B58DD-C4CD-42DE-AE1D-E52BFE34D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1881" y="1772816"/>
              <a:ext cx="2376253" cy="140097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836D35-96DC-4283-B44A-24A5F0E58928}"/>
                </a:ext>
              </a:extLst>
            </p:cNvPr>
            <p:cNvSpPr txBox="1"/>
            <p:nvPr/>
          </p:nvSpPr>
          <p:spPr>
            <a:xfrm>
              <a:off x="4355976" y="2118831"/>
              <a:ext cx="2936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c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564EDB-AEB1-478C-8DAD-4012C47A5BE8}"/>
                </a:ext>
              </a:extLst>
            </p:cNvPr>
            <p:cNvSpPr txBox="1"/>
            <p:nvPr/>
          </p:nvSpPr>
          <p:spPr>
            <a:xfrm>
              <a:off x="5940152" y="2284855"/>
              <a:ext cx="6286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1cm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9BF42B-35FE-40C6-8532-6691897A531E}"/>
                </a:ext>
              </a:extLst>
            </p:cNvPr>
            <p:cNvSpPr txBox="1"/>
            <p:nvPr/>
          </p:nvSpPr>
          <p:spPr>
            <a:xfrm>
              <a:off x="4678356" y="3109557"/>
              <a:ext cx="6286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2cm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D55EF2D-00A7-42C3-96A8-3FABEF176541}"/>
              </a:ext>
            </a:extLst>
          </p:cNvPr>
          <p:cNvSpPr txBox="1"/>
          <p:nvPr/>
        </p:nvSpPr>
        <p:spPr>
          <a:xfrm>
            <a:off x="1979711" y="4552514"/>
            <a:ext cx="460850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Step 1: Write the equation </a:t>
            </a:r>
          </a:p>
          <a:p>
            <a:r>
              <a:rPr lang="en-AU" sz="2000" dirty="0"/>
              <a:t>Step 2: Rewrite it using the values we know</a:t>
            </a:r>
          </a:p>
          <a:p>
            <a:r>
              <a:rPr lang="en-AU" sz="2000" dirty="0"/>
              <a:t>Step 3: Solve for the unknown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B03C42-5A9D-400F-87F3-796F3404F021}"/>
              </a:ext>
            </a:extLst>
          </p:cNvPr>
          <p:cNvSpPr txBox="1"/>
          <p:nvPr/>
        </p:nvSpPr>
        <p:spPr>
          <a:xfrm>
            <a:off x="2111981" y="1336657"/>
            <a:ext cx="183806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 + b</a:t>
            </a:r>
            <a:r>
              <a:rPr lang="en-AU" sz="2400" baseline="30000" dirty="0"/>
              <a:t>2</a:t>
            </a:r>
            <a:r>
              <a:rPr lang="en-AU" sz="2400" dirty="0"/>
              <a:t> = c</a:t>
            </a:r>
            <a:r>
              <a:rPr lang="en-AU" sz="2400" baseline="30000" dirty="0"/>
              <a:t>2</a:t>
            </a:r>
            <a:r>
              <a:rPr lang="en-AU" sz="2400" dirty="0"/>
              <a:t>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809119-8074-49EC-A2A7-FF6CA5894BC4}"/>
              </a:ext>
            </a:extLst>
          </p:cNvPr>
          <p:cNvSpPr txBox="1"/>
          <p:nvPr/>
        </p:nvSpPr>
        <p:spPr>
          <a:xfrm>
            <a:off x="1979711" y="5782644"/>
            <a:ext cx="676875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If we need the exact value we can leave the answer in </a:t>
            </a:r>
            <a:r>
              <a:rPr lang="en-AU" sz="2000" b="1" dirty="0"/>
              <a:t>surd</a:t>
            </a:r>
            <a:r>
              <a:rPr lang="en-AU" sz="2000" dirty="0"/>
              <a:t> form (leaving the square root sign).</a:t>
            </a:r>
          </a:p>
          <a:p>
            <a:r>
              <a:rPr lang="en-AU" sz="2000" dirty="0"/>
              <a:t>Otherwise, calculate to 2 decimal places.</a:t>
            </a:r>
          </a:p>
        </p:txBody>
      </p:sp>
    </p:spTree>
    <p:extLst>
      <p:ext uri="{BB962C8B-B14F-4D97-AF65-F5344CB8AC3E}">
        <p14:creationId xmlns:p14="http://schemas.microsoft.com/office/powerpoint/2010/main" val="11580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11560" y="1556792"/>
            <a:ext cx="2880320" cy="2160240"/>
            <a:chOff x="611560" y="2924944"/>
            <a:chExt cx="2376264" cy="1728192"/>
          </a:xfrm>
        </p:grpSpPr>
        <p:sp>
          <p:nvSpPr>
            <p:cNvPr id="3" name="Right Triangle 2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63888" y="2420888"/>
                <a:ext cx="4320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2420888"/>
                <a:ext cx="43204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79712" y="3717032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 smtClean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3717032"/>
                <a:ext cx="432048" cy="7694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91680" y="1916832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1916832"/>
                <a:ext cx="432048" cy="76944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211960" y="1052736"/>
            <a:ext cx="4536504" cy="9541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1:</a:t>
            </a:r>
            <a:r>
              <a:rPr lang="en-GB" sz="2800" dirty="0"/>
              <a:t> To work out the hypotenuse.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1960" y="2348880"/>
            <a:ext cx="4589140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2:</a:t>
            </a:r>
            <a:r>
              <a:rPr lang="en-GB" sz="2800" dirty="0"/>
              <a:t> Form an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165600" y="2996952"/>
                <a:ext cx="304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b="0" i="1" smtClean="0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600" y="2996952"/>
                <a:ext cx="304800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211960" y="3789040"/>
            <a:ext cx="4536504" cy="9541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3:</a:t>
            </a:r>
            <a:r>
              <a:rPr lang="en-GB" sz="2800" dirty="0"/>
              <a:t> Solve the equation to find the unknown side.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211960" y="4773855"/>
                <a:ext cx="4248472" cy="125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b="0" i="1" smtClean="0">
                          <a:latin typeface="Cambria Math"/>
                        </a:rPr>
                        <m:t>=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3600" b="0" i="1" smtClean="0">
                          <a:latin typeface="Cambria Math"/>
                        </a:rPr>
                        <m:t>+16=2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br>
                  <a:rPr lang="en-GB" sz="3600" b="0" dirty="0"/>
                </a:br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/>
                      </a:rPr>
                      <m:t>𝑥</m:t>
                    </m:r>
                    <m:r>
                      <a:rPr lang="en-GB" sz="36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3600" b="0" i="1" smtClean="0">
                            <a:latin typeface="Cambria Math"/>
                          </a:rPr>
                          <m:t>2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GB" sz="3600" dirty="0"/>
                  <a:t> or 5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4773855"/>
                <a:ext cx="4248472" cy="1258230"/>
              </a:xfrm>
              <a:prstGeom prst="rect">
                <a:avLst/>
              </a:prstGeom>
              <a:blipFill>
                <a:blip r:embed="rId6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1115616" y="1340768"/>
            <a:ext cx="648072" cy="720080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99796" y="2933452"/>
            <a:ext cx="1619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hypotenuse appears on its own.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6918548" y="3052068"/>
            <a:ext cx="432048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20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Let’s Try this Together</a:t>
              </a: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2" name="Rectangle 21"/>
          <p:cNvSpPr/>
          <p:nvPr/>
        </p:nvSpPr>
        <p:spPr>
          <a:xfrm>
            <a:off x="4212463" y="2902808"/>
            <a:ext cx="4582872" cy="7392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9334" y="4797152"/>
            <a:ext cx="4561756" cy="17974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81396" y="1496161"/>
            <a:ext cx="1276804" cy="4215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/>
              <a:t>Reveal &gt;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4027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918" y="764704"/>
            <a:ext cx="3974163" cy="51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swallowfood.com/wp-content/uploads/2012/11/pai-mei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158958"/>
            <a:ext cx="3347864" cy="1699042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3347864" y="5158958"/>
            <a:ext cx="5796136" cy="169904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" name="Group 4"/>
          <p:cNvGrpSpPr/>
          <p:nvPr/>
        </p:nvGrpSpPr>
        <p:grpSpPr>
          <a:xfrm>
            <a:off x="179512" y="2060848"/>
            <a:ext cx="2232248" cy="1728192"/>
            <a:chOff x="611560" y="2924944"/>
            <a:chExt cx="2376264" cy="1728192"/>
          </a:xfrm>
        </p:grpSpPr>
        <p:sp>
          <p:nvSpPr>
            <p:cNvPr id="6" name="Right Triangle 5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411760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7624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grpSp>
        <p:nvGrpSpPr>
          <p:cNvPr id="10" name="Group 9"/>
          <p:cNvGrpSpPr/>
          <p:nvPr/>
        </p:nvGrpSpPr>
        <p:grpSpPr>
          <a:xfrm rot="18189871">
            <a:off x="3257307" y="2101964"/>
            <a:ext cx="2232248" cy="1728192"/>
            <a:chOff x="611560" y="2924944"/>
            <a:chExt cx="2376264" cy="1728192"/>
          </a:xfrm>
        </p:grpSpPr>
        <p:sp>
          <p:nvSpPr>
            <p:cNvPr id="11" name="Right Triangle 10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971600" y="2564904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2564904"/>
                <a:ext cx="36004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911731" y="163105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9763" y="314322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75627" y="271117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27" y="2711178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527884" y="5301208"/>
                <a:ext cx="439248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solidFill>
                      <a:schemeClr val="bg1"/>
                    </a:solidFill>
                  </a:rPr>
                  <a:t>“To learn secret way of a maths ninja, find </a:t>
                </a:r>
                <a14:m>
                  <m:oMath xmlns:m="http://schemas.openxmlformats.org/officeDocument/2006/math">
                    <m:r>
                      <a:rPr lang="en-GB" sz="2800" i="1" dirty="0" smtClean="0">
                        <a:solidFill>
                          <a:schemeClr val="bg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>
                    <a:solidFill>
                      <a:schemeClr val="bg1"/>
                    </a:solidFill>
                  </a:rPr>
                  <a:t> you must.”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884" y="5301208"/>
                <a:ext cx="4392488" cy="1384995"/>
              </a:xfrm>
              <a:prstGeom prst="rect">
                <a:avLst/>
              </a:prstGeom>
              <a:blipFill>
                <a:blip r:embed="rId5"/>
                <a:stretch>
                  <a:fillRect l="-2917" t="-4405" b="-118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 rot="13179695">
            <a:off x="6997102" y="3077367"/>
            <a:ext cx="1056242" cy="978773"/>
            <a:chOff x="611560" y="2924944"/>
            <a:chExt cx="2376264" cy="1728192"/>
          </a:xfrm>
        </p:grpSpPr>
        <p:sp>
          <p:nvSpPr>
            <p:cNvPr id="25" name="Right Triangle 24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6806309" y="299695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2413" y="292494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382373" y="350100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373" y="3501008"/>
                <a:ext cx="3600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323528" y="2204864"/>
            <a:ext cx="432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59603" y="1199010"/>
            <a:ext cx="432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4261" y="2564904"/>
            <a:ext cx="432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4264" y="1666077"/>
                <a:ext cx="1736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Answer: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/>
                      </a:rPr>
                      <m:t>𝒙</m:t>
                    </m:r>
                    <m:r>
                      <a:rPr lang="en-GB" b="1" i="1" smtClean="0">
                        <a:latin typeface="Cambria Math"/>
                      </a:rPr>
                      <m:t>=</m:t>
                    </m:r>
                    <m:r>
                      <a:rPr lang="en-GB" b="1" i="1" smtClean="0">
                        <a:latin typeface="Cambria Math"/>
                      </a:rPr>
                      <m:t>𝟏𝟎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64" y="1666077"/>
                <a:ext cx="1736920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2807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234316" y="4221947"/>
                <a:ext cx="2248499" cy="395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Answer: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/>
                      </a:rPr>
                      <m:t>𝒙</m:t>
                    </m:r>
                    <m:r>
                      <a:rPr lang="en-GB" b="1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 smtClean="0">
                            <a:latin typeface="Cambria Math"/>
                          </a:rPr>
                          <m:t>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𝟕𝟖</m:t>
                        </m:r>
                        <m:r>
                          <a:rPr lang="en-GB" b="1" i="1" smtClean="0">
                            <a:latin typeface="Cambria Math"/>
                          </a:rPr>
                          <m:t>𝟗</m:t>
                        </m:r>
                      </m:e>
                    </m:rad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316" y="4221947"/>
                <a:ext cx="2248499" cy="395429"/>
              </a:xfrm>
              <a:prstGeom prst="rect">
                <a:avLst/>
              </a:prstGeom>
              <a:blipFill>
                <a:blip r:embed="rId10"/>
                <a:stretch>
                  <a:fillRect l="-2446" t="-1563" b="-265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6734301" y="2252301"/>
                <a:ext cx="1943707" cy="396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Answer: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/>
                      </a:rPr>
                      <m:t>𝒙</m:t>
                    </m:r>
                    <m:r>
                      <a:rPr lang="en-GB" b="1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 smtClean="0">
                            <a:latin typeface="Cambria Math"/>
                          </a:rPr>
                          <m:t>𝟐</m:t>
                        </m:r>
                      </m:e>
                    </m:rad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301" y="2252301"/>
                <a:ext cx="1943707" cy="396327"/>
              </a:xfrm>
              <a:prstGeom prst="rect">
                <a:avLst/>
              </a:prstGeom>
              <a:blipFill>
                <a:blip r:embed="rId11"/>
                <a:stretch>
                  <a:fillRect l="-2821" b="-246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/>
          <p:cNvSpPr/>
          <p:nvPr/>
        </p:nvSpPr>
        <p:spPr>
          <a:xfrm>
            <a:off x="3579073" y="4196208"/>
            <a:ext cx="843562" cy="47722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00392" y="2191861"/>
            <a:ext cx="864096" cy="5877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29865" y="1447801"/>
            <a:ext cx="759335" cy="5633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177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2A52-C2A0-4824-9412-9AC6357FA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12491"/>
            <a:ext cx="8229600" cy="1143000"/>
          </a:xfrm>
        </p:spPr>
        <p:txBody>
          <a:bodyPr/>
          <a:lstStyle/>
          <a:p>
            <a:pPr algn="l"/>
            <a:r>
              <a:rPr lang="en-AU" dirty="0"/>
              <a:t>Practice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8BBCF1-BD4A-4C0F-894B-2D6D7B66B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964913"/>
            <a:ext cx="7128792" cy="575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5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16306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616" y="290413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45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323528" y="1501823"/>
            <a:ext cx="8568952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Summary</a:t>
            </a:r>
          </a:p>
          <a:p>
            <a:endParaRPr lang="en-AU" sz="2000" dirty="0"/>
          </a:p>
          <a:p>
            <a:r>
              <a:rPr lang="en-AU" sz="2000" dirty="0"/>
              <a:t>The longest side of a right-angled triangle is called _________________.</a:t>
            </a:r>
          </a:p>
          <a:p>
            <a:endParaRPr lang="en-AU" sz="2000" dirty="0"/>
          </a:p>
          <a:p>
            <a:r>
              <a:rPr lang="en-AU" sz="2000" dirty="0"/>
              <a:t>To work it out when we know the two shorter sides we use __________________ which is written as  ______ + ________ = __________.</a:t>
            </a:r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5DAFC-ED5C-4AE9-94A2-2D26D2A4370F}"/>
              </a:ext>
            </a:extLst>
          </p:cNvPr>
          <p:cNvSpPr txBox="1"/>
          <p:nvPr/>
        </p:nvSpPr>
        <p:spPr>
          <a:xfrm>
            <a:off x="143509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How can we work out the hypotenuse of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033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18918</TotalTime>
  <Words>343</Words>
  <Application>Microsoft Office PowerPoint</Application>
  <PresentationFormat>On-screen Show (4:3)</PresentationFormat>
  <Paragraphs>85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Kiwi School Handwriting</vt:lpstr>
      <vt:lpstr>Office Theme</vt:lpstr>
      <vt:lpstr>Pythagoras’ Theorem Working out the hypotenuse</vt:lpstr>
      <vt:lpstr>Warm Up (LHS)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Barry Stanton</cp:lastModifiedBy>
  <cp:revision>644</cp:revision>
  <dcterms:created xsi:type="dcterms:W3CDTF">2013-02-28T07:36:55Z</dcterms:created>
  <dcterms:modified xsi:type="dcterms:W3CDTF">2019-06-05T13:01:14Z</dcterms:modified>
</cp:coreProperties>
</file>
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7"/>
  </p:notesMasterIdLst>
  <p:sldIdLst>
    <p:sldId id="310" r:id="rId2"/>
    <p:sldId id="322" r:id="rId3"/>
    <p:sldId id="257" r:id="rId4"/>
    <p:sldId id="267" r:id="rId5"/>
    <p:sldId id="311" r:id="rId6"/>
    <p:sldId id="312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260" r:id="rId15"/>
    <p:sldId id="32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13/5/19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8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47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173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726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962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01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503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50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7495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71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8029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5888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6476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308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7085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3503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4856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5213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4623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7539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2952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6492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15536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9563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98269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ommons.wikimedia.org/wiki/File:Jakob_Bernoulli.jpeg" TargetMode="Externa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9AC4A-4382-4AAA-8564-DC695DE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029" y="543085"/>
            <a:ext cx="8748347" cy="969771"/>
          </a:xfrm>
        </p:spPr>
        <p:txBody>
          <a:bodyPr>
            <a:normAutofit/>
          </a:bodyPr>
          <a:lstStyle/>
          <a:p>
            <a:r>
              <a:rPr lang="en-AU" sz="3200" dirty="0"/>
              <a:t>Topic: Two step Probability </a:t>
            </a:r>
            <a:r>
              <a:rPr lang="en-AU" sz="2800" dirty="0"/>
              <a:t>with replacement </a:t>
            </a:r>
            <a:br>
              <a:rPr lang="en-AU" sz="4800" dirty="0"/>
            </a:br>
            <a:r>
              <a:rPr lang="en-AU" sz="2400" dirty="0"/>
              <a:t>EQ: What is experimental probability with replacement?</a:t>
            </a:r>
            <a:endParaRPr lang="en-AU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29" y="2413217"/>
            <a:ext cx="6035844" cy="3960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>
              <a:buAutoNum type="arabicPeriod"/>
            </a:pPr>
            <a:r>
              <a:rPr lang="en-AU" sz="2000" dirty="0"/>
              <a:t>Get materials out (notebook, pen, pencil, ruler, calculator)</a:t>
            </a:r>
          </a:p>
          <a:p>
            <a:pPr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>
              <a:buAutoNum type="arabicPeriod"/>
            </a:pPr>
            <a:r>
              <a:rPr lang="en-AU" sz="2000" dirty="0"/>
              <a:t>Is your notebook up to date? (Contents page, glossary, 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CC7E7-14F7-4DC3-8913-B2FD7A220F02}"/>
              </a:ext>
            </a:extLst>
          </p:cNvPr>
          <p:cNvSpPr txBox="1"/>
          <p:nvPr/>
        </p:nvSpPr>
        <p:spPr>
          <a:xfrm>
            <a:off x="6598076" y="2227304"/>
            <a:ext cx="5160787" cy="336367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Review questions </a:t>
            </a:r>
            <a:r>
              <a:rPr lang="en-AU" dirty="0"/>
              <a:t>(on LHS) </a:t>
            </a:r>
          </a:p>
          <a:p>
            <a:pPr>
              <a:lnSpc>
                <a:spcPct val="150000"/>
              </a:lnSpc>
            </a:pPr>
            <a:r>
              <a:rPr lang="en-AU" dirty="0"/>
              <a:t>Complete the table 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45F0257-7D9C-4DA0-9F1A-51B7FB3FE4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9943507"/>
                  </p:ext>
                </p:extLst>
              </p:nvPr>
            </p:nvGraphicFramePr>
            <p:xfrm>
              <a:off x="6870152" y="3058255"/>
              <a:ext cx="4103109" cy="24533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7703">
                      <a:extLst>
                        <a:ext uri="{9D8B030D-6E8A-4147-A177-3AD203B41FA5}">
                          <a16:colId xmlns:a16="http://schemas.microsoft.com/office/drawing/2014/main" val="2105425946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val="2651516810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val="151072543"/>
                        </a:ext>
                      </a:extLst>
                    </a:gridCol>
                  </a:tblGrid>
                  <a:tr h="3476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Fraction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Decimal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Percentage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094262721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0.75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361339818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469111190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33.33%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4103612425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0.666666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030473407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2807061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45F0257-7D9C-4DA0-9F1A-51B7FB3FE4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9943507"/>
                  </p:ext>
                </p:extLst>
              </p:nvPr>
            </p:nvGraphicFramePr>
            <p:xfrm>
              <a:off x="6870152" y="3058255"/>
              <a:ext cx="4103109" cy="24533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7703">
                      <a:extLst>
                        <a:ext uri="{9D8B030D-6E8A-4147-A177-3AD203B41FA5}">
                          <a16:colId xmlns:a16="http://schemas.microsoft.com/office/drawing/2014/main" val="2105425946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val="2651516810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val="151072543"/>
                        </a:ext>
                      </a:extLst>
                    </a:gridCol>
                  </a:tblGrid>
                  <a:tr h="3476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Fraction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Decimal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Percentage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094262721"/>
                      </a:ext>
                    </a:extLst>
                  </a:tr>
                  <a:tr h="467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75325" r="-201778" b="-3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0.75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361339818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173077" r="-201778" b="-2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469111190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33.33%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4103612425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0.666666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030473407"/>
                      </a:ext>
                    </a:extLst>
                  </a:tr>
                  <a:tr h="4729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419231" r="-201778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28070613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2340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9AC4A-4382-4AAA-8564-DC695DE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765" y="618077"/>
            <a:ext cx="8748347" cy="969771"/>
          </a:xfrm>
        </p:spPr>
        <p:txBody>
          <a:bodyPr>
            <a:normAutofit/>
          </a:bodyPr>
          <a:lstStyle/>
          <a:p>
            <a:r>
              <a:rPr lang="en-AU" sz="3200" dirty="0"/>
              <a:t>Topic: Two step Probability </a:t>
            </a:r>
            <a:r>
              <a:rPr lang="en-AU" sz="2800" dirty="0"/>
              <a:t>with replacement </a:t>
            </a:r>
            <a:br>
              <a:rPr lang="en-AU" sz="4800" dirty="0"/>
            </a:br>
            <a:r>
              <a:rPr lang="en-AU" sz="2400" dirty="0"/>
              <a:t>EQ: What is experimental probability with replacement?</a:t>
            </a:r>
            <a:endParaRPr lang="en-AU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29" y="2413217"/>
            <a:ext cx="6035844" cy="3960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>
              <a:buAutoNum type="arabicPeriod"/>
            </a:pPr>
            <a:r>
              <a:rPr lang="en-AU" sz="2000" dirty="0"/>
              <a:t>Get materials out (notebook, pen, pencil, ruler, calculator)</a:t>
            </a:r>
          </a:p>
          <a:p>
            <a:pPr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>
              <a:buAutoNum type="arabicPeriod"/>
            </a:pPr>
            <a:r>
              <a:rPr lang="en-AU" sz="2000" dirty="0"/>
              <a:t>Is your notebook up to date? (Contents page, glossary, 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CC7E7-14F7-4DC3-8913-B2FD7A220F02}"/>
              </a:ext>
            </a:extLst>
          </p:cNvPr>
          <p:cNvSpPr txBox="1"/>
          <p:nvPr/>
        </p:nvSpPr>
        <p:spPr>
          <a:xfrm>
            <a:off x="6598077" y="2227304"/>
            <a:ext cx="5122070" cy="336367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Review </a:t>
            </a:r>
            <a:r>
              <a:rPr lang="en-AU" b="1"/>
              <a:t>questions </a:t>
            </a:r>
            <a:r>
              <a:rPr lang="en-AU"/>
              <a:t>(on </a:t>
            </a:r>
            <a:r>
              <a:rPr lang="en-AU" dirty="0"/>
              <a:t>LHS) </a:t>
            </a:r>
          </a:p>
          <a:p>
            <a:pPr>
              <a:lnSpc>
                <a:spcPct val="150000"/>
              </a:lnSpc>
            </a:pPr>
            <a:r>
              <a:rPr lang="en-AU" dirty="0"/>
              <a:t>Complete the table 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45F0257-7D9C-4DA0-9F1A-51B7FB3FE4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8442067"/>
                  </p:ext>
                </p:extLst>
              </p:nvPr>
            </p:nvGraphicFramePr>
            <p:xfrm>
              <a:off x="6870152" y="3058255"/>
              <a:ext cx="4103109" cy="2696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7703">
                      <a:extLst>
                        <a:ext uri="{9D8B030D-6E8A-4147-A177-3AD203B41FA5}">
                          <a16:colId xmlns:a16="http://schemas.microsoft.com/office/drawing/2014/main" val="2105425946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val="2651516810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val="151072543"/>
                        </a:ext>
                      </a:extLst>
                    </a:gridCol>
                  </a:tblGrid>
                  <a:tr h="3476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Fraction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Decimal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Percentage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094262721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0.75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75%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361339818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0.125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12.5%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469111190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0.33333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33.33%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4103612425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0.666666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66.66%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030473407"/>
                      </a:ext>
                    </a:extLst>
                  </a:tr>
                  <a:tr h="3476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0.714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71.4%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2807061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45F0257-7D9C-4DA0-9F1A-51B7FB3FE4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8442067"/>
                  </p:ext>
                </p:extLst>
              </p:nvPr>
            </p:nvGraphicFramePr>
            <p:xfrm>
              <a:off x="6870152" y="3058255"/>
              <a:ext cx="4103109" cy="2696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7703">
                      <a:extLst>
                        <a:ext uri="{9D8B030D-6E8A-4147-A177-3AD203B41FA5}">
                          <a16:colId xmlns:a16="http://schemas.microsoft.com/office/drawing/2014/main" val="2105425946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val="2651516810"/>
                        </a:ext>
                      </a:extLst>
                    </a:gridCol>
                    <a:gridCol w="1367703">
                      <a:extLst>
                        <a:ext uri="{9D8B030D-6E8A-4147-A177-3AD203B41FA5}">
                          <a16:colId xmlns:a16="http://schemas.microsoft.com/office/drawing/2014/main" val="151072543"/>
                        </a:ext>
                      </a:extLst>
                    </a:gridCol>
                  </a:tblGrid>
                  <a:tr h="3476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Fraction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Decimal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Percentage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094262721"/>
                      </a:ext>
                    </a:extLst>
                  </a:tr>
                  <a:tr h="467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75325" r="-201778" b="-406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0.75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75%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361339818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173077" r="-201778" b="-30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0.125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12.5%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469111190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276623" r="-201778" b="-205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0.33333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33.33%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4103612425"/>
                      </a:ext>
                    </a:extLst>
                  </a:tr>
                  <a:tr h="469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376623" r="-201778" b="-105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/>
                            <a:t>0.666666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66.66%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2030473407"/>
                      </a:ext>
                    </a:extLst>
                  </a:tr>
                  <a:tr h="4729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blipFill>
                          <a:blip r:embed="rId2"/>
                          <a:stretch>
                            <a:fillRect l="-444" t="-470513" r="-201778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0.714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400" dirty="0">
                              <a:solidFill>
                                <a:srgbClr val="FF0000"/>
                              </a:solidFill>
                            </a:rPr>
                            <a:t>71.4%</a:t>
                          </a: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328070613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54951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cap="none" dirty="0">
                <a:solidFill>
                  <a:schemeClr val="tx1"/>
                </a:solidFill>
                <a:latin typeface="DJB Fancy Nancy" panose="02000500000000000000" pitchFamily="2" charset="0"/>
              </a:rPr>
              <a:t>Two Step Probability With Replacement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25653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Kiwi School Handwriting" panose="00000500000000000000" pitchFamily="2" charset="0"/>
              </a:rPr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972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Experimental vs. Theoretical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 replacement?</a:t>
            </a:r>
            <a:r>
              <a:rPr lang="en-AU" sz="23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1679839" y="1409536"/>
                <a:ext cx="10607624" cy="35644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AU" sz="2000" b="0" dirty="0">
                    <a:ea typeface="Cambria Math" panose="02040503050406030204" pitchFamily="18" charset="0"/>
                  </a:rPr>
                  <a:t>Probabilty can have two approaches: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AU" sz="2000" b="1" dirty="0">
                    <a:ea typeface="Cambria Math" panose="02040503050406030204" pitchFamily="18" charset="0"/>
                  </a:rPr>
                  <a:t>Experimental Probability</a:t>
                </a:r>
                <a:r>
                  <a:rPr lang="en-AU" sz="2000" dirty="0">
                    <a:ea typeface="Cambria Math" panose="02040503050406030204" pitchFamily="18" charset="0"/>
                  </a:rPr>
                  <a:t> and </a:t>
                </a:r>
                <a:r>
                  <a:rPr lang="en-AU" sz="2000" b="1" dirty="0">
                    <a:ea typeface="Cambria Math" panose="02040503050406030204" pitchFamily="18" charset="0"/>
                  </a:rPr>
                  <a:t>Theoretical Probability</a:t>
                </a:r>
              </a:p>
              <a:p>
                <a:pPr algn="ctr">
                  <a:lnSpc>
                    <a:spcPct val="150000"/>
                  </a:lnSpc>
                </a:pPr>
                <a:endParaRPr lang="en-AU" sz="2000" b="1" dirty="0"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AU" sz="2000" b="0" dirty="0">
                    <a:ea typeface="Cambria Math" panose="02040503050406030204" pitchFamily="18" charset="0"/>
                  </a:rPr>
                  <a:t>What actually happens 	vs.		 What we think will happen</a:t>
                </a:r>
              </a:p>
              <a:p>
                <a:pPr algn="ctr"/>
                <a:endParaRPr lang="en-AU" sz="2000" dirty="0"/>
              </a:p>
              <a:p>
                <a:pPr algn="ctr"/>
                <a:r>
                  <a:rPr lang="en-AU" dirty="0"/>
                  <a:t>P (event)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𝑒𝑣𝑒𝑛𝑡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𝑡𝑟𝑖𝑎𝑙𝑠</m:t>
                        </m:r>
                      </m:den>
                    </m:f>
                  </m:oMath>
                </a14:m>
                <a:r>
                  <a:rPr lang="en-AU" sz="2400" dirty="0"/>
                  <a:t>      </a:t>
                </a:r>
                <a:r>
                  <a:rPr lang="en-AU" dirty="0"/>
                  <a:t>P (event)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𝑓𝑎𝑣𝑜𝑟𝑎𝑏𝑙𝑒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𝑝𝑜𝑠𝑠𝑖𝑏𝑙𝑒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  <a:p>
                <a:pPr algn="ctr"/>
                <a:endParaRPr lang="en-AU" dirty="0"/>
              </a:p>
              <a:p>
                <a:pPr algn="ctr"/>
                <a:endParaRPr lang="en-AU" dirty="0"/>
              </a:p>
              <a:p>
                <a:pPr algn="ctr"/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839" y="1409536"/>
                <a:ext cx="10607624" cy="35644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8319839-30B6-4CB4-8594-17883E90D5F2}"/>
              </a:ext>
            </a:extLst>
          </p:cNvPr>
          <p:cNvCxnSpPr/>
          <p:nvPr/>
        </p:nvCxnSpPr>
        <p:spPr>
          <a:xfrm>
            <a:off x="4876800" y="2474227"/>
            <a:ext cx="0" cy="4153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7227D47-957E-4F37-9926-B6EFD46500F1}"/>
              </a:ext>
            </a:extLst>
          </p:cNvPr>
          <p:cNvCxnSpPr/>
          <p:nvPr/>
        </p:nvCxnSpPr>
        <p:spPr>
          <a:xfrm>
            <a:off x="8927661" y="2474227"/>
            <a:ext cx="0" cy="4153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9D7078-3C37-40DA-A496-ED0F5A8F0288}"/>
                  </a:ext>
                </a:extLst>
              </p:cNvPr>
              <p:cNvSpPr txBox="1"/>
              <p:nvPr/>
            </p:nvSpPr>
            <p:spPr>
              <a:xfrm>
                <a:off x="2194570" y="4312297"/>
                <a:ext cx="4790306" cy="2494081"/>
              </a:xfrm>
              <a:prstGeom prst="rect">
                <a:avLst/>
              </a:prstGeom>
              <a:noFill/>
              <a:ln w="127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Example: </a:t>
                </a:r>
                <a:r>
                  <a:rPr lang="en-US" altLang="en-US" dirty="0"/>
                  <a:t>You tossed  a coin 10 times and recorded a head 3 times, a tail 7 times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en-US" dirty="0"/>
                  <a:t>P(head)=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alt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alt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en-US" dirty="0"/>
                  <a:t>P(tail)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alt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altLang="en-US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9D7078-3C37-40DA-A496-ED0F5A8F0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70" y="4312297"/>
                <a:ext cx="4790306" cy="2494081"/>
              </a:xfrm>
              <a:prstGeom prst="rect">
                <a:avLst/>
              </a:prstGeom>
              <a:blipFill>
                <a:blip r:embed="rId4"/>
                <a:stretch>
                  <a:fillRect l="-888" t="-971" r="-1777"/>
                </a:stretch>
              </a:blipFill>
              <a:ln w="127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0AD406-1CAA-45A2-80B8-80BF8245C460}"/>
                  </a:ext>
                </a:extLst>
              </p:cNvPr>
              <p:cNvSpPr txBox="1"/>
              <p:nvPr/>
            </p:nvSpPr>
            <p:spPr>
              <a:xfrm>
                <a:off x="7241016" y="4286354"/>
                <a:ext cx="4790306" cy="2543132"/>
              </a:xfrm>
              <a:prstGeom prst="rect">
                <a:avLst/>
              </a:prstGeom>
              <a:noFill/>
              <a:ln w="127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Example: </a:t>
                </a:r>
                <a:r>
                  <a:rPr lang="en-US" altLang="en-US" dirty="0"/>
                  <a:t>Toss a coin and getting a head or a tail.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en-US" dirty="0"/>
                  <a:t>P(head)=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alt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en-US" dirty="0"/>
                  <a:t>P(tail)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alt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en-US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0AD406-1CAA-45A2-80B8-80BF8245C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016" y="4286354"/>
                <a:ext cx="4790306" cy="2543132"/>
              </a:xfrm>
              <a:prstGeom prst="rect">
                <a:avLst/>
              </a:prstGeom>
              <a:blipFill>
                <a:blip r:embed="rId5"/>
                <a:stretch>
                  <a:fillRect l="-1015" t="-955" r="-635"/>
                </a:stretch>
              </a:blipFill>
              <a:ln w="127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083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972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Experimental vs. Theoretical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 replacement?</a:t>
            </a:r>
            <a:r>
              <a:rPr lang="en-AU" sz="23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1679839" y="1409536"/>
                <a:ext cx="10607624" cy="35644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AU" sz="2000" b="0" dirty="0">
                    <a:ea typeface="Cambria Math" panose="02040503050406030204" pitchFamily="18" charset="0"/>
                  </a:rPr>
                  <a:t>Probabilty can have two approaches: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AU" sz="2000" b="1" dirty="0">
                    <a:ea typeface="Cambria Math" panose="02040503050406030204" pitchFamily="18" charset="0"/>
                  </a:rPr>
                  <a:t>Experimental Probability</a:t>
                </a:r>
                <a:r>
                  <a:rPr lang="en-AU" sz="2000" dirty="0">
                    <a:ea typeface="Cambria Math" panose="02040503050406030204" pitchFamily="18" charset="0"/>
                  </a:rPr>
                  <a:t> and </a:t>
                </a:r>
                <a:r>
                  <a:rPr lang="en-AU" sz="2000" b="1" dirty="0">
                    <a:ea typeface="Cambria Math" panose="02040503050406030204" pitchFamily="18" charset="0"/>
                  </a:rPr>
                  <a:t>Theoretical Probability</a:t>
                </a:r>
              </a:p>
              <a:p>
                <a:pPr algn="ctr">
                  <a:lnSpc>
                    <a:spcPct val="150000"/>
                  </a:lnSpc>
                </a:pPr>
                <a:endParaRPr lang="en-AU" sz="2000" b="1" dirty="0"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AU" sz="2000" b="0" dirty="0">
                    <a:ea typeface="Cambria Math" panose="02040503050406030204" pitchFamily="18" charset="0"/>
                  </a:rPr>
                  <a:t>What actually happens 	vs.		 What we think will happen</a:t>
                </a:r>
              </a:p>
              <a:p>
                <a:pPr algn="ctr"/>
                <a:endParaRPr lang="en-AU" sz="2000" dirty="0"/>
              </a:p>
              <a:p>
                <a:pPr algn="ctr"/>
                <a:r>
                  <a:rPr lang="en-AU" dirty="0"/>
                  <a:t>P (event)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𝑒𝑣𝑒𝑛𝑡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𝑡𝑟𝑖𝑎𝑙𝑠</m:t>
                        </m:r>
                      </m:den>
                    </m:f>
                  </m:oMath>
                </a14:m>
                <a:r>
                  <a:rPr lang="en-AU" sz="2400" dirty="0"/>
                  <a:t>      </a:t>
                </a:r>
                <a:r>
                  <a:rPr lang="en-AU" dirty="0"/>
                  <a:t>P (event)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𝑓𝑎𝑣𝑜𝑟𝑎𝑏𝑙𝑒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𝑝𝑜𝑠𝑠𝑖𝑏𝑙𝑒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  <a:p>
                <a:pPr algn="ctr"/>
                <a:endParaRPr lang="en-AU" dirty="0"/>
              </a:p>
              <a:p>
                <a:pPr algn="ctr"/>
                <a:endParaRPr lang="en-AU" dirty="0"/>
              </a:p>
              <a:p>
                <a:pPr algn="ctr"/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839" y="1409536"/>
                <a:ext cx="10607624" cy="35644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8319839-30B6-4CB4-8594-17883E90D5F2}"/>
              </a:ext>
            </a:extLst>
          </p:cNvPr>
          <p:cNvCxnSpPr/>
          <p:nvPr/>
        </p:nvCxnSpPr>
        <p:spPr>
          <a:xfrm>
            <a:off x="4876800" y="2474227"/>
            <a:ext cx="0" cy="4153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7227D47-957E-4F37-9926-B6EFD46500F1}"/>
              </a:ext>
            </a:extLst>
          </p:cNvPr>
          <p:cNvCxnSpPr/>
          <p:nvPr/>
        </p:nvCxnSpPr>
        <p:spPr>
          <a:xfrm>
            <a:off x="8927661" y="2474227"/>
            <a:ext cx="0" cy="4153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403235A-B26A-4CE7-8926-11EA7A63D28E}"/>
              </a:ext>
            </a:extLst>
          </p:cNvPr>
          <p:cNvSpPr/>
          <p:nvPr/>
        </p:nvSpPr>
        <p:spPr>
          <a:xfrm>
            <a:off x="2211977" y="4503868"/>
            <a:ext cx="8186058" cy="2117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The Law of Large Numbers was first published in 1713 by </a:t>
            </a:r>
            <a:r>
              <a:rPr lang="en-US" altLang="en-US" dirty="0" err="1"/>
              <a:t>Jocob</a:t>
            </a:r>
            <a:r>
              <a:rPr lang="en-US" altLang="en-US" dirty="0"/>
              <a:t> Bernoulli.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It is a fundamental concept for probability and statistic.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This Law states that as the number of trials increase, the experimental probability will get closer and closer to the theoretical probability.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3131E3-EDD1-4176-B545-BF3D67D8BA7F}"/>
              </a:ext>
            </a:extLst>
          </p:cNvPr>
          <p:cNvSpPr txBox="1"/>
          <p:nvPr/>
        </p:nvSpPr>
        <p:spPr>
          <a:xfrm>
            <a:off x="-151080" y="4343652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The Law of Large numbers</a:t>
            </a:r>
          </a:p>
        </p:txBody>
      </p:sp>
      <p:pic>
        <p:nvPicPr>
          <p:cNvPr id="8" name="Picture 7" descr="A black and white photo of a person&#10;&#10;Description generated with high confidence">
            <a:extLst>
              <a:ext uri="{FF2B5EF4-FFF2-40B4-BE49-F238E27FC236}">
                <a16:creationId xmlns:a16="http://schemas.microsoft.com/office/drawing/2014/main" id="{D807BF9E-A43E-4B95-9C39-B22A358527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0416480" y="4371150"/>
            <a:ext cx="1586230" cy="192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160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972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18850" y="15095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 replacement?</a:t>
            </a:r>
            <a:r>
              <a:rPr lang="en-AU" sz="23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612571" y="1542854"/>
            <a:ext cx="9380417" cy="53091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AU" sz="2400" u="sng" dirty="0">
                <a:ea typeface="Cambria Math" panose="02040503050406030204" pitchFamily="18" charset="0"/>
              </a:rPr>
              <a:t>A two – way table is one way to display the outcome of a 2 step experiment, we use the results to calculate probability. </a:t>
            </a:r>
          </a:p>
          <a:p>
            <a:pPr algn="ctr">
              <a:lnSpc>
                <a:spcPct val="150000"/>
              </a:lnSpc>
            </a:pPr>
            <a:endParaRPr lang="en-AU" sz="2000" dirty="0">
              <a:ea typeface="Cambria Math" panose="02040503050406030204" pitchFamily="18" charset="0"/>
            </a:endParaRPr>
          </a:p>
          <a:p>
            <a:r>
              <a:rPr lang="en-AU" b="1" u="sng" dirty="0"/>
              <a:t>Example</a:t>
            </a:r>
          </a:p>
          <a:p>
            <a:r>
              <a:rPr lang="en-AU" dirty="0"/>
              <a:t>a dice is thrown and a coin is tossed.  Determine the possible outcomes</a:t>
            </a:r>
          </a:p>
          <a:p>
            <a:endParaRPr lang="en-AU" dirty="0"/>
          </a:p>
          <a:p>
            <a:r>
              <a:rPr lang="en-AU" dirty="0"/>
              <a:t>1. List all possible outcomes in a table.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algn="ctr">
              <a:lnSpc>
                <a:spcPct val="150000"/>
              </a:lnSpc>
            </a:pPr>
            <a:endParaRPr lang="en-AU" dirty="0"/>
          </a:p>
          <a:p>
            <a:pPr algn="ctr"/>
            <a:endParaRPr lang="en-A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BFDA34-36D6-4AF4-8C7B-1942B67BA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186529"/>
              </p:ext>
            </p:extLst>
          </p:nvPr>
        </p:nvGraphicFramePr>
        <p:xfrm>
          <a:off x="2612571" y="4311068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1599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ED5B39B-3BBD-4743-B6AB-2D2D41E82784}"/>
              </a:ext>
            </a:extLst>
          </p:cNvPr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Two Way Table</a:t>
            </a:r>
          </a:p>
        </p:txBody>
      </p:sp>
    </p:spTree>
    <p:extLst>
      <p:ext uri="{BB962C8B-B14F-4D97-AF65-F5344CB8AC3E}">
        <p14:creationId xmlns:p14="http://schemas.microsoft.com/office/powerpoint/2010/main" val="3266863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972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Two Way 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 replacement?</a:t>
            </a:r>
            <a:r>
              <a:rPr lang="en-AU" sz="23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612571" y="1542854"/>
            <a:ext cx="9380417" cy="51244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AU" sz="2000" u="sng" dirty="0">
                <a:ea typeface="Cambria Math" panose="02040503050406030204" pitchFamily="18" charset="0"/>
              </a:rPr>
              <a:t>A two – way table is one way to display the outcome of a 2 step experiment, we use the results to calculate probability. </a:t>
            </a:r>
          </a:p>
          <a:p>
            <a:pPr algn="ctr">
              <a:lnSpc>
                <a:spcPct val="150000"/>
              </a:lnSpc>
            </a:pPr>
            <a:endParaRPr lang="en-AU" sz="2000" u="sng" dirty="0">
              <a:ea typeface="Cambria Math" panose="02040503050406030204" pitchFamily="18" charset="0"/>
            </a:endParaRPr>
          </a:p>
          <a:p>
            <a:r>
              <a:rPr lang="en-AU" b="1" u="sng" dirty="0"/>
              <a:t>Example</a:t>
            </a:r>
          </a:p>
          <a:p>
            <a:r>
              <a:rPr lang="en-AU" dirty="0"/>
              <a:t>a dice is thrown and a coin is tossed.  Determine the possible outcomes</a:t>
            </a:r>
          </a:p>
          <a:p>
            <a:endParaRPr lang="en-AU" dirty="0"/>
          </a:p>
          <a:p>
            <a:r>
              <a:rPr lang="en-AU" dirty="0"/>
              <a:t>2. Fill in the table with all options.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algn="ctr">
              <a:lnSpc>
                <a:spcPct val="150000"/>
              </a:lnSpc>
            </a:pPr>
            <a:endParaRPr lang="en-AU" dirty="0"/>
          </a:p>
          <a:p>
            <a:pPr algn="ctr"/>
            <a:endParaRPr lang="en-A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BFDA34-36D6-4AF4-8C7B-1942B67BA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755822"/>
              </p:ext>
            </p:extLst>
          </p:nvPr>
        </p:nvGraphicFramePr>
        <p:xfrm>
          <a:off x="2670969" y="4100154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15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11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972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 replacement?</a:t>
            </a:r>
            <a:r>
              <a:rPr lang="en-AU" sz="23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612571" y="1542854"/>
            <a:ext cx="9380417" cy="41549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AU" sz="2000" u="sng" dirty="0">
                <a:ea typeface="Cambria Math" panose="02040503050406030204" pitchFamily="18" charset="0"/>
              </a:rPr>
              <a:t>A two – way table is one way to display the outcome of a 2 step experiment, we use the results to calculate probability. </a:t>
            </a:r>
          </a:p>
          <a:p>
            <a:pPr algn="ctr">
              <a:lnSpc>
                <a:spcPct val="150000"/>
              </a:lnSpc>
            </a:pPr>
            <a:endParaRPr lang="en-AU" sz="2000" u="sng" dirty="0">
              <a:ea typeface="Cambria Math" panose="02040503050406030204" pitchFamily="18" charset="0"/>
            </a:endParaRPr>
          </a:p>
          <a:p>
            <a:r>
              <a:rPr lang="en-AU" b="1" u="sng" dirty="0"/>
              <a:t>Example</a:t>
            </a:r>
          </a:p>
          <a:p>
            <a:r>
              <a:rPr lang="en-AU" dirty="0"/>
              <a:t>a dice is thrown and a coin is tossed.  Determine the possible outcomes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Using your table, determine the probability of;</a:t>
            </a:r>
          </a:p>
          <a:p>
            <a:r>
              <a:rPr lang="en-AU" dirty="0"/>
              <a:t>	1. getting a 4 and a tails?  - This is written as </a:t>
            </a:r>
            <a:r>
              <a:rPr lang="en-AU" b="1" u="sng" dirty="0"/>
              <a:t>P{4 and T}</a:t>
            </a:r>
          </a:p>
          <a:p>
            <a:pPr algn="ctr"/>
            <a:endParaRPr lang="en-A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BFDA34-36D6-4AF4-8C7B-1942B67BA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046090"/>
              </p:ext>
            </p:extLst>
          </p:nvPr>
        </p:nvGraphicFramePr>
        <p:xfrm>
          <a:off x="2670969" y="3543894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1599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06849D5-6D38-4AE4-B6A4-20895013C4CB}"/>
              </a:ext>
            </a:extLst>
          </p:cNvPr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Two Way Table</a:t>
            </a:r>
          </a:p>
        </p:txBody>
      </p:sp>
    </p:spTree>
    <p:extLst>
      <p:ext uri="{BB962C8B-B14F-4D97-AF65-F5344CB8AC3E}">
        <p14:creationId xmlns:p14="http://schemas.microsoft.com/office/powerpoint/2010/main" val="1577592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972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 replacement?</a:t>
            </a:r>
            <a:r>
              <a:rPr lang="en-AU" sz="23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2612571" y="1542854"/>
                <a:ext cx="9380417" cy="45895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AU" sz="2000" dirty="0">
                    <a:ea typeface="Cambria Math" panose="02040503050406030204" pitchFamily="18" charset="0"/>
                  </a:rPr>
                  <a:t>A two – way table is one way to display the outcome of a 2 step experiment, we use the results to calculate probability. </a:t>
                </a:r>
              </a:p>
              <a:p>
                <a:pPr algn="ctr">
                  <a:lnSpc>
                    <a:spcPct val="150000"/>
                  </a:lnSpc>
                </a:pPr>
                <a:endParaRPr lang="en-AU" sz="2000" dirty="0">
                  <a:ea typeface="Cambria Math" panose="02040503050406030204" pitchFamily="18" charset="0"/>
                </a:endParaRPr>
              </a:p>
              <a:p>
                <a:r>
                  <a:rPr lang="en-AU" b="1" u="sng" dirty="0"/>
                  <a:t>Example</a:t>
                </a:r>
              </a:p>
              <a:p>
                <a:r>
                  <a:rPr lang="en-AU" dirty="0"/>
                  <a:t>a dice is thrown and a coin is tossed.  Determine the possible outcomes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What is the probability of;</a:t>
                </a:r>
              </a:p>
              <a:p>
                <a:r>
                  <a:rPr lang="en-AU" dirty="0"/>
                  <a:t>	1. getting a 4 and a tails? </a:t>
                </a:r>
                <a:r>
                  <a:rPr lang="en-AU" b="1" u="sng" dirty="0"/>
                  <a:t>P{4 and T}</a:t>
                </a:r>
                <a:r>
                  <a:rPr lang="en-AU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AU" dirty="0"/>
                  <a:t> - this is also 0.0833, or 8.33%. </a:t>
                </a:r>
              </a:p>
              <a:p>
                <a:pPr algn="ctr"/>
                <a:endParaRPr lang="en-AU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571" y="1542854"/>
                <a:ext cx="9380417" cy="4589590"/>
              </a:xfrm>
              <a:prstGeom prst="rect">
                <a:avLst/>
              </a:prstGeom>
              <a:blipFill>
                <a:blip r:embed="rId3"/>
                <a:stretch>
                  <a:fillRect l="-1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BFDA34-36D6-4AF4-8C7B-1942B67BAC9D}"/>
              </a:ext>
            </a:extLst>
          </p:cNvPr>
          <p:cNvGraphicFramePr>
            <a:graphicFrameLocks noGrp="1"/>
          </p:cNvGraphicFramePr>
          <p:nvPr/>
        </p:nvGraphicFramePr>
        <p:xfrm>
          <a:off x="2670969" y="3786812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15990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475EB847-A4DC-4137-A080-1CFD3E82E09F}"/>
              </a:ext>
            </a:extLst>
          </p:cNvPr>
          <p:cNvSpPr/>
          <p:nvPr/>
        </p:nvSpPr>
        <p:spPr>
          <a:xfrm>
            <a:off x="7330440" y="4509675"/>
            <a:ext cx="1021080" cy="3896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03E8E6-ED2C-441A-865F-E139E8DB98BB}"/>
              </a:ext>
            </a:extLst>
          </p:cNvPr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Two Way Table</a:t>
            </a:r>
          </a:p>
        </p:txBody>
      </p:sp>
    </p:spTree>
    <p:extLst>
      <p:ext uri="{BB962C8B-B14F-4D97-AF65-F5344CB8AC3E}">
        <p14:creationId xmlns:p14="http://schemas.microsoft.com/office/powerpoint/2010/main" val="327942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972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 replacement?</a:t>
            </a:r>
            <a:r>
              <a:rPr lang="en-AU" sz="23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2612571" y="1542854"/>
                <a:ext cx="9380417" cy="48992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AU" sz="2000" dirty="0">
                    <a:ea typeface="Cambria Math" panose="02040503050406030204" pitchFamily="18" charset="0"/>
                  </a:rPr>
                  <a:t>A two – way table is one way to display the outcome of a 2 step experiment, we use the results to calculate probability. </a:t>
                </a:r>
              </a:p>
              <a:p>
                <a:r>
                  <a:rPr lang="en-AU" b="1" u="sng" dirty="0"/>
                  <a:t>Example</a:t>
                </a:r>
              </a:p>
              <a:p>
                <a:r>
                  <a:rPr lang="en-AU" dirty="0"/>
                  <a:t>a dice is thrown and a coin is tossed.  Determine the possible outcomes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What is the probability of;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1. 4 and a tails?   P(4 and 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2. &lt;5 and heads? P(&lt;5 and H) = </a:t>
                </a:r>
              </a:p>
              <a:p>
                <a:pPr algn="ctr"/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571" y="1542854"/>
                <a:ext cx="9380417" cy="4899226"/>
              </a:xfrm>
              <a:prstGeom prst="rect">
                <a:avLst/>
              </a:prstGeom>
              <a:blipFill>
                <a:blip r:embed="rId3"/>
                <a:stretch>
                  <a:fillRect l="-15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BFDA34-36D6-4AF4-8C7B-1942B67BA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376862"/>
              </p:ext>
            </p:extLst>
          </p:nvPr>
        </p:nvGraphicFramePr>
        <p:xfrm>
          <a:off x="2670969" y="3230552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15990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475EB847-A4DC-4137-A080-1CFD3E82E09F}"/>
              </a:ext>
            </a:extLst>
          </p:cNvPr>
          <p:cNvSpPr/>
          <p:nvPr/>
        </p:nvSpPr>
        <p:spPr>
          <a:xfrm>
            <a:off x="7302779" y="3953414"/>
            <a:ext cx="1021080" cy="3896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327BCF-C61B-4D22-A8FB-C8A81198671A}"/>
              </a:ext>
            </a:extLst>
          </p:cNvPr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Two Way Table</a:t>
            </a:r>
          </a:p>
        </p:txBody>
      </p:sp>
    </p:spTree>
    <p:extLst>
      <p:ext uri="{BB962C8B-B14F-4D97-AF65-F5344CB8AC3E}">
        <p14:creationId xmlns:p14="http://schemas.microsoft.com/office/powerpoint/2010/main" val="343598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972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 replacement?</a:t>
            </a:r>
            <a:r>
              <a:rPr lang="en-AU" sz="23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2612571" y="1542854"/>
                <a:ext cx="9380417" cy="48610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AU" sz="2000" dirty="0">
                    <a:ea typeface="Cambria Math" panose="02040503050406030204" pitchFamily="18" charset="0"/>
                  </a:rPr>
                  <a:t>A two – way table is one way to display the outcome of a 2 step experiment, we use the results to calculate probability. </a:t>
                </a:r>
              </a:p>
              <a:p>
                <a:r>
                  <a:rPr lang="en-AU" b="1" u="sng" dirty="0"/>
                  <a:t>Example</a:t>
                </a:r>
              </a:p>
              <a:p>
                <a:r>
                  <a:rPr lang="en-AU" dirty="0"/>
                  <a:t>a dice is thrown and a coin is tossed.  Determine the possible outcomes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What is the probability of;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1. 4 and a tails?   P(4 and 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2. &lt;5 and heads? P(&lt;5 and H)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nor/>
                      </m:rPr>
                      <a:rPr lang="en-AU" sz="2000" dirty="0"/>
                      <m:t>= </m:t>
                    </m:r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  <a:p>
                <a:pPr algn="ctr"/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571" y="1542854"/>
                <a:ext cx="9380417" cy="4861074"/>
              </a:xfrm>
              <a:prstGeom prst="rect">
                <a:avLst/>
              </a:prstGeom>
              <a:blipFill>
                <a:blip r:embed="rId3"/>
                <a:stretch>
                  <a:fillRect l="-15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BFDA34-36D6-4AF4-8C7B-1942B67BA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130984"/>
              </p:ext>
            </p:extLst>
          </p:nvPr>
        </p:nvGraphicFramePr>
        <p:xfrm>
          <a:off x="2583255" y="3202325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15990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475EB847-A4DC-4137-A080-1CFD3E82E09F}"/>
              </a:ext>
            </a:extLst>
          </p:cNvPr>
          <p:cNvSpPr/>
          <p:nvPr/>
        </p:nvSpPr>
        <p:spPr>
          <a:xfrm>
            <a:off x="6043865" y="3514242"/>
            <a:ext cx="1206779" cy="4454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A8CD690-D8C8-490F-86C4-69EFFCFA900D}"/>
              </a:ext>
            </a:extLst>
          </p:cNvPr>
          <p:cNvSpPr/>
          <p:nvPr/>
        </p:nvSpPr>
        <p:spPr>
          <a:xfrm>
            <a:off x="7185005" y="3511509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D2AF1A2-3E68-4353-B893-3B827B2E1C8C}"/>
              </a:ext>
            </a:extLst>
          </p:cNvPr>
          <p:cNvSpPr/>
          <p:nvPr/>
        </p:nvSpPr>
        <p:spPr>
          <a:xfrm>
            <a:off x="4876240" y="3533339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F9C0CCA-1BD4-45EB-931B-4AC6081869E4}"/>
              </a:ext>
            </a:extLst>
          </p:cNvPr>
          <p:cNvSpPr/>
          <p:nvPr/>
        </p:nvSpPr>
        <p:spPr>
          <a:xfrm>
            <a:off x="3662155" y="3485520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126BA9-2423-4045-B4D2-9D19397E3F0D}"/>
              </a:ext>
            </a:extLst>
          </p:cNvPr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Two Way Table</a:t>
            </a:r>
          </a:p>
        </p:txBody>
      </p:sp>
    </p:spTree>
    <p:extLst>
      <p:ext uri="{BB962C8B-B14F-4D97-AF65-F5344CB8AC3E}">
        <p14:creationId xmlns:p14="http://schemas.microsoft.com/office/powerpoint/2010/main" val="3941387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972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 replacement?</a:t>
            </a:r>
            <a:r>
              <a:rPr lang="en-AU" sz="23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2612571" y="1542854"/>
                <a:ext cx="9380417" cy="52765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AU" sz="2000" dirty="0">
                    <a:ea typeface="Cambria Math" panose="02040503050406030204" pitchFamily="18" charset="0"/>
                  </a:rPr>
                  <a:t>A two – way table is one way to display the outcome of a 2 step experiment, we use the results to calculate probability. </a:t>
                </a:r>
              </a:p>
              <a:p>
                <a:r>
                  <a:rPr lang="en-AU" b="1" u="sng" dirty="0"/>
                  <a:t>Example</a:t>
                </a:r>
              </a:p>
              <a:p>
                <a:r>
                  <a:rPr lang="en-AU" dirty="0"/>
                  <a:t>a dice is thrown and a coin is tossed.  Determine the possible outcomes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What is the probability of;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1. 4 and a tails?   - P{4 and }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2. &lt;5 and heads? - P{&lt;5 and H}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nor/>
                      </m:rPr>
                      <a:rPr lang="en-AU" sz="2000" dirty="0"/>
                      <m:t>= </m:t>
                    </m:r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3. Anything but 3? - P{3’}</a:t>
                </a:r>
              </a:p>
              <a:p>
                <a:pPr algn="ctr"/>
                <a:endParaRPr lang="en-AU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571" y="1542854"/>
                <a:ext cx="9380417" cy="5276573"/>
              </a:xfrm>
              <a:prstGeom prst="rect">
                <a:avLst/>
              </a:prstGeom>
              <a:blipFill>
                <a:blip r:embed="rId3"/>
                <a:stretch>
                  <a:fillRect l="-1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BFDA34-36D6-4AF4-8C7B-1942B67BAC9D}"/>
              </a:ext>
            </a:extLst>
          </p:cNvPr>
          <p:cNvGraphicFramePr>
            <a:graphicFrameLocks noGrp="1"/>
          </p:cNvGraphicFramePr>
          <p:nvPr/>
        </p:nvGraphicFramePr>
        <p:xfrm>
          <a:off x="2583255" y="3202325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15990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475EB847-A4DC-4137-A080-1CFD3E82E09F}"/>
              </a:ext>
            </a:extLst>
          </p:cNvPr>
          <p:cNvSpPr/>
          <p:nvPr/>
        </p:nvSpPr>
        <p:spPr>
          <a:xfrm>
            <a:off x="6043865" y="3514242"/>
            <a:ext cx="1206779" cy="4454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A8CD690-D8C8-490F-86C4-69EFFCFA900D}"/>
              </a:ext>
            </a:extLst>
          </p:cNvPr>
          <p:cNvSpPr/>
          <p:nvPr/>
        </p:nvSpPr>
        <p:spPr>
          <a:xfrm>
            <a:off x="7185005" y="3511509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D2AF1A2-3E68-4353-B893-3B827B2E1C8C}"/>
              </a:ext>
            </a:extLst>
          </p:cNvPr>
          <p:cNvSpPr/>
          <p:nvPr/>
        </p:nvSpPr>
        <p:spPr>
          <a:xfrm>
            <a:off x="4876240" y="3533339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F9C0CCA-1BD4-45EB-931B-4AC6081869E4}"/>
              </a:ext>
            </a:extLst>
          </p:cNvPr>
          <p:cNvSpPr/>
          <p:nvPr/>
        </p:nvSpPr>
        <p:spPr>
          <a:xfrm>
            <a:off x="3662155" y="3485520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801D9B-0A3D-4D4A-91BC-97869E3CD272}"/>
              </a:ext>
            </a:extLst>
          </p:cNvPr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Two Way Table</a:t>
            </a:r>
          </a:p>
        </p:txBody>
      </p:sp>
    </p:spTree>
    <p:extLst>
      <p:ext uri="{BB962C8B-B14F-4D97-AF65-F5344CB8AC3E}">
        <p14:creationId xmlns:p14="http://schemas.microsoft.com/office/powerpoint/2010/main" val="387505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8972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 replacement?</a:t>
            </a:r>
            <a:r>
              <a:rPr lang="en-AU" sz="23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0" y="1290219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2612571" y="1542854"/>
                <a:ext cx="9380417" cy="5523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AU" sz="2000" dirty="0">
                    <a:ea typeface="Cambria Math" panose="02040503050406030204" pitchFamily="18" charset="0"/>
                  </a:rPr>
                  <a:t>A two – way table is one way to display the outcome of a 2 step experiment, we use the results to calculate probability. </a:t>
                </a:r>
              </a:p>
              <a:p>
                <a:r>
                  <a:rPr lang="en-AU" b="1" u="sng" dirty="0"/>
                  <a:t>Example</a:t>
                </a:r>
              </a:p>
              <a:p>
                <a:r>
                  <a:rPr lang="en-AU" dirty="0"/>
                  <a:t>a dice is thrown and a coin is tossed.  Determine the possible outcomes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What is the probability of;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1. 4 and a tails?   - P{4 and }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2. &lt;5 and heads? - P{&lt;5 and H}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nor/>
                      </m:rPr>
                      <a:rPr lang="en-AU" sz="2000" dirty="0"/>
                      <m:t>= </m:t>
                    </m:r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	3. Anything but 3? - P{3’}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AU" sz="20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dirty="0"/>
              </a:p>
              <a:p>
                <a:pPr algn="ctr"/>
                <a:endParaRPr lang="en-AU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571" y="1542854"/>
                <a:ext cx="9380417" cy="5523500"/>
              </a:xfrm>
              <a:prstGeom prst="rect">
                <a:avLst/>
              </a:prstGeom>
              <a:blipFill>
                <a:blip r:embed="rId3"/>
                <a:stretch>
                  <a:fillRect l="-1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BFDA34-36D6-4AF4-8C7B-1942B67BAC9D}"/>
              </a:ext>
            </a:extLst>
          </p:cNvPr>
          <p:cNvGraphicFramePr>
            <a:graphicFrameLocks noGrp="1"/>
          </p:cNvGraphicFramePr>
          <p:nvPr/>
        </p:nvGraphicFramePr>
        <p:xfrm>
          <a:off x="2583255" y="3202325"/>
          <a:ext cx="81280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58689868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2596241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9981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764094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93076684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52745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06428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27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Heads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09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5, 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6, 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15990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475EB847-A4DC-4137-A080-1CFD3E82E09F}"/>
              </a:ext>
            </a:extLst>
          </p:cNvPr>
          <p:cNvSpPr/>
          <p:nvPr/>
        </p:nvSpPr>
        <p:spPr>
          <a:xfrm>
            <a:off x="4838786" y="3928808"/>
            <a:ext cx="1206779" cy="4454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A8CD690-D8C8-490F-86C4-69EFFCFA900D}"/>
              </a:ext>
            </a:extLst>
          </p:cNvPr>
          <p:cNvSpPr/>
          <p:nvPr/>
        </p:nvSpPr>
        <p:spPr>
          <a:xfrm>
            <a:off x="7185005" y="3511509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D2AF1A2-3E68-4353-B893-3B827B2E1C8C}"/>
              </a:ext>
            </a:extLst>
          </p:cNvPr>
          <p:cNvSpPr/>
          <p:nvPr/>
        </p:nvSpPr>
        <p:spPr>
          <a:xfrm>
            <a:off x="3679051" y="3900183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F9C0CCA-1BD4-45EB-931B-4AC6081869E4}"/>
              </a:ext>
            </a:extLst>
          </p:cNvPr>
          <p:cNvSpPr/>
          <p:nvPr/>
        </p:nvSpPr>
        <p:spPr>
          <a:xfrm>
            <a:off x="3662155" y="3485520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F4844C5-64ED-4956-838D-18C6532DD61E}"/>
              </a:ext>
            </a:extLst>
          </p:cNvPr>
          <p:cNvSpPr/>
          <p:nvPr/>
        </p:nvSpPr>
        <p:spPr>
          <a:xfrm>
            <a:off x="4868933" y="3518977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AF985B7-9180-4A12-B32F-14A82131C2F9}"/>
              </a:ext>
            </a:extLst>
          </p:cNvPr>
          <p:cNvSpPr/>
          <p:nvPr/>
        </p:nvSpPr>
        <p:spPr>
          <a:xfrm>
            <a:off x="7235447" y="3900183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5238CC6-6DFD-4E60-8F6D-843B73BDB462}"/>
              </a:ext>
            </a:extLst>
          </p:cNvPr>
          <p:cNvSpPr/>
          <p:nvPr/>
        </p:nvSpPr>
        <p:spPr>
          <a:xfrm>
            <a:off x="8372651" y="3518977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4E1532F-B1D2-4E96-B412-4910221BC53B}"/>
              </a:ext>
            </a:extLst>
          </p:cNvPr>
          <p:cNvSpPr/>
          <p:nvPr/>
        </p:nvSpPr>
        <p:spPr>
          <a:xfrm>
            <a:off x="8372651" y="3916911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DDEC165-F604-47C3-B1E2-E826790317CD}"/>
              </a:ext>
            </a:extLst>
          </p:cNvPr>
          <p:cNvSpPr/>
          <p:nvPr/>
        </p:nvSpPr>
        <p:spPr>
          <a:xfrm>
            <a:off x="9501077" y="3518977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E0473A7-20A1-4E75-B06F-1A22346B08E4}"/>
              </a:ext>
            </a:extLst>
          </p:cNvPr>
          <p:cNvSpPr/>
          <p:nvPr/>
        </p:nvSpPr>
        <p:spPr>
          <a:xfrm>
            <a:off x="9548299" y="3916911"/>
            <a:ext cx="1206778" cy="4454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A6BE66-E507-442D-8ABA-3C41077CA9ED}"/>
              </a:ext>
            </a:extLst>
          </p:cNvPr>
          <p:cNvSpPr txBox="1"/>
          <p:nvPr/>
        </p:nvSpPr>
        <p:spPr>
          <a:xfrm>
            <a:off x="73005" y="1738377"/>
            <a:ext cx="200181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Two Way Table</a:t>
            </a:r>
          </a:p>
        </p:txBody>
      </p:sp>
    </p:spTree>
    <p:extLst>
      <p:ext uri="{BB962C8B-B14F-4D97-AF65-F5344CB8AC3E}">
        <p14:creationId xmlns:p14="http://schemas.microsoft.com/office/powerpoint/2010/main" val="2275629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B29DE-E6F6-4214-918E-11B8236CC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744" y="1804746"/>
            <a:ext cx="9464040" cy="437762"/>
          </a:xfrm>
        </p:spPr>
        <p:txBody>
          <a:bodyPr>
            <a:normAutofit fontScale="90000"/>
          </a:bodyPr>
          <a:lstStyle/>
          <a:p>
            <a:r>
              <a:rPr lang="en-AU" dirty="0"/>
              <a:t>Worked example.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B88F6-4FD7-4C15-9466-1FA03502F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10" y="1707026"/>
            <a:ext cx="5977890" cy="2128881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Jeff owns a brown shirt, a white shirt and a black shirt.  He also owns a pair of black pants and a pair of blue jeans.  How many combinations can he make from these items.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1FB38C-C6FA-49F6-AD1E-577C6FFD6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634" y="1229102"/>
            <a:ext cx="1245870" cy="4057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73BDBE-BCAC-427A-BF37-4A5B8E93C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981" y="1241211"/>
            <a:ext cx="4394909" cy="26583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195017-B098-4397-943A-B414FDC1E5BB}"/>
              </a:ext>
            </a:extLst>
          </p:cNvPr>
          <p:cNvSpPr txBox="1"/>
          <p:nvPr/>
        </p:nvSpPr>
        <p:spPr>
          <a:xfrm>
            <a:off x="118110" y="5488765"/>
            <a:ext cx="6129673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What is the Probability that today Jeff is wearing black pants and a blue or brown shirt?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8944FE-66A5-42D5-A523-E49933C4D6CE}"/>
              </a:ext>
            </a:extLst>
          </p:cNvPr>
          <p:cNvSpPr txBox="1"/>
          <p:nvPr/>
        </p:nvSpPr>
        <p:spPr>
          <a:xfrm>
            <a:off x="118110" y="4057650"/>
            <a:ext cx="6707431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What is the probability that;</a:t>
            </a:r>
          </a:p>
          <a:p>
            <a:r>
              <a:rPr lang="en-AU" sz="2160" dirty="0"/>
              <a:t>Today Jeff is wearing a white shirt and blue jeans?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AEB37-CF8C-B740-9575-8FC7A52592D5}"/>
              </a:ext>
            </a:extLst>
          </p:cNvPr>
          <p:cNvSpPr txBox="1"/>
          <p:nvPr/>
        </p:nvSpPr>
        <p:spPr>
          <a:xfrm>
            <a:off x="7895764" y="4602414"/>
            <a:ext cx="3961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Sample Space </a:t>
            </a:r>
            <a:r>
              <a:rPr lang="en-US" dirty="0"/>
              <a:t>                        n=6.</a:t>
            </a:r>
          </a:p>
          <a:p>
            <a:r>
              <a:rPr lang="en-US" dirty="0"/>
              <a:t>{ </a:t>
            </a:r>
            <a:r>
              <a:rPr lang="en-US" dirty="0" err="1"/>
              <a:t>BaBa</a:t>
            </a:r>
            <a:r>
              <a:rPr lang="en-US" dirty="0"/>
              <a:t>, </a:t>
            </a:r>
            <a:r>
              <a:rPr lang="en-US" dirty="0" err="1"/>
              <a:t>BaBl</a:t>
            </a:r>
            <a:r>
              <a:rPr lang="en-US" dirty="0"/>
              <a:t>, </a:t>
            </a:r>
            <a:r>
              <a:rPr lang="en-US" dirty="0" err="1"/>
              <a:t>BrBa</a:t>
            </a:r>
            <a:r>
              <a:rPr lang="en-US" dirty="0"/>
              <a:t>, </a:t>
            </a:r>
            <a:r>
              <a:rPr lang="en-US" dirty="0" err="1"/>
              <a:t>BrBl</a:t>
            </a:r>
            <a:r>
              <a:rPr lang="en-US" dirty="0"/>
              <a:t>, </a:t>
            </a:r>
            <a:r>
              <a:rPr lang="en-US" dirty="0" err="1"/>
              <a:t>Wba</a:t>
            </a:r>
            <a:r>
              <a:rPr lang="en-US" dirty="0"/>
              <a:t>, </a:t>
            </a:r>
            <a:r>
              <a:rPr lang="en-US" dirty="0" err="1"/>
              <a:t>WBl</a:t>
            </a:r>
            <a:r>
              <a:rPr lang="en-US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CF750-D2F5-0F4D-9C8C-28D3DDD4E401}"/>
              </a:ext>
            </a:extLst>
          </p:cNvPr>
          <p:cNvSpPr txBox="1"/>
          <p:nvPr/>
        </p:nvSpPr>
        <p:spPr>
          <a:xfrm>
            <a:off x="7964069" y="5432123"/>
            <a:ext cx="3581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 = Black, </a:t>
            </a:r>
            <a:r>
              <a:rPr lang="en-US" dirty="0" err="1"/>
              <a:t>Bl</a:t>
            </a:r>
            <a:r>
              <a:rPr lang="en-US" dirty="0"/>
              <a:t> = Blue, W= White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768F5B-7A34-1E47-8EA5-84F98355D61D}"/>
              </a:ext>
            </a:extLst>
          </p:cNvPr>
          <p:cNvSpPr/>
          <p:nvPr/>
        </p:nvSpPr>
        <p:spPr>
          <a:xfrm>
            <a:off x="7895764" y="4602414"/>
            <a:ext cx="3820748" cy="11990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1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{1914B0F4-D167-E647-B925-DD6B491DD2A7}tf10001121</Template>
  <TotalTime>6243</TotalTime>
  <Words>1390</Words>
  <Application>Microsoft Macintosh PowerPoint</Application>
  <PresentationFormat>Widescreen</PresentationFormat>
  <Paragraphs>412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Cambria Math</vt:lpstr>
      <vt:lpstr>Century Gothic</vt:lpstr>
      <vt:lpstr>DJB Fancy Nancy</vt:lpstr>
      <vt:lpstr>Kiwi School Handwriting</vt:lpstr>
      <vt:lpstr>Wingdings 2</vt:lpstr>
      <vt:lpstr>Quotable</vt:lpstr>
      <vt:lpstr>Topic: Two step Probability with replacement  EQ: What is experimental probability with replacement?</vt:lpstr>
      <vt:lpstr>Topic: Two step Probability with replacement  EQ: What is experimental probability with replacement?</vt:lpstr>
      <vt:lpstr>Two Step Probability With Replacement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Worked example.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POWER Travis [Baldivis Secondary College]</cp:lastModifiedBy>
  <cp:revision>23</cp:revision>
  <dcterms:created xsi:type="dcterms:W3CDTF">2017-10-15T23:31:24Z</dcterms:created>
  <dcterms:modified xsi:type="dcterms:W3CDTF">2019-05-13T13:26:35Z</dcterms:modified>
</cp:coreProperties>
</file>
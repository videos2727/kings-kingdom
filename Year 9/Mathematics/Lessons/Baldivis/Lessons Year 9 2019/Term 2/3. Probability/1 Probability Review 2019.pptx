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2"/>
  </p:notesMasterIdLst>
  <p:sldIdLst>
    <p:sldId id="257" r:id="rId2"/>
    <p:sldId id="259" r:id="rId3"/>
    <p:sldId id="263" r:id="rId4"/>
    <p:sldId id="260" r:id="rId5"/>
    <p:sldId id="261" r:id="rId6"/>
    <p:sldId id="264" r:id="rId7"/>
    <p:sldId id="265" r:id="rId8"/>
    <p:sldId id="266" r:id="rId9"/>
    <p:sldId id="27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2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1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7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1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42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30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2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22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28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71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701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554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40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20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746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447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82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771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36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5604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600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867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Kiwi School Handwriting" panose="00000500000000000000" pitchFamily="2" charset="0"/>
              </a:rPr>
              <a:t>Probability review</a:t>
            </a:r>
            <a:endParaRPr lang="en-US" b="1" dirty="0">
              <a:solidFill>
                <a:schemeClr val="tx1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115925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Kiwi School Handwriting" panose="00000500000000000000" pitchFamily="2" charset="0"/>
              </a:rPr>
              <a:t>Year 9 2019</a:t>
            </a:r>
            <a:endParaRPr lang="en-US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b="1" dirty="0"/>
              <a:t>Probability</a:t>
            </a:r>
            <a:r>
              <a:rPr lang="en-US" sz="3200" dirty="0"/>
              <a:t>: is the likelihood that an event will occur.</a:t>
            </a:r>
          </a:p>
          <a:p>
            <a:pPr lvl="1">
              <a:defRPr/>
            </a:pPr>
            <a:r>
              <a:rPr lang="en-US" sz="3200" dirty="0"/>
              <a:t>Probability can be written as a fraction or decimal.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14" name="Picture 1" descr="prob[1]">
            <a:extLst>
              <a:ext uri="{FF2B5EF4-FFF2-40B4-BE49-F238E27FC236}">
                <a16:creationId xmlns:a16="http://schemas.microsoft.com/office/drawing/2014/main" id="{04A2866A-E7E8-4002-BB5B-BCC77343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500718"/>
            <a:ext cx="87645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>
            <a:extLst>
              <a:ext uri="{FF2B5EF4-FFF2-40B4-BE49-F238E27FC236}">
                <a16:creationId xmlns:a16="http://schemas.microsoft.com/office/drawing/2014/main" id="{A743B007-EE6F-4CD5-BDCF-4E46B90B5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62718"/>
            <a:ext cx="1905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B06CDCE4-1D90-48C5-8CFA-1C5A35D8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729318"/>
            <a:ext cx="2209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994ED137-78AB-4C70-8B82-F0FA42183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262718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 dirty="0">
                <a:cs typeface="Times New Roman" panose="02020603050405020304" pitchFamily="18" charset="0"/>
              </a:rPr>
            </a:br>
            <a:br>
              <a:rPr lang="en-US" altLang="en-US" sz="1400" b="0" dirty="0">
                <a:cs typeface="Times New Roman" panose="02020603050405020304" pitchFamily="18" charset="0"/>
              </a:rPr>
            </a:br>
            <a:endParaRPr lang="en-US" altLang="en-US" sz="1800" b="0" dirty="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A28B8D8C-58DF-48FA-A157-01F4D483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729318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60DC615B-0966-463B-AFB6-249E88A28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29318"/>
            <a:ext cx="312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id="{38CA0ADA-FEE1-4F90-8A53-66EF28B0864F}"/>
              </a:ext>
            </a:extLst>
          </p:cNvPr>
          <p:cNvSpPr txBox="1">
            <a:spLocks noChangeArrowheads="1"/>
          </p:cNvSpPr>
          <p:nvPr/>
        </p:nvSpPr>
        <p:spPr>
          <a:xfrm>
            <a:off x="1847528" y="1414601"/>
            <a:ext cx="9144000" cy="534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2800" b="1" dirty="0"/>
              <a:t>Probability is always between 0 and 1.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0 means that the event will NEVER happen. </a:t>
            </a:r>
          </a:p>
          <a:p>
            <a:pPr lvl="1">
              <a:defRPr/>
            </a:pPr>
            <a:r>
              <a:rPr lang="en-US" sz="2800" dirty="0"/>
              <a:t>Example: The probability that the Perth Wildcats will win the AFL Grand Final in 2019.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/>
              <a:t>Probability = 1 means the event will ALWAYS happen.</a:t>
            </a:r>
          </a:p>
          <a:p>
            <a:pPr lvl="1">
              <a:defRPr/>
            </a:pPr>
            <a:r>
              <a:rPr lang="en-US" sz="2800" dirty="0"/>
              <a:t> Example: The probability that Christmas will be on December 25</a:t>
            </a:r>
            <a:r>
              <a:rPr lang="en-US" sz="2800" baseline="30000" dirty="0"/>
              <a:t>th</a:t>
            </a:r>
            <a:r>
              <a:rPr lang="en-US" sz="2800" dirty="0"/>
              <a:t> next year.</a:t>
            </a:r>
          </a:p>
          <a:p>
            <a:pPr lvl="1"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defRPr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0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904" y="36582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tx1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tx1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68064-A396-456A-A56D-2B0AB9EF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4" y="1925075"/>
            <a:ext cx="9413454" cy="456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5B15BDD-A090-4F9B-A148-7E5FEE2C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1" y="1934503"/>
            <a:ext cx="7851223" cy="24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6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  <a:r>
              <a:rPr lang="en-AU" sz="3200" b="1" dirty="0">
                <a:latin typeface="Kiwi School Handwriting" panose="00000500000000000000" pitchFamily="2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965F1D7-7C28-4A0B-8C2F-5DFBF2B7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160" y="1463490"/>
            <a:ext cx="5692004" cy="5317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8270" y="1280057"/>
            <a:ext cx="352743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b="1" dirty="0"/>
              <a:t>Sample space: </a:t>
            </a:r>
            <a:r>
              <a:rPr lang="en-US" altLang="en-US" sz="2400" dirty="0"/>
              <a:t>A list of all the possible outcomes.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{</a:t>
            </a:r>
            <a:r>
              <a:rPr lang="en-US" altLang="en-US" sz="2400" u="sng" dirty="0"/>
              <a:t> } - </a:t>
            </a:r>
            <a:r>
              <a:rPr lang="en-US" altLang="en-US" sz="2400" dirty="0"/>
              <a:t>These brackets we use when listing sample space</a:t>
            </a:r>
          </a:p>
          <a:p>
            <a:pPr>
              <a:defRPr/>
            </a:pPr>
            <a:endParaRPr lang="en-US" altLang="en-US" sz="2400" dirty="0"/>
          </a:p>
          <a:p>
            <a:pPr>
              <a:defRPr/>
            </a:pPr>
            <a:r>
              <a:rPr lang="en-US" altLang="en-US" sz="2400" u="sng" dirty="0"/>
              <a:t>&lt; 3 </a:t>
            </a:r>
            <a:r>
              <a:rPr lang="en-US" altLang="en-US" sz="2400" dirty="0"/>
              <a:t>means less than 3, so </a:t>
            </a:r>
            <a:r>
              <a:rPr lang="en-US" altLang="en-US" sz="2400" u="sng" dirty="0"/>
              <a:t>1</a:t>
            </a:r>
            <a:r>
              <a:rPr lang="en-US" altLang="en-US" sz="2400" dirty="0"/>
              <a:t>OR </a:t>
            </a:r>
            <a:r>
              <a:rPr lang="en-US" altLang="en-US" sz="2400" u="sng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7" y="3939988"/>
            <a:ext cx="5123329" cy="1008530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74256" y="5836024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411521" y="4948518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775" y="5486818"/>
            <a:ext cx="4431567" cy="13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dirty="0"/>
              <a:t>&gt; 6 means any number larger than 6, in our sample space.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388" y="5298980"/>
            <a:ext cx="4315026" cy="13239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A79693-DA24-4D70-BE36-81245992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009" y="1394582"/>
            <a:ext cx="5964352" cy="5228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B21444-CE47-4915-91A1-4C5197277009}"/>
              </a:ext>
            </a:extLst>
          </p:cNvPr>
          <p:cNvSpPr/>
          <p:nvPr/>
        </p:nvSpPr>
        <p:spPr>
          <a:xfrm>
            <a:off x="2474256" y="3939988"/>
            <a:ext cx="5123329" cy="90055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8E116-2E75-4494-AB56-8713DC2FAC0B}"/>
              </a:ext>
            </a:extLst>
          </p:cNvPr>
          <p:cNvSpPr/>
          <p:nvPr/>
        </p:nvSpPr>
        <p:spPr>
          <a:xfrm>
            <a:off x="2411520" y="5718883"/>
            <a:ext cx="5123329" cy="796054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DC31F0-3ADA-423A-82C4-FA19B9B7B5F6}"/>
              </a:ext>
            </a:extLst>
          </p:cNvPr>
          <p:cNvSpPr/>
          <p:nvPr/>
        </p:nvSpPr>
        <p:spPr>
          <a:xfrm>
            <a:off x="2378476" y="4818324"/>
            <a:ext cx="5543840" cy="79258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08996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4168" y="28234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767" y="1856816"/>
            <a:ext cx="225765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complementary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1767" y="132048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2213EF-427D-443C-A326-099F1D1E0FE8}"/>
              </a:ext>
            </a:extLst>
          </p:cNvPr>
          <p:cNvSpPr/>
          <p:nvPr/>
        </p:nvSpPr>
        <p:spPr>
          <a:xfrm>
            <a:off x="2539969" y="1440496"/>
            <a:ext cx="87562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/>
              <a:t>Complement: </a:t>
            </a:r>
            <a:r>
              <a:rPr lang="en-US" altLang="en-US" sz="2800" dirty="0"/>
              <a:t>means an event not happening.</a:t>
            </a:r>
          </a:p>
          <a:p>
            <a:pPr>
              <a:defRPr/>
            </a:pPr>
            <a:r>
              <a:rPr lang="en-US" altLang="en-US" sz="2800" dirty="0"/>
              <a:t>Ex. The complement of it raining, is it doesn’t rain. </a:t>
            </a:r>
          </a:p>
          <a:p>
            <a:pPr>
              <a:defRPr/>
            </a:pPr>
            <a:endParaRPr lang="en-US" alt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109F8-D78B-4FEF-B556-EF59FD330E26}"/>
              </a:ext>
            </a:extLst>
          </p:cNvPr>
          <p:cNvSpPr txBox="1"/>
          <p:nvPr/>
        </p:nvSpPr>
        <p:spPr>
          <a:xfrm>
            <a:off x="2449759" y="2841984"/>
            <a:ext cx="892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The complement of event “A” is “not event A” -  We write this as 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9625A-3F39-4C2E-A99A-20A7A0B9EF79}"/>
              </a:ext>
            </a:extLst>
          </p:cNvPr>
          <p:cNvSpPr txBox="1"/>
          <p:nvPr/>
        </p:nvSpPr>
        <p:spPr>
          <a:xfrm>
            <a:off x="6420943" y="3369319"/>
            <a:ext cx="1644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highlight>
                  <a:srgbClr val="FFFF00"/>
                </a:highlight>
              </a:rPr>
              <a:t>Not A = A’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6D0236-A814-466E-A720-1750BA8A2979}"/>
              </a:ext>
            </a:extLst>
          </p:cNvPr>
          <p:cNvSpPr/>
          <p:nvPr/>
        </p:nvSpPr>
        <p:spPr>
          <a:xfrm>
            <a:off x="2372102" y="3897999"/>
            <a:ext cx="939740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The sum of the probability of an event and its complete is 1</a:t>
            </a:r>
          </a:p>
          <a:p>
            <a:r>
              <a:rPr lang="en-AU" sz="2400" b="1" dirty="0">
                <a:solidFill>
                  <a:srgbClr val="0070C0"/>
                </a:solidFill>
              </a:rPr>
              <a:t>P(A) + P(A’) = 1.</a:t>
            </a:r>
          </a:p>
          <a:p>
            <a:endParaRPr lang="en-AU" sz="2400" b="1" dirty="0">
              <a:solidFill>
                <a:srgbClr val="0070C0"/>
              </a:solidFill>
            </a:endParaRPr>
          </a:p>
          <a:p>
            <a:r>
              <a:rPr lang="en-AU" sz="2400" b="1" dirty="0">
                <a:solidFill>
                  <a:srgbClr val="0070C0"/>
                </a:solidFill>
              </a:rPr>
              <a:t>Example, There is a 20% chance we will get ice-cream. There is then an 80% we wont. 20% + 80% = 100%, 100% = 1</a:t>
            </a:r>
          </a:p>
          <a:p>
            <a:endParaRPr lang="en-AU" sz="2400" b="1" dirty="0">
              <a:solidFill>
                <a:srgbClr val="0070C0"/>
              </a:solidFill>
            </a:endParaRPr>
          </a:p>
          <a:p>
            <a:r>
              <a:rPr lang="en-AU" sz="2400" b="1" dirty="0">
                <a:solidFill>
                  <a:srgbClr val="0070C0"/>
                </a:solidFill>
              </a:rPr>
              <a:t>Therefore P(A’) = 1 -  P(A)</a:t>
            </a:r>
          </a:p>
        </p:txBody>
      </p:sp>
    </p:spTree>
    <p:extLst>
      <p:ext uri="{BB962C8B-B14F-4D97-AF65-F5344CB8AC3E}">
        <p14:creationId xmlns:p14="http://schemas.microsoft.com/office/powerpoint/2010/main" val="122297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04664"/>
            <a:ext cx="10766766" cy="1293028"/>
          </a:xfrm>
        </p:spPr>
        <p:txBody>
          <a:bodyPr>
            <a:normAutofit fontScale="90000"/>
          </a:bodyPr>
          <a:lstStyle/>
          <a:p>
            <a:r>
              <a:rPr lang="en-AU" sz="5400" b="1" dirty="0">
                <a:solidFill>
                  <a:schemeClr val="tx1"/>
                </a:solidFill>
                <a:latin typeface="Kiwi School Handwriting" panose="00000500000000000000" pitchFamily="2" charset="0"/>
              </a:rPr>
              <a:t>Task:</a:t>
            </a:r>
            <a:br>
              <a:rPr lang="en-AU" sz="5400" b="1" dirty="0">
                <a:solidFill>
                  <a:schemeClr val="tx1"/>
                </a:solidFill>
                <a:latin typeface="Kiwi School Handwriting" panose="00000500000000000000" pitchFamily="2" charset="0"/>
              </a:rPr>
            </a:br>
            <a:r>
              <a:rPr lang="en-AU" sz="3200" b="1" dirty="0">
                <a:solidFill>
                  <a:schemeClr val="tx1"/>
                </a:solidFill>
                <a:latin typeface="Kiwi School Handwriting" panose="00000500000000000000" pitchFamily="2" charset="0"/>
              </a:rPr>
              <a:t>Hint: </a:t>
            </a:r>
            <a:r>
              <a:rPr lang="en-AU" sz="2700" b="1" dirty="0">
                <a:solidFill>
                  <a:schemeClr val="tx1"/>
                </a:solidFill>
                <a:latin typeface="Kiwi School Handwriting" panose="00000500000000000000" pitchFamily="2" charset="0"/>
              </a:rPr>
              <a:t>List the sample space of all available outcomes first</a:t>
            </a:r>
            <a:endParaRPr lang="en-US" sz="5400" b="1" dirty="0">
              <a:solidFill>
                <a:schemeClr val="tx1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96CB1-9426-44F2-936C-E6D5A182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019" y="1697692"/>
            <a:ext cx="12226037" cy="40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{1914B0F4-D167-E647-B925-DD6B491DD2A7}tf10001121</Template>
  <TotalTime>6217</TotalTime>
  <Words>451</Words>
  <Application>Microsoft Macintosh PowerPoint</Application>
  <PresentationFormat>Widescreen</PresentationFormat>
  <Paragraphs>93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Century Gothic</vt:lpstr>
      <vt:lpstr>DJB Fancy Nancy</vt:lpstr>
      <vt:lpstr>Kiwi School Handwriting</vt:lpstr>
      <vt:lpstr>Tahoma</vt:lpstr>
      <vt:lpstr>Wingdings</vt:lpstr>
      <vt:lpstr>Wingdings 2</vt:lpstr>
      <vt:lpstr>Quotable</vt:lpstr>
      <vt:lpstr>Probability review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Task: Hint: List the sample space of all available outcomes first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12</cp:revision>
  <dcterms:created xsi:type="dcterms:W3CDTF">2017-10-15T23:31:24Z</dcterms:created>
  <dcterms:modified xsi:type="dcterms:W3CDTF">2019-05-13T13:11:31Z</dcterms:modified>
</cp:coreProperties>
</file>
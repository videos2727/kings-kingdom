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61" r:id="rId3"/>
    <p:sldId id="262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59" r:id="rId12"/>
    <p:sldId id="260" r:id="rId13"/>
    <p:sldId id="27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5-04T04:44:18.31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17846 12365 1015 0,'-23'-25'22'0,"6"20"5"0,6-5 1 0,-6 0 0 0,0 0-28 0,0 5 0 0,5-6 0 0,-5 6 0 16,0-5 10-16,6 0-10 0,-6 0 10 0,5 0-10 16,7 5 22-16,-1-5-2 0,-6 0 0 0,12 10 0 0,0 0-20 0,0 0 0 15,6-11 0-15,6-4 0 0,-7 0 20 0,12 5 0 16,0 0 0-16,1 0 0 0,10 0 20 0,1-1 3 15,5 6 1-15,0-5 0 0,11 5-16 0,1-5-4 16,5 0 0-16,6 5 0 0,12-5 16 0,5 5 4 16,6 0 0-16,5-6 0 0,6 11-4 0,0 0 0 15,6 0 0-15,6 0 0 0,-1 0-9 0,7 0-3 16,10 0 0-16,1-5 0 0,5 5-12 0,1-5-4 16,5 5 0-16,0 0 0 0,5-5 0 0,13 0 0 15,-1 0 0-15,6 5 0 0,-6-5 16 0,6 0 4 16,-6 0 0-16,0 5 0 0,0 0-17 0,-6 0-3 15,-5 0-1-15,0-5 0 0,-6 5 5 0,0-5 0 0,-6 5 1 0,-5 5 0 16,-12-5-17-16,-5 5 10 0,-12 0-10 0,-6-5 8 16,-5-5-8-16,0 10 8 0,-12 0-8 0,-5-5 8 15,-12 5-8-15,1-5 0 0,-7 5 0 0,-5 0 0 16,-6 0 0-16,-5 0 0 0,-1 0 0 0,-5 0-11 16,-12 1 11-16,1 4 11 0,-12-10-3 0,0 0 0 15,0 0-8-15,0 10 8 0,-12 0-8 0,1 0 8 16,-6 0-8-16,0 5 0 0,0-4 0 0,-12-1-11 15,-5 0 11-15,-6 0 0 0,-5 0 8 0,-7 0-8 16,1-5 0-16,-6 5-15 0,-6 6 3 0,1-6 0 16,-12 5 35-16,-6-5 7 0,-6 5 2 0,1 0 0 15,-12 1-32-15,0-6 0 0,0 5 0 0,-11-5 0 16,0 0 0-16,0 0 0 0,-12 0 0 0,0 6 0 16,1-6 0-16,-7 5-18 0,1 0 2 0,-6-5 1 15,-6-5 15-15,6 5 0 0,-6 1 0 0,6-1 0 16,0 0 16-16,0 0-3 0,0 0-1 0,0-5 0 0,0 0-4 0,6 5 0 15,-1 5-8-15,7-4 12 0,-1-6-12 0,12 5 0 16,-1-5 0-16,7-5 0 0,-1 5 0 0,12 0 0 16,6 5 0-16,5-5 0 0,6 5 0 0,0-5 0 15,11 0 0-15,12 1 0 0,0-1 0 0,5 0 0 16,6 0 0-16,6 0 0 0,11-5 8 0,0 0-8 16,1 0 0-16,4 0 0 0,1 5 8 0,12-5-8 15,5 0 0-15,0 0 0 0,0 0 10 0,0 0-10 16,22 0 10-16,7-5-10 0,5 5 8 0,6-5-8 15,6 0 0-15,11-5 0 0,11 4 0 0,6 1 0 0,11 0 0 16,7 0 0-16,5 0 0 0,5-5 0 0,6 0 0 0,12 0 0 16,11-5 0-16,0 4 0 0,6-4 0 0,0 0 0 15,5 5 0-15,0-5 0 0,7 0 0 0,4-1 0 16,7 11 0-16,0 0 0 0,-12 5 0 0,0-10 0 16,-6 5 0-16,1 0 0 0,-7 5 0 0,-5-5 0 15,-5 5 8-15,-7 0-8 0,1 0 0 0,-12 0 0 16,1-5 0-16,-12 0 8 0,-12 10-8 0,0-5 0 15,-16 5 0-15,-6-5 0 0,-12-5 8 0,0 5-8 16,-17 0 0-16,0 5 9 0,-11-5-9 0,-6 0 8 16,-5-5-8-16,-12 5 8 0,0 0-8 0,0 0 8 15,0 0-8-15,-12 5 0 0,-10-5-12 0,-1 5 12 16,-6 0-11-16,-11 0 11 0,-11-5-8 0,0 5 8 16,-6-5 0-16,-6 0 0 0,-5 5 0 0,-12-5 0 15,0 5 0-15,-5-5 0 0,-6 0 0 0,-12-5 0 0,-5 10 0 0,0-5 0 16,-6 0 0-16,-12 5 0 0,7 0 0 0,-12 1 0 15,-12-6 0-15,6 0 0 0,-11-6 0 0,6 6 0 16,-1 0 0-16,-11 11-8 0,6-11 8 0,-11 0 0 16,5 5 0-16,-6 0 0 0,7 0 0 0,-1-5 0 15,6 0 0-15,-6 5 0 0,6 0 0 0,-1 5 0 16,18-5 0-16,-5 0 0 0,5-5 0 0,5 0 0 16,12 0 0-16,6 0 0 0,6 5 0 0,16-5 0 15,6 0 0-15,18 0 8 0,5 0-8 0,11-5-12 16,12 5 4-16,5 0 0 15,12-5-36-15,6 0-6 0,11 5-2 0,17-10-602 16,11 10-121-16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5-04T04:44:20.02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17687 12512 1216 0,'0'0'27'0,"0"0"5"0,0 0 2 0,0 0 0 0,0 0-34 0,0 0 0 15,17 0 0-15,0 0 0 0,0 0 16 0,6 0-4 16,5 0-1-16,1 5 0 0,5-5-11 0,6 5 0 0,0-5 0 0,5 5 8 16,7 0-8-16,5-10 0 0,5 0 0 0,7 5 0 15,10 0 8-15,1 0 0 0,6-5 0 0,5 0 0 16,0 0 28-16,6 0 6 0,11 0 1 0,0-5 0 16,1 0 19-16,10 0 4 0,-5 5 1 0,12 5 0 15,-7-11-14-15,7 6-2 0,5 5-1 0,0 0 0 16,5 0-30-16,-5 0-7 0,6 0-1 0,-6 5 0 15,6 1-3-15,-6-1-1 0,0 0 0 0,-11 0 0 16,5 5-8-16,-11 0 0 0,0 0 0 0,-6 0 0 16,1 0 0-16,-7 0 0 0,1 1 0 0,-7 4 0 15,-10 0 0-15,-6 0 0 0,0 0 0 0,-12 1 0 16,-11-1 0-16,-6-5 0 0,0 5 11 0,-11 0-11 16,-6-5 0-16,-5 6 0 0,-6-6 0 0,-6 5 0 15,-6-10 12-15,-11-5-3 0,0 0-1 0,-5 15 0 16,-13 0 4-16,1-4 0 0,-5-1 0 0,-13-5 0 15,-4 5-12-15,-7-5 0 0,-11 5 0 0,-6-10 0 0,-11 5 0 0,-6 0-17 16,6 0 4-16,-5 0 1 0,-13-5 12 0,1 0 16 16,0 0-3-16,-11-5-1 0,-1 0-12 0,-5 5-10 15,-1 0 2-15,-4-5 0 0,4 0 8 0,1 5 11 16,-6 0-3-16,-6 0 0 0,1-10-8 0,-7 10 0 16,7-5 0-16,-1 0-11 0,-5 0 19 0,-1 5 3 15,1-5 1-15,-6 0 0 0,0 5-12 0,0-5 0 16,0 5-10-16,0-6 10 0,5 6 0 0,-5-5 8 15,0 5 1-15,0-5 0 0,6 5-9 0,5-5 0 16,6 5 0-16,0 0 0 0,12 0 0 0,-1 0 0 16,12 0 0-16,6 0 0 0,-1 0 0 0,12 0 0 0,6 0 0 15,11 0-11-15,0 5 11 0,17-5 0 0,11-5 8 0,1 5-8 16,11 0 9-16,11 5-9 0,6-5 12 0,0 0-12 16,17 0 15-16,12 0-4 0,11 0-1 15,17 0 0-15,5-5-10 0,12 5 10 0,12 0-10 0,11-5 10 16,-1 5 1-16,13 0 0 0,10-10 0 0,7 10 0 15,5-5 5-15,0 0 2 0,6 0 0 0,11-5 0 16,0 0-18-16,6-1 8 0,5 6-8 0,1 0 0 16,5 0 14-16,-5-5-4 0,10 0-1 0,-4 5 0 15,-1 5-9-15,0-10 12 0,-5 0-12 0,-1 5 12 16,1 0-12-16,-6 0 12 0,-6-1-12 0,-6-4 12 16,-5 5-12-16,0 0 12 0,-6 5-12 0,-6 0 12 15,-11-5-12-15,0 5 0 0,-17 0 0 0,0 0 0 16,-12-5 0-16,-5 0 8 0,-6 0-8 0,-11 0 12 15,-6 5-12-15,-12 0 0 0,-5 0 0 0,-6 5 0 0,-11-5 12 16,-6 5-2-16,-17-5-1 0,0 0 0 0,0 0-9 0,0 0 0 16,0 0 0-16,-23 5 0 0,-5 0 0 0,-1 5 0 15,-10-5 0-15,-7 5 0 0,-5-4 0 0,-1-1 0 16,1-5 0-16,-11 0 0 0,-7 5-12 0,-5-10 1 16,-6 5 1-16,-5 0 0 0,-1 5 10 0,-11-5 8 15,6 10-8-15,-6-5 11 0,1 0-11 0,-1 0 0 16,-17 0-10-16,6 5 10 0,-1 0 0 0,7-5 0 15,-12 5-8-15,6 1 8 0,-6-1 0 0,0 5 0 16,0-10 9-16,0 10-9 0,-6 0 0 0,6-4 0 16,0 4 0-16,12-5 0 0,5 0 0 0,6 0 8 0,5 0 0 15,12 0 1-15,6-5-9 0,11 0 0 0,0 6 0 0,11-1-11 16,6-5 11-16,12 5-12 0,5-10 12 0,17 5-12 16,-5 0 12-16,11-5 0 0,17 5 0 0,17-5 0 15,6 5 0-15,11-5 0 0,18 0 10 0,5 0-10 16,5-5 0-16,13 5 0 0,10-5 0 0,12 0 0 15,6 0 0-15,11 0 0 0,0 0 0 0,0 0 0 16,11-5 0-16,1-1 0 0,5 6 0 0,0 0 9 16,0-5-1-16,0 5-8 0,1-5 12 0,-1 5-4 15,-6 0 9-15,-5 0 2 0,-6-5 0 0,-11 0 0 16,-12-6-19-16,-6 6 0 0,-5 0 0 0,-6 0 0 16,-11-5 0-16,-11 0 0 0,-1 4 0 0,-17 1 0 15,-5 0 11-15,-12 0-2 0,-6 0 0 0,-10 0 0 16,-1 0-9-16,-17 0 8 0,-6-1-8 0,-5 1 8 15,-12-5-8-15,-6 5 0 0,-5-5 0 0,-17 0 0 0,-6-1 0 16,-12 6 0-16,-5 5 0 0,-5-10 0 0,-13 0 0 0,-4 0 0 16,-7-1 0-16,-11 6-11 0,-6-5 11 0,-11 0 0 15,0 5 0-15,0-5 0 0,-11 5 0 0,-1-1 0 16,-16 1 0-16,-1 0 0 0,7 5 0 0,-13 0 0 16,1 0 0-16,-6 0 0 0,0 5 0 0,0-5 0 15,0 0 0-15,0 5 0 0,0-5-11 0,1 5 0 16,4 0 0-16,7 0 0 0,-7 0 11 0,7 5 16 15,11 0-4-15,5-5-1 0,18-5-11 0,0 5 0 16,5 0 0-16,17-5 0 0,1 0 0 0,11 0 0 16,5 5 0-16,12 5 0 0,6-5 0 0,17 5 0 15,11-5 0-15,5 0 0 0,13 0 0 0,5 0-16 16,5 0 4-16,12 0 1 0,0 0-5 0,23 5 0 0,11-5-1 0,12 5 0 31,11 0-16-31,11 5-3 0,18 5-1 0,10-5-1000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02DF0D-5856-4813-98FF-35FDBF29F9FE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378C9-2C18-4214-BCD5-2267B9220D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194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148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043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964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136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51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555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60455-30A9-438E-ABBD-AC4A9DC5E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B01F3-4433-4558-A7CA-EF6232A8A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4B6E2-83EA-4E70-87D5-2F3277DE5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C9D9-9EBD-4D48-949D-D938A6B1D8BE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1A558-33AF-496B-9023-EB63388F9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AE50E-19E6-4BDD-B419-3A6D122D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96E-1AFB-4EDE-8AC8-2F9456C3B7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455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F0E26-1211-4A63-81E5-0644C5384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2DB4A-C511-4303-A1FC-F2F31641A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AE68F-1F24-4E6A-9385-B8D3A9D78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C9D9-9EBD-4D48-949D-D938A6B1D8BE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58D09-E53B-4D18-8B19-46D4671D3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EAF00-04DA-4836-8D62-7C4C9DE02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96E-1AFB-4EDE-8AC8-2F9456C3B7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6055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2CFA2-53C1-4054-B18C-AC11B626F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12C2C-B1B2-4C41-876A-437835BF0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BFB5F-C19E-4EC7-8CAE-0583F2A02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C9D9-9EBD-4D48-949D-D938A6B1D8BE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6EE90-7D51-47E0-94FB-2F2B6C30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1CC77-7E14-441A-BC80-F4276BCBD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96E-1AFB-4EDE-8AC8-2F9456C3B7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7802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93316-451D-4975-945C-3A46C8E5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2E277-7CD7-4B01-8912-FB3950E42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65E35-D055-4403-871B-58BA97871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0329E6-C7A3-4078-8F50-1390B4619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C9D9-9EBD-4D48-949D-D938A6B1D8BE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98FBC-1124-4BE4-A7AF-173204DA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9DFCA-FB77-4C4D-9341-1A9D94186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96E-1AFB-4EDE-8AC8-2F9456C3B7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6708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D31C-C7E0-4710-977F-C1620462D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68CF0-3E79-425C-9984-374EC45F0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5D1EA-3B23-45A3-A472-F332A1800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562C82-D62C-43AC-B244-B1B368CF78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27570C-C1F4-48BE-B629-EBC51F44C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2E59AF-9307-4AE1-9DFD-F6C85532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C9D9-9EBD-4D48-949D-D938A6B1D8BE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C9F6F2-0FBE-4A8A-9E12-7082C215A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E1581F-C769-4BE8-A8C2-F3B8E9CD5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96E-1AFB-4EDE-8AC8-2F9456C3B7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2399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32966-D3DE-419B-B41E-789817AD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DEF31C-1820-496A-A644-D7519437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C9D9-9EBD-4D48-949D-D938A6B1D8BE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5147CA-96A4-498A-9D10-A38179C8C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F1408-971D-4DB4-9D6A-F5F70F993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96E-1AFB-4EDE-8AC8-2F9456C3B7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4173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5ECBEC-0BE0-450E-94F6-D57E46F41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C9D9-9EBD-4D48-949D-D938A6B1D8BE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3E19C-288E-4509-B5D2-97F4BE972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ACC96-69C5-43C0-847B-56C2DD219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96E-1AFB-4EDE-8AC8-2F9456C3B7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1265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D5BD-A2EF-47FF-967E-E710D7EEE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1E5AB-144D-4695-9F59-5873B1C20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52899B-3097-4F26-8ACB-E62FF8743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33B15-40CE-43F5-9CCB-1E6E784C3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C9D9-9EBD-4D48-949D-D938A6B1D8BE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C66C0-4828-45C6-BD8B-A2EE4FBCA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E862C-49F8-47C8-86D7-35ABB9BD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96E-1AFB-4EDE-8AC8-2F9456C3B7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049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07A38-FCFF-4DB5-92B5-506E6876D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6D0E23-92DA-4AA0-8B9A-5525ACBE7D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92DC7-E66A-4BB7-8FF8-74FCE4D8E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86767-8E28-4329-BFF8-93337FED0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C9D9-9EBD-4D48-949D-D938A6B1D8BE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C8774-446E-483A-93CA-0C504F22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66DE8-E121-4619-B791-7D67721B6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96E-1AFB-4EDE-8AC8-2F9456C3B7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6660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07D5-7A53-4B14-ACFD-10339F0B6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3E784-58F8-4328-B5C2-1ED7585A8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61F41-F61C-4B23-91DF-81411086D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C9D9-9EBD-4D48-949D-D938A6B1D8BE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7CB3E-8B81-4C2A-B037-2AC15B7B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F2E10-0262-43EB-915F-21BC22BD5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96E-1AFB-4EDE-8AC8-2F9456C3B7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4911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895735-0C1D-4E6A-A097-10DEFE22E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46AAB-1755-43BD-8581-58E9A17C3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A378E-D0D5-4536-9FAF-1566B9650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BC9D9-9EBD-4D48-949D-D938A6B1D8BE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F126-E615-43E8-B5F0-1D76DB40A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5F6A7-59BC-40AC-A96C-D16CA0B23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96E-1AFB-4EDE-8AC8-2F9456C3B7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4598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24099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80347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17094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64DB6E-2889-46F2-BB0C-B74BDACFA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D682D-24B1-43F5-8F50-AAA22217B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0C6C3-931A-4104-B1F7-E9DE269125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BC9D9-9EBD-4D48-949D-D938A6B1D8BE}" type="datetimeFigureOut">
              <a:rPr lang="en-AU" smtClean="0"/>
              <a:t>5/05/2019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45EFA-AEA3-4CDF-A7C7-4BC4EEAE4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35766-1A05-483A-95C3-9DCEEA3F4A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1696E-1AFB-4EDE-8AC8-2F9456C3B7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06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1" Type="http://schemas.openxmlformats.org/officeDocument/2006/relationships/customXml" Target="../ink/ink2.xml"/><Relationship Id="rId2" Type="http://schemas.openxmlformats.org/officeDocument/2006/relationships/image" Target="../media/image40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2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9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NAPLAN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1372829" y="3181487"/>
            <a:ext cx="9446339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NAPLAN Recap 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do we work out ratios?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NAPLAN Question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3B39A5-B257-460F-AEA5-D5461E168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90" y="1387422"/>
            <a:ext cx="10318970" cy="351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3137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Intro to Ratios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1848" y="7841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is a ratio and how is it used?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666739-6FF9-4425-A0E0-B0018D4009F8}"/>
              </a:ext>
            </a:extLst>
          </p:cNvPr>
          <p:cNvSpPr txBox="1"/>
          <p:nvPr/>
        </p:nvSpPr>
        <p:spPr>
          <a:xfrm>
            <a:off x="-46787" y="1396205"/>
            <a:ext cx="18943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Fragment Core" panose="02000504040000020003" pitchFamily="50" charset="0"/>
              </a:rPr>
              <a:t>What is a ratio?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9B6036-423C-40F3-BD61-15C733F89E89}"/>
              </a:ext>
            </a:extLst>
          </p:cNvPr>
          <p:cNvSpPr txBox="1"/>
          <p:nvPr/>
        </p:nvSpPr>
        <p:spPr>
          <a:xfrm>
            <a:off x="1962625" y="1499644"/>
            <a:ext cx="8544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Ratios are used to compare quantities with the same units.</a:t>
            </a:r>
          </a:p>
          <a:p>
            <a:r>
              <a:rPr lang="en-AU" sz="2400" dirty="0"/>
              <a:t>The ratio of 2 to 5 is written as </a:t>
            </a:r>
            <a:r>
              <a:rPr lang="en-AU" sz="2400" b="1" dirty="0">
                <a:solidFill>
                  <a:srgbClr val="0070C0"/>
                </a:solidFill>
              </a:rPr>
              <a:t>2 : 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9910F0-DFE9-4EF8-9728-4FB2F0B4E744}"/>
              </a:ext>
            </a:extLst>
          </p:cNvPr>
          <p:cNvSpPr/>
          <p:nvPr/>
        </p:nvSpPr>
        <p:spPr>
          <a:xfrm>
            <a:off x="1962624" y="2482077"/>
            <a:ext cx="1001919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If you are making cordial and you mix one part cordial to four parts water, then the ratio of cordial to water will be 1:4 (1 to 4).</a:t>
            </a:r>
          </a:p>
          <a:p>
            <a:endParaRPr lang="en-US" sz="2400" dirty="0"/>
          </a:p>
          <a:p>
            <a:r>
              <a:rPr lang="en-US" sz="2400" dirty="0"/>
              <a:t>If you use 1L of cordial, you will use 4L of water (1:4).</a:t>
            </a:r>
          </a:p>
          <a:p>
            <a:endParaRPr lang="en-US" sz="2400" dirty="0"/>
          </a:p>
          <a:p>
            <a:r>
              <a:rPr lang="en-US" sz="2400" dirty="0"/>
              <a:t>If you use 2L of cordial, you will use 8L of water (2:8).</a:t>
            </a:r>
          </a:p>
          <a:p>
            <a:endParaRPr lang="en-US" sz="2400" dirty="0"/>
          </a:p>
          <a:p>
            <a:r>
              <a:rPr lang="en-US" sz="2400" dirty="0"/>
              <a:t>If you use 10L of cordial, you will use 40L of water (10:40).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970976-6F4D-4B72-AF1A-D0C2DC267A07}"/>
              </a:ext>
            </a:extLst>
          </p:cNvPr>
          <p:cNvSpPr txBox="1"/>
          <p:nvPr/>
        </p:nvSpPr>
        <p:spPr>
          <a:xfrm>
            <a:off x="6529" y="2942642"/>
            <a:ext cx="1840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Fragment Core" panose="02000504040000020003" pitchFamily="50" charset="0"/>
              </a:rPr>
              <a:t>How is a ratio used?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72EC9B-DD72-41D7-8CF4-900032880D5A}"/>
              </a:ext>
            </a:extLst>
          </p:cNvPr>
          <p:cNvSpPr/>
          <p:nvPr/>
        </p:nvSpPr>
        <p:spPr>
          <a:xfrm>
            <a:off x="1962623" y="5865167"/>
            <a:ext cx="79010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These ratios are all equivalent	1:4 = 2:8 = 10:40</a:t>
            </a:r>
          </a:p>
          <a:p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BE8A38-57A4-4734-9C3E-2ACDD94AF9ED}"/>
              </a:ext>
            </a:extLst>
          </p:cNvPr>
          <p:cNvSpPr txBox="1"/>
          <p:nvPr/>
        </p:nvSpPr>
        <p:spPr>
          <a:xfrm>
            <a:off x="1" y="5257661"/>
            <a:ext cx="18475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Fragment Core" panose="02000504040000020003" pitchFamily="50" charset="0"/>
              </a:rPr>
              <a:t>What are equivalent ratios?</a:t>
            </a:r>
          </a:p>
        </p:txBody>
      </p:sp>
    </p:spTree>
    <p:extLst>
      <p:ext uri="{BB962C8B-B14F-4D97-AF65-F5344CB8AC3E}">
        <p14:creationId xmlns:p14="http://schemas.microsoft.com/office/powerpoint/2010/main" val="3415578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2AD26D7B-26F3-4FFD-9942-ECEED8AD7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29" y="1081373"/>
            <a:ext cx="11430001" cy="240404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7BEF969-17EF-4056-B1BE-3FEDA5C724DE}"/>
              </a:ext>
            </a:extLst>
          </p:cNvPr>
          <p:cNvSpPr txBox="1">
            <a:spLocks/>
          </p:cNvSpPr>
          <p:nvPr/>
        </p:nvSpPr>
        <p:spPr>
          <a:xfrm>
            <a:off x="3176637" y="239483"/>
            <a:ext cx="8608358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Example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659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737F95-1ADA-49A2-BB50-A4A27C1E0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5899"/>
            <a:ext cx="12192000" cy="3266201"/>
          </a:xfrm>
          <a:prstGeom prst="rect">
            <a:avLst/>
          </a:prstGeom>
        </p:spPr>
      </p:pic>
      <p:sp>
        <p:nvSpPr>
          <p:cNvPr id="6" name="Title 12">
            <a:extLst>
              <a:ext uri="{FF2B5EF4-FFF2-40B4-BE49-F238E27FC236}">
                <a16:creationId xmlns:a16="http://schemas.microsoft.com/office/drawing/2014/main" id="{1F64525C-0828-4F11-BB07-503099388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</p:spTree>
    <p:extLst>
      <p:ext uri="{BB962C8B-B14F-4D97-AF65-F5344CB8AC3E}">
        <p14:creationId xmlns:p14="http://schemas.microsoft.com/office/powerpoint/2010/main" val="3428122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1F64525C-0828-4F11-BB07-503099388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A27AB0-E648-4CA4-8666-1BDC939D62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297"/>
          <a:stretch/>
        </p:blipFill>
        <p:spPr>
          <a:xfrm>
            <a:off x="377066" y="1144474"/>
            <a:ext cx="6008711" cy="28375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A5459C-0236-41FB-8FAE-EE31F95130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897"/>
          <a:stretch/>
        </p:blipFill>
        <p:spPr>
          <a:xfrm>
            <a:off x="5244527" y="3451123"/>
            <a:ext cx="6008711" cy="29643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EA6496A-F0BB-425E-9283-16B27A49D5FF}"/>
              </a:ext>
            </a:extLst>
          </p:cNvPr>
          <p:cNvSpPr/>
          <p:nvPr/>
        </p:nvSpPr>
        <p:spPr>
          <a:xfrm>
            <a:off x="2737301" y="843608"/>
            <a:ext cx="1728511" cy="727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5B01CC-B6B1-43C9-945A-1A630A37FED3}"/>
              </a:ext>
            </a:extLst>
          </p:cNvPr>
          <p:cNvSpPr/>
          <p:nvPr/>
        </p:nvSpPr>
        <p:spPr>
          <a:xfrm>
            <a:off x="1008790" y="3555021"/>
            <a:ext cx="1728511" cy="727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B07326-813A-4D39-8728-B5693DC12B18}"/>
              </a:ext>
            </a:extLst>
          </p:cNvPr>
          <p:cNvSpPr/>
          <p:nvPr/>
        </p:nvSpPr>
        <p:spPr>
          <a:xfrm>
            <a:off x="7604762" y="3191066"/>
            <a:ext cx="1728511" cy="727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9384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1F64525C-0828-4F11-BB07-503099388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BCA0EA-875B-4BC1-9845-E7E33A30A3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460"/>
          <a:stretch/>
        </p:blipFill>
        <p:spPr>
          <a:xfrm>
            <a:off x="383059" y="801737"/>
            <a:ext cx="6010275" cy="31006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96FE68-6D29-49C0-BE5C-D8ECAC9A16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329"/>
          <a:stretch/>
        </p:blipFill>
        <p:spPr>
          <a:xfrm>
            <a:off x="5656098" y="3138456"/>
            <a:ext cx="6010275" cy="322399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F91406-2220-4130-AD8F-0F3E516E5472}"/>
              </a:ext>
            </a:extLst>
          </p:cNvPr>
          <p:cNvSpPr/>
          <p:nvPr/>
        </p:nvSpPr>
        <p:spPr>
          <a:xfrm>
            <a:off x="3200401" y="489647"/>
            <a:ext cx="1728511" cy="727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A8750B-6ADD-4801-A8D8-9E0A09B38D54}"/>
              </a:ext>
            </a:extLst>
          </p:cNvPr>
          <p:cNvSpPr/>
          <p:nvPr/>
        </p:nvSpPr>
        <p:spPr>
          <a:xfrm>
            <a:off x="1085482" y="3486519"/>
            <a:ext cx="1728511" cy="727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9CE0E6-C828-49EF-BAE2-3FC62F97FE77}"/>
              </a:ext>
            </a:extLst>
          </p:cNvPr>
          <p:cNvSpPr/>
          <p:nvPr/>
        </p:nvSpPr>
        <p:spPr>
          <a:xfrm>
            <a:off x="8165598" y="2890684"/>
            <a:ext cx="1728511" cy="727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E36C65-4650-49D6-941E-F10A7AE49EA7}"/>
              </a:ext>
            </a:extLst>
          </p:cNvPr>
          <p:cNvSpPr/>
          <p:nvPr/>
        </p:nvSpPr>
        <p:spPr>
          <a:xfrm>
            <a:off x="6565982" y="5763670"/>
            <a:ext cx="1728511" cy="727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5917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212903-FA93-4D50-A188-5BFD8993C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13" y="1621930"/>
            <a:ext cx="11058714" cy="100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94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1822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Simplifying Ratios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latin typeface="Fragment Core" panose="02000504040000020003" pitchFamily="50" charset="0"/>
              </a:rPr>
              <a:t>What does simplifying ratios look like?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simplify ratios?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64968E-371B-493E-92D4-EEDB74CABC29}"/>
                  </a:ext>
                </a:extLst>
              </p:cNvPr>
              <p:cNvSpPr txBox="1"/>
              <p:nvPr/>
            </p:nvSpPr>
            <p:spPr>
              <a:xfrm>
                <a:off x="4495000" y="3158690"/>
                <a:ext cx="5112562" cy="3200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3200" dirty="0"/>
                  <a:t>21 : 42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7                             </m:t>
                    </m:r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7</a:t>
                </a:r>
                <a:endParaRPr lang="en-AU" sz="3200" dirty="0"/>
              </a:p>
              <a:p>
                <a:pPr algn="ctr"/>
                <a:r>
                  <a:rPr lang="en-AU" sz="3200" dirty="0"/>
                  <a:t> 3 : 6</a:t>
                </a:r>
              </a:p>
              <a:p>
                <a:endParaRPr lang="en-AU" sz="3200" dirty="0"/>
              </a:p>
              <a:p>
                <a:pPr algn="ctr"/>
                <a:r>
                  <a:rPr lang="en-AU" sz="3200" dirty="0"/>
                  <a:t>1 : 2 </a:t>
                </a:r>
              </a:p>
              <a:p>
                <a:pPr algn="ctr"/>
                <a:endParaRPr lang="en-AU" sz="3200" dirty="0"/>
              </a:p>
              <a:p>
                <a:pPr algn="ctr"/>
                <a:r>
                  <a:rPr lang="en-AU" dirty="0"/>
                  <a:t>We have simplified as much as we can.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64968E-371B-493E-92D4-EEDB74CAB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000" y="3158690"/>
                <a:ext cx="5112562" cy="3200876"/>
              </a:xfrm>
              <a:prstGeom prst="rect">
                <a:avLst/>
              </a:prstGeom>
              <a:blipFill>
                <a:blip r:embed="rId3"/>
                <a:stretch>
                  <a:fillRect t="-2476" b="-20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ED238FA-0AD1-44B7-8F3F-44C609815A39}"/>
                  </a:ext>
                </a:extLst>
              </p:cNvPr>
              <p:cNvSpPr/>
              <p:nvPr/>
            </p:nvSpPr>
            <p:spPr>
              <a:xfrm>
                <a:off x="3940401" y="4581624"/>
                <a:ext cx="482542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</m:t>
                      </m:r>
                      <m:r>
                        <a:rPr lang="en-A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3                              </m:t>
                      </m:r>
                      <m:r>
                        <a:rPr lang="en-A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ED238FA-0AD1-44B7-8F3F-44C609815A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401" y="4581624"/>
                <a:ext cx="482542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BEC858FE-3E47-409A-B239-25ABDF0920C6}"/>
              </a:ext>
            </a:extLst>
          </p:cNvPr>
          <p:cNvSpPr/>
          <p:nvPr/>
        </p:nvSpPr>
        <p:spPr>
          <a:xfrm>
            <a:off x="1956619" y="1523429"/>
            <a:ext cx="986568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Firstly simplify means to make something less complex or complicated. In other words to make the numbers smaller.</a:t>
            </a:r>
          </a:p>
          <a:p>
            <a:endParaRPr lang="en-AU" sz="2400" dirty="0"/>
          </a:p>
          <a:p>
            <a:r>
              <a:rPr lang="en-AU" sz="2400" dirty="0"/>
              <a:t>The trick with simplifying ratios is to always </a:t>
            </a:r>
            <a:r>
              <a:rPr lang="en-AU" sz="2400" b="1" dirty="0"/>
              <a:t>multiply</a:t>
            </a:r>
            <a:r>
              <a:rPr lang="en-AU" sz="2400" dirty="0"/>
              <a:t> or </a:t>
            </a:r>
            <a:r>
              <a:rPr lang="en-AU" sz="2400" b="1" dirty="0"/>
              <a:t>divide</a:t>
            </a:r>
            <a:r>
              <a:rPr lang="en-AU" sz="2400" dirty="0"/>
              <a:t> the numbers by the</a:t>
            </a:r>
            <a:r>
              <a:rPr lang="en-AU" sz="2400" dirty="0">
                <a:solidFill>
                  <a:srgbClr val="FFC000"/>
                </a:solidFill>
              </a:rPr>
              <a:t> </a:t>
            </a:r>
            <a:r>
              <a:rPr lang="en-AU" sz="2400" b="1" dirty="0">
                <a:solidFill>
                  <a:srgbClr val="FFC000"/>
                </a:solidFill>
              </a:rPr>
              <a:t>same</a:t>
            </a:r>
            <a:r>
              <a:rPr lang="en-AU" sz="2400" dirty="0">
                <a:solidFill>
                  <a:srgbClr val="FFC000"/>
                </a:solidFill>
              </a:rPr>
              <a:t> </a:t>
            </a:r>
            <a:r>
              <a:rPr lang="en-AU" sz="2400" b="1" dirty="0">
                <a:solidFill>
                  <a:srgbClr val="FFC000"/>
                </a:solidFill>
              </a:rPr>
              <a:t>number</a:t>
            </a:r>
            <a:r>
              <a:rPr lang="en-AU" sz="2400" dirty="0">
                <a:solidFill>
                  <a:srgbClr val="FFC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DD45AE-5ACF-484D-A5A7-C34B95BDD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59" y="586057"/>
            <a:ext cx="9234762" cy="36817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9106FD-295C-4A3D-B820-07903BA39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3414" y="4267790"/>
            <a:ext cx="4386662" cy="212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4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F062E-A8E0-4764-AF97-C6D0D7BFB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549" y="252318"/>
            <a:ext cx="10471080" cy="1320800"/>
          </a:xfrm>
        </p:spPr>
        <p:txBody>
          <a:bodyPr>
            <a:noAutofit/>
          </a:bodyPr>
          <a:lstStyle/>
          <a:p>
            <a:r>
              <a:rPr lang="en-AU" sz="3200" dirty="0"/>
              <a:t>Ratio Applications</a:t>
            </a:r>
            <a:br>
              <a:rPr lang="en-AU" sz="3200" dirty="0"/>
            </a:br>
            <a:r>
              <a:rPr lang="en-AU" sz="3200" dirty="0"/>
              <a:t>EQ: How do I divide a quantity in a given ratio?</a:t>
            </a:r>
            <a:br>
              <a:rPr lang="en-AU" sz="3200" dirty="0"/>
            </a:br>
            <a:endParaRPr lang="en-A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030D4-404F-441F-8EBD-0042F7C941AC}"/>
              </a:ext>
            </a:extLst>
          </p:cNvPr>
          <p:cNvSpPr txBox="1"/>
          <p:nvPr/>
        </p:nvSpPr>
        <p:spPr>
          <a:xfrm>
            <a:off x="429053" y="1430020"/>
            <a:ext cx="921756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Ratios are used in many different places. Some examples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/>
              <a:t>Mixing cement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/>
              <a:t>Baking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dirty="0"/>
              <a:t>Medicine</a:t>
            </a:r>
          </a:p>
          <a:p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Think of a ratio in terms of parts. A ratio of 2 : 3 has a total of 5 parts.</a:t>
            </a:r>
          </a:p>
          <a:p>
            <a:r>
              <a:rPr lang="en-AU" sz="2000" b="1" dirty="0"/>
              <a:t>Use the following procedure:</a:t>
            </a:r>
          </a:p>
          <a:p>
            <a:endParaRPr lang="en-AU" sz="2000" dirty="0"/>
          </a:p>
          <a:p>
            <a:pPr marL="342900" indent="-342900">
              <a:buAutoNum type="arabicPeriod"/>
            </a:pPr>
            <a:r>
              <a:rPr lang="en-AU" sz="2000" dirty="0"/>
              <a:t>Find the total number of parts in the ratio.</a:t>
            </a:r>
          </a:p>
          <a:p>
            <a:pPr marL="342900" indent="-342900">
              <a:buAutoNum type="arabicPeriod"/>
            </a:pPr>
            <a:r>
              <a:rPr lang="en-AU" sz="2000" dirty="0"/>
              <a:t>Find the value of one part.</a:t>
            </a:r>
          </a:p>
          <a:p>
            <a:pPr marL="342900" indent="-342900">
              <a:buAutoNum type="arabicPeriod"/>
            </a:pPr>
            <a:r>
              <a:rPr lang="en-AU" sz="2000" dirty="0"/>
              <a:t>Find the valve of the number of parts.</a:t>
            </a:r>
          </a:p>
          <a:p>
            <a:pPr marL="342900" indent="-342900">
              <a:buAutoNum type="arabicPeriod"/>
            </a:pPr>
            <a:endParaRPr lang="en-AU" sz="2000" dirty="0"/>
          </a:p>
          <a:p>
            <a:r>
              <a:rPr lang="en-AU" sz="2000" b="1" dirty="0"/>
              <a:t>This is know as the unitary method.</a:t>
            </a:r>
          </a:p>
          <a:p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96242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577B3-73DF-48D4-B86A-E169E8268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64" y="93862"/>
            <a:ext cx="8596668" cy="1320800"/>
          </a:xfrm>
        </p:spPr>
        <p:txBody>
          <a:bodyPr/>
          <a:lstStyle/>
          <a:p>
            <a:r>
              <a:rPr lang="en-AU" dirty="0"/>
              <a:t>The ice-cream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796CD-455F-47E3-942A-452063594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81" y="961573"/>
            <a:ext cx="12003155" cy="5802565"/>
          </a:xfrm>
        </p:spPr>
        <p:txBody>
          <a:bodyPr>
            <a:normAutofit/>
          </a:bodyPr>
          <a:lstStyle/>
          <a:p>
            <a:r>
              <a:rPr lang="en-AU" sz="2400" dirty="0"/>
              <a:t>Mr Evans, Mr Morgan, Ms L and Ms D’Souza all invest money to start an ice-cream business. </a:t>
            </a:r>
          </a:p>
          <a:p>
            <a:r>
              <a:rPr lang="en-AU" sz="2400" dirty="0">
                <a:solidFill>
                  <a:srgbClr val="00B050"/>
                </a:solidFill>
              </a:rPr>
              <a:t>They invest the following $120 : $200 : $80 : $300 </a:t>
            </a:r>
            <a:r>
              <a:rPr lang="en-AU" sz="2400" b="1" dirty="0">
                <a:solidFill>
                  <a:srgbClr val="00B050"/>
                </a:solidFill>
              </a:rPr>
              <a:t>(Just remember the ratio is in the same order as the people)</a:t>
            </a:r>
            <a:r>
              <a:rPr lang="en-AU" sz="2400" dirty="0">
                <a:solidFill>
                  <a:srgbClr val="00B050"/>
                </a:solidFill>
              </a:rPr>
              <a:t> </a:t>
            </a:r>
          </a:p>
          <a:p>
            <a:r>
              <a:rPr lang="en-AU" sz="2400" dirty="0">
                <a:solidFill>
                  <a:srgbClr val="00B050"/>
                </a:solidFill>
              </a:rPr>
              <a:t>The ice-cream business produced a profit of $16,800. </a:t>
            </a:r>
          </a:p>
          <a:p>
            <a:r>
              <a:rPr lang="en-AU" sz="2400" dirty="0"/>
              <a:t>How much should each person get based on their starting investment?</a:t>
            </a:r>
          </a:p>
          <a:p>
            <a:endParaRPr lang="en-AU" sz="2400" dirty="0"/>
          </a:p>
          <a:p>
            <a:endParaRPr lang="en-AU" sz="2400" dirty="0"/>
          </a:p>
          <a:p>
            <a:r>
              <a:rPr lang="en-AU" sz="2400" b="1" dirty="0">
                <a:solidFill>
                  <a:srgbClr val="FF0000"/>
                </a:solidFill>
              </a:rPr>
              <a:t>Step 1: </a:t>
            </a:r>
            <a:r>
              <a:rPr lang="en-AU" sz="2400" dirty="0"/>
              <a:t>I add all the parts together  120 + 200 + 80 + 300 = 700</a:t>
            </a:r>
          </a:p>
          <a:p>
            <a:endParaRPr lang="en-AU" sz="2400" dirty="0"/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8118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577B3-73DF-48D4-B86A-E169E8268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05" y="222039"/>
            <a:ext cx="8596668" cy="1320800"/>
          </a:xfrm>
        </p:spPr>
        <p:txBody>
          <a:bodyPr/>
          <a:lstStyle/>
          <a:p>
            <a:r>
              <a:rPr lang="en-AU" dirty="0"/>
              <a:t>The ice-cream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5796CD-455F-47E3-942A-4520635940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81" y="961573"/>
                <a:ext cx="12003155" cy="580256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AU" sz="2400" dirty="0"/>
              </a:p>
              <a:p>
                <a:r>
                  <a:rPr lang="en-AU" sz="2400" b="1" dirty="0">
                    <a:solidFill>
                      <a:srgbClr val="FF0000"/>
                    </a:solidFill>
                  </a:rPr>
                  <a:t>Step 1: </a:t>
                </a:r>
                <a:r>
                  <a:rPr lang="en-AU" sz="2400" dirty="0"/>
                  <a:t>I add all the parts together  120 + 200 + 80 + 300 = 700</a:t>
                </a:r>
              </a:p>
              <a:p>
                <a:pPr marL="0" indent="0">
                  <a:buNone/>
                </a:pPr>
                <a:endParaRPr lang="en-AU" sz="2400" dirty="0"/>
              </a:p>
              <a:p>
                <a:r>
                  <a:rPr lang="en-AU" sz="2400" b="1" dirty="0">
                    <a:solidFill>
                      <a:srgbClr val="FF0000"/>
                    </a:solidFill>
                  </a:rPr>
                  <a:t>Step 2: </a:t>
                </a:r>
                <a:r>
                  <a:rPr lang="en-AU" sz="2400" dirty="0"/>
                  <a:t>I divide the profit by the amount of parts  16800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700 = 24 therefore one part is worth $24</a:t>
                </a:r>
              </a:p>
              <a:p>
                <a:endParaRPr lang="en-AU" sz="2400" dirty="0"/>
              </a:p>
              <a:p>
                <a:r>
                  <a:rPr lang="en-AU" sz="2400" b="1" dirty="0">
                    <a:solidFill>
                      <a:srgbClr val="FF0000"/>
                    </a:solidFill>
                  </a:rPr>
                  <a:t>Step 3: </a:t>
                </a:r>
                <a:r>
                  <a:rPr lang="en-AU" sz="2400" dirty="0"/>
                  <a:t>Multiply the parts by 24 =</a:t>
                </a:r>
              </a:p>
              <a:p>
                <a:pPr marL="0" indent="0" algn="ctr">
                  <a:buNone/>
                </a:pPr>
                <a:r>
                  <a:rPr lang="en-AU" sz="2400" dirty="0"/>
                  <a:t>120 x 24 =2880,      200 x 24 = 4800,     80 x 24 = 1920,         300 x 24 = 7200</a:t>
                </a:r>
              </a:p>
              <a:p>
                <a:pPr marL="0" indent="0">
                  <a:buNone/>
                </a:pPr>
                <a:endParaRPr lang="en-AU" sz="2400" dirty="0"/>
              </a:p>
              <a:p>
                <a:r>
                  <a:rPr lang="en-AU" sz="2400" b="1" dirty="0">
                    <a:solidFill>
                      <a:srgbClr val="00B050"/>
                    </a:solidFill>
                  </a:rPr>
                  <a:t>$2880 : $4800 : $1920 : $7200 </a:t>
                </a:r>
                <a:r>
                  <a:rPr lang="en-AU" sz="2400" dirty="0"/>
                  <a:t>(this should all add together to equal the profit made.</a:t>
                </a:r>
              </a:p>
              <a:p>
                <a:pPr marL="0" indent="0">
                  <a:buNone/>
                </a:pPr>
                <a:endParaRPr lang="en-AU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5796CD-455F-47E3-942A-4520635940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81" y="961573"/>
                <a:ext cx="12003155" cy="5802565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C2E4414-440D-4114-BA54-11132F5FA04F}"/>
                  </a:ext>
                </a:extLst>
              </p14:cNvPr>
              <p14:cNvContentPartPr/>
              <p14:nvPr/>
            </p14:nvContentPartPr>
            <p14:xfrm>
              <a:off x="6156000" y="4320360"/>
              <a:ext cx="2104920" cy="230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C2E4414-440D-4114-BA54-11132F5FA04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140160" y="4257000"/>
                <a:ext cx="213624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2C103F3-2180-490A-885B-89D2B5FD3D6E}"/>
                  </a:ext>
                </a:extLst>
              </p14:cNvPr>
              <p14:cNvContentPartPr/>
              <p14:nvPr/>
            </p14:nvContentPartPr>
            <p14:xfrm>
              <a:off x="6215400" y="4428000"/>
              <a:ext cx="2039400" cy="217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2C103F3-2180-490A-885B-89D2B5FD3D6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199560" y="4364640"/>
                <a:ext cx="2070720" cy="34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804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27002-C770-491A-A8E4-703FE19AC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93" y="0"/>
            <a:ext cx="8596668" cy="1320800"/>
          </a:xfrm>
        </p:spPr>
        <p:txBody>
          <a:bodyPr/>
          <a:lstStyle/>
          <a:p>
            <a:r>
              <a:rPr lang="en-AU" dirty="0"/>
              <a:t>The lottery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B18C0-8998-4332-A731-7D5933F90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501" y="1129489"/>
            <a:ext cx="9659625" cy="3880773"/>
          </a:xfrm>
        </p:spPr>
        <p:txBody>
          <a:bodyPr>
            <a:normAutofit/>
          </a:bodyPr>
          <a:lstStyle/>
          <a:p>
            <a:r>
              <a:rPr lang="en-AU" sz="2400" dirty="0"/>
              <a:t>Mr Wilson, Mrs Keen and Mr Craig buy a lottery ticket. They put in different amounts of money to purchase the ticket as seen in the ratio </a:t>
            </a:r>
            <a:r>
              <a:rPr lang="en-AU" sz="2400" b="1" dirty="0"/>
              <a:t>$5 : $8 : $2. </a:t>
            </a:r>
            <a:r>
              <a:rPr lang="en-AU" sz="2400" dirty="0"/>
              <a:t>They won $7,500,000. How much do they get each?</a:t>
            </a:r>
          </a:p>
        </p:txBody>
      </p:sp>
    </p:spTree>
    <p:extLst>
      <p:ext uri="{BB962C8B-B14F-4D97-AF65-F5344CB8AC3E}">
        <p14:creationId xmlns:p14="http://schemas.microsoft.com/office/powerpoint/2010/main" val="2581348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589</Words>
  <Application>Microsoft Office PowerPoint</Application>
  <PresentationFormat>Widescreen</PresentationFormat>
  <Paragraphs>86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Fragment Core</vt:lpstr>
      <vt:lpstr>Office Theme</vt:lpstr>
      <vt:lpstr>NAPLAN</vt:lpstr>
      <vt:lpstr>NAPLAN Question</vt:lpstr>
      <vt:lpstr>PowerPoint Presentation</vt:lpstr>
      <vt:lpstr>PowerPoint Presentation</vt:lpstr>
      <vt:lpstr>From Last Lesson</vt:lpstr>
      <vt:lpstr>From Last Lesson</vt:lpstr>
      <vt:lpstr>From Last Lesson</vt:lpstr>
      <vt:lpstr>From Last Lesson</vt:lpstr>
      <vt:lpstr>PowerPoint Presentation</vt:lpstr>
      <vt:lpstr>Task</vt:lpstr>
      <vt:lpstr>Ratio Applications EQ: How do I divide a quantity in a given ratio? </vt:lpstr>
      <vt:lpstr>The ice-cream problem</vt:lpstr>
      <vt:lpstr>The ice-cream problem</vt:lpstr>
      <vt:lpstr>The lottery problem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NAPLAN</dc:title>
  <dc:creator>STRETCH Nine [Baldivis Secondary College]</dc:creator>
  <cp:lastModifiedBy>STRETCH Nine [Baldivis Secondary College]</cp:lastModifiedBy>
  <cp:revision>5</cp:revision>
  <dcterms:created xsi:type="dcterms:W3CDTF">2019-04-23T05:37:02Z</dcterms:created>
  <dcterms:modified xsi:type="dcterms:W3CDTF">2019-05-05T04:52:29Z</dcterms:modified>
</cp:coreProperties>
</file>
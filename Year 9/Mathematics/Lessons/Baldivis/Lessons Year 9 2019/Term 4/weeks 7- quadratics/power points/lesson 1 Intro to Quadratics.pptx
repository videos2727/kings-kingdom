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15"/>
  </p:notesMasterIdLst>
  <p:handoutMasterIdLst>
    <p:handoutMasterId r:id="rId16"/>
  </p:handoutMasterIdLst>
  <p:sldIdLst>
    <p:sldId id="256" r:id="rId2"/>
    <p:sldId id="279" r:id="rId3"/>
    <p:sldId id="269" r:id="rId4"/>
    <p:sldId id="265" r:id="rId5"/>
    <p:sldId id="270" r:id="rId6"/>
    <p:sldId id="271" r:id="rId7"/>
    <p:sldId id="272" r:id="rId8"/>
    <p:sldId id="273" r:id="rId9"/>
    <p:sldId id="277" r:id="rId10"/>
    <p:sldId id="275" r:id="rId11"/>
    <p:sldId id="276" r:id="rId12"/>
    <p:sldId id="274" r:id="rId13"/>
    <p:sldId id="27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6047" autoAdjust="0"/>
  </p:normalViewPr>
  <p:slideViewPr>
    <p:cSldViewPr snapToGrid="0">
      <p:cViewPr varScale="1">
        <p:scale>
          <a:sx n="66" d="100"/>
          <a:sy n="66" d="100"/>
        </p:scale>
        <p:origin x="1330" y="6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168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D2DDA-69D8-473F-A583-B6774B31A77B}" type="datetimeFigureOut">
              <a:rPr lang="en-US"/>
              <a:t>11/20/2019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392CCB-FF08-4D29-8DA3-E1FD86044808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621533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1F6DFB-6833-46E4-B515-70E0D9178056}" type="datetimeFigureOut">
              <a:rPr lang="en-US"/>
              <a:t>11/20/2019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8706C7-F2C3-48B6-8A22-C484D800B5D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9506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Linear:</a:t>
            </a:r>
          </a:p>
          <a:p>
            <a:r>
              <a:rPr lang="en-AU" dirty="0" smtClean="0"/>
              <a:t>One x value for every y value</a:t>
            </a:r>
          </a:p>
          <a:p>
            <a:r>
              <a:rPr lang="en-AU" dirty="0" smtClean="0"/>
              <a:t>Quadratics:</a:t>
            </a:r>
          </a:p>
          <a:p>
            <a:r>
              <a:rPr lang="en-AU" dirty="0" smtClean="0"/>
              <a:t>Two</a:t>
            </a:r>
            <a:r>
              <a:rPr lang="en-AU" baseline="0" dirty="0" smtClean="0"/>
              <a:t> x values for most y values</a:t>
            </a:r>
            <a:endParaRPr lang="en-AU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8706C7-F2C3-48B6-8A22-C484D800B5D4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1126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-2" y="295863"/>
            <a:ext cx="12188827" cy="6323264"/>
            <a:chOff x="-2" y="295863"/>
            <a:chExt cx="12188827" cy="6323264"/>
          </a:xfrm>
        </p:grpSpPr>
        <p:sp>
          <p:nvSpPr>
            <p:cNvPr id="33" name="Rectangle 32"/>
            <p:cNvSpPr/>
            <p:nvPr/>
          </p:nvSpPr>
          <p:spPr>
            <a:xfrm>
              <a:off x="-1" y="1905000"/>
              <a:ext cx="12188826" cy="3200400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50000"/>
                  </a:schemeClr>
                </a:gs>
                <a:gs pos="0">
                  <a:schemeClr val="accent1">
                    <a:lumMod val="60000"/>
                    <a:lumOff val="4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-2" y="1795132"/>
              <a:ext cx="12188826" cy="73152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80000"/>
                  </a:schemeClr>
                </a:gs>
                <a:gs pos="0">
                  <a:schemeClr val="accent1">
                    <a:lumMod val="60000"/>
                    <a:lumOff val="40000"/>
                    <a:alpha val="8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-2" y="5142116"/>
              <a:ext cx="12188826" cy="73152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80000"/>
                  </a:schemeClr>
                </a:gs>
                <a:gs pos="0">
                  <a:schemeClr val="accent1">
                    <a:lumMod val="60000"/>
                    <a:lumOff val="40000"/>
                    <a:alpha val="8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36" name="Oval 2"/>
            <p:cNvSpPr>
              <a:spLocks noChangeArrowheads="1"/>
            </p:cNvSpPr>
            <p:nvPr/>
          </p:nvSpPr>
          <p:spPr bwMode="grayWhite">
            <a:xfrm>
              <a:off x="534293" y="5791419"/>
              <a:ext cx="716336" cy="739723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" name="Oval 3"/>
            <p:cNvSpPr>
              <a:spLocks noChangeArrowheads="1"/>
            </p:cNvSpPr>
            <p:nvPr/>
          </p:nvSpPr>
          <p:spPr bwMode="grayWhite">
            <a:xfrm>
              <a:off x="696482" y="5958903"/>
              <a:ext cx="106437" cy="10991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" name="Oval 5"/>
            <p:cNvSpPr>
              <a:spLocks noChangeArrowheads="1"/>
            </p:cNvSpPr>
            <p:nvPr/>
          </p:nvSpPr>
          <p:spPr bwMode="grayWhite">
            <a:xfrm>
              <a:off x="213400" y="5778215"/>
              <a:ext cx="310863" cy="321012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" name="Oval 6"/>
            <p:cNvSpPr>
              <a:spLocks noChangeArrowheads="1"/>
            </p:cNvSpPr>
            <p:nvPr/>
          </p:nvSpPr>
          <p:spPr bwMode="grayWhite">
            <a:xfrm>
              <a:off x="284358" y="5851489"/>
              <a:ext cx="40547" cy="41871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" name="Oval 8"/>
            <p:cNvSpPr>
              <a:spLocks noChangeArrowheads="1"/>
            </p:cNvSpPr>
            <p:nvPr/>
          </p:nvSpPr>
          <p:spPr bwMode="grayWhite">
            <a:xfrm>
              <a:off x="10486137" y="5404864"/>
              <a:ext cx="473052" cy="488496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" name="Oval 9"/>
            <p:cNvSpPr>
              <a:spLocks noChangeArrowheads="1"/>
            </p:cNvSpPr>
            <p:nvPr/>
          </p:nvSpPr>
          <p:spPr bwMode="grayWhite">
            <a:xfrm>
              <a:off x="10594263" y="5516520"/>
              <a:ext cx="65889" cy="68041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" name="Oval 11"/>
            <p:cNvSpPr>
              <a:spLocks noChangeArrowheads="1"/>
            </p:cNvSpPr>
            <p:nvPr/>
          </p:nvSpPr>
          <p:spPr bwMode="grayWhite">
            <a:xfrm>
              <a:off x="6575012" y="6214373"/>
              <a:ext cx="391957" cy="404754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" name="Oval 12"/>
            <p:cNvSpPr>
              <a:spLocks noChangeArrowheads="1"/>
            </p:cNvSpPr>
            <p:nvPr/>
          </p:nvSpPr>
          <p:spPr bwMode="grayWhite">
            <a:xfrm>
              <a:off x="6664554" y="6306838"/>
              <a:ext cx="54063" cy="5582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" name="Oval 14"/>
            <p:cNvSpPr>
              <a:spLocks noChangeArrowheads="1"/>
            </p:cNvSpPr>
            <p:nvPr/>
          </p:nvSpPr>
          <p:spPr bwMode="grayWhite">
            <a:xfrm>
              <a:off x="3520863" y="5733822"/>
              <a:ext cx="391957" cy="404754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" name="Oval 15"/>
            <p:cNvSpPr>
              <a:spLocks noChangeArrowheads="1"/>
            </p:cNvSpPr>
            <p:nvPr/>
          </p:nvSpPr>
          <p:spPr bwMode="grayWhite">
            <a:xfrm>
              <a:off x="3610405" y="5826287"/>
              <a:ext cx="54063" cy="5582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" name="Oval 17"/>
            <p:cNvSpPr>
              <a:spLocks noChangeArrowheads="1"/>
            </p:cNvSpPr>
            <p:nvPr/>
          </p:nvSpPr>
          <p:spPr bwMode="grayWhite">
            <a:xfrm>
              <a:off x="5845161" y="295863"/>
              <a:ext cx="716336" cy="739723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" name="Oval 18"/>
            <p:cNvSpPr>
              <a:spLocks noChangeArrowheads="1"/>
            </p:cNvSpPr>
            <p:nvPr/>
          </p:nvSpPr>
          <p:spPr bwMode="grayWhite">
            <a:xfrm>
              <a:off x="6007350" y="463347"/>
              <a:ext cx="106437" cy="10991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" name="Oval 20"/>
            <p:cNvSpPr>
              <a:spLocks noChangeArrowheads="1"/>
            </p:cNvSpPr>
            <p:nvPr/>
          </p:nvSpPr>
          <p:spPr bwMode="grayWhite">
            <a:xfrm>
              <a:off x="5439688" y="630832"/>
              <a:ext cx="391957" cy="404754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" name="Oval 21"/>
            <p:cNvSpPr>
              <a:spLocks noChangeArrowheads="1"/>
            </p:cNvSpPr>
            <p:nvPr/>
          </p:nvSpPr>
          <p:spPr bwMode="grayWhite">
            <a:xfrm>
              <a:off x="5529230" y="723297"/>
              <a:ext cx="54063" cy="5582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" name="Oval 23"/>
            <p:cNvSpPr>
              <a:spLocks noChangeArrowheads="1"/>
            </p:cNvSpPr>
            <p:nvPr/>
          </p:nvSpPr>
          <p:spPr bwMode="grayWhite">
            <a:xfrm>
              <a:off x="6575012" y="295863"/>
              <a:ext cx="391957" cy="404754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" name="Oval 24"/>
            <p:cNvSpPr>
              <a:spLocks noChangeArrowheads="1"/>
            </p:cNvSpPr>
            <p:nvPr/>
          </p:nvSpPr>
          <p:spPr bwMode="grayWhite">
            <a:xfrm>
              <a:off x="6664554" y="388328"/>
              <a:ext cx="54063" cy="5582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" name="Oval 26"/>
            <p:cNvSpPr>
              <a:spLocks noChangeArrowheads="1"/>
            </p:cNvSpPr>
            <p:nvPr/>
          </p:nvSpPr>
          <p:spPr bwMode="grayWhite">
            <a:xfrm>
              <a:off x="11218217" y="589639"/>
              <a:ext cx="554146" cy="572239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" name="Oval 27"/>
            <p:cNvSpPr>
              <a:spLocks noChangeArrowheads="1"/>
            </p:cNvSpPr>
            <p:nvPr/>
          </p:nvSpPr>
          <p:spPr bwMode="grayWhite">
            <a:xfrm>
              <a:off x="11344927" y="720486"/>
              <a:ext cx="79405" cy="8199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" name="Oval 29"/>
            <p:cNvSpPr>
              <a:spLocks noChangeArrowheads="1"/>
            </p:cNvSpPr>
            <p:nvPr/>
          </p:nvSpPr>
          <p:spPr bwMode="grayWhite">
            <a:xfrm>
              <a:off x="11312827" y="1372978"/>
              <a:ext cx="229768" cy="237270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" name="Oval 30"/>
            <p:cNvSpPr>
              <a:spLocks noChangeArrowheads="1"/>
            </p:cNvSpPr>
            <p:nvPr/>
          </p:nvSpPr>
          <p:spPr bwMode="grayWhite">
            <a:xfrm>
              <a:off x="11366890" y="1428806"/>
              <a:ext cx="27032" cy="2791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" name="Oval 32"/>
            <p:cNvSpPr>
              <a:spLocks noChangeArrowheads="1"/>
            </p:cNvSpPr>
            <p:nvPr/>
          </p:nvSpPr>
          <p:spPr bwMode="grayWhite">
            <a:xfrm>
              <a:off x="1303864" y="669938"/>
              <a:ext cx="554146" cy="572239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" name="Oval 33"/>
            <p:cNvSpPr>
              <a:spLocks noChangeArrowheads="1"/>
            </p:cNvSpPr>
            <p:nvPr/>
          </p:nvSpPr>
          <p:spPr bwMode="grayWhite">
            <a:xfrm>
              <a:off x="1428885" y="799041"/>
              <a:ext cx="81095" cy="8374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" name="Oval 35"/>
            <p:cNvSpPr>
              <a:spLocks noChangeArrowheads="1"/>
            </p:cNvSpPr>
            <p:nvPr/>
          </p:nvSpPr>
          <p:spPr bwMode="grayWhite">
            <a:xfrm>
              <a:off x="1871526" y="837422"/>
              <a:ext cx="391957" cy="404754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" name="Oval 36"/>
            <p:cNvSpPr>
              <a:spLocks noChangeArrowheads="1"/>
            </p:cNvSpPr>
            <p:nvPr/>
          </p:nvSpPr>
          <p:spPr bwMode="grayWhite">
            <a:xfrm>
              <a:off x="1961068" y="929887"/>
              <a:ext cx="54063" cy="5582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5400" y="2079812"/>
            <a:ext cx="9601200" cy="1724092"/>
          </a:xfrm>
        </p:spPr>
        <p:txBody>
          <a:bodyPr anchor="b"/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3959352"/>
            <a:ext cx="9601200" cy="91440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223D7-2A27-4B34-A31C-02090805ABAC}" type="datetime1">
              <a:rPr lang="en-US" smtClean="0"/>
              <a:t>11/20/2019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914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C7548-FD58-4384-A951-C87160C229EB}" type="datetime1">
              <a:rPr lang="en-US" smtClean="0"/>
              <a:t>11/20/2019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496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130552"/>
            <a:ext cx="9601200" cy="2359152"/>
          </a:xfrm>
        </p:spPr>
        <p:txBody>
          <a:bodyPr anchor="b">
            <a:normAutofit/>
          </a:bodyPr>
          <a:lstStyle>
            <a:lvl1pPr algn="ctr">
              <a:defRPr sz="5400" b="1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572000"/>
            <a:ext cx="9601200" cy="841248"/>
          </a:xfrm>
        </p:spPr>
        <p:txBody>
          <a:bodyPr anchor="t"/>
          <a:lstStyle>
            <a:lvl1pPr marL="0" indent="0" algn="ctr">
              <a:spcBef>
                <a:spcPts val="0"/>
              </a:spcBef>
              <a:buNone/>
              <a:defRPr sz="20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13194-3577-4D3C-A927-FE879CBA54D5}" type="datetime1">
              <a:rPr lang="en-US" smtClean="0"/>
              <a:t>11/20/2019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801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341120" y="1901952"/>
            <a:ext cx="4572000" cy="412394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/>
            </a:lvl5pPr>
            <a:lvl6pPr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we</a:t>
            </a:r>
          </a:p>
          <a:p>
            <a:pPr lvl="5"/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8880" y="1901952"/>
            <a:ext cx="4572000" cy="412394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DC53B-D6DF-4D88-8598-DAA646F1ABC6}" type="datetime1">
              <a:rPr lang="en-US" smtClean="0"/>
              <a:t>11/20/2019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210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1120" y="466344"/>
            <a:ext cx="9509760" cy="123444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1120" y="1837464"/>
            <a:ext cx="4572000" cy="766588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41120" y="2740732"/>
            <a:ext cx="4572000" cy="328884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78880" y="1837464"/>
            <a:ext cx="4572000" cy="766588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78880" y="2740732"/>
            <a:ext cx="4572000" cy="328884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13985-7297-49C2-8AF7-445853E5DC92}" type="datetime1">
              <a:rPr lang="en-US" smtClean="0"/>
              <a:t>11/20/2019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009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7CB2E-E929-49CA-BA6D-3C562126F566}" type="datetime1">
              <a:rPr lang="en-US" smtClean="0"/>
              <a:t>11/20/2019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836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 flipV="1">
            <a:off x="1585" y="0"/>
            <a:ext cx="12188827" cy="377952"/>
            <a:chOff x="-1" y="6480048"/>
            <a:chExt cx="12188827" cy="377952"/>
          </a:xfrm>
        </p:grpSpPr>
        <p:sp>
          <p:nvSpPr>
            <p:cNvPr id="6" name="Rectangle 5"/>
            <p:cNvSpPr/>
            <p:nvPr/>
          </p:nvSpPr>
          <p:spPr>
            <a:xfrm>
              <a:off x="0" y="6583680"/>
              <a:ext cx="12188826" cy="274320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50000"/>
                  </a:schemeClr>
                </a:gs>
                <a:gs pos="0">
                  <a:schemeClr val="accent1">
                    <a:lumMod val="60000"/>
                    <a:lumOff val="4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-1" y="6480048"/>
              <a:ext cx="12188826" cy="73152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80000"/>
                  </a:schemeClr>
                </a:gs>
                <a:gs pos="0">
                  <a:schemeClr val="accent1">
                    <a:lumMod val="60000"/>
                    <a:lumOff val="40000"/>
                    <a:alpha val="8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7CFE0-ED18-4B5C-AA30-B675E1042721}" type="datetime1">
              <a:rPr lang="en-US" smtClean="0"/>
              <a:t>11/20/2019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049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 flipV="1">
            <a:off x="1585" y="0"/>
            <a:ext cx="12188827" cy="377952"/>
            <a:chOff x="-1" y="6480048"/>
            <a:chExt cx="12188827" cy="377952"/>
          </a:xfrm>
        </p:grpSpPr>
        <p:sp>
          <p:nvSpPr>
            <p:cNvPr id="9" name="Rectangle 8"/>
            <p:cNvSpPr/>
            <p:nvPr/>
          </p:nvSpPr>
          <p:spPr>
            <a:xfrm>
              <a:off x="0" y="6583680"/>
              <a:ext cx="12188826" cy="274320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50000"/>
                  </a:schemeClr>
                </a:gs>
                <a:gs pos="0">
                  <a:schemeClr val="accent1">
                    <a:lumMod val="60000"/>
                    <a:lumOff val="4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-1" y="6480048"/>
              <a:ext cx="12188826" cy="73152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80000"/>
                  </a:schemeClr>
                </a:gs>
                <a:gs pos="0">
                  <a:schemeClr val="accent1">
                    <a:lumMod val="60000"/>
                    <a:lumOff val="40000"/>
                    <a:alpha val="8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70648" y="2350008"/>
            <a:ext cx="4206240" cy="1993392"/>
          </a:xfrm>
        </p:spPr>
        <p:txBody>
          <a:bodyPr anchor="b">
            <a:normAutofit/>
          </a:bodyPr>
          <a:lstStyle>
            <a:lvl1pPr>
              <a:defRPr sz="3400" b="1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58952"/>
            <a:ext cx="6629400" cy="533095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70648" y="4361688"/>
            <a:ext cx="4206240" cy="1728216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3BAAB-3A39-450E-9B38-6FB42E71A3AF}" type="datetime1">
              <a:rPr lang="en-US" smtClean="0"/>
              <a:t>11/20/2019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565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 flipV="1">
            <a:off x="1585" y="0"/>
            <a:ext cx="12188827" cy="377952"/>
            <a:chOff x="-1" y="6480048"/>
            <a:chExt cx="12188827" cy="377952"/>
          </a:xfrm>
        </p:grpSpPr>
        <p:sp>
          <p:nvSpPr>
            <p:cNvPr id="9" name="Rectangle 8"/>
            <p:cNvSpPr/>
            <p:nvPr/>
          </p:nvSpPr>
          <p:spPr>
            <a:xfrm>
              <a:off x="0" y="6583680"/>
              <a:ext cx="12188826" cy="274320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50000"/>
                  </a:schemeClr>
                </a:gs>
                <a:gs pos="0">
                  <a:schemeClr val="accent1">
                    <a:lumMod val="60000"/>
                    <a:lumOff val="4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-1" y="6480048"/>
              <a:ext cx="12188826" cy="73152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80000"/>
                  </a:schemeClr>
                </a:gs>
                <a:gs pos="0">
                  <a:schemeClr val="accent1">
                    <a:lumMod val="60000"/>
                    <a:lumOff val="40000"/>
                    <a:alpha val="8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70648" y="2350008"/>
            <a:ext cx="4206240" cy="1993392"/>
          </a:xfrm>
        </p:spPr>
        <p:txBody>
          <a:bodyPr anchor="b">
            <a:normAutofit/>
          </a:bodyPr>
          <a:lstStyle>
            <a:lvl1pPr>
              <a:defRPr sz="3400" b="1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150811" y="506104"/>
            <a:ext cx="6858002" cy="584301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70648" y="4361688"/>
            <a:ext cx="4206240" cy="1728216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E0331-03F7-4310-9C27-C65B2378D791}" type="datetime1">
              <a:rPr lang="en-US" smtClean="0"/>
              <a:t>11/20/2019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572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2F1F3-2254-4E04-B960-C1DB42B67330}" type="datetime1">
              <a:rPr lang="en-US" smtClean="0"/>
              <a:t>11/20/2019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702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274638"/>
            <a:ext cx="2628900" cy="58975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274638"/>
            <a:ext cx="7734300" cy="5897562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D0DE7-A14C-48CB-AB8E-D3357522F5F2}" type="datetime1">
              <a:rPr lang="en-US" smtClean="0"/>
              <a:t>11/20/2019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529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roup 162"/>
          <p:cNvGrpSpPr/>
          <p:nvPr/>
        </p:nvGrpSpPr>
        <p:grpSpPr>
          <a:xfrm>
            <a:off x="7873" y="-19258"/>
            <a:ext cx="12188953" cy="6869723"/>
            <a:chOff x="7873" y="-19258"/>
            <a:chExt cx="12188953" cy="6869723"/>
          </a:xfrm>
        </p:grpSpPr>
        <p:sp>
          <p:nvSpPr>
            <p:cNvPr id="10" name="Rectangle 9"/>
            <p:cNvSpPr/>
            <p:nvPr/>
          </p:nvSpPr>
          <p:spPr>
            <a:xfrm>
              <a:off x="7873" y="-19258"/>
              <a:ext cx="12188952" cy="6858000"/>
            </a:xfrm>
            <a:prstGeom prst="rect">
              <a:avLst/>
            </a:pr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74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9" name="Group 8"/>
            <p:cNvGrpSpPr/>
            <p:nvPr/>
          </p:nvGrpSpPr>
          <p:grpSpPr>
            <a:xfrm>
              <a:off x="7999" y="6472513"/>
              <a:ext cx="12188827" cy="377952"/>
              <a:chOff x="-1" y="6480048"/>
              <a:chExt cx="12188827" cy="377952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0" y="6583680"/>
                <a:ext cx="12188826" cy="274320"/>
              </a:xfrm>
              <a:prstGeom prst="rect">
                <a:avLst/>
              </a:prstGeom>
              <a:gradFill flip="none" rotWithShape="1">
                <a:gsLst>
                  <a:gs pos="100000">
                    <a:schemeClr val="accent1">
                      <a:alpha val="50000"/>
                    </a:schemeClr>
                  </a:gs>
                  <a:gs pos="0">
                    <a:schemeClr val="accent1">
                      <a:lumMod val="60000"/>
                      <a:lumOff val="40000"/>
                      <a:alpha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/>
              </a:p>
            </p:txBody>
          </p:sp>
          <p:sp>
            <p:nvSpPr>
              <p:cNvPr id="8" name="Rectangle 7"/>
              <p:cNvSpPr/>
              <p:nvPr/>
            </p:nvSpPr>
            <p:spPr>
              <a:xfrm>
                <a:off x="-1" y="6480048"/>
                <a:ext cx="12188826" cy="73152"/>
              </a:xfrm>
              <a:prstGeom prst="rect">
                <a:avLst/>
              </a:prstGeom>
              <a:gradFill flip="none" rotWithShape="1">
                <a:gsLst>
                  <a:gs pos="100000">
                    <a:schemeClr val="accent1">
                      <a:alpha val="80000"/>
                    </a:schemeClr>
                  </a:gs>
                  <a:gs pos="0">
                    <a:schemeClr val="accent1">
                      <a:lumMod val="60000"/>
                      <a:lumOff val="40000"/>
                      <a:alpha val="8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/>
              </a:p>
            </p:txBody>
          </p:sp>
        </p:grpSp>
        <p:grpSp>
          <p:nvGrpSpPr>
            <p:cNvPr id="48" name="Group 47" hidden="1"/>
            <p:cNvGrpSpPr/>
            <p:nvPr/>
          </p:nvGrpSpPr>
          <p:grpSpPr>
            <a:xfrm>
              <a:off x="14350" y="-7605"/>
              <a:ext cx="11722100" cy="6536383"/>
              <a:chOff x="6350" y="6350"/>
              <a:chExt cx="11722100" cy="6536383"/>
            </a:xfrm>
          </p:grpSpPr>
          <p:grpSp>
            <p:nvGrpSpPr>
              <p:cNvPr id="11" name="Group 9"/>
              <p:cNvGrpSpPr>
                <a:grpSpLocks/>
              </p:cNvGrpSpPr>
              <p:nvPr/>
            </p:nvGrpSpPr>
            <p:grpSpPr bwMode="auto">
              <a:xfrm>
                <a:off x="6350" y="5340350"/>
                <a:ext cx="673100" cy="673100"/>
                <a:chOff x="4" y="3364"/>
                <a:chExt cx="424" cy="424"/>
              </a:xfrm>
            </p:grpSpPr>
            <p:sp>
              <p:nvSpPr>
                <p:cNvPr id="45" name="Oval 7"/>
                <p:cNvSpPr>
                  <a:spLocks noChangeArrowheads="1"/>
                </p:cNvSpPr>
                <p:nvPr/>
              </p:nvSpPr>
              <p:spPr bwMode="grayWhite">
                <a:xfrm>
                  <a:off x="4" y="3364"/>
                  <a:ext cx="424" cy="424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" name="Oval 8"/>
                <p:cNvSpPr>
                  <a:spLocks noChangeArrowheads="1"/>
                </p:cNvSpPr>
                <p:nvPr/>
              </p:nvSpPr>
              <p:spPr bwMode="grayWhite">
                <a:xfrm>
                  <a:off x="100" y="3460"/>
                  <a:ext cx="63" cy="63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2" name="Group 12"/>
              <p:cNvGrpSpPr>
                <a:grpSpLocks/>
              </p:cNvGrpSpPr>
              <p:nvPr/>
            </p:nvGrpSpPr>
            <p:grpSpPr bwMode="auto">
              <a:xfrm>
                <a:off x="539750" y="5873750"/>
                <a:ext cx="292100" cy="292100"/>
                <a:chOff x="340" y="3700"/>
                <a:chExt cx="184" cy="184"/>
              </a:xfrm>
            </p:grpSpPr>
            <p:sp>
              <p:nvSpPr>
                <p:cNvPr id="43" name="Oval 10"/>
                <p:cNvSpPr>
                  <a:spLocks noChangeArrowheads="1"/>
                </p:cNvSpPr>
                <p:nvPr/>
              </p:nvSpPr>
              <p:spPr bwMode="grayWhite">
                <a:xfrm>
                  <a:off x="340" y="3700"/>
                  <a:ext cx="184" cy="184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" name="Oval 11"/>
                <p:cNvSpPr>
                  <a:spLocks noChangeArrowheads="1"/>
                </p:cNvSpPr>
                <p:nvPr/>
              </p:nvSpPr>
              <p:spPr bwMode="grayWhite">
                <a:xfrm>
                  <a:off x="382" y="3742"/>
                  <a:ext cx="24" cy="24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3" name="Group 15"/>
              <p:cNvGrpSpPr>
                <a:grpSpLocks/>
              </p:cNvGrpSpPr>
              <p:nvPr/>
            </p:nvGrpSpPr>
            <p:grpSpPr bwMode="auto">
              <a:xfrm>
                <a:off x="131763" y="6038850"/>
                <a:ext cx="444500" cy="444500"/>
                <a:chOff x="83" y="3804"/>
                <a:chExt cx="280" cy="280"/>
              </a:xfrm>
            </p:grpSpPr>
            <p:sp>
              <p:nvSpPr>
                <p:cNvPr id="41" name="Oval 13"/>
                <p:cNvSpPr>
                  <a:spLocks noChangeArrowheads="1"/>
                </p:cNvSpPr>
                <p:nvPr/>
              </p:nvSpPr>
              <p:spPr bwMode="grayWhite">
                <a:xfrm>
                  <a:off x="83" y="3804"/>
                  <a:ext cx="280" cy="28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2" name="Oval 14"/>
                <p:cNvSpPr>
                  <a:spLocks noChangeArrowheads="1"/>
                </p:cNvSpPr>
                <p:nvPr/>
              </p:nvSpPr>
              <p:spPr bwMode="grayWhite">
                <a:xfrm>
                  <a:off x="147" y="3868"/>
                  <a:ext cx="39" cy="39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4" name="Group 18"/>
              <p:cNvGrpSpPr>
                <a:grpSpLocks/>
              </p:cNvGrpSpPr>
              <p:nvPr/>
            </p:nvGrpSpPr>
            <p:grpSpPr bwMode="auto">
              <a:xfrm>
                <a:off x="2476500" y="6174433"/>
                <a:ext cx="368300" cy="368300"/>
                <a:chOff x="1560" y="4076"/>
                <a:chExt cx="232" cy="232"/>
              </a:xfrm>
            </p:grpSpPr>
            <p:sp>
              <p:nvSpPr>
                <p:cNvPr id="39" name="Oval 16"/>
                <p:cNvSpPr>
                  <a:spLocks noChangeArrowheads="1"/>
                </p:cNvSpPr>
                <p:nvPr/>
              </p:nvSpPr>
              <p:spPr bwMode="grayWhite">
                <a:xfrm>
                  <a:off x="1560" y="4076"/>
                  <a:ext cx="232" cy="232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0" name="Oval 17"/>
                <p:cNvSpPr>
                  <a:spLocks noChangeArrowheads="1"/>
                </p:cNvSpPr>
                <p:nvPr/>
              </p:nvSpPr>
              <p:spPr bwMode="grayWhite">
                <a:xfrm>
                  <a:off x="1613" y="4129"/>
                  <a:ext cx="32" cy="32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5" name="Group 21"/>
              <p:cNvGrpSpPr>
                <a:grpSpLocks/>
              </p:cNvGrpSpPr>
              <p:nvPr/>
            </p:nvGrpSpPr>
            <p:grpSpPr bwMode="auto">
              <a:xfrm>
                <a:off x="6350" y="4425950"/>
                <a:ext cx="368300" cy="368300"/>
                <a:chOff x="4" y="2788"/>
                <a:chExt cx="232" cy="232"/>
              </a:xfrm>
            </p:grpSpPr>
            <p:sp>
              <p:nvSpPr>
                <p:cNvPr id="37" name="Oval 19"/>
                <p:cNvSpPr>
                  <a:spLocks noChangeArrowheads="1"/>
                </p:cNvSpPr>
                <p:nvPr/>
              </p:nvSpPr>
              <p:spPr bwMode="grayWhite">
                <a:xfrm>
                  <a:off x="4" y="2788"/>
                  <a:ext cx="232" cy="232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" name="Oval 20"/>
                <p:cNvSpPr>
                  <a:spLocks noChangeArrowheads="1"/>
                </p:cNvSpPr>
                <p:nvPr/>
              </p:nvSpPr>
              <p:spPr bwMode="grayWhite">
                <a:xfrm>
                  <a:off x="57" y="2841"/>
                  <a:ext cx="32" cy="32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6" name="Group 24"/>
              <p:cNvGrpSpPr>
                <a:grpSpLocks/>
              </p:cNvGrpSpPr>
              <p:nvPr/>
            </p:nvGrpSpPr>
            <p:grpSpPr bwMode="auto">
              <a:xfrm>
                <a:off x="10674350" y="5808663"/>
                <a:ext cx="673100" cy="673100"/>
                <a:chOff x="4132" y="3844"/>
                <a:chExt cx="424" cy="424"/>
              </a:xfrm>
            </p:grpSpPr>
            <p:sp>
              <p:nvSpPr>
                <p:cNvPr id="35" name="Oval 22"/>
                <p:cNvSpPr>
                  <a:spLocks noChangeArrowheads="1"/>
                </p:cNvSpPr>
                <p:nvPr/>
              </p:nvSpPr>
              <p:spPr bwMode="grayWhite">
                <a:xfrm>
                  <a:off x="4132" y="3844"/>
                  <a:ext cx="424" cy="424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6" name="Oval 23"/>
                <p:cNvSpPr>
                  <a:spLocks noChangeArrowheads="1"/>
                </p:cNvSpPr>
                <p:nvPr/>
              </p:nvSpPr>
              <p:spPr bwMode="grayWhite">
                <a:xfrm>
                  <a:off x="4228" y="3940"/>
                  <a:ext cx="63" cy="63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7" name="Group 27"/>
              <p:cNvGrpSpPr>
                <a:grpSpLocks/>
              </p:cNvGrpSpPr>
              <p:nvPr/>
            </p:nvGrpSpPr>
            <p:grpSpPr bwMode="auto">
              <a:xfrm>
                <a:off x="10293350" y="6113463"/>
                <a:ext cx="368300" cy="368300"/>
                <a:chOff x="3892" y="4036"/>
                <a:chExt cx="232" cy="232"/>
              </a:xfrm>
            </p:grpSpPr>
            <p:sp>
              <p:nvSpPr>
                <p:cNvPr id="33" name="Oval 25"/>
                <p:cNvSpPr>
                  <a:spLocks noChangeArrowheads="1"/>
                </p:cNvSpPr>
                <p:nvPr/>
              </p:nvSpPr>
              <p:spPr bwMode="grayWhite">
                <a:xfrm>
                  <a:off x="3892" y="4036"/>
                  <a:ext cx="232" cy="232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" name="Oval 26"/>
                <p:cNvSpPr>
                  <a:spLocks noChangeArrowheads="1"/>
                </p:cNvSpPr>
                <p:nvPr/>
              </p:nvSpPr>
              <p:spPr bwMode="grayWhite">
                <a:xfrm>
                  <a:off x="3945" y="4089"/>
                  <a:ext cx="32" cy="32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8" name="Group 30"/>
              <p:cNvGrpSpPr>
                <a:grpSpLocks/>
              </p:cNvGrpSpPr>
              <p:nvPr/>
            </p:nvGrpSpPr>
            <p:grpSpPr bwMode="auto">
              <a:xfrm>
                <a:off x="11360150" y="5808663"/>
                <a:ext cx="368300" cy="368300"/>
                <a:chOff x="4564" y="3844"/>
                <a:chExt cx="232" cy="232"/>
              </a:xfrm>
            </p:grpSpPr>
            <p:sp>
              <p:nvSpPr>
                <p:cNvPr id="31" name="Oval 28"/>
                <p:cNvSpPr>
                  <a:spLocks noChangeArrowheads="1"/>
                </p:cNvSpPr>
                <p:nvPr/>
              </p:nvSpPr>
              <p:spPr bwMode="grayWhite">
                <a:xfrm>
                  <a:off x="4564" y="3844"/>
                  <a:ext cx="232" cy="232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" name="Oval 29"/>
                <p:cNvSpPr>
                  <a:spLocks noChangeArrowheads="1"/>
                </p:cNvSpPr>
                <p:nvPr/>
              </p:nvSpPr>
              <p:spPr bwMode="grayWhite">
                <a:xfrm>
                  <a:off x="4617" y="3897"/>
                  <a:ext cx="32" cy="32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9" name="Group 33"/>
              <p:cNvGrpSpPr>
                <a:grpSpLocks/>
              </p:cNvGrpSpPr>
              <p:nvPr/>
            </p:nvGrpSpPr>
            <p:grpSpPr bwMode="auto">
              <a:xfrm>
                <a:off x="11087100" y="1901952"/>
                <a:ext cx="520700" cy="520700"/>
                <a:chOff x="5420" y="1139"/>
                <a:chExt cx="328" cy="328"/>
              </a:xfrm>
            </p:grpSpPr>
            <p:sp>
              <p:nvSpPr>
                <p:cNvPr id="29" name="Oval 31"/>
                <p:cNvSpPr>
                  <a:spLocks noChangeArrowheads="1"/>
                </p:cNvSpPr>
                <p:nvPr/>
              </p:nvSpPr>
              <p:spPr bwMode="grayWhite">
                <a:xfrm>
                  <a:off x="5420" y="1139"/>
                  <a:ext cx="328" cy="328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0" name="Oval 32"/>
                <p:cNvSpPr>
                  <a:spLocks noChangeArrowheads="1"/>
                </p:cNvSpPr>
                <p:nvPr/>
              </p:nvSpPr>
              <p:spPr bwMode="grayWhite">
                <a:xfrm>
                  <a:off x="5495" y="1214"/>
                  <a:ext cx="47" cy="47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0" name="Group 36"/>
              <p:cNvGrpSpPr>
                <a:grpSpLocks/>
              </p:cNvGrpSpPr>
              <p:nvPr/>
            </p:nvGrpSpPr>
            <p:grpSpPr bwMode="auto">
              <a:xfrm>
                <a:off x="11176000" y="2614739"/>
                <a:ext cx="215900" cy="215900"/>
                <a:chOff x="5476" y="1588"/>
                <a:chExt cx="136" cy="136"/>
              </a:xfrm>
            </p:grpSpPr>
            <p:sp>
              <p:nvSpPr>
                <p:cNvPr id="27" name="Oval 34"/>
                <p:cNvSpPr>
                  <a:spLocks noChangeArrowheads="1"/>
                </p:cNvSpPr>
                <p:nvPr/>
              </p:nvSpPr>
              <p:spPr bwMode="grayWhite">
                <a:xfrm>
                  <a:off x="5476" y="1588"/>
                  <a:ext cx="136" cy="136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" name="Oval 35"/>
                <p:cNvSpPr>
                  <a:spLocks noChangeArrowheads="1"/>
                </p:cNvSpPr>
                <p:nvPr/>
              </p:nvSpPr>
              <p:spPr bwMode="grayWhite">
                <a:xfrm>
                  <a:off x="5508" y="1620"/>
                  <a:ext cx="16" cy="16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1" name="Group 39"/>
              <p:cNvGrpSpPr>
                <a:grpSpLocks/>
              </p:cNvGrpSpPr>
              <p:nvPr/>
            </p:nvGrpSpPr>
            <p:grpSpPr bwMode="auto">
              <a:xfrm>
                <a:off x="1377950" y="6350"/>
                <a:ext cx="520700" cy="520700"/>
                <a:chOff x="868" y="4"/>
                <a:chExt cx="328" cy="328"/>
              </a:xfrm>
            </p:grpSpPr>
            <p:sp>
              <p:nvSpPr>
                <p:cNvPr id="25" name="Oval 37"/>
                <p:cNvSpPr>
                  <a:spLocks noChangeArrowheads="1"/>
                </p:cNvSpPr>
                <p:nvPr/>
              </p:nvSpPr>
              <p:spPr bwMode="grayWhite">
                <a:xfrm>
                  <a:off x="868" y="4"/>
                  <a:ext cx="328" cy="328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6" name="Oval 38"/>
                <p:cNvSpPr>
                  <a:spLocks noChangeArrowheads="1"/>
                </p:cNvSpPr>
                <p:nvPr/>
              </p:nvSpPr>
              <p:spPr bwMode="grayWhite">
                <a:xfrm>
                  <a:off x="942" y="78"/>
                  <a:ext cx="48" cy="48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2" name="Group 42"/>
              <p:cNvGrpSpPr>
                <a:grpSpLocks/>
              </p:cNvGrpSpPr>
              <p:nvPr/>
            </p:nvGrpSpPr>
            <p:grpSpPr bwMode="auto">
              <a:xfrm>
                <a:off x="1911350" y="158750"/>
                <a:ext cx="368300" cy="368300"/>
                <a:chOff x="1204" y="100"/>
                <a:chExt cx="232" cy="232"/>
              </a:xfrm>
            </p:grpSpPr>
            <p:sp>
              <p:nvSpPr>
                <p:cNvPr id="23" name="Oval 40"/>
                <p:cNvSpPr>
                  <a:spLocks noChangeArrowheads="1"/>
                </p:cNvSpPr>
                <p:nvPr/>
              </p:nvSpPr>
              <p:spPr bwMode="grayWhite">
                <a:xfrm>
                  <a:off x="1204" y="100"/>
                  <a:ext cx="232" cy="232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4" name="Oval 41"/>
                <p:cNvSpPr>
                  <a:spLocks noChangeArrowheads="1"/>
                </p:cNvSpPr>
                <p:nvPr/>
              </p:nvSpPr>
              <p:spPr bwMode="grayWhite">
                <a:xfrm>
                  <a:off x="1257" y="153"/>
                  <a:ext cx="32" cy="32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162" name="Group 161"/>
            <p:cNvGrpSpPr/>
            <p:nvPr/>
          </p:nvGrpSpPr>
          <p:grpSpPr>
            <a:xfrm>
              <a:off x="14350" y="-7605"/>
              <a:ext cx="11722100" cy="6536383"/>
              <a:chOff x="14350" y="-7605"/>
              <a:chExt cx="11722100" cy="6536383"/>
            </a:xfrm>
          </p:grpSpPr>
          <p:grpSp>
            <p:nvGrpSpPr>
              <p:cNvPr id="86" name="Group 85"/>
              <p:cNvGrpSpPr/>
              <p:nvPr/>
            </p:nvGrpSpPr>
            <p:grpSpPr>
              <a:xfrm>
                <a:off x="14350" y="5326395"/>
                <a:ext cx="673100" cy="673100"/>
                <a:chOff x="14350" y="5326395"/>
                <a:chExt cx="673100" cy="673100"/>
              </a:xfrm>
            </p:grpSpPr>
            <p:sp>
              <p:nvSpPr>
                <p:cNvPr id="83" name="Oval 7"/>
                <p:cNvSpPr>
                  <a:spLocks noChangeArrowheads="1"/>
                </p:cNvSpPr>
                <p:nvPr/>
              </p:nvSpPr>
              <p:spPr bwMode="grayWhite">
                <a:xfrm>
                  <a:off x="14350" y="5326395"/>
                  <a:ext cx="673100" cy="6731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4" name="Oval 8"/>
                <p:cNvSpPr>
                  <a:spLocks noChangeArrowheads="1"/>
                </p:cNvSpPr>
                <p:nvPr/>
              </p:nvSpPr>
              <p:spPr bwMode="grayWhite">
                <a:xfrm>
                  <a:off x="166750" y="5478795"/>
                  <a:ext cx="100013" cy="100013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7" name="Group 86"/>
              <p:cNvGrpSpPr/>
              <p:nvPr/>
            </p:nvGrpSpPr>
            <p:grpSpPr>
              <a:xfrm>
                <a:off x="547750" y="5859795"/>
                <a:ext cx="292100" cy="292100"/>
                <a:chOff x="547750" y="5859795"/>
                <a:chExt cx="292100" cy="292100"/>
              </a:xfrm>
            </p:grpSpPr>
            <p:sp>
              <p:nvSpPr>
                <p:cNvPr id="81" name="Oval 10"/>
                <p:cNvSpPr>
                  <a:spLocks noChangeArrowheads="1"/>
                </p:cNvSpPr>
                <p:nvPr/>
              </p:nvSpPr>
              <p:spPr bwMode="grayWhite">
                <a:xfrm>
                  <a:off x="547750" y="5859795"/>
                  <a:ext cx="292100" cy="2921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" name="Oval 11"/>
                <p:cNvSpPr>
                  <a:spLocks noChangeArrowheads="1"/>
                </p:cNvSpPr>
                <p:nvPr/>
              </p:nvSpPr>
              <p:spPr bwMode="grayWhite">
                <a:xfrm>
                  <a:off x="614425" y="5926470"/>
                  <a:ext cx="38100" cy="381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8" name="Group 87"/>
              <p:cNvGrpSpPr/>
              <p:nvPr/>
            </p:nvGrpSpPr>
            <p:grpSpPr>
              <a:xfrm>
                <a:off x="139763" y="6024895"/>
                <a:ext cx="444500" cy="444500"/>
                <a:chOff x="139763" y="6024895"/>
                <a:chExt cx="444500" cy="444500"/>
              </a:xfrm>
            </p:grpSpPr>
            <p:sp>
              <p:nvSpPr>
                <p:cNvPr id="79" name="Oval 13"/>
                <p:cNvSpPr>
                  <a:spLocks noChangeArrowheads="1"/>
                </p:cNvSpPr>
                <p:nvPr/>
              </p:nvSpPr>
              <p:spPr bwMode="grayWhite">
                <a:xfrm>
                  <a:off x="139763" y="6024895"/>
                  <a:ext cx="444500" cy="4445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0" name="Oval 14"/>
                <p:cNvSpPr>
                  <a:spLocks noChangeArrowheads="1"/>
                </p:cNvSpPr>
                <p:nvPr/>
              </p:nvSpPr>
              <p:spPr bwMode="grayWhite">
                <a:xfrm>
                  <a:off x="241363" y="6126495"/>
                  <a:ext cx="61913" cy="61913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9" name="Group 88"/>
              <p:cNvGrpSpPr/>
              <p:nvPr/>
            </p:nvGrpSpPr>
            <p:grpSpPr>
              <a:xfrm>
                <a:off x="2484500" y="6160478"/>
                <a:ext cx="368300" cy="368300"/>
                <a:chOff x="2484500" y="6160478"/>
                <a:chExt cx="368300" cy="368300"/>
              </a:xfrm>
            </p:grpSpPr>
            <p:sp>
              <p:nvSpPr>
                <p:cNvPr id="77" name="Oval 16"/>
                <p:cNvSpPr>
                  <a:spLocks noChangeArrowheads="1"/>
                </p:cNvSpPr>
                <p:nvPr/>
              </p:nvSpPr>
              <p:spPr bwMode="grayWhite">
                <a:xfrm>
                  <a:off x="2484500" y="6160478"/>
                  <a:ext cx="368300" cy="3683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8" name="Oval 17"/>
                <p:cNvSpPr>
                  <a:spLocks noChangeArrowheads="1"/>
                </p:cNvSpPr>
                <p:nvPr/>
              </p:nvSpPr>
              <p:spPr bwMode="grayWhite">
                <a:xfrm>
                  <a:off x="2568638" y="6244616"/>
                  <a:ext cx="50800" cy="508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0" name="Group 89"/>
              <p:cNvGrpSpPr/>
              <p:nvPr/>
            </p:nvGrpSpPr>
            <p:grpSpPr>
              <a:xfrm>
                <a:off x="14350" y="4411995"/>
                <a:ext cx="368300" cy="368300"/>
                <a:chOff x="14350" y="4411995"/>
                <a:chExt cx="368300" cy="368300"/>
              </a:xfrm>
            </p:grpSpPr>
            <p:sp>
              <p:nvSpPr>
                <p:cNvPr id="75" name="Oval 19"/>
                <p:cNvSpPr>
                  <a:spLocks noChangeArrowheads="1"/>
                </p:cNvSpPr>
                <p:nvPr/>
              </p:nvSpPr>
              <p:spPr bwMode="grayWhite">
                <a:xfrm>
                  <a:off x="14350" y="4411995"/>
                  <a:ext cx="368300" cy="3683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" name="Oval 20"/>
                <p:cNvSpPr>
                  <a:spLocks noChangeArrowheads="1"/>
                </p:cNvSpPr>
                <p:nvPr/>
              </p:nvSpPr>
              <p:spPr bwMode="grayWhite">
                <a:xfrm>
                  <a:off x="98488" y="4496133"/>
                  <a:ext cx="50800" cy="508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1" name="Group 90"/>
              <p:cNvGrpSpPr/>
              <p:nvPr/>
            </p:nvGrpSpPr>
            <p:grpSpPr>
              <a:xfrm>
                <a:off x="10682350" y="5794708"/>
                <a:ext cx="673100" cy="673100"/>
                <a:chOff x="10682350" y="5794708"/>
                <a:chExt cx="673100" cy="673100"/>
              </a:xfrm>
            </p:grpSpPr>
            <p:sp>
              <p:nvSpPr>
                <p:cNvPr id="73" name="Oval 22"/>
                <p:cNvSpPr>
                  <a:spLocks noChangeArrowheads="1"/>
                </p:cNvSpPr>
                <p:nvPr/>
              </p:nvSpPr>
              <p:spPr bwMode="grayWhite">
                <a:xfrm>
                  <a:off x="10682350" y="5794708"/>
                  <a:ext cx="673100" cy="6731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4" name="Oval 23"/>
                <p:cNvSpPr>
                  <a:spLocks noChangeArrowheads="1"/>
                </p:cNvSpPr>
                <p:nvPr/>
              </p:nvSpPr>
              <p:spPr bwMode="grayWhite">
                <a:xfrm>
                  <a:off x="10834750" y="5947108"/>
                  <a:ext cx="100013" cy="100013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2" name="Group 91"/>
              <p:cNvGrpSpPr/>
              <p:nvPr/>
            </p:nvGrpSpPr>
            <p:grpSpPr>
              <a:xfrm>
                <a:off x="10301350" y="6099508"/>
                <a:ext cx="368300" cy="368300"/>
                <a:chOff x="10301350" y="6099508"/>
                <a:chExt cx="368300" cy="368300"/>
              </a:xfrm>
            </p:grpSpPr>
            <p:sp>
              <p:nvSpPr>
                <p:cNvPr id="71" name="Oval 25"/>
                <p:cNvSpPr>
                  <a:spLocks noChangeArrowheads="1"/>
                </p:cNvSpPr>
                <p:nvPr/>
              </p:nvSpPr>
              <p:spPr bwMode="grayWhite">
                <a:xfrm>
                  <a:off x="10301350" y="6099508"/>
                  <a:ext cx="368300" cy="3683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" name="Oval 26"/>
                <p:cNvSpPr>
                  <a:spLocks noChangeArrowheads="1"/>
                </p:cNvSpPr>
                <p:nvPr/>
              </p:nvSpPr>
              <p:spPr bwMode="grayWhite">
                <a:xfrm>
                  <a:off x="10385488" y="6183646"/>
                  <a:ext cx="50800" cy="508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3" name="Group 92"/>
              <p:cNvGrpSpPr/>
              <p:nvPr/>
            </p:nvGrpSpPr>
            <p:grpSpPr>
              <a:xfrm>
                <a:off x="11368150" y="5794708"/>
                <a:ext cx="368300" cy="368300"/>
                <a:chOff x="11368150" y="5794708"/>
                <a:chExt cx="368300" cy="368300"/>
              </a:xfrm>
            </p:grpSpPr>
            <p:sp>
              <p:nvSpPr>
                <p:cNvPr id="69" name="Oval 28"/>
                <p:cNvSpPr>
                  <a:spLocks noChangeArrowheads="1"/>
                </p:cNvSpPr>
                <p:nvPr/>
              </p:nvSpPr>
              <p:spPr bwMode="grayWhite">
                <a:xfrm>
                  <a:off x="11368150" y="5794708"/>
                  <a:ext cx="368300" cy="3683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0" name="Oval 29"/>
                <p:cNvSpPr>
                  <a:spLocks noChangeArrowheads="1"/>
                </p:cNvSpPr>
                <p:nvPr/>
              </p:nvSpPr>
              <p:spPr bwMode="grayWhite">
                <a:xfrm>
                  <a:off x="11452288" y="5878846"/>
                  <a:ext cx="50800" cy="508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4" name="Group 93"/>
              <p:cNvGrpSpPr/>
              <p:nvPr/>
            </p:nvGrpSpPr>
            <p:grpSpPr>
              <a:xfrm>
                <a:off x="11095100" y="1887997"/>
                <a:ext cx="520700" cy="520700"/>
                <a:chOff x="11095100" y="1887997"/>
                <a:chExt cx="520700" cy="520700"/>
              </a:xfrm>
            </p:grpSpPr>
            <p:sp>
              <p:nvSpPr>
                <p:cNvPr id="67" name="Oval 31"/>
                <p:cNvSpPr>
                  <a:spLocks noChangeArrowheads="1"/>
                </p:cNvSpPr>
                <p:nvPr/>
              </p:nvSpPr>
              <p:spPr bwMode="grayWhite">
                <a:xfrm>
                  <a:off x="11095100" y="1887997"/>
                  <a:ext cx="520700" cy="5207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8" name="Oval 32"/>
                <p:cNvSpPr>
                  <a:spLocks noChangeArrowheads="1"/>
                </p:cNvSpPr>
                <p:nvPr/>
              </p:nvSpPr>
              <p:spPr bwMode="grayWhite">
                <a:xfrm>
                  <a:off x="11214163" y="2007060"/>
                  <a:ext cx="74613" cy="74613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5" name="Group 94"/>
              <p:cNvGrpSpPr/>
              <p:nvPr/>
            </p:nvGrpSpPr>
            <p:grpSpPr>
              <a:xfrm>
                <a:off x="11184000" y="2600784"/>
                <a:ext cx="215900" cy="215900"/>
                <a:chOff x="11184000" y="2600784"/>
                <a:chExt cx="215900" cy="215900"/>
              </a:xfrm>
            </p:grpSpPr>
            <p:sp>
              <p:nvSpPr>
                <p:cNvPr id="65" name="Oval 34"/>
                <p:cNvSpPr>
                  <a:spLocks noChangeArrowheads="1"/>
                </p:cNvSpPr>
                <p:nvPr/>
              </p:nvSpPr>
              <p:spPr bwMode="grayWhite">
                <a:xfrm>
                  <a:off x="11184000" y="2600784"/>
                  <a:ext cx="215900" cy="2159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6" name="Oval 35"/>
                <p:cNvSpPr>
                  <a:spLocks noChangeArrowheads="1"/>
                </p:cNvSpPr>
                <p:nvPr/>
              </p:nvSpPr>
              <p:spPr bwMode="grayWhite">
                <a:xfrm>
                  <a:off x="11234800" y="2651584"/>
                  <a:ext cx="25400" cy="254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60" name="Group 159"/>
              <p:cNvGrpSpPr/>
              <p:nvPr/>
            </p:nvGrpSpPr>
            <p:grpSpPr>
              <a:xfrm>
                <a:off x="1385950" y="-7605"/>
                <a:ext cx="520700" cy="520700"/>
                <a:chOff x="1385950" y="-7605"/>
                <a:chExt cx="520700" cy="520700"/>
              </a:xfrm>
            </p:grpSpPr>
            <p:sp>
              <p:nvSpPr>
                <p:cNvPr id="63" name="Oval 37"/>
                <p:cNvSpPr>
                  <a:spLocks noChangeArrowheads="1"/>
                </p:cNvSpPr>
                <p:nvPr/>
              </p:nvSpPr>
              <p:spPr bwMode="grayWhite">
                <a:xfrm>
                  <a:off x="1385950" y="-7605"/>
                  <a:ext cx="520700" cy="5207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4" name="Oval 38"/>
                <p:cNvSpPr>
                  <a:spLocks noChangeArrowheads="1"/>
                </p:cNvSpPr>
                <p:nvPr/>
              </p:nvSpPr>
              <p:spPr bwMode="grayWhite">
                <a:xfrm>
                  <a:off x="1503425" y="109870"/>
                  <a:ext cx="76200" cy="762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61" name="Group 160"/>
              <p:cNvGrpSpPr/>
              <p:nvPr/>
            </p:nvGrpSpPr>
            <p:grpSpPr>
              <a:xfrm>
                <a:off x="1919350" y="144795"/>
                <a:ext cx="368300" cy="368300"/>
                <a:chOff x="1919350" y="144795"/>
                <a:chExt cx="368300" cy="368300"/>
              </a:xfrm>
            </p:grpSpPr>
            <p:sp>
              <p:nvSpPr>
                <p:cNvPr id="61" name="Oval 40"/>
                <p:cNvSpPr>
                  <a:spLocks noChangeArrowheads="1"/>
                </p:cNvSpPr>
                <p:nvPr/>
              </p:nvSpPr>
              <p:spPr bwMode="grayWhite">
                <a:xfrm>
                  <a:off x="1919350" y="144795"/>
                  <a:ext cx="368300" cy="3683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" name="Oval 41"/>
                <p:cNvSpPr>
                  <a:spLocks noChangeArrowheads="1"/>
                </p:cNvSpPr>
                <p:nvPr/>
              </p:nvSpPr>
              <p:spPr bwMode="grayWhite">
                <a:xfrm>
                  <a:off x="2003488" y="228933"/>
                  <a:ext cx="50800" cy="508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41120" y="467360"/>
            <a:ext cx="9509760" cy="12334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1120" y="1901952"/>
            <a:ext cx="9509760" cy="4127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41120" y="6598763"/>
            <a:ext cx="7159752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75776" y="6598763"/>
            <a:ext cx="96012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513C09FF-A05A-44B7-B7F9-9715502B619B}" type="datetime1">
              <a:rPr lang="en-US" smtClean="0"/>
              <a:pPr/>
              <a:t>11/20/2019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10800" y="6598763"/>
            <a:ext cx="64008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FC749032-2A07-4AE8-BA90-74324CAE0C8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658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187452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9456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5146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606040" indent="0" algn="l" defTabSz="914400" rtl="0" eaLnBrk="1" latinLnBrk="0" hangingPunct="1">
        <a:lnSpc>
          <a:spcPct val="90000"/>
        </a:lnSpc>
        <a:spcBef>
          <a:spcPts val="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304636" y="2523157"/>
            <a:ext cx="9601200" cy="1724092"/>
          </a:xfrm>
        </p:spPr>
        <p:txBody>
          <a:bodyPr/>
          <a:lstStyle/>
          <a:p>
            <a:r>
              <a:rPr lang="en-US" dirty="0" smtClean="0">
                <a:solidFill>
                  <a:srgbClr val="00B0F0"/>
                </a:solidFill>
              </a:rPr>
              <a:t>Topic: </a:t>
            </a:r>
            <a:r>
              <a:rPr lang="en-US" dirty="0" smtClean="0"/>
              <a:t>Quadratics</a:t>
            </a:r>
            <a:br>
              <a:rPr lang="en-US" dirty="0" smtClean="0"/>
            </a:br>
            <a:r>
              <a:rPr lang="en-US" dirty="0" smtClean="0">
                <a:solidFill>
                  <a:srgbClr val="00B0F0"/>
                </a:solidFill>
              </a:rPr>
              <a:t>EQ: </a:t>
            </a:r>
            <a:r>
              <a:rPr lang="en-US" dirty="0" smtClean="0"/>
              <a:t>What is quadratics?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8018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First 5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02920" indent="-457200">
                  <a:buFont typeface="+mj-lt"/>
                  <a:buAutoNum type="arabicPeriod"/>
                </a:pPr>
                <a:r>
                  <a:rPr lang="en-AU" dirty="0" smtClean="0"/>
                  <a:t>Factorise </a:t>
                </a:r>
              </a:p>
              <a:p>
                <a:pPr marL="502920" indent="-457200">
                  <a:buAutoNum type="alphaLcParenR"/>
                </a:pPr>
                <a:r>
                  <a:rPr lang="en-AU" dirty="0" smtClean="0"/>
                  <a:t>3xy + 9y              b) 4x – 2              c)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2</m:t>
                    </m:r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 panose="02040503050406030204" pitchFamily="18" charset="0"/>
                      </a:rPr>
                      <m:t>+6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AU" dirty="0" smtClean="0"/>
              </a:p>
              <a:p>
                <a:pPr marL="45720" indent="0">
                  <a:buNone/>
                </a:pPr>
                <a:endParaRPr lang="en-AU" dirty="0" smtClean="0"/>
              </a:p>
              <a:p>
                <a:pPr marL="502920" indent="-457200">
                  <a:buAutoNum type="arabicPeriod" startAt="2"/>
                </a:pPr>
                <a:r>
                  <a:rPr lang="en-AU" dirty="0" smtClean="0"/>
                  <a:t>Expand       (5x+2)(2x – 7)</a:t>
                </a:r>
              </a:p>
              <a:p>
                <a:pPr marL="45720" indent="0">
                  <a:buNone/>
                </a:pPr>
                <a:endParaRPr lang="en-AU" dirty="0" smtClean="0"/>
              </a:p>
              <a:p>
                <a:pPr marL="45720" indent="0">
                  <a:buNone/>
                </a:pPr>
                <a:r>
                  <a:rPr lang="en-AU" smtClean="0"/>
                  <a:t>3.   IF </a:t>
                </a:r>
                <a:r>
                  <a:rPr lang="en-AU" dirty="0" smtClean="0"/>
                  <a:t>you had $1 000 000 000 to give away and you give away a $50 note each minute of the day. How long will it take to give it all away?</a:t>
                </a:r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8" t="-147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4827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1120" y="2617518"/>
            <a:ext cx="9509760" cy="412762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Quadratic equations are commonplace in theoretical and practical applications of mathematics. They are used to solve problems in geometry and measurement as well as in number theory and physics. </a:t>
            </a:r>
          </a:p>
          <a:p>
            <a:pPr>
              <a:lnSpc>
                <a:spcPct val="150000"/>
              </a:lnSpc>
            </a:pPr>
            <a:r>
              <a:rPr lang="en-US" b="1" dirty="0"/>
              <a:t>The path that a projectile takes while flying through the air, for example, can be analysed </a:t>
            </a:r>
            <a:r>
              <a:rPr lang="en-AU" b="1" dirty="0"/>
              <a:t>using quadratic equations.</a:t>
            </a:r>
            <a:endParaRPr lang="en-US" b="1" dirty="0"/>
          </a:p>
          <a:p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4364177" y="958174"/>
            <a:ext cx="2669320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8800" b="1" cap="none" spc="0" dirty="0" smtClean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WHY</a:t>
            </a:r>
            <a:endParaRPr lang="en-US" sz="8800" b="1" cap="none" spc="0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9202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2304471" y="215204"/>
            <a:ext cx="8504844" cy="1233424"/>
          </a:xfrm>
        </p:spPr>
        <p:txBody>
          <a:bodyPr/>
          <a:lstStyle/>
          <a:p>
            <a:r>
              <a:rPr lang="en-US" dirty="0">
                <a:solidFill>
                  <a:srgbClr val="00B0F0"/>
                </a:solidFill>
              </a:rPr>
              <a:t>Topic: </a:t>
            </a:r>
            <a:r>
              <a:rPr lang="en-US" dirty="0"/>
              <a:t>Quadratics</a:t>
            </a:r>
            <a:br>
              <a:rPr lang="en-US" dirty="0"/>
            </a:br>
            <a:r>
              <a:rPr lang="en-US" dirty="0">
                <a:solidFill>
                  <a:srgbClr val="00B0F0"/>
                </a:solidFill>
              </a:rPr>
              <a:t>EQ: </a:t>
            </a:r>
            <a:r>
              <a:rPr lang="en-US" dirty="0"/>
              <a:t>What is quadratics?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13"/>
              <p:cNvSpPr>
                <a:spLocks noGrp="1"/>
              </p:cNvSpPr>
              <p:nvPr>
                <p:ph idx="1"/>
              </p:nvPr>
            </p:nvSpPr>
            <p:spPr>
              <a:xfrm>
                <a:off x="2262908" y="1901952"/>
                <a:ext cx="8587971" cy="4127627"/>
              </a:xfrm>
            </p:spPr>
            <p:txBody>
              <a:bodyPr>
                <a:normAutofit/>
              </a:bodyPr>
              <a:lstStyle/>
              <a:p>
                <a:pPr marL="45720" indent="0" algn="ctr">
                  <a:lnSpc>
                    <a:spcPct val="150000"/>
                  </a:lnSpc>
                  <a:buNone/>
                </a:pPr>
                <a:r>
                  <a:rPr lang="en-US" sz="2400" b="1" dirty="0" smtClean="0"/>
                  <a:t>The standard quadratic formula is:</a:t>
                </a:r>
              </a:p>
              <a:p>
                <a:pPr marL="4572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AU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b="1" i="1" smtClean="0">
                          <a:latin typeface="Cambria Math" panose="02040503050406030204" pitchFamily="18" charset="0"/>
                        </a:rPr>
                        <m:t>𝒂</m:t>
                      </m:r>
                      <m:sSup>
                        <m:sSupPr>
                          <m:ctrlPr>
                            <a:rPr lang="en-AU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AU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1" i="1" smtClean="0">
                          <a:latin typeface="Cambria Math" panose="02040503050406030204" pitchFamily="18" charset="0"/>
                        </a:rPr>
                        <m:t>𝒃𝒙</m:t>
                      </m:r>
                      <m:r>
                        <a:rPr lang="en-AU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1" i="1" smtClean="0">
                          <a:latin typeface="Cambria Math" panose="02040503050406030204" pitchFamily="18" charset="0"/>
                        </a:rPr>
                        <m:t>𝒄</m:t>
                      </m:r>
                    </m:oMath>
                  </m:oMathPara>
                </a14:m>
                <a:endParaRPr lang="en-AU" sz="2400" b="1" dirty="0" smtClean="0"/>
              </a:p>
              <a:p>
                <a:pPr marL="365760" lvl="1" indent="0" algn="ctr">
                  <a:lnSpc>
                    <a:spcPct val="150000"/>
                  </a:lnSpc>
                  <a:buNone/>
                </a:pPr>
                <a:r>
                  <a:rPr lang="en-US" sz="2200" b="1" dirty="0" smtClean="0"/>
                  <a:t>Where a, b and c are constants</a:t>
                </a:r>
              </a:p>
              <a:p>
                <a:pPr marL="365760" lvl="1" indent="0" algn="ctr">
                  <a:lnSpc>
                    <a:spcPct val="150000"/>
                  </a:lnSpc>
                  <a:buNone/>
                </a:pPr>
                <a:endParaRPr lang="en-US" sz="2200" b="1" dirty="0" smtClean="0"/>
              </a:p>
              <a:p>
                <a:pPr marL="365760" lvl="1" indent="0">
                  <a:lnSpc>
                    <a:spcPct val="150000"/>
                  </a:lnSpc>
                  <a:buNone/>
                </a:pPr>
                <a:r>
                  <a:rPr lang="en-US" sz="2200" b="1" dirty="0"/>
                  <a:t>Unlike a linear equation which has a </a:t>
                </a:r>
                <a:r>
                  <a:rPr lang="en-US" sz="2200" b="1" dirty="0" smtClean="0"/>
                  <a:t>single solution</a:t>
                </a:r>
                <a:r>
                  <a:rPr lang="en-US" sz="2200" b="1" dirty="0"/>
                  <a:t>, quadratic equations can have zero, one or </a:t>
                </a:r>
                <a:r>
                  <a:rPr lang="en-US" sz="2200" b="1" dirty="0" smtClean="0"/>
                  <a:t>two solutions</a:t>
                </a:r>
                <a:r>
                  <a:rPr lang="en-US" sz="2200" b="1" dirty="0"/>
                  <a:t>.</a:t>
                </a:r>
              </a:p>
            </p:txBody>
          </p:sp>
        </mc:Choice>
        <mc:Fallback xmlns="">
          <p:sp>
            <p:nvSpPr>
              <p:cNvPr id="14" name="Content Placeholder 1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62908" y="1901952"/>
                <a:ext cx="8587971" cy="4127627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Connector 2"/>
          <p:cNvCxnSpPr/>
          <p:nvPr/>
        </p:nvCxnSpPr>
        <p:spPr>
          <a:xfrm>
            <a:off x="2087417" y="0"/>
            <a:ext cx="36947" cy="685800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8478" y="1663832"/>
            <a:ext cx="12192000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29309" y="2110570"/>
            <a:ext cx="1671782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AU" dirty="0" smtClean="0"/>
              <a:t>The formula?</a:t>
            </a:r>
            <a:endParaRPr lang="en-AU" dirty="0"/>
          </a:p>
        </p:txBody>
      </p:sp>
      <p:sp>
        <p:nvSpPr>
          <p:cNvPr id="12" name="TextBox 11"/>
          <p:cNvSpPr txBox="1"/>
          <p:nvPr/>
        </p:nvSpPr>
        <p:spPr>
          <a:xfrm>
            <a:off x="452582" y="4230455"/>
            <a:ext cx="1671782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AU" dirty="0" smtClean="0"/>
              <a:t>How is it different from a linear equation?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309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2304471" y="215204"/>
            <a:ext cx="8504844" cy="1233424"/>
          </a:xfrm>
        </p:spPr>
        <p:txBody>
          <a:bodyPr/>
          <a:lstStyle/>
          <a:p>
            <a:r>
              <a:rPr lang="en-US" dirty="0">
                <a:solidFill>
                  <a:srgbClr val="00B0F0"/>
                </a:solidFill>
              </a:rPr>
              <a:t>Topic: </a:t>
            </a:r>
            <a:r>
              <a:rPr lang="en-US" dirty="0"/>
              <a:t>Quadratics</a:t>
            </a:r>
            <a:br>
              <a:rPr lang="en-US" dirty="0"/>
            </a:br>
            <a:r>
              <a:rPr lang="en-US" dirty="0">
                <a:solidFill>
                  <a:srgbClr val="00B0F0"/>
                </a:solidFill>
              </a:rPr>
              <a:t>EQ: </a:t>
            </a:r>
            <a:r>
              <a:rPr lang="en-US" dirty="0"/>
              <a:t>What is quadratics?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371" y="2165599"/>
            <a:ext cx="5898503" cy="3773383"/>
          </a:xfrm>
        </p:spPr>
      </p:pic>
      <p:cxnSp>
        <p:nvCxnSpPr>
          <p:cNvPr id="7" name="Straight Connector 6"/>
          <p:cNvCxnSpPr/>
          <p:nvPr/>
        </p:nvCxnSpPr>
        <p:spPr>
          <a:xfrm>
            <a:off x="18478" y="1663832"/>
            <a:ext cx="12192000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28" name="Picture 4" descr="Image result for quadratic graph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2485" y="2331853"/>
            <a:ext cx="5326216" cy="3773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4059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2304471" y="215204"/>
            <a:ext cx="8504844" cy="1233424"/>
          </a:xfrm>
        </p:spPr>
        <p:txBody>
          <a:bodyPr/>
          <a:lstStyle/>
          <a:p>
            <a:r>
              <a:rPr lang="en-US" dirty="0">
                <a:solidFill>
                  <a:srgbClr val="00B0F0"/>
                </a:solidFill>
              </a:rPr>
              <a:t>Topic: </a:t>
            </a:r>
            <a:r>
              <a:rPr lang="en-US" dirty="0"/>
              <a:t>Quadratics</a:t>
            </a:r>
            <a:br>
              <a:rPr lang="en-US" dirty="0"/>
            </a:br>
            <a:r>
              <a:rPr lang="en-US" dirty="0">
                <a:solidFill>
                  <a:srgbClr val="00B0F0"/>
                </a:solidFill>
              </a:rPr>
              <a:t>EQ: </a:t>
            </a:r>
            <a:r>
              <a:rPr lang="en-US" dirty="0"/>
              <a:t>What is quadratics?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Content Placeholder 1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651002366"/>
                  </p:ext>
                </p:extLst>
              </p:nvPr>
            </p:nvGraphicFramePr>
            <p:xfrm>
              <a:off x="2904739" y="2344744"/>
              <a:ext cx="7524364" cy="1965842"/>
            </p:xfrm>
            <a:graphic>
              <a:graphicData uri="http://schemas.openxmlformats.org/drawingml/2006/table">
                <a:tbl>
                  <a:tblPr firstRow="1" bandRow="1">
                    <a:tableStyleId>{BC89EF96-8CEA-46FF-86C4-4CE0E7609802}</a:tableStyleId>
                  </a:tblPr>
                  <a:tblGrid>
                    <a:gridCol w="3762182">
                      <a:extLst>
                        <a:ext uri="{9D8B030D-6E8A-4147-A177-3AD203B41FA5}">
                          <a16:colId xmlns:a16="http://schemas.microsoft.com/office/drawing/2014/main" val="2990740202"/>
                        </a:ext>
                      </a:extLst>
                    </a:gridCol>
                    <a:gridCol w="3762182">
                      <a:extLst>
                        <a:ext uri="{9D8B030D-6E8A-4147-A177-3AD203B41FA5}">
                          <a16:colId xmlns:a16="http://schemas.microsoft.com/office/drawing/2014/main" val="1542847358"/>
                        </a:ext>
                      </a:extLst>
                    </a:gridCol>
                  </a:tblGrid>
                  <a:tr h="98292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1" i="1" smtClean="0"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  <m:r>
                                  <a:rPr lang="en-AU" sz="2800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AU" sz="2800" b="1" i="1" smtClean="0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  <m:r>
                                  <a:rPr lang="en-AU" sz="28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AU" sz="2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Linear </a:t>
                          </a:r>
                          <a:endParaRPr lang="en-AU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26337550"/>
                      </a:ext>
                    </a:extLst>
                  </a:tr>
                  <a:tr h="98292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1" i="1" smtClean="0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  <m:r>
                                  <a:rPr lang="en-AU" sz="28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AU" sz="2800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AU" sz="28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sSup>
                                  <m:sSupPr>
                                    <m:ctrlPr>
                                      <a:rPr lang="en-AU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sz="28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AU" sz="28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sz="28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b="1" dirty="0" smtClean="0"/>
                            <a:t>Quadratic</a:t>
                          </a:r>
                          <a:endParaRPr lang="en-AU" sz="2800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293480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Content Placeholder 1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651002366"/>
                  </p:ext>
                </p:extLst>
              </p:nvPr>
            </p:nvGraphicFramePr>
            <p:xfrm>
              <a:off x="2904739" y="2344744"/>
              <a:ext cx="7524364" cy="1965842"/>
            </p:xfrm>
            <a:graphic>
              <a:graphicData uri="http://schemas.openxmlformats.org/drawingml/2006/table">
                <a:tbl>
                  <a:tblPr firstRow="1" bandRow="1">
                    <a:tableStyleId>{BC89EF96-8CEA-46FF-86C4-4CE0E7609802}</a:tableStyleId>
                  </a:tblPr>
                  <a:tblGrid>
                    <a:gridCol w="3762182">
                      <a:extLst>
                        <a:ext uri="{9D8B030D-6E8A-4147-A177-3AD203B41FA5}">
                          <a16:colId xmlns:a16="http://schemas.microsoft.com/office/drawing/2014/main" val="2990740202"/>
                        </a:ext>
                      </a:extLst>
                    </a:gridCol>
                    <a:gridCol w="3762182">
                      <a:extLst>
                        <a:ext uri="{9D8B030D-6E8A-4147-A177-3AD203B41FA5}">
                          <a16:colId xmlns:a16="http://schemas.microsoft.com/office/drawing/2014/main" val="1542847358"/>
                        </a:ext>
                      </a:extLst>
                    </a:gridCol>
                  </a:tblGrid>
                  <a:tr h="98292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62" t="-617" r="-100324" b="-101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dirty="0" smtClean="0"/>
                            <a:t>Linear </a:t>
                          </a:r>
                          <a:endParaRPr lang="en-AU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26337550"/>
                      </a:ext>
                    </a:extLst>
                  </a:tr>
                  <a:tr h="98292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62" t="-100617" r="-100324" b="-1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b="1" dirty="0" smtClean="0"/>
                            <a:t>Quadratic</a:t>
                          </a:r>
                          <a:endParaRPr lang="en-AU" sz="2800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29348040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3" name="Straight Connector 2"/>
          <p:cNvCxnSpPr/>
          <p:nvPr/>
        </p:nvCxnSpPr>
        <p:spPr>
          <a:xfrm>
            <a:off x="2087417" y="0"/>
            <a:ext cx="36947" cy="685800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8478" y="1663832"/>
            <a:ext cx="12192000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77091" y="1901952"/>
            <a:ext cx="1671782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AU" dirty="0" smtClean="0"/>
              <a:t>How is it different from a linear equation?</a:t>
            </a:r>
            <a:endParaRPr lang="en-AU" dirty="0"/>
          </a:p>
        </p:txBody>
      </p:sp>
      <p:sp>
        <p:nvSpPr>
          <p:cNvPr id="4" name="Donut 3"/>
          <p:cNvSpPr/>
          <p:nvPr/>
        </p:nvSpPr>
        <p:spPr>
          <a:xfrm>
            <a:off x="5152768" y="3503142"/>
            <a:ext cx="432487" cy="451022"/>
          </a:xfrm>
          <a:prstGeom prst="donut">
            <a:avLst>
              <a:gd name="adj" fmla="val 13800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cxnSp>
        <p:nvCxnSpPr>
          <p:cNvPr id="6" name="Straight Arrow Connector 5"/>
          <p:cNvCxnSpPr>
            <a:endCxn id="4" idx="5"/>
          </p:cNvCxnSpPr>
          <p:nvPr/>
        </p:nvCxnSpPr>
        <p:spPr>
          <a:xfrm flipH="1" flipV="1">
            <a:off x="5521919" y="3888113"/>
            <a:ext cx="592559" cy="146236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818198" y="5350476"/>
            <a:ext cx="2298357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AU" sz="2400" b="1" dirty="0" smtClean="0"/>
              <a:t>Binomial</a:t>
            </a:r>
          </a:p>
          <a:p>
            <a:r>
              <a:rPr lang="en-AU" sz="2400" b="1" dirty="0" smtClean="0"/>
              <a:t>(power of 2)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2059660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4" grpId="0" animBg="1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2304471" y="215204"/>
            <a:ext cx="8504844" cy="1233424"/>
          </a:xfrm>
        </p:spPr>
        <p:txBody>
          <a:bodyPr/>
          <a:lstStyle/>
          <a:p>
            <a:r>
              <a:rPr lang="en-US" dirty="0">
                <a:solidFill>
                  <a:srgbClr val="00B0F0"/>
                </a:solidFill>
              </a:rPr>
              <a:t>Topic: </a:t>
            </a:r>
            <a:r>
              <a:rPr lang="en-US" dirty="0"/>
              <a:t>Quadratics</a:t>
            </a:r>
            <a:br>
              <a:rPr lang="en-US" dirty="0"/>
            </a:br>
            <a:r>
              <a:rPr lang="en-US" dirty="0">
                <a:solidFill>
                  <a:srgbClr val="00B0F0"/>
                </a:solidFill>
              </a:rPr>
              <a:t>EQ: </a:t>
            </a:r>
            <a:r>
              <a:rPr lang="en-US" dirty="0" smtClean="0"/>
              <a:t>What is quadratics?</a:t>
            </a:r>
            <a:endParaRPr lang="en-US" dirty="0"/>
          </a:p>
        </p:txBody>
      </p:sp>
      <p:cxnSp>
        <p:nvCxnSpPr>
          <p:cNvPr id="3" name="Straight Connector 2"/>
          <p:cNvCxnSpPr/>
          <p:nvPr/>
        </p:nvCxnSpPr>
        <p:spPr>
          <a:xfrm>
            <a:off x="2087417" y="0"/>
            <a:ext cx="36947" cy="685800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8478" y="1663832"/>
            <a:ext cx="12192000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77091" y="1901952"/>
            <a:ext cx="1671782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AU" dirty="0" smtClean="0"/>
              <a:t>How is it different from a linear equation?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>
              <a:xfrm>
                <a:off x="3385751" y="2217057"/>
                <a:ext cx="3818238" cy="4127627"/>
              </a:xfrm>
            </p:spPr>
            <p:txBody>
              <a:bodyPr>
                <a:normAutofit/>
              </a:bodyPr>
              <a:lstStyle/>
              <a:p>
                <a:pPr marL="4572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𝟏𝟎</m:t>
                      </m:r>
                    </m:oMath>
                  </m:oMathPara>
                </a14:m>
                <a:endParaRPr lang="en-AU" sz="3200" b="1" dirty="0" smtClean="0"/>
              </a:p>
              <a:p>
                <a:pPr marL="4572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        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𝟏𝟔</m:t>
                      </m:r>
                    </m:oMath>
                  </m:oMathPara>
                </a14:m>
                <a:endParaRPr lang="en-AU" sz="3200" b="1" dirty="0" smtClean="0"/>
              </a:p>
              <a:p>
                <a:pPr marL="45720" indent="0">
                  <a:lnSpc>
                    <a:spcPct val="100000"/>
                  </a:lnSpc>
                  <a:buNone/>
                </a:pPr>
                <a:endParaRPr lang="en-AU" sz="3200" b="1" dirty="0" smtClean="0"/>
              </a:p>
              <a:p>
                <a:pPr marL="4572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2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AU" sz="3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𝟏𝟎</m:t>
                      </m:r>
                    </m:oMath>
                  </m:oMathPara>
                </a14:m>
                <a:endParaRPr lang="en-AU" sz="3200" b="1" dirty="0" smtClean="0"/>
              </a:p>
              <a:p>
                <a:pPr marL="4572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200" b="1" i="1" smtClean="0">
                              <a:latin typeface="Cambria Math" panose="02040503050406030204" pitchFamily="18" charset="0"/>
                            </a:rPr>
                            <m:t>          </m:t>
                          </m:r>
                          <m:r>
                            <a:rPr lang="en-AU" sz="32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AU" sz="3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𝟏𝟔</m:t>
                      </m:r>
                      <m:r>
                        <a:rPr lang="en-AU" sz="3200" b="1" i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3200" b="1" i="0" dirty="0" smtClean="0">
                  <a:latin typeface="Cambria Math" panose="02040503050406030204" pitchFamily="18" charset="0"/>
                </a:endParaRPr>
              </a:p>
              <a:p>
                <a:pPr marL="4572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𝒂𝒏𝒅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AU" sz="3200" b="1" dirty="0" smtClean="0"/>
              </a:p>
              <a:p>
                <a:pPr marL="45720" indent="0">
                  <a:buNone/>
                </a:pPr>
                <a:endParaRPr lang="en-AU" sz="3200" b="1" dirty="0"/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85751" y="2217057"/>
                <a:ext cx="3818238" cy="4127627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8125642" y="2569341"/>
            <a:ext cx="219322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 smtClean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Linear</a:t>
            </a:r>
            <a:endParaRPr lang="en-US" sz="54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809470" y="4796361"/>
            <a:ext cx="359265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 smtClean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Quadratic</a:t>
            </a:r>
            <a:endParaRPr lang="en-US" sz="54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9" name="Right Arrow 8"/>
          <p:cNvSpPr/>
          <p:nvPr/>
        </p:nvSpPr>
        <p:spPr>
          <a:xfrm>
            <a:off x="6013521" y="2801663"/>
            <a:ext cx="2112123" cy="458686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6" name="Right Arrow 15"/>
          <p:cNvSpPr/>
          <p:nvPr/>
        </p:nvSpPr>
        <p:spPr>
          <a:xfrm>
            <a:off x="6258899" y="5017289"/>
            <a:ext cx="1550571" cy="481474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84275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9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8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8" grpId="0"/>
      <p:bldP spid="14" grpId="0"/>
      <p:bldP spid="9" grpId="0" animBg="1"/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2304471" y="215204"/>
            <a:ext cx="8504844" cy="1233424"/>
          </a:xfrm>
        </p:spPr>
        <p:txBody>
          <a:bodyPr/>
          <a:lstStyle/>
          <a:p>
            <a:r>
              <a:rPr lang="en-US" dirty="0">
                <a:solidFill>
                  <a:srgbClr val="00B0F0"/>
                </a:solidFill>
              </a:rPr>
              <a:t>Topic: </a:t>
            </a:r>
            <a:r>
              <a:rPr lang="en-US" dirty="0"/>
              <a:t>Quadratics</a:t>
            </a:r>
            <a:br>
              <a:rPr lang="en-US" dirty="0"/>
            </a:br>
            <a:r>
              <a:rPr lang="en-US" dirty="0">
                <a:solidFill>
                  <a:srgbClr val="00B0F0"/>
                </a:solidFill>
              </a:rPr>
              <a:t>EQ: </a:t>
            </a:r>
            <a:r>
              <a:rPr lang="en-US" dirty="0" smtClean="0"/>
              <a:t>What is quadratics?</a:t>
            </a:r>
            <a:endParaRPr lang="en-US" dirty="0"/>
          </a:p>
        </p:txBody>
      </p:sp>
      <p:cxnSp>
        <p:nvCxnSpPr>
          <p:cNvPr id="3" name="Straight Connector 2"/>
          <p:cNvCxnSpPr/>
          <p:nvPr/>
        </p:nvCxnSpPr>
        <p:spPr>
          <a:xfrm>
            <a:off x="2087417" y="0"/>
            <a:ext cx="36947" cy="685800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8478" y="1663832"/>
            <a:ext cx="12192000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77091" y="1901953"/>
            <a:ext cx="1671782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AU" dirty="0" smtClean="0"/>
              <a:t>How do I solve quadratic equations?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>
              <a:xfrm>
                <a:off x="2607276" y="2081133"/>
                <a:ext cx="9289661" cy="4127627"/>
              </a:xfrm>
            </p:spPr>
            <p:txBody>
              <a:bodyPr>
                <a:normAutofit/>
              </a:bodyPr>
              <a:lstStyle/>
              <a:p>
                <a:pPr marL="45720" indent="0">
                  <a:lnSpc>
                    <a:spcPct val="100000"/>
                  </a:lnSpc>
                  <a:buNone/>
                </a:pPr>
                <a:r>
                  <a:rPr lang="en-AU" sz="2800" b="1" dirty="0" smtClean="0"/>
                  <a:t>Using the </a:t>
                </a:r>
                <a:r>
                  <a:rPr lang="en-AU" sz="2800" b="1" dirty="0" smtClean="0">
                    <a:solidFill>
                      <a:srgbClr val="00B0F0"/>
                    </a:solidFill>
                  </a:rPr>
                  <a:t>Null Factor:</a:t>
                </a:r>
              </a:p>
              <a:p>
                <a:pPr marL="45720" indent="0">
                  <a:lnSpc>
                    <a:spcPct val="100000"/>
                  </a:lnSpc>
                  <a:buNone/>
                </a:pPr>
                <a:r>
                  <a:rPr lang="en-AU" sz="3200" b="1" dirty="0" smtClean="0">
                    <a:solidFill>
                      <a:srgbClr val="7030A0"/>
                    </a:solidFill>
                  </a:rPr>
                  <a:t>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AU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AU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AU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AU" sz="3200" b="1" dirty="0" smtClean="0">
                  <a:solidFill>
                    <a:srgbClr val="7030A0"/>
                  </a:solidFill>
                </a:endParaRPr>
              </a:p>
              <a:p>
                <a:pPr marL="45720" indent="0">
                  <a:lnSpc>
                    <a:spcPct val="100000"/>
                  </a:lnSpc>
                  <a:buNone/>
                </a:pPr>
                <a:r>
                  <a:rPr lang="en-AU" sz="2400" b="1" dirty="0" smtClean="0">
                    <a:solidFill>
                      <a:schemeClr val="tx1"/>
                    </a:solidFill>
                  </a:rPr>
                  <a:t>Step one: </a:t>
                </a:r>
                <a:r>
                  <a:rPr lang="en-AU" sz="2400" b="1" u="sng" dirty="0" smtClean="0">
                    <a:solidFill>
                      <a:schemeClr val="tx1"/>
                    </a:solidFill>
                  </a:rPr>
                  <a:t>factorise</a:t>
                </a:r>
              </a:p>
              <a:p>
                <a:pPr marL="45720" indent="0">
                  <a:lnSpc>
                    <a:spcPct val="100000"/>
                  </a:lnSpc>
                  <a:buNone/>
                </a:pPr>
                <a:r>
                  <a:rPr lang="en-AU" sz="3200" b="1" dirty="0">
                    <a:solidFill>
                      <a:schemeClr val="tx1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AU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d>
                      <m:dPr>
                        <m:ctrlPr>
                          <a:rPr lang="en-AU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AU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  <m:r>
                      <a:rPr lang="en-AU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AU" sz="3200" b="1" dirty="0" smtClean="0">
                  <a:solidFill>
                    <a:srgbClr val="7030A0"/>
                  </a:solidFill>
                </a:endParaRPr>
              </a:p>
              <a:p>
                <a:pPr marL="45720" indent="0">
                  <a:lnSpc>
                    <a:spcPct val="100000"/>
                  </a:lnSpc>
                  <a:buNone/>
                </a:pPr>
                <a:r>
                  <a:rPr lang="en-AU" sz="2400" b="1" dirty="0" smtClean="0">
                    <a:solidFill>
                      <a:schemeClr val="tx1"/>
                    </a:solidFill>
                  </a:rPr>
                  <a:t>Step two: </a:t>
                </a:r>
                <a:r>
                  <a:rPr lang="en-AU" sz="2400" b="1" u="sng" dirty="0" smtClean="0">
                    <a:solidFill>
                      <a:schemeClr val="tx1"/>
                    </a:solidFill>
                  </a:rPr>
                  <a:t>what must x equal to make the equation true?</a:t>
                </a:r>
              </a:p>
              <a:p>
                <a:pPr marL="45720" indent="0">
                  <a:buNone/>
                </a:pPr>
                <a:endParaRPr lang="en-AU" sz="3200" b="1" dirty="0"/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07276" y="2081133"/>
                <a:ext cx="9289661" cy="4127627"/>
              </a:xfrm>
              <a:blipFill>
                <a:blip r:embed="rId2"/>
                <a:stretch>
                  <a:fillRect l="-853" t="-147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loud Callout 1"/>
          <p:cNvSpPr/>
          <p:nvPr/>
        </p:nvSpPr>
        <p:spPr>
          <a:xfrm>
            <a:off x="8127899" y="5322932"/>
            <a:ext cx="2681416" cy="1303128"/>
          </a:xfrm>
          <a:prstGeom prst="cloudCallout">
            <a:avLst>
              <a:gd name="adj1" fmla="val -120833"/>
              <a:gd name="adj2" fmla="val -20945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600" dirty="0" smtClean="0"/>
              <a:t>How?</a:t>
            </a:r>
            <a:endParaRPr lang="en-AU" sz="3600" dirty="0"/>
          </a:p>
        </p:txBody>
      </p:sp>
    </p:spTree>
    <p:extLst>
      <p:ext uri="{BB962C8B-B14F-4D97-AF65-F5344CB8AC3E}">
        <p14:creationId xmlns:p14="http://schemas.microsoft.com/office/powerpoint/2010/main" val="1005126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2304471" y="215204"/>
            <a:ext cx="8504844" cy="1233424"/>
          </a:xfrm>
        </p:spPr>
        <p:txBody>
          <a:bodyPr/>
          <a:lstStyle/>
          <a:p>
            <a:r>
              <a:rPr lang="en-US" dirty="0">
                <a:solidFill>
                  <a:srgbClr val="00B0F0"/>
                </a:solidFill>
              </a:rPr>
              <a:t>Topic: </a:t>
            </a:r>
            <a:r>
              <a:rPr lang="en-US" dirty="0"/>
              <a:t>Quadratics</a:t>
            </a:r>
            <a:br>
              <a:rPr lang="en-US" dirty="0"/>
            </a:br>
            <a:r>
              <a:rPr lang="en-US" dirty="0">
                <a:solidFill>
                  <a:srgbClr val="00B0F0"/>
                </a:solidFill>
              </a:rPr>
              <a:t>EQ: </a:t>
            </a:r>
            <a:r>
              <a:rPr lang="en-US" dirty="0" smtClean="0"/>
              <a:t>What is quadratics?</a:t>
            </a:r>
            <a:endParaRPr lang="en-US" dirty="0"/>
          </a:p>
        </p:txBody>
      </p:sp>
      <p:cxnSp>
        <p:nvCxnSpPr>
          <p:cNvPr id="3" name="Straight Connector 2"/>
          <p:cNvCxnSpPr/>
          <p:nvPr/>
        </p:nvCxnSpPr>
        <p:spPr>
          <a:xfrm>
            <a:off x="2087417" y="0"/>
            <a:ext cx="36947" cy="685800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8478" y="1663832"/>
            <a:ext cx="12192000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77091" y="1901953"/>
            <a:ext cx="1671782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AU" dirty="0" smtClean="0"/>
              <a:t>How do I solve quadratic equations?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>
              <a:xfrm>
                <a:off x="2607276" y="2081133"/>
                <a:ext cx="9289661" cy="4127627"/>
              </a:xfrm>
            </p:spPr>
            <p:txBody>
              <a:bodyPr>
                <a:normAutofit/>
              </a:bodyPr>
              <a:lstStyle/>
              <a:p>
                <a:pPr marL="45720" indent="0">
                  <a:lnSpc>
                    <a:spcPct val="100000"/>
                  </a:lnSpc>
                  <a:buNone/>
                </a:pPr>
                <a:r>
                  <a:rPr lang="en-AU" sz="2800" b="1" dirty="0" smtClean="0"/>
                  <a:t>Using the </a:t>
                </a:r>
                <a:r>
                  <a:rPr lang="en-AU" sz="2800" b="1" dirty="0" smtClean="0">
                    <a:solidFill>
                      <a:srgbClr val="00B0F0"/>
                    </a:solidFill>
                  </a:rPr>
                  <a:t>Null Factor:</a:t>
                </a:r>
              </a:p>
              <a:p>
                <a:pPr marL="45720" indent="0">
                  <a:lnSpc>
                    <a:spcPct val="100000"/>
                  </a:lnSpc>
                  <a:buNone/>
                </a:pPr>
                <a:r>
                  <a:rPr lang="en-AU" sz="3200" b="1" dirty="0" smtClean="0">
                    <a:solidFill>
                      <a:srgbClr val="7030A0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AU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d>
                      <m:dPr>
                        <m:ctrlPr>
                          <a:rPr lang="en-AU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AU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  <m:r>
                      <a:rPr lang="en-AU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AU" sz="3200" b="1" dirty="0" smtClean="0"/>
                  <a:t>	</a:t>
                </a:r>
                <a:endParaRPr lang="en-AU" sz="3200" b="1" i="1" dirty="0" smtClean="0">
                  <a:latin typeface="Cambria Math" panose="02040503050406030204" pitchFamily="18" charset="0"/>
                </a:endParaRPr>
              </a:p>
              <a:p>
                <a:pPr marL="45720" indent="0">
                  <a:lnSpc>
                    <a:spcPct val="100000"/>
                  </a:lnSpc>
                  <a:buNone/>
                </a:pPr>
                <a:r>
                  <a:rPr lang="en-AU" sz="3200" b="1" dirty="0" smtClean="0"/>
                  <a:t>		</a:t>
                </a:r>
                <a:endParaRPr lang="en-AU" sz="3200" b="1" dirty="0"/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07276" y="2081133"/>
                <a:ext cx="9289661" cy="4127627"/>
              </a:xfrm>
              <a:blipFill>
                <a:blip r:embed="rId2"/>
                <a:stretch>
                  <a:fillRect l="-853" t="-147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20597550"/>
                  </p:ext>
                </p:extLst>
              </p:nvPr>
            </p:nvGraphicFramePr>
            <p:xfrm>
              <a:off x="2822832" y="3576534"/>
              <a:ext cx="8128000" cy="1920240"/>
            </p:xfrm>
            <a:graphic>
              <a:graphicData uri="http://schemas.openxmlformats.org/drawingml/2006/table">
                <a:tbl>
                  <a:tblPr firstRow="1" bandRow="1">
                    <a:tableStyleId>{BC89EF96-8CEA-46FF-86C4-4CE0E7609802}</a:tableStyleId>
                  </a:tblPr>
                  <a:tblGrid>
                    <a:gridCol w="4064000">
                      <a:extLst>
                        <a:ext uri="{9D8B030D-6E8A-4147-A177-3AD203B41FA5}">
                          <a16:colId xmlns:a16="http://schemas.microsoft.com/office/drawing/2014/main" val="671619596"/>
                        </a:ext>
                      </a:extLst>
                    </a:gridCol>
                    <a:gridCol w="4064000">
                      <a:extLst>
                        <a:ext uri="{9D8B030D-6E8A-4147-A177-3AD203B41FA5}">
                          <a16:colId xmlns:a16="http://schemas.microsoft.com/office/drawing/2014/main" val="312807843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36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AU" sz="36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AU" sz="36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en-AU" sz="3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AU" sz="3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AU" sz="3600" b="1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  <m:r>
                                      <a:rPr lang="en-AU" sz="36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AU" sz="36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e>
                                </m:d>
                                <m:r>
                                  <a:rPr lang="en-AU" sz="36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AU" sz="36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en-AU" sz="3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627064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36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AU" sz="36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AU" sz="36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en-AU" sz="3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36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AU" sz="36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AU" sz="3600" b="0" i="1" smtClean="0">
                                    <a:latin typeface="Cambria Math" panose="02040503050406030204" pitchFamily="18" charset="0"/>
                                  </a:rPr>
                                  <m:t>+2=0</m:t>
                                </m:r>
                              </m:oMath>
                            </m:oMathPara>
                          </a14:m>
                          <a:endParaRPr lang="en-AU" sz="3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351404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3600" b="0" i="1" smtClean="0">
                                    <a:latin typeface="Cambria Math" panose="02040503050406030204" pitchFamily="18" charset="0"/>
                                  </a:rPr>
                                  <m:t>𝑡h𝑒𝑟𝑒𝑓𝑜𝑟𝑒</m:t>
                                </m:r>
                                <m:r>
                                  <a:rPr lang="en-AU" sz="36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AU" sz="36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AU" sz="36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AU" sz="36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en-AU" sz="3600" b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3600" b="0" i="1" smtClean="0">
                                    <a:latin typeface="Cambria Math" panose="02040503050406030204" pitchFamily="18" charset="0"/>
                                  </a:rPr>
                                  <m:t>𝑡h𝑒𝑟𝑒𝑓𝑜𝑟𝑒</m:t>
                                </m:r>
                                <m:r>
                                  <a:rPr lang="en-AU" sz="36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AU" sz="36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AU" sz="36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r>
                                  <a:rPr lang="en-AU" sz="36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en-AU" sz="3600" b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6233568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20597550"/>
                  </p:ext>
                </p:extLst>
              </p:nvPr>
            </p:nvGraphicFramePr>
            <p:xfrm>
              <a:off x="2822832" y="3576534"/>
              <a:ext cx="8128000" cy="1920240"/>
            </p:xfrm>
            <a:graphic>
              <a:graphicData uri="http://schemas.openxmlformats.org/drawingml/2006/table">
                <a:tbl>
                  <a:tblPr firstRow="1" bandRow="1">
                    <a:tableStyleId>{BC89EF96-8CEA-46FF-86C4-4CE0E7609802}</a:tableStyleId>
                  </a:tblPr>
                  <a:tblGrid>
                    <a:gridCol w="4064000">
                      <a:extLst>
                        <a:ext uri="{9D8B030D-6E8A-4147-A177-3AD203B41FA5}">
                          <a16:colId xmlns:a16="http://schemas.microsoft.com/office/drawing/2014/main" val="671619596"/>
                        </a:ext>
                      </a:extLst>
                    </a:gridCol>
                    <a:gridCol w="4064000">
                      <a:extLst>
                        <a:ext uri="{9D8B030D-6E8A-4147-A177-3AD203B41FA5}">
                          <a16:colId xmlns:a16="http://schemas.microsoft.com/office/drawing/2014/main" val="3128078435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50" t="-952" r="-100450" b="-20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150" t="-952" r="-450" b="-2028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2706454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50" t="-100000" r="-100450" b="-1009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150" t="-100000" r="-450" b="-1009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73514047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50" t="-201905" r="-100450" b="-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150" t="-201905" r="-450" b="-19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6233568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845044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2304471" y="215204"/>
            <a:ext cx="8504844" cy="1233424"/>
          </a:xfrm>
        </p:spPr>
        <p:txBody>
          <a:bodyPr/>
          <a:lstStyle/>
          <a:p>
            <a:r>
              <a:rPr lang="en-US" dirty="0">
                <a:solidFill>
                  <a:srgbClr val="00B0F0"/>
                </a:solidFill>
              </a:rPr>
              <a:t>Topic: </a:t>
            </a:r>
            <a:r>
              <a:rPr lang="en-US" dirty="0"/>
              <a:t>Quadratics</a:t>
            </a:r>
            <a:br>
              <a:rPr lang="en-US" dirty="0"/>
            </a:br>
            <a:r>
              <a:rPr lang="en-US" dirty="0">
                <a:solidFill>
                  <a:srgbClr val="00B0F0"/>
                </a:solidFill>
              </a:rPr>
              <a:t>EQ: </a:t>
            </a:r>
            <a:r>
              <a:rPr lang="en-US" dirty="0" smtClean="0"/>
              <a:t>What is quadratics?</a:t>
            </a:r>
            <a:endParaRPr lang="en-US" dirty="0"/>
          </a:p>
        </p:txBody>
      </p:sp>
      <p:cxnSp>
        <p:nvCxnSpPr>
          <p:cNvPr id="3" name="Straight Connector 2"/>
          <p:cNvCxnSpPr/>
          <p:nvPr/>
        </p:nvCxnSpPr>
        <p:spPr>
          <a:xfrm>
            <a:off x="2087417" y="0"/>
            <a:ext cx="36947" cy="685800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8478" y="1663832"/>
            <a:ext cx="12192000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77091" y="1901953"/>
            <a:ext cx="1671782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AU" dirty="0" smtClean="0"/>
              <a:t>How do I solve quadratic equations?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>
              <a:xfrm>
                <a:off x="2607276" y="2081133"/>
                <a:ext cx="9289661" cy="4127627"/>
              </a:xfrm>
            </p:spPr>
            <p:txBody>
              <a:bodyPr>
                <a:normAutofit/>
              </a:bodyPr>
              <a:lstStyle/>
              <a:p>
                <a:pPr marL="45720" indent="0">
                  <a:lnSpc>
                    <a:spcPct val="100000"/>
                  </a:lnSpc>
                  <a:buNone/>
                </a:pPr>
                <a:r>
                  <a:rPr lang="en-AU" sz="2800" b="1" dirty="0" smtClean="0"/>
                  <a:t>Using the </a:t>
                </a:r>
                <a:r>
                  <a:rPr lang="en-AU" sz="2800" b="1" dirty="0" smtClean="0">
                    <a:solidFill>
                      <a:srgbClr val="00B0F0"/>
                    </a:solidFill>
                  </a:rPr>
                  <a:t>Null Factor:</a:t>
                </a:r>
              </a:p>
              <a:p>
                <a:pPr marL="45720" indent="0">
                  <a:lnSpc>
                    <a:spcPct val="100000"/>
                  </a:lnSpc>
                  <a:buNone/>
                </a:pPr>
                <a:r>
                  <a:rPr lang="en-AU" sz="3200" b="1" dirty="0" smtClean="0">
                    <a:solidFill>
                      <a:srgbClr val="7030A0"/>
                    </a:solidFill>
                  </a:rPr>
                  <a:t>	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AU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AU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  <m:d>
                      <m:dPr>
                        <m:ctrlPr>
                          <a:rPr lang="en-AU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AU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AU" sz="3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  <m:r>
                      <a:rPr lang="en-AU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3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AU" sz="3200" b="1" dirty="0" smtClean="0">
                  <a:solidFill>
                    <a:srgbClr val="7030A0"/>
                  </a:solidFill>
                </a:endParaRPr>
              </a:p>
              <a:p>
                <a:pPr marL="45720" indent="0">
                  <a:lnSpc>
                    <a:spcPct val="100000"/>
                  </a:lnSpc>
                  <a:buNone/>
                </a:pPr>
                <a:r>
                  <a:rPr lang="en-AU" sz="3200" b="1" dirty="0" smtClean="0"/>
                  <a:t>	</a:t>
                </a:r>
                <a:endParaRPr lang="en-AU" sz="3200" b="1" i="1" dirty="0" smtClean="0">
                  <a:latin typeface="Cambria Math" panose="02040503050406030204" pitchFamily="18" charset="0"/>
                </a:endParaRPr>
              </a:p>
              <a:p>
                <a:pPr marL="45720" indent="0">
                  <a:lnSpc>
                    <a:spcPct val="100000"/>
                  </a:lnSpc>
                  <a:buNone/>
                </a:pPr>
                <a:r>
                  <a:rPr lang="en-AU" sz="3200" b="1" dirty="0" smtClean="0"/>
                  <a:t>		</a:t>
                </a:r>
                <a:endParaRPr lang="en-AU" sz="3200" b="1" dirty="0"/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07276" y="2081133"/>
                <a:ext cx="9289661" cy="4127627"/>
              </a:xfrm>
              <a:blipFill>
                <a:blip r:embed="rId2"/>
                <a:stretch>
                  <a:fillRect l="-853" t="-147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75218585"/>
                  </p:ext>
                </p:extLst>
              </p:nvPr>
            </p:nvGraphicFramePr>
            <p:xfrm>
              <a:off x="2822832" y="3576534"/>
              <a:ext cx="8128000" cy="1920240"/>
            </p:xfrm>
            <a:graphic>
              <a:graphicData uri="http://schemas.openxmlformats.org/drawingml/2006/table">
                <a:tbl>
                  <a:tblPr firstRow="1" bandRow="1">
                    <a:tableStyleId>{BC89EF96-8CEA-46FF-86C4-4CE0E7609802}</a:tableStyleId>
                  </a:tblPr>
                  <a:tblGrid>
                    <a:gridCol w="4064000">
                      <a:extLst>
                        <a:ext uri="{9D8B030D-6E8A-4147-A177-3AD203B41FA5}">
                          <a16:colId xmlns:a16="http://schemas.microsoft.com/office/drawing/2014/main" val="671619596"/>
                        </a:ext>
                      </a:extLst>
                    </a:gridCol>
                    <a:gridCol w="4064000">
                      <a:extLst>
                        <a:ext uri="{9D8B030D-6E8A-4147-A177-3AD203B41FA5}">
                          <a16:colId xmlns:a16="http://schemas.microsoft.com/office/drawing/2014/main" val="312807843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AU" sz="3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AU" sz="3600" b="1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  <m:r>
                                      <a:rPr lang="en-AU" sz="3600" b="1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AU" sz="3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d>
                                <m:r>
                                  <a:rPr lang="en-AU" sz="36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AU" sz="36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en-AU" sz="3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AU" sz="3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AU" sz="3600" b="1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  <m:r>
                                      <a:rPr lang="en-AU" sz="3600" b="1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AU" sz="36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e>
                                </m:d>
                                <m:r>
                                  <a:rPr lang="en-AU" sz="36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AU" sz="36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en-AU" sz="3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627064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3600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  <m:r>
                                  <a:rPr lang="en-AU" sz="3600" b="0" i="1" smtClean="0">
                                    <a:latin typeface="Cambria Math" panose="02040503050406030204" pitchFamily="18" charset="0"/>
                                  </a:rPr>
                                  <m:t>+2=0</m:t>
                                </m:r>
                              </m:oMath>
                            </m:oMathPara>
                          </a14:m>
                          <a:endParaRPr lang="en-AU" sz="3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36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AU" sz="3600" b="0" i="1" smtClean="0">
                                    <a:latin typeface="Cambria Math" panose="02040503050406030204" pitchFamily="18" charset="0"/>
                                  </a:rPr>
                                  <m:t>−2=0</m:t>
                                </m:r>
                              </m:oMath>
                            </m:oMathPara>
                          </a14:m>
                          <a:endParaRPr lang="en-AU" sz="3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351404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AU" sz="3600" b="0" i="1" smtClean="0">
                                  <a:latin typeface="Cambria Math" panose="02040503050406030204" pitchFamily="18" charset="0"/>
                                </a:rPr>
                                <m:t>𝑡h𝑒𝑟𝑒𝑓𝑜𝑟𝑒</m:t>
                              </m:r>
                              <m:r>
                                <a:rPr lang="en-AU" sz="36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AU" sz="3600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AU" sz="3600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</m:oMath>
                          </a14:m>
                          <a:r>
                            <a:rPr lang="en-AU" sz="3600" b="1" dirty="0" smtClean="0">
                              <a:solidFill>
                                <a:srgbClr val="00B050"/>
                              </a:solidFill>
                            </a:rPr>
                            <a:t>2</a:t>
                          </a:r>
                          <a:endParaRPr lang="en-AU" sz="3600" b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3600" b="0" i="1" smtClean="0">
                                    <a:latin typeface="Cambria Math" panose="02040503050406030204" pitchFamily="18" charset="0"/>
                                  </a:rPr>
                                  <m:t>𝑡h𝑒𝑟𝑒𝑓𝑜𝑟𝑒</m:t>
                                </m:r>
                                <m:r>
                                  <a:rPr lang="en-AU" sz="36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AU" sz="36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AU" sz="36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AU" sz="36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en-AU" sz="3600" b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6233568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75218585"/>
                  </p:ext>
                </p:extLst>
              </p:nvPr>
            </p:nvGraphicFramePr>
            <p:xfrm>
              <a:off x="2822832" y="3576534"/>
              <a:ext cx="8128000" cy="1920240"/>
            </p:xfrm>
            <a:graphic>
              <a:graphicData uri="http://schemas.openxmlformats.org/drawingml/2006/table">
                <a:tbl>
                  <a:tblPr firstRow="1" bandRow="1">
                    <a:tableStyleId>{BC89EF96-8CEA-46FF-86C4-4CE0E7609802}</a:tableStyleId>
                  </a:tblPr>
                  <a:tblGrid>
                    <a:gridCol w="4064000">
                      <a:extLst>
                        <a:ext uri="{9D8B030D-6E8A-4147-A177-3AD203B41FA5}">
                          <a16:colId xmlns:a16="http://schemas.microsoft.com/office/drawing/2014/main" val="671619596"/>
                        </a:ext>
                      </a:extLst>
                    </a:gridCol>
                    <a:gridCol w="4064000">
                      <a:extLst>
                        <a:ext uri="{9D8B030D-6E8A-4147-A177-3AD203B41FA5}">
                          <a16:colId xmlns:a16="http://schemas.microsoft.com/office/drawing/2014/main" val="3128078435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50" t="-952" r="-100450" b="-23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150" t="-952" r="-450" b="-2371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2706454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50" t="-100000" r="-100450" b="-1349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150" t="-100000" r="-450" b="-13490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73514047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50" t="-201905" r="-100450" b="-361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150" t="-201905" r="-450" b="-361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6233568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87649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Null Factor on the graph</a:t>
            </a:r>
            <a:endParaRPr lang="en-AU" dirty="0"/>
          </a:p>
        </p:txBody>
      </p:sp>
      <p:pic>
        <p:nvPicPr>
          <p:cNvPr id="4" name="Picture 4" descr="Image result for quadratic graph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1120" y="2022934"/>
            <a:ext cx="5326216" cy="3773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Arrow Connector 5"/>
          <p:cNvCxnSpPr/>
          <p:nvPr/>
        </p:nvCxnSpPr>
        <p:spPr>
          <a:xfrm flipH="1">
            <a:off x="4057774" y="2146504"/>
            <a:ext cx="3768171" cy="1734836"/>
          </a:xfrm>
          <a:prstGeom prst="straightConnector1">
            <a:avLst/>
          </a:prstGeom>
          <a:ln w="38100">
            <a:solidFill>
              <a:srgbClr val="00B050"/>
            </a:solidFill>
            <a:headEnd type="none" w="med" len="med"/>
            <a:tailEnd type="arrow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641689" y="1689530"/>
            <a:ext cx="1865869" cy="769441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AU" sz="4400" b="1" dirty="0" smtClean="0">
                <a:solidFill>
                  <a:srgbClr val="00B050"/>
                </a:solidFill>
              </a:rPr>
              <a:t>y = 0</a:t>
            </a:r>
            <a:endParaRPr lang="en-AU" sz="4400" b="1" dirty="0">
              <a:solidFill>
                <a:srgbClr val="00B05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848826" y="3118661"/>
            <a:ext cx="2693773" cy="2677656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AU" sz="2800" b="1" dirty="0" smtClean="0"/>
              <a:t>Where y = 0 there are </a:t>
            </a:r>
            <a:r>
              <a:rPr lang="en-AU" sz="2800" b="1" dirty="0" smtClean="0">
                <a:solidFill>
                  <a:srgbClr val="00B0F0"/>
                </a:solidFill>
              </a:rPr>
              <a:t>two x values.</a:t>
            </a:r>
          </a:p>
          <a:p>
            <a:endParaRPr lang="en-AU" sz="2800" dirty="0"/>
          </a:p>
          <a:p>
            <a:r>
              <a:rPr lang="en-AU" sz="2800" dirty="0" smtClean="0"/>
              <a:t>For this graph </a:t>
            </a:r>
            <a:r>
              <a:rPr lang="en-AU" sz="2800" b="1" dirty="0" smtClean="0">
                <a:solidFill>
                  <a:srgbClr val="00B0F0"/>
                </a:solidFill>
              </a:rPr>
              <a:t>x = -2 and 2</a:t>
            </a:r>
            <a:endParaRPr lang="en-AU" sz="2800" b="1" dirty="0">
              <a:solidFill>
                <a:srgbClr val="00B0F0"/>
              </a:solidFill>
            </a:endParaRPr>
          </a:p>
        </p:txBody>
      </p:sp>
      <p:cxnSp>
        <p:nvCxnSpPr>
          <p:cNvPr id="11" name="Straight Arrow Connector 10"/>
          <p:cNvCxnSpPr/>
          <p:nvPr/>
        </p:nvCxnSpPr>
        <p:spPr>
          <a:xfrm flipH="1" flipV="1">
            <a:off x="3101545" y="3986600"/>
            <a:ext cx="4724400" cy="1536870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 flipV="1">
            <a:off x="5115697" y="4102443"/>
            <a:ext cx="4757352" cy="1421027"/>
          </a:xfrm>
          <a:prstGeom prst="straightConnector1">
            <a:avLst/>
          </a:prstGeom>
          <a:ln w="38100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8607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697472" y="450580"/>
            <a:ext cx="6797054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7200" b="1" cap="none" spc="0" dirty="0" smtClean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Left-Hand-Side</a:t>
            </a:r>
            <a:endParaRPr lang="en-US" sz="7200" b="1" cap="none" spc="0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1" y="2805884"/>
            <a:ext cx="10925175" cy="141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391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697472" y="450580"/>
            <a:ext cx="6797054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7200" b="1" cap="none" spc="0" dirty="0" smtClean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Left-Hand-Side</a:t>
            </a:r>
            <a:endParaRPr lang="en-US" sz="7200" b="1" cap="none" spc="0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436" y="2420251"/>
            <a:ext cx="11287125" cy="2066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10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ubbles design template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alpha val="80000"/>
              </a:schemeClr>
            </a:gs>
            <a:gs pos="0">
              <a:schemeClr val="phClr">
                <a:lumMod val="40000"/>
                <a:lumOff val="60000"/>
                <a:alpha val="80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lumMod val="20000"/>
                <a:lumOff val="80000"/>
                <a:alpha val="59000"/>
              </a:schemeClr>
            </a:gs>
            <a:gs pos="40000">
              <a:schemeClr val="phClr">
                <a:lumMod val="20000"/>
                <a:lumOff val="80000"/>
                <a:alpha val="66000"/>
              </a:schemeClr>
            </a:gs>
            <a:gs pos="100000">
              <a:schemeClr val="phClr">
                <a:lumMod val="40000"/>
                <a:lumOff val="60000"/>
              </a:schemeClr>
            </a:gs>
          </a:gsLst>
          <a:path path="circle">
            <a:fillToRect l="50000" t="-80000" r="50000" b="180000"/>
          </a:path>
        </a:gradFill>
      </a:bgFillStyleLst>
    </a:fmtScheme>
  </a:themeElements>
  <a:objectDefaults>
    <a:spDef>
      <a:spPr/>
      <a:bodyPr rtlCol="0" anchor="ctr"/>
      <a:lstStyle>
        <a:defPPr algn="ctr">
          <a:defRPr dirty="0"/>
        </a:defPPr>
      </a:lstStyle>
      <a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Bubbles design slides.potx" id="{791C1007-8C16-4095-A382-97B1C9AA36B9}" vid="{20473F13-1D64-4A4A-9CE1-7C3468AE82BE}"/>
    </a:ext>
  </a:extLst>
</a:theme>
</file>

<file path=ppt/theme/theme2.xml><?xml version="1.0" encoding="utf-8"?>
<a:theme xmlns:a="http://schemas.openxmlformats.org/drawingml/2006/main" name="Office Theme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Bubbles design slides</Template>
  <TotalTime>1467</TotalTime>
  <Words>283</Words>
  <Application>Microsoft Office PowerPoint</Application>
  <PresentationFormat>Widescreen</PresentationFormat>
  <Paragraphs>81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Cambria Math</vt:lpstr>
      <vt:lpstr>Century Gothic</vt:lpstr>
      <vt:lpstr>Courier New</vt:lpstr>
      <vt:lpstr>Bubbles design template</vt:lpstr>
      <vt:lpstr>Topic: Quadratics EQ: What is quadratics?</vt:lpstr>
      <vt:lpstr>First 5</vt:lpstr>
      <vt:lpstr>PowerPoint Presentation</vt:lpstr>
      <vt:lpstr>Topic: Quadratics EQ: What is quadratics?</vt:lpstr>
      <vt:lpstr>Topic: Quadratics EQ: What is quadratics?</vt:lpstr>
      <vt:lpstr>Topic: Quadratics EQ: What is quadratics?</vt:lpstr>
      <vt:lpstr>Topic: Quadratics EQ: What is quadratics?</vt:lpstr>
      <vt:lpstr>Topic: Quadratics EQ: What is quadratics?</vt:lpstr>
      <vt:lpstr>Topic: Quadratics EQ: What is quadratics?</vt:lpstr>
      <vt:lpstr>Topic: Quadratics EQ: What is quadratics?</vt:lpstr>
      <vt:lpstr>Null Factor on the graph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Quadratics EQ: What is quadratics?</dc:title>
  <dc:creator>Abigail Stephenson</dc:creator>
  <cp:lastModifiedBy>MORGAN Adam [Baldivis Secondary College]</cp:lastModifiedBy>
  <cp:revision>15</cp:revision>
  <dcterms:created xsi:type="dcterms:W3CDTF">2018-11-06T07:30:40Z</dcterms:created>
  <dcterms:modified xsi:type="dcterms:W3CDTF">2019-11-20T01:07:03Z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74069200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
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389" r:id="rId2"/>
    <p:sldId id="259" r:id="rId3"/>
    <p:sldId id="258" r:id="rId4"/>
    <p:sldId id="399" r:id="rId5"/>
    <p:sldId id="398" r:id="rId6"/>
    <p:sldId id="397" r:id="rId7"/>
    <p:sldId id="400" r:id="rId8"/>
    <p:sldId id="401" r:id="rId9"/>
    <p:sldId id="402" r:id="rId10"/>
    <p:sldId id="392" r:id="rId11"/>
    <p:sldId id="393" r:id="rId12"/>
    <p:sldId id="394" r:id="rId13"/>
    <p:sldId id="395" r:id="rId14"/>
    <p:sldId id="403" r:id="rId15"/>
    <p:sldId id="396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205" autoAdjust="0"/>
    <p:restoredTop sz="94660"/>
  </p:normalViewPr>
  <p:slideViewPr>
    <p:cSldViewPr>
      <p:cViewPr varScale="1">
        <p:scale>
          <a:sx n="93" d="100"/>
          <a:sy n="93" d="100"/>
        </p:scale>
        <p:origin x="84" y="6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7BCFE2-6253-4348-9B09-420E3B58B207}" type="datetimeFigureOut">
              <a:rPr lang="en-GB" smtClean="0"/>
              <a:t>04/09/2018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FB26D4-533B-4C79-A515-52D7EF5917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6837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303B91B3-E50F-4EFF-8D5F-21DA810ECD9F}" type="datetimeFigureOut">
              <a:rPr lang="en-AU" smtClean="0"/>
              <a:t>4/09/2018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96562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4/09/2018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4064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03B91B3-E50F-4EFF-8D5F-21DA810ECD9F}" type="datetimeFigureOut">
              <a:rPr lang="en-AU" smtClean="0"/>
              <a:t>4/09/2018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5179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4/09/2018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533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4/09/2018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1716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4/09/2018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35801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4/09/2018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90839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4/09/2018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9077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4/09/2018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99814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4/09/2018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0849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03B91B3-E50F-4EFF-8D5F-21DA810ECD9F}" type="datetimeFigureOut">
              <a:rPr lang="en-AU" smtClean="0"/>
              <a:t>4/09/2018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701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03B91B3-E50F-4EFF-8D5F-21DA810ECD9F}" type="datetimeFigureOut">
              <a:rPr lang="en-AU" smtClean="0"/>
              <a:t>4/09/2018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153621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03B91B3-E50F-4EFF-8D5F-21DA810ECD9F}" type="datetimeFigureOut">
              <a:rPr lang="en-AU" smtClean="0"/>
              <a:t>4/09/2018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40071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4/09/2018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07380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4/09/2018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96154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4/09/2018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261220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03B91B3-E50F-4EFF-8D5F-21DA810ECD9F}" type="datetimeFigureOut">
              <a:rPr lang="en-AU" smtClean="0"/>
              <a:t>4/09/2018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186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4/09/2018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140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539F4-62A1-496D-8D5C-97AA3DBD93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Linear Relationships – Gradient of Line and Y-intercept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049166-CC40-4F73-91D8-81ACD30048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9 Maths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36568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4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380163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2639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101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47225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3667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27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9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97978" y="66504"/>
            <a:ext cx="14383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Formula Page</a:t>
            </a:r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4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6024082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6024082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096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392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57262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89" y="601549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91751" y="1196752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5850" y="1196753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89" y="5373217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75247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E9E1E61-6F2E-45A1-8E20-D5EFB0DD3C4A}"/>
              </a:ext>
            </a:extLst>
          </p:cNvPr>
          <p:cNvCxnSpPr/>
          <p:nvPr/>
        </p:nvCxnSpPr>
        <p:spPr>
          <a:xfrm>
            <a:off x="9336360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39FB6ED-18E6-41B3-9B04-71246F5B2B0D}"/>
              </a:ext>
            </a:extLst>
          </p:cNvPr>
          <p:cNvSpPr txBox="1"/>
          <p:nvPr/>
        </p:nvSpPr>
        <p:spPr>
          <a:xfrm>
            <a:off x="9346972" y="1196751"/>
            <a:ext cx="5132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Steps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BF69CC-851A-45BB-9582-9F218D26C672}"/>
              </a:ext>
            </a:extLst>
          </p:cNvPr>
          <p:cNvSpPr txBox="1"/>
          <p:nvPr/>
        </p:nvSpPr>
        <p:spPr>
          <a:xfrm>
            <a:off x="939815" y="788557"/>
            <a:ext cx="4580121" cy="81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33" dirty="0"/>
              <a:t>Complete the tasks on this side (left) of your page</a:t>
            </a:r>
            <a:endParaRPr lang="en-AU" sz="2333" dirty="0"/>
          </a:p>
        </p:txBody>
      </p:sp>
      <p:pic>
        <p:nvPicPr>
          <p:cNvPr id="21" name="Picture 20" descr="Image result for finger you">
            <a:extLst>
              <a:ext uri="{FF2B5EF4-FFF2-40B4-BE49-F238E27FC236}">
                <a16:creationId xmlns:a16="http://schemas.microsoft.com/office/drawing/2014/main" id="{8EDE0A71-0B31-47FC-8116-A1F1E0C4683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169" y="2164094"/>
            <a:ext cx="238125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6C89346-A77D-4BA1-9F84-C8C332506CA6}"/>
              </a:ext>
            </a:extLst>
          </p:cNvPr>
          <p:cNvSpPr txBox="1"/>
          <p:nvPr/>
        </p:nvSpPr>
        <p:spPr>
          <a:xfrm>
            <a:off x="537185" y="5064654"/>
            <a:ext cx="5168173" cy="4513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33" dirty="0"/>
              <a:t>Your book, your responsibility!</a:t>
            </a:r>
            <a:endParaRPr lang="en-AU" sz="2333" dirty="0"/>
          </a:p>
        </p:txBody>
      </p:sp>
      <p:sp>
        <p:nvSpPr>
          <p:cNvPr id="27" name="Right Arrow 20">
            <a:extLst>
              <a:ext uri="{FF2B5EF4-FFF2-40B4-BE49-F238E27FC236}">
                <a16:creationId xmlns:a16="http://schemas.microsoft.com/office/drawing/2014/main" id="{5386C233-1672-4F1F-95FE-C741EB5A2D49}"/>
              </a:ext>
            </a:extLst>
          </p:cNvPr>
          <p:cNvSpPr/>
          <p:nvPr/>
        </p:nvSpPr>
        <p:spPr>
          <a:xfrm rot="11903126">
            <a:off x="6355904" y="189622"/>
            <a:ext cx="1908624" cy="10202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5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3CB974D-84DF-409D-A9C4-0ECD4359A6ED}"/>
              </a:ext>
            </a:extLst>
          </p:cNvPr>
          <p:cNvSpPr txBox="1"/>
          <p:nvPr/>
        </p:nvSpPr>
        <p:spPr>
          <a:xfrm>
            <a:off x="8218331" y="664949"/>
            <a:ext cx="19613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You should be ticking these off!</a:t>
            </a:r>
            <a:endParaRPr lang="en-AU" sz="15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E91817-3DB0-421A-8D4D-1CE79938934A}"/>
              </a:ext>
            </a:extLst>
          </p:cNvPr>
          <p:cNvSpPr txBox="1"/>
          <p:nvPr/>
        </p:nvSpPr>
        <p:spPr>
          <a:xfrm>
            <a:off x="7637972" y="2105473"/>
            <a:ext cx="2850292" cy="11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33" dirty="0"/>
              <a:t>Write your notes on this side (right) of your page</a:t>
            </a:r>
            <a:endParaRPr lang="en-AU" sz="2333" dirty="0"/>
          </a:p>
        </p:txBody>
      </p:sp>
      <p:sp>
        <p:nvSpPr>
          <p:cNvPr id="30" name="Title 2">
            <a:extLst>
              <a:ext uri="{FF2B5EF4-FFF2-40B4-BE49-F238E27FC236}">
                <a16:creationId xmlns:a16="http://schemas.microsoft.com/office/drawing/2014/main" id="{260C7911-4221-4C73-9ED2-216672ABED77}"/>
              </a:ext>
            </a:extLst>
          </p:cNvPr>
          <p:cNvSpPr txBox="1">
            <a:spLocks/>
          </p:cNvSpPr>
          <p:nvPr/>
        </p:nvSpPr>
        <p:spPr>
          <a:xfrm>
            <a:off x="6410842" y="5600297"/>
            <a:ext cx="4548257" cy="95250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67" dirty="0"/>
              <a:t>Have YOU been doing your summaries?</a:t>
            </a:r>
            <a:endParaRPr lang="en-AU" sz="2667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 animBg="1"/>
      <p:bldP spid="28" grpId="0"/>
      <p:bldP spid="3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9560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3076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Linear 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/9/2018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61338C-F493-4367-BD45-C1243F79202B}"/>
              </a:ext>
            </a:extLst>
          </p:cNvPr>
          <p:cNvCxnSpPr/>
          <p:nvPr/>
        </p:nvCxnSpPr>
        <p:spPr>
          <a:xfrm>
            <a:off x="8040216" y="1892047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How do we use the gradient and y-intercept from a graph to form a linear equation?</a:t>
            </a:r>
          </a:p>
        </p:txBody>
      </p:sp>
    </p:spTree>
    <p:extLst>
      <p:ext uri="{BB962C8B-B14F-4D97-AF65-F5344CB8AC3E}">
        <p14:creationId xmlns:p14="http://schemas.microsoft.com/office/powerpoint/2010/main" val="2434795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9560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3076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Linear 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/9/2018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61338C-F493-4367-BD45-C1243F79202B}"/>
              </a:ext>
            </a:extLst>
          </p:cNvPr>
          <p:cNvCxnSpPr/>
          <p:nvPr/>
        </p:nvCxnSpPr>
        <p:spPr>
          <a:xfrm>
            <a:off x="8493316" y="1906001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How do we use the gradient and y-intercept from a graph to form a linear equation?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483173-E6F4-4A53-B00B-D7482741778F}"/>
              </a:ext>
            </a:extLst>
          </p:cNvPr>
          <p:cNvSpPr txBox="1"/>
          <p:nvPr/>
        </p:nvSpPr>
        <p:spPr>
          <a:xfrm>
            <a:off x="121639" y="2173581"/>
            <a:ext cx="1835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is gradient?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6D58F8-F5F8-4C14-81D9-54BF572B1443}"/>
              </a:ext>
            </a:extLst>
          </p:cNvPr>
          <p:cNvSpPr txBox="1"/>
          <p:nvPr/>
        </p:nvSpPr>
        <p:spPr>
          <a:xfrm>
            <a:off x="2495599" y="1988915"/>
            <a:ext cx="5328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gradient of a line is a measure of its slope.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37AD37B-C3E1-46BC-97F1-B518C812D525}"/>
              </a:ext>
            </a:extLst>
          </p:cNvPr>
          <p:cNvSpPr txBox="1"/>
          <p:nvPr/>
        </p:nvSpPr>
        <p:spPr>
          <a:xfrm>
            <a:off x="2495599" y="2340820"/>
            <a:ext cx="56166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 is a number that shows the steepness of a line. </a:t>
            </a:r>
          </a:p>
          <a:p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9769A1-F0BD-454A-B1C1-9D9D91B81B61}"/>
              </a:ext>
            </a:extLst>
          </p:cNvPr>
          <p:cNvSpPr txBox="1"/>
          <p:nvPr/>
        </p:nvSpPr>
        <p:spPr>
          <a:xfrm>
            <a:off x="2495600" y="2759685"/>
            <a:ext cx="59977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 is calculated by knowing how far a line rises or falls (called the </a:t>
            </a:r>
            <a:r>
              <a:rPr lang="en-US" b="1" i="1" dirty="0">
                <a:solidFill>
                  <a:srgbClr val="FF0000"/>
                </a:solidFill>
              </a:rPr>
              <a:t>rise</a:t>
            </a:r>
            <a:r>
              <a:rPr lang="en-US" dirty="0"/>
              <a:t>) within a certain horizontal distance (called the </a:t>
            </a:r>
            <a:r>
              <a:rPr lang="en-US" b="1" i="1" dirty="0">
                <a:solidFill>
                  <a:srgbClr val="FF0000"/>
                </a:solidFill>
              </a:rPr>
              <a:t>run</a:t>
            </a:r>
            <a:r>
              <a:rPr lang="en-US" dirty="0"/>
              <a:t>). </a:t>
            </a:r>
          </a:p>
          <a:p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2A53C1-6A8F-4577-BA86-8C57E2AD1F11}"/>
              </a:ext>
            </a:extLst>
          </p:cNvPr>
          <p:cNvSpPr txBox="1"/>
          <p:nvPr/>
        </p:nvSpPr>
        <p:spPr>
          <a:xfrm>
            <a:off x="2495599" y="3639717"/>
            <a:ext cx="5009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gradient is equal to the </a:t>
            </a:r>
            <a:r>
              <a:rPr lang="en-US" i="1" dirty="0"/>
              <a:t>rise </a:t>
            </a:r>
            <a:r>
              <a:rPr lang="en-US" dirty="0"/>
              <a:t>divided by the </a:t>
            </a:r>
            <a:r>
              <a:rPr lang="en-US" i="1" dirty="0"/>
              <a:t>run</a:t>
            </a:r>
            <a:r>
              <a:rPr lang="en-US" dirty="0"/>
              <a:t>. </a:t>
            </a:r>
          </a:p>
          <a:p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359ECB7-C542-432C-9342-7360F5134EA2}"/>
              </a:ext>
            </a:extLst>
          </p:cNvPr>
          <p:cNvSpPr txBox="1"/>
          <p:nvPr/>
        </p:nvSpPr>
        <p:spPr>
          <a:xfrm>
            <a:off x="2495600" y="3951653"/>
            <a:ext cx="41879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letter </a:t>
            </a:r>
            <a:r>
              <a:rPr lang="en-US" i="1" dirty="0"/>
              <a:t>m </a:t>
            </a:r>
            <a:r>
              <a:rPr lang="en-US" dirty="0"/>
              <a:t>is used to represent gradient. </a:t>
            </a:r>
          </a:p>
          <a:p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6992E50-DAC9-4A36-962F-A66B056FD3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2938" y="4565008"/>
            <a:ext cx="4724400" cy="90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784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0" grpId="0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59CF0-BD6A-4772-8B9A-51627AF82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What’s the Value of Y?</a:t>
            </a:r>
            <a:endParaRPr lang="en-GB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36601FA-6859-4644-BBCC-04019DD6F8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3392" y="2852936"/>
            <a:ext cx="10820400" cy="1549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147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9560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3076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Linear 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/9/2018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61338C-F493-4367-BD45-C1243F79202B}"/>
              </a:ext>
            </a:extLst>
          </p:cNvPr>
          <p:cNvCxnSpPr/>
          <p:nvPr/>
        </p:nvCxnSpPr>
        <p:spPr>
          <a:xfrm>
            <a:off x="8832304" y="1789165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How do we use the gradient and y-intercept from a graph to form a linear equation?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C6ECEE7-418A-4CFD-ADF3-008E0B86FB8F}"/>
              </a:ext>
            </a:extLst>
          </p:cNvPr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5D85924-A94F-49A2-B6EE-A7C9BBF600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5640" y="2143952"/>
            <a:ext cx="2462305" cy="176624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D0072B0-BEEA-476B-917B-A5098FA2A3AA}"/>
              </a:ext>
            </a:extLst>
          </p:cNvPr>
          <p:cNvSpPr txBox="1"/>
          <p:nvPr/>
        </p:nvSpPr>
        <p:spPr>
          <a:xfrm>
            <a:off x="2910421" y="4217886"/>
            <a:ext cx="2352741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If the line slopes up from left to right, the rise is positive and the gradient is positive. </a:t>
            </a:r>
          </a:p>
          <a:p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794784F-CADF-416C-AD44-1858AAE1D5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075" y="5570292"/>
            <a:ext cx="2197100" cy="6350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7F68112-FCC5-44CE-BD9C-A04B79EAF384}"/>
              </a:ext>
            </a:extLst>
          </p:cNvPr>
          <p:cNvSpPr txBox="1"/>
          <p:nvPr/>
        </p:nvSpPr>
        <p:spPr>
          <a:xfrm>
            <a:off x="5908652" y="4166754"/>
            <a:ext cx="2742316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If the line slopes down from left to right, the rise is considered to be negative and the gradient is negative. </a:t>
            </a:r>
          </a:p>
          <a:p>
            <a:endParaRPr lang="en-US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079956F-7B20-4D0A-A99E-AC0A70EE51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6955" y="2109359"/>
            <a:ext cx="2422480" cy="193254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101F708-6B80-45C8-95CC-C4CBDD103D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935" y="5468692"/>
            <a:ext cx="2349500" cy="73660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BD15D839-06E1-49BF-8614-25A07B04CB67}"/>
              </a:ext>
            </a:extLst>
          </p:cNvPr>
          <p:cNvSpPr/>
          <p:nvPr/>
        </p:nvSpPr>
        <p:spPr>
          <a:xfrm>
            <a:off x="405332" y="2060848"/>
            <a:ext cx="181823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Caslon" charset="0"/>
              </a:rPr>
              <a:t>Important Note:  Always move from left to right when considering the rise and the run.</a:t>
            </a:r>
          </a:p>
          <a:p>
            <a:br>
              <a:rPr lang="en-US" dirty="0">
                <a:latin typeface="ACaslon" charset="0"/>
              </a:rPr>
            </a:b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0289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9560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3076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Linear 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/9/2018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61338C-F493-4367-BD45-C1243F79202B}"/>
              </a:ext>
            </a:extLst>
          </p:cNvPr>
          <p:cNvCxnSpPr/>
          <p:nvPr/>
        </p:nvCxnSpPr>
        <p:spPr>
          <a:xfrm>
            <a:off x="8040216" y="1892047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How do we use the gradient and y-intercept from a graph to form a linear equation?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C4C3924-2CBD-4898-85E0-F747FA4FE3CA}"/>
              </a:ext>
            </a:extLst>
          </p:cNvPr>
          <p:cNvSpPr/>
          <p:nvPr/>
        </p:nvSpPr>
        <p:spPr>
          <a:xfrm>
            <a:off x="2531358" y="2012121"/>
            <a:ext cx="536483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charset="0"/>
              <a:buChar char="•"/>
            </a:pPr>
            <a:r>
              <a:rPr lang="en-US" dirty="0">
                <a:solidFill>
                  <a:srgbClr val="D80000"/>
                </a:solidFill>
                <a:latin typeface="ACaslon" charset="0"/>
              </a:rPr>
              <a:t>The gradient can also be zero (when a line is horizontal) and undefined (when a line is vertical). </a:t>
            </a:r>
            <a:endParaRPr lang="en-US" sz="800" dirty="0">
              <a:solidFill>
                <a:srgbClr val="D80000"/>
              </a:solidFill>
              <a:effectLst/>
              <a:latin typeface="ZapfDingbats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A8BA058-D4AD-4D6A-A560-18C1993D08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8433" y="2746605"/>
            <a:ext cx="2540000" cy="20955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CF6F1DC-519C-4608-A022-C9DC99FEBD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5374" y="2746605"/>
            <a:ext cx="2247900" cy="208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1585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783632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3076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Linear 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/9/2018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61338C-F493-4367-BD45-C1243F79202B}"/>
              </a:ext>
            </a:extLst>
          </p:cNvPr>
          <p:cNvCxnSpPr/>
          <p:nvPr/>
        </p:nvCxnSpPr>
        <p:spPr>
          <a:xfrm>
            <a:off x="8040216" y="1892047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How do we use the gradient and y-intercept from a graph to form a linear equation?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23B915-8B94-41D0-957D-7A9E3AA063AC}"/>
              </a:ext>
            </a:extLst>
          </p:cNvPr>
          <p:cNvSpPr txBox="1"/>
          <p:nvPr/>
        </p:nvSpPr>
        <p:spPr>
          <a:xfrm>
            <a:off x="0" y="1989609"/>
            <a:ext cx="2855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is the y-intercept?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7A3FB68-8B31-46C5-BCD3-E6E94E9125C2}"/>
                  </a:ext>
                </a:extLst>
              </p:cNvPr>
              <p:cNvSpPr txBox="1"/>
              <p:nvPr/>
            </p:nvSpPr>
            <p:spPr>
              <a:xfrm>
                <a:off x="2960409" y="1989609"/>
                <a:ext cx="490303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The y-intercept is where the line cross the y-axis. Both the gradient (m) and the y-intercept (c) are be used to create the linear equation using the form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𝑚𝑥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7A3FB68-8B31-46C5-BCD3-E6E94E9125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0409" y="1989609"/>
                <a:ext cx="4903030" cy="1200329"/>
              </a:xfrm>
              <a:prstGeom prst="rect">
                <a:avLst/>
              </a:prstGeom>
              <a:blipFill>
                <a:blip r:embed="rId2"/>
                <a:stretch>
                  <a:fillRect l="-1119" t="-2538" b="-71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C363964-C8C9-43DB-9487-8A3313FE416C}"/>
                  </a:ext>
                </a:extLst>
              </p:cNvPr>
              <p:cNvSpPr txBox="1"/>
              <p:nvPr/>
            </p:nvSpPr>
            <p:spPr>
              <a:xfrm>
                <a:off x="2960409" y="3189938"/>
                <a:ext cx="4791772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Example</a:t>
                </a:r>
              </a:p>
              <a:p>
                <a:r>
                  <a:rPr lang="en-US" dirty="0"/>
                  <a:t>gradient = 4, y-intercept = -3, </a:t>
                </a:r>
              </a:p>
              <a:p>
                <a:endParaRPr lang="en-US" dirty="0"/>
              </a:p>
              <a:p>
                <a:r>
                  <a:rPr lang="en-US" dirty="0"/>
                  <a:t>Linear equation form: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𝑚𝑥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AU" b="0" dirty="0"/>
              </a:p>
              <a:p>
                <a:endParaRPr lang="en-US" dirty="0"/>
              </a:p>
              <a:p>
                <a:r>
                  <a:rPr lang="en-US" dirty="0"/>
                  <a:t>Linear equation: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=4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−3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C363964-C8C9-43DB-9487-8A3313FE41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0409" y="3189938"/>
                <a:ext cx="4791772" cy="1754326"/>
              </a:xfrm>
              <a:prstGeom prst="rect">
                <a:avLst/>
              </a:prstGeom>
              <a:blipFill>
                <a:blip r:embed="rId3"/>
                <a:stretch>
                  <a:fillRect l="-1145" t="-1736" b="-45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1589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517C9-3365-446D-859C-8FFC9657C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</a:t>
            </a:r>
            <a:endParaRPr lang="en-GB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A4E920E-6D5D-422E-8C39-BFD19D82A1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7408" y="2057401"/>
            <a:ext cx="10820400" cy="2284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7380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517C9-3365-446D-859C-8FFC9657C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C873999-35ED-4E00-8289-B1E880E30E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0" y="2054566"/>
            <a:ext cx="10820400" cy="1967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545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8EFD3-7B00-4225-B4A8-13595EC5B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/>
              <a:t>REcap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8BA02-C96D-4E9A-B357-B5D39D3F6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Time to take look back at your work.</a:t>
            </a:r>
          </a:p>
          <a:p>
            <a:pPr lvl="1"/>
            <a:r>
              <a:rPr lang="en-AU" dirty="0"/>
              <a:t>Write your summary.</a:t>
            </a:r>
          </a:p>
          <a:p>
            <a:pPr lvl="1"/>
            <a:r>
              <a:rPr lang="en-AU" dirty="0"/>
              <a:t>Have you written the steps of determining a rule from a table of values in your own words?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570907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88891DA-9CA5-470F-9EA1-A46D85B17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84" y="1311130"/>
            <a:ext cx="3285319" cy="27510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86AE3A4-FEAC-4796-8EC2-B158CA890A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5800" y="1311130"/>
            <a:ext cx="2952328" cy="2742722"/>
          </a:xfrm>
          <a:prstGeom prst="rect">
            <a:avLst/>
          </a:prstGeom>
        </p:spPr>
      </p:pic>
      <p:pic>
        <p:nvPicPr>
          <p:cNvPr id="14" name="Content Placeholder 5">
            <a:extLst>
              <a:ext uri="{FF2B5EF4-FFF2-40B4-BE49-F238E27FC236}">
                <a16:creationId xmlns:a16="http://schemas.microsoft.com/office/drawing/2014/main" id="{DDC8C69A-6213-416B-9EAC-5CD26C17CD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335360" y="44624"/>
            <a:ext cx="8064896" cy="120471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03A41BC-4949-4C29-8D70-D175A46DDC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0256" y="1378192"/>
            <a:ext cx="2878452" cy="260859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A37944D-EDF2-4D60-9D11-862E1C4BD3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400" y="4149096"/>
            <a:ext cx="2985847" cy="268944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9326241-7ACA-4E44-90D4-0EEBD9D27C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60598" y="4149096"/>
            <a:ext cx="3088581" cy="26486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D952ACE-6BCA-4435-A351-E3CC110BDD5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5639" y="4122456"/>
            <a:ext cx="2987686" cy="2742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7976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88891DA-9CA5-470F-9EA1-A46D85B17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84" y="1311130"/>
            <a:ext cx="3285319" cy="27510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86AE3A4-FEAC-4796-8EC2-B158CA890A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5800" y="1311130"/>
            <a:ext cx="2952328" cy="2742722"/>
          </a:xfrm>
          <a:prstGeom prst="rect">
            <a:avLst/>
          </a:prstGeom>
        </p:spPr>
      </p:pic>
      <p:pic>
        <p:nvPicPr>
          <p:cNvPr id="14" name="Content Placeholder 5">
            <a:extLst>
              <a:ext uri="{FF2B5EF4-FFF2-40B4-BE49-F238E27FC236}">
                <a16:creationId xmlns:a16="http://schemas.microsoft.com/office/drawing/2014/main" id="{DDC8C69A-6213-416B-9EAC-5CD26C17CD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335360" y="44624"/>
            <a:ext cx="8064896" cy="120471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03A41BC-4949-4C29-8D70-D175A46DDC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0256" y="1378192"/>
            <a:ext cx="2878452" cy="260859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A37944D-EDF2-4D60-9D11-862E1C4BD3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400" y="4149096"/>
            <a:ext cx="2985847" cy="268944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9326241-7ACA-4E44-90D4-0EEBD9D27C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60598" y="4123411"/>
            <a:ext cx="3088581" cy="26486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D952ACE-6BCA-4435-A351-E3CC110BDD5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5639" y="4122456"/>
            <a:ext cx="2987686" cy="27427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ED8449B-B928-44B3-8C72-6ACFFCA4E8EB}"/>
                  </a:ext>
                </a:extLst>
              </p:cNvPr>
              <p:cNvSpPr txBox="1"/>
              <p:nvPr/>
            </p:nvSpPr>
            <p:spPr>
              <a:xfrm>
                <a:off x="5879976" y="2060848"/>
                <a:ext cx="103368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+3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ED8449B-B928-44B3-8C72-6ACFFCA4E8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9976" y="2060848"/>
                <a:ext cx="1033681" cy="276999"/>
              </a:xfrm>
              <a:prstGeom prst="rect">
                <a:avLst/>
              </a:prstGeom>
              <a:blipFill>
                <a:blip r:embed="rId9"/>
                <a:stretch>
                  <a:fillRect l="-4734" r="-4734" b="-282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E7F78A7-1FDD-46B6-AD0B-73E040D0B267}"/>
                  </a:ext>
                </a:extLst>
              </p:cNvPr>
              <p:cNvSpPr txBox="1"/>
              <p:nvPr/>
            </p:nvSpPr>
            <p:spPr>
              <a:xfrm>
                <a:off x="2279576" y="2132856"/>
                <a:ext cx="103368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E7F78A7-1FDD-46B6-AD0B-73E040D0B2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9576" y="2132856"/>
                <a:ext cx="1033681" cy="276999"/>
              </a:xfrm>
              <a:prstGeom prst="rect">
                <a:avLst/>
              </a:prstGeom>
              <a:blipFill>
                <a:blip r:embed="rId10"/>
                <a:stretch>
                  <a:fillRect l="-4706" r="-4118" b="-31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CDEAD01-A491-4C46-B2BE-74518173DB81}"/>
                  </a:ext>
                </a:extLst>
              </p:cNvPr>
              <p:cNvSpPr txBox="1"/>
              <p:nvPr/>
            </p:nvSpPr>
            <p:spPr>
              <a:xfrm>
                <a:off x="9912424" y="2020921"/>
                <a:ext cx="129427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=−2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CDEAD01-A491-4C46-B2BE-74518173DB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2424" y="2020921"/>
                <a:ext cx="1294276" cy="276999"/>
              </a:xfrm>
              <a:prstGeom prst="rect">
                <a:avLst/>
              </a:prstGeom>
              <a:blipFill>
                <a:blip r:embed="rId11"/>
                <a:stretch>
                  <a:fillRect l="-5189" r="-5660" b="-31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33E79BA-4529-4F8F-AF9E-14052F4038FB}"/>
                  </a:ext>
                </a:extLst>
              </p:cNvPr>
              <p:cNvSpPr txBox="1"/>
              <p:nvPr/>
            </p:nvSpPr>
            <p:spPr>
              <a:xfrm>
                <a:off x="2351584" y="4890419"/>
                <a:ext cx="103368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33E79BA-4529-4F8F-AF9E-14052F4038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1584" y="4890419"/>
                <a:ext cx="1033681" cy="276999"/>
              </a:xfrm>
              <a:prstGeom prst="rect">
                <a:avLst/>
              </a:prstGeom>
              <a:blipFill>
                <a:blip r:embed="rId12"/>
                <a:stretch>
                  <a:fillRect b="-282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DFF12C1-2042-4F2B-ADCB-5EF01EF3EB83}"/>
                  </a:ext>
                </a:extLst>
              </p:cNvPr>
              <p:cNvSpPr txBox="1"/>
              <p:nvPr/>
            </p:nvSpPr>
            <p:spPr>
              <a:xfrm>
                <a:off x="6168008" y="4890418"/>
                <a:ext cx="103368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DFF12C1-2042-4F2B-ADCB-5EF01EF3EB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8008" y="4890418"/>
                <a:ext cx="1033681" cy="276999"/>
              </a:xfrm>
              <a:prstGeom prst="rect">
                <a:avLst/>
              </a:prstGeom>
              <a:blipFill>
                <a:blip r:embed="rId13"/>
                <a:stretch>
                  <a:fillRect b="-108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DCB592C-6E54-46EE-96CA-99C501844719}"/>
                  </a:ext>
                </a:extLst>
              </p:cNvPr>
              <p:cNvSpPr txBox="1"/>
              <p:nvPr/>
            </p:nvSpPr>
            <p:spPr>
              <a:xfrm>
                <a:off x="9911850" y="4880821"/>
                <a:ext cx="129485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=−2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DCB592C-6E54-46EE-96CA-99C5018447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1850" y="4880821"/>
                <a:ext cx="1294850" cy="276999"/>
              </a:xfrm>
              <a:prstGeom prst="rect">
                <a:avLst/>
              </a:prstGeom>
              <a:blipFill>
                <a:blip r:embed="rId14"/>
                <a:stretch>
                  <a:fillRect l="-5189" r="-5189" b="-31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49212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0056B-629A-42CD-8C7A-0F56D2B06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Challenge</a:t>
            </a:r>
            <a:endParaRPr lang="en-GB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ADDD194-E25D-4325-A6DB-8DB978D0BF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7368" y="2276872"/>
            <a:ext cx="7630276" cy="345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485070"/>
      </p:ext>
    </p:extLst>
  </p:cSld>
  <p:clrMapOvr>
    <a:masterClrMapping/>
  </p:clrMapOvr>
</p:sld>
</file>

<file path=ppt/theme/theme1.xml><?xml version="1.0" encoding="utf-8"?>
<a:theme xmlns:a="http://schemas.openxmlformats.org/drawingml/2006/main" name="BSC Theme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SC Theme" id="{C1CBADD6-BB5F-440A-B968-1DF8E3AA1E88}" vid="{968D037D-C1E6-4504-B0AA-F343FEB667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BSC Theme</Template>
  <TotalTime>701</TotalTime>
  <Words>520</Words>
  <Application>Microsoft Office PowerPoint</Application>
  <PresentationFormat>Widescreen</PresentationFormat>
  <Paragraphs>92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ACaslon</vt:lpstr>
      <vt:lpstr>Arial</vt:lpstr>
      <vt:lpstr>Calibri</vt:lpstr>
      <vt:lpstr>Cambria Math</vt:lpstr>
      <vt:lpstr>Century Gothic</vt:lpstr>
      <vt:lpstr>ZapfDingbats</vt:lpstr>
      <vt:lpstr>BSC Theme</vt:lpstr>
      <vt:lpstr>Linear Relationships – Gradient of Line and Y-intercept</vt:lpstr>
      <vt:lpstr>PowerPoint Presentation</vt:lpstr>
      <vt:lpstr>PowerPoint Presentation</vt:lpstr>
      <vt:lpstr>PowerPoint Presentation</vt:lpstr>
      <vt:lpstr>PowerPoint Presentation</vt:lpstr>
      <vt:lpstr>What’s the Value of Y?</vt:lpstr>
      <vt:lpstr>PowerPoint Presentation</vt:lpstr>
      <vt:lpstr>PowerPoint Presentation</vt:lpstr>
      <vt:lpstr>PowerPoint Presentation</vt:lpstr>
      <vt:lpstr>Task</vt:lpstr>
      <vt:lpstr>Task</vt:lpstr>
      <vt:lpstr>REcap</vt:lpstr>
      <vt:lpstr>PowerPoint Presentation</vt:lpstr>
      <vt:lpstr>PowerPoint Presentation</vt:lpstr>
      <vt:lpstr>Challenge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Perimeter, Area and Volume Interactive Notebook</dc:title>
  <dc:creator>E4007446</dc:creator>
  <cp:lastModifiedBy>LUM Magdeline [Baldivis Secondary College]</cp:lastModifiedBy>
  <cp:revision>47</cp:revision>
  <dcterms:created xsi:type="dcterms:W3CDTF">2017-03-06T12:42:44Z</dcterms:created>
  <dcterms:modified xsi:type="dcterms:W3CDTF">2018-09-03T17:38:10Z</dcterms:modified>
</cp:coreProperties>
</file>
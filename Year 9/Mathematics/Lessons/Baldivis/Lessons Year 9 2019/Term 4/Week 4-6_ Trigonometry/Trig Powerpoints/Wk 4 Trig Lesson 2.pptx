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8" r:id="rId5"/>
    <p:sldId id="392" r:id="rId6"/>
    <p:sldId id="257" r:id="rId7"/>
    <p:sldId id="414" r:id="rId8"/>
    <p:sldId id="415" r:id="rId9"/>
    <p:sldId id="416" r:id="rId10"/>
    <p:sldId id="417" r:id="rId11"/>
    <p:sldId id="418" r:id="rId12"/>
    <p:sldId id="3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MMERS Brad [Baldivis Secondary College]" initials="SB[SC" lastIdx="1" clrIdx="0">
    <p:extLst>
      <p:ext uri="{19B8F6BF-5375-455C-9EA6-DF929625EA0E}">
        <p15:presenceInfo xmlns:p15="http://schemas.microsoft.com/office/powerpoint/2012/main" userId="S::brad.summers@education.wa.edu.au::ab0930ff-596e-42dd-8b3a-a193a7cc2e34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3B4B98B0-60AC-42C2-AFA5-B58CD77FA1E5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774" autoAdjust="0"/>
    <p:restoredTop sz="94719"/>
  </p:normalViewPr>
  <p:slideViewPr>
    <p:cSldViewPr snapToGrid="0">
      <p:cViewPr varScale="1">
        <p:scale>
          <a:sx n="103" d="100"/>
          <a:sy n="103" d="100"/>
        </p:scale>
        <p:origin x="19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6" d="100"/>
          <a:sy n="96" d="100"/>
        </p:scale>
        <p:origin x="2296" y="17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EBDA6D-DC69-4DCE-BAF7-6763517D3376}" type="datetimeFigureOut">
              <a:rPr lang="en-US"/>
              <a:t>11/6/19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977E94-A6AB-4E02-8E43-E89F9CF4757F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15425838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37F6C43-988E-4257-9A1C-C162EF036D58}" type="datetimeFigureOut">
              <a:rPr lang="en-US"/>
              <a:t>11/6/19</a:t>
            </a:fld>
            <a:endParaRPr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D491D0-8E1B-49C7-849B-A28568D94497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2632588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For this part,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3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9547511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Teachers, two of the triangles don’t have side lengths. Give these to your stronger students to measure and use Pythagoras’ theorem to solve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4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3871646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D491D0-8E1B-49C7-849B-A28568D94497}" type="slidenum">
              <a:rPr lang="en-AU" smtClean="0"/>
              <a:t>5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1600121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ED491D0-8E1B-49C7-849B-A28568D94497}" type="slidenum">
              <a:rPr lang="uk-UA" smtClean="0"/>
              <a:t>9</a:t>
            </a:fld>
            <a:endParaRPr lang="uk-UA"/>
          </a:p>
        </p:txBody>
      </p:sp>
    </p:spTree>
    <p:extLst>
      <p:ext uri="{BB962C8B-B14F-4D97-AF65-F5344CB8AC3E}">
        <p14:creationId xmlns:p14="http://schemas.microsoft.com/office/powerpoint/2010/main" val="7014392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2832533" y="1371600"/>
            <a:ext cx="9359467" cy="29718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2832533" y="4462272"/>
            <a:ext cx="9359467" cy="10332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">
          <a:xfrm>
            <a:off x="3175199" y="1943842"/>
            <a:ext cx="8500062" cy="2387600"/>
          </a:xfrm>
        </p:spPr>
        <p:txBody>
          <a:bodyPr anchor="b"/>
          <a:lstStyle>
            <a:lvl1pPr algn="l">
              <a:lnSpc>
                <a:spcPct val="90000"/>
              </a:lnSpc>
              <a:defRPr sz="6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5199" y="4538659"/>
            <a:ext cx="8500062" cy="865321"/>
          </a:xfrm>
        </p:spPr>
        <p:txBody>
          <a:bodyPr/>
          <a:lstStyle>
            <a:lvl1pPr marL="0" indent="0" algn="l">
              <a:spcBef>
                <a:spcPts val="0"/>
              </a:spcBef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  <p:sp>
        <p:nvSpPr>
          <p:cNvPr id="11" name="Date Placeholder 10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12" name="Footer Placeholder 1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13" name="Slide Number Placeholder 1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47549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5413334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 bwMode="invGray"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3502152" y="-20637"/>
            <a:ext cx="7315200" cy="434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02152" y="4462272"/>
            <a:ext cx="7315200" cy="171907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">
          <a:xfrm>
            <a:off x="3838015" y="658346"/>
            <a:ext cx="6597464" cy="3664417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5000" b="1">
                <a:solidFill>
                  <a:schemeClr val="tx1"/>
                </a:solidFill>
              </a:defRPr>
            </a:lvl1pPr>
          </a:lstStyle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38014" y="4589463"/>
            <a:ext cx="6597465" cy="150018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824528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80160" y="2194560"/>
            <a:ext cx="448970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5368" y="2194560"/>
            <a:ext cx="4493424" cy="3986784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201040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80160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9088" y="1828456"/>
            <a:ext cx="4489704" cy="83069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9088" y="2743194"/>
            <a:ext cx="4489704" cy="3433769"/>
          </a:xfrm>
        </p:spPr>
        <p:txBody>
          <a:bodyPr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2612869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41611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30296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18896" y="2465294"/>
            <a:ext cx="5389895" cy="4392706"/>
          </a:xfrm>
        </p:spPr>
        <p:txBody>
          <a:bodyPr>
            <a:normAutofit/>
          </a:bodyPr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8" y="2465294"/>
            <a:ext cx="3834874" cy="3711669"/>
          </a:xfrm>
        </p:spPr>
        <p:txBody>
          <a:bodyPr>
            <a:normAutofit/>
          </a:bodyPr>
          <a:lstStyle>
            <a:lvl1pPr marL="0" indent="0">
              <a:spcBef>
                <a:spcPts val="1500"/>
              </a:spcBef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114742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>
            <a:normAutofit/>
          </a:bodyPr>
          <a:lstStyle>
            <a:lvl1pPr>
              <a:defRPr sz="3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518896" y="1828456"/>
            <a:ext cx="5389895" cy="5029544"/>
          </a:xfrm>
        </p:spPr>
        <p:txBody>
          <a:bodyPr tIns="1371600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1819" y="2465293"/>
            <a:ext cx="3834874" cy="3711669"/>
          </a:xfrm>
        </p:spPr>
        <p:txBody>
          <a:bodyPr>
            <a:normAutofit/>
          </a:bodyPr>
          <a:lstStyle>
            <a:lvl1pPr marL="0" indent="0">
              <a:buNone/>
              <a:defRPr sz="2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1613664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6644058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78199" y="462249"/>
            <a:ext cx="9693088" cy="5714714"/>
          </a:xfrm>
        </p:spPr>
        <p:txBody>
          <a:bodyPr vert="eaVert"/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378199" y="6356350"/>
            <a:ext cx="1971947" cy="365125"/>
          </a:xfrm>
        </p:spPr>
        <p:txBody>
          <a:bodyPr/>
          <a:lstStyle/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382374" y="6356350"/>
            <a:ext cx="5687786" cy="365125"/>
          </a:xfrm>
        </p:spPr>
        <p:txBody>
          <a:bodyPr/>
          <a:lstStyle/>
          <a:p>
            <a:endParaRPr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 rot="5400000">
            <a:off x="7523375" y="2743540"/>
            <a:ext cx="6857433" cy="1371487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 rot="5400000">
            <a:off x="8267671" y="3370131"/>
            <a:ext cx="6858000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66348" y="462249"/>
            <a:ext cx="1370886" cy="5714714"/>
          </a:xfrm>
        </p:spPr>
        <p:txBody>
          <a:bodyPr vert="eaVert"/>
          <a:lstStyle/>
          <a:p>
            <a:r>
              <a:t>Click to edit Master title style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102389" y="6356350"/>
            <a:ext cx="1968898" cy="365125"/>
          </a:xfrm>
        </p:spPr>
        <p:txBody>
          <a:bodyPr/>
          <a:lstStyle/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294111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0" y="347472"/>
            <a:ext cx="12188952" cy="118872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invGray">
          <a:xfrm>
            <a:off x="0" y="457200"/>
            <a:ext cx="12188952" cy="1371257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1280160" y="466343"/>
            <a:ext cx="9628632" cy="136211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80160" y="2190749"/>
            <a:ext cx="9628632" cy="39862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t>Click to edit Master text styles</a:t>
            </a:r>
          </a:p>
          <a:p>
            <a:pPr lvl="1"/>
            <a:r>
              <a:t>Second level</a:t>
            </a:r>
          </a:p>
          <a:p>
            <a:pPr lvl="2"/>
            <a:r>
              <a:t>Third level</a:t>
            </a:r>
          </a:p>
          <a:p>
            <a:pPr lvl="3"/>
            <a:r>
              <a:t>Fourth level</a:t>
            </a:r>
          </a:p>
          <a:p>
            <a:pPr lvl="4"/>
            <a:r>
              <a:t>Fifth level</a:t>
            </a:r>
          </a:p>
          <a:p>
            <a:pPr lvl="5"/>
            <a:r>
              <a:t>Sixth</a:t>
            </a:r>
          </a:p>
          <a:p>
            <a:pPr lvl="6"/>
            <a:r>
              <a:t>Seventh</a:t>
            </a:r>
          </a:p>
          <a:p>
            <a:pPr lvl="7"/>
            <a:r>
              <a:t>Eighth</a:t>
            </a:r>
          </a:p>
          <a:p>
            <a:pPr lvl="8"/>
            <a:r>
              <a:t>Ninth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280160" y="6356350"/>
            <a:ext cx="19719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CCFE9AC-F15C-4FA0-A6F1-298829FA691D}" type="datetimeFigureOut">
              <a:rPr lang="en-US"/>
              <a:t>11/6/19</a:t>
            </a:fld>
            <a:endParaRPr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52107" y="6356350"/>
            <a:ext cx="568778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939894" y="6356350"/>
            <a:ext cx="196889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266BE7-899D-4075-917F-DBDE33B6B692}" type="slidenum">
              <a:rPr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719210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xStyles>
    <p:titleStyle>
      <a:lvl1pPr algn="l" defTabSz="914400" rtl="0" eaLnBrk="1" latinLnBrk="0" hangingPunct="1">
        <a:lnSpc>
          <a:spcPct val="95000"/>
        </a:lnSpc>
        <a:spcBef>
          <a:spcPct val="0"/>
        </a:spcBef>
        <a:buNone/>
        <a:defRPr sz="3000" kern="120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500"/>
        </a:spcBef>
        <a:buFont typeface="Wingdings" panose="05000000000000000000" pitchFamily="2" charset="2"/>
        <a:buChar char="§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00000"/>
        </a:lnSpc>
        <a:spcBef>
          <a:spcPts val="300"/>
        </a:spcBef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00000"/>
        </a:lnSpc>
        <a:spcBef>
          <a:spcPts val="0"/>
        </a:spcBef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geogebra.org/m/BSQb6R5w#material/Z3wcyhcB" TargetMode="Externa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5400" dirty="0"/>
              <a:t>Topic: Trigonometry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179827" y="4526627"/>
            <a:ext cx="8899877" cy="899615"/>
          </a:xfrm>
        </p:spPr>
        <p:txBody>
          <a:bodyPr>
            <a:no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EQ: What is special about the ratio of opposite and hypotenuse sides in a right-angle triangle? </a:t>
            </a:r>
          </a:p>
        </p:txBody>
      </p:sp>
    </p:spTree>
    <p:extLst>
      <p:ext uri="{BB962C8B-B14F-4D97-AF65-F5344CB8AC3E}">
        <p14:creationId xmlns:p14="http://schemas.microsoft.com/office/powerpoint/2010/main" val="17326983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-461430" y="696595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800" b="1" dirty="0">
                <a:solidFill>
                  <a:schemeClr val="bg2"/>
                </a:solidFill>
              </a:rPr>
              <a:t>The Daily 5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BD59817-D60D-3245-AE4A-0105F377DEB2}"/>
              </a:ext>
            </a:extLst>
          </p:cNvPr>
          <p:cNvSpPr txBox="1"/>
          <p:nvPr/>
        </p:nvSpPr>
        <p:spPr>
          <a:xfrm>
            <a:off x="136635" y="1881352"/>
            <a:ext cx="11719035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/>
              <a:t>On a right-angle triangle, what side is opposite the right angle?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State the gradient and y-intercept of the following equation of a line: </a:t>
            </a:r>
            <a:r>
              <a:rPr lang="en-US" sz="2400" i="1" dirty="0"/>
              <a:t>y </a:t>
            </a:r>
            <a:r>
              <a:rPr lang="en-US" sz="2400" dirty="0"/>
              <a:t>= -2x + 10?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Define inverse proportion.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pPr marL="342900" indent="-342900">
              <a:buFont typeface="+mj-lt"/>
              <a:buAutoNum type="arabicPeriod"/>
            </a:pPr>
            <a:r>
              <a:rPr lang="en-US" sz="2400" dirty="0"/>
              <a:t>What is one feature of similar triangles?</a:t>
            </a:r>
          </a:p>
          <a:p>
            <a:pPr marL="342900" indent="-342900">
              <a:buFont typeface="+mj-lt"/>
              <a:buAutoNum type="arabicPeriod"/>
            </a:pPr>
            <a:endParaRPr lang="en-US" sz="2400" dirty="0"/>
          </a:p>
          <a:p>
            <a:r>
              <a:rPr lang="en-US" sz="2400" dirty="0"/>
              <a:t>5. </a:t>
            </a:r>
            <a:r>
              <a:rPr lang="en-AU" sz="2400" dirty="0" err="1"/>
              <a:t>Jagheet</a:t>
            </a:r>
            <a:r>
              <a:rPr lang="en-AU" sz="2400" dirty="0"/>
              <a:t> drives from his house to his cottage, 75 km away, maintaining an  average speed of      60 km/h. How long, in minutes, does it take him to drive to his cottage? </a:t>
            </a:r>
          </a:p>
          <a:p>
            <a:endParaRPr lang="en-US" sz="2800" dirty="0"/>
          </a:p>
          <a:p>
            <a:endParaRPr lang="en-US" sz="2800" dirty="0"/>
          </a:p>
          <a:p>
            <a:pPr marL="342900" indent="-34290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7177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3300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special about the ratio of opposite and hypotenuse sides in a right-angle triangle?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6E0FCCD-9082-0741-9778-858B8257705B}"/>
              </a:ext>
            </a:extLst>
          </p:cNvPr>
          <p:cNvSpPr txBox="1"/>
          <p:nvPr/>
        </p:nvSpPr>
        <p:spPr>
          <a:xfrm>
            <a:off x="105104" y="2106088"/>
            <a:ext cx="49045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For this investigation, you will be working with a partner. You will need:</a:t>
            </a:r>
          </a:p>
          <a:p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A large pre-drawn right angle triangle (from your teacher). Teachers use the 30-60-90 worksheet.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 dirty="0"/>
              <a:t>To draw the following table in your books: 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BB63FF0-9AD8-7D4B-A418-9A7025BCD76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5887967"/>
              </p:ext>
            </p:extLst>
          </p:nvPr>
        </p:nvGraphicFramePr>
        <p:xfrm>
          <a:off x="5591877" y="2581824"/>
          <a:ext cx="6290157" cy="3931920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1322741">
                  <a:extLst>
                    <a:ext uri="{9D8B030D-6E8A-4147-A177-3AD203B41FA5}">
                      <a16:colId xmlns:a16="http://schemas.microsoft.com/office/drawing/2014/main" val="1414210414"/>
                    </a:ext>
                  </a:extLst>
                </a:gridCol>
                <a:gridCol w="2520778">
                  <a:extLst>
                    <a:ext uri="{9D8B030D-6E8A-4147-A177-3AD203B41FA5}">
                      <a16:colId xmlns:a16="http://schemas.microsoft.com/office/drawing/2014/main" val="611024248"/>
                    </a:ext>
                  </a:extLst>
                </a:gridCol>
                <a:gridCol w="2446638">
                  <a:extLst>
                    <a:ext uri="{9D8B030D-6E8A-4147-A177-3AD203B41FA5}">
                      <a16:colId xmlns:a16="http://schemas.microsoft.com/office/drawing/2014/main" val="266586544"/>
                    </a:ext>
                  </a:extLst>
                </a:gridCol>
              </a:tblGrid>
              <a:tr h="498347">
                <a:tc>
                  <a:txBody>
                    <a:bodyPr/>
                    <a:lstStyle/>
                    <a:p>
                      <a:r>
                        <a:rPr lang="en-US" dirty="0"/>
                        <a:t>Triangle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 of side opposite 30</a:t>
                      </a:r>
                      <a:r>
                        <a:rPr lang="en-US" baseline="30000" dirty="0"/>
                        <a:t>∘</a:t>
                      </a:r>
                      <a:r>
                        <a:rPr lang="en-US" baseline="0" dirty="0"/>
                        <a:t> angle</a:t>
                      </a:r>
                      <a:endParaRPr lang="en-US" dirty="0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 of hypotenuse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76568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29227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987485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711833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408528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538018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163942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876490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014561"/>
                  </a:ext>
                </a:extLst>
              </a:tr>
              <a:tr h="28477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13434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05221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3" dur="500"/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the hypotenuse and opposite sides in a right-angle triangle with a 30</a:t>
            </a:r>
            <a:r>
              <a:rPr lang="en-US" sz="2800" baseline="30000" dirty="0">
                <a:solidFill>
                  <a:schemeClr val="bg2"/>
                </a:solidFill>
              </a:rPr>
              <a:t>∘</a:t>
            </a:r>
            <a:r>
              <a:rPr lang="en-US" sz="2800" dirty="0">
                <a:solidFill>
                  <a:schemeClr val="bg2"/>
                </a:solidFill>
              </a:rPr>
              <a:t> angle?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13940F-EE6E-B44F-BC91-CBCC194AC38F}"/>
              </a:ext>
            </a:extLst>
          </p:cNvPr>
          <p:cNvSpPr txBox="1"/>
          <p:nvPr/>
        </p:nvSpPr>
        <p:spPr>
          <a:xfrm>
            <a:off x="252663" y="2129589"/>
            <a:ext cx="11658600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After you have recorded the values for the opposite side length, hypotenuse and the ratio for your triangle, go and find another group’s triangle. Your task is to observe:</a:t>
            </a:r>
          </a:p>
          <a:p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How is your triangle the same or different to the other group’s triangle?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What mathematical word describes the relationship between the two triangles?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Record your partner group’s opposite side and hypotenuse lengths as well as the ratio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Repeat until you have the side lengths and ratios for all 9 triangles</a:t>
            </a:r>
          </a:p>
        </p:txBody>
      </p:sp>
    </p:spTree>
    <p:extLst>
      <p:ext uri="{BB962C8B-B14F-4D97-AF65-F5344CB8AC3E}">
        <p14:creationId xmlns:p14="http://schemas.microsoft.com/office/powerpoint/2010/main" val="2185236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the hypotenuse and opposite sides in a right-angle triangle with a 30</a:t>
            </a:r>
            <a:r>
              <a:rPr lang="en-US" sz="2800" baseline="30000" dirty="0">
                <a:solidFill>
                  <a:schemeClr val="bg2"/>
                </a:solidFill>
              </a:rPr>
              <a:t>∘</a:t>
            </a:r>
            <a:r>
              <a:rPr lang="en-US" sz="2800" dirty="0">
                <a:solidFill>
                  <a:schemeClr val="bg2"/>
                </a:solidFill>
              </a:rPr>
              <a:t> angle?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1E16B09-AC3F-FF44-BB67-0B1973C5E13E}"/>
              </a:ext>
            </a:extLst>
          </p:cNvPr>
          <p:cNvSpPr txBox="1"/>
          <p:nvPr/>
        </p:nvSpPr>
        <p:spPr>
          <a:xfrm>
            <a:off x="-1" y="1906900"/>
            <a:ext cx="9372195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There is an interesting relationship between the two sides of our triangles.</a:t>
            </a:r>
          </a:p>
          <a:p>
            <a:r>
              <a:rPr lang="en-US" sz="2800" dirty="0"/>
              <a:t> Has anyone noticed it? </a:t>
            </a:r>
          </a:p>
          <a:p>
            <a:endParaRPr lang="en-US" sz="32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015C97C-AA67-A345-BDBF-C16648DC43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0613920"/>
                  </p:ext>
                </p:extLst>
              </p:nvPr>
            </p:nvGraphicFramePr>
            <p:xfrm>
              <a:off x="10293178" y="2738877"/>
              <a:ext cx="1898822" cy="4152421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898822">
                      <a:extLst>
                        <a:ext uri="{9D8B030D-6E8A-4147-A177-3AD203B41FA5}">
                          <a16:colId xmlns:a16="http://schemas.microsoft.com/office/drawing/2014/main" val="1189563768"/>
                        </a:ext>
                      </a:extLst>
                    </a:gridCol>
                  </a:tblGrid>
                  <a:tr h="860581">
                    <a:tc>
                      <a:txBody>
                        <a:bodyPr/>
                        <a:lstStyle/>
                        <a:p>
                          <a:r>
                            <a:rPr lang="en-US" dirty="0"/>
                            <a:t>Ratio </a:t>
                          </a:r>
                          <a14:m>
                            <m:oMath xmlns:m="http://schemas.openxmlformats.org/officeDocument/2006/math">
                              <m:f>
                                <m:fPr>
                                  <m:ctrlPr>
                                    <a:rPr lang="en-US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  <m:t>𝒐𝒑𝒑𝒐𝒔𝒊𝒕𝒆</m:t>
                                  </m:r>
                                </m:num>
                                <m:den>
                                  <m:r>
                                    <a:rPr lang="en-CA" b="1" i="1" smtClean="0">
                                      <a:latin typeface="Cambria Math" panose="02040503050406030204" pitchFamily="18" charset="0"/>
                                    </a:rPr>
                                    <m:t>𝒉𝒚𝒑𝒐𝒕𝒆𝒏𝒖𝒔𝒆</m:t>
                                  </m:r>
                                </m:den>
                              </m:f>
                            </m:oMath>
                          </a14:m>
                          <a:endParaRPr lang="en-CA" b="1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4248282"/>
                      </a:ext>
                    </a:extLst>
                  </a:tr>
                  <a:tr h="35244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7826601"/>
                      </a:ext>
                    </a:extLst>
                  </a:tr>
                  <a:tr h="35244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7375572"/>
                      </a:ext>
                    </a:extLst>
                  </a:tr>
                  <a:tr h="35244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0883532"/>
                      </a:ext>
                    </a:extLst>
                  </a:tr>
                  <a:tr h="352449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9117731"/>
                      </a:ext>
                    </a:extLst>
                  </a:tr>
                  <a:tr h="35244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5515197"/>
                      </a:ext>
                    </a:extLst>
                  </a:tr>
                  <a:tr h="35244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0374178"/>
                      </a:ext>
                    </a:extLst>
                  </a:tr>
                  <a:tr h="35244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532410"/>
                      </a:ext>
                    </a:extLst>
                  </a:tr>
                  <a:tr h="35244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5657194"/>
                      </a:ext>
                    </a:extLst>
                  </a:tr>
                  <a:tr h="352449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2113553"/>
                      </a:ext>
                    </a:extLst>
                  </a:tr>
                </a:tbl>
              </a:graphicData>
            </a:graphic>
          </p:graphicFrame>
        </mc:Choice>
        <mc:Fallback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015C97C-AA67-A345-BDBF-C16648DC43EE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00613920"/>
                  </p:ext>
                </p:extLst>
              </p:nvPr>
            </p:nvGraphicFramePr>
            <p:xfrm>
              <a:off x="10293178" y="2738877"/>
              <a:ext cx="1898822" cy="4152421"/>
            </p:xfrm>
            <a:graphic>
              <a:graphicData uri="http://schemas.openxmlformats.org/drawingml/2006/table">
                <a:tbl>
                  <a:tblPr firstRow="1" bandRow="1">
                    <a:tableStyleId>{3B4B98B0-60AC-42C2-AFA5-B58CD77FA1E5}</a:tableStyleId>
                  </a:tblPr>
                  <a:tblGrid>
                    <a:gridCol w="1898822">
                      <a:extLst>
                        <a:ext uri="{9D8B030D-6E8A-4147-A177-3AD203B41FA5}">
                          <a16:colId xmlns:a16="http://schemas.microsoft.com/office/drawing/2014/main" val="1189563768"/>
                        </a:ext>
                      </a:extLst>
                    </a:gridCol>
                  </a:tblGrid>
                  <a:tr h="860581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blipFill>
                          <a:blip r:embed="rId3"/>
                          <a:stretch>
                            <a:fillRect b="-38235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65424828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0782660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28737557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980883532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219117731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1745515197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0374178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27532410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895657194"/>
                      </a:ext>
                    </a:extLst>
                  </a:tr>
                  <a:tr h="365760">
                    <a:tc>
                      <a:txBody>
                        <a:bodyPr/>
                        <a:lstStyle/>
                        <a:p>
                          <a:endParaRPr lang="en-US" dirty="0"/>
                        </a:p>
                      </a:txBody>
                      <a:tcPr>
                        <a:solidFill>
                          <a:srgbClr val="FFC000">
                            <a:alpha val="51000"/>
                          </a:srgbClr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22113553"/>
                      </a:ext>
                    </a:extLst>
                  </a:tr>
                </a:tbl>
              </a:graphicData>
            </a:graphic>
          </p:graphicFrame>
        </mc:Fallback>
      </mc:AlternateContent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31B196B0-4181-7D44-BBA7-C76BD5F903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9947061"/>
              </p:ext>
            </p:extLst>
          </p:nvPr>
        </p:nvGraphicFramePr>
        <p:xfrm>
          <a:off x="4176584" y="2728220"/>
          <a:ext cx="6116594" cy="4168141"/>
        </p:xfrm>
        <a:graphic>
          <a:graphicData uri="http://schemas.openxmlformats.org/drawingml/2006/table">
            <a:tbl>
              <a:tblPr firstRow="1" bandRow="1">
                <a:tableStyleId>{3B4B98B0-60AC-42C2-AFA5-B58CD77FA1E5}</a:tableStyleId>
              </a:tblPr>
              <a:tblGrid>
                <a:gridCol w="976184">
                  <a:extLst>
                    <a:ext uri="{9D8B030D-6E8A-4147-A177-3AD203B41FA5}">
                      <a16:colId xmlns:a16="http://schemas.microsoft.com/office/drawing/2014/main" val="1414210414"/>
                    </a:ext>
                  </a:extLst>
                </a:gridCol>
                <a:gridCol w="2360140">
                  <a:extLst>
                    <a:ext uri="{9D8B030D-6E8A-4147-A177-3AD203B41FA5}">
                      <a16:colId xmlns:a16="http://schemas.microsoft.com/office/drawing/2014/main" val="611024248"/>
                    </a:ext>
                  </a:extLst>
                </a:gridCol>
                <a:gridCol w="2780270">
                  <a:extLst>
                    <a:ext uri="{9D8B030D-6E8A-4147-A177-3AD203B41FA5}">
                      <a16:colId xmlns:a16="http://schemas.microsoft.com/office/drawing/2014/main" val="266586544"/>
                    </a:ext>
                  </a:extLst>
                </a:gridCol>
              </a:tblGrid>
              <a:tr h="876301">
                <a:tc>
                  <a:txBody>
                    <a:bodyPr/>
                    <a:lstStyle/>
                    <a:p>
                      <a:r>
                        <a:rPr lang="en-US" dirty="0"/>
                        <a:t>Triangle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 of side opposite 30</a:t>
                      </a:r>
                      <a:r>
                        <a:rPr lang="en-US" baseline="30000" dirty="0"/>
                        <a:t>∘</a:t>
                      </a:r>
                      <a:r>
                        <a:rPr lang="en-US" baseline="0" dirty="0"/>
                        <a:t> angle</a:t>
                      </a:r>
                      <a:endParaRPr lang="en-US" dirty="0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Length of hypotenuse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0676568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929227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8987485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1711833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408528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14538018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8163942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63876490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15014561"/>
                  </a:ext>
                </a:extLst>
              </a:tr>
              <a:tr h="350520">
                <a:tc>
                  <a:txBody>
                    <a:bodyPr/>
                    <a:lstStyle/>
                    <a:p>
                      <a:r>
                        <a:rPr lang="en-US" dirty="0"/>
                        <a:t>9</a:t>
                      </a:r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solidFill>
                      <a:srgbClr val="FFC000">
                        <a:alpha val="51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3134345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D7B1D13-E0C5-DF4F-ACF5-BD0511263D11}"/>
              </a:ext>
            </a:extLst>
          </p:cNvPr>
          <p:cNvSpPr txBox="1"/>
          <p:nvPr/>
        </p:nvSpPr>
        <p:spPr>
          <a:xfrm>
            <a:off x="105104" y="3657600"/>
            <a:ext cx="3157080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If you’re still unsure, add the</a:t>
            </a:r>
          </a:p>
          <a:p>
            <a:r>
              <a:rPr lang="en-US" sz="2800" dirty="0"/>
              <a:t>following column to your chart and calculate the ratios</a:t>
            </a:r>
          </a:p>
        </p:txBody>
      </p:sp>
    </p:spTree>
    <p:extLst>
      <p:ext uri="{BB962C8B-B14F-4D97-AF65-F5344CB8AC3E}">
        <p14:creationId xmlns:p14="http://schemas.microsoft.com/office/powerpoint/2010/main" val="21664263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8" presetClass="emph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6" dur="2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id="7" presetID="8" presetClass="emph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Rot by="21600000">
                                      <p:cBhvr>
                                        <p:cTn id="8" dur="2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the hypotenuse and opposite sides in a right-angle triangle with a 30</a:t>
            </a:r>
            <a:r>
              <a:rPr lang="en-US" sz="2800" baseline="30000" dirty="0">
                <a:solidFill>
                  <a:schemeClr val="bg2"/>
                </a:solidFill>
              </a:rPr>
              <a:t>∘</a:t>
            </a:r>
            <a:r>
              <a:rPr lang="en-US" sz="2800" dirty="0">
                <a:solidFill>
                  <a:schemeClr val="bg2"/>
                </a:solidFill>
              </a:rPr>
              <a:t> angle?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407182-54E9-E644-8247-D25D7A734138}"/>
                  </a:ext>
                </a:extLst>
              </p:cNvPr>
              <p:cNvSpPr txBox="1"/>
              <p:nvPr/>
            </p:nvSpPr>
            <p:spPr>
              <a:xfrm>
                <a:off x="296563" y="2014151"/>
                <a:ext cx="11066235" cy="41383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The special ratio 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𝑜𝑝𝑝𝑜𝑠𝑖𝑡𝑒</m:t>
                        </m:r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h𝑦𝑝𝑜𝑡𝑒𝑛𝑢𝑠𝑒</m:t>
                        </m:r>
                      </m:den>
                    </m:f>
                    <m:r>
                      <a:rPr lang="en-CA" sz="2800" b="0" i="1" smtClean="0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800" dirty="0"/>
                  <a:t> is called the sine ratio </a:t>
                </a:r>
              </a:p>
              <a:p>
                <a:r>
                  <a:rPr lang="en-US" sz="2800" dirty="0"/>
                  <a:t>      and mathematicians write sine 30</a:t>
                </a:r>
                <a:r>
                  <a:rPr lang="en-US" sz="2800" baseline="30000" dirty="0"/>
                  <a:t>∘</a:t>
                </a:r>
                <a:r>
                  <a:rPr lang="en-US" sz="2800" dirty="0"/>
                  <a:t> 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28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This means that for a right-angled triangle that also has an angle of 30</a:t>
                </a:r>
                <a:r>
                  <a:rPr lang="en-US" sz="2800" baseline="30000" dirty="0"/>
                  <a:t>∘</a:t>
                </a:r>
                <a:r>
                  <a:rPr lang="en-US" sz="2800" dirty="0"/>
                  <a:t>,</a:t>
                </a:r>
              </a:p>
              <a:p>
                <a:r>
                  <a:rPr lang="en-US" sz="2800" dirty="0"/>
                  <a:t>      the ratio of the side opposite angle 30</a:t>
                </a:r>
                <a:r>
                  <a:rPr lang="en-US" sz="2800" baseline="30000" dirty="0"/>
                  <a:t>∘</a:t>
                </a:r>
                <a:r>
                  <a:rPr lang="en-US" sz="2800" dirty="0"/>
                  <a:t> and the hypotenuse is always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8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80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CA" sz="2800" i="1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lang="en-US" sz="2800" dirty="0"/>
              </a:p>
              <a:p>
                <a:endParaRPr lang="en-US" sz="2800" dirty="0"/>
              </a:p>
              <a:p>
                <a:pPr marL="457200" indent="-457200">
                  <a:buFont typeface="Arial" panose="020B0604020202020204" pitchFamily="34" charset="0"/>
                  <a:buChar char="•"/>
                </a:pPr>
                <a:r>
                  <a:rPr lang="en-US" sz="2800" dirty="0"/>
                  <a:t>But what about for right-angled triangles that have an angle other than </a:t>
                </a:r>
              </a:p>
              <a:p>
                <a:r>
                  <a:rPr lang="en-US" sz="2800" dirty="0"/>
                  <a:t>      30</a:t>
                </a:r>
                <a:r>
                  <a:rPr lang="en-US" sz="2800" baseline="30000" dirty="0"/>
                  <a:t>∘</a:t>
                </a:r>
                <a:r>
                  <a:rPr lang="en-US" sz="2800" dirty="0"/>
                  <a:t>? Let’s have a quick look… </a:t>
                </a:r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EC407182-54E9-E644-8247-D25D7A73413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563" y="2014151"/>
                <a:ext cx="11066235" cy="4138377"/>
              </a:xfrm>
              <a:prstGeom prst="rect">
                <a:avLst/>
              </a:prstGeom>
              <a:blipFill>
                <a:blip r:embed="rId2"/>
                <a:stretch>
                  <a:fillRect l="-916" r="-115" b="-30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00604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3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the hypotenuse and opposite sides in a right-angle triangle with a 30</a:t>
            </a:r>
            <a:r>
              <a:rPr lang="en-US" sz="2800" baseline="30000" dirty="0">
                <a:solidFill>
                  <a:schemeClr val="bg2"/>
                </a:solidFill>
              </a:rPr>
              <a:t>∘</a:t>
            </a:r>
            <a:r>
              <a:rPr lang="en-US" sz="2800" dirty="0">
                <a:solidFill>
                  <a:schemeClr val="bg2"/>
                </a:solidFill>
              </a:rPr>
              <a:t> angle?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BC5F59F-4167-EB42-8DD0-C07617F6C051}"/>
              </a:ext>
            </a:extLst>
          </p:cNvPr>
          <p:cNvSpPr txBox="1"/>
          <p:nvPr/>
        </p:nvSpPr>
        <p:spPr>
          <a:xfrm>
            <a:off x="456546" y="1974457"/>
            <a:ext cx="1178536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/>
                </a:solidFill>
              </a:rPr>
              <a:t>Here are two right-angle triangles with an angle other than 30</a:t>
            </a:r>
            <a:r>
              <a:rPr lang="en-US" sz="2800" baseline="30000" dirty="0">
                <a:solidFill>
                  <a:schemeClr val="tx2"/>
                </a:solidFill>
              </a:rPr>
              <a:t>∘</a:t>
            </a:r>
            <a:r>
              <a:rPr lang="en-US" sz="2800" dirty="0">
                <a:solidFill>
                  <a:schemeClr val="tx2"/>
                </a:solidFill>
              </a:rPr>
              <a:t> and different side lengths.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F7B64-A439-3549-97EF-1389FEE19C8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75088" y="3423306"/>
            <a:ext cx="3834885" cy="291278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4EA131-8210-2441-9C1B-4247F608AA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39279" y="3227155"/>
            <a:ext cx="3206723" cy="3305089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377C352-4687-8247-9EE8-2D249660D0B2}"/>
                  </a:ext>
                </a:extLst>
              </p:cNvPr>
              <p:cNvSpPr/>
              <p:nvPr/>
            </p:nvSpPr>
            <p:spPr>
              <a:xfrm>
                <a:off x="147144" y="2909636"/>
                <a:ext cx="3834885" cy="3625544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What do you notice about the ratio of the side lengths for these two triangles?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endParaRPr lang="en-US" sz="2400" dirty="0">
                  <a:solidFill>
                    <a:schemeClr val="tx2"/>
                  </a:solidFill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400" dirty="0">
                    <a:solidFill>
                      <a:schemeClr val="tx2"/>
                    </a:solidFill>
                  </a:rPr>
                  <a:t>Can you make a general observation about the </a:t>
                </a:r>
                <a:r>
                  <a:rPr lang="en-US" sz="2400" dirty="0"/>
                  <a:t>[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𝑜𝑝𝑝𝑜𝑠𝑖𝑡𝑒</m:t>
                        </m:r>
                      </m:num>
                      <m:den>
                        <m:r>
                          <a:rPr lang="en-CA" sz="2400" i="1">
                            <a:latin typeface="Cambria Math" panose="02040503050406030204" pitchFamily="18" charset="0"/>
                          </a:rPr>
                          <m:t>h𝑦𝑝𝑜𝑡𝑒𝑛𝑢𝑠𝑒</m:t>
                        </m:r>
                      </m:den>
                    </m:f>
                    <m:r>
                      <a:rPr lang="en-CA" sz="2400" i="1"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lang="en-US" sz="2400" dirty="0"/>
                  <a:t> ratio for all right-angle triangles?</a:t>
                </a:r>
                <a:endParaRPr lang="en-US" sz="2400" dirty="0">
                  <a:solidFill>
                    <a:schemeClr val="tx2"/>
                  </a:solidFill>
                </a:endParaRPr>
              </a:p>
            </p:txBody>
          </p:sp>
        </mc:Choice>
        <mc:Fallback>
          <p:sp>
            <p:nvSpPr>
              <p:cNvPr id="8" name="Rectangle 7">
                <a:extLst>
                  <a:ext uri="{FF2B5EF4-FFF2-40B4-BE49-F238E27FC236}">
                    <a16:creationId xmlns:a16="http://schemas.microsoft.com/office/drawing/2014/main" id="{1377C352-4687-8247-9EE8-2D249660D0B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7144" y="2909636"/>
                <a:ext cx="3834885" cy="3625544"/>
              </a:xfrm>
              <a:prstGeom prst="rect">
                <a:avLst/>
              </a:prstGeom>
              <a:blipFill>
                <a:blip r:embed="rId4"/>
                <a:stretch>
                  <a:fillRect l="-2318" t="-1045" r="-1987" b="-243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203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Box 9">
            <a:extLst>
              <a:ext uri="{FF2B5EF4-FFF2-40B4-BE49-F238E27FC236}">
                <a16:creationId xmlns:a16="http://schemas.microsoft.com/office/drawing/2014/main" id="{576EA31B-277D-1046-93E6-7C4284289DC3}"/>
              </a:ext>
            </a:extLst>
          </p:cNvPr>
          <p:cNvSpPr txBox="1"/>
          <p:nvPr/>
        </p:nvSpPr>
        <p:spPr>
          <a:xfrm>
            <a:off x="105104" y="521905"/>
            <a:ext cx="11939752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2"/>
                </a:solidFill>
              </a:rPr>
              <a:t>Topic: Trigonometry</a:t>
            </a:r>
          </a:p>
          <a:p>
            <a:r>
              <a:rPr lang="en-US" sz="2800" dirty="0">
                <a:solidFill>
                  <a:schemeClr val="bg2"/>
                </a:solidFill>
              </a:rPr>
              <a:t>EQ: What is the relationship between the hypotenuse and opposite sides in a right-angle triangle with a 30</a:t>
            </a:r>
            <a:r>
              <a:rPr lang="en-US" sz="2800" baseline="30000" dirty="0">
                <a:solidFill>
                  <a:schemeClr val="bg2"/>
                </a:solidFill>
              </a:rPr>
              <a:t>∘</a:t>
            </a:r>
            <a:r>
              <a:rPr lang="en-US" sz="2800" dirty="0">
                <a:solidFill>
                  <a:schemeClr val="bg2"/>
                </a:solidFill>
              </a:rPr>
              <a:t> angle?</a:t>
            </a:r>
          </a:p>
        </p:txBody>
      </p:sp>
      <p:sp>
        <p:nvSpPr>
          <p:cNvPr id="4" name="Rectangle 3">
            <a:hlinkClick r:id="rId2"/>
            <a:extLst>
              <a:ext uri="{FF2B5EF4-FFF2-40B4-BE49-F238E27FC236}">
                <a16:creationId xmlns:a16="http://schemas.microsoft.com/office/drawing/2014/main" id="{8260DFB9-B22B-A34C-BEC9-36B57CD433CA}"/>
              </a:ext>
            </a:extLst>
          </p:cNvPr>
          <p:cNvSpPr/>
          <p:nvPr/>
        </p:nvSpPr>
        <p:spPr>
          <a:xfrm>
            <a:off x="3089472" y="3244334"/>
            <a:ext cx="601305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AU" dirty="0">
                <a:latin typeface="Calibri" panose="020F0502020204030204" pitchFamily="34" charset="0"/>
                <a:hlinkClick r:id="rId2" tooltip="Original URL: https://www.geogebra.org/m/BSQb6R5w#material/Z3wcyhcB. Click or tap if you trust this link."/>
              </a:rPr>
              <a:t>https://www.geogebra.org/m/BSQb6R5w#material/Z3wcyhcB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6056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8755" y="404559"/>
            <a:ext cx="9628632" cy="1362113"/>
          </a:xfrm>
        </p:spPr>
        <p:txBody>
          <a:bodyPr>
            <a:normAutofit/>
          </a:bodyPr>
          <a:lstStyle/>
          <a:p>
            <a:r>
              <a:rPr lang="en-AU" sz="3600" dirty="0"/>
              <a:t>Exit Pass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2C56592-FF01-AD41-9B0A-0B8C92C107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10622" y="1964723"/>
            <a:ext cx="3623055" cy="4761985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DC8CD13-CA6F-AD43-9ED8-E720B6CC1336}"/>
              </a:ext>
            </a:extLst>
          </p:cNvPr>
          <p:cNvSpPr txBox="1"/>
          <p:nvPr/>
        </p:nvSpPr>
        <p:spPr>
          <a:xfrm>
            <a:off x="247135" y="2384853"/>
            <a:ext cx="6669583" cy="255454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1.   How do you know this triangle has an angle of </a:t>
            </a:r>
          </a:p>
          <a:p>
            <a:r>
              <a:rPr lang="en-US" sz="2400" dirty="0"/>
              <a:t>      30</a:t>
            </a:r>
            <a:r>
              <a:rPr lang="en-US" sz="2400" baseline="30000" dirty="0"/>
              <a:t>∘</a:t>
            </a:r>
            <a:endParaRPr lang="en-US" sz="2400" dirty="0"/>
          </a:p>
          <a:p>
            <a:endParaRPr lang="en-US" sz="2400" baseline="30000" dirty="0"/>
          </a:p>
          <a:p>
            <a:r>
              <a:rPr lang="en-US" sz="2400" dirty="0"/>
              <a:t>2. Which two sides of a right-angle triangle does the</a:t>
            </a:r>
          </a:p>
          <a:p>
            <a:r>
              <a:rPr lang="en-US" sz="2400" dirty="0"/>
              <a:t>     Sine law deal with?</a:t>
            </a:r>
          </a:p>
          <a:p>
            <a:endParaRPr lang="en-US" sz="2400" dirty="0"/>
          </a:p>
          <a:p>
            <a:r>
              <a:rPr lang="en-US" sz="2400" dirty="0"/>
              <a:t>3. Complete your summary by answering the EQ</a:t>
            </a:r>
          </a:p>
        </p:txBody>
      </p:sp>
    </p:spTree>
    <p:extLst>
      <p:ext uri="{BB962C8B-B14F-4D97-AF65-F5344CB8AC3E}">
        <p14:creationId xmlns:p14="http://schemas.microsoft.com/office/powerpoint/2010/main" val="19023104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Education 16x9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Education_16x9.potx" id="{AA5F22BC-61EA-4F01-AB22-75117871E196}" vid="{BD0EB374-1DDC-4F15-88A9-D386288C58A6}"/>
    </a:ext>
  </a:extLst>
</a:theme>
</file>

<file path=ppt/theme/theme2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Education">
      <a:dk1>
        <a:srgbClr val="3C4743"/>
      </a:dk1>
      <a:lt1>
        <a:srgbClr val="E5E6DA"/>
      </a:lt1>
      <a:dk2>
        <a:srgbClr val="000000"/>
      </a:dk2>
      <a:lt2>
        <a:srgbClr val="FFFFFF"/>
      </a:lt2>
      <a:accent1>
        <a:srgbClr val="DDC237"/>
      </a:accent1>
      <a:accent2>
        <a:srgbClr val="94A43E"/>
      </a:accent2>
      <a:accent3>
        <a:srgbClr val="6488A3"/>
      </a:accent3>
      <a:accent4>
        <a:srgbClr val="926E8F"/>
      </a:accent4>
      <a:accent5>
        <a:srgbClr val="96A1AA"/>
      </a:accent5>
      <a:accent6>
        <a:srgbClr val="A99E8A"/>
      </a:accent6>
      <a:hlink>
        <a:srgbClr val="6488A3"/>
      </a:hlink>
      <a:folHlink>
        <a:srgbClr val="926E8F"/>
      </a:folHlink>
    </a:clrScheme>
    <a:fontScheme name="Calibri">
      <a:maj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141aba3b8f8cb7f331be6546df69db5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f8e4ef66d87525153bd8907774ed28f8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F7A874A-6E55-415B-9061-8B2D43DC2F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896FEF9-821E-45A6-82F2-0B1CE4CD8CF4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91BC99BC-3A63-4255-9D4F-38C5B80A3193}">
  <ds:schemaRefs>
    <ds:schemaRef ds:uri="http://schemas.microsoft.com/office/2006/metadata/properties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676</Words>
  <Application>Microsoft Macintosh PowerPoint</Application>
  <PresentationFormat>Widescreen</PresentationFormat>
  <Paragraphs>94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Cambria Math</vt:lpstr>
      <vt:lpstr>Wingdings</vt:lpstr>
      <vt:lpstr>Education 16x9</vt:lpstr>
      <vt:lpstr>Topic: Trigonometry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Exit Pass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2012-09-21T18:31:34Z</dcterms:created>
  <dcterms:modified xsi:type="dcterms:W3CDTF">2019-11-07T00:04:57Z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InternalTags">
    <vt:lpwstr/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
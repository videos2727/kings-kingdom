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8" r:id="rId5"/>
    <p:sldId id="399" r:id="rId6"/>
    <p:sldId id="392" r:id="rId7"/>
    <p:sldId id="257" r:id="rId8"/>
    <p:sldId id="400" r:id="rId9"/>
    <p:sldId id="413" r:id="rId10"/>
    <p:sldId id="403" r:id="rId11"/>
    <p:sldId id="412" r:id="rId12"/>
    <p:sldId id="410" r:id="rId13"/>
    <p:sldId id="406" r:id="rId14"/>
    <p:sldId id="261" r:id="rId15"/>
    <p:sldId id="262" r:id="rId16"/>
    <p:sldId id="263" r:id="rId17"/>
    <p:sldId id="265" r:id="rId18"/>
    <p:sldId id="266" r:id="rId19"/>
    <p:sldId id="411" r:id="rId20"/>
    <p:sldId id="38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MMERS Brad [Baldivis Secondary College]" initials="SB[SC" lastIdx="1" clrIdx="0">
    <p:extLst>
      <p:ext uri="{19B8F6BF-5375-455C-9EA6-DF929625EA0E}">
        <p15:presenceInfo xmlns:p15="http://schemas.microsoft.com/office/powerpoint/2012/main" userId="S::brad.summers@education.wa.edu.au::ab0930ff-596e-42dd-8b3a-a193a7cc2e3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66" autoAdjust="0"/>
    <p:restoredTop sz="94719"/>
  </p:normalViewPr>
  <p:slideViewPr>
    <p:cSldViewPr snapToGrid="0">
      <p:cViewPr varScale="1">
        <p:scale>
          <a:sx n="103" d="100"/>
          <a:sy n="103" d="100"/>
        </p:scale>
        <p:origin x="208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2296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7" Type="http://schemas.openxmlformats.org/officeDocument/2006/relationships/image" Target="../media/image16.e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11/4/19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11/4/19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88817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dirty="0"/>
              <a:t>Teachers beware: this video is 7:33, it might be worth only showing the first 3-4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3196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76FE3-CA7B-449B-A89A-B0EE0C6B48E8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079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01439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11/4/19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11/4/19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11/4/19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11/4/19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11/4/19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11/4/19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11/4/19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11/4/19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11/4/19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11/4/19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11/4/19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11/4/19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d.ted.com/lessons/pixar-the-math-behind-the-movies-tony-deros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3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12.emf"/><Relationship Id="rId4" Type="http://schemas.openxmlformats.org/officeDocument/2006/relationships/image" Target="../media/image9.e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oleObject" Target="../embeddings/oleObject14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3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e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2.emf"/><Relationship Id="rId4" Type="http://schemas.openxmlformats.org/officeDocument/2006/relationships/image" Target="../media/image9.e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Trigonometry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What is the relationship between an angle and the labelling of sides in a triangle?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05104" y="521905"/>
            <a:ext cx="11939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Trigonometry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relationship between an angle and the labelling of sides in a triangle?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6FA65F-21EE-B949-B374-1FA478B0E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54" y="2026024"/>
            <a:ext cx="10058400" cy="463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8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461430" y="69659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2"/>
                </a:solidFill>
              </a:rPr>
              <a:t>The Daily 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D59817-D60D-3245-AE4A-0105F377DEB2}"/>
              </a:ext>
            </a:extLst>
          </p:cNvPr>
          <p:cNvSpPr txBox="1"/>
          <p:nvPr/>
        </p:nvSpPr>
        <p:spPr>
          <a:xfrm>
            <a:off x="136635" y="1881352"/>
            <a:ext cx="11719035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If 12 people in this class have brown hair and 10 have black hair, write the ratio of brown hair to black hair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If $5 can buy you 3 chocolate bars, how many bars can you buy with $20?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If it takes 10 people 6 days to build a car, how long would it take 20 people to build the same car?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What is the gradient and y-intercept </a:t>
            </a:r>
          </a:p>
          <a:p>
            <a:r>
              <a:rPr lang="en-US" sz="2800" dirty="0"/>
              <a:t>    of the following graph?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r>
              <a:rPr lang="en-US" sz="2800" dirty="0"/>
              <a:t>5. What is the gradient of this line:</a:t>
            </a:r>
          </a:p>
          <a:p>
            <a:endParaRPr lang="en-US" sz="2800" dirty="0"/>
          </a:p>
          <a:p>
            <a:endParaRPr lang="en-US" sz="2800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70347C-39A1-204F-8221-79DD32964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908" y="3741928"/>
            <a:ext cx="2748527" cy="2301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9CA170-4277-D14B-A271-1BD37CB14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565" y="5932805"/>
            <a:ext cx="1778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177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144" y="2443651"/>
            <a:ext cx="9628632" cy="3986213"/>
          </a:xfrm>
        </p:spPr>
        <p:txBody>
          <a:bodyPr/>
          <a:lstStyle/>
          <a:p>
            <a:r>
              <a:rPr lang="en-GB" dirty="0"/>
              <a:t>Two shapes are said to be similar to each other if one is an enlargement of the other.</a:t>
            </a:r>
          </a:p>
        </p:txBody>
      </p:sp>
      <p:sp>
        <p:nvSpPr>
          <p:cNvPr id="4" name="Right Triangle 3"/>
          <p:cNvSpPr/>
          <p:nvPr/>
        </p:nvSpPr>
        <p:spPr>
          <a:xfrm>
            <a:off x="2005448" y="3790466"/>
            <a:ext cx="2592288" cy="180020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ight Triangle 4"/>
          <p:cNvSpPr/>
          <p:nvPr/>
        </p:nvSpPr>
        <p:spPr>
          <a:xfrm>
            <a:off x="5743328" y="2924542"/>
            <a:ext cx="4032448" cy="2800311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147587" y="5859041"/>
            <a:ext cx="81369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GB" sz="2800" dirty="0"/>
              <a:t>What do you notice about the length of the sides?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GB" sz="2800" dirty="0"/>
              <a:t>What do you notice about the size of the angles?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328" y="2760944"/>
            <a:ext cx="28803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Angles stay the same, side lengths change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6EA31B-277D-1046-93E6-7C4284289DC3}"/>
              </a:ext>
            </a:extLst>
          </p:cNvPr>
          <p:cNvSpPr txBox="1"/>
          <p:nvPr/>
        </p:nvSpPr>
        <p:spPr>
          <a:xfrm>
            <a:off x="105104" y="521905"/>
            <a:ext cx="11939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Trigonometry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relationship between an angle and the labelling of sides in a triangle?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B19D6D-9A58-7846-8FBE-0ADCC9937747}"/>
              </a:ext>
            </a:extLst>
          </p:cNvPr>
          <p:cNvSpPr txBox="1"/>
          <p:nvPr/>
        </p:nvSpPr>
        <p:spPr>
          <a:xfrm>
            <a:off x="147144" y="1858876"/>
            <a:ext cx="5444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First, a review of similarity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9052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76EA31B-277D-1046-93E6-7C4284289DC3}"/>
              </a:ext>
            </a:extLst>
          </p:cNvPr>
          <p:cNvSpPr txBox="1"/>
          <p:nvPr/>
        </p:nvSpPr>
        <p:spPr>
          <a:xfrm>
            <a:off x="105104" y="521905"/>
            <a:ext cx="11939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Trigonometry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relationship between an angle and the labelling of sides in a triangle?</a:t>
            </a:r>
          </a:p>
        </p:txBody>
      </p:sp>
      <p:sp>
        <p:nvSpPr>
          <p:cNvPr id="12" name="WordArt 4">
            <a:extLst>
              <a:ext uri="{FF2B5EF4-FFF2-40B4-BE49-F238E27FC236}">
                <a16:creationId xmlns:a16="http://schemas.microsoft.com/office/drawing/2014/main" id="{530D2B2F-75BC-4741-9FC4-F617BE92994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4323" y="2029931"/>
            <a:ext cx="4238625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 Black"/>
              </a:rPr>
              <a:t>Similar Triangles</a:t>
            </a: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8E2F5FEC-FBB6-AB46-BF54-7D12E7ACD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202" y="2104176"/>
            <a:ext cx="684053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400" dirty="0"/>
              <a:t>Can be overlayed one on top of the other – so it’s easy to see corresponding angles are equal</a:t>
            </a:r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E4573E55-6F59-244C-BE91-099823667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1" y="3448363"/>
            <a:ext cx="3024187" cy="3241675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15" name="AutoShape 8">
            <a:extLst>
              <a:ext uri="{FF2B5EF4-FFF2-40B4-BE49-F238E27FC236}">
                <a16:creationId xmlns:a16="http://schemas.microsoft.com/office/drawing/2014/main" id="{E64346EC-B465-3D43-A545-B733B8A40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338" y="3448363"/>
            <a:ext cx="1871662" cy="2016125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16" name="AutoShape 9">
            <a:extLst>
              <a:ext uri="{FF2B5EF4-FFF2-40B4-BE49-F238E27FC236}">
                <a16:creationId xmlns:a16="http://schemas.microsoft.com/office/drawing/2014/main" id="{5B36418B-4839-5D4E-8396-0D9E66B05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4788" y="3448363"/>
            <a:ext cx="1250950" cy="1350963"/>
          </a:xfrm>
          <a:prstGeom prst="rtTriangle">
            <a:avLst/>
          </a:prstGeom>
          <a:solidFill>
            <a:srgbClr val="E05D2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251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617 0.00625 L -0.22982 0.0039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299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477 0.00185 L -0.40026 0.00463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258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76EA31B-277D-1046-93E6-7C4284289DC3}"/>
              </a:ext>
            </a:extLst>
          </p:cNvPr>
          <p:cNvSpPr txBox="1"/>
          <p:nvPr/>
        </p:nvSpPr>
        <p:spPr>
          <a:xfrm>
            <a:off x="105104" y="521905"/>
            <a:ext cx="11939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Trigonometry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relationship between an angle and the labelling of sides in a triangle?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09F93FA0-22CF-014E-9C3F-40AFC3267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42" y="2075719"/>
            <a:ext cx="1039100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800" dirty="0"/>
              <a:t>If 2 triangles are similar, then their matching pairs of sides are in ratio</a:t>
            </a:r>
          </a:p>
        </p:txBody>
      </p:sp>
      <p:grpSp>
        <p:nvGrpSpPr>
          <p:cNvPr id="9" name="Group 21">
            <a:extLst>
              <a:ext uri="{FF2B5EF4-FFF2-40B4-BE49-F238E27FC236}">
                <a16:creationId xmlns:a16="http://schemas.microsoft.com/office/drawing/2014/main" id="{A63E9304-8AEC-5748-B15D-F1D6E6C8014A}"/>
              </a:ext>
            </a:extLst>
          </p:cNvPr>
          <p:cNvGrpSpPr>
            <a:grpSpLocks/>
          </p:cNvGrpSpPr>
          <p:nvPr/>
        </p:nvGrpSpPr>
        <p:grpSpPr bwMode="auto">
          <a:xfrm>
            <a:off x="5348074" y="2767758"/>
            <a:ext cx="4032250" cy="2432050"/>
            <a:chOff x="3016" y="1117"/>
            <a:chExt cx="2540" cy="1532"/>
          </a:xfrm>
        </p:grpSpPr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56D2A05F-A893-7944-926C-517F3CCCC2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6" y="1117"/>
              <a:ext cx="2540" cy="1315"/>
              <a:chOff x="3016" y="1117"/>
              <a:chExt cx="2540" cy="1315"/>
            </a:xfrm>
          </p:grpSpPr>
          <p:sp>
            <p:nvSpPr>
              <p:cNvPr id="20" name="Line 8">
                <a:extLst>
                  <a:ext uri="{FF2B5EF4-FFF2-40B4-BE49-F238E27FC236}">
                    <a16:creationId xmlns:a16="http://schemas.microsoft.com/office/drawing/2014/main" id="{1A529B64-5DCF-694D-8FA7-2A466296D1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6" y="1117"/>
                <a:ext cx="408" cy="1315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1" name="Line 9">
                <a:extLst>
                  <a:ext uri="{FF2B5EF4-FFF2-40B4-BE49-F238E27FC236}">
                    <a16:creationId xmlns:a16="http://schemas.microsoft.com/office/drawing/2014/main" id="{B59EEABD-BAB0-254C-ABA7-A2F578D3F0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117"/>
                <a:ext cx="2132" cy="1315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" name="Line 10">
                <a:extLst>
                  <a:ext uri="{FF2B5EF4-FFF2-40B4-BE49-F238E27FC236}">
                    <a16:creationId xmlns:a16="http://schemas.microsoft.com/office/drawing/2014/main" id="{FC73D8E9-9C37-4E4A-A7F0-A31535A04A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6" y="2432"/>
                <a:ext cx="2540" cy="0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</p:grp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90A286CE-9911-9747-A8ED-DA6E68ACBC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1" y="1480"/>
              <a:ext cx="4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/>
                <a:t>b</a:t>
              </a:r>
            </a:p>
          </p:txBody>
        </p:sp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28BD014C-050D-A343-8DFD-B500E5A3D7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2416"/>
              <a:ext cx="4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>
                  <a:solidFill>
                    <a:srgbClr val="362DE3"/>
                  </a:solidFill>
                </a:rPr>
                <a:t>f</a:t>
              </a:r>
            </a:p>
          </p:txBody>
        </p:sp>
        <p:sp>
          <p:nvSpPr>
            <p:cNvPr id="19" name="Text Box 17">
              <a:extLst>
                <a:ext uri="{FF2B5EF4-FFF2-40B4-BE49-F238E27FC236}">
                  <a16:creationId xmlns:a16="http://schemas.microsoft.com/office/drawing/2014/main" id="{2FA3C9CF-8C0D-4347-BA56-9211D7B00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1480"/>
              <a:ext cx="4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>
                  <a:solidFill>
                    <a:srgbClr val="E33D3D"/>
                  </a:solidFill>
                </a:rPr>
                <a:t>d</a:t>
              </a:r>
            </a:p>
          </p:txBody>
        </p:sp>
      </p:grpSp>
      <p:grpSp>
        <p:nvGrpSpPr>
          <p:cNvPr id="23" name="Group 20">
            <a:extLst>
              <a:ext uri="{FF2B5EF4-FFF2-40B4-BE49-F238E27FC236}">
                <a16:creationId xmlns:a16="http://schemas.microsoft.com/office/drawing/2014/main" id="{7E2C6509-98BB-CE41-B8A6-E49F412B92A9}"/>
              </a:ext>
            </a:extLst>
          </p:cNvPr>
          <p:cNvGrpSpPr>
            <a:grpSpLocks/>
          </p:cNvGrpSpPr>
          <p:nvPr/>
        </p:nvGrpSpPr>
        <p:grpSpPr bwMode="auto">
          <a:xfrm>
            <a:off x="1650056" y="2948845"/>
            <a:ext cx="2520950" cy="1425575"/>
            <a:chOff x="884" y="1298"/>
            <a:chExt cx="1588" cy="898"/>
          </a:xfrm>
        </p:grpSpPr>
        <p:grpSp>
          <p:nvGrpSpPr>
            <p:cNvPr id="24" name="Group 12">
              <a:extLst>
                <a:ext uri="{FF2B5EF4-FFF2-40B4-BE49-F238E27FC236}">
                  <a16:creationId xmlns:a16="http://schemas.microsoft.com/office/drawing/2014/main" id="{E610A92C-3511-DD44-A215-242FB935DA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" y="1298"/>
              <a:ext cx="1497" cy="681"/>
              <a:chOff x="975" y="1298"/>
              <a:chExt cx="1497" cy="681"/>
            </a:xfrm>
          </p:grpSpPr>
          <p:sp>
            <p:nvSpPr>
              <p:cNvPr id="28" name="Line 5">
                <a:extLst>
                  <a:ext uri="{FF2B5EF4-FFF2-40B4-BE49-F238E27FC236}">
                    <a16:creationId xmlns:a16="http://schemas.microsoft.com/office/drawing/2014/main" id="{C9E175ED-F72E-E14B-B59C-8DD53A5191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75" y="1298"/>
                <a:ext cx="227" cy="681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9" name="Line 6">
                <a:extLst>
                  <a:ext uri="{FF2B5EF4-FFF2-40B4-BE49-F238E27FC236}">
                    <a16:creationId xmlns:a16="http://schemas.microsoft.com/office/drawing/2014/main" id="{0EE62696-E6EE-5A41-A562-A45F2DB0B2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2" y="1298"/>
                <a:ext cx="1270" cy="681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0" name="Line 7">
                <a:extLst>
                  <a:ext uri="{FF2B5EF4-FFF2-40B4-BE49-F238E27FC236}">
                    <a16:creationId xmlns:a16="http://schemas.microsoft.com/office/drawing/2014/main" id="{6E7D933F-DAB3-0942-8FA6-10DACBBB06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75" y="1979"/>
                <a:ext cx="1497" cy="0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</p:grpSp>
        <p:sp>
          <p:nvSpPr>
            <p:cNvPr id="25" name="Text Box 13">
              <a:extLst>
                <a:ext uri="{FF2B5EF4-FFF2-40B4-BE49-F238E27FC236}">
                  <a16:creationId xmlns:a16="http://schemas.microsoft.com/office/drawing/2014/main" id="{87231041-65B1-8748-9A65-99DBBDC40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1963"/>
              <a:ext cx="4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>
                  <a:solidFill>
                    <a:srgbClr val="362DE3"/>
                  </a:solidFill>
                </a:rPr>
                <a:t>e</a:t>
              </a:r>
            </a:p>
          </p:txBody>
        </p:sp>
        <p:sp>
          <p:nvSpPr>
            <p:cNvPr id="26" name="Text Box 15">
              <a:extLst>
                <a:ext uri="{FF2B5EF4-FFF2-40B4-BE49-F238E27FC236}">
                  <a16:creationId xmlns:a16="http://schemas.microsoft.com/office/drawing/2014/main" id="{8084A307-22FF-0E4F-B58F-8F00C49693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7" y="1434"/>
              <a:ext cx="4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 dirty="0"/>
                <a:t>a</a:t>
              </a:r>
            </a:p>
          </p:txBody>
        </p:sp>
        <p:sp>
          <p:nvSpPr>
            <p:cNvPr id="27" name="Text Box 18">
              <a:extLst>
                <a:ext uri="{FF2B5EF4-FFF2-40B4-BE49-F238E27FC236}">
                  <a16:creationId xmlns:a16="http://schemas.microsoft.com/office/drawing/2014/main" id="{3DD74470-5DD6-9B4D-A466-7C9F44CBD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1434"/>
              <a:ext cx="4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>
                  <a:solidFill>
                    <a:srgbClr val="E33D3D"/>
                  </a:solidFill>
                </a:rPr>
                <a:t>c</a:t>
              </a:r>
            </a:p>
          </p:txBody>
        </p:sp>
      </p:grpSp>
      <p:graphicFrame>
        <p:nvGraphicFramePr>
          <p:cNvPr id="31" name="Object 19">
            <a:extLst>
              <a:ext uri="{FF2B5EF4-FFF2-40B4-BE49-F238E27FC236}">
                <a16:creationId xmlns:a16="http://schemas.microsoft.com/office/drawing/2014/main" id="{FF23D317-5EA3-7C4D-B05D-ABDB28106B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1394567"/>
              </p:ext>
            </p:extLst>
          </p:nvPr>
        </p:nvGraphicFramePr>
        <p:xfrm>
          <a:off x="2046137" y="4962911"/>
          <a:ext cx="2447925" cy="144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3" imgW="711000" imgH="419040" progId="Equation.3">
                  <p:embed/>
                </p:oleObj>
              </mc:Choice>
              <mc:Fallback>
                <p:oleObj name="Equation" r:id="rId3" imgW="711000" imgH="419040" progId="Equation.3">
                  <p:embed/>
                  <p:pic>
                    <p:nvPicPr>
                      <p:cNvPr id="1742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137" y="4962911"/>
                        <a:ext cx="2447925" cy="1443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22">
            <a:extLst>
              <a:ext uri="{FF2B5EF4-FFF2-40B4-BE49-F238E27FC236}">
                <a16:creationId xmlns:a16="http://schemas.microsoft.com/office/drawing/2014/main" id="{9B88E857-3198-A447-94F1-F13620B59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593" y="5620495"/>
            <a:ext cx="60483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400" dirty="0">
                <a:solidFill>
                  <a:srgbClr val="362DE3"/>
                </a:solidFill>
              </a:rPr>
              <a:t>Provided they’re similar, that is, the angles of one are equal to angles of the other</a:t>
            </a:r>
          </a:p>
        </p:txBody>
      </p:sp>
    </p:spTree>
    <p:extLst>
      <p:ext uri="{BB962C8B-B14F-4D97-AF65-F5344CB8AC3E}">
        <p14:creationId xmlns:p14="http://schemas.microsoft.com/office/powerpoint/2010/main" val="894875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76EA31B-277D-1046-93E6-7C4284289DC3}"/>
              </a:ext>
            </a:extLst>
          </p:cNvPr>
          <p:cNvSpPr txBox="1"/>
          <p:nvPr/>
        </p:nvSpPr>
        <p:spPr>
          <a:xfrm>
            <a:off x="105104" y="521905"/>
            <a:ext cx="11939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Trigonometry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relationship between an angle and the labelling of sides in a triangle?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996AD9E0-718E-8549-ABB1-A0626CEE41B8}"/>
              </a:ext>
            </a:extLst>
          </p:cNvPr>
          <p:cNvSpPr txBox="1">
            <a:spLocks/>
          </p:cNvSpPr>
          <p:nvPr/>
        </p:nvSpPr>
        <p:spPr>
          <a:xfrm>
            <a:off x="330200" y="2006601"/>
            <a:ext cx="11379200" cy="46228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/>
              <a:t>Trigonometry helps us find angles and side lengths in a triangle. It is used in science, engineering, video games and more. </a:t>
            </a:r>
          </a:p>
          <a:p>
            <a:pPr marL="0" indent="0">
              <a:buNone/>
            </a:pPr>
            <a:endParaRPr lang="en-GB" sz="2800" dirty="0"/>
          </a:p>
          <a:p>
            <a:r>
              <a:rPr lang="en-GB" sz="2800" dirty="0"/>
              <a:t>Trigonometry uses three functions, these are called:</a:t>
            </a:r>
          </a:p>
          <a:p>
            <a:pPr lvl="1"/>
            <a:r>
              <a:rPr lang="en-GB" sz="2800" dirty="0">
                <a:solidFill>
                  <a:schemeClr val="accent6">
                    <a:lumMod val="50000"/>
                  </a:schemeClr>
                </a:solidFill>
              </a:rPr>
              <a:t>Sine (shortened to Sin and pronounced “sign”)</a:t>
            </a:r>
          </a:p>
          <a:p>
            <a:pPr lvl="1"/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Cosine (shortened to Cos)</a:t>
            </a:r>
          </a:p>
          <a:p>
            <a:pPr lvl="1"/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Tangent (shortened to Tan)</a:t>
            </a:r>
          </a:p>
          <a:p>
            <a:pPr lvl="1"/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 algn="ctr">
              <a:buNone/>
            </a:pPr>
            <a:r>
              <a:rPr lang="en-GB" sz="3200" dirty="0">
                <a:solidFill>
                  <a:srgbClr val="FF0000"/>
                </a:solidFill>
              </a:rPr>
              <a:t>Before we learn about these functions, we need to be able to accurately label the sides of a triangle</a:t>
            </a:r>
          </a:p>
        </p:txBody>
      </p:sp>
    </p:spTree>
    <p:extLst>
      <p:ext uri="{BB962C8B-B14F-4D97-AF65-F5344CB8AC3E}">
        <p14:creationId xmlns:p14="http://schemas.microsoft.com/office/powerpoint/2010/main" val="114170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76EA31B-277D-1046-93E6-7C4284289DC3}"/>
              </a:ext>
            </a:extLst>
          </p:cNvPr>
          <p:cNvSpPr txBox="1"/>
          <p:nvPr/>
        </p:nvSpPr>
        <p:spPr>
          <a:xfrm>
            <a:off x="105104" y="521905"/>
            <a:ext cx="11939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Trigonometry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relationship between an angle and the labelling of sides in a triangle?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996AD9E0-718E-8549-ABB1-A0626CEE41B8}"/>
              </a:ext>
            </a:extLst>
          </p:cNvPr>
          <p:cNvSpPr txBox="1">
            <a:spLocks/>
          </p:cNvSpPr>
          <p:nvPr/>
        </p:nvSpPr>
        <p:spPr>
          <a:xfrm>
            <a:off x="330200" y="2006601"/>
            <a:ext cx="11379200" cy="46228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/>
              <a:t>But before that, a video. Check the 2:15 mark for an answer to the age old student question of “when am I ever going to use this?”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sz="2800" dirty="0">
                <a:hlinkClick r:id="rId3"/>
              </a:rPr>
              <a:t>https://ed.ted.com/lessons/pixar-the-math-behind-the-movies-tony-derose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743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76EA31B-277D-1046-93E6-7C4284289DC3}"/>
              </a:ext>
            </a:extLst>
          </p:cNvPr>
          <p:cNvSpPr txBox="1"/>
          <p:nvPr/>
        </p:nvSpPr>
        <p:spPr>
          <a:xfrm>
            <a:off x="105104" y="521905"/>
            <a:ext cx="11939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Trigonometry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relationship between an angle and the labelling of sides in a triangle?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B2B43D32-C434-EF41-B88E-CAA3ECCCC2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486" y="1532381"/>
            <a:ext cx="9628632" cy="1362113"/>
          </a:xfrm>
        </p:spPr>
        <p:txBody>
          <a:bodyPr/>
          <a:lstStyle/>
          <a:p>
            <a:pPr eaLnBrk="1" hangingPunct="1"/>
            <a:r>
              <a:rPr lang="en-US" altLang="en-US" u="sng" dirty="0">
                <a:solidFill>
                  <a:schemeClr val="tx2"/>
                </a:solidFill>
              </a:rPr>
              <a:t>Parts of a Right Triangle</a:t>
            </a:r>
          </a:p>
        </p:txBody>
      </p:sp>
      <p:graphicFrame>
        <p:nvGraphicFramePr>
          <p:cNvPr id="15" name="Object 4">
            <a:extLst>
              <a:ext uri="{FF2B5EF4-FFF2-40B4-BE49-F238E27FC236}">
                <a16:creationId xmlns:a16="http://schemas.microsoft.com/office/drawing/2014/main" id="{4E4B0688-A5E3-7648-A442-CA5A00966FFC}"/>
              </a:ext>
            </a:extLst>
          </p:cNvPr>
          <p:cNvGraphicFramePr>
            <a:graphicFrameLocks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44504376"/>
              </p:ext>
            </p:extLst>
          </p:nvPr>
        </p:nvGraphicFramePr>
        <p:xfrm>
          <a:off x="2325627" y="2968245"/>
          <a:ext cx="3975100" cy="188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8" name="Drawing" r:id="rId3" imgW="1625600" imgH="774700" progId="Presentations.Drawing.10">
                  <p:embed/>
                </p:oleObj>
              </mc:Choice>
              <mc:Fallback>
                <p:oleObj name="Drawing" r:id="rId3" imgW="1625600" imgH="774700" progId="Presentations.Drawing.10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90CFEF7C-F98F-2B49-90C3-6683239862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627" y="2968245"/>
                        <a:ext cx="3975100" cy="188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7">
            <a:extLst>
              <a:ext uri="{FF2B5EF4-FFF2-40B4-BE49-F238E27FC236}">
                <a16:creationId xmlns:a16="http://schemas.microsoft.com/office/drawing/2014/main" id="{A30F9939-E7F2-954C-8439-125215ED2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5729" y="5631558"/>
            <a:ext cx="243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7" name="Object 11">
            <a:extLst>
              <a:ext uri="{FF2B5EF4-FFF2-40B4-BE49-F238E27FC236}">
                <a16:creationId xmlns:a16="http://schemas.microsoft.com/office/drawing/2014/main" id="{8E80211B-3D15-9E4B-BD95-0265043E71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9454589"/>
              </p:ext>
            </p:extLst>
          </p:nvPr>
        </p:nvGraphicFramePr>
        <p:xfrm>
          <a:off x="6440428" y="4155695"/>
          <a:ext cx="479425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9" name="Drawing" r:id="rId5" imgW="127000" imgH="177800" progId="Presentations.Drawing.10">
                  <p:embed/>
                </p:oleObj>
              </mc:Choice>
              <mc:Fallback>
                <p:oleObj name="Drawing" r:id="rId5" imgW="127000" imgH="177800" progId="Presentations.Drawing.10">
                  <p:embed/>
                  <p:pic>
                    <p:nvPicPr>
                      <p:cNvPr id="6" name="Object 11">
                        <a:extLst>
                          <a:ext uri="{FF2B5EF4-FFF2-40B4-BE49-F238E27FC236}">
                            <a16:creationId xmlns:a16="http://schemas.microsoft.com/office/drawing/2014/main" id="{D44E6257-6135-E848-A8E6-E5CB5E8A65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0428" y="4155695"/>
                        <a:ext cx="479425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2">
            <a:extLst>
              <a:ext uri="{FF2B5EF4-FFF2-40B4-BE49-F238E27FC236}">
                <a16:creationId xmlns:a16="http://schemas.microsoft.com/office/drawing/2014/main" id="{7AED1830-F590-9647-8521-690F424A13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0913021"/>
              </p:ext>
            </p:extLst>
          </p:nvPr>
        </p:nvGraphicFramePr>
        <p:xfrm>
          <a:off x="3506727" y="4855782"/>
          <a:ext cx="20574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0" name="Drawing" r:id="rId7" imgW="838200" imgH="177800" progId="Presentations.Drawing.10">
                  <p:embed/>
                </p:oleObj>
              </mc:Choice>
              <mc:Fallback>
                <p:oleObj name="Drawing" r:id="rId7" imgW="838200" imgH="177800" progId="Presentations.Drawing.10">
                  <p:embed/>
                  <p:pic>
                    <p:nvPicPr>
                      <p:cNvPr id="7" name="Object 12">
                        <a:extLst>
                          <a:ext uri="{FF2B5EF4-FFF2-40B4-BE49-F238E27FC236}">
                            <a16:creationId xmlns:a16="http://schemas.microsoft.com/office/drawing/2014/main" id="{BD3EAE98-0D1B-2B47-964D-3511FC32BB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6727" y="4855782"/>
                        <a:ext cx="20574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3">
            <a:extLst>
              <a:ext uri="{FF2B5EF4-FFF2-40B4-BE49-F238E27FC236}">
                <a16:creationId xmlns:a16="http://schemas.microsoft.com/office/drawing/2014/main" id="{32BF2BA7-3100-0142-95A9-77B001CC7A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424709"/>
              </p:ext>
            </p:extLst>
          </p:nvPr>
        </p:nvGraphicFramePr>
        <p:xfrm>
          <a:off x="2020828" y="4550981"/>
          <a:ext cx="3857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1" name="Drawing" r:id="rId9" imgW="114300" imgH="177800" progId="Presentations.Drawing.10">
                  <p:embed/>
                </p:oleObj>
              </mc:Choice>
              <mc:Fallback>
                <p:oleObj name="Drawing" r:id="rId9" imgW="114300" imgH="177800" progId="Presentations.Drawing.10">
                  <p:embed/>
                  <p:pic>
                    <p:nvPicPr>
                      <p:cNvPr id="8" name="Object 13">
                        <a:extLst>
                          <a:ext uri="{FF2B5EF4-FFF2-40B4-BE49-F238E27FC236}">
                            <a16:creationId xmlns:a16="http://schemas.microsoft.com/office/drawing/2014/main" id="{0AE1137E-1683-084B-818A-3FFCEF3FB3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828" y="4550981"/>
                        <a:ext cx="3857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4">
            <a:extLst>
              <a:ext uri="{FF2B5EF4-FFF2-40B4-BE49-F238E27FC236}">
                <a16:creationId xmlns:a16="http://schemas.microsoft.com/office/drawing/2014/main" id="{24878FED-36B4-224C-BE61-4B071FAE90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943696"/>
              </p:ext>
            </p:extLst>
          </p:nvPr>
        </p:nvGraphicFramePr>
        <p:xfrm>
          <a:off x="192027" y="3560382"/>
          <a:ext cx="22098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2" name="Drawing" r:id="rId11" imgW="838200" imgH="177800" progId="Presentations.Drawing.10">
                  <p:embed/>
                </p:oleObj>
              </mc:Choice>
              <mc:Fallback>
                <p:oleObj name="Drawing" r:id="rId11" imgW="838200" imgH="177800" progId="Presentations.Drawing.10">
                  <p:embed/>
                  <p:pic>
                    <p:nvPicPr>
                      <p:cNvPr id="9" name="Object 14">
                        <a:extLst>
                          <a:ext uri="{FF2B5EF4-FFF2-40B4-BE49-F238E27FC236}">
                            <a16:creationId xmlns:a16="http://schemas.microsoft.com/office/drawing/2014/main" id="{DA588273-E38A-0B4F-B699-2432489C86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27" y="3560382"/>
                        <a:ext cx="22098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5">
            <a:extLst>
              <a:ext uri="{FF2B5EF4-FFF2-40B4-BE49-F238E27FC236}">
                <a16:creationId xmlns:a16="http://schemas.microsoft.com/office/drawing/2014/main" id="{317F7331-9675-E240-A01F-75D6896A6F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869843"/>
              </p:ext>
            </p:extLst>
          </p:nvPr>
        </p:nvGraphicFramePr>
        <p:xfrm>
          <a:off x="2020828" y="2645981"/>
          <a:ext cx="3841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3" name="Drawing" r:id="rId13" imgW="114300" imgH="177800" progId="Presentations.Drawing.10">
                  <p:embed/>
                </p:oleObj>
              </mc:Choice>
              <mc:Fallback>
                <p:oleObj name="Drawing" r:id="rId13" imgW="114300" imgH="177800" progId="Presentations.Drawing.10">
                  <p:embed/>
                  <p:pic>
                    <p:nvPicPr>
                      <p:cNvPr id="11" name="Object 15">
                        <a:extLst>
                          <a:ext uri="{FF2B5EF4-FFF2-40B4-BE49-F238E27FC236}">
                            <a16:creationId xmlns:a16="http://schemas.microsoft.com/office/drawing/2014/main" id="{D87FBB52-62E2-3B49-B8E1-33D2D2F6EC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828" y="2645981"/>
                        <a:ext cx="3841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6">
            <a:extLst>
              <a:ext uri="{FF2B5EF4-FFF2-40B4-BE49-F238E27FC236}">
                <a16:creationId xmlns:a16="http://schemas.microsoft.com/office/drawing/2014/main" id="{A3F25CE9-BEE0-E448-9D95-9CC3057D09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818338"/>
              </p:ext>
            </p:extLst>
          </p:nvPr>
        </p:nvGraphicFramePr>
        <p:xfrm>
          <a:off x="3849627" y="3103181"/>
          <a:ext cx="20383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4" name="Drawing" r:id="rId15" imgW="723900" imgH="177800" progId="Presentations.Drawing.10">
                  <p:embed/>
                </p:oleObj>
              </mc:Choice>
              <mc:Fallback>
                <p:oleObj name="Drawing" r:id="rId15" imgW="723900" imgH="177800" progId="Presentations.Drawing.10">
                  <p:embed/>
                  <p:pic>
                    <p:nvPicPr>
                      <p:cNvPr id="12" name="Object 16">
                        <a:extLst>
                          <a:ext uri="{FF2B5EF4-FFF2-40B4-BE49-F238E27FC236}">
                            <a16:creationId xmlns:a16="http://schemas.microsoft.com/office/drawing/2014/main" id="{8EAD45A2-8329-8E41-B623-AD51556EB7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9627" y="3103181"/>
                        <a:ext cx="203835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7">
            <a:extLst>
              <a:ext uri="{FF2B5EF4-FFF2-40B4-BE49-F238E27FC236}">
                <a16:creationId xmlns:a16="http://schemas.microsoft.com/office/drawing/2014/main" id="{7DC7B8CC-14CE-EC4D-93B8-BE0F841C39BF}"/>
              </a:ext>
            </a:extLst>
          </p:cNvPr>
          <p:cNvSpPr txBox="1">
            <a:spLocks noChangeArrowheads="1"/>
          </p:cNvSpPr>
          <p:nvPr/>
        </p:nvSpPr>
        <p:spPr>
          <a:xfrm>
            <a:off x="1419249" y="5708812"/>
            <a:ext cx="5293841" cy="9264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800" dirty="0"/>
              <a:t>Imagine that you are at Angle A looking into the triangle. </a:t>
            </a:r>
          </a:p>
        </p:txBody>
      </p:sp>
      <p:sp>
        <p:nvSpPr>
          <p:cNvPr id="24" name="Text Box 18">
            <a:extLst>
              <a:ext uri="{FF2B5EF4-FFF2-40B4-BE49-F238E27FC236}">
                <a16:creationId xmlns:a16="http://schemas.microsoft.com/office/drawing/2014/main" id="{FE92C04F-85F3-5B48-9244-FFBA48F62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5351" y="5756546"/>
            <a:ext cx="423066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/>
              <a:t>The adjacent side is the side next to Angle A.</a:t>
            </a:r>
          </a:p>
        </p:txBody>
      </p:sp>
      <p:sp>
        <p:nvSpPr>
          <p:cNvPr id="25" name="Text Box 19">
            <a:extLst>
              <a:ext uri="{FF2B5EF4-FFF2-40B4-BE49-F238E27FC236}">
                <a16:creationId xmlns:a16="http://schemas.microsoft.com/office/drawing/2014/main" id="{20EE618B-9D35-0B47-9774-5FDE8358B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1042" y="3950816"/>
            <a:ext cx="423066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/>
              <a:t>The opposite side is the side that is on the opposite side of the triangle from Angle A.</a:t>
            </a:r>
          </a:p>
        </p:txBody>
      </p:sp>
      <p:sp>
        <p:nvSpPr>
          <p:cNvPr id="26" name="Text Box 20">
            <a:extLst>
              <a:ext uri="{FF2B5EF4-FFF2-40B4-BE49-F238E27FC236}">
                <a16:creationId xmlns:a16="http://schemas.microsoft.com/office/drawing/2014/main" id="{7ECBF1D9-FE14-764C-B34F-147430FC2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5351" y="2015382"/>
            <a:ext cx="432578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/>
              <a:t>The hypotenuse will always be the longest side, and opposite from the right angle. </a:t>
            </a:r>
          </a:p>
        </p:txBody>
      </p:sp>
      <p:sp>
        <p:nvSpPr>
          <p:cNvPr id="27" name="Text Box 21">
            <a:extLst>
              <a:ext uri="{FF2B5EF4-FFF2-40B4-BE49-F238E27FC236}">
                <a16:creationId xmlns:a16="http://schemas.microsoft.com/office/drawing/2014/main" id="{D09CBBE7-F2A3-C04F-9E34-252D08577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27" y="4093782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" name="AutoShape 22">
            <a:extLst>
              <a:ext uri="{FF2B5EF4-FFF2-40B4-BE49-F238E27FC236}">
                <a16:creationId xmlns:a16="http://schemas.microsoft.com/office/drawing/2014/main" id="{6D02B5B4-0DB8-BB42-9488-340B77CF1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9227" y="3407981"/>
            <a:ext cx="381000" cy="304800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262665F-C014-9B4C-A9B7-C8FB0D1E82BA}"/>
              </a:ext>
            </a:extLst>
          </p:cNvPr>
          <p:cNvCxnSpPr>
            <a:cxnSpLocks/>
          </p:cNvCxnSpPr>
          <p:nvPr/>
        </p:nvCxnSpPr>
        <p:spPr>
          <a:xfrm flipH="1" flipV="1">
            <a:off x="2541529" y="3791364"/>
            <a:ext cx="2531512" cy="58448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21AA8188-CD05-BD43-B25C-F9BA1A8C60AB}"/>
              </a:ext>
            </a:extLst>
          </p:cNvPr>
          <p:cNvCxnSpPr>
            <a:cxnSpLocks/>
          </p:cNvCxnSpPr>
          <p:nvPr/>
        </p:nvCxnSpPr>
        <p:spPr>
          <a:xfrm rot="10800000" flipV="1">
            <a:off x="4373832" y="4414739"/>
            <a:ext cx="655637" cy="352425"/>
          </a:xfrm>
          <a:prstGeom prst="curvedConnector2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6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1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0.0007 C -0.00495 -0.00393 -0.02174 -0.00833 -0.0276 -0.00833 C -0.06484 -0.00833 -0.10299 0.06505 -0.10299 0.13843 C -0.10299 0.10093 -0.12214 0.06505 -0.14023 0.06505 C -0.15937 0.06505 -0.17747 0.10185 -0.17747 0.13843 C -0.17747 0.11991 -0.18698 0.10093 -0.19648 0.10093 C -0.20612 0.10093 -0.21562 0.11945 -0.21562 0.13843 C -0.21562 0.12871 -0.22031 0.11991 -0.22513 0.11991 C -0.22982 0.11991 -0.23477 0.12917 -0.23477 0.13843 C -0.23477 0.13334 -0.23724 0.12871 -0.23945 0.12871 C -0.24062 0.12871 -0.24427 0.13334 -0.24427 0.13843 C -0.24427 0.13565 -0.24557 0.13334 -0.24674 0.13334 C -0.24674 0.13287 -0.24922 0.13565 -0.24922 0.13843 C -0.24922 0.13681 -0.24922 0.13565 -0.25052 0.13565 C -0.25052 0.13635 -0.25156 0.13681 -0.25156 0.13843 C -0.25156 0.13727 -0.25156 0.13681 -0.25156 0.13635 C -0.25312 0.13635 -0.25312 0.13681 -0.25312 0.1375 C -0.25417 0.1375 -0.25417 0.13681 -0.25417 0.13635 C -0.25521 0.13635 -0.25521 0.13681 -0.25521 0.1375 " pathEditMode="relative" rAng="0" ptsTypes="AAAAAAAAAAAAAAAAAAA">
                                      <p:cBhvr>
                                        <p:cTn id="3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760" y="6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  <p:bldP spid="24" grpId="0"/>
      <p:bldP spid="25" grpId="0"/>
      <p:bldP spid="26" grpId="0"/>
      <p:bldP spid="28" grpId="0" animBg="1"/>
      <p:bldP spid="28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76EA31B-277D-1046-93E6-7C4284289DC3}"/>
              </a:ext>
            </a:extLst>
          </p:cNvPr>
          <p:cNvSpPr txBox="1"/>
          <p:nvPr/>
        </p:nvSpPr>
        <p:spPr>
          <a:xfrm>
            <a:off x="105104" y="521905"/>
            <a:ext cx="11939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Trigonometry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relationship between an angle and the labelling of sides in a triangle?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84B37A8-2442-D040-AC80-CFFC93F2DA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9263" y="1578452"/>
            <a:ext cx="9628632" cy="1362113"/>
          </a:xfrm>
        </p:spPr>
        <p:txBody>
          <a:bodyPr/>
          <a:lstStyle/>
          <a:p>
            <a:pPr eaLnBrk="1" hangingPunct="1"/>
            <a:r>
              <a:rPr lang="en-US" altLang="en-US" u="sng" dirty="0">
                <a:solidFill>
                  <a:schemeClr val="tx2"/>
                </a:solidFill>
              </a:rPr>
              <a:t>Parts of a Right Triangle</a:t>
            </a:r>
          </a:p>
        </p:txBody>
      </p:sp>
      <p:graphicFrame>
        <p:nvGraphicFramePr>
          <p:cNvPr id="14" name="Object 3">
            <a:extLst>
              <a:ext uri="{FF2B5EF4-FFF2-40B4-BE49-F238E27FC236}">
                <a16:creationId xmlns:a16="http://schemas.microsoft.com/office/drawing/2014/main" id="{8530AAB1-7C2D-C046-AFE4-2847CACB1B0A}"/>
              </a:ext>
            </a:extLst>
          </p:cNvPr>
          <p:cNvGraphicFramePr>
            <a:graphicFrameLocks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31258988"/>
              </p:ext>
            </p:extLst>
          </p:nvPr>
        </p:nvGraphicFramePr>
        <p:xfrm>
          <a:off x="2412863" y="3262829"/>
          <a:ext cx="3975100" cy="188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6" name="Drawing" r:id="rId3" imgW="1625600" imgH="774700" progId="Presentations.Drawing.10">
                  <p:embed/>
                </p:oleObj>
              </mc:Choice>
              <mc:Fallback>
                <p:oleObj name="Drawing" r:id="rId3" imgW="1625600" imgH="774700" progId="Presentations.Drawing.10">
                  <p:embed/>
                  <p:pic>
                    <p:nvPicPr>
                      <p:cNvPr id="8195" name="Object 3">
                        <a:extLst>
                          <a:ext uri="{FF2B5EF4-FFF2-40B4-BE49-F238E27FC236}">
                            <a16:creationId xmlns:a16="http://schemas.microsoft.com/office/drawing/2014/main" id="{FE7A85C6-7086-474F-A632-0B840DAE98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2863" y="3262829"/>
                        <a:ext cx="3975100" cy="188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4">
            <a:extLst>
              <a:ext uri="{FF2B5EF4-FFF2-40B4-BE49-F238E27FC236}">
                <a16:creationId xmlns:a16="http://schemas.microsoft.com/office/drawing/2014/main" id="{EBC93F30-6DE7-B443-A2AC-E7EFC2B2A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263" y="5912366"/>
            <a:ext cx="243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6" name="Object 5">
            <a:extLst>
              <a:ext uri="{FF2B5EF4-FFF2-40B4-BE49-F238E27FC236}">
                <a16:creationId xmlns:a16="http://schemas.microsoft.com/office/drawing/2014/main" id="{CDEB102F-7E52-4448-9A00-AD3D0B0D8C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814896"/>
              </p:ext>
            </p:extLst>
          </p:nvPr>
        </p:nvGraphicFramePr>
        <p:xfrm>
          <a:off x="6527664" y="4450279"/>
          <a:ext cx="479425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7" name="Drawing" r:id="rId5" imgW="127000" imgH="177800" progId="Presentations.Drawing.10">
                  <p:embed/>
                </p:oleObj>
              </mc:Choice>
              <mc:Fallback>
                <p:oleObj name="Drawing" r:id="rId5" imgW="127000" imgH="177800" progId="Presentations.Drawing.10">
                  <p:embed/>
                  <p:pic>
                    <p:nvPicPr>
                      <p:cNvPr id="8197" name="Object 5">
                        <a:extLst>
                          <a:ext uri="{FF2B5EF4-FFF2-40B4-BE49-F238E27FC236}">
                            <a16:creationId xmlns:a16="http://schemas.microsoft.com/office/drawing/2014/main" id="{C8D13071-2349-C149-8760-4212D3EE97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664" y="4450279"/>
                        <a:ext cx="479425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>
            <a:extLst>
              <a:ext uri="{FF2B5EF4-FFF2-40B4-BE49-F238E27FC236}">
                <a16:creationId xmlns:a16="http://schemas.microsoft.com/office/drawing/2014/main" id="{D91DF640-6D60-CF4C-B8D8-C8D76CF5DD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5504178"/>
              </p:ext>
            </p:extLst>
          </p:nvPr>
        </p:nvGraphicFramePr>
        <p:xfrm>
          <a:off x="3593963" y="5150366"/>
          <a:ext cx="20574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8" name="Drawing" r:id="rId7" imgW="838200" imgH="177800" progId="Presentations.Drawing.10">
                  <p:embed/>
                </p:oleObj>
              </mc:Choice>
              <mc:Fallback>
                <p:oleObj name="Drawing" r:id="rId7" imgW="838200" imgH="177800" progId="Presentations.Drawing.10">
                  <p:embed/>
                  <p:pic>
                    <p:nvPicPr>
                      <p:cNvPr id="8198" name="Object 6">
                        <a:extLst>
                          <a:ext uri="{FF2B5EF4-FFF2-40B4-BE49-F238E27FC236}">
                            <a16:creationId xmlns:a16="http://schemas.microsoft.com/office/drawing/2014/main" id="{5C9E8D04-73F1-564C-A0D1-408782A842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3963" y="5150366"/>
                        <a:ext cx="20574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7">
            <a:extLst>
              <a:ext uri="{FF2B5EF4-FFF2-40B4-BE49-F238E27FC236}">
                <a16:creationId xmlns:a16="http://schemas.microsoft.com/office/drawing/2014/main" id="{8701DFB1-4CD4-FC46-B998-CDDDACEE47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596937"/>
              </p:ext>
            </p:extLst>
          </p:nvPr>
        </p:nvGraphicFramePr>
        <p:xfrm>
          <a:off x="2108064" y="4845565"/>
          <a:ext cx="3857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9" name="Drawing" r:id="rId9" imgW="114300" imgH="177800" progId="Presentations.Drawing.10">
                  <p:embed/>
                </p:oleObj>
              </mc:Choice>
              <mc:Fallback>
                <p:oleObj name="Drawing" r:id="rId9" imgW="114300" imgH="177800" progId="Presentations.Drawing.10">
                  <p:embed/>
                  <p:pic>
                    <p:nvPicPr>
                      <p:cNvPr id="8199" name="Object 7">
                        <a:extLst>
                          <a:ext uri="{FF2B5EF4-FFF2-40B4-BE49-F238E27FC236}">
                            <a16:creationId xmlns:a16="http://schemas.microsoft.com/office/drawing/2014/main" id="{442B49C7-0502-AB44-93F8-68170DCA07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064" y="4845565"/>
                        <a:ext cx="3857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8">
            <a:extLst>
              <a:ext uri="{FF2B5EF4-FFF2-40B4-BE49-F238E27FC236}">
                <a16:creationId xmlns:a16="http://schemas.microsoft.com/office/drawing/2014/main" id="{FFC925D9-C47E-8F40-BF7E-018193C5BC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624148"/>
              </p:ext>
            </p:extLst>
          </p:nvPr>
        </p:nvGraphicFramePr>
        <p:xfrm>
          <a:off x="279263" y="3854966"/>
          <a:ext cx="22098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0" name="Drawing" r:id="rId11" imgW="838200" imgH="177800" progId="Presentations.Drawing.10">
                  <p:embed/>
                </p:oleObj>
              </mc:Choice>
              <mc:Fallback>
                <p:oleObj name="Drawing" r:id="rId11" imgW="838200" imgH="177800" progId="Presentations.Drawing.10">
                  <p:embed/>
                  <p:pic>
                    <p:nvPicPr>
                      <p:cNvPr id="8200" name="Object 8">
                        <a:extLst>
                          <a:ext uri="{FF2B5EF4-FFF2-40B4-BE49-F238E27FC236}">
                            <a16:creationId xmlns:a16="http://schemas.microsoft.com/office/drawing/2014/main" id="{53FF2482-FF29-3F48-92C0-2FAECF7714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63" y="3854966"/>
                        <a:ext cx="22098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9">
            <a:extLst>
              <a:ext uri="{FF2B5EF4-FFF2-40B4-BE49-F238E27FC236}">
                <a16:creationId xmlns:a16="http://schemas.microsoft.com/office/drawing/2014/main" id="{252E417E-0F2C-6043-85E9-7CD11FBC5E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578230"/>
              </p:ext>
            </p:extLst>
          </p:nvPr>
        </p:nvGraphicFramePr>
        <p:xfrm>
          <a:off x="2108064" y="2940565"/>
          <a:ext cx="3841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1" name="Drawing" r:id="rId13" imgW="114300" imgH="177800" progId="Presentations.Drawing.10">
                  <p:embed/>
                </p:oleObj>
              </mc:Choice>
              <mc:Fallback>
                <p:oleObj name="Drawing" r:id="rId13" imgW="114300" imgH="177800" progId="Presentations.Drawing.10">
                  <p:embed/>
                  <p:pic>
                    <p:nvPicPr>
                      <p:cNvPr id="8201" name="Object 9">
                        <a:extLst>
                          <a:ext uri="{FF2B5EF4-FFF2-40B4-BE49-F238E27FC236}">
                            <a16:creationId xmlns:a16="http://schemas.microsoft.com/office/drawing/2014/main" id="{6DEB4D8E-58CE-D34D-93A3-79BC54E352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064" y="2940565"/>
                        <a:ext cx="3841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0">
            <a:extLst>
              <a:ext uri="{FF2B5EF4-FFF2-40B4-BE49-F238E27FC236}">
                <a16:creationId xmlns:a16="http://schemas.microsoft.com/office/drawing/2014/main" id="{B98B47EA-4806-1448-A7EF-31FADBDC8C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778110"/>
              </p:ext>
            </p:extLst>
          </p:nvPr>
        </p:nvGraphicFramePr>
        <p:xfrm>
          <a:off x="3936863" y="3397765"/>
          <a:ext cx="20383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2" name="Drawing" r:id="rId15" imgW="723900" imgH="177800" progId="Presentations.Drawing.10">
                  <p:embed/>
                </p:oleObj>
              </mc:Choice>
              <mc:Fallback>
                <p:oleObj name="Drawing" r:id="rId15" imgW="723900" imgH="177800" progId="Presentations.Drawing.10">
                  <p:embed/>
                  <p:pic>
                    <p:nvPicPr>
                      <p:cNvPr id="8202" name="Object 10">
                        <a:extLst>
                          <a:ext uri="{FF2B5EF4-FFF2-40B4-BE49-F238E27FC236}">
                            <a16:creationId xmlns:a16="http://schemas.microsoft.com/office/drawing/2014/main" id="{25EB2E5A-9132-0B4D-A3FB-8171E77741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6863" y="3397765"/>
                        <a:ext cx="203835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1">
            <a:extLst>
              <a:ext uri="{FF2B5EF4-FFF2-40B4-BE49-F238E27FC236}">
                <a16:creationId xmlns:a16="http://schemas.microsoft.com/office/drawing/2014/main" id="{36D8261E-1D88-3B4A-938A-33AE90BD2019}"/>
              </a:ext>
            </a:extLst>
          </p:cNvPr>
          <p:cNvSpPr txBox="1">
            <a:spLocks noChangeArrowheads="1"/>
          </p:cNvSpPr>
          <p:nvPr/>
        </p:nvSpPr>
        <p:spPr>
          <a:xfrm>
            <a:off x="1453876" y="5899665"/>
            <a:ext cx="6073345" cy="6949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r>
              <a:rPr lang="en-US" altLang="en-US" sz="2800" dirty="0"/>
              <a:t>Now imagine that you move from Angle A to Angle B.</a:t>
            </a: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B389B7B3-6C18-C149-8123-CF7B46364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776" y="3911307"/>
            <a:ext cx="47545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/>
              <a:t>From Angle B the adjacent side is the side next to Angle B.</a:t>
            </a:r>
          </a:p>
        </p:txBody>
      </p:sp>
      <p:sp>
        <p:nvSpPr>
          <p:cNvPr id="24" name="Text Box 13">
            <a:extLst>
              <a:ext uri="{FF2B5EF4-FFF2-40B4-BE49-F238E27FC236}">
                <a16:creationId xmlns:a16="http://schemas.microsoft.com/office/drawing/2014/main" id="{E29DB6BE-D5A4-494E-AD45-5D3377141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776" y="2097642"/>
            <a:ext cx="446036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/>
              <a:t>From Angle B the opposite side is the side that is on the opposite side of the triangle.</a:t>
            </a:r>
          </a:p>
        </p:txBody>
      </p:sp>
      <p:sp>
        <p:nvSpPr>
          <p:cNvPr id="25" name="Text Box 15">
            <a:extLst>
              <a:ext uri="{FF2B5EF4-FFF2-40B4-BE49-F238E27FC236}">
                <a16:creationId xmlns:a16="http://schemas.microsoft.com/office/drawing/2014/main" id="{D05B5AA6-7228-1640-BBDE-64E0F61C0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0463" y="4464566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" name="AutoShape 16">
            <a:extLst>
              <a:ext uri="{FF2B5EF4-FFF2-40B4-BE49-F238E27FC236}">
                <a16:creationId xmlns:a16="http://schemas.microsoft.com/office/drawing/2014/main" id="{8669702F-89D5-7749-8348-A9CEC22B8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564" y="4693165"/>
            <a:ext cx="381000" cy="304800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" name="Text Box 13">
            <a:extLst>
              <a:ext uri="{FF2B5EF4-FFF2-40B4-BE49-F238E27FC236}">
                <a16:creationId xmlns:a16="http://schemas.microsoft.com/office/drawing/2014/main" id="{036E7B64-EEFB-FF42-843E-77FDCFFBA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4555" y="5168557"/>
            <a:ext cx="446036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u="sng" dirty="0"/>
              <a:t>*Labelling the sides depends on what angle you are using*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7DC5325-6584-7C49-9DEF-3975FC88DC41}"/>
              </a:ext>
            </a:extLst>
          </p:cNvPr>
          <p:cNvCxnSpPr>
            <a:cxnSpLocks/>
          </p:cNvCxnSpPr>
          <p:nvPr/>
        </p:nvCxnSpPr>
        <p:spPr>
          <a:xfrm>
            <a:off x="2946264" y="3794437"/>
            <a:ext cx="1249955" cy="1168602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FB5AA669-170C-C74C-BD68-7B29ACCDBDD8}"/>
              </a:ext>
            </a:extLst>
          </p:cNvPr>
          <p:cNvCxnSpPr/>
          <p:nvPr/>
        </p:nvCxnSpPr>
        <p:spPr>
          <a:xfrm rot="5400000">
            <a:off x="2504144" y="4051818"/>
            <a:ext cx="534987" cy="196850"/>
          </a:xfrm>
          <a:prstGeom prst="curvedConnector2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976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11111E-6 L -0.22878 -0.16852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14" y="-928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0.00278 C -0.08685 0.03774 -0.17201 0.07292 -0.21602 0.04121 C -0.26003 0.00949 -0.25716 -0.14907 -0.26563 -0.18657 " pathEditMode="relative" rAng="0" ptsTypes="AAA">
                                      <p:cBhvr>
                                        <p:cTn id="2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203" y="-6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4.07407E-6 C 0.07162 -0.00811 0.14362 -0.01598 0.19519 0.01551 C 0.24675 0.04699 0.27787 0.11805 0.30912 0.18981 " pathEditMode="relative" rAng="0" ptsTypes="AAA">
                                      <p:cBhvr>
                                        <p:cTn id="3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56" y="912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  <p:bldP spid="23" grpId="0"/>
      <p:bldP spid="24" grpId="0"/>
      <p:bldP spid="26" grpId="0" animBg="1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0" y="4115059"/>
            <a:ext cx="3794159" cy="10063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9496" y="4115059"/>
            <a:ext cx="3794159" cy="10063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59496" y="5843251"/>
            <a:ext cx="3794159" cy="10063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3921" y="4298811"/>
            <a:ext cx="986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1452" y="4298811"/>
            <a:ext cx="878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3922" y="6027003"/>
            <a:ext cx="1045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4007768" y="2114858"/>
            <a:ext cx="3711678" cy="1358619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6380951" y="2985289"/>
            <a:ext cx="495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/>
              <a:t>ϴ</a:t>
            </a:r>
            <a:endParaRPr lang="en-GB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3454093" y="2315473"/>
            <a:ext cx="6944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634" y="731331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2"/>
                </a:solidFill>
              </a:rPr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2135796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939246" y="5169117"/>
            <a:ext cx="2780938" cy="9233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7242" y="5169117"/>
            <a:ext cx="2780938" cy="9233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20062" y="5039569"/>
            <a:ext cx="2867568" cy="11430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36" y="5039569"/>
            <a:ext cx="728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3978" y="4964738"/>
            <a:ext cx="643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8414" y="4964737"/>
            <a:ext cx="766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4251860" y="2201918"/>
            <a:ext cx="3240360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4240344" y="2329658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3601663" y="2771900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432" y="675430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2"/>
                </a:solidFill>
              </a:rPr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93045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3171" y="4395545"/>
            <a:ext cx="3507200" cy="7744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0" y="4422693"/>
            <a:ext cx="3507200" cy="7744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3171" y="5776329"/>
            <a:ext cx="3507200" cy="7744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596" y="4430603"/>
            <a:ext cx="91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0123" y="4447770"/>
            <a:ext cx="811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596" y="5776329"/>
            <a:ext cx="966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2625585" y="2148172"/>
            <a:ext cx="3240360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2625585" y="2301023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4245765" y="2162523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329" y="783186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2"/>
                </a:solidFill>
              </a:rPr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272534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27548" y="5173488"/>
            <a:ext cx="2664296" cy="8858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97429" y="5135404"/>
            <a:ext cx="2681042" cy="8858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4617" y="5145688"/>
            <a:ext cx="2479969" cy="875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141303"/>
            <a:ext cx="848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6994" y="5135404"/>
            <a:ext cx="74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5282" y="5173488"/>
            <a:ext cx="892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 rot="20150453">
            <a:off x="4691843" y="2204719"/>
            <a:ext cx="3240360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4653777" y="2950208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6018790" y="2374695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80" y="841854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2"/>
                </a:solidFill>
              </a:rPr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1223940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44931" y="5137609"/>
            <a:ext cx="2691175" cy="8709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7903" y="5206110"/>
            <a:ext cx="2691175" cy="8709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947896" y="5093822"/>
            <a:ext cx="2691175" cy="8709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81456" y="5260929"/>
            <a:ext cx="704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8462" y="5240746"/>
            <a:ext cx="622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1607" y="5206110"/>
            <a:ext cx="741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 rot="5400000">
            <a:off x="5506414" y="2418715"/>
            <a:ext cx="1585917" cy="230425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6665834" y="2618664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5904072" y="2004077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657" y="738183"/>
            <a:ext cx="784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2"/>
                </a:solidFill>
              </a:rPr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147057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76EA31B-277D-1046-93E6-7C4284289DC3}"/>
              </a:ext>
            </a:extLst>
          </p:cNvPr>
          <p:cNvSpPr txBox="1"/>
          <p:nvPr/>
        </p:nvSpPr>
        <p:spPr>
          <a:xfrm>
            <a:off x="105104" y="521905"/>
            <a:ext cx="11939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Trigonometry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relationship between an angle and the labelling of sides in a triangle?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E89815-049E-C548-9073-E60D1CD54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089" y="1798497"/>
            <a:ext cx="3913821" cy="505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3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Class/Homework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6844" y="2647949"/>
            <a:ext cx="7880874" cy="1776133"/>
          </a:xfrm>
        </p:spPr>
        <p:txBody>
          <a:bodyPr>
            <a:noAutofit/>
          </a:bodyPr>
          <a:lstStyle/>
          <a:p>
            <a:r>
              <a:rPr lang="en-CA" sz="3600" dirty="0"/>
              <a:t>Intro to Trig Worksheet T1 – Labelling triangles</a:t>
            </a:r>
          </a:p>
          <a:p>
            <a:endParaRPr lang="en-CA" sz="3600" dirty="0"/>
          </a:p>
          <a:p>
            <a:r>
              <a:rPr lang="en-CA" sz="3600" dirty="0"/>
              <a:t>Complete your summary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902310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800</Words>
  <Application>Microsoft Macintosh PowerPoint</Application>
  <PresentationFormat>Widescreen</PresentationFormat>
  <Paragraphs>119</Paragraphs>
  <Slides>17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Black</vt:lpstr>
      <vt:lpstr>Calibri</vt:lpstr>
      <vt:lpstr>Century Gothic</vt:lpstr>
      <vt:lpstr>Wingdings</vt:lpstr>
      <vt:lpstr>Education 16x9</vt:lpstr>
      <vt:lpstr>Corel Presentations 10 Drawing</vt:lpstr>
      <vt:lpstr>Equation</vt:lpstr>
      <vt:lpstr>Topic: Trigonometry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Parts of a Right Triangle</vt:lpstr>
      <vt:lpstr>Parts of a Right Triangle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Class/Homework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2019-11-05T09:08:53Z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
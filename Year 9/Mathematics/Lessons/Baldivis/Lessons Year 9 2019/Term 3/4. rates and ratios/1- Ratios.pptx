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0"/>
  </p:notesMasterIdLst>
  <p:sldIdLst>
    <p:sldId id="307" r:id="rId2"/>
    <p:sldId id="312" r:id="rId3"/>
    <p:sldId id="310" r:id="rId4"/>
    <p:sldId id="308" r:id="rId5"/>
    <p:sldId id="306" r:id="rId6"/>
    <p:sldId id="313" r:id="rId7"/>
    <p:sldId id="314" r:id="rId8"/>
    <p:sldId id="309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1" autoAdjust="0"/>
    <p:restoredTop sz="92914" autoAdjust="0"/>
  </p:normalViewPr>
  <p:slideViewPr>
    <p:cSldViewPr>
      <p:cViewPr varScale="1">
        <p:scale>
          <a:sx n="100" d="100"/>
          <a:sy n="100" d="100"/>
        </p:scale>
        <p:origin x="304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26666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34459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88099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6604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74772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9792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61275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35796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48988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59971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959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02495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38942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082103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65816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199064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23844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2735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7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180" y="4221088"/>
            <a:ext cx="4455275" cy="25060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3608" y="692696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Topic: Proportion and Ratios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5013176"/>
            <a:ext cx="2095500" cy="152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2268" y="2245804"/>
            <a:ext cx="7002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EQ: </a:t>
            </a:r>
            <a:r>
              <a:rPr lang="en-AU" dirty="0"/>
              <a:t>EQ – What is a ratio and how is it used?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153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980728"/>
            <a:ext cx="6696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Ratios Song</a:t>
            </a:r>
          </a:p>
          <a:p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=-hcRMJcgpb4</a:t>
            </a:r>
          </a:p>
        </p:txBody>
      </p:sp>
    </p:spTree>
    <p:extLst>
      <p:ext uri="{BB962C8B-B14F-4D97-AF65-F5344CB8AC3E}">
        <p14:creationId xmlns:p14="http://schemas.microsoft.com/office/powerpoint/2010/main" val="1235899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576" y="836712"/>
            <a:ext cx="80648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Warm Up</a:t>
            </a:r>
            <a:endParaRPr lang="en-US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39552" y="2564904"/>
            <a:ext cx="799288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Find the </a:t>
            </a:r>
            <a:r>
              <a:rPr lang="en-US" sz="2400" dirty="0" smtClean="0"/>
              <a:t>Highest </a:t>
            </a:r>
            <a:r>
              <a:rPr lang="en-US" sz="2400" dirty="0" smtClean="0"/>
              <a:t>Common Factor of the following:</a:t>
            </a:r>
          </a:p>
          <a:p>
            <a:pPr algn="ctr"/>
            <a:endParaRPr lang="en-US" sz="2400" dirty="0"/>
          </a:p>
          <a:p>
            <a:pPr marL="342900" indent="-342900" algn="ctr">
              <a:buAutoNum type="alphaLcParenR"/>
            </a:pPr>
            <a:r>
              <a:rPr lang="en-US" sz="2400" dirty="0" smtClean="0"/>
              <a:t>6 and 18</a:t>
            </a:r>
          </a:p>
          <a:p>
            <a:pPr marL="342900" indent="-342900" algn="ctr">
              <a:buAutoNum type="alphaLcParenR"/>
            </a:pPr>
            <a:r>
              <a:rPr lang="en-US" sz="2400" dirty="0" smtClean="0"/>
              <a:t>12 and 16</a:t>
            </a:r>
          </a:p>
          <a:p>
            <a:pPr marL="342900" indent="-342900" algn="ctr">
              <a:buAutoNum type="alphaLcParenR"/>
            </a:pPr>
            <a:r>
              <a:rPr lang="en-US" sz="2400" dirty="0" smtClean="0"/>
              <a:t>6 and 27</a:t>
            </a:r>
          </a:p>
          <a:p>
            <a:pPr marL="342900" indent="-342900" algn="ctr">
              <a:buAutoNum type="alphaLcParenR"/>
            </a:pPr>
            <a:r>
              <a:rPr lang="en-US" sz="2400" dirty="0" smtClean="0"/>
              <a:t>9 and </a:t>
            </a:r>
            <a:r>
              <a:rPr lang="en-US" sz="2400" dirty="0" smtClean="0"/>
              <a:t>30</a:t>
            </a:r>
          </a:p>
          <a:p>
            <a:pPr marL="342900" indent="-342900" algn="ctr">
              <a:buAutoNum type="alphaLcParenR"/>
            </a:pPr>
            <a:r>
              <a:rPr lang="en-US" sz="2400" dirty="0" smtClean="0"/>
              <a:t>27 and 81</a:t>
            </a:r>
            <a:endParaRPr lang="en-US" sz="2400" dirty="0" smtClean="0"/>
          </a:p>
          <a:p>
            <a:pPr marL="342900" indent="-342900" algn="ctr">
              <a:buAutoNum type="alphaLcParenR"/>
            </a:pPr>
            <a:endParaRPr lang="en-US" sz="2400" dirty="0"/>
          </a:p>
          <a:p>
            <a:pPr marL="342900" indent="-342900" algn="ctr">
              <a:buAutoNum type="alphaLcParenR"/>
            </a:pPr>
            <a:endParaRPr lang="en-US" sz="2400" dirty="0" smtClean="0"/>
          </a:p>
          <a:p>
            <a:r>
              <a:rPr lang="en-US" sz="2400" dirty="0" smtClean="0"/>
              <a:t>a. 6, b. 4, c. 3, d. 3, e. 9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649487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049985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9395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Ratio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 ratio and how is it used?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1315" y="1961950"/>
            <a:ext cx="1652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ratio?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077711" y="1970277"/>
            <a:ext cx="73648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Ratios are used to compare quantities with the same units.</a:t>
            </a:r>
          </a:p>
          <a:p>
            <a:r>
              <a:rPr lang="en-AU" dirty="0" smtClean="0"/>
              <a:t>The ratio of 2 to 5 is </a:t>
            </a:r>
            <a:r>
              <a:rPr lang="en-AU" dirty="0" smtClean="0">
                <a:solidFill>
                  <a:schemeClr val="tx1">
                    <a:lumMod val="95000"/>
                  </a:schemeClr>
                </a:solidFill>
              </a:rPr>
              <a:t>written as </a:t>
            </a:r>
            <a:r>
              <a:rPr lang="en-AU" b="1" dirty="0" smtClean="0">
                <a:solidFill>
                  <a:schemeClr val="tx1">
                    <a:lumMod val="95000"/>
                  </a:schemeClr>
                </a:solidFill>
              </a:rPr>
              <a:t>2 : 5</a:t>
            </a:r>
            <a:endParaRPr lang="en-AU" b="1" dirty="0">
              <a:solidFill>
                <a:schemeClr val="tx1">
                  <a:lumMod val="95000"/>
                </a:schemeClr>
              </a:solidFill>
            </a:endParaRPr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</p:txBody>
      </p:sp>
      <p:sp>
        <p:nvSpPr>
          <p:cNvPr id="8" name="Rectangle 7"/>
          <p:cNvSpPr/>
          <p:nvPr/>
        </p:nvSpPr>
        <p:spPr>
          <a:xfrm>
            <a:off x="2105434" y="2728993"/>
            <a:ext cx="678704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you are making orange </a:t>
            </a:r>
            <a:r>
              <a:rPr lang="en-US" dirty="0" smtClean="0"/>
              <a:t>cordial </a:t>
            </a:r>
            <a:r>
              <a:rPr lang="en-US" dirty="0"/>
              <a:t>and you mix one part </a:t>
            </a:r>
            <a:r>
              <a:rPr lang="en-US" dirty="0" smtClean="0"/>
              <a:t>cordial </a:t>
            </a:r>
            <a:r>
              <a:rPr lang="en-US" dirty="0"/>
              <a:t>to four parts water, then the ratio of </a:t>
            </a:r>
            <a:r>
              <a:rPr lang="en-US" dirty="0" smtClean="0"/>
              <a:t>cordial </a:t>
            </a:r>
            <a:r>
              <a:rPr lang="en-US" dirty="0"/>
              <a:t>to water will be 1:4 (1 to 4).</a:t>
            </a:r>
          </a:p>
          <a:p>
            <a:endParaRPr lang="en-US" dirty="0"/>
          </a:p>
          <a:p>
            <a:r>
              <a:rPr lang="en-US" dirty="0"/>
              <a:t>If you use 1 </a:t>
            </a:r>
            <a:r>
              <a:rPr lang="en-US" dirty="0" err="1"/>
              <a:t>litre</a:t>
            </a:r>
            <a:r>
              <a:rPr lang="en-US" dirty="0"/>
              <a:t> of </a:t>
            </a:r>
            <a:r>
              <a:rPr lang="en-US" dirty="0" smtClean="0"/>
              <a:t>cordial, </a:t>
            </a:r>
            <a:r>
              <a:rPr lang="en-US" dirty="0"/>
              <a:t>you will use 4 </a:t>
            </a:r>
            <a:r>
              <a:rPr lang="en-US" dirty="0" err="1"/>
              <a:t>litres</a:t>
            </a:r>
            <a:r>
              <a:rPr lang="en-US" dirty="0"/>
              <a:t> of water (1:4).</a:t>
            </a:r>
          </a:p>
          <a:p>
            <a:endParaRPr lang="en-US" dirty="0"/>
          </a:p>
          <a:p>
            <a:r>
              <a:rPr lang="en-US" dirty="0"/>
              <a:t>If you use 2 </a:t>
            </a:r>
            <a:r>
              <a:rPr lang="en-US" dirty="0" err="1"/>
              <a:t>litres</a:t>
            </a:r>
            <a:r>
              <a:rPr lang="en-US" dirty="0"/>
              <a:t> of </a:t>
            </a:r>
            <a:r>
              <a:rPr lang="en-US" dirty="0" smtClean="0"/>
              <a:t>cordial, </a:t>
            </a:r>
            <a:r>
              <a:rPr lang="en-US" dirty="0"/>
              <a:t>you will use 8 </a:t>
            </a:r>
            <a:r>
              <a:rPr lang="en-US" dirty="0" err="1"/>
              <a:t>litres</a:t>
            </a:r>
            <a:r>
              <a:rPr lang="en-US" dirty="0"/>
              <a:t> of water (2:8).</a:t>
            </a:r>
          </a:p>
          <a:p>
            <a:endParaRPr lang="en-US" dirty="0"/>
          </a:p>
          <a:p>
            <a:r>
              <a:rPr lang="en-US" dirty="0"/>
              <a:t>If you use 10 </a:t>
            </a:r>
            <a:r>
              <a:rPr lang="en-US" dirty="0" err="1"/>
              <a:t>litres</a:t>
            </a:r>
            <a:r>
              <a:rPr lang="en-US" dirty="0"/>
              <a:t> of </a:t>
            </a:r>
            <a:r>
              <a:rPr lang="en-US" dirty="0" smtClean="0"/>
              <a:t>cordial, </a:t>
            </a:r>
            <a:r>
              <a:rPr lang="en-US" dirty="0"/>
              <a:t>you will use 40 </a:t>
            </a:r>
            <a:r>
              <a:rPr lang="en-US" dirty="0" err="1"/>
              <a:t>litres</a:t>
            </a:r>
            <a:r>
              <a:rPr lang="en-US" dirty="0"/>
              <a:t> of water (10:40)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79512" y="3068959"/>
            <a:ext cx="1898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How is a ratio used?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105434" y="5670658"/>
            <a:ext cx="69179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 smtClean="0"/>
              <a:t>Notice that if you had a Jug, and mixed in 1L of cordial and 4L of water, it would be 5 litres in total – </a:t>
            </a:r>
            <a:r>
              <a:rPr lang="en-AU" dirty="0" smtClean="0"/>
              <a:t>this is the total parts of the ratio. </a:t>
            </a:r>
            <a:endParaRPr lang="en-AU" i="1" dirty="0"/>
          </a:p>
        </p:txBody>
      </p:sp>
    </p:spTree>
    <p:extLst>
      <p:ext uri="{BB962C8B-B14F-4D97-AF65-F5344CB8AC3E}">
        <p14:creationId xmlns:p14="http://schemas.microsoft.com/office/powerpoint/2010/main" val="376811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5679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560766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9395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Ratio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-5687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63507" y="103357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 ratio and how is it used?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1315" y="1961950"/>
            <a:ext cx="2073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is a ratio used?</a:t>
            </a:r>
            <a:endParaRPr lang="en-AU" dirty="0"/>
          </a:p>
        </p:txBody>
      </p:sp>
      <p:sp>
        <p:nvSpPr>
          <p:cNvPr id="8" name="Rectangle 7"/>
          <p:cNvSpPr/>
          <p:nvPr/>
        </p:nvSpPr>
        <p:spPr>
          <a:xfrm>
            <a:off x="2411140" y="1570565"/>
            <a:ext cx="6048672" cy="4524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These ratios are all equivalent</a:t>
            </a:r>
          </a:p>
          <a:p>
            <a:r>
              <a:rPr lang="en-US" dirty="0"/>
              <a:t>1:4 = 2:8 = 10:40</a:t>
            </a:r>
          </a:p>
          <a:p>
            <a:endParaRPr lang="en-US" dirty="0"/>
          </a:p>
          <a:p>
            <a:r>
              <a:rPr lang="en-US" dirty="0"/>
              <a:t>Both sides of the ratio can be multiplied or divided by the same number to give an equivalent ratio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To simplify a ratio, you divide both sides of the ratio by the greatest common factor. Note: Make sure both sides of the ratio are using the same units of measurement.</a:t>
            </a:r>
          </a:p>
          <a:p>
            <a:endParaRPr lang="en-US" dirty="0"/>
          </a:p>
          <a:p>
            <a:r>
              <a:rPr lang="en-US" dirty="0" smtClean="0"/>
              <a:t>Example:</a:t>
            </a:r>
          </a:p>
          <a:p>
            <a:r>
              <a:rPr lang="en-US" dirty="0" smtClean="0"/>
              <a:t>200g : 1kg                    Change both sides to the same units</a:t>
            </a:r>
          </a:p>
          <a:p>
            <a:r>
              <a:rPr lang="en-US" dirty="0" smtClean="0"/>
              <a:t>200g : 1000g                Divide both sides by 200</a:t>
            </a:r>
          </a:p>
          <a:p>
            <a:r>
              <a:rPr lang="en-US" dirty="0" smtClean="0"/>
              <a:t>1 : 5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760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576" y="692696"/>
            <a:ext cx="691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Let’s try some together.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196752"/>
            <a:ext cx="3251200" cy="1155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4293096"/>
            <a:ext cx="864096" cy="16692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3933056"/>
            <a:ext cx="6156684" cy="288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74337" y="4354948"/>
            <a:ext cx="23762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0.33  : 0.66</a:t>
            </a:r>
          </a:p>
          <a:p>
            <a:pPr algn="ctr"/>
            <a:r>
              <a:rPr lang="en-AU" sz="2400" dirty="0" smtClean="0"/>
              <a:t>0.286 : 0.714</a:t>
            </a:r>
          </a:p>
          <a:p>
            <a:pPr algn="ctr"/>
            <a:r>
              <a:rPr lang="en-AU" sz="2400" dirty="0" smtClean="0"/>
              <a:t>0.231 : 0.769</a:t>
            </a:r>
          </a:p>
          <a:p>
            <a:pPr algn="ctr"/>
            <a:r>
              <a:rPr lang="en-AU" sz="2400" dirty="0" smtClean="0"/>
              <a:t>0.5 : 0.5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5796136" y="4355834"/>
            <a:ext cx="26642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33.3% : 66.6%</a:t>
            </a:r>
          </a:p>
          <a:p>
            <a:pPr algn="ctr"/>
            <a:r>
              <a:rPr lang="en-AU" sz="2400" dirty="0" smtClean="0"/>
              <a:t>28.6% : 71.4%</a:t>
            </a:r>
          </a:p>
          <a:p>
            <a:pPr algn="ctr"/>
            <a:r>
              <a:rPr lang="en-AU" sz="2400" dirty="0" smtClean="0"/>
              <a:t>23.1% : 76.9%</a:t>
            </a:r>
          </a:p>
          <a:p>
            <a:pPr algn="ctr"/>
            <a:r>
              <a:rPr lang="en-AU" sz="2400" dirty="0" smtClean="0"/>
              <a:t>50% : 50%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854262" y="4328822"/>
                <a:ext cx="204075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b="0" dirty="0" smtClean="0"/>
                  <a:t>1/3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charset="0"/>
                      </a:rPr>
                      <m:t>:2/3</m:t>
                    </m:r>
                  </m:oMath>
                </a14:m>
                <a:endParaRPr lang="en-AU" sz="2400" dirty="0" smtClean="0"/>
              </a:p>
              <a:p>
                <a:pPr algn="ctr"/>
                <a:r>
                  <a:rPr lang="en-AU" sz="2400" dirty="0" smtClean="0"/>
                  <a:t>2/7 : 5/7</a:t>
                </a:r>
              </a:p>
              <a:p>
                <a:pPr algn="ctr"/>
                <a:r>
                  <a:rPr lang="en-AU" sz="2400" dirty="0" smtClean="0"/>
                  <a:t>3/13 : 10/13</a:t>
                </a:r>
              </a:p>
              <a:p>
                <a:pPr algn="ctr"/>
                <a:r>
                  <a:rPr lang="en-AU" sz="2400" dirty="0" smtClean="0"/>
                  <a:t>5/10 : 5/10</a:t>
                </a:r>
                <a:endParaRPr lang="en-A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62" y="4328822"/>
                <a:ext cx="2040756" cy="1569660"/>
              </a:xfrm>
              <a:prstGeom prst="rect">
                <a:avLst/>
              </a:prstGeom>
              <a:blipFill rotWithShape="0">
                <a:blip r:embed="rId7"/>
                <a:stretch>
                  <a:fillRect l="-1493" t="-3101" r="-1493" b="-7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>
            <a:off x="3813479" y="4221088"/>
            <a:ext cx="0" cy="2160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940152" y="4221088"/>
            <a:ext cx="0" cy="2160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24400" y="1181100"/>
            <a:ext cx="7569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17:4</a:t>
            </a:r>
          </a:p>
          <a:p>
            <a:r>
              <a:rPr lang="en-AU" dirty="0" smtClean="0"/>
              <a:t>4:17</a:t>
            </a:r>
          </a:p>
          <a:p>
            <a:r>
              <a:rPr lang="en-AU" dirty="0" smtClean="0"/>
              <a:t>17:21</a:t>
            </a:r>
          </a:p>
          <a:p>
            <a:r>
              <a:rPr lang="en-AU" dirty="0" smtClean="0"/>
              <a:t>4:21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827584" y="2599744"/>
            <a:ext cx="737413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1- Add all parts of the ratio together. This is the denominator</a:t>
            </a:r>
          </a:p>
          <a:p>
            <a:r>
              <a:rPr lang="en-AU" dirty="0" smtClean="0"/>
              <a:t>2- the parts of the ratio are the numerators.</a:t>
            </a:r>
          </a:p>
          <a:p>
            <a:r>
              <a:rPr lang="en-AU" dirty="0" smtClean="0"/>
              <a:t>3- Write as fractions</a:t>
            </a:r>
          </a:p>
          <a:p>
            <a:r>
              <a:rPr lang="en-AU" dirty="0" smtClean="0"/>
              <a:t>4- divide numerator by denominator for the decimal and percentage. </a:t>
            </a:r>
          </a:p>
          <a:p>
            <a:r>
              <a:rPr lang="en-AU" dirty="0" smtClean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28188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374" y="3042072"/>
            <a:ext cx="2578100" cy="2921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862" y="3501008"/>
            <a:ext cx="914400" cy="1765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3068960"/>
            <a:ext cx="4559300" cy="241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544" y="3501008"/>
            <a:ext cx="2044700" cy="322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22472" y="3644900"/>
            <a:ext cx="106471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dirty="0" smtClean="0"/>
              <a:t>1 : 2</a:t>
            </a:r>
          </a:p>
          <a:p>
            <a:pPr algn="ctr"/>
            <a:r>
              <a:rPr lang="en-AU" dirty="0" smtClean="0"/>
              <a:t>1 : 4</a:t>
            </a:r>
          </a:p>
          <a:p>
            <a:pPr algn="ctr"/>
            <a:r>
              <a:rPr lang="en-AU" dirty="0" smtClean="0"/>
              <a:t>0.4 : 0.3</a:t>
            </a:r>
          </a:p>
          <a:p>
            <a:pPr algn="ctr"/>
            <a:r>
              <a:rPr lang="en-AU" dirty="0" smtClean="0"/>
              <a:t>1.0 : 0.3</a:t>
            </a:r>
          </a:p>
          <a:p>
            <a:pPr algn="ctr"/>
            <a:r>
              <a:rPr lang="en-AU" dirty="0" smtClean="0"/>
              <a:t>3x : 5x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2599839" y="3501008"/>
            <a:ext cx="28329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500 : 3000 -&gt; 1 : 6</a:t>
            </a:r>
          </a:p>
          <a:p>
            <a:r>
              <a:rPr lang="en-AU" sz="2000" dirty="0" smtClean="0"/>
              <a:t>2.5 : 1.5 -&gt; 0.5 : 0.3</a:t>
            </a:r>
          </a:p>
          <a:p>
            <a:r>
              <a:rPr lang="en-AU" sz="2000" dirty="0" smtClean="0"/>
              <a:t>50 : 120 -&gt; 5 : 12</a:t>
            </a:r>
          </a:p>
          <a:p>
            <a:r>
              <a:rPr lang="en-AU" sz="2000" dirty="0" smtClean="0"/>
              <a:t>180 : 140 -&gt; 9 : 7</a:t>
            </a:r>
          </a:p>
          <a:p>
            <a:r>
              <a:rPr lang="en-AU" sz="2000" dirty="0" smtClean="0"/>
              <a:t>500 : 2500 -&gt; 1 : 5</a:t>
            </a:r>
          </a:p>
          <a:p>
            <a:r>
              <a:rPr lang="en-AU" sz="2000" dirty="0" smtClean="0"/>
              <a:t>4.5 : 1.5 -&gt; 3 : 1</a:t>
            </a:r>
          </a:p>
          <a:p>
            <a:r>
              <a:rPr lang="en-AU" sz="2000" dirty="0" smtClean="0"/>
              <a:t>2.4 : 3.2 -&gt; 3 : 4</a:t>
            </a:r>
          </a:p>
          <a:p>
            <a:r>
              <a:rPr lang="en-AU" sz="2000" dirty="0" smtClean="0"/>
              <a:t>120 : 60 -&gt; 2 : 1</a:t>
            </a:r>
          </a:p>
          <a:p>
            <a:r>
              <a:rPr lang="en-AU" sz="2000" dirty="0" smtClean="0"/>
              <a:t>300 : 60 -&gt; 5 :1</a:t>
            </a:r>
            <a:endParaRPr lang="en-AU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300549" y="692696"/>
            <a:ext cx="44233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u="sng" dirty="0" smtClean="0"/>
              <a:t>Practise with a partner</a:t>
            </a:r>
            <a:endParaRPr lang="en-AU" sz="3200" u="sng" dirty="0"/>
          </a:p>
        </p:txBody>
      </p:sp>
      <p:sp>
        <p:nvSpPr>
          <p:cNvPr id="9" name="TextBox 8"/>
          <p:cNvSpPr txBox="1"/>
          <p:nvPr/>
        </p:nvSpPr>
        <p:spPr>
          <a:xfrm>
            <a:off x="121145" y="2332710"/>
            <a:ext cx="9022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Work together to </a:t>
            </a:r>
            <a:r>
              <a:rPr lang="en-AU" smtClean="0"/>
              <a:t>solve these </a:t>
            </a:r>
            <a:r>
              <a:rPr lang="en-AU" dirty="0" smtClean="0"/>
              <a:t>ratio problems – remember to keep </a:t>
            </a:r>
            <a:r>
              <a:rPr lang="en-AU" smtClean="0"/>
              <a:t>the order the same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8130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3568" y="332656"/>
            <a:ext cx="7776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Complete the following on your own (use your notes if needed):</a:t>
            </a:r>
            <a:endParaRPr lang="en-US" dirty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764704"/>
            <a:ext cx="5812538" cy="14401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276872"/>
            <a:ext cx="6553200" cy="850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8" y="3284984"/>
            <a:ext cx="2616200" cy="266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7624" y="3789040"/>
            <a:ext cx="863600" cy="177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7944" y="3284984"/>
            <a:ext cx="4597400" cy="241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6136" y="3644900"/>
            <a:ext cx="1816100" cy="3213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3528" y="2348880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79512" y="3212976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3.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635896" y="314096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179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1223</TotalTime>
  <Words>563</Words>
  <Application>Microsoft Macintosh PowerPoint</Application>
  <PresentationFormat>On-screen Show (4:3)</PresentationFormat>
  <Paragraphs>97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Cambria Math</vt:lpstr>
      <vt:lpstr>Trebuchet MS</vt:lpstr>
      <vt:lpstr>Arial</vt:lpstr>
      <vt:lpstr>Berlin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POWER Travis [Baldivis Secondary College]</cp:lastModifiedBy>
  <cp:revision>101</cp:revision>
  <dcterms:created xsi:type="dcterms:W3CDTF">2014-05-14T02:58:57Z</dcterms:created>
  <dcterms:modified xsi:type="dcterms:W3CDTF">2018-08-20T04:39:31Z</dcterms:modified>
</cp:coreProperties>
</file>
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15"/>
  </p:notesMasterIdLst>
  <p:sldIdLst>
    <p:sldId id="262" r:id="rId2"/>
    <p:sldId id="271" r:id="rId3"/>
    <p:sldId id="273" r:id="rId4"/>
    <p:sldId id="257" r:id="rId5"/>
    <p:sldId id="264" r:id="rId6"/>
    <p:sldId id="266" r:id="rId7"/>
    <p:sldId id="265" r:id="rId8"/>
    <p:sldId id="267" r:id="rId9"/>
    <p:sldId id="268" r:id="rId10"/>
    <p:sldId id="269" r:id="rId11"/>
    <p:sldId id="272" r:id="rId12"/>
    <p:sldId id="260" r:id="rId13"/>
    <p:sldId id="261" r:id="rId14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9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965B14-0C8E-46FE-AE65-468DF5E40CA0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EFAA15-9536-4469-9791-C1A5A0609F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5460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3159" y="571500"/>
            <a:ext cx="6000750" cy="2476501"/>
          </a:xfrm>
        </p:spPr>
        <p:txBody>
          <a:bodyPr anchor="b">
            <a:normAutofit/>
          </a:bodyPr>
          <a:lstStyle>
            <a:lvl1pPr algn="l">
              <a:defRPr sz="36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3159" y="3203223"/>
            <a:ext cx="4800600" cy="1622778"/>
          </a:xfrm>
        </p:spPr>
        <p:txBody>
          <a:bodyPr anchor="t">
            <a:normAutofit/>
          </a:bodyPr>
          <a:lstStyle>
            <a:lvl1pPr marL="0" indent="0" algn="l">
              <a:buNone/>
              <a:defRPr sz="1575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6171009" y="7056"/>
            <a:ext cx="2857500" cy="3175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4581128" y="76288"/>
            <a:ext cx="4560491" cy="506721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5426869" y="190500"/>
            <a:ext cx="3714750" cy="41275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5501878" y="26899"/>
            <a:ext cx="3639742" cy="404415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5884070" y="508001"/>
            <a:ext cx="3257549" cy="36194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602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02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1672167"/>
            <a:ext cx="6400801" cy="1901333"/>
          </a:xfrm>
        </p:spPr>
        <p:txBody>
          <a:bodyPr anchor="b">
            <a:normAutofit/>
          </a:bodyPr>
          <a:lstStyle>
            <a:lvl1pPr algn="l">
              <a:defRPr sz="27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746500"/>
            <a:ext cx="6400800" cy="1248833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7529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3159" y="571500"/>
            <a:ext cx="3703241" cy="301272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6100" y="571501"/>
            <a:ext cx="3700859" cy="30127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1131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061" y="571500"/>
            <a:ext cx="3487340" cy="480218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3159" y="1058774"/>
            <a:ext cx="3703241" cy="252544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9299" y="571500"/>
            <a:ext cx="3498851" cy="480218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54909" y="1051719"/>
            <a:ext cx="3696891" cy="2525448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259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6431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5969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3759" y="571500"/>
            <a:ext cx="2743200" cy="11430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571500"/>
            <a:ext cx="4457701" cy="442383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3759" y="1841499"/>
            <a:ext cx="2743200" cy="1742723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66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109" y="1206500"/>
            <a:ext cx="4514850" cy="95250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1759" y="762000"/>
            <a:ext cx="2460731" cy="3810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109" y="2314222"/>
            <a:ext cx="4516041" cy="1707444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805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14350" y="444500"/>
            <a:ext cx="8114109" cy="26035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85801" y="3203223"/>
            <a:ext cx="6228158" cy="3810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2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024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71500"/>
            <a:ext cx="7543800" cy="2286000"/>
          </a:xfrm>
        </p:spPr>
        <p:txBody>
          <a:bodyPr anchor="ctr">
            <a:normAutofit/>
          </a:bodyPr>
          <a:lstStyle>
            <a:lvl1pPr algn="l">
              <a:defRPr sz="24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429000"/>
            <a:ext cx="6401991" cy="1566333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4064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571500"/>
            <a:ext cx="6858001" cy="22860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84659" y="2857500"/>
            <a:ext cx="6400800" cy="3175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584223"/>
            <a:ext cx="6400800" cy="1404054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398859" y="676852"/>
            <a:ext cx="457200" cy="48731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4059" y="2307168"/>
            <a:ext cx="457200" cy="48731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99691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2857500"/>
            <a:ext cx="6400800" cy="1414500"/>
          </a:xfrm>
        </p:spPr>
        <p:txBody>
          <a:bodyPr anchor="b">
            <a:normAutofit/>
          </a:bodyPr>
          <a:lstStyle>
            <a:lvl1pPr algn="l">
              <a:defRPr sz="24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8" y="4277484"/>
            <a:ext cx="6401993" cy="7170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42092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571500"/>
            <a:ext cx="6858000" cy="22860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3273779"/>
            <a:ext cx="6400801" cy="8748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4148667"/>
            <a:ext cx="6400801" cy="846667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  <p:sp>
        <p:nvSpPr>
          <p:cNvPr id="11" name="TextBox 10"/>
          <p:cNvSpPr txBox="1"/>
          <p:nvPr/>
        </p:nvSpPr>
        <p:spPr>
          <a:xfrm>
            <a:off x="398859" y="676852"/>
            <a:ext cx="457200" cy="48731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4059" y="2307168"/>
            <a:ext cx="457200" cy="487313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659954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71500"/>
            <a:ext cx="7543800" cy="22860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3273778"/>
            <a:ext cx="6400800" cy="6985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972277"/>
            <a:ext cx="6400801" cy="102305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88505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35997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3909" y="571500"/>
            <a:ext cx="1543050" cy="3810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571500"/>
            <a:ext cx="5867400" cy="4423833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4860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905227" y="2469445"/>
            <a:ext cx="2236394" cy="2674056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3159" y="3739444"/>
            <a:ext cx="6400800" cy="125588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571500"/>
            <a:ext cx="6400800" cy="30127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8309" y="5143500"/>
            <a:ext cx="1200150" cy="304271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8EBA98DB-85F7-4057-9FF8-584B97218105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3159" y="5143500"/>
            <a:ext cx="5657850" cy="304271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2400" y="4648730"/>
            <a:ext cx="856684" cy="55827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4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1086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5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3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2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004" y="1055921"/>
            <a:ext cx="6400800" cy="1255889"/>
          </a:xfrm>
        </p:spPr>
        <p:txBody>
          <a:bodyPr/>
          <a:lstStyle/>
          <a:p>
            <a:r>
              <a:rPr lang="en-AU" dirty="0" smtClean="0"/>
              <a:t>Direct Proportion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5004" y="805448"/>
            <a:ext cx="6400800" cy="3012723"/>
          </a:xfrm>
        </p:spPr>
        <p:txBody>
          <a:bodyPr/>
          <a:lstStyle/>
          <a:p>
            <a:r>
              <a:rPr lang="en-AU" dirty="0" smtClean="0"/>
              <a:t>EQ: how can we tell if two things are in proportion? 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0804" y="2865671"/>
            <a:ext cx="3810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889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69659" y="662788"/>
            <a:ext cx="485713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AU" dirty="0"/>
              <a:t>When drawing people, we can use proportion to help us get the shape right.  The rule of thumb is an adult is </a:t>
            </a:r>
            <a:r>
              <a:rPr lang="en-AU" dirty="0"/>
              <a:t>8</a:t>
            </a:r>
            <a:r>
              <a:rPr lang="en-AU" dirty="0" smtClean="0"/>
              <a:t> </a:t>
            </a:r>
            <a:r>
              <a:rPr lang="en-AU" dirty="0"/>
              <a:t>heads high, a child is 5 heads high and a baby is 4 heads high.</a:t>
            </a:r>
          </a:p>
          <a:p>
            <a:endParaRPr lang="en-AU" dirty="0"/>
          </a:p>
          <a:p>
            <a:pPr marL="285750" indent="-285750">
              <a:buFont typeface="Arial" charset="0"/>
              <a:buChar char="•"/>
            </a:pPr>
            <a:r>
              <a:rPr lang="en-AU" dirty="0"/>
              <a:t>Michelle has </a:t>
            </a:r>
            <a:r>
              <a:rPr lang="en-AU" dirty="0" smtClean="0"/>
              <a:t>drawn </a:t>
            </a:r>
            <a:r>
              <a:rPr lang="en-AU" dirty="0"/>
              <a:t>three figures;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AU" dirty="0" smtClean="0"/>
              <a:t>figure </a:t>
            </a:r>
            <a:r>
              <a:rPr lang="en-AU" dirty="0"/>
              <a:t>1 has a head of 3cm and a body of 24cm.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AU" dirty="0" smtClean="0"/>
              <a:t>figure </a:t>
            </a:r>
            <a:r>
              <a:rPr lang="en-AU" dirty="0"/>
              <a:t>2 has a head of 5cm and a body of 20cm.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AU" dirty="0" smtClean="0"/>
              <a:t>figure </a:t>
            </a:r>
            <a:r>
              <a:rPr lang="en-AU" dirty="0"/>
              <a:t>3 has a head of 4cm and a body of 20cm.</a:t>
            </a:r>
          </a:p>
          <a:p>
            <a:endParaRPr lang="en-AU" dirty="0"/>
          </a:p>
          <a:p>
            <a:r>
              <a:rPr lang="en-AU" b="1" i="1" dirty="0" smtClean="0"/>
              <a:t>Which </a:t>
            </a:r>
            <a:r>
              <a:rPr lang="en-AU" b="1" i="1" dirty="0"/>
              <a:t>is the child, which is the adult and </a:t>
            </a:r>
            <a:r>
              <a:rPr lang="en-AU" b="1" i="1" dirty="0" smtClean="0"/>
              <a:t>which </a:t>
            </a:r>
            <a:r>
              <a:rPr lang="en-AU" b="1" i="1" dirty="0"/>
              <a:t>is the baby?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692" y="837317"/>
            <a:ext cx="1168553" cy="298743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9409" y="837317"/>
            <a:ext cx="1673352" cy="48006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5355" y="837317"/>
            <a:ext cx="1144443" cy="220085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72692" y="4026086"/>
            <a:ext cx="2595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3cm x 8 = 24cm Adult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6532761" y="4395418"/>
            <a:ext cx="2569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5cm x 4 = 20cm Baby</a:t>
            </a:r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6572692" y="4817771"/>
            <a:ext cx="2515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4cm x5 = 20cm Child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294968" y="293456"/>
            <a:ext cx="3169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u="sng" dirty="0" smtClean="0"/>
              <a:t>REAL WORLD PROPORTION</a:t>
            </a:r>
            <a:endParaRPr lang="en-AU" u="sng" dirty="0"/>
          </a:p>
        </p:txBody>
      </p:sp>
    </p:spTree>
    <p:extLst>
      <p:ext uri="{BB962C8B-B14F-4D97-AF65-F5344CB8AC3E}">
        <p14:creationId xmlns:p14="http://schemas.microsoft.com/office/powerpoint/2010/main" val="301572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692" y="268906"/>
            <a:ext cx="1168553" cy="298743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409" y="268906"/>
            <a:ext cx="1673352" cy="48006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3355" y="268906"/>
            <a:ext cx="1144443" cy="22008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86079" y="268906"/>
            <a:ext cx="336046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Because Michelle's pictures are drawn as  proportions, there is a ratio between the size of the head and the body length. </a:t>
            </a:r>
          </a:p>
          <a:p>
            <a:endParaRPr lang="en-AU" dirty="0"/>
          </a:p>
          <a:p>
            <a:pPr algn="r"/>
            <a:r>
              <a:rPr lang="en-AU" dirty="0" smtClean="0"/>
              <a:t>The Adult has a head to body ratio of 1:7</a:t>
            </a:r>
          </a:p>
          <a:p>
            <a:pPr algn="r"/>
            <a:endParaRPr lang="en-AU" dirty="0" smtClean="0"/>
          </a:p>
          <a:p>
            <a:pPr algn="r"/>
            <a:r>
              <a:rPr lang="en-AU" dirty="0" smtClean="0"/>
              <a:t>The Child has a head to body ratio of 1:4</a:t>
            </a:r>
          </a:p>
          <a:p>
            <a:pPr algn="r"/>
            <a:endParaRPr lang="en-AU" dirty="0" smtClean="0"/>
          </a:p>
          <a:p>
            <a:pPr algn="r"/>
            <a:r>
              <a:rPr lang="en-AU" dirty="0" smtClean="0"/>
              <a:t>The Baby has a ratio of head to body of 1:3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3254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6522" y="100339"/>
            <a:ext cx="6858000" cy="524130"/>
          </a:xfrm>
        </p:spPr>
        <p:txBody>
          <a:bodyPr>
            <a:noAutofit/>
          </a:bodyPr>
          <a:lstStyle/>
          <a:p>
            <a:pPr algn="l"/>
            <a:r>
              <a:rPr lang="en-AU" sz="2800" dirty="0"/>
              <a:t>Topic : Proportion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54869" y="1101604"/>
            <a:ext cx="7689132" cy="4613396"/>
          </a:xfrm>
        </p:spPr>
        <p:txBody>
          <a:bodyPr>
            <a:normAutofit lnSpcReduction="10000"/>
          </a:bodyPr>
          <a:lstStyle/>
          <a:p>
            <a:r>
              <a:rPr lang="en-AU" sz="1900" dirty="0">
                <a:solidFill>
                  <a:schemeClr val="tx1">
                    <a:lumMod val="95000"/>
                  </a:schemeClr>
                </a:solidFill>
              </a:rPr>
              <a:t>When 2 ratios simplify to give the same ratio, they are said to be in proportion</a:t>
            </a:r>
            <a:r>
              <a:rPr lang="en-AU" sz="1900" dirty="0" smtClean="0">
                <a:solidFill>
                  <a:schemeClr val="tx1">
                    <a:lumMod val="95000"/>
                  </a:schemeClr>
                </a:solidFill>
              </a:rPr>
              <a:t>.</a:t>
            </a:r>
            <a:endParaRPr lang="en-AU" sz="1500" dirty="0">
              <a:solidFill>
                <a:schemeClr val="tx1">
                  <a:lumMod val="95000"/>
                </a:schemeClr>
              </a:solidFill>
            </a:endParaRPr>
          </a:p>
          <a:p>
            <a:r>
              <a:rPr lang="en-AU" sz="1900" dirty="0" err="1">
                <a:solidFill>
                  <a:schemeClr val="tx1">
                    <a:lumMod val="95000"/>
                  </a:schemeClr>
                </a:solidFill>
              </a:rPr>
              <a:t>Eg</a:t>
            </a:r>
            <a:r>
              <a:rPr lang="en-AU" sz="1900" dirty="0">
                <a:solidFill>
                  <a:schemeClr val="tx1">
                    <a:lumMod val="95000"/>
                  </a:schemeClr>
                </a:solidFill>
              </a:rPr>
              <a:t> 80km every 2h is proportionate to 240km every 6h</a:t>
            </a:r>
          </a:p>
          <a:p>
            <a:r>
              <a:rPr lang="en-AU" sz="1900" dirty="0">
                <a:solidFill>
                  <a:schemeClr val="tx1">
                    <a:lumMod val="95000"/>
                  </a:schemeClr>
                </a:solidFill>
              </a:rPr>
              <a:t>80:2 = 240:6</a:t>
            </a:r>
          </a:p>
          <a:p>
            <a:r>
              <a:rPr lang="en-AU" sz="1900" dirty="0">
                <a:solidFill>
                  <a:schemeClr val="tx1">
                    <a:lumMod val="95000"/>
                  </a:schemeClr>
                </a:solidFill>
              </a:rPr>
              <a:t>40:1 = </a:t>
            </a:r>
            <a:r>
              <a:rPr lang="en-AU" sz="1900" dirty="0" smtClean="0">
                <a:solidFill>
                  <a:schemeClr val="tx1">
                    <a:lumMod val="95000"/>
                  </a:schemeClr>
                </a:solidFill>
              </a:rPr>
              <a:t>40:1</a:t>
            </a:r>
          </a:p>
          <a:p>
            <a:endParaRPr lang="en-AU" sz="1900" dirty="0">
              <a:solidFill>
                <a:schemeClr val="tx1">
                  <a:lumMod val="95000"/>
                </a:schemeClr>
              </a:solidFill>
            </a:endParaRPr>
          </a:p>
          <a:p>
            <a:pPr algn="l"/>
            <a:r>
              <a:rPr lang="en-AU" sz="1700" b="1" dirty="0">
                <a:solidFill>
                  <a:schemeClr val="tx1">
                    <a:lumMod val="95000"/>
                  </a:schemeClr>
                </a:solidFill>
              </a:rPr>
              <a:t>What is the easy way to check for proportionality?	</a:t>
            </a:r>
          </a:p>
          <a:p>
            <a:pPr algn="l"/>
            <a:r>
              <a:rPr lang="en-AU" sz="1700" dirty="0">
                <a:solidFill>
                  <a:schemeClr val="tx1">
                    <a:lumMod val="95000"/>
                  </a:schemeClr>
                </a:solidFill>
              </a:rPr>
              <a:t>	1. First check the ratios are using the same units.</a:t>
            </a:r>
          </a:p>
          <a:p>
            <a:pPr algn="l"/>
            <a:r>
              <a:rPr lang="en-AU" sz="1700" dirty="0">
                <a:solidFill>
                  <a:schemeClr val="tx1">
                    <a:lumMod val="95000"/>
                  </a:schemeClr>
                </a:solidFill>
              </a:rPr>
              <a:t>		</a:t>
            </a:r>
            <a:r>
              <a:rPr lang="en-AU" sz="1700" dirty="0" smtClean="0">
                <a:solidFill>
                  <a:schemeClr val="tx1">
                    <a:lumMod val="95000"/>
                  </a:schemeClr>
                </a:solidFill>
              </a:rPr>
              <a:t>4kg cost $2 and 6000g is $3    		  because 6000g </a:t>
            </a:r>
            <a:r>
              <a:rPr lang="en-AU" sz="1700" dirty="0">
                <a:solidFill>
                  <a:schemeClr val="tx1">
                    <a:lumMod val="95000"/>
                  </a:schemeClr>
                </a:solidFill>
              </a:rPr>
              <a:t>is 6kg 		These ratios become     </a:t>
            </a:r>
            <a:r>
              <a:rPr lang="en-AU" sz="1700" dirty="0" smtClean="0">
                <a:solidFill>
                  <a:schemeClr val="tx1">
                    <a:lumMod val="95000"/>
                  </a:schemeClr>
                </a:solidFill>
              </a:rPr>
              <a:t>					</a:t>
            </a:r>
            <a:r>
              <a:rPr lang="en-AU" sz="1700" b="1" dirty="0" smtClean="0">
                <a:solidFill>
                  <a:schemeClr val="tx1">
                    <a:lumMod val="95000"/>
                  </a:schemeClr>
                </a:solidFill>
              </a:rPr>
              <a:t>4 kg:$2  = 6kg:$3</a:t>
            </a:r>
          </a:p>
          <a:p>
            <a:pPr algn="l"/>
            <a:r>
              <a:rPr lang="en-AU" sz="1700" dirty="0">
                <a:solidFill>
                  <a:schemeClr val="tx1">
                    <a:lumMod val="95000"/>
                  </a:schemeClr>
                </a:solidFill>
              </a:rPr>
              <a:t>	2. Divide the left </a:t>
            </a:r>
            <a:r>
              <a:rPr lang="en-AU" sz="1700" dirty="0" smtClean="0">
                <a:solidFill>
                  <a:schemeClr val="tx1">
                    <a:lumMod val="95000"/>
                  </a:schemeClr>
                </a:solidFill>
              </a:rPr>
              <a:t>portion</a:t>
            </a:r>
            <a:r>
              <a:rPr lang="en-AU" sz="1700" dirty="0" smtClean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en-AU" sz="1700" dirty="0">
                <a:solidFill>
                  <a:schemeClr val="tx1">
                    <a:lumMod val="95000"/>
                  </a:schemeClr>
                </a:solidFill>
              </a:rPr>
              <a:t>by the right </a:t>
            </a:r>
            <a:r>
              <a:rPr lang="en-AU" sz="1700" dirty="0" smtClean="0">
                <a:solidFill>
                  <a:schemeClr val="tx1">
                    <a:lumMod val="95000"/>
                  </a:schemeClr>
                </a:solidFill>
              </a:rPr>
              <a:t>portion of each ratio</a:t>
            </a:r>
          </a:p>
          <a:p>
            <a:pPr algn="l"/>
            <a:r>
              <a:rPr lang="en-AU" sz="1700" dirty="0">
                <a:solidFill>
                  <a:schemeClr val="tx1">
                    <a:lumMod val="95000"/>
                  </a:schemeClr>
                </a:solidFill>
              </a:rPr>
              <a:t>	</a:t>
            </a:r>
            <a:r>
              <a:rPr lang="en-AU" sz="1700" dirty="0" smtClean="0">
                <a:solidFill>
                  <a:schemeClr val="tx1">
                    <a:lumMod val="95000"/>
                  </a:schemeClr>
                </a:solidFill>
              </a:rPr>
              <a:t>4/2 = 2 and 6/3 = 2.</a:t>
            </a:r>
            <a:endParaRPr lang="en-AU" sz="1700" dirty="0">
              <a:solidFill>
                <a:schemeClr val="tx1">
                  <a:lumMod val="95000"/>
                </a:schemeClr>
              </a:solidFill>
            </a:endParaRPr>
          </a:p>
          <a:p>
            <a:pPr algn="l"/>
            <a:r>
              <a:rPr lang="en-AU" sz="1700" dirty="0">
                <a:solidFill>
                  <a:schemeClr val="tx1">
                    <a:lumMod val="95000"/>
                  </a:schemeClr>
                </a:solidFill>
              </a:rPr>
              <a:t>	</a:t>
            </a:r>
            <a:r>
              <a:rPr lang="en-AU" sz="1700" dirty="0" smtClean="0">
                <a:solidFill>
                  <a:schemeClr val="tx1">
                    <a:lumMod val="95000"/>
                  </a:schemeClr>
                </a:solidFill>
              </a:rPr>
              <a:t>3. </a:t>
            </a:r>
            <a:r>
              <a:rPr lang="en-AU" sz="1700" dirty="0" smtClean="0">
                <a:solidFill>
                  <a:schemeClr val="tx1">
                    <a:lumMod val="95000"/>
                  </a:schemeClr>
                </a:solidFill>
              </a:rPr>
              <a:t>If </a:t>
            </a:r>
            <a:r>
              <a:rPr lang="en-AU" sz="1700" dirty="0">
                <a:solidFill>
                  <a:schemeClr val="tx1">
                    <a:lumMod val="95000"/>
                  </a:schemeClr>
                </a:solidFill>
              </a:rPr>
              <a:t>they both equal the same amount they are </a:t>
            </a:r>
            <a:r>
              <a:rPr lang="en-AU" sz="1700" b="1" u="sng" dirty="0" smtClean="0">
                <a:solidFill>
                  <a:schemeClr val="tx1">
                    <a:lumMod val="95000"/>
                  </a:schemeClr>
                </a:solidFill>
              </a:rPr>
              <a:t>proportional</a:t>
            </a:r>
            <a:endParaRPr lang="en-AU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13317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056199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cxnSpLocks/>
          </p:cNvCxnSpPr>
          <p:nvPr/>
        </p:nvCxnSpPr>
        <p:spPr>
          <a:xfrm>
            <a:off x="1468908" y="1067350"/>
            <a:ext cx="0" cy="469920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itle 1"/>
          <p:cNvSpPr txBox="1">
            <a:spLocks/>
          </p:cNvSpPr>
          <p:nvPr/>
        </p:nvSpPr>
        <p:spPr>
          <a:xfrm>
            <a:off x="436756" y="633749"/>
            <a:ext cx="8506521" cy="3931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2400" dirty="0"/>
              <a:t>EQ : How do we know if 2 ratios are in proportion?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734" y="-67294"/>
            <a:ext cx="43564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40" dirty="0"/>
              <a:t>24</a:t>
            </a:r>
          </a:p>
          <a:p>
            <a:r>
              <a:rPr lang="en-AU" sz="1440" dirty="0"/>
              <a:t>7</a:t>
            </a:r>
          </a:p>
          <a:p>
            <a:r>
              <a:rPr lang="en-AU" sz="1440" dirty="0"/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8790" y="77786"/>
            <a:ext cx="1425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1" y="1067350"/>
            <a:ext cx="1482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proportion?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2808137"/>
            <a:ext cx="14829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can we find out if they are in proportion?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7726" y="1981148"/>
            <a:ext cx="2295470" cy="9572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sz="1400" dirty="0"/>
              <a:t>These can both be simplified to 40:1.  They are equivalent to each other</a:t>
            </a:r>
          </a:p>
        </p:txBody>
      </p:sp>
    </p:spTree>
    <p:extLst>
      <p:ext uri="{BB962C8B-B14F-4D97-AF65-F5344CB8AC3E}">
        <p14:creationId xmlns:p14="http://schemas.microsoft.com/office/powerpoint/2010/main" val="1590379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6009804" y="2808580"/>
            <a:ext cx="5404508" cy="2808462"/>
            <a:chOff x="6009804" y="2808580"/>
            <a:chExt cx="5404508" cy="2808462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2"/>
            <a:srcRect r="22886"/>
            <a:stretch/>
          </p:blipFill>
          <p:spPr>
            <a:xfrm>
              <a:off x="6128996" y="2808580"/>
              <a:ext cx="2064886" cy="2521633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 rot="16200000">
              <a:off x="4744073" y="4074312"/>
              <a:ext cx="2808461" cy="276999"/>
            </a:xfrm>
            <a:prstGeom prst="rect">
              <a:avLst/>
            </a:prstGeom>
            <a:noFill/>
          </p:spPr>
          <p:txBody>
            <a:bodyPr vert="vert" wrap="square" rtlCol="0">
              <a:spAutoFit/>
            </a:bodyPr>
            <a:lstStyle/>
            <a:p>
              <a:pPr algn="r"/>
              <a:r>
                <a:rPr lang="en-AU" sz="1050" b="1" dirty="0"/>
                <a:t>$</a:t>
              </a:r>
            </a:p>
            <a:p>
              <a:pPr algn="r"/>
              <a:r>
                <a:rPr lang="en-AU" sz="800" dirty="0"/>
                <a:t>18</a:t>
              </a:r>
            </a:p>
            <a:p>
              <a:pPr algn="r"/>
              <a:r>
                <a:rPr lang="en-AU" sz="800" dirty="0"/>
                <a:t>17</a:t>
              </a:r>
            </a:p>
            <a:p>
              <a:pPr algn="r"/>
              <a:r>
                <a:rPr lang="en-AU" sz="800" dirty="0"/>
                <a:t>16</a:t>
              </a:r>
            </a:p>
            <a:p>
              <a:pPr algn="r"/>
              <a:r>
                <a:rPr lang="en-AU" sz="800" dirty="0"/>
                <a:t>15</a:t>
              </a:r>
            </a:p>
            <a:p>
              <a:pPr algn="r"/>
              <a:r>
                <a:rPr lang="en-AU" sz="800" dirty="0"/>
                <a:t>14</a:t>
              </a:r>
            </a:p>
            <a:p>
              <a:pPr algn="r"/>
              <a:r>
                <a:rPr lang="en-AU" sz="800" dirty="0"/>
                <a:t>13</a:t>
              </a:r>
            </a:p>
            <a:p>
              <a:pPr algn="r"/>
              <a:r>
                <a:rPr lang="en-AU" sz="800" dirty="0"/>
                <a:t>12</a:t>
              </a:r>
            </a:p>
            <a:p>
              <a:pPr algn="r"/>
              <a:r>
                <a:rPr lang="en-AU" sz="800" dirty="0"/>
                <a:t>11</a:t>
              </a:r>
            </a:p>
            <a:p>
              <a:pPr algn="r"/>
              <a:r>
                <a:rPr lang="en-AU" sz="800" dirty="0"/>
                <a:t>10</a:t>
              </a:r>
            </a:p>
            <a:p>
              <a:pPr algn="r"/>
              <a:r>
                <a:rPr lang="en-AU" sz="800" dirty="0"/>
                <a:t>9</a:t>
              </a:r>
            </a:p>
            <a:p>
              <a:pPr algn="r"/>
              <a:r>
                <a:rPr lang="en-AU" sz="800" dirty="0"/>
                <a:t>8</a:t>
              </a:r>
            </a:p>
            <a:p>
              <a:pPr algn="r"/>
              <a:r>
                <a:rPr lang="en-AU" sz="800" dirty="0"/>
                <a:t>7</a:t>
              </a:r>
            </a:p>
            <a:p>
              <a:pPr algn="r"/>
              <a:r>
                <a:rPr lang="en-AU" sz="800" dirty="0"/>
                <a:t>6</a:t>
              </a:r>
            </a:p>
            <a:p>
              <a:pPr algn="r"/>
              <a:r>
                <a:rPr lang="en-AU" sz="800" dirty="0"/>
                <a:t>5</a:t>
              </a:r>
            </a:p>
            <a:p>
              <a:pPr algn="r"/>
              <a:r>
                <a:rPr lang="en-AU" sz="800" dirty="0"/>
                <a:t>4</a:t>
              </a:r>
            </a:p>
            <a:p>
              <a:pPr algn="r"/>
              <a:r>
                <a:rPr lang="en-AU" sz="800" dirty="0"/>
                <a:t>3</a:t>
              </a:r>
            </a:p>
            <a:p>
              <a:pPr algn="r"/>
              <a:r>
                <a:rPr lang="en-AU" sz="800" dirty="0"/>
                <a:t>2</a:t>
              </a:r>
            </a:p>
            <a:p>
              <a:pPr algn="r"/>
              <a:r>
                <a:rPr lang="en-AU" sz="800" dirty="0"/>
                <a:t>1</a:t>
              </a:r>
            </a:p>
            <a:p>
              <a:pPr algn="r"/>
              <a:r>
                <a:rPr lang="en-AU" sz="800" dirty="0"/>
                <a:t>0</a:t>
              </a:r>
            </a:p>
            <a:p>
              <a:pPr algn="r"/>
              <a:endParaRPr lang="en-AU" sz="800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420282" y="5217787"/>
              <a:ext cx="499403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000" dirty="0"/>
                <a:t>1      2       3      4      5      6      </a:t>
              </a:r>
              <a:r>
                <a:rPr lang="en-AU" sz="1050" b="1" dirty="0"/>
                <a:t>Kg</a:t>
              </a:r>
              <a:endParaRPr lang="en-AU" sz="1000" b="1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3126110" y="2808580"/>
            <a:ext cx="5404508" cy="2808462"/>
            <a:chOff x="6009804" y="2808580"/>
            <a:chExt cx="5404508" cy="2808462"/>
          </a:xfrm>
        </p:grpSpPr>
        <p:pic>
          <p:nvPicPr>
            <p:cNvPr id="24" name="Picture 23"/>
            <p:cNvPicPr>
              <a:picLocks noChangeAspect="1"/>
            </p:cNvPicPr>
            <p:nvPr/>
          </p:nvPicPr>
          <p:blipFill rotWithShape="1">
            <a:blip r:embed="rId2"/>
            <a:srcRect r="22886"/>
            <a:stretch/>
          </p:blipFill>
          <p:spPr>
            <a:xfrm>
              <a:off x="6128996" y="2808580"/>
              <a:ext cx="2064886" cy="2521633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 rot="16200000">
              <a:off x="4744073" y="4074312"/>
              <a:ext cx="2808461" cy="276999"/>
            </a:xfrm>
            <a:prstGeom prst="rect">
              <a:avLst/>
            </a:prstGeom>
            <a:noFill/>
          </p:spPr>
          <p:txBody>
            <a:bodyPr vert="vert" wrap="square" rtlCol="0">
              <a:spAutoFit/>
            </a:bodyPr>
            <a:lstStyle/>
            <a:p>
              <a:pPr algn="r"/>
              <a:r>
                <a:rPr lang="en-AU" sz="1050" b="1" dirty="0"/>
                <a:t>$</a:t>
              </a:r>
            </a:p>
            <a:p>
              <a:pPr algn="r"/>
              <a:r>
                <a:rPr lang="en-AU" sz="800" dirty="0"/>
                <a:t>18</a:t>
              </a:r>
            </a:p>
            <a:p>
              <a:pPr algn="r"/>
              <a:r>
                <a:rPr lang="en-AU" sz="800" dirty="0"/>
                <a:t>17</a:t>
              </a:r>
            </a:p>
            <a:p>
              <a:pPr algn="r"/>
              <a:r>
                <a:rPr lang="en-AU" sz="800" dirty="0"/>
                <a:t>16</a:t>
              </a:r>
            </a:p>
            <a:p>
              <a:pPr algn="r"/>
              <a:r>
                <a:rPr lang="en-AU" sz="800" dirty="0"/>
                <a:t>15</a:t>
              </a:r>
            </a:p>
            <a:p>
              <a:pPr algn="r"/>
              <a:r>
                <a:rPr lang="en-AU" sz="800" dirty="0"/>
                <a:t>14</a:t>
              </a:r>
            </a:p>
            <a:p>
              <a:pPr algn="r"/>
              <a:r>
                <a:rPr lang="en-AU" sz="800" dirty="0"/>
                <a:t>13</a:t>
              </a:r>
            </a:p>
            <a:p>
              <a:pPr algn="r"/>
              <a:r>
                <a:rPr lang="en-AU" sz="800" dirty="0"/>
                <a:t>12</a:t>
              </a:r>
            </a:p>
            <a:p>
              <a:pPr algn="r"/>
              <a:r>
                <a:rPr lang="en-AU" sz="800" dirty="0"/>
                <a:t>11</a:t>
              </a:r>
            </a:p>
            <a:p>
              <a:pPr algn="r"/>
              <a:r>
                <a:rPr lang="en-AU" sz="800" dirty="0"/>
                <a:t>10</a:t>
              </a:r>
            </a:p>
            <a:p>
              <a:pPr algn="r"/>
              <a:r>
                <a:rPr lang="en-AU" sz="800" dirty="0"/>
                <a:t>9</a:t>
              </a:r>
            </a:p>
            <a:p>
              <a:pPr algn="r"/>
              <a:r>
                <a:rPr lang="en-AU" sz="800" dirty="0"/>
                <a:t>8</a:t>
              </a:r>
            </a:p>
            <a:p>
              <a:pPr algn="r"/>
              <a:r>
                <a:rPr lang="en-AU" sz="800" dirty="0"/>
                <a:t>7</a:t>
              </a:r>
            </a:p>
            <a:p>
              <a:pPr algn="r"/>
              <a:r>
                <a:rPr lang="en-AU" sz="800" dirty="0"/>
                <a:t>6</a:t>
              </a:r>
            </a:p>
            <a:p>
              <a:pPr algn="r"/>
              <a:r>
                <a:rPr lang="en-AU" sz="800" dirty="0"/>
                <a:t>5</a:t>
              </a:r>
            </a:p>
            <a:p>
              <a:pPr algn="r"/>
              <a:r>
                <a:rPr lang="en-AU" sz="800" dirty="0"/>
                <a:t>4</a:t>
              </a:r>
            </a:p>
            <a:p>
              <a:pPr algn="r"/>
              <a:r>
                <a:rPr lang="en-AU" sz="800" dirty="0"/>
                <a:t>3</a:t>
              </a:r>
            </a:p>
            <a:p>
              <a:pPr algn="r"/>
              <a:r>
                <a:rPr lang="en-AU" sz="800" dirty="0"/>
                <a:t>2</a:t>
              </a:r>
            </a:p>
            <a:p>
              <a:pPr algn="r"/>
              <a:r>
                <a:rPr lang="en-AU" sz="800" dirty="0"/>
                <a:t>1</a:t>
              </a:r>
            </a:p>
            <a:p>
              <a:pPr algn="r"/>
              <a:r>
                <a:rPr lang="en-AU" sz="800" dirty="0"/>
                <a:t>0</a:t>
              </a:r>
            </a:p>
            <a:p>
              <a:pPr algn="r"/>
              <a:endParaRPr lang="en-AU" sz="800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420282" y="5217787"/>
              <a:ext cx="499403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000" dirty="0"/>
                <a:t>1      2       3      4      5      6      </a:t>
              </a:r>
              <a:r>
                <a:rPr lang="en-AU" sz="1050" b="1" dirty="0"/>
                <a:t>Kg</a:t>
              </a:r>
              <a:endParaRPr lang="en-AU" sz="1000" b="1" dirty="0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268560" y="2808580"/>
            <a:ext cx="5404508" cy="2808462"/>
            <a:chOff x="6009804" y="2808580"/>
            <a:chExt cx="5404508" cy="2808462"/>
          </a:xfrm>
        </p:grpSpPr>
        <p:pic>
          <p:nvPicPr>
            <p:cNvPr id="28" name="Picture 27"/>
            <p:cNvPicPr>
              <a:picLocks noChangeAspect="1"/>
            </p:cNvPicPr>
            <p:nvPr/>
          </p:nvPicPr>
          <p:blipFill rotWithShape="1">
            <a:blip r:embed="rId2"/>
            <a:srcRect r="22886"/>
            <a:stretch/>
          </p:blipFill>
          <p:spPr>
            <a:xfrm>
              <a:off x="6128996" y="2808580"/>
              <a:ext cx="2064886" cy="2521633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 rot="16200000">
              <a:off x="4744073" y="4074312"/>
              <a:ext cx="2808461" cy="276999"/>
            </a:xfrm>
            <a:prstGeom prst="rect">
              <a:avLst/>
            </a:prstGeom>
            <a:noFill/>
          </p:spPr>
          <p:txBody>
            <a:bodyPr vert="vert" wrap="square" rtlCol="0">
              <a:spAutoFit/>
            </a:bodyPr>
            <a:lstStyle/>
            <a:p>
              <a:pPr algn="r"/>
              <a:r>
                <a:rPr lang="en-AU" sz="1050" b="1" dirty="0"/>
                <a:t>$</a:t>
              </a:r>
            </a:p>
            <a:p>
              <a:pPr algn="r"/>
              <a:r>
                <a:rPr lang="en-AU" sz="800" dirty="0"/>
                <a:t>18</a:t>
              </a:r>
            </a:p>
            <a:p>
              <a:pPr algn="r"/>
              <a:r>
                <a:rPr lang="en-AU" sz="800" dirty="0"/>
                <a:t>17</a:t>
              </a:r>
            </a:p>
            <a:p>
              <a:pPr algn="r"/>
              <a:r>
                <a:rPr lang="en-AU" sz="800" dirty="0"/>
                <a:t>16</a:t>
              </a:r>
            </a:p>
            <a:p>
              <a:pPr algn="r"/>
              <a:r>
                <a:rPr lang="en-AU" sz="800" dirty="0"/>
                <a:t>15</a:t>
              </a:r>
            </a:p>
            <a:p>
              <a:pPr algn="r"/>
              <a:r>
                <a:rPr lang="en-AU" sz="800" dirty="0"/>
                <a:t>14</a:t>
              </a:r>
            </a:p>
            <a:p>
              <a:pPr algn="r"/>
              <a:r>
                <a:rPr lang="en-AU" sz="800" dirty="0"/>
                <a:t>13</a:t>
              </a:r>
            </a:p>
            <a:p>
              <a:pPr algn="r"/>
              <a:r>
                <a:rPr lang="en-AU" sz="800" dirty="0"/>
                <a:t>12</a:t>
              </a:r>
            </a:p>
            <a:p>
              <a:pPr algn="r"/>
              <a:r>
                <a:rPr lang="en-AU" sz="800" dirty="0"/>
                <a:t>11</a:t>
              </a:r>
            </a:p>
            <a:p>
              <a:pPr algn="r"/>
              <a:r>
                <a:rPr lang="en-AU" sz="800" dirty="0"/>
                <a:t>10</a:t>
              </a:r>
            </a:p>
            <a:p>
              <a:pPr algn="r"/>
              <a:r>
                <a:rPr lang="en-AU" sz="800" dirty="0"/>
                <a:t>9</a:t>
              </a:r>
            </a:p>
            <a:p>
              <a:pPr algn="r"/>
              <a:r>
                <a:rPr lang="en-AU" sz="800" dirty="0"/>
                <a:t>8</a:t>
              </a:r>
            </a:p>
            <a:p>
              <a:pPr algn="r"/>
              <a:r>
                <a:rPr lang="en-AU" sz="800" dirty="0"/>
                <a:t>7</a:t>
              </a:r>
            </a:p>
            <a:p>
              <a:pPr algn="r"/>
              <a:r>
                <a:rPr lang="en-AU" sz="800" dirty="0"/>
                <a:t>6</a:t>
              </a:r>
            </a:p>
            <a:p>
              <a:pPr algn="r"/>
              <a:r>
                <a:rPr lang="en-AU" sz="800" dirty="0"/>
                <a:t>5</a:t>
              </a:r>
            </a:p>
            <a:p>
              <a:pPr algn="r"/>
              <a:r>
                <a:rPr lang="en-AU" sz="800" dirty="0"/>
                <a:t>4</a:t>
              </a:r>
            </a:p>
            <a:p>
              <a:pPr algn="r"/>
              <a:r>
                <a:rPr lang="en-AU" sz="800" dirty="0"/>
                <a:t>3</a:t>
              </a:r>
            </a:p>
            <a:p>
              <a:pPr algn="r"/>
              <a:r>
                <a:rPr lang="en-AU" sz="800" dirty="0"/>
                <a:t>2</a:t>
              </a:r>
            </a:p>
            <a:p>
              <a:pPr algn="r"/>
              <a:r>
                <a:rPr lang="en-AU" sz="800" dirty="0"/>
                <a:t>1</a:t>
              </a:r>
            </a:p>
            <a:p>
              <a:pPr algn="r"/>
              <a:r>
                <a:rPr lang="en-AU" sz="800" dirty="0"/>
                <a:t>0</a:t>
              </a:r>
            </a:p>
            <a:p>
              <a:pPr algn="r"/>
              <a:endParaRPr lang="en-AU" sz="800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420282" y="5217787"/>
              <a:ext cx="499403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000" dirty="0"/>
                <a:t>1      2       3      4      5      6      </a:t>
              </a:r>
              <a:r>
                <a:rPr lang="en-AU" sz="1050" b="1" dirty="0"/>
                <a:t>Kg</a:t>
              </a:r>
              <a:endParaRPr lang="en-AU" sz="1000" b="1" dirty="0"/>
            </a:p>
          </p:txBody>
        </p:sp>
      </p:grpSp>
      <p:graphicFrame>
        <p:nvGraphicFramePr>
          <p:cNvPr id="39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7364052"/>
              </p:ext>
            </p:extLst>
          </p:nvPr>
        </p:nvGraphicFramePr>
        <p:xfrm>
          <a:off x="759631" y="406096"/>
          <a:ext cx="1058008" cy="1615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9004">
                  <a:extLst>
                    <a:ext uri="{9D8B030D-6E8A-4147-A177-3AD203B41FA5}">
                      <a16:colId xmlns:a16="http://schemas.microsoft.com/office/drawing/2014/main" xmlns="" val="504231401"/>
                    </a:ext>
                  </a:extLst>
                </a:gridCol>
                <a:gridCol w="529004">
                  <a:extLst>
                    <a:ext uri="{9D8B030D-6E8A-4147-A177-3AD203B41FA5}">
                      <a16:colId xmlns:a16="http://schemas.microsoft.com/office/drawing/2014/main" xmlns="" val="7674368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$:Kg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$÷kg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64933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4:2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94574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8:4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99014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10:5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02168278"/>
                  </a:ext>
                </a:extLst>
              </a:tr>
            </a:tbl>
          </a:graphicData>
        </a:graphic>
      </p:graphicFrame>
      <p:graphicFrame>
        <p:nvGraphicFramePr>
          <p:cNvPr id="40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61876563"/>
              </p:ext>
            </p:extLst>
          </p:nvPr>
        </p:nvGraphicFramePr>
        <p:xfrm>
          <a:off x="3748741" y="456103"/>
          <a:ext cx="1194734" cy="15333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7367">
                  <a:extLst>
                    <a:ext uri="{9D8B030D-6E8A-4147-A177-3AD203B41FA5}">
                      <a16:colId xmlns:a16="http://schemas.microsoft.com/office/drawing/2014/main" xmlns="" val="504231401"/>
                    </a:ext>
                  </a:extLst>
                </a:gridCol>
                <a:gridCol w="597367">
                  <a:extLst>
                    <a:ext uri="{9D8B030D-6E8A-4147-A177-3AD203B41FA5}">
                      <a16:colId xmlns:a16="http://schemas.microsoft.com/office/drawing/2014/main" xmlns="" val="767436826"/>
                    </a:ext>
                  </a:extLst>
                </a:gridCol>
              </a:tblGrid>
              <a:tr h="420847">
                <a:tc>
                  <a:txBody>
                    <a:bodyPr/>
                    <a:lstStyle/>
                    <a:p>
                      <a:r>
                        <a:rPr lang="en-AU" dirty="0"/>
                        <a:t>$:Kg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$÷kg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64933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6:2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94574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10:4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99014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12:5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02168278"/>
                  </a:ext>
                </a:extLst>
              </a:tr>
            </a:tbl>
          </a:graphicData>
        </a:graphic>
      </p:graphicFrame>
      <p:graphicFrame>
        <p:nvGraphicFramePr>
          <p:cNvPr id="41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6318829"/>
              </p:ext>
            </p:extLst>
          </p:nvPr>
        </p:nvGraphicFramePr>
        <p:xfrm>
          <a:off x="6518324" y="500063"/>
          <a:ext cx="1058008" cy="1615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9004">
                  <a:extLst>
                    <a:ext uri="{9D8B030D-6E8A-4147-A177-3AD203B41FA5}">
                      <a16:colId xmlns:a16="http://schemas.microsoft.com/office/drawing/2014/main" xmlns="" val="504231401"/>
                    </a:ext>
                  </a:extLst>
                </a:gridCol>
                <a:gridCol w="529004">
                  <a:extLst>
                    <a:ext uri="{9D8B030D-6E8A-4147-A177-3AD203B41FA5}">
                      <a16:colId xmlns:a16="http://schemas.microsoft.com/office/drawing/2014/main" xmlns="" val="7674368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$:Kg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$÷kg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64933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2:2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94574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8:4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99014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15:5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02168278"/>
                  </a:ext>
                </a:extLst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1296393" y="36764"/>
            <a:ext cx="7234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does a graph of a proportional relationship look like?</a:t>
            </a:r>
          </a:p>
        </p:txBody>
      </p:sp>
    </p:spTree>
    <p:extLst>
      <p:ext uri="{BB962C8B-B14F-4D97-AF65-F5344CB8AC3E}">
        <p14:creationId xmlns:p14="http://schemas.microsoft.com/office/powerpoint/2010/main" val="76132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268560" y="2808580"/>
            <a:ext cx="5404508" cy="2808462"/>
            <a:chOff x="6009804" y="2808580"/>
            <a:chExt cx="5404508" cy="2808462"/>
          </a:xfrm>
        </p:grpSpPr>
        <p:pic>
          <p:nvPicPr>
            <p:cNvPr id="28" name="Picture 27"/>
            <p:cNvPicPr>
              <a:picLocks noChangeAspect="1"/>
            </p:cNvPicPr>
            <p:nvPr/>
          </p:nvPicPr>
          <p:blipFill rotWithShape="1">
            <a:blip r:embed="rId2"/>
            <a:srcRect r="22886"/>
            <a:stretch/>
          </p:blipFill>
          <p:spPr>
            <a:xfrm>
              <a:off x="6128996" y="2808580"/>
              <a:ext cx="2064886" cy="2521633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 rot="16200000">
              <a:off x="4744073" y="4074312"/>
              <a:ext cx="2808461" cy="276999"/>
            </a:xfrm>
            <a:prstGeom prst="rect">
              <a:avLst/>
            </a:prstGeom>
            <a:noFill/>
          </p:spPr>
          <p:txBody>
            <a:bodyPr vert="vert" wrap="square" rtlCol="0">
              <a:spAutoFit/>
            </a:bodyPr>
            <a:lstStyle/>
            <a:p>
              <a:pPr algn="r"/>
              <a:r>
                <a:rPr lang="en-AU" sz="1050" b="1" dirty="0"/>
                <a:t>$</a:t>
              </a:r>
            </a:p>
            <a:p>
              <a:pPr algn="r"/>
              <a:r>
                <a:rPr lang="en-AU" sz="800" dirty="0"/>
                <a:t>18</a:t>
              </a:r>
            </a:p>
            <a:p>
              <a:pPr algn="r"/>
              <a:r>
                <a:rPr lang="en-AU" sz="800" dirty="0"/>
                <a:t>17</a:t>
              </a:r>
            </a:p>
            <a:p>
              <a:pPr algn="r"/>
              <a:r>
                <a:rPr lang="en-AU" sz="800" dirty="0"/>
                <a:t>16</a:t>
              </a:r>
            </a:p>
            <a:p>
              <a:pPr algn="r"/>
              <a:r>
                <a:rPr lang="en-AU" sz="800" dirty="0"/>
                <a:t>15</a:t>
              </a:r>
            </a:p>
            <a:p>
              <a:pPr algn="r"/>
              <a:r>
                <a:rPr lang="en-AU" sz="800" dirty="0"/>
                <a:t>14</a:t>
              </a:r>
            </a:p>
            <a:p>
              <a:pPr algn="r"/>
              <a:r>
                <a:rPr lang="en-AU" sz="800" dirty="0"/>
                <a:t>13</a:t>
              </a:r>
            </a:p>
            <a:p>
              <a:pPr algn="r"/>
              <a:r>
                <a:rPr lang="en-AU" sz="800" dirty="0"/>
                <a:t>12</a:t>
              </a:r>
            </a:p>
            <a:p>
              <a:pPr algn="r"/>
              <a:r>
                <a:rPr lang="en-AU" sz="800" dirty="0"/>
                <a:t>11</a:t>
              </a:r>
            </a:p>
            <a:p>
              <a:pPr algn="r"/>
              <a:r>
                <a:rPr lang="en-AU" sz="800" dirty="0"/>
                <a:t>10</a:t>
              </a:r>
            </a:p>
            <a:p>
              <a:pPr algn="r"/>
              <a:r>
                <a:rPr lang="en-AU" sz="800" dirty="0"/>
                <a:t>9</a:t>
              </a:r>
            </a:p>
            <a:p>
              <a:pPr algn="r"/>
              <a:r>
                <a:rPr lang="en-AU" sz="800" dirty="0"/>
                <a:t>8</a:t>
              </a:r>
            </a:p>
            <a:p>
              <a:pPr algn="r"/>
              <a:r>
                <a:rPr lang="en-AU" sz="800" dirty="0"/>
                <a:t>7</a:t>
              </a:r>
            </a:p>
            <a:p>
              <a:pPr algn="r"/>
              <a:r>
                <a:rPr lang="en-AU" sz="800" dirty="0"/>
                <a:t>6</a:t>
              </a:r>
            </a:p>
            <a:p>
              <a:pPr algn="r"/>
              <a:r>
                <a:rPr lang="en-AU" sz="800" dirty="0"/>
                <a:t>5</a:t>
              </a:r>
            </a:p>
            <a:p>
              <a:pPr algn="r"/>
              <a:r>
                <a:rPr lang="en-AU" sz="800" dirty="0"/>
                <a:t>4</a:t>
              </a:r>
            </a:p>
            <a:p>
              <a:pPr algn="r"/>
              <a:r>
                <a:rPr lang="en-AU" sz="800" dirty="0"/>
                <a:t>3</a:t>
              </a:r>
            </a:p>
            <a:p>
              <a:pPr algn="r"/>
              <a:r>
                <a:rPr lang="en-AU" sz="800" dirty="0"/>
                <a:t>2</a:t>
              </a:r>
            </a:p>
            <a:p>
              <a:pPr algn="r"/>
              <a:r>
                <a:rPr lang="en-AU" sz="800" dirty="0"/>
                <a:t>1</a:t>
              </a:r>
            </a:p>
            <a:p>
              <a:pPr algn="r"/>
              <a:r>
                <a:rPr lang="en-AU" sz="800" dirty="0"/>
                <a:t>0</a:t>
              </a:r>
            </a:p>
            <a:p>
              <a:pPr algn="r"/>
              <a:endParaRPr lang="en-AU" sz="800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420282" y="5217787"/>
              <a:ext cx="499403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000" dirty="0"/>
                <a:t>1      2       3      4      5      6      </a:t>
              </a:r>
              <a:r>
                <a:rPr lang="en-AU" sz="1050" b="1" dirty="0"/>
                <a:t>Kg</a:t>
              </a:r>
              <a:endParaRPr lang="en-AU" sz="1000" b="1" dirty="0"/>
            </a:p>
          </p:txBody>
        </p:sp>
      </p:grpSp>
      <p:cxnSp>
        <p:nvCxnSpPr>
          <p:cNvPr id="7" name="Straight Connector 6"/>
          <p:cNvCxnSpPr>
            <a:cxnSpLocks/>
          </p:cNvCxnSpPr>
          <p:nvPr/>
        </p:nvCxnSpPr>
        <p:spPr>
          <a:xfrm flipV="1">
            <a:off x="361608" y="3621881"/>
            <a:ext cx="1854054" cy="18498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oup 20"/>
          <p:cNvGrpSpPr/>
          <p:nvPr/>
        </p:nvGrpSpPr>
        <p:grpSpPr>
          <a:xfrm>
            <a:off x="6009804" y="2808580"/>
            <a:ext cx="5404508" cy="2808462"/>
            <a:chOff x="6009804" y="2808580"/>
            <a:chExt cx="5404508" cy="2808462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2"/>
            <a:srcRect r="22886"/>
            <a:stretch/>
          </p:blipFill>
          <p:spPr>
            <a:xfrm>
              <a:off x="6128996" y="2808580"/>
              <a:ext cx="2064886" cy="2521633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 rot="16200000">
              <a:off x="4744073" y="4074312"/>
              <a:ext cx="2808461" cy="276999"/>
            </a:xfrm>
            <a:prstGeom prst="rect">
              <a:avLst/>
            </a:prstGeom>
            <a:noFill/>
          </p:spPr>
          <p:txBody>
            <a:bodyPr vert="vert" wrap="square" rtlCol="0">
              <a:spAutoFit/>
            </a:bodyPr>
            <a:lstStyle/>
            <a:p>
              <a:pPr algn="r"/>
              <a:r>
                <a:rPr lang="en-AU" sz="1050" b="1" dirty="0"/>
                <a:t>$</a:t>
              </a:r>
            </a:p>
            <a:p>
              <a:pPr algn="r"/>
              <a:r>
                <a:rPr lang="en-AU" sz="800" dirty="0"/>
                <a:t>18</a:t>
              </a:r>
            </a:p>
            <a:p>
              <a:pPr algn="r"/>
              <a:r>
                <a:rPr lang="en-AU" sz="800" dirty="0"/>
                <a:t>17</a:t>
              </a:r>
            </a:p>
            <a:p>
              <a:pPr algn="r"/>
              <a:r>
                <a:rPr lang="en-AU" sz="800" dirty="0"/>
                <a:t>16</a:t>
              </a:r>
            </a:p>
            <a:p>
              <a:pPr algn="r"/>
              <a:r>
                <a:rPr lang="en-AU" sz="800" dirty="0"/>
                <a:t>15</a:t>
              </a:r>
            </a:p>
            <a:p>
              <a:pPr algn="r"/>
              <a:r>
                <a:rPr lang="en-AU" sz="800" dirty="0"/>
                <a:t>14</a:t>
              </a:r>
            </a:p>
            <a:p>
              <a:pPr algn="r"/>
              <a:r>
                <a:rPr lang="en-AU" sz="800" dirty="0"/>
                <a:t>13</a:t>
              </a:r>
            </a:p>
            <a:p>
              <a:pPr algn="r"/>
              <a:r>
                <a:rPr lang="en-AU" sz="800" dirty="0"/>
                <a:t>12</a:t>
              </a:r>
            </a:p>
            <a:p>
              <a:pPr algn="r"/>
              <a:r>
                <a:rPr lang="en-AU" sz="800" dirty="0"/>
                <a:t>11</a:t>
              </a:r>
            </a:p>
            <a:p>
              <a:pPr algn="r"/>
              <a:r>
                <a:rPr lang="en-AU" sz="800" dirty="0"/>
                <a:t>10</a:t>
              </a:r>
            </a:p>
            <a:p>
              <a:pPr algn="r"/>
              <a:r>
                <a:rPr lang="en-AU" sz="800" dirty="0"/>
                <a:t>9</a:t>
              </a:r>
            </a:p>
            <a:p>
              <a:pPr algn="r"/>
              <a:r>
                <a:rPr lang="en-AU" sz="800" dirty="0"/>
                <a:t>8</a:t>
              </a:r>
            </a:p>
            <a:p>
              <a:pPr algn="r"/>
              <a:r>
                <a:rPr lang="en-AU" sz="800" dirty="0"/>
                <a:t>7</a:t>
              </a:r>
            </a:p>
            <a:p>
              <a:pPr algn="r"/>
              <a:r>
                <a:rPr lang="en-AU" sz="800" dirty="0"/>
                <a:t>6</a:t>
              </a:r>
            </a:p>
            <a:p>
              <a:pPr algn="r"/>
              <a:r>
                <a:rPr lang="en-AU" sz="800" dirty="0"/>
                <a:t>5</a:t>
              </a:r>
            </a:p>
            <a:p>
              <a:pPr algn="r"/>
              <a:r>
                <a:rPr lang="en-AU" sz="800" dirty="0"/>
                <a:t>4</a:t>
              </a:r>
            </a:p>
            <a:p>
              <a:pPr algn="r"/>
              <a:r>
                <a:rPr lang="en-AU" sz="800" dirty="0"/>
                <a:t>3</a:t>
              </a:r>
            </a:p>
            <a:p>
              <a:pPr algn="r"/>
              <a:r>
                <a:rPr lang="en-AU" sz="800" dirty="0"/>
                <a:t>2</a:t>
              </a:r>
            </a:p>
            <a:p>
              <a:pPr algn="r"/>
              <a:r>
                <a:rPr lang="en-AU" sz="800" dirty="0"/>
                <a:t>1</a:t>
              </a:r>
            </a:p>
            <a:p>
              <a:pPr algn="r"/>
              <a:r>
                <a:rPr lang="en-AU" sz="800" dirty="0"/>
                <a:t>0</a:t>
              </a:r>
            </a:p>
            <a:p>
              <a:pPr algn="r"/>
              <a:endParaRPr lang="en-AU" sz="800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420282" y="5217787"/>
              <a:ext cx="499403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000" dirty="0"/>
                <a:t>1      2       3      4      5      6      </a:t>
              </a:r>
              <a:r>
                <a:rPr lang="en-AU" sz="1050" b="1" dirty="0"/>
                <a:t>Kg</a:t>
              </a:r>
              <a:endParaRPr lang="en-AU" sz="1000" b="1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3126110" y="2808580"/>
            <a:ext cx="5404508" cy="2808462"/>
            <a:chOff x="6009804" y="2808580"/>
            <a:chExt cx="5404508" cy="2808462"/>
          </a:xfrm>
        </p:grpSpPr>
        <p:pic>
          <p:nvPicPr>
            <p:cNvPr id="24" name="Picture 23"/>
            <p:cNvPicPr>
              <a:picLocks noChangeAspect="1"/>
            </p:cNvPicPr>
            <p:nvPr/>
          </p:nvPicPr>
          <p:blipFill rotWithShape="1">
            <a:blip r:embed="rId2"/>
            <a:srcRect r="22886"/>
            <a:stretch/>
          </p:blipFill>
          <p:spPr>
            <a:xfrm>
              <a:off x="6128996" y="2808580"/>
              <a:ext cx="2064886" cy="2521633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 rot="16200000">
              <a:off x="4744073" y="4074312"/>
              <a:ext cx="2808461" cy="276999"/>
            </a:xfrm>
            <a:prstGeom prst="rect">
              <a:avLst/>
            </a:prstGeom>
            <a:noFill/>
          </p:spPr>
          <p:txBody>
            <a:bodyPr vert="vert" wrap="square" rtlCol="0">
              <a:spAutoFit/>
            </a:bodyPr>
            <a:lstStyle/>
            <a:p>
              <a:pPr algn="r"/>
              <a:r>
                <a:rPr lang="en-AU" sz="1050" b="1" dirty="0"/>
                <a:t>$</a:t>
              </a:r>
            </a:p>
            <a:p>
              <a:pPr algn="r"/>
              <a:r>
                <a:rPr lang="en-AU" sz="800" dirty="0"/>
                <a:t>18</a:t>
              </a:r>
            </a:p>
            <a:p>
              <a:pPr algn="r"/>
              <a:r>
                <a:rPr lang="en-AU" sz="800" dirty="0"/>
                <a:t>17</a:t>
              </a:r>
            </a:p>
            <a:p>
              <a:pPr algn="r"/>
              <a:r>
                <a:rPr lang="en-AU" sz="800" dirty="0"/>
                <a:t>16</a:t>
              </a:r>
            </a:p>
            <a:p>
              <a:pPr algn="r"/>
              <a:r>
                <a:rPr lang="en-AU" sz="800" dirty="0"/>
                <a:t>15</a:t>
              </a:r>
            </a:p>
            <a:p>
              <a:pPr algn="r"/>
              <a:r>
                <a:rPr lang="en-AU" sz="800" dirty="0"/>
                <a:t>14</a:t>
              </a:r>
            </a:p>
            <a:p>
              <a:pPr algn="r"/>
              <a:r>
                <a:rPr lang="en-AU" sz="800" dirty="0"/>
                <a:t>13</a:t>
              </a:r>
            </a:p>
            <a:p>
              <a:pPr algn="r"/>
              <a:r>
                <a:rPr lang="en-AU" sz="800" dirty="0"/>
                <a:t>12</a:t>
              </a:r>
            </a:p>
            <a:p>
              <a:pPr algn="r"/>
              <a:r>
                <a:rPr lang="en-AU" sz="800" dirty="0"/>
                <a:t>11</a:t>
              </a:r>
            </a:p>
            <a:p>
              <a:pPr algn="r"/>
              <a:r>
                <a:rPr lang="en-AU" sz="800" dirty="0"/>
                <a:t>10</a:t>
              </a:r>
            </a:p>
            <a:p>
              <a:pPr algn="r"/>
              <a:r>
                <a:rPr lang="en-AU" sz="800" dirty="0"/>
                <a:t>9</a:t>
              </a:r>
            </a:p>
            <a:p>
              <a:pPr algn="r"/>
              <a:r>
                <a:rPr lang="en-AU" sz="800" dirty="0"/>
                <a:t>8</a:t>
              </a:r>
            </a:p>
            <a:p>
              <a:pPr algn="r"/>
              <a:r>
                <a:rPr lang="en-AU" sz="800" dirty="0"/>
                <a:t>7</a:t>
              </a:r>
            </a:p>
            <a:p>
              <a:pPr algn="r"/>
              <a:r>
                <a:rPr lang="en-AU" sz="800" dirty="0"/>
                <a:t>6</a:t>
              </a:r>
            </a:p>
            <a:p>
              <a:pPr algn="r"/>
              <a:r>
                <a:rPr lang="en-AU" sz="800" dirty="0"/>
                <a:t>5</a:t>
              </a:r>
            </a:p>
            <a:p>
              <a:pPr algn="r"/>
              <a:r>
                <a:rPr lang="en-AU" sz="800" dirty="0"/>
                <a:t>4</a:t>
              </a:r>
            </a:p>
            <a:p>
              <a:pPr algn="r"/>
              <a:r>
                <a:rPr lang="en-AU" sz="800" dirty="0"/>
                <a:t>3</a:t>
              </a:r>
            </a:p>
            <a:p>
              <a:pPr algn="r"/>
              <a:r>
                <a:rPr lang="en-AU" sz="800" dirty="0"/>
                <a:t>2</a:t>
              </a:r>
            </a:p>
            <a:p>
              <a:pPr algn="r"/>
              <a:r>
                <a:rPr lang="en-AU" sz="800" dirty="0"/>
                <a:t>1</a:t>
              </a:r>
            </a:p>
            <a:p>
              <a:pPr algn="r"/>
              <a:r>
                <a:rPr lang="en-AU" sz="800" dirty="0"/>
                <a:t>0</a:t>
              </a:r>
            </a:p>
            <a:p>
              <a:pPr algn="r"/>
              <a:endParaRPr lang="en-AU" sz="800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420282" y="5217787"/>
              <a:ext cx="499403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000" dirty="0"/>
                <a:t>1      2       3      4      5      6      </a:t>
              </a:r>
              <a:r>
                <a:rPr lang="en-AU" sz="1050" b="1" dirty="0"/>
                <a:t>Kg</a:t>
              </a:r>
              <a:endParaRPr lang="en-AU" sz="1000" b="1" dirty="0"/>
            </a:p>
          </p:txBody>
        </p:sp>
      </p:grpSp>
      <p:sp>
        <p:nvSpPr>
          <p:cNvPr id="2" name="Oval 1"/>
          <p:cNvSpPr/>
          <p:nvPr/>
        </p:nvSpPr>
        <p:spPr>
          <a:xfrm>
            <a:off x="1001487" y="4790599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Oval 17"/>
          <p:cNvSpPr/>
          <p:nvPr/>
        </p:nvSpPr>
        <p:spPr>
          <a:xfrm>
            <a:off x="1496787" y="4300062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Oval 18"/>
          <p:cNvSpPr/>
          <p:nvPr/>
        </p:nvSpPr>
        <p:spPr>
          <a:xfrm>
            <a:off x="1728365" y="4069396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268559" y="2080190"/>
            <a:ext cx="28706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Proportional as $÷Kg gives the same answer each time</a:t>
            </a:r>
          </a:p>
        </p:txBody>
      </p:sp>
      <p:graphicFrame>
        <p:nvGraphicFramePr>
          <p:cNvPr id="3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7960481"/>
              </p:ext>
            </p:extLst>
          </p:nvPr>
        </p:nvGraphicFramePr>
        <p:xfrm>
          <a:off x="759631" y="406096"/>
          <a:ext cx="1058008" cy="1615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9004">
                  <a:extLst>
                    <a:ext uri="{9D8B030D-6E8A-4147-A177-3AD203B41FA5}">
                      <a16:colId xmlns:a16="http://schemas.microsoft.com/office/drawing/2014/main" xmlns="" val="504231401"/>
                    </a:ext>
                  </a:extLst>
                </a:gridCol>
                <a:gridCol w="529004">
                  <a:extLst>
                    <a:ext uri="{9D8B030D-6E8A-4147-A177-3AD203B41FA5}">
                      <a16:colId xmlns:a16="http://schemas.microsoft.com/office/drawing/2014/main" xmlns="" val="7674368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$:Kg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$÷kg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64933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4:2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94574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8:4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99014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10:5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02168278"/>
                  </a:ext>
                </a:extLst>
              </a:tr>
            </a:tbl>
          </a:graphicData>
        </a:graphic>
      </p:graphicFrame>
      <p:graphicFrame>
        <p:nvGraphicFramePr>
          <p:cNvPr id="3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4385813"/>
              </p:ext>
            </p:extLst>
          </p:nvPr>
        </p:nvGraphicFramePr>
        <p:xfrm>
          <a:off x="3748741" y="456103"/>
          <a:ext cx="1194734" cy="15333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7367">
                  <a:extLst>
                    <a:ext uri="{9D8B030D-6E8A-4147-A177-3AD203B41FA5}">
                      <a16:colId xmlns:a16="http://schemas.microsoft.com/office/drawing/2014/main" xmlns="" val="504231401"/>
                    </a:ext>
                  </a:extLst>
                </a:gridCol>
                <a:gridCol w="597367">
                  <a:extLst>
                    <a:ext uri="{9D8B030D-6E8A-4147-A177-3AD203B41FA5}">
                      <a16:colId xmlns:a16="http://schemas.microsoft.com/office/drawing/2014/main" xmlns="" val="767436826"/>
                    </a:ext>
                  </a:extLst>
                </a:gridCol>
              </a:tblGrid>
              <a:tr h="420847">
                <a:tc>
                  <a:txBody>
                    <a:bodyPr/>
                    <a:lstStyle/>
                    <a:p>
                      <a:r>
                        <a:rPr lang="en-AU" dirty="0"/>
                        <a:t>$:Kg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$÷kg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64933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6:2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94574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10:4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99014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12:5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02168278"/>
                  </a:ext>
                </a:extLst>
              </a:tr>
            </a:tbl>
          </a:graphicData>
        </a:graphic>
      </p:graphicFrame>
      <p:graphicFrame>
        <p:nvGraphicFramePr>
          <p:cNvPr id="3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6318829"/>
              </p:ext>
            </p:extLst>
          </p:nvPr>
        </p:nvGraphicFramePr>
        <p:xfrm>
          <a:off x="6518324" y="500063"/>
          <a:ext cx="1058008" cy="1615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9004">
                  <a:extLst>
                    <a:ext uri="{9D8B030D-6E8A-4147-A177-3AD203B41FA5}">
                      <a16:colId xmlns:a16="http://schemas.microsoft.com/office/drawing/2014/main" xmlns="" val="504231401"/>
                    </a:ext>
                  </a:extLst>
                </a:gridCol>
                <a:gridCol w="529004">
                  <a:extLst>
                    <a:ext uri="{9D8B030D-6E8A-4147-A177-3AD203B41FA5}">
                      <a16:colId xmlns:a16="http://schemas.microsoft.com/office/drawing/2014/main" xmlns="" val="7674368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$:Kg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$÷kg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64933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2:2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94574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8:4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99014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15:5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02168278"/>
                  </a:ext>
                </a:extLst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1296393" y="36764"/>
            <a:ext cx="7234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does a graph of a proportional relationship look like?</a:t>
            </a:r>
          </a:p>
        </p:txBody>
      </p:sp>
    </p:spTree>
    <p:extLst>
      <p:ext uri="{BB962C8B-B14F-4D97-AF65-F5344CB8AC3E}">
        <p14:creationId xmlns:p14="http://schemas.microsoft.com/office/powerpoint/2010/main" val="2095660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8" grpId="0" animBg="1"/>
      <p:bldP spid="19" grpId="0" animBg="1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3126110" y="2808580"/>
            <a:ext cx="5404508" cy="2808462"/>
            <a:chOff x="6009804" y="2808580"/>
            <a:chExt cx="5404508" cy="2808462"/>
          </a:xfrm>
        </p:grpSpPr>
        <p:pic>
          <p:nvPicPr>
            <p:cNvPr id="24" name="Picture 23"/>
            <p:cNvPicPr>
              <a:picLocks noChangeAspect="1"/>
            </p:cNvPicPr>
            <p:nvPr/>
          </p:nvPicPr>
          <p:blipFill rotWithShape="1">
            <a:blip r:embed="rId2"/>
            <a:srcRect r="22886"/>
            <a:stretch/>
          </p:blipFill>
          <p:spPr>
            <a:xfrm>
              <a:off x="6128996" y="2808580"/>
              <a:ext cx="2064886" cy="2521633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 rot="16200000">
              <a:off x="4744073" y="4074312"/>
              <a:ext cx="2808461" cy="276999"/>
            </a:xfrm>
            <a:prstGeom prst="rect">
              <a:avLst/>
            </a:prstGeom>
            <a:noFill/>
          </p:spPr>
          <p:txBody>
            <a:bodyPr vert="vert" wrap="square" rtlCol="0">
              <a:spAutoFit/>
            </a:bodyPr>
            <a:lstStyle/>
            <a:p>
              <a:pPr algn="r"/>
              <a:r>
                <a:rPr lang="en-AU" sz="1050" b="1" dirty="0"/>
                <a:t>$</a:t>
              </a:r>
            </a:p>
            <a:p>
              <a:pPr algn="r"/>
              <a:r>
                <a:rPr lang="en-AU" sz="800" dirty="0"/>
                <a:t>18</a:t>
              </a:r>
            </a:p>
            <a:p>
              <a:pPr algn="r"/>
              <a:r>
                <a:rPr lang="en-AU" sz="800" dirty="0"/>
                <a:t>17</a:t>
              </a:r>
            </a:p>
            <a:p>
              <a:pPr algn="r"/>
              <a:r>
                <a:rPr lang="en-AU" sz="800" dirty="0"/>
                <a:t>16</a:t>
              </a:r>
            </a:p>
            <a:p>
              <a:pPr algn="r"/>
              <a:r>
                <a:rPr lang="en-AU" sz="800" dirty="0"/>
                <a:t>15</a:t>
              </a:r>
            </a:p>
            <a:p>
              <a:pPr algn="r"/>
              <a:r>
                <a:rPr lang="en-AU" sz="800" dirty="0"/>
                <a:t>14</a:t>
              </a:r>
            </a:p>
            <a:p>
              <a:pPr algn="r"/>
              <a:r>
                <a:rPr lang="en-AU" sz="800" dirty="0"/>
                <a:t>13</a:t>
              </a:r>
            </a:p>
            <a:p>
              <a:pPr algn="r"/>
              <a:r>
                <a:rPr lang="en-AU" sz="800" dirty="0"/>
                <a:t>12</a:t>
              </a:r>
            </a:p>
            <a:p>
              <a:pPr algn="r"/>
              <a:r>
                <a:rPr lang="en-AU" sz="800" dirty="0"/>
                <a:t>11</a:t>
              </a:r>
            </a:p>
            <a:p>
              <a:pPr algn="r"/>
              <a:r>
                <a:rPr lang="en-AU" sz="800" dirty="0"/>
                <a:t>10</a:t>
              </a:r>
            </a:p>
            <a:p>
              <a:pPr algn="r"/>
              <a:r>
                <a:rPr lang="en-AU" sz="800" dirty="0"/>
                <a:t>9</a:t>
              </a:r>
            </a:p>
            <a:p>
              <a:pPr algn="r"/>
              <a:r>
                <a:rPr lang="en-AU" sz="800" dirty="0"/>
                <a:t>8</a:t>
              </a:r>
            </a:p>
            <a:p>
              <a:pPr algn="r"/>
              <a:r>
                <a:rPr lang="en-AU" sz="800" dirty="0"/>
                <a:t>7</a:t>
              </a:r>
            </a:p>
            <a:p>
              <a:pPr algn="r"/>
              <a:r>
                <a:rPr lang="en-AU" sz="800" dirty="0"/>
                <a:t>6</a:t>
              </a:r>
            </a:p>
            <a:p>
              <a:pPr algn="r"/>
              <a:r>
                <a:rPr lang="en-AU" sz="800" dirty="0"/>
                <a:t>5</a:t>
              </a:r>
            </a:p>
            <a:p>
              <a:pPr algn="r"/>
              <a:r>
                <a:rPr lang="en-AU" sz="800" dirty="0"/>
                <a:t>4</a:t>
              </a:r>
            </a:p>
            <a:p>
              <a:pPr algn="r"/>
              <a:r>
                <a:rPr lang="en-AU" sz="800" dirty="0"/>
                <a:t>3</a:t>
              </a:r>
            </a:p>
            <a:p>
              <a:pPr algn="r"/>
              <a:r>
                <a:rPr lang="en-AU" sz="800" dirty="0"/>
                <a:t>2</a:t>
              </a:r>
            </a:p>
            <a:p>
              <a:pPr algn="r"/>
              <a:r>
                <a:rPr lang="en-AU" sz="800" dirty="0"/>
                <a:t>1</a:t>
              </a:r>
            </a:p>
            <a:p>
              <a:pPr algn="r"/>
              <a:r>
                <a:rPr lang="en-AU" sz="800" dirty="0"/>
                <a:t>0</a:t>
              </a:r>
            </a:p>
            <a:p>
              <a:pPr algn="r"/>
              <a:endParaRPr lang="en-AU" sz="800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420282" y="5217787"/>
              <a:ext cx="499403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000" dirty="0"/>
                <a:t>1      2       3      4      5      6      </a:t>
              </a:r>
              <a:r>
                <a:rPr lang="en-AU" sz="1050" b="1" dirty="0"/>
                <a:t>Kg</a:t>
              </a:r>
              <a:endParaRPr lang="en-AU" sz="1000" b="1" dirty="0"/>
            </a:p>
          </p:txBody>
        </p:sp>
      </p:grpSp>
      <p:cxnSp>
        <p:nvCxnSpPr>
          <p:cNvPr id="34" name="Straight Connector 33"/>
          <p:cNvCxnSpPr>
            <a:cxnSpLocks/>
          </p:cNvCxnSpPr>
          <p:nvPr/>
        </p:nvCxnSpPr>
        <p:spPr>
          <a:xfrm flipV="1">
            <a:off x="3205278" y="3398010"/>
            <a:ext cx="1854054" cy="18498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/>
          <p:cNvGrpSpPr/>
          <p:nvPr/>
        </p:nvGrpSpPr>
        <p:grpSpPr>
          <a:xfrm>
            <a:off x="268560" y="2808580"/>
            <a:ext cx="5404508" cy="2808462"/>
            <a:chOff x="6009804" y="2808580"/>
            <a:chExt cx="5404508" cy="2808462"/>
          </a:xfrm>
        </p:grpSpPr>
        <p:pic>
          <p:nvPicPr>
            <p:cNvPr id="28" name="Picture 27"/>
            <p:cNvPicPr>
              <a:picLocks noChangeAspect="1"/>
            </p:cNvPicPr>
            <p:nvPr/>
          </p:nvPicPr>
          <p:blipFill rotWithShape="1">
            <a:blip r:embed="rId2"/>
            <a:srcRect r="22886"/>
            <a:stretch/>
          </p:blipFill>
          <p:spPr>
            <a:xfrm>
              <a:off x="6128996" y="2808580"/>
              <a:ext cx="2064886" cy="2521633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 rot="16200000">
              <a:off x="4744073" y="4074312"/>
              <a:ext cx="2808461" cy="276999"/>
            </a:xfrm>
            <a:prstGeom prst="rect">
              <a:avLst/>
            </a:prstGeom>
            <a:noFill/>
          </p:spPr>
          <p:txBody>
            <a:bodyPr vert="vert" wrap="square" rtlCol="0">
              <a:spAutoFit/>
            </a:bodyPr>
            <a:lstStyle/>
            <a:p>
              <a:pPr algn="r"/>
              <a:r>
                <a:rPr lang="en-AU" sz="1050" b="1" dirty="0"/>
                <a:t>$</a:t>
              </a:r>
            </a:p>
            <a:p>
              <a:pPr algn="r"/>
              <a:r>
                <a:rPr lang="en-AU" sz="800" dirty="0"/>
                <a:t>18</a:t>
              </a:r>
            </a:p>
            <a:p>
              <a:pPr algn="r"/>
              <a:r>
                <a:rPr lang="en-AU" sz="800" dirty="0"/>
                <a:t>17</a:t>
              </a:r>
            </a:p>
            <a:p>
              <a:pPr algn="r"/>
              <a:r>
                <a:rPr lang="en-AU" sz="800" dirty="0"/>
                <a:t>16</a:t>
              </a:r>
            </a:p>
            <a:p>
              <a:pPr algn="r"/>
              <a:r>
                <a:rPr lang="en-AU" sz="800" dirty="0"/>
                <a:t>15</a:t>
              </a:r>
            </a:p>
            <a:p>
              <a:pPr algn="r"/>
              <a:r>
                <a:rPr lang="en-AU" sz="800" dirty="0"/>
                <a:t>14</a:t>
              </a:r>
            </a:p>
            <a:p>
              <a:pPr algn="r"/>
              <a:r>
                <a:rPr lang="en-AU" sz="800" dirty="0"/>
                <a:t>13</a:t>
              </a:r>
            </a:p>
            <a:p>
              <a:pPr algn="r"/>
              <a:r>
                <a:rPr lang="en-AU" sz="800" dirty="0"/>
                <a:t>12</a:t>
              </a:r>
            </a:p>
            <a:p>
              <a:pPr algn="r"/>
              <a:r>
                <a:rPr lang="en-AU" sz="800" dirty="0"/>
                <a:t>11</a:t>
              </a:r>
            </a:p>
            <a:p>
              <a:pPr algn="r"/>
              <a:r>
                <a:rPr lang="en-AU" sz="800" dirty="0"/>
                <a:t>10</a:t>
              </a:r>
            </a:p>
            <a:p>
              <a:pPr algn="r"/>
              <a:r>
                <a:rPr lang="en-AU" sz="800" dirty="0"/>
                <a:t>9</a:t>
              </a:r>
            </a:p>
            <a:p>
              <a:pPr algn="r"/>
              <a:r>
                <a:rPr lang="en-AU" sz="800" dirty="0"/>
                <a:t>8</a:t>
              </a:r>
            </a:p>
            <a:p>
              <a:pPr algn="r"/>
              <a:r>
                <a:rPr lang="en-AU" sz="800" dirty="0"/>
                <a:t>7</a:t>
              </a:r>
            </a:p>
            <a:p>
              <a:pPr algn="r"/>
              <a:r>
                <a:rPr lang="en-AU" sz="800" dirty="0"/>
                <a:t>6</a:t>
              </a:r>
            </a:p>
            <a:p>
              <a:pPr algn="r"/>
              <a:r>
                <a:rPr lang="en-AU" sz="800" dirty="0"/>
                <a:t>5</a:t>
              </a:r>
            </a:p>
            <a:p>
              <a:pPr algn="r"/>
              <a:r>
                <a:rPr lang="en-AU" sz="800" dirty="0"/>
                <a:t>4</a:t>
              </a:r>
            </a:p>
            <a:p>
              <a:pPr algn="r"/>
              <a:r>
                <a:rPr lang="en-AU" sz="800" dirty="0"/>
                <a:t>3</a:t>
              </a:r>
            </a:p>
            <a:p>
              <a:pPr algn="r"/>
              <a:r>
                <a:rPr lang="en-AU" sz="800" dirty="0"/>
                <a:t>2</a:t>
              </a:r>
            </a:p>
            <a:p>
              <a:pPr algn="r"/>
              <a:r>
                <a:rPr lang="en-AU" sz="800" dirty="0"/>
                <a:t>1</a:t>
              </a:r>
            </a:p>
            <a:p>
              <a:pPr algn="r"/>
              <a:r>
                <a:rPr lang="en-AU" sz="800" dirty="0"/>
                <a:t>0</a:t>
              </a:r>
            </a:p>
            <a:p>
              <a:pPr algn="r"/>
              <a:endParaRPr lang="en-AU" sz="800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420282" y="5217787"/>
              <a:ext cx="499403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000" dirty="0"/>
                <a:t>1      2       3      4      5      6      </a:t>
              </a:r>
              <a:r>
                <a:rPr lang="en-AU" sz="1050" b="1" dirty="0"/>
                <a:t>Kg</a:t>
              </a:r>
              <a:endParaRPr lang="en-AU" sz="1000" b="1" dirty="0"/>
            </a:p>
          </p:txBody>
        </p:sp>
      </p:grpSp>
      <p:cxnSp>
        <p:nvCxnSpPr>
          <p:cNvPr id="7" name="Straight Connector 6"/>
          <p:cNvCxnSpPr>
            <a:cxnSpLocks/>
          </p:cNvCxnSpPr>
          <p:nvPr/>
        </p:nvCxnSpPr>
        <p:spPr>
          <a:xfrm flipV="1">
            <a:off x="357458" y="3623806"/>
            <a:ext cx="1854054" cy="18498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2215158"/>
              </p:ext>
            </p:extLst>
          </p:nvPr>
        </p:nvGraphicFramePr>
        <p:xfrm>
          <a:off x="759631" y="406096"/>
          <a:ext cx="1058008" cy="1615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9004">
                  <a:extLst>
                    <a:ext uri="{9D8B030D-6E8A-4147-A177-3AD203B41FA5}">
                      <a16:colId xmlns:a16="http://schemas.microsoft.com/office/drawing/2014/main" xmlns="" val="504231401"/>
                    </a:ext>
                  </a:extLst>
                </a:gridCol>
                <a:gridCol w="529004">
                  <a:extLst>
                    <a:ext uri="{9D8B030D-6E8A-4147-A177-3AD203B41FA5}">
                      <a16:colId xmlns:a16="http://schemas.microsoft.com/office/drawing/2014/main" xmlns="" val="7674368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$:Kg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$÷kg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64933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4:2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94574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8:4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99014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10:5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02168278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11278458"/>
              </p:ext>
            </p:extLst>
          </p:nvPr>
        </p:nvGraphicFramePr>
        <p:xfrm>
          <a:off x="3748741" y="456103"/>
          <a:ext cx="1194734" cy="15333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7367">
                  <a:extLst>
                    <a:ext uri="{9D8B030D-6E8A-4147-A177-3AD203B41FA5}">
                      <a16:colId xmlns:a16="http://schemas.microsoft.com/office/drawing/2014/main" xmlns="" val="504231401"/>
                    </a:ext>
                  </a:extLst>
                </a:gridCol>
                <a:gridCol w="597367">
                  <a:extLst>
                    <a:ext uri="{9D8B030D-6E8A-4147-A177-3AD203B41FA5}">
                      <a16:colId xmlns:a16="http://schemas.microsoft.com/office/drawing/2014/main" xmlns="" val="767436826"/>
                    </a:ext>
                  </a:extLst>
                </a:gridCol>
              </a:tblGrid>
              <a:tr h="420847">
                <a:tc>
                  <a:txBody>
                    <a:bodyPr/>
                    <a:lstStyle/>
                    <a:p>
                      <a:r>
                        <a:rPr lang="en-AU" dirty="0"/>
                        <a:t>$:Kg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$÷kg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64933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6:2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94574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10:4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2.5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99014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12:5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02168278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1595971"/>
              </p:ext>
            </p:extLst>
          </p:nvPr>
        </p:nvGraphicFramePr>
        <p:xfrm>
          <a:off x="6518324" y="500063"/>
          <a:ext cx="1058008" cy="1615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9004">
                  <a:extLst>
                    <a:ext uri="{9D8B030D-6E8A-4147-A177-3AD203B41FA5}">
                      <a16:colId xmlns:a16="http://schemas.microsoft.com/office/drawing/2014/main" xmlns="" val="504231401"/>
                    </a:ext>
                  </a:extLst>
                </a:gridCol>
                <a:gridCol w="529004">
                  <a:extLst>
                    <a:ext uri="{9D8B030D-6E8A-4147-A177-3AD203B41FA5}">
                      <a16:colId xmlns:a16="http://schemas.microsoft.com/office/drawing/2014/main" xmlns="" val="7674368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$:Kg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$÷kg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64933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2:2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94574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8:4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99014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15:5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02168278"/>
                  </a:ext>
                </a:extLst>
              </a:tr>
            </a:tbl>
          </a:graphicData>
        </a:graphic>
      </p:graphicFrame>
      <p:grpSp>
        <p:nvGrpSpPr>
          <p:cNvPr id="21" name="Group 20"/>
          <p:cNvGrpSpPr/>
          <p:nvPr/>
        </p:nvGrpSpPr>
        <p:grpSpPr>
          <a:xfrm>
            <a:off x="6009804" y="2808580"/>
            <a:ext cx="5404508" cy="2808462"/>
            <a:chOff x="6009804" y="2808580"/>
            <a:chExt cx="5404508" cy="2808462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2"/>
            <a:srcRect r="22886"/>
            <a:stretch/>
          </p:blipFill>
          <p:spPr>
            <a:xfrm>
              <a:off x="6128996" y="2808580"/>
              <a:ext cx="2064886" cy="2521633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 rot="16200000">
              <a:off x="4744073" y="4074312"/>
              <a:ext cx="2808461" cy="276999"/>
            </a:xfrm>
            <a:prstGeom prst="rect">
              <a:avLst/>
            </a:prstGeom>
            <a:noFill/>
          </p:spPr>
          <p:txBody>
            <a:bodyPr vert="vert" wrap="square" rtlCol="0">
              <a:spAutoFit/>
            </a:bodyPr>
            <a:lstStyle/>
            <a:p>
              <a:pPr algn="r"/>
              <a:r>
                <a:rPr lang="en-AU" sz="1050" b="1" dirty="0"/>
                <a:t>$</a:t>
              </a:r>
            </a:p>
            <a:p>
              <a:pPr algn="r"/>
              <a:r>
                <a:rPr lang="en-AU" sz="800" dirty="0"/>
                <a:t>18</a:t>
              </a:r>
            </a:p>
            <a:p>
              <a:pPr algn="r"/>
              <a:r>
                <a:rPr lang="en-AU" sz="800" dirty="0"/>
                <a:t>17</a:t>
              </a:r>
            </a:p>
            <a:p>
              <a:pPr algn="r"/>
              <a:r>
                <a:rPr lang="en-AU" sz="800" dirty="0"/>
                <a:t>16</a:t>
              </a:r>
            </a:p>
            <a:p>
              <a:pPr algn="r"/>
              <a:r>
                <a:rPr lang="en-AU" sz="800" dirty="0"/>
                <a:t>15</a:t>
              </a:r>
            </a:p>
            <a:p>
              <a:pPr algn="r"/>
              <a:r>
                <a:rPr lang="en-AU" sz="800" dirty="0"/>
                <a:t>14</a:t>
              </a:r>
            </a:p>
            <a:p>
              <a:pPr algn="r"/>
              <a:r>
                <a:rPr lang="en-AU" sz="800" dirty="0"/>
                <a:t>13</a:t>
              </a:r>
            </a:p>
            <a:p>
              <a:pPr algn="r"/>
              <a:r>
                <a:rPr lang="en-AU" sz="800" dirty="0"/>
                <a:t>12</a:t>
              </a:r>
            </a:p>
            <a:p>
              <a:pPr algn="r"/>
              <a:r>
                <a:rPr lang="en-AU" sz="800" dirty="0"/>
                <a:t>11</a:t>
              </a:r>
            </a:p>
            <a:p>
              <a:pPr algn="r"/>
              <a:r>
                <a:rPr lang="en-AU" sz="800" dirty="0"/>
                <a:t>10</a:t>
              </a:r>
            </a:p>
            <a:p>
              <a:pPr algn="r"/>
              <a:r>
                <a:rPr lang="en-AU" sz="800" dirty="0"/>
                <a:t>9</a:t>
              </a:r>
            </a:p>
            <a:p>
              <a:pPr algn="r"/>
              <a:r>
                <a:rPr lang="en-AU" sz="800" dirty="0"/>
                <a:t>8</a:t>
              </a:r>
            </a:p>
            <a:p>
              <a:pPr algn="r"/>
              <a:r>
                <a:rPr lang="en-AU" sz="800" dirty="0"/>
                <a:t>7</a:t>
              </a:r>
            </a:p>
            <a:p>
              <a:pPr algn="r"/>
              <a:r>
                <a:rPr lang="en-AU" sz="800" dirty="0"/>
                <a:t>6</a:t>
              </a:r>
            </a:p>
            <a:p>
              <a:pPr algn="r"/>
              <a:r>
                <a:rPr lang="en-AU" sz="800" dirty="0"/>
                <a:t>5</a:t>
              </a:r>
            </a:p>
            <a:p>
              <a:pPr algn="r"/>
              <a:r>
                <a:rPr lang="en-AU" sz="800" dirty="0"/>
                <a:t>4</a:t>
              </a:r>
            </a:p>
            <a:p>
              <a:pPr algn="r"/>
              <a:r>
                <a:rPr lang="en-AU" sz="800" dirty="0"/>
                <a:t>3</a:t>
              </a:r>
            </a:p>
            <a:p>
              <a:pPr algn="r"/>
              <a:r>
                <a:rPr lang="en-AU" sz="800" dirty="0"/>
                <a:t>2</a:t>
              </a:r>
            </a:p>
            <a:p>
              <a:pPr algn="r"/>
              <a:r>
                <a:rPr lang="en-AU" sz="800" dirty="0"/>
                <a:t>1</a:t>
              </a:r>
            </a:p>
            <a:p>
              <a:pPr algn="r"/>
              <a:r>
                <a:rPr lang="en-AU" sz="800" dirty="0"/>
                <a:t>0</a:t>
              </a:r>
            </a:p>
            <a:p>
              <a:pPr algn="r"/>
              <a:endParaRPr lang="en-AU" sz="800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420282" y="5217787"/>
              <a:ext cx="499403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000" dirty="0"/>
                <a:t>1      2       3      4      5      6      </a:t>
              </a:r>
              <a:r>
                <a:rPr lang="en-AU" sz="1050" b="1" dirty="0"/>
                <a:t>Kg</a:t>
              </a:r>
              <a:endParaRPr lang="en-AU" sz="1000" b="1" dirty="0"/>
            </a:p>
          </p:txBody>
        </p:sp>
      </p:grpSp>
      <p:sp>
        <p:nvSpPr>
          <p:cNvPr id="2" name="Oval 1"/>
          <p:cNvSpPr/>
          <p:nvPr/>
        </p:nvSpPr>
        <p:spPr>
          <a:xfrm>
            <a:off x="1001487" y="4790599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Oval 17"/>
          <p:cNvSpPr/>
          <p:nvPr/>
        </p:nvSpPr>
        <p:spPr>
          <a:xfrm>
            <a:off x="1496787" y="4300062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Oval 18"/>
          <p:cNvSpPr/>
          <p:nvPr/>
        </p:nvSpPr>
        <p:spPr>
          <a:xfrm>
            <a:off x="1728365" y="4069396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255488" y="2072681"/>
            <a:ext cx="28706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Proportional as $÷Kg gives the same answer each time</a:t>
            </a:r>
          </a:p>
        </p:txBody>
      </p:sp>
      <p:sp>
        <p:nvSpPr>
          <p:cNvPr id="31" name="Oval 30"/>
          <p:cNvSpPr/>
          <p:nvPr/>
        </p:nvSpPr>
        <p:spPr>
          <a:xfrm>
            <a:off x="3871414" y="4542292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2" name="Oval 31"/>
          <p:cNvSpPr/>
          <p:nvPr/>
        </p:nvSpPr>
        <p:spPr>
          <a:xfrm>
            <a:off x="4350752" y="4068353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Oval 32"/>
          <p:cNvSpPr/>
          <p:nvPr/>
        </p:nvSpPr>
        <p:spPr>
          <a:xfrm>
            <a:off x="4606640" y="3806416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5" name="TextBox 34"/>
          <p:cNvSpPr txBox="1"/>
          <p:nvPr/>
        </p:nvSpPr>
        <p:spPr>
          <a:xfrm>
            <a:off x="3126110" y="2110967"/>
            <a:ext cx="2870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 dirty="0"/>
              <a:t>Not Proportional </a:t>
            </a:r>
            <a:r>
              <a:rPr lang="en-AU" sz="1400" dirty="0"/>
              <a:t>as $÷Kg </a:t>
            </a:r>
            <a:r>
              <a:rPr lang="en-AU" sz="1400" b="1" dirty="0"/>
              <a:t>does not</a:t>
            </a:r>
            <a:r>
              <a:rPr lang="en-AU" sz="1400" dirty="0"/>
              <a:t> give the same answer each 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96393" y="36764"/>
            <a:ext cx="7234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does a graph of a proportional relationship look like?</a:t>
            </a:r>
          </a:p>
        </p:txBody>
      </p:sp>
    </p:spTree>
    <p:extLst>
      <p:ext uri="{BB962C8B-B14F-4D97-AF65-F5344CB8AC3E}">
        <p14:creationId xmlns:p14="http://schemas.microsoft.com/office/powerpoint/2010/main" val="1032677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6009804" y="2808580"/>
            <a:ext cx="5404508" cy="2808462"/>
            <a:chOff x="6009804" y="2808580"/>
            <a:chExt cx="5404508" cy="2808462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2"/>
            <a:srcRect r="22886"/>
            <a:stretch/>
          </p:blipFill>
          <p:spPr>
            <a:xfrm>
              <a:off x="6128996" y="2808580"/>
              <a:ext cx="2064886" cy="2521633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 rot="16200000">
              <a:off x="4744073" y="4074312"/>
              <a:ext cx="2808461" cy="276999"/>
            </a:xfrm>
            <a:prstGeom prst="rect">
              <a:avLst/>
            </a:prstGeom>
            <a:noFill/>
          </p:spPr>
          <p:txBody>
            <a:bodyPr vert="vert" wrap="square" rtlCol="0">
              <a:spAutoFit/>
            </a:bodyPr>
            <a:lstStyle/>
            <a:p>
              <a:pPr algn="r"/>
              <a:r>
                <a:rPr lang="en-AU" sz="1050" b="1" dirty="0"/>
                <a:t>$</a:t>
              </a:r>
            </a:p>
            <a:p>
              <a:pPr algn="r"/>
              <a:r>
                <a:rPr lang="en-AU" sz="800" dirty="0"/>
                <a:t>18</a:t>
              </a:r>
            </a:p>
            <a:p>
              <a:pPr algn="r"/>
              <a:r>
                <a:rPr lang="en-AU" sz="800" dirty="0"/>
                <a:t>17</a:t>
              </a:r>
            </a:p>
            <a:p>
              <a:pPr algn="r"/>
              <a:r>
                <a:rPr lang="en-AU" sz="800" dirty="0"/>
                <a:t>16</a:t>
              </a:r>
            </a:p>
            <a:p>
              <a:pPr algn="r"/>
              <a:r>
                <a:rPr lang="en-AU" sz="800" dirty="0"/>
                <a:t>15</a:t>
              </a:r>
            </a:p>
            <a:p>
              <a:pPr algn="r"/>
              <a:r>
                <a:rPr lang="en-AU" sz="800" dirty="0"/>
                <a:t>14</a:t>
              </a:r>
            </a:p>
            <a:p>
              <a:pPr algn="r"/>
              <a:r>
                <a:rPr lang="en-AU" sz="800" dirty="0"/>
                <a:t>13</a:t>
              </a:r>
            </a:p>
            <a:p>
              <a:pPr algn="r"/>
              <a:r>
                <a:rPr lang="en-AU" sz="800" dirty="0"/>
                <a:t>12</a:t>
              </a:r>
            </a:p>
            <a:p>
              <a:pPr algn="r"/>
              <a:r>
                <a:rPr lang="en-AU" sz="800" dirty="0"/>
                <a:t>11</a:t>
              </a:r>
            </a:p>
            <a:p>
              <a:pPr algn="r"/>
              <a:r>
                <a:rPr lang="en-AU" sz="800" dirty="0"/>
                <a:t>10</a:t>
              </a:r>
            </a:p>
            <a:p>
              <a:pPr algn="r"/>
              <a:r>
                <a:rPr lang="en-AU" sz="800" dirty="0"/>
                <a:t>9</a:t>
              </a:r>
            </a:p>
            <a:p>
              <a:pPr algn="r"/>
              <a:r>
                <a:rPr lang="en-AU" sz="800" dirty="0"/>
                <a:t>8</a:t>
              </a:r>
            </a:p>
            <a:p>
              <a:pPr algn="r"/>
              <a:r>
                <a:rPr lang="en-AU" sz="800" dirty="0"/>
                <a:t>7</a:t>
              </a:r>
            </a:p>
            <a:p>
              <a:pPr algn="r"/>
              <a:r>
                <a:rPr lang="en-AU" sz="800" dirty="0"/>
                <a:t>6</a:t>
              </a:r>
            </a:p>
            <a:p>
              <a:pPr algn="r"/>
              <a:r>
                <a:rPr lang="en-AU" sz="800" dirty="0"/>
                <a:t>5</a:t>
              </a:r>
            </a:p>
            <a:p>
              <a:pPr algn="r"/>
              <a:r>
                <a:rPr lang="en-AU" sz="800" dirty="0"/>
                <a:t>4</a:t>
              </a:r>
            </a:p>
            <a:p>
              <a:pPr algn="r"/>
              <a:r>
                <a:rPr lang="en-AU" sz="800" dirty="0"/>
                <a:t>3</a:t>
              </a:r>
            </a:p>
            <a:p>
              <a:pPr algn="r"/>
              <a:r>
                <a:rPr lang="en-AU" sz="800" dirty="0"/>
                <a:t>2</a:t>
              </a:r>
            </a:p>
            <a:p>
              <a:pPr algn="r"/>
              <a:r>
                <a:rPr lang="en-AU" sz="800" dirty="0"/>
                <a:t>1</a:t>
              </a:r>
            </a:p>
            <a:p>
              <a:pPr algn="r"/>
              <a:r>
                <a:rPr lang="en-AU" sz="800" dirty="0"/>
                <a:t>0</a:t>
              </a:r>
            </a:p>
            <a:p>
              <a:pPr algn="r"/>
              <a:endParaRPr lang="en-AU" sz="800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420282" y="5217787"/>
              <a:ext cx="499403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000" dirty="0"/>
                <a:t>1      2       3      4      5      6      </a:t>
              </a:r>
              <a:r>
                <a:rPr lang="en-AU" sz="1050" b="1" dirty="0"/>
                <a:t>Kg</a:t>
              </a:r>
              <a:endParaRPr lang="en-AU" sz="1000" b="1" dirty="0"/>
            </a:p>
          </p:txBody>
        </p:sp>
      </p:grpSp>
      <p:sp>
        <p:nvSpPr>
          <p:cNvPr id="3" name="Arc 2"/>
          <p:cNvSpPr/>
          <p:nvPr/>
        </p:nvSpPr>
        <p:spPr>
          <a:xfrm rot="1162825">
            <a:off x="6204775" y="2545289"/>
            <a:ext cx="1179392" cy="2744944"/>
          </a:xfrm>
          <a:prstGeom prst="arc">
            <a:avLst>
              <a:gd name="adj1" fmla="val 17890145"/>
              <a:gd name="adj2" fmla="val 437143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27" name="Group 26"/>
          <p:cNvGrpSpPr/>
          <p:nvPr/>
        </p:nvGrpSpPr>
        <p:grpSpPr>
          <a:xfrm>
            <a:off x="268560" y="2808580"/>
            <a:ext cx="5404508" cy="2808462"/>
            <a:chOff x="6009804" y="2808580"/>
            <a:chExt cx="5404508" cy="2808462"/>
          </a:xfrm>
        </p:grpSpPr>
        <p:pic>
          <p:nvPicPr>
            <p:cNvPr id="28" name="Picture 27"/>
            <p:cNvPicPr>
              <a:picLocks noChangeAspect="1"/>
            </p:cNvPicPr>
            <p:nvPr/>
          </p:nvPicPr>
          <p:blipFill rotWithShape="1">
            <a:blip r:embed="rId2"/>
            <a:srcRect r="22886"/>
            <a:stretch/>
          </p:blipFill>
          <p:spPr>
            <a:xfrm>
              <a:off x="6128996" y="2808580"/>
              <a:ext cx="2064886" cy="2521633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 rot="16200000">
              <a:off x="4744073" y="4074312"/>
              <a:ext cx="2808461" cy="276999"/>
            </a:xfrm>
            <a:prstGeom prst="rect">
              <a:avLst/>
            </a:prstGeom>
            <a:noFill/>
          </p:spPr>
          <p:txBody>
            <a:bodyPr vert="vert" wrap="square" rtlCol="0">
              <a:spAutoFit/>
            </a:bodyPr>
            <a:lstStyle/>
            <a:p>
              <a:pPr algn="r"/>
              <a:r>
                <a:rPr lang="en-AU" sz="1050" b="1" dirty="0"/>
                <a:t>$</a:t>
              </a:r>
            </a:p>
            <a:p>
              <a:pPr algn="r"/>
              <a:r>
                <a:rPr lang="en-AU" sz="800" dirty="0"/>
                <a:t>18</a:t>
              </a:r>
            </a:p>
            <a:p>
              <a:pPr algn="r"/>
              <a:r>
                <a:rPr lang="en-AU" sz="800" dirty="0"/>
                <a:t>17</a:t>
              </a:r>
            </a:p>
            <a:p>
              <a:pPr algn="r"/>
              <a:r>
                <a:rPr lang="en-AU" sz="800" dirty="0"/>
                <a:t>16</a:t>
              </a:r>
            </a:p>
            <a:p>
              <a:pPr algn="r"/>
              <a:r>
                <a:rPr lang="en-AU" sz="800" dirty="0"/>
                <a:t>15</a:t>
              </a:r>
            </a:p>
            <a:p>
              <a:pPr algn="r"/>
              <a:r>
                <a:rPr lang="en-AU" sz="800" dirty="0"/>
                <a:t>14</a:t>
              </a:r>
            </a:p>
            <a:p>
              <a:pPr algn="r"/>
              <a:r>
                <a:rPr lang="en-AU" sz="800" dirty="0"/>
                <a:t>13</a:t>
              </a:r>
            </a:p>
            <a:p>
              <a:pPr algn="r"/>
              <a:r>
                <a:rPr lang="en-AU" sz="800" dirty="0"/>
                <a:t>12</a:t>
              </a:r>
            </a:p>
            <a:p>
              <a:pPr algn="r"/>
              <a:r>
                <a:rPr lang="en-AU" sz="800" dirty="0"/>
                <a:t>11</a:t>
              </a:r>
            </a:p>
            <a:p>
              <a:pPr algn="r"/>
              <a:r>
                <a:rPr lang="en-AU" sz="800" dirty="0"/>
                <a:t>10</a:t>
              </a:r>
            </a:p>
            <a:p>
              <a:pPr algn="r"/>
              <a:r>
                <a:rPr lang="en-AU" sz="800" dirty="0"/>
                <a:t>9</a:t>
              </a:r>
            </a:p>
            <a:p>
              <a:pPr algn="r"/>
              <a:r>
                <a:rPr lang="en-AU" sz="800" dirty="0"/>
                <a:t>8</a:t>
              </a:r>
            </a:p>
            <a:p>
              <a:pPr algn="r"/>
              <a:r>
                <a:rPr lang="en-AU" sz="800" dirty="0"/>
                <a:t>7</a:t>
              </a:r>
            </a:p>
            <a:p>
              <a:pPr algn="r"/>
              <a:r>
                <a:rPr lang="en-AU" sz="800" dirty="0"/>
                <a:t>6</a:t>
              </a:r>
            </a:p>
            <a:p>
              <a:pPr algn="r"/>
              <a:r>
                <a:rPr lang="en-AU" sz="800" dirty="0"/>
                <a:t>5</a:t>
              </a:r>
            </a:p>
            <a:p>
              <a:pPr algn="r"/>
              <a:r>
                <a:rPr lang="en-AU" sz="800" dirty="0"/>
                <a:t>4</a:t>
              </a:r>
            </a:p>
            <a:p>
              <a:pPr algn="r"/>
              <a:r>
                <a:rPr lang="en-AU" sz="800" dirty="0"/>
                <a:t>3</a:t>
              </a:r>
            </a:p>
            <a:p>
              <a:pPr algn="r"/>
              <a:r>
                <a:rPr lang="en-AU" sz="800" dirty="0"/>
                <a:t>2</a:t>
              </a:r>
            </a:p>
            <a:p>
              <a:pPr algn="r"/>
              <a:r>
                <a:rPr lang="en-AU" sz="800" dirty="0"/>
                <a:t>1</a:t>
              </a:r>
            </a:p>
            <a:p>
              <a:pPr algn="r"/>
              <a:r>
                <a:rPr lang="en-AU" sz="800" dirty="0"/>
                <a:t>0</a:t>
              </a:r>
            </a:p>
            <a:p>
              <a:pPr algn="r"/>
              <a:endParaRPr lang="en-AU" sz="800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420282" y="5217787"/>
              <a:ext cx="499403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000" dirty="0"/>
                <a:t>1      2       3      4      5      6      </a:t>
              </a:r>
              <a:r>
                <a:rPr lang="en-AU" sz="1050" b="1" dirty="0"/>
                <a:t>Kg</a:t>
              </a:r>
              <a:endParaRPr lang="en-AU" sz="1000" b="1" dirty="0"/>
            </a:p>
          </p:txBody>
        </p:sp>
      </p:grpSp>
      <p:cxnSp>
        <p:nvCxnSpPr>
          <p:cNvPr id="7" name="Straight Connector 6"/>
          <p:cNvCxnSpPr>
            <a:cxnSpLocks/>
          </p:cNvCxnSpPr>
          <p:nvPr/>
        </p:nvCxnSpPr>
        <p:spPr>
          <a:xfrm flipV="1">
            <a:off x="357458" y="3623806"/>
            <a:ext cx="1854054" cy="18498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759631" y="406096"/>
          <a:ext cx="1058008" cy="1615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9004">
                  <a:extLst>
                    <a:ext uri="{9D8B030D-6E8A-4147-A177-3AD203B41FA5}">
                      <a16:colId xmlns:a16="http://schemas.microsoft.com/office/drawing/2014/main" xmlns="" val="504231401"/>
                    </a:ext>
                  </a:extLst>
                </a:gridCol>
                <a:gridCol w="529004">
                  <a:extLst>
                    <a:ext uri="{9D8B030D-6E8A-4147-A177-3AD203B41FA5}">
                      <a16:colId xmlns:a16="http://schemas.microsoft.com/office/drawing/2014/main" xmlns="" val="7674368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$:Kg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$÷kg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64933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4:2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94574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8:4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99014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10:5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02168278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/>
        </p:nvGraphicFramePr>
        <p:xfrm>
          <a:off x="3748741" y="456103"/>
          <a:ext cx="1194734" cy="15333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7367">
                  <a:extLst>
                    <a:ext uri="{9D8B030D-6E8A-4147-A177-3AD203B41FA5}">
                      <a16:colId xmlns:a16="http://schemas.microsoft.com/office/drawing/2014/main" xmlns="" val="504231401"/>
                    </a:ext>
                  </a:extLst>
                </a:gridCol>
                <a:gridCol w="597367">
                  <a:extLst>
                    <a:ext uri="{9D8B030D-6E8A-4147-A177-3AD203B41FA5}">
                      <a16:colId xmlns:a16="http://schemas.microsoft.com/office/drawing/2014/main" xmlns="" val="767436826"/>
                    </a:ext>
                  </a:extLst>
                </a:gridCol>
              </a:tblGrid>
              <a:tr h="420847">
                <a:tc>
                  <a:txBody>
                    <a:bodyPr/>
                    <a:lstStyle/>
                    <a:p>
                      <a:r>
                        <a:rPr lang="en-AU" dirty="0"/>
                        <a:t>$:Kg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$÷kg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64933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6:2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94574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10:4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2.5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99014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12:5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02168278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7747617"/>
              </p:ext>
            </p:extLst>
          </p:nvPr>
        </p:nvGraphicFramePr>
        <p:xfrm>
          <a:off x="6518324" y="500063"/>
          <a:ext cx="1058008" cy="1615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9004">
                  <a:extLst>
                    <a:ext uri="{9D8B030D-6E8A-4147-A177-3AD203B41FA5}">
                      <a16:colId xmlns:a16="http://schemas.microsoft.com/office/drawing/2014/main" xmlns="" val="504231401"/>
                    </a:ext>
                  </a:extLst>
                </a:gridCol>
                <a:gridCol w="529004">
                  <a:extLst>
                    <a:ext uri="{9D8B030D-6E8A-4147-A177-3AD203B41FA5}">
                      <a16:colId xmlns:a16="http://schemas.microsoft.com/office/drawing/2014/main" xmlns="" val="7674368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$:Kg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$÷kg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64933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2:2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94574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8:4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99014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15:5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02168278"/>
                  </a:ext>
                </a:extLst>
              </a:tr>
            </a:tbl>
          </a:graphicData>
        </a:graphic>
      </p:graphicFrame>
      <p:grpSp>
        <p:nvGrpSpPr>
          <p:cNvPr id="23" name="Group 22"/>
          <p:cNvGrpSpPr/>
          <p:nvPr/>
        </p:nvGrpSpPr>
        <p:grpSpPr>
          <a:xfrm>
            <a:off x="3126110" y="2808580"/>
            <a:ext cx="5404508" cy="2808462"/>
            <a:chOff x="6009804" y="2808580"/>
            <a:chExt cx="5404508" cy="2808462"/>
          </a:xfrm>
        </p:grpSpPr>
        <p:pic>
          <p:nvPicPr>
            <p:cNvPr id="24" name="Picture 23"/>
            <p:cNvPicPr>
              <a:picLocks noChangeAspect="1"/>
            </p:cNvPicPr>
            <p:nvPr/>
          </p:nvPicPr>
          <p:blipFill rotWithShape="1">
            <a:blip r:embed="rId2"/>
            <a:srcRect r="22886"/>
            <a:stretch/>
          </p:blipFill>
          <p:spPr>
            <a:xfrm>
              <a:off x="6128996" y="2808580"/>
              <a:ext cx="2064886" cy="2521633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 rot="16200000">
              <a:off x="4744073" y="4074312"/>
              <a:ext cx="2808461" cy="276999"/>
            </a:xfrm>
            <a:prstGeom prst="rect">
              <a:avLst/>
            </a:prstGeom>
            <a:noFill/>
          </p:spPr>
          <p:txBody>
            <a:bodyPr vert="vert" wrap="square" rtlCol="0">
              <a:spAutoFit/>
            </a:bodyPr>
            <a:lstStyle/>
            <a:p>
              <a:pPr algn="r"/>
              <a:r>
                <a:rPr lang="en-AU" sz="1050" b="1" dirty="0"/>
                <a:t>$</a:t>
              </a:r>
            </a:p>
            <a:p>
              <a:pPr algn="r"/>
              <a:r>
                <a:rPr lang="en-AU" sz="800" dirty="0"/>
                <a:t>18</a:t>
              </a:r>
            </a:p>
            <a:p>
              <a:pPr algn="r"/>
              <a:r>
                <a:rPr lang="en-AU" sz="800" dirty="0"/>
                <a:t>17</a:t>
              </a:r>
            </a:p>
            <a:p>
              <a:pPr algn="r"/>
              <a:r>
                <a:rPr lang="en-AU" sz="800" dirty="0"/>
                <a:t>16</a:t>
              </a:r>
            </a:p>
            <a:p>
              <a:pPr algn="r"/>
              <a:r>
                <a:rPr lang="en-AU" sz="800" dirty="0"/>
                <a:t>15</a:t>
              </a:r>
            </a:p>
            <a:p>
              <a:pPr algn="r"/>
              <a:r>
                <a:rPr lang="en-AU" sz="800" dirty="0"/>
                <a:t>14</a:t>
              </a:r>
            </a:p>
            <a:p>
              <a:pPr algn="r"/>
              <a:r>
                <a:rPr lang="en-AU" sz="800" dirty="0"/>
                <a:t>13</a:t>
              </a:r>
            </a:p>
            <a:p>
              <a:pPr algn="r"/>
              <a:r>
                <a:rPr lang="en-AU" sz="800" dirty="0"/>
                <a:t>12</a:t>
              </a:r>
            </a:p>
            <a:p>
              <a:pPr algn="r"/>
              <a:r>
                <a:rPr lang="en-AU" sz="800" dirty="0"/>
                <a:t>11</a:t>
              </a:r>
            </a:p>
            <a:p>
              <a:pPr algn="r"/>
              <a:r>
                <a:rPr lang="en-AU" sz="800" dirty="0"/>
                <a:t>10</a:t>
              </a:r>
            </a:p>
            <a:p>
              <a:pPr algn="r"/>
              <a:r>
                <a:rPr lang="en-AU" sz="800" dirty="0"/>
                <a:t>9</a:t>
              </a:r>
            </a:p>
            <a:p>
              <a:pPr algn="r"/>
              <a:r>
                <a:rPr lang="en-AU" sz="800" dirty="0"/>
                <a:t>8</a:t>
              </a:r>
            </a:p>
            <a:p>
              <a:pPr algn="r"/>
              <a:r>
                <a:rPr lang="en-AU" sz="800" dirty="0"/>
                <a:t>7</a:t>
              </a:r>
            </a:p>
            <a:p>
              <a:pPr algn="r"/>
              <a:r>
                <a:rPr lang="en-AU" sz="800" dirty="0"/>
                <a:t>6</a:t>
              </a:r>
            </a:p>
            <a:p>
              <a:pPr algn="r"/>
              <a:r>
                <a:rPr lang="en-AU" sz="800" dirty="0"/>
                <a:t>5</a:t>
              </a:r>
            </a:p>
            <a:p>
              <a:pPr algn="r"/>
              <a:r>
                <a:rPr lang="en-AU" sz="800" dirty="0"/>
                <a:t>4</a:t>
              </a:r>
            </a:p>
            <a:p>
              <a:pPr algn="r"/>
              <a:r>
                <a:rPr lang="en-AU" sz="800" dirty="0"/>
                <a:t>3</a:t>
              </a:r>
            </a:p>
            <a:p>
              <a:pPr algn="r"/>
              <a:r>
                <a:rPr lang="en-AU" sz="800" dirty="0"/>
                <a:t>2</a:t>
              </a:r>
            </a:p>
            <a:p>
              <a:pPr algn="r"/>
              <a:r>
                <a:rPr lang="en-AU" sz="800" dirty="0"/>
                <a:t>1</a:t>
              </a:r>
            </a:p>
            <a:p>
              <a:pPr algn="r"/>
              <a:r>
                <a:rPr lang="en-AU" sz="800" dirty="0"/>
                <a:t>0</a:t>
              </a:r>
            </a:p>
            <a:p>
              <a:pPr algn="r"/>
              <a:endParaRPr lang="en-AU" sz="800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420282" y="5217787"/>
              <a:ext cx="499403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000" dirty="0"/>
                <a:t>1      2       3      4      5      6      </a:t>
              </a:r>
              <a:r>
                <a:rPr lang="en-AU" sz="1050" b="1" dirty="0"/>
                <a:t>Kg</a:t>
              </a:r>
              <a:endParaRPr lang="en-AU" sz="1000" b="1" dirty="0"/>
            </a:p>
          </p:txBody>
        </p:sp>
      </p:grpSp>
      <p:sp>
        <p:nvSpPr>
          <p:cNvPr id="2" name="Oval 1"/>
          <p:cNvSpPr/>
          <p:nvPr/>
        </p:nvSpPr>
        <p:spPr>
          <a:xfrm>
            <a:off x="1001487" y="4790599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Oval 17"/>
          <p:cNvSpPr/>
          <p:nvPr/>
        </p:nvSpPr>
        <p:spPr>
          <a:xfrm>
            <a:off x="1496787" y="4300062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Oval 18"/>
          <p:cNvSpPr/>
          <p:nvPr/>
        </p:nvSpPr>
        <p:spPr>
          <a:xfrm>
            <a:off x="1728365" y="4069396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268559" y="2080190"/>
            <a:ext cx="28706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Proportional as $÷Kg gives the same answer each time</a:t>
            </a:r>
          </a:p>
        </p:txBody>
      </p:sp>
      <p:sp>
        <p:nvSpPr>
          <p:cNvPr id="31" name="Oval 30"/>
          <p:cNvSpPr/>
          <p:nvPr/>
        </p:nvSpPr>
        <p:spPr>
          <a:xfrm>
            <a:off x="3871414" y="4542292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2" name="Oval 31"/>
          <p:cNvSpPr/>
          <p:nvPr/>
        </p:nvSpPr>
        <p:spPr>
          <a:xfrm>
            <a:off x="4350752" y="4068353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Oval 32"/>
          <p:cNvSpPr/>
          <p:nvPr/>
        </p:nvSpPr>
        <p:spPr>
          <a:xfrm>
            <a:off x="4606640" y="3806416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4" name="Straight Connector 33"/>
          <p:cNvCxnSpPr>
            <a:cxnSpLocks/>
          </p:cNvCxnSpPr>
          <p:nvPr/>
        </p:nvCxnSpPr>
        <p:spPr>
          <a:xfrm flipV="1">
            <a:off x="3205278" y="3398010"/>
            <a:ext cx="1854054" cy="18498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6756968" y="5026729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6" name="Oval 35"/>
          <p:cNvSpPr/>
          <p:nvPr/>
        </p:nvSpPr>
        <p:spPr>
          <a:xfrm>
            <a:off x="7226821" y="4298632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Oval 36"/>
          <p:cNvSpPr/>
          <p:nvPr/>
        </p:nvSpPr>
        <p:spPr>
          <a:xfrm>
            <a:off x="7469616" y="3473769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TextBox 37"/>
          <p:cNvSpPr txBox="1"/>
          <p:nvPr/>
        </p:nvSpPr>
        <p:spPr>
          <a:xfrm>
            <a:off x="3126110" y="2110967"/>
            <a:ext cx="2870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 dirty="0"/>
              <a:t>Not Proportional </a:t>
            </a:r>
            <a:r>
              <a:rPr lang="en-AU" sz="1400" dirty="0"/>
              <a:t>as $÷Kg </a:t>
            </a:r>
            <a:r>
              <a:rPr lang="en-AU" sz="1400" b="1" dirty="0"/>
              <a:t>does not</a:t>
            </a:r>
            <a:r>
              <a:rPr lang="en-AU" sz="1400" dirty="0"/>
              <a:t> give the same answer each time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3661" y="2137082"/>
            <a:ext cx="2870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 dirty="0"/>
              <a:t>Not Proportional </a:t>
            </a:r>
            <a:r>
              <a:rPr lang="en-AU" sz="1400" dirty="0"/>
              <a:t>as $÷Kg </a:t>
            </a:r>
            <a:r>
              <a:rPr lang="en-AU" sz="1400" b="1" dirty="0"/>
              <a:t>does not</a:t>
            </a:r>
            <a:r>
              <a:rPr lang="en-AU" sz="1400" dirty="0"/>
              <a:t> give the same answer each time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96393" y="36764"/>
            <a:ext cx="7234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does a graph of a proportional relationship look like?</a:t>
            </a:r>
          </a:p>
        </p:txBody>
      </p:sp>
    </p:spTree>
    <p:extLst>
      <p:ext uri="{BB962C8B-B14F-4D97-AF65-F5344CB8AC3E}">
        <p14:creationId xmlns:p14="http://schemas.microsoft.com/office/powerpoint/2010/main" val="570992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5" grpId="0" animBg="1"/>
      <p:bldP spid="36" grpId="0" animBg="1"/>
      <p:bldP spid="37" grpId="0" animBg="1"/>
      <p:bldP spid="3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6009804" y="2808580"/>
            <a:ext cx="5404508" cy="2808462"/>
            <a:chOff x="6009804" y="2808580"/>
            <a:chExt cx="5404508" cy="2808462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2"/>
            <a:srcRect r="22886"/>
            <a:stretch/>
          </p:blipFill>
          <p:spPr>
            <a:xfrm>
              <a:off x="6128996" y="2808580"/>
              <a:ext cx="2064886" cy="2521633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 rot="16200000">
              <a:off x="4744073" y="4074312"/>
              <a:ext cx="2808461" cy="276999"/>
            </a:xfrm>
            <a:prstGeom prst="rect">
              <a:avLst/>
            </a:prstGeom>
            <a:noFill/>
          </p:spPr>
          <p:txBody>
            <a:bodyPr vert="vert" wrap="square" rtlCol="0">
              <a:spAutoFit/>
            </a:bodyPr>
            <a:lstStyle/>
            <a:p>
              <a:pPr algn="r"/>
              <a:r>
                <a:rPr lang="en-AU" sz="1050" b="1" dirty="0"/>
                <a:t>$</a:t>
              </a:r>
            </a:p>
            <a:p>
              <a:pPr algn="r"/>
              <a:r>
                <a:rPr lang="en-AU" sz="800" dirty="0"/>
                <a:t>18</a:t>
              </a:r>
            </a:p>
            <a:p>
              <a:pPr algn="r"/>
              <a:r>
                <a:rPr lang="en-AU" sz="800" dirty="0"/>
                <a:t>17</a:t>
              </a:r>
            </a:p>
            <a:p>
              <a:pPr algn="r"/>
              <a:r>
                <a:rPr lang="en-AU" sz="800" dirty="0"/>
                <a:t>16</a:t>
              </a:r>
            </a:p>
            <a:p>
              <a:pPr algn="r"/>
              <a:r>
                <a:rPr lang="en-AU" sz="800" dirty="0"/>
                <a:t>15</a:t>
              </a:r>
            </a:p>
            <a:p>
              <a:pPr algn="r"/>
              <a:r>
                <a:rPr lang="en-AU" sz="800" dirty="0"/>
                <a:t>14</a:t>
              </a:r>
            </a:p>
            <a:p>
              <a:pPr algn="r"/>
              <a:r>
                <a:rPr lang="en-AU" sz="800" dirty="0"/>
                <a:t>13</a:t>
              </a:r>
            </a:p>
            <a:p>
              <a:pPr algn="r"/>
              <a:r>
                <a:rPr lang="en-AU" sz="800" dirty="0"/>
                <a:t>12</a:t>
              </a:r>
            </a:p>
            <a:p>
              <a:pPr algn="r"/>
              <a:r>
                <a:rPr lang="en-AU" sz="800" dirty="0"/>
                <a:t>11</a:t>
              </a:r>
            </a:p>
            <a:p>
              <a:pPr algn="r"/>
              <a:r>
                <a:rPr lang="en-AU" sz="800" dirty="0"/>
                <a:t>10</a:t>
              </a:r>
            </a:p>
            <a:p>
              <a:pPr algn="r"/>
              <a:r>
                <a:rPr lang="en-AU" sz="800" dirty="0"/>
                <a:t>9</a:t>
              </a:r>
            </a:p>
            <a:p>
              <a:pPr algn="r"/>
              <a:r>
                <a:rPr lang="en-AU" sz="800" dirty="0"/>
                <a:t>8</a:t>
              </a:r>
            </a:p>
            <a:p>
              <a:pPr algn="r"/>
              <a:r>
                <a:rPr lang="en-AU" sz="800" dirty="0"/>
                <a:t>7</a:t>
              </a:r>
            </a:p>
            <a:p>
              <a:pPr algn="r"/>
              <a:r>
                <a:rPr lang="en-AU" sz="800" dirty="0"/>
                <a:t>6</a:t>
              </a:r>
            </a:p>
            <a:p>
              <a:pPr algn="r"/>
              <a:r>
                <a:rPr lang="en-AU" sz="800" dirty="0"/>
                <a:t>5</a:t>
              </a:r>
            </a:p>
            <a:p>
              <a:pPr algn="r"/>
              <a:r>
                <a:rPr lang="en-AU" sz="800" dirty="0"/>
                <a:t>4</a:t>
              </a:r>
            </a:p>
            <a:p>
              <a:pPr algn="r"/>
              <a:r>
                <a:rPr lang="en-AU" sz="800" dirty="0"/>
                <a:t>3</a:t>
              </a:r>
            </a:p>
            <a:p>
              <a:pPr algn="r"/>
              <a:r>
                <a:rPr lang="en-AU" sz="800" dirty="0"/>
                <a:t>2</a:t>
              </a:r>
            </a:p>
            <a:p>
              <a:pPr algn="r"/>
              <a:r>
                <a:rPr lang="en-AU" sz="800" dirty="0"/>
                <a:t>1</a:t>
              </a:r>
            </a:p>
            <a:p>
              <a:pPr algn="r"/>
              <a:r>
                <a:rPr lang="en-AU" sz="800" dirty="0"/>
                <a:t>0</a:t>
              </a:r>
            </a:p>
            <a:p>
              <a:pPr algn="r"/>
              <a:endParaRPr lang="en-AU" sz="800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420282" y="5217787"/>
              <a:ext cx="499403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000" dirty="0"/>
                <a:t>1      2       3      4      5      6      </a:t>
              </a:r>
              <a:r>
                <a:rPr lang="en-AU" sz="1050" b="1" dirty="0"/>
                <a:t>Kg</a:t>
              </a:r>
              <a:endParaRPr lang="en-AU" sz="1000" b="1" dirty="0"/>
            </a:p>
          </p:txBody>
        </p:sp>
      </p:grpSp>
      <p:sp>
        <p:nvSpPr>
          <p:cNvPr id="3" name="Arc 2"/>
          <p:cNvSpPr/>
          <p:nvPr/>
        </p:nvSpPr>
        <p:spPr>
          <a:xfrm rot="1162825">
            <a:off x="6204775" y="2545289"/>
            <a:ext cx="1179392" cy="2744944"/>
          </a:xfrm>
          <a:prstGeom prst="arc">
            <a:avLst>
              <a:gd name="adj1" fmla="val 17890145"/>
              <a:gd name="adj2" fmla="val 437143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27" name="Group 26"/>
          <p:cNvGrpSpPr/>
          <p:nvPr/>
        </p:nvGrpSpPr>
        <p:grpSpPr>
          <a:xfrm>
            <a:off x="268560" y="2808580"/>
            <a:ext cx="5404508" cy="2808462"/>
            <a:chOff x="6009804" y="2808580"/>
            <a:chExt cx="5404508" cy="2808462"/>
          </a:xfrm>
        </p:grpSpPr>
        <p:pic>
          <p:nvPicPr>
            <p:cNvPr id="28" name="Picture 27"/>
            <p:cNvPicPr>
              <a:picLocks noChangeAspect="1"/>
            </p:cNvPicPr>
            <p:nvPr/>
          </p:nvPicPr>
          <p:blipFill rotWithShape="1">
            <a:blip r:embed="rId2"/>
            <a:srcRect r="22886"/>
            <a:stretch/>
          </p:blipFill>
          <p:spPr>
            <a:xfrm>
              <a:off x="6128996" y="2808580"/>
              <a:ext cx="2064886" cy="2521633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 rot="16200000">
              <a:off x="4744073" y="4074312"/>
              <a:ext cx="2808461" cy="276999"/>
            </a:xfrm>
            <a:prstGeom prst="rect">
              <a:avLst/>
            </a:prstGeom>
            <a:noFill/>
          </p:spPr>
          <p:txBody>
            <a:bodyPr vert="vert" wrap="square" rtlCol="0">
              <a:spAutoFit/>
            </a:bodyPr>
            <a:lstStyle/>
            <a:p>
              <a:pPr algn="r"/>
              <a:r>
                <a:rPr lang="en-AU" sz="1050" b="1" dirty="0"/>
                <a:t>$</a:t>
              </a:r>
            </a:p>
            <a:p>
              <a:pPr algn="r"/>
              <a:r>
                <a:rPr lang="en-AU" sz="800" dirty="0"/>
                <a:t>18</a:t>
              </a:r>
            </a:p>
            <a:p>
              <a:pPr algn="r"/>
              <a:r>
                <a:rPr lang="en-AU" sz="800" dirty="0"/>
                <a:t>17</a:t>
              </a:r>
            </a:p>
            <a:p>
              <a:pPr algn="r"/>
              <a:r>
                <a:rPr lang="en-AU" sz="800" dirty="0"/>
                <a:t>16</a:t>
              </a:r>
            </a:p>
            <a:p>
              <a:pPr algn="r"/>
              <a:r>
                <a:rPr lang="en-AU" sz="800" dirty="0"/>
                <a:t>15</a:t>
              </a:r>
            </a:p>
            <a:p>
              <a:pPr algn="r"/>
              <a:r>
                <a:rPr lang="en-AU" sz="800" dirty="0"/>
                <a:t>14</a:t>
              </a:r>
            </a:p>
            <a:p>
              <a:pPr algn="r"/>
              <a:r>
                <a:rPr lang="en-AU" sz="800" dirty="0"/>
                <a:t>13</a:t>
              </a:r>
            </a:p>
            <a:p>
              <a:pPr algn="r"/>
              <a:r>
                <a:rPr lang="en-AU" sz="800" dirty="0"/>
                <a:t>12</a:t>
              </a:r>
            </a:p>
            <a:p>
              <a:pPr algn="r"/>
              <a:r>
                <a:rPr lang="en-AU" sz="800" dirty="0"/>
                <a:t>11</a:t>
              </a:r>
            </a:p>
            <a:p>
              <a:pPr algn="r"/>
              <a:r>
                <a:rPr lang="en-AU" sz="800" dirty="0"/>
                <a:t>10</a:t>
              </a:r>
            </a:p>
            <a:p>
              <a:pPr algn="r"/>
              <a:r>
                <a:rPr lang="en-AU" sz="800" dirty="0"/>
                <a:t>9</a:t>
              </a:r>
            </a:p>
            <a:p>
              <a:pPr algn="r"/>
              <a:r>
                <a:rPr lang="en-AU" sz="800" dirty="0"/>
                <a:t>8</a:t>
              </a:r>
            </a:p>
            <a:p>
              <a:pPr algn="r"/>
              <a:r>
                <a:rPr lang="en-AU" sz="800" dirty="0"/>
                <a:t>7</a:t>
              </a:r>
            </a:p>
            <a:p>
              <a:pPr algn="r"/>
              <a:r>
                <a:rPr lang="en-AU" sz="800" dirty="0"/>
                <a:t>6</a:t>
              </a:r>
            </a:p>
            <a:p>
              <a:pPr algn="r"/>
              <a:r>
                <a:rPr lang="en-AU" sz="800" dirty="0"/>
                <a:t>5</a:t>
              </a:r>
            </a:p>
            <a:p>
              <a:pPr algn="r"/>
              <a:r>
                <a:rPr lang="en-AU" sz="800" dirty="0"/>
                <a:t>4</a:t>
              </a:r>
            </a:p>
            <a:p>
              <a:pPr algn="r"/>
              <a:r>
                <a:rPr lang="en-AU" sz="800" dirty="0"/>
                <a:t>3</a:t>
              </a:r>
            </a:p>
            <a:p>
              <a:pPr algn="r"/>
              <a:r>
                <a:rPr lang="en-AU" sz="800" dirty="0"/>
                <a:t>2</a:t>
              </a:r>
            </a:p>
            <a:p>
              <a:pPr algn="r"/>
              <a:r>
                <a:rPr lang="en-AU" sz="800" dirty="0"/>
                <a:t>1</a:t>
              </a:r>
            </a:p>
            <a:p>
              <a:pPr algn="r"/>
              <a:r>
                <a:rPr lang="en-AU" sz="800" dirty="0"/>
                <a:t>0</a:t>
              </a:r>
            </a:p>
            <a:p>
              <a:pPr algn="r"/>
              <a:endParaRPr lang="en-AU" sz="800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420282" y="5217787"/>
              <a:ext cx="499403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000" dirty="0"/>
                <a:t>1      2       3      4      5      6      </a:t>
              </a:r>
              <a:r>
                <a:rPr lang="en-AU" sz="1050" b="1" dirty="0"/>
                <a:t>Kg</a:t>
              </a:r>
              <a:endParaRPr lang="en-AU" sz="1000" b="1" dirty="0"/>
            </a:p>
          </p:txBody>
        </p:sp>
      </p:grpSp>
      <p:cxnSp>
        <p:nvCxnSpPr>
          <p:cNvPr id="7" name="Straight Connector 6"/>
          <p:cNvCxnSpPr>
            <a:cxnSpLocks/>
          </p:cNvCxnSpPr>
          <p:nvPr/>
        </p:nvCxnSpPr>
        <p:spPr>
          <a:xfrm flipV="1">
            <a:off x="357458" y="3623806"/>
            <a:ext cx="1854054" cy="18498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759631" y="406096"/>
          <a:ext cx="1058008" cy="1615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9004">
                  <a:extLst>
                    <a:ext uri="{9D8B030D-6E8A-4147-A177-3AD203B41FA5}">
                      <a16:colId xmlns:a16="http://schemas.microsoft.com/office/drawing/2014/main" xmlns="" val="504231401"/>
                    </a:ext>
                  </a:extLst>
                </a:gridCol>
                <a:gridCol w="529004">
                  <a:extLst>
                    <a:ext uri="{9D8B030D-6E8A-4147-A177-3AD203B41FA5}">
                      <a16:colId xmlns:a16="http://schemas.microsoft.com/office/drawing/2014/main" xmlns="" val="7674368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$:Kg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$÷kg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64933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4:2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94574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8:4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99014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10:5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02168278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/>
        </p:nvGraphicFramePr>
        <p:xfrm>
          <a:off x="3748741" y="456103"/>
          <a:ext cx="1194734" cy="15333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7367">
                  <a:extLst>
                    <a:ext uri="{9D8B030D-6E8A-4147-A177-3AD203B41FA5}">
                      <a16:colId xmlns:a16="http://schemas.microsoft.com/office/drawing/2014/main" xmlns="" val="504231401"/>
                    </a:ext>
                  </a:extLst>
                </a:gridCol>
                <a:gridCol w="597367">
                  <a:extLst>
                    <a:ext uri="{9D8B030D-6E8A-4147-A177-3AD203B41FA5}">
                      <a16:colId xmlns:a16="http://schemas.microsoft.com/office/drawing/2014/main" xmlns="" val="767436826"/>
                    </a:ext>
                  </a:extLst>
                </a:gridCol>
              </a:tblGrid>
              <a:tr h="420847">
                <a:tc>
                  <a:txBody>
                    <a:bodyPr/>
                    <a:lstStyle/>
                    <a:p>
                      <a:r>
                        <a:rPr lang="en-AU" dirty="0"/>
                        <a:t>$:Kg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$÷kg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64933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6:2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94574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10:4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2.5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99014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12:5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2.4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02168278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/>
        </p:nvGraphicFramePr>
        <p:xfrm>
          <a:off x="6518324" y="500063"/>
          <a:ext cx="1058008" cy="1615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9004">
                  <a:extLst>
                    <a:ext uri="{9D8B030D-6E8A-4147-A177-3AD203B41FA5}">
                      <a16:colId xmlns:a16="http://schemas.microsoft.com/office/drawing/2014/main" xmlns="" val="504231401"/>
                    </a:ext>
                  </a:extLst>
                </a:gridCol>
                <a:gridCol w="529004">
                  <a:extLst>
                    <a:ext uri="{9D8B030D-6E8A-4147-A177-3AD203B41FA5}">
                      <a16:colId xmlns:a16="http://schemas.microsoft.com/office/drawing/2014/main" xmlns="" val="7674368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$:Kg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$÷kg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64933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2:2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94574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8:4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99014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15:5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02168278"/>
                  </a:ext>
                </a:extLst>
              </a:tr>
            </a:tbl>
          </a:graphicData>
        </a:graphic>
      </p:graphicFrame>
      <p:grpSp>
        <p:nvGrpSpPr>
          <p:cNvPr id="23" name="Group 22"/>
          <p:cNvGrpSpPr/>
          <p:nvPr/>
        </p:nvGrpSpPr>
        <p:grpSpPr>
          <a:xfrm>
            <a:off x="3126110" y="2808580"/>
            <a:ext cx="5404508" cy="2808462"/>
            <a:chOff x="6009804" y="2808580"/>
            <a:chExt cx="5404508" cy="2808462"/>
          </a:xfrm>
        </p:grpSpPr>
        <p:pic>
          <p:nvPicPr>
            <p:cNvPr id="24" name="Picture 23"/>
            <p:cNvPicPr>
              <a:picLocks noChangeAspect="1"/>
            </p:cNvPicPr>
            <p:nvPr/>
          </p:nvPicPr>
          <p:blipFill rotWithShape="1">
            <a:blip r:embed="rId2"/>
            <a:srcRect r="22886"/>
            <a:stretch/>
          </p:blipFill>
          <p:spPr>
            <a:xfrm>
              <a:off x="6128996" y="2808580"/>
              <a:ext cx="2064886" cy="2521633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 rot="16200000">
              <a:off x="4744073" y="4074312"/>
              <a:ext cx="2808461" cy="276999"/>
            </a:xfrm>
            <a:prstGeom prst="rect">
              <a:avLst/>
            </a:prstGeom>
            <a:noFill/>
          </p:spPr>
          <p:txBody>
            <a:bodyPr vert="vert" wrap="square" rtlCol="0">
              <a:spAutoFit/>
            </a:bodyPr>
            <a:lstStyle/>
            <a:p>
              <a:pPr algn="r"/>
              <a:r>
                <a:rPr lang="en-AU" sz="1050" b="1" dirty="0"/>
                <a:t>$</a:t>
              </a:r>
            </a:p>
            <a:p>
              <a:pPr algn="r"/>
              <a:r>
                <a:rPr lang="en-AU" sz="800" dirty="0"/>
                <a:t>18</a:t>
              </a:r>
            </a:p>
            <a:p>
              <a:pPr algn="r"/>
              <a:r>
                <a:rPr lang="en-AU" sz="800" dirty="0"/>
                <a:t>17</a:t>
              </a:r>
            </a:p>
            <a:p>
              <a:pPr algn="r"/>
              <a:r>
                <a:rPr lang="en-AU" sz="800" dirty="0"/>
                <a:t>16</a:t>
              </a:r>
            </a:p>
            <a:p>
              <a:pPr algn="r"/>
              <a:r>
                <a:rPr lang="en-AU" sz="800" dirty="0"/>
                <a:t>15</a:t>
              </a:r>
            </a:p>
            <a:p>
              <a:pPr algn="r"/>
              <a:r>
                <a:rPr lang="en-AU" sz="800" dirty="0"/>
                <a:t>14</a:t>
              </a:r>
            </a:p>
            <a:p>
              <a:pPr algn="r"/>
              <a:r>
                <a:rPr lang="en-AU" sz="800" dirty="0"/>
                <a:t>13</a:t>
              </a:r>
            </a:p>
            <a:p>
              <a:pPr algn="r"/>
              <a:r>
                <a:rPr lang="en-AU" sz="800" dirty="0"/>
                <a:t>12</a:t>
              </a:r>
            </a:p>
            <a:p>
              <a:pPr algn="r"/>
              <a:r>
                <a:rPr lang="en-AU" sz="800" dirty="0"/>
                <a:t>11</a:t>
              </a:r>
            </a:p>
            <a:p>
              <a:pPr algn="r"/>
              <a:r>
                <a:rPr lang="en-AU" sz="800" dirty="0"/>
                <a:t>10</a:t>
              </a:r>
            </a:p>
            <a:p>
              <a:pPr algn="r"/>
              <a:r>
                <a:rPr lang="en-AU" sz="800" dirty="0"/>
                <a:t>9</a:t>
              </a:r>
            </a:p>
            <a:p>
              <a:pPr algn="r"/>
              <a:r>
                <a:rPr lang="en-AU" sz="800" dirty="0"/>
                <a:t>8</a:t>
              </a:r>
            </a:p>
            <a:p>
              <a:pPr algn="r"/>
              <a:r>
                <a:rPr lang="en-AU" sz="800" dirty="0"/>
                <a:t>7</a:t>
              </a:r>
            </a:p>
            <a:p>
              <a:pPr algn="r"/>
              <a:r>
                <a:rPr lang="en-AU" sz="800" dirty="0"/>
                <a:t>6</a:t>
              </a:r>
            </a:p>
            <a:p>
              <a:pPr algn="r"/>
              <a:r>
                <a:rPr lang="en-AU" sz="800" dirty="0"/>
                <a:t>5</a:t>
              </a:r>
            </a:p>
            <a:p>
              <a:pPr algn="r"/>
              <a:r>
                <a:rPr lang="en-AU" sz="800" dirty="0"/>
                <a:t>4</a:t>
              </a:r>
            </a:p>
            <a:p>
              <a:pPr algn="r"/>
              <a:r>
                <a:rPr lang="en-AU" sz="800" dirty="0"/>
                <a:t>3</a:t>
              </a:r>
            </a:p>
            <a:p>
              <a:pPr algn="r"/>
              <a:r>
                <a:rPr lang="en-AU" sz="800" dirty="0"/>
                <a:t>2</a:t>
              </a:r>
            </a:p>
            <a:p>
              <a:pPr algn="r"/>
              <a:r>
                <a:rPr lang="en-AU" sz="800" dirty="0"/>
                <a:t>1</a:t>
              </a:r>
            </a:p>
            <a:p>
              <a:pPr algn="r"/>
              <a:r>
                <a:rPr lang="en-AU" sz="800" dirty="0"/>
                <a:t>0</a:t>
              </a:r>
            </a:p>
            <a:p>
              <a:pPr algn="r"/>
              <a:endParaRPr lang="en-AU" sz="800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420282" y="5217787"/>
              <a:ext cx="499403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000" dirty="0"/>
                <a:t>1      2       3      4      5      6      </a:t>
              </a:r>
              <a:r>
                <a:rPr lang="en-AU" sz="1050" b="1" dirty="0"/>
                <a:t>Kg</a:t>
              </a:r>
              <a:endParaRPr lang="en-AU" sz="1000" b="1" dirty="0"/>
            </a:p>
          </p:txBody>
        </p:sp>
      </p:grpSp>
      <p:sp>
        <p:nvSpPr>
          <p:cNvPr id="2" name="Oval 1"/>
          <p:cNvSpPr/>
          <p:nvPr/>
        </p:nvSpPr>
        <p:spPr>
          <a:xfrm>
            <a:off x="1001487" y="4790599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Oval 17"/>
          <p:cNvSpPr/>
          <p:nvPr/>
        </p:nvSpPr>
        <p:spPr>
          <a:xfrm>
            <a:off x="1496787" y="4300062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Oval 18"/>
          <p:cNvSpPr/>
          <p:nvPr/>
        </p:nvSpPr>
        <p:spPr>
          <a:xfrm>
            <a:off x="1728365" y="4069396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268559" y="2080190"/>
            <a:ext cx="28706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Proportional as $÷Kg gives the same answer each time</a:t>
            </a:r>
          </a:p>
        </p:txBody>
      </p:sp>
      <p:sp>
        <p:nvSpPr>
          <p:cNvPr id="31" name="Oval 30"/>
          <p:cNvSpPr/>
          <p:nvPr/>
        </p:nvSpPr>
        <p:spPr>
          <a:xfrm>
            <a:off x="3871414" y="4542292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2" name="Oval 31"/>
          <p:cNvSpPr/>
          <p:nvPr/>
        </p:nvSpPr>
        <p:spPr>
          <a:xfrm>
            <a:off x="4350752" y="4068353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Oval 32"/>
          <p:cNvSpPr/>
          <p:nvPr/>
        </p:nvSpPr>
        <p:spPr>
          <a:xfrm>
            <a:off x="4606640" y="3806416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4" name="Straight Connector 33"/>
          <p:cNvCxnSpPr>
            <a:cxnSpLocks/>
          </p:cNvCxnSpPr>
          <p:nvPr/>
        </p:nvCxnSpPr>
        <p:spPr>
          <a:xfrm flipV="1">
            <a:off x="3205278" y="3398010"/>
            <a:ext cx="1854054" cy="18498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6756968" y="5026729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6" name="Oval 35"/>
          <p:cNvSpPr/>
          <p:nvPr/>
        </p:nvSpPr>
        <p:spPr>
          <a:xfrm>
            <a:off x="7226821" y="4298632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Oval 36"/>
          <p:cNvSpPr/>
          <p:nvPr/>
        </p:nvSpPr>
        <p:spPr>
          <a:xfrm>
            <a:off x="7469616" y="3473769"/>
            <a:ext cx="62932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TextBox 37"/>
          <p:cNvSpPr txBox="1"/>
          <p:nvPr/>
        </p:nvSpPr>
        <p:spPr>
          <a:xfrm>
            <a:off x="3126110" y="2110967"/>
            <a:ext cx="2870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 dirty="0"/>
              <a:t>Not Proportional </a:t>
            </a:r>
            <a:r>
              <a:rPr lang="en-AU" sz="1400" dirty="0"/>
              <a:t>as $÷Kg </a:t>
            </a:r>
            <a:r>
              <a:rPr lang="en-AU" sz="1400" b="1" dirty="0"/>
              <a:t>does not</a:t>
            </a:r>
            <a:r>
              <a:rPr lang="en-AU" sz="1400" dirty="0"/>
              <a:t> give the same answer each time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3661" y="2137082"/>
            <a:ext cx="2870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b="1" dirty="0"/>
              <a:t>Not Proportional </a:t>
            </a:r>
            <a:r>
              <a:rPr lang="en-AU" sz="1400" dirty="0"/>
              <a:t>as $÷Kg </a:t>
            </a:r>
            <a:r>
              <a:rPr lang="en-AU" sz="1400" b="1" dirty="0"/>
              <a:t>does not</a:t>
            </a:r>
            <a:r>
              <a:rPr lang="en-AU" sz="1400" dirty="0"/>
              <a:t> give the same answer each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2141" y="2850297"/>
            <a:ext cx="6434051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 If ratios are graphed, they are proportional only if they form a straight line and go through the origin (point 0,0)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96393" y="36764"/>
            <a:ext cx="7234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does a graph of a proportional relationship look like?</a:t>
            </a:r>
          </a:p>
        </p:txBody>
      </p:sp>
    </p:spTree>
    <p:extLst>
      <p:ext uri="{BB962C8B-B14F-4D97-AF65-F5344CB8AC3E}">
        <p14:creationId xmlns:p14="http://schemas.microsoft.com/office/powerpoint/2010/main" val="1128267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0" y="0"/>
            <a:ext cx="9144000" cy="5715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>
                <a:solidFill>
                  <a:schemeClr val="tx1">
                    <a:lumMod val="95000"/>
                  </a:schemeClr>
                </a:solidFill>
              </a:rPr>
              <a:t>Are these in proportion?</a:t>
            </a:r>
          </a:p>
          <a:p>
            <a:pPr marL="342900" lvl="1" indent="0">
              <a:buNone/>
            </a:pPr>
            <a:r>
              <a:rPr lang="en-AU" sz="2000" dirty="0">
                <a:solidFill>
                  <a:schemeClr val="tx1">
                    <a:lumMod val="95000"/>
                  </a:schemeClr>
                </a:solidFill>
              </a:rPr>
              <a:t>1. Steve bought 3 Chocolates for $2 while Marie bought a packet of 12 for $8?</a:t>
            </a:r>
          </a:p>
          <a:p>
            <a:pPr marL="342900" lvl="1" indent="0">
              <a:buNone/>
            </a:pPr>
            <a:endParaRPr lang="en-AU" sz="2000" dirty="0">
              <a:solidFill>
                <a:schemeClr val="tx1">
                  <a:lumMod val="95000"/>
                </a:schemeClr>
              </a:solidFill>
            </a:endParaRPr>
          </a:p>
          <a:p>
            <a:pPr marL="342900" lvl="1" indent="0">
              <a:buNone/>
            </a:pPr>
            <a:endParaRPr lang="en-AU" sz="2000" dirty="0" smtClean="0">
              <a:solidFill>
                <a:schemeClr val="tx1">
                  <a:lumMod val="95000"/>
                </a:schemeClr>
              </a:solidFill>
            </a:endParaRPr>
          </a:p>
          <a:p>
            <a:pPr marL="342900" lvl="1" indent="0">
              <a:buNone/>
            </a:pPr>
            <a:endParaRPr lang="en-AU" sz="2000" dirty="0">
              <a:solidFill>
                <a:schemeClr val="tx1">
                  <a:lumMod val="95000"/>
                </a:schemeClr>
              </a:solidFill>
            </a:endParaRPr>
          </a:p>
          <a:p>
            <a:pPr marL="342900" lvl="1" indent="0">
              <a:buNone/>
            </a:pPr>
            <a:r>
              <a:rPr lang="en-AU" sz="2000" dirty="0">
                <a:solidFill>
                  <a:schemeClr val="tx1">
                    <a:lumMod val="95000"/>
                  </a:schemeClr>
                </a:solidFill>
              </a:rPr>
              <a:t>2. A pizza base recipe calls for 2 cups of flour to every 0.5L of water while a second recipe recommends 8 cups to every 2L of water?</a:t>
            </a:r>
          </a:p>
          <a:p>
            <a:pPr marL="342900" lvl="1" indent="0">
              <a:buNone/>
            </a:pPr>
            <a:endParaRPr lang="en-AU" sz="2000" dirty="0">
              <a:solidFill>
                <a:schemeClr val="tx1">
                  <a:lumMod val="95000"/>
                </a:schemeClr>
              </a:solidFill>
            </a:endParaRPr>
          </a:p>
          <a:p>
            <a:pPr marL="342900" lvl="1" indent="0">
              <a:buNone/>
            </a:pPr>
            <a:endParaRPr lang="en-AU" sz="2000" dirty="0" smtClean="0">
              <a:solidFill>
                <a:schemeClr val="tx1">
                  <a:lumMod val="95000"/>
                </a:schemeClr>
              </a:solidFill>
            </a:endParaRPr>
          </a:p>
          <a:p>
            <a:pPr marL="342900" lvl="1" indent="0">
              <a:buNone/>
            </a:pPr>
            <a:endParaRPr lang="en-AU" sz="200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304439" y="1596081"/>
            <a:ext cx="47337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600" dirty="0">
                <a:solidFill>
                  <a:schemeClr val="accent1">
                    <a:lumMod val="50000"/>
                  </a:schemeClr>
                </a:solidFill>
              </a:rPr>
              <a:t>       </a:t>
            </a:r>
            <a:r>
              <a:rPr lang="en-AU" sz="2000" dirty="0">
                <a:solidFill>
                  <a:schemeClr val="accent1">
                    <a:lumMod val="50000"/>
                  </a:schemeClr>
                </a:solidFill>
              </a:rPr>
              <a:t>3:2				    12:8</a:t>
            </a:r>
          </a:p>
          <a:p>
            <a:pPr algn="ctr"/>
            <a:r>
              <a:rPr lang="en-AU" sz="2000" dirty="0">
                <a:solidFill>
                  <a:schemeClr val="accent1">
                    <a:lumMod val="50000"/>
                  </a:schemeClr>
                </a:solidFill>
              </a:rPr>
              <a:t>3÷2 = 1.5      			12÷8 = 1.5</a:t>
            </a:r>
          </a:p>
          <a:p>
            <a:pPr algn="ctr"/>
            <a:r>
              <a:rPr lang="en-AU" sz="2000" dirty="0">
                <a:solidFill>
                  <a:schemeClr val="accent1">
                    <a:lumMod val="50000"/>
                  </a:schemeClr>
                </a:solidFill>
              </a:rPr>
              <a:t>	Therefore these </a:t>
            </a:r>
            <a:r>
              <a:rPr lang="en-AU" sz="2000" b="1" dirty="0">
                <a:solidFill>
                  <a:schemeClr val="accent1">
                    <a:lumMod val="50000"/>
                  </a:schemeClr>
                </a:solidFill>
              </a:rPr>
              <a:t>are</a:t>
            </a:r>
            <a:r>
              <a:rPr lang="en-AU" sz="2000" dirty="0">
                <a:solidFill>
                  <a:schemeClr val="accent1">
                    <a:lumMod val="50000"/>
                  </a:schemeClr>
                </a:solidFill>
              </a:rPr>
              <a:t> in proportion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28006" y="4053935"/>
            <a:ext cx="47337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600" dirty="0">
                <a:solidFill>
                  <a:schemeClr val="accent1">
                    <a:lumMod val="50000"/>
                  </a:schemeClr>
                </a:solidFill>
              </a:rPr>
              <a:t>       </a:t>
            </a:r>
            <a:r>
              <a:rPr lang="en-AU" sz="2000" dirty="0">
                <a:solidFill>
                  <a:schemeClr val="accent1">
                    <a:lumMod val="50000"/>
                  </a:schemeClr>
                </a:solidFill>
              </a:rPr>
              <a:t>2:0.5				    8:2</a:t>
            </a:r>
          </a:p>
          <a:p>
            <a:pPr algn="ctr"/>
            <a:r>
              <a:rPr lang="en-AU" sz="2000" dirty="0">
                <a:solidFill>
                  <a:schemeClr val="accent1">
                    <a:lumMod val="50000"/>
                  </a:schemeClr>
                </a:solidFill>
              </a:rPr>
              <a:t>2÷0.5 = 4     		</a:t>
            </a:r>
            <a:r>
              <a:rPr lang="en-AU" sz="2000" dirty="0" smtClean="0">
                <a:solidFill>
                  <a:schemeClr val="accent1">
                    <a:lumMod val="50000"/>
                  </a:schemeClr>
                </a:solidFill>
              </a:rPr>
              <a:t>     8÷2 </a:t>
            </a:r>
            <a:r>
              <a:rPr lang="en-AU" sz="2000" dirty="0">
                <a:solidFill>
                  <a:schemeClr val="accent1">
                    <a:lumMod val="50000"/>
                  </a:schemeClr>
                </a:solidFill>
              </a:rPr>
              <a:t>= 14</a:t>
            </a:r>
          </a:p>
          <a:p>
            <a:pPr algn="ctr"/>
            <a:r>
              <a:rPr lang="en-AU" sz="2000" dirty="0">
                <a:solidFill>
                  <a:schemeClr val="accent1">
                    <a:lumMod val="50000"/>
                  </a:schemeClr>
                </a:solidFill>
              </a:rPr>
              <a:t>	Therefore these </a:t>
            </a:r>
            <a:r>
              <a:rPr lang="en-AU" sz="2000" b="1" dirty="0">
                <a:solidFill>
                  <a:schemeClr val="accent1">
                    <a:lumMod val="50000"/>
                  </a:schemeClr>
                </a:solidFill>
              </a:rPr>
              <a:t>are</a:t>
            </a:r>
            <a:r>
              <a:rPr lang="en-AU" sz="2000" dirty="0">
                <a:solidFill>
                  <a:schemeClr val="accent1">
                    <a:lumMod val="50000"/>
                  </a:schemeClr>
                </a:solidFill>
              </a:rPr>
              <a:t> in proportion</a:t>
            </a:r>
          </a:p>
        </p:txBody>
      </p:sp>
    </p:spTree>
    <p:extLst>
      <p:ext uri="{BB962C8B-B14F-4D97-AF65-F5344CB8AC3E}">
        <p14:creationId xmlns:p14="http://schemas.microsoft.com/office/powerpoint/2010/main" val="321883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8380" y="0"/>
            <a:ext cx="6400800" cy="1255889"/>
          </a:xfrm>
        </p:spPr>
        <p:txBody>
          <a:bodyPr/>
          <a:lstStyle/>
          <a:p>
            <a:endParaRPr lang="en-AU"/>
          </a:p>
        </p:txBody>
      </p:sp>
      <p:sp>
        <p:nvSpPr>
          <p:cNvPr id="4" name="Rectangle 3"/>
          <p:cNvSpPr/>
          <p:nvPr/>
        </p:nvSpPr>
        <p:spPr>
          <a:xfrm>
            <a:off x="0" y="810786"/>
            <a:ext cx="9144000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0">
              <a:buNone/>
            </a:pPr>
            <a:endParaRPr lang="en-AU" sz="2000" dirty="0">
              <a:solidFill>
                <a:schemeClr val="tx1">
                  <a:lumMod val="95000"/>
                </a:schemeClr>
              </a:solidFill>
            </a:endParaRPr>
          </a:p>
          <a:p>
            <a:pPr marL="342900" lvl="1" indent="0">
              <a:buNone/>
            </a:pPr>
            <a:r>
              <a:rPr lang="en-AU" sz="2000" dirty="0">
                <a:solidFill>
                  <a:schemeClr val="tx1">
                    <a:lumMod val="95000"/>
                  </a:schemeClr>
                </a:solidFill>
              </a:rPr>
              <a:t>3. Car one is travelling at  15m per second, car 2 is travelling at 60km per hour?  Are the rates the same?</a:t>
            </a:r>
          </a:p>
          <a:p>
            <a:pPr marL="342900" lvl="1" indent="0">
              <a:buNone/>
            </a:pPr>
            <a:endParaRPr lang="en-AU" sz="2000" dirty="0">
              <a:solidFill>
                <a:schemeClr val="tx1">
                  <a:lumMod val="95000"/>
                </a:schemeClr>
              </a:solidFill>
            </a:endParaRPr>
          </a:p>
          <a:p>
            <a:pPr marL="342900" lvl="1" indent="0">
              <a:buNone/>
            </a:pPr>
            <a:endParaRPr lang="en-AU" sz="2000" dirty="0">
              <a:solidFill>
                <a:schemeClr val="tx1">
                  <a:lumMod val="95000"/>
                </a:schemeClr>
              </a:solidFill>
            </a:endParaRPr>
          </a:p>
          <a:p>
            <a:pPr marL="342900" lvl="1" indent="0">
              <a:buNone/>
            </a:pPr>
            <a:endParaRPr lang="en-AU" sz="2000" dirty="0">
              <a:solidFill>
                <a:schemeClr val="tx1">
                  <a:lumMod val="95000"/>
                </a:schemeClr>
              </a:solidFill>
            </a:endParaRPr>
          </a:p>
          <a:p>
            <a:pPr marL="342900" lvl="1" indent="0">
              <a:buNone/>
            </a:pPr>
            <a:endParaRPr lang="en-AU" sz="2000" dirty="0">
              <a:solidFill>
                <a:schemeClr val="tx1">
                  <a:lumMod val="95000"/>
                </a:schemeClr>
              </a:solidFill>
            </a:endParaRPr>
          </a:p>
          <a:p>
            <a:pPr marL="342900" lvl="1" indent="0">
              <a:buNone/>
            </a:pPr>
            <a:endParaRPr lang="en-AU" sz="2000" dirty="0">
              <a:solidFill>
                <a:schemeClr val="tx1">
                  <a:lumMod val="95000"/>
                </a:schemeClr>
              </a:solidFill>
            </a:endParaRPr>
          </a:p>
          <a:p>
            <a:pPr marL="342900" lvl="1" indent="0">
              <a:buNone/>
            </a:pPr>
            <a:r>
              <a:rPr lang="en-AU" sz="2000" dirty="0">
                <a:solidFill>
                  <a:schemeClr val="tx1">
                    <a:lumMod val="95000"/>
                  </a:schemeClr>
                </a:solidFill>
              </a:rPr>
              <a:t>4. Mark gets paid $755 per week and Florence gets paid $1510 per fortnight?  Are these equal?</a:t>
            </a:r>
            <a:endParaRPr lang="en-AU" sz="200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67745" y="1795670"/>
            <a:ext cx="6538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schemeClr val="accent1">
                    <a:lumMod val="50000"/>
                  </a:schemeClr>
                </a:solidFill>
              </a:rPr>
              <a:t>       </a:t>
            </a:r>
            <a:r>
              <a:rPr lang="en-AU" dirty="0">
                <a:solidFill>
                  <a:schemeClr val="accent1">
                    <a:lumMod val="50000"/>
                  </a:schemeClr>
                </a:solidFill>
              </a:rPr>
              <a:t>15m:1second				         60km:1hr</a:t>
            </a:r>
          </a:p>
          <a:p>
            <a:r>
              <a:rPr lang="en-AU" dirty="0">
                <a:solidFill>
                  <a:schemeClr val="accent1">
                    <a:lumMod val="50000"/>
                  </a:schemeClr>
                </a:solidFill>
              </a:rPr>
              <a:t>        15m:1second				    60000m:3600seconds</a:t>
            </a:r>
          </a:p>
          <a:p>
            <a:r>
              <a:rPr lang="en-AU" dirty="0">
                <a:solidFill>
                  <a:schemeClr val="accent1">
                    <a:lumMod val="50000"/>
                  </a:schemeClr>
                </a:solidFill>
              </a:rPr>
              <a:t>           15÷1 = 15     				      60000÷3600= 16.7</a:t>
            </a:r>
          </a:p>
          <a:p>
            <a:r>
              <a:rPr lang="en-AU" dirty="0">
                <a:solidFill>
                  <a:schemeClr val="accent1">
                    <a:lumMod val="50000"/>
                  </a:schemeClr>
                </a:solidFill>
              </a:rPr>
              <a:t>	Therefore these are </a:t>
            </a:r>
            <a:r>
              <a:rPr lang="en-AU" b="1" dirty="0">
                <a:solidFill>
                  <a:schemeClr val="accent1">
                    <a:lumMod val="50000"/>
                  </a:schemeClr>
                </a:solidFill>
              </a:rPr>
              <a:t>NOT</a:t>
            </a:r>
            <a:r>
              <a:rPr lang="en-AU" dirty="0">
                <a:solidFill>
                  <a:schemeClr val="accent1">
                    <a:lumMod val="50000"/>
                  </a:schemeClr>
                </a:solidFill>
              </a:rPr>
              <a:t> in proportion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58605" y="4073218"/>
            <a:ext cx="54373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schemeClr val="accent1">
                    <a:lumMod val="50000"/>
                  </a:schemeClr>
                </a:solidFill>
              </a:rPr>
              <a:t>       </a:t>
            </a:r>
            <a:r>
              <a:rPr lang="en-AU" sz="2000" dirty="0">
                <a:solidFill>
                  <a:schemeClr val="accent1">
                    <a:lumMod val="50000"/>
                  </a:schemeClr>
                </a:solidFill>
              </a:rPr>
              <a:t>755:1				    1510:2</a:t>
            </a:r>
          </a:p>
          <a:p>
            <a:r>
              <a:rPr lang="en-AU" sz="2000" dirty="0">
                <a:solidFill>
                  <a:schemeClr val="accent1">
                    <a:lumMod val="50000"/>
                  </a:schemeClr>
                </a:solidFill>
              </a:rPr>
              <a:t>755÷1 = 755     			1510÷2 = 755</a:t>
            </a:r>
          </a:p>
          <a:p>
            <a:r>
              <a:rPr lang="en-AU" sz="2000" dirty="0">
                <a:solidFill>
                  <a:schemeClr val="accent1">
                    <a:lumMod val="50000"/>
                  </a:schemeClr>
                </a:solidFill>
              </a:rPr>
              <a:t>	Therefore these </a:t>
            </a:r>
            <a:r>
              <a:rPr lang="en-AU" sz="2000" b="1" dirty="0">
                <a:solidFill>
                  <a:schemeClr val="accent1">
                    <a:lumMod val="50000"/>
                  </a:schemeClr>
                </a:solidFill>
              </a:rPr>
              <a:t>are</a:t>
            </a:r>
            <a:r>
              <a:rPr lang="en-AU" sz="2000" dirty="0">
                <a:solidFill>
                  <a:schemeClr val="accent1">
                    <a:lumMod val="50000"/>
                  </a:schemeClr>
                </a:solidFill>
              </a:rPr>
              <a:t> in proportion</a:t>
            </a:r>
          </a:p>
        </p:txBody>
      </p:sp>
    </p:spTree>
    <p:extLst>
      <p:ext uri="{BB962C8B-B14F-4D97-AF65-F5344CB8AC3E}">
        <p14:creationId xmlns:p14="http://schemas.microsoft.com/office/powerpoint/2010/main" val="1363961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736" y="1"/>
            <a:ext cx="8262132" cy="580768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Complete Exercise 6.4 on page 76 to practice and Graph questions 1 to 9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36" y="580769"/>
            <a:ext cx="6381163" cy="159529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736" y="2176060"/>
            <a:ext cx="6753225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605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521" y="341336"/>
            <a:ext cx="6400800" cy="1255889"/>
          </a:xfrm>
        </p:spPr>
        <p:txBody>
          <a:bodyPr/>
          <a:lstStyle/>
          <a:p>
            <a:r>
              <a:rPr lang="en-AU" dirty="0"/>
              <a:t>Answers to exercise 6.4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001766"/>
            <a:ext cx="7709095" cy="108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384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292</TotalTime>
  <Words>1135</Words>
  <Application>Microsoft Macintosh PowerPoint</Application>
  <PresentationFormat>On-screen Show (16:10)</PresentationFormat>
  <Paragraphs>503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Calibri</vt:lpstr>
      <vt:lpstr>Century Gothic</vt:lpstr>
      <vt:lpstr>Wingdings 3</vt:lpstr>
      <vt:lpstr>Arial</vt:lpstr>
      <vt:lpstr>Slice</vt:lpstr>
      <vt:lpstr>Direct Proportion </vt:lpstr>
      <vt:lpstr>PowerPoint Presentation</vt:lpstr>
      <vt:lpstr>PowerPoint Presentation</vt:lpstr>
      <vt:lpstr>Topic : Proportion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Answers to exercise 6.4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POWER Travis [Baldivis Secondary College]</cp:lastModifiedBy>
  <cp:revision>31</cp:revision>
  <dcterms:created xsi:type="dcterms:W3CDTF">2017-04-12T03:59:21Z</dcterms:created>
  <dcterms:modified xsi:type="dcterms:W3CDTF">2018-08-20T04:26:49Z</dcterms:modified>
</cp:coreProperties>
</file>
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76" r:id="rId2"/>
    <p:sldMasterId id="2147483688" r:id="rId3"/>
  </p:sldMasterIdLst>
  <p:sldIdLst>
    <p:sldId id="256" r:id="rId4"/>
    <p:sldId id="260" r:id="rId5"/>
    <p:sldId id="292" r:id="rId6"/>
    <p:sldId id="257" r:id="rId7"/>
    <p:sldId id="262" r:id="rId8"/>
    <p:sldId id="263" r:id="rId9"/>
    <p:sldId id="258" r:id="rId10"/>
    <p:sldId id="302" r:id="rId11"/>
    <p:sldId id="295" r:id="rId12"/>
    <p:sldId id="296" r:id="rId13"/>
    <p:sldId id="300" r:id="rId14"/>
    <p:sldId id="301" r:id="rId15"/>
    <p:sldId id="303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7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60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4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74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9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58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3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64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07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9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53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93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775C9FE-1538-491B-BDB2-63344A81EE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05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24300"/>
            <a:ext cx="40386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7E99987-609C-4B5D-9858-A368F8D7AC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15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313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556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119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0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38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045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002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48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44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8879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09/09/2018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777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1527F-1EEC-40E6-9AC6-E26ECDC569C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8634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2317B6-F9EB-4376-A442-A282B65A39D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3608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44B43A-379D-4F9C-96E6-53AB7FC3AFB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8172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D8E95-C6AE-41A5-BB2F-9561BE0C478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9124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7E447-FD5F-48EB-AFCE-659E1CC3590F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0701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5A2510-EAFA-49FC-B2F1-812FEA37BAA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3926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3C9D2-B9D5-4864-AC82-625C6AFEA96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6064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66AA62-7DBA-4DC7-B639-5B627309718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3100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AC6B3-AB42-4C5D-B08A-A66EBE7DA1E0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024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5CA41-4C33-4174-A60B-29ADB5EFA9A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5432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66C30-AE86-4C9A-B5D0-F053BFAC064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44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9/09/2018</a:t>
            </a:fld>
            <a:endParaRPr lang="en-AU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AU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306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700" r:id="rId12"/>
    <p:sldLayoutId id="214748370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09/09/2018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107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eaLnBrk="1" hangingPunct="1"/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1" hangingPunct="1"/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1" hangingPunct="1"/>
            <a:fld id="{FFD0080B-26BF-4311-B3FB-31D339667048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8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Equations of a straight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-421482" y="381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Warm up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2275" y="1104900"/>
            <a:ext cx="6793706" cy="4495800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Find the gradient of the following lines:</a:t>
            </a:r>
          </a:p>
        </p:txBody>
      </p:sp>
      <p:graphicFrame>
        <p:nvGraphicFramePr>
          <p:cNvPr id="12309" name="Object 21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12285984"/>
              </p:ext>
            </p:extLst>
          </p:nvPr>
        </p:nvGraphicFramePr>
        <p:xfrm>
          <a:off x="6603205" y="2523052"/>
          <a:ext cx="1173163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Equation" r:id="rId3" imgW="419040" imgH="393480" progId="Equation.DSMT4">
                  <p:embed/>
                </p:oleObj>
              </mc:Choice>
              <mc:Fallback>
                <p:oleObj name="Equation" r:id="rId3" imgW="419040" imgH="39348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3205" y="2523052"/>
                        <a:ext cx="1173163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2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077351252"/>
              </p:ext>
            </p:extLst>
          </p:nvPr>
        </p:nvGraphicFramePr>
        <p:xfrm>
          <a:off x="2468551" y="2647156"/>
          <a:ext cx="9858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Equation" r:id="rId5" imgW="419040" imgH="393480" progId="Equation.DSMT4">
                  <p:embed/>
                </p:oleObj>
              </mc:Choice>
              <mc:Fallback>
                <p:oleObj name="Equation" r:id="rId5" imgW="419040" imgH="393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51" y="2647156"/>
                        <a:ext cx="985837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Line 5"/>
          <p:cNvSpPr>
            <a:spLocks noChangeShapeType="1"/>
          </p:cNvSpPr>
          <p:nvPr/>
        </p:nvSpPr>
        <p:spPr bwMode="auto">
          <a:xfrm flipV="1">
            <a:off x="751670" y="2057400"/>
            <a:ext cx="297180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schemeClr val="bg1"/>
              </a:solidFill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V="1">
            <a:off x="5208587" y="2001838"/>
            <a:ext cx="1676400" cy="2514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schemeClr val="bg1"/>
              </a:solidFill>
            </a:endParaRPr>
          </a:p>
        </p:txBody>
      </p:sp>
      <p:sp>
        <p:nvSpPr>
          <p:cNvPr id="12297" name="AutoShape 9"/>
          <p:cNvSpPr>
            <a:spLocks noChangeArrowheads="1"/>
          </p:cNvSpPr>
          <p:nvPr/>
        </p:nvSpPr>
        <p:spPr bwMode="auto">
          <a:xfrm rot="5400000">
            <a:off x="1856570" y="2247900"/>
            <a:ext cx="762000" cy="1295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>
              <a:solidFill>
                <a:schemeClr val="bg1"/>
              </a:solidFill>
            </a:endParaRP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964395" y="2743200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1894670" y="2057400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370670" y="18288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A)</a:t>
            </a: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5056187" y="1925638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B)</a:t>
            </a:r>
          </a:p>
        </p:txBody>
      </p:sp>
      <p:sp>
        <p:nvSpPr>
          <p:cNvPr id="12303" name="AutoShape 15"/>
          <p:cNvSpPr>
            <a:spLocks noChangeArrowheads="1"/>
          </p:cNvSpPr>
          <p:nvPr/>
        </p:nvSpPr>
        <p:spPr bwMode="auto">
          <a:xfrm rot="5400000">
            <a:off x="5360987" y="2992438"/>
            <a:ext cx="1219200" cy="7620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>
              <a:solidFill>
                <a:schemeClr val="bg1"/>
              </a:solidFill>
            </a:endParaRPr>
          </a:p>
        </p:txBody>
      </p:sp>
      <p:sp>
        <p:nvSpPr>
          <p:cNvPr id="12304" name="Text Box 16"/>
          <p:cNvSpPr txBox="1">
            <a:spLocks noChangeArrowheads="1"/>
          </p:cNvSpPr>
          <p:nvPr/>
        </p:nvSpPr>
        <p:spPr bwMode="auto">
          <a:xfrm>
            <a:off x="5818187" y="2230438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5132387" y="3221038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graphicFrame>
        <p:nvGraphicFramePr>
          <p:cNvPr id="12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580942"/>
              </p:ext>
            </p:extLst>
          </p:nvPr>
        </p:nvGraphicFramePr>
        <p:xfrm>
          <a:off x="7138179" y="879988"/>
          <a:ext cx="1635164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Equation" r:id="rId7" imgW="571320" imgH="393480" progId="Equation.DSMT4">
                  <p:embed/>
                </p:oleObj>
              </mc:Choice>
              <mc:Fallback>
                <p:oleObj name="Equation" r:id="rId7" imgW="571320" imgH="393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179" y="879988"/>
                        <a:ext cx="1635164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4">
            <a:extLst>
              <a:ext uri="{FF2B5EF4-FFF2-40B4-BE49-F238E27FC236}">
                <a16:creationId xmlns:a16="http://schemas.microsoft.com/office/drawing/2014/main" id="{63C5DC9D-19EB-455F-8C8D-9A08B8F89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1587" y="4267316"/>
            <a:ext cx="39624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schemeClr val="bg1"/>
              </a:solidFill>
            </a:endParaRP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3D5FD9EB-83F7-42B7-838E-7594C3612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7" y="4800716"/>
            <a:ext cx="1676400" cy="9906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>
              <a:solidFill>
                <a:schemeClr val="bg1"/>
              </a:solidFill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1135C899-BA37-4ED6-AEF9-9A37AC351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387" y="594371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CCD7B425-753E-414F-91FD-AFAF4237B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7" y="5029316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-2</a:t>
            </a:r>
          </a:p>
        </p:txBody>
      </p:sp>
      <p:graphicFrame>
        <p:nvGraphicFramePr>
          <p:cNvPr id="22" name="Object 12">
            <a:extLst>
              <a:ext uri="{FF2B5EF4-FFF2-40B4-BE49-F238E27FC236}">
                <a16:creationId xmlns:a16="http://schemas.microsoft.com/office/drawing/2014/main" id="{DF5381D9-EE3D-4342-BC3F-5A4645808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534149"/>
              </p:ext>
            </p:extLst>
          </p:nvPr>
        </p:nvGraphicFramePr>
        <p:xfrm>
          <a:off x="5465762" y="5134885"/>
          <a:ext cx="180022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9" imgW="495000" imgH="393480" progId="Equation.DSMT4">
                  <p:embed/>
                </p:oleObj>
              </mc:Choice>
              <mc:Fallback>
                <p:oleObj name="Equation" r:id="rId9" imgW="495000" imgH="393480" progId="Equation.DSMT4">
                  <p:embed/>
                  <p:pic>
                    <p:nvPicPr>
                      <p:cNvPr id="389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762" y="5134885"/>
                        <a:ext cx="1800225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4">
            <a:extLst>
              <a:ext uri="{FF2B5EF4-FFF2-40B4-BE49-F238E27FC236}">
                <a16:creationId xmlns:a16="http://schemas.microsoft.com/office/drawing/2014/main" id="{827B3768-781A-40A0-B3E8-606EA9891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7" y="4470951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</a:rPr>
              <a:t>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The gradient of a road is the same as its slope or how steep the road is</a:t>
            </a:r>
          </a:p>
        </p:txBody>
      </p:sp>
      <p:pic>
        <p:nvPicPr>
          <p:cNvPr id="30727" name="Picture 7" descr="j021295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51935">
            <a:off x="6248400" y="3048000"/>
            <a:ext cx="1830388" cy="114935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24" name="AutoShape 4"/>
          <p:cNvSpPr>
            <a:spLocks noChangeArrowheads="1"/>
          </p:cNvSpPr>
          <p:nvPr/>
        </p:nvSpPr>
        <p:spPr bwMode="auto">
          <a:xfrm>
            <a:off x="1828800" y="3581400"/>
            <a:ext cx="6324600" cy="7620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914400" y="37338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2 m</a:t>
            </a: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3276600" y="46482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30 m</a:t>
            </a:r>
          </a:p>
        </p:txBody>
      </p:sp>
    </p:spTree>
    <p:extLst>
      <p:ext uri="{BB962C8B-B14F-4D97-AF65-F5344CB8AC3E}">
        <p14:creationId xmlns:p14="http://schemas.microsoft.com/office/powerpoint/2010/main" val="248767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 0.00509 L -0.525 -0.0726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50" y="-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of a 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47813"/>
            <a:ext cx="8229600" cy="4495800"/>
          </a:xfrm>
        </p:spPr>
        <p:txBody>
          <a:bodyPr/>
          <a:lstStyle/>
          <a:p>
            <a:r>
              <a:rPr lang="en-US"/>
              <a:t>The Gradient measures the “rise or increase in y” and “run or increase in x” of the stairs beneath or above the line.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 flipV="1">
            <a:off x="3048000" y="3186113"/>
            <a:ext cx="23622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 rot="5400000">
            <a:off x="3810000" y="3795713"/>
            <a:ext cx="914400" cy="914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3200400" y="41005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4114800" y="31861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  <p:bldP spid="6150" grpId="0"/>
      <p:bldP spid="61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of a line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r>
              <a:rPr lang="en-US"/>
              <a:t>The “stairs” on the same line are the same steepness or gradient.</a:t>
            </a: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 flipV="1">
            <a:off x="1447800" y="2133600"/>
            <a:ext cx="4419600" cy="434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37" name="AutoShape 5"/>
          <p:cNvSpPr>
            <a:spLocks noChangeArrowheads="1"/>
          </p:cNvSpPr>
          <p:nvPr/>
        </p:nvSpPr>
        <p:spPr bwMode="auto">
          <a:xfrm rot="5400000">
            <a:off x="3657600" y="3429000"/>
            <a:ext cx="914400" cy="914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40" name="AutoShape 8"/>
          <p:cNvSpPr>
            <a:spLocks noChangeArrowheads="1"/>
          </p:cNvSpPr>
          <p:nvPr/>
        </p:nvSpPr>
        <p:spPr bwMode="auto">
          <a:xfrm rot="5400000">
            <a:off x="2743200" y="4343400"/>
            <a:ext cx="914400" cy="914400"/>
          </a:xfrm>
          <a:prstGeom prst="rtTriangle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41" name="AutoShape 9"/>
          <p:cNvSpPr>
            <a:spLocks noChangeArrowheads="1"/>
          </p:cNvSpPr>
          <p:nvPr/>
        </p:nvSpPr>
        <p:spPr bwMode="auto">
          <a:xfrm rot="5400000">
            <a:off x="4572000" y="2514600"/>
            <a:ext cx="914400" cy="914400"/>
          </a:xfrm>
          <a:prstGeom prst="rtTriangl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 rot="5400000">
            <a:off x="1828800" y="5257800"/>
            <a:ext cx="914400" cy="9144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 animBg="1"/>
      <p:bldP spid="18441" grpId="0" animBg="1"/>
      <p:bldP spid="184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of a 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Can I make a line if the stairs aren’t the same size?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 flipV="1">
            <a:off x="1447800" y="2133600"/>
            <a:ext cx="4419600" cy="434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9461" name="AutoShape 5"/>
          <p:cNvSpPr>
            <a:spLocks noChangeArrowheads="1"/>
          </p:cNvSpPr>
          <p:nvPr/>
        </p:nvSpPr>
        <p:spPr bwMode="auto">
          <a:xfrm rot="5400000">
            <a:off x="3657600" y="3429000"/>
            <a:ext cx="914400" cy="914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2" name="AutoShape 6"/>
          <p:cNvSpPr>
            <a:spLocks noChangeArrowheads="1"/>
          </p:cNvSpPr>
          <p:nvPr/>
        </p:nvSpPr>
        <p:spPr bwMode="auto">
          <a:xfrm rot="5400000">
            <a:off x="2286000" y="3962400"/>
            <a:ext cx="914400" cy="1676400"/>
          </a:xfrm>
          <a:prstGeom prst="rtTriangle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5" name="AutoShape 9"/>
          <p:cNvSpPr>
            <a:spLocks noChangeArrowheads="1"/>
          </p:cNvSpPr>
          <p:nvPr/>
        </p:nvSpPr>
        <p:spPr bwMode="auto">
          <a:xfrm rot="5400000">
            <a:off x="6781800" y="3048000"/>
            <a:ext cx="914400" cy="1676400"/>
          </a:xfrm>
          <a:prstGeom prst="rtTriangle">
            <a:avLst/>
          </a:pr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6" name="AutoShape 10"/>
          <p:cNvSpPr>
            <a:spLocks noChangeArrowheads="1"/>
          </p:cNvSpPr>
          <p:nvPr/>
        </p:nvSpPr>
        <p:spPr bwMode="auto">
          <a:xfrm rot="5400000">
            <a:off x="5105400" y="3962400"/>
            <a:ext cx="914400" cy="1676400"/>
          </a:xfrm>
          <a:prstGeom prst="rtTriangle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V="1">
            <a:off x="3733800" y="2971800"/>
            <a:ext cx="5181600" cy="2819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0E6EBCA-01EE-4988-9371-13C60D7D737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524500"/>
            <a:ext cx="8229600" cy="1219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 No.   So it doesn’t matter where on the line I measure the steepness of the slope, it will always be the same as long as the line is straight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nimBg="1"/>
      <p:bldP spid="19466" grpId="0" animBg="1"/>
      <p:bldP spid="1946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of a line (m)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1052513"/>
          </a:xfrm>
        </p:spPr>
        <p:txBody>
          <a:bodyPr/>
          <a:lstStyle/>
          <a:p>
            <a:r>
              <a:rPr lang="en-US" sz="2800" dirty="0"/>
              <a:t>To find the gradient, use the formula </a:t>
            </a:r>
          </a:p>
          <a:p>
            <a:pPr>
              <a:buFontTx/>
              <a:buNone/>
            </a:pPr>
            <a:endParaRPr lang="en-US" sz="2800" dirty="0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V="1">
            <a:off x="6579870" y="2652713"/>
            <a:ext cx="23622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 rot="5400000">
            <a:off x="7265670" y="3338513"/>
            <a:ext cx="914400" cy="914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6884670" y="36433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7570470" y="28051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57617" y="3333713"/>
                <a:ext cx="1773626" cy="895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/>
                            </a:rPr>
                            <m:t>𝑟𝑖𝑠𝑒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/>
                            </a:rPr>
                            <m:t>𝑟𝑢𝑛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17" y="3333713"/>
                <a:ext cx="1773626" cy="895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33400" y="4495800"/>
                <a:ext cx="1758110" cy="6998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𝑚</m:t>
                    </m:r>
                    <m:r>
                      <a:rPr lang="en-AU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AU" sz="2800" dirty="0"/>
                  <a:t>1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5800"/>
                <a:ext cx="1758110" cy="699807"/>
              </a:xfrm>
              <a:prstGeom prst="rect">
                <a:avLst/>
              </a:prstGeom>
              <a:blipFill rotWithShape="1">
                <a:blip r:embed="rId3"/>
                <a:stretch>
                  <a:fillRect r="-5903" b="-87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221" y="0"/>
            <a:ext cx="8474179" cy="457200"/>
          </a:xfrm>
        </p:spPr>
        <p:txBody>
          <a:bodyPr/>
          <a:lstStyle/>
          <a:p>
            <a:pPr algn="l"/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Topic: Equation of a Straight Line.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839860" y="948667"/>
            <a:ext cx="7124699" cy="70788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find the equation of any straight line we require to know 2 things: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198739" y="1725175"/>
            <a:ext cx="4789539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 The gradient of the line. 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198739" y="2199446"/>
            <a:ext cx="69723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 The y - intercept of the line (where the line crosses the y-axis) 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1752600" y="2742339"/>
            <a:ext cx="43434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equation of a straight line is :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839860" y="3030639"/>
            <a:ext cx="2552700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32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= mx + c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376946" y="3527658"/>
            <a:ext cx="228600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681621" y="3918183"/>
            <a:ext cx="12192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3635478" y="3527658"/>
            <a:ext cx="390525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5C2148B5-19E7-49EE-B7AA-F9E988DA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17" y="3145087"/>
            <a:ext cx="3711233" cy="2581422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C8A349-3354-46D8-822C-19B9F7A78FFA}"/>
              </a:ext>
            </a:extLst>
          </p:cNvPr>
          <p:cNvCxnSpPr>
            <a:cxnSpLocks/>
          </p:cNvCxnSpPr>
          <p:nvPr/>
        </p:nvCxnSpPr>
        <p:spPr>
          <a:xfrm flipV="1">
            <a:off x="4953000" y="4706281"/>
            <a:ext cx="1295400" cy="943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4">
            <a:extLst>
              <a:ext uri="{FF2B5EF4-FFF2-40B4-BE49-F238E27FC236}">
                <a16:creationId xmlns:a16="http://schemas.microsoft.com/office/drawing/2014/main" id="{19D7B3E5-554C-49F6-A2CC-A4B3464AF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079" y="3918183"/>
            <a:ext cx="16002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y-intercept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3365858" y="4604764"/>
            <a:ext cx="2350986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y-intercept = 2</a:t>
            </a:r>
          </a:p>
        </p:txBody>
      </p:sp>
      <p:sp>
        <p:nvSpPr>
          <p:cNvPr id="34" name="Text Box 9">
            <a:extLst>
              <a:ext uri="{FF2B5EF4-FFF2-40B4-BE49-F238E27FC236}">
                <a16:creationId xmlns:a16="http://schemas.microsoft.com/office/drawing/2014/main" id="{CA117D8F-02ED-4F60-B23D-D161F7D22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300" y="5726509"/>
            <a:ext cx="2552700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32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= 2x + 2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E778E72B-2A61-4016-9F67-F3D4B83E9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41" y="422714"/>
            <a:ext cx="960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EQ: How do we find the Equation of a Straight Line.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14D262-2C0E-4F52-819C-98CAF473C776}"/>
              </a:ext>
            </a:extLst>
          </p:cNvPr>
          <p:cNvCxnSpPr/>
          <p:nvPr/>
        </p:nvCxnSpPr>
        <p:spPr>
          <a:xfrm>
            <a:off x="0" y="94866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151E3D-94F5-480E-978A-722DB904DE93}"/>
              </a:ext>
            </a:extLst>
          </p:cNvPr>
          <p:cNvCxnSpPr/>
          <p:nvPr/>
        </p:nvCxnSpPr>
        <p:spPr>
          <a:xfrm>
            <a:off x="-30649" y="42271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A77722E-DB8E-46A0-AA1C-1B1258A49A1E}"/>
              </a:ext>
            </a:extLst>
          </p:cNvPr>
          <p:cNvCxnSpPr>
            <a:cxnSpLocks/>
          </p:cNvCxnSpPr>
          <p:nvPr/>
        </p:nvCxnSpPr>
        <p:spPr>
          <a:xfrm>
            <a:off x="1458936" y="948667"/>
            <a:ext cx="0" cy="590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20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  <p:bldP spid="11272" grpId="0"/>
      <p:bldP spid="11273" grpId="0"/>
      <p:bldP spid="26" grpId="0"/>
      <p:bldP spid="33" grpId="0"/>
      <p:bldP spid="28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1331640" y="1988840"/>
            <a:ext cx="5616624" cy="29523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2</a:t>
            </a:r>
          </a:p>
        </p:txBody>
      </p:sp>
      <p:cxnSp>
        <p:nvCxnSpPr>
          <p:cNvPr id="131" name="Straight Arrow Connector 130"/>
          <p:cNvCxnSpPr>
            <a:stCxn id="129" idx="3"/>
            <a:endCxn id="108" idx="1"/>
          </p:cNvCxnSpPr>
          <p:nvPr/>
        </p:nvCxnSpPr>
        <p:spPr>
          <a:xfrm>
            <a:off x="3784122" y="3212976"/>
            <a:ext cx="427838" cy="4065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5220072" y="2996952"/>
            <a:ext cx="1296144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499992" y="3284984"/>
            <a:ext cx="64807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5004048" y="3140968"/>
            <a:ext cx="28803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1331335" y="2774565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+1 </a:t>
            </a:r>
          </a:p>
        </p:txBody>
      </p:sp>
      <p:cxnSp>
        <p:nvCxnSpPr>
          <p:cNvPr id="138" name="Straight Arrow Connector 137"/>
          <p:cNvCxnSpPr>
            <a:cxnSpLocks/>
            <a:stCxn id="142" idx="1"/>
          </p:cNvCxnSpPr>
          <p:nvPr/>
        </p:nvCxnSpPr>
        <p:spPr>
          <a:xfrm flipH="1" flipV="1">
            <a:off x="4901392" y="3321297"/>
            <a:ext cx="1591846" cy="271227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Rectangle 142"/>
              <p:cNvSpPr/>
              <p:nvPr/>
            </p:nvSpPr>
            <p:spPr>
              <a:xfrm>
                <a:off x="6502003" y="3988542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  <m:r>
                          <a:rPr lang="en-AU" sz="2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43" name="Rectangle 1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3988542"/>
                <a:ext cx="1849910" cy="720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/>
              <p:cNvSpPr txBox="1"/>
              <p:nvPr/>
            </p:nvSpPr>
            <p:spPr>
              <a:xfrm>
                <a:off x="1068972" y="5365391"/>
                <a:ext cx="7057291" cy="1265731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:r>
                  <a:rPr lang="en-GB" sz="66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5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sz="5400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+ 2</a:t>
                </a:r>
              </a:p>
            </p:txBody>
          </p:sp>
        </mc:Choice>
        <mc:Fallback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972" y="5365391"/>
                <a:ext cx="7057291" cy="1265731"/>
              </a:xfrm>
              <a:prstGeom prst="rect">
                <a:avLst/>
              </a:prstGeom>
              <a:blipFill>
                <a:blip r:embed="rId3"/>
                <a:stretch>
                  <a:fillRect t="-16190" b="-22381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2988FCB-092A-4345-95D1-7CC8C6C355D7}"/>
                  </a:ext>
                </a:extLst>
              </p:cNvPr>
              <p:cNvSpPr/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2988FCB-092A-4345-95D1-7CC8C6C35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16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30278 -0.3814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9" y="-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6 L -0.42656 -0.5597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-27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50" grpId="0" animBg="1"/>
      <p:bldP spid="151" grpId="0" animBg="1"/>
      <p:bldP spid="142" grpId="0" animBg="1"/>
      <p:bldP spid="143" grpId="0" animBg="1"/>
      <p:bldP spid="149" grpId="0" animBg="1"/>
      <p:bldP spid="134" grpId="0" animBg="1"/>
      <p:bldP spid="13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2843808" y="1700808"/>
            <a:ext cx="4032448" cy="31683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cxnSp>
        <p:nvCxnSpPr>
          <p:cNvPr id="131" name="Straight Arrow Connector 130"/>
          <p:cNvCxnSpPr>
            <a:cxnSpLocks/>
            <a:endCxn id="107" idx="1"/>
          </p:cNvCxnSpPr>
          <p:nvPr/>
        </p:nvCxnSpPr>
        <p:spPr>
          <a:xfrm>
            <a:off x="3563888" y="3212976"/>
            <a:ext cx="648072" cy="31939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5724128" y="2996952"/>
            <a:ext cx="792088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499992" y="3501008"/>
            <a:ext cx="1224136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5299007" y="3106331"/>
            <a:ext cx="747790" cy="41565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cxnSpLocks/>
          </p:cNvCxnSpPr>
          <p:nvPr/>
        </p:nvCxnSpPr>
        <p:spPr>
          <a:xfrm flipH="1" flipV="1">
            <a:off x="5004048" y="3573016"/>
            <a:ext cx="1396752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/>
              <p:cNvSpPr txBox="1"/>
              <p:nvPr/>
            </p:nvSpPr>
            <p:spPr>
              <a:xfrm>
                <a:off x="1109015" y="5267205"/>
                <a:ext cx="6984776" cy="113685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:r>
                  <a:rPr lang="en-GB" sz="66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sz="4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sz="4800" i="1">
                        <a:solidFill>
                          <a:prstClr val="white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+ 1</a:t>
                </a:r>
              </a:p>
            </p:txBody>
          </p:sp>
        </mc:Choice>
        <mc:Fallback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15" y="5267205"/>
                <a:ext cx="6984776" cy="1136850"/>
              </a:xfrm>
              <a:prstGeom prst="rect">
                <a:avLst/>
              </a:prstGeom>
              <a:blipFill>
                <a:blip r:embed="rId2"/>
                <a:stretch>
                  <a:fillRect t="-23810" b="-30159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ectangle 138">
            <a:extLst>
              <a:ext uri="{FF2B5EF4-FFF2-40B4-BE49-F238E27FC236}">
                <a16:creationId xmlns:a16="http://schemas.microsoft.com/office/drawing/2014/main" id="{B7178D65-B7E7-4479-92DB-FD79794A6F8D}"/>
              </a:ext>
            </a:extLst>
          </p:cNvPr>
          <p:cNvSpPr/>
          <p:nvPr/>
        </p:nvSpPr>
        <p:spPr>
          <a:xfrm>
            <a:off x="1218605" y="2780928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1E8C60D-C1AB-4B3E-A705-8C895ADE88D4}"/>
              </a:ext>
            </a:extLst>
          </p:cNvPr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+3 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107B358-A8D9-4586-B4DB-A97486B47BA4}"/>
              </a:ext>
            </a:extLst>
          </p:cNvPr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990FE30-FDF6-4334-950F-A54517E91E1B}"/>
                  </a:ext>
                </a:extLst>
              </p:cNvPr>
              <p:cNvSpPr/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990FE30-FDF6-4334-950F-A54517E91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Rectangle 147">
            <a:extLst>
              <a:ext uri="{FF2B5EF4-FFF2-40B4-BE49-F238E27FC236}">
                <a16:creationId xmlns:a16="http://schemas.microsoft.com/office/drawing/2014/main" id="{0439F535-8180-491B-A0DA-CD253EA73BE7}"/>
              </a:ext>
            </a:extLst>
          </p:cNvPr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BB639B2-56F3-4AE1-B97B-0D09398336B7}"/>
                  </a:ext>
                </a:extLst>
              </p:cNvPr>
              <p:cNvSpPr/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BB639B2-56F3-4AE1-B97B-0D09398336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915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30278 -0.3814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9" y="-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6 L -0.42656 -0.5597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-27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9" grpId="0" animBg="1"/>
      <p:bldP spid="140" grpId="0" animBg="1"/>
      <p:bldP spid="145" grpId="0" animBg="1"/>
      <p:bldP spid="146" grpId="0" animBg="1"/>
      <p:bldP spid="148" grpId="0" animBg="1"/>
      <p:bldP spid="148" grpId="1" animBg="1"/>
      <p:bldP spid="153" grpId="0" animBg="1"/>
      <p:bldP spid="15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0800000">
            <a:off x="1259632" y="1556793"/>
            <a:ext cx="7488832" cy="325601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y=m x + c</a:t>
            </a:r>
          </a:p>
        </p:txBody>
      </p:sp>
      <p:cxnSp>
        <p:nvCxnSpPr>
          <p:cNvPr id="131" name="Straight Arrow Connector 130"/>
          <p:cNvCxnSpPr>
            <a:cxnSpLocks/>
            <a:endCxn id="109" idx="1"/>
          </p:cNvCxnSpPr>
          <p:nvPr/>
        </p:nvCxnSpPr>
        <p:spPr>
          <a:xfrm flipV="1">
            <a:off x="3563888" y="2965594"/>
            <a:ext cx="648072" cy="247382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5220072" y="2996952"/>
            <a:ext cx="1296144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572000" y="2924944"/>
            <a:ext cx="64807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4980353" y="3064947"/>
            <a:ext cx="307713" cy="27709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cxnSpLocks/>
          </p:cNvCxnSpPr>
          <p:nvPr/>
        </p:nvCxnSpPr>
        <p:spPr>
          <a:xfrm flipH="1" flipV="1">
            <a:off x="4884025" y="2960947"/>
            <a:ext cx="1508310" cy="706019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/>
              <p:cNvSpPr txBox="1"/>
              <p:nvPr/>
            </p:nvSpPr>
            <p:spPr>
              <a:xfrm>
                <a:off x="1015705" y="5248869"/>
                <a:ext cx="6984776" cy="1135311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14:m>
                  <m:oMath xmlns:m="http://schemas.openxmlformats.org/officeDocument/2006/math">
                    <m:r>
                      <a:rPr lang="en-AU" sz="480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4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4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+ 3</a:t>
                </a:r>
              </a:p>
            </p:txBody>
          </p:sp>
        </mc:Choice>
        <mc:Fallback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05" y="5248869"/>
                <a:ext cx="6984776" cy="1135311"/>
              </a:xfrm>
              <a:prstGeom prst="rect">
                <a:avLst/>
              </a:prstGeom>
              <a:blipFill>
                <a:blip r:embed="rId2"/>
                <a:stretch>
                  <a:fillRect t="-24731" b="-317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Rectangle 131">
            <a:extLst>
              <a:ext uri="{FF2B5EF4-FFF2-40B4-BE49-F238E27FC236}">
                <a16:creationId xmlns:a16="http://schemas.microsoft.com/office/drawing/2014/main" id="{6AEC298E-7F76-43FF-8D17-49E3FCC207CF}"/>
              </a:ext>
            </a:extLst>
          </p:cNvPr>
          <p:cNvSpPr/>
          <p:nvPr/>
        </p:nvSpPr>
        <p:spPr>
          <a:xfrm>
            <a:off x="1218605" y="2780928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6BC18FE-1BC7-42B8-8224-939D4EDCBC40}"/>
              </a:ext>
            </a:extLst>
          </p:cNvPr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-1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F499B05-0EF7-422F-A10C-83397C2AC60D}"/>
              </a:ext>
            </a:extLst>
          </p:cNvPr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E5C340B-D4EB-494B-BCDF-6B48EC022A58}"/>
                  </a:ext>
                </a:extLst>
              </p:cNvPr>
              <p:cNvSpPr/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E5C340B-D4EB-494B-BCDF-6B48EC022A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ectangle 138">
            <a:extLst>
              <a:ext uri="{FF2B5EF4-FFF2-40B4-BE49-F238E27FC236}">
                <a16:creationId xmlns:a16="http://schemas.microsoft.com/office/drawing/2014/main" id="{013C3CB7-6ABA-4E25-BAD9-21F04B09518A}"/>
              </a:ext>
            </a:extLst>
          </p:cNvPr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D2893C8-201C-4F6B-A6B1-68F53732644A}"/>
                  </a:ext>
                </a:extLst>
              </p:cNvPr>
              <p:cNvSpPr/>
              <p:nvPr/>
            </p:nvSpPr>
            <p:spPr>
              <a:xfrm>
                <a:off x="7846325" y="3691343"/>
                <a:ext cx="840487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4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D2893C8-201C-4F6B-A6B1-68F5373264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325" y="3691343"/>
                <a:ext cx="840487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121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3 -0.3824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-1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81481E-6 L -0.43784 -0.5546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92" y="-2773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2" grpId="0" animBg="1"/>
      <p:bldP spid="134" grpId="0" animBg="1"/>
      <p:bldP spid="135" grpId="0" animBg="1"/>
      <p:bldP spid="136" grpId="0" animBg="1"/>
      <p:bldP spid="139" grpId="0" animBg="1"/>
      <p:bldP spid="139" grpId="1" animBg="1"/>
      <p:bldP spid="140" grpId="0" animBg="1"/>
      <p:bldP spid="14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H="1" flipV="1">
            <a:off x="1475656" y="1844824"/>
            <a:ext cx="5688632" cy="15121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y=m x + c</a:t>
            </a:r>
          </a:p>
        </p:txBody>
      </p:sp>
      <p:cxnSp>
        <p:nvCxnSpPr>
          <p:cNvPr id="131" name="Straight Arrow Connector 130"/>
          <p:cNvCxnSpPr>
            <a:cxnSpLocks/>
            <a:endCxn id="110" idx="1"/>
          </p:cNvCxnSpPr>
          <p:nvPr/>
        </p:nvCxnSpPr>
        <p:spPr>
          <a:xfrm flipV="1">
            <a:off x="3563888" y="2677562"/>
            <a:ext cx="648072" cy="53541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>
            <a:off x="5508104" y="2708920"/>
            <a:ext cx="1008112" cy="288032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572000" y="2650767"/>
            <a:ext cx="864096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5328084" y="2744924"/>
            <a:ext cx="216024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cxnSpLocks/>
            <a:stCxn id="139" idx="1"/>
          </p:cNvCxnSpPr>
          <p:nvPr/>
        </p:nvCxnSpPr>
        <p:spPr>
          <a:xfrm flipH="1" flipV="1">
            <a:off x="5076056" y="2708920"/>
            <a:ext cx="1417182" cy="88360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/>
              <p:cNvSpPr txBox="1"/>
              <p:nvPr/>
            </p:nvSpPr>
            <p:spPr>
              <a:xfrm>
                <a:off x="1101534" y="5401260"/>
                <a:ext cx="6984776" cy="1135311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14:m>
                  <m:oMath xmlns:m="http://schemas.openxmlformats.org/officeDocument/2006/math">
                    <m:r>
                      <a:rPr lang="en-AU" sz="480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4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+ 4</a:t>
                </a:r>
              </a:p>
            </p:txBody>
          </p:sp>
        </mc:Choice>
        <mc:Fallback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34" y="5401260"/>
                <a:ext cx="6984776" cy="1135311"/>
              </a:xfrm>
              <a:prstGeom prst="rect">
                <a:avLst/>
              </a:prstGeom>
              <a:blipFill>
                <a:blip r:embed="rId2"/>
                <a:stretch>
                  <a:fillRect t="-24731" b="-317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Rectangle 131">
            <a:extLst>
              <a:ext uri="{FF2B5EF4-FFF2-40B4-BE49-F238E27FC236}">
                <a16:creationId xmlns:a16="http://schemas.microsoft.com/office/drawing/2014/main" id="{886EB470-751D-4BC2-822E-26671F24179D}"/>
              </a:ext>
            </a:extLst>
          </p:cNvPr>
          <p:cNvSpPr/>
          <p:nvPr/>
        </p:nvSpPr>
        <p:spPr>
          <a:xfrm>
            <a:off x="1218605" y="2780928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4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7932DB4-4503-4AD7-8C14-6D9F8A6ECE56}"/>
              </a:ext>
            </a:extLst>
          </p:cNvPr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-1 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3F68DA8-F1D5-42ED-BCDC-0F40F54A91BF}"/>
              </a:ext>
            </a:extLst>
          </p:cNvPr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D0CA7BD-AF06-409E-94FA-5F5E6D9AAA1D}"/>
                  </a:ext>
                </a:extLst>
              </p:cNvPr>
              <p:cNvSpPr/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=−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D0CA7BD-AF06-409E-94FA-5F5E6D9AAA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  <a:blipFill>
                <a:blip r:embed="rId3"/>
                <a:stretch>
                  <a:fillRect l="-13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Rectangle 144">
            <a:extLst>
              <a:ext uri="{FF2B5EF4-FFF2-40B4-BE49-F238E27FC236}">
                <a16:creationId xmlns:a16="http://schemas.microsoft.com/office/drawing/2014/main" id="{A7DFFAED-F3A4-4A04-9873-0CA9E690A251}"/>
              </a:ext>
            </a:extLst>
          </p:cNvPr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5D94AD4-B73D-4E41-BAA4-E70E022AF4C4}"/>
                  </a:ext>
                </a:extLst>
              </p:cNvPr>
              <p:cNvSpPr/>
              <p:nvPr/>
            </p:nvSpPr>
            <p:spPr>
              <a:xfrm>
                <a:off x="7933780" y="3690337"/>
                <a:ext cx="973928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440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5D94AD4-B73D-4E41-BAA4-E70E022AF4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780" y="3690337"/>
                <a:ext cx="973928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2909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18 -0.00208 L 0.32396 -0.3835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9" y="-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44948 -0.5611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83" y="-2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2" grpId="0" animBg="1"/>
      <p:bldP spid="136" grpId="0" animBg="1"/>
      <p:bldP spid="139" grpId="0" animBg="1"/>
      <p:bldP spid="140" grpId="0" animBg="1"/>
      <p:bldP spid="145" grpId="0" animBg="1"/>
      <p:bldP spid="145" grpId="1" animBg="1"/>
      <p:bldP spid="146" grpId="0" animBg="1"/>
      <p:bldP spid="14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B9E0-7CC2-4BA3-84E7-7221E918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Practice time.</a:t>
            </a:r>
            <a:br>
              <a:rPr lang="en-AU" dirty="0"/>
            </a:br>
            <a:r>
              <a:rPr lang="en-AU" dirty="0"/>
              <a:t>Complete the worksheet</a:t>
            </a:r>
          </a:p>
        </p:txBody>
      </p:sp>
    </p:spTree>
    <p:extLst>
      <p:ext uri="{BB962C8B-B14F-4D97-AF65-F5344CB8AC3E}">
        <p14:creationId xmlns:p14="http://schemas.microsoft.com/office/powerpoint/2010/main" val="957952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Mountain Top</Template>
  <TotalTime>367</TotalTime>
  <Words>489</Words>
  <Application>Microsoft Office PowerPoint</Application>
  <PresentationFormat>On-screen Show (4:3)</PresentationFormat>
  <Paragraphs>138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Aharoni</vt:lpstr>
      <vt:lpstr>Arial</vt:lpstr>
      <vt:lpstr>Calibri</vt:lpstr>
      <vt:lpstr>Cambria Math</vt:lpstr>
      <vt:lpstr>Times New Roman</vt:lpstr>
      <vt:lpstr>Office Theme</vt:lpstr>
      <vt:lpstr>1_Office Theme</vt:lpstr>
      <vt:lpstr>Default Design</vt:lpstr>
      <vt:lpstr>Equation</vt:lpstr>
      <vt:lpstr>Equations of a straight line.</vt:lpstr>
      <vt:lpstr>Warm up</vt:lpstr>
      <vt:lpstr>The gradient of a road is the same as its slope or how steep the road is</vt:lpstr>
      <vt:lpstr>Gradient of a line</vt:lpstr>
      <vt:lpstr>Gradient of a line</vt:lpstr>
      <vt:lpstr>Gradient of a line</vt:lpstr>
      <vt:lpstr>Gradient of a line (m)</vt:lpstr>
      <vt:lpstr>Topic: Equation of a Straight Line.</vt:lpstr>
      <vt:lpstr>PowerPoint Presentation</vt:lpstr>
      <vt:lpstr>PowerPoint Presentation</vt:lpstr>
      <vt:lpstr>PowerPoint Presentation</vt:lpstr>
      <vt:lpstr>PowerPoint Presentation</vt:lpstr>
      <vt:lpstr>Practice time. Complete the worksheet</vt:lpstr>
    </vt:vector>
  </TitlesOfParts>
  <Company>BCOE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Slope &amp; Y-intercept</dc:title>
  <dc:creator>lnussdor</dc:creator>
  <cp:lastModifiedBy>WILSON James [Baldivis Secondary College]</cp:lastModifiedBy>
  <cp:revision>30</cp:revision>
  <dcterms:created xsi:type="dcterms:W3CDTF">2006-12-14T23:36:47Z</dcterms:created>
  <dcterms:modified xsi:type="dcterms:W3CDTF">2018-09-08T18:32:49Z</dcterms:modified>
</cp:coreProperties>
</file>
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89" r:id="rId5"/>
    <p:sldId id="392" r:id="rId6"/>
    <p:sldId id="258" r:id="rId7"/>
    <p:sldId id="384" r:id="rId8"/>
    <p:sldId id="411" r:id="rId9"/>
    <p:sldId id="475" r:id="rId10"/>
    <p:sldId id="476" r:id="rId11"/>
    <p:sldId id="412" r:id="rId12"/>
    <p:sldId id="477" r:id="rId13"/>
    <p:sldId id="478" r:id="rId14"/>
    <p:sldId id="472" r:id="rId15"/>
    <p:sldId id="398" r:id="rId16"/>
    <p:sldId id="39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85" autoAdjust="0"/>
    <p:restoredTop sz="94626"/>
  </p:normalViewPr>
  <p:slideViewPr>
    <p:cSldViewPr snapToGrid="0">
      <p:cViewPr varScale="1">
        <p:scale>
          <a:sx n="95" d="100"/>
          <a:sy n="95" d="100"/>
        </p:scale>
        <p:origin x="19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7/19/19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7/19/19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89330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It’s worth mentioning to our students that they don’t get caught up blindly following the formula and thinking a, b and c will always be the same on every triangle. A could be the hypotenuse in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50252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Again, make sure students know a and b are interchangeable if they’re representing the shorter sides: It’s the missing shorter side squared = the hypotenuse squared – the given shorter side squared.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1343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125034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5895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8293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13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5228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7/19/19</a:t>
            </a:fld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7/19/19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7/19/19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7/19/19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7/19/19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7/19/19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7/19/19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8896" y="2465294"/>
            <a:ext cx="5389895" cy="4392706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7/19/19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7/19/19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7/19/19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7/19/19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  <a:p>
            <a:pPr lvl="5"/>
            <a:r>
              <a:t>Sixth</a:t>
            </a:r>
          </a:p>
          <a:p>
            <a:pPr lvl="6"/>
            <a:r>
              <a:t>Seventh</a:t>
            </a:r>
          </a:p>
          <a:p>
            <a:pPr lvl="7"/>
            <a:r>
              <a:t>Eighth</a:t>
            </a:r>
          </a:p>
          <a:p>
            <a:pPr lvl="8"/>
            <a:r>
              <a:t>Ninth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/>
              <a:t>7/19/19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uaj0XcLtN5c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2248" y="66314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2"/>
                </a:solidFill>
              </a:rPr>
              <a:t>Starter </a:t>
            </a:r>
            <a:r>
              <a:rPr lang="mr-IN" sz="4000" b="1" dirty="0">
                <a:solidFill>
                  <a:schemeClr val="bg2"/>
                </a:solidFill>
              </a:rPr>
              <a:t>–</a:t>
            </a:r>
            <a:r>
              <a:rPr lang="en-US" sz="4000" b="1" dirty="0">
                <a:solidFill>
                  <a:schemeClr val="bg2"/>
                </a:solidFill>
              </a:rPr>
              <a:t> Daily 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52B444-D3A5-234D-8AB2-3AC004425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1054" y="1853545"/>
            <a:ext cx="1488392" cy="13966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D39989-AE8F-9D4B-A659-01CC69830142}"/>
              </a:ext>
            </a:extLst>
          </p:cNvPr>
          <p:cNvSpPr txBox="1"/>
          <p:nvPr/>
        </p:nvSpPr>
        <p:spPr>
          <a:xfrm>
            <a:off x="252248" y="1964353"/>
            <a:ext cx="1122927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Calculate the missing side of the following triangle:</a:t>
            </a:r>
          </a:p>
          <a:p>
            <a:endParaRPr lang="en-US" sz="2400" dirty="0"/>
          </a:p>
          <a:p>
            <a:pPr marL="342900" indent="-342900">
              <a:buFont typeface="+mj-lt"/>
              <a:buAutoNum type="arabicPeriod"/>
            </a:pPr>
            <a:endParaRPr lang="en-US" sz="2400" dirty="0"/>
          </a:p>
          <a:p>
            <a:r>
              <a:rPr lang="en-AU" sz="2400" dirty="0"/>
              <a:t>2. Simplify w</a:t>
            </a:r>
            <a:r>
              <a:rPr lang="en-AU" sz="2400" baseline="30000" dirty="0"/>
              <a:t>3</a:t>
            </a:r>
            <a:r>
              <a:rPr lang="en-AU" sz="2400" dirty="0"/>
              <a:t> x w</a:t>
            </a:r>
            <a:r>
              <a:rPr lang="en-AU" sz="2400" baseline="30000" dirty="0"/>
              <a:t>5</a:t>
            </a:r>
            <a:r>
              <a:rPr lang="en-AU" sz="2400" dirty="0"/>
              <a:t> </a:t>
            </a:r>
          </a:p>
          <a:p>
            <a:endParaRPr lang="en-US" sz="2400" dirty="0"/>
          </a:p>
          <a:p>
            <a:pPr marL="342900" indent="-342900">
              <a:buFont typeface="+mj-lt"/>
              <a:buAutoNum type="arabicPeriod"/>
            </a:pPr>
            <a:endParaRPr lang="en-US" sz="2400" dirty="0"/>
          </a:p>
          <a:p>
            <a:r>
              <a:rPr lang="en-US" sz="2400" dirty="0"/>
              <a:t>3. Calculate the area of this trapezium: 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4. Name any two of the tests for congruency of a triangle</a:t>
            </a:r>
          </a:p>
          <a:p>
            <a:endParaRPr lang="en-US" sz="2400" dirty="0"/>
          </a:p>
          <a:p>
            <a:r>
              <a:rPr lang="en-US" sz="2400" dirty="0"/>
              <a:t>5. Write down the formula for Pythagoras’ Theorem</a:t>
            </a:r>
          </a:p>
        </p:txBody>
      </p:sp>
      <p:pic>
        <p:nvPicPr>
          <p:cNvPr id="1025" name="Picture 1" descr="page1image2631159600">
            <a:extLst>
              <a:ext uri="{FF2B5EF4-FFF2-40B4-BE49-F238E27FC236}">
                <a16:creationId xmlns:a16="http://schemas.microsoft.com/office/drawing/2014/main" id="{B7036D80-9866-324E-A54C-9ABBF181B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6887" y="3655526"/>
            <a:ext cx="1854200" cy="151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4244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2248" y="663142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000" b="1" dirty="0">
                <a:solidFill>
                  <a:schemeClr val="bg2"/>
                </a:solidFill>
              </a:rPr>
              <a:t>The Theorem</a:t>
            </a:r>
            <a:endParaRPr lang="en-US" sz="4000" b="1" dirty="0">
              <a:solidFill>
                <a:schemeClr val="bg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1DDBD3-C5EC-9242-A54B-56D5521591E7}"/>
              </a:ext>
            </a:extLst>
          </p:cNvPr>
          <p:cNvSpPr txBox="1"/>
          <p:nvPr/>
        </p:nvSpPr>
        <p:spPr>
          <a:xfrm>
            <a:off x="1962615" y="3077738"/>
            <a:ext cx="74378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hlinkClick r:id="rId2"/>
              </a:rPr>
              <a:t>https://www.youtube.com/watch?v=uaj0XcLtN5c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77177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Topic: Pythagoras’ Theorem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How can I use Pythagoras’ Theorem to solve missing side lengths of a triangle?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16255" y="587114"/>
            <a:ext cx="1219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Pythagoras’ Theorem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How can I use Pythagoras’ Theorem to solve missing side lengths of a triangle?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FA8F37-7E29-2C46-885C-478BE8EC3B42}"/>
              </a:ext>
            </a:extLst>
          </p:cNvPr>
          <p:cNvSpPr txBox="1"/>
          <p:nvPr/>
        </p:nvSpPr>
        <p:spPr>
          <a:xfrm>
            <a:off x="1622565" y="1924503"/>
            <a:ext cx="2225501" cy="85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US" sz="2400" dirty="0">
                <a:latin typeface="Kiwi School Handwriting" panose="00000500000000000000" pitchFamily="2" charset="0"/>
              </a:rPr>
              <a:t>What is a right-angled triangle?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B2EACF-3348-E943-A669-0B0DF819FCED}"/>
              </a:ext>
            </a:extLst>
          </p:cNvPr>
          <p:cNvSpPr txBox="1"/>
          <p:nvPr/>
        </p:nvSpPr>
        <p:spPr>
          <a:xfrm>
            <a:off x="4251478" y="2006796"/>
            <a:ext cx="766088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400" dirty="0"/>
              <a:t>A right-angled triangle is a triangle with one angle that is 90</a:t>
            </a:r>
            <a:r>
              <a:rPr lang="en-AU" sz="2400" baseline="30000" dirty="0"/>
              <a:t>o</a:t>
            </a:r>
            <a:r>
              <a:rPr lang="en-AU" sz="2400" dirty="0"/>
              <a:t>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95B4FBE-09A5-C14C-B6A2-E75C9B7CC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273" y="2503626"/>
            <a:ext cx="1977051" cy="116561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02E42B9-11DD-C448-8180-15A0CCBFA95D}"/>
              </a:ext>
            </a:extLst>
          </p:cNvPr>
          <p:cNvSpPr txBox="1"/>
          <p:nvPr/>
        </p:nvSpPr>
        <p:spPr>
          <a:xfrm>
            <a:off x="4151564" y="4259340"/>
            <a:ext cx="7860713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400" dirty="0"/>
              <a:t>The long side is called the hypotenuse. We can label this side as ‘c’ and the other sides as ‘a’ and ‘b’.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36890D-5D21-5E4F-A61D-B08D0EC8812B}"/>
              </a:ext>
            </a:extLst>
          </p:cNvPr>
          <p:cNvSpPr txBox="1"/>
          <p:nvPr/>
        </p:nvSpPr>
        <p:spPr>
          <a:xfrm>
            <a:off x="1622565" y="4212896"/>
            <a:ext cx="21846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US" sz="2400" dirty="0">
                <a:latin typeface="Kiwi School Handwriting" panose="00000500000000000000" pitchFamily="2" charset="0"/>
              </a:rPr>
              <a:t>What is the rule for the sides?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DD7F76C-A9F0-D041-AAEC-A9DEA00FB0EC}"/>
              </a:ext>
            </a:extLst>
          </p:cNvPr>
          <p:cNvSpPr txBox="1"/>
          <p:nvPr/>
        </p:nvSpPr>
        <p:spPr>
          <a:xfrm>
            <a:off x="4151564" y="5329676"/>
            <a:ext cx="140117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400" dirty="0"/>
              <a:t>a</a:t>
            </a:r>
            <a:r>
              <a:rPr lang="en-AU" sz="2400" baseline="30000" dirty="0"/>
              <a:t>2</a:t>
            </a:r>
            <a:r>
              <a:rPr lang="en-AU" sz="2400" dirty="0"/>
              <a:t> + b</a:t>
            </a:r>
            <a:r>
              <a:rPr lang="en-AU" sz="2400" baseline="30000" dirty="0"/>
              <a:t>2</a:t>
            </a:r>
            <a:r>
              <a:rPr lang="en-AU" sz="2400" dirty="0"/>
              <a:t> = c</a:t>
            </a:r>
            <a:r>
              <a:rPr lang="en-AU" sz="2400" baseline="30000" dirty="0"/>
              <a:t>2</a:t>
            </a:r>
            <a:r>
              <a:rPr lang="en-AU" sz="2400" dirty="0"/>
              <a:t>  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124F52-ECBC-CC44-8610-0BD90A1EC5CE}"/>
              </a:ext>
            </a:extLst>
          </p:cNvPr>
          <p:cNvSpPr txBox="1"/>
          <p:nvPr/>
        </p:nvSpPr>
        <p:spPr>
          <a:xfrm>
            <a:off x="6096000" y="5329676"/>
            <a:ext cx="4482861" cy="3838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400" b="1" dirty="0"/>
              <a:t>This is called Pythagoras’ Theorem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C4322E-85FD-254E-B4EA-6EEF63963368}"/>
              </a:ext>
            </a:extLst>
          </p:cNvPr>
          <p:cNvSpPr txBox="1"/>
          <p:nvPr/>
        </p:nvSpPr>
        <p:spPr>
          <a:xfrm>
            <a:off x="6819238" y="2610870"/>
            <a:ext cx="245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c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4FA630-1E81-E142-A18E-C1522FAA57E7}"/>
              </a:ext>
            </a:extLst>
          </p:cNvPr>
          <p:cNvSpPr txBox="1"/>
          <p:nvPr/>
        </p:nvSpPr>
        <p:spPr>
          <a:xfrm>
            <a:off x="7975427" y="2778589"/>
            <a:ext cx="258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60DA9C-541D-C044-A142-DD8D624DB110}"/>
              </a:ext>
            </a:extLst>
          </p:cNvPr>
          <p:cNvSpPr txBox="1"/>
          <p:nvPr/>
        </p:nvSpPr>
        <p:spPr>
          <a:xfrm>
            <a:off x="7064357" y="3685803"/>
            <a:ext cx="2696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b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6106037-0853-A64F-A4E6-18EB8C1F878E}"/>
              </a:ext>
            </a:extLst>
          </p:cNvPr>
          <p:cNvSpPr txBox="1"/>
          <p:nvPr/>
        </p:nvSpPr>
        <p:spPr>
          <a:xfrm>
            <a:off x="116255" y="1841299"/>
            <a:ext cx="18054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US" sz="2800" u="sng" dirty="0">
                <a:latin typeface="Kiwi School Handwriting" panose="00000500000000000000" pitchFamily="2" charset="0"/>
              </a:rPr>
              <a:t>To recap: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EBF7FB6-E7CF-6946-A5C3-3EA5C8F4801E}"/>
              </a:ext>
            </a:extLst>
          </p:cNvPr>
          <p:cNvCxnSpPr>
            <a:cxnSpLocks/>
          </p:cNvCxnSpPr>
          <p:nvPr/>
        </p:nvCxnSpPr>
        <p:spPr>
          <a:xfrm flipH="1" flipV="1">
            <a:off x="0" y="5956879"/>
            <a:ext cx="12192000" cy="1494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85A7A73-4CB2-A342-A897-CFE13C9BCCC2}"/>
              </a:ext>
            </a:extLst>
          </p:cNvPr>
          <p:cNvSpPr txBox="1"/>
          <p:nvPr/>
        </p:nvSpPr>
        <p:spPr>
          <a:xfrm>
            <a:off x="116255" y="6062979"/>
            <a:ext cx="14557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Summary:</a:t>
            </a:r>
          </a:p>
        </p:txBody>
      </p:sp>
    </p:spTree>
    <p:extLst>
      <p:ext uri="{BB962C8B-B14F-4D97-AF65-F5344CB8AC3E}">
        <p14:creationId xmlns:p14="http://schemas.microsoft.com/office/powerpoint/2010/main" val="121832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16255" y="587114"/>
            <a:ext cx="1219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Pythagoras’ Theorem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How can I use Pythagoras’ Theorem to solve missing side lengths of a triangle?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1F108B-2DA2-8144-9C9B-1FCE23E94E4A}"/>
              </a:ext>
            </a:extLst>
          </p:cNvPr>
          <p:cNvSpPr txBox="1"/>
          <p:nvPr/>
        </p:nvSpPr>
        <p:spPr>
          <a:xfrm>
            <a:off x="255492" y="1977317"/>
            <a:ext cx="3052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US" sz="2400" dirty="0">
                <a:latin typeface="Kiwi School Handwriting" panose="00000500000000000000" pitchFamily="2" charset="0"/>
              </a:rPr>
              <a:t>Pythagoras’ Theorem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BA180D-5197-6847-B2FE-BE84C45ECC16}"/>
                  </a:ext>
                </a:extLst>
              </p:cNvPr>
              <p:cNvSpPr txBox="1"/>
              <p:nvPr/>
            </p:nvSpPr>
            <p:spPr>
              <a:xfrm>
                <a:off x="5033101" y="4886542"/>
                <a:ext cx="1838069" cy="18851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AU" sz="2400" dirty="0">
                    <a:solidFill>
                      <a:srgbClr val="7030A0"/>
                    </a:solidFill>
                  </a:rPr>
                  <a:t>a</a:t>
                </a:r>
                <a:r>
                  <a:rPr lang="en-AU" sz="24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400" dirty="0">
                    <a:solidFill>
                      <a:srgbClr val="7030A0"/>
                    </a:solidFill>
                  </a:rPr>
                  <a:t> + b</a:t>
                </a:r>
                <a:r>
                  <a:rPr lang="en-AU" sz="24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400" dirty="0">
                    <a:solidFill>
                      <a:srgbClr val="7030A0"/>
                    </a:solidFill>
                  </a:rPr>
                  <a:t> = c</a:t>
                </a:r>
                <a:r>
                  <a:rPr lang="en-AU" sz="24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400" dirty="0">
                    <a:solidFill>
                      <a:srgbClr val="7030A0"/>
                    </a:solidFill>
                  </a:rPr>
                  <a:t>  </a:t>
                </a:r>
              </a:p>
              <a:p>
                <a:r>
                  <a:rPr lang="en-AU" sz="2400" dirty="0">
                    <a:solidFill>
                      <a:srgbClr val="7030A0"/>
                    </a:solidFill>
                  </a:rPr>
                  <a:t>1</a:t>
                </a:r>
                <a:r>
                  <a:rPr lang="en-AU" sz="24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400" dirty="0">
                    <a:solidFill>
                      <a:srgbClr val="7030A0"/>
                    </a:solidFill>
                  </a:rPr>
                  <a:t> + 2</a:t>
                </a:r>
                <a:r>
                  <a:rPr lang="en-AU" sz="24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400" dirty="0">
                    <a:solidFill>
                      <a:srgbClr val="7030A0"/>
                    </a:solidFill>
                  </a:rPr>
                  <a:t> = c</a:t>
                </a:r>
                <a:r>
                  <a:rPr lang="en-AU" sz="2400" baseline="30000" dirty="0">
                    <a:solidFill>
                      <a:srgbClr val="7030A0"/>
                    </a:solidFill>
                  </a:rPr>
                  <a:t>2     </a:t>
                </a:r>
                <a:r>
                  <a:rPr lang="en-AU" sz="2400" dirty="0">
                    <a:solidFill>
                      <a:srgbClr val="7030A0"/>
                    </a:solidFill>
                  </a:rPr>
                  <a:t> </a:t>
                </a:r>
              </a:p>
              <a:p>
                <a:r>
                  <a:rPr lang="en-AU" sz="2400" dirty="0">
                    <a:solidFill>
                      <a:srgbClr val="7030A0"/>
                    </a:solidFill>
                  </a:rPr>
                  <a:t>1 + 4 = c</a:t>
                </a:r>
                <a:r>
                  <a:rPr lang="en-AU" sz="24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400" dirty="0">
                    <a:solidFill>
                      <a:srgbClr val="7030A0"/>
                    </a:solidFill>
                  </a:rPr>
                  <a:t>   </a:t>
                </a:r>
              </a:p>
              <a:p>
                <a:r>
                  <a:rPr lang="en-AU" sz="2400" dirty="0">
                    <a:solidFill>
                      <a:srgbClr val="7030A0"/>
                    </a:solidFill>
                  </a:rPr>
                  <a:t>c</a:t>
                </a:r>
                <a:r>
                  <a:rPr lang="en-AU" sz="24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400" dirty="0">
                    <a:solidFill>
                      <a:srgbClr val="7030A0"/>
                    </a:solidFill>
                  </a:rPr>
                  <a:t> = 5</a:t>
                </a:r>
              </a:p>
              <a:p>
                <a:r>
                  <a:rPr lang="en-AU" sz="2400" dirty="0">
                    <a:solidFill>
                      <a:srgbClr val="7030A0"/>
                    </a:solidFill>
                  </a:rPr>
                  <a:t>c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lang="en-AU" sz="2400" dirty="0">
                    <a:solidFill>
                      <a:srgbClr val="7030A0"/>
                    </a:solidFill>
                  </a:rPr>
                  <a:t> cm 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BA180D-5197-6847-B2FE-BE84C45EC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3101" y="4886542"/>
                <a:ext cx="1838069" cy="1885196"/>
              </a:xfrm>
              <a:prstGeom prst="rect">
                <a:avLst/>
              </a:prstGeom>
              <a:blipFill>
                <a:blip r:embed="rId3"/>
                <a:stretch>
                  <a:fillRect l="-10345" t="-4698" b="-8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89F3149B-7156-3249-A147-EBA7BAEEF9AC}"/>
              </a:ext>
            </a:extLst>
          </p:cNvPr>
          <p:cNvGrpSpPr/>
          <p:nvPr/>
        </p:nvGrpSpPr>
        <p:grpSpPr>
          <a:xfrm>
            <a:off x="6608469" y="1892973"/>
            <a:ext cx="2378836" cy="1530036"/>
            <a:chOff x="3491881" y="1772816"/>
            <a:chExt cx="2845582" cy="1914372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DE97735-1D83-7047-9D3B-4D3D66A124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91881" y="1772816"/>
              <a:ext cx="2376253" cy="140097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8C370D9-FE91-2E43-99EC-A2AB4457B41E}"/>
                </a:ext>
              </a:extLst>
            </p:cNvPr>
            <p:cNvSpPr txBox="1"/>
            <p:nvPr/>
          </p:nvSpPr>
          <p:spPr>
            <a:xfrm>
              <a:off x="4409846" y="1900858"/>
              <a:ext cx="376219" cy="5776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/>
                <a:t>c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2DD5FB8-C9CF-6C4D-9792-1274A8B77E45}"/>
                </a:ext>
              </a:extLst>
            </p:cNvPr>
            <p:cNvSpPr txBox="1"/>
            <p:nvPr/>
          </p:nvSpPr>
          <p:spPr>
            <a:xfrm>
              <a:off x="5940152" y="2284855"/>
              <a:ext cx="397311" cy="5776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/>
                <a:t>a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AD7721C-D813-1448-B749-7E32E12EA12B}"/>
                </a:ext>
              </a:extLst>
            </p:cNvPr>
            <p:cNvSpPr txBox="1"/>
            <p:nvPr/>
          </p:nvSpPr>
          <p:spPr>
            <a:xfrm>
              <a:off x="4678356" y="3109556"/>
              <a:ext cx="414570" cy="5776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/>
                <a:t>b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B4392C1-0595-2544-BC0A-D3BC5EBCE2AE}"/>
              </a:ext>
            </a:extLst>
          </p:cNvPr>
          <p:cNvSpPr txBox="1"/>
          <p:nvPr/>
        </p:nvSpPr>
        <p:spPr>
          <a:xfrm>
            <a:off x="220389" y="3423009"/>
            <a:ext cx="31641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US" sz="2400" dirty="0">
                <a:latin typeface="Kiwi School Handwriting" panose="00000500000000000000" pitchFamily="2" charset="0"/>
              </a:rPr>
              <a:t>How do we use PT to find the hypotenuse?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E67891-BA9A-B640-B40A-13AC15816DD7}"/>
              </a:ext>
            </a:extLst>
          </p:cNvPr>
          <p:cNvSpPr txBox="1"/>
          <p:nvPr/>
        </p:nvSpPr>
        <p:spPr>
          <a:xfrm>
            <a:off x="4381209" y="3581571"/>
            <a:ext cx="266802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400" dirty="0"/>
              <a:t>Example: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0652607-1FC8-184B-A224-159CA372C75C}"/>
              </a:ext>
            </a:extLst>
          </p:cNvPr>
          <p:cNvGrpSpPr/>
          <p:nvPr/>
        </p:nvGrpSpPr>
        <p:grpSpPr>
          <a:xfrm>
            <a:off x="6547714" y="3290967"/>
            <a:ext cx="2838146" cy="1606312"/>
            <a:chOff x="3491881" y="1772816"/>
            <a:chExt cx="3273162" cy="1875883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3EE6C33-4D0A-0F4F-ACA9-79852F1138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91881" y="1772816"/>
              <a:ext cx="2376253" cy="1400972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49F7199-522D-CA40-B5E9-8E44308C22D7}"/>
                </a:ext>
              </a:extLst>
            </p:cNvPr>
            <p:cNvSpPr txBox="1"/>
            <p:nvPr/>
          </p:nvSpPr>
          <p:spPr>
            <a:xfrm>
              <a:off x="4265608" y="2031615"/>
              <a:ext cx="362716" cy="5391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/>
                <a:t>c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5BDE7A9-AAA9-DE44-900C-F47A15CFF43E}"/>
                </a:ext>
              </a:extLst>
            </p:cNvPr>
            <p:cNvSpPr txBox="1"/>
            <p:nvPr/>
          </p:nvSpPr>
          <p:spPr>
            <a:xfrm>
              <a:off x="5940152" y="2284855"/>
              <a:ext cx="824891" cy="5391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/>
                <a:t>1cm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5466FBD-512F-9A40-8FA5-80BC4852318C}"/>
                </a:ext>
              </a:extLst>
            </p:cNvPr>
            <p:cNvSpPr txBox="1"/>
            <p:nvPr/>
          </p:nvSpPr>
          <p:spPr>
            <a:xfrm>
              <a:off x="4678356" y="3109557"/>
              <a:ext cx="824891" cy="5391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/>
                <a:t>2cm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BAC04D2A-2B64-FC4E-8819-4AF57235A77C}"/>
              </a:ext>
            </a:extLst>
          </p:cNvPr>
          <p:cNvSpPr txBox="1"/>
          <p:nvPr/>
        </p:nvSpPr>
        <p:spPr>
          <a:xfrm>
            <a:off x="255492" y="4926883"/>
            <a:ext cx="4608503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400" dirty="0"/>
              <a:t>Step 1: Write the equation </a:t>
            </a:r>
          </a:p>
          <a:p>
            <a:r>
              <a:rPr lang="en-AU" sz="2400" dirty="0"/>
              <a:t>Step 2: Rewrite it using the values we know</a:t>
            </a:r>
          </a:p>
          <a:p>
            <a:r>
              <a:rPr lang="en-AU" sz="2400" dirty="0"/>
              <a:t>Step 3: Solve for the unknown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447E0F-CE3F-1C4A-8C3B-6D963AC34379}"/>
              </a:ext>
            </a:extLst>
          </p:cNvPr>
          <p:cNvSpPr txBox="1"/>
          <p:nvPr/>
        </p:nvSpPr>
        <p:spPr>
          <a:xfrm>
            <a:off x="4109799" y="1990354"/>
            <a:ext cx="183806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400" dirty="0"/>
              <a:t>a</a:t>
            </a:r>
            <a:r>
              <a:rPr lang="en-AU" sz="2400" baseline="30000" dirty="0"/>
              <a:t>2</a:t>
            </a:r>
            <a:r>
              <a:rPr lang="en-AU" sz="2400" dirty="0"/>
              <a:t> + b</a:t>
            </a:r>
            <a:r>
              <a:rPr lang="en-AU" sz="2400" baseline="30000" dirty="0"/>
              <a:t>2</a:t>
            </a:r>
            <a:r>
              <a:rPr lang="en-AU" sz="2400" dirty="0"/>
              <a:t> = c</a:t>
            </a:r>
            <a:r>
              <a:rPr lang="en-AU" sz="2400" baseline="30000" dirty="0"/>
              <a:t>2</a:t>
            </a:r>
            <a:r>
              <a:rPr lang="en-AU" sz="2400" dirty="0"/>
              <a:t> 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15CB92-6DCA-FE4D-8798-B86F871CD977}"/>
              </a:ext>
            </a:extLst>
          </p:cNvPr>
          <p:cNvSpPr txBox="1"/>
          <p:nvPr/>
        </p:nvSpPr>
        <p:spPr>
          <a:xfrm>
            <a:off x="6871170" y="5298225"/>
            <a:ext cx="5284763" cy="10618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AU" sz="2300" dirty="0"/>
              <a:t>If we need the exact value we can leave the answer in </a:t>
            </a:r>
            <a:r>
              <a:rPr lang="en-AU" sz="2300" b="1" dirty="0"/>
              <a:t>surd</a:t>
            </a:r>
            <a:r>
              <a:rPr lang="en-AU" sz="2300" dirty="0"/>
              <a:t> form (leaving the square root sign). Otherwise, calculate to 2 </a:t>
            </a:r>
            <a:r>
              <a:rPr lang="en-AU" sz="2300" dirty="0" err="1"/>
              <a:t>d.p.</a:t>
            </a:r>
            <a:endParaRPr lang="en-AU" sz="2300" dirty="0"/>
          </a:p>
        </p:txBody>
      </p:sp>
    </p:spTree>
    <p:extLst>
      <p:ext uri="{BB962C8B-B14F-4D97-AF65-F5344CB8AC3E}">
        <p14:creationId xmlns:p14="http://schemas.microsoft.com/office/powerpoint/2010/main" val="2131099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  <p:bldP spid="10" grpId="1"/>
      <p:bldP spid="11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135560" y="1556792"/>
            <a:ext cx="2880320" cy="2160240"/>
            <a:chOff x="611560" y="2924944"/>
            <a:chExt cx="2376264" cy="1728192"/>
          </a:xfrm>
        </p:grpSpPr>
        <p:sp>
          <p:nvSpPr>
            <p:cNvPr id="3" name="Right Triangle 2"/>
            <p:cNvSpPr/>
            <p:nvPr/>
          </p:nvSpPr>
          <p:spPr>
            <a:xfrm flipH="1">
              <a:off x="611560" y="2924944"/>
              <a:ext cx="2376264" cy="1728192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699792" y="4365104"/>
              <a:ext cx="288032" cy="28803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087888" y="2420889"/>
                <a:ext cx="4320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i="1" dirty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888" y="2420889"/>
                <a:ext cx="432048" cy="646331"/>
              </a:xfrm>
              <a:prstGeom prst="rect">
                <a:avLst/>
              </a:prstGeom>
              <a:blipFill>
                <a:blip r:embed="rId2"/>
                <a:stretch>
                  <a:fillRect l="-14286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503712" y="3717033"/>
                <a:ext cx="43204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i="1" dirty="0"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712" y="3717033"/>
                <a:ext cx="432048" cy="769441"/>
              </a:xfrm>
              <a:prstGeom prst="rect">
                <a:avLst/>
              </a:prstGeom>
              <a:blipFill>
                <a:blip r:embed="rId3"/>
                <a:stretch>
                  <a:fillRect l="-23529" r="-35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3215680" y="1916833"/>
                <a:ext cx="43204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i="1" dirty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680" y="1916833"/>
                <a:ext cx="432048" cy="769441"/>
              </a:xfrm>
              <a:prstGeom prst="rect">
                <a:avLst/>
              </a:prstGeom>
              <a:blipFill>
                <a:blip r:embed="rId4"/>
                <a:stretch>
                  <a:fillRect l="-8571" r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5735960" y="1052737"/>
            <a:ext cx="4536504" cy="95410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800" b="1" dirty="0"/>
              <a:t>Step 1:</a:t>
            </a:r>
            <a:r>
              <a:rPr lang="en-GB" sz="2800" dirty="0"/>
              <a:t> To work out the hypotenuse.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5960" y="2348880"/>
            <a:ext cx="4589140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800" b="1" dirty="0"/>
              <a:t>Step 2:</a:t>
            </a:r>
            <a:r>
              <a:rPr lang="en-GB" sz="2800" dirty="0"/>
              <a:t> Form an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5689600" y="2996953"/>
                <a:ext cx="304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6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36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3600" i="1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600" i="1">
                              <a:latin typeface="Cambria Math"/>
                            </a:rPr>
                            <m:t>4</m:t>
                          </m:r>
                        </m:e>
                        <m:sup>
                          <m:r>
                            <a:rPr lang="en-GB" sz="36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36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6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3600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6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9600" y="2996953"/>
                <a:ext cx="304800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5735960" y="3789041"/>
            <a:ext cx="4536504" cy="95410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800" b="1" dirty="0"/>
              <a:t>Step 3:</a:t>
            </a:r>
            <a:r>
              <a:rPr lang="en-GB" sz="2800" dirty="0"/>
              <a:t> Solve the equation to find the unknown side.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5735960" y="4773855"/>
                <a:ext cx="4248472" cy="1258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6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36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3600" i="1">
                          <a:latin typeface="Cambria Math"/>
                        </a:rPr>
                        <m:t>=</m:t>
                      </m:r>
                      <m:r>
                        <a:rPr lang="en-AU" sz="3600" i="1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GB" sz="3600" i="1">
                          <a:latin typeface="Cambria Math"/>
                        </a:rPr>
                        <m:t>+16=2</m:t>
                      </m:r>
                      <m:r>
                        <a:rPr lang="en-AU" sz="3600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br>
                  <a:rPr lang="en-GB" sz="3600" dirty="0"/>
                </a:br>
                <a14:m>
                  <m:oMath xmlns:m="http://schemas.openxmlformats.org/officeDocument/2006/math">
                    <m:r>
                      <a:rPr lang="en-GB" sz="3600" i="1">
                        <a:latin typeface="Cambria Math"/>
                      </a:rPr>
                      <m:t>𝑥</m:t>
                    </m:r>
                    <m:r>
                      <a:rPr lang="en-GB" sz="3600" i="1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3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3600" i="1">
                            <a:latin typeface="Cambria Math"/>
                          </a:rPr>
                          <m:t>2</m:t>
                        </m:r>
                        <m:r>
                          <a:rPr lang="en-AU" sz="3600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lang="en-GB" sz="3600" dirty="0"/>
                  <a:t> or 5</a:t>
                </a: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60" y="4773855"/>
                <a:ext cx="4248472" cy="1258230"/>
              </a:xfrm>
              <a:prstGeom prst="rect">
                <a:avLst/>
              </a:prstGeom>
              <a:blipFill>
                <a:blip r:embed="rId6"/>
                <a:stretch>
                  <a:fillRect b="-17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>
            <a:off x="2639616" y="1340768"/>
            <a:ext cx="648072" cy="720080"/>
          </a:xfrm>
          <a:prstGeom prst="straightConnector1">
            <a:avLst/>
          </a:prstGeom>
          <a:ln w="76200"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823796" y="2933452"/>
            <a:ext cx="1619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The hypotenuse appears on its own.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8442548" y="3052068"/>
            <a:ext cx="432048" cy="72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20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Let’s Try this Together</a:t>
              </a:r>
            </a:p>
          </p:txBody>
        </p:sp>
        <p:cxnSp>
          <p:nvCxnSpPr>
            <p:cNvPr id="21" name="Straight Connector 20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2" name="Rectangle 21"/>
          <p:cNvSpPr/>
          <p:nvPr/>
        </p:nvSpPr>
        <p:spPr>
          <a:xfrm>
            <a:off x="5736463" y="2902808"/>
            <a:ext cx="4582872" cy="73928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2800" dirty="0"/>
              <a:t>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23334" y="4797153"/>
            <a:ext cx="4561756" cy="179747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2800" dirty="0"/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05396" y="1496162"/>
            <a:ext cx="1276804" cy="42153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2000" dirty="0"/>
              <a:t>Reveal &gt;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746151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swallowfood.com/wp-content/uploads/2012/11/pai-mei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47528" y="5323148"/>
            <a:ext cx="3024336" cy="1534851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4871864" y="5323148"/>
            <a:ext cx="5551330" cy="153485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5" name="Group 4"/>
          <p:cNvGrpSpPr/>
          <p:nvPr/>
        </p:nvGrpSpPr>
        <p:grpSpPr>
          <a:xfrm>
            <a:off x="1703512" y="2516829"/>
            <a:ext cx="2232248" cy="1728192"/>
            <a:chOff x="611560" y="2924944"/>
            <a:chExt cx="2376264" cy="1728192"/>
          </a:xfrm>
        </p:grpSpPr>
        <p:sp>
          <p:nvSpPr>
            <p:cNvPr id="6" name="Right Triangle 5"/>
            <p:cNvSpPr/>
            <p:nvPr/>
          </p:nvSpPr>
          <p:spPr>
            <a:xfrm flipH="1">
              <a:off x="611560" y="2924944"/>
              <a:ext cx="2376264" cy="1728192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2699792" y="4365104"/>
              <a:ext cx="288032" cy="28803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935760" y="3308917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1624" y="4245021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8</a:t>
            </a:r>
          </a:p>
        </p:txBody>
      </p:sp>
      <p:grpSp>
        <p:nvGrpSpPr>
          <p:cNvPr id="10" name="Group 9"/>
          <p:cNvGrpSpPr/>
          <p:nvPr/>
        </p:nvGrpSpPr>
        <p:grpSpPr>
          <a:xfrm rot="18189871">
            <a:off x="4781307" y="2557945"/>
            <a:ext cx="2232248" cy="1728192"/>
            <a:chOff x="611560" y="2924944"/>
            <a:chExt cx="2376264" cy="1728192"/>
          </a:xfrm>
        </p:grpSpPr>
        <p:sp>
          <p:nvSpPr>
            <p:cNvPr id="11" name="Right Triangle 10"/>
            <p:cNvSpPr/>
            <p:nvPr/>
          </p:nvSpPr>
          <p:spPr>
            <a:xfrm flipH="1">
              <a:off x="611560" y="2924944"/>
              <a:ext cx="2376264" cy="1728192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699792" y="4365104"/>
              <a:ext cx="288032" cy="28803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2495600" y="3020885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600" y="3020885"/>
                <a:ext cx="36004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435731" y="2087039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3763" y="3599207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55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5499627" y="3167159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9627" y="3167159"/>
                <a:ext cx="36004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5283603" y="5653025"/>
                <a:ext cx="439248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2400" dirty="0">
                    <a:solidFill>
                      <a:schemeClr val="bg1"/>
                    </a:solidFill>
                  </a:rPr>
                  <a:t>“To learn secret way of a maths ninja, find </a:t>
                </a:r>
                <a14:m>
                  <m:oMath xmlns:m="http://schemas.openxmlformats.org/officeDocument/2006/math">
                    <m:r>
                      <a:rPr lang="en-GB" sz="2400" i="1" dirty="0">
                        <a:solidFill>
                          <a:schemeClr val="bg1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GB" sz="2400" dirty="0">
                    <a:solidFill>
                      <a:schemeClr val="bg1"/>
                    </a:solidFill>
                  </a:rPr>
                  <a:t> you must.”</a:t>
                </a: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3603" y="5653025"/>
                <a:ext cx="4392488" cy="830997"/>
              </a:xfrm>
              <a:prstGeom prst="rect">
                <a:avLst/>
              </a:prstGeom>
              <a:blipFill>
                <a:blip r:embed="rId5"/>
                <a:stretch>
                  <a:fillRect t="-4478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/>
          <p:cNvGrpSpPr/>
          <p:nvPr/>
        </p:nvGrpSpPr>
        <p:grpSpPr>
          <a:xfrm rot="13179695">
            <a:off x="8521102" y="3533349"/>
            <a:ext cx="1056242" cy="978773"/>
            <a:chOff x="611560" y="2924944"/>
            <a:chExt cx="2376264" cy="1728192"/>
          </a:xfrm>
        </p:grpSpPr>
        <p:sp>
          <p:nvSpPr>
            <p:cNvPr id="25" name="Right Triangle 24"/>
            <p:cNvSpPr/>
            <p:nvPr/>
          </p:nvSpPr>
          <p:spPr>
            <a:xfrm flipH="1">
              <a:off x="611560" y="2924944"/>
              <a:ext cx="2376264" cy="1728192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2699792" y="4365104"/>
              <a:ext cx="288032" cy="28803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8330309" y="3452933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6413" y="3380925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/>
              <p:cNvSpPr txBox="1"/>
              <p:nvPr/>
            </p:nvSpPr>
            <p:spPr>
              <a:xfrm>
                <a:off x="8906373" y="3956989"/>
                <a:ext cx="360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6373" y="3956989"/>
                <a:ext cx="36004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/>
          <p:cNvSpPr txBox="1"/>
          <p:nvPr/>
        </p:nvSpPr>
        <p:spPr>
          <a:xfrm>
            <a:off x="1847528" y="2660845"/>
            <a:ext cx="432048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83603" y="1654991"/>
            <a:ext cx="432048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98261" y="3020885"/>
            <a:ext cx="432048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1928264" y="2122058"/>
                <a:ext cx="17369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Answer: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/>
                      </a:rPr>
                      <m:t>𝒙</m:t>
                    </m:r>
                    <m:r>
                      <a:rPr lang="en-GB" b="1" i="1">
                        <a:latin typeface="Cambria Math"/>
                      </a:rPr>
                      <m:t>=</m:t>
                    </m:r>
                    <m:r>
                      <a:rPr lang="en-GB" b="1" i="1">
                        <a:latin typeface="Cambria Math"/>
                      </a:rPr>
                      <m:t>𝟏𝟎</m:t>
                    </m:r>
                  </m:oMath>
                </a14:m>
                <a:endParaRPr lang="en-GB" b="1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8264" y="2122058"/>
                <a:ext cx="1736920" cy="369332"/>
              </a:xfrm>
              <a:prstGeom prst="rect">
                <a:avLst/>
              </a:prstGeom>
              <a:blipFill>
                <a:blip r:embed="rId7"/>
                <a:stretch>
                  <a:fillRect l="-2899" t="-3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/>
              <p:cNvSpPr txBox="1"/>
              <p:nvPr/>
            </p:nvSpPr>
            <p:spPr>
              <a:xfrm>
                <a:off x="3758317" y="4677929"/>
                <a:ext cx="2248499" cy="395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Answer: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/>
                      </a:rPr>
                      <m:t>𝒙</m:t>
                    </m:r>
                    <m:r>
                      <a:rPr lang="en-GB" b="1" i="1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1" i="1">
                            <a:latin typeface="Cambria Math"/>
                          </a:rPr>
                          <m:t>𝟒</m:t>
                        </m:r>
                        <m:r>
                          <a:rPr lang="en-GB" b="1" i="1">
                            <a:latin typeface="Cambria Math" panose="02040503050406030204" pitchFamily="18" charset="0"/>
                          </a:rPr>
                          <m:t>𝟕𝟖</m:t>
                        </m:r>
                        <m:r>
                          <a:rPr lang="en-GB" b="1" i="1">
                            <a:latin typeface="Cambria Math"/>
                          </a:rPr>
                          <m:t>𝟗</m:t>
                        </m:r>
                      </m:e>
                    </m:rad>
                  </m:oMath>
                </a14:m>
                <a:endParaRPr lang="en-GB" b="1" dirty="0"/>
              </a:p>
            </p:txBody>
          </p:sp>
        </mc:Choice>
        <mc:Fallback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8317" y="4677929"/>
                <a:ext cx="2248499" cy="395429"/>
              </a:xfrm>
              <a:prstGeom prst="rect">
                <a:avLst/>
              </a:prstGeom>
              <a:blipFill>
                <a:blip r:embed="rId8"/>
                <a:stretch>
                  <a:fillRect l="-224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/>
              <p:cNvSpPr txBox="1"/>
              <p:nvPr/>
            </p:nvSpPr>
            <p:spPr>
              <a:xfrm>
                <a:off x="8258302" y="2708283"/>
                <a:ext cx="1943707" cy="3963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Answer: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/>
                      </a:rPr>
                      <m:t>𝒙</m:t>
                    </m:r>
                    <m:r>
                      <a:rPr lang="en-GB" b="1" i="1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1" i="1">
                            <a:latin typeface="Cambria Math"/>
                          </a:rPr>
                          <m:t>𝟐</m:t>
                        </m:r>
                      </m:e>
                    </m:rad>
                  </m:oMath>
                </a14:m>
                <a:endParaRPr lang="en-GB" b="1" dirty="0"/>
              </a:p>
            </p:txBody>
          </p:sp>
        </mc:Choice>
        <mc:Fallback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8302" y="2708283"/>
                <a:ext cx="1943707" cy="396327"/>
              </a:xfrm>
              <a:prstGeom prst="rect">
                <a:avLst/>
              </a:prstGeom>
              <a:blipFill>
                <a:blip r:embed="rId9"/>
                <a:stretch>
                  <a:fillRect l="-194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/>
          <p:cNvSpPr/>
          <p:nvPr/>
        </p:nvSpPr>
        <p:spPr>
          <a:xfrm>
            <a:off x="5103073" y="4652190"/>
            <a:ext cx="843562" cy="47722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2800" dirty="0"/>
              <a:t>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59098" y="2651710"/>
            <a:ext cx="864096" cy="5877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2800" dirty="0"/>
              <a:t>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53866" y="1903782"/>
            <a:ext cx="759335" cy="56332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2800" dirty="0"/>
              <a:t>?</a:t>
            </a:r>
          </a:p>
        </p:txBody>
      </p:sp>
      <p:grpSp>
        <p:nvGrpSpPr>
          <p:cNvPr id="52" name="Group 51"/>
          <p:cNvGrpSpPr/>
          <p:nvPr/>
        </p:nvGrpSpPr>
        <p:grpSpPr>
          <a:xfrm>
            <a:off x="208859" y="670199"/>
            <a:ext cx="9143074" cy="599127"/>
            <a:chOff x="0" y="13335"/>
            <a:chExt cx="9144218" cy="599127"/>
          </a:xfrm>
        </p:grpSpPr>
        <p:sp>
          <p:nvSpPr>
            <p:cNvPr id="5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54" name="Straight Connector 5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0565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5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16255" y="587114"/>
            <a:ext cx="1219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Pythagoras’ Theorem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How can I use Pythagoras’ Theorem to solve missing side lengths of a triangle?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D75C0E-24DD-7F4F-ACB7-C85372A8732C}"/>
              </a:ext>
            </a:extLst>
          </p:cNvPr>
          <p:cNvSpPr txBox="1"/>
          <p:nvPr/>
        </p:nvSpPr>
        <p:spPr>
          <a:xfrm>
            <a:off x="86976" y="1937194"/>
            <a:ext cx="3420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US" sz="2400" dirty="0">
                <a:latin typeface="Kiwi School Handwriting" panose="00000500000000000000" pitchFamily="2" charset="0"/>
              </a:rPr>
              <a:t>Pythagoras’ Theorem?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B7A0C16-9F00-F144-ACE9-788397135B74}"/>
                  </a:ext>
                </a:extLst>
              </p:cNvPr>
              <p:cNvSpPr txBox="1"/>
              <p:nvPr/>
            </p:nvSpPr>
            <p:spPr>
              <a:xfrm>
                <a:off x="9830203" y="4586351"/>
                <a:ext cx="2478052" cy="18814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AU" sz="2400" dirty="0">
                    <a:solidFill>
                      <a:srgbClr val="7030A0"/>
                    </a:solidFill>
                  </a:rPr>
                  <a:t>a</a:t>
                </a:r>
                <a:r>
                  <a:rPr lang="en-AU" sz="24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400" dirty="0">
                    <a:solidFill>
                      <a:srgbClr val="7030A0"/>
                    </a:solidFill>
                  </a:rPr>
                  <a:t> = c</a:t>
                </a:r>
                <a:r>
                  <a:rPr lang="en-AU" sz="24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400" dirty="0">
                    <a:solidFill>
                      <a:srgbClr val="7030A0"/>
                    </a:solidFill>
                  </a:rPr>
                  <a:t> - b</a:t>
                </a:r>
                <a:r>
                  <a:rPr lang="en-AU" sz="24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400" dirty="0">
                    <a:solidFill>
                      <a:srgbClr val="7030A0"/>
                    </a:solidFill>
                  </a:rPr>
                  <a:t> </a:t>
                </a:r>
              </a:p>
              <a:p>
                <a:r>
                  <a:rPr lang="en-AU" sz="2400" dirty="0">
                    <a:solidFill>
                      <a:srgbClr val="7030A0"/>
                    </a:solidFill>
                  </a:rPr>
                  <a:t>x</a:t>
                </a:r>
                <a:r>
                  <a:rPr lang="en-AU" sz="24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400" dirty="0">
                    <a:solidFill>
                      <a:srgbClr val="7030A0"/>
                    </a:solidFill>
                  </a:rPr>
                  <a:t> = 10</a:t>
                </a:r>
                <a:r>
                  <a:rPr lang="en-AU" sz="24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400" dirty="0">
                    <a:solidFill>
                      <a:srgbClr val="7030A0"/>
                    </a:solidFill>
                  </a:rPr>
                  <a:t> - 8</a:t>
                </a:r>
                <a:r>
                  <a:rPr lang="en-AU" sz="24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400" dirty="0">
                    <a:solidFill>
                      <a:srgbClr val="7030A0"/>
                    </a:solidFill>
                  </a:rPr>
                  <a:t> </a:t>
                </a:r>
              </a:p>
              <a:p>
                <a:r>
                  <a:rPr lang="en-AU" sz="2400" dirty="0">
                    <a:solidFill>
                      <a:srgbClr val="7030A0"/>
                    </a:solidFill>
                  </a:rPr>
                  <a:t>x</a:t>
                </a:r>
                <a:r>
                  <a:rPr lang="en-AU" sz="2400" baseline="30000" dirty="0">
                    <a:solidFill>
                      <a:srgbClr val="7030A0"/>
                    </a:solidFill>
                  </a:rPr>
                  <a:t>2</a:t>
                </a:r>
                <a:r>
                  <a:rPr lang="en-AU" sz="2400" dirty="0">
                    <a:solidFill>
                      <a:srgbClr val="7030A0"/>
                    </a:solidFill>
                  </a:rPr>
                  <a:t> = 100 – 64 = 36</a:t>
                </a:r>
              </a:p>
              <a:p>
                <a:r>
                  <a:rPr lang="en-AU" sz="2400" dirty="0">
                    <a:solidFill>
                      <a:srgbClr val="7030A0"/>
                    </a:solidFill>
                  </a:rPr>
                  <a:t>x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sz="24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</m:rad>
                  </m:oMath>
                </a14:m>
                <a:r>
                  <a:rPr lang="en-AU" sz="2400" dirty="0">
                    <a:solidFill>
                      <a:srgbClr val="7030A0"/>
                    </a:solidFill>
                  </a:rPr>
                  <a:t> </a:t>
                </a:r>
              </a:p>
              <a:p>
                <a:r>
                  <a:rPr lang="en-AU" sz="2400" dirty="0">
                    <a:solidFill>
                      <a:srgbClr val="7030A0"/>
                    </a:solidFill>
                  </a:rPr>
                  <a:t>x = 6cm 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B7A0C16-9F00-F144-ACE9-788397135B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0203" y="4586351"/>
                <a:ext cx="2478052" cy="1881477"/>
              </a:xfrm>
              <a:prstGeom prst="rect">
                <a:avLst/>
              </a:prstGeom>
              <a:blipFill>
                <a:blip r:embed="rId3"/>
                <a:stretch>
                  <a:fillRect l="-7143" t="-4698" b="-80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F33690BF-28F3-7D4D-BC57-8641AC6B477E}"/>
              </a:ext>
            </a:extLst>
          </p:cNvPr>
          <p:cNvGrpSpPr/>
          <p:nvPr/>
        </p:nvGrpSpPr>
        <p:grpSpPr>
          <a:xfrm>
            <a:off x="6884049" y="1937194"/>
            <a:ext cx="2283322" cy="1440747"/>
            <a:chOff x="3491881" y="1772816"/>
            <a:chExt cx="2865032" cy="196705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F61F8EA-B4F1-C441-9341-F12F13BCA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91881" y="1772816"/>
              <a:ext cx="2376253" cy="140097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FE7E0CC-503B-1840-8C5D-6ADFD5D69C24}"/>
                </a:ext>
              </a:extLst>
            </p:cNvPr>
            <p:cNvSpPr txBox="1"/>
            <p:nvPr/>
          </p:nvSpPr>
          <p:spPr>
            <a:xfrm>
              <a:off x="4355524" y="1915075"/>
              <a:ext cx="394636" cy="6303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/>
                <a:t>c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814D8F8-7004-1649-A730-99FD0B8E75B2}"/>
                </a:ext>
              </a:extLst>
            </p:cNvPr>
            <p:cNvSpPr txBox="1"/>
            <p:nvPr/>
          </p:nvSpPr>
          <p:spPr>
            <a:xfrm>
              <a:off x="5940153" y="2284855"/>
              <a:ext cx="416760" cy="6303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/>
                <a:t>a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9C4A8E1-724B-9D46-924B-07EF4033DC76}"/>
                </a:ext>
              </a:extLst>
            </p:cNvPr>
            <p:cNvSpPr txBox="1"/>
            <p:nvPr/>
          </p:nvSpPr>
          <p:spPr>
            <a:xfrm>
              <a:off x="4678356" y="3109556"/>
              <a:ext cx="434864" cy="63031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/>
                <a:t>b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3BEFAAA-5D3A-5644-8434-C2B22B6BC82F}"/>
              </a:ext>
            </a:extLst>
          </p:cNvPr>
          <p:cNvSpPr txBox="1"/>
          <p:nvPr/>
        </p:nvSpPr>
        <p:spPr>
          <a:xfrm>
            <a:off x="86976" y="3216693"/>
            <a:ext cx="30511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595"/>
            <a:r>
              <a:rPr lang="en-US" sz="2400" dirty="0">
                <a:latin typeface="Kiwi School Handwriting" panose="00000500000000000000" pitchFamily="2" charset="0"/>
              </a:rPr>
              <a:t>How do we use PT to find a shorter side?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10722E-6F25-8C42-B552-4DFB5164B37E}"/>
              </a:ext>
            </a:extLst>
          </p:cNvPr>
          <p:cNvSpPr txBox="1"/>
          <p:nvPr/>
        </p:nvSpPr>
        <p:spPr>
          <a:xfrm>
            <a:off x="278545" y="4419588"/>
            <a:ext cx="266802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400" dirty="0"/>
              <a:t>Example: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FBCB29F-5FBC-0F43-B38D-A0136BBA7AA7}"/>
              </a:ext>
            </a:extLst>
          </p:cNvPr>
          <p:cNvGrpSpPr/>
          <p:nvPr/>
        </p:nvGrpSpPr>
        <p:grpSpPr>
          <a:xfrm>
            <a:off x="2286995" y="4788920"/>
            <a:ext cx="2440603" cy="1606313"/>
            <a:chOff x="3491881" y="1772816"/>
            <a:chExt cx="2814685" cy="187588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4BCB693-E314-174F-BE83-BF6C63B20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91881" y="1772816"/>
              <a:ext cx="2376253" cy="1400972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B086142-D884-0C40-A7F1-FEEE501F767D}"/>
                </a:ext>
              </a:extLst>
            </p:cNvPr>
            <p:cNvSpPr txBox="1"/>
            <p:nvPr/>
          </p:nvSpPr>
          <p:spPr>
            <a:xfrm>
              <a:off x="3864579" y="1942905"/>
              <a:ext cx="1004215" cy="5391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/>
                <a:t>10cm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7302B12-FD78-414F-AA6E-1EB67A0FD06B}"/>
                </a:ext>
              </a:extLst>
            </p:cNvPr>
            <p:cNvSpPr txBox="1"/>
            <p:nvPr/>
          </p:nvSpPr>
          <p:spPr>
            <a:xfrm>
              <a:off x="5940152" y="2284855"/>
              <a:ext cx="366414" cy="5391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/>
                <a:t>x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CA7FD4E-DBED-8C41-BBA4-DFAFB6E510CD}"/>
                </a:ext>
              </a:extLst>
            </p:cNvPr>
            <p:cNvSpPr txBox="1"/>
            <p:nvPr/>
          </p:nvSpPr>
          <p:spPr>
            <a:xfrm>
              <a:off x="4678356" y="3109558"/>
              <a:ext cx="824891" cy="5391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dirty="0"/>
                <a:t>8cm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B31A05FF-AFEC-C240-B80E-F058B5B7B75D}"/>
              </a:ext>
            </a:extLst>
          </p:cNvPr>
          <p:cNvSpPr txBox="1"/>
          <p:nvPr/>
        </p:nvSpPr>
        <p:spPr>
          <a:xfrm>
            <a:off x="5237553" y="4614181"/>
            <a:ext cx="5530713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400" dirty="0"/>
              <a:t>Step 1: Write the equation </a:t>
            </a:r>
          </a:p>
          <a:p>
            <a:r>
              <a:rPr lang="en-AU" sz="2400" dirty="0"/>
              <a:t>Step 2: Rewrite it using the </a:t>
            </a:r>
          </a:p>
          <a:p>
            <a:r>
              <a:rPr lang="en-AU" sz="2400" dirty="0"/>
              <a:t>              values we know</a:t>
            </a:r>
          </a:p>
          <a:p>
            <a:r>
              <a:rPr lang="en-AU" sz="2400" dirty="0"/>
              <a:t>Step 3: Solve for the unknown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9054DD-D934-824F-A1BA-D2EF8E140D1A}"/>
              </a:ext>
            </a:extLst>
          </p:cNvPr>
          <p:cNvSpPr txBox="1"/>
          <p:nvPr/>
        </p:nvSpPr>
        <p:spPr>
          <a:xfrm>
            <a:off x="4988584" y="1995738"/>
            <a:ext cx="183806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400" dirty="0"/>
              <a:t>a</a:t>
            </a:r>
            <a:r>
              <a:rPr lang="en-AU" sz="2400" baseline="30000" dirty="0"/>
              <a:t>2</a:t>
            </a:r>
            <a:r>
              <a:rPr lang="en-AU" sz="2400" dirty="0"/>
              <a:t> + b</a:t>
            </a:r>
            <a:r>
              <a:rPr lang="en-AU" sz="2400" baseline="30000" dirty="0"/>
              <a:t>2</a:t>
            </a:r>
            <a:r>
              <a:rPr lang="en-AU" sz="2400" dirty="0"/>
              <a:t> = c</a:t>
            </a:r>
            <a:r>
              <a:rPr lang="en-AU" sz="2400" baseline="30000" dirty="0"/>
              <a:t>2</a:t>
            </a:r>
            <a:r>
              <a:rPr lang="en-AU" sz="2400" dirty="0"/>
              <a:t> 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4B2951-35B8-2F43-92CA-D49D65E74AF6}"/>
              </a:ext>
            </a:extLst>
          </p:cNvPr>
          <p:cNvSpPr txBox="1"/>
          <p:nvPr/>
        </p:nvSpPr>
        <p:spPr>
          <a:xfrm>
            <a:off x="3769060" y="3328099"/>
            <a:ext cx="784132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400" dirty="0"/>
              <a:t>To work out a shorter side, rewrite the formula as:  a</a:t>
            </a:r>
            <a:r>
              <a:rPr lang="en-AU" sz="2400" baseline="30000" dirty="0"/>
              <a:t>2</a:t>
            </a:r>
            <a:r>
              <a:rPr lang="en-AU" sz="2400" dirty="0"/>
              <a:t> = c</a:t>
            </a:r>
            <a:r>
              <a:rPr lang="en-AU" sz="2400" baseline="30000" dirty="0"/>
              <a:t>2</a:t>
            </a:r>
            <a:r>
              <a:rPr lang="en-AU" sz="2400" dirty="0"/>
              <a:t> - b</a:t>
            </a:r>
            <a:r>
              <a:rPr lang="en-AU" sz="2400" baseline="30000" dirty="0"/>
              <a:t>2</a:t>
            </a:r>
            <a:r>
              <a:rPr lang="en-AU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87646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/>
      <p:bldP spid="12" grpId="0"/>
      <p:bldP spid="13" grpId="0"/>
      <p:bldP spid="21" grpId="0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135560" y="1556792"/>
            <a:ext cx="2880320" cy="2160240"/>
            <a:chOff x="611560" y="2924944"/>
            <a:chExt cx="2376264" cy="1728192"/>
          </a:xfrm>
        </p:grpSpPr>
        <p:sp>
          <p:nvSpPr>
            <p:cNvPr id="3" name="Right Triangle 2"/>
            <p:cNvSpPr/>
            <p:nvPr/>
          </p:nvSpPr>
          <p:spPr>
            <a:xfrm flipH="1">
              <a:off x="611560" y="2924944"/>
              <a:ext cx="2376264" cy="1728192"/>
            </a:xfrm>
            <a:prstGeom prst="rt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2699792" y="4365104"/>
              <a:ext cx="288032" cy="288032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087888" y="2420889"/>
                <a:ext cx="43204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7888" y="2420889"/>
                <a:ext cx="432048" cy="646331"/>
              </a:xfrm>
              <a:prstGeom prst="rect">
                <a:avLst/>
              </a:prstGeom>
              <a:blipFill>
                <a:blip r:embed="rId2"/>
                <a:stretch>
                  <a:fillRect l="-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503712" y="3717033"/>
                <a:ext cx="43204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400" i="1" dirty="0">
                          <a:latin typeface="Cambria Math"/>
                        </a:rPr>
                        <m:t>4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712" y="3717033"/>
                <a:ext cx="432048" cy="769441"/>
              </a:xfrm>
              <a:prstGeom prst="rect">
                <a:avLst/>
              </a:prstGeom>
              <a:blipFill>
                <a:blip r:embed="rId3"/>
                <a:stretch>
                  <a:fillRect l="-23529" r="-35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3215680" y="1916833"/>
                <a:ext cx="432048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400" i="1" dirty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680" y="1916833"/>
                <a:ext cx="432048" cy="769441"/>
              </a:xfrm>
              <a:prstGeom prst="rect">
                <a:avLst/>
              </a:prstGeom>
              <a:blipFill>
                <a:blip r:embed="rId4"/>
                <a:stretch>
                  <a:fillRect l="-22857" r="-3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5735960" y="1052737"/>
            <a:ext cx="4536504" cy="95410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800" b="1" dirty="0"/>
              <a:t>Step 1:</a:t>
            </a:r>
            <a:r>
              <a:rPr lang="en-GB" sz="2800" dirty="0"/>
              <a:t> To work out the shorter side.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5960" y="2348880"/>
            <a:ext cx="4589140" cy="5232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800" b="1" dirty="0"/>
              <a:t>Step 2:</a:t>
            </a:r>
            <a:r>
              <a:rPr lang="en-GB" sz="2800" dirty="0"/>
              <a:t> Form an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5689600" y="2996953"/>
                <a:ext cx="3048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6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sz="36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600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GB" sz="36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sz="360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600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3600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36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9600" y="2996953"/>
                <a:ext cx="304800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5735960" y="3789041"/>
            <a:ext cx="4536504" cy="95410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2800" b="1" dirty="0"/>
              <a:t>Step 3:</a:t>
            </a:r>
            <a:r>
              <a:rPr lang="en-GB" sz="2800" dirty="0"/>
              <a:t> Solve the equation to find the unknown side.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5735960" y="4773855"/>
                <a:ext cx="4248472" cy="1258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6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GB" sz="36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GB" sz="3600" i="1">
                          <a:latin typeface="Cambria Math"/>
                        </a:rPr>
                        <m:t>=</m:t>
                      </m:r>
                      <m:r>
                        <a:rPr lang="en-AU" sz="3600" i="1">
                          <a:latin typeface="Cambria Math" panose="02040503050406030204" pitchFamily="18" charset="0"/>
                        </a:rPr>
                        <m:t>25−</m:t>
                      </m:r>
                      <m:r>
                        <a:rPr lang="en-GB" sz="3600" i="1">
                          <a:latin typeface="Cambria Math"/>
                        </a:rPr>
                        <m:t>16=</m:t>
                      </m:r>
                      <m:r>
                        <a:rPr lang="en-AU" sz="3600" i="1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br>
                  <a:rPr lang="en-GB" sz="3600" dirty="0"/>
                </a:br>
                <a14:m>
                  <m:oMath xmlns:m="http://schemas.openxmlformats.org/officeDocument/2006/math">
                    <m:r>
                      <a:rPr lang="en-GB" sz="3600" i="1">
                        <a:latin typeface="Cambria Math"/>
                      </a:rPr>
                      <m:t>𝑥</m:t>
                    </m:r>
                    <m:r>
                      <a:rPr lang="en-GB" sz="3600" i="1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36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sz="3600" i="1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</m:oMath>
                </a14:m>
                <a:r>
                  <a:rPr lang="en-GB" sz="3600" dirty="0"/>
                  <a:t> or 3</a:t>
                </a: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60" y="4773855"/>
                <a:ext cx="4248472" cy="1258230"/>
              </a:xfrm>
              <a:prstGeom prst="rect">
                <a:avLst/>
              </a:prstGeom>
              <a:blipFill>
                <a:blip r:embed="rId6"/>
                <a:stretch>
                  <a:fillRect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>
            <a:off x="2639616" y="1340768"/>
            <a:ext cx="648072" cy="720080"/>
          </a:xfrm>
          <a:prstGeom prst="straightConnector1">
            <a:avLst/>
          </a:prstGeom>
          <a:ln w="76200"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823796" y="2933452"/>
            <a:ext cx="1619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The shorter side appears on its own.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8442548" y="3052068"/>
            <a:ext cx="432048" cy="7200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20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Let’s Try this Together</a:t>
              </a:r>
            </a:p>
          </p:txBody>
        </p:sp>
        <p:cxnSp>
          <p:nvCxnSpPr>
            <p:cNvPr id="21" name="Straight Connector 20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2" name="Rectangle 21"/>
          <p:cNvSpPr/>
          <p:nvPr/>
        </p:nvSpPr>
        <p:spPr>
          <a:xfrm>
            <a:off x="5746870" y="2922048"/>
            <a:ext cx="4582872" cy="73928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2800" dirty="0"/>
              <a:t>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35960" y="4773856"/>
            <a:ext cx="4561756" cy="179747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2800" dirty="0"/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23796" y="1490039"/>
            <a:ext cx="1276804" cy="42153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2000" dirty="0"/>
              <a:t>Reveal &gt;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306683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16255" y="587114"/>
            <a:ext cx="1219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Pythagoras’ Theorem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How can I use Pythagoras’ Theorem to solve missing side lengths of a triangle?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AD17FE-8367-D54D-B8CC-690C0ECDE43C}"/>
              </a:ext>
            </a:extLst>
          </p:cNvPr>
          <p:cNvSpPr txBox="1"/>
          <p:nvPr/>
        </p:nvSpPr>
        <p:spPr>
          <a:xfrm>
            <a:off x="3353087" y="1823602"/>
            <a:ext cx="8722658" cy="2561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indent="-457200">
              <a:buAutoNum type="arabicPeriod"/>
            </a:pPr>
            <a:r>
              <a:rPr lang="en-AU" sz="2400" dirty="0"/>
              <a:t>Draw a diagram to help identify the right-angled triangles that may help solve the problem.</a:t>
            </a:r>
          </a:p>
          <a:p>
            <a:pPr marL="457200" indent="-457200">
              <a:buAutoNum type="arabicPeriod"/>
            </a:pPr>
            <a:r>
              <a:rPr lang="en-AU" sz="2400" dirty="0"/>
              <a:t>Label the sides with their lengths. Use a pronumeral if the length is not unknown.</a:t>
            </a:r>
          </a:p>
          <a:p>
            <a:pPr marL="457200" indent="-457200">
              <a:buAutoNum type="arabicPeriod"/>
            </a:pPr>
            <a:r>
              <a:rPr lang="en-AU" sz="2400" dirty="0"/>
              <a:t>Use Pythagoras’ Theorem to work out the unknown.</a:t>
            </a:r>
          </a:p>
          <a:p>
            <a:pPr marL="457200" indent="-457200">
              <a:buAutoNum type="arabicPeriod"/>
            </a:pPr>
            <a:r>
              <a:rPr lang="en-AU" sz="2400" dirty="0"/>
              <a:t>Solve the problem by making any further calculations and answering in words. 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9A8C1AB-1173-7F4E-9C43-76C87A58315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32036" y="3336059"/>
            <a:ext cx="9727928" cy="333797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03A914E-A768-D342-85C7-2A5EA6821159}"/>
              </a:ext>
            </a:extLst>
          </p:cNvPr>
          <p:cNvSpPr txBox="1"/>
          <p:nvPr/>
        </p:nvSpPr>
        <p:spPr>
          <a:xfrm>
            <a:off x="116255" y="1857391"/>
            <a:ext cx="3111039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sz="2400" dirty="0"/>
              <a:t>How can we use PT to solve worded problems?  What are the steps?</a:t>
            </a:r>
          </a:p>
        </p:txBody>
      </p:sp>
    </p:spTree>
    <p:extLst>
      <p:ext uri="{BB962C8B-B14F-4D97-AF65-F5344CB8AC3E}">
        <p14:creationId xmlns:p14="http://schemas.microsoft.com/office/powerpoint/2010/main" val="3543222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7CCAF87-727A-4E0A-A184-5E45F7E52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188" y="46123"/>
            <a:ext cx="10198471" cy="676575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C920F18-18B5-4299-8257-27020839DC7B}"/>
              </a:ext>
            </a:extLst>
          </p:cNvPr>
          <p:cNvSpPr/>
          <p:nvPr/>
        </p:nvSpPr>
        <p:spPr>
          <a:xfrm>
            <a:off x="1021611" y="4109020"/>
            <a:ext cx="10091624" cy="18019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031C0F-5704-45CF-A182-95CBA2F9478B}"/>
              </a:ext>
            </a:extLst>
          </p:cNvPr>
          <p:cNvSpPr/>
          <p:nvPr/>
        </p:nvSpPr>
        <p:spPr>
          <a:xfrm>
            <a:off x="1021611" y="5907093"/>
            <a:ext cx="10091624" cy="9086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8413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3600" dirty="0"/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CA" sz="2800" dirty="0"/>
              <a:t>Introducing Pythagoras Worksheets </a:t>
            </a:r>
            <a:endParaRPr lang="en-AU" sz="2800" dirty="0"/>
          </a:p>
        </p:txBody>
      </p:sp>
      <p:pic>
        <p:nvPicPr>
          <p:cNvPr id="1026" name="Picture 2" descr="C:\Users\e4075868\AppData\Local\Microsoft\Windows\Temporary Internet Files\Content.IE5\RP2BT71J\clipart0198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7459" y="4149080"/>
            <a:ext cx="2879080" cy="235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6077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400" dirty="0"/>
              <a:t>Exit ticket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2480" y="2190749"/>
            <a:ext cx="11058144" cy="4124707"/>
          </a:xfrm>
        </p:spPr>
        <p:txBody>
          <a:bodyPr>
            <a:normAutofit/>
          </a:bodyPr>
          <a:lstStyle/>
          <a:p>
            <a:r>
              <a:rPr lang="en-AU" sz="2800" dirty="0"/>
              <a:t>Write a summary answering the essential question. </a:t>
            </a:r>
          </a:p>
          <a:p>
            <a:r>
              <a:rPr lang="en-AU" sz="2800" dirty="0"/>
              <a:t>Add at least three new terms to your glossary</a:t>
            </a:r>
          </a:p>
        </p:txBody>
      </p:sp>
    </p:spTree>
    <p:extLst>
      <p:ext uri="{BB962C8B-B14F-4D97-AF65-F5344CB8AC3E}">
        <p14:creationId xmlns:p14="http://schemas.microsoft.com/office/powerpoint/2010/main" val="401481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ducation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ucation_16x9.potx" id="{AA5F22BC-61EA-4F01-AB22-75117871E196}" vid="{BD0EB374-1DDC-4F15-88A9-D386288C58A6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141aba3b8f8cb7f331be6546df69db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8e4ef66d87525153bd8907774ed28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F7A874A-6E55-415B-9061-8B2D43DC2F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1BC99BC-3A63-4255-9D4F-38C5B80A319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896FEF9-821E-45A6-82F2-0B1CE4CD8C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789</Words>
  <Application>Microsoft Macintosh PowerPoint</Application>
  <PresentationFormat>Widescreen</PresentationFormat>
  <Paragraphs>141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Cambria Math</vt:lpstr>
      <vt:lpstr>Kiwi School Handwriting</vt:lpstr>
      <vt:lpstr>Wingdings</vt:lpstr>
      <vt:lpstr>Education 16x9</vt:lpstr>
      <vt:lpstr>PowerPoint Presentation</vt:lpstr>
      <vt:lpstr>PowerPoint Presentation</vt:lpstr>
      <vt:lpstr>Topic: Pythagoras’ Theorem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  <vt:lpstr>Exit ticket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2012-09-21T18:31:34Z</dcterms:created>
  <dcterms:modified xsi:type="dcterms:W3CDTF">2019-07-20T05:16:05Z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
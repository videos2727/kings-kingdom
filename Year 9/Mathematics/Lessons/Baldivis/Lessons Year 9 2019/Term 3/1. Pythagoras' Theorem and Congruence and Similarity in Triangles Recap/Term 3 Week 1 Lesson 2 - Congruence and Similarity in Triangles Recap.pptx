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89" r:id="rId5"/>
    <p:sldId id="258" r:id="rId6"/>
    <p:sldId id="384" r:id="rId7"/>
    <p:sldId id="479" r:id="rId8"/>
    <p:sldId id="482" r:id="rId9"/>
    <p:sldId id="277" r:id="rId10"/>
    <p:sldId id="278" r:id="rId11"/>
    <p:sldId id="279" r:id="rId12"/>
    <p:sldId id="480" r:id="rId13"/>
    <p:sldId id="329" r:id="rId14"/>
    <p:sldId id="330" r:id="rId15"/>
    <p:sldId id="484" r:id="rId16"/>
    <p:sldId id="490" r:id="rId17"/>
    <p:sldId id="491" r:id="rId18"/>
    <p:sldId id="332" r:id="rId19"/>
    <p:sldId id="337" r:id="rId20"/>
    <p:sldId id="339" r:id="rId21"/>
    <p:sldId id="492" r:id="rId22"/>
    <p:sldId id="483" r:id="rId23"/>
    <p:sldId id="493" r:id="rId24"/>
    <p:sldId id="335" r:id="rId25"/>
    <p:sldId id="494" r:id="rId26"/>
    <p:sldId id="331" r:id="rId27"/>
    <p:sldId id="398" r:id="rId28"/>
    <p:sldId id="39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5" autoAdjust="0"/>
    <p:restoredTop sz="94650"/>
  </p:normalViewPr>
  <p:slideViewPr>
    <p:cSldViewPr snapToGrid="0">
      <p:cViewPr varScale="1">
        <p:scale>
          <a:sx n="95" d="100"/>
          <a:sy n="95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7/19/19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33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3371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4941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5963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6520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3769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9145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090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4809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2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Starter </a:t>
            </a:r>
            <a:r>
              <a:rPr lang="mr-IN" sz="4000" b="1" dirty="0">
                <a:solidFill>
                  <a:schemeClr val="bg2"/>
                </a:solidFill>
              </a:rPr>
              <a:t>–</a:t>
            </a:r>
            <a:r>
              <a:rPr lang="en-US" sz="4000" b="1" dirty="0">
                <a:solidFill>
                  <a:schemeClr val="bg2"/>
                </a:solidFill>
              </a:rPr>
              <a:t> Daily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39989-AE8F-9D4B-A659-01CC69830142}"/>
              </a:ext>
            </a:extLst>
          </p:cNvPr>
          <p:cNvSpPr txBox="1"/>
          <p:nvPr/>
        </p:nvSpPr>
        <p:spPr>
          <a:xfrm>
            <a:off x="252248" y="1964353"/>
            <a:ext cx="112292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1. Find the highest common factor of 30 and 18 </a:t>
            </a:r>
          </a:p>
          <a:p>
            <a:endParaRPr lang="en-US" sz="2400" dirty="0"/>
          </a:p>
          <a:p>
            <a:r>
              <a:rPr lang="en-AU" sz="2400" dirty="0"/>
              <a:t>2. To work out a shorter side of a right-angled triangle when we know the hypotenuse and the other side we rewrite Pythagoras’ Theorem to get the unknown side by itself. It looks like ________ = ________ - __________.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3. Find the scale factor of the following shape (A is</a:t>
            </a:r>
          </a:p>
          <a:p>
            <a:r>
              <a:rPr lang="en-US" sz="2400" dirty="0"/>
              <a:t>     the original)</a:t>
            </a:r>
          </a:p>
          <a:p>
            <a:endParaRPr lang="en-US" sz="2400" dirty="0"/>
          </a:p>
          <a:p>
            <a:r>
              <a:rPr lang="en-US" sz="2400" dirty="0"/>
              <a:t>4. Draw a scalene triangle</a:t>
            </a:r>
          </a:p>
          <a:p>
            <a:endParaRPr lang="en-US" sz="2400" dirty="0"/>
          </a:p>
          <a:p>
            <a:r>
              <a:rPr lang="en-US" sz="2400" dirty="0"/>
              <a:t>5. What does congruent mean?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903B46-7E11-814C-99C9-03AC0307D4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52585" r="55082" b="12021"/>
          <a:stretch/>
        </p:blipFill>
        <p:spPr>
          <a:xfrm>
            <a:off x="6949753" y="3604061"/>
            <a:ext cx="2930356" cy="193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Congruence and Similarity in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1460" y="4464425"/>
            <a:ext cx="9260540" cy="1021976"/>
          </a:xfrm>
        </p:spPr>
        <p:txBody>
          <a:bodyPr>
            <a:normAutofit/>
          </a:bodyPr>
          <a:lstStyle/>
          <a:p>
            <a:r>
              <a:rPr lang="en-US" dirty="0"/>
              <a:t>EQ: What is the difference between congruency and similarity and what tests can we use to determine if a triangle is one or the other?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106037-0853-A64F-A4E6-18EB8C1F878E}"/>
              </a:ext>
            </a:extLst>
          </p:cNvPr>
          <p:cNvSpPr txBox="1"/>
          <p:nvPr/>
        </p:nvSpPr>
        <p:spPr>
          <a:xfrm>
            <a:off x="116255" y="1841299"/>
            <a:ext cx="1805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u="sng" dirty="0">
                <a:latin typeface="Kiwi School Handwriting" panose="00000500000000000000" pitchFamily="2" charset="0"/>
              </a:rPr>
              <a:t>To recap: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BF7FB6-E7CF-6946-A5C3-3EA5C8F4801E}"/>
              </a:ext>
            </a:extLst>
          </p:cNvPr>
          <p:cNvCxnSpPr>
            <a:cxnSpLocks/>
          </p:cNvCxnSpPr>
          <p:nvPr/>
        </p:nvCxnSpPr>
        <p:spPr>
          <a:xfrm flipH="1" flipV="1">
            <a:off x="0" y="5956879"/>
            <a:ext cx="12192000" cy="149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5A7A73-4CB2-A342-A897-CFE13C9BCCC2}"/>
              </a:ext>
            </a:extLst>
          </p:cNvPr>
          <p:cNvSpPr txBox="1"/>
          <p:nvPr/>
        </p:nvSpPr>
        <p:spPr>
          <a:xfrm>
            <a:off x="116255" y="6062979"/>
            <a:ext cx="1455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F9696794-0401-3F4F-86E0-F56E3A374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1727" y="3657181"/>
                <a:ext cx="5652757" cy="1325880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AU" sz="2400" b="1" dirty="0"/>
                  <a:t> </a:t>
                </a:r>
                <a:r>
                  <a:rPr lang="en-AU" sz="2400" dirty="0"/>
                  <a:t>- The angle is always written in the middle </a:t>
                </a:r>
                <a:endParaRPr lang="en-AU" sz="2400" b="1" dirty="0"/>
              </a:p>
            </p:txBody>
          </p:sp>
        </mc:Choice>
        <mc:Fallback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F9696794-0401-3F4F-86E0-F56E3A374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727" y="3657181"/>
                <a:ext cx="5652757" cy="1325880"/>
              </a:xfrm>
              <a:prstGeom prst="rect">
                <a:avLst/>
              </a:prstGeom>
              <a:blipFill>
                <a:blip r:embed="rId3"/>
                <a:stretch>
                  <a:fillRect l="-1345" t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4B5DE199-FD48-FE49-89A5-2B0B7CCEA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268" y="2066112"/>
            <a:ext cx="6267726" cy="139056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13ED5F-3674-1947-9AB6-D38007C61B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86" b="15166"/>
          <a:stretch/>
        </p:blipFill>
        <p:spPr>
          <a:xfrm>
            <a:off x="8782270" y="2066112"/>
            <a:ext cx="3108709" cy="18581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7686C06A-8483-9645-899D-5636348201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88687" y="4839002"/>
                <a:ext cx="5247136" cy="838362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𝐓𝐡𝐞𝐫𝐞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𝐚𝐫𝐞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𝐬𝐢𝐱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𝐭𝐲𝐩𝐞𝐬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𝐨𝐟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𝐭𝐫𝐢𝐚𝐧𝐠𝐥𝐞𝐬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𝐰𝐞</m:t>
                    </m:r>
                  </m:oMath>
                </a14:m>
                <a:endParaRPr lang="en-CA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𝐚𝐫𝐞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𝐠𝐨𝐢𝐧𝐠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𝐭𝐨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𝐟𝐨𝐜𝐮𝐬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</m:t>
                    </m:r>
                    <m:r>
                      <a:rPr lang="en-CA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AU" sz="2400" b="1" dirty="0"/>
              </a:p>
            </p:txBody>
          </p:sp>
        </mc:Choice>
        <mc:Fallback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7686C06A-8483-9645-899D-56363482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687" y="4839002"/>
                <a:ext cx="5247136" cy="838362"/>
              </a:xfrm>
              <a:prstGeom prst="rect">
                <a:avLst/>
              </a:prstGeom>
              <a:blipFill>
                <a:blip r:embed="rId6"/>
                <a:stretch>
                  <a:fillRect l="-1449" t="-7463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3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1ABEA0-14A3-0A4C-8CF4-245EC3C2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91" y="4405820"/>
            <a:ext cx="2644578" cy="17494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3EE8E6F-CBAB-034E-BCBE-C1622107D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235" y="4395805"/>
            <a:ext cx="2782650" cy="17494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6CF28E-C395-2D44-8CEF-67DFA33CF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954" y="2007721"/>
            <a:ext cx="2647795" cy="18619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EB4F5B-9E9D-4E47-A942-8F9985002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201" y="2015703"/>
            <a:ext cx="3240641" cy="16172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18621F-4FF5-0243-AC43-A92D0314E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096" y="4247406"/>
            <a:ext cx="2961086" cy="194825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AC97766-3DD9-9347-8BAA-762DE8F23B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2179" y="4247406"/>
            <a:ext cx="3169177" cy="16172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E2D557-A745-FF4A-8645-43126775A581}"/>
              </a:ext>
            </a:extLst>
          </p:cNvPr>
          <p:cNvSpPr txBox="1"/>
          <p:nvPr/>
        </p:nvSpPr>
        <p:spPr>
          <a:xfrm>
            <a:off x="116254" y="2067204"/>
            <a:ext cx="4247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following three triangles are named because of their angles: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3733A1-F745-894F-8828-221DEE1E7504}"/>
              </a:ext>
            </a:extLst>
          </p:cNvPr>
          <p:cNvSpPr txBox="1"/>
          <p:nvPr/>
        </p:nvSpPr>
        <p:spPr>
          <a:xfrm>
            <a:off x="0" y="3652253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4A260D-72B9-3F43-A1F6-459CEAAD6BE1}"/>
              </a:ext>
            </a:extLst>
          </p:cNvPr>
          <p:cNvSpPr txBox="1"/>
          <p:nvPr/>
        </p:nvSpPr>
        <p:spPr>
          <a:xfrm>
            <a:off x="5609398" y="3934140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61B963-2D80-A244-B09A-1F099AABFB50}"/>
              </a:ext>
            </a:extLst>
          </p:cNvPr>
          <p:cNvSpPr txBox="1"/>
          <p:nvPr/>
        </p:nvSpPr>
        <p:spPr>
          <a:xfrm>
            <a:off x="5504494" y="2098729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2)</a:t>
            </a:r>
          </a:p>
        </p:txBody>
      </p:sp>
    </p:spTree>
    <p:extLst>
      <p:ext uri="{BB962C8B-B14F-4D97-AF65-F5344CB8AC3E}">
        <p14:creationId xmlns:p14="http://schemas.microsoft.com/office/powerpoint/2010/main" val="338310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29AFC2-5662-C14E-9600-13D7742EF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742" y="1947599"/>
            <a:ext cx="2416810" cy="21548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D2E6B6-61EC-D945-98E8-F6C25AC5E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696" y="1888988"/>
            <a:ext cx="3163415" cy="1651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30736B-F37A-3B42-BEDA-FA7162D9A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742" y="4282903"/>
            <a:ext cx="2590164" cy="21525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E0E9C1-6C7B-C642-9CB2-1D7B88C4F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524" y="4282903"/>
            <a:ext cx="3163415" cy="15847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98B749-1F83-624F-B858-B259F20E33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525"/>
          <a:stretch/>
        </p:blipFill>
        <p:spPr>
          <a:xfrm>
            <a:off x="788960" y="3722642"/>
            <a:ext cx="2853468" cy="1828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A24868-81F0-564A-821B-C93F29649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960" y="5677176"/>
            <a:ext cx="3155826" cy="10958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A8C143-FD77-F240-B72A-E65ECB7D4309}"/>
              </a:ext>
            </a:extLst>
          </p:cNvPr>
          <p:cNvSpPr txBox="1"/>
          <p:nvPr/>
        </p:nvSpPr>
        <p:spPr>
          <a:xfrm>
            <a:off x="116255" y="2067203"/>
            <a:ext cx="373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following three triangles are named because of their sides: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B034D-8952-0B42-A6F9-56FBD8AE4B7B}"/>
              </a:ext>
            </a:extLst>
          </p:cNvPr>
          <p:cNvSpPr txBox="1"/>
          <p:nvPr/>
        </p:nvSpPr>
        <p:spPr>
          <a:xfrm>
            <a:off x="0" y="3522006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9B1F37-4077-1240-B5BA-2D89CEFC0CD0}"/>
              </a:ext>
            </a:extLst>
          </p:cNvPr>
          <p:cNvSpPr txBox="1"/>
          <p:nvPr/>
        </p:nvSpPr>
        <p:spPr>
          <a:xfrm>
            <a:off x="4231565" y="1888988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AAFCDA-1107-AE40-9DEA-538BD5AD266A}"/>
              </a:ext>
            </a:extLst>
          </p:cNvPr>
          <p:cNvSpPr txBox="1"/>
          <p:nvPr/>
        </p:nvSpPr>
        <p:spPr>
          <a:xfrm>
            <a:off x="4208859" y="4204776"/>
            <a:ext cx="4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6)</a:t>
            </a:r>
          </a:p>
        </p:txBody>
      </p:sp>
    </p:spTree>
    <p:extLst>
      <p:ext uri="{BB962C8B-B14F-4D97-AF65-F5344CB8AC3E}">
        <p14:creationId xmlns:p14="http://schemas.microsoft.com/office/powerpoint/2010/main" val="202920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D2E7-BFFB-4C74-9E51-CCDF64A3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F7B34-FBA8-4E44-A193-FFD223B2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294"/>
            <a:ext cx="12192000" cy="2845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9F8041-4B94-4C5A-BF0C-8E77207C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9568"/>
            <a:ext cx="4147526" cy="1711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151F9-462A-46B2-A3D4-4B75BA40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309" y="4637285"/>
            <a:ext cx="4147527" cy="1710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7BD91-63F0-493B-819F-EEEC70C2F1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198"/>
          <a:stretch/>
        </p:blipFill>
        <p:spPr>
          <a:xfrm>
            <a:off x="8412619" y="4637285"/>
            <a:ext cx="3752985" cy="17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0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4BCC-04A3-4220-B5DB-E791CD41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You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E5247-E198-4F06-B8F9-06B460D4B6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612"/>
          <a:stretch/>
        </p:blipFill>
        <p:spPr>
          <a:xfrm>
            <a:off x="0" y="1820004"/>
            <a:ext cx="12192000" cy="30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9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4AEB-D8F4-427F-9F13-3048F40C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D9B39-2A1B-4297-8BF0-716B5D9F31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08"/>
          <a:stretch/>
        </p:blipFill>
        <p:spPr>
          <a:xfrm>
            <a:off x="1944060" y="2331287"/>
            <a:ext cx="8549640" cy="41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2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A5DD76-D279-B948-8A89-2C244CB53172}"/>
              </a:ext>
            </a:extLst>
          </p:cNvPr>
          <p:cNvCxnSpPr>
            <a:cxnSpLocks/>
          </p:cNvCxnSpPr>
          <p:nvPr/>
        </p:nvCxnSpPr>
        <p:spPr>
          <a:xfrm flipH="1">
            <a:off x="1847521" y="1809651"/>
            <a:ext cx="8" cy="5048349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D1734F-E6C4-BF45-A120-8EE867DB04C5}"/>
              </a:ext>
            </a:extLst>
          </p:cNvPr>
          <p:cNvCxnSpPr>
            <a:cxnSpLocks/>
          </p:cNvCxnSpPr>
          <p:nvPr/>
        </p:nvCxnSpPr>
        <p:spPr>
          <a:xfrm>
            <a:off x="1590" y="1809651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DB39D88-B2F6-D140-8164-2029DB9604EA}"/>
              </a:ext>
            </a:extLst>
          </p:cNvPr>
          <p:cNvSpPr txBox="1">
            <a:spLocks/>
          </p:cNvSpPr>
          <p:nvPr/>
        </p:nvSpPr>
        <p:spPr>
          <a:xfrm>
            <a:off x="0" y="1973404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is congruent?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107BF1A-648E-1F4D-A190-72905CE991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9810" y="1973404"/>
                <a:ext cx="10002004" cy="4158456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2400" dirty="0"/>
                  <a:t>Two triangles are </a:t>
                </a:r>
                <a:r>
                  <a:rPr lang="en-AU" sz="2400" b="1" dirty="0"/>
                  <a:t>congruent</a:t>
                </a:r>
                <a:r>
                  <a:rPr lang="en-AU" sz="2400" dirty="0"/>
                  <a:t> if they are identical in </a:t>
                </a:r>
                <a:r>
                  <a:rPr lang="en-AU" sz="2400" b="1" dirty="0"/>
                  <a:t>all </a:t>
                </a:r>
                <a:r>
                  <a:rPr lang="en-AU" sz="2400" dirty="0"/>
                  <a:t>respects.</a:t>
                </a:r>
              </a:p>
              <a:p>
                <a:pPr marL="0" indent="0">
                  <a:buNone/>
                </a:pPr>
                <a:r>
                  <a:rPr lang="en-AU" sz="2400" dirty="0"/>
                  <a:t>This means that: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The sides are the same length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AU" sz="2400" dirty="0"/>
                  <a:t>The angles are the same size</a:t>
                </a:r>
              </a:p>
              <a:p>
                <a:pPr marL="0" indent="-45720">
                  <a:buNone/>
                </a:pPr>
                <a:r>
                  <a:rPr lang="en-AU" sz="2400" dirty="0"/>
                  <a:t>The following two triangles are congruent because all the angles and sides are identical. We can write it like this:</a:t>
                </a:r>
              </a:p>
              <a:p>
                <a:pPr marL="0" indent="-45720">
                  <a:buNone/>
                </a:pPr>
                <a:endParaRPr lang="en-AU" sz="2400" dirty="0"/>
              </a:p>
              <a:p>
                <a:pPr marL="0" indent="-4572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 ∆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𝐷𝐸𝐹</m:t>
                      </m:r>
                    </m:oMath>
                  </m:oMathPara>
                </a14:m>
                <a:endParaRPr lang="en-AU" sz="2400" dirty="0"/>
              </a:p>
              <a:p>
                <a:pPr marL="0" indent="-45720">
                  <a:buNone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AU" sz="2400" dirty="0"/>
                  <a:t> means ‘</a:t>
                </a:r>
                <a:r>
                  <a:rPr lang="en-AU" sz="2400" i="1" dirty="0"/>
                  <a:t>is congruent to</a:t>
                </a:r>
                <a:r>
                  <a:rPr lang="en-AU" sz="2400" dirty="0"/>
                  <a:t>’</a:t>
                </a:r>
              </a:p>
            </p:txBody>
          </p:sp>
        </mc:Choice>
        <mc:Fallback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107BF1A-648E-1F4D-A190-72905CE99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810" y="1973404"/>
                <a:ext cx="10002004" cy="4158456"/>
              </a:xfrm>
              <a:prstGeom prst="rect">
                <a:avLst/>
              </a:prstGeom>
              <a:blipFill>
                <a:blip r:embed="rId3"/>
                <a:stretch>
                  <a:fillRect l="-1017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52034A0-E612-7049-9125-3E6603DBD7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992" t="2485" r="6829" b="60765"/>
          <a:stretch/>
        </p:blipFill>
        <p:spPr>
          <a:xfrm>
            <a:off x="6980812" y="4248881"/>
            <a:ext cx="4532811" cy="17643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A27C348-08EF-7246-BABA-1EC6EA422116}"/>
              </a:ext>
            </a:extLst>
          </p:cNvPr>
          <p:cNvSpPr/>
          <p:nvPr/>
        </p:nvSpPr>
        <p:spPr>
          <a:xfrm rot="21364665">
            <a:off x="9562012" y="6070327"/>
            <a:ext cx="2201090" cy="506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206D2D-7822-134C-A9DC-49ABB6C39949}"/>
              </a:ext>
            </a:extLst>
          </p:cNvPr>
          <p:cNvSpPr/>
          <p:nvPr/>
        </p:nvSpPr>
        <p:spPr>
          <a:xfrm>
            <a:off x="6468293" y="6229252"/>
            <a:ext cx="2201090" cy="506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5A11B-58B8-E347-88FC-EE9E863ACFD0}"/>
              </a:ext>
            </a:extLst>
          </p:cNvPr>
          <p:cNvSpPr txBox="1"/>
          <p:nvPr/>
        </p:nvSpPr>
        <p:spPr>
          <a:xfrm>
            <a:off x="2958353" y="6251848"/>
            <a:ext cx="7816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There are four tests we use to prove triangles are congruent</a:t>
            </a:r>
          </a:p>
        </p:txBody>
      </p:sp>
    </p:spTree>
    <p:extLst>
      <p:ext uri="{BB962C8B-B14F-4D97-AF65-F5344CB8AC3E}">
        <p14:creationId xmlns:p14="http://schemas.microsoft.com/office/powerpoint/2010/main" val="165026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8B9D3-138C-4DC5-9EEE-1C6C5F33FAEC}"/>
              </a:ext>
            </a:extLst>
          </p:cNvPr>
          <p:cNvSpPr txBox="1"/>
          <p:nvPr/>
        </p:nvSpPr>
        <p:spPr>
          <a:xfrm>
            <a:off x="2833023" y="0"/>
            <a:ext cx="6525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Tests for Congruent Triangles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7AE1E-3E35-4C2B-A341-43BE5CBA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51" y="793135"/>
            <a:ext cx="10824297" cy="59603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F0BE49-9791-44BC-A327-BDD5CA976A60}"/>
              </a:ext>
            </a:extLst>
          </p:cNvPr>
          <p:cNvSpPr/>
          <p:nvPr/>
        </p:nvSpPr>
        <p:spPr>
          <a:xfrm>
            <a:off x="947057" y="3546566"/>
            <a:ext cx="4447903" cy="796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74624-8618-4E8D-8876-879D28DEEE7B}"/>
              </a:ext>
            </a:extLst>
          </p:cNvPr>
          <p:cNvSpPr/>
          <p:nvPr/>
        </p:nvSpPr>
        <p:spPr>
          <a:xfrm>
            <a:off x="947057" y="4428648"/>
            <a:ext cx="4447903" cy="1057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00BB8-A2E1-4435-9ED5-4F17DFC1F998}"/>
              </a:ext>
            </a:extLst>
          </p:cNvPr>
          <p:cNvSpPr/>
          <p:nvPr/>
        </p:nvSpPr>
        <p:spPr>
          <a:xfrm>
            <a:off x="894804" y="5571647"/>
            <a:ext cx="4447903" cy="5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0230C-1211-4ACC-B5A5-CD4D04750A19}"/>
              </a:ext>
            </a:extLst>
          </p:cNvPr>
          <p:cNvSpPr/>
          <p:nvPr/>
        </p:nvSpPr>
        <p:spPr>
          <a:xfrm>
            <a:off x="6409509" y="793135"/>
            <a:ext cx="4447903" cy="356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75F21-BD72-4FA3-B3CE-A3579322B34A}"/>
              </a:ext>
            </a:extLst>
          </p:cNvPr>
          <p:cNvSpPr/>
          <p:nvPr/>
        </p:nvSpPr>
        <p:spPr>
          <a:xfrm>
            <a:off x="6226628" y="1234779"/>
            <a:ext cx="4447903" cy="2253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61BB3-84AF-49C7-9C59-1FE7E8C52B23}"/>
              </a:ext>
            </a:extLst>
          </p:cNvPr>
          <p:cNvSpPr/>
          <p:nvPr/>
        </p:nvSpPr>
        <p:spPr>
          <a:xfrm>
            <a:off x="6516188" y="3573031"/>
            <a:ext cx="4991960" cy="1456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22148E-F739-41BD-A648-2E46572B70E3}"/>
              </a:ext>
            </a:extLst>
          </p:cNvPr>
          <p:cNvSpPr/>
          <p:nvPr/>
        </p:nvSpPr>
        <p:spPr>
          <a:xfrm>
            <a:off x="6516188" y="5114449"/>
            <a:ext cx="4991960" cy="1573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98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C0175E-BAAF-44A0-8FA0-E258C0DB4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" y="707886"/>
            <a:ext cx="10668839" cy="6066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D8B9D3-138C-4DC5-9EEE-1C6C5F33FAEC}"/>
              </a:ext>
            </a:extLst>
          </p:cNvPr>
          <p:cNvSpPr txBox="1"/>
          <p:nvPr/>
        </p:nvSpPr>
        <p:spPr>
          <a:xfrm>
            <a:off x="2833023" y="0"/>
            <a:ext cx="6525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Tests for Congruent Triangles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F0BE49-9791-44BC-A327-BDD5CA976A60}"/>
              </a:ext>
            </a:extLst>
          </p:cNvPr>
          <p:cNvSpPr/>
          <p:nvPr/>
        </p:nvSpPr>
        <p:spPr>
          <a:xfrm>
            <a:off x="947057" y="3190772"/>
            <a:ext cx="4447903" cy="11526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74624-8618-4E8D-8876-879D28DEEE7B}"/>
              </a:ext>
            </a:extLst>
          </p:cNvPr>
          <p:cNvSpPr/>
          <p:nvPr/>
        </p:nvSpPr>
        <p:spPr>
          <a:xfrm>
            <a:off x="947057" y="4448242"/>
            <a:ext cx="4447903" cy="1057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00BB8-A2E1-4435-9ED5-4F17DFC1F998}"/>
              </a:ext>
            </a:extLst>
          </p:cNvPr>
          <p:cNvSpPr/>
          <p:nvPr/>
        </p:nvSpPr>
        <p:spPr>
          <a:xfrm>
            <a:off x="1132534" y="5505993"/>
            <a:ext cx="4804535" cy="12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0230C-1211-4ACC-B5A5-CD4D04750A19}"/>
              </a:ext>
            </a:extLst>
          </p:cNvPr>
          <p:cNvSpPr/>
          <p:nvPr/>
        </p:nvSpPr>
        <p:spPr>
          <a:xfrm>
            <a:off x="6585858" y="739655"/>
            <a:ext cx="4447903" cy="356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75F21-BD72-4FA3-B3CE-A3579322B34A}"/>
              </a:ext>
            </a:extLst>
          </p:cNvPr>
          <p:cNvSpPr/>
          <p:nvPr/>
        </p:nvSpPr>
        <p:spPr>
          <a:xfrm>
            <a:off x="6448697" y="1181300"/>
            <a:ext cx="4447903" cy="1895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61BB3-84AF-49C7-9C59-1FE7E8C52B23}"/>
              </a:ext>
            </a:extLst>
          </p:cNvPr>
          <p:cNvSpPr/>
          <p:nvPr/>
        </p:nvSpPr>
        <p:spPr>
          <a:xfrm>
            <a:off x="6585858" y="3095348"/>
            <a:ext cx="4991960" cy="3054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20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3EB34B-21FB-4891-828E-39F5290F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89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11A7EB-4C17-4568-8AE7-B45C34CCE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703" y="6396109"/>
            <a:ext cx="5209297" cy="3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9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D1734F-E6C4-BF45-A120-8EE867DB04C5}"/>
              </a:ext>
            </a:extLst>
          </p:cNvPr>
          <p:cNvCxnSpPr>
            <a:cxnSpLocks/>
          </p:cNvCxnSpPr>
          <p:nvPr/>
        </p:nvCxnSpPr>
        <p:spPr>
          <a:xfrm>
            <a:off x="1590" y="1809651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434B66A-5435-834A-9B72-E94E36455E57}"/>
              </a:ext>
            </a:extLst>
          </p:cNvPr>
          <p:cNvSpPr txBox="1">
            <a:spLocks/>
          </p:cNvSpPr>
          <p:nvPr/>
        </p:nvSpPr>
        <p:spPr>
          <a:xfrm>
            <a:off x="0" y="2025999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does scale factor mean?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C26A4E-31C4-3F42-BF3A-53023C30A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868" y="1987500"/>
            <a:ext cx="10212191" cy="1057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F409F3-1F0C-9D4E-BFFB-99C387E1C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868" y="3332553"/>
            <a:ext cx="4664251" cy="35254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ACD989-E02B-894D-A1F3-F007A16B4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432" y="3351879"/>
            <a:ext cx="5131388" cy="35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3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D1734F-E6C4-BF45-A120-8EE867DB04C5}"/>
              </a:ext>
            </a:extLst>
          </p:cNvPr>
          <p:cNvCxnSpPr>
            <a:cxnSpLocks/>
          </p:cNvCxnSpPr>
          <p:nvPr/>
        </p:nvCxnSpPr>
        <p:spPr>
          <a:xfrm>
            <a:off x="1590" y="1809651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E67922-DA21-5E49-8128-FEE0E81DB91A}"/>
              </a:ext>
            </a:extLst>
          </p:cNvPr>
          <p:cNvSpPr txBox="1">
            <a:spLocks/>
          </p:cNvSpPr>
          <p:nvPr/>
        </p:nvSpPr>
        <p:spPr>
          <a:xfrm>
            <a:off x="0" y="2083773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How do we calculate the scale factor?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71FF5-601F-9541-808D-93CC9D327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71" y="2016297"/>
            <a:ext cx="10263643" cy="11396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EBBE0A-533B-BB4C-8349-A048299C0B10}"/>
                  </a:ext>
                </a:extLst>
              </p:cNvPr>
              <p:cNvSpPr/>
              <p:nvPr/>
            </p:nvSpPr>
            <p:spPr>
              <a:xfrm>
                <a:off x="2029097" y="3699982"/>
                <a:ext cx="10161313" cy="19821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400" dirty="0"/>
                  <a:t>We can calculate the amount the object has been scaled using the following formula.</a:t>
                </a:r>
              </a:p>
              <a:p>
                <a:endParaRPr lang="en-AU" sz="2400" i="1" dirty="0"/>
              </a:p>
              <a:p>
                <a:pPr lvl="2" algn="ctr"/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𝒉𝒂𝒑𝒆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𝒓𝒊𝒈𝒊𝒏𝒂𝒍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𝒉𝒂𝒑𝒆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32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sz="2400" i="1" dirty="0"/>
                  <a:t> 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EBBE0A-533B-BB4C-8349-A048299C0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097" y="3699982"/>
                <a:ext cx="10161313" cy="1982146"/>
              </a:xfrm>
              <a:prstGeom prst="rect">
                <a:avLst/>
              </a:prstGeom>
              <a:blipFill>
                <a:blip r:embed="rId4"/>
                <a:stretch>
                  <a:fillRect l="-874" t="-1911" b="-4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58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AE7D-13DE-46FD-84AC-A3DBB137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0B435-A346-49E0-BF3B-AC85891D0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554"/>
          <a:stretch/>
        </p:blipFill>
        <p:spPr>
          <a:xfrm>
            <a:off x="3994400" y="447186"/>
            <a:ext cx="7899331" cy="23962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5BB81F-B576-454D-A551-0642E074D079}"/>
              </a:ext>
            </a:extLst>
          </p:cNvPr>
          <p:cNvSpPr/>
          <p:nvPr/>
        </p:nvSpPr>
        <p:spPr>
          <a:xfrm>
            <a:off x="5222966" y="58521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Original Shape                                   New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090BAB-7E47-403D-998D-F11CD5B76A0B}"/>
                  </a:ext>
                </a:extLst>
              </p:cNvPr>
              <p:cNvSpPr/>
              <p:nvPr/>
            </p:nvSpPr>
            <p:spPr>
              <a:xfrm>
                <a:off x="213360" y="3207241"/>
                <a:ext cx="6187442" cy="678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𝑵𝒆𝒘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𝑳𝒆𝒏𝒈𝒕𝒉</m:t>
                        </m:r>
                      </m:num>
                      <m:den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𝑺𝒉𝒂𝒑𝒆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den>
                    </m:f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𝑺𝒄𝒂𝒍𝒆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𝑭𝒂𝒄𝒕𝒐𝒓</m:t>
                    </m:r>
                  </m:oMath>
                </a14:m>
                <a:r>
                  <a:rPr lang="en-AU" sz="2400" b="1" i="1" dirty="0">
                    <a:solidFill>
                      <a:srgbClr val="7030A0"/>
                    </a:solidFill>
                  </a:rPr>
                  <a:t>  </a:t>
                </a:r>
                <a:r>
                  <a:rPr lang="en-AU" i="1" dirty="0"/>
                  <a:t>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090BAB-7E47-403D-998D-F11CD5B7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3207241"/>
                <a:ext cx="6187442" cy="678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6FD04AC-B0F5-4175-9273-4BEE5C441EBF}"/>
              </a:ext>
            </a:extLst>
          </p:cNvPr>
          <p:cNvSpPr/>
          <p:nvPr/>
        </p:nvSpPr>
        <p:spPr>
          <a:xfrm>
            <a:off x="304802" y="604195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/>
              <a:t>Was the shape enlarged or reduced? Why?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BE83A-B7F4-47FC-AE93-273DB7B4BF01}"/>
              </a:ext>
            </a:extLst>
          </p:cNvPr>
          <p:cNvSpPr/>
          <p:nvPr/>
        </p:nvSpPr>
        <p:spPr>
          <a:xfrm>
            <a:off x="5884164" y="579286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In this case, the scale factor is greater than 1 so the shape has been enlarged.</a:t>
            </a:r>
          </a:p>
        </p:txBody>
      </p:sp>
    </p:spTree>
    <p:extLst>
      <p:ext uri="{BB962C8B-B14F-4D97-AF65-F5344CB8AC3E}">
        <p14:creationId xmlns:p14="http://schemas.microsoft.com/office/powerpoint/2010/main" val="2978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D409-47C4-43E8-8353-44509811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18" y="117063"/>
            <a:ext cx="9628632" cy="1362113"/>
          </a:xfrm>
        </p:spPr>
        <p:txBody>
          <a:bodyPr>
            <a:normAutofit/>
          </a:bodyPr>
          <a:lstStyle/>
          <a:p>
            <a:r>
              <a:rPr lang="en-AU" sz="4400" dirty="0"/>
              <a:t>Task on the L.H.S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B3FC1-5252-4D2E-ACA1-12DD554B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06" y="1082411"/>
            <a:ext cx="9414753" cy="57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4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99C5-FE74-43E4-992F-7D2D137C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Answer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A1954-9DD2-4AA2-9198-6C2743A4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34" y="2415948"/>
            <a:ext cx="8535331" cy="28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4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D1734F-E6C4-BF45-A120-8EE867DB04C5}"/>
              </a:ext>
            </a:extLst>
          </p:cNvPr>
          <p:cNvCxnSpPr>
            <a:cxnSpLocks/>
          </p:cNvCxnSpPr>
          <p:nvPr/>
        </p:nvCxnSpPr>
        <p:spPr>
          <a:xfrm>
            <a:off x="1590" y="1809651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046C6-869C-0945-8998-4BD0B37B6EE3}"/>
              </a:ext>
            </a:extLst>
          </p:cNvPr>
          <p:cNvSpPr txBox="1">
            <a:spLocks/>
          </p:cNvSpPr>
          <p:nvPr/>
        </p:nvSpPr>
        <p:spPr>
          <a:xfrm>
            <a:off x="116255" y="2031235"/>
            <a:ext cx="1847521" cy="542195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does similar mean?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07A0E9-E65D-8245-A96A-2BF60EA5F515}"/>
              </a:ext>
            </a:extLst>
          </p:cNvPr>
          <p:cNvSpPr txBox="1">
            <a:spLocks/>
          </p:cNvSpPr>
          <p:nvPr/>
        </p:nvSpPr>
        <p:spPr>
          <a:xfrm>
            <a:off x="2134467" y="2031234"/>
            <a:ext cx="9816738" cy="159429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b="1" dirty="0"/>
              <a:t>Similar </a:t>
            </a:r>
            <a:r>
              <a:rPr lang="en-AU" sz="2400" dirty="0"/>
              <a:t>figures have the same shape, but not necessarily the same size. </a:t>
            </a:r>
            <a:endParaRPr lang="en-AU" sz="2400" i="1" dirty="0"/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Similar Triangles: Same shape but different size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Congruent Triangles: Same shape and same size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7EF573-B4ED-0843-8D53-31AE9CEAE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2" y="3570619"/>
            <a:ext cx="6789258" cy="1390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4AD3E4-3E4B-5541-AABE-786735F1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607" y="3319724"/>
            <a:ext cx="3357598" cy="3357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0FAD87-A8A1-F24E-BBDA-C974C673F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55" y="5447644"/>
            <a:ext cx="8375731" cy="12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6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01A033-7817-CF46-8D8A-21CCBECFE7A8}"/>
              </a:ext>
            </a:extLst>
          </p:cNvPr>
          <p:cNvCxnSpPr>
            <a:cxnSpLocks/>
          </p:cNvCxnSpPr>
          <p:nvPr/>
        </p:nvCxnSpPr>
        <p:spPr>
          <a:xfrm>
            <a:off x="5880847" y="2210864"/>
            <a:ext cx="0" cy="464713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2033E7-2322-0C40-A52C-33A784F07DFB}"/>
              </a:ext>
            </a:extLst>
          </p:cNvPr>
          <p:cNvSpPr txBox="1">
            <a:spLocks/>
          </p:cNvSpPr>
          <p:nvPr/>
        </p:nvSpPr>
        <p:spPr>
          <a:xfrm>
            <a:off x="661009" y="1843238"/>
            <a:ext cx="11300289" cy="36762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Just like congruency, we can use 4 types of tests to see if the triangles are similar </a:t>
            </a:r>
          </a:p>
          <a:p>
            <a:endParaRPr lang="en-AU" sz="2400" i="1" dirty="0"/>
          </a:p>
          <a:p>
            <a:pPr marL="0" indent="0">
              <a:buNone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16A28F-26C1-2A49-9BC5-D0728E27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5" y="2210864"/>
            <a:ext cx="3245389" cy="45435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7941F58-1A0E-074E-B5F7-140C123C0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756" y="3482788"/>
            <a:ext cx="3801673" cy="18158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A653A9-0D1D-F347-B007-DAEE93D97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58" y="2210864"/>
            <a:ext cx="3255342" cy="46149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89D187A-AFC1-C843-A9C1-5B0E37117E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4436" y="4242811"/>
            <a:ext cx="3287564" cy="105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6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46331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Congruence and Similarity in Triangles 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difference between congruency and similarity and what tests can we use to determine if a triangle is one or the other?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01A033-7817-CF46-8D8A-21CCBECFE7A8}"/>
              </a:ext>
            </a:extLst>
          </p:cNvPr>
          <p:cNvCxnSpPr>
            <a:cxnSpLocks/>
          </p:cNvCxnSpPr>
          <p:nvPr/>
        </p:nvCxnSpPr>
        <p:spPr>
          <a:xfrm>
            <a:off x="5880847" y="1828800"/>
            <a:ext cx="0" cy="50292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BB117AD-6AC4-6F4D-9B3E-166A54C75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5" y="1951047"/>
            <a:ext cx="5419160" cy="2955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DEE5E-B496-EC4D-8466-C75C933E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55" y="5029585"/>
            <a:ext cx="5324527" cy="1827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CEBCFD-D2B7-8341-98B8-F91915E6A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103" y="1845243"/>
            <a:ext cx="4652965" cy="5011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2CBD56-F07E-984F-ADC2-BA84A32CA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822" y="3597879"/>
            <a:ext cx="4150177" cy="159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3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B837-0727-486D-BAE2-187DB32B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24" y="412555"/>
            <a:ext cx="9628632" cy="1362113"/>
          </a:xfrm>
        </p:spPr>
        <p:txBody>
          <a:bodyPr>
            <a:normAutofit/>
          </a:bodyPr>
          <a:lstStyle/>
          <a:p>
            <a:r>
              <a:rPr lang="en-AU" sz="4400" dirty="0"/>
              <a:t>Example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039DD-D103-4CA4-A618-8FF0BD20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759"/>
            <a:ext cx="12192000" cy="2545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E953E5-03C3-41ED-8054-FB17218B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24" y="4123510"/>
            <a:ext cx="4381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8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4DD305-101E-475D-B187-51483C24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93"/>
            <a:ext cx="12192000" cy="58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8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26270-2B19-4556-9F6C-A65C9C689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940"/>
            <a:ext cx="12192000" cy="5640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7609AD-BF6F-4D66-AABF-E1E72BBC91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135"/>
          <a:stretch/>
        </p:blipFill>
        <p:spPr>
          <a:xfrm>
            <a:off x="0" y="51689"/>
            <a:ext cx="12192000" cy="824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4193AF-591C-493D-880A-E7FC87856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994" y="6124859"/>
            <a:ext cx="5446190" cy="73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1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dirty="0"/>
              <a:t>Similarity and Congruence Worksheets</a:t>
            </a:r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190749"/>
            <a:ext cx="11058144" cy="4124707"/>
          </a:xfrm>
        </p:spPr>
        <p:txBody>
          <a:bodyPr>
            <a:normAutofit/>
          </a:bodyPr>
          <a:lstStyle/>
          <a:p>
            <a:r>
              <a:rPr lang="en-AU" sz="2800" dirty="0"/>
              <a:t>Write a summary answering the essential question. </a:t>
            </a:r>
          </a:p>
          <a:p>
            <a:r>
              <a:rPr lang="en-AU" sz="2800" dirty="0"/>
              <a:t>Add at least three new terms to your glossary</a:t>
            </a:r>
          </a:p>
        </p:txBody>
      </p:sp>
    </p:spTree>
    <p:extLst>
      <p:ext uri="{BB962C8B-B14F-4D97-AF65-F5344CB8AC3E}">
        <p14:creationId xmlns:p14="http://schemas.microsoft.com/office/powerpoint/2010/main" val="40148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751</Words>
  <Application>Microsoft Macintosh PowerPoint</Application>
  <PresentationFormat>Widescreen</PresentationFormat>
  <Paragraphs>98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 Math</vt:lpstr>
      <vt:lpstr>Fragment Core</vt:lpstr>
      <vt:lpstr>Kiwi School Handwriting</vt:lpstr>
      <vt:lpstr>Tw Cen MT</vt:lpstr>
      <vt:lpstr>Wingdings</vt:lpstr>
      <vt:lpstr>Education 16x9</vt:lpstr>
      <vt:lpstr>PowerPoint Presentation</vt:lpstr>
      <vt:lpstr>Topic: Congruence and Similarity in Triangles</vt:lpstr>
      <vt:lpstr>PowerPoint Presentation</vt:lpstr>
      <vt:lpstr>PowerPoint Presentation</vt:lpstr>
      <vt:lpstr>PowerPoint Presentation</vt:lpstr>
      <vt:lpstr>We do</vt:lpstr>
      <vt:lpstr>You do</vt:lpstr>
      <vt:lpstr>Answers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Task on the L.H.S</vt:lpstr>
      <vt:lpstr>Answer</vt:lpstr>
      <vt:lpstr>PowerPoint Presentation</vt:lpstr>
      <vt:lpstr>PowerPoint Presentation</vt:lpstr>
      <vt:lpstr>PowerPoint Presentation</vt:lpstr>
      <vt:lpstr>Example </vt:lpstr>
      <vt:lpstr>PowerPoint Presentation</vt:lpstr>
      <vt:lpstr>PowerPoint Presentation</vt:lpstr>
      <vt:lpstr>Practice</vt:lpstr>
      <vt:lpstr>Exit ticket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2019-07-20T08:09:44Z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
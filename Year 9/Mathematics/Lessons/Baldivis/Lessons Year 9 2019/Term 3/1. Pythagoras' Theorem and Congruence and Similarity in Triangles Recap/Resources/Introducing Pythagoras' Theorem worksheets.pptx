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10" r:id="rId2"/>
    <p:sldId id="311" r:id="rId3"/>
    <p:sldId id="277" r:id="rId4"/>
    <p:sldId id="312" r:id="rId5"/>
  </p:sldIdLst>
  <p:sldSz cx="6858000" cy="9906000" type="A4"/>
  <p:notesSz cx="7086600" cy="93726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3399"/>
    <a:srgbClr val="1D0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3028" autoAdjust="0"/>
  </p:normalViewPr>
  <p:slideViewPr>
    <p:cSldViewPr>
      <p:cViewPr varScale="1">
        <p:scale>
          <a:sx n="74" d="100"/>
          <a:sy n="74" d="100"/>
        </p:scale>
        <p:origin x="3248" y="184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14100" y="0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6DED034A-D99B-4C21-9C0B-D3BB66C1FD63}" type="datetimeFigureOut">
              <a:rPr lang="en-GB" smtClean="0"/>
              <a:pPr/>
              <a:t>20/07/2019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02343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14100" y="8902343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3EE5E3BD-2AF2-48D4-8892-DC2EFA298B9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9489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14100" y="0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CF311FDF-59EF-451F-B31C-89262DF86B64}" type="datetimeFigureOut">
              <a:rPr lang="en-GB" smtClean="0"/>
              <a:pPr/>
              <a:t>20/07/2019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27275" y="703263"/>
            <a:ext cx="2432050" cy="3514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660" y="4451985"/>
            <a:ext cx="5669280" cy="4217670"/>
          </a:xfrm>
          <a:prstGeom prst="rect">
            <a:avLst/>
          </a:prstGeom>
        </p:spPr>
        <p:txBody>
          <a:bodyPr vert="horz" lIns="94046" tIns="47023" rIns="94046" bIns="4702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02343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14100" y="8902343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D9B4494E-E90D-4AEA-B789-739DCC28BF6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5204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4494E-E90D-4AEA-B789-739DCC28BF61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1551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84"/>
            <a:ext cx="5829300" cy="21233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2FE569-7A50-496B-B99A-A8311DBA580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8D86E2-DA3B-4D68-84D5-E1CDAFE0F37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26" y="6365524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826" y="4198589"/>
            <a:ext cx="5829300" cy="21669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3E966B-BF9E-432C-BC47-217737E37DC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311402"/>
            <a:ext cx="3033346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1754" y="2311402"/>
            <a:ext cx="3033346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393BBB-6025-4742-B9D3-A0F1977666B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2" y="2217385"/>
            <a:ext cx="3030049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2" y="3141486"/>
            <a:ext cx="3030049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952" y="2217385"/>
            <a:ext cx="3031148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952" y="3141486"/>
            <a:ext cx="3031148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4A8923-6B6B-4E82-B1A5-0AE85F21B0A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712098-1052-4434-AE6E-D440C7733C3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E3AC99-B3B8-4BAE-AA82-92205108608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326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654" y="394409"/>
            <a:ext cx="3833446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4"/>
            <a:ext cx="2256326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2CBA5-2C50-43DE-87B0-271DDDA82C9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124" y="6934200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124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124" y="7752822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C92712-C030-4A16-88F9-98B15B96E5E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D5F27B-6AB0-46E4-A098-2A5EA88EA95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3"/>
            <a:ext cx="1543050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3"/>
            <a:ext cx="4523642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631AE5-D82D-4CD3-AD62-AEF07A6FECC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396699"/>
            <a:ext cx="6172200" cy="165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2311402"/>
            <a:ext cx="6172200" cy="6537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00" y="9020880"/>
            <a:ext cx="1600200" cy="687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9020880"/>
            <a:ext cx="2171700" cy="687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9020880"/>
            <a:ext cx="1600200" cy="687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92381BD1-74F5-4501-9524-1EEBD34AD3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advClick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88640" y="-87560"/>
            <a:ext cx="6330462" cy="95410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/>
            <a:r>
              <a:rPr lang="en-GB" sz="28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Using Pythagoras’ Theorem</a:t>
            </a:r>
          </a:p>
          <a:p>
            <a:pPr algn="ctr">
              <a:defRPr/>
            </a:pPr>
            <a:endParaRPr lang="en-US" sz="2800" b="1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  <a:latin typeface="Snap ITC" pitchFamily="82" charset="0"/>
            </a:endParaRPr>
          </a:p>
        </p:txBody>
      </p:sp>
      <p:grpSp>
        <p:nvGrpSpPr>
          <p:cNvPr id="45" name="Group 10"/>
          <p:cNvGrpSpPr/>
          <p:nvPr/>
        </p:nvGrpSpPr>
        <p:grpSpPr>
          <a:xfrm>
            <a:off x="188640" y="1208584"/>
            <a:ext cx="2875337" cy="461665"/>
            <a:chOff x="3342490" y="1388763"/>
            <a:chExt cx="6128864" cy="5721646"/>
          </a:xfrm>
        </p:grpSpPr>
        <p:sp>
          <p:nvSpPr>
            <p:cNvPr id="46" name="Rounded Rectangle 45"/>
            <p:cNvSpPr/>
            <p:nvPr/>
          </p:nvSpPr>
          <p:spPr>
            <a:xfrm>
              <a:off x="3342490" y="1844819"/>
              <a:ext cx="6048672" cy="5265590"/>
            </a:xfrm>
            <a:prstGeom prst="roundRect">
              <a:avLst/>
            </a:prstGeom>
            <a:solidFill>
              <a:srgbClr val="00B0F0">
                <a:alpha val="25000"/>
              </a:srgb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7" name="Text Box 4"/>
            <p:cNvSpPr txBox="1">
              <a:spLocks noChangeArrowheads="1"/>
            </p:cNvSpPr>
            <p:nvPr/>
          </p:nvSpPr>
          <p:spPr bwMode="auto">
            <a:xfrm>
              <a:off x="3517527" y="1388763"/>
              <a:ext cx="5953827" cy="3773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cs typeface="Calibri" pitchFamily="34" charset="0"/>
                </a:rPr>
                <a:t>Step 1:     Square</a:t>
              </a:r>
              <a:endPara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endParaRPr>
            </a:p>
          </p:txBody>
        </p:sp>
      </p:grpSp>
      <p:grpSp>
        <p:nvGrpSpPr>
          <p:cNvPr id="38" name="Group 10"/>
          <p:cNvGrpSpPr/>
          <p:nvPr/>
        </p:nvGrpSpPr>
        <p:grpSpPr>
          <a:xfrm>
            <a:off x="188641" y="653367"/>
            <a:ext cx="2837714" cy="461665"/>
            <a:chOff x="3584848" y="1427963"/>
            <a:chExt cx="6048672" cy="5682446"/>
          </a:xfrm>
        </p:grpSpPr>
        <p:sp>
          <p:nvSpPr>
            <p:cNvPr id="39" name="Rounded Rectangle 38"/>
            <p:cNvSpPr/>
            <p:nvPr/>
          </p:nvSpPr>
          <p:spPr>
            <a:xfrm>
              <a:off x="3584848" y="1844824"/>
              <a:ext cx="6048672" cy="5265585"/>
            </a:xfrm>
            <a:prstGeom prst="roundRect">
              <a:avLst/>
            </a:prstGeom>
            <a:solidFill>
              <a:srgbClr val="00B0F0">
                <a:alpha val="25000"/>
              </a:srgb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Text Box 4"/>
            <p:cNvSpPr txBox="1">
              <a:spLocks noChangeArrowheads="1"/>
            </p:cNvSpPr>
            <p:nvPr/>
          </p:nvSpPr>
          <p:spPr bwMode="auto">
            <a:xfrm>
              <a:off x="3639572" y="1427963"/>
              <a:ext cx="5832650" cy="50139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</a:rPr>
                <a:t>Longest side</a:t>
              </a:r>
              <a:endParaRPr lang="en-GB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endParaRPr>
            </a:p>
          </p:txBody>
        </p:sp>
      </p:grpSp>
      <p:grpSp>
        <p:nvGrpSpPr>
          <p:cNvPr id="41" name="Group 10"/>
          <p:cNvGrpSpPr/>
          <p:nvPr/>
        </p:nvGrpSpPr>
        <p:grpSpPr>
          <a:xfrm>
            <a:off x="188639" y="1784648"/>
            <a:ext cx="2913459" cy="461665"/>
            <a:chOff x="3584848" y="1388763"/>
            <a:chExt cx="6193600" cy="5721646"/>
          </a:xfrm>
        </p:grpSpPr>
        <p:sp>
          <p:nvSpPr>
            <p:cNvPr id="42" name="Rounded Rectangle 41"/>
            <p:cNvSpPr/>
            <p:nvPr/>
          </p:nvSpPr>
          <p:spPr>
            <a:xfrm>
              <a:off x="3584848" y="1844824"/>
              <a:ext cx="6048672" cy="5265585"/>
            </a:xfrm>
            <a:prstGeom prst="roundRect">
              <a:avLst/>
            </a:prstGeom>
            <a:solidFill>
              <a:srgbClr val="00B0F0">
                <a:alpha val="25000"/>
              </a:srgb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824620" y="1388763"/>
              <a:ext cx="5953828" cy="37737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cs typeface="Calibri" pitchFamily="34" charset="0"/>
                </a:rPr>
                <a:t>Step 2:     Add</a:t>
              </a:r>
              <a:endPara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endParaRPr>
            </a:p>
          </p:txBody>
        </p:sp>
      </p:grpSp>
      <p:grpSp>
        <p:nvGrpSpPr>
          <p:cNvPr id="56" name="Group 10"/>
          <p:cNvGrpSpPr/>
          <p:nvPr/>
        </p:nvGrpSpPr>
        <p:grpSpPr>
          <a:xfrm>
            <a:off x="188640" y="2400773"/>
            <a:ext cx="2913459" cy="608011"/>
            <a:chOff x="3584848" y="1844824"/>
            <a:chExt cx="6155564" cy="6921667"/>
          </a:xfrm>
        </p:grpSpPr>
        <p:sp>
          <p:nvSpPr>
            <p:cNvPr id="57" name="Rounded Rectangle 56"/>
            <p:cNvSpPr/>
            <p:nvPr/>
          </p:nvSpPr>
          <p:spPr>
            <a:xfrm>
              <a:off x="3584848" y="1844824"/>
              <a:ext cx="6048672" cy="5265585"/>
            </a:xfrm>
            <a:prstGeom prst="roundRect">
              <a:avLst/>
            </a:prstGeom>
            <a:solidFill>
              <a:srgbClr val="00B0F0">
                <a:alpha val="25000"/>
              </a:srgb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Text Box 4"/>
            <p:cNvSpPr txBox="1">
              <a:spLocks noChangeArrowheads="1"/>
            </p:cNvSpPr>
            <p:nvPr/>
          </p:nvSpPr>
          <p:spPr bwMode="auto">
            <a:xfrm>
              <a:off x="3786583" y="1973804"/>
              <a:ext cx="5953829" cy="67926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cs typeface="Calibri" pitchFamily="34" charset="0"/>
                </a:rPr>
                <a:t>Step 3: Square Root</a:t>
              </a:r>
              <a:endPara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endParaRPr>
            </a:p>
          </p:txBody>
        </p:sp>
      </p:grpSp>
      <p:grpSp>
        <p:nvGrpSpPr>
          <p:cNvPr id="67" name="Group 10"/>
          <p:cNvGrpSpPr/>
          <p:nvPr/>
        </p:nvGrpSpPr>
        <p:grpSpPr>
          <a:xfrm>
            <a:off x="3789040" y="1219543"/>
            <a:ext cx="2875337" cy="461665"/>
            <a:chOff x="3342490" y="1388763"/>
            <a:chExt cx="6128864" cy="5721646"/>
          </a:xfrm>
        </p:grpSpPr>
        <p:sp>
          <p:nvSpPr>
            <p:cNvPr id="68" name="Rounded Rectangle 67"/>
            <p:cNvSpPr/>
            <p:nvPr/>
          </p:nvSpPr>
          <p:spPr>
            <a:xfrm>
              <a:off x="3342490" y="1844819"/>
              <a:ext cx="6048672" cy="5265590"/>
            </a:xfrm>
            <a:prstGeom prst="roundRect">
              <a:avLst/>
            </a:prstGeom>
            <a:solidFill>
              <a:srgbClr val="00B0F0">
                <a:alpha val="25000"/>
              </a:srgb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9" name="Text Box 4"/>
            <p:cNvSpPr txBox="1">
              <a:spLocks noChangeArrowheads="1"/>
            </p:cNvSpPr>
            <p:nvPr/>
          </p:nvSpPr>
          <p:spPr bwMode="auto">
            <a:xfrm>
              <a:off x="3517527" y="1388763"/>
              <a:ext cx="5953827" cy="3773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cs typeface="Calibri" pitchFamily="34" charset="0"/>
                </a:rPr>
                <a:t>Step 1:     Square</a:t>
              </a:r>
              <a:endPara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endParaRPr>
            </a:p>
          </p:txBody>
        </p:sp>
      </p:grpSp>
      <p:grpSp>
        <p:nvGrpSpPr>
          <p:cNvPr id="70" name="Group 10"/>
          <p:cNvGrpSpPr/>
          <p:nvPr/>
        </p:nvGrpSpPr>
        <p:grpSpPr>
          <a:xfrm>
            <a:off x="3789041" y="664326"/>
            <a:ext cx="2837714" cy="461665"/>
            <a:chOff x="3584848" y="1427963"/>
            <a:chExt cx="6048672" cy="5682446"/>
          </a:xfrm>
        </p:grpSpPr>
        <p:sp>
          <p:nvSpPr>
            <p:cNvPr id="78" name="Rounded Rectangle 77"/>
            <p:cNvSpPr/>
            <p:nvPr/>
          </p:nvSpPr>
          <p:spPr>
            <a:xfrm>
              <a:off x="3584848" y="1844824"/>
              <a:ext cx="6048672" cy="5265585"/>
            </a:xfrm>
            <a:prstGeom prst="roundRect">
              <a:avLst/>
            </a:prstGeom>
            <a:solidFill>
              <a:srgbClr val="00B0F0">
                <a:alpha val="25000"/>
              </a:srgb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4" name="Text Box 4"/>
            <p:cNvSpPr txBox="1">
              <a:spLocks noChangeArrowheads="1"/>
            </p:cNvSpPr>
            <p:nvPr/>
          </p:nvSpPr>
          <p:spPr bwMode="auto">
            <a:xfrm>
              <a:off x="3639573" y="1427963"/>
              <a:ext cx="5832650" cy="5682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</a:rPr>
                <a:t>Shorter side</a:t>
              </a:r>
              <a:endParaRPr lang="en-GB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endParaRPr>
            </a:p>
          </p:txBody>
        </p:sp>
      </p:grpSp>
      <p:grpSp>
        <p:nvGrpSpPr>
          <p:cNvPr id="85" name="Group 10"/>
          <p:cNvGrpSpPr/>
          <p:nvPr/>
        </p:nvGrpSpPr>
        <p:grpSpPr>
          <a:xfrm>
            <a:off x="3789039" y="1795607"/>
            <a:ext cx="2913459" cy="461665"/>
            <a:chOff x="3584848" y="1388763"/>
            <a:chExt cx="6193600" cy="5721646"/>
          </a:xfrm>
        </p:grpSpPr>
        <p:sp>
          <p:nvSpPr>
            <p:cNvPr id="86" name="Rounded Rectangle 85"/>
            <p:cNvSpPr/>
            <p:nvPr/>
          </p:nvSpPr>
          <p:spPr>
            <a:xfrm>
              <a:off x="3584848" y="1844824"/>
              <a:ext cx="6048672" cy="5265585"/>
            </a:xfrm>
            <a:prstGeom prst="roundRect">
              <a:avLst/>
            </a:prstGeom>
            <a:solidFill>
              <a:srgbClr val="00B0F0">
                <a:alpha val="25000"/>
              </a:srgb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7" name="Text Box 4"/>
            <p:cNvSpPr txBox="1">
              <a:spLocks noChangeArrowheads="1"/>
            </p:cNvSpPr>
            <p:nvPr/>
          </p:nvSpPr>
          <p:spPr bwMode="auto">
            <a:xfrm>
              <a:off x="3824619" y="1388763"/>
              <a:ext cx="5953829" cy="57216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cs typeface="Calibri" pitchFamily="34" charset="0"/>
                </a:rPr>
                <a:t>Step 2:     Subtract</a:t>
              </a:r>
              <a:endPara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endParaRPr>
            </a:p>
          </p:txBody>
        </p:sp>
      </p:grpSp>
      <p:grpSp>
        <p:nvGrpSpPr>
          <p:cNvPr id="88" name="Group 10"/>
          <p:cNvGrpSpPr/>
          <p:nvPr/>
        </p:nvGrpSpPr>
        <p:grpSpPr>
          <a:xfrm>
            <a:off x="3789040" y="2411732"/>
            <a:ext cx="2913459" cy="608011"/>
            <a:chOff x="3584848" y="1844824"/>
            <a:chExt cx="6155564" cy="6921667"/>
          </a:xfrm>
        </p:grpSpPr>
        <p:sp>
          <p:nvSpPr>
            <p:cNvPr id="89" name="Rounded Rectangle 88"/>
            <p:cNvSpPr/>
            <p:nvPr/>
          </p:nvSpPr>
          <p:spPr>
            <a:xfrm>
              <a:off x="3584848" y="1844824"/>
              <a:ext cx="6048672" cy="5265585"/>
            </a:xfrm>
            <a:prstGeom prst="roundRect">
              <a:avLst/>
            </a:prstGeom>
            <a:solidFill>
              <a:srgbClr val="00B0F0">
                <a:alpha val="25000"/>
              </a:srgb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0" name="Text Box 4"/>
            <p:cNvSpPr txBox="1">
              <a:spLocks noChangeArrowheads="1"/>
            </p:cNvSpPr>
            <p:nvPr/>
          </p:nvSpPr>
          <p:spPr bwMode="auto">
            <a:xfrm>
              <a:off x="3786583" y="1973804"/>
              <a:ext cx="5953829" cy="67926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cs typeface="Calibri" pitchFamily="34" charset="0"/>
                </a:rPr>
                <a:t>Step 3: Square Root</a:t>
              </a:r>
              <a:endPara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endParaRPr>
            </a:p>
          </p:txBody>
        </p:sp>
      </p:grpSp>
      <p:grpSp>
        <p:nvGrpSpPr>
          <p:cNvPr id="91" name="Group 5"/>
          <p:cNvGrpSpPr>
            <a:grpSpLocks/>
          </p:cNvGrpSpPr>
          <p:nvPr/>
        </p:nvGrpSpPr>
        <p:grpSpPr bwMode="auto">
          <a:xfrm>
            <a:off x="917266" y="3268438"/>
            <a:ext cx="1551688" cy="1175407"/>
            <a:chOff x="1186" y="1645"/>
            <a:chExt cx="1362" cy="965"/>
          </a:xfrm>
        </p:grpSpPr>
        <p:sp>
          <p:nvSpPr>
            <p:cNvPr id="92" name="AutoShape 6"/>
            <p:cNvSpPr>
              <a:spLocks noChangeArrowheads="1"/>
            </p:cNvSpPr>
            <p:nvPr/>
          </p:nvSpPr>
          <p:spPr bwMode="auto">
            <a:xfrm>
              <a:off x="1186" y="1645"/>
              <a:ext cx="1362" cy="917"/>
            </a:xfrm>
            <a:prstGeom prst="rtTriangl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93" name="Group 7"/>
            <p:cNvGrpSpPr>
              <a:grpSpLocks/>
            </p:cNvGrpSpPr>
            <p:nvPr/>
          </p:nvGrpSpPr>
          <p:grpSpPr bwMode="auto">
            <a:xfrm>
              <a:off x="2183" y="2397"/>
              <a:ext cx="354" cy="213"/>
              <a:chOff x="3559" y="2957"/>
              <a:chExt cx="838" cy="506"/>
            </a:xfrm>
          </p:grpSpPr>
          <p:sp>
            <p:nvSpPr>
              <p:cNvPr id="95" name="Arc 8"/>
              <p:cNvSpPr>
                <a:spLocks/>
              </p:cNvSpPr>
              <p:nvPr/>
            </p:nvSpPr>
            <p:spPr bwMode="auto">
              <a:xfrm rot="20606576" flipH="1">
                <a:off x="3559" y="2957"/>
                <a:ext cx="287" cy="368"/>
              </a:xfrm>
              <a:custGeom>
                <a:avLst/>
                <a:gdLst>
                  <a:gd name="T0" fmla="*/ 0 w 21600"/>
                  <a:gd name="T1" fmla="*/ 0 h 21600"/>
                  <a:gd name="T2" fmla="*/ 287 w 21600"/>
                  <a:gd name="T3" fmla="*/ 368 h 21600"/>
                  <a:gd name="T4" fmla="*/ 0 w 21600"/>
                  <a:gd name="T5" fmla="*/ 368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dirty="0"/>
              </a:p>
            </p:txBody>
          </p:sp>
          <p:sp>
            <p:nvSpPr>
              <p:cNvPr id="96" name="AutoShape 9"/>
              <p:cNvSpPr>
                <a:spLocks noChangeArrowheads="1"/>
              </p:cNvSpPr>
              <p:nvPr/>
            </p:nvSpPr>
            <p:spPr bwMode="auto">
              <a:xfrm rot="6505459">
                <a:off x="3826" y="2892"/>
                <a:ext cx="432" cy="710"/>
              </a:xfrm>
              <a:prstGeom prst="triangle">
                <a:avLst>
                  <a:gd name="adj" fmla="val 44532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94" name="Rectangle 10"/>
            <p:cNvSpPr>
              <a:spLocks noChangeArrowheads="1"/>
            </p:cNvSpPr>
            <p:nvPr/>
          </p:nvSpPr>
          <p:spPr bwMode="auto">
            <a:xfrm>
              <a:off x="1186" y="2498"/>
              <a:ext cx="64" cy="6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97" name="Text Box 11"/>
          <p:cNvSpPr txBox="1">
            <a:spLocks noChangeArrowheads="1"/>
          </p:cNvSpPr>
          <p:nvPr/>
        </p:nvSpPr>
        <p:spPr bwMode="auto">
          <a:xfrm>
            <a:off x="336058" y="3603755"/>
            <a:ext cx="744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dirty="0">
                <a:latin typeface="Comic Sans MS" pitchFamily="66" charset="0"/>
              </a:rPr>
              <a:t>7cm</a:t>
            </a:r>
          </a:p>
        </p:txBody>
      </p:sp>
      <p:sp>
        <p:nvSpPr>
          <p:cNvPr id="98" name="Text Box 12"/>
          <p:cNvSpPr txBox="1">
            <a:spLocks noChangeArrowheads="1"/>
          </p:cNvSpPr>
          <p:nvPr/>
        </p:nvSpPr>
        <p:spPr bwMode="auto">
          <a:xfrm>
            <a:off x="1337769" y="4333095"/>
            <a:ext cx="1293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dirty="0">
                <a:latin typeface="Comic Sans MS" pitchFamily="66" charset="0"/>
              </a:rPr>
              <a:t>9cm</a:t>
            </a:r>
          </a:p>
        </p:txBody>
      </p:sp>
      <p:sp>
        <p:nvSpPr>
          <p:cNvPr id="99" name="Text Box 13"/>
          <p:cNvSpPr txBox="1">
            <a:spLocks noChangeArrowheads="1"/>
          </p:cNvSpPr>
          <p:nvPr/>
        </p:nvSpPr>
        <p:spPr bwMode="auto">
          <a:xfrm>
            <a:off x="1552530" y="3367217"/>
            <a:ext cx="129381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500" i="1" dirty="0">
                <a:latin typeface="Georgia" pitchFamily="18" charset="0"/>
              </a:rPr>
              <a:t>x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9654" y="4699808"/>
            <a:ext cx="2834323" cy="1477328"/>
          </a:xfrm>
          <a:prstGeom prst="rect">
            <a:avLst/>
          </a:prstGeom>
          <a:noFill/>
          <a:ln w="19050">
            <a:solidFill>
              <a:schemeClr val="tx2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GB" dirty="0">
                <a:ln>
                  <a:solidFill>
                    <a:schemeClr val="tx2"/>
                  </a:solidFill>
                </a:ln>
                <a:latin typeface="Calibri" pitchFamily="34" charset="0"/>
                <a:cs typeface="Calibri" pitchFamily="34" charset="0"/>
              </a:rPr>
              <a:t>1.</a:t>
            </a:r>
          </a:p>
          <a:p>
            <a:endParaRPr lang="en-GB" dirty="0">
              <a:ln>
                <a:solidFill>
                  <a:schemeClr val="tx2"/>
                </a:solidFill>
              </a:ln>
              <a:latin typeface="Calibri" pitchFamily="34" charset="0"/>
              <a:cs typeface="Calibri" pitchFamily="34" charset="0"/>
            </a:endParaRPr>
          </a:p>
          <a:p>
            <a:r>
              <a:rPr lang="en-GB" dirty="0">
                <a:ln>
                  <a:solidFill>
                    <a:schemeClr val="tx2"/>
                  </a:solidFill>
                </a:ln>
                <a:latin typeface="Calibri" pitchFamily="34" charset="0"/>
                <a:cs typeface="Calibri" pitchFamily="34" charset="0"/>
              </a:rPr>
              <a:t>2.</a:t>
            </a:r>
          </a:p>
          <a:p>
            <a:endParaRPr lang="en-GB" dirty="0">
              <a:ln>
                <a:solidFill>
                  <a:schemeClr val="tx2"/>
                </a:solidFill>
              </a:ln>
              <a:latin typeface="Calibri" pitchFamily="34" charset="0"/>
              <a:cs typeface="Calibri" pitchFamily="34" charset="0"/>
            </a:endParaRPr>
          </a:p>
          <a:p>
            <a:r>
              <a:rPr lang="en-GB" dirty="0">
                <a:ln>
                  <a:solidFill>
                    <a:schemeClr val="tx2"/>
                  </a:solidFill>
                </a:ln>
                <a:latin typeface="Calibri" pitchFamily="34" charset="0"/>
                <a:cs typeface="Calibri" pitchFamily="34" charset="0"/>
              </a:rPr>
              <a:t>3.</a:t>
            </a:r>
          </a:p>
        </p:txBody>
      </p:sp>
      <p:grpSp>
        <p:nvGrpSpPr>
          <p:cNvPr id="110" name="Group 5"/>
          <p:cNvGrpSpPr>
            <a:grpSpLocks/>
          </p:cNvGrpSpPr>
          <p:nvPr/>
        </p:nvGrpSpPr>
        <p:grpSpPr bwMode="auto">
          <a:xfrm>
            <a:off x="947037" y="6689982"/>
            <a:ext cx="1551688" cy="1175407"/>
            <a:chOff x="1186" y="1645"/>
            <a:chExt cx="1362" cy="965"/>
          </a:xfrm>
        </p:grpSpPr>
        <p:sp>
          <p:nvSpPr>
            <p:cNvPr id="111" name="AutoShape 6"/>
            <p:cNvSpPr>
              <a:spLocks noChangeArrowheads="1"/>
            </p:cNvSpPr>
            <p:nvPr/>
          </p:nvSpPr>
          <p:spPr bwMode="auto">
            <a:xfrm>
              <a:off x="1186" y="1645"/>
              <a:ext cx="1362" cy="917"/>
            </a:xfrm>
            <a:prstGeom prst="rtTriangl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112" name="Group 7"/>
            <p:cNvGrpSpPr>
              <a:grpSpLocks/>
            </p:cNvGrpSpPr>
            <p:nvPr/>
          </p:nvGrpSpPr>
          <p:grpSpPr bwMode="auto">
            <a:xfrm>
              <a:off x="2183" y="2397"/>
              <a:ext cx="354" cy="213"/>
              <a:chOff x="3559" y="2957"/>
              <a:chExt cx="838" cy="506"/>
            </a:xfrm>
          </p:grpSpPr>
          <p:sp>
            <p:nvSpPr>
              <p:cNvPr id="114" name="Arc 8"/>
              <p:cNvSpPr>
                <a:spLocks/>
              </p:cNvSpPr>
              <p:nvPr/>
            </p:nvSpPr>
            <p:spPr bwMode="auto">
              <a:xfrm rot="20606576" flipH="1">
                <a:off x="3559" y="2957"/>
                <a:ext cx="287" cy="368"/>
              </a:xfrm>
              <a:custGeom>
                <a:avLst/>
                <a:gdLst>
                  <a:gd name="T0" fmla="*/ 0 w 21600"/>
                  <a:gd name="T1" fmla="*/ 0 h 21600"/>
                  <a:gd name="T2" fmla="*/ 287 w 21600"/>
                  <a:gd name="T3" fmla="*/ 368 h 21600"/>
                  <a:gd name="T4" fmla="*/ 0 w 21600"/>
                  <a:gd name="T5" fmla="*/ 368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dirty="0"/>
              </a:p>
            </p:txBody>
          </p:sp>
          <p:sp>
            <p:nvSpPr>
              <p:cNvPr id="115" name="AutoShape 9"/>
              <p:cNvSpPr>
                <a:spLocks noChangeArrowheads="1"/>
              </p:cNvSpPr>
              <p:nvPr/>
            </p:nvSpPr>
            <p:spPr bwMode="auto">
              <a:xfrm rot="6505459">
                <a:off x="3826" y="2892"/>
                <a:ext cx="432" cy="710"/>
              </a:xfrm>
              <a:prstGeom prst="triangle">
                <a:avLst>
                  <a:gd name="adj" fmla="val 44532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13" name="Rectangle 10"/>
            <p:cNvSpPr>
              <a:spLocks noChangeArrowheads="1"/>
            </p:cNvSpPr>
            <p:nvPr/>
          </p:nvSpPr>
          <p:spPr bwMode="auto">
            <a:xfrm>
              <a:off x="1186" y="2498"/>
              <a:ext cx="64" cy="6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116" name="Text Box 11"/>
          <p:cNvSpPr txBox="1">
            <a:spLocks noChangeArrowheads="1"/>
          </p:cNvSpPr>
          <p:nvPr/>
        </p:nvSpPr>
        <p:spPr bwMode="auto">
          <a:xfrm>
            <a:off x="365829" y="7025299"/>
            <a:ext cx="744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dirty="0">
                <a:latin typeface="Comic Sans MS" pitchFamily="66" charset="0"/>
              </a:rPr>
              <a:t>4cm</a:t>
            </a:r>
          </a:p>
        </p:txBody>
      </p:sp>
      <p:sp>
        <p:nvSpPr>
          <p:cNvPr id="117" name="Text Box 12"/>
          <p:cNvSpPr txBox="1">
            <a:spLocks noChangeArrowheads="1"/>
          </p:cNvSpPr>
          <p:nvPr/>
        </p:nvSpPr>
        <p:spPr bwMode="auto">
          <a:xfrm>
            <a:off x="1367540" y="7754639"/>
            <a:ext cx="1293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dirty="0">
                <a:latin typeface="Comic Sans MS" pitchFamily="66" charset="0"/>
              </a:rPr>
              <a:t>8cm</a:t>
            </a:r>
          </a:p>
        </p:txBody>
      </p:sp>
      <p:sp>
        <p:nvSpPr>
          <p:cNvPr id="118" name="Text Box 13"/>
          <p:cNvSpPr txBox="1">
            <a:spLocks noChangeArrowheads="1"/>
          </p:cNvSpPr>
          <p:nvPr/>
        </p:nvSpPr>
        <p:spPr bwMode="auto">
          <a:xfrm>
            <a:off x="1582301" y="6788761"/>
            <a:ext cx="129381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500" i="1" dirty="0">
                <a:latin typeface="Georgia" pitchFamily="18" charset="0"/>
              </a:rPr>
              <a:t>x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59425" y="8121352"/>
            <a:ext cx="2834323" cy="1477328"/>
          </a:xfrm>
          <a:prstGeom prst="rect">
            <a:avLst/>
          </a:prstGeom>
          <a:noFill/>
          <a:ln w="19050">
            <a:solidFill>
              <a:schemeClr val="tx2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GB" dirty="0">
                <a:ln>
                  <a:solidFill>
                    <a:schemeClr val="tx2"/>
                  </a:solidFill>
                </a:ln>
                <a:latin typeface="Calibri" pitchFamily="34" charset="0"/>
                <a:cs typeface="Calibri" pitchFamily="34" charset="0"/>
              </a:rPr>
              <a:t>1.</a:t>
            </a:r>
          </a:p>
          <a:p>
            <a:endParaRPr lang="en-GB" dirty="0">
              <a:ln>
                <a:solidFill>
                  <a:schemeClr val="tx2"/>
                </a:solidFill>
              </a:ln>
              <a:latin typeface="Calibri" pitchFamily="34" charset="0"/>
              <a:cs typeface="Calibri" pitchFamily="34" charset="0"/>
            </a:endParaRPr>
          </a:p>
          <a:p>
            <a:r>
              <a:rPr lang="en-GB" dirty="0">
                <a:ln>
                  <a:solidFill>
                    <a:schemeClr val="tx2"/>
                  </a:solidFill>
                </a:ln>
                <a:latin typeface="Calibri" pitchFamily="34" charset="0"/>
                <a:cs typeface="Calibri" pitchFamily="34" charset="0"/>
              </a:rPr>
              <a:t>2.</a:t>
            </a:r>
          </a:p>
          <a:p>
            <a:endParaRPr lang="en-GB" dirty="0">
              <a:ln>
                <a:solidFill>
                  <a:schemeClr val="tx2"/>
                </a:solidFill>
              </a:ln>
              <a:latin typeface="Calibri" pitchFamily="34" charset="0"/>
              <a:cs typeface="Calibri" pitchFamily="34" charset="0"/>
            </a:endParaRPr>
          </a:p>
          <a:p>
            <a:r>
              <a:rPr lang="en-GB" dirty="0">
                <a:ln>
                  <a:solidFill>
                    <a:schemeClr val="tx2"/>
                  </a:solidFill>
                </a:ln>
                <a:latin typeface="Calibri" pitchFamily="34" charset="0"/>
                <a:cs typeface="Calibri" pitchFamily="34" charset="0"/>
              </a:rPr>
              <a:t>3.</a:t>
            </a:r>
          </a:p>
        </p:txBody>
      </p:sp>
      <p:grpSp>
        <p:nvGrpSpPr>
          <p:cNvPr id="120" name="Group 5"/>
          <p:cNvGrpSpPr>
            <a:grpSpLocks/>
          </p:cNvGrpSpPr>
          <p:nvPr/>
        </p:nvGrpSpPr>
        <p:grpSpPr bwMode="auto">
          <a:xfrm>
            <a:off x="4461589" y="3268438"/>
            <a:ext cx="1551688" cy="1175407"/>
            <a:chOff x="1186" y="1645"/>
            <a:chExt cx="1362" cy="965"/>
          </a:xfrm>
        </p:grpSpPr>
        <p:sp>
          <p:nvSpPr>
            <p:cNvPr id="121" name="AutoShape 6"/>
            <p:cNvSpPr>
              <a:spLocks noChangeArrowheads="1"/>
            </p:cNvSpPr>
            <p:nvPr/>
          </p:nvSpPr>
          <p:spPr bwMode="auto">
            <a:xfrm>
              <a:off x="1186" y="1645"/>
              <a:ext cx="1362" cy="917"/>
            </a:xfrm>
            <a:prstGeom prst="rtTriangl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122" name="Group 7"/>
            <p:cNvGrpSpPr>
              <a:grpSpLocks/>
            </p:cNvGrpSpPr>
            <p:nvPr/>
          </p:nvGrpSpPr>
          <p:grpSpPr bwMode="auto">
            <a:xfrm>
              <a:off x="2183" y="2397"/>
              <a:ext cx="354" cy="213"/>
              <a:chOff x="3559" y="2957"/>
              <a:chExt cx="838" cy="506"/>
            </a:xfrm>
          </p:grpSpPr>
          <p:sp>
            <p:nvSpPr>
              <p:cNvPr id="124" name="Arc 8"/>
              <p:cNvSpPr>
                <a:spLocks/>
              </p:cNvSpPr>
              <p:nvPr/>
            </p:nvSpPr>
            <p:spPr bwMode="auto">
              <a:xfrm rot="20606576" flipH="1">
                <a:off x="3559" y="2957"/>
                <a:ext cx="287" cy="368"/>
              </a:xfrm>
              <a:custGeom>
                <a:avLst/>
                <a:gdLst>
                  <a:gd name="T0" fmla="*/ 0 w 21600"/>
                  <a:gd name="T1" fmla="*/ 0 h 21600"/>
                  <a:gd name="T2" fmla="*/ 287 w 21600"/>
                  <a:gd name="T3" fmla="*/ 368 h 21600"/>
                  <a:gd name="T4" fmla="*/ 0 w 21600"/>
                  <a:gd name="T5" fmla="*/ 368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dirty="0"/>
              </a:p>
            </p:txBody>
          </p:sp>
          <p:sp>
            <p:nvSpPr>
              <p:cNvPr id="125" name="AutoShape 9"/>
              <p:cNvSpPr>
                <a:spLocks noChangeArrowheads="1"/>
              </p:cNvSpPr>
              <p:nvPr/>
            </p:nvSpPr>
            <p:spPr bwMode="auto">
              <a:xfrm rot="6505459">
                <a:off x="3826" y="2892"/>
                <a:ext cx="432" cy="710"/>
              </a:xfrm>
              <a:prstGeom prst="triangle">
                <a:avLst>
                  <a:gd name="adj" fmla="val 44532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23" name="Rectangle 10"/>
            <p:cNvSpPr>
              <a:spLocks noChangeArrowheads="1"/>
            </p:cNvSpPr>
            <p:nvPr/>
          </p:nvSpPr>
          <p:spPr bwMode="auto">
            <a:xfrm>
              <a:off x="1186" y="2498"/>
              <a:ext cx="64" cy="6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126" name="Text Box 11"/>
          <p:cNvSpPr txBox="1">
            <a:spLocks noChangeArrowheads="1"/>
          </p:cNvSpPr>
          <p:nvPr/>
        </p:nvSpPr>
        <p:spPr bwMode="auto">
          <a:xfrm>
            <a:off x="5157192" y="3483094"/>
            <a:ext cx="744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dirty="0">
                <a:latin typeface="Comic Sans MS" pitchFamily="66" charset="0"/>
              </a:rPr>
              <a:t>12cm</a:t>
            </a:r>
          </a:p>
        </p:txBody>
      </p:sp>
      <p:sp>
        <p:nvSpPr>
          <p:cNvPr id="127" name="Text Box 12"/>
          <p:cNvSpPr txBox="1">
            <a:spLocks noChangeArrowheads="1"/>
          </p:cNvSpPr>
          <p:nvPr/>
        </p:nvSpPr>
        <p:spPr bwMode="auto">
          <a:xfrm>
            <a:off x="4882092" y="4333095"/>
            <a:ext cx="1293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dirty="0">
                <a:latin typeface="Comic Sans MS" pitchFamily="66" charset="0"/>
              </a:rPr>
              <a:t>7cm</a:t>
            </a:r>
          </a:p>
        </p:txBody>
      </p:sp>
      <p:sp>
        <p:nvSpPr>
          <p:cNvPr id="128" name="Text Box 13"/>
          <p:cNvSpPr txBox="1">
            <a:spLocks noChangeArrowheads="1"/>
          </p:cNvSpPr>
          <p:nvPr/>
        </p:nvSpPr>
        <p:spPr bwMode="auto">
          <a:xfrm>
            <a:off x="4151410" y="3590370"/>
            <a:ext cx="129381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500" i="1" dirty="0">
                <a:latin typeface="Georgia" pitchFamily="18" charset="0"/>
              </a:rPr>
              <a:t>x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773977" y="4699808"/>
            <a:ext cx="2834323" cy="1477328"/>
          </a:xfrm>
          <a:prstGeom prst="rect">
            <a:avLst/>
          </a:prstGeom>
          <a:noFill/>
          <a:ln w="19050">
            <a:solidFill>
              <a:schemeClr val="tx2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GB" dirty="0">
                <a:ln>
                  <a:solidFill>
                    <a:schemeClr val="tx2"/>
                  </a:solidFill>
                </a:ln>
                <a:latin typeface="Calibri" pitchFamily="34" charset="0"/>
                <a:cs typeface="Calibri" pitchFamily="34" charset="0"/>
              </a:rPr>
              <a:t>1.</a:t>
            </a:r>
          </a:p>
          <a:p>
            <a:endParaRPr lang="en-GB" dirty="0">
              <a:ln>
                <a:solidFill>
                  <a:schemeClr val="tx2"/>
                </a:solidFill>
              </a:ln>
              <a:latin typeface="Calibri" pitchFamily="34" charset="0"/>
              <a:cs typeface="Calibri" pitchFamily="34" charset="0"/>
            </a:endParaRPr>
          </a:p>
          <a:p>
            <a:r>
              <a:rPr lang="en-GB" dirty="0">
                <a:ln>
                  <a:solidFill>
                    <a:schemeClr val="tx2"/>
                  </a:solidFill>
                </a:ln>
                <a:latin typeface="Calibri" pitchFamily="34" charset="0"/>
                <a:cs typeface="Calibri" pitchFamily="34" charset="0"/>
              </a:rPr>
              <a:t>2.</a:t>
            </a:r>
          </a:p>
          <a:p>
            <a:endParaRPr lang="en-GB" dirty="0">
              <a:ln>
                <a:solidFill>
                  <a:schemeClr val="tx2"/>
                </a:solidFill>
              </a:ln>
              <a:latin typeface="Calibri" pitchFamily="34" charset="0"/>
              <a:cs typeface="Calibri" pitchFamily="34" charset="0"/>
            </a:endParaRPr>
          </a:p>
          <a:p>
            <a:r>
              <a:rPr lang="en-GB" dirty="0">
                <a:ln>
                  <a:solidFill>
                    <a:schemeClr val="tx2"/>
                  </a:solidFill>
                </a:ln>
                <a:latin typeface="Calibri" pitchFamily="34" charset="0"/>
                <a:cs typeface="Calibri" pitchFamily="34" charset="0"/>
              </a:rPr>
              <a:t>3.</a:t>
            </a:r>
          </a:p>
        </p:txBody>
      </p:sp>
      <p:grpSp>
        <p:nvGrpSpPr>
          <p:cNvPr id="130" name="Group 5"/>
          <p:cNvGrpSpPr>
            <a:grpSpLocks/>
          </p:cNvGrpSpPr>
          <p:nvPr/>
        </p:nvGrpSpPr>
        <p:grpSpPr bwMode="auto">
          <a:xfrm>
            <a:off x="4476652" y="6689982"/>
            <a:ext cx="1551688" cy="1175407"/>
            <a:chOff x="1186" y="1645"/>
            <a:chExt cx="1362" cy="965"/>
          </a:xfrm>
        </p:grpSpPr>
        <p:sp>
          <p:nvSpPr>
            <p:cNvPr id="131" name="AutoShape 6"/>
            <p:cNvSpPr>
              <a:spLocks noChangeArrowheads="1"/>
            </p:cNvSpPr>
            <p:nvPr/>
          </p:nvSpPr>
          <p:spPr bwMode="auto">
            <a:xfrm>
              <a:off x="1186" y="1645"/>
              <a:ext cx="1362" cy="917"/>
            </a:xfrm>
            <a:prstGeom prst="rtTriangl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132" name="Group 7"/>
            <p:cNvGrpSpPr>
              <a:grpSpLocks/>
            </p:cNvGrpSpPr>
            <p:nvPr/>
          </p:nvGrpSpPr>
          <p:grpSpPr bwMode="auto">
            <a:xfrm>
              <a:off x="2183" y="2397"/>
              <a:ext cx="354" cy="213"/>
              <a:chOff x="3559" y="2957"/>
              <a:chExt cx="838" cy="506"/>
            </a:xfrm>
          </p:grpSpPr>
          <p:sp>
            <p:nvSpPr>
              <p:cNvPr id="134" name="Arc 8"/>
              <p:cNvSpPr>
                <a:spLocks/>
              </p:cNvSpPr>
              <p:nvPr/>
            </p:nvSpPr>
            <p:spPr bwMode="auto">
              <a:xfrm rot="20606576" flipH="1">
                <a:off x="3559" y="2957"/>
                <a:ext cx="287" cy="368"/>
              </a:xfrm>
              <a:custGeom>
                <a:avLst/>
                <a:gdLst>
                  <a:gd name="T0" fmla="*/ 0 w 21600"/>
                  <a:gd name="T1" fmla="*/ 0 h 21600"/>
                  <a:gd name="T2" fmla="*/ 287 w 21600"/>
                  <a:gd name="T3" fmla="*/ 368 h 21600"/>
                  <a:gd name="T4" fmla="*/ 0 w 21600"/>
                  <a:gd name="T5" fmla="*/ 368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dirty="0"/>
              </a:p>
            </p:txBody>
          </p:sp>
          <p:sp>
            <p:nvSpPr>
              <p:cNvPr id="135" name="AutoShape 9"/>
              <p:cNvSpPr>
                <a:spLocks noChangeArrowheads="1"/>
              </p:cNvSpPr>
              <p:nvPr/>
            </p:nvSpPr>
            <p:spPr bwMode="auto">
              <a:xfrm rot="6505459">
                <a:off x="3826" y="2892"/>
                <a:ext cx="432" cy="710"/>
              </a:xfrm>
              <a:prstGeom prst="triangle">
                <a:avLst>
                  <a:gd name="adj" fmla="val 44532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33" name="Rectangle 10"/>
            <p:cNvSpPr>
              <a:spLocks noChangeArrowheads="1"/>
            </p:cNvSpPr>
            <p:nvPr/>
          </p:nvSpPr>
          <p:spPr bwMode="auto">
            <a:xfrm>
              <a:off x="1186" y="2498"/>
              <a:ext cx="64" cy="6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136" name="Text Box 11"/>
          <p:cNvSpPr txBox="1">
            <a:spLocks noChangeArrowheads="1"/>
          </p:cNvSpPr>
          <p:nvPr/>
        </p:nvSpPr>
        <p:spPr bwMode="auto">
          <a:xfrm>
            <a:off x="5153353" y="6892504"/>
            <a:ext cx="8702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dirty="0">
                <a:latin typeface="Comic Sans MS" pitchFamily="66" charset="0"/>
              </a:rPr>
              <a:t>23mm</a:t>
            </a:r>
          </a:p>
        </p:txBody>
      </p:sp>
      <p:sp>
        <p:nvSpPr>
          <p:cNvPr id="137" name="Text Box 12"/>
          <p:cNvSpPr txBox="1">
            <a:spLocks noChangeArrowheads="1"/>
          </p:cNvSpPr>
          <p:nvPr/>
        </p:nvSpPr>
        <p:spPr bwMode="auto">
          <a:xfrm>
            <a:off x="3717032" y="7034559"/>
            <a:ext cx="1293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dirty="0">
                <a:latin typeface="Comic Sans MS" pitchFamily="66" charset="0"/>
              </a:rPr>
              <a:t>15mm</a:t>
            </a:r>
          </a:p>
        </p:txBody>
      </p:sp>
      <p:sp>
        <p:nvSpPr>
          <p:cNvPr id="138" name="Text Box 13"/>
          <p:cNvSpPr txBox="1">
            <a:spLocks noChangeArrowheads="1"/>
          </p:cNvSpPr>
          <p:nvPr/>
        </p:nvSpPr>
        <p:spPr bwMode="auto">
          <a:xfrm>
            <a:off x="5087515" y="7701457"/>
            <a:ext cx="129381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500" i="1" dirty="0">
                <a:latin typeface="Georgia" pitchFamily="18" charset="0"/>
              </a:rPr>
              <a:t>x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789040" y="8121352"/>
            <a:ext cx="2834323" cy="1477328"/>
          </a:xfrm>
          <a:prstGeom prst="rect">
            <a:avLst/>
          </a:prstGeom>
          <a:noFill/>
          <a:ln w="19050">
            <a:solidFill>
              <a:schemeClr val="tx2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GB" dirty="0">
                <a:ln>
                  <a:solidFill>
                    <a:schemeClr val="tx2"/>
                  </a:solidFill>
                </a:ln>
                <a:latin typeface="Calibri" pitchFamily="34" charset="0"/>
                <a:cs typeface="Calibri" pitchFamily="34" charset="0"/>
              </a:rPr>
              <a:t>1.</a:t>
            </a:r>
          </a:p>
          <a:p>
            <a:endParaRPr lang="en-GB" dirty="0">
              <a:ln>
                <a:solidFill>
                  <a:schemeClr val="tx2"/>
                </a:solidFill>
              </a:ln>
              <a:latin typeface="Calibri" pitchFamily="34" charset="0"/>
              <a:cs typeface="Calibri" pitchFamily="34" charset="0"/>
            </a:endParaRPr>
          </a:p>
          <a:p>
            <a:r>
              <a:rPr lang="en-GB" dirty="0">
                <a:ln>
                  <a:solidFill>
                    <a:schemeClr val="tx2"/>
                  </a:solidFill>
                </a:ln>
                <a:latin typeface="Calibri" pitchFamily="34" charset="0"/>
                <a:cs typeface="Calibri" pitchFamily="34" charset="0"/>
              </a:rPr>
              <a:t>2.</a:t>
            </a:r>
          </a:p>
          <a:p>
            <a:endParaRPr lang="en-GB" dirty="0">
              <a:ln>
                <a:solidFill>
                  <a:schemeClr val="tx2"/>
                </a:solidFill>
              </a:ln>
              <a:latin typeface="Calibri" pitchFamily="34" charset="0"/>
              <a:cs typeface="Calibri" pitchFamily="34" charset="0"/>
            </a:endParaRPr>
          </a:p>
          <a:p>
            <a:r>
              <a:rPr lang="en-GB" dirty="0">
                <a:ln>
                  <a:solidFill>
                    <a:schemeClr val="tx2"/>
                  </a:solidFill>
                </a:ln>
                <a:latin typeface="Calibri" pitchFamily="34" charset="0"/>
                <a:cs typeface="Calibri" pitchFamily="34" charset="0"/>
              </a:rPr>
              <a:t>3.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712" y="2864768"/>
            <a:ext cx="1479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Example 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361760" y="2855476"/>
            <a:ext cx="15515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Example 3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390615" y="6315832"/>
            <a:ext cx="156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Example 4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77437" y="6320650"/>
            <a:ext cx="1538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Example 2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825672" y="344488"/>
            <a:ext cx="1167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Level 7</a:t>
            </a:r>
          </a:p>
        </p:txBody>
      </p:sp>
    </p:spTree>
    <p:extLst>
      <p:ext uri="{BB962C8B-B14F-4D97-AF65-F5344CB8AC3E}">
        <p14:creationId xmlns:p14="http://schemas.microsoft.com/office/powerpoint/2010/main" val="2195068970"/>
      </p:ext>
    </p:extLst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25" descr="Triangle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83111" y="7689304"/>
            <a:ext cx="2800816" cy="143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60" t="32224" r="55519" b="27413"/>
          <a:stretch/>
        </p:blipFill>
        <p:spPr bwMode="auto">
          <a:xfrm>
            <a:off x="44624" y="56456"/>
            <a:ext cx="1037171" cy="799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54" t="32225" r="19425" b="27413"/>
          <a:stretch/>
        </p:blipFill>
        <p:spPr bwMode="auto">
          <a:xfrm>
            <a:off x="5776205" y="48572"/>
            <a:ext cx="1037171" cy="799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85298" y="-87560"/>
            <a:ext cx="6330462" cy="158504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/>
            <a:r>
              <a:rPr lang="en-GB" sz="20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Demonstrate – </a:t>
            </a:r>
          </a:p>
          <a:p>
            <a:pPr algn="ctr"/>
            <a:r>
              <a:rPr lang="en-GB" sz="23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Using Pythagoras’ Theorem</a:t>
            </a:r>
          </a:p>
          <a:p>
            <a:pPr algn="ctr"/>
            <a:r>
              <a:rPr lang="en-GB" sz="23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Rally Coach</a:t>
            </a:r>
          </a:p>
          <a:p>
            <a:pPr algn="ctr">
              <a:defRPr/>
            </a:pPr>
            <a:endParaRPr lang="en-US" sz="2800" b="1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  <a:latin typeface="Snap ITC" pitchFamily="8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8414" y="1504331"/>
            <a:ext cx="3369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1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893843" y="3583867"/>
            <a:ext cx="1584175" cy="1737484"/>
            <a:chOff x="1494704" y="706595"/>
            <a:chExt cx="1192061" cy="1404070"/>
          </a:xfrm>
        </p:grpSpPr>
        <p:grpSp>
          <p:nvGrpSpPr>
            <p:cNvPr id="7" name="Group 6"/>
            <p:cNvGrpSpPr/>
            <p:nvPr/>
          </p:nvGrpSpPr>
          <p:grpSpPr>
            <a:xfrm>
              <a:off x="1744954" y="706595"/>
              <a:ext cx="939108" cy="1153808"/>
              <a:chOff x="1744954" y="706595"/>
              <a:chExt cx="939108" cy="1153808"/>
            </a:xfrm>
          </p:grpSpPr>
          <p:sp>
            <p:nvSpPr>
              <p:cNvPr id="10" name="Right Triangle 9"/>
              <p:cNvSpPr/>
              <p:nvPr/>
            </p:nvSpPr>
            <p:spPr>
              <a:xfrm>
                <a:off x="1744954" y="706595"/>
                <a:ext cx="939108" cy="1153808"/>
              </a:xfrm>
              <a:prstGeom prst="rtTriangle">
                <a:avLst/>
              </a:prstGeom>
              <a:noFill/>
              <a:ln w="222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1744954" y="1708350"/>
                <a:ext cx="144000" cy="15205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8" name="TextBox 3"/>
            <p:cNvSpPr txBox="1"/>
            <p:nvPr/>
          </p:nvSpPr>
          <p:spPr>
            <a:xfrm>
              <a:off x="1963208" y="1812206"/>
              <a:ext cx="723557" cy="298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  <a:cs typeface="Calibri" pitchFamily="34" charset="0"/>
                </a:rPr>
                <a:t>25cm</a:t>
              </a:r>
            </a:p>
          </p:txBody>
        </p:sp>
        <p:sp>
          <p:nvSpPr>
            <p:cNvPr id="9" name="TextBox 4"/>
            <p:cNvSpPr txBox="1"/>
            <p:nvPr/>
          </p:nvSpPr>
          <p:spPr>
            <a:xfrm rot="16200000">
              <a:off x="1271883" y="987606"/>
              <a:ext cx="723557" cy="277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  <a:cs typeface="Calibri" pitchFamily="34" charset="0"/>
                </a:rPr>
                <a:t>60cm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2132856" y="1498750"/>
            <a:ext cx="4154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2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715853" y="1343308"/>
            <a:ext cx="1881499" cy="1593468"/>
            <a:chOff x="3843047" y="601024"/>
            <a:chExt cx="1791598" cy="1384583"/>
          </a:xfrm>
        </p:grpSpPr>
        <p:sp>
          <p:nvSpPr>
            <p:cNvPr id="20" name="Right Triangle 19"/>
            <p:cNvSpPr/>
            <p:nvPr/>
          </p:nvSpPr>
          <p:spPr>
            <a:xfrm rot="5400000">
              <a:off x="4344623" y="695585"/>
              <a:ext cx="1089410" cy="1490634"/>
            </a:xfrm>
            <a:prstGeom prst="rtTriangl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131264" y="907720"/>
              <a:ext cx="167047" cy="144000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2" name="TextBox 4"/>
            <p:cNvSpPr txBox="1"/>
            <p:nvPr/>
          </p:nvSpPr>
          <p:spPr>
            <a:xfrm>
              <a:off x="4598409" y="601024"/>
              <a:ext cx="723557" cy="320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  <a:cs typeface="Calibri" pitchFamily="34" charset="0"/>
                </a:rPr>
                <a:t>19m</a:t>
              </a:r>
            </a:p>
          </p:txBody>
        </p:sp>
        <p:sp>
          <p:nvSpPr>
            <p:cNvPr id="23" name="TextBox 5"/>
            <p:cNvSpPr txBox="1"/>
            <p:nvPr/>
          </p:nvSpPr>
          <p:spPr>
            <a:xfrm rot="16200000">
              <a:off x="3657111" y="1197712"/>
              <a:ext cx="723557" cy="3516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  <a:cs typeface="Calibri" pitchFamily="34" charset="0"/>
                </a:rPr>
                <a:t>14m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4509120" y="1466999"/>
            <a:ext cx="4331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3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2765776" y="1466998"/>
            <a:ext cx="1311296" cy="1806762"/>
            <a:chOff x="1755666" y="2716736"/>
            <a:chExt cx="972221" cy="1700608"/>
          </a:xfrm>
        </p:grpSpPr>
        <p:grpSp>
          <p:nvGrpSpPr>
            <p:cNvPr id="26" name="Group 25"/>
            <p:cNvGrpSpPr/>
            <p:nvPr/>
          </p:nvGrpSpPr>
          <p:grpSpPr>
            <a:xfrm flipH="1">
              <a:off x="1755666" y="2716736"/>
              <a:ext cx="939108" cy="1425519"/>
              <a:chOff x="1744954" y="706595"/>
              <a:chExt cx="939108" cy="1154611"/>
            </a:xfrm>
          </p:grpSpPr>
          <p:sp>
            <p:nvSpPr>
              <p:cNvPr id="29" name="Right Triangle 28"/>
              <p:cNvSpPr/>
              <p:nvPr/>
            </p:nvSpPr>
            <p:spPr>
              <a:xfrm>
                <a:off x="1744954" y="706595"/>
                <a:ext cx="939108" cy="1153808"/>
              </a:xfrm>
              <a:prstGeom prst="rtTriangle">
                <a:avLst/>
              </a:prstGeom>
              <a:noFill/>
              <a:ln w="222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1744954" y="1744572"/>
                <a:ext cx="144000" cy="11663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27" name="TextBox 3"/>
            <p:cNvSpPr txBox="1"/>
            <p:nvPr/>
          </p:nvSpPr>
          <p:spPr>
            <a:xfrm>
              <a:off x="2004330" y="4069712"/>
              <a:ext cx="723557" cy="347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  <a:cs typeface="Calibri" pitchFamily="34" charset="0"/>
                </a:rPr>
                <a:t>5cm</a:t>
              </a:r>
            </a:p>
          </p:txBody>
        </p:sp>
        <p:sp>
          <p:nvSpPr>
            <p:cNvPr id="28" name="TextBox 4"/>
            <p:cNvSpPr txBox="1"/>
            <p:nvPr/>
          </p:nvSpPr>
          <p:spPr>
            <a:xfrm rot="18466864">
              <a:off x="1762980" y="3203452"/>
              <a:ext cx="723557" cy="273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  <a:cs typeface="Calibri" pitchFamily="34" charset="0"/>
                </a:rPr>
                <a:t>11cm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116632" y="850285"/>
            <a:ext cx="66429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For each of the following triangles, calculate the length of the missing side, giving your answers to one decimal place when needed.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8193" y="3353035"/>
            <a:ext cx="450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37519" y="3347454"/>
            <a:ext cx="4395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20996" y="3315703"/>
            <a:ext cx="4427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351" y="5318621"/>
            <a:ext cx="4235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43084" y="5313040"/>
            <a:ext cx="4459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9142" y="7192506"/>
            <a:ext cx="4395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9</a:t>
            </a:r>
          </a:p>
        </p:txBody>
      </p:sp>
      <p:grpSp>
        <p:nvGrpSpPr>
          <p:cNvPr id="78" name="Group 77"/>
          <p:cNvGrpSpPr/>
          <p:nvPr/>
        </p:nvGrpSpPr>
        <p:grpSpPr>
          <a:xfrm>
            <a:off x="611260" y="3578286"/>
            <a:ext cx="1311296" cy="1806762"/>
            <a:chOff x="1755666" y="2716736"/>
            <a:chExt cx="972221" cy="1700608"/>
          </a:xfrm>
        </p:grpSpPr>
        <p:grpSp>
          <p:nvGrpSpPr>
            <p:cNvPr id="79" name="Group 78"/>
            <p:cNvGrpSpPr/>
            <p:nvPr/>
          </p:nvGrpSpPr>
          <p:grpSpPr>
            <a:xfrm flipH="1">
              <a:off x="1755666" y="2716736"/>
              <a:ext cx="939108" cy="1425519"/>
              <a:chOff x="1744954" y="706595"/>
              <a:chExt cx="939108" cy="1154611"/>
            </a:xfrm>
          </p:grpSpPr>
          <p:sp>
            <p:nvSpPr>
              <p:cNvPr id="82" name="Right Triangle 81"/>
              <p:cNvSpPr/>
              <p:nvPr/>
            </p:nvSpPr>
            <p:spPr>
              <a:xfrm>
                <a:off x="1744954" y="706595"/>
                <a:ext cx="939108" cy="1153808"/>
              </a:xfrm>
              <a:prstGeom prst="rtTriangle">
                <a:avLst/>
              </a:prstGeom>
              <a:noFill/>
              <a:ln w="222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1744954" y="1744572"/>
                <a:ext cx="144000" cy="11663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80" name="TextBox 3"/>
            <p:cNvSpPr txBox="1"/>
            <p:nvPr/>
          </p:nvSpPr>
          <p:spPr>
            <a:xfrm>
              <a:off x="2004330" y="4069712"/>
              <a:ext cx="723557" cy="347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  <a:cs typeface="Calibri" pitchFamily="34" charset="0"/>
                </a:rPr>
                <a:t>12mm</a:t>
              </a:r>
            </a:p>
          </p:txBody>
        </p:sp>
        <p:sp>
          <p:nvSpPr>
            <p:cNvPr id="81" name="TextBox 4"/>
            <p:cNvSpPr txBox="1"/>
            <p:nvPr/>
          </p:nvSpPr>
          <p:spPr>
            <a:xfrm rot="18466864">
              <a:off x="1732441" y="3156805"/>
              <a:ext cx="841598" cy="273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  <a:cs typeface="Calibri" pitchFamily="34" charset="0"/>
                </a:rPr>
                <a:t>13mm</a:t>
              </a: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2593927" y="3752063"/>
            <a:ext cx="1881499" cy="1253765"/>
            <a:chOff x="3843047" y="896196"/>
            <a:chExt cx="1791598" cy="1089411"/>
          </a:xfrm>
        </p:grpSpPr>
        <p:sp>
          <p:nvSpPr>
            <p:cNvPr id="90" name="Right Triangle 89"/>
            <p:cNvSpPr/>
            <p:nvPr/>
          </p:nvSpPr>
          <p:spPr>
            <a:xfrm rot="5400000">
              <a:off x="4344623" y="695585"/>
              <a:ext cx="1089410" cy="1490634"/>
            </a:xfrm>
            <a:prstGeom prst="rtTriangl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91" name="Rectangle 90"/>
            <p:cNvSpPr/>
            <p:nvPr/>
          </p:nvSpPr>
          <p:spPr>
            <a:xfrm rot="5400000">
              <a:off x="4131264" y="907720"/>
              <a:ext cx="167047" cy="144000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92" name="TextBox 4"/>
            <p:cNvSpPr txBox="1"/>
            <p:nvPr/>
          </p:nvSpPr>
          <p:spPr>
            <a:xfrm rot="19150725">
              <a:off x="4737561" y="1338521"/>
              <a:ext cx="723557" cy="320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  <a:cs typeface="Calibri" pitchFamily="34" charset="0"/>
                </a:rPr>
                <a:t>1.5cm</a:t>
              </a:r>
            </a:p>
          </p:txBody>
        </p:sp>
        <p:sp>
          <p:nvSpPr>
            <p:cNvPr id="93" name="TextBox 5"/>
            <p:cNvSpPr txBox="1"/>
            <p:nvPr/>
          </p:nvSpPr>
          <p:spPr>
            <a:xfrm rot="16200000">
              <a:off x="3657111" y="1197712"/>
              <a:ext cx="723557" cy="3516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  <a:cs typeface="Calibri" pitchFamily="34" charset="0"/>
                </a:rPr>
                <a:t>1.1cm</a:t>
              </a: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629073" y="1721024"/>
            <a:ext cx="1584175" cy="1737484"/>
            <a:chOff x="1494704" y="706595"/>
            <a:chExt cx="1192061" cy="1404070"/>
          </a:xfrm>
        </p:grpSpPr>
        <p:grpSp>
          <p:nvGrpSpPr>
            <p:cNvPr id="95" name="Group 94"/>
            <p:cNvGrpSpPr/>
            <p:nvPr/>
          </p:nvGrpSpPr>
          <p:grpSpPr>
            <a:xfrm>
              <a:off x="1744954" y="706595"/>
              <a:ext cx="939108" cy="1153808"/>
              <a:chOff x="1744954" y="706595"/>
              <a:chExt cx="939108" cy="1153808"/>
            </a:xfrm>
          </p:grpSpPr>
          <p:sp>
            <p:nvSpPr>
              <p:cNvPr id="98" name="Right Triangle 97"/>
              <p:cNvSpPr/>
              <p:nvPr/>
            </p:nvSpPr>
            <p:spPr>
              <a:xfrm>
                <a:off x="1744954" y="706595"/>
                <a:ext cx="939108" cy="1153808"/>
              </a:xfrm>
              <a:prstGeom prst="rtTriangle">
                <a:avLst/>
              </a:prstGeom>
              <a:noFill/>
              <a:ln w="222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1744954" y="1708350"/>
                <a:ext cx="144000" cy="15205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96" name="TextBox 3"/>
            <p:cNvSpPr txBox="1"/>
            <p:nvPr/>
          </p:nvSpPr>
          <p:spPr>
            <a:xfrm>
              <a:off x="1963208" y="1812206"/>
              <a:ext cx="723557" cy="298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  <a:cs typeface="Calibri" pitchFamily="34" charset="0"/>
                </a:rPr>
                <a:t>3cm</a:t>
              </a:r>
            </a:p>
          </p:txBody>
        </p:sp>
        <p:sp>
          <p:nvSpPr>
            <p:cNvPr id="97" name="TextBox 4"/>
            <p:cNvSpPr txBox="1"/>
            <p:nvPr/>
          </p:nvSpPr>
          <p:spPr>
            <a:xfrm rot="16200000">
              <a:off x="1271883" y="987606"/>
              <a:ext cx="723557" cy="277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  <a:cs typeface="Calibri" pitchFamily="34" charset="0"/>
                </a:rPr>
                <a:t>6cm</a:t>
              </a:r>
            </a:p>
          </p:txBody>
        </p:sp>
      </p:grpSp>
      <p:sp>
        <p:nvSpPr>
          <p:cNvPr id="100" name="Rectangle 99"/>
          <p:cNvSpPr/>
          <p:nvPr/>
        </p:nvSpPr>
        <p:spPr>
          <a:xfrm>
            <a:off x="527880" y="5326000"/>
            <a:ext cx="27357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Calculate the length of the diagonal of this square.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109" name="Group 108"/>
          <p:cNvGrpSpPr/>
          <p:nvPr/>
        </p:nvGrpSpPr>
        <p:grpSpPr>
          <a:xfrm>
            <a:off x="1081795" y="6157853"/>
            <a:ext cx="1039469" cy="936104"/>
            <a:chOff x="949371" y="6753200"/>
            <a:chExt cx="1399509" cy="1296144"/>
          </a:xfrm>
        </p:grpSpPr>
        <p:sp>
          <p:nvSpPr>
            <p:cNvPr id="31" name="Rectangle 30"/>
            <p:cNvSpPr/>
            <p:nvPr/>
          </p:nvSpPr>
          <p:spPr>
            <a:xfrm>
              <a:off x="949371" y="6753200"/>
              <a:ext cx="1399509" cy="1296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02" name="Straight Connector 101"/>
            <p:cNvCxnSpPr/>
            <p:nvPr/>
          </p:nvCxnSpPr>
          <p:spPr>
            <a:xfrm flipH="1">
              <a:off x="961640" y="6753200"/>
              <a:ext cx="1378965" cy="1296144"/>
            </a:xfrm>
            <a:prstGeom prst="line">
              <a:avLst/>
            </a:prstGeom>
            <a:ln w="1905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Rectangle 102"/>
          <p:cNvSpPr/>
          <p:nvPr/>
        </p:nvSpPr>
        <p:spPr>
          <a:xfrm>
            <a:off x="1340768" y="5822082"/>
            <a:ext cx="583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6cm</a:t>
            </a:r>
            <a:endParaRPr lang="en-GB" dirty="0"/>
          </a:p>
        </p:txBody>
      </p:sp>
      <p:sp>
        <p:nvSpPr>
          <p:cNvPr id="104" name="Rectangle 103"/>
          <p:cNvSpPr/>
          <p:nvPr/>
        </p:nvSpPr>
        <p:spPr>
          <a:xfrm>
            <a:off x="3812224" y="5318026"/>
            <a:ext cx="30197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If a right angle has short lengths 14cm and 8cm, what is the length of the longest side.</a:t>
            </a:r>
          </a:p>
        </p:txBody>
      </p:sp>
      <p:pic>
        <p:nvPicPr>
          <p:cNvPr id="112" name="Picture 111" descr="Triangle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255" y="7689304"/>
            <a:ext cx="1770080" cy="143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3" name="Rectangle 112"/>
          <p:cNvSpPr/>
          <p:nvPr/>
        </p:nvSpPr>
        <p:spPr>
          <a:xfrm>
            <a:off x="1887383" y="8055472"/>
            <a:ext cx="70083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12cm</a:t>
            </a:r>
            <a:endParaRPr lang="en-GB" dirty="0"/>
          </a:p>
        </p:txBody>
      </p:sp>
      <p:sp>
        <p:nvSpPr>
          <p:cNvPr id="114" name="Rectangle 113"/>
          <p:cNvSpPr/>
          <p:nvPr/>
        </p:nvSpPr>
        <p:spPr>
          <a:xfrm>
            <a:off x="538478" y="8055472"/>
            <a:ext cx="70083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12cm</a:t>
            </a:r>
            <a:endParaRPr lang="en-GB" dirty="0"/>
          </a:p>
        </p:txBody>
      </p:sp>
      <p:sp>
        <p:nvSpPr>
          <p:cNvPr id="111" name="Rectangle 110"/>
          <p:cNvSpPr/>
          <p:nvPr/>
        </p:nvSpPr>
        <p:spPr>
          <a:xfrm>
            <a:off x="1311319" y="8863113"/>
            <a:ext cx="648072" cy="2724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6" name="TextBox 3"/>
          <p:cNvSpPr txBox="1"/>
          <p:nvPr/>
        </p:nvSpPr>
        <p:spPr>
          <a:xfrm>
            <a:off x="1271516" y="8769424"/>
            <a:ext cx="97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8cm</a:t>
            </a:r>
          </a:p>
        </p:txBody>
      </p:sp>
      <p:cxnSp>
        <p:nvCxnSpPr>
          <p:cNvPr id="118" name="Straight Connector 117"/>
          <p:cNvCxnSpPr/>
          <p:nvPr/>
        </p:nvCxnSpPr>
        <p:spPr>
          <a:xfrm>
            <a:off x="1572080" y="7839448"/>
            <a:ext cx="0" cy="1023665"/>
          </a:xfrm>
          <a:prstGeom prst="line">
            <a:avLst/>
          </a:prstGeom>
          <a:ln w="1905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3251112" y="7113240"/>
            <a:ext cx="5924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10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767087" y="7185248"/>
            <a:ext cx="3429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Calculate the base of this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isosceles triangle.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5847823" y="8140158"/>
            <a:ext cx="70083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10cm</a:t>
            </a:r>
            <a:endParaRPr lang="en-GB" dirty="0"/>
          </a:p>
        </p:txBody>
      </p:sp>
      <p:sp>
        <p:nvSpPr>
          <p:cNvPr id="128" name="Rectangle 127"/>
          <p:cNvSpPr/>
          <p:nvPr/>
        </p:nvSpPr>
        <p:spPr>
          <a:xfrm>
            <a:off x="4066870" y="8111773"/>
            <a:ext cx="70083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10cm</a:t>
            </a:r>
            <a:endParaRPr lang="en-GB" dirty="0"/>
          </a:p>
        </p:txBody>
      </p:sp>
      <p:sp>
        <p:nvSpPr>
          <p:cNvPr id="129" name="Rectangle 128"/>
          <p:cNvSpPr/>
          <p:nvPr/>
        </p:nvSpPr>
        <p:spPr>
          <a:xfrm>
            <a:off x="4631183" y="8863114"/>
            <a:ext cx="1300426" cy="276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0" name="TextBox 3"/>
          <p:cNvSpPr txBox="1"/>
          <p:nvPr/>
        </p:nvSpPr>
        <p:spPr>
          <a:xfrm>
            <a:off x="4800602" y="8339914"/>
            <a:ext cx="97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8cm</a:t>
            </a:r>
          </a:p>
        </p:txBody>
      </p:sp>
      <p:cxnSp>
        <p:nvCxnSpPr>
          <p:cNvPr id="131" name="Straight Connector 130"/>
          <p:cNvCxnSpPr/>
          <p:nvPr/>
        </p:nvCxnSpPr>
        <p:spPr>
          <a:xfrm>
            <a:off x="5293804" y="7833320"/>
            <a:ext cx="0" cy="1023665"/>
          </a:xfrm>
          <a:prstGeom prst="line">
            <a:avLst/>
          </a:prstGeom>
          <a:ln w="1905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0"/>
          <p:cNvGrpSpPr/>
          <p:nvPr/>
        </p:nvGrpSpPr>
        <p:grpSpPr>
          <a:xfrm>
            <a:off x="548680" y="9081523"/>
            <a:ext cx="5832648" cy="738771"/>
            <a:chOff x="3584848" y="1844824"/>
            <a:chExt cx="6155564" cy="5265585"/>
          </a:xfrm>
        </p:grpSpPr>
        <p:sp>
          <p:nvSpPr>
            <p:cNvPr id="134" name="Rounded Rectangle 133"/>
            <p:cNvSpPr/>
            <p:nvPr/>
          </p:nvSpPr>
          <p:spPr>
            <a:xfrm>
              <a:off x="3584848" y="1844824"/>
              <a:ext cx="6048672" cy="5265585"/>
            </a:xfrm>
            <a:prstGeom prst="roundRect">
              <a:avLst/>
            </a:prstGeom>
            <a:solidFill>
              <a:srgbClr val="00B0F0">
                <a:alpha val="25000"/>
              </a:srgb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5" name="Text Box 4"/>
            <p:cNvSpPr txBox="1">
              <a:spLocks noChangeArrowheads="1"/>
            </p:cNvSpPr>
            <p:nvPr/>
          </p:nvSpPr>
          <p:spPr bwMode="auto">
            <a:xfrm>
              <a:off x="3786583" y="2198932"/>
              <a:ext cx="5953829" cy="46067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cs typeface="Calibri" pitchFamily="34" charset="0"/>
                </a:rPr>
                <a:t>I can find missing sides on a right-angled  </a:t>
              </a:r>
            </a:p>
            <a:p>
              <a:r>
                <a: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cs typeface="Calibri" pitchFamily="34" charset="0"/>
                </a:rPr>
                <a:t>triangle using </a:t>
              </a:r>
              <a:r>
                <a: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cs typeface="Calibri" pitchFamily="34" charset="0"/>
                </a:rPr>
                <a:t>Pythagoras’ Theorem:        </a:t>
              </a:r>
              <a:endPara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110" name="Rectangle 109"/>
          <p:cNvSpPr/>
          <p:nvPr/>
        </p:nvSpPr>
        <p:spPr>
          <a:xfrm>
            <a:off x="519231" y="7208411"/>
            <a:ext cx="3429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Calculate the height of this isosceles triangle.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4807768" y="9345488"/>
            <a:ext cx="309509" cy="288032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7" name="Oval 136"/>
          <p:cNvSpPr/>
          <p:nvPr/>
        </p:nvSpPr>
        <p:spPr>
          <a:xfrm>
            <a:off x="5240862" y="9345488"/>
            <a:ext cx="309509" cy="288032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8" name="Oval 137"/>
          <p:cNvSpPr/>
          <p:nvPr/>
        </p:nvSpPr>
        <p:spPr>
          <a:xfrm>
            <a:off x="5694387" y="9345488"/>
            <a:ext cx="309509" cy="288032"/>
          </a:xfrm>
          <a:prstGeom prst="ellipse">
            <a:avLst/>
          </a:prstGeom>
          <a:solidFill>
            <a:srgbClr val="00FF00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5" name="Rectangle 144"/>
          <p:cNvSpPr/>
          <p:nvPr/>
        </p:nvSpPr>
        <p:spPr>
          <a:xfrm>
            <a:off x="5406342" y="3051168"/>
            <a:ext cx="1167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Level 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72914" y="8049344"/>
            <a:ext cx="118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Level 8</a:t>
            </a:r>
          </a:p>
        </p:txBody>
      </p:sp>
    </p:spTree>
    <p:extLst>
      <p:ext uri="{BB962C8B-B14F-4D97-AF65-F5344CB8AC3E}">
        <p14:creationId xmlns:p14="http://schemas.microsoft.com/office/powerpoint/2010/main" val="3374010313"/>
      </p:ext>
    </p:extLst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0"/>
          <p:cNvGrpSpPr/>
          <p:nvPr/>
        </p:nvGrpSpPr>
        <p:grpSpPr>
          <a:xfrm>
            <a:off x="100062" y="4266030"/>
            <a:ext cx="6779472" cy="470946"/>
            <a:chOff x="3584848" y="1844824"/>
            <a:chExt cx="6155564" cy="5265585"/>
          </a:xfrm>
        </p:grpSpPr>
        <p:sp>
          <p:nvSpPr>
            <p:cNvPr id="21" name="Rounded Rectangle 20"/>
            <p:cNvSpPr/>
            <p:nvPr/>
          </p:nvSpPr>
          <p:spPr>
            <a:xfrm>
              <a:off x="3584848" y="1844824"/>
              <a:ext cx="6048672" cy="5265585"/>
            </a:xfrm>
            <a:prstGeom prst="roundRect">
              <a:avLst/>
            </a:prstGeom>
            <a:solidFill>
              <a:srgbClr val="00B0F0">
                <a:alpha val="25000"/>
              </a:srgb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Text Box 4"/>
            <p:cNvSpPr txBox="1">
              <a:spLocks noChangeArrowheads="1"/>
            </p:cNvSpPr>
            <p:nvPr/>
          </p:nvSpPr>
          <p:spPr bwMode="auto">
            <a:xfrm>
              <a:off x="3786583" y="2162271"/>
              <a:ext cx="5953829" cy="2903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0" y="-19645"/>
            <a:ext cx="68795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Consolidate</a:t>
            </a:r>
            <a:r>
              <a:rPr lang="en-GB" sz="28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 </a:t>
            </a:r>
            <a:r>
              <a:rPr lang="en-GB" sz="20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– </a:t>
            </a:r>
            <a:r>
              <a:rPr lang="en-GB" sz="28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Pythagoras’ Theorem</a:t>
            </a:r>
          </a:p>
          <a:p>
            <a:pPr algn="ctr"/>
            <a:endParaRPr lang="en-GB" sz="28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0000"/>
              </a:solidFill>
              <a:latin typeface="Snap IT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5715" y="1672570"/>
            <a:ext cx="30352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0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Real Life Problem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6" y="448984"/>
            <a:ext cx="67413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Each team-mate has a different real – life problem.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On your own solve each of these problems.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Once you completed, swap with the other pupils on your table and give feedback each others answers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6632" y="2072680"/>
            <a:ext cx="64087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b="1" dirty="0">
                <a:latin typeface="Comic Sans MS" pitchFamily="66" charset="0"/>
              </a:rPr>
              <a:t>A boat travels 45 miles east then 60 miles north, how far is it from where it started? (hint: draw a diagram)</a:t>
            </a:r>
            <a:endParaRPr lang="en-GB" dirty="0">
              <a:latin typeface="Comic Sans MS" pitchFamily="66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51639" y="3833982"/>
            <a:ext cx="23294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b="1" dirty="0">
                <a:latin typeface="Comic Sans MS" pitchFamily="66" charset="0"/>
              </a:rPr>
              <a:t>Answer=_______</a:t>
            </a:r>
            <a:endParaRPr lang="en-GB" dirty="0">
              <a:latin typeface="Comic Sans MS" pitchFamily="66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0040" y="4328746"/>
            <a:ext cx="6741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 can solve problems using Pythagoras’ Theorem:        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306876" y="4357487"/>
            <a:ext cx="309509" cy="288032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/>
          <p:cNvSpPr/>
          <p:nvPr/>
        </p:nvSpPr>
        <p:spPr>
          <a:xfrm>
            <a:off x="5739970" y="4357487"/>
            <a:ext cx="309509" cy="288032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/>
          <p:cNvSpPr/>
          <p:nvPr/>
        </p:nvSpPr>
        <p:spPr>
          <a:xfrm>
            <a:off x="6193495" y="4357487"/>
            <a:ext cx="309509" cy="288032"/>
          </a:xfrm>
          <a:prstGeom prst="ellipse">
            <a:avLst/>
          </a:prstGeom>
          <a:solidFill>
            <a:srgbClr val="00FF00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8" name="Group 10"/>
          <p:cNvGrpSpPr/>
          <p:nvPr/>
        </p:nvGrpSpPr>
        <p:grpSpPr>
          <a:xfrm>
            <a:off x="100062" y="9306590"/>
            <a:ext cx="6779472" cy="470946"/>
            <a:chOff x="3584848" y="1844824"/>
            <a:chExt cx="6155564" cy="5265585"/>
          </a:xfrm>
        </p:grpSpPr>
        <p:sp>
          <p:nvSpPr>
            <p:cNvPr id="29" name="Rounded Rectangle 28"/>
            <p:cNvSpPr/>
            <p:nvPr/>
          </p:nvSpPr>
          <p:spPr>
            <a:xfrm>
              <a:off x="3584848" y="1844824"/>
              <a:ext cx="6048672" cy="5265585"/>
            </a:xfrm>
            <a:prstGeom prst="roundRect">
              <a:avLst/>
            </a:prstGeom>
            <a:solidFill>
              <a:srgbClr val="00B0F0">
                <a:alpha val="25000"/>
              </a:srgb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Text Box 4"/>
            <p:cNvSpPr txBox="1">
              <a:spLocks noChangeArrowheads="1"/>
            </p:cNvSpPr>
            <p:nvPr/>
          </p:nvSpPr>
          <p:spPr bwMode="auto">
            <a:xfrm>
              <a:off x="3786583" y="2162271"/>
              <a:ext cx="5953829" cy="2903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0" y="5020915"/>
            <a:ext cx="68795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Consolidate</a:t>
            </a:r>
            <a:r>
              <a:rPr lang="en-GB" sz="28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 </a:t>
            </a:r>
            <a:r>
              <a:rPr lang="en-GB" sz="20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– </a:t>
            </a:r>
            <a:r>
              <a:rPr lang="en-GB" sz="28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Pythagoras’ Theorem</a:t>
            </a:r>
          </a:p>
          <a:p>
            <a:pPr algn="ctr"/>
            <a:endParaRPr lang="en-GB" sz="28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0000"/>
              </a:solidFill>
              <a:latin typeface="Snap ITC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2853" y="6713130"/>
            <a:ext cx="31009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0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Real Life Problem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036" y="5489544"/>
            <a:ext cx="67413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Each team-mate has a different real – life problem.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On your own solve each of these problems.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Once you completed, swap with the other pupils on your table and give feedback each others answers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6632" y="7113240"/>
            <a:ext cx="64087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omic Sans MS" pitchFamily="66" charset="0"/>
              </a:rPr>
              <a:t>A swimming pool is 25m by 12m, if someone swam from one corner to the other, how far would they have swam?</a:t>
            </a:r>
            <a:r>
              <a:rPr lang="en-GB" dirty="0">
                <a:latin typeface="Comic Sans MS" pitchFamily="66" charset="0"/>
              </a:rPr>
              <a:t> </a:t>
            </a:r>
            <a:r>
              <a:rPr lang="en-GB" b="1" dirty="0">
                <a:latin typeface="Comic Sans MS" pitchFamily="66" charset="0"/>
              </a:rPr>
              <a:t>(hint: draw a diagram)</a:t>
            </a:r>
            <a:endParaRPr lang="en-GB" dirty="0">
              <a:latin typeface="Comic Sans MS" pitchFamily="66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451639" y="8874542"/>
            <a:ext cx="23294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b="1" dirty="0">
                <a:latin typeface="Comic Sans MS" pitchFamily="66" charset="0"/>
              </a:rPr>
              <a:t>Answer=_______</a:t>
            </a:r>
            <a:endParaRPr lang="en-GB" dirty="0">
              <a:latin typeface="Comic Sans MS" pitchFamily="66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60040" y="9369306"/>
            <a:ext cx="6741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 can solve problems using Pythagoras’ Theorem:        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5306876" y="9398047"/>
            <a:ext cx="309509" cy="288032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Oval 37"/>
          <p:cNvSpPr/>
          <p:nvPr/>
        </p:nvSpPr>
        <p:spPr>
          <a:xfrm>
            <a:off x="5739970" y="9398047"/>
            <a:ext cx="309509" cy="288032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Oval 38"/>
          <p:cNvSpPr/>
          <p:nvPr/>
        </p:nvSpPr>
        <p:spPr>
          <a:xfrm>
            <a:off x="6193495" y="9398047"/>
            <a:ext cx="309509" cy="288032"/>
          </a:xfrm>
          <a:prstGeom prst="ellipse">
            <a:avLst/>
          </a:prstGeom>
          <a:solidFill>
            <a:srgbClr val="00FF00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Rectangle 39"/>
          <p:cNvSpPr/>
          <p:nvPr/>
        </p:nvSpPr>
        <p:spPr>
          <a:xfrm>
            <a:off x="5352027" y="565130"/>
            <a:ext cx="118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Level 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023" y="5605690"/>
            <a:ext cx="118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Level 8</a:t>
            </a:r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0"/>
          <p:cNvGrpSpPr/>
          <p:nvPr/>
        </p:nvGrpSpPr>
        <p:grpSpPr>
          <a:xfrm>
            <a:off x="100062" y="4266030"/>
            <a:ext cx="6779472" cy="470946"/>
            <a:chOff x="3584848" y="1844824"/>
            <a:chExt cx="6155564" cy="5265585"/>
          </a:xfrm>
        </p:grpSpPr>
        <p:sp>
          <p:nvSpPr>
            <p:cNvPr id="21" name="Rounded Rectangle 20"/>
            <p:cNvSpPr/>
            <p:nvPr/>
          </p:nvSpPr>
          <p:spPr>
            <a:xfrm>
              <a:off x="3584848" y="1844824"/>
              <a:ext cx="6048672" cy="5265585"/>
            </a:xfrm>
            <a:prstGeom prst="roundRect">
              <a:avLst/>
            </a:prstGeom>
            <a:solidFill>
              <a:srgbClr val="00B0F0">
                <a:alpha val="25000"/>
              </a:srgb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Text Box 4"/>
            <p:cNvSpPr txBox="1">
              <a:spLocks noChangeArrowheads="1"/>
            </p:cNvSpPr>
            <p:nvPr/>
          </p:nvSpPr>
          <p:spPr bwMode="auto">
            <a:xfrm>
              <a:off x="3786583" y="2162271"/>
              <a:ext cx="5953829" cy="2903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0" y="-19645"/>
            <a:ext cx="68795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Consolidate</a:t>
            </a:r>
            <a:r>
              <a:rPr lang="en-GB" sz="28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 </a:t>
            </a:r>
            <a:r>
              <a:rPr lang="en-GB" sz="20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– </a:t>
            </a:r>
            <a:r>
              <a:rPr lang="en-GB" sz="28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Pythagoras’ Theorem </a:t>
            </a:r>
          </a:p>
          <a:p>
            <a:pPr algn="ctr"/>
            <a:endParaRPr lang="en-GB" sz="28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0000"/>
              </a:solidFill>
              <a:latin typeface="Snap IT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639" y="1672570"/>
            <a:ext cx="31154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0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Real Life Problem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6" y="448984"/>
            <a:ext cx="67413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Each team-mate has a different real – life problem.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On your own solve each of these problems.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Once you completed, swap with the other pupils on your table and give feedback each others answers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6632" y="2072680"/>
            <a:ext cx="64087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latin typeface="Comic Sans MS" pitchFamily="66" charset="0"/>
              </a:rPr>
              <a:t>A ladder which is 4m long leans against a wall, the bottom of the ladder is 1.5m from the bottom of the wall, how high up the wall does the ladder go? (hint: draw a diagram)</a:t>
            </a:r>
            <a:endParaRPr lang="en-GB" sz="1600" dirty="0">
              <a:latin typeface="Comic Sans MS" pitchFamily="66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51639" y="3833982"/>
            <a:ext cx="23294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b="1" dirty="0">
                <a:latin typeface="Comic Sans MS" pitchFamily="66" charset="0"/>
              </a:rPr>
              <a:t>Answer=_______</a:t>
            </a:r>
            <a:endParaRPr lang="en-GB" dirty="0">
              <a:latin typeface="Comic Sans MS" pitchFamily="66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0040" y="4328746"/>
            <a:ext cx="6741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 can solve problems using Pythagoras’ Theorem:        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306876" y="4357487"/>
            <a:ext cx="309509" cy="288032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/>
          <p:cNvSpPr/>
          <p:nvPr/>
        </p:nvSpPr>
        <p:spPr>
          <a:xfrm>
            <a:off x="5739970" y="4357487"/>
            <a:ext cx="309509" cy="288032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/>
          <p:cNvSpPr/>
          <p:nvPr/>
        </p:nvSpPr>
        <p:spPr>
          <a:xfrm>
            <a:off x="6193495" y="4357487"/>
            <a:ext cx="309509" cy="288032"/>
          </a:xfrm>
          <a:prstGeom prst="ellipse">
            <a:avLst/>
          </a:prstGeom>
          <a:solidFill>
            <a:srgbClr val="00FF00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8" name="Group 10"/>
          <p:cNvGrpSpPr/>
          <p:nvPr/>
        </p:nvGrpSpPr>
        <p:grpSpPr>
          <a:xfrm>
            <a:off x="100062" y="9306590"/>
            <a:ext cx="6779472" cy="470946"/>
            <a:chOff x="3584848" y="1844824"/>
            <a:chExt cx="6155564" cy="5265585"/>
          </a:xfrm>
        </p:grpSpPr>
        <p:sp>
          <p:nvSpPr>
            <p:cNvPr id="29" name="Rounded Rectangle 28"/>
            <p:cNvSpPr/>
            <p:nvPr/>
          </p:nvSpPr>
          <p:spPr>
            <a:xfrm>
              <a:off x="3584848" y="1844824"/>
              <a:ext cx="6048672" cy="5265585"/>
            </a:xfrm>
            <a:prstGeom prst="roundRect">
              <a:avLst/>
            </a:prstGeom>
            <a:solidFill>
              <a:srgbClr val="00B0F0">
                <a:alpha val="25000"/>
              </a:srgb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Text Box 4"/>
            <p:cNvSpPr txBox="1">
              <a:spLocks noChangeArrowheads="1"/>
            </p:cNvSpPr>
            <p:nvPr/>
          </p:nvSpPr>
          <p:spPr bwMode="auto">
            <a:xfrm>
              <a:off x="3786583" y="2162271"/>
              <a:ext cx="5953829" cy="2903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0" y="5020915"/>
            <a:ext cx="68795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Consolidate</a:t>
            </a:r>
            <a:r>
              <a:rPr lang="en-GB" sz="28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 </a:t>
            </a:r>
            <a:r>
              <a:rPr lang="en-GB" sz="20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– </a:t>
            </a:r>
            <a:r>
              <a:rPr lang="en-GB" sz="28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Pythagoras’ Theorem</a:t>
            </a:r>
          </a:p>
          <a:p>
            <a:pPr algn="ctr"/>
            <a:endParaRPr lang="en-GB" sz="28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0000"/>
              </a:solidFill>
              <a:latin typeface="Snap ITC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7625" y="6713130"/>
            <a:ext cx="31314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0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Real Life Problem 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036" y="5489544"/>
            <a:ext cx="67413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Each team-mate has a different real – life problem.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On your own solve each of these problems.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Once you completed, swap with the other pupils on your table and give feedback each others answers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6632" y="7113240"/>
            <a:ext cx="64087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latin typeface="Comic Sans MS" pitchFamily="66" charset="0"/>
              </a:rPr>
              <a:t>A rope of length 10m is stretched from the top of a pole 3m high until it reaches the ground. How far is the end of the rope to the base of the pole. (hint: draw a diagram)</a:t>
            </a:r>
            <a:endParaRPr lang="en-GB" sz="1600" dirty="0">
              <a:latin typeface="Comic Sans MS" pitchFamily="66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451639" y="8874542"/>
            <a:ext cx="23294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b="1" dirty="0">
                <a:latin typeface="Comic Sans MS" pitchFamily="66" charset="0"/>
              </a:rPr>
              <a:t>Answer=_______</a:t>
            </a:r>
            <a:endParaRPr lang="en-GB" dirty="0">
              <a:latin typeface="Comic Sans MS" pitchFamily="66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60040" y="9369306"/>
            <a:ext cx="6741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 can solve problems using Pythagoras’ Theorem:        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5306876" y="9398047"/>
            <a:ext cx="309509" cy="288032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Oval 37"/>
          <p:cNvSpPr/>
          <p:nvPr/>
        </p:nvSpPr>
        <p:spPr>
          <a:xfrm>
            <a:off x="5739970" y="9398047"/>
            <a:ext cx="309509" cy="288032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Oval 38"/>
          <p:cNvSpPr/>
          <p:nvPr/>
        </p:nvSpPr>
        <p:spPr>
          <a:xfrm>
            <a:off x="6193495" y="9398047"/>
            <a:ext cx="309509" cy="288032"/>
          </a:xfrm>
          <a:prstGeom prst="ellipse">
            <a:avLst/>
          </a:prstGeom>
          <a:solidFill>
            <a:srgbClr val="00FF00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Rectangle 41"/>
          <p:cNvSpPr/>
          <p:nvPr/>
        </p:nvSpPr>
        <p:spPr>
          <a:xfrm>
            <a:off x="5303023" y="5605690"/>
            <a:ext cx="118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Level 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52027" y="565130"/>
            <a:ext cx="118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nap ITC"/>
              </a:rPr>
              <a:t>Level 8</a:t>
            </a:r>
          </a:p>
        </p:txBody>
      </p:sp>
    </p:spTree>
    <p:extLst>
      <p:ext uri="{BB962C8B-B14F-4D97-AF65-F5344CB8AC3E}">
        <p14:creationId xmlns:p14="http://schemas.microsoft.com/office/powerpoint/2010/main" val="3023077423"/>
      </p:ext>
    </p:extLst>
  </p:cSld>
  <p:clrMapOvr>
    <a:masterClrMapping/>
  </p:clrMapOvr>
  <p:transition advClick="0"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</TotalTime>
  <Words>588</Words>
  <Application>Microsoft Macintosh PowerPoint</Application>
  <PresentationFormat>A4 Paper (210x297 mm)</PresentationFormat>
  <Paragraphs>125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Comic Sans MS</vt:lpstr>
      <vt:lpstr>Georgia</vt:lpstr>
      <vt:lpstr>Snap ITC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config</dc:creator>
  <cp:lastModifiedBy>SUMMERS Brad [Baldivis Secondary College]</cp:lastModifiedBy>
  <cp:revision>137</cp:revision>
  <cp:lastPrinted>2011-11-13T20:40:49Z</cp:lastPrinted>
  <dcterms:created xsi:type="dcterms:W3CDTF">2009-03-12T12:01:33Z</dcterms:created>
  <dcterms:modified xsi:type="dcterms:W3CDTF">2019-07-20T05:11:23Z</dcterms:modified>
</cp:coreProperties>
</file>
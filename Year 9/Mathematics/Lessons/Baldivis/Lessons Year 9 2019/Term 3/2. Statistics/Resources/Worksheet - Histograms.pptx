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6858000" cy="9906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81734" autoAdjust="0"/>
  </p:normalViewPr>
  <p:slideViewPr>
    <p:cSldViewPr snapToGrid="0">
      <p:cViewPr varScale="1">
        <p:scale>
          <a:sx n="48" d="100"/>
          <a:sy n="48" d="100"/>
        </p:scale>
        <p:origin x="234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4007446\Desktop\yr%20%209%20histogram%20lesson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Sheet2!$A$1:$A$6</c:f>
              <c:strCache>
                <c:ptCount val="6"/>
                <c:pt idx="0">
                  <c:v>1-3</c:v>
                </c:pt>
                <c:pt idx="1">
                  <c:v>4-6</c:v>
                </c:pt>
                <c:pt idx="2">
                  <c:v>7-9</c:v>
                </c:pt>
                <c:pt idx="3">
                  <c:v>10-12</c:v>
                </c:pt>
                <c:pt idx="4">
                  <c:v>13-15</c:v>
                </c:pt>
                <c:pt idx="5">
                  <c:v>16-18</c:v>
                </c:pt>
              </c:strCache>
            </c:strRef>
          </c:cat>
          <c:val>
            <c:numRef>
              <c:f>Sheet2!$B$1:$B$6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10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5F-4CEA-BE8B-21AD1CF31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359970872"/>
        <c:axId val="359972512"/>
      </c:barChart>
      <c:catAx>
        <c:axId val="359970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2512"/>
        <c:crosses val="autoZero"/>
        <c:auto val="1"/>
        <c:lblAlgn val="ctr"/>
        <c:lblOffset val="100"/>
        <c:noMultiLvlLbl val="0"/>
      </c:catAx>
      <c:valAx>
        <c:axId val="359972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0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0.063</cdr:x>
      <cdr:y>0</cdr:y>
    </cdr:from>
    <cdr:to>
      <cdr:x>0.97649</cdr:x>
      <cdr:y>0.92438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BC849119-E7B9-48A8-A12F-5BFCFD990AA5}"/>
            </a:ext>
          </a:extLst>
        </cdr:cNvPr>
        <cdr:cNvSpPr/>
      </cdr:nvSpPr>
      <cdr:spPr>
        <a:xfrm xmlns:a="http://schemas.openxmlformats.org/drawingml/2006/main">
          <a:off x="288032" y="0"/>
          <a:ext cx="4176464" cy="253576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0FFEE-37CA-472E-90E4-50647E273997}" type="datetimeFigureOut">
              <a:rPr lang="en-AU" smtClean="0"/>
              <a:t>6/08/2019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70313" y="857250"/>
            <a:ext cx="16033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9D60B-DE2B-4D41-8B9E-60B4661148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550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Pages 1 and 2 To be completed during the accompanying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19D60B-DE2B-4D41-8B9E-60B4661148EA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6328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is the “Let’s Try together” activity from the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19D60B-DE2B-4D41-8B9E-60B4661148EA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2683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is the independent practice . More is available from pages 124 and 125 of Dr Dwyer </a:t>
            </a:r>
            <a:r>
              <a:rPr lang="en-AU" dirty="0" err="1"/>
              <a:t>yr</a:t>
            </a:r>
            <a:r>
              <a:rPr lang="en-AU" dirty="0"/>
              <a:t> 9 text 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19D60B-DE2B-4D41-8B9E-60B4661148EA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153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6/08/2019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44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6/08/2019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94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6/08/2019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30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6/08/2019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94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6/08/2019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92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6/08/2019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64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6/08/2019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06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6/08/2019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728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6/08/2019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32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6/08/2019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801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6/08/2019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29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A8134-ACE9-4C82-9AEE-A3130B4BE79C}" type="datetimeFigureOut">
              <a:rPr lang="en-AU" smtClean="0"/>
              <a:t>6/08/2019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17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82941"/>
            <a:ext cx="5829300" cy="569559"/>
          </a:xfrm>
        </p:spPr>
        <p:txBody>
          <a:bodyPr>
            <a:noAutofit/>
          </a:bodyPr>
          <a:lstStyle/>
          <a:p>
            <a:r>
              <a:rPr lang="en-AU" sz="1600" dirty="0"/>
              <a:t>146, 148, 151, 153, 153, 154, 155, 156, 156, 156, 157, 157, 159, 162, 162, 162, 163, 164, 164, 165, 165, 168, 168, 173, 174, 177, 181.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952500"/>
            <a:ext cx="5143500" cy="8305800"/>
          </a:xfrm>
        </p:spPr>
        <p:txBody>
          <a:bodyPr>
            <a:normAutofit/>
          </a:bodyPr>
          <a:lstStyle/>
          <a:p>
            <a:pPr marL="342900" indent="-342900" algn="l">
              <a:buAutoNum type="arabicPeriod"/>
            </a:pPr>
            <a:r>
              <a:rPr lang="en-AU" sz="1600" dirty="0"/>
              <a:t>Find the Mean ______________</a:t>
            </a:r>
          </a:p>
          <a:p>
            <a:pPr algn="l"/>
            <a:r>
              <a:rPr lang="en-AU" sz="1600" dirty="0"/>
              <a:t>	         Mode ______________</a:t>
            </a:r>
          </a:p>
          <a:p>
            <a:pPr algn="l"/>
            <a:r>
              <a:rPr lang="en-AU" sz="1600" dirty="0"/>
              <a:t>	         Median _____________</a:t>
            </a:r>
          </a:p>
          <a:p>
            <a:pPr algn="l"/>
            <a:r>
              <a:rPr lang="en-AU" sz="1600" dirty="0"/>
              <a:t>	         Range ______________</a:t>
            </a:r>
          </a:p>
          <a:p>
            <a:pPr algn="l"/>
            <a:endParaRPr lang="en-AU" sz="1600" dirty="0"/>
          </a:p>
          <a:p>
            <a:pPr algn="l"/>
            <a:r>
              <a:rPr lang="en-AU" sz="1600" dirty="0"/>
              <a:t>2. A Bar chart has __________between the columns while a Histogram  ___________.   A bar chart displays ________________ data while a histogram displays ____________ data.</a:t>
            </a:r>
          </a:p>
          <a:p>
            <a:pPr algn="l"/>
            <a:endParaRPr lang="en-AU" sz="1600" dirty="0"/>
          </a:p>
          <a:p>
            <a:pPr algn="l"/>
            <a:r>
              <a:rPr lang="en-AU" sz="1600" dirty="0"/>
              <a:t>3. Sort the data above into classes.</a:t>
            </a:r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23A036-2BC2-42CC-B59B-0009916DC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763725"/>
              </p:ext>
            </p:extLst>
          </p:nvPr>
        </p:nvGraphicFramePr>
        <p:xfrm>
          <a:off x="1346200" y="4216241"/>
          <a:ext cx="2692400" cy="285940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338886282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3017290516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195684378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Tally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Frequency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51817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 – 150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93223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 – 155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75726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 – 160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249461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 – 165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07571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 – 170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749959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 – 175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8933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 – 180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73701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 – 185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93060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04B3EE-74EE-4784-8E43-A0BF9F8E66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b="33748"/>
          <a:stretch/>
        </p:blipFill>
        <p:spPr>
          <a:xfrm>
            <a:off x="1009650" y="7377429"/>
            <a:ext cx="4496380" cy="233172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A641C0-4A52-41C2-956F-B6FC9A74631D}"/>
              </a:ext>
            </a:extLst>
          </p:cNvPr>
          <p:cNvCxnSpPr>
            <a:cxnSpLocks/>
          </p:cNvCxnSpPr>
          <p:nvPr/>
        </p:nvCxnSpPr>
        <p:spPr>
          <a:xfrm>
            <a:off x="1333500" y="7562850"/>
            <a:ext cx="0" cy="17526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ADB787-3B5F-42EA-8EF7-6932204EEE94}"/>
              </a:ext>
            </a:extLst>
          </p:cNvPr>
          <p:cNvCxnSpPr>
            <a:cxnSpLocks/>
          </p:cNvCxnSpPr>
          <p:nvPr/>
        </p:nvCxnSpPr>
        <p:spPr>
          <a:xfrm>
            <a:off x="1346200" y="9321800"/>
            <a:ext cx="41598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90DB27C-3A48-4031-885A-DB3C82B0AD56}"/>
              </a:ext>
            </a:extLst>
          </p:cNvPr>
          <p:cNvSpPr txBox="1"/>
          <p:nvPr/>
        </p:nvSpPr>
        <p:spPr>
          <a:xfrm>
            <a:off x="1333500" y="9321800"/>
            <a:ext cx="4267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/>
              <a:t>     140           145            150           155            160           165           170              175          180            185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1D5ACD-1531-436B-8202-4A0059DAED2F}"/>
              </a:ext>
            </a:extLst>
          </p:cNvPr>
          <p:cNvSpPr txBox="1"/>
          <p:nvPr/>
        </p:nvSpPr>
        <p:spPr>
          <a:xfrm>
            <a:off x="1113135" y="7562850"/>
            <a:ext cx="307777" cy="184086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AU" sz="800" dirty="0"/>
              <a:t>0         1           2          3          4          5          6</a:t>
            </a:r>
          </a:p>
        </p:txBody>
      </p:sp>
    </p:spTree>
    <p:extLst>
      <p:ext uri="{BB962C8B-B14F-4D97-AF65-F5344CB8AC3E}">
        <p14:creationId xmlns:p14="http://schemas.microsoft.com/office/powerpoint/2010/main" val="142573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2C46FC-E2E7-44D9-BE1E-4D4CB73A3E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823" b="26112"/>
          <a:stretch/>
        </p:blipFill>
        <p:spPr>
          <a:xfrm>
            <a:off x="206298" y="1038868"/>
            <a:ext cx="3484490" cy="15417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CF06A0-99B2-4357-B03E-26F843B54E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835" b="28174"/>
          <a:stretch/>
        </p:blipFill>
        <p:spPr>
          <a:xfrm>
            <a:off x="201650" y="3069685"/>
            <a:ext cx="3517096" cy="1520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44E3FA-AB4B-447C-9D62-D3D5D1B5B70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83" b="25404"/>
          <a:stretch/>
        </p:blipFill>
        <p:spPr>
          <a:xfrm>
            <a:off x="201650" y="5101963"/>
            <a:ext cx="3405359" cy="1531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3C02ED-8349-42DE-A5C1-29915F7A2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21" y="7144876"/>
            <a:ext cx="2533872" cy="9510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752057-FA92-45E1-B2C4-42E4397CF750}"/>
              </a:ext>
            </a:extLst>
          </p:cNvPr>
          <p:cNvSpPr txBox="1"/>
          <p:nvPr/>
        </p:nvSpPr>
        <p:spPr>
          <a:xfrm>
            <a:off x="3467100" y="1038868"/>
            <a:ext cx="31737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 1 is an example of __________ skew.  The mean is to the ________ of the median and the _________.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AF3183-E972-4C31-96B8-7A676BBB6BE6}"/>
              </a:ext>
            </a:extLst>
          </p:cNvPr>
          <p:cNvSpPr txBox="1"/>
          <p:nvPr/>
        </p:nvSpPr>
        <p:spPr>
          <a:xfrm>
            <a:off x="3467101" y="3127431"/>
            <a:ext cx="3173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 2 </a:t>
            </a:r>
            <a:r>
              <a:rPr lang="en-AU" dirty="0" err="1"/>
              <a:t>i_s</a:t>
            </a:r>
            <a:r>
              <a:rPr lang="en-AU" dirty="0"/>
              <a:t> an example of ___________ skew.  The mean is to the ________ of the median and the __________.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3D181-07EC-41E2-9130-8E48B68612E4}"/>
              </a:ext>
            </a:extLst>
          </p:cNvPr>
          <p:cNvSpPr txBox="1"/>
          <p:nvPr/>
        </p:nvSpPr>
        <p:spPr>
          <a:xfrm>
            <a:off x="3467100" y="5088472"/>
            <a:ext cx="3316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 3 is an example of ____________ skew.  The mean is the __________ as the median and the ___________.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89264C-9748-4C3A-9883-0C462875732A}"/>
              </a:ext>
            </a:extLst>
          </p:cNvPr>
          <p:cNvSpPr txBox="1"/>
          <p:nvPr/>
        </p:nvSpPr>
        <p:spPr>
          <a:xfrm>
            <a:off x="3467101" y="7101083"/>
            <a:ext cx="3173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 4 is an example of ___________ data.  You can see on the graph it has 2 _________.</a:t>
            </a:r>
          </a:p>
        </p:txBody>
      </p:sp>
    </p:spTree>
    <p:extLst>
      <p:ext uri="{BB962C8B-B14F-4D97-AF65-F5344CB8AC3E}">
        <p14:creationId xmlns:p14="http://schemas.microsoft.com/office/powerpoint/2010/main" val="1039696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DBAA629-0CC9-4177-8B44-853E50DE1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59" y="217209"/>
            <a:ext cx="6428436" cy="4515212"/>
          </a:xfrm>
          <a:prstGeom prst="rect">
            <a:avLst/>
          </a:prstGeom>
        </p:spPr>
      </p:pic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C5E7E336-CDE8-47F6-A54C-F66B5B29B4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13885"/>
              </p:ext>
            </p:extLst>
          </p:nvPr>
        </p:nvGraphicFramePr>
        <p:xfrm>
          <a:off x="1345868" y="504798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AE28AEA-1CFB-42A4-ADA8-6A05C2022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435" y="5084484"/>
            <a:ext cx="989072" cy="249926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9A09F4-BB8C-4B11-B9BC-6485587B69BB}"/>
              </a:ext>
            </a:extLst>
          </p:cNvPr>
          <p:cNvCxnSpPr/>
          <p:nvPr/>
        </p:nvCxnSpPr>
        <p:spPr>
          <a:xfrm>
            <a:off x="1057836" y="4999420"/>
            <a:ext cx="0" cy="2499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9605E4-44B8-4AA2-BD63-B8D582CA9BC9}"/>
              </a:ext>
            </a:extLst>
          </p:cNvPr>
          <p:cNvCxnSpPr>
            <a:cxnSpLocks/>
          </p:cNvCxnSpPr>
          <p:nvPr/>
        </p:nvCxnSpPr>
        <p:spPr>
          <a:xfrm flipH="1">
            <a:off x="1057836" y="7490477"/>
            <a:ext cx="47170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DA82962-4B9D-4BFA-B23B-4C0EADF57565}"/>
              </a:ext>
            </a:extLst>
          </p:cNvPr>
          <p:cNvSpPr/>
          <p:nvPr/>
        </p:nvSpPr>
        <p:spPr>
          <a:xfrm>
            <a:off x="1345868" y="4999419"/>
            <a:ext cx="4824536" cy="24828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5E3C94-37DC-44A9-B7C5-AE077D0B915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1440" t="1" b="32828"/>
          <a:stretch/>
        </p:blipFill>
        <p:spPr>
          <a:xfrm>
            <a:off x="1074033" y="5004241"/>
            <a:ext cx="4654911" cy="248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52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02B4D1C9-2D31-4A17-8D3F-25C2B4453C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1247564"/>
              </p:ext>
            </p:extLst>
          </p:nvPr>
        </p:nvGraphicFramePr>
        <p:xfrm>
          <a:off x="471488" y="854102"/>
          <a:ext cx="2032358" cy="2582641"/>
        </p:xfrm>
        <a:graphic>
          <a:graphicData uri="http://schemas.openxmlformats.org/drawingml/2006/table">
            <a:tbl>
              <a:tblPr firstRow="1" firstCol="1" bandRow="1"/>
              <a:tblGrid>
                <a:gridCol w="1247476">
                  <a:extLst>
                    <a:ext uri="{9D8B030D-6E8A-4147-A177-3AD203B41FA5}">
                      <a16:colId xmlns:a16="http://schemas.microsoft.com/office/drawing/2014/main" val="779063204"/>
                    </a:ext>
                  </a:extLst>
                </a:gridCol>
                <a:gridCol w="784882">
                  <a:extLst>
                    <a:ext uri="{9D8B030D-6E8A-4147-A177-3AD203B41FA5}">
                      <a16:colId xmlns:a16="http://schemas.microsoft.com/office/drawing/2014/main" val="3272592107"/>
                    </a:ext>
                  </a:extLst>
                </a:gridCol>
              </a:tblGrid>
              <a:tr h="6061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b="1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Hours (h) spent watching TV last week </a:t>
                      </a:r>
                      <a:endParaRPr lang="en-AU" sz="90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b="1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Frequency </a:t>
                      </a:r>
                      <a:endParaRPr lang="en-AU" sz="90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942638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up to 5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5318555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 up to 10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5426412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 up to 15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450189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 up to 20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402762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 up to 25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430829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 up to 30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259335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 up to 35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AU" sz="900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328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4C066E0-F11A-46E0-9610-F0F61474E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832" y="931668"/>
            <a:ext cx="3200400" cy="2505075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3DF84F-9152-4045-9D9B-CDB3049E1E6C}"/>
              </a:ext>
            </a:extLst>
          </p:cNvPr>
          <p:cNvSpPr txBox="1"/>
          <p:nvPr/>
        </p:nvSpPr>
        <p:spPr>
          <a:xfrm>
            <a:off x="471488" y="342739"/>
            <a:ext cx="6031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Create a histogram for the following sets of data.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1BB43F2-345E-491F-8F7E-5A04DEDB8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778456"/>
              </p:ext>
            </p:extLst>
          </p:nvPr>
        </p:nvGraphicFramePr>
        <p:xfrm>
          <a:off x="1230396" y="4305425"/>
          <a:ext cx="2889885" cy="1493142"/>
        </p:xfrm>
        <a:graphic>
          <a:graphicData uri="http://schemas.openxmlformats.org/drawingml/2006/table">
            <a:tbl>
              <a:tblPr/>
              <a:tblGrid>
                <a:gridCol w="1804670">
                  <a:extLst>
                    <a:ext uri="{9D8B030D-6E8A-4147-A177-3AD203B41FA5}">
                      <a16:colId xmlns:a16="http://schemas.microsoft.com/office/drawing/2014/main" val="3104337043"/>
                    </a:ext>
                  </a:extLst>
                </a:gridCol>
                <a:gridCol w="1085215">
                  <a:extLst>
                    <a:ext uri="{9D8B030D-6E8A-4147-A177-3AD203B41FA5}">
                      <a16:colId xmlns:a16="http://schemas.microsoft.com/office/drawing/2014/main" val="6736863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Number of hours </a:t>
                      </a: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(n) 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worked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Frequency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060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 &lt; n ≤ 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516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10 </a:t>
                      </a: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&lt; n ≤ 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20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676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20 </a:t>
                      </a: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&lt; n 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≤ 30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A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341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30 &lt; </a:t>
                      </a: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 ≤ 40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071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40 &lt; </a:t>
                      </a: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 ≤ 50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A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158938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5B1F2A37-2763-4814-94B5-A483E2019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8" y="3656340"/>
            <a:ext cx="618630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data below is information about the number of hours worked by some factory workers.	</a:t>
            </a:r>
            <a:endParaRPr kumimoji="0" lang="en-AU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	7, 9, 12, 13, 17, 19, 23, 24, 29, 29, 33, 35, 37, 38, 40, 42, 46</a:t>
            </a:r>
            <a:endParaRPr kumimoji="0" lang="en-AU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Complete the frequency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lang="en-GB" altLang="en-US" sz="1200" dirty="0"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lang="en-GB" altLang="en-US" sz="1200" dirty="0"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lang="en-GB" altLang="en-US" sz="1200" dirty="0"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lang="en-GB" altLang="en-US" sz="1200" dirty="0"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lang="en-GB" altLang="en-US" sz="1200" dirty="0"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kumimoji="0" lang="en-AU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Use the table to draw a histogram.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FAD4EB-B0F5-4821-849E-47758DF46E8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08" y="6179338"/>
            <a:ext cx="4805171" cy="339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4721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70BBAA3C-9D81-4AE0-B0EC-849C77416BF0}" vid="{E8D99B90-D19E-41B6-80DB-BB3144E336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 page</Template>
  <TotalTime>234</TotalTime>
  <Words>337</Words>
  <Application>Microsoft Office PowerPoint</Application>
  <PresentationFormat>A4 Paper (210x297 mm)</PresentationFormat>
  <Paragraphs>83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Trebuchet MS</vt:lpstr>
      <vt:lpstr>Office Theme</vt:lpstr>
      <vt:lpstr>146, 148, 151, 153, 153, 154, 155, 156, 156, 156, 157, 157, 159, 162, 162, 162, 163, 164, 164, 165, 165, 168, 168, 173, 174, 177, 181.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146, 148, 151, 153, 153, 154, 155, 156, 156, 156, 157, 157, 159, 162, 162, 162, 163, 164, 164, 165, 165, 168, 168, 173, 174, 177, 181.</dc:title>
  <dc:creator>WILSON James [Baldivis Secondary College]</dc:creator>
  <cp:lastModifiedBy>Helen Stone</cp:lastModifiedBy>
  <cp:revision>10</cp:revision>
  <dcterms:created xsi:type="dcterms:W3CDTF">2017-07-23T06:23:26Z</dcterms:created>
  <dcterms:modified xsi:type="dcterms:W3CDTF">2019-08-06T11:16:50Z</dcterms:modified>
</cp:coreProperties>
</file>
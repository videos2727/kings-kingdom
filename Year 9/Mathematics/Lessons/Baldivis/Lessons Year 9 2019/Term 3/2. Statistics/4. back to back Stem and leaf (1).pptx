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sldIdLst>
    <p:sldId id="260" r:id="rId2"/>
    <p:sldId id="259" r:id="rId3"/>
    <p:sldId id="261" r:id="rId4"/>
    <p:sldId id="275" r:id="rId5"/>
    <p:sldId id="276" r:id="rId6"/>
    <p:sldId id="278" r:id="rId7"/>
    <p:sldId id="277" r:id="rId8"/>
    <p:sldId id="279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63FD3-6271-4B2C-800F-5BB8AFE3410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6747C-3A81-4C8A-9E0A-298945C46B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65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28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90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87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766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13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56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74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76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52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411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2424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079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533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43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6465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E6597C-468B-4404-A08B-5BF3241A984B}" type="datetimeFigureOut">
              <a:rPr lang="en-AU" smtClean="0"/>
              <a:t>9/08/2019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49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s://play.kahoot.it/#/k/99182d84-9b43-43fb-a1c9-15598f26f28e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F24B-9CCD-4758-A74A-5CF09949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5963" y="4227518"/>
            <a:ext cx="5784923" cy="1546400"/>
          </a:xfrm>
        </p:spPr>
        <p:txBody>
          <a:bodyPr>
            <a:noAutofit/>
          </a:bodyPr>
          <a:lstStyle/>
          <a:p>
            <a:pPr algn="l"/>
            <a:r>
              <a:rPr lang="en-AU" sz="4400" dirty="0"/>
              <a:t>INTERACTIVE </a:t>
            </a:r>
            <a:br>
              <a:rPr lang="en-AU" sz="4400" dirty="0"/>
            </a:br>
            <a:r>
              <a:rPr lang="en-AU" sz="4400" dirty="0"/>
              <a:t>NOTBOOK</a:t>
            </a:r>
            <a:br>
              <a:rPr lang="en-AU" sz="4400" dirty="0"/>
            </a:br>
            <a:br>
              <a:rPr lang="en-AU" sz="4400" dirty="0"/>
            </a:br>
            <a:r>
              <a:rPr lang="en-AU" sz="4400" dirty="0"/>
              <a:t>topic: </a:t>
            </a:r>
            <a:r>
              <a:rPr lang="en-AU" sz="4400" b="1" dirty="0"/>
              <a:t>STATISTICS</a:t>
            </a:r>
            <a:br>
              <a:rPr lang="en-AU" sz="4400" b="1" dirty="0"/>
            </a:br>
            <a:r>
              <a:rPr lang="en-AU" sz="4000" dirty="0"/>
              <a:t>class:</a:t>
            </a:r>
            <a:br>
              <a:rPr lang="en-AU" sz="4000" dirty="0"/>
            </a:br>
            <a:r>
              <a:rPr lang="en-AU" sz="4000" dirty="0"/>
              <a:t>teacher:</a:t>
            </a:r>
            <a:br>
              <a:rPr lang="en-AU" sz="4000" dirty="0"/>
            </a:br>
            <a:r>
              <a:rPr lang="en-AU" sz="4000" dirty="0"/>
              <a:t>Semester 2, Term 3</a:t>
            </a:r>
            <a:br>
              <a:rPr lang="en-AU" sz="4400" b="1" dirty="0"/>
            </a:br>
            <a:endParaRPr lang="en-AU" sz="4400" b="1" dirty="0"/>
          </a:p>
        </p:txBody>
      </p:sp>
      <p:pic>
        <p:nvPicPr>
          <p:cNvPr id="3074" name="Picture 2" descr="happy a plus GIF by Papa Johnâs ">
            <a:extLst>
              <a:ext uri="{FF2B5EF4-FFF2-40B4-BE49-F238E27FC236}">
                <a16:creationId xmlns:a16="http://schemas.microsoft.com/office/drawing/2014/main" id="{FBCBDC30-B5ED-494D-8253-F1A4077822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6" y="238537"/>
            <a:ext cx="2415209" cy="241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07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069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Back to back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3744" y="137990"/>
            <a:ext cx="18380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WICOR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back to back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A6403F-E1B7-466F-975C-07906FE9097F}"/>
              </a:ext>
            </a:extLst>
          </p:cNvPr>
          <p:cNvSpPr txBox="1"/>
          <p:nvPr/>
        </p:nvSpPr>
        <p:spPr>
          <a:xfrm>
            <a:off x="4328160" y="1633728"/>
            <a:ext cx="71932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a summary from last lesson</a:t>
            </a:r>
          </a:p>
          <a:p>
            <a:endParaRPr lang="en-US" dirty="0"/>
          </a:p>
          <a:p>
            <a:r>
              <a:rPr lang="en-US" dirty="0"/>
              <a:t>A stem and leaf plot, arranges what type of data?</a:t>
            </a:r>
          </a:p>
          <a:p>
            <a:endParaRPr lang="en-US" dirty="0"/>
          </a:p>
          <a:p>
            <a:r>
              <a:rPr lang="en-US" dirty="0"/>
              <a:t>What is the median number of this data set</a:t>
            </a:r>
          </a:p>
          <a:p>
            <a:endParaRPr lang="en-US" dirty="0"/>
          </a:p>
          <a:p>
            <a:r>
              <a:rPr lang="en-US" dirty="0"/>
              <a:t>               34, 36, 41, 46, 56, 58, 60, 66, 71</a:t>
            </a:r>
          </a:p>
          <a:p>
            <a:endParaRPr lang="en-US" dirty="0"/>
          </a:p>
          <a:p>
            <a:r>
              <a:rPr lang="en-US" dirty="0"/>
              <a:t>Name three types of triangles,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  <a:p>
            <a:endParaRPr lang="en-US" dirty="0"/>
          </a:p>
          <a:p>
            <a:r>
              <a:rPr lang="en-US" dirty="0"/>
              <a:t>What is the range of the following data set</a:t>
            </a:r>
          </a:p>
          <a:p>
            <a:endParaRPr lang="en-US" dirty="0"/>
          </a:p>
          <a:p>
            <a:r>
              <a:rPr lang="en-US" dirty="0"/>
              <a:t>106, 222, 45, 314, 81, 133</a:t>
            </a:r>
            <a:r>
              <a:rPr lang="en-US"/>
              <a:t>, 93, 154, </a:t>
            </a:r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A4492-5E01-40EA-AA39-3D3B271E55BB}"/>
              </a:ext>
            </a:extLst>
          </p:cNvPr>
          <p:cNvSpPr/>
          <p:nvPr/>
        </p:nvSpPr>
        <p:spPr>
          <a:xfrm>
            <a:off x="4474796" y="180623"/>
            <a:ext cx="35488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previous Lessons</a:t>
            </a:r>
            <a:endParaRPr lang="en-AU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DF783-A1E5-4C4A-B47A-C9C3B55F112A}"/>
              </a:ext>
            </a:extLst>
          </p:cNvPr>
          <p:cNvSpPr/>
          <p:nvPr/>
        </p:nvSpPr>
        <p:spPr>
          <a:xfrm>
            <a:off x="1338469" y="1237926"/>
            <a:ext cx="102207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US" sz="2800" b="1" dirty="0">
                <a:solidFill>
                  <a:srgbClr val="393A68"/>
                </a:solidFill>
                <a:latin typeface="OpenSans"/>
              </a:rPr>
            </a:br>
            <a:endParaRPr lang="en-US" sz="2800" b="1" dirty="0">
              <a:solidFill>
                <a:srgbClr val="393A68"/>
              </a:solidFill>
              <a:latin typeface="Open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FEC34-380C-47D0-936D-ACA425A3F5C6}"/>
              </a:ext>
            </a:extLst>
          </p:cNvPr>
          <p:cNvSpPr txBox="1"/>
          <p:nvPr/>
        </p:nvSpPr>
        <p:spPr>
          <a:xfrm>
            <a:off x="2872409" y="785191"/>
            <a:ext cx="892533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During the summer, Maddie plays a softball league. Her teams scores are 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19, 15, 22</a:t>
            </a:r>
          </a:p>
          <a:p>
            <a:pPr algn="ctr"/>
            <a:r>
              <a:rPr lang="en-AU" sz="3200" dirty="0"/>
              <a:t>10, 37, 26</a:t>
            </a:r>
          </a:p>
          <a:p>
            <a:pPr algn="ctr"/>
            <a:r>
              <a:rPr lang="en-AU" sz="3200" dirty="0"/>
              <a:t>37, 12, 5</a:t>
            </a:r>
          </a:p>
          <a:p>
            <a:pPr algn="ctr"/>
            <a:r>
              <a:rPr lang="en-AU" sz="3200" dirty="0"/>
              <a:t>37, 19, 10</a:t>
            </a:r>
          </a:p>
          <a:p>
            <a:pPr algn="ctr"/>
            <a:r>
              <a:rPr lang="en-AU" sz="3200" dirty="0"/>
              <a:t>39, 16, 8</a:t>
            </a:r>
          </a:p>
          <a:p>
            <a:pPr algn="ctr"/>
            <a:endParaRPr lang="en-AU" sz="3200" dirty="0"/>
          </a:p>
          <a:p>
            <a:pPr marL="514350" indent="-514350">
              <a:buAutoNum type="arabicParenR"/>
            </a:pPr>
            <a:r>
              <a:rPr lang="en-AU" sz="3200" dirty="0"/>
              <a:t>CREATE a stem and leaf plot </a:t>
            </a:r>
          </a:p>
          <a:p>
            <a:pPr marL="514350" indent="-514350">
              <a:buAutoNum type="arabicParenR"/>
            </a:pPr>
            <a:r>
              <a:rPr lang="en-AU" sz="3200" dirty="0"/>
              <a:t>Mean? Median? Range?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44882-87FA-44BB-A762-710C9D8AA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054175"/>
              </p:ext>
            </p:extLst>
          </p:nvPr>
        </p:nvGraphicFramePr>
        <p:xfrm>
          <a:off x="947530" y="2183353"/>
          <a:ext cx="384975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662">
                  <a:extLst>
                    <a:ext uri="{9D8B030D-6E8A-4147-A177-3AD203B41FA5}">
                      <a16:colId xmlns:a16="http://schemas.microsoft.com/office/drawing/2014/main" val="4116491133"/>
                    </a:ext>
                  </a:extLst>
                </a:gridCol>
                <a:gridCol w="3250095">
                  <a:extLst>
                    <a:ext uri="{9D8B030D-6E8A-4147-A177-3AD203B41FA5}">
                      <a16:colId xmlns:a16="http://schemas.microsoft.com/office/drawing/2014/main" val="2643846132"/>
                    </a:ext>
                  </a:extLst>
                </a:gridCol>
              </a:tblGrid>
              <a:tr h="364251"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5   8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00375"/>
                  </a:ext>
                </a:extLst>
              </a:tr>
              <a:tr h="364251"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0   0   2   5   6   9   9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855796"/>
                  </a:ext>
                </a:extLst>
              </a:tr>
              <a:tr h="364251"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2   6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004759"/>
                  </a:ext>
                </a:extLst>
              </a:tr>
              <a:tr h="364251"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7   7   7   9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1454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3E38D1-60BE-4651-9138-D9BA854FB233}"/>
              </a:ext>
            </a:extLst>
          </p:cNvPr>
          <p:cNvSpPr txBox="1"/>
          <p:nvPr/>
        </p:nvSpPr>
        <p:spPr>
          <a:xfrm>
            <a:off x="3518452" y="5555867"/>
            <a:ext cx="67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  20.8	        19	                        34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7B9A1F-DA9A-4427-8148-95835B4B8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939" y="4596640"/>
            <a:ext cx="3425809" cy="191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3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E9FE22-E254-49BC-AF20-6C847B3934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" t="52379" r="2699" b="2151"/>
          <a:stretch/>
        </p:blipFill>
        <p:spPr>
          <a:xfrm>
            <a:off x="669302" y="566530"/>
            <a:ext cx="10853530" cy="2684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47932B-5696-410E-A078-0A3C79C6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252" y="5961822"/>
            <a:ext cx="4198076" cy="6170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D6D9BF-FA29-4C52-BEBB-AE3251B5A111}"/>
              </a:ext>
            </a:extLst>
          </p:cNvPr>
          <p:cNvSpPr/>
          <p:nvPr/>
        </p:nvSpPr>
        <p:spPr>
          <a:xfrm>
            <a:off x="834887" y="268357"/>
            <a:ext cx="6380922" cy="1510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954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069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Back to back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back to back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352C989-3C18-49C9-B3B1-8ABA5395C83A}"/>
              </a:ext>
            </a:extLst>
          </p:cNvPr>
          <p:cNvSpPr txBox="1"/>
          <p:nvPr/>
        </p:nvSpPr>
        <p:spPr>
          <a:xfrm>
            <a:off x="119270" y="1500809"/>
            <a:ext cx="1639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Why do we use 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4D6BE-8914-4D77-BFA7-54CD81F86190}"/>
              </a:ext>
            </a:extLst>
          </p:cNvPr>
          <p:cNvSpPr txBox="1"/>
          <p:nvPr/>
        </p:nvSpPr>
        <p:spPr>
          <a:xfrm flipH="1">
            <a:off x="2124168" y="1393087"/>
            <a:ext cx="7943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To display </a:t>
            </a:r>
            <a:r>
              <a:rPr lang="en-AU" sz="2800" b="1" i="1" dirty="0"/>
              <a:t>two related </a:t>
            </a:r>
            <a:r>
              <a:rPr lang="en-AU" sz="2800" dirty="0"/>
              <a:t>data sets.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66BE5-C8D0-48E9-B1B7-21695E35FD88}"/>
              </a:ext>
            </a:extLst>
          </p:cNvPr>
          <p:cNvSpPr txBox="1"/>
          <p:nvPr/>
        </p:nvSpPr>
        <p:spPr>
          <a:xfrm>
            <a:off x="2124167" y="2125355"/>
            <a:ext cx="9285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Example:</a:t>
            </a:r>
          </a:p>
          <a:p>
            <a:endParaRPr lang="en-AU" sz="2800" dirty="0"/>
          </a:p>
          <a:p>
            <a:r>
              <a:rPr lang="en-AU" sz="2800" dirty="0"/>
              <a:t>Mr Ships an Mr Chops class sat an exam   (copy into books)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F96F86-7F20-420F-8C25-D435125F3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196765"/>
              </p:ext>
            </p:extLst>
          </p:nvPr>
        </p:nvGraphicFramePr>
        <p:xfrm>
          <a:off x="3175000" y="3602013"/>
          <a:ext cx="7290904" cy="2808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4297">
                  <a:extLst>
                    <a:ext uri="{9D8B030D-6E8A-4147-A177-3AD203B41FA5}">
                      <a16:colId xmlns:a16="http://schemas.microsoft.com/office/drawing/2014/main" val="78653123"/>
                    </a:ext>
                  </a:extLst>
                </a:gridCol>
                <a:gridCol w="677912">
                  <a:extLst>
                    <a:ext uri="{9D8B030D-6E8A-4147-A177-3AD203B41FA5}">
                      <a16:colId xmlns:a16="http://schemas.microsoft.com/office/drawing/2014/main" val="4239556631"/>
                    </a:ext>
                  </a:extLst>
                </a:gridCol>
                <a:gridCol w="3478695">
                  <a:extLst>
                    <a:ext uri="{9D8B030D-6E8A-4147-A177-3AD203B41FA5}">
                      <a16:colId xmlns:a16="http://schemas.microsoft.com/office/drawing/2014/main" val="1957620267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Mr Ship’s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Mr Chop’s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96242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3    1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0   1   1   3   5   7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328999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8   8   7   5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2   3   5   5   7   9   9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39828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6   4   4   2   1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08668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7   4   3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884499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41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2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495CB-6932-438B-9EFD-FE4E37CF936C}"/>
              </a:ext>
            </a:extLst>
          </p:cNvPr>
          <p:cNvSpPr/>
          <p:nvPr/>
        </p:nvSpPr>
        <p:spPr>
          <a:xfrm>
            <a:off x="2421410" y="204257"/>
            <a:ext cx="85617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Hands up – stand up – pair 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A3F8-C27D-4914-91DC-8D9A8A16B561}"/>
              </a:ext>
            </a:extLst>
          </p:cNvPr>
          <p:cNvSpPr txBox="1"/>
          <p:nvPr/>
        </p:nvSpPr>
        <p:spPr>
          <a:xfrm>
            <a:off x="3210339" y="1351722"/>
            <a:ext cx="838862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 your teams of two can you WRITE THE QUESTION and answer them together.</a:t>
            </a:r>
          </a:p>
          <a:p>
            <a:endParaRPr lang="en-AU" sz="2400" dirty="0"/>
          </a:p>
          <a:p>
            <a:endParaRPr lang="en-AU" sz="2800" dirty="0"/>
          </a:p>
          <a:p>
            <a:pPr algn="ctr"/>
            <a:r>
              <a:rPr lang="en-AU" sz="2800" dirty="0"/>
              <a:t>5 questions altogether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/>
              <a:t>10 minutes timer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/>
              <a:t>Be prepared to share at the end!!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8621F3-1D45-4840-A8D7-F767B5390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05" y="2408310"/>
            <a:ext cx="3833191" cy="215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069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Back to back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back to back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D066BE5-C8D0-48E9-B1B7-21695E35FD88}"/>
              </a:ext>
            </a:extLst>
          </p:cNvPr>
          <p:cNvSpPr txBox="1"/>
          <p:nvPr/>
        </p:nvSpPr>
        <p:spPr>
          <a:xfrm>
            <a:off x="1965140" y="1423916"/>
            <a:ext cx="794366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dirty="0"/>
              <a:t>Which class had the most students?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What were the lowest &amp; highest scores from each class?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What were the median scores from each class?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Which class could be described as symmetrical and which is skewed?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Which class has the better results</a:t>
            </a:r>
          </a:p>
          <a:p>
            <a:endParaRPr lang="en-AU" sz="2800" dirty="0"/>
          </a:p>
          <a:p>
            <a:endParaRPr lang="en-AU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F96F86-7F20-420F-8C25-D435125F3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418059"/>
              </p:ext>
            </p:extLst>
          </p:nvPr>
        </p:nvGraphicFramePr>
        <p:xfrm>
          <a:off x="9531731" y="2884968"/>
          <a:ext cx="253447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732">
                  <a:extLst>
                    <a:ext uri="{9D8B030D-6E8A-4147-A177-3AD203B41FA5}">
                      <a16:colId xmlns:a16="http://schemas.microsoft.com/office/drawing/2014/main" val="78653123"/>
                    </a:ext>
                  </a:extLst>
                </a:gridCol>
                <a:gridCol w="222719">
                  <a:extLst>
                    <a:ext uri="{9D8B030D-6E8A-4147-A177-3AD203B41FA5}">
                      <a16:colId xmlns:a16="http://schemas.microsoft.com/office/drawing/2014/main" val="4239556631"/>
                    </a:ext>
                  </a:extLst>
                </a:gridCol>
                <a:gridCol w="1282027">
                  <a:extLst>
                    <a:ext uri="{9D8B030D-6E8A-4147-A177-3AD203B41FA5}">
                      <a16:colId xmlns:a16="http://schemas.microsoft.com/office/drawing/2014/main" val="1957620267"/>
                    </a:ext>
                  </a:extLst>
                </a:gridCol>
              </a:tblGrid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Mr Ship’s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Mr Chop’s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96242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3    1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0   1   1   3   5   7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328999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8   8   7   5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2   3   5   5   7   9   9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39828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6   4   4   2   1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8   9   9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08668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7   4   3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0   3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884499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41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47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0531-15D0-4873-9584-A5D5C175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Kahoot </a:t>
            </a:r>
            <a:r>
              <a:rPr lang="en-AU" dirty="0">
                <a:sym typeface="Wingdings" panose="05000000000000000000" pitchFamily="2" charset="2"/>
              </a:rPr>
              <a:t>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EFCBD-A800-4D77-B39F-0E9810B9D9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https://play.kahoot.it/#/k/99182d84-9b43-43fb-a1c9-15598f26f28e</a:t>
            </a:r>
            <a:endParaRPr lang="en-AU" dirty="0"/>
          </a:p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1AB01-B662-473B-9357-4AED97DAF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94220" y="2438399"/>
            <a:ext cx="5097780" cy="3657601"/>
          </a:xfrm>
        </p:spPr>
        <p:txBody>
          <a:bodyPr>
            <a:normAutofit/>
          </a:bodyPr>
          <a:lstStyle/>
          <a:p>
            <a:r>
              <a:rPr lang="en-AU" sz="3200" dirty="0"/>
              <a:t>No phone?</a:t>
            </a:r>
          </a:p>
          <a:p>
            <a:r>
              <a:rPr lang="en-AU" sz="3200" dirty="0"/>
              <a:t>No worries…</a:t>
            </a:r>
          </a:p>
          <a:p>
            <a:r>
              <a:rPr lang="en-AU" sz="3200" dirty="0"/>
              <a:t>Write the answers in your 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0BC891-73AA-4300-B932-48215D4C2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03" y="3407258"/>
            <a:ext cx="36099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9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9B11-32F1-4AC7-AB20-52F51F55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AU" dirty="0"/>
              <a:t>Task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6EAE-3A4C-4E54-B362-132113860B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Worksheet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(back to back) STEM AND LEAF PLOTS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F480F4-AA17-4261-877F-1A7F1252C1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00" t="24444" r="38126" b="13044"/>
          <a:stretch/>
        </p:blipFill>
        <p:spPr>
          <a:xfrm>
            <a:off x="974033" y="225287"/>
            <a:ext cx="4263887" cy="615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02313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473</Words>
  <Application>Microsoft Office PowerPoint</Application>
  <PresentationFormat>Widescreen</PresentationFormat>
  <Paragraphs>127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Century Schoolbook</vt:lpstr>
      <vt:lpstr>Corbel</vt:lpstr>
      <vt:lpstr>Fragment Core</vt:lpstr>
      <vt:lpstr>OpenSans</vt:lpstr>
      <vt:lpstr>Feathered</vt:lpstr>
      <vt:lpstr>INTERACTIVE  NOTBOOK  topic: STATISTICS class: teacher: Semester 2, Term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Kahoot </vt:lpstr>
      <vt:lpstr>Task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 NOTBOOK  topic: STATISTICS class: teacher: Semester 2, Term 3</dc:title>
  <dc:creator>D'SOUZA Jillian [Baldivis Secondary College]</dc:creator>
  <cp:lastModifiedBy>Helen Stone</cp:lastModifiedBy>
  <cp:revision>85</cp:revision>
  <dcterms:created xsi:type="dcterms:W3CDTF">2018-07-17T14:55:16Z</dcterms:created>
  <dcterms:modified xsi:type="dcterms:W3CDTF">2019-08-09T07:59:38Z</dcterms:modified>
</cp:coreProperties>
</file>
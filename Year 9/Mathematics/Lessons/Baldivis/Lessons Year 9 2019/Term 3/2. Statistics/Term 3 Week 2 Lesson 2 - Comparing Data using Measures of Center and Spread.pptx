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8" r:id="rId5"/>
    <p:sldId id="389" r:id="rId6"/>
    <p:sldId id="283" r:id="rId7"/>
    <p:sldId id="485" r:id="rId8"/>
    <p:sldId id="398" r:id="rId9"/>
    <p:sldId id="479" r:id="rId10"/>
    <p:sldId id="486" r:id="rId11"/>
    <p:sldId id="487" r:id="rId12"/>
    <p:sldId id="490" r:id="rId13"/>
    <p:sldId id="489" r:id="rId14"/>
    <p:sldId id="3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5" autoAdjust="0"/>
    <p:restoredTop sz="94549"/>
  </p:normalViewPr>
  <p:slideViewPr>
    <p:cSldViewPr snapToGrid="0">
      <p:cViewPr varScale="1">
        <p:scale>
          <a:sx n="95" d="100"/>
          <a:sy n="95" d="100"/>
        </p:scale>
        <p:origin x="1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7/21/19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7/21/19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13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AU" dirty="0"/>
              <a:t>Draw a dot plot line on the board with the numbers 0-10</a:t>
            </a:r>
          </a:p>
          <a:p>
            <a:pPr marL="171450" indent="-171450">
              <a:buFontTx/>
              <a:buChar char="-"/>
            </a:pPr>
            <a:r>
              <a:rPr lang="en-AU" dirty="0"/>
              <a:t>Hand out post-it note to 15 members of the class, using your discretion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55D62B-E197-44CC-A11E-5AE0BF567D4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0191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292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Hand out this example to students (included in resources)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4232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1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19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4753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9065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228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7/21/19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83629"/>
            <a:ext cx="8694935" cy="7828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EQ: How can we use measures of center and spread to compare data sets?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6255" y="1847949"/>
            <a:ext cx="3541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Starter </a:t>
            </a:r>
            <a:r>
              <a:rPr lang="mr-IN" sz="3600" b="1" dirty="0">
                <a:solidFill>
                  <a:schemeClr val="tx2"/>
                </a:solidFill>
              </a:rPr>
              <a:t>–</a:t>
            </a:r>
            <a:r>
              <a:rPr lang="en-US" sz="3600" b="1" dirty="0">
                <a:solidFill>
                  <a:schemeClr val="tx2"/>
                </a:solidFill>
              </a:rPr>
              <a:t> Daily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39989-AE8F-9D4B-A659-01CC69830142}"/>
              </a:ext>
            </a:extLst>
          </p:cNvPr>
          <p:cNvSpPr txBox="1"/>
          <p:nvPr/>
        </p:nvSpPr>
        <p:spPr>
          <a:xfrm>
            <a:off x="414021" y="2621871"/>
            <a:ext cx="112292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1. Define median.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AU" sz="2400" dirty="0"/>
              <a:t>2. What is the </a:t>
            </a:r>
            <a:r>
              <a:rPr lang="en-CA" sz="2400" dirty="0"/>
              <a:t>most commonly used measure of center?</a:t>
            </a:r>
          </a:p>
          <a:p>
            <a:r>
              <a:rPr lang="en-CA" sz="2400" dirty="0"/>
              <a:t> </a:t>
            </a:r>
            <a:endParaRPr lang="en-US" sz="2400" dirty="0"/>
          </a:p>
          <a:p>
            <a:r>
              <a:rPr lang="en-US" sz="2400" dirty="0"/>
              <a:t>3. Write the formula for finding the shorter side of a right angled triangle</a:t>
            </a:r>
          </a:p>
          <a:p>
            <a:endParaRPr lang="en-US" sz="2400" dirty="0"/>
          </a:p>
          <a:p>
            <a:r>
              <a:rPr lang="en-US" sz="2400" dirty="0"/>
              <a:t>4. Which of the two has gaps in between the columns: bar graph or histogram?</a:t>
            </a:r>
            <a:endParaRPr lang="en-US" sz="2400" baseline="30000" dirty="0"/>
          </a:p>
          <a:p>
            <a:endParaRPr lang="en-US" sz="2400" dirty="0"/>
          </a:p>
          <a:p>
            <a:r>
              <a:rPr lang="en-US" sz="2400" dirty="0"/>
              <a:t>5. Arrange the following data set into a stem and leaf plot: 3, 11, 14, 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05381-5BFD-E74D-A37E-175AA0E4F977}"/>
              </a:ext>
            </a:extLst>
          </p:cNvPr>
          <p:cNvSpPr txBox="1"/>
          <p:nvPr/>
        </p:nvSpPr>
        <p:spPr>
          <a:xfrm>
            <a:off x="67340" y="49373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we use measures of center and spread to compare data sets?</a:t>
            </a:r>
          </a:p>
        </p:txBody>
      </p:sp>
    </p:spTree>
    <p:extLst>
      <p:ext uri="{BB962C8B-B14F-4D97-AF65-F5344CB8AC3E}">
        <p14:creationId xmlns:p14="http://schemas.microsoft.com/office/powerpoint/2010/main" val="80424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3A0C34-0F0B-4683-BA2D-EA42ED42A3A1}"/>
              </a:ext>
            </a:extLst>
          </p:cNvPr>
          <p:cNvSpPr/>
          <p:nvPr/>
        </p:nvSpPr>
        <p:spPr>
          <a:xfrm>
            <a:off x="2958486" y="324070"/>
            <a:ext cx="532721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Class Activity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1F0E91-E5A2-443C-8C57-FB616CCD2A31}"/>
              </a:ext>
            </a:extLst>
          </p:cNvPr>
          <p:cNvSpPr txBox="1"/>
          <p:nvPr/>
        </p:nvSpPr>
        <p:spPr>
          <a:xfrm>
            <a:off x="4864231" y="1875934"/>
            <a:ext cx="60991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b="1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9D714-EA50-496A-9ED8-9D011231FF8C}"/>
              </a:ext>
            </a:extLst>
          </p:cNvPr>
          <p:cNvSpPr txBox="1"/>
          <p:nvPr/>
        </p:nvSpPr>
        <p:spPr>
          <a:xfrm>
            <a:off x="1049312" y="1714100"/>
            <a:ext cx="10498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15 of you have been given Post-It notes.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4D289-3202-448D-B844-127603A9FCC7}"/>
              </a:ext>
            </a:extLst>
          </p:cNvPr>
          <p:cNvSpPr txBox="1"/>
          <p:nvPr/>
        </p:nvSpPr>
        <p:spPr>
          <a:xfrm>
            <a:off x="1184223" y="3191428"/>
            <a:ext cx="10156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AU" sz="2400" dirty="0"/>
              <a:t>Write the number of hours you spent on your phone yesterday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1CAFB-4CDA-4C7B-BE1E-D49E70F07361}"/>
              </a:ext>
            </a:extLst>
          </p:cNvPr>
          <p:cNvSpPr txBox="1"/>
          <p:nvPr/>
        </p:nvSpPr>
        <p:spPr>
          <a:xfrm>
            <a:off x="1184223" y="4210267"/>
            <a:ext cx="10687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2)   Stick your Post-It note on the dot plot line on the board above the corresponding number</a:t>
            </a:r>
          </a:p>
          <a:p>
            <a:endParaRPr lang="en-A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446085-2E3A-4408-B093-613FD4AAA8DE}"/>
              </a:ext>
            </a:extLst>
          </p:cNvPr>
          <p:cNvSpPr txBox="1"/>
          <p:nvPr/>
        </p:nvSpPr>
        <p:spPr>
          <a:xfrm>
            <a:off x="1184222" y="5272879"/>
            <a:ext cx="10013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3)  Working in pairs, find the mean, median, mode and range of the data set.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2913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88E073-4E91-2C41-8D34-8C36D9808F20}"/>
              </a:ext>
            </a:extLst>
          </p:cNvPr>
          <p:cNvSpPr txBox="1"/>
          <p:nvPr/>
        </p:nvSpPr>
        <p:spPr>
          <a:xfrm>
            <a:off x="67340" y="49373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we use measures of center and spread to compare data sets?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19D0CEB-6EAB-5549-AA04-779D20FC3454}"/>
              </a:ext>
            </a:extLst>
          </p:cNvPr>
          <p:cNvSpPr txBox="1">
            <a:spLocks/>
          </p:cNvSpPr>
          <p:nvPr/>
        </p:nvSpPr>
        <p:spPr>
          <a:xfrm>
            <a:off x="67340" y="1906518"/>
            <a:ext cx="12124660" cy="7617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b="1" u="sng" dirty="0"/>
              <a:t>Symmetry and skew</a:t>
            </a:r>
            <a:r>
              <a:rPr lang="en-US" sz="2400" dirty="0"/>
              <a:t>: We need to be able to describe what we see in a statistical graph. A </a:t>
            </a:r>
            <a:r>
              <a:rPr lang="en-US" sz="2400" b="1" dirty="0"/>
              <a:t>symmetrical</a:t>
            </a:r>
            <a:r>
              <a:rPr lang="en-US" sz="2400" dirty="0"/>
              <a:t> graph has frequencies that are evenly distributed about the median. A </a:t>
            </a:r>
            <a:r>
              <a:rPr lang="en-US" sz="2400" b="1" dirty="0"/>
              <a:t>skewed</a:t>
            </a:r>
            <a:r>
              <a:rPr lang="en-US" sz="2400" dirty="0"/>
              <a:t> graph has higher frequencies on either side of the median.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19C6A-94D5-4949-AA22-A1E0ECD41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93" y="2582952"/>
            <a:ext cx="7913508" cy="13387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91D6C9-7E73-614F-A315-7FDF1D7E5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93" y="3902391"/>
            <a:ext cx="7913508" cy="1309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9EAC12-8DB6-2C49-8784-02B508DC0A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394" y="5155805"/>
            <a:ext cx="7913508" cy="143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3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dirty="0"/>
              <a:t>Match the Distributions Worksheet</a:t>
            </a:r>
            <a:endParaRPr lang="en-AU" sz="2800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A88E073-4E91-2C41-8D34-8C36D9808F20}"/>
              </a:ext>
            </a:extLst>
          </p:cNvPr>
          <p:cNvSpPr txBox="1"/>
          <p:nvPr/>
        </p:nvSpPr>
        <p:spPr>
          <a:xfrm>
            <a:off x="67340" y="49373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Statistics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we use measures of center and spread to compare data sets?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89D7A3C-2714-844B-B2C0-C0AC014E38CA}"/>
              </a:ext>
            </a:extLst>
          </p:cNvPr>
          <p:cNvSpPr txBox="1">
            <a:spLocks/>
          </p:cNvSpPr>
          <p:nvPr/>
        </p:nvSpPr>
        <p:spPr>
          <a:xfrm>
            <a:off x="67340" y="1899468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/>
              <a:t>Why do we compare data?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0D4B8C-E9EF-2444-AE94-C1D7CDA316E5}"/>
              </a:ext>
            </a:extLst>
          </p:cNvPr>
          <p:cNvSpPr txBox="1"/>
          <p:nvPr/>
        </p:nvSpPr>
        <p:spPr>
          <a:xfrm>
            <a:off x="1813810" y="1858063"/>
            <a:ext cx="103108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We can use different data representations (i.e. back to back stem and leaf plots or histograms) </a:t>
            </a:r>
            <a:r>
              <a:rPr lang="en-AU" sz="2400" dirty="0"/>
              <a:t>to compare two different sets of data about the same topic.</a:t>
            </a:r>
          </a:p>
          <a:p>
            <a:r>
              <a:rPr lang="en-AU" sz="2400" dirty="0"/>
              <a:t>Comparisons need to include:  - data representation - Analysis (mean, median, mode, range, etc…)  - conclusion paragraph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C53850B-A30A-664E-BA06-06A3B657DC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15" t="21001" r="25187" b="26894"/>
          <a:stretch/>
        </p:blipFill>
        <p:spPr>
          <a:xfrm>
            <a:off x="2720765" y="3415838"/>
            <a:ext cx="6036278" cy="3442161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FA94AE9-7413-2249-8A98-B243EBEF77B3}"/>
              </a:ext>
            </a:extLst>
          </p:cNvPr>
          <p:cNvSpPr txBox="1">
            <a:spLocks/>
          </p:cNvSpPr>
          <p:nvPr/>
        </p:nvSpPr>
        <p:spPr>
          <a:xfrm>
            <a:off x="0" y="3270623"/>
            <a:ext cx="2016209" cy="792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38" indent="-22383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383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63" indent="-1714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7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088" indent="-17303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752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496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7984" indent="-173736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dirty="0"/>
              <a:t>Stem and leaf example: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0557F9-F238-9D47-8A42-96054D470493}"/>
              </a:ext>
            </a:extLst>
          </p:cNvPr>
          <p:cNvSpPr txBox="1"/>
          <p:nvPr/>
        </p:nvSpPr>
        <p:spPr>
          <a:xfrm>
            <a:off x="9139818" y="3331018"/>
            <a:ext cx="283019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We are comparing test data from two different classes. We want to find out which class did better.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81F1DA-D905-F945-8BAB-62428206DFF4}"/>
              </a:ext>
            </a:extLst>
          </p:cNvPr>
          <p:cNvSpPr txBox="1"/>
          <p:nvPr/>
        </p:nvSpPr>
        <p:spPr>
          <a:xfrm>
            <a:off x="74867" y="5471723"/>
            <a:ext cx="2324118" cy="1243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Start calculating mean median and mode!</a:t>
            </a:r>
          </a:p>
        </p:txBody>
      </p:sp>
    </p:spTree>
    <p:extLst>
      <p:ext uri="{BB962C8B-B14F-4D97-AF65-F5344CB8AC3E}">
        <p14:creationId xmlns:p14="http://schemas.microsoft.com/office/powerpoint/2010/main" val="1369917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AC211D5-B737-874D-95F4-0414CE9663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15" t="21644" r="26369" b="11139"/>
          <a:stretch/>
        </p:blipFill>
        <p:spPr>
          <a:xfrm>
            <a:off x="1952284" y="121714"/>
            <a:ext cx="8784976" cy="66145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B94835-DD97-9C4B-AF31-D32178EAC85E}"/>
              </a:ext>
            </a:extLst>
          </p:cNvPr>
          <p:cNvSpPr txBox="1"/>
          <p:nvPr/>
        </p:nvSpPr>
        <p:spPr>
          <a:xfrm>
            <a:off x="2927648" y="2518824"/>
            <a:ext cx="1512168" cy="2542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76.07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No mode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74212-A8BE-6741-B58F-573BAB7EBC03}"/>
              </a:ext>
            </a:extLst>
          </p:cNvPr>
          <p:cNvSpPr txBox="1"/>
          <p:nvPr/>
        </p:nvSpPr>
        <p:spPr>
          <a:xfrm>
            <a:off x="8184232" y="2519604"/>
            <a:ext cx="1512168" cy="2542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75.86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67, 69, 79</a:t>
            </a:r>
          </a:p>
          <a:p>
            <a:pPr>
              <a:lnSpc>
                <a:spcPct val="150000"/>
              </a:lnSpc>
            </a:pPr>
            <a:r>
              <a:rPr lang="en-AU" dirty="0">
                <a:solidFill>
                  <a:srgbClr val="FF0000"/>
                </a:solidFill>
              </a:rPr>
              <a:t>33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B5D148-7DF9-0840-800D-0F5F9BBA7F4C}"/>
              </a:ext>
            </a:extLst>
          </p:cNvPr>
          <p:cNvSpPr txBox="1"/>
          <p:nvPr/>
        </p:nvSpPr>
        <p:spPr>
          <a:xfrm>
            <a:off x="1952284" y="5445225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positive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1ADD88-12DD-C448-8C48-2EEF4E5E1673}"/>
              </a:ext>
            </a:extLst>
          </p:cNvPr>
          <p:cNvSpPr txBox="1"/>
          <p:nvPr/>
        </p:nvSpPr>
        <p:spPr>
          <a:xfrm>
            <a:off x="4367808" y="543481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means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73632-822B-284D-8488-EEF0FFBC43A2}"/>
              </a:ext>
            </a:extLst>
          </p:cNvPr>
          <p:cNvSpPr txBox="1"/>
          <p:nvPr/>
        </p:nvSpPr>
        <p:spPr>
          <a:xfrm>
            <a:off x="2005764" y="5697456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medians</a:t>
            </a:r>
          </a:p>
        </p:txBody>
      </p:sp>
    </p:spTree>
    <p:extLst>
      <p:ext uri="{BB962C8B-B14F-4D97-AF65-F5344CB8AC3E}">
        <p14:creationId xmlns:p14="http://schemas.microsoft.com/office/powerpoint/2010/main" val="250390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60DCC1-2F0B-4695-8FD0-4D81319A26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71" t="19543" r="24597" b="10090"/>
          <a:stretch/>
        </p:blipFill>
        <p:spPr>
          <a:xfrm>
            <a:off x="1055440" y="116631"/>
            <a:ext cx="8928992" cy="63642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C87AC4-6F99-4E1D-9BF7-9014C5CE4733}"/>
              </a:ext>
            </a:extLst>
          </p:cNvPr>
          <p:cNvSpPr txBox="1"/>
          <p:nvPr/>
        </p:nvSpPr>
        <p:spPr>
          <a:xfrm>
            <a:off x="911424" y="908720"/>
            <a:ext cx="187220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</a:rPr>
              <a:t>Again…..We are comparing test data from two different classes. We want to find out which class did better.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02B77-6644-4E80-9222-A913E54A3FA4}"/>
              </a:ext>
            </a:extLst>
          </p:cNvPr>
          <p:cNvSpPr txBox="1"/>
          <p:nvPr/>
        </p:nvSpPr>
        <p:spPr>
          <a:xfrm>
            <a:off x="74637" y="2975608"/>
            <a:ext cx="27363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Start calculating mean median and range!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3B833-CF53-4013-9F8C-7AC8BF6BD9CE}"/>
              </a:ext>
            </a:extLst>
          </p:cNvPr>
          <p:cNvSpPr txBox="1"/>
          <p:nvPr/>
        </p:nvSpPr>
        <p:spPr>
          <a:xfrm>
            <a:off x="3791744" y="3140969"/>
            <a:ext cx="1008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72.29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74.9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8531A-3270-472D-82B3-EC1DF2901EC0}"/>
              </a:ext>
            </a:extLst>
          </p:cNvPr>
          <p:cNvSpPr txBox="1"/>
          <p:nvPr/>
        </p:nvSpPr>
        <p:spPr>
          <a:xfrm>
            <a:off x="8688288" y="3140968"/>
            <a:ext cx="10081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75.86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74.9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2E15B-D796-4490-A217-05170156AC94}"/>
              </a:ext>
            </a:extLst>
          </p:cNvPr>
          <p:cNvSpPr txBox="1"/>
          <p:nvPr/>
        </p:nvSpPr>
        <p:spPr>
          <a:xfrm>
            <a:off x="7432823" y="5445225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positive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C771C-D62C-4360-85F3-3133E45DE2F0}"/>
              </a:ext>
            </a:extLst>
          </p:cNvPr>
          <p:cNvSpPr txBox="1"/>
          <p:nvPr/>
        </p:nvSpPr>
        <p:spPr>
          <a:xfrm>
            <a:off x="3624027" y="5669639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negative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D62B23-1AED-4C21-8A27-BAA2119EEEF5}"/>
              </a:ext>
            </a:extLst>
          </p:cNvPr>
          <p:cNvSpPr txBox="1"/>
          <p:nvPr/>
        </p:nvSpPr>
        <p:spPr>
          <a:xfrm>
            <a:off x="6528048" y="5669638"/>
            <a:ext cx="1224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higher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83313-4C9E-4A5A-A8BB-50B1885FAB5C}"/>
              </a:ext>
            </a:extLst>
          </p:cNvPr>
          <p:cNvSpPr txBox="1"/>
          <p:nvPr/>
        </p:nvSpPr>
        <p:spPr>
          <a:xfrm>
            <a:off x="6564052" y="5921387"/>
            <a:ext cx="302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has a slightly better performance</a:t>
            </a:r>
          </a:p>
        </p:txBody>
      </p:sp>
    </p:spTree>
    <p:extLst>
      <p:ext uri="{BB962C8B-B14F-4D97-AF65-F5344CB8AC3E}">
        <p14:creationId xmlns:p14="http://schemas.microsoft.com/office/powerpoint/2010/main" val="8341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dirty="0"/>
              <a:t>Comparing Data Sets Worksheet</a:t>
            </a:r>
            <a:endParaRPr lang="en-AU" sz="2800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95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b="1" dirty="0"/>
              <a:t>Statistics Foldable</a:t>
            </a:r>
          </a:p>
          <a:p>
            <a:pPr marL="0" indent="0" algn="ctr">
              <a:buNone/>
            </a:pPr>
            <a:r>
              <a:rPr lang="en-CA" sz="2800" dirty="0"/>
              <a:t>- Do everything EXCEPT Box Plot and Upper and Lower Quartile</a:t>
            </a:r>
            <a:endParaRPr lang="en-AU" sz="2800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70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Remember…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2190749"/>
            <a:ext cx="11058144" cy="4124707"/>
          </a:xfrm>
        </p:spPr>
        <p:txBody>
          <a:bodyPr>
            <a:normAutofit/>
          </a:bodyPr>
          <a:lstStyle/>
          <a:p>
            <a:r>
              <a:rPr lang="en-AU" sz="2800" dirty="0"/>
              <a:t>Write a summary answering the essential question. </a:t>
            </a:r>
          </a:p>
          <a:p>
            <a:r>
              <a:rPr lang="en-AU" sz="2800" dirty="0"/>
              <a:t>Review Notes</a:t>
            </a:r>
          </a:p>
        </p:txBody>
      </p:sp>
    </p:spTree>
    <p:extLst>
      <p:ext uri="{BB962C8B-B14F-4D97-AF65-F5344CB8AC3E}">
        <p14:creationId xmlns:p14="http://schemas.microsoft.com/office/powerpoint/2010/main" val="40148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501</Words>
  <Application>Microsoft Macintosh PowerPoint</Application>
  <PresentationFormat>Widescreen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Education 16x9</vt:lpstr>
      <vt:lpstr>Topic: Statistics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Homework</vt:lpstr>
      <vt:lpstr>Remember…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2019-07-21T12:42:29Z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
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8" r:id="rId5"/>
    <p:sldId id="389" r:id="rId6"/>
    <p:sldId id="262" r:id="rId7"/>
    <p:sldId id="268" r:id="rId8"/>
    <p:sldId id="491" r:id="rId9"/>
    <p:sldId id="492" r:id="rId10"/>
    <p:sldId id="493" r:id="rId11"/>
    <p:sldId id="398" r:id="rId12"/>
    <p:sldId id="391" r:id="rId13"/>
    <p:sldId id="49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5" autoAdjust="0"/>
    <p:restoredTop sz="94549"/>
  </p:normalViewPr>
  <p:slideViewPr>
    <p:cSldViewPr snapToGrid="0">
      <p:cViewPr varScale="1">
        <p:scale>
          <a:sx n="90" d="100"/>
          <a:sy n="90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7/22/19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7/22/19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613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6747C-3A81-4C8A-9E0A-298945C46BB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7597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5428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4392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6923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8293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228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4103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7/22/19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7/22/19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7/22/19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7/22/19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83629"/>
            <a:ext cx="8694935" cy="7828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EQ: How can we use statistical language to describe steam and leaf plots?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6255" y="1847949"/>
            <a:ext cx="3541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Starter </a:t>
            </a:r>
            <a:r>
              <a:rPr lang="mr-IN" sz="3600" b="1" dirty="0">
                <a:solidFill>
                  <a:schemeClr val="tx2"/>
                </a:solidFill>
              </a:rPr>
              <a:t>–</a:t>
            </a:r>
            <a:r>
              <a:rPr lang="en-US" sz="3600" b="1" dirty="0">
                <a:solidFill>
                  <a:schemeClr val="tx2"/>
                </a:solidFill>
              </a:rPr>
              <a:t> Daily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39989-AE8F-9D4B-A659-01CC69830142}"/>
              </a:ext>
            </a:extLst>
          </p:cNvPr>
          <p:cNvSpPr txBox="1"/>
          <p:nvPr/>
        </p:nvSpPr>
        <p:spPr>
          <a:xfrm>
            <a:off x="481361" y="2333685"/>
            <a:ext cx="112292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1. Which side does is the ‘tail’ on a graph with a negative skew?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r>
              <a:rPr lang="en-AU" sz="2400" dirty="0"/>
              <a:t>2. A full water tank has sprung a leak. It loses 5% of its contents every minute. Work out         how long until the tank loses 40% of its contents. </a:t>
            </a:r>
          </a:p>
          <a:p>
            <a:endParaRPr lang="en-US" sz="2400" dirty="0"/>
          </a:p>
          <a:p>
            <a:r>
              <a:rPr lang="en-US" sz="2400" dirty="0"/>
              <a:t>3. Write the sample space for flipping a coin twice</a:t>
            </a:r>
          </a:p>
          <a:p>
            <a:endParaRPr lang="en-US" sz="2400" dirty="0"/>
          </a:p>
          <a:p>
            <a:r>
              <a:rPr lang="en-US" sz="2400" dirty="0"/>
              <a:t>4. What is the median and range of the following set of numbers: 2,3,7,9,13,19</a:t>
            </a:r>
            <a:endParaRPr lang="en-US" sz="2400" baseline="30000" dirty="0"/>
          </a:p>
          <a:p>
            <a:endParaRPr lang="en-US" sz="2400" dirty="0"/>
          </a:p>
          <a:p>
            <a:r>
              <a:rPr lang="en-US" sz="2400" dirty="0"/>
              <a:t>5. Draw a picture of a histogram that is bi-modal (think about the peak on a symmetrical graph)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05381-5BFD-E74D-A37E-175AA0E4F977}"/>
              </a:ext>
            </a:extLst>
          </p:cNvPr>
          <p:cNvSpPr txBox="1"/>
          <p:nvPr/>
        </p:nvSpPr>
        <p:spPr>
          <a:xfrm>
            <a:off x="67340" y="493732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Statistics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How can we use statistical language to describe stem and leaf plots?</a:t>
            </a:r>
          </a:p>
        </p:txBody>
      </p:sp>
    </p:spTree>
    <p:extLst>
      <p:ext uri="{BB962C8B-B14F-4D97-AF65-F5344CB8AC3E}">
        <p14:creationId xmlns:p14="http://schemas.microsoft.com/office/powerpoint/2010/main" val="80424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8B68FB-8CA3-4B94-8E94-C662AED48A44}"/>
              </a:ext>
            </a:extLst>
          </p:cNvPr>
          <p:cNvSpPr/>
          <p:nvPr/>
        </p:nvSpPr>
        <p:spPr>
          <a:xfrm>
            <a:off x="374103" y="132472"/>
            <a:ext cx="1118510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Activity – say it, show it, explain it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62F99C-3F6F-4011-8990-7E654C081C8E}"/>
              </a:ext>
            </a:extLst>
          </p:cNvPr>
          <p:cNvSpPr txBox="1"/>
          <p:nvPr/>
        </p:nvSpPr>
        <p:spPr>
          <a:xfrm>
            <a:off x="3753302" y="1194950"/>
            <a:ext cx="864437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The numbers below represent the percentage that students received on their Science test.</a:t>
            </a:r>
          </a:p>
          <a:p>
            <a:endParaRPr lang="en-AU" sz="2400" dirty="0"/>
          </a:p>
          <a:p>
            <a:r>
              <a:rPr lang="en-AU" sz="2400" dirty="0"/>
              <a:t>Can you organise the information so that it is easier to understand.</a:t>
            </a:r>
          </a:p>
          <a:p>
            <a:endParaRPr lang="en-AU" sz="2800" dirty="0"/>
          </a:p>
          <a:p>
            <a:pPr algn="ctr"/>
            <a:r>
              <a:rPr lang="en-AU" sz="4000" dirty="0"/>
              <a:t>56, 64, 68, 69, 55, 56, 69, </a:t>
            </a:r>
          </a:p>
          <a:p>
            <a:pPr algn="ctr"/>
            <a:r>
              <a:rPr lang="en-AU" sz="4000" dirty="0"/>
              <a:t>58, 55, 66, 49, 49, 63, 72,</a:t>
            </a:r>
          </a:p>
          <a:p>
            <a:pPr algn="ctr"/>
            <a:r>
              <a:rPr lang="en-AU" sz="4000" dirty="0"/>
              <a:t>75, 78, 55, 53, 42, 60, 85,</a:t>
            </a:r>
          </a:p>
          <a:p>
            <a:endParaRPr lang="en-AU" sz="4000" dirty="0"/>
          </a:p>
          <a:p>
            <a:r>
              <a:rPr lang="en-AU" sz="2400" dirty="0"/>
              <a:t>With a partner say what you did, show what you did, explain what you did.</a:t>
            </a:r>
          </a:p>
          <a:p>
            <a:endParaRPr lang="en-AU" sz="4000" dirty="0"/>
          </a:p>
          <a:p>
            <a:endParaRPr lang="en-AU" sz="4000" dirty="0"/>
          </a:p>
        </p:txBody>
      </p:sp>
      <p:pic>
        <p:nvPicPr>
          <p:cNvPr id="2050" name="Picture 2" descr="tests GIF">
            <a:extLst>
              <a:ext uri="{FF2B5EF4-FFF2-40B4-BE49-F238E27FC236}">
                <a16:creationId xmlns:a16="http://schemas.microsoft.com/office/drawing/2014/main" id="{F510A308-C2B3-47FD-8810-3AD40A02A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72" y="2872408"/>
            <a:ext cx="3457661" cy="261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4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09915F-F267-4189-A88F-4DFC3347295C}"/>
              </a:ext>
            </a:extLst>
          </p:cNvPr>
          <p:cNvSpPr/>
          <p:nvPr/>
        </p:nvSpPr>
        <p:spPr>
          <a:xfrm>
            <a:off x="1896999" y="84987"/>
            <a:ext cx="827874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did you come up with?</a:t>
            </a: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497CC6-1E8B-43B9-A966-A46FCDFDF43F}"/>
              </a:ext>
            </a:extLst>
          </p:cNvPr>
          <p:cNvSpPr/>
          <p:nvPr/>
        </p:nvSpPr>
        <p:spPr>
          <a:xfrm>
            <a:off x="2248921" y="2243403"/>
            <a:ext cx="27504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Table?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B749B-024B-4144-B2A6-FD3D6E511022}"/>
              </a:ext>
            </a:extLst>
          </p:cNvPr>
          <p:cNvSpPr/>
          <p:nvPr/>
        </p:nvSpPr>
        <p:spPr>
          <a:xfrm>
            <a:off x="7569669" y="2415682"/>
            <a:ext cx="275047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Dot plot?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D36FE0-0BC0-4D11-BF14-82A0BCE828E5}"/>
              </a:ext>
            </a:extLst>
          </p:cNvPr>
          <p:cNvSpPr/>
          <p:nvPr/>
        </p:nvSpPr>
        <p:spPr>
          <a:xfrm>
            <a:off x="1390843" y="4287552"/>
            <a:ext cx="27504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graph?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582431-F1CB-4E29-8928-0911B82CCD1A}"/>
              </a:ext>
            </a:extLst>
          </p:cNvPr>
          <p:cNvSpPr/>
          <p:nvPr/>
        </p:nvSpPr>
        <p:spPr>
          <a:xfrm>
            <a:off x="6482991" y="4549282"/>
            <a:ext cx="339650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Frequency table?</a:t>
            </a:r>
          </a:p>
        </p:txBody>
      </p:sp>
    </p:spTree>
    <p:extLst>
      <p:ext uri="{BB962C8B-B14F-4D97-AF65-F5344CB8AC3E}">
        <p14:creationId xmlns:p14="http://schemas.microsoft.com/office/powerpoint/2010/main" val="156851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D05381-5BFD-E74D-A37E-175AA0E4F977}"/>
              </a:ext>
            </a:extLst>
          </p:cNvPr>
          <p:cNvSpPr txBox="1"/>
          <p:nvPr/>
        </p:nvSpPr>
        <p:spPr>
          <a:xfrm>
            <a:off x="67340" y="493732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Statistics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How can we use statistical language to describe stem and leaf plots?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7F800-460A-A341-BE4F-A6B1DBFEB8D8}"/>
              </a:ext>
            </a:extLst>
          </p:cNvPr>
          <p:cNvSpPr txBox="1"/>
          <p:nvPr/>
        </p:nvSpPr>
        <p:spPr>
          <a:xfrm>
            <a:off x="3067879" y="1830009"/>
            <a:ext cx="91241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2400" dirty="0"/>
              <a:t>A Stem and Leaf Plot is a plot where </a:t>
            </a:r>
            <a:r>
              <a:rPr lang="en-AU" altLang="en-US" sz="2400" b="1" dirty="0"/>
              <a:t>each data value is split </a:t>
            </a:r>
            <a:r>
              <a:rPr lang="en-AU" altLang="en-US" sz="2400" dirty="0"/>
              <a:t>into a </a:t>
            </a:r>
            <a:r>
              <a:rPr lang="en-AU" altLang="en-US" sz="2400" b="1" dirty="0"/>
              <a:t>"leaf" </a:t>
            </a:r>
            <a:r>
              <a:rPr lang="en-AU" altLang="en-US" sz="2400" dirty="0"/>
              <a:t>and a </a:t>
            </a:r>
            <a:r>
              <a:rPr lang="en-AU" altLang="en-US" sz="2400" b="1" dirty="0"/>
              <a:t>"stem“.</a:t>
            </a:r>
          </a:p>
          <a:p>
            <a:r>
              <a:rPr lang="en-AU" sz="2400" dirty="0"/>
              <a:t>Example:		36			81</a:t>
            </a:r>
            <a:endParaRPr lang="en-AU" sz="2400" b="1" dirty="0"/>
          </a:p>
          <a:p>
            <a:endParaRPr lang="en-AU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DFA3D6-789A-7F47-A39B-1FF66FBBB1DD}"/>
              </a:ext>
            </a:extLst>
          </p:cNvPr>
          <p:cNvSpPr/>
          <p:nvPr/>
        </p:nvSpPr>
        <p:spPr>
          <a:xfrm>
            <a:off x="-65467" y="1830009"/>
            <a:ext cx="28953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altLang="en-US" sz="2800" b="1" dirty="0">
                <a:latin typeface="Fragment Core" panose="02000504040000020003" pitchFamily="50" charset="0"/>
              </a:rPr>
              <a:t>Recap: What are Stem and </a:t>
            </a:r>
          </a:p>
          <a:p>
            <a:pPr algn="ctr"/>
            <a:r>
              <a:rPr lang="en-AU" altLang="en-US" sz="2800" b="1" dirty="0">
                <a:latin typeface="Fragment Core" panose="02000504040000020003" pitchFamily="50" charset="0"/>
              </a:rPr>
              <a:t>Leaf Plots?</a:t>
            </a:r>
          </a:p>
        </p:txBody>
      </p:sp>
      <p:sp>
        <p:nvSpPr>
          <p:cNvPr id="10" name="AutoShape 2" descr="dance art GIF">
            <a:extLst>
              <a:ext uri="{FF2B5EF4-FFF2-40B4-BE49-F238E27FC236}">
                <a16:creationId xmlns:a16="http://schemas.microsoft.com/office/drawing/2014/main" id="{DD935102-9E35-3C49-936C-2CC15D048C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91739" y="30775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F76F2A-A935-9D46-BC0A-60DC470C538A}"/>
              </a:ext>
            </a:extLst>
          </p:cNvPr>
          <p:cNvCxnSpPr>
            <a:cxnSpLocks/>
          </p:cNvCxnSpPr>
          <p:nvPr/>
        </p:nvCxnSpPr>
        <p:spPr>
          <a:xfrm flipH="1">
            <a:off x="5321717" y="2954492"/>
            <a:ext cx="616226" cy="7056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13B9F2-C420-E544-8AF3-4E82B7ED8A63}"/>
              </a:ext>
            </a:extLst>
          </p:cNvPr>
          <p:cNvCxnSpPr>
            <a:cxnSpLocks/>
          </p:cNvCxnSpPr>
          <p:nvPr/>
        </p:nvCxnSpPr>
        <p:spPr>
          <a:xfrm>
            <a:off x="6119765" y="2960570"/>
            <a:ext cx="586409" cy="6907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7AA1226-4C6F-A14A-A16C-F552A2109192}"/>
              </a:ext>
            </a:extLst>
          </p:cNvPr>
          <p:cNvSpPr txBox="1"/>
          <p:nvPr/>
        </p:nvSpPr>
        <p:spPr>
          <a:xfrm>
            <a:off x="4897863" y="3609597"/>
            <a:ext cx="68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4C9675-DEB2-6245-835F-A0863A057716}"/>
              </a:ext>
            </a:extLst>
          </p:cNvPr>
          <p:cNvSpPr txBox="1"/>
          <p:nvPr/>
        </p:nvSpPr>
        <p:spPr>
          <a:xfrm>
            <a:off x="6505123" y="3649987"/>
            <a:ext cx="586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leaf</a:t>
            </a:r>
          </a:p>
        </p:txBody>
      </p:sp>
      <p:sp>
        <p:nvSpPr>
          <p:cNvPr id="15" name="AutoShape 4" descr="dance art GIF">
            <a:extLst>
              <a:ext uri="{FF2B5EF4-FFF2-40B4-BE49-F238E27FC236}">
                <a16:creationId xmlns:a16="http://schemas.microsoft.com/office/drawing/2014/main" id="{D95E10D7-6E82-0F47-8128-68FC8ECF69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44139" y="32299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6" name="AutoShape 2" descr="dance art GIF">
            <a:extLst>
              <a:ext uri="{FF2B5EF4-FFF2-40B4-BE49-F238E27FC236}">
                <a16:creationId xmlns:a16="http://schemas.microsoft.com/office/drawing/2014/main" id="{C8C9E018-9A76-4743-914E-95D1632600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11224" y="32915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67E6CC-8632-3148-8C5B-02180E156C9F}"/>
              </a:ext>
            </a:extLst>
          </p:cNvPr>
          <p:cNvCxnSpPr>
            <a:cxnSpLocks/>
          </p:cNvCxnSpPr>
          <p:nvPr/>
        </p:nvCxnSpPr>
        <p:spPr>
          <a:xfrm flipH="1">
            <a:off x="8085742" y="2941289"/>
            <a:ext cx="616226" cy="7056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791736B-230B-494C-94F6-ECCD9A2BC57E}"/>
              </a:ext>
            </a:extLst>
          </p:cNvPr>
          <p:cNvCxnSpPr>
            <a:cxnSpLocks/>
          </p:cNvCxnSpPr>
          <p:nvPr/>
        </p:nvCxnSpPr>
        <p:spPr>
          <a:xfrm>
            <a:off x="8922161" y="2946124"/>
            <a:ext cx="586409" cy="6907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6FC0B43-5B82-784D-A2E7-E65A10F1D578}"/>
              </a:ext>
            </a:extLst>
          </p:cNvPr>
          <p:cNvSpPr txBox="1"/>
          <p:nvPr/>
        </p:nvSpPr>
        <p:spPr>
          <a:xfrm>
            <a:off x="7691094" y="3626016"/>
            <a:ext cx="713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93A3DD-7DB1-C94F-BB20-24D2EB1460F1}"/>
              </a:ext>
            </a:extLst>
          </p:cNvPr>
          <p:cNvSpPr txBox="1"/>
          <p:nvPr/>
        </p:nvSpPr>
        <p:spPr>
          <a:xfrm>
            <a:off x="9271585" y="3626016"/>
            <a:ext cx="586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CD5401-5127-104B-9A61-D3468AB09DF2}"/>
              </a:ext>
            </a:extLst>
          </p:cNvPr>
          <p:cNvSpPr/>
          <p:nvPr/>
        </p:nvSpPr>
        <p:spPr>
          <a:xfrm>
            <a:off x="316969" y="4886940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dirty="0"/>
              <a:t>How do we put it together?</a:t>
            </a:r>
          </a:p>
          <a:p>
            <a:r>
              <a:rPr lang="en-AU" sz="2400" dirty="0"/>
              <a:t>Example: 35, 42, 55, 49, 39, 40, 55, 33, 51</a:t>
            </a:r>
          </a:p>
          <a:p>
            <a:r>
              <a:rPr lang="en-AU" sz="2400" dirty="0"/>
              <a:t>-fill in the rest</a:t>
            </a:r>
          </a:p>
          <a:p>
            <a:endParaRPr lang="en-AU" sz="2400" dirty="0"/>
          </a:p>
          <a:p>
            <a:r>
              <a:rPr lang="en-AU" sz="2400" dirty="0"/>
              <a:t>NOT DONE YET – </a:t>
            </a:r>
            <a:r>
              <a:rPr lang="en-AU" sz="2400" b="1" u="sng" dirty="0"/>
              <a:t>PUT ‘leaves’ IN ORDER</a:t>
            </a:r>
          </a:p>
        </p:txBody>
      </p:sp>
      <p:sp>
        <p:nvSpPr>
          <p:cNvPr id="21" name="AutoShape 9">
            <a:extLst>
              <a:ext uri="{FF2B5EF4-FFF2-40B4-BE49-F238E27FC236}">
                <a16:creationId xmlns:a16="http://schemas.microsoft.com/office/drawing/2014/main" id="{63454652-17AC-3947-B0B8-A7CDEF93E537}"/>
              </a:ext>
            </a:extLst>
          </p:cNvPr>
          <p:cNvSpPr>
            <a:spLocks noChangeArrowheads="1"/>
          </p:cNvSpPr>
          <p:nvPr/>
        </p:nvSpPr>
        <p:spPr bwMode="auto">
          <a:xfrm rot="2376432">
            <a:off x="1535223" y="5269057"/>
            <a:ext cx="439737" cy="466725"/>
          </a:xfrm>
          <a:prstGeom prst="plus">
            <a:avLst>
              <a:gd name="adj" fmla="val 43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2" name="AutoShape 9">
            <a:extLst>
              <a:ext uri="{FF2B5EF4-FFF2-40B4-BE49-F238E27FC236}">
                <a16:creationId xmlns:a16="http://schemas.microsoft.com/office/drawing/2014/main" id="{7E4239F4-EDC2-A74C-A3AD-7E40B9901A2B}"/>
              </a:ext>
            </a:extLst>
          </p:cNvPr>
          <p:cNvSpPr>
            <a:spLocks noChangeArrowheads="1"/>
          </p:cNvSpPr>
          <p:nvPr/>
        </p:nvSpPr>
        <p:spPr bwMode="auto">
          <a:xfrm rot="2376432">
            <a:off x="1961647" y="5269056"/>
            <a:ext cx="439737" cy="466725"/>
          </a:xfrm>
          <a:prstGeom prst="plus">
            <a:avLst>
              <a:gd name="adj" fmla="val 43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76A26CC-9D4E-BB48-BEDF-BD98A94AB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828871"/>
              </p:ext>
            </p:extLst>
          </p:nvPr>
        </p:nvGraphicFramePr>
        <p:xfrm>
          <a:off x="7557486" y="5074342"/>
          <a:ext cx="3197590" cy="15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880">
                  <a:extLst>
                    <a:ext uri="{9D8B030D-6E8A-4147-A177-3AD203B41FA5}">
                      <a16:colId xmlns:a16="http://schemas.microsoft.com/office/drawing/2014/main" val="2328001400"/>
                    </a:ext>
                  </a:extLst>
                </a:gridCol>
                <a:gridCol w="2528710">
                  <a:extLst>
                    <a:ext uri="{9D8B030D-6E8A-4147-A177-3AD203B41FA5}">
                      <a16:colId xmlns:a16="http://schemas.microsoft.com/office/drawing/2014/main" val="1022589130"/>
                    </a:ext>
                  </a:extLst>
                </a:gridCol>
              </a:tblGrid>
              <a:tr h="505735">
                <a:tc>
                  <a:txBody>
                    <a:bodyPr/>
                    <a:lstStyle/>
                    <a:p>
                      <a:pPr algn="r"/>
                      <a:r>
                        <a:rPr lang="en-AU" sz="2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221327"/>
                  </a:ext>
                </a:extLst>
              </a:tr>
              <a:tr h="505735">
                <a:tc>
                  <a:txBody>
                    <a:bodyPr/>
                    <a:lstStyle/>
                    <a:p>
                      <a:pPr algn="r"/>
                      <a:endParaRPr lang="en-A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A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462390"/>
                  </a:ext>
                </a:extLst>
              </a:tr>
              <a:tr h="505735">
                <a:tc>
                  <a:txBody>
                    <a:bodyPr/>
                    <a:lstStyle/>
                    <a:p>
                      <a:pPr algn="r"/>
                      <a:endParaRPr lang="en-A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A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43104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A9E36C6-3827-4549-990C-86857B769D63}"/>
              </a:ext>
            </a:extLst>
          </p:cNvPr>
          <p:cNvSpPr txBox="1"/>
          <p:nvPr/>
        </p:nvSpPr>
        <p:spPr>
          <a:xfrm>
            <a:off x="7530029" y="4787713"/>
            <a:ext cx="111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15EB6E-98FB-674E-8AB7-CB107C274617}"/>
              </a:ext>
            </a:extLst>
          </p:cNvPr>
          <p:cNvSpPr txBox="1"/>
          <p:nvPr/>
        </p:nvSpPr>
        <p:spPr>
          <a:xfrm>
            <a:off x="8922161" y="4784327"/>
            <a:ext cx="111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D21E7C-C988-E440-AA97-21EC27ECE2DA}"/>
              </a:ext>
            </a:extLst>
          </p:cNvPr>
          <p:cNvSpPr txBox="1"/>
          <p:nvPr/>
        </p:nvSpPr>
        <p:spPr>
          <a:xfrm>
            <a:off x="7906214" y="5637715"/>
            <a:ext cx="69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4    2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360A9C4-8862-8248-A1B5-13BD6498F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939380"/>
              </p:ext>
            </p:extLst>
          </p:nvPr>
        </p:nvGraphicFramePr>
        <p:xfrm>
          <a:off x="7612452" y="5136581"/>
          <a:ext cx="40046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032">
                  <a:extLst>
                    <a:ext uri="{9D8B030D-6E8A-4147-A177-3AD203B41FA5}">
                      <a16:colId xmlns:a16="http://schemas.microsoft.com/office/drawing/2014/main" val="2328001400"/>
                    </a:ext>
                  </a:extLst>
                </a:gridCol>
                <a:gridCol w="3329608">
                  <a:extLst>
                    <a:ext uri="{9D8B030D-6E8A-4147-A177-3AD203B41FA5}">
                      <a16:colId xmlns:a16="http://schemas.microsoft.com/office/drawing/2014/main" val="1022589130"/>
                    </a:ext>
                  </a:extLst>
                </a:gridCol>
              </a:tblGrid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3    5    9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221327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0    2    9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462390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1    5     5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431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98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/>
      <p:bldP spid="20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FA630F-B83D-3643-9F0A-48E5436DED3C}"/>
              </a:ext>
            </a:extLst>
          </p:cNvPr>
          <p:cNvSpPr/>
          <p:nvPr/>
        </p:nvSpPr>
        <p:spPr>
          <a:xfrm>
            <a:off x="-3111291" y="570898"/>
            <a:ext cx="1118510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Your turn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C54F4C-2AC6-3E43-9F3C-D6F840A8E91D}"/>
              </a:ext>
            </a:extLst>
          </p:cNvPr>
          <p:cNvSpPr txBox="1"/>
          <p:nvPr/>
        </p:nvSpPr>
        <p:spPr>
          <a:xfrm>
            <a:off x="3306177" y="1998777"/>
            <a:ext cx="864437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The numbers below represent the percentage students received in their test.</a:t>
            </a:r>
          </a:p>
          <a:p>
            <a:endParaRPr lang="en-AU" sz="2400" dirty="0"/>
          </a:p>
          <a:p>
            <a:r>
              <a:rPr lang="en-AU" sz="2400" dirty="0"/>
              <a:t>Can you organise the information into a STEM-AND-LEAF plot</a:t>
            </a:r>
          </a:p>
          <a:p>
            <a:endParaRPr lang="en-AU" sz="2800" dirty="0"/>
          </a:p>
          <a:p>
            <a:pPr algn="ctr"/>
            <a:r>
              <a:rPr lang="en-AU" sz="4000" dirty="0"/>
              <a:t>56, 64, 68, 69, 55, 56, 69, </a:t>
            </a:r>
          </a:p>
          <a:p>
            <a:pPr algn="ctr"/>
            <a:r>
              <a:rPr lang="en-AU" sz="4000" dirty="0"/>
              <a:t>58, 55, 66, 49, 49, 63, 72,</a:t>
            </a:r>
          </a:p>
          <a:p>
            <a:pPr algn="ctr"/>
            <a:r>
              <a:rPr lang="en-AU" sz="4000" dirty="0"/>
              <a:t>75, 78, 55, 53, 42, 60, 85,</a:t>
            </a:r>
          </a:p>
          <a:p>
            <a:r>
              <a:rPr lang="en-AU" sz="2400" dirty="0"/>
              <a:t>FIND: </a:t>
            </a:r>
          </a:p>
          <a:p>
            <a:endParaRPr lang="en-AU" sz="4000" dirty="0"/>
          </a:p>
          <a:p>
            <a:endParaRPr lang="en-AU" sz="4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7C822B-36A0-9246-BB82-9622D11E6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939692"/>
              </p:ext>
            </p:extLst>
          </p:nvPr>
        </p:nvGraphicFramePr>
        <p:xfrm>
          <a:off x="587373" y="3931205"/>
          <a:ext cx="4004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20">
                  <a:extLst>
                    <a:ext uri="{9D8B030D-6E8A-4147-A177-3AD203B41FA5}">
                      <a16:colId xmlns:a16="http://schemas.microsoft.com/office/drawing/2014/main" val="2328001400"/>
                    </a:ext>
                  </a:extLst>
                </a:gridCol>
                <a:gridCol w="3338420">
                  <a:extLst>
                    <a:ext uri="{9D8B030D-6E8A-4147-A177-3AD203B41FA5}">
                      <a16:colId xmlns:a16="http://schemas.microsoft.com/office/drawing/2014/main" val="1022589130"/>
                    </a:ext>
                  </a:extLst>
                </a:gridCol>
              </a:tblGrid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2 9 9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221327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3 5 5 5 6 6 8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462390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0 3 4 6 8  9  9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431042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2 5 8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232166"/>
                  </a:ext>
                </a:extLst>
              </a:tr>
              <a:tr h="45590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1289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0235C29-0B1C-8C4B-B45D-E5C6898A1B1A}"/>
              </a:ext>
            </a:extLst>
          </p:cNvPr>
          <p:cNvSpPr txBox="1"/>
          <p:nvPr/>
        </p:nvSpPr>
        <p:spPr>
          <a:xfrm>
            <a:off x="587373" y="6287102"/>
            <a:ext cx="1900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Key: 4|2 = 42</a:t>
            </a:r>
          </a:p>
        </p:txBody>
      </p:sp>
    </p:spTree>
    <p:extLst>
      <p:ext uri="{BB962C8B-B14F-4D97-AF65-F5344CB8AC3E}">
        <p14:creationId xmlns:p14="http://schemas.microsoft.com/office/powerpoint/2010/main" val="268788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09587E6B-E326-8743-9250-296001B75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71487"/>
            <a:ext cx="4953000" cy="466725"/>
          </a:xfrm>
          <a:prstGeom prst="rect">
            <a:avLst/>
          </a:prstGeom>
          <a:gradFill rotWithShape="0">
            <a:gsLst>
              <a:gs pos="0">
                <a:srgbClr val="A9A987"/>
              </a:gs>
              <a:gs pos="50000">
                <a:srgbClr val="FFFFCC"/>
              </a:gs>
              <a:gs pos="100000">
                <a:srgbClr val="A9A987"/>
              </a:gs>
            </a:gsLst>
            <a:lin ang="5400000" scaled="1"/>
          </a:gra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2400" b="1" dirty="0">
                <a:solidFill>
                  <a:schemeClr val="accent2"/>
                </a:solidFill>
                <a:latin typeface="+mj-lt"/>
              </a:rPr>
              <a:t>Interpreting Stem and Leaf Plots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5E7D49-E56D-DE44-A082-96EEB700DBDD}"/>
              </a:ext>
            </a:extLst>
          </p:cNvPr>
          <p:cNvGrpSpPr>
            <a:grpSpLocks/>
          </p:cNvGrpSpPr>
          <p:nvPr/>
        </p:nvGrpSpPr>
        <p:grpSpPr bwMode="auto">
          <a:xfrm>
            <a:off x="554038" y="1150937"/>
            <a:ext cx="11036300" cy="5346700"/>
            <a:chOff x="-611" y="572"/>
            <a:chExt cx="6952" cy="3368"/>
          </a:xfrm>
        </p:grpSpPr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A5C4AE56-C59D-BE4C-9FE9-F96F97F97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11" y="572"/>
              <a:ext cx="6952" cy="989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400" dirty="0">
                  <a:latin typeface="+mj-lt"/>
                </a:rPr>
                <a:t>The stem &amp; leaf diagram below shows the </a:t>
              </a:r>
              <a:r>
                <a:rPr lang="en-GB" altLang="en-US" sz="2400" dirty="0">
                  <a:solidFill>
                    <a:schemeClr val="accent2"/>
                  </a:solidFill>
                  <a:latin typeface="+mj-lt"/>
                </a:rPr>
                <a:t>masses</a:t>
              </a:r>
              <a:r>
                <a:rPr lang="en-GB" altLang="en-US" sz="2400" dirty="0">
                  <a:latin typeface="+mj-lt"/>
                </a:rPr>
                <a:t> in kg of some people in a lift.</a:t>
              </a:r>
            </a:p>
            <a:p>
              <a:pPr eaLnBrk="1" hangingPunct="1">
                <a:spcBef>
                  <a:spcPct val="50000"/>
                </a:spcBef>
                <a:buFontTx/>
                <a:buAutoNum type="alphaLcParenBoth"/>
              </a:pPr>
              <a:r>
                <a:rPr lang="en-GB" altLang="en-US" sz="2400" dirty="0">
                  <a:latin typeface="+mj-lt"/>
                </a:rPr>
                <a:t>How many people were weighed?	c) Find the median mass</a:t>
              </a:r>
            </a:p>
            <a:p>
              <a:pPr eaLnBrk="1" hangingPunct="1">
                <a:spcBef>
                  <a:spcPct val="50000"/>
                </a:spcBef>
                <a:buFontTx/>
                <a:buAutoNum type="alphaLcParenBoth"/>
              </a:pPr>
              <a:r>
                <a:rPr lang="en-GB" altLang="en-US" sz="2400" dirty="0">
                  <a:latin typeface="+mj-lt"/>
                </a:rPr>
                <a:t>What is the range of the masses?		d) Describe the shape of the data set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2E4265D-3AA8-B543-B3A8-3E3636F25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" y="1956"/>
              <a:ext cx="3887" cy="1984"/>
              <a:chOff x="188" y="1956"/>
              <a:chExt cx="3887" cy="1984"/>
            </a:xfrm>
          </p:grpSpPr>
          <p:grpSp>
            <p:nvGrpSpPr>
              <p:cNvPr id="8" name="Group 6">
                <a:extLst>
                  <a:ext uri="{FF2B5EF4-FFF2-40B4-BE49-F238E27FC236}">
                    <a16:creationId xmlns:a16="http://schemas.microsoft.com/office/drawing/2014/main" id="{922DE552-CB23-104D-8B28-75D7F74638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8" y="1956"/>
                <a:ext cx="1728" cy="1920"/>
                <a:chOff x="1184" y="2208"/>
                <a:chExt cx="1728" cy="1920"/>
              </a:xfrm>
            </p:grpSpPr>
            <p:sp>
              <p:nvSpPr>
                <p:cNvPr id="34" name="Line 7">
                  <a:extLst>
                    <a:ext uri="{FF2B5EF4-FFF2-40B4-BE49-F238E27FC236}">
                      <a16:creationId xmlns:a16="http://schemas.microsoft.com/office/drawing/2014/main" id="{AAAA9F3B-FE2F-4843-A066-EF88CB33D7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48" y="2208"/>
                  <a:ext cx="0" cy="1920"/>
                </a:xfrm>
                <a:prstGeom prst="line">
                  <a:avLst/>
                </a:prstGeom>
                <a:noFill/>
                <a:ln w="57150">
                  <a:solidFill>
                    <a:srgbClr val="726E7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Text Box 8">
                  <a:extLst>
                    <a:ext uri="{FF2B5EF4-FFF2-40B4-BE49-F238E27FC236}">
                      <a16:creationId xmlns:a16="http://schemas.microsoft.com/office/drawing/2014/main" id="{6637430E-7C14-CB4B-A89A-2801961F43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4" y="2208"/>
                  <a:ext cx="768" cy="237"/>
                </a:xfrm>
                <a:prstGeom prst="rect">
                  <a:avLst/>
                </a:prstGeom>
                <a:solidFill>
                  <a:srgbClr val="5A5338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GB" altLang="en-US" sz="1800">
                      <a:solidFill>
                        <a:schemeClr val="bg1"/>
                      </a:solidFill>
                      <a:latin typeface="Comic Sans MS" panose="030F0902030302020204" pitchFamily="66" charset="0"/>
                    </a:rPr>
                    <a:t>Stem</a:t>
                  </a:r>
                </a:p>
              </p:txBody>
            </p:sp>
            <p:sp>
              <p:nvSpPr>
                <p:cNvPr id="36" name="Text Box 9">
                  <a:extLst>
                    <a:ext uri="{FF2B5EF4-FFF2-40B4-BE49-F238E27FC236}">
                      <a16:creationId xmlns:a16="http://schemas.microsoft.com/office/drawing/2014/main" id="{1D6CF5D6-EFD9-A443-858C-2740990F70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44" y="2208"/>
                  <a:ext cx="768" cy="231"/>
                </a:xfrm>
                <a:prstGeom prst="rect">
                  <a:avLst/>
                </a:prstGeom>
                <a:solidFill>
                  <a:srgbClr val="00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GB" altLang="en-US" sz="1800">
                      <a:solidFill>
                        <a:schemeClr val="bg1"/>
                      </a:solidFill>
                      <a:latin typeface="Comic Sans MS" panose="030F0902030302020204" pitchFamily="66" charset="0"/>
                    </a:rPr>
                    <a:t>Leaf</a:t>
                  </a:r>
                </a:p>
              </p:txBody>
            </p:sp>
          </p:grpSp>
          <p:grpSp>
            <p:nvGrpSpPr>
              <p:cNvPr id="9" name="Group 10">
                <a:extLst>
                  <a:ext uri="{FF2B5EF4-FFF2-40B4-BE49-F238E27FC236}">
                    <a16:creationId xmlns:a16="http://schemas.microsoft.com/office/drawing/2014/main" id="{08ADB5E0-481A-D04C-B218-01A51B8F72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2" y="2244"/>
                <a:ext cx="480" cy="1696"/>
                <a:chOff x="1328" y="2496"/>
                <a:chExt cx="480" cy="1696"/>
              </a:xfrm>
            </p:grpSpPr>
            <p:sp>
              <p:nvSpPr>
                <p:cNvPr id="28" name="Text Box 11">
                  <a:extLst>
                    <a:ext uri="{FF2B5EF4-FFF2-40B4-BE49-F238E27FC236}">
                      <a16:creationId xmlns:a16="http://schemas.microsoft.com/office/drawing/2014/main" id="{EC203FDD-5DF1-2541-BAE8-C62F136182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8" y="2496"/>
                  <a:ext cx="480" cy="250"/>
                </a:xfrm>
                <a:prstGeom prst="rect">
                  <a:avLst/>
                </a:prstGeom>
                <a:solidFill>
                  <a:srgbClr val="5A533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FFFFCC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GB" altLang="en-US" sz="2000" b="1">
                      <a:solidFill>
                        <a:schemeClr val="bg1"/>
                      </a:solidFill>
                      <a:latin typeface="Comic Sans MS" panose="030F0902030302020204" pitchFamily="66" charset="0"/>
                    </a:rPr>
                    <a:t>3</a:t>
                  </a:r>
                </a:p>
              </p:txBody>
            </p:sp>
            <p:sp>
              <p:nvSpPr>
                <p:cNvPr id="29" name="Text Box 12">
                  <a:extLst>
                    <a:ext uri="{FF2B5EF4-FFF2-40B4-BE49-F238E27FC236}">
                      <a16:creationId xmlns:a16="http://schemas.microsoft.com/office/drawing/2014/main" id="{45791E06-39A0-4A45-9DE4-149B7C80F1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8" y="2784"/>
                  <a:ext cx="480" cy="256"/>
                </a:xfrm>
                <a:prstGeom prst="rect">
                  <a:avLst/>
                </a:prstGeom>
                <a:solidFill>
                  <a:srgbClr val="5A5338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GB" altLang="en-US" sz="2000" b="1">
                      <a:solidFill>
                        <a:schemeClr val="bg1"/>
                      </a:solidFill>
                      <a:latin typeface="Comic Sans MS" panose="030F0902030302020204" pitchFamily="66" charset="0"/>
                    </a:rPr>
                    <a:t>4</a:t>
                  </a:r>
                </a:p>
              </p:txBody>
            </p:sp>
            <p:sp>
              <p:nvSpPr>
                <p:cNvPr id="30" name="Text Box 13">
                  <a:extLst>
                    <a:ext uri="{FF2B5EF4-FFF2-40B4-BE49-F238E27FC236}">
                      <a16:creationId xmlns:a16="http://schemas.microsoft.com/office/drawing/2014/main" id="{32F97A50-16F2-EC44-9267-C039848E26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8" y="3072"/>
                  <a:ext cx="480" cy="256"/>
                </a:xfrm>
                <a:prstGeom prst="rect">
                  <a:avLst/>
                </a:prstGeom>
                <a:solidFill>
                  <a:srgbClr val="5A5338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GB" altLang="en-US" sz="2000" b="1">
                      <a:solidFill>
                        <a:schemeClr val="bg1"/>
                      </a:solidFill>
                      <a:latin typeface="Comic Sans MS" panose="030F0902030302020204" pitchFamily="66" charset="0"/>
                    </a:rPr>
                    <a:t>5</a:t>
                  </a:r>
                </a:p>
              </p:txBody>
            </p:sp>
            <p:sp>
              <p:nvSpPr>
                <p:cNvPr id="31" name="Text Box 14">
                  <a:extLst>
                    <a:ext uri="{FF2B5EF4-FFF2-40B4-BE49-F238E27FC236}">
                      <a16:creationId xmlns:a16="http://schemas.microsoft.com/office/drawing/2014/main" id="{FFC7C655-029E-E946-BA94-4EDDA1ED74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8" y="3360"/>
                  <a:ext cx="480" cy="256"/>
                </a:xfrm>
                <a:prstGeom prst="rect">
                  <a:avLst/>
                </a:prstGeom>
                <a:solidFill>
                  <a:srgbClr val="5A5338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GB" altLang="en-US" sz="2000" b="1">
                      <a:solidFill>
                        <a:schemeClr val="bg1"/>
                      </a:solidFill>
                      <a:latin typeface="Comic Sans MS" panose="030F0902030302020204" pitchFamily="66" charset="0"/>
                    </a:rPr>
                    <a:t>6</a:t>
                  </a:r>
                </a:p>
              </p:txBody>
            </p:sp>
            <p:sp>
              <p:nvSpPr>
                <p:cNvPr id="32" name="Text Box 15">
                  <a:extLst>
                    <a:ext uri="{FF2B5EF4-FFF2-40B4-BE49-F238E27FC236}">
                      <a16:creationId xmlns:a16="http://schemas.microsoft.com/office/drawing/2014/main" id="{410D6AB3-D3F5-DB42-AA23-5F25FD32FA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8" y="3648"/>
                  <a:ext cx="480" cy="256"/>
                </a:xfrm>
                <a:prstGeom prst="rect">
                  <a:avLst/>
                </a:prstGeom>
                <a:solidFill>
                  <a:srgbClr val="5A5338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GB" altLang="en-US" sz="2000" b="1">
                      <a:solidFill>
                        <a:schemeClr val="bg1"/>
                      </a:solidFill>
                      <a:latin typeface="Comic Sans MS" panose="030F0902030302020204" pitchFamily="66" charset="0"/>
                    </a:rPr>
                    <a:t>7</a:t>
                  </a:r>
                </a:p>
              </p:txBody>
            </p:sp>
            <p:sp>
              <p:nvSpPr>
                <p:cNvPr id="33" name="Text Box 16">
                  <a:extLst>
                    <a:ext uri="{FF2B5EF4-FFF2-40B4-BE49-F238E27FC236}">
                      <a16:creationId xmlns:a16="http://schemas.microsoft.com/office/drawing/2014/main" id="{F73B3B55-DAA8-D043-AA5A-EC61A8FE9A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8" y="3936"/>
                  <a:ext cx="480" cy="256"/>
                </a:xfrm>
                <a:prstGeom prst="rect">
                  <a:avLst/>
                </a:prstGeom>
                <a:solidFill>
                  <a:srgbClr val="5A5338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GB" altLang="en-US" sz="2000" b="1">
                      <a:solidFill>
                        <a:schemeClr val="bg1"/>
                      </a:solidFill>
                      <a:latin typeface="Comic Sans MS" panose="030F0902030302020204" pitchFamily="66" charset="0"/>
                    </a:rPr>
                    <a:t>8</a:t>
                  </a:r>
                </a:p>
              </p:txBody>
            </p:sp>
          </p:grpSp>
          <p:sp>
            <p:nvSpPr>
              <p:cNvPr id="10" name="Text Box 17">
                <a:extLst>
                  <a:ext uri="{FF2B5EF4-FFF2-40B4-BE49-F238E27FC236}">
                    <a16:creationId xmlns:a16="http://schemas.microsoft.com/office/drawing/2014/main" id="{BC0A0ACA-79F0-9044-AEE7-D9BC97B5E8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0" y="2240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11" name="Text Box 18">
                <a:extLst>
                  <a:ext uri="{FF2B5EF4-FFF2-40B4-BE49-F238E27FC236}">
                    <a16:creationId xmlns:a16="http://schemas.microsoft.com/office/drawing/2014/main" id="{9D71EF35-EF19-0A45-AF0D-D159CF74C7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0" y="2236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4</a:t>
                </a:r>
              </a:p>
            </p:txBody>
          </p:sp>
          <p:sp>
            <p:nvSpPr>
              <p:cNvPr id="12" name="Text Box 19">
                <a:extLst>
                  <a:ext uri="{FF2B5EF4-FFF2-40B4-BE49-F238E27FC236}">
                    <a16:creationId xmlns:a16="http://schemas.microsoft.com/office/drawing/2014/main" id="{E8C0089B-3DFD-ED4A-B390-8E803AD034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7" y="2533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3</a:t>
                </a:r>
              </a:p>
            </p:txBody>
          </p:sp>
          <p:sp>
            <p:nvSpPr>
              <p:cNvPr id="13" name="Text Box 20">
                <a:extLst>
                  <a:ext uri="{FF2B5EF4-FFF2-40B4-BE49-F238E27FC236}">
                    <a16:creationId xmlns:a16="http://schemas.microsoft.com/office/drawing/2014/main" id="{7FE4DFA8-743B-4E47-8C40-1B5A6BF3E8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5" y="2537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3</a:t>
                </a:r>
              </a:p>
            </p:txBody>
          </p:sp>
          <p:sp>
            <p:nvSpPr>
              <p:cNvPr id="14" name="Text Box 21">
                <a:extLst>
                  <a:ext uri="{FF2B5EF4-FFF2-40B4-BE49-F238E27FC236}">
                    <a16:creationId xmlns:a16="http://schemas.microsoft.com/office/drawing/2014/main" id="{16A69C81-D2BB-A642-BD9B-DF6BFA59D4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9" y="2537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6</a:t>
                </a:r>
              </a:p>
            </p:txBody>
          </p:sp>
          <p:sp>
            <p:nvSpPr>
              <p:cNvPr id="15" name="Text Box 22">
                <a:extLst>
                  <a:ext uri="{FF2B5EF4-FFF2-40B4-BE49-F238E27FC236}">
                    <a16:creationId xmlns:a16="http://schemas.microsoft.com/office/drawing/2014/main" id="{84E38797-B298-494F-A386-B02476937E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0" y="2824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0</a:t>
                </a:r>
              </a:p>
            </p:txBody>
          </p:sp>
          <p:sp>
            <p:nvSpPr>
              <p:cNvPr id="16" name="Text Box 23">
                <a:extLst>
                  <a:ext uri="{FF2B5EF4-FFF2-40B4-BE49-F238E27FC236}">
                    <a16:creationId xmlns:a16="http://schemas.microsoft.com/office/drawing/2014/main" id="{5A919BA6-3126-B449-B71A-A555431DA0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4" y="2821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3</a:t>
                </a:r>
              </a:p>
            </p:txBody>
          </p:sp>
          <p:sp>
            <p:nvSpPr>
              <p:cNvPr id="17" name="Text Box 24">
                <a:extLst>
                  <a:ext uri="{FF2B5EF4-FFF2-40B4-BE49-F238E27FC236}">
                    <a16:creationId xmlns:a16="http://schemas.microsoft.com/office/drawing/2014/main" id="{94133F94-6817-B44D-8FF4-780E6EF40F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3" y="2817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4</a:t>
                </a:r>
              </a:p>
            </p:txBody>
          </p:sp>
          <p:sp>
            <p:nvSpPr>
              <p:cNvPr id="18" name="Text Box 25">
                <a:extLst>
                  <a:ext uri="{FF2B5EF4-FFF2-40B4-BE49-F238E27FC236}">
                    <a16:creationId xmlns:a16="http://schemas.microsoft.com/office/drawing/2014/main" id="{263D1A98-433F-AB4E-971B-A0C326A6D4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5" y="2812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8</a:t>
                </a:r>
              </a:p>
            </p:txBody>
          </p:sp>
          <p:sp>
            <p:nvSpPr>
              <p:cNvPr id="19" name="Text Box 26">
                <a:extLst>
                  <a:ext uri="{FF2B5EF4-FFF2-40B4-BE49-F238E27FC236}">
                    <a16:creationId xmlns:a16="http://schemas.microsoft.com/office/drawing/2014/main" id="{79D02210-0311-7446-9FBC-34D3F1E989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9" y="3109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0" name="Text Box 27">
                <a:extLst>
                  <a:ext uri="{FF2B5EF4-FFF2-40B4-BE49-F238E27FC236}">
                    <a16:creationId xmlns:a16="http://schemas.microsoft.com/office/drawing/2014/main" id="{9CC478D9-A37F-DF48-8A50-90A9D957D2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4" y="3401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2</a:t>
                </a:r>
              </a:p>
            </p:txBody>
          </p:sp>
          <p:sp>
            <p:nvSpPr>
              <p:cNvPr id="21" name="Text Box 28">
                <a:extLst>
                  <a:ext uri="{FF2B5EF4-FFF2-40B4-BE49-F238E27FC236}">
                    <a16:creationId xmlns:a16="http://schemas.microsoft.com/office/drawing/2014/main" id="{323A87E4-99EE-C84D-AC57-265E362FE8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9" y="3394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2</a:t>
                </a:r>
              </a:p>
            </p:txBody>
          </p:sp>
          <p:sp>
            <p:nvSpPr>
              <p:cNvPr id="22" name="Text Box 29">
                <a:extLst>
                  <a:ext uri="{FF2B5EF4-FFF2-40B4-BE49-F238E27FC236}">
                    <a16:creationId xmlns:a16="http://schemas.microsoft.com/office/drawing/2014/main" id="{AE4713F2-7237-3E4D-9698-E4D1903789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4" y="3392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7</a:t>
                </a:r>
              </a:p>
            </p:txBody>
          </p:sp>
          <p:sp>
            <p:nvSpPr>
              <p:cNvPr id="23" name="Text Box 30">
                <a:extLst>
                  <a:ext uri="{FF2B5EF4-FFF2-40B4-BE49-F238E27FC236}">
                    <a16:creationId xmlns:a16="http://schemas.microsoft.com/office/drawing/2014/main" id="{A780A2C8-B6DA-3F48-8A7B-2333816BDC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3" y="3684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4" name="Text Box 31">
                <a:extLst>
                  <a:ext uri="{FF2B5EF4-FFF2-40B4-BE49-F238E27FC236}">
                    <a16:creationId xmlns:a16="http://schemas.microsoft.com/office/drawing/2014/main" id="{3DCB28AC-0427-8C48-AFCD-A8983961A0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2" y="3682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6</a:t>
                </a:r>
              </a:p>
            </p:txBody>
          </p:sp>
          <p:sp>
            <p:nvSpPr>
              <p:cNvPr id="25" name="Text Box 32">
                <a:extLst>
                  <a:ext uri="{FF2B5EF4-FFF2-40B4-BE49-F238E27FC236}">
                    <a16:creationId xmlns:a16="http://schemas.microsoft.com/office/drawing/2014/main" id="{FBFE1C92-DD82-6A4C-94DC-2B58065B96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0" y="3107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902030302020204" pitchFamily="66" charset="0"/>
                  </a:rPr>
                  <a:t>2</a:t>
                </a:r>
              </a:p>
            </p:txBody>
          </p:sp>
          <p:sp>
            <p:nvSpPr>
              <p:cNvPr id="26" name="Text Box 33">
                <a:extLst>
                  <a:ext uri="{FF2B5EF4-FFF2-40B4-BE49-F238E27FC236}">
                    <a16:creationId xmlns:a16="http://schemas.microsoft.com/office/drawing/2014/main" id="{78EF9832-6D31-314F-BD97-0D8AB06A29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" y="2220"/>
                <a:ext cx="552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400">
                    <a:latin typeface="Comic Sans MS" panose="030F0902030302020204" pitchFamily="66" charset="0"/>
                  </a:rPr>
                  <a:t>tens</a:t>
                </a:r>
              </a:p>
            </p:txBody>
          </p:sp>
          <p:sp>
            <p:nvSpPr>
              <p:cNvPr id="27" name="Text Box 34">
                <a:extLst>
                  <a:ext uri="{FF2B5EF4-FFF2-40B4-BE49-F238E27FC236}">
                    <a16:creationId xmlns:a16="http://schemas.microsoft.com/office/drawing/2014/main" id="{C0AD8537-6397-C640-887D-7F1D0B37A8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0" y="2184"/>
                <a:ext cx="75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GB" altLang="en-US" sz="2400" dirty="0">
                    <a:latin typeface="Comic Sans MS" panose="030F0902030302020204" pitchFamily="66" charset="0"/>
                  </a:rPr>
                  <a:t>ones</a:t>
                </a:r>
              </a:p>
            </p:txBody>
          </p:sp>
        </p:grpSp>
      </p:grpSp>
      <p:sp>
        <p:nvSpPr>
          <p:cNvPr id="37" name="Text Box 35">
            <a:extLst>
              <a:ext uri="{FF2B5EF4-FFF2-40B4-BE49-F238E27FC236}">
                <a16:creationId xmlns:a16="http://schemas.microsoft.com/office/drawing/2014/main" id="{B642BBCA-BA8D-424B-BEC8-05E159691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2026" y="5697535"/>
            <a:ext cx="2181225" cy="376238"/>
          </a:xfrm>
          <a:prstGeom prst="rect">
            <a:avLst/>
          </a:prstGeom>
          <a:gradFill rotWithShape="0">
            <a:gsLst>
              <a:gs pos="0">
                <a:srgbClr val="87A9A9"/>
              </a:gs>
              <a:gs pos="50000">
                <a:srgbClr val="CCFFFF"/>
              </a:gs>
              <a:gs pos="100000">
                <a:srgbClr val="87A9A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>
                <a:solidFill>
                  <a:schemeClr val="accent2"/>
                </a:solidFill>
                <a:latin typeface="Comic Sans MS" panose="030F0902030302020204" pitchFamily="66" charset="0"/>
              </a:rPr>
              <a:t>(a)</a:t>
            </a:r>
            <a:r>
              <a:rPr lang="en-GB" altLang="en-US" sz="1800">
                <a:latin typeface="Comic Sans MS" panose="030F0902030302020204" pitchFamily="66" charset="0"/>
              </a:rPr>
              <a:t> 16 people.</a:t>
            </a:r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AC452B01-539A-FB4F-9411-577722F26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7738" y="6198394"/>
            <a:ext cx="2209800" cy="376238"/>
          </a:xfrm>
          <a:prstGeom prst="rect">
            <a:avLst/>
          </a:prstGeom>
          <a:gradFill rotWithShape="0">
            <a:gsLst>
              <a:gs pos="0">
                <a:srgbClr val="87A9A9"/>
              </a:gs>
              <a:gs pos="50000">
                <a:srgbClr val="CCFFFF"/>
              </a:gs>
              <a:gs pos="100000">
                <a:srgbClr val="87A9A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800">
                <a:solidFill>
                  <a:schemeClr val="accent2"/>
                </a:solidFill>
                <a:latin typeface="Comic Sans MS" panose="030F0902030302020204" pitchFamily="66" charset="0"/>
              </a:rPr>
              <a:t>(b)</a:t>
            </a:r>
            <a:r>
              <a:rPr lang="en-GB" altLang="en-US" sz="1800">
                <a:latin typeface="Comic Sans MS" panose="030F0902030302020204" pitchFamily="66" charset="0"/>
              </a:rPr>
              <a:t> 86 – 31 = 55 kg</a:t>
            </a:r>
          </a:p>
        </p:txBody>
      </p:sp>
      <p:grpSp>
        <p:nvGrpSpPr>
          <p:cNvPr id="39" name="Group 37">
            <a:extLst>
              <a:ext uri="{FF2B5EF4-FFF2-40B4-BE49-F238E27FC236}">
                <a16:creationId xmlns:a16="http://schemas.microsoft.com/office/drawing/2014/main" id="{B85E2772-ADB7-DA4E-ADA5-CCFA04E8A145}"/>
              </a:ext>
            </a:extLst>
          </p:cNvPr>
          <p:cNvGrpSpPr>
            <a:grpSpLocks/>
          </p:cNvGrpSpPr>
          <p:nvPr/>
        </p:nvGrpSpPr>
        <p:grpSpPr bwMode="auto">
          <a:xfrm>
            <a:off x="6238875" y="3805236"/>
            <a:ext cx="5545138" cy="2257425"/>
            <a:chOff x="2900" y="2236"/>
            <a:chExt cx="3493" cy="1422"/>
          </a:xfrm>
        </p:grpSpPr>
        <p:sp>
          <p:nvSpPr>
            <p:cNvPr id="40" name="Oval 38">
              <a:extLst>
                <a:ext uri="{FF2B5EF4-FFF2-40B4-BE49-F238E27FC236}">
                  <a16:creationId xmlns:a16="http://schemas.microsoft.com/office/drawing/2014/main" id="{A0504152-282C-BB42-9103-3B51DA8A7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0" y="2748"/>
              <a:ext cx="1204" cy="36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BF91155D-017A-5D4D-BEA9-A586B41BAABD}"/>
                </a:ext>
              </a:extLst>
            </p:cNvPr>
            <p:cNvSpPr>
              <a:spLocks/>
            </p:cNvSpPr>
            <p:nvPr/>
          </p:nvSpPr>
          <p:spPr bwMode="auto">
            <a:xfrm rot="-7260444">
              <a:off x="4344" y="2584"/>
              <a:ext cx="1" cy="452"/>
            </a:xfrm>
            <a:custGeom>
              <a:avLst/>
              <a:gdLst>
                <a:gd name="T0" fmla="*/ 0 w 1"/>
                <a:gd name="T1" fmla="*/ 452 h 452"/>
                <a:gd name="T2" fmla="*/ 0 w 1"/>
                <a:gd name="T3" fmla="*/ 0 h 4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52">
                  <a:moveTo>
                    <a:pt x="0" y="452"/>
                  </a:moveTo>
                  <a:lnTo>
                    <a:pt x="0" y="0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Box 40">
              <a:extLst>
                <a:ext uri="{FF2B5EF4-FFF2-40B4-BE49-F238E27FC236}">
                  <a16:creationId xmlns:a16="http://schemas.microsoft.com/office/drawing/2014/main" id="{45824B17-2515-6146-8BFA-CC38B3A46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0" y="2236"/>
              <a:ext cx="1020" cy="6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600">
                  <a:latin typeface="Comic Sans MS" panose="030F0902030302020204" pitchFamily="66" charset="0"/>
                </a:rPr>
                <a:t>Median is the mean of the  8</a:t>
              </a:r>
              <a:r>
                <a:rPr lang="en-GB" altLang="en-US" sz="1600" baseline="30000">
                  <a:latin typeface="Comic Sans MS" panose="030F0902030302020204" pitchFamily="66" charset="0"/>
                </a:rPr>
                <a:t>th</a:t>
              </a:r>
              <a:r>
                <a:rPr lang="en-GB" altLang="en-US" sz="1600">
                  <a:latin typeface="Comic Sans MS" panose="030F0902030302020204" pitchFamily="66" charset="0"/>
                </a:rPr>
                <a:t> and 9</a:t>
              </a:r>
              <a:r>
                <a:rPr lang="en-GB" altLang="en-US" sz="1600" baseline="30000">
                  <a:latin typeface="Comic Sans MS" panose="030F0902030302020204" pitchFamily="66" charset="0"/>
                </a:rPr>
                <a:t>th</a:t>
              </a:r>
              <a:r>
                <a:rPr lang="en-GB" altLang="en-US" sz="1600">
                  <a:latin typeface="Comic Sans MS" panose="030F0902030302020204" pitchFamily="66" charset="0"/>
                </a:rPr>
                <a:t> data values.</a:t>
              </a:r>
            </a:p>
          </p:txBody>
        </p:sp>
        <p:sp>
          <p:nvSpPr>
            <p:cNvPr id="43" name="Text Box 41">
              <a:extLst>
                <a:ext uri="{FF2B5EF4-FFF2-40B4-BE49-F238E27FC236}">
                  <a16:creationId xmlns:a16="http://schemas.microsoft.com/office/drawing/2014/main" id="{4457910C-1B7C-734C-A01D-C3DDFFE7A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1" y="3421"/>
              <a:ext cx="1392" cy="237"/>
            </a:xfrm>
            <a:prstGeom prst="rect">
              <a:avLst/>
            </a:prstGeom>
            <a:gradFill rotWithShape="0">
              <a:gsLst>
                <a:gs pos="0">
                  <a:srgbClr val="87A9A9"/>
                </a:gs>
                <a:gs pos="50000">
                  <a:srgbClr val="CCFFFF"/>
                </a:gs>
                <a:gs pos="100000">
                  <a:srgbClr val="87A9A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800">
                  <a:solidFill>
                    <a:schemeClr val="accent2"/>
                  </a:solidFill>
                  <a:latin typeface="Comic Sans MS" panose="030F0902030302020204" pitchFamily="66" charset="0"/>
                </a:rPr>
                <a:t>(c)</a:t>
              </a:r>
              <a:r>
                <a:rPr lang="en-GB" altLang="en-US" sz="1800">
                  <a:latin typeface="Comic Sans MS" panose="030F0902030302020204" pitchFamily="66" charset="0"/>
                </a:rPr>
                <a:t> 56 kg</a:t>
              </a:r>
            </a:p>
          </p:txBody>
        </p:sp>
      </p:grpSp>
      <p:sp>
        <p:nvSpPr>
          <p:cNvPr id="44" name="Rectangle 42">
            <a:extLst>
              <a:ext uri="{FF2B5EF4-FFF2-40B4-BE49-F238E27FC236}">
                <a16:creationId xmlns:a16="http://schemas.microsoft.com/office/drawing/2014/main" id="{D52DBC62-8B2E-3847-8B86-177D53196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42886"/>
            <a:ext cx="11858625" cy="6615113"/>
          </a:xfrm>
          <a:prstGeom prst="rect">
            <a:avLst/>
          </a:prstGeom>
          <a:noFill/>
          <a:ln w="2540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45" name="Text Box 41">
            <a:extLst>
              <a:ext uri="{FF2B5EF4-FFF2-40B4-BE49-F238E27FC236}">
                <a16:creationId xmlns:a16="http://schemas.microsoft.com/office/drawing/2014/main" id="{459ACF5A-4A7E-AC43-A35C-AE3C44095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4213" y="6198392"/>
            <a:ext cx="2209800" cy="376238"/>
          </a:xfrm>
          <a:prstGeom prst="rect">
            <a:avLst/>
          </a:prstGeom>
          <a:gradFill rotWithShape="0">
            <a:gsLst>
              <a:gs pos="0">
                <a:srgbClr val="87A9A9"/>
              </a:gs>
              <a:gs pos="50000">
                <a:srgbClr val="CCFFFF"/>
              </a:gs>
              <a:gs pos="100000">
                <a:srgbClr val="87A9A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>
                <a:solidFill>
                  <a:schemeClr val="accent2"/>
                </a:solidFill>
                <a:latin typeface="Comic Sans MS" panose="030F0902030302020204" pitchFamily="66" charset="0"/>
              </a:rPr>
              <a:t>(d)</a:t>
            </a:r>
            <a:r>
              <a:rPr lang="en-GB" altLang="en-US" sz="1800" dirty="0">
                <a:latin typeface="Comic Sans MS" panose="030F0902030302020204" pitchFamily="66" charset="0"/>
              </a:rPr>
              <a:t> Symmetrical</a:t>
            </a:r>
          </a:p>
        </p:txBody>
      </p:sp>
    </p:spTree>
    <p:extLst>
      <p:ext uri="{BB962C8B-B14F-4D97-AF65-F5344CB8AC3E}">
        <p14:creationId xmlns:p14="http://schemas.microsoft.com/office/powerpoint/2010/main" val="71773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 autoUpdateAnimBg="0"/>
      <p:bldP spid="38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800" dirty="0"/>
              <a:t>Stem and Leaf Plots Worksheet</a:t>
            </a:r>
            <a:endParaRPr lang="en-AU" sz="2800" dirty="0"/>
          </a:p>
        </p:txBody>
      </p:sp>
      <p:pic>
        <p:nvPicPr>
          <p:cNvPr id="1026" name="Picture 2" descr="C:\Users\e4075868\AppData\Local\Microsoft\Windows\Temporary Internet Files\Content.IE5\RP2BT71J\clipart019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459" y="4149080"/>
            <a:ext cx="2879080" cy="235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07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/>
              <a:t>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05011"/>
            <a:ext cx="11201400" cy="4852989"/>
          </a:xfrm>
        </p:spPr>
        <p:txBody>
          <a:bodyPr>
            <a:normAutofit/>
          </a:bodyPr>
          <a:lstStyle/>
          <a:p>
            <a:r>
              <a:rPr lang="en-AU" sz="2800" dirty="0"/>
              <a:t>With a partner, come up with a different </a:t>
            </a:r>
          </a:p>
          <a:p>
            <a:pPr marL="0" indent="0">
              <a:buNone/>
            </a:pPr>
            <a:r>
              <a:rPr lang="en-AU" sz="2800" dirty="0"/>
              <a:t>    Essential Question based on Costa’s 3</a:t>
            </a:r>
          </a:p>
          <a:p>
            <a:pPr marL="0" indent="0">
              <a:buNone/>
            </a:pPr>
            <a:r>
              <a:rPr lang="en-AU" sz="2800" dirty="0"/>
              <a:t>     Levels of Inquiry. The goal is to create a </a:t>
            </a:r>
          </a:p>
          <a:p>
            <a:pPr marL="0" indent="0">
              <a:buNone/>
            </a:pPr>
            <a:r>
              <a:rPr lang="en-AU" sz="2800" dirty="0"/>
              <a:t>     Level 3 question.</a:t>
            </a:r>
          </a:p>
          <a:p>
            <a:pPr marL="0" indent="0">
              <a:buNone/>
            </a:pPr>
            <a:endParaRPr lang="en-AU" sz="2800" dirty="0"/>
          </a:p>
          <a:p>
            <a:r>
              <a:rPr lang="en-AU" sz="2800" dirty="0"/>
              <a:t>Write a summary based on this new EQ</a:t>
            </a:r>
          </a:p>
          <a:p>
            <a:pPr marL="0" indent="0">
              <a:buNone/>
            </a:pPr>
            <a:endParaRPr lang="en-AU" sz="2800" dirty="0"/>
          </a:p>
          <a:p>
            <a:r>
              <a:rPr lang="en-AU" sz="2800" dirty="0"/>
              <a:t>Review Notes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552443-8B07-844A-89AE-8B52151A2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880" y="1904656"/>
            <a:ext cx="4249744" cy="495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8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800" dirty="0"/>
              <a:t>Practice test 14a</a:t>
            </a:r>
            <a:endParaRPr lang="en-AU" sz="2800" dirty="0"/>
          </a:p>
        </p:txBody>
      </p:sp>
      <p:pic>
        <p:nvPicPr>
          <p:cNvPr id="1026" name="Picture 2" descr="C:\Users\e4075868\AppData\Local\Microsoft\Windows\Temporary Internet Files\Content.IE5\RP2BT71J\clipart019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459" y="4149080"/>
            <a:ext cx="2879080" cy="235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109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624</Words>
  <Application>Microsoft Macintosh PowerPoint</Application>
  <PresentationFormat>Widescreen</PresentationFormat>
  <Paragraphs>133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Comic Sans MS</vt:lpstr>
      <vt:lpstr>Fragment Core</vt:lpstr>
      <vt:lpstr>Wingdings</vt:lpstr>
      <vt:lpstr>Education 16x9</vt:lpstr>
      <vt:lpstr>Topic: Statistics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Exit ticket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2019-07-22T13:45:34Z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